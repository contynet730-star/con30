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25"/>
  </p:notesMasterIdLst>
  <p:handoutMasterIdLst>
    <p:handoutMasterId r:id="rId26"/>
  </p:handoutMasterIdLst>
  <p:sldIdLst>
    <p:sldId id="256" r:id="rId2"/>
    <p:sldId id="282" r:id="rId3"/>
    <p:sldId id="319" r:id="rId4"/>
    <p:sldId id="647" r:id="rId5"/>
    <p:sldId id="650" r:id="rId31"/>
    <p:sldId id="261" r:id="rId6"/>
    <p:sldId id="262" r:id="rId7"/>
    <p:sldId id="648" r:id="rId8"/>
    <p:sldId id="264" r:id="rId9"/>
    <p:sldId id="265" r:id="rId10"/>
    <p:sldId id="266" r:id="rId11"/>
    <p:sldId id="321" r:id="rId12"/>
    <p:sldId id="303" r:id="rId13"/>
    <p:sldId id="305" r:id="rId14"/>
    <p:sldId id="651" r:id="rId32"/>
    <p:sldId id="291" r:id="rId15"/>
    <p:sldId id="284" r:id="rId16"/>
    <p:sldId id="306" r:id="rId17"/>
    <p:sldId id="307" r:id="rId18"/>
    <p:sldId id="308" r:id="rId19"/>
    <p:sldId id="327" r:id="rId20"/>
    <p:sldId id="326" r:id="rId21"/>
    <p:sldId id="649" r:id="rId22"/>
    <p:sldId id="280" r:id="rId23"/>
    <p:sldId id="281" r:id="rId24"/>
    <p:sldId id="652" r:id="rId33"/>
    <p:sldId id="653" r:id="rId34"/>
    <p:sldId id="654" r:id="rId35"/>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103" d="100"/>
          <a:sy n="103"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5.xml"/><Relationship Id="rId32" Type="http://schemas.openxmlformats.org/officeDocument/2006/relationships/slide" Target="slides/slide1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2026/5/28</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4</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20</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r>
              <a:rPr lang="ja-JP" altLang="en-US" sz="4400" b="1" dirty="0">
                <a:latin typeface="メイリオ"/>
                <a:ea typeface="メイリオ"/>
                <a:cs typeface="メイリオ"/>
              </a:rPr>
              <a:t/>
            </a:r>
            <a:r>
              <a:rPr lang="en-US" altLang="ja-JP" sz="4400" b="1" dirty="0">
                <a:latin typeface="メイリオ"/>
                <a:ea typeface="メイリオ"/>
                <a:cs typeface="メイリオ"/>
              </a:rPr>
              <a:t/>
            </a:r>
            <a:r>
              <a:rPr lang="ja-JP" altLang="en-US" sz="4400" b="1" dirty="0">
                <a:latin typeface="メイリオ"/>
                <a:ea typeface="メイリオ"/>
                <a:cs typeface="メイリオ"/>
              </a:rPr>
              <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1734985214"/>
              </p:ext>
            </p:extLst>
          </p:nvPr>
        </p:nvGraphicFramePr>
        <p:xfrm>
          <a:off x="888647" y="1705704"/>
          <a:ext cx="8028000" cy="3644162"/>
        </p:xfrm>
        <a:graphic>
          <a:graphicData uri="http://schemas.openxmlformats.org/drawingml/2006/table">
            <a:tbl>
              <a:tblPr firstRow="1" bandRow="1">
                <a:tableStyleId>{616DA210-FB5B-4158-B5E0-FEB733F419BA}</a:tableStyleId>
              </a:tblPr>
              <a:tblGrid>
                <a:gridCol w="614550">
                  <a:extLst>
                    <a:ext uri="{9D8B030D-6E8A-4147-A177-3AD203B41FA5}">
                      <a16:colId xmlns:a16="http://schemas.microsoft.com/office/drawing/2014/main" val="1889472123"/>
                    </a:ext>
                  </a:extLst>
                </a:gridCol>
                <a:gridCol w="1482690">
                  <a:extLst>
                    <a:ext uri="{9D8B030D-6E8A-4147-A177-3AD203B41FA5}">
                      <a16:colId xmlns:a16="http://schemas.microsoft.com/office/drawing/2014/main" val="980164369"/>
                    </a:ext>
                  </a:extLst>
                </a:gridCol>
                <a:gridCol w="1482690">
                  <a:extLst>
                    <a:ext uri="{9D8B030D-6E8A-4147-A177-3AD203B41FA5}">
                      <a16:colId xmlns:a16="http://schemas.microsoft.com/office/drawing/2014/main" val="4100679345"/>
                    </a:ext>
                  </a:extLst>
                </a:gridCol>
                <a:gridCol w="1482690">
                  <a:extLst>
                    <a:ext uri="{9D8B030D-6E8A-4147-A177-3AD203B41FA5}">
                      <a16:colId xmlns:a16="http://schemas.microsoft.com/office/drawing/2014/main" val="391346200"/>
                    </a:ext>
                  </a:extLst>
                </a:gridCol>
                <a:gridCol w="1482690">
                  <a:extLst>
                    <a:ext uri="{9D8B030D-6E8A-4147-A177-3AD203B41FA5}">
                      <a16:colId xmlns:a16="http://schemas.microsoft.com/office/drawing/2014/main" val="1997047567"/>
                    </a:ext>
                  </a:extLst>
                </a:gridCol>
                <a:gridCol w="1482690">
                  <a:extLst>
                    <a:ext uri="{9D8B030D-6E8A-4147-A177-3AD203B41FA5}">
                      <a16:colId xmlns:a16="http://schemas.microsoft.com/office/drawing/2014/main" val="365566380"/>
                    </a:ext>
                  </a:extLst>
                </a:gridCol>
              </a:tblGrid>
              <a:tr h="9933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A</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30.3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22.5</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33.8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11.3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337143">
                <a:tc>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938384">
                <a:tc>
                  <a:txBody>
                    <a:bodyPr/>
                    <a:lstStyle/>
                    <a:p>
                      <a:pPr algn="ctr"/>
                      <a:r>
                        <a:rPr kumimoji="1" lang="en-US" altLang="ja-JP" sz="4800" b="1" dirty="0">
                          <a:solidFill>
                            <a:schemeClr val="tx1"/>
                          </a:solidFill>
                          <a:latin typeface="メイリオ"/>
                          <a:ea typeface="メイリオ"/>
                          <a:cs typeface="メイリオ"/>
                        </a:rPr>
                        <a:t>B</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10.7</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24.3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396175">
                <a:tc>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979135">
                <a:tc>
                  <a:txBody>
                    <a:bodyPr/>
                    <a:lstStyle/>
                    <a:p>
                      <a:pPr algn="ctr"/>
                      <a:r>
                        <a:rPr kumimoji="1" lang="en-US" altLang="ja-JP" sz="4800" b="1" dirty="0">
                          <a:solidFill>
                            <a:schemeClr val="tx1"/>
                          </a:solidFill>
                          <a:latin typeface="メイリオ"/>
                          <a:ea typeface="メイリオ"/>
                          <a:cs typeface="メイリオ"/>
                        </a:rPr>
                        <a:t>C</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16.9</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49.3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latin typeface="メイリオ"/>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230133"/>
            <a:ext cx="2644140" cy="1295977"/>
          </a:xfrm>
          <a:prstGeom prst="wedgeRoundRectCallout">
            <a:avLst>
              <a:gd name="adj1" fmla="val -71331"/>
              <a:gd name="adj2" fmla="val -266"/>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
        <p:nvSpPr>
          <p:cNvPr id="14" name="TextBox 13"/>
          <p:cNvSpPr txBox="1"/>
          <p:nvPr/>
        </p:nvSpPr>
        <p:spPr>
          <a:xfrm>
            <a:off x="300000" y="5990000"/>
            <a:ext cx="11400000" cy="33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第3章第2節2「学習評価の充実」／文部科学省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評価には2つの役割：</a:t>
            </a:r>
            <a:r>
              <a:rPr sz="1900" b="1">
                <a:solidFill>
                  <a:srgbClr val="404040"/>
                </a:solidFill>
                <a:latin typeface="メイリオ"/>
                <a:ea typeface="メイリオ"/>
                <a:cs typeface="メイリオ"/>
              </a:rPr>
              <a:t>①記録・評定のため（総括的）</a:t>
            </a:r>
            <a:r>
              <a:rPr sz="1900" b="1">
                <a:solidFill>
                  <a:srgbClr val="000000"/>
                </a:solidFill>
                <a:latin typeface="メイリオ"/>
                <a:ea typeface="メイリオ"/>
                <a:cs typeface="メイリオ"/>
              </a:rPr>
              <a:t>　／　</a:t>
            </a:r>
            <a:r>
              <a:rPr sz="2000" b="1">
                <a:solidFill>
                  <a:srgbClr val="EB6C15"/>
                </a:solidFill>
                <a:latin typeface="メイリオ"/>
                <a:ea typeface="メイリオ"/>
                <a:cs typeface="メイリオ"/>
              </a:rPr>
              <a:t>②指導改善のため（形成的）</a:t>
            </a:r>
            <a:r>
              <a:rPr sz="1900" b="1">
                <a:solidFill>
                  <a:srgbClr val="C04040"/>
                </a:solidFill>
                <a:latin typeface="メイリオ"/>
                <a:ea typeface="メイリオ"/>
                <a:cs typeface="メイリオ"/>
              </a:rPr>
              <a:t>　← 校長が重視</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000000"/>
                </a:solidFill>
                <a:latin typeface="メイリオ"/>
                <a:ea typeface="メイリオ"/>
                <a:cs typeface="メイリオ"/>
              </a:rPr>
              <a:t>評価は</a:t>
            </a:r>
            <a:r>
              <a:rPr sz="2300" b="1">
                <a:solidFill>
                  <a:srgbClr val="EB6C15"/>
                </a:solidFill>
                <a:latin typeface="メイリオ"/>
                <a:ea typeface="メイリオ"/>
                <a:cs typeface="メイリオ"/>
              </a:rPr>
              <a:t>“つける”だけでなく“生かす”</a:t>
            </a:r>
            <a:r>
              <a:rPr sz="2100" b="1">
                <a:solidFill>
                  <a:srgbClr val="000000"/>
                </a:solidFill>
                <a:latin typeface="メイリオ"/>
                <a:ea typeface="メイリオ"/>
                <a:cs typeface="メイリオ"/>
              </a:rPr>
              <a:t>。これが校長の言う「授業改善につながる評価」</a:t>
            </a:r>
          </a:p>
        </p:txBody>
      </p:sp>
      <p:sp>
        <p:nvSpPr>
          <p:cNvPr id="15" name="TextBox 14"/>
          <p:cNvSpPr txBox="1"/>
          <p:nvPr/>
        </p:nvSpPr>
        <p:spPr>
          <a:xfrm>
            <a:off x="300000" y="6080000"/>
            <a:ext cx="11400000" cy="31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第3章第2節2(1)指導の評価と改善／学習評価Q&amp;A実践書 Q5「評価を事務作業にしないために」</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2"/>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a:t>
            </a:r>
            <a:r>
              <a:rPr sz="1700" b="1">
                <a:solidFill>
                  <a:srgbClr val="1F3A6E"/>
                </a:solidFill>
                <a:latin typeface="メイリオ"/>
                <a:ea typeface="メイリオ"/>
                <a:cs typeface="メイリオ"/>
              </a:rPr>
              <a:t>　／　BBC→B</a:t>
            </a:r>
            <a:r>
              <a:rPr sz="1700" b="1">
                <a:solidFill>
                  <a:srgbClr val="1F3A6E"/>
                </a:solidFill>
                <a:latin typeface="メイリオ"/>
                <a:ea typeface="メイリオ"/>
                <a:cs typeface="メイリオ"/>
              </a:rPr>
              <a:t>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出典：東京都教育委員会「指導と評価の一体化を目指して」／学習評価Q&amp;A実践書 Q9「観点別評価から評定への総括」</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参考文献</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本研修の根拠資料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42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50000"/>
              </a:lnSpc>
            </a:pPr>
            <a:r>
              <a:rPr sz="2000" b="0">
                <a:solidFill>
                  <a:srgbClr val="1F3A6E"/>
                </a:solidFill>
                <a:latin typeface="メイリオ"/>
                <a:ea typeface="メイリオ"/>
                <a:cs typeface="メイリオ"/>
              </a:rPr>
              <a:t>● 中学校学習指導要領 解説　総則編　文部科学省</a:t>
            </a:r>
          </a:p>
          <a:p>
            <a:pPr algn="l">
              <a:lnSpc>
                <a:spcPct val="150000"/>
              </a:lnSpc>
            </a:pPr>
            <a:r>
              <a:rPr sz="2000" b="0">
                <a:solidFill>
                  <a:srgbClr val="1F3A6E"/>
                </a:solidFill>
                <a:latin typeface="メイリオ"/>
                <a:ea typeface="メイリオ"/>
                <a:cs typeface="メイリオ"/>
              </a:rPr>
              <a:t>　 第3章第2節2「学習評価の充実」（指導の評価と改善／学習評価に関する工夫）</a:t>
            </a:r>
          </a:p>
          <a:p>
            <a:pPr algn="l">
              <a:lnSpc>
                <a:spcPct val="150000"/>
              </a:lnSpc>
            </a:pPr>
            <a:r>
              <a:rPr sz="2000" b="0">
                <a:solidFill>
                  <a:srgbClr val="1F3A6E"/>
                </a:solidFill>
                <a:latin typeface="メイリオ"/>
                <a:ea typeface="メイリオ"/>
                <a:cs typeface="メイリオ"/>
              </a:rPr>
              <a:t>● 学習評価の在り方ハンドブック（中学校編）</a:t>
            </a:r>
          </a:p>
          <a:p>
            <a:pPr algn="l">
              <a:lnSpc>
                <a:spcPct val="150000"/>
              </a:lnSpc>
            </a:pPr>
            <a:r>
              <a:rPr sz="2000" b="0">
                <a:solidFill>
                  <a:srgbClr val="1F3A6E"/>
                </a:solidFill>
                <a:latin typeface="メイリオ"/>
                <a:ea typeface="メイリオ"/>
                <a:cs typeface="メイリオ"/>
              </a:rPr>
              <a:t>　 文部科学省　国立教育政策研究所教育課程研究センター</a:t>
            </a:r>
          </a:p>
          <a:p>
            <a:pPr algn="l">
              <a:lnSpc>
                <a:spcPct val="150000"/>
              </a:lnSpc>
            </a:pPr>
            <a:r>
              <a:rPr sz="2000" b="0">
                <a:solidFill>
                  <a:srgbClr val="1F3A6E"/>
                </a:solidFill>
                <a:latin typeface="メイリオ"/>
                <a:ea typeface="メイリオ"/>
                <a:cs typeface="メイリオ"/>
              </a:rPr>
              <a:t>● 「指導と評価の一体化」のための学習評価に関する参考資料</a:t>
            </a:r>
          </a:p>
          <a:p>
            <a:pPr algn="l">
              <a:lnSpc>
                <a:spcPct val="150000"/>
              </a:lnSpc>
            </a:pPr>
            <a:r>
              <a:rPr sz="2000" b="0">
                <a:solidFill>
                  <a:srgbClr val="1F3A6E"/>
                </a:solidFill>
                <a:latin typeface="メイリオ"/>
                <a:ea typeface="メイリオ"/>
                <a:cs typeface="メイリオ"/>
              </a:rPr>
              <a:t>　 文部科学省　国立教育政策研究所教育課程研究センター</a:t>
            </a:r>
          </a:p>
          <a:p>
            <a:pPr algn="l">
              <a:lnSpc>
                <a:spcPct val="150000"/>
              </a:lnSpc>
            </a:pPr>
            <a:r>
              <a:rPr sz="2000" b="0">
                <a:solidFill>
                  <a:srgbClr val="1F3A6E"/>
                </a:solidFill>
                <a:latin typeface="メイリオ"/>
                <a:ea typeface="メイリオ"/>
                <a:cs typeface="メイリオ"/>
              </a:rPr>
              <a:t>● 「子供たちに未来の創り手となるために必要な資質・能力を育む</a:t>
            </a:r>
          </a:p>
          <a:p>
            <a:pPr algn="l">
              <a:lnSpc>
                <a:spcPct val="150000"/>
              </a:lnSpc>
            </a:pPr>
            <a:r>
              <a:rPr sz="2000" b="0">
                <a:solidFill>
                  <a:srgbClr val="1F3A6E"/>
                </a:solidFill>
                <a:latin typeface="メイリオ"/>
                <a:ea typeface="メイリオ"/>
                <a:cs typeface="メイリオ"/>
              </a:rPr>
              <a:t>　 指導と評価の一体化を目指して」Ⅰ理論編　Ⅱ実践編　東京都教育委員会</a:t>
            </a:r>
          </a:p>
          <a:p>
            <a:pPr algn="l">
              <a:lnSpc>
                <a:spcPct val="150000"/>
              </a:lnSpc>
            </a:pPr>
            <a:r>
              <a:rPr sz="2000" b="0">
                <a:solidFill>
                  <a:srgbClr val="1F3A6E"/>
                </a:solidFill>
                <a:latin typeface="メイリオ"/>
                <a:ea typeface="メイリオ"/>
                <a:cs typeface="メイリオ"/>
              </a:rPr>
              <a:t>● 学習評価Q&amp;A実践書（観点別評価・パフォーマンス評価ほか）</a:t>
            </a:r>
          </a:p>
          <a:p>
            <a:pPr algn="l">
              <a:lnSpc>
                <a:spcPct val="150000"/>
              </a:lnSpc>
            </a:pPr>
            <a:r>
              <a:rPr sz="2000" b="0">
                <a:solidFill>
                  <a:srgbClr val="1F3A6E"/>
                </a:solidFill>
                <a:latin typeface="メイリオ"/>
                <a:ea typeface="メイリオ"/>
                <a:cs typeface="メイリオ"/>
              </a:rPr>
              <a:t>　 ※形成的評価・総括ルール・パフォーマンス評価の実践解説書</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1365</Words>
  <Application>Microsoft Office PowerPoint</Application>
  <PresentationFormat>ワイド画面</PresentationFormat>
  <Paragraphs>229</Paragraphs>
  <Slides>23</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ＭＳ ゴシック</vt:lpstr>
      <vt:lpstr>UD デジタル 教科書体 NK-B</vt:lpstr>
      <vt:lpstr>メイリオ</vt:lpstr>
      <vt:lpstr>游ゴシック</vt:lpstr>
      <vt:lpstr>游ゴシック Light</vt:lpstr>
      <vt:lpstr>Arial</vt:lpstr>
      <vt:lpstr>Office テーマ</vt:lpstr>
      <vt:lpstr>『主体的に学習に取り組む態度』の評価</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19</cp:revision>
  <cp:lastPrinted>2026-05-28T02:11:29Z</cp:lastPrinted>
  <dcterms:modified xsi:type="dcterms:W3CDTF">2026-05-28T02:11:30Z</dcterms:modified>
</cp:coreProperties>
</file>