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0000"/>
            <a:ext cx="12192119" cy="90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98000"/>
            <a:ext cx="12192119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4001"/>
            <a:ext cx="12192119" cy="54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98000"/>
            <a:ext cx="1152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000" y="1368000"/>
            <a:ext cx="10368000" cy="3960000"/>
          </a:xfrm>
          <a:prstGeom prst="roundRect">
            <a:avLst>
              <a:gd name="adj" fmla="val 3000"/>
            </a:avLst>
          </a:prstGeom>
          <a:solidFill>
            <a:srgbClr val="ECF3FA"/>
          </a:solidFill>
          <a:ln w="1270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1548000"/>
            <a:ext cx="10368000" cy="43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WG取りまとめ骨子（案） 令和8年6月5日 第10回 から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2088000"/>
            <a:ext cx="10368000" cy="115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小学校体育は</a:t>
            </a:r>
          </a:p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こう変わる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600000"/>
            <a:ext cx="10368000" cy="115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─ 現行 と 今後 の 比較 ─</a:t>
            </a:r>
          </a:p>
          <a:p>
            <a:pPr algn="ctr">
              <a:lnSpc>
                <a:spcPct val="140000"/>
              </a:lnSpc>
            </a:pPr>
            <a:r>
              <a:rPr sz="24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種目を 教える から、資質・能力を 育てる 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896000"/>
            <a:ext cx="10368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本日の授業を踏まえて／次期学習指導要領の動向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6498000"/>
            <a:ext cx="11520000" cy="36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小学校体育 3つの 大変化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2/11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43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骨子（案）が示す、小学校体育に関わる 特に大きな 3つ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" y="1692000"/>
            <a:ext cx="3780000" cy="4176000"/>
          </a:xfrm>
          <a:prstGeom prst="roundRect">
            <a:avLst>
              <a:gd name="adj" fmla="val 3000"/>
            </a:avLst>
          </a:prstGeom>
          <a:solidFill>
            <a:srgbClr val="ECF3FA"/>
          </a:solidFill>
          <a:ln w="2286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" y="1692000"/>
            <a:ext cx="3780000" cy="72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" y="1692000"/>
            <a:ext cx="3780000" cy="72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4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000" y="2519999"/>
            <a:ext cx="3564000" cy="93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「運動遊び」</a:t>
            </a:r>
          </a:p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の拡大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6000" y="3564000"/>
            <a:ext cx="2700000" cy="28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3707999"/>
            <a:ext cx="3492000" cy="2015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小1〜4 が</a:t>
            </a:r>
          </a:p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「運動遊び」を</a:t>
            </a:r>
          </a:p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通した 学びに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6000" y="1692000"/>
            <a:ext cx="3780000" cy="4176000"/>
          </a:xfrm>
          <a:prstGeom prst="roundRect">
            <a:avLst>
              <a:gd name="adj" fmla="val 3000"/>
            </a:avLst>
          </a:prstGeom>
          <a:solidFill>
            <a:srgbClr val="E6F4EB"/>
          </a:solidFill>
          <a:ln w="2286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6000" y="1692000"/>
            <a:ext cx="3780000" cy="720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6000" y="1692000"/>
            <a:ext cx="3780000" cy="72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4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4000" y="2519999"/>
            <a:ext cx="3564000" cy="93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「態度」評価</a:t>
            </a:r>
          </a:p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の転換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6000" y="3564000"/>
            <a:ext cx="2700000" cy="28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00" y="3707999"/>
            <a:ext cx="3492000" cy="2015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公正・協力 等が</a:t>
            </a:r>
          </a:p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「知・技」中心の</a:t>
            </a:r>
          </a:p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『関わり方』に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6000" y="1692000"/>
            <a:ext cx="3780000" cy="4176000"/>
          </a:xfrm>
          <a:prstGeom prst="roundRect">
            <a:avLst>
              <a:gd name="adj" fmla="val 3000"/>
            </a:avLst>
          </a:prstGeom>
          <a:solidFill>
            <a:srgbClr val="FFF2E0"/>
          </a:solidFill>
          <a:ln w="2286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6000" y="1692000"/>
            <a:ext cx="3780000" cy="720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6000" y="1692000"/>
            <a:ext cx="3780000" cy="72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4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4000" y="2519999"/>
            <a:ext cx="3564000" cy="93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「余白」の</a:t>
            </a:r>
          </a:p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創出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66000" y="3564000"/>
            <a:ext cx="2700000" cy="28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0000" y="3707999"/>
            <a:ext cx="3492000" cy="2015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種目を 限定せず</a:t>
            </a:r>
          </a:p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資質・能力 を</a:t>
            </a:r>
          </a:p>
          <a:p>
            <a:pPr algn="ctr">
              <a:lnSpc>
                <a:spcPct val="140000"/>
              </a:lnSpc>
            </a:pPr>
            <a:r>
              <a:rPr sz="23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育てる 示し方に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大変化① 「運動遊び」が 広がる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3/11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39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小1〜4 が 「運動遊び」を通した学び に再整理される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000" y="1584000"/>
            <a:ext cx="5580000" cy="46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000" y="1584000"/>
            <a:ext cx="5580000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現　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4000" y="1584000"/>
            <a:ext cx="5580000" cy="468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4000" y="1584000"/>
            <a:ext cx="5580000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今　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000" y="2124000"/>
            <a:ext cx="5580000" cy="3888000"/>
          </a:xfrm>
          <a:prstGeom prst="roundRect">
            <a:avLst>
              <a:gd name="adj" fmla="val 3000"/>
            </a:avLst>
          </a:prstGeom>
          <a:solidFill>
            <a:srgbClr val="FCECEA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2232000"/>
            <a:ext cx="5220000" cy="3708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低学年 → 運動遊び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中学年 → 「○○運動」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遊び＝低学年 だけ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中学年から「運動の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 やり方」を 教える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指定運動の実施 が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 目的化 しがち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000" y="3599999"/>
            <a:ext cx="666000" cy="576000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4000" y="2124000"/>
            <a:ext cx="5580000" cy="3888000"/>
          </a:xfrm>
          <a:prstGeom prst="roundRect">
            <a:avLst>
              <a:gd name="adj" fmla="val 3000"/>
            </a:avLst>
          </a:prstGeom>
          <a:solidFill>
            <a:srgbClr val="ECF3FA"/>
          </a:solidFill>
          <a:ln w="1524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4000" y="2232000"/>
            <a:ext cx="5220000" cy="3708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小1〜4 →「運動遊び」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を通した 学びに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中学年まで 遊び の要素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「やってみたい」を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 引き出す 場づくり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夢中で動く中で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 ねらう 動き が育つ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「運動遊び」の 授業イメージ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4/11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39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発達段階に応じて 内発的動機 を引き出す（ボール運動系の例）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655999"/>
            <a:ext cx="3708000" cy="3060000"/>
          </a:xfrm>
          <a:prstGeom prst="roundRect">
            <a:avLst>
              <a:gd name="adj" fmla="val 4000"/>
            </a:avLst>
          </a:prstGeom>
          <a:solidFill>
            <a:srgbClr val="ECF3FA"/>
          </a:solidFill>
          <a:ln w="2286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00" y="1655999"/>
            <a:ext cx="3708000" cy="57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655999"/>
            <a:ext cx="3708000" cy="57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低学年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339999"/>
            <a:ext cx="3492000" cy="86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ボールを使っての</a:t>
            </a:r>
          </a:p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運動遊び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" y="3311998"/>
            <a:ext cx="3132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" y="3311998"/>
            <a:ext cx="3132000" cy="118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コーンに</a:t>
            </a:r>
          </a:p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当てたい！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0000" y="1655999"/>
            <a:ext cx="3708000" cy="3060000"/>
          </a:xfrm>
          <a:prstGeom prst="roundRect">
            <a:avLst>
              <a:gd name="adj" fmla="val 4000"/>
            </a:avLst>
          </a:prstGeom>
          <a:solidFill>
            <a:srgbClr val="ECF3FA"/>
          </a:solidFill>
          <a:ln w="2286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0000" y="1655999"/>
            <a:ext cx="3708000" cy="576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0000" y="1655999"/>
            <a:ext cx="3708000" cy="57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中学年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000" y="2339999"/>
            <a:ext cx="3492000" cy="86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ボール運動遊び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18000" y="3311998"/>
            <a:ext cx="3132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8000" y="3311998"/>
            <a:ext cx="3132000" cy="118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たくさん</a:t>
            </a:r>
          </a:p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ゴールしたい！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8000" y="1655999"/>
            <a:ext cx="3708000" cy="3060000"/>
          </a:xfrm>
          <a:prstGeom prst="roundRect">
            <a:avLst>
              <a:gd name="adj" fmla="val 4000"/>
            </a:avLst>
          </a:prstGeom>
          <a:solidFill>
            <a:srgbClr val="E6F4EB"/>
          </a:solidFill>
          <a:ln w="2286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8000" y="1655999"/>
            <a:ext cx="3708000" cy="576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8000" y="1655999"/>
            <a:ext cx="3708000" cy="57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高学年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000" y="2339999"/>
            <a:ext cx="3492000" cy="86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ボール運動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06000" y="3311998"/>
            <a:ext cx="3132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6000" y="3311998"/>
            <a:ext cx="3132000" cy="118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仲間と連携して</a:t>
            </a:r>
          </a:p>
          <a:p>
            <a:pPr algn="ctr"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ゴールしたい！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14001" y="3095999"/>
            <a:ext cx="251999" cy="288000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7902001" y="3095999"/>
            <a:ext cx="251999" cy="288000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6000" y="5040000"/>
            <a:ext cx="11574000" cy="1224000"/>
          </a:xfrm>
          <a:prstGeom prst="roundRect">
            <a:avLst>
              <a:gd name="adj" fmla="val 8000"/>
            </a:avLst>
          </a:prstGeom>
          <a:solidFill>
            <a:srgbClr val="FFF2E0"/>
          </a:solidFill>
          <a:ln w="1905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5040000"/>
            <a:ext cx="11160000" cy="122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先生の役割 ＝ 「思わず○○したくなる」 場や用具の工夫</a:t>
            </a:r>
          </a:p>
          <a:p>
            <a:pPr algn="ctr">
              <a:lnSpc>
                <a:spcPct val="150000"/>
              </a:lnSpc>
            </a:pPr>
            <a:r>
              <a:rPr sz="22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動きの習得 が軸。でも それ だけ が 目的ではない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大変化② 「態度」評価 が 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5/11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39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公正・協力・責任 等が 「知・技」中心の『運動との関わり方』に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000" y="1584000"/>
            <a:ext cx="5580000" cy="46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000" y="1584000"/>
            <a:ext cx="5580000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現　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4000" y="1584000"/>
            <a:ext cx="5580000" cy="468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4000" y="1584000"/>
            <a:ext cx="5580000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今　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000" y="2124000"/>
            <a:ext cx="5580000" cy="3888000"/>
          </a:xfrm>
          <a:prstGeom prst="roundRect">
            <a:avLst>
              <a:gd name="adj" fmla="val 3000"/>
            </a:avLst>
          </a:prstGeom>
          <a:solidFill>
            <a:srgbClr val="FCECEA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2232000"/>
            <a:ext cx="5220000" cy="3708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【区分】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学びに向かう力・人間性等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【見取り】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「公正に取り組もう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としているか」（意思）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【課題】形式的になりがち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000" y="3599999"/>
            <a:ext cx="666000" cy="576000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4000" y="2124000"/>
            <a:ext cx="5580000" cy="3888000"/>
          </a:xfrm>
          <a:prstGeom prst="roundRect">
            <a:avLst>
              <a:gd name="adj" fmla="val 3000"/>
            </a:avLst>
          </a:prstGeom>
          <a:solidFill>
            <a:srgbClr val="ECF3FA"/>
          </a:solidFill>
          <a:ln w="1524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4000" y="2232000"/>
            <a:ext cx="5220000" cy="3708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【区分】知識・技能 中心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（＝運動との関わり方）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【見取り】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「公正とは 何か・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なぜ大切か」（理解）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【効果】客観的に評価でき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大変化③ 「余白」を 創り出す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6/11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39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「○○運動では××をする」 を 改め、教師の創意工夫の 余地 を確保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000" y="1584000"/>
            <a:ext cx="5580000" cy="46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000" y="1584000"/>
            <a:ext cx="5580000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現　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4000" y="1584000"/>
            <a:ext cx="5580000" cy="468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4000" y="1584000"/>
            <a:ext cx="5580000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今　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000" y="2124000"/>
            <a:ext cx="5580000" cy="3888000"/>
          </a:xfrm>
          <a:prstGeom prst="roundRect">
            <a:avLst>
              <a:gd name="adj" fmla="val 3000"/>
            </a:avLst>
          </a:prstGeom>
          <a:solidFill>
            <a:srgbClr val="FCECEA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2232000"/>
            <a:ext cx="5220000" cy="3708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【書き方】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「○○運動では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××をする」（限定的）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指定運動を全部こなす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ことが 課題に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教師・子ども 双方の負担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多様性の包摂 が難しい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60000" y="3599999"/>
            <a:ext cx="666000" cy="576000"/>
          </a:xfrm>
          <a:prstGeom prst="right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4000" y="2124000"/>
            <a:ext cx="5580000" cy="3888000"/>
          </a:xfrm>
          <a:prstGeom prst="roundRect">
            <a:avLst>
              <a:gd name="adj" fmla="val 3000"/>
            </a:avLst>
          </a:prstGeom>
          <a:solidFill>
            <a:srgbClr val="ECF3FA"/>
          </a:solidFill>
          <a:ln w="1524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4000" y="2232000"/>
            <a:ext cx="5220000" cy="3708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【書き方】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小1〜4「どんな 動きか」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小5〜「種目を 柔軟に」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育てる 資質・能力を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　分かりやすく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具体例は 指導参考資料で</a:t>
            </a:r>
          </a:p>
          <a:p>
            <a:pPr algn="l">
              <a:lnSpc>
                <a:spcPct val="140000"/>
              </a:lnSpc>
            </a:pPr>
            <a:r>
              <a:rPr sz="2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● 余白＝深い学び の余地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新しい軸 「高次の資質・能力」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7/11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39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単元の 到達点 を示す 羅針盤（小・ボール運動 の例）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000" y="1620000"/>
            <a:ext cx="5688000" cy="3888000"/>
          </a:xfrm>
          <a:prstGeom prst="roundRect">
            <a:avLst>
              <a:gd name="adj" fmla="val 4000"/>
            </a:avLst>
          </a:prstGeom>
          <a:solidFill>
            <a:srgbClr val="ECF3FA"/>
          </a:solidFill>
          <a:ln w="2540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000" y="1620000"/>
            <a:ext cx="5688000" cy="792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00" y="1620000"/>
            <a:ext cx="5688000" cy="79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統合的な 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00" y="2484000"/>
            <a:ext cx="5688000" cy="32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知識 及び 技能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999" y="2916000"/>
            <a:ext cx="5292000" cy="252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操作 と 連携 で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ゲームを展開し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楽しさを味わえると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理解する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「だから こう動く」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20000"/>
            <a:ext cx="5688000" cy="3888000"/>
          </a:xfrm>
          <a:prstGeom prst="roundRect">
            <a:avLst>
              <a:gd name="adj" fmla="val 4000"/>
            </a:avLst>
          </a:prstGeom>
          <a:solidFill>
            <a:srgbClr val="E6F4EB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2000" y="1620000"/>
            <a:ext cx="5688000" cy="792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2000" y="1620000"/>
            <a:ext cx="5688000" cy="79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総合的な 発揮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2000" y="2484000"/>
            <a:ext cx="5688000" cy="32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思考力・判断力・表現力 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0000" y="2916000"/>
            <a:ext cx="5292000" cy="252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「誰もが」 楽しむために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必要なことを考え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ルールや作戦を 選ぶ</a:t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「だから こう工夫する」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" y="5580000"/>
            <a:ext cx="11627999" cy="46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▶ キーワードは 「誰もが」 ── 全員が楽しむ工夫 を 考えさせる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12年間の 学びの 見通し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8/11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080000"/>
            <a:ext cx="11627999" cy="39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4年ごとに 区切り、発達段階に応じた 学びへ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000" y="1655999"/>
            <a:ext cx="3708000" cy="3420000"/>
          </a:xfrm>
          <a:prstGeom prst="roundRect">
            <a:avLst>
              <a:gd name="adj" fmla="val 4000"/>
            </a:avLst>
          </a:prstGeom>
          <a:solidFill>
            <a:srgbClr val="ECF3FA"/>
          </a:solidFill>
          <a:ln w="2286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00" y="1655999"/>
            <a:ext cx="3708000" cy="54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000" y="1655999"/>
            <a:ext cx="3708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小1〜4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267999"/>
            <a:ext cx="3492000" cy="1007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各種の運動の</a:t>
            </a:r>
          </a:p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基礎を培う時期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000" y="3347999"/>
            <a:ext cx="2844000" cy="2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3455999"/>
            <a:ext cx="3492000" cy="151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「運動遊び」を通して</a:t>
            </a:r>
          </a:p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「好き」「楽しい」</a:t>
            </a:r>
          </a:p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「やってみたい」を育む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30000" y="1655999"/>
            <a:ext cx="3708000" cy="3420000"/>
          </a:xfrm>
          <a:prstGeom prst="roundRect">
            <a:avLst>
              <a:gd name="adj" fmla="val 4000"/>
            </a:avLst>
          </a:prstGeom>
          <a:solidFill>
            <a:srgbClr val="E6F4EB"/>
          </a:solidFill>
          <a:ln w="2286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30000" y="1655999"/>
            <a:ext cx="3708000" cy="540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0000" y="1655999"/>
            <a:ext cx="3708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小5〜中2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000" y="2267999"/>
            <a:ext cx="3492000" cy="1007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多くの領域を経験し</a:t>
            </a:r>
          </a:p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スポーツの基礎</a:t>
            </a:r>
          </a:p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に触れる時期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2000" y="3347999"/>
            <a:ext cx="2844000" cy="21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8000" y="3455999"/>
            <a:ext cx="3492000" cy="151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簡易ルールの「運動」で</a:t>
            </a:r>
          </a:p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全員が安心して</a:t>
            </a:r>
          </a:p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取り組める機会を保障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8000" y="1655999"/>
            <a:ext cx="3708000" cy="3420000"/>
          </a:xfrm>
          <a:prstGeom prst="roundRect">
            <a:avLst>
              <a:gd name="adj" fmla="val 4000"/>
            </a:avLst>
          </a:prstGeom>
          <a:solidFill>
            <a:srgbClr val="FFF2E0"/>
          </a:solidFill>
          <a:ln w="2286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8000" y="1655999"/>
            <a:ext cx="3708000" cy="540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8000" y="1655999"/>
            <a:ext cx="3708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中3〜高3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6000" y="2267999"/>
            <a:ext cx="3492000" cy="1007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卒業後も多様に</a:t>
            </a:r>
          </a:p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関わる時期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0000" y="3347999"/>
            <a:ext cx="2844000" cy="216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6000" y="3455999"/>
            <a:ext cx="3492000" cy="151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選択制で</a:t>
            </a:r>
          </a:p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生涯スポーツの</a:t>
            </a:r>
          </a:p>
          <a:p>
            <a:pPr algn="ctr"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楽しみ方を考える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000" y="5400000"/>
            <a:ext cx="11574000" cy="1044000"/>
          </a:xfrm>
          <a:prstGeom prst="roundRect">
            <a:avLst>
              <a:gd name="adj" fmla="val 1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0000" y="5400000"/>
            <a:ext cx="11160000" cy="104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小5〜中2 は 「運動嫌い」 が 発生しやすい段階。</a:t>
            </a:r>
          </a:p>
          <a:p>
            <a:pPr algn="ctr">
              <a:lnSpc>
                <a:spcPct val="150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技能の水準を下げるのではなく、全員参加 を 保障する趣旨。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指導方法は こう変わる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" y="1152000"/>
            <a:ext cx="2340000" cy="43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1152000"/>
            <a:ext cx="2340000" cy="43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場面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8000" y="1152000"/>
            <a:ext cx="4464000" cy="43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8000" y="1152000"/>
            <a:ext cx="4464000" cy="43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現行の指導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3999" y="1152000"/>
            <a:ext cx="4680000" cy="432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53999" y="1152000"/>
            <a:ext cx="4680000" cy="43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今後の指導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000" y="1620000"/>
            <a:ext cx="2340000" cy="70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00" y="1620000"/>
            <a:ext cx="2340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授業の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起点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8000" y="1620000"/>
            <a:ext cx="4464000" cy="7020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26000" y="1620000"/>
            <a:ext cx="4248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種目・技を どう教えるか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53999" y="1620000"/>
            <a:ext cx="4680000" cy="70200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1999" y="1620000"/>
            <a:ext cx="4464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どんな 動き・楽しみ方 を育てるか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000" y="2365200"/>
            <a:ext cx="2340000" cy="70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000" y="2365200"/>
            <a:ext cx="2340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低中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学年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18000" y="2365200"/>
            <a:ext cx="4464000" cy="7020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6000" y="2365200"/>
            <a:ext cx="4248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運動の 正しいやり方 を教える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3999" y="2365200"/>
            <a:ext cx="4680000" cy="70200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1999" y="2365200"/>
            <a:ext cx="4464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「やってみたい」を引き出す 場づくり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000" y="3110400"/>
            <a:ext cx="2340000" cy="70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000" y="3110400"/>
            <a:ext cx="2340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苦手な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18000" y="3110400"/>
            <a:ext cx="4464000" cy="7020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26000" y="3110400"/>
            <a:ext cx="4248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できるように 補助する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53999" y="3110400"/>
            <a:ext cx="4680000" cy="70200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1999" y="3110400"/>
            <a:ext cx="4464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ルール・場の工夫 で 全員参加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000" y="3855600"/>
            <a:ext cx="2340000" cy="70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000" y="3855600"/>
            <a:ext cx="2340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公正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協力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8000" y="3855600"/>
            <a:ext cx="4464000" cy="7020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26000" y="3855600"/>
            <a:ext cx="4248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「がんばろう」と 声かけ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53999" y="3855600"/>
            <a:ext cx="4680000" cy="70200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1999" y="3855600"/>
            <a:ext cx="4464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「なぜ大切か」を 理解 させる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000" y="4600800"/>
            <a:ext cx="2340000" cy="70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6000" y="4600800"/>
            <a:ext cx="2340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評価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18000" y="4600800"/>
            <a:ext cx="4464000" cy="7020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26000" y="4600800"/>
            <a:ext cx="4248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態度を 主観 で見取る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3999" y="4600800"/>
            <a:ext cx="4680000" cy="70200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1999" y="4600800"/>
            <a:ext cx="4464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知識・技能 として 客観的 に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000" y="5346000"/>
            <a:ext cx="2340000" cy="70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6000" y="5346000"/>
            <a:ext cx="2340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計画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18000" y="5346000"/>
            <a:ext cx="4464000" cy="70200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26000" y="5346000"/>
            <a:ext cx="4248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毎年 同じ時期に 同じ運動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53999" y="5346000"/>
            <a:ext cx="4680000" cy="70200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61999" y="5346000"/>
            <a:ext cx="4464000" cy="70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2年間 で 計画的 に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明日から 意識したい 5つの問い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10/11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000" y="1188000"/>
            <a:ext cx="11574000" cy="954000"/>
          </a:xfrm>
          <a:prstGeom prst="roundRect">
            <a:avLst>
              <a:gd name="adj" fmla="val 6000"/>
            </a:avLst>
          </a:prstGeom>
          <a:solidFill>
            <a:srgbClr val="ECF3FA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0000" y="1332000"/>
            <a:ext cx="666000" cy="666000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000" y="1332000"/>
            <a:ext cx="666000" cy="66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2000" y="1188000"/>
            <a:ext cx="10494000" cy="95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この単元、どんな 「動き」「楽しみ方」 を 育てたいか？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000" y="2206800"/>
            <a:ext cx="11574000" cy="954000"/>
          </a:xfrm>
          <a:prstGeom prst="roundRect">
            <a:avLst>
              <a:gd name="adj" fmla="val 6000"/>
            </a:avLst>
          </a:prstGeom>
          <a:solidFill>
            <a:srgbClr val="E6F4EB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000" y="2350800"/>
            <a:ext cx="666000" cy="666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00" y="2350800"/>
            <a:ext cx="666000" cy="66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2000" y="2206800"/>
            <a:ext cx="10494000" cy="95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全員が 「やってみたい」 と思える 仕掛け はあるか？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000" y="3225600"/>
            <a:ext cx="11574000" cy="954000"/>
          </a:xfrm>
          <a:prstGeom prst="roundRect">
            <a:avLst>
              <a:gd name="adj" fmla="val 6000"/>
            </a:avLst>
          </a:prstGeom>
          <a:solidFill>
            <a:srgbClr val="FFF2E0"/>
          </a:solidFill>
          <a:ln w="1905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0000" y="3369600"/>
            <a:ext cx="666000" cy="666000"/>
          </a:xfrm>
          <a:prstGeom prst="roundRect">
            <a:avLst>
              <a:gd name="adj" fmla="val 50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000" y="3369600"/>
            <a:ext cx="666000" cy="66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2000" y="3225600"/>
            <a:ext cx="10494000" cy="95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「誰もが楽しむ工夫」 を 子どもに 考えさせて いるか？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000" y="4244400"/>
            <a:ext cx="11574000" cy="954000"/>
          </a:xfrm>
          <a:prstGeom prst="roundRect">
            <a:avLst>
              <a:gd name="adj" fmla="val 6000"/>
            </a:avLst>
          </a:prstGeom>
          <a:solidFill>
            <a:srgbClr val="ECF3FA"/>
          </a:solidFill>
          <a:ln w="1905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000" y="4388400"/>
            <a:ext cx="666000" cy="666000"/>
          </a:xfrm>
          <a:prstGeom prst="roundRect">
            <a:avLst>
              <a:gd name="adj" fmla="val 50000"/>
            </a:avLst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000" y="4388400"/>
            <a:ext cx="666000" cy="66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2000" y="4244400"/>
            <a:ext cx="10494000" cy="95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公正・協力を 「態度」ではなく 「理解」 で見ているか？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000" y="5263200"/>
            <a:ext cx="11574000" cy="954000"/>
          </a:xfrm>
          <a:prstGeom prst="roundRect">
            <a:avLst>
              <a:gd name="adj" fmla="val 6000"/>
            </a:avLst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0000" y="5407200"/>
            <a:ext cx="666000" cy="6660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000" y="5407200"/>
            <a:ext cx="666000" cy="66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Q5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2000" y="5263200"/>
            <a:ext cx="10494000" cy="95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ICTは 身体活動時間 を 削っていないか？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3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6000"/>
            <a:ext cx="12192119" cy="7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88000" y="198000"/>
            <a:ext cx="792000" cy="540000"/>
          </a:xfrm>
          <a:prstGeom prst="roundRect">
            <a:avLst>
              <a:gd name="adj" fmla="val 18000"/>
            </a:avLst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198000"/>
            <a:ext cx="792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000" y="198000"/>
            <a:ext cx="954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練馬の 先生方へ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0" y="198000"/>
            <a:ext cx="1080000" cy="54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6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11/11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188000"/>
            <a:ext cx="11106000" cy="4140000"/>
          </a:xfrm>
          <a:prstGeom prst="roundRect">
            <a:avLst>
              <a:gd name="adj" fmla="val 3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0000" y="1620000"/>
            <a:ext cx="5706000" cy="504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655999"/>
            <a:ext cx="10746000" cy="3600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ctr">
              <a:lnSpc>
                <a:spcPct val="16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種目を 教える 授業 から、</a:t>
            </a:r>
          </a:p>
          <a:p>
            <a:pPr algn="ctr">
              <a:lnSpc>
                <a:spcPct val="16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資質・能力を 育てる 授業へ。</a:t>
            </a:r>
          </a:p>
          <a:p>
            <a:pPr algn="ctr">
              <a:lnSpc>
                <a:spcPct val="16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ctr">
              <a:lnSpc>
                <a:spcPct val="16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子どもの「やってみたい」を引き出し、</a:t>
            </a:r>
          </a:p>
          <a:p>
            <a:pPr algn="ctr">
              <a:lnSpc>
                <a:spcPct val="160000"/>
              </a:lnSpc>
            </a:pPr>
            <a:r>
              <a:rPr sz="2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「誰もが楽しむ工夫」を 考えさせる。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5436000"/>
            <a:ext cx="11106000" cy="9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5472000"/>
            <a:ext cx="10746000" cy="288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▼ 主な参考資料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760000"/>
            <a:ext cx="10746000" cy="612000"/>
          </a:xfrm>
          <a:prstGeom prst="rect">
            <a:avLst/>
          </a:prstGeom>
          <a:noFill/>
        </p:spPr>
        <p:txBody>
          <a:bodyPr wrap="square" lIns="43200" rIns="43200" tIns="18000" bIns="1800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中央教育審議会 体育・保健体育、健康、安全ワーキンググループ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2B2B2B"/>
                </a:solidFill>
                <a:latin typeface="メイリオ"/>
                <a:rFonts eastAsia="メイリオ" ascii="メイリオ" hAnsi="メイリオ"/>
              </a:rPr>
              <a:t>「取りまとめ骨子（案）」（令和8年6月5日 第10回 資料2-1）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6001"/>
            <a:ext cx="12192119" cy="251999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6606001"/>
            <a:ext cx="7200000" cy="251999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no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出典：WG取りまとめ骨子（案）令和8年6月5日 第10回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