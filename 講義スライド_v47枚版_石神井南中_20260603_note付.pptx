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6" r:id="rId1"/>
  </p:sldMasterIdLst>
  <p:notesMasterIdLst>
    <p:notesMasterId r:id="rId49"/>
  </p:notesMasterIdLst>
  <p:handoutMasterIdLst>
    <p:handoutMasterId r:id="rId50"/>
  </p:handoutMasterIdLst>
  <p:sldIdLst>
    <p:sldId id="256" r:id="rId2"/>
    <p:sldId id="282" r:id="rId3"/>
    <p:sldId id="319" r:id="rId4"/>
    <p:sldId id="659" r:id="rId5"/>
    <p:sldId id="647" r:id="rId6"/>
    <p:sldId id="417" r:id="rId7"/>
    <p:sldId id="650" r:id="rId8"/>
    <p:sldId id="261" r:id="rId9"/>
    <p:sldId id="262" r:id="rId10"/>
    <p:sldId id="648" r:id="rId11"/>
    <p:sldId id="264" r:id="rId12"/>
    <p:sldId id="265" r:id="rId13"/>
    <p:sldId id="266" r:id="rId14"/>
    <p:sldId id="657" r:id="rId15"/>
    <p:sldId id="321" r:id="rId16"/>
    <p:sldId id="303" r:id="rId17"/>
    <p:sldId id="305" r:id="rId18"/>
    <p:sldId id="651" r:id="rId19"/>
    <p:sldId id="291" r:id="rId20"/>
    <p:sldId id="284" r:id="rId21"/>
    <p:sldId id="306" r:id="rId22"/>
    <p:sldId id="307" r:id="rId23"/>
    <p:sldId id="308" r:id="rId24"/>
    <p:sldId id="327" r:id="rId25"/>
    <p:sldId id="326" r:id="rId26"/>
    <p:sldId id="649" r:id="rId27"/>
    <p:sldId id="673" r:id="rId28"/>
    <p:sldId id="674" r:id="rId29"/>
    <p:sldId id="675" r:id="rId30"/>
    <p:sldId id="676" r:id="rId31"/>
    <p:sldId id="677" r:id="rId32"/>
    <p:sldId id="678" r:id="rId33"/>
    <p:sldId id="679" r:id="rId34"/>
    <p:sldId id="680" r:id="rId35"/>
    <p:sldId id="280" r:id="rId36"/>
    <p:sldId id="281" r:id="rId37"/>
    <p:sldId id="658" r:id="rId38"/>
    <p:sldId id="652" r:id="rId39"/>
    <p:sldId id="653" r:id="rId40"/>
    <p:sldId id="655" r:id="rId41"/>
    <p:sldId id="656" r:id="rId42"/>
    <p:sldId id="612" r:id="rId43"/>
    <p:sldId id="662" r:id="rId44"/>
    <p:sldId id="663" r:id="rId45"/>
    <p:sldId id="664" r:id="rId46"/>
    <p:sldId id="665" r:id="rId47"/>
    <p:sldId id="672" r:id="rId48"/>
  </p:sldIdLst>
  <p:sldSz cx="12192000" cy="6858000"/>
  <p:notesSz cx="9869488" cy="673735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F1A0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テーマ スタイル 1 - アクセント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7377" autoAdjust="0"/>
    <p:restoredTop sz="94660"/>
  </p:normalViewPr>
  <p:slideViewPr>
    <p:cSldViewPr snapToGrid="0">
      <p:cViewPr varScale="1">
        <p:scale>
          <a:sx n="105" d="100"/>
          <a:sy n="105" d="100"/>
        </p:scale>
        <p:origin x="120" y="2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handoutMaster" Target="handoutMasters/handout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2" y="5"/>
            <a:ext cx="4276247" cy="337348"/>
          </a:xfrm>
          <a:prstGeom prst="rect">
            <a:avLst/>
          </a:prstGeom>
        </p:spPr>
        <p:txBody>
          <a:bodyPr vert="horz" lIns="89799" tIns="44899" rIns="89799" bIns="44899"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5590968" y="5"/>
            <a:ext cx="4276247" cy="337348"/>
          </a:xfrm>
          <a:prstGeom prst="rect">
            <a:avLst/>
          </a:prstGeom>
        </p:spPr>
        <p:txBody>
          <a:bodyPr vert="horz" lIns="89799" tIns="44899" rIns="89799" bIns="44899" rtlCol="0"/>
          <a:lstStyle>
            <a:lvl1pPr algn="r">
              <a:defRPr sz="1200"/>
            </a:lvl1pPr>
          </a:lstStyle>
          <a:p>
            <a:fld id="{01BEA04A-EA59-42D0-B1DE-684874E10CAA}" type="datetimeFigureOut">
              <a:rPr kumimoji="1" lang="ja-JP" altLang="en-US" smtClean="0"/>
              <a:t>2026/6/3</a:t>
            </a:fld>
            <a:endParaRPr kumimoji="1" lang="ja-JP" altLang="en-US"/>
          </a:p>
        </p:txBody>
      </p:sp>
      <p:sp>
        <p:nvSpPr>
          <p:cNvPr id="4" name="フッター プレースホルダー 3"/>
          <p:cNvSpPr>
            <a:spLocks noGrp="1"/>
          </p:cNvSpPr>
          <p:nvPr>
            <p:ph type="ftr" sz="quarter" idx="2"/>
          </p:nvPr>
        </p:nvSpPr>
        <p:spPr>
          <a:xfrm>
            <a:off x="2" y="6400006"/>
            <a:ext cx="4276247" cy="337348"/>
          </a:xfrm>
          <a:prstGeom prst="rect">
            <a:avLst/>
          </a:prstGeom>
        </p:spPr>
        <p:txBody>
          <a:bodyPr vert="horz" lIns="89799" tIns="44899" rIns="89799" bIns="44899"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5590968" y="6400006"/>
            <a:ext cx="4276247" cy="337348"/>
          </a:xfrm>
          <a:prstGeom prst="rect">
            <a:avLst/>
          </a:prstGeom>
        </p:spPr>
        <p:txBody>
          <a:bodyPr vert="horz" lIns="89799" tIns="44899" rIns="89799" bIns="44899" rtlCol="0" anchor="b"/>
          <a:lstStyle>
            <a:lvl1pPr algn="r">
              <a:defRPr sz="1200"/>
            </a:lvl1pPr>
          </a:lstStyle>
          <a:p>
            <a:fld id="{DB567FFB-CC10-44D5-A649-9C45EAD5B1E6}" type="slidenum">
              <a:rPr kumimoji="1" lang="ja-JP" altLang="en-US" smtClean="0"/>
              <a:t>‹#›</a:t>
            </a:fld>
            <a:endParaRPr kumimoji="1" lang="ja-JP" altLang="en-US"/>
          </a:p>
        </p:txBody>
      </p:sp>
    </p:spTree>
    <p:extLst>
      <p:ext uri="{BB962C8B-B14F-4D97-AF65-F5344CB8AC3E}">
        <p14:creationId xmlns:p14="http://schemas.microsoft.com/office/powerpoint/2010/main" val="30319502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4"/>
            <a:ext cx="4277144" cy="338498"/>
          </a:xfrm>
          <a:prstGeom prst="rect">
            <a:avLst/>
          </a:prstGeom>
        </p:spPr>
        <p:txBody>
          <a:bodyPr vert="horz" lIns="89799" tIns="44899" rIns="89799" bIns="44899" rtlCol="0"/>
          <a:lstStyle>
            <a:lvl1pPr algn="l">
              <a:defRPr sz="1200"/>
            </a:lvl1pPr>
          </a:lstStyle>
          <a:p>
            <a:endParaRPr kumimoji="1" lang="ja-JP" altLang="en-US"/>
          </a:p>
        </p:txBody>
      </p:sp>
      <p:sp>
        <p:nvSpPr>
          <p:cNvPr id="3" name="日付プレースホルダー 2"/>
          <p:cNvSpPr>
            <a:spLocks noGrp="1"/>
          </p:cNvSpPr>
          <p:nvPr>
            <p:ph type="dt" idx="1"/>
          </p:nvPr>
        </p:nvSpPr>
        <p:spPr>
          <a:xfrm>
            <a:off x="5590782" y="4"/>
            <a:ext cx="4277142" cy="338498"/>
          </a:xfrm>
          <a:prstGeom prst="rect">
            <a:avLst/>
          </a:prstGeom>
        </p:spPr>
        <p:txBody>
          <a:bodyPr vert="horz" lIns="89799" tIns="44899" rIns="89799" bIns="44899" rtlCol="0"/>
          <a:lstStyle>
            <a:lvl1pPr algn="r">
              <a:defRPr sz="1200"/>
            </a:lvl1pPr>
          </a:lstStyle>
          <a:p>
            <a:fld id="{627F1449-63F1-4F02-A15F-3E2FE5019972}" type="datetimeFigureOut">
              <a:rPr kumimoji="1" lang="ja-JP" altLang="en-US" smtClean="0"/>
              <a:t>2026/6/3</a:t>
            </a:fld>
            <a:endParaRPr kumimoji="1" lang="ja-JP" altLang="en-US"/>
          </a:p>
        </p:txBody>
      </p:sp>
      <p:sp>
        <p:nvSpPr>
          <p:cNvPr id="4" name="スライド イメージ プレースホルダー 3"/>
          <p:cNvSpPr>
            <a:spLocks noGrp="1" noRot="1" noChangeAspect="1"/>
          </p:cNvSpPr>
          <p:nvPr>
            <p:ph type="sldImg" idx="2"/>
          </p:nvPr>
        </p:nvSpPr>
        <p:spPr>
          <a:xfrm>
            <a:off x="2913063" y="841375"/>
            <a:ext cx="4043362" cy="2274888"/>
          </a:xfrm>
          <a:prstGeom prst="rect">
            <a:avLst/>
          </a:prstGeom>
          <a:noFill/>
          <a:ln w="12700">
            <a:solidFill>
              <a:prstClr val="black"/>
            </a:solidFill>
          </a:ln>
        </p:spPr>
        <p:txBody>
          <a:bodyPr vert="horz" lIns="89799" tIns="44899" rIns="89799" bIns="44899" rtlCol="0" anchor="ctr"/>
          <a:lstStyle/>
          <a:p>
            <a:endParaRPr lang="ja-JP" altLang="en-US"/>
          </a:p>
        </p:txBody>
      </p:sp>
      <p:sp>
        <p:nvSpPr>
          <p:cNvPr id="5" name="ノート プレースホルダー 4"/>
          <p:cNvSpPr>
            <a:spLocks noGrp="1"/>
          </p:cNvSpPr>
          <p:nvPr>
            <p:ph type="body" sz="quarter" idx="3"/>
          </p:nvPr>
        </p:nvSpPr>
        <p:spPr>
          <a:xfrm>
            <a:off x="986796" y="3242127"/>
            <a:ext cx="7895902" cy="2653637"/>
          </a:xfrm>
          <a:prstGeom prst="rect">
            <a:avLst/>
          </a:prstGeom>
        </p:spPr>
        <p:txBody>
          <a:bodyPr vert="horz" lIns="89799" tIns="44899" rIns="89799" bIns="44899"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6398855"/>
            <a:ext cx="4277144" cy="338498"/>
          </a:xfrm>
          <a:prstGeom prst="rect">
            <a:avLst/>
          </a:prstGeom>
        </p:spPr>
        <p:txBody>
          <a:bodyPr vert="horz" lIns="89799" tIns="44899" rIns="89799" bIns="44899"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5590782" y="6398855"/>
            <a:ext cx="4277142" cy="338498"/>
          </a:xfrm>
          <a:prstGeom prst="rect">
            <a:avLst/>
          </a:prstGeom>
        </p:spPr>
        <p:txBody>
          <a:bodyPr vert="horz" lIns="89799" tIns="44899" rIns="89799" bIns="44899" rtlCol="0" anchor="b"/>
          <a:lstStyle>
            <a:lvl1pPr algn="r">
              <a:defRPr sz="1200"/>
            </a:lvl1pPr>
          </a:lstStyle>
          <a:p>
            <a:fld id="{2851C5CF-25F5-474F-B99C-E03B7932DF76}" type="slidenum">
              <a:rPr kumimoji="1" lang="ja-JP" altLang="en-US" smtClean="0"/>
              <a:t>‹#›</a:t>
            </a:fld>
            <a:endParaRPr kumimoji="1" lang="ja-JP" altLang="en-US"/>
          </a:p>
        </p:txBody>
      </p:sp>
    </p:spTree>
    <p:extLst>
      <p:ext uri="{BB962C8B-B14F-4D97-AF65-F5344CB8AC3E}">
        <p14:creationId xmlns:p14="http://schemas.microsoft.com/office/powerpoint/2010/main" val="3598508032"/>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【S1　表紙】 ─ 目安 1分　〔14:10 開会〕</a:t>
            </a:r>
          </a:p>
          <a:p/>
          <a:p>
            <a:r>
              <a:t>みなさん、こんにちは。練馬区教育委員会、指導主事の紺多と申します。本日はお忙しい中、お時間をいただきありがとうございます。</a:t>
            </a:r>
          </a:p>
          <a:p/>
          <a:p>
            <a:r>
              <a:t>本日のテーマは「指導と評価の一体化」、副題として「『主体的に学習に取り組む態度』の評価を中心に」とさせていただきました。</a:t>
            </a:r>
          </a:p>
          <a:p/>
          <a:p>
            <a:r>
              <a:t>木原校長から「指導と評価の一体化について、特に主体的に学習に取り組む態度の評価のばらつきが出ないように」というご依頼をいただいておりますので、その内容に沿って進めてまいります。</a:t>
            </a:r>
          </a:p>
          <a:p/>
          <a:p>
            <a:r>
              <a:t>30〜40分の講話、グループ協議、そして「今後に向けて」をテーマとした質疑応答という流れです。</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【S2　本日の内容】 ─ 目安 30秒　〔流れ提示〕</a:t>
            </a:r>
          </a:p>
          <a:p/>
          <a:p>
            <a:r>
              <a:t>本日は大きく2つの柱でお話しします。</a:t>
            </a:r>
          </a:p>
          <a:p>
            <a:r>
              <a:t>１ 主体的・対話的で深い学びの実現に向けた授業改善</a:t>
            </a:r>
          </a:p>
          <a:p>
            <a:r>
              <a:t>２ 「主体的に学習に取り組む態度」の学習評価</a:t>
            </a:r>
          </a:p>
          <a:p/>
          <a:p>
            <a:r>
              <a:t>途中、3回ほど隣の方と話していただく時間を取ります。</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【S3　はじめに（章扉）】 ─ 目安 10秒　〔章扉〕</a:t>
            </a:r>
          </a:p>
          <a:p/>
          <a:p>
            <a:r>
              <a:t>それでは、ウォームアップから入らせてください。</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【S4　【アイスブレイク】冒頭クイズ】 ─ 目安 2分　〔冒頭クイズ・ペア相談〕</a:t>
            </a:r>
          </a:p>
          <a:p/>
          <a:p>
            <a:r>
              <a:t>ウォームアップとして、いきなりクイズです。</a:t>
            </a:r>
          </a:p>
          <a:p/>
          <a:p>
            <a:r>
              <a:t>「『主体的に学習に取り組む態度』を、普段 何で評価していますか？」</a:t>
            </a:r>
          </a:p>
          <a:p/>
          <a:p>
            <a:r>
              <a:t>A：ノート・レポートの記述内容</a:t>
            </a:r>
          </a:p>
          <a:p>
            <a:r>
              <a:t>B：授業中の発言・挙手</a:t>
            </a:r>
          </a:p>
          <a:p>
            <a:r>
              <a:t>C：提出物の有無・期日</a:t>
            </a:r>
          </a:p>
          <a:p>
            <a:r>
              <a:t>D：教師の感覚的な印象</a:t>
            </a:r>
          </a:p>
          <a:p/>
          <a:p>
            <a:r>
              <a:t>一番大きい比重のものを1つ。隣の先生と1分間、話してみてください。</a:t>
            </a:r>
          </a:p>
          <a:p/>
          <a:p>
            <a:r>
              <a:t>…はい、ありがとうございます。挙手で確認させてください。Aの方？　Bの方？　Cの方？　Dの方？</a:t>
            </a:r>
          </a:p>
          <a:p/>
          <a:p>
            <a:r>
              <a:t>実は、平成31年中教審報告で、ノート提出頻度や挙手回数などの表面的・形式的な評価になりがち、と指摘されています。今日は「では、何をどう見取るのか」を一緒に整理していく時間です。</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2689225" y="504825"/>
            <a:ext cx="4491038" cy="2525713"/>
          </a:xfrm>
        </p:spPr>
      </p:sp>
      <p:sp>
        <p:nvSpPr>
          <p:cNvPr id="3" name="ノート プレースホルダー 2"/>
          <p:cNvSpPr>
            <a:spLocks noGrp="1"/>
          </p:cNvSpPr>
          <p:nvPr>
            <p:ph type="body" idx="1"/>
          </p:nvPr>
        </p:nvSpPr>
        <p:spPr/>
        <p:txBody>
          <a:bodyPr/>
          <a:lstStyle/>
          <a:p>
            <a:r>
              <a:t>【S5　区内3校の社会科の評定】 ─ 目安 1.5分　〔数字あてクイズ〕</a:t>
            </a:r>
          </a:p>
          <a:p/>
          <a:p>
            <a:r>
              <a:t>もう一つクイズです。A中学校、B中学校、C中学校。この数字は何でしょう？</a:t>
            </a:r>
          </a:p>
          <a:p/>
          <a:p>
            <a:r>
              <a:t>…ヒントは「社会科」です。</a:t>
            </a:r>
          </a:p>
          <a:p/>
          <a:p>
            <a:r>
              <a:t>答えは「区内3校の社会科の評定割合」です。同じ教科でも、学校間でこれだけ違うのですね。</a:t>
            </a:r>
          </a:p>
          <a:p/>
          <a:p>
            <a:r>
              <a:t>「同じ教科であっても、評価は揺れる」── まずこの事実を共有させてください。</a:t>
            </a:r>
          </a:p>
        </p:txBody>
      </p:sp>
      <p:sp>
        <p:nvSpPr>
          <p:cNvPr id="4" name="スライド番号プレースホルダー 3"/>
          <p:cNvSpPr>
            <a:spLocks noGrp="1"/>
          </p:cNvSpPr>
          <p:nvPr>
            <p:ph type="sldNum" sz="quarter" idx="10"/>
          </p:nvPr>
        </p:nvSpPr>
        <p:spPr/>
        <p:txBody>
          <a:bodyPr/>
          <a:lstStyle/>
          <a:p>
            <a:fld id="{BD236342-BA52-47EB-BD3F-1A7CCAFE6BE5}" type="slidenum">
              <a:rPr kumimoji="1" lang="ja-JP" altLang="en-US" smtClean="0"/>
              <a:t>5</a:t>
            </a:fld>
            <a:endParaRPr kumimoji="1" lang="ja-JP" altLang="en-US"/>
          </a:p>
        </p:txBody>
      </p:sp>
    </p:spTree>
    <p:extLst>
      <p:ext uri="{BB962C8B-B14F-4D97-AF65-F5344CB8AC3E}">
        <p14:creationId xmlns:p14="http://schemas.microsoft.com/office/powerpoint/2010/main" val="5002227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t>★ 【S6　練馬区中3・義務教育9年の評定状況】 ─ 目安 1.5分　〔★ばらつきの実態〕</a:t>
            </a:r>
          </a:p>
          <a:p/>
          <a:p>
            <a:r>
              <a:t>お手元のデータをご覧ください。</a:t>
            </a:r>
          </a:p>
          <a:p/>
          <a:p>
            <a:r>
              <a:t>これは、令和6年12月31日現在の、練馬区の公立中学校第3学年および義務教育学校第9学年の評定状況です。</a:t>
            </a:r>
          </a:p>
          <a:p/>
          <a:p>
            <a:r>
              <a:t>特に注目していただきたいのは、評定「5」の割合 ── 学校ごとで大きくばらついています。</a:t>
            </a:r>
          </a:p>
          <a:p/>
          <a:p>
            <a:r>
              <a:t>同じ練馬区内で、同じ学年で、同じ指導要領で評価しているのに、評定5の割合がこれだけ違う。校長から「ばらつきが出ないように」とご依頼があった背景には、こうしたデータがあります。</a:t>
            </a:r>
          </a:p>
        </p:txBody>
      </p:sp>
      <p:sp>
        <p:nvSpPr>
          <p:cNvPr id="4" name="日付プレースホルダー 3"/>
          <p:cNvSpPr>
            <a:spLocks noGrp="1"/>
          </p:cNvSpPr>
          <p:nvPr>
            <p:ph type="dt" idx="1"/>
          </p:nvPr>
        </p:nvSpPr>
        <p:spPr/>
        <p:txBody>
          <a:bodyPr/>
          <a:lstStyle/>
          <a:p>
            <a:endParaRPr kumimoji="1" lang="ja-JP" altLang="en-US"/>
          </a:p>
        </p:txBody>
      </p:sp>
      <p:sp>
        <p:nvSpPr>
          <p:cNvPr id="5" name="スライド番号プレースホルダー 4"/>
          <p:cNvSpPr>
            <a:spLocks noGrp="1"/>
          </p:cNvSpPr>
          <p:nvPr>
            <p:ph type="sldNum" sz="quarter" idx="5"/>
          </p:nvPr>
        </p:nvSpPr>
        <p:spPr/>
        <p:txBody>
          <a:bodyPr/>
          <a:lstStyle/>
          <a:p>
            <a:fld id="{131644CB-784C-4107-B0BD-9BD36659C28D}" type="slidenum">
              <a:rPr kumimoji="1" lang="ja-JP" altLang="en-US" smtClean="0"/>
              <a:t>6</a:t>
            </a:fld>
            <a:endParaRPr kumimoji="1" lang="ja-JP" altLang="en-US"/>
          </a:p>
        </p:txBody>
      </p:sp>
    </p:spTree>
    <p:extLst>
      <p:ext uri="{BB962C8B-B14F-4D97-AF65-F5344CB8AC3E}">
        <p14:creationId xmlns:p14="http://schemas.microsoft.com/office/powerpoint/2010/main" val="34597848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【S7　「指導と評価の一体化」とは】 ─ 目安 2分　〔★本研修の土台〕</a:t>
            </a:r>
          </a:p>
          <a:p/>
          <a:p>
            <a:r>
              <a:t>本日の土台になる「指導と評価の一体化」です。</a:t>
            </a:r>
          </a:p>
          <a:p/>
          <a:p>
            <a:r>
              <a:t>①目標で「Ｂの姿」を描く</a:t>
            </a:r>
          </a:p>
          <a:p>
            <a:r>
              <a:t>②指導で授業を行う</a:t>
            </a:r>
          </a:p>
          <a:p>
            <a:r>
              <a:t>③評価で学びの姿をみとる</a:t>
            </a:r>
          </a:p>
          <a:p>
            <a:r>
              <a:t>④改善で次の指導に生かす</a:t>
            </a:r>
          </a:p>
          <a:p/>
          <a:p>
            <a:r>
              <a:t>この①〜④を、単元の中で繰り返す。これが「指導と評価の一体化」です。</a:t>
            </a:r>
          </a:p>
          <a:p/>
          <a:p>
            <a:r>
              <a:t>校長からの「正当な評価」「授業改善につながる評価」というキーワードに正面から応える考え方です。</a:t>
            </a:r>
          </a:p>
          <a:p/>
          <a:p>
            <a:r>
              <a:t>本研修は、3観点すべてを対象としつつ、特に見取りが難しい「主体的に学習に取り組む態度」を重点的に扱います。</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【S8　資質・能力の3つの柱】 ─ 目安 1分　〔目指す力〕</a:t>
            </a:r>
          </a:p>
          <a:p/>
          <a:p>
            <a:r>
              <a:t>目指す資質・能力は3つの柱。①知識・技能、②思考力・判断力・表現力等、③学びに向かう力・人間性等。</a:t>
            </a:r>
          </a:p>
          <a:p/>
          <a:p>
            <a:r>
              <a:t>③のうち観点別評価で見えるのが「主体的に学習に取り組む態度」、見えにくいのが感性・思いやりなど個人内評価で見るものです。</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【S9　主体的・対話的で深い学び】 ─ 目安 45秒　〔学び方〕</a:t>
            </a:r>
          </a:p>
          <a:p/>
          <a:p>
            <a:r>
              <a:t>資質・能力を育てる「学び方」が、主体的・対話的・深い学びの3つ。</a:t>
            </a:r>
          </a:p>
          <a:p/>
          <a:p>
            <a:r>
              <a:t>授業改善で見せたい「学びの姿」が、そのまま評価の対象になります。</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【S10　「主体的な学び」のイメージ】 ─ 目安 45秒　〔6要素〕</a:t>
            </a:r>
          </a:p>
          <a:p/>
          <a:p>
            <a:r>
              <a:t>「主体的な学び」のイメージです。</a:t>
            </a:r>
          </a:p>
          <a:p/>
          <a:p>
            <a:r>
              <a:t>興味や関心／見通し／粘り強さ／自分と結び付ける／振り返り／学び続ける意志。</a:t>
            </a:r>
          </a:p>
          <a:p/>
          <a:p>
            <a:r>
              <a:t>これらが単元で実際に見えるかを観ます。</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【S11　「対話的な学び」のイメージ】 ─ 目安 45秒　〔6要素〕</a:t>
            </a:r>
          </a:p>
          <a:p/>
          <a:p>
            <a:r>
              <a:t>「対話的な学び」のイメージ。</a:t>
            </a:r>
          </a:p>
          <a:p/>
          <a:p>
            <a:r>
              <a:t>互いの考えを比べる／多様な手段で説明／共に創る／情報収集／協働解決／先哲の考え。</a:t>
            </a:r>
          </a:p>
          <a:p/>
          <a:p>
            <a:r>
              <a:t>InputとOutputの往復で、考えを更新する姿を観ます。</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【S12　「深い学び」のイメージ】 ─ 目安 45秒　〔6要素〕</a:t>
            </a:r>
          </a:p>
          <a:p/>
          <a:p>
            <a:r>
              <a:t>「深い学び」のイメージ。</a:t>
            </a:r>
          </a:p>
          <a:p/>
          <a:p>
            <a:r>
              <a:t>習得／活用／概念化／自分の考えを形成／問い続ける／新たに創る。</a:t>
            </a:r>
          </a:p>
          <a:p/>
          <a:p>
            <a:r>
              <a:t>「分かった」を超えて、「使える・問い続ける」姿を観ます。</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【S13　授業改善と評価は一体】 ─ 目安 30秒　〔サイクル再確認〕</a:t>
            </a:r>
          </a:p>
          <a:p/>
          <a:p>
            <a:r>
              <a:t>授業改善で見せたい姿が、そのまま評価規準＝「Ｂと判断する姿」になります。</a:t>
            </a:r>
          </a:p>
          <a:p/>
          <a:p>
            <a:r>
              <a:t>ここで、隣の方とお話する時間を取ります。</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【S14　【ペアトーク①】】 ─ 目安 1分　〔自分の授業に引き寄せ〕</a:t>
            </a:r>
          </a:p>
          <a:p/>
          <a:p>
            <a:r>
              <a:t>ペアトーク、1回目です。</a:t>
            </a:r>
          </a:p>
          <a:p/>
          <a:p>
            <a:r>
              <a:t>「最近の授業で、『主体的・対話的・深い学び』が見えた場面はありましたか？」</a:t>
            </a:r>
          </a:p>
          <a:p/>
          <a:p>
            <a:r>
              <a:t>どんな小さな場面でもOK。「見えなかった」も気づきです。1分、お願いします。</a:t>
            </a:r>
          </a:p>
          <a:p/>
          <a:p>
            <a:r>
              <a:t>…ありがとうございました。お話の中で「○○」というのが聞こえました。まさに「△△な学び」の好例ですね。</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【S15　第2章 章扉】 ─ 目安 10秒　〔Part2へ〕</a:t>
            </a:r>
          </a:p>
          <a:p/>
          <a:p>
            <a:r>
              <a:t>ここから第2章、評価論に入ります。</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【S16　学習評価の現状における課題】 ─ 目安 1分　〔課題共有〕</a:t>
            </a:r>
          </a:p>
          <a:p/>
          <a:p>
            <a:r>
              <a:t>現状の4つの課題です。</a:t>
            </a:r>
          </a:p>
          <a:p/>
          <a:p>
            <a:r>
              <a:t>学習改善への活用が弱い／保護者からの誤解／教員の負担／正しい理解が共有されていない。</a:t>
            </a:r>
          </a:p>
          <a:p/>
          <a:p>
            <a:r>
              <a:t>平成31年中教審報告で指摘された課題そのものです。</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【S17　学習評価の改善の基本方針】 ─ 目安 45秒　〔3方針〕</a:t>
            </a:r>
          </a:p>
          <a:p/>
          <a:p>
            <a:r>
              <a:t>改善の基本方針は3つ。</a:t>
            </a:r>
          </a:p>
          <a:p/>
          <a:p>
            <a:r>
              <a:t>①生徒の学習改善につながるものに</a:t>
            </a:r>
          </a:p>
          <a:p>
            <a:r>
              <a:t>②教師の指導改善につながるものに</a:t>
            </a:r>
          </a:p>
          <a:p>
            <a:r>
              <a:t>③必要性・妥当性が認められないものは見直す</a:t>
            </a:r>
          </a:p>
          <a:p/>
          <a:p>
            <a:r>
              <a:t>S7「一体化」の精神と重なります。</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【S18　★授業改善につながる評価】 ─ 目安 2分　〔★校長依頼の核心〕</a:t>
            </a:r>
          </a:p>
          <a:p/>
          <a:p>
            <a:r>
              <a:t>校長依頼「授業改善につながる評価」に正面から答えるスライドです。</a:t>
            </a:r>
          </a:p>
          <a:p/>
          <a:p>
            <a:r>
              <a:t>評価には2つの役割。①記録・評定のため（総括的）、②指導改善のため（形成的）。校長が重視されているのは②です。</a:t>
            </a:r>
          </a:p>
          <a:p/>
          <a:p>
            <a:r>
              <a:t>形成的評価のサイクル：①みとる→②気づく→③変える→④伸びる。</a:t>
            </a:r>
          </a:p>
          <a:p/>
          <a:p>
            <a:r>
              <a:t>例えば「見通しが弱い」と気づいたら、次時の冒頭にゴールと手順を確認する場面を加える。これで生徒の学びが伸びる。</a:t>
            </a:r>
          </a:p>
          <a:p/>
          <a:p>
            <a:r>
              <a:t>評価は「つける」だけでなく「生かす」もの。本日の重要メッセージです。</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【S19　各教科における評価の基本構造】 ─ 目安 45秒　〔3観点の構造〕</a:t>
            </a:r>
          </a:p>
          <a:p/>
          <a:p>
            <a:r>
              <a:t>指導要領の目標・内容を、観点別評価では3観点で見ます。3観点ともABCで評価し、評定（5段階）に総括します。</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【S20　「知識・技能」の評価】 ─ 目安 30秒　〔正典の押さえ〕</a:t>
            </a:r>
          </a:p>
          <a:p/>
          <a:p>
            <a:r>
              <a:t>「知識・技能」の評価です。</a:t>
            </a:r>
          </a:p>
          <a:p/>
          <a:p>
            <a:r>
              <a:t>既有の知識・技能と関連付けて、概念として理解しているかを評価します。ペーパーテスト、実際に用いる場面の活動で見ます。</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【S21　「思考・判断・表現」の評価】 ─ 目安 30秒　〔正典の押さえ〕</a:t>
            </a:r>
          </a:p>
          <a:p/>
          <a:p>
            <a:r>
              <a:t>「思考・判断・表現」の評価です。</a:t>
            </a:r>
          </a:p>
          <a:p/>
          <a:p>
            <a:r>
              <a:t>論述・レポート・発表、グループの話合い、作品制作、ポートフォリオなど多様な活動で見ます。</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【S22　「主体的に取り組む態度」── 2側面】 ─ 目安 1.5分　〔★本日の重点〕</a:t>
            </a:r>
          </a:p>
          <a:p/>
          <a:p>
            <a:r>
              <a:t>ここからが本日の重点。「主体的に学習に取り組む態度」は2つの側面で見ます。</a:t>
            </a:r>
          </a:p>
          <a:p/>
          <a:p>
            <a:r>
              <a:t>①粘り強い取組　②自己調整</a:t>
            </a:r>
          </a:p>
          <a:p/>
          <a:p>
            <a:r>
              <a:t>注意点。①と②は別々ではなく、相互に関わり合います。「①がＡで②がＣ」という生徒の姿は、一般的にはあり得ません。</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【S23　評価の工夫例】 ─ 目安 30秒　〔多面的〕</a:t>
            </a:r>
          </a:p>
          <a:p/>
          <a:p>
            <a:r>
              <a:t>評価の工夫例は4つ。ノート・レポートの記述／発言／行動観察／自己評価・相互評価。複数を組み合わせて見ます。</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【S24　行動観察の工夫（数学例）】 ─ 目安 1.5分　〔具体例〕</a:t>
            </a:r>
          </a:p>
          <a:p/>
          <a:p>
            <a:r>
              <a:t>数学の問題解決の場面を例に、行動観察のポイントです。</a:t>
            </a:r>
          </a:p>
          <a:p/>
          <a:p>
            <a:r>
              <a:t>粘り強く取り組んでいる姿：前時のノートを見返す／別の方法を試す／友達への説明を念頭に書き加える。</a:t>
            </a:r>
          </a:p>
          <a:p/>
          <a:p>
            <a:r>
              <a:t>自己調整している姿：振り返り修正／言葉や図の説明を書き加える／自己評価して更によいものを求める。</a:t>
            </a:r>
          </a:p>
          <a:p/>
          <a:p>
            <a:r>
              <a:t>どの教科でも応用できます。</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t>【S25　評価につながる発問の工夫】 ─ 目安 45秒　〔発問3タイプ〕</a:t>
            </a:r>
          </a:p>
          <a:p/>
          <a:p>
            <a:r>
              <a:t>発問の工夫を3タイプ。</a:t>
            </a:r>
          </a:p>
          <a:p/>
          <a:p>
            <a:r>
              <a:t>①「最初と比べて考え方が変わったところは？」</a:t>
            </a:r>
          </a:p>
          <a:p>
            <a:r>
              <a:t>②「友達の意見を聞いて、自分の考えを見直してみよう」</a:t>
            </a:r>
          </a:p>
          <a:p>
            <a:r>
              <a:t>③「目標は達成できたかな？理由も書いてみよう」</a:t>
            </a:r>
          </a:p>
          <a:p/>
          <a:p>
            <a:r>
              <a:t>③で「理由も」と添えるのが肝心。理由が書けるかでA／Bが分かれます。</a:t>
            </a:r>
          </a:p>
        </p:txBody>
      </p:sp>
      <p:sp>
        <p:nvSpPr>
          <p:cNvPr id="4" name="日付プレースホルダー 3"/>
          <p:cNvSpPr>
            <a:spLocks noGrp="1"/>
          </p:cNvSpPr>
          <p:nvPr>
            <p:ph type="dt" idx="10"/>
          </p:nvPr>
        </p:nvSpPr>
        <p:spPr/>
        <p:txBody>
          <a:bodyPr/>
          <a:lstStyle/>
          <a:p>
            <a:pPr defTabSz="897990">
              <a:defRPr/>
            </a:pPr>
            <a:endParaRPr lang="ja-JP" altLang="en-US">
              <a:solidFill>
                <a:prstClr val="black"/>
              </a:solidFill>
              <a:latin typeface="游ゴシック" panose="020F0502020204030204"/>
              <a:ea typeface="游ゴシック" panose="020B0400000000000000" pitchFamily="50" charset="-128"/>
            </a:endParaRPr>
          </a:p>
        </p:txBody>
      </p:sp>
      <p:sp>
        <p:nvSpPr>
          <p:cNvPr id="5" name="スライド番号プレースホルダー 4"/>
          <p:cNvSpPr>
            <a:spLocks noGrp="1"/>
          </p:cNvSpPr>
          <p:nvPr>
            <p:ph type="sldNum" sz="quarter" idx="11"/>
          </p:nvPr>
        </p:nvSpPr>
        <p:spPr/>
        <p:txBody>
          <a:bodyPr/>
          <a:lstStyle/>
          <a:p>
            <a:pPr defTabSz="897990">
              <a:defRPr/>
            </a:pPr>
            <a:fld id="{EBF652ED-4E8E-4FA7-8EF4-2DDF6FB21FCE}" type="slidenum">
              <a:rPr lang="ja-JP" altLang="en-US">
                <a:solidFill>
                  <a:prstClr val="black"/>
                </a:solidFill>
                <a:latin typeface="游ゴシック" panose="020F0502020204030204"/>
                <a:ea typeface="游ゴシック" panose="020B0400000000000000" pitchFamily="50" charset="-128"/>
              </a:rPr>
              <a:pPr defTabSz="897990">
                <a:defRPr/>
              </a:pPr>
              <a:t>25</a:t>
            </a:fld>
            <a:endParaRPr lang="ja-JP" altLang="en-US">
              <a:solidFill>
                <a:prstClr val="black"/>
              </a:solidFill>
              <a:latin typeface="游ゴシック" panose="020F0502020204030204"/>
              <a:ea typeface="游ゴシック" panose="020B0400000000000000" pitchFamily="50" charset="-128"/>
            </a:endParaRPr>
          </a:p>
        </p:txBody>
      </p:sp>
    </p:spTree>
    <p:extLst>
      <p:ext uri="{BB962C8B-B14F-4D97-AF65-F5344CB8AC3E}">
        <p14:creationId xmlns:p14="http://schemas.microsoft.com/office/powerpoint/2010/main" val="11055005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【S26　「Ｂの姿」を具体化（数学）】 ─ 目安 1.5分　〔A/Bの分かれ目〕</a:t>
            </a:r>
          </a:p>
          <a:p/>
          <a:p>
            <a:r>
              <a:t>数学「二次方程式」の例です。学習ノートに「気を付けるポイント」を記述させる課題。</a:t>
            </a:r>
          </a:p>
          <a:p/>
          <a:p>
            <a:r>
              <a:t>Ｂ：ポイントが書かれている。「別の文字に置き換えて解く方法を使えるように」。</a:t>
            </a:r>
          </a:p>
          <a:p>
            <a:r>
              <a:t>Ａ：ポイント＋理由が書かれている。「式の形を見ずに展開すると時間も間違いも増えるから、置き換えを使えるように」。</a:t>
            </a:r>
          </a:p>
          <a:p/>
          <a:p>
            <a:r>
              <a:t>同じ気付きでも「理由まで書けるか」でA／Bが分かれます。</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73B34-9A56-A718-907F-BA47C1C6B55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F90B204-07A6-3926-1FB8-394D0475CB4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1C21B5E-89E1-80A0-1CCB-66B5329EE19D}"/>
              </a:ext>
            </a:extLst>
          </p:cNvPr>
          <p:cNvSpPr>
            <a:spLocks noGrp="1"/>
          </p:cNvSpPr>
          <p:nvPr>
            <p:ph type="body" idx="1"/>
          </p:nvPr>
        </p:nvSpPr>
        <p:spPr/>
        <p:txBody>
          <a:bodyPr/>
          <a:lstStyle/>
          <a:p>
            <a:r>
              <a:t>【S27　★理科のワークシート例（イメージマップ）】 ─ 目安 1分　〔理科の事例〕</a:t>
            </a:r>
          </a:p>
          <a:p/>
          <a:p>
            <a:r>
              <a:t>理科の事例もご紹介します。</a:t>
            </a:r>
          </a:p>
          <a:p/>
          <a:p>
            <a:r>
              <a:t>「遺伝」という言葉を中心に、イメージする言葉をつないでイメージマップをつくる、というワークシートです。学習前は黒、学習後は赤で書き加える。</a:t>
            </a:r>
          </a:p>
          <a:p/>
          <a:p>
            <a:r>
              <a:t>そして単元後、書き加えたイメージマップを使って、自らの学習を振り返り、成長について記述させる。</a:t>
            </a:r>
          </a:p>
        </p:txBody>
      </p:sp>
      <p:sp>
        <p:nvSpPr>
          <p:cNvPr id="4" name="スライド番号プレースホルダー 3">
            <a:extLst>
              <a:ext uri="{FF2B5EF4-FFF2-40B4-BE49-F238E27FC236}">
                <a16:creationId xmlns:a16="http://schemas.microsoft.com/office/drawing/2014/main" id="{EB7CB199-DE6C-5B12-D644-314A13F6AAFF}"/>
              </a:ext>
            </a:extLst>
          </p:cNvPr>
          <p:cNvSpPr>
            <a:spLocks noGrp="1"/>
          </p:cNvSpPr>
          <p:nvPr>
            <p:ph type="sldNum" sz="quarter" idx="5"/>
          </p:nvPr>
        </p:nvSpPr>
        <p:spPr/>
        <p:txBody>
          <a:bodyPr/>
          <a:lstStyle/>
          <a:p>
            <a:fld id="{9BBBAE84-8BA7-4218-AA91-1A9C6AE6D8C5}" type="slidenum">
              <a:rPr kumimoji="1" lang="ja-JP" altLang="en-US" smtClean="0"/>
              <a:t>27</a:t>
            </a:fld>
            <a:endParaRPr kumimoji="1" lang="ja-JP" altLang="en-US"/>
          </a:p>
        </p:txBody>
      </p:sp>
      <p:sp>
        <p:nvSpPr>
          <p:cNvPr id="5" name="日付プレースホルダー 4">
            <a:extLst>
              <a:ext uri="{FF2B5EF4-FFF2-40B4-BE49-F238E27FC236}">
                <a16:creationId xmlns:a16="http://schemas.microsoft.com/office/drawing/2014/main" id="{E821E415-17DE-D386-517F-AD9D2D615EB3}"/>
              </a:ext>
            </a:extLst>
          </p:cNvPr>
          <p:cNvSpPr>
            <a:spLocks noGrp="1"/>
          </p:cNvSpPr>
          <p:nvPr>
            <p:ph type="dt" idx="1"/>
          </p:nvPr>
        </p:nvSpPr>
        <p:spPr/>
        <p:txBody>
          <a:bodyPr/>
          <a:lstStyle/>
          <a:p>
            <a:r>
              <a:rPr kumimoji="1" lang="en-US" altLang="ja-JP"/>
              <a:t>2025/9/24</a:t>
            </a:r>
            <a:endParaRPr kumimoji="1" lang="ja-JP" altLang="en-US"/>
          </a:p>
        </p:txBody>
      </p:sp>
    </p:spTree>
    <p:extLst>
      <p:ext uri="{BB962C8B-B14F-4D97-AF65-F5344CB8AC3E}">
        <p14:creationId xmlns:p14="http://schemas.microsoft.com/office/powerpoint/2010/main" val="47044107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EEA155-FE38-939E-9B4C-C06CDB5C190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376A9FA-6FDA-F376-FFC4-BC44C4678D9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64E33CF-4CE0-22D1-2345-98C8825F8686}"/>
              </a:ext>
            </a:extLst>
          </p:cNvPr>
          <p:cNvSpPr>
            <a:spLocks noGrp="1"/>
          </p:cNvSpPr>
          <p:nvPr>
            <p:ph type="body" idx="1"/>
          </p:nvPr>
        </p:nvSpPr>
        <p:spPr/>
        <p:txBody>
          <a:bodyPr/>
          <a:lstStyle/>
          <a:p>
            <a:r>
              <a:t>【S28　理科：学習前後の記述例(1)】 ─ 目安 30秒　〔記述例の提示〕</a:t>
            </a:r>
          </a:p>
          <a:p/>
          <a:p>
            <a:r>
              <a:t>学習前と学習後の記述を比較する例です。</a:t>
            </a:r>
          </a:p>
          <a:p/>
          <a:p>
            <a:r>
              <a:t>「今まで、遺伝という言葉を適当に使っていたけれど、遺伝には決まりがあることが分かったので、次もがんばりたい。」</a:t>
            </a:r>
          </a:p>
          <a:p/>
          <a:p>
            <a:r>
              <a:t>このように学習前後の変化を生徒に書かせます。</a:t>
            </a:r>
          </a:p>
        </p:txBody>
      </p:sp>
      <p:sp>
        <p:nvSpPr>
          <p:cNvPr id="4" name="スライド番号プレースホルダー 3">
            <a:extLst>
              <a:ext uri="{FF2B5EF4-FFF2-40B4-BE49-F238E27FC236}">
                <a16:creationId xmlns:a16="http://schemas.microsoft.com/office/drawing/2014/main" id="{CD847AB2-4646-D004-CE3A-FF58BCDF49FA}"/>
              </a:ext>
            </a:extLst>
          </p:cNvPr>
          <p:cNvSpPr>
            <a:spLocks noGrp="1"/>
          </p:cNvSpPr>
          <p:nvPr>
            <p:ph type="sldNum" sz="quarter" idx="5"/>
          </p:nvPr>
        </p:nvSpPr>
        <p:spPr/>
        <p:txBody>
          <a:bodyPr/>
          <a:lstStyle/>
          <a:p>
            <a:fld id="{9BBBAE84-8BA7-4218-AA91-1A9C6AE6D8C5}" type="slidenum">
              <a:rPr kumimoji="1" lang="ja-JP" altLang="en-US" smtClean="0"/>
              <a:t>28</a:t>
            </a:fld>
            <a:endParaRPr kumimoji="1" lang="ja-JP" altLang="en-US"/>
          </a:p>
        </p:txBody>
      </p:sp>
      <p:sp>
        <p:nvSpPr>
          <p:cNvPr id="5" name="日付プレースホルダー 4">
            <a:extLst>
              <a:ext uri="{FF2B5EF4-FFF2-40B4-BE49-F238E27FC236}">
                <a16:creationId xmlns:a16="http://schemas.microsoft.com/office/drawing/2014/main" id="{0497D528-F997-993C-D2E5-606FFC4DCF76}"/>
              </a:ext>
            </a:extLst>
          </p:cNvPr>
          <p:cNvSpPr>
            <a:spLocks noGrp="1"/>
          </p:cNvSpPr>
          <p:nvPr>
            <p:ph type="dt" idx="1"/>
          </p:nvPr>
        </p:nvSpPr>
        <p:spPr/>
        <p:txBody>
          <a:bodyPr/>
          <a:lstStyle/>
          <a:p>
            <a:r>
              <a:rPr kumimoji="1" lang="en-US" altLang="ja-JP"/>
              <a:t>2025/9/24</a:t>
            </a:r>
            <a:endParaRPr kumimoji="1" lang="ja-JP" altLang="en-US"/>
          </a:p>
        </p:txBody>
      </p:sp>
    </p:spTree>
    <p:extLst>
      <p:ext uri="{BB962C8B-B14F-4D97-AF65-F5344CB8AC3E}">
        <p14:creationId xmlns:p14="http://schemas.microsoft.com/office/powerpoint/2010/main" val="306379391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B0DC2B-FE1A-E5F5-0FED-D5B6E39894A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96A903E-6DF3-3F89-D44B-DBF4DFA5739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0D5C531-C415-4910-290F-1F7ADE34D2ED}"/>
              </a:ext>
            </a:extLst>
          </p:cNvPr>
          <p:cNvSpPr>
            <a:spLocks noGrp="1"/>
          </p:cNvSpPr>
          <p:nvPr>
            <p:ph type="body" idx="1"/>
          </p:nvPr>
        </p:nvSpPr>
        <p:spPr/>
        <p:txBody>
          <a:bodyPr/>
          <a:lstStyle/>
          <a:p>
            <a:r>
              <a:t>【S29　理科：学習前後の記述例(2)】 ─ 目安 30秒　〔もう一例〕</a:t>
            </a:r>
          </a:p>
          <a:p/>
          <a:p>
            <a:r>
              <a:t>もう一つの例です。</a:t>
            </a:r>
          </a:p>
          <a:p/>
          <a:p>
            <a:r>
              <a:t>「最初は単に『遺伝は親から子へ伝わるもの』としか考えていなかったが、これまでの授業で、一人の人間や生物が生まれるにもたくさんの組合せがあること、その仕組みや研究について分かるようになった。iPS細胞などの最新の研究についても調べられてよかった。」</a:t>
            </a:r>
          </a:p>
          <a:p/>
          <a:p>
            <a:r>
              <a:t>学習の深まりがしっかり書かれていますね。</a:t>
            </a:r>
          </a:p>
        </p:txBody>
      </p:sp>
      <p:sp>
        <p:nvSpPr>
          <p:cNvPr id="4" name="スライド番号プレースホルダー 3">
            <a:extLst>
              <a:ext uri="{FF2B5EF4-FFF2-40B4-BE49-F238E27FC236}">
                <a16:creationId xmlns:a16="http://schemas.microsoft.com/office/drawing/2014/main" id="{2C3B32C6-2504-1C88-943A-4341AE9E421A}"/>
              </a:ext>
            </a:extLst>
          </p:cNvPr>
          <p:cNvSpPr>
            <a:spLocks noGrp="1"/>
          </p:cNvSpPr>
          <p:nvPr>
            <p:ph type="sldNum" sz="quarter" idx="5"/>
          </p:nvPr>
        </p:nvSpPr>
        <p:spPr/>
        <p:txBody>
          <a:bodyPr/>
          <a:lstStyle/>
          <a:p>
            <a:fld id="{9BBBAE84-8BA7-4218-AA91-1A9C6AE6D8C5}" type="slidenum">
              <a:rPr kumimoji="1" lang="ja-JP" altLang="en-US" smtClean="0"/>
              <a:t>29</a:t>
            </a:fld>
            <a:endParaRPr kumimoji="1" lang="ja-JP" altLang="en-US"/>
          </a:p>
        </p:txBody>
      </p:sp>
      <p:sp>
        <p:nvSpPr>
          <p:cNvPr id="5" name="日付プレースホルダー 4">
            <a:extLst>
              <a:ext uri="{FF2B5EF4-FFF2-40B4-BE49-F238E27FC236}">
                <a16:creationId xmlns:a16="http://schemas.microsoft.com/office/drawing/2014/main" id="{33AF1474-9998-5FF4-4105-EEF1F96DF4E3}"/>
              </a:ext>
            </a:extLst>
          </p:cNvPr>
          <p:cNvSpPr>
            <a:spLocks noGrp="1"/>
          </p:cNvSpPr>
          <p:nvPr>
            <p:ph type="dt" idx="1"/>
          </p:nvPr>
        </p:nvSpPr>
        <p:spPr/>
        <p:txBody>
          <a:bodyPr/>
          <a:lstStyle/>
          <a:p>
            <a:r>
              <a:rPr kumimoji="1" lang="en-US" altLang="ja-JP"/>
              <a:t>2025/9/24</a:t>
            </a:r>
            <a:endParaRPr kumimoji="1" lang="ja-JP" altLang="en-US"/>
          </a:p>
        </p:txBody>
      </p:sp>
    </p:spTree>
    <p:extLst>
      <p:ext uri="{BB962C8B-B14F-4D97-AF65-F5344CB8AC3E}">
        <p14:creationId xmlns:p14="http://schemas.microsoft.com/office/powerpoint/2010/main" val="54510295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CE188F-195A-9DFB-A50E-3F52B1B8FBE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DD013F2-CA67-9A65-4906-5CEB70735B3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D849E48-1ECC-AA2C-326D-66B1E867FD3B}"/>
              </a:ext>
            </a:extLst>
          </p:cNvPr>
          <p:cNvSpPr>
            <a:spLocks noGrp="1"/>
          </p:cNvSpPr>
          <p:nvPr>
            <p:ph type="body" idx="1"/>
          </p:nvPr>
        </p:nvSpPr>
        <p:spPr/>
        <p:txBody>
          <a:bodyPr/>
          <a:lstStyle/>
          <a:p>
            <a:r>
              <a:t>【S30　理科：学習前後の記述例(3)】 ─ 目安 30秒　〔弱い例〕</a:t>
            </a:r>
          </a:p>
          <a:p/>
          <a:p>
            <a:r>
              <a:t>一方、こちらは「難しかったので、よく分からなかった」とだけ書かれている例です。</a:t>
            </a:r>
          </a:p>
          <a:p/>
          <a:p>
            <a:r>
              <a:t>学びの過程が記述されていません。</a:t>
            </a:r>
          </a:p>
        </p:txBody>
      </p:sp>
      <p:sp>
        <p:nvSpPr>
          <p:cNvPr id="4" name="スライド番号プレースホルダー 3">
            <a:extLst>
              <a:ext uri="{FF2B5EF4-FFF2-40B4-BE49-F238E27FC236}">
                <a16:creationId xmlns:a16="http://schemas.microsoft.com/office/drawing/2014/main" id="{916C5A32-EAA2-7D7D-A0E6-8A48F0507DBA}"/>
              </a:ext>
            </a:extLst>
          </p:cNvPr>
          <p:cNvSpPr>
            <a:spLocks noGrp="1"/>
          </p:cNvSpPr>
          <p:nvPr>
            <p:ph type="sldNum" sz="quarter" idx="5"/>
          </p:nvPr>
        </p:nvSpPr>
        <p:spPr/>
        <p:txBody>
          <a:bodyPr/>
          <a:lstStyle/>
          <a:p>
            <a:fld id="{9BBBAE84-8BA7-4218-AA91-1A9C6AE6D8C5}" type="slidenum">
              <a:rPr kumimoji="1" lang="ja-JP" altLang="en-US" smtClean="0"/>
              <a:t>30</a:t>
            </a:fld>
            <a:endParaRPr kumimoji="1" lang="ja-JP" altLang="en-US"/>
          </a:p>
        </p:txBody>
      </p:sp>
      <p:sp>
        <p:nvSpPr>
          <p:cNvPr id="5" name="日付プレースホルダー 4">
            <a:extLst>
              <a:ext uri="{FF2B5EF4-FFF2-40B4-BE49-F238E27FC236}">
                <a16:creationId xmlns:a16="http://schemas.microsoft.com/office/drawing/2014/main" id="{3A88EF6D-7BD9-4C27-D72F-E27326EF847E}"/>
              </a:ext>
            </a:extLst>
          </p:cNvPr>
          <p:cNvSpPr>
            <a:spLocks noGrp="1"/>
          </p:cNvSpPr>
          <p:nvPr>
            <p:ph type="dt" idx="1"/>
          </p:nvPr>
        </p:nvSpPr>
        <p:spPr/>
        <p:txBody>
          <a:bodyPr/>
          <a:lstStyle/>
          <a:p>
            <a:r>
              <a:rPr kumimoji="1" lang="en-US" altLang="ja-JP"/>
              <a:t>2025/9/24</a:t>
            </a:r>
            <a:endParaRPr kumimoji="1" lang="ja-JP" altLang="en-US"/>
          </a:p>
        </p:txBody>
      </p:sp>
    </p:spTree>
    <p:extLst>
      <p:ext uri="{BB962C8B-B14F-4D97-AF65-F5344CB8AC3E}">
        <p14:creationId xmlns:p14="http://schemas.microsoft.com/office/powerpoint/2010/main" val="167977659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A5E330-FEEC-3CF3-0AFA-585AA51CC33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AD1DB7D-1300-100B-23CF-208D782AC97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3229F91-19E5-C169-6A56-53F9AD0FE6E7}"/>
              </a:ext>
            </a:extLst>
          </p:cNvPr>
          <p:cNvSpPr>
            <a:spLocks noGrp="1"/>
          </p:cNvSpPr>
          <p:nvPr>
            <p:ph type="body" idx="1"/>
          </p:nvPr>
        </p:nvSpPr>
        <p:spPr/>
        <p:txBody>
          <a:bodyPr/>
          <a:lstStyle/>
          <a:p>
            <a:r>
              <a:t>【S31　理科：評価Ｂの例】 ─ 目安 30秒　〔B判定の根拠〕</a:t>
            </a:r>
          </a:p>
          <a:p/>
          <a:p>
            <a:r>
              <a:t>先ほどの「遺伝には決まりがあることが分かったので、次もがんばりたい」がＢの例です。</a:t>
            </a:r>
          </a:p>
          <a:p/>
          <a:p>
            <a:r>
              <a:t>学習前と比べて変容が記述されており、次への意欲も書かれています。Ｂ「おおむね満足」と判断します。</a:t>
            </a:r>
          </a:p>
        </p:txBody>
      </p:sp>
      <p:sp>
        <p:nvSpPr>
          <p:cNvPr id="4" name="スライド番号プレースホルダー 3">
            <a:extLst>
              <a:ext uri="{FF2B5EF4-FFF2-40B4-BE49-F238E27FC236}">
                <a16:creationId xmlns:a16="http://schemas.microsoft.com/office/drawing/2014/main" id="{D9197943-2D82-04E4-B589-8291F6FA1EE4}"/>
              </a:ext>
            </a:extLst>
          </p:cNvPr>
          <p:cNvSpPr>
            <a:spLocks noGrp="1"/>
          </p:cNvSpPr>
          <p:nvPr>
            <p:ph type="sldNum" sz="quarter" idx="5"/>
          </p:nvPr>
        </p:nvSpPr>
        <p:spPr/>
        <p:txBody>
          <a:bodyPr/>
          <a:lstStyle/>
          <a:p>
            <a:fld id="{9BBBAE84-8BA7-4218-AA91-1A9C6AE6D8C5}" type="slidenum">
              <a:rPr kumimoji="1" lang="ja-JP" altLang="en-US" smtClean="0"/>
              <a:t>31</a:t>
            </a:fld>
            <a:endParaRPr kumimoji="1" lang="ja-JP" altLang="en-US"/>
          </a:p>
        </p:txBody>
      </p:sp>
      <p:sp>
        <p:nvSpPr>
          <p:cNvPr id="5" name="日付プレースホルダー 4">
            <a:extLst>
              <a:ext uri="{FF2B5EF4-FFF2-40B4-BE49-F238E27FC236}">
                <a16:creationId xmlns:a16="http://schemas.microsoft.com/office/drawing/2014/main" id="{0AA81DB8-7A04-7680-9465-0FA33C06B64E}"/>
              </a:ext>
            </a:extLst>
          </p:cNvPr>
          <p:cNvSpPr>
            <a:spLocks noGrp="1"/>
          </p:cNvSpPr>
          <p:nvPr>
            <p:ph type="dt" idx="1"/>
          </p:nvPr>
        </p:nvSpPr>
        <p:spPr/>
        <p:txBody>
          <a:bodyPr/>
          <a:lstStyle/>
          <a:p>
            <a:r>
              <a:rPr kumimoji="1" lang="en-US" altLang="ja-JP"/>
              <a:t>2025/9/24</a:t>
            </a:r>
            <a:endParaRPr kumimoji="1" lang="ja-JP" altLang="en-US"/>
          </a:p>
        </p:txBody>
      </p:sp>
    </p:spTree>
    <p:extLst>
      <p:ext uri="{BB962C8B-B14F-4D97-AF65-F5344CB8AC3E}">
        <p14:creationId xmlns:p14="http://schemas.microsoft.com/office/powerpoint/2010/main" val="43029583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4EEF76-1E5A-368D-13A7-69648BE3FC6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5F03E3B-8D0B-9752-B083-69CE6A0C698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D2FD7D0-3C40-C85D-BE3E-8677B0D76A36}"/>
              </a:ext>
            </a:extLst>
          </p:cNvPr>
          <p:cNvSpPr>
            <a:spLocks noGrp="1"/>
          </p:cNvSpPr>
          <p:nvPr>
            <p:ph type="body" idx="1"/>
          </p:nvPr>
        </p:nvSpPr>
        <p:spPr/>
        <p:txBody>
          <a:bodyPr/>
          <a:lstStyle/>
          <a:p>
            <a:r>
              <a:t>【S32　理科：評価Ａの例】 ─ 目安 30秒　〔A判定の根拠〕</a:t>
            </a:r>
          </a:p>
          <a:p/>
          <a:p>
            <a:r>
              <a:t>一方、iPS細胞まで自分で調べたという記述は、Ａの例です。</a:t>
            </a:r>
          </a:p>
          <a:p/>
          <a:p>
            <a:r>
              <a:t>学習内容の概念的理解に加え、自分の興味で発展的に探究している姿が見えます。Ａ「十分満足」と判断します。</a:t>
            </a:r>
          </a:p>
        </p:txBody>
      </p:sp>
      <p:sp>
        <p:nvSpPr>
          <p:cNvPr id="4" name="スライド番号プレースホルダー 3">
            <a:extLst>
              <a:ext uri="{FF2B5EF4-FFF2-40B4-BE49-F238E27FC236}">
                <a16:creationId xmlns:a16="http://schemas.microsoft.com/office/drawing/2014/main" id="{D32DCF50-2BD5-A69E-0984-90C3F405EEDC}"/>
              </a:ext>
            </a:extLst>
          </p:cNvPr>
          <p:cNvSpPr>
            <a:spLocks noGrp="1"/>
          </p:cNvSpPr>
          <p:nvPr>
            <p:ph type="sldNum" sz="quarter" idx="5"/>
          </p:nvPr>
        </p:nvSpPr>
        <p:spPr/>
        <p:txBody>
          <a:bodyPr/>
          <a:lstStyle/>
          <a:p>
            <a:fld id="{9BBBAE84-8BA7-4218-AA91-1A9C6AE6D8C5}" type="slidenum">
              <a:rPr kumimoji="1" lang="ja-JP" altLang="en-US" smtClean="0"/>
              <a:t>32</a:t>
            </a:fld>
            <a:endParaRPr kumimoji="1" lang="ja-JP" altLang="en-US"/>
          </a:p>
        </p:txBody>
      </p:sp>
      <p:sp>
        <p:nvSpPr>
          <p:cNvPr id="5" name="日付プレースホルダー 4">
            <a:extLst>
              <a:ext uri="{FF2B5EF4-FFF2-40B4-BE49-F238E27FC236}">
                <a16:creationId xmlns:a16="http://schemas.microsoft.com/office/drawing/2014/main" id="{AF38F87D-A6C6-EDEF-5470-643A06F1F5AB}"/>
              </a:ext>
            </a:extLst>
          </p:cNvPr>
          <p:cNvSpPr>
            <a:spLocks noGrp="1"/>
          </p:cNvSpPr>
          <p:nvPr>
            <p:ph type="dt" idx="1"/>
          </p:nvPr>
        </p:nvSpPr>
        <p:spPr/>
        <p:txBody>
          <a:bodyPr/>
          <a:lstStyle/>
          <a:p>
            <a:r>
              <a:rPr kumimoji="1" lang="en-US" altLang="ja-JP"/>
              <a:t>2025/9/24</a:t>
            </a:r>
            <a:endParaRPr kumimoji="1" lang="ja-JP" altLang="en-US"/>
          </a:p>
        </p:txBody>
      </p:sp>
    </p:spTree>
    <p:extLst>
      <p:ext uri="{BB962C8B-B14F-4D97-AF65-F5344CB8AC3E}">
        <p14:creationId xmlns:p14="http://schemas.microsoft.com/office/powerpoint/2010/main" val="270610681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8D1757-D021-1846-D3DB-8C9B6A3427F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4E9236F-414A-9F89-BF41-697C0EFA1FF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F89B932-3867-BEE6-8566-95F139718688}"/>
              </a:ext>
            </a:extLst>
          </p:cNvPr>
          <p:cNvSpPr>
            <a:spLocks noGrp="1"/>
          </p:cNvSpPr>
          <p:nvPr>
            <p:ph type="body" idx="1"/>
          </p:nvPr>
        </p:nvSpPr>
        <p:spPr/>
        <p:txBody>
          <a:bodyPr/>
          <a:lstStyle/>
          <a:p>
            <a:r>
              <a:t>【S33　理科：評価Ｃの例】 ─ 目安 30秒　〔C判定の根拠〕</a:t>
            </a:r>
          </a:p>
          <a:p/>
          <a:p>
            <a:r>
              <a:t>「難しかったので、よく分からなかった」だけの記述は、Ｃの例です。</a:t>
            </a:r>
          </a:p>
          <a:p/>
          <a:p>
            <a:r>
              <a:t>学びの変容が記述されていません。Ｃ「努力を要する」と判断し、次の指導につなげる材料にします。</a:t>
            </a:r>
          </a:p>
        </p:txBody>
      </p:sp>
      <p:sp>
        <p:nvSpPr>
          <p:cNvPr id="4" name="スライド番号プレースホルダー 3">
            <a:extLst>
              <a:ext uri="{FF2B5EF4-FFF2-40B4-BE49-F238E27FC236}">
                <a16:creationId xmlns:a16="http://schemas.microsoft.com/office/drawing/2014/main" id="{766A0164-277A-E19D-51EA-EB7937FB8B65}"/>
              </a:ext>
            </a:extLst>
          </p:cNvPr>
          <p:cNvSpPr>
            <a:spLocks noGrp="1"/>
          </p:cNvSpPr>
          <p:nvPr>
            <p:ph type="sldNum" sz="quarter" idx="5"/>
          </p:nvPr>
        </p:nvSpPr>
        <p:spPr/>
        <p:txBody>
          <a:bodyPr/>
          <a:lstStyle/>
          <a:p>
            <a:fld id="{9BBBAE84-8BA7-4218-AA91-1A9C6AE6D8C5}" type="slidenum">
              <a:rPr kumimoji="1" lang="ja-JP" altLang="en-US" smtClean="0"/>
              <a:t>33</a:t>
            </a:fld>
            <a:endParaRPr kumimoji="1" lang="ja-JP" altLang="en-US"/>
          </a:p>
        </p:txBody>
      </p:sp>
      <p:sp>
        <p:nvSpPr>
          <p:cNvPr id="5" name="日付プレースホルダー 4">
            <a:extLst>
              <a:ext uri="{FF2B5EF4-FFF2-40B4-BE49-F238E27FC236}">
                <a16:creationId xmlns:a16="http://schemas.microsoft.com/office/drawing/2014/main" id="{2814D44D-6BA0-923B-734D-CCEBA27911A2}"/>
              </a:ext>
            </a:extLst>
          </p:cNvPr>
          <p:cNvSpPr>
            <a:spLocks noGrp="1"/>
          </p:cNvSpPr>
          <p:nvPr>
            <p:ph type="dt" idx="1"/>
          </p:nvPr>
        </p:nvSpPr>
        <p:spPr/>
        <p:txBody>
          <a:bodyPr/>
          <a:lstStyle/>
          <a:p>
            <a:r>
              <a:rPr kumimoji="1" lang="en-US" altLang="ja-JP"/>
              <a:t>2025/9/24</a:t>
            </a:r>
            <a:endParaRPr kumimoji="1" lang="ja-JP" altLang="en-US"/>
          </a:p>
        </p:txBody>
      </p:sp>
    </p:spTree>
    <p:extLst>
      <p:ext uri="{BB962C8B-B14F-4D97-AF65-F5344CB8AC3E}">
        <p14:creationId xmlns:p14="http://schemas.microsoft.com/office/powerpoint/2010/main" val="326696848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BDC81B-8F3B-617C-15B7-924936726F3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70274F7-71AD-AE70-D92F-8D642C59B43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6BFB32F-023B-7AB9-A018-B4CD01F2BA0B}"/>
              </a:ext>
            </a:extLst>
          </p:cNvPr>
          <p:cNvSpPr>
            <a:spLocks noGrp="1"/>
          </p:cNvSpPr>
          <p:nvPr>
            <p:ph type="body" idx="1"/>
          </p:nvPr>
        </p:nvSpPr>
        <p:spPr/>
        <p:txBody>
          <a:bodyPr/>
          <a:lstStyle/>
          <a:p>
            <a:r>
              <a:t>【S34　理科：イメージマップの読み取りの視点】 ─ 目安 45秒　〔評価規準を組織で揃える〕</a:t>
            </a:r>
          </a:p>
          <a:p/>
          <a:p>
            <a:r>
              <a:t>この理科の例で大事なのは、「何を、どのように評価するか」を教科として決めていることです。</a:t>
            </a:r>
          </a:p>
          <a:p/>
          <a:p>
            <a:r>
              <a:t>イメージマップの読み取りの視点：</a:t>
            </a:r>
          </a:p>
          <a:p>
            <a:r>
              <a:t>・用語の量（学習内容に加えて自分で調べた用語が増えているか）</a:t>
            </a:r>
          </a:p>
          <a:p>
            <a:r>
              <a:t>・用語の内容（学習内容に関連する用語が増えているか）</a:t>
            </a:r>
          </a:p>
          <a:p>
            <a:r>
              <a:t>・用語の関係（用語どうしの関係が正しく結び付けられているか、修正されているか）</a:t>
            </a:r>
          </a:p>
          <a:p/>
          <a:p>
            <a:r>
              <a:t>教科会で「これを評価する」と決めれば、評価のばらつきが減ります。</a:t>
            </a:r>
          </a:p>
        </p:txBody>
      </p:sp>
      <p:sp>
        <p:nvSpPr>
          <p:cNvPr id="4" name="スライド番号プレースホルダー 3">
            <a:extLst>
              <a:ext uri="{FF2B5EF4-FFF2-40B4-BE49-F238E27FC236}">
                <a16:creationId xmlns:a16="http://schemas.microsoft.com/office/drawing/2014/main" id="{00DA1A2E-C13B-B435-95D1-9DE00FA46C16}"/>
              </a:ext>
            </a:extLst>
          </p:cNvPr>
          <p:cNvSpPr>
            <a:spLocks noGrp="1"/>
          </p:cNvSpPr>
          <p:nvPr>
            <p:ph type="sldNum" sz="quarter" idx="5"/>
          </p:nvPr>
        </p:nvSpPr>
        <p:spPr/>
        <p:txBody>
          <a:bodyPr/>
          <a:lstStyle/>
          <a:p>
            <a:fld id="{9BBBAE84-8BA7-4218-AA91-1A9C6AE6D8C5}" type="slidenum">
              <a:rPr kumimoji="1" lang="ja-JP" altLang="en-US" smtClean="0"/>
              <a:t>34</a:t>
            </a:fld>
            <a:endParaRPr kumimoji="1" lang="ja-JP" altLang="en-US"/>
          </a:p>
        </p:txBody>
      </p:sp>
      <p:sp>
        <p:nvSpPr>
          <p:cNvPr id="5" name="日付プレースホルダー 4">
            <a:extLst>
              <a:ext uri="{FF2B5EF4-FFF2-40B4-BE49-F238E27FC236}">
                <a16:creationId xmlns:a16="http://schemas.microsoft.com/office/drawing/2014/main" id="{0EC0DD48-1B82-74B6-B46B-2F9F25104CBF}"/>
              </a:ext>
            </a:extLst>
          </p:cNvPr>
          <p:cNvSpPr>
            <a:spLocks noGrp="1"/>
          </p:cNvSpPr>
          <p:nvPr>
            <p:ph type="dt" idx="1"/>
          </p:nvPr>
        </p:nvSpPr>
        <p:spPr/>
        <p:txBody>
          <a:bodyPr/>
          <a:lstStyle/>
          <a:p>
            <a:r>
              <a:rPr kumimoji="1" lang="en-US" altLang="ja-JP"/>
              <a:t>2025/9/24</a:t>
            </a:r>
            <a:endParaRPr kumimoji="1" lang="ja-JP" altLang="en-US"/>
          </a:p>
        </p:txBody>
      </p:sp>
    </p:spTree>
    <p:extLst>
      <p:ext uri="{BB962C8B-B14F-4D97-AF65-F5344CB8AC3E}">
        <p14:creationId xmlns:p14="http://schemas.microsoft.com/office/powerpoint/2010/main" val="261460357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【S35　★評価のばらつきを防ぐ ─ 妥当性×信頼性】 ─ 目安 2分　〔★ばらつき防止／用語の意味〕</a:t>
            </a:r>
          </a:p>
          <a:p/>
          <a:p>
            <a:r>
              <a:t>校長依頼「ばらつき防止」の核心です。</a:t>
            </a:r>
          </a:p>
          <a:p/>
          <a:p>
            <a:r>
              <a:t>評価には「妥当性」と「信頼性」という二つの要件があります。</a:t>
            </a:r>
          </a:p>
          <a:p/>
          <a:p>
            <a:r>
              <a:t>「妥当性」とは、資質・能力を適切に反映していること。「測りたい力」と「方法」が一致していること。</a:t>
            </a:r>
          </a:p>
          <a:p/>
          <a:p>
            <a:r>
              <a:t>「信頼性」とは、誰が評価しても同じ結果になること。教師の主観だけに流されないこと。</a:t>
            </a:r>
          </a:p>
          <a:p/>
          <a:p>
            <a:r>
              <a:t>平成31年中教審報告でも、東京都教育委員会の資料でも、共通して言われているのは ──「妥当性も信頼性も、教師同士で評価規準や評価方法を事前に検討し、組織的・計画的に取り組むことで高める」ということです。</a:t>
            </a:r>
          </a:p>
          <a:p/>
          <a:p>
            <a:r>
              <a:t>スライドには「妥当性は個人の授業設計で、信頼性は組織で揃える」と整理して書いていますが、これは私が研修用に分かりやすく整理した表現です。正確には「両方とも、組織で取り組むことが原則」とご理解ください。</a:t>
            </a:r>
          </a:p>
          <a:p/>
          <a:p>
            <a:r>
              <a:t>各先生の授業設計と、教科会での協議。この両輪で、評価の質を高めていただきたいと思います。</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【S36　★各教科会で揃える3つのポイント】 ─ 目安 1.5分　〔★組織で揃える具体〕</a:t>
            </a:r>
          </a:p>
          <a:p/>
          <a:p>
            <a:r>
              <a:t>教科会で揃えていただきたい3つです。</a:t>
            </a:r>
          </a:p>
          <a:p/>
          <a:p>
            <a:r>
              <a:t>①Ｂの姿　②評価場面・方法　③総括の方法</a:t>
            </a:r>
          </a:p>
          <a:p/>
          <a:p>
            <a:r>
              <a:t>特に③については、観点別ABCから評定への総括例として ── AAA→A、ABB→B、BBC→B、CCC→C などです。</a:t>
            </a:r>
          </a:p>
          <a:p/>
          <a:p>
            <a:r>
              <a:t>こうしたルールを教科会で文書化していただくと、教員が代わっても評価が揺れません。</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【S37　【ペアトーク②】Ｂの姿を描く】 ─ 目安 2分　〔★ペアトーク②〕</a:t>
            </a:r>
          </a:p>
          <a:p/>
          <a:p>
            <a:r>
              <a:t>ペアトーク、2回目です。</a:t>
            </a:r>
          </a:p>
          <a:p/>
          <a:p>
            <a:r>
              <a:t>「あなたの教科で、次の単元の『Ｂの姿』を1つ、言葉にしてみよう」</a:t>
            </a:r>
          </a:p>
          <a:p/>
          <a:p>
            <a:r>
              <a:t>例：数学なら「式の操作の途中で、自分のミスに気づいて修正できている」。</a:t>
            </a:r>
          </a:p>
          <a:p/>
          <a:p>
            <a:r>
              <a:t>最初の1分は個人で考えてメモ、残り1分でペアでシェア。</a:t>
            </a:r>
          </a:p>
          <a:p/>
          <a:p>
            <a:r>
              <a:t>ここで描いた「Ｂの姿」は、このあとのグループ協議で持ち寄っていただく素材になります。</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【S38　まとめ ─ 明日からできること】 ─ 目安 1分　〔絞る〕</a:t>
            </a:r>
          </a:p>
          <a:p/>
          <a:p>
            <a:r>
              <a:t>まとめです。</a:t>
            </a:r>
          </a:p>
          <a:p/>
          <a:p>
            <a:r>
              <a:t>「指導と評価の一体化」とは、目標→指導→評価→改善 をくり返すこと。</a:t>
            </a:r>
          </a:p>
          <a:p/>
          <a:p>
            <a:r>
              <a:t>明日からできることを4つ。1つだけ選んでください。</a:t>
            </a:r>
          </a:p>
          <a:p/>
          <a:p>
            <a:r>
              <a:t>□ 次の単元で「Ｂの姿」を1つ言語化し、教科会で揃える</a:t>
            </a:r>
          </a:p>
          <a:p>
            <a:r>
              <a:t>□ 評価の工夫から1つ授業に入れる</a:t>
            </a:r>
          </a:p>
          <a:p>
            <a:r>
              <a:t>□ 振り返り／自己評価の機会を1回入れる</a:t>
            </a:r>
          </a:p>
          <a:p>
            <a:r>
              <a:t>□ 評価結果を、次の授業改善に1つ生かす</a:t>
            </a:r>
          </a:p>
          <a:p/>
          <a:p>
            <a:r>
              <a:t>やることを「絞る」から、続きます。</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【S39　グループ協議への橋渡し】 ─ 目安 45秒　〔協議への接続〕</a:t>
            </a:r>
          </a:p>
          <a:p/>
          <a:p>
            <a:r>
              <a:t>このあと、各教科の評価資料を持ち寄って検討していただきます。</a:t>
            </a:r>
          </a:p>
          <a:p/>
          <a:p>
            <a:r>
              <a:t>3つの問いです。</a:t>
            </a:r>
          </a:p>
          <a:p>
            <a:r>
              <a:t>①「Ｂと判断する姿」は具体的にどんな姿か？</a:t>
            </a:r>
          </a:p>
          <a:p>
            <a:r>
              <a:t>②単元のどの場面で、どんな方法でみとるか？</a:t>
            </a:r>
          </a:p>
          <a:p>
            <a:r>
              <a:t>③その評価を、次の授業改善にどう生かすか？</a:t>
            </a:r>
          </a:p>
          <a:p/>
          <a:p>
            <a:r>
              <a:t>先ほどペアトーク②で書いていただいた「Ｂの姿」を、教科会で持ち寄ってください。</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【S40　今後に向けて(1) 論点整理】 ─ 目安 1分　〔軽く触れる〕</a:t>
            </a:r>
          </a:p>
          <a:p/>
          <a:p>
            <a:r>
              <a:t>次期学習指導要領の方向性についても触れておきます。詳しい話は、このあとの質疑応答で。</a:t>
            </a:r>
          </a:p>
          <a:p/>
          <a:p>
            <a:r>
              <a:t>令和7年9月の中教審「論点整理」では、3つの方向性が示されています。</a:t>
            </a:r>
          </a:p>
          <a:p/>
          <a:p>
            <a:r>
              <a:t>①「主体的に学習に取り組む態度」を評定対象外へ、個人内評価に転換</a:t>
            </a:r>
          </a:p>
          <a:p>
            <a:r>
              <a:t>②総合所見＋「思考・判断・表現」への「○」付記の組合せ</a:t>
            </a:r>
          </a:p>
          <a:p>
            <a:r>
              <a:t>③形式的評価からの脱却、学びの過程を評価</a:t>
            </a:r>
          </a:p>
          <a:p/>
          <a:p>
            <a:r>
              <a:t>ただし「方向性」です。現時点での運用は現行3観点ABCのままです。</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【S41　今後に向けて(2) 今日の取り組みは生きる】 ─ 目安 1分　〔励まし／講話の締め〕</a:t>
            </a:r>
          </a:p>
          <a:p/>
          <a:p>
            <a:r>
              <a:t>「今日の研修、次期で方法が変わるなら無駄になるのでは？」と思われるかもしれません。</a:t>
            </a:r>
          </a:p>
          <a:p/>
          <a:p>
            <a:r>
              <a:t>結論から言うと、「次期でこそ生きる」内容です。</a:t>
            </a:r>
          </a:p>
          <a:p/>
          <a:p>
            <a:r>
              <a:t>①Ｂの姿の言語化 → 個人内評価の根拠記述に直結</a:t>
            </a:r>
          </a:p>
          <a:p>
            <a:r>
              <a:t>②形成的評価のサイクル → 次期の中心となる視点</a:t>
            </a:r>
          </a:p>
          <a:p>
            <a:r>
              <a:t>③教科会で揃える力 → 観点が減っても価値は不変</a:t>
            </a:r>
          </a:p>
          <a:p/>
          <a:p>
            <a:r>
              <a:t>方向性が変わっても、「学びの過程を見る目」は変わりません。</a:t>
            </a:r>
          </a:p>
          <a:p/>
          <a:p>
            <a:r>
              <a:t>それでは、ここから皆様の教科ごとのグループ協議に入っていただきます。私もお邪魔して伺います。質疑応答では、次期について詳しいご質問にもお答えします。ありがとうございました。</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2689225" y="504825"/>
            <a:ext cx="4491038" cy="2525713"/>
          </a:xfrm>
        </p:spPr>
      </p:sp>
      <p:sp>
        <p:nvSpPr>
          <p:cNvPr id="3" name="ノート プレースホルダー 2"/>
          <p:cNvSpPr>
            <a:spLocks noGrp="1"/>
          </p:cNvSpPr>
          <p:nvPr>
            <p:ph type="body" idx="1"/>
          </p:nvPr>
        </p:nvSpPr>
        <p:spPr/>
        <p:txBody>
          <a:bodyPr/>
          <a:lstStyle/>
          <a:p>
            <a:r>
              <a:t>【質疑応答用】 【S42　【質疑応答用】新たな観点別評価】 ─ 目安 質疑応答　〔文科省R8.3資料1-1〕</a:t>
            </a:r>
          </a:p>
          <a:p/>
          <a:p>
            <a:r>
              <a:t>【質疑応答時：次期の評価の運用イメージを問われたら】</a:t>
            </a:r>
          </a:p>
          <a:p/>
          <a:p>
            <a:r>
              <a:t>令和8年3月の文部科学省 教育課程部会 総則・評価特別部会の資料から引用しています。</a:t>
            </a:r>
          </a:p>
          <a:p/>
          <a:p>
            <a:r>
              <a:t>ポイントは2つ。</a:t>
            </a:r>
          </a:p>
          <a:p/>
          <a:p>
            <a:r>
              <a:t>第一に「形式的かつ過度な評価材料集めを抑制」しつつ、「多様な子供たち一人一人の良さや成長を肯定的に評価できるよう、実質化を図る」。</a:t>
            </a:r>
          </a:p>
          <a:p/>
          <a:p>
            <a:r>
              <a:t>第二に「思考・判断・表現の過程で一体的に見取ることとし、学びの主体的な調整が必要となる学習課題を核とした指導・評価の改善を促す」。</a:t>
            </a:r>
          </a:p>
          <a:p/>
          <a:p>
            <a:r>
              <a:t>評価材料を増やすのではなく、思考・判断・表現と一体で見取る、という方向です。</a:t>
            </a:r>
          </a:p>
        </p:txBody>
      </p:sp>
      <p:sp>
        <p:nvSpPr>
          <p:cNvPr id="4" name="日付プレースホルダー 3"/>
          <p:cNvSpPr>
            <a:spLocks noGrp="1"/>
          </p:cNvSpPr>
          <p:nvPr>
            <p:ph type="dt" idx="10"/>
          </p:nvPr>
        </p:nvSpPr>
        <p:spPr/>
        <p:txBody>
          <a:bodyPr/>
          <a:lstStyle/>
          <a:p>
            <a:r>
              <a:rPr kumimoji="1" lang="en-US" altLang="ja-JP"/>
              <a:t>2021/3/24</a:t>
            </a:r>
            <a:endParaRPr kumimoji="1" lang="ja-JP" altLang="en-US"/>
          </a:p>
        </p:txBody>
      </p:sp>
      <p:sp>
        <p:nvSpPr>
          <p:cNvPr id="5" name="スライド番号プレースホルダー 4"/>
          <p:cNvSpPr>
            <a:spLocks noGrp="1"/>
          </p:cNvSpPr>
          <p:nvPr>
            <p:ph type="sldNum" sz="quarter" idx="11"/>
          </p:nvPr>
        </p:nvSpPr>
        <p:spPr/>
        <p:txBody>
          <a:bodyPr/>
          <a:lstStyle/>
          <a:p>
            <a:fld id="{EBF652ED-4E8E-4FA7-8EF4-2DDF6FB21FCE}" type="slidenum">
              <a:rPr kumimoji="1" lang="ja-JP" altLang="en-US" smtClean="0"/>
              <a:t>42</a:t>
            </a:fld>
            <a:endParaRPr kumimoji="1" lang="ja-JP" altLang="en-US"/>
          </a:p>
        </p:txBody>
      </p:sp>
    </p:spTree>
    <p:extLst>
      <p:ext uri="{BB962C8B-B14F-4D97-AF65-F5344CB8AC3E}">
        <p14:creationId xmlns:p14="http://schemas.microsoft.com/office/powerpoint/2010/main" val="308728209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2689225" y="504825"/>
            <a:ext cx="4491038" cy="2525713"/>
          </a:xfrm>
        </p:spPr>
      </p:sp>
      <p:sp>
        <p:nvSpPr>
          <p:cNvPr id="3" name="ノート プレースホルダー 2"/>
          <p:cNvSpPr>
            <a:spLocks noGrp="1"/>
          </p:cNvSpPr>
          <p:nvPr>
            <p:ph type="body" idx="1"/>
          </p:nvPr>
        </p:nvSpPr>
        <p:spPr/>
        <p:txBody>
          <a:bodyPr/>
          <a:lstStyle/>
          <a:p>
            <a:r>
              <a:t>【質疑応答用】 【S43　【質疑応答用】「学びに向かう力・人間性等」イメージ図】 ─ 目安 質疑応答　〔全体像〕</a:t>
            </a:r>
          </a:p>
          <a:p/>
          <a:p>
            <a:r>
              <a:t>【質疑応答時：次期の評価構造の全体像を問われたら】</a:t>
            </a:r>
          </a:p>
          <a:p/>
          <a:p>
            <a:r>
              <a:t>このイメージ図が、次期で示される評価構造の全体像です。</a:t>
            </a:r>
          </a:p>
          <a:p/>
          <a:p>
            <a:r>
              <a:t>「学びに向かう力・人間性等」は、現在の3観点ABC評価から外れますが、消えるわけではありません。</a:t>
            </a:r>
          </a:p>
          <a:p/>
          <a:p>
            <a:r>
              <a:t>総合所見欄と、「思考・判断・表現」観点に付記される「○」マークの組合せで、生徒一人一人の良さを記述的に評価する形になります。</a:t>
            </a:r>
          </a:p>
        </p:txBody>
      </p:sp>
      <p:sp>
        <p:nvSpPr>
          <p:cNvPr id="4" name="日付プレースホルダー 3"/>
          <p:cNvSpPr>
            <a:spLocks noGrp="1"/>
          </p:cNvSpPr>
          <p:nvPr>
            <p:ph type="dt" idx="10"/>
          </p:nvPr>
        </p:nvSpPr>
        <p:spPr/>
        <p:txBody>
          <a:bodyPr/>
          <a:lstStyle/>
          <a:p>
            <a:r>
              <a:rPr kumimoji="1" lang="en-US" altLang="ja-JP"/>
              <a:t>2021/3/24</a:t>
            </a:r>
            <a:endParaRPr kumimoji="1" lang="ja-JP" altLang="en-US"/>
          </a:p>
        </p:txBody>
      </p:sp>
      <p:sp>
        <p:nvSpPr>
          <p:cNvPr id="5" name="スライド番号プレースホルダー 4"/>
          <p:cNvSpPr>
            <a:spLocks noGrp="1"/>
          </p:cNvSpPr>
          <p:nvPr>
            <p:ph type="sldNum" sz="quarter" idx="11"/>
          </p:nvPr>
        </p:nvSpPr>
        <p:spPr/>
        <p:txBody>
          <a:bodyPr/>
          <a:lstStyle/>
          <a:p>
            <a:fld id="{EBF652ED-4E8E-4FA7-8EF4-2DDF6FB21FCE}" type="slidenum">
              <a:rPr kumimoji="1" lang="ja-JP" altLang="en-US" smtClean="0"/>
              <a:t>43</a:t>
            </a:fld>
            <a:endParaRPr kumimoji="1" lang="ja-JP" altLang="en-US"/>
          </a:p>
        </p:txBody>
      </p:sp>
    </p:spTree>
    <p:extLst>
      <p:ext uri="{BB962C8B-B14F-4D97-AF65-F5344CB8AC3E}">
        <p14:creationId xmlns:p14="http://schemas.microsoft.com/office/powerpoint/2010/main" val="257740891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2689225" y="504825"/>
            <a:ext cx="4491038" cy="2525713"/>
          </a:xfrm>
        </p:spPr>
      </p:sp>
      <p:sp>
        <p:nvSpPr>
          <p:cNvPr id="3" name="ノート プレースホルダー 2"/>
          <p:cNvSpPr>
            <a:spLocks noGrp="1"/>
          </p:cNvSpPr>
          <p:nvPr>
            <p:ph type="body" idx="1"/>
          </p:nvPr>
        </p:nvSpPr>
        <p:spPr/>
        <p:txBody>
          <a:bodyPr/>
          <a:lstStyle/>
          <a:p>
            <a:r>
              <a:t>【質疑応答用】 【S44　【質疑応答用】「○」の付記の運用(1)】 ─ 目安 質疑応答　〔運用〕</a:t>
            </a:r>
          </a:p>
          <a:p/>
          <a:p>
            <a:r>
              <a:t>【質疑応答時：「○」付記の運用を問われたら】</a:t>
            </a:r>
          </a:p>
          <a:p/>
          <a:p>
            <a:r>
              <a:t>「思考・判断・表現」の観点に、「○」を付記する運用についてです。</a:t>
            </a:r>
          </a:p>
          <a:p/>
          <a:p>
            <a:r>
              <a:t>学びに向かう姿勢が顕著に見られた場合、ABC判定に加えて「○」を付記する形が検討されています。</a:t>
            </a:r>
          </a:p>
        </p:txBody>
      </p:sp>
      <p:sp>
        <p:nvSpPr>
          <p:cNvPr id="4" name="日付プレースホルダー 3"/>
          <p:cNvSpPr>
            <a:spLocks noGrp="1"/>
          </p:cNvSpPr>
          <p:nvPr>
            <p:ph type="dt" idx="10"/>
          </p:nvPr>
        </p:nvSpPr>
        <p:spPr/>
        <p:txBody>
          <a:bodyPr/>
          <a:lstStyle/>
          <a:p>
            <a:r>
              <a:rPr kumimoji="1" lang="en-US" altLang="ja-JP"/>
              <a:t>2021/3/24</a:t>
            </a:r>
            <a:endParaRPr kumimoji="1" lang="ja-JP" altLang="en-US"/>
          </a:p>
        </p:txBody>
      </p:sp>
      <p:sp>
        <p:nvSpPr>
          <p:cNvPr id="5" name="スライド番号プレースホルダー 4"/>
          <p:cNvSpPr>
            <a:spLocks noGrp="1"/>
          </p:cNvSpPr>
          <p:nvPr>
            <p:ph type="sldNum" sz="quarter" idx="11"/>
          </p:nvPr>
        </p:nvSpPr>
        <p:spPr/>
        <p:txBody>
          <a:bodyPr/>
          <a:lstStyle/>
          <a:p>
            <a:fld id="{EBF652ED-4E8E-4FA7-8EF4-2DDF6FB21FCE}" type="slidenum">
              <a:rPr kumimoji="1" lang="ja-JP" altLang="en-US" smtClean="0"/>
              <a:t>44</a:t>
            </a:fld>
            <a:endParaRPr kumimoji="1" lang="ja-JP" altLang="en-US"/>
          </a:p>
        </p:txBody>
      </p:sp>
    </p:spTree>
    <p:extLst>
      <p:ext uri="{BB962C8B-B14F-4D97-AF65-F5344CB8AC3E}">
        <p14:creationId xmlns:p14="http://schemas.microsoft.com/office/powerpoint/2010/main" val="422880801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2689225" y="504825"/>
            <a:ext cx="4491038" cy="2525713"/>
          </a:xfrm>
        </p:spPr>
      </p:sp>
      <p:sp>
        <p:nvSpPr>
          <p:cNvPr id="3" name="ノート プレースホルダー 2"/>
          <p:cNvSpPr>
            <a:spLocks noGrp="1"/>
          </p:cNvSpPr>
          <p:nvPr>
            <p:ph type="body" idx="1"/>
          </p:nvPr>
        </p:nvSpPr>
        <p:spPr/>
        <p:txBody>
          <a:bodyPr/>
          <a:lstStyle/>
          <a:p>
            <a:r>
              <a:t>【質疑応答用】 【S45　【質疑応答用】「○」の付記の運用(2)】 ─ 目安 質疑応答　〔具体例〕</a:t>
            </a:r>
          </a:p>
          <a:p/>
          <a:p>
            <a:r>
              <a:t>【質疑応答時：「○」付記の具体例を問われたら】</a:t>
            </a:r>
          </a:p>
          <a:p/>
          <a:p>
            <a:r>
              <a:t>「○」を付記する具体的な場面のイメージです。</a:t>
            </a:r>
          </a:p>
          <a:p/>
          <a:p>
            <a:r>
              <a:t>学習の主体的な調整が必要となる学習課題（探究学習、プロジェクト学習など）において、生徒の学びに向かう姿勢が顕著に表れた場合に付記する、というイメージです。</a:t>
            </a:r>
          </a:p>
        </p:txBody>
      </p:sp>
      <p:sp>
        <p:nvSpPr>
          <p:cNvPr id="4" name="日付プレースホルダー 3"/>
          <p:cNvSpPr>
            <a:spLocks noGrp="1"/>
          </p:cNvSpPr>
          <p:nvPr>
            <p:ph type="dt" idx="10"/>
          </p:nvPr>
        </p:nvSpPr>
        <p:spPr/>
        <p:txBody>
          <a:bodyPr/>
          <a:lstStyle/>
          <a:p>
            <a:r>
              <a:rPr kumimoji="1" lang="en-US" altLang="ja-JP"/>
              <a:t>2021/3/24</a:t>
            </a:r>
            <a:endParaRPr kumimoji="1" lang="ja-JP" altLang="en-US"/>
          </a:p>
        </p:txBody>
      </p:sp>
      <p:sp>
        <p:nvSpPr>
          <p:cNvPr id="5" name="スライド番号プレースホルダー 4"/>
          <p:cNvSpPr>
            <a:spLocks noGrp="1"/>
          </p:cNvSpPr>
          <p:nvPr>
            <p:ph type="sldNum" sz="quarter" idx="11"/>
          </p:nvPr>
        </p:nvSpPr>
        <p:spPr/>
        <p:txBody>
          <a:bodyPr/>
          <a:lstStyle/>
          <a:p>
            <a:fld id="{EBF652ED-4E8E-4FA7-8EF4-2DDF6FB21FCE}" type="slidenum">
              <a:rPr kumimoji="1" lang="ja-JP" altLang="en-US" smtClean="0"/>
              <a:t>45</a:t>
            </a:fld>
            <a:endParaRPr kumimoji="1" lang="ja-JP" altLang="en-US"/>
          </a:p>
        </p:txBody>
      </p:sp>
    </p:spTree>
    <p:extLst>
      <p:ext uri="{BB962C8B-B14F-4D97-AF65-F5344CB8AC3E}">
        <p14:creationId xmlns:p14="http://schemas.microsoft.com/office/powerpoint/2010/main" val="296865217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2689225" y="504825"/>
            <a:ext cx="4491038" cy="2525713"/>
          </a:xfrm>
        </p:spPr>
      </p:sp>
      <p:sp>
        <p:nvSpPr>
          <p:cNvPr id="3" name="ノート プレースホルダー 2"/>
          <p:cNvSpPr>
            <a:spLocks noGrp="1"/>
          </p:cNvSpPr>
          <p:nvPr>
            <p:ph type="body" idx="1"/>
          </p:nvPr>
        </p:nvSpPr>
        <p:spPr/>
        <p:txBody>
          <a:bodyPr/>
          <a:lstStyle/>
          <a:p>
            <a:r>
              <a:t>【質疑応答用】 【S46　【質疑応答用】「○」の付記の運用(3)】 ─ 目安 質疑応答　〔通知表記載〕</a:t>
            </a:r>
          </a:p>
          <a:p/>
          <a:p>
            <a:r>
              <a:t>【質疑応答時：通知表記載イメージを問われたら】</a:t>
            </a:r>
          </a:p>
          <a:p/>
          <a:p>
            <a:r>
              <a:t>通知表での記載イメージです。</a:t>
            </a:r>
          </a:p>
          <a:p/>
          <a:p>
            <a:r>
              <a:t>「思考・判断・表現」の評価欄に「A○」「B○」のような表記が想定されています。</a:t>
            </a:r>
          </a:p>
        </p:txBody>
      </p:sp>
      <p:sp>
        <p:nvSpPr>
          <p:cNvPr id="4" name="日付プレースホルダー 3"/>
          <p:cNvSpPr>
            <a:spLocks noGrp="1"/>
          </p:cNvSpPr>
          <p:nvPr>
            <p:ph type="dt" idx="10"/>
          </p:nvPr>
        </p:nvSpPr>
        <p:spPr/>
        <p:txBody>
          <a:bodyPr/>
          <a:lstStyle/>
          <a:p>
            <a:r>
              <a:rPr kumimoji="1" lang="en-US" altLang="ja-JP"/>
              <a:t>2021/3/24</a:t>
            </a:r>
            <a:endParaRPr kumimoji="1" lang="ja-JP" altLang="en-US"/>
          </a:p>
        </p:txBody>
      </p:sp>
      <p:sp>
        <p:nvSpPr>
          <p:cNvPr id="5" name="スライド番号プレースホルダー 4"/>
          <p:cNvSpPr>
            <a:spLocks noGrp="1"/>
          </p:cNvSpPr>
          <p:nvPr>
            <p:ph type="sldNum" sz="quarter" idx="11"/>
          </p:nvPr>
        </p:nvSpPr>
        <p:spPr/>
        <p:txBody>
          <a:bodyPr/>
          <a:lstStyle/>
          <a:p>
            <a:fld id="{EBF652ED-4E8E-4FA7-8EF4-2DDF6FB21FCE}" type="slidenum">
              <a:rPr kumimoji="1" lang="ja-JP" altLang="en-US" smtClean="0"/>
              <a:t>46</a:t>
            </a:fld>
            <a:endParaRPr kumimoji="1" lang="ja-JP" altLang="en-US"/>
          </a:p>
        </p:txBody>
      </p:sp>
    </p:spTree>
    <p:extLst>
      <p:ext uri="{BB962C8B-B14F-4D97-AF65-F5344CB8AC3E}">
        <p14:creationId xmlns:p14="http://schemas.microsoft.com/office/powerpoint/2010/main" val="100561844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2689225" y="504825"/>
            <a:ext cx="4491038" cy="2525713"/>
          </a:xfrm>
        </p:spPr>
      </p:sp>
      <p:sp>
        <p:nvSpPr>
          <p:cNvPr id="3" name="ノート プレースホルダー 2"/>
          <p:cNvSpPr>
            <a:spLocks noGrp="1"/>
          </p:cNvSpPr>
          <p:nvPr>
            <p:ph type="body" idx="1"/>
          </p:nvPr>
        </p:nvSpPr>
        <p:spPr/>
        <p:txBody>
          <a:bodyPr/>
          <a:lstStyle/>
          <a:p>
            <a:r>
              <a:t>【質疑応答用】 【S47　【質疑応答用】「○」の付記の運用(4)・検討事項】 ─ 目安 質疑応答　〔検討中の論点〕</a:t>
            </a:r>
          </a:p>
          <a:p/>
          <a:p>
            <a:r>
              <a:t>【質疑応答時：検討中の論点を問われたら】</a:t>
            </a:r>
          </a:p>
          <a:p/>
          <a:p>
            <a:r>
              <a:t>現在検討中の論点を2つ。</a:t>
            </a:r>
          </a:p>
          <a:p/>
          <a:p>
            <a:r>
              <a:t>第一に「『学びに向かう力・人間性等』の評価をしなくてもよくなる」「軽視してもよい」といった誤った理解とならないよう、具体的な運用の設計と趣旨の周知・徹底を図るべき。</a:t>
            </a:r>
          </a:p>
          <a:p/>
          <a:p>
            <a:r>
              <a:t>第二に「○」を付記した際、それを評定に一定程度加味することの適否については、検討を深めるべき。</a:t>
            </a:r>
          </a:p>
          <a:p/>
          <a:p>
            <a:r>
              <a:t>ここはまだ検討中の論点ですので、現場としては、現行の3観点ABCをしっかり運用しつつ、こうした方向性が示されていることを念頭に置いておく、という構えで臨んでいただければと思います。</a:t>
            </a:r>
          </a:p>
          <a:p/>
          <a:p>
            <a:r>
              <a:t>ご質問、ありがとうございました。</a:t>
            </a:r>
          </a:p>
        </p:txBody>
      </p:sp>
      <p:sp>
        <p:nvSpPr>
          <p:cNvPr id="4" name="日付プレースホルダー 3"/>
          <p:cNvSpPr>
            <a:spLocks noGrp="1"/>
          </p:cNvSpPr>
          <p:nvPr>
            <p:ph type="dt" idx="10"/>
          </p:nvPr>
        </p:nvSpPr>
        <p:spPr/>
        <p:txBody>
          <a:bodyPr/>
          <a:lstStyle/>
          <a:p>
            <a:r>
              <a:rPr kumimoji="1" lang="en-US" altLang="ja-JP"/>
              <a:t>2021/3/24</a:t>
            </a:r>
            <a:endParaRPr kumimoji="1" lang="ja-JP" altLang="en-US"/>
          </a:p>
        </p:txBody>
      </p:sp>
      <p:sp>
        <p:nvSpPr>
          <p:cNvPr id="5" name="スライド番号プレースホルダー 4"/>
          <p:cNvSpPr>
            <a:spLocks noGrp="1"/>
          </p:cNvSpPr>
          <p:nvPr>
            <p:ph type="sldNum" sz="quarter" idx="11"/>
          </p:nvPr>
        </p:nvSpPr>
        <p:spPr/>
        <p:txBody>
          <a:bodyPr/>
          <a:lstStyle/>
          <a:p>
            <a:fld id="{EBF652ED-4E8E-4FA7-8EF4-2DDF6FB21FCE}" type="slidenum">
              <a:rPr kumimoji="1" lang="ja-JP" altLang="en-US" smtClean="0"/>
              <a:t>47</a:t>
            </a:fld>
            <a:endParaRPr kumimoji="1" lang="ja-JP" altLang="en-US"/>
          </a:p>
        </p:txBody>
      </p:sp>
    </p:spTree>
    <p:extLst>
      <p:ext uri="{BB962C8B-B14F-4D97-AF65-F5344CB8AC3E}">
        <p14:creationId xmlns:p14="http://schemas.microsoft.com/office/powerpoint/2010/main" val="38417350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サブタイトル 2"/>
          <p:cNvSpPr>
            <a:spLocks noGrp="1"/>
          </p:cNvSpPr>
          <p:nvPr>
            <p:ph type="subTitle" idx="1"/>
          </p:nvPr>
        </p:nvSpPr>
        <p:spPr>
          <a:xfrm>
            <a:off x="1524000" y="3602038"/>
            <a:ext cx="9144000" cy="1655762"/>
          </a:xfrm>
        </p:spPr>
        <p:txBody>
          <a:bodyPr/>
          <a:lstStyle>
            <a:lvl1pPr marL="0" indent="0" algn="ctr">
              <a:buNone/>
              <a:defRPr sz="2400"/>
            </a:lvl1pPr>
            <a:lvl2pPr marL="457155" indent="0" algn="ctr">
              <a:buNone/>
              <a:defRPr sz="2000"/>
            </a:lvl2pPr>
            <a:lvl3pPr marL="914309" indent="0" algn="ctr">
              <a:buNone/>
              <a:defRPr sz="1800"/>
            </a:lvl3pPr>
            <a:lvl4pPr marL="1371464" indent="0" algn="ctr">
              <a:buNone/>
              <a:defRPr sz="1600"/>
            </a:lvl4pPr>
            <a:lvl5pPr marL="1828618" indent="0" algn="ctr">
              <a:buNone/>
              <a:defRPr sz="1600"/>
            </a:lvl5pPr>
            <a:lvl6pPr marL="2285774" indent="0" algn="ctr">
              <a:buNone/>
              <a:defRPr sz="1600"/>
            </a:lvl6pPr>
            <a:lvl7pPr marL="2742926" indent="0" algn="ctr">
              <a:buNone/>
              <a:defRPr sz="1600"/>
            </a:lvl7pPr>
            <a:lvl8pPr marL="3200080" indent="0" algn="ctr">
              <a:buNone/>
              <a:defRPr sz="1600"/>
            </a:lvl8pPr>
            <a:lvl9pPr marL="3657235" indent="0" algn="ctr">
              <a:buNone/>
              <a:defRPr sz="1600"/>
            </a:lvl9pPr>
          </a:lstStyle>
          <a:p>
            <a:r>
              <a:rPr kumimoji="1" lang="ja-JP" altLang="en-US"/>
              <a:t>マスター サブタイトルの書式設定</a:t>
            </a:r>
          </a:p>
        </p:txBody>
      </p:sp>
      <p:sp>
        <p:nvSpPr>
          <p:cNvPr id="4" name="日付プレースホルダー 3"/>
          <p:cNvSpPr>
            <a:spLocks noGrp="1"/>
          </p:cNvSpPr>
          <p:nvPr>
            <p:ph type="dt" sz="half" idx="10"/>
          </p:nvPr>
        </p:nvSpPr>
        <p:spPr/>
        <p:txBody>
          <a:bodyPr/>
          <a:lstStyle/>
          <a:p>
            <a:fld id="{31768FEB-7BC5-413F-839E-D1D3EA6655D0}" type="datetimeFigureOut">
              <a:rPr kumimoji="1" lang="ja-JP" altLang="en-US" smtClean="0"/>
              <a:t>2026/6/3</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13632747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31768FEB-7BC5-413F-839E-D1D3EA6655D0}" type="datetimeFigureOut">
              <a:rPr kumimoji="1" lang="ja-JP" altLang="en-US" smtClean="0"/>
              <a:t>2026/6/3</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39107018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831851" y="170974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831851" y="4589473"/>
            <a:ext cx="10515600" cy="1500187"/>
          </a:xfrm>
        </p:spPr>
        <p:txBody>
          <a:bodyPr/>
          <a:lstStyle>
            <a:lvl1pPr marL="0" indent="0">
              <a:buNone/>
              <a:defRPr sz="2400">
                <a:solidFill>
                  <a:schemeClr val="tx1">
                    <a:tint val="75000"/>
                  </a:schemeClr>
                </a:solidFill>
              </a:defRPr>
            </a:lvl1pPr>
            <a:lvl2pPr marL="457155" indent="0">
              <a:buNone/>
              <a:defRPr sz="2000">
                <a:solidFill>
                  <a:schemeClr val="tx1">
                    <a:tint val="75000"/>
                  </a:schemeClr>
                </a:solidFill>
              </a:defRPr>
            </a:lvl2pPr>
            <a:lvl3pPr marL="914309" indent="0">
              <a:buNone/>
              <a:defRPr sz="1800">
                <a:solidFill>
                  <a:schemeClr val="tx1">
                    <a:tint val="75000"/>
                  </a:schemeClr>
                </a:solidFill>
              </a:defRPr>
            </a:lvl3pPr>
            <a:lvl4pPr marL="1371464" indent="0">
              <a:buNone/>
              <a:defRPr sz="1600">
                <a:solidFill>
                  <a:schemeClr val="tx1">
                    <a:tint val="75000"/>
                  </a:schemeClr>
                </a:solidFill>
              </a:defRPr>
            </a:lvl4pPr>
            <a:lvl5pPr marL="1828618" indent="0">
              <a:buNone/>
              <a:defRPr sz="1600">
                <a:solidFill>
                  <a:schemeClr val="tx1">
                    <a:tint val="75000"/>
                  </a:schemeClr>
                </a:solidFill>
              </a:defRPr>
            </a:lvl5pPr>
            <a:lvl6pPr marL="2285774" indent="0">
              <a:buNone/>
              <a:defRPr sz="1600">
                <a:solidFill>
                  <a:schemeClr val="tx1">
                    <a:tint val="75000"/>
                  </a:schemeClr>
                </a:solidFill>
              </a:defRPr>
            </a:lvl6pPr>
            <a:lvl7pPr marL="2742926" indent="0">
              <a:buNone/>
              <a:defRPr sz="1600">
                <a:solidFill>
                  <a:schemeClr val="tx1">
                    <a:tint val="75000"/>
                  </a:schemeClr>
                </a:solidFill>
              </a:defRPr>
            </a:lvl7pPr>
            <a:lvl8pPr marL="3200080" indent="0">
              <a:buNone/>
              <a:defRPr sz="1600">
                <a:solidFill>
                  <a:schemeClr val="tx1">
                    <a:tint val="75000"/>
                  </a:schemeClr>
                </a:solidFill>
              </a:defRPr>
            </a:lvl8pPr>
            <a:lvl9pPr marL="3657235"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p:cNvSpPr>
            <a:spLocks noGrp="1"/>
          </p:cNvSpPr>
          <p:nvPr>
            <p:ph type="dt" sz="half" idx="10"/>
          </p:nvPr>
        </p:nvSpPr>
        <p:spPr/>
        <p:txBody>
          <a:bodyPr/>
          <a:lstStyle/>
          <a:p>
            <a:fld id="{31768FEB-7BC5-413F-839E-D1D3EA6655D0}" type="datetimeFigureOut">
              <a:rPr kumimoji="1" lang="ja-JP" altLang="en-US" smtClean="0"/>
              <a:t>2026/6/3</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13671114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p:cNvSpPr>
            <a:spLocks noGrp="1"/>
          </p:cNvSpPr>
          <p:nvPr>
            <p:ph type="dt" sz="half" idx="10"/>
          </p:nvPr>
        </p:nvSpPr>
        <p:spPr/>
        <p:txBody>
          <a:bodyPr/>
          <a:lstStyle/>
          <a:p>
            <a:fld id="{31768FEB-7BC5-413F-839E-D1D3EA6655D0}" type="datetimeFigureOut">
              <a:rPr kumimoji="1" lang="ja-JP" altLang="en-US" smtClean="0"/>
              <a:t>2026/6/3</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39767260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365129"/>
            <a:ext cx="10515600" cy="1325563"/>
          </a:xfrm>
        </p:spPr>
        <p:txBody>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9789" y="1681163"/>
            <a:ext cx="5157787" cy="823912"/>
          </a:xfrm>
        </p:spPr>
        <p:txBody>
          <a:bodyPr anchor="b"/>
          <a:lstStyle>
            <a:lvl1pPr marL="0" indent="0">
              <a:buNone/>
              <a:defRPr sz="2400" b="1"/>
            </a:lvl1pPr>
            <a:lvl2pPr marL="457155" indent="0">
              <a:buNone/>
              <a:defRPr sz="2000" b="1"/>
            </a:lvl2pPr>
            <a:lvl3pPr marL="914309" indent="0">
              <a:buNone/>
              <a:defRPr sz="1800" b="1"/>
            </a:lvl3pPr>
            <a:lvl4pPr marL="1371464" indent="0">
              <a:buNone/>
              <a:defRPr sz="1600" b="1"/>
            </a:lvl4pPr>
            <a:lvl5pPr marL="1828618" indent="0">
              <a:buNone/>
              <a:defRPr sz="1600" b="1"/>
            </a:lvl5pPr>
            <a:lvl6pPr marL="2285774" indent="0">
              <a:buNone/>
              <a:defRPr sz="1600" b="1"/>
            </a:lvl6pPr>
            <a:lvl7pPr marL="2742926" indent="0">
              <a:buNone/>
              <a:defRPr sz="1600" b="1"/>
            </a:lvl7pPr>
            <a:lvl8pPr marL="3200080" indent="0">
              <a:buNone/>
              <a:defRPr sz="1600" b="1"/>
            </a:lvl8pPr>
            <a:lvl9pPr marL="3657235" indent="0">
              <a:buNone/>
              <a:defRPr sz="1600" b="1"/>
            </a:lvl9pPr>
          </a:lstStyle>
          <a:p>
            <a:pPr lvl="0"/>
            <a:r>
              <a:rPr kumimoji="1" lang="ja-JP" altLang="en-US"/>
              <a:t>マスター テキストの書式設定</a:t>
            </a:r>
          </a:p>
        </p:txBody>
      </p:sp>
      <p:sp>
        <p:nvSpPr>
          <p:cNvPr id="4" name="コンテンツ プレースホルダー 3"/>
          <p:cNvSpPr>
            <a:spLocks noGrp="1"/>
          </p:cNvSpPr>
          <p:nvPr>
            <p:ph sz="half" idx="2"/>
          </p:nvPr>
        </p:nvSpPr>
        <p:spPr>
          <a:xfrm>
            <a:off x="839789"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p:cNvSpPr>
            <a:spLocks noGrp="1"/>
          </p:cNvSpPr>
          <p:nvPr>
            <p:ph type="body" sz="quarter" idx="3"/>
          </p:nvPr>
        </p:nvSpPr>
        <p:spPr>
          <a:xfrm>
            <a:off x="6172203" y="1681163"/>
            <a:ext cx="5183188" cy="823912"/>
          </a:xfrm>
        </p:spPr>
        <p:txBody>
          <a:bodyPr anchor="b"/>
          <a:lstStyle>
            <a:lvl1pPr marL="0" indent="0">
              <a:buNone/>
              <a:defRPr sz="2400" b="1"/>
            </a:lvl1pPr>
            <a:lvl2pPr marL="457155" indent="0">
              <a:buNone/>
              <a:defRPr sz="2000" b="1"/>
            </a:lvl2pPr>
            <a:lvl3pPr marL="914309" indent="0">
              <a:buNone/>
              <a:defRPr sz="1800" b="1"/>
            </a:lvl3pPr>
            <a:lvl4pPr marL="1371464" indent="0">
              <a:buNone/>
              <a:defRPr sz="1600" b="1"/>
            </a:lvl4pPr>
            <a:lvl5pPr marL="1828618" indent="0">
              <a:buNone/>
              <a:defRPr sz="1600" b="1"/>
            </a:lvl5pPr>
            <a:lvl6pPr marL="2285774" indent="0">
              <a:buNone/>
              <a:defRPr sz="1600" b="1"/>
            </a:lvl6pPr>
            <a:lvl7pPr marL="2742926" indent="0">
              <a:buNone/>
              <a:defRPr sz="1600" b="1"/>
            </a:lvl7pPr>
            <a:lvl8pPr marL="3200080" indent="0">
              <a:buNone/>
              <a:defRPr sz="1600" b="1"/>
            </a:lvl8pPr>
            <a:lvl9pPr marL="3657235" indent="0">
              <a:buNone/>
              <a:defRPr sz="1600" b="1"/>
            </a:lvl9pPr>
          </a:lstStyle>
          <a:p>
            <a:pPr lvl="0"/>
            <a:r>
              <a:rPr kumimoji="1" lang="ja-JP" altLang="en-US"/>
              <a:t>マスター テキストの書式設定</a:t>
            </a:r>
          </a:p>
        </p:txBody>
      </p:sp>
      <p:sp>
        <p:nvSpPr>
          <p:cNvPr id="6" name="コンテンツ プレースホルダー 5"/>
          <p:cNvSpPr>
            <a:spLocks noGrp="1"/>
          </p:cNvSpPr>
          <p:nvPr>
            <p:ph sz="quarter" idx="4"/>
          </p:nvPr>
        </p:nvSpPr>
        <p:spPr>
          <a:xfrm>
            <a:off x="6172203"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p:cNvSpPr>
            <a:spLocks noGrp="1"/>
          </p:cNvSpPr>
          <p:nvPr>
            <p:ph type="dt" sz="half" idx="10"/>
          </p:nvPr>
        </p:nvSpPr>
        <p:spPr/>
        <p:txBody>
          <a:bodyPr/>
          <a:lstStyle/>
          <a:p>
            <a:fld id="{31768FEB-7BC5-413F-839E-D1D3EA6655D0}" type="datetimeFigureOut">
              <a:rPr kumimoji="1" lang="ja-JP" altLang="en-US" smtClean="0"/>
              <a:t>2026/6/3</a:t>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7441713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日付プレースホルダー 2"/>
          <p:cNvSpPr>
            <a:spLocks noGrp="1"/>
          </p:cNvSpPr>
          <p:nvPr>
            <p:ph type="dt" sz="half" idx="10"/>
          </p:nvPr>
        </p:nvSpPr>
        <p:spPr/>
        <p:txBody>
          <a:bodyPr/>
          <a:lstStyle/>
          <a:p>
            <a:fld id="{31768FEB-7BC5-413F-839E-D1D3EA6655D0}" type="datetimeFigureOut">
              <a:rPr kumimoji="1" lang="ja-JP" altLang="en-US" smtClean="0"/>
              <a:t>2026/6/3</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11602081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31768FEB-7BC5-413F-839E-D1D3EA6655D0}" type="datetimeFigureOut">
              <a:rPr kumimoji="1" lang="ja-JP" altLang="en-US" smtClean="0"/>
              <a:t>2026/6/3</a:t>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18525350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p:cNvSpPr>
            <a:spLocks noGrp="1"/>
          </p:cNvSpPr>
          <p:nvPr>
            <p:ph idx="1"/>
          </p:nvPr>
        </p:nvSpPr>
        <p:spPr>
          <a:xfrm>
            <a:off x="5183188" y="98743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155" indent="0">
              <a:buNone/>
              <a:defRPr sz="1400"/>
            </a:lvl2pPr>
            <a:lvl3pPr marL="914309" indent="0">
              <a:buNone/>
              <a:defRPr sz="1200"/>
            </a:lvl3pPr>
            <a:lvl4pPr marL="1371464" indent="0">
              <a:buNone/>
              <a:defRPr sz="1000"/>
            </a:lvl4pPr>
            <a:lvl5pPr marL="1828618" indent="0">
              <a:buNone/>
              <a:defRPr sz="1000"/>
            </a:lvl5pPr>
            <a:lvl6pPr marL="2285774" indent="0">
              <a:buNone/>
              <a:defRPr sz="1000"/>
            </a:lvl6pPr>
            <a:lvl7pPr marL="2742926" indent="0">
              <a:buNone/>
              <a:defRPr sz="1000"/>
            </a:lvl7pPr>
            <a:lvl8pPr marL="3200080" indent="0">
              <a:buNone/>
              <a:defRPr sz="1000"/>
            </a:lvl8pPr>
            <a:lvl9pPr marL="3657235" indent="0">
              <a:buNone/>
              <a:defRPr sz="10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31768FEB-7BC5-413F-839E-D1D3EA6655D0}" type="datetimeFigureOut">
              <a:rPr kumimoji="1" lang="ja-JP" altLang="en-US" smtClean="0"/>
              <a:t>2026/6/3</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33727477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p:cNvSpPr>
            <a:spLocks noGrp="1"/>
          </p:cNvSpPr>
          <p:nvPr>
            <p:ph type="pic" idx="1"/>
          </p:nvPr>
        </p:nvSpPr>
        <p:spPr>
          <a:xfrm>
            <a:off x="5183188" y="987435"/>
            <a:ext cx="6172200" cy="4873625"/>
          </a:xfrm>
        </p:spPr>
        <p:txBody>
          <a:bodyPr/>
          <a:lstStyle>
            <a:lvl1pPr marL="0" indent="0">
              <a:buNone/>
              <a:defRPr sz="3200"/>
            </a:lvl1pPr>
            <a:lvl2pPr marL="457155" indent="0">
              <a:buNone/>
              <a:defRPr sz="2800"/>
            </a:lvl2pPr>
            <a:lvl3pPr marL="914309" indent="0">
              <a:buNone/>
              <a:defRPr sz="2400"/>
            </a:lvl3pPr>
            <a:lvl4pPr marL="1371464" indent="0">
              <a:buNone/>
              <a:defRPr sz="2000"/>
            </a:lvl4pPr>
            <a:lvl5pPr marL="1828618" indent="0">
              <a:buNone/>
              <a:defRPr sz="2000"/>
            </a:lvl5pPr>
            <a:lvl6pPr marL="2285774" indent="0">
              <a:buNone/>
              <a:defRPr sz="2000"/>
            </a:lvl6pPr>
            <a:lvl7pPr marL="2742926" indent="0">
              <a:buNone/>
              <a:defRPr sz="2000"/>
            </a:lvl7pPr>
            <a:lvl8pPr marL="3200080" indent="0">
              <a:buNone/>
              <a:defRPr sz="2000"/>
            </a:lvl8pPr>
            <a:lvl9pPr marL="3657235" indent="0">
              <a:buNone/>
              <a:defRPr sz="2000"/>
            </a:lvl9pPr>
          </a:lstStyle>
          <a:p>
            <a:endParaRPr kumimoji="1" lang="ja-JP" altLang="en-US"/>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155" indent="0">
              <a:buNone/>
              <a:defRPr sz="1400"/>
            </a:lvl2pPr>
            <a:lvl3pPr marL="914309" indent="0">
              <a:buNone/>
              <a:defRPr sz="1200"/>
            </a:lvl3pPr>
            <a:lvl4pPr marL="1371464" indent="0">
              <a:buNone/>
              <a:defRPr sz="1000"/>
            </a:lvl4pPr>
            <a:lvl5pPr marL="1828618" indent="0">
              <a:buNone/>
              <a:defRPr sz="1000"/>
            </a:lvl5pPr>
            <a:lvl6pPr marL="2285774" indent="0">
              <a:buNone/>
              <a:defRPr sz="1000"/>
            </a:lvl6pPr>
            <a:lvl7pPr marL="2742926" indent="0">
              <a:buNone/>
              <a:defRPr sz="1000"/>
            </a:lvl7pPr>
            <a:lvl8pPr marL="3200080" indent="0">
              <a:buNone/>
              <a:defRPr sz="1000"/>
            </a:lvl8pPr>
            <a:lvl9pPr marL="3657235" indent="0">
              <a:buNone/>
              <a:defRPr sz="10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31768FEB-7BC5-413F-839E-D1D3EA6655D0}" type="datetimeFigureOut">
              <a:rPr kumimoji="1" lang="ja-JP" altLang="en-US" smtClean="0"/>
              <a:t>2026/6/3</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36844561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31768FEB-7BC5-413F-839E-D1D3EA6655D0}" type="datetimeFigureOut">
              <a:rPr kumimoji="1" lang="ja-JP" altLang="en-US" smtClean="0"/>
              <a:t>2026/6/3</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38148883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8724902" y="365125"/>
            <a:ext cx="2628900" cy="5811838"/>
          </a:xfrm>
        </p:spPr>
        <p:txBody>
          <a:bodyPr vert="eaVert"/>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a:xfrm>
            <a:off x="838203"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31768FEB-7BC5-413F-839E-D1D3EA6655D0}" type="datetimeFigureOut">
              <a:rPr kumimoji="1" lang="ja-JP" altLang="en-US" smtClean="0"/>
              <a:t>2026/6/3</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170798182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9"/>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2"/>
          </p:nvPr>
        </p:nvSpPr>
        <p:spPr>
          <a:xfrm>
            <a:off x="838200" y="635636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1768FEB-7BC5-413F-839E-D1D3EA6655D0}" type="datetimeFigureOut">
              <a:rPr kumimoji="1" lang="ja-JP" altLang="en-US" smtClean="0"/>
              <a:t>2026/6/3</a:t>
            </a:fld>
            <a:endParaRPr kumimoji="1" lang="ja-JP" altLang="en-US"/>
          </a:p>
        </p:txBody>
      </p:sp>
      <p:sp>
        <p:nvSpPr>
          <p:cNvPr id="5" name="フッター プレースホルダー 4"/>
          <p:cNvSpPr>
            <a:spLocks noGrp="1"/>
          </p:cNvSpPr>
          <p:nvPr>
            <p:ph type="ftr" sz="quarter" idx="3"/>
          </p:nvPr>
        </p:nvSpPr>
        <p:spPr>
          <a:xfrm>
            <a:off x="4038600" y="635636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8610600" y="635636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1375906915"/>
      </p:ext>
    </p:extLst>
  </p:cSld>
  <p:clrMap bg1="lt1" tx1="dk1" bg2="lt2" tx2="dk2" accent1="accent1" accent2="accent2" accent3="accent3" accent4="accent4" accent5="accent5" accent6="accent6" hlink="hlink" folHlink="folHlink"/>
  <p:sldLayoutIdLst>
    <p:sldLayoutId id="2147483747" r:id="rId1"/>
    <p:sldLayoutId id="2147483748" r:id="rId2"/>
    <p:sldLayoutId id="2147483749" r:id="rId3"/>
    <p:sldLayoutId id="2147483750" r:id="rId4"/>
    <p:sldLayoutId id="2147483751" r:id="rId5"/>
    <p:sldLayoutId id="2147483752" r:id="rId6"/>
    <p:sldLayoutId id="2147483753" r:id="rId7"/>
    <p:sldLayoutId id="2147483754" r:id="rId8"/>
    <p:sldLayoutId id="2147483755" r:id="rId9"/>
    <p:sldLayoutId id="2147483756" r:id="rId10"/>
    <p:sldLayoutId id="2147483757" r:id="rId11"/>
  </p:sldLayoutIdLst>
  <p:txStyles>
    <p:titleStyle>
      <a:lvl1pPr algn="l" defTabSz="914309"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578" indent="-228578" algn="l" defTabSz="914309"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34" indent="-228578" algn="l" defTabSz="914309"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886" indent="-228578" algn="l" defTabSz="914309"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40" indent="-228578" algn="l" defTabSz="914309"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195" indent="-228578" algn="l" defTabSz="914309"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49" indent="-228578" algn="l" defTabSz="914309"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04" indent="-228578" algn="l" defTabSz="914309"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658" indent="-228578" algn="l" defTabSz="914309"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14" indent="-228578" algn="l" defTabSz="914309"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309" rtl="0" eaLnBrk="1" latinLnBrk="0" hangingPunct="1">
        <a:defRPr kumimoji="1" sz="1800" kern="1200">
          <a:solidFill>
            <a:schemeClr val="tx1"/>
          </a:solidFill>
          <a:latin typeface="+mn-lt"/>
          <a:ea typeface="+mn-ea"/>
          <a:cs typeface="+mn-cs"/>
        </a:defRPr>
      </a:lvl1pPr>
      <a:lvl2pPr marL="457155" algn="l" defTabSz="914309" rtl="0" eaLnBrk="1" latinLnBrk="0" hangingPunct="1">
        <a:defRPr kumimoji="1" sz="1800" kern="1200">
          <a:solidFill>
            <a:schemeClr val="tx1"/>
          </a:solidFill>
          <a:latin typeface="+mn-lt"/>
          <a:ea typeface="+mn-ea"/>
          <a:cs typeface="+mn-cs"/>
        </a:defRPr>
      </a:lvl2pPr>
      <a:lvl3pPr marL="914309" algn="l" defTabSz="914309" rtl="0" eaLnBrk="1" latinLnBrk="0" hangingPunct="1">
        <a:defRPr kumimoji="1" sz="1800" kern="1200">
          <a:solidFill>
            <a:schemeClr val="tx1"/>
          </a:solidFill>
          <a:latin typeface="+mn-lt"/>
          <a:ea typeface="+mn-ea"/>
          <a:cs typeface="+mn-cs"/>
        </a:defRPr>
      </a:lvl3pPr>
      <a:lvl4pPr marL="1371464" algn="l" defTabSz="914309" rtl="0" eaLnBrk="1" latinLnBrk="0" hangingPunct="1">
        <a:defRPr kumimoji="1" sz="1800" kern="1200">
          <a:solidFill>
            <a:schemeClr val="tx1"/>
          </a:solidFill>
          <a:latin typeface="+mn-lt"/>
          <a:ea typeface="+mn-ea"/>
          <a:cs typeface="+mn-cs"/>
        </a:defRPr>
      </a:lvl4pPr>
      <a:lvl5pPr marL="1828618" algn="l" defTabSz="914309" rtl="0" eaLnBrk="1" latinLnBrk="0" hangingPunct="1">
        <a:defRPr kumimoji="1" sz="1800" kern="1200">
          <a:solidFill>
            <a:schemeClr val="tx1"/>
          </a:solidFill>
          <a:latin typeface="+mn-lt"/>
          <a:ea typeface="+mn-ea"/>
          <a:cs typeface="+mn-cs"/>
        </a:defRPr>
      </a:lvl5pPr>
      <a:lvl6pPr marL="2285774" algn="l" defTabSz="914309" rtl="0" eaLnBrk="1" latinLnBrk="0" hangingPunct="1">
        <a:defRPr kumimoji="1" sz="1800" kern="1200">
          <a:solidFill>
            <a:schemeClr val="tx1"/>
          </a:solidFill>
          <a:latin typeface="+mn-lt"/>
          <a:ea typeface="+mn-ea"/>
          <a:cs typeface="+mn-cs"/>
        </a:defRPr>
      </a:lvl6pPr>
      <a:lvl7pPr marL="2742926" algn="l" defTabSz="914309" rtl="0" eaLnBrk="1" latinLnBrk="0" hangingPunct="1">
        <a:defRPr kumimoji="1" sz="1800" kern="1200">
          <a:solidFill>
            <a:schemeClr val="tx1"/>
          </a:solidFill>
          <a:latin typeface="+mn-lt"/>
          <a:ea typeface="+mn-ea"/>
          <a:cs typeface="+mn-cs"/>
        </a:defRPr>
      </a:lvl7pPr>
      <a:lvl8pPr marL="3200080" algn="l" defTabSz="914309" rtl="0" eaLnBrk="1" latinLnBrk="0" hangingPunct="1">
        <a:defRPr kumimoji="1" sz="1800" kern="1200">
          <a:solidFill>
            <a:schemeClr val="tx1"/>
          </a:solidFill>
          <a:latin typeface="+mn-lt"/>
          <a:ea typeface="+mn-ea"/>
          <a:cs typeface="+mn-cs"/>
        </a:defRPr>
      </a:lvl8pPr>
      <a:lvl9pPr marL="3657235" algn="l" defTabSz="914309"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3.png"/><Relationship Id="rId4" Type="http://schemas.microsoft.com/office/2007/relationships/hdphoto" Target="../media/hdphoto1.wdp"/></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image" Target="../media/image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image" Target="../media/image8.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image" Target="../media/image9.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 Id="rId3" Type="http://schemas.openxmlformats.org/officeDocument/2006/relationships/image" Target="../media/image10.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790708" y="2004488"/>
            <a:ext cx="10610581" cy="1275009"/>
          </a:xfrm>
        </p:spPr>
        <p:txBody>
          <a:bodyPr>
            <a:noAutofit/>
          </a:bodyPr>
          <a:lstStyle/>
          <a:p>
            <a:r>
              <a:rPr lang="en-US" altLang="ja-JP" sz="4400" b="1" dirty="0">
                <a:latin typeface="メイリオ"/>
                <a:ea typeface="メイリオ"/>
                <a:cs typeface="メイリオ"/>
              </a:rPr>
              <a:t>「指導と評価の一体化」</a:t>
            </a:r>
          </a:p>
        </p:txBody>
      </p:sp>
      <p:sp>
        <p:nvSpPr>
          <p:cNvPr id="3" name="サブタイトル 2"/>
          <p:cNvSpPr>
            <a:spLocks noGrp="1"/>
          </p:cNvSpPr>
          <p:nvPr>
            <p:ph type="subTitle" idx="1"/>
          </p:nvPr>
        </p:nvSpPr>
        <p:spPr>
          <a:xfrm>
            <a:off x="790708" y="3638214"/>
            <a:ext cx="11016343" cy="605308"/>
          </a:xfrm>
        </p:spPr>
        <p:txBody>
          <a:bodyPr>
            <a:noAutofit/>
          </a:bodyPr>
          <a:lstStyle/>
          <a:p>
            <a:r>
              <a:rPr lang="ja-JP" altLang="en-US" sz="3200" b="1" dirty="0">
                <a:latin typeface="メイリオ"/>
                <a:ea typeface="メイリオ"/>
                <a:cs typeface="メイリオ"/>
              </a:rPr>
              <a:t>〜「主体的に学習に取り組む態度」の評価を中心に〜</a:t>
            </a:r>
          </a:p>
        </p:txBody>
      </p:sp>
      <p:sp>
        <p:nvSpPr>
          <p:cNvPr id="4" name="サブタイトル 2"/>
          <p:cNvSpPr txBox="1">
            <a:spLocks/>
          </p:cNvSpPr>
          <p:nvPr/>
        </p:nvSpPr>
        <p:spPr>
          <a:xfrm>
            <a:off x="7816404" y="4868215"/>
            <a:ext cx="3086637" cy="1004552"/>
          </a:xfrm>
          <a:prstGeom prst="rect">
            <a:avLst/>
          </a:prstGeom>
        </p:spPr>
        <p:txBody>
          <a:bodyPr vert="horz" lIns="91440" tIns="45720" rIns="91440" bIns="45720" rtlCol="0">
            <a:normAutofit fontScale="55000" lnSpcReduction="20000"/>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algn="l"/>
            <a:r>
              <a:rPr lang="ja-JP" altLang="en-US" sz="3200" b="1" dirty="0">
                <a:latin typeface="メイリオ"/>
                <a:ea typeface="メイリオ"/>
                <a:cs typeface="メイリオ"/>
              </a:rPr>
              <a:t>令和８年６月３日（水）</a:t>
            </a:r>
            <a:endParaRPr lang="en-US" altLang="ja-JP" sz="3200" b="1" dirty="0"/>
          </a:p>
          <a:p>
            <a:pPr algn="l"/>
            <a:r>
              <a:rPr lang="ja-JP" altLang="en-US" sz="3200" b="1" dirty="0">
                <a:latin typeface="メイリオ"/>
                <a:ea typeface="メイリオ"/>
                <a:cs typeface="メイリオ"/>
              </a:rPr>
              <a:t>練馬区教育委員会</a:t>
            </a:r>
            <a:endParaRPr lang="en-US" altLang="ja-JP" sz="3200" b="1" dirty="0"/>
          </a:p>
          <a:p>
            <a:pPr algn="l"/>
            <a:r>
              <a:rPr lang="ja-JP" altLang="en-US" sz="3200" b="1" dirty="0">
                <a:latin typeface="メイリオ"/>
                <a:ea typeface="メイリオ"/>
                <a:cs typeface="メイリオ"/>
              </a:rPr>
              <a:t>指導主事　紺多　章一郎</a:t>
            </a:r>
          </a:p>
        </p:txBody>
      </p:sp>
      <p:sp>
        <p:nvSpPr>
          <p:cNvPr id="5" name="サブタイトル 2"/>
          <p:cNvSpPr txBox="1">
            <a:spLocks/>
          </p:cNvSpPr>
          <p:nvPr/>
        </p:nvSpPr>
        <p:spPr>
          <a:xfrm>
            <a:off x="2094964" y="1040463"/>
            <a:ext cx="8002073" cy="60530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r>
              <a:rPr lang="ja-JP" altLang="en-US" sz="3200" b="1" dirty="0">
                <a:latin typeface="メイリオ"/>
                <a:ea typeface="メイリオ"/>
                <a:cs typeface="メイリオ"/>
              </a:rPr>
              <a:t>令和８年度　石神井南中学校　校内研修</a:t>
            </a:r>
          </a:p>
        </p:txBody>
      </p:sp>
    </p:spTree>
    <p:extLst>
      <p:ext uri="{BB962C8B-B14F-4D97-AF65-F5344CB8AC3E}">
        <p14:creationId xmlns:p14="http://schemas.microsoft.com/office/powerpoint/2010/main" val="2377379582"/>
      </p:ext>
    </p:extLst>
  </p:cSld>
  <p:clrMapOvr>
    <a:masterClrMapping/>
  </p:clrMapOvr>
  <p:transition spd="slow">
    <p:cove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p:cNvSpPr>
            <a:spLocks noGrp="1"/>
          </p:cNvSpPr>
          <p:nvPr>
            <p:ph idx="1"/>
          </p:nvPr>
        </p:nvSpPr>
        <p:spPr>
          <a:xfrm>
            <a:off x="1235485" y="2017488"/>
            <a:ext cx="10515600" cy="3446610"/>
          </a:xfrm>
        </p:spPr>
        <p:txBody>
          <a:bodyPr>
            <a:normAutofit/>
          </a:bodyPr>
          <a:lstStyle/>
          <a:p>
            <a:pPr marL="0" indent="0">
              <a:buNone/>
            </a:pPr>
            <a:r>
              <a:rPr lang="ja-JP" altLang="en-US" sz="3600" b="1" dirty="0">
                <a:latin typeface="メイリオ"/>
                <a:ea typeface="メイリオ"/>
                <a:cs typeface="メイリオ"/>
              </a:rPr>
              <a:t>１　主体的・対話的で深い学びの実現に向けた</a:t>
            </a:r>
            <a:endParaRPr lang="en-US" altLang="ja-JP" sz="3600" b="1" dirty="0"/>
          </a:p>
          <a:p>
            <a:pPr marL="0" indent="0">
              <a:buNone/>
            </a:pPr>
            <a:r>
              <a:rPr lang="ja-JP" altLang="en-US" sz="3600" b="1" dirty="0">
                <a:latin typeface="メイリオ"/>
                <a:ea typeface="メイリオ"/>
                <a:cs typeface="メイリオ"/>
              </a:rPr>
              <a:t>　　授業改善</a:t>
            </a:r>
            <a:endParaRPr lang="en-US" altLang="ja-JP" sz="3600" b="1" dirty="0"/>
          </a:p>
          <a:p>
            <a:pPr marL="0" indent="0">
              <a:buNone/>
            </a:pPr>
            <a:endParaRPr lang="en-US" altLang="ja-JP" sz="3600" b="1" dirty="0"/>
          </a:p>
          <a:p>
            <a:pPr marL="0" indent="0">
              <a:buNone/>
            </a:pPr>
            <a:r>
              <a:rPr lang="ja-JP" altLang="en-US" sz="3600" b="1" dirty="0">
                <a:latin typeface="メイリオ"/>
                <a:ea typeface="メイリオ"/>
                <a:cs typeface="メイリオ"/>
              </a:rPr>
              <a:t>２ </a:t>
            </a:r>
            <a:r>
              <a:rPr lang="en-US" altLang="ja-JP" sz="3600" b="1" dirty="0">
                <a:latin typeface="メイリオ"/>
                <a:ea typeface="メイリオ"/>
                <a:cs typeface="メイリオ"/>
              </a:rPr>
              <a:t>『</a:t>
            </a:r>
            <a:r>
              <a:rPr lang="ja-JP" altLang="en-US" sz="3600" b="1" dirty="0">
                <a:latin typeface="メイリオ"/>
                <a:ea typeface="メイリオ"/>
                <a:cs typeface="メイリオ"/>
              </a:rPr>
              <a:t>主体的に学習に取り組む態度</a:t>
            </a:r>
            <a:r>
              <a:rPr lang="en-US" altLang="ja-JP" sz="3600" b="1" dirty="0">
                <a:latin typeface="メイリオ"/>
                <a:ea typeface="メイリオ"/>
                <a:cs typeface="メイリオ"/>
              </a:rPr>
              <a:t>』</a:t>
            </a:r>
            <a:r>
              <a:rPr lang="ja-JP" altLang="en-US" sz="3600" b="1" dirty="0">
                <a:latin typeface="メイリオ"/>
                <a:ea typeface="メイリオ"/>
                <a:cs typeface="メイリオ"/>
              </a:rPr>
              <a:t>の学習評価</a:t>
            </a:r>
            <a:endParaRPr lang="en-US" altLang="ja-JP" sz="3600" b="1" dirty="0"/>
          </a:p>
          <a:p>
            <a:pPr marL="0" indent="0">
              <a:buNone/>
            </a:pPr>
            <a:endParaRPr lang="ja-JP" altLang="en-US" b="1" dirty="0"/>
          </a:p>
        </p:txBody>
      </p:sp>
      <p:sp>
        <p:nvSpPr>
          <p:cNvPr id="4" name="Rectangle 1">
            <a:extLst>
              <a:ext uri="{FF2B5EF4-FFF2-40B4-BE49-F238E27FC236}">
                <a16:creationId xmlns:a16="http://schemas.microsoft.com/office/drawing/2014/main" id="{7E8F890B-B36A-F960-C23B-F5844E28D7BE}"/>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latin typeface="メイリオ"/>
                <a:ea typeface="メイリオ"/>
                <a:cs typeface="メイリオ"/>
              </a:rPr>
              <a:t>　本日の内容</a:t>
            </a:r>
            <a:endParaRPr lang="en-US" altLang="ja-JP" sz="2800" b="1" dirty="0"/>
          </a:p>
        </p:txBody>
      </p:sp>
    </p:spTree>
    <p:extLst>
      <p:ext uri="{BB962C8B-B14F-4D97-AF65-F5344CB8AC3E}">
        <p14:creationId xmlns:p14="http://schemas.microsoft.com/office/powerpoint/2010/main" val="1816358613"/>
      </p:ext>
    </p:extLst>
  </p:cSld>
  <p:clrMapOvr>
    <a:masterClrMapping/>
  </p:clrMapOvr>
  <p:transition spd="slow">
    <p:cove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1587499" y="2966017"/>
            <a:ext cx="9428844" cy="909299"/>
          </a:xfrm>
        </p:spPr>
        <p:txBody>
          <a:bodyPr>
            <a:noAutofit/>
          </a:bodyPr>
          <a:lstStyle/>
          <a:p>
            <a:r>
              <a:rPr lang="ja-JP" altLang="en-US" sz="4800" b="1" dirty="0">
                <a:latin typeface="メイリオ"/>
                <a:ea typeface="メイリオ"/>
                <a:cs typeface="メイリオ"/>
              </a:rPr>
              <a:t>　はじめに</a:t>
            </a:r>
            <a:endParaRPr lang="ja-JP" altLang="en-US" sz="4800" dirty="0">
              <a:latin typeface="+mn-ea"/>
              <a:ea typeface="+mn-ea"/>
            </a:endParaRPr>
          </a:p>
        </p:txBody>
      </p:sp>
    </p:spTree>
    <p:extLst>
      <p:ext uri="{BB962C8B-B14F-4D97-AF65-F5344CB8AC3E}">
        <p14:creationId xmlns:p14="http://schemas.microsoft.com/office/powerpoint/2010/main" val="23728982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20000"/>
          </a:xfrm>
          <a:prstGeom prst="rect">
            <a:avLst/>
          </a:prstGeom>
          <a:solidFill>
            <a:srgbClr val="07A973"/>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pPr algn="l"/>
            <a:r>
              <a:rPr sz="2400" b="1" dirty="0">
                <a:solidFill>
                  <a:srgbClr val="FFFFFF"/>
                </a:solidFill>
                <a:latin typeface="メイリオ"/>
                <a:ea typeface="メイリオ"/>
                <a:cs typeface="メイリオ"/>
              </a:rPr>
              <a:t>【</a:t>
            </a:r>
            <a:r>
              <a:rPr lang="ja-JP" altLang="en-US" sz="2400" b="1" dirty="0">
                <a:solidFill>
                  <a:srgbClr val="FFFFFF"/>
                </a:solidFill>
                <a:latin typeface="メイリオ"/>
                <a:ea typeface="メイリオ"/>
                <a:cs typeface="メイリオ"/>
              </a:rPr>
              <a:t>アイスブレイク</a:t>
            </a:r>
            <a:r>
              <a:rPr sz="2400" b="1" dirty="0">
                <a:solidFill>
                  <a:srgbClr val="FFFFFF"/>
                </a:solidFill>
                <a:latin typeface="メイリオ"/>
                <a:ea typeface="メイリオ"/>
                <a:cs typeface="メイリオ"/>
              </a:rPr>
              <a:t>】　</a:t>
            </a:r>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2800" b="1">
                <a:solidFill>
                  <a:srgbClr val="1F3A6E"/>
                </a:solidFill>
                <a:latin typeface="メイリオ"/>
                <a:ea typeface="メイリオ"/>
                <a:cs typeface="メイリオ"/>
              </a:rPr>
              <a:t>1分で話してください</a:t>
            </a:r>
          </a:p>
        </p:txBody>
      </p:sp>
      <p:sp>
        <p:nvSpPr>
          <p:cNvPr id="5" name="Rectangle 4"/>
          <p:cNvSpPr/>
          <p:nvPr/>
        </p:nvSpPr>
        <p:spPr>
          <a:xfrm>
            <a:off x="400000" y="1900000"/>
            <a:ext cx="11400000" cy="900000"/>
          </a:xfrm>
          <a:prstGeom prst="rect">
            <a:avLst/>
          </a:prstGeom>
          <a:solidFill>
            <a:srgbClr val="D6EEFA"/>
          </a:solidFill>
          <a:ln w="63500">
            <a:solidFill>
              <a:srgbClr val="07A973"/>
            </a:solidFill>
          </a:ln>
        </p:spPr>
        <p:style>
          <a:lnRef idx="1">
            <a:schemeClr val="accent1"/>
          </a:lnRef>
          <a:fillRef idx="3">
            <a:schemeClr val="accent1"/>
          </a:fillRef>
          <a:effectRef idx="2">
            <a:schemeClr val="accent1"/>
          </a:effectRef>
          <a:fontRef idx="minor">
            <a:schemeClr val="lt1"/>
          </a:fontRef>
        </p:style>
        <p:txBody>
          <a:bodyPr wrap="square" lIns="140000" tIns="60000" rIns="140000" bIns="60000" rtlCol="0" anchor="ctr">
            <a:normAutofit fontScale="77500" lnSpcReduction="20000"/>
          </a:bodyPr>
          <a:lstStyle/>
          <a:p>
            <a:pPr algn="ctr">
              <a:lnSpc>
                <a:spcPct val="130000"/>
              </a:lnSpc>
            </a:pPr>
            <a:r>
              <a:rPr sz="2400" b="1" dirty="0" err="1">
                <a:solidFill>
                  <a:srgbClr val="000000"/>
                </a:solidFill>
                <a:latin typeface="メイリオ"/>
                <a:ea typeface="メイリオ"/>
                <a:cs typeface="メイリオ"/>
              </a:rPr>
              <a:t>先生</a:t>
            </a:r>
            <a:r>
              <a:rPr lang="ja-JP" altLang="en-US" sz="2400" b="1" dirty="0">
                <a:solidFill>
                  <a:srgbClr val="000000"/>
                </a:solidFill>
                <a:latin typeface="メイリオ"/>
                <a:ea typeface="メイリオ"/>
                <a:cs typeface="メイリオ"/>
              </a:rPr>
              <a:t>方</a:t>
            </a:r>
            <a:r>
              <a:rPr sz="2400" b="1" dirty="0">
                <a:solidFill>
                  <a:srgbClr val="000000"/>
                </a:solidFill>
                <a:latin typeface="メイリオ"/>
                <a:ea typeface="メイリオ"/>
                <a:cs typeface="メイリオ"/>
              </a:rPr>
              <a:t>は、</a:t>
            </a:r>
          </a:p>
          <a:p>
            <a:pPr algn="ctr">
              <a:lnSpc>
                <a:spcPct val="130000"/>
              </a:lnSpc>
            </a:pPr>
            <a:r>
              <a:rPr sz="3300" b="1" dirty="0">
                <a:solidFill>
                  <a:srgbClr val="EB6C15"/>
                </a:solidFill>
                <a:latin typeface="メイリオ"/>
                <a:ea typeface="メイリオ"/>
                <a:cs typeface="メイリオ"/>
              </a:rPr>
              <a:t>「</a:t>
            </a:r>
            <a:r>
              <a:rPr sz="3300" b="1" dirty="0" err="1">
                <a:solidFill>
                  <a:srgbClr val="EB6C15"/>
                </a:solidFill>
                <a:latin typeface="メイリオ"/>
                <a:ea typeface="メイリオ"/>
                <a:cs typeface="メイリオ"/>
              </a:rPr>
              <a:t>主体的に学習に取り組む態度」</a:t>
            </a:r>
            <a:r>
              <a:rPr sz="2400" b="1" dirty="0" err="1">
                <a:solidFill>
                  <a:srgbClr val="000000"/>
                </a:solidFill>
                <a:latin typeface="メイリオ"/>
                <a:ea typeface="メイリオ"/>
                <a:cs typeface="メイリオ"/>
              </a:rPr>
              <a:t>を</a:t>
            </a:r>
            <a:r>
              <a:rPr sz="2400" b="1" dirty="0">
                <a:solidFill>
                  <a:srgbClr val="000000"/>
                </a:solidFill>
                <a:latin typeface="メイリオ"/>
                <a:ea typeface="メイリオ"/>
                <a:cs typeface="メイリオ"/>
              </a:rPr>
              <a:t>　</a:t>
            </a:r>
            <a:r>
              <a:rPr sz="2400" b="1" dirty="0" err="1">
                <a:solidFill>
                  <a:srgbClr val="000000"/>
                </a:solidFill>
                <a:latin typeface="メイリオ"/>
                <a:ea typeface="メイリオ"/>
                <a:cs typeface="メイリオ"/>
              </a:rPr>
              <a:t>普段</a:t>
            </a:r>
            <a:r>
              <a:rPr sz="2400" b="1" dirty="0">
                <a:solidFill>
                  <a:srgbClr val="000000"/>
                </a:solidFill>
                <a:latin typeface="メイリオ"/>
                <a:ea typeface="メイリオ"/>
                <a:cs typeface="メイリオ"/>
              </a:rPr>
              <a:t> </a:t>
            </a:r>
            <a:r>
              <a:rPr sz="2400" b="1" dirty="0" err="1">
                <a:solidFill>
                  <a:srgbClr val="000000"/>
                </a:solidFill>
                <a:latin typeface="メイリオ"/>
                <a:ea typeface="メイリオ"/>
                <a:cs typeface="メイリオ"/>
              </a:rPr>
              <a:t>何で評価していますか</a:t>
            </a:r>
            <a:r>
              <a:rPr sz="2400" b="1" dirty="0">
                <a:solidFill>
                  <a:srgbClr val="000000"/>
                </a:solidFill>
                <a:latin typeface="メイリオ"/>
                <a:ea typeface="メイリオ"/>
                <a:cs typeface="メイリオ"/>
              </a:rPr>
              <a:t>？</a:t>
            </a:r>
          </a:p>
        </p:txBody>
      </p:sp>
      <p:sp>
        <p:nvSpPr>
          <p:cNvPr id="6" name="Rectangle 5"/>
          <p:cNvSpPr/>
          <p:nvPr/>
        </p:nvSpPr>
        <p:spPr>
          <a:xfrm>
            <a:off x="400000" y="2950000"/>
            <a:ext cx="800000" cy="7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40000" tIns="60000" rIns="140000" bIns="60000" rtlCol="0" anchor="ctr">
            <a:normAutofit fontScale="92500"/>
          </a:bodyPr>
          <a:lstStyle/>
          <a:p>
            <a:pPr algn="ctr">
              <a:lnSpc>
                <a:spcPct val="130000"/>
              </a:lnSpc>
            </a:pPr>
            <a:r>
              <a:rPr sz="3600" b="1">
                <a:solidFill>
                  <a:srgbClr val="FFFFFF"/>
                </a:solidFill>
                <a:latin typeface="メイリオ"/>
                <a:ea typeface="メイリオ"/>
                <a:cs typeface="メイリオ"/>
              </a:rPr>
              <a:t>A</a:t>
            </a:r>
          </a:p>
        </p:txBody>
      </p:sp>
      <p:sp>
        <p:nvSpPr>
          <p:cNvPr id="7" name="Rectangle 6"/>
          <p:cNvSpPr/>
          <p:nvPr/>
        </p:nvSpPr>
        <p:spPr>
          <a:xfrm>
            <a:off x="1300000" y="2950000"/>
            <a:ext cx="4600000" cy="750000"/>
          </a:xfrm>
          <a:prstGeom prst="rect">
            <a:avLst/>
          </a:prstGeom>
          <a:solidFill>
            <a:srgbClr val="FFFFFF"/>
          </a:solidFill>
          <a:ln w="31750">
            <a:solidFill>
              <a:srgbClr val="5BC0DE"/>
            </a:solidFill>
          </a:ln>
        </p:spPr>
        <p:style>
          <a:lnRef idx="1">
            <a:schemeClr val="accent1"/>
          </a:lnRef>
          <a:fillRef idx="3">
            <a:schemeClr val="accent1"/>
          </a:fillRef>
          <a:effectRef idx="2">
            <a:schemeClr val="accent1"/>
          </a:effectRef>
          <a:fontRef idx="minor">
            <a:schemeClr val="lt1"/>
          </a:fontRef>
        </p:style>
        <p:txBody>
          <a:bodyPr wrap="square" lIns="140000" tIns="60000" rIns="140000" bIns="60000" rtlCol="0" anchor="ctr">
            <a:normAutofit/>
          </a:bodyPr>
          <a:lstStyle/>
          <a:p>
            <a:pPr algn="l">
              <a:lnSpc>
                <a:spcPct val="130000"/>
              </a:lnSpc>
            </a:pPr>
            <a:r>
              <a:rPr sz="1900" b="1">
                <a:solidFill>
                  <a:srgbClr val="1F3A6E"/>
                </a:solidFill>
                <a:latin typeface="メイリオ"/>
                <a:ea typeface="メイリオ"/>
                <a:cs typeface="メイリオ"/>
              </a:rPr>
              <a:t>ノート・レポートの記述内容</a:t>
            </a:r>
          </a:p>
        </p:txBody>
      </p:sp>
      <p:sp>
        <p:nvSpPr>
          <p:cNvPr id="8" name="Rectangle 7"/>
          <p:cNvSpPr/>
          <p:nvPr/>
        </p:nvSpPr>
        <p:spPr>
          <a:xfrm>
            <a:off x="6300000" y="2950000"/>
            <a:ext cx="800000" cy="7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40000" tIns="60000" rIns="140000" bIns="60000" rtlCol="0" anchor="ctr">
            <a:normAutofit fontScale="92500"/>
          </a:bodyPr>
          <a:lstStyle/>
          <a:p>
            <a:pPr algn="ctr">
              <a:lnSpc>
                <a:spcPct val="130000"/>
              </a:lnSpc>
            </a:pPr>
            <a:r>
              <a:rPr sz="3600" b="1">
                <a:solidFill>
                  <a:srgbClr val="FFFFFF"/>
                </a:solidFill>
                <a:latin typeface="メイリオ"/>
                <a:ea typeface="メイリオ"/>
                <a:cs typeface="メイリオ"/>
              </a:rPr>
              <a:t>B</a:t>
            </a:r>
          </a:p>
        </p:txBody>
      </p:sp>
      <p:sp>
        <p:nvSpPr>
          <p:cNvPr id="9" name="Rectangle 8"/>
          <p:cNvSpPr/>
          <p:nvPr/>
        </p:nvSpPr>
        <p:spPr>
          <a:xfrm>
            <a:off x="7200000" y="2950000"/>
            <a:ext cx="4600000" cy="750000"/>
          </a:xfrm>
          <a:prstGeom prst="rect">
            <a:avLst/>
          </a:prstGeom>
          <a:solidFill>
            <a:srgbClr val="FFFFFF"/>
          </a:solidFill>
          <a:ln w="31750">
            <a:solidFill>
              <a:srgbClr val="5BC0DE"/>
            </a:solidFill>
          </a:ln>
        </p:spPr>
        <p:style>
          <a:lnRef idx="1">
            <a:schemeClr val="accent1"/>
          </a:lnRef>
          <a:fillRef idx="3">
            <a:schemeClr val="accent1"/>
          </a:fillRef>
          <a:effectRef idx="2">
            <a:schemeClr val="accent1"/>
          </a:effectRef>
          <a:fontRef idx="minor">
            <a:schemeClr val="lt1"/>
          </a:fontRef>
        </p:style>
        <p:txBody>
          <a:bodyPr wrap="square" lIns="140000" tIns="60000" rIns="140000" bIns="60000" rtlCol="0" anchor="ctr">
            <a:normAutofit/>
          </a:bodyPr>
          <a:lstStyle/>
          <a:p>
            <a:pPr algn="l">
              <a:lnSpc>
                <a:spcPct val="130000"/>
              </a:lnSpc>
            </a:pPr>
            <a:r>
              <a:rPr sz="1900" b="1">
                <a:solidFill>
                  <a:srgbClr val="1F3A6E"/>
                </a:solidFill>
                <a:latin typeface="メイリオ"/>
                <a:ea typeface="メイリオ"/>
                <a:cs typeface="メイリオ"/>
              </a:rPr>
              <a:t>授業中の発言・挙手</a:t>
            </a:r>
          </a:p>
        </p:txBody>
      </p:sp>
      <p:sp>
        <p:nvSpPr>
          <p:cNvPr id="10" name="Rectangle 9"/>
          <p:cNvSpPr/>
          <p:nvPr/>
        </p:nvSpPr>
        <p:spPr>
          <a:xfrm>
            <a:off x="400000" y="3850000"/>
            <a:ext cx="800000" cy="7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40000" tIns="60000" rIns="140000" bIns="60000" rtlCol="0" anchor="ctr">
            <a:normAutofit fontScale="92500"/>
          </a:bodyPr>
          <a:lstStyle/>
          <a:p>
            <a:pPr algn="ctr">
              <a:lnSpc>
                <a:spcPct val="130000"/>
              </a:lnSpc>
            </a:pPr>
            <a:r>
              <a:rPr sz="3600" b="1">
                <a:solidFill>
                  <a:srgbClr val="FFFFFF"/>
                </a:solidFill>
                <a:latin typeface="メイリオ"/>
                <a:ea typeface="メイリオ"/>
                <a:cs typeface="メイリオ"/>
              </a:rPr>
              <a:t>C</a:t>
            </a:r>
          </a:p>
        </p:txBody>
      </p:sp>
      <p:sp>
        <p:nvSpPr>
          <p:cNvPr id="11" name="Rectangle 10"/>
          <p:cNvSpPr/>
          <p:nvPr/>
        </p:nvSpPr>
        <p:spPr>
          <a:xfrm>
            <a:off x="1300000" y="3850000"/>
            <a:ext cx="4600000" cy="750000"/>
          </a:xfrm>
          <a:prstGeom prst="rect">
            <a:avLst/>
          </a:prstGeom>
          <a:solidFill>
            <a:srgbClr val="FFFFFF"/>
          </a:solidFill>
          <a:ln w="31750">
            <a:solidFill>
              <a:srgbClr val="5BC0DE"/>
            </a:solidFill>
          </a:ln>
        </p:spPr>
        <p:style>
          <a:lnRef idx="1">
            <a:schemeClr val="accent1"/>
          </a:lnRef>
          <a:fillRef idx="3">
            <a:schemeClr val="accent1"/>
          </a:fillRef>
          <a:effectRef idx="2">
            <a:schemeClr val="accent1"/>
          </a:effectRef>
          <a:fontRef idx="minor">
            <a:schemeClr val="lt1"/>
          </a:fontRef>
        </p:style>
        <p:txBody>
          <a:bodyPr wrap="square" lIns="140000" tIns="60000" rIns="140000" bIns="60000" rtlCol="0" anchor="ctr">
            <a:normAutofit/>
          </a:bodyPr>
          <a:lstStyle/>
          <a:p>
            <a:pPr algn="l">
              <a:lnSpc>
                <a:spcPct val="130000"/>
              </a:lnSpc>
            </a:pPr>
            <a:r>
              <a:rPr sz="1900" b="1">
                <a:solidFill>
                  <a:srgbClr val="1F3A6E"/>
                </a:solidFill>
                <a:latin typeface="メイリオ"/>
                <a:ea typeface="メイリオ"/>
                <a:cs typeface="メイリオ"/>
              </a:rPr>
              <a:t>提出物の有無・期日</a:t>
            </a:r>
          </a:p>
        </p:txBody>
      </p:sp>
      <p:sp>
        <p:nvSpPr>
          <p:cNvPr id="12" name="Rectangle 11"/>
          <p:cNvSpPr/>
          <p:nvPr/>
        </p:nvSpPr>
        <p:spPr>
          <a:xfrm>
            <a:off x="6300000" y="3850000"/>
            <a:ext cx="800000" cy="7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40000" tIns="60000" rIns="140000" bIns="60000" rtlCol="0" anchor="ctr">
            <a:normAutofit fontScale="92500"/>
          </a:bodyPr>
          <a:lstStyle/>
          <a:p>
            <a:pPr algn="ctr">
              <a:lnSpc>
                <a:spcPct val="130000"/>
              </a:lnSpc>
            </a:pPr>
            <a:r>
              <a:rPr sz="3600" b="1">
                <a:solidFill>
                  <a:srgbClr val="FFFFFF"/>
                </a:solidFill>
                <a:latin typeface="メイリオ"/>
                <a:ea typeface="メイリオ"/>
                <a:cs typeface="メイリオ"/>
              </a:rPr>
              <a:t>D</a:t>
            </a:r>
          </a:p>
        </p:txBody>
      </p:sp>
      <p:sp>
        <p:nvSpPr>
          <p:cNvPr id="13" name="Rectangle 12"/>
          <p:cNvSpPr/>
          <p:nvPr/>
        </p:nvSpPr>
        <p:spPr>
          <a:xfrm>
            <a:off x="7200000" y="3850000"/>
            <a:ext cx="4600000" cy="750000"/>
          </a:xfrm>
          <a:prstGeom prst="rect">
            <a:avLst/>
          </a:prstGeom>
          <a:solidFill>
            <a:srgbClr val="FFFFFF"/>
          </a:solidFill>
          <a:ln w="31750">
            <a:solidFill>
              <a:srgbClr val="5BC0DE"/>
            </a:solidFill>
          </a:ln>
        </p:spPr>
        <p:style>
          <a:lnRef idx="1">
            <a:schemeClr val="accent1"/>
          </a:lnRef>
          <a:fillRef idx="3">
            <a:schemeClr val="accent1"/>
          </a:fillRef>
          <a:effectRef idx="2">
            <a:schemeClr val="accent1"/>
          </a:effectRef>
          <a:fontRef idx="minor">
            <a:schemeClr val="lt1"/>
          </a:fontRef>
        </p:style>
        <p:txBody>
          <a:bodyPr wrap="square" lIns="140000" tIns="60000" rIns="140000" bIns="60000" rtlCol="0" anchor="ctr">
            <a:normAutofit/>
          </a:bodyPr>
          <a:lstStyle/>
          <a:p>
            <a:pPr algn="l">
              <a:lnSpc>
                <a:spcPct val="130000"/>
              </a:lnSpc>
            </a:pPr>
            <a:r>
              <a:rPr sz="1900" b="1">
                <a:solidFill>
                  <a:srgbClr val="1F3A6E"/>
                </a:solidFill>
                <a:latin typeface="メイリオ"/>
                <a:ea typeface="メイリオ"/>
                <a:cs typeface="メイリオ"/>
              </a:rPr>
              <a:t>教師の感覚的な印象</a:t>
            </a:r>
          </a:p>
        </p:txBody>
      </p:sp>
      <p:sp>
        <p:nvSpPr>
          <p:cNvPr id="15" name="Rectangle 14"/>
          <p:cNvSpPr/>
          <p:nvPr/>
        </p:nvSpPr>
        <p:spPr>
          <a:xfrm>
            <a:off x="400000" y="5230000"/>
            <a:ext cx="5400000" cy="800000"/>
          </a:xfrm>
          <a:prstGeom prst="rect">
            <a:avLst/>
          </a:prstGeom>
          <a:solidFill>
            <a:srgbClr val="EB6C15"/>
          </a:solidFill>
          <a:ln w="25400">
            <a:solidFill>
              <a:srgbClr val="EB6C15"/>
            </a:solidFill>
          </a:ln>
        </p:spPr>
        <p:style>
          <a:lnRef idx="1">
            <a:schemeClr val="accent1"/>
          </a:lnRef>
          <a:fillRef idx="3">
            <a:schemeClr val="accent1"/>
          </a:fillRef>
          <a:effectRef idx="2">
            <a:schemeClr val="accent1"/>
          </a:effectRef>
          <a:fontRef idx="minor">
            <a:schemeClr val="lt1"/>
          </a:fontRef>
        </p:style>
        <p:txBody>
          <a:bodyPr wrap="square" lIns="140000" tIns="60000" rIns="140000" bIns="60000" rtlCol="0" anchor="ctr">
            <a:normAutofit/>
          </a:bodyPr>
          <a:lstStyle/>
          <a:p>
            <a:pPr algn="ctr">
              <a:lnSpc>
                <a:spcPct val="130000"/>
              </a:lnSpc>
            </a:pPr>
            <a:r>
              <a:rPr sz="3600" b="1">
                <a:solidFill>
                  <a:srgbClr val="FFFFFF"/>
                </a:solidFill>
                <a:latin typeface="メイリオ"/>
                <a:ea typeface="メイリオ"/>
                <a:cs typeface="メイリオ"/>
              </a:rPr>
              <a:t>⏱ 1分</a:t>
            </a:r>
          </a:p>
        </p:txBody>
      </p:sp>
      <p:sp>
        <p:nvSpPr>
          <p:cNvPr id="16" name="Rectangle 15"/>
          <p:cNvSpPr/>
          <p:nvPr/>
        </p:nvSpPr>
        <p:spPr>
          <a:xfrm>
            <a:off x="6400000" y="5230000"/>
            <a:ext cx="5400000" cy="800000"/>
          </a:xfrm>
          <a:prstGeom prst="rect">
            <a:avLst/>
          </a:prstGeom>
          <a:solidFill>
            <a:srgbClr val="FFE066"/>
          </a:solidFill>
          <a:ln w="25400">
            <a:solidFill>
              <a:srgbClr val="EB6C15"/>
            </a:solidFill>
          </a:ln>
        </p:spPr>
        <p:style>
          <a:lnRef idx="1">
            <a:schemeClr val="accent1"/>
          </a:lnRef>
          <a:fillRef idx="3">
            <a:schemeClr val="accent1"/>
          </a:fillRef>
          <a:effectRef idx="2">
            <a:schemeClr val="accent1"/>
          </a:effectRef>
          <a:fontRef idx="minor">
            <a:schemeClr val="lt1"/>
          </a:fontRef>
        </p:style>
        <p:txBody>
          <a:bodyPr wrap="square" lIns="140000" tIns="60000" rIns="140000" bIns="60000" rtlCol="0" anchor="ctr">
            <a:normAutofit/>
          </a:bodyPr>
          <a:lstStyle/>
          <a:p>
            <a:pPr algn="ctr">
              <a:lnSpc>
                <a:spcPct val="130000"/>
              </a:lnSpc>
            </a:pPr>
            <a:r>
              <a:rPr sz="2200" b="1">
                <a:solidFill>
                  <a:srgbClr val="1F3A6E"/>
                </a:solidFill>
                <a:latin typeface="メイリオ"/>
                <a:ea typeface="メイリオ"/>
                <a:cs typeface="メイリオ"/>
              </a:rPr>
              <a:t>隣の方とペアで</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 2">
            <a:extLst>
              <a:ext uri="{FF2B5EF4-FFF2-40B4-BE49-F238E27FC236}">
                <a16:creationId xmlns:a16="http://schemas.microsoft.com/office/drawing/2014/main" id="{BA09C680-3B03-0007-2E08-39FE4CA699AF}"/>
              </a:ext>
            </a:extLst>
          </p:cNvPr>
          <p:cNvGraphicFramePr>
            <a:graphicFrameLocks noGrp="1"/>
          </p:cNvGraphicFramePr>
          <p:nvPr>
            <p:extLst>
              <p:ext uri="{D42A27DB-BD31-4B8C-83A1-F6EECF244321}">
                <p14:modId xmlns:p14="http://schemas.microsoft.com/office/powerpoint/2010/main" val="976060999"/>
              </p:ext>
            </p:extLst>
          </p:nvPr>
        </p:nvGraphicFramePr>
        <p:xfrm>
          <a:off x="192367" y="1570424"/>
          <a:ext cx="8807119" cy="4811781"/>
        </p:xfrm>
        <a:graphic>
          <a:graphicData uri="http://schemas.openxmlformats.org/drawingml/2006/table">
            <a:tbl>
              <a:tblPr firstRow="1" bandRow="1">
                <a:tableStyleId>{616DA210-FB5B-4158-B5E0-FEB733F419BA}</a:tableStyleId>
              </a:tblPr>
              <a:tblGrid>
                <a:gridCol w="841024">
                  <a:extLst>
                    <a:ext uri="{9D8B030D-6E8A-4147-A177-3AD203B41FA5}">
                      <a16:colId xmlns:a16="http://schemas.microsoft.com/office/drawing/2014/main" val="1889472123"/>
                    </a:ext>
                  </a:extLst>
                </a:gridCol>
                <a:gridCol w="1593219">
                  <a:extLst>
                    <a:ext uri="{9D8B030D-6E8A-4147-A177-3AD203B41FA5}">
                      <a16:colId xmlns:a16="http://schemas.microsoft.com/office/drawing/2014/main" val="980164369"/>
                    </a:ext>
                  </a:extLst>
                </a:gridCol>
                <a:gridCol w="1593219">
                  <a:extLst>
                    <a:ext uri="{9D8B030D-6E8A-4147-A177-3AD203B41FA5}">
                      <a16:colId xmlns:a16="http://schemas.microsoft.com/office/drawing/2014/main" val="4100679345"/>
                    </a:ext>
                  </a:extLst>
                </a:gridCol>
                <a:gridCol w="1593219">
                  <a:extLst>
                    <a:ext uri="{9D8B030D-6E8A-4147-A177-3AD203B41FA5}">
                      <a16:colId xmlns:a16="http://schemas.microsoft.com/office/drawing/2014/main" val="391346200"/>
                    </a:ext>
                  </a:extLst>
                </a:gridCol>
                <a:gridCol w="1593219">
                  <a:extLst>
                    <a:ext uri="{9D8B030D-6E8A-4147-A177-3AD203B41FA5}">
                      <a16:colId xmlns:a16="http://schemas.microsoft.com/office/drawing/2014/main" val="1997047567"/>
                    </a:ext>
                  </a:extLst>
                </a:gridCol>
                <a:gridCol w="1593219">
                  <a:extLst>
                    <a:ext uri="{9D8B030D-6E8A-4147-A177-3AD203B41FA5}">
                      <a16:colId xmlns:a16="http://schemas.microsoft.com/office/drawing/2014/main" val="365566380"/>
                    </a:ext>
                  </a:extLst>
                </a:gridCol>
              </a:tblGrid>
              <a:tr h="1197527">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1" lang="en-US" altLang="ja-JP" sz="3200" b="1" dirty="0">
                          <a:solidFill>
                            <a:schemeClr val="tx1"/>
                          </a:solidFill>
                          <a:latin typeface="メイリオ"/>
                          <a:ea typeface="メイリオ"/>
                          <a:cs typeface="メイリオ"/>
                        </a:rPr>
                        <a:t>A</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3200" b="1" dirty="0">
                          <a:solidFill>
                            <a:schemeClr val="tx1"/>
                          </a:solidFill>
                          <a:latin typeface="メイリオ"/>
                          <a:ea typeface="メイリオ"/>
                        </a:rPr>
                        <a:t>校</a:t>
                      </a:r>
                      <a:endParaRPr kumimoji="1" lang="ja-JP" altLang="en-US" sz="3200" b="1" dirty="0">
                        <a:solidFill>
                          <a:schemeClr val="tx1"/>
                        </a:solidFill>
                        <a:latin typeface="+mn-ea"/>
                        <a:ea typeface="+mn-ea"/>
                      </a:endParaRPr>
                    </a:p>
                  </a:txBody>
                  <a:tcPr marL="121920" marR="121920" marT="60960" marB="6096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1" lang="en-US" altLang="ja-JP" sz="3200" b="1" dirty="0">
                          <a:solidFill>
                            <a:schemeClr val="tx1"/>
                          </a:solidFill>
                          <a:latin typeface="メイリオ"/>
                          <a:ea typeface="メイリオ"/>
                          <a:cs typeface="メイリオ"/>
                        </a:rPr>
                        <a:t>30.3</a:t>
                      </a:r>
                      <a:endParaRPr kumimoji="1" lang="ja-JP" altLang="en-US" sz="32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1" lang="en-US" altLang="ja-JP" sz="3200" b="1" dirty="0">
                          <a:solidFill>
                            <a:schemeClr val="tx1"/>
                          </a:solidFill>
                          <a:latin typeface="メイリオ"/>
                          <a:ea typeface="メイリオ"/>
                          <a:cs typeface="メイリオ"/>
                        </a:rPr>
                        <a:t>22.5</a:t>
                      </a:r>
                      <a:endParaRPr kumimoji="1" lang="ja-JP" altLang="en-US" sz="32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3200" b="1" dirty="0">
                          <a:solidFill>
                            <a:schemeClr val="tx1"/>
                          </a:solidFill>
                          <a:latin typeface="メイリオ"/>
                          <a:ea typeface="メイリオ"/>
                          <a:cs typeface="メイリオ"/>
                        </a:rPr>
                        <a:t>33.8</a:t>
                      </a:r>
                      <a:endParaRPr kumimoji="1" lang="ja-JP" altLang="en-US" sz="32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3200" b="1" dirty="0">
                          <a:solidFill>
                            <a:schemeClr val="tx1"/>
                          </a:solidFill>
                          <a:latin typeface="メイリオ"/>
                          <a:ea typeface="メイリオ"/>
                          <a:cs typeface="メイリオ"/>
                        </a:rPr>
                        <a:t>11.3</a:t>
                      </a:r>
                      <a:endParaRPr kumimoji="1" lang="ja-JP" altLang="en-US" sz="32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3200" b="1" dirty="0">
                          <a:solidFill>
                            <a:schemeClr val="tx1"/>
                          </a:solidFill>
                          <a:latin typeface="メイリオ"/>
                          <a:ea typeface="メイリオ"/>
                          <a:cs typeface="メイリオ"/>
                        </a:rPr>
                        <a:t>2.1</a:t>
                      </a:r>
                      <a:endParaRPr kumimoji="1" lang="ja-JP" altLang="en-US" sz="32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492385"/>
                  </a:ext>
                </a:extLst>
              </a:tr>
              <a:tr h="609273">
                <a:tc>
                  <a:txBody>
                    <a:bodyPr/>
                    <a:lstStyle/>
                    <a:p>
                      <a:pPr algn="ctr"/>
                      <a:endParaRPr kumimoji="1" lang="ja-JP" altLang="en-US" sz="3200" b="1" dirty="0">
                        <a:solidFill>
                          <a:schemeClr val="tx1"/>
                        </a:solidFill>
                        <a:latin typeface="+mn-ea"/>
                        <a:ea typeface="+mn-ea"/>
                      </a:endParaRPr>
                    </a:p>
                  </a:txBody>
                  <a:tcPr marL="121920" marR="121920" marT="60960" marB="6096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gridSpan="5">
                  <a:txBody>
                    <a:bodyPr/>
                    <a:lstStyle/>
                    <a:p>
                      <a:pPr algn="ctr"/>
                      <a:endParaRPr kumimoji="1" lang="ja-JP" altLang="en-US" sz="3200" b="1" dirty="0">
                        <a:solidFill>
                          <a:schemeClr val="tx1"/>
                        </a:solidFill>
                        <a:latin typeface="+mn-ea"/>
                        <a:ea typeface="+mn-ea"/>
                      </a:endParaRPr>
                    </a:p>
                  </a:txBody>
                  <a:tcPr marL="121920" marR="121920" marT="60960" marB="6096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hMerge="1">
                  <a:txBody>
                    <a:bodyPr/>
                    <a:lstStyle/>
                    <a:p>
                      <a:pPr algn="ctr"/>
                      <a:endParaRPr kumimoji="1" lang="ja-JP" altLang="en-US" sz="14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hMerge="1">
                  <a:txBody>
                    <a:bodyPr/>
                    <a:lstStyle/>
                    <a:p>
                      <a:pPr algn="ctr"/>
                      <a:endParaRPr kumimoji="1" lang="ja-JP" altLang="en-US" sz="14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hMerge="1">
                  <a:txBody>
                    <a:bodyPr/>
                    <a:lstStyle/>
                    <a:p>
                      <a:pPr algn="ctr"/>
                      <a:endParaRPr kumimoji="1" lang="ja-JP" altLang="en-US" sz="14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hMerge="1">
                  <a:txBody>
                    <a:bodyPr/>
                    <a:lstStyle/>
                    <a:p>
                      <a:pPr algn="ctr"/>
                      <a:endParaRPr kumimoji="1" lang="ja-JP" altLang="en-US" sz="14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67334502"/>
                  </a:ext>
                </a:extLst>
              </a:tr>
              <a:tr h="1197527">
                <a:tc>
                  <a:txBody>
                    <a:bodyPr/>
                    <a:lstStyle/>
                    <a:p>
                      <a:pPr algn="ctr"/>
                      <a:r>
                        <a:rPr kumimoji="1" lang="en-US" altLang="ja-JP" sz="3200" b="1" dirty="0">
                          <a:solidFill>
                            <a:schemeClr val="tx1"/>
                          </a:solidFill>
                          <a:latin typeface="メイリオ"/>
                          <a:ea typeface="メイリオ"/>
                          <a:cs typeface="メイリオ"/>
                        </a:rPr>
                        <a:t>B</a:t>
                      </a:r>
                    </a:p>
                    <a:p>
                      <a:pPr algn="ctr"/>
                      <a:r>
                        <a:rPr kumimoji="1" lang="ja-JP" altLang="en-US" sz="3200" b="1" dirty="0">
                          <a:solidFill>
                            <a:schemeClr val="tx1"/>
                          </a:solidFill>
                          <a:latin typeface="メイリオ"/>
                          <a:ea typeface="メイリオ"/>
                        </a:rPr>
                        <a:t>校</a:t>
                      </a:r>
                      <a:endParaRPr kumimoji="1" lang="ja-JP" altLang="en-US" sz="3200" b="1" dirty="0">
                        <a:solidFill>
                          <a:schemeClr val="tx1"/>
                        </a:solidFill>
                        <a:latin typeface="+mn-ea"/>
                        <a:ea typeface="+mn-ea"/>
                      </a:endParaRPr>
                    </a:p>
                  </a:txBody>
                  <a:tcPr marL="121920" marR="121920" marT="60960" marB="6096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3200" b="1" dirty="0">
                          <a:solidFill>
                            <a:schemeClr val="tx1"/>
                          </a:solidFill>
                          <a:latin typeface="メイリオ"/>
                          <a:ea typeface="メイリオ"/>
                          <a:cs typeface="メイリオ"/>
                        </a:rPr>
                        <a:t>2.1</a:t>
                      </a:r>
                      <a:endParaRPr kumimoji="1" lang="ja-JP" altLang="en-US" sz="32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3200" b="1" dirty="0">
                          <a:solidFill>
                            <a:schemeClr val="tx1"/>
                          </a:solidFill>
                          <a:latin typeface="メイリオ"/>
                          <a:ea typeface="メイリオ"/>
                          <a:cs typeface="メイリオ"/>
                        </a:rPr>
                        <a:t>10.7</a:t>
                      </a:r>
                      <a:endParaRPr kumimoji="1" lang="ja-JP" altLang="en-US" sz="32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3200" b="1" dirty="0">
                          <a:solidFill>
                            <a:schemeClr val="tx1"/>
                          </a:solidFill>
                          <a:latin typeface="メイリオ"/>
                          <a:ea typeface="メイリオ"/>
                          <a:cs typeface="メイリオ"/>
                        </a:rPr>
                        <a:t>61.4</a:t>
                      </a:r>
                      <a:endParaRPr kumimoji="1" lang="ja-JP" altLang="en-US" sz="32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3200" b="1" dirty="0">
                          <a:solidFill>
                            <a:schemeClr val="tx1"/>
                          </a:solidFill>
                          <a:latin typeface="メイリオ"/>
                          <a:ea typeface="メイリオ"/>
                          <a:cs typeface="メイリオ"/>
                        </a:rPr>
                        <a:t>24.3</a:t>
                      </a:r>
                      <a:endParaRPr kumimoji="1" lang="ja-JP" altLang="en-US" sz="32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3200" b="1" dirty="0">
                          <a:solidFill>
                            <a:schemeClr val="tx1"/>
                          </a:solidFill>
                          <a:latin typeface="メイリオ"/>
                          <a:ea typeface="メイリオ"/>
                          <a:cs typeface="メイリオ"/>
                        </a:rPr>
                        <a:t>1.4</a:t>
                      </a:r>
                      <a:endParaRPr kumimoji="1" lang="ja-JP" altLang="en-US" sz="32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11790109"/>
                  </a:ext>
                </a:extLst>
              </a:tr>
              <a:tr h="609273">
                <a:tc>
                  <a:txBody>
                    <a:bodyPr/>
                    <a:lstStyle/>
                    <a:p>
                      <a:pPr algn="ctr"/>
                      <a:endParaRPr kumimoji="1" lang="ja-JP" altLang="en-US" sz="3200" b="1" dirty="0">
                        <a:solidFill>
                          <a:schemeClr val="tx1"/>
                        </a:solidFill>
                        <a:latin typeface="+mn-ea"/>
                        <a:ea typeface="+mn-ea"/>
                      </a:endParaRPr>
                    </a:p>
                  </a:txBody>
                  <a:tcPr marL="121920" marR="121920" marT="60960" marB="6096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gridSpan="5">
                  <a:txBody>
                    <a:bodyPr/>
                    <a:lstStyle/>
                    <a:p>
                      <a:pPr algn="ctr"/>
                      <a:endParaRPr kumimoji="1" lang="ja-JP" altLang="en-US" sz="3200" b="1" dirty="0">
                        <a:solidFill>
                          <a:schemeClr val="tx1"/>
                        </a:solidFill>
                        <a:latin typeface="+mn-ea"/>
                        <a:ea typeface="+mn-ea"/>
                      </a:endParaRPr>
                    </a:p>
                  </a:txBody>
                  <a:tcPr marL="121920" marR="121920" marT="60960" marB="6096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hMerge="1">
                  <a:txBody>
                    <a:bodyPr/>
                    <a:lstStyle/>
                    <a:p>
                      <a:pPr algn="ctr"/>
                      <a:endParaRPr kumimoji="1" lang="ja-JP" altLang="en-US" sz="16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hMerge="1">
                  <a:txBody>
                    <a:bodyPr/>
                    <a:lstStyle/>
                    <a:p>
                      <a:pPr algn="ctr"/>
                      <a:endParaRPr kumimoji="1" lang="ja-JP" altLang="en-US" sz="16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hMerge="1">
                  <a:txBody>
                    <a:bodyPr/>
                    <a:lstStyle/>
                    <a:p>
                      <a:pPr algn="ctr"/>
                      <a:endParaRPr kumimoji="1" lang="ja-JP" altLang="en-US" sz="16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hMerge="1">
                  <a:txBody>
                    <a:bodyPr/>
                    <a:lstStyle/>
                    <a:p>
                      <a:pPr algn="ctr"/>
                      <a:endParaRPr kumimoji="1" lang="ja-JP" altLang="en-US" sz="16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8497351"/>
                  </a:ext>
                </a:extLst>
              </a:tr>
              <a:tr h="1197527">
                <a:tc>
                  <a:txBody>
                    <a:bodyPr/>
                    <a:lstStyle/>
                    <a:p>
                      <a:pPr algn="ctr"/>
                      <a:r>
                        <a:rPr kumimoji="1" lang="en-US" altLang="ja-JP" sz="3200" b="1" dirty="0">
                          <a:solidFill>
                            <a:schemeClr val="tx1"/>
                          </a:solidFill>
                          <a:latin typeface="メイリオ"/>
                          <a:ea typeface="メイリオ"/>
                          <a:cs typeface="メイリオ"/>
                        </a:rPr>
                        <a:t>C</a:t>
                      </a:r>
                    </a:p>
                    <a:p>
                      <a:pPr algn="ctr"/>
                      <a:r>
                        <a:rPr kumimoji="1" lang="ja-JP" altLang="en-US" sz="3200" b="1" dirty="0">
                          <a:solidFill>
                            <a:schemeClr val="tx1"/>
                          </a:solidFill>
                          <a:latin typeface="メイリオ"/>
                          <a:ea typeface="メイリオ"/>
                        </a:rPr>
                        <a:t>校</a:t>
                      </a:r>
                      <a:endParaRPr kumimoji="1" lang="ja-JP" altLang="en-US" sz="3200" b="1" dirty="0">
                        <a:solidFill>
                          <a:schemeClr val="tx1"/>
                        </a:solidFill>
                        <a:latin typeface="+mn-ea"/>
                        <a:ea typeface="+mn-ea"/>
                      </a:endParaRPr>
                    </a:p>
                  </a:txBody>
                  <a:tcPr marL="121920" marR="121920" marT="60960" marB="6096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3200" b="1" dirty="0">
                          <a:solidFill>
                            <a:schemeClr val="tx1"/>
                          </a:solidFill>
                          <a:latin typeface="メイリオ"/>
                          <a:ea typeface="メイリオ"/>
                          <a:cs typeface="メイリオ"/>
                        </a:rPr>
                        <a:t>6.8</a:t>
                      </a:r>
                      <a:endParaRPr kumimoji="1" lang="ja-JP" altLang="en-US" sz="32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3200" b="1" dirty="0">
                          <a:solidFill>
                            <a:schemeClr val="tx1"/>
                          </a:solidFill>
                          <a:latin typeface="メイリオ"/>
                          <a:ea typeface="メイリオ"/>
                          <a:cs typeface="メイリオ"/>
                        </a:rPr>
                        <a:t>16.9</a:t>
                      </a:r>
                      <a:endParaRPr kumimoji="1" lang="ja-JP" altLang="en-US" sz="32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3200" b="1" dirty="0">
                          <a:solidFill>
                            <a:schemeClr val="tx1"/>
                          </a:solidFill>
                          <a:latin typeface="メイリオ"/>
                          <a:ea typeface="メイリオ"/>
                          <a:cs typeface="メイリオ"/>
                        </a:rPr>
                        <a:t>49.3</a:t>
                      </a:r>
                      <a:endParaRPr kumimoji="1" lang="ja-JP" altLang="en-US" sz="32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3200" b="1" dirty="0">
                          <a:solidFill>
                            <a:schemeClr val="tx1"/>
                          </a:solidFill>
                          <a:latin typeface="メイリオ"/>
                          <a:ea typeface="メイリオ"/>
                          <a:cs typeface="メイリオ"/>
                        </a:rPr>
                        <a:t>20.3</a:t>
                      </a:r>
                      <a:endParaRPr kumimoji="1" lang="ja-JP" altLang="en-US" sz="32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3200" b="1" dirty="0">
                          <a:solidFill>
                            <a:schemeClr val="tx1"/>
                          </a:solidFill>
                          <a:latin typeface="メイリオ"/>
                          <a:ea typeface="メイリオ"/>
                          <a:cs typeface="メイリオ"/>
                        </a:rPr>
                        <a:t>6.8</a:t>
                      </a:r>
                      <a:endParaRPr kumimoji="1" lang="ja-JP" altLang="en-US" sz="32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49285134"/>
                  </a:ext>
                </a:extLst>
              </a:tr>
            </a:tbl>
          </a:graphicData>
        </a:graphic>
      </p:graphicFrame>
      <p:sp>
        <p:nvSpPr>
          <p:cNvPr id="7" name="テキスト ボックス 6">
            <a:extLst>
              <a:ext uri="{FF2B5EF4-FFF2-40B4-BE49-F238E27FC236}">
                <a16:creationId xmlns:a16="http://schemas.microsoft.com/office/drawing/2014/main" id="{1457E505-E119-BE45-5410-F918BEED9C03}"/>
              </a:ext>
            </a:extLst>
          </p:cNvPr>
          <p:cNvSpPr txBox="1"/>
          <p:nvPr/>
        </p:nvSpPr>
        <p:spPr>
          <a:xfrm>
            <a:off x="729342" y="753551"/>
            <a:ext cx="8479971" cy="646331"/>
          </a:xfrm>
          <a:prstGeom prst="rect">
            <a:avLst/>
          </a:prstGeom>
          <a:noFill/>
        </p:spPr>
        <p:txBody>
          <a:bodyPr wrap="square">
            <a:spAutoFit/>
          </a:bodyPr>
          <a:lstStyle/>
          <a:p>
            <a:r>
              <a:rPr kumimoji="1" lang="ja-JP" altLang="en-US" sz="3600" dirty="0">
                <a:ea typeface="メイリオ" panose="02020700000000000000" pitchFamily="18" charset="-128"/>
                <a:cs typeface="メイリオ"/>
              </a:rPr>
              <a:t>この数字は何を表しているでしょう？</a:t>
            </a:r>
            <a:endParaRPr kumimoji="1" lang="en-US" altLang="ja-JP" sz="3600" dirty="0">
              <a:ea typeface="UD デジタル 教科書体 NK-B" panose="02020700000000000000" pitchFamily="18" charset="-128"/>
            </a:endParaRPr>
          </a:p>
        </p:txBody>
      </p:sp>
      <p:sp>
        <p:nvSpPr>
          <p:cNvPr id="2" name="吹き出し: 角を丸めた四角形 1">
            <a:extLst>
              <a:ext uri="{FF2B5EF4-FFF2-40B4-BE49-F238E27FC236}">
                <a16:creationId xmlns:a16="http://schemas.microsoft.com/office/drawing/2014/main" id="{B7401CBC-689C-4789-A857-9ED62D80194E}"/>
              </a:ext>
            </a:extLst>
          </p:cNvPr>
          <p:cNvSpPr/>
          <p:nvPr/>
        </p:nvSpPr>
        <p:spPr>
          <a:xfrm>
            <a:off x="9355493" y="3328325"/>
            <a:ext cx="2644140" cy="1295977"/>
          </a:xfrm>
          <a:prstGeom prst="wedgeRoundRectCallout">
            <a:avLst>
              <a:gd name="adj1" fmla="val -61502"/>
              <a:gd name="adj2" fmla="val -14377"/>
              <a:gd name="adj3" fmla="val 16667"/>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kumimoji="1" lang="ja-JP" altLang="en-US" sz="2400" b="1" dirty="0">
                <a:latin typeface="メイリオ"/>
                <a:ea typeface="メイリオ"/>
                <a:cs typeface="メイリオ"/>
              </a:rPr>
              <a:t>区内中学校３校の社会科の評定</a:t>
            </a:r>
          </a:p>
        </p:txBody>
      </p:sp>
      <p:sp>
        <p:nvSpPr>
          <p:cNvPr id="9" name="Rectangle 1">
            <a:extLst>
              <a:ext uri="{FF2B5EF4-FFF2-40B4-BE49-F238E27FC236}">
                <a16:creationId xmlns:a16="http://schemas.microsoft.com/office/drawing/2014/main" id="{4E17680C-0071-4B80-EB24-A6EAE0625A20}"/>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latin typeface="メイリオ"/>
                <a:ea typeface="メイリオ"/>
                <a:cs typeface="メイリオ"/>
              </a:rPr>
              <a:t>０　はじめに</a:t>
            </a:r>
            <a:endParaRPr lang="en-US" altLang="ja-JP" sz="2800" b="1" dirty="0"/>
          </a:p>
        </p:txBody>
      </p:sp>
    </p:spTree>
    <p:extLst>
      <p:ext uri="{BB962C8B-B14F-4D97-AF65-F5344CB8AC3E}">
        <p14:creationId xmlns:p14="http://schemas.microsoft.com/office/powerpoint/2010/main" val="3888532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D07D5F01-5177-F98E-DC91-C1E0BF8D8AFF}"/>
              </a:ext>
            </a:extLst>
          </p:cNvPr>
          <p:cNvSpPr txBox="1">
            <a:spLocks/>
          </p:cNvSpPr>
          <p:nvPr/>
        </p:nvSpPr>
        <p:spPr>
          <a:xfrm>
            <a:off x="0" y="853040"/>
            <a:ext cx="11877040" cy="111800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3200" b="1" dirty="0">
                <a:latin typeface="BIZ UDPゴシック" panose="020B0400000000000000" pitchFamily="50" charset="-128"/>
                <a:ea typeface="BIZ UDPゴシック" panose="020B0400000000000000" pitchFamily="50" charset="-128"/>
              </a:rPr>
              <a:t>■都内公立中学校第</a:t>
            </a:r>
            <a:r>
              <a:rPr lang="en-US" altLang="ja-JP" sz="3200" b="1" dirty="0">
                <a:latin typeface="BIZ UDPゴシック" panose="020B0400000000000000" pitchFamily="50" charset="-128"/>
                <a:ea typeface="BIZ UDPゴシック" panose="020B0400000000000000" pitchFamily="50" charset="-128"/>
              </a:rPr>
              <a:t>3</a:t>
            </a:r>
            <a:r>
              <a:rPr lang="ja-JP" altLang="en-US" sz="3200" b="1" dirty="0">
                <a:latin typeface="BIZ UDPゴシック" panose="020B0400000000000000" pitchFamily="50" charset="-128"/>
                <a:ea typeface="BIZ UDPゴシック" panose="020B0400000000000000" pitchFamily="50" charset="-128"/>
              </a:rPr>
              <a:t>学年及び義務教育学校第</a:t>
            </a:r>
            <a:r>
              <a:rPr lang="en-US" altLang="ja-JP" sz="3200" b="1" dirty="0">
                <a:latin typeface="BIZ UDPゴシック" panose="020B0400000000000000" pitchFamily="50" charset="-128"/>
                <a:ea typeface="BIZ UDPゴシック" panose="020B0400000000000000" pitchFamily="50" charset="-128"/>
              </a:rPr>
              <a:t>9</a:t>
            </a:r>
            <a:r>
              <a:rPr lang="ja-JP" altLang="en-US" sz="3200" b="1" dirty="0">
                <a:latin typeface="BIZ UDPゴシック" panose="020B0400000000000000" pitchFamily="50" charset="-128"/>
                <a:ea typeface="BIZ UDPゴシック" panose="020B0400000000000000" pitchFamily="50" charset="-128"/>
              </a:rPr>
              <a:t>学年</a:t>
            </a:r>
            <a:endParaRPr lang="en-US" altLang="ja-JP" sz="3200" b="1" dirty="0">
              <a:latin typeface="BIZ UDPゴシック" panose="020B0400000000000000" pitchFamily="50" charset="-128"/>
              <a:ea typeface="BIZ UDPゴシック" panose="020B0400000000000000" pitchFamily="50" charset="-128"/>
            </a:endParaRPr>
          </a:p>
          <a:p>
            <a:pPr marL="0" indent="0">
              <a:buNone/>
            </a:pPr>
            <a:r>
              <a:rPr lang="ja-JP" altLang="en-US" sz="3200" b="1" dirty="0">
                <a:latin typeface="BIZ UDPゴシック" panose="020B0400000000000000" pitchFamily="50" charset="-128"/>
                <a:ea typeface="BIZ UDPゴシック" panose="020B0400000000000000" pitchFamily="50" charset="-128"/>
              </a:rPr>
              <a:t>　（令和</a:t>
            </a:r>
            <a:r>
              <a:rPr lang="en-US" altLang="ja-JP" sz="3200" b="1" dirty="0">
                <a:latin typeface="BIZ UDPゴシック" panose="020B0400000000000000" pitchFamily="50" charset="-128"/>
                <a:ea typeface="BIZ UDPゴシック" panose="020B0400000000000000" pitchFamily="50" charset="-128"/>
              </a:rPr>
              <a:t>6</a:t>
            </a:r>
            <a:r>
              <a:rPr lang="ja-JP" altLang="en-US" sz="3200" b="1" dirty="0">
                <a:latin typeface="BIZ UDPゴシック" panose="020B0400000000000000" pitchFamily="50" charset="-128"/>
                <a:ea typeface="BIZ UDPゴシック" panose="020B0400000000000000" pitchFamily="50" charset="-128"/>
              </a:rPr>
              <a:t>年</a:t>
            </a:r>
            <a:r>
              <a:rPr lang="en-US" altLang="ja-JP" sz="3200" b="1" dirty="0">
                <a:latin typeface="BIZ UDPゴシック" panose="020B0400000000000000" pitchFamily="50" charset="-128"/>
                <a:ea typeface="BIZ UDPゴシック" panose="020B0400000000000000" pitchFamily="50" charset="-128"/>
              </a:rPr>
              <a:t>12</a:t>
            </a:r>
            <a:r>
              <a:rPr lang="ja-JP" altLang="en-US" sz="3200" b="1" dirty="0">
                <a:latin typeface="BIZ UDPゴシック" panose="020B0400000000000000" pitchFamily="50" charset="-128"/>
                <a:ea typeface="BIZ UDPゴシック" panose="020B0400000000000000" pitchFamily="50" charset="-128"/>
              </a:rPr>
              <a:t>月</a:t>
            </a:r>
            <a:r>
              <a:rPr lang="en-US" altLang="ja-JP" sz="3200" b="1" dirty="0">
                <a:latin typeface="BIZ UDPゴシック" panose="020B0400000000000000" pitchFamily="50" charset="-128"/>
                <a:ea typeface="BIZ UDPゴシック" panose="020B0400000000000000" pitchFamily="50" charset="-128"/>
              </a:rPr>
              <a:t>31</a:t>
            </a:r>
            <a:r>
              <a:rPr lang="ja-JP" altLang="en-US" sz="3200" b="1" dirty="0">
                <a:latin typeface="BIZ UDPゴシック" panose="020B0400000000000000" pitchFamily="50" charset="-128"/>
                <a:ea typeface="BIZ UDPゴシック" panose="020B0400000000000000" pitchFamily="50" charset="-128"/>
              </a:rPr>
              <a:t>日現在</a:t>
            </a:r>
            <a:r>
              <a:rPr lang="en-US" altLang="ja-JP" sz="3200" b="1" dirty="0">
                <a:latin typeface="BIZ UDPゴシック" panose="020B0400000000000000" pitchFamily="50" charset="-128"/>
                <a:ea typeface="BIZ UDPゴシック" panose="020B0400000000000000" pitchFamily="50" charset="-128"/>
              </a:rPr>
              <a:t>)</a:t>
            </a:r>
            <a:r>
              <a:rPr lang="ja-JP" altLang="en-US" sz="3200" b="1" dirty="0">
                <a:latin typeface="BIZ UDPゴシック" panose="020B0400000000000000" pitchFamily="50" charset="-128"/>
                <a:ea typeface="BIZ UDPゴシック" panose="020B0400000000000000" pitchFamily="50" charset="-128"/>
              </a:rPr>
              <a:t>の評定状況の調査結果について</a:t>
            </a:r>
          </a:p>
        </p:txBody>
      </p:sp>
      <p:pic>
        <p:nvPicPr>
          <p:cNvPr id="9" name="図 8">
            <a:extLst>
              <a:ext uri="{FF2B5EF4-FFF2-40B4-BE49-F238E27FC236}">
                <a16:creationId xmlns:a16="http://schemas.microsoft.com/office/drawing/2014/main" id="{B0603D2D-98D4-33E7-9E33-A77B93F039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32674" y="1971040"/>
            <a:ext cx="7585646" cy="4638990"/>
          </a:xfrm>
          <a:prstGeom prst="rect">
            <a:avLst/>
          </a:prstGeom>
          <a:ln>
            <a:solidFill>
              <a:schemeClr val="tx1"/>
            </a:solidFill>
          </a:ln>
        </p:spPr>
      </p:pic>
      <p:sp>
        <p:nvSpPr>
          <p:cNvPr id="2" name="Rectangle 1">
            <a:extLst>
              <a:ext uri="{FF2B5EF4-FFF2-40B4-BE49-F238E27FC236}">
                <a16:creationId xmlns:a16="http://schemas.microsoft.com/office/drawing/2014/main" id="{EEFBBBF7-67DA-9F8A-D548-EB24EE11042F}"/>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latin typeface="メイリオ"/>
                <a:ea typeface="メイリオ"/>
                <a:cs typeface="メイリオ"/>
              </a:rPr>
              <a:t>０　はじめに</a:t>
            </a:r>
            <a:endParaRPr lang="en-US" altLang="ja-JP" sz="2800" b="1" dirty="0"/>
          </a:p>
        </p:txBody>
      </p:sp>
      <p:sp>
        <p:nvSpPr>
          <p:cNvPr id="4" name="四角形: 角を丸くする 3">
            <a:extLst>
              <a:ext uri="{FF2B5EF4-FFF2-40B4-BE49-F238E27FC236}">
                <a16:creationId xmlns:a16="http://schemas.microsoft.com/office/drawing/2014/main" id="{AE7903F6-510D-355F-98CF-DA309210EE2E}"/>
              </a:ext>
            </a:extLst>
          </p:cNvPr>
          <p:cNvSpPr/>
          <p:nvPr/>
        </p:nvSpPr>
        <p:spPr>
          <a:xfrm>
            <a:off x="4937760" y="2743200"/>
            <a:ext cx="914400" cy="3866830"/>
          </a:xfrm>
          <a:prstGeom prst="round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256825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pPr algn="l"/>
            <a:r>
              <a:rPr sz="2200" b="1">
                <a:solidFill>
                  <a:srgbClr val="FFFFFF"/>
                </a:solidFill>
                <a:latin typeface="メイリオ"/>
                <a:ea typeface="メイリオ"/>
                <a:cs typeface="メイリオ"/>
              </a:rPr>
              <a:t>０　はじめに</a:t>
            </a:r>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2800" b="1" dirty="0">
                <a:solidFill>
                  <a:srgbClr val="1F3A6E"/>
                </a:solidFill>
                <a:latin typeface="メイリオ"/>
                <a:ea typeface="メイリオ"/>
                <a:cs typeface="メイリオ"/>
              </a:rPr>
              <a:t>「</a:t>
            </a:r>
            <a:r>
              <a:rPr sz="2800" b="1" dirty="0" err="1">
                <a:solidFill>
                  <a:srgbClr val="1F3A6E"/>
                </a:solidFill>
                <a:latin typeface="メイリオ"/>
                <a:ea typeface="メイリオ"/>
                <a:cs typeface="メイリオ"/>
              </a:rPr>
              <a:t>指導と評価の一体化」とは</a:t>
            </a:r>
            <a:r>
              <a:rPr sz="2800" b="1" dirty="0">
                <a:solidFill>
                  <a:srgbClr val="1F3A6E"/>
                </a:solidFill>
                <a:latin typeface="メイリオ"/>
                <a:ea typeface="メイリオ"/>
                <a:cs typeface="メイリオ"/>
              </a:rPr>
              <a:t> </a:t>
            </a:r>
            <a:endParaRPr lang="en-US" sz="2800" b="1" dirty="0">
              <a:solidFill>
                <a:srgbClr val="1F3A6E"/>
              </a:solidFill>
              <a:latin typeface="メイリオ"/>
              <a:ea typeface="メイリオ"/>
              <a:cs typeface="メイリオ"/>
            </a:endParaRP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00000" y="2000000"/>
            <a:ext cx="2550000" cy="14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a:bodyPr>
          <a:lstStyle/>
          <a:p>
            <a:pPr algn="ctr">
              <a:lnSpc>
                <a:spcPct val="115000"/>
              </a:lnSpc>
            </a:pPr>
            <a:r>
              <a:rPr sz="2400" b="1">
                <a:solidFill>
                  <a:srgbClr val="FFFFFF"/>
                </a:solidFill>
                <a:latin typeface="メイリオ"/>
                <a:ea typeface="メイリオ"/>
                <a:cs typeface="メイリオ"/>
              </a:rPr>
              <a:t>① 目標</a:t>
            </a:r>
          </a:p>
          <a:p>
            <a:pPr algn="ctr">
              <a:lnSpc>
                <a:spcPct val="115000"/>
              </a:lnSpc>
            </a:pPr>
            <a:r>
              <a:rPr sz="1600" b="1">
                <a:solidFill>
                  <a:srgbClr val="1F3A6E"/>
                </a:solidFill>
                <a:latin typeface="メイリオ"/>
                <a:ea typeface="メイリオ"/>
                <a:cs typeface="メイリオ"/>
              </a:rPr>
              <a:t>「Ｂの姿」を描く</a:t>
            </a:r>
          </a:p>
        </p:txBody>
      </p:sp>
      <p:sp>
        <p:nvSpPr>
          <p:cNvPr id="6" name="Rectangle 5"/>
          <p:cNvSpPr/>
          <p:nvPr/>
        </p:nvSpPr>
        <p:spPr>
          <a:xfrm>
            <a:off x="3350000" y="2000000"/>
            <a:ext cx="2550000" cy="14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a:bodyPr>
          <a:lstStyle/>
          <a:p>
            <a:pPr algn="ctr">
              <a:lnSpc>
                <a:spcPct val="115000"/>
              </a:lnSpc>
            </a:pPr>
            <a:r>
              <a:rPr sz="2400" b="1">
                <a:solidFill>
                  <a:srgbClr val="FFFFFF"/>
                </a:solidFill>
                <a:latin typeface="メイリオ"/>
                <a:ea typeface="メイリオ"/>
                <a:cs typeface="メイリオ"/>
              </a:rPr>
              <a:t>② 指導</a:t>
            </a:r>
          </a:p>
          <a:p>
            <a:pPr algn="ctr">
              <a:lnSpc>
                <a:spcPct val="115000"/>
              </a:lnSpc>
            </a:pPr>
            <a:r>
              <a:rPr sz="1600" b="1">
                <a:solidFill>
                  <a:srgbClr val="1F3A6E"/>
                </a:solidFill>
                <a:latin typeface="メイリオ"/>
                <a:ea typeface="メイリオ"/>
                <a:cs typeface="メイリオ"/>
              </a:rPr>
              <a:t>授業を行う
（主体的・対話的で深い学び）</a:t>
            </a:r>
          </a:p>
        </p:txBody>
      </p:sp>
      <p:sp>
        <p:nvSpPr>
          <p:cNvPr id="7" name="Rectangle 6"/>
          <p:cNvSpPr/>
          <p:nvPr/>
        </p:nvSpPr>
        <p:spPr>
          <a:xfrm>
            <a:off x="6300000" y="2000000"/>
            <a:ext cx="2550000" cy="14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a:bodyPr>
          <a:lstStyle/>
          <a:p>
            <a:pPr algn="ctr">
              <a:lnSpc>
                <a:spcPct val="115000"/>
              </a:lnSpc>
            </a:pPr>
            <a:r>
              <a:rPr sz="2400" b="1">
                <a:solidFill>
                  <a:srgbClr val="FFFFFF"/>
                </a:solidFill>
                <a:latin typeface="メイリオ"/>
                <a:ea typeface="メイリオ"/>
                <a:cs typeface="メイリオ"/>
              </a:rPr>
              <a:t>③ 評価</a:t>
            </a:r>
          </a:p>
          <a:p>
            <a:pPr algn="ctr">
              <a:lnSpc>
                <a:spcPct val="115000"/>
              </a:lnSpc>
            </a:pPr>
            <a:r>
              <a:rPr sz="1600" b="1">
                <a:solidFill>
                  <a:srgbClr val="1F3A6E"/>
                </a:solidFill>
                <a:latin typeface="メイリオ"/>
                <a:ea typeface="メイリオ"/>
                <a:cs typeface="メイリオ"/>
              </a:rPr>
              <a:t>学びの姿をみとる</a:t>
            </a:r>
          </a:p>
        </p:txBody>
      </p:sp>
      <p:sp>
        <p:nvSpPr>
          <p:cNvPr id="8" name="Rectangle 7"/>
          <p:cNvSpPr/>
          <p:nvPr/>
        </p:nvSpPr>
        <p:spPr>
          <a:xfrm>
            <a:off x="9250000" y="2000000"/>
            <a:ext cx="2550000" cy="14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a:bodyPr>
          <a:lstStyle/>
          <a:p>
            <a:pPr algn="ctr">
              <a:lnSpc>
                <a:spcPct val="115000"/>
              </a:lnSpc>
            </a:pPr>
            <a:r>
              <a:rPr sz="2400" b="1">
                <a:solidFill>
                  <a:srgbClr val="FFFFFF"/>
                </a:solidFill>
                <a:latin typeface="メイリオ"/>
                <a:ea typeface="メイリオ"/>
                <a:cs typeface="メイリオ"/>
              </a:rPr>
              <a:t>④ 改善</a:t>
            </a:r>
          </a:p>
          <a:p>
            <a:pPr algn="ctr">
              <a:lnSpc>
                <a:spcPct val="115000"/>
              </a:lnSpc>
            </a:pPr>
            <a:r>
              <a:rPr sz="1600" b="1">
                <a:solidFill>
                  <a:srgbClr val="1F3A6E"/>
                </a:solidFill>
                <a:latin typeface="メイリオ"/>
                <a:ea typeface="メイリオ"/>
                <a:cs typeface="メイリオ"/>
              </a:rPr>
              <a:t>次の指導に生かす</a:t>
            </a:r>
          </a:p>
        </p:txBody>
      </p:sp>
      <p:sp>
        <p:nvSpPr>
          <p:cNvPr id="9" name="Right Arrow 8"/>
          <p:cNvSpPr/>
          <p:nvPr/>
        </p:nvSpPr>
        <p:spPr>
          <a:xfrm>
            <a:off x="2950000" y="2520000"/>
            <a:ext cx="400000" cy="420000"/>
          </a:xfrm>
          <a:prstGeom prst="rightArrow">
            <a:avLst/>
          </a:prstGeom>
          <a:solidFill>
            <a:srgbClr val="EB6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ight Arrow 9"/>
          <p:cNvSpPr/>
          <p:nvPr/>
        </p:nvSpPr>
        <p:spPr>
          <a:xfrm>
            <a:off x="5900000" y="2520000"/>
            <a:ext cx="400000" cy="420000"/>
          </a:xfrm>
          <a:prstGeom prst="rightArrow">
            <a:avLst/>
          </a:prstGeom>
          <a:solidFill>
            <a:srgbClr val="EB6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ight Arrow 10"/>
          <p:cNvSpPr/>
          <p:nvPr/>
        </p:nvSpPr>
        <p:spPr>
          <a:xfrm>
            <a:off x="8850000" y="2520000"/>
            <a:ext cx="400000" cy="420000"/>
          </a:xfrm>
          <a:prstGeom prst="rightArrow">
            <a:avLst/>
          </a:prstGeom>
          <a:solidFill>
            <a:srgbClr val="EB6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00000" y="3650000"/>
            <a:ext cx="11400000" cy="62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a:bodyPr>
          <a:lstStyle/>
          <a:p>
            <a:pPr algn="ctr">
              <a:lnSpc>
                <a:spcPct val="130000"/>
              </a:lnSpc>
            </a:pPr>
            <a:r>
              <a:rPr sz="2000" b="1">
                <a:solidFill>
                  <a:srgbClr val="1F3A6E"/>
                </a:solidFill>
                <a:latin typeface="メイリオ"/>
                <a:ea typeface="メイリオ"/>
                <a:cs typeface="メイリオ"/>
              </a:rPr>
              <a:t>④の評価を ①②③ に生かして単元の中でくり返す</a:t>
            </a:r>
            <a:r>
              <a:rPr sz="2200" b="1">
                <a:solidFill>
                  <a:srgbClr val="EB6C15"/>
                </a:solidFill>
                <a:latin typeface="メイリオ"/>
                <a:ea typeface="メイリオ"/>
                <a:cs typeface="メイリオ"/>
              </a:rPr>
              <a:t>　＝　これが「指導と評価の一体化」</a:t>
            </a:r>
          </a:p>
        </p:txBody>
      </p:sp>
      <p:sp>
        <p:nvSpPr>
          <p:cNvPr id="13" name="Rectangle 12"/>
          <p:cNvSpPr/>
          <p:nvPr/>
        </p:nvSpPr>
        <p:spPr>
          <a:xfrm>
            <a:off x="400000" y="4420000"/>
            <a:ext cx="11400000" cy="1450000"/>
          </a:xfrm>
          <a:prstGeom prst="rect">
            <a:avLst/>
          </a:prstGeom>
          <a:solidFill>
            <a:srgbClr val="FFFFFF"/>
          </a:solidFill>
          <a:ln w="44450">
            <a:solidFill>
              <a:srgbClr val="5BC0DE"/>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a:bodyPr>
          <a:lstStyle/>
          <a:p>
            <a:pPr algn="ctr">
              <a:lnSpc>
                <a:spcPct val="135000"/>
              </a:lnSpc>
            </a:pPr>
            <a:r>
              <a:rPr sz="2200" b="1" dirty="0">
                <a:solidFill>
                  <a:srgbClr val="EB6C15"/>
                </a:solidFill>
                <a:latin typeface="メイリオ"/>
                <a:ea typeface="メイリオ"/>
                <a:cs typeface="メイリオ"/>
              </a:rPr>
              <a:t>「</a:t>
            </a:r>
            <a:r>
              <a:rPr sz="2200" b="1" dirty="0" err="1">
                <a:solidFill>
                  <a:srgbClr val="EB6C15"/>
                </a:solidFill>
                <a:latin typeface="メイリオ"/>
                <a:ea typeface="メイリオ"/>
                <a:cs typeface="メイリオ"/>
              </a:rPr>
              <a:t>正当な評価」</a:t>
            </a:r>
            <a:r>
              <a:rPr sz="2000" b="1" dirty="0" err="1">
                <a:solidFill>
                  <a:srgbClr val="000000"/>
                </a:solidFill>
                <a:latin typeface="メイリオ"/>
                <a:ea typeface="メイリオ"/>
                <a:cs typeface="メイリオ"/>
              </a:rPr>
              <a:t>のために授業と評価を一体で設計し</a:t>
            </a:r>
            <a:r>
              <a:rPr sz="2000" b="1" dirty="0">
                <a:solidFill>
                  <a:srgbClr val="000000"/>
                </a:solidFill>
                <a:latin typeface="メイリオ"/>
                <a:ea typeface="メイリオ"/>
                <a:cs typeface="メイリオ"/>
              </a:rPr>
              <a:t>、</a:t>
            </a:r>
            <a:r>
              <a:rPr sz="2200" b="1" dirty="0">
                <a:solidFill>
                  <a:srgbClr val="EB6C15"/>
                </a:solidFill>
                <a:latin typeface="メイリオ"/>
                <a:ea typeface="メイリオ"/>
                <a:cs typeface="メイリオ"/>
              </a:rPr>
              <a:t>「</a:t>
            </a:r>
            <a:r>
              <a:rPr sz="2200" b="1" dirty="0" err="1">
                <a:solidFill>
                  <a:srgbClr val="EB6C15"/>
                </a:solidFill>
                <a:latin typeface="メイリオ"/>
                <a:ea typeface="メイリオ"/>
                <a:cs typeface="メイリオ"/>
              </a:rPr>
              <a:t>授業改善につながる評価」</a:t>
            </a:r>
            <a:r>
              <a:rPr sz="2000" b="1" dirty="0" err="1">
                <a:solidFill>
                  <a:srgbClr val="000000"/>
                </a:solidFill>
                <a:latin typeface="メイリオ"/>
                <a:ea typeface="メイリオ"/>
                <a:cs typeface="メイリオ"/>
              </a:rPr>
              <a:t>にする</a:t>
            </a:r>
            <a:endParaRPr sz="2000" b="1" dirty="0">
              <a:solidFill>
                <a:srgbClr val="000000"/>
              </a:solidFill>
              <a:latin typeface="メイリオ"/>
              <a:ea typeface="メイリオ"/>
              <a:cs typeface="メイリオ"/>
            </a:endParaRPr>
          </a:p>
          <a:p>
            <a:pPr algn="ctr">
              <a:lnSpc>
                <a:spcPct val="135000"/>
              </a:lnSpc>
            </a:pPr>
            <a:r>
              <a:rPr sz="1800" b="1" dirty="0">
                <a:solidFill>
                  <a:srgbClr val="000000"/>
                </a:solidFill>
                <a:latin typeface="メイリオ"/>
                <a:ea typeface="メイリオ"/>
                <a:cs typeface="メイリオ"/>
              </a:rPr>
              <a:t>本研修は</a:t>
            </a:r>
            <a:r>
              <a:rPr sz="2000" b="1" dirty="0">
                <a:solidFill>
                  <a:srgbClr val="1F3A6E"/>
                </a:solidFill>
                <a:latin typeface="メイリオ"/>
                <a:ea typeface="メイリオ"/>
                <a:cs typeface="メイリオ"/>
              </a:rPr>
              <a:t>3観点すべて</a:t>
            </a:r>
            <a:r>
              <a:rPr sz="1800" b="1" dirty="0">
                <a:solidFill>
                  <a:srgbClr val="000000"/>
                </a:solidFill>
                <a:latin typeface="メイリオ"/>
                <a:ea typeface="メイリオ"/>
                <a:cs typeface="メイリオ"/>
              </a:rPr>
              <a:t>を対象とし、特に見取りが難しい</a:t>
            </a:r>
            <a:r>
              <a:rPr sz="2000" b="1" dirty="0">
                <a:solidFill>
                  <a:srgbClr val="1F3A6E"/>
                </a:solidFill>
                <a:latin typeface="メイリオ"/>
                <a:ea typeface="メイリオ"/>
                <a:cs typeface="メイリオ"/>
              </a:rPr>
              <a:t>「主体的に学習に取り組む態度」を</a:t>
            </a:r>
            <a:endParaRPr lang="en-US" sz="2000" b="1" dirty="0">
              <a:solidFill>
                <a:srgbClr val="1F3A6E"/>
              </a:solidFill>
              <a:latin typeface="メイリオ"/>
              <a:ea typeface="メイリオ"/>
              <a:cs typeface="メイリオ"/>
            </a:endParaRPr>
          </a:p>
          <a:p>
            <a:pPr algn="ctr">
              <a:lnSpc>
                <a:spcPct val="135000"/>
              </a:lnSpc>
            </a:pPr>
            <a:r>
              <a:rPr sz="2000" b="1" dirty="0" err="1">
                <a:solidFill>
                  <a:srgbClr val="1F3A6E"/>
                </a:solidFill>
                <a:latin typeface="メイリオ"/>
                <a:ea typeface="メイリオ"/>
                <a:cs typeface="メイリオ"/>
              </a:rPr>
              <a:t>重点</a:t>
            </a:r>
            <a:r>
              <a:rPr sz="1800" b="1" dirty="0" err="1">
                <a:solidFill>
                  <a:srgbClr val="000000"/>
                </a:solidFill>
                <a:latin typeface="メイリオ"/>
                <a:ea typeface="メイリオ"/>
                <a:cs typeface="メイリオ"/>
              </a:rPr>
              <a:t>的に扱う</a:t>
            </a:r>
            <a:endParaRPr sz="1800" b="1" dirty="0">
              <a:solidFill>
                <a:srgbClr val="000000"/>
              </a:solidFill>
              <a:latin typeface="メイリオ"/>
              <a:ea typeface="メイリオ"/>
              <a:cs typeface="メイリオ"/>
            </a:endParaRPr>
          </a:p>
        </p:txBody>
      </p:sp>
      <p:sp>
        <p:nvSpPr>
          <p:cNvPr id="14" name="TextBox 13"/>
          <p:cNvSpPr txBox="1"/>
          <p:nvPr/>
        </p:nvSpPr>
        <p:spPr>
          <a:xfrm>
            <a:off x="300000" y="5990000"/>
            <a:ext cx="11400000" cy="330000"/>
          </a:xfrm>
          <a:prstGeom prst="rect">
            <a:avLst/>
          </a:prstGeom>
          <a:noFill/>
        </p:spPr>
        <p:txBody>
          <a:bodyPr wrap="square" lIns="40000" tIns="10000" rIns="40000" bIns="10000" anchor="ctr">
            <a:normAutofit/>
          </a:bodyPr>
          <a:lstStyle/>
          <a:p>
            <a:pPr algn="r"/>
            <a:r>
              <a:rPr sz="1300" dirty="0" err="1">
                <a:solidFill>
                  <a:srgbClr val="404040"/>
                </a:solidFill>
                <a:latin typeface="メイリオ"/>
                <a:ea typeface="メイリオ"/>
                <a:cs typeface="メイリオ"/>
              </a:rPr>
              <a:t>出典：中学校学習指導要領</a:t>
            </a:r>
            <a:r>
              <a:rPr sz="1300" dirty="0">
                <a:solidFill>
                  <a:srgbClr val="404040"/>
                </a:solidFill>
                <a:latin typeface="メイリオ"/>
                <a:ea typeface="メイリオ"/>
                <a:cs typeface="メイリオ"/>
              </a:rPr>
              <a:t> </a:t>
            </a:r>
            <a:r>
              <a:rPr sz="1300" dirty="0" err="1">
                <a:solidFill>
                  <a:srgbClr val="404040"/>
                </a:solidFill>
                <a:latin typeface="メイリオ"/>
                <a:ea typeface="メイリオ"/>
                <a:cs typeface="メイリオ"/>
              </a:rPr>
              <a:t>解説</a:t>
            </a:r>
            <a:r>
              <a:rPr sz="1300" dirty="0">
                <a:solidFill>
                  <a:srgbClr val="404040"/>
                </a:solidFill>
                <a:latin typeface="メイリオ"/>
                <a:ea typeface="メイリオ"/>
                <a:cs typeface="メイリオ"/>
              </a:rPr>
              <a:t> </a:t>
            </a:r>
            <a:r>
              <a:rPr sz="1300" dirty="0" err="1">
                <a:solidFill>
                  <a:srgbClr val="404040"/>
                </a:solidFill>
                <a:latin typeface="メイリオ"/>
                <a:ea typeface="メイリオ"/>
                <a:cs typeface="メイリオ"/>
              </a:rPr>
              <a:t>総則編</a:t>
            </a:r>
            <a:endParaRPr sz="1300" dirty="0">
              <a:solidFill>
                <a:srgbClr val="404040"/>
              </a:solidFill>
              <a:latin typeface="メイリオ"/>
              <a:ea typeface="メイリオ"/>
              <a:cs typeface="メイリオ"/>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latin typeface="メイリオ"/>
                <a:ea typeface="メイリオ"/>
                <a:cs typeface="メイリオ"/>
              </a:rPr>
              <a:t>１　主体的・対話的で深い学びの実現に向けた授業改善</a:t>
            </a:r>
            <a:endParaRPr lang="en-US" altLang="ja-JP" sz="2800" b="1" dirty="0"/>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3000" b="1">
                <a:solidFill>
                  <a:srgbClr val="1F3A6E"/>
                </a:solidFill>
                <a:latin typeface="メイリオ"/>
                <a:ea typeface="メイリオ"/>
                <a:cs typeface="メイリオ"/>
              </a:rPr>
              <a:t>何ができるようになるか ─ 資質・能力の3つの柱</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0000" y="1850000"/>
            <a:ext cx="900000" cy="11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4400" b="1">
                <a:solidFill>
                  <a:srgbClr val="FFFFFF"/>
                </a:solidFill>
                <a:latin typeface="メイリオ"/>
                <a:ea typeface="メイリオ"/>
                <a:cs typeface="メイリオ"/>
              </a:rPr>
              <a:t>①</a:t>
            </a:r>
          </a:p>
        </p:txBody>
      </p:sp>
      <p:sp>
        <p:nvSpPr>
          <p:cNvPr id="7" name="Rectangle 6"/>
          <p:cNvSpPr/>
          <p:nvPr/>
        </p:nvSpPr>
        <p:spPr>
          <a:xfrm>
            <a:off x="1400000" y="1850000"/>
            <a:ext cx="10400000" cy="11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20000"/>
              </a:lnSpc>
            </a:pPr>
            <a:r>
              <a:rPr sz="2600" b="1">
                <a:solidFill>
                  <a:srgbClr val="EB6C15"/>
                </a:solidFill>
                <a:latin typeface="メイリオ"/>
                <a:ea typeface="メイリオ"/>
                <a:cs typeface="メイリオ"/>
              </a:rPr>
              <a:t>知識・技能</a:t>
            </a:r>
          </a:p>
          <a:p>
            <a:pPr algn="l">
              <a:lnSpc>
                <a:spcPct val="120000"/>
              </a:lnSpc>
            </a:pPr>
            <a:r>
              <a:rPr sz="2000" b="1">
                <a:solidFill>
                  <a:srgbClr val="1F3A6E"/>
                </a:solidFill>
                <a:latin typeface="メイリオ"/>
                <a:ea typeface="メイリオ"/>
                <a:cs typeface="メイリオ"/>
              </a:rPr>
              <a:t>何を理解しているか、何ができるか</a:t>
            </a:r>
          </a:p>
        </p:txBody>
      </p:sp>
      <p:sp>
        <p:nvSpPr>
          <p:cNvPr id="8" name="Rectangle 7"/>
          <p:cNvSpPr/>
          <p:nvPr/>
        </p:nvSpPr>
        <p:spPr>
          <a:xfrm>
            <a:off x="400000" y="3230000"/>
            <a:ext cx="900000" cy="11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4400" b="1">
                <a:solidFill>
                  <a:srgbClr val="FFFFFF"/>
                </a:solidFill>
                <a:latin typeface="メイリオ"/>
                <a:ea typeface="メイリオ"/>
                <a:cs typeface="メイリオ"/>
              </a:rPr>
              <a:t>②</a:t>
            </a:r>
          </a:p>
        </p:txBody>
      </p:sp>
      <p:sp>
        <p:nvSpPr>
          <p:cNvPr id="9" name="Rectangle 8"/>
          <p:cNvSpPr/>
          <p:nvPr/>
        </p:nvSpPr>
        <p:spPr>
          <a:xfrm>
            <a:off x="1400000" y="3230000"/>
            <a:ext cx="10400000" cy="11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20000"/>
              </a:lnSpc>
            </a:pPr>
            <a:r>
              <a:rPr sz="2600" b="1">
                <a:solidFill>
                  <a:srgbClr val="EB6C15"/>
                </a:solidFill>
                <a:latin typeface="メイリオ"/>
                <a:ea typeface="メイリオ"/>
                <a:cs typeface="メイリオ"/>
              </a:rPr>
              <a:t>思考力・判断力・表現力等</a:t>
            </a:r>
          </a:p>
          <a:p>
            <a:pPr algn="l">
              <a:lnSpc>
                <a:spcPct val="120000"/>
              </a:lnSpc>
            </a:pPr>
            <a:r>
              <a:rPr sz="2000" b="1">
                <a:solidFill>
                  <a:srgbClr val="1F3A6E"/>
                </a:solidFill>
                <a:latin typeface="メイリオ"/>
                <a:ea typeface="メイリオ"/>
                <a:cs typeface="メイリオ"/>
              </a:rPr>
              <a:t>理解していること・できることをどう使うか</a:t>
            </a:r>
          </a:p>
        </p:txBody>
      </p:sp>
      <p:sp>
        <p:nvSpPr>
          <p:cNvPr id="10" name="Rectangle 9"/>
          <p:cNvSpPr/>
          <p:nvPr/>
        </p:nvSpPr>
        <p:spPr>
          <a:xfrm>
            <a:off x="400000" y="4610000"/>
            <a:ext cx="900000" cy="11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4400" b="1">
                <a:solidFill>
                  <a:srgbClr val="FFFFFF"/>
                </a:solidFill>
                <a:latin typeface="メイリオ"/>
                <a:ea typeface="メイリオ"/>
                <a:cs typeface="メイリオ"/>
              </a:rPr>
              <a:t>③</a:t>
            </a:r>
          </a:p>
        </p:txBody>
      </p:sp>
      <p:sp>
        <p:nvSpPr>
          <p:cNvPr id="11" name="Rectangle 10"/>
          <p:cNvSpPr/>
          <p:nvPr/>
        </p:nvSpPr>
        <p:spPr>
          <a:xfrm>
            <a:off x="1400000" y="4610000"/>
            <a:ext cx="10400000" cy="11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20000"/>
              </a:lnSpc>
            </a:pPr>
            <a:r>
              <a:rPr sz="2600" b="1">
                <a:solidFill>
                  <a:srgbClr val="EB6C15"/>
                </a:solidFill>
                <a:latin typeface="メイリオ"/>
                <a:ea typeface="メイリオ"/>
                <a:cs typeface="メイリオ"/>
              </a:rPr>
              <a:t>学びに向かう力・人間性等</a:t>
            </a:r>
          </a:p>
          <a:p>
            <a:pPr algn="l">
              <a:lnSpc>
                <a:spcPct val="120000"/>
              </a:lnSpc>
            </a:pPr>
            <a:r>
              <a:rPr sz="2000" b="1">
                <a:solidFill>
                  <a:srgbClr val="1F3A6E"/>
                </a:solidFill>
                <a:latin typeface="メイリオ"/>
                <a:ea typeface="メイリオ"/>
                <a:cs typeface="メイリオ"/>
              </a:rPr>
              <a:t>どのように社会・世界と関わり、よりよい人生を送るか</a:t>
            </a:r>
          </a:p>
        </p:txBody>
      </p:sp>
      <p:sp>
        <p:nvSpPr>
          <p:cNvPr id="12" name="TextBox 11"/>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a:solidFill>
                  <a:srgbClr val="404040"/>
                </a:solidFill>
                <a:latin typeface="メイリオ"/>
                <a:ea typeface="メイリオ"/>
                <a:cs typeface="メイリオ"/>
              </a:rPr>
              <a:t>出典：中学校学習指導要領 解説　総則編／文部科学省</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latin typeface="メイリオ"/>
                <a:ea typeface="メイリオ"/>
                <a:cs typeface="メイリオ"/>
              </a:rPr>
              <a:t>１　主体的・対話的で深い学びの実現に向けた授業改善</a:t>
            </a:r>
            <a:endParaRPr lang="en-US" altLang="ja-JP" sz="2800" b="1" dirty="0"/>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3000" b="1">
                <a:solidFill>
                  <a:srgbClr val="1F3A6E"/>
                </a:solidFill>
                <a:latin typeface="メイリオ"/>
                <a:ea typeface="メイリオ"/>
                <a:cs typeface="メイリオ"/>
              </a:rPr>
              <a:t>どのように学ぶか ─ 主体的・対話的で深い学び</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0000" y="1900000"/>
            <a:ext cx="3750000" cy="7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fontScale="92500" lnSpcReduction="10000"/>
          </a:bodyPr>
          <a:lstStyle/>
          <a:p>
            <a:pPr algn="ctr">
              <a:lnSpc>
                <a:spcPct val="140000"/>
              </a:lnSpc>
            </a:pPr>
            <a:r>
              <a:rPr sz="2800" b="1">
                <a:solidFill>
                  <a:srgbClr val="FFFFFF"/>
                </a:solidFill>
                <a:latin typeface="メイリオ"/>
                <a:ea typeface="メイリオ"/>
                <a:cs typeface="メイリオ"/>
              </a:rPr>
              <a:t>主体的な学び</a:t>
            </a:r>
          </a:p>
        </p:txBody>
      </p:sp>
      <p:sp>
        <p:nvSpPr>
          <p:cNvPr id="7" name="Rectangle 6"/>
          <p:cNvSpPr/>
          <p:nvPr/>
        </p:nvSpPr>
        <p:spPr>
          <a:xfrm>
            <a:off x="400000" y="2620000"/>
            <a:ext cx="3750000" cy="18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40000"/>
              </a:lnSpc>
            </a:pPr>
            <a:r>
              <a:rPr sz="2000" b="1">
                <a:solidFill>
                  <a:srgbClr val="1F3A6E"/>
                </a:solidFill>
                <a:latin typeface="メイリオ"/>
                <a:ea typeface="メイリオ"/>
                <a:cs typeface="メイリオ"/>
              </a:rPr>
              <a:t>見通しをもち、粘り強く取り組み、振り返る</a:t>
            </a:r>
          </a:p>
        </p:txBody>
      </p:sp>
      <p:sp>
        <p:nvSpPr>
          <p:cNvPr id="8" name="Rectangle 7"/>
          <p:cNvSpPr/>
          <p:nvPr/>
        </p:nvSpPr>
        <p:spPr>
          <a:xfrm>
            <a:off x="4230000" y="1900000"/>
            <a:ext cx="3750000" cy="7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fontScale="92500" lnSpcReduction="10000"/>
          </a:bodyPr>
          <a:lstStyle/>
          <a:p>
            <a:pPr algn="ctr">
              <a:lnSpc>
                <a:spcPct val="140000"/>
              </a:lnSpc>
            </a:pPr>
            <a:r>
              <a:rPr sz="2800" b="1">
                <a:solidFill>
                  <a:srgbClr val="FFFFFF"/>
                </a:solidFill>
                <a:latin typeface="メイリオ"/>
                <a:ea typeface="メイリオ"/>
                <a:cs typeface="メイリオ"/>
              </a:rPr>
              <a:t>対話的な学び</a:t>
            </a:r>
          </a:p>
        </p:txBody>
      </p:sp>
      <p:sp>
        <p:nvSpPr>
          <p:cNvPr id="9" name="Rectangle 8"/>
          <p:cNvSpPr/>
          <p:nvPr/>
        </p:nvSpPr>
        <p:spPr>
          <a:xfrm>
            <a:off x="4230000" y="2620000"/>
            <a:ext cx="3750000" cy="18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40000"/>
              </a:lnSpc>
            </a:pPr>
            <a:r>
              <a:rPr sz="2000" b="1" dirty="0" err="1">
                <a:solidFill>
                  <a:srgbClr val="1F3A6E"/>
                </a:solidFill>
                <a:latin typeface="メイリオ"/>
                <a:ea typeface="メイリオ"/>
                <a:cs typeface="メイリオ"/>
              </a:rPr>
              <a:t>互いの考えを比べ、共に考えを創り上げる</a:t>
            </a:r>
            <a:endParaRPr sz="2000" b="1" dirty="0">
              <a:solidFill>
                <a:srgbClr val="1F3A6E"/>
              </a:solidFill>
              <a:latin typeface="メイリオ"/>
              <a:ea typeface="メイリオ"/>
              <a:cs typeface="メイリオ"/>
            </a:endParaRPr>
          </a:p>
        </p:txBody>
      </p:sp>
      <p:sp>
        <p:nvSpPr>
          <p:cNvPr id="10" name="Rectangle 9"/>
          <p:cNvSpPr/>
          <p:nvPr/>
        </p:nvSpPr>
        <p:spPr>
          <a:xfrm>
            <a:off x="8060000" y="1900000"/>
            <a:ext cx="3750000" cy="7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fontScale="92500" lnSpcReduction="10000"/>
          </a:bodyPr>
          <a:lstStyle/>
          <a:p>
            <a:pPr algn="ctr">
              <a:lnSpc>
                <a:spcPct val="140000"/>
              </a:lnSpc>
            </a:pPr>
            <a:r>
              <a:rPr sz="2800" b="1">
                <a:solidFill>
                  <a:srgbClr val="FFFFFF"/>
                </a:solidFill>
                <a:latin typeface="メイリオ"/>
                <a:ea typeface="メイリオ"/>
                <a:cs typeface="メイリオ"/>
              </a:rPr>
              <a:t>深い学び</a:t>
            </a:r>
          </a:p>
        </p:txBody>
      </p:sp>
      <p:sp>
        <p:nvSpPr>
          <p:cNvPr id="11" name="Rectangle 10"/>
          <p:cNvSpPr/>
          <p:nvPr/>
        </p:nvSpPr>
        <p:spPr>
          <a:xfrm>
            <a:off x="8060000" y="2620000"/>
            <a:ext cx="3750000" cy="18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40000"/>
              </a:lnSpc>
            </a:pPr>
            <a:r>
              <a:rPr sz="2000" b="1" dirty="0" err="1">
                <a:solidFill>
                  <a:srgbClr val="1F3A6E"/>
                </a:solidFill>
                <a:latin typeface="メイリオ"/>
                <a:ea typeface="メイリオ"/>
                <a:cs typeface="メイリオ"/>
              </a:rPr>
              <a:t>知識・技能を活用・概念化</a:t>
            </a:r>
            <a:endParaRPr lang="en-US" sz="2000" b="1" dirty="0">
              <a:solidFill>
                <a:srgbClr val="1F3A6E"/>
              </a:solidFill>
              <a:latin typeface="メイリオ"/>
              <a:ea typeface="メイリオ"/>
              <a:cs typeface="メイリオ"/>
            </a:endParaRPr>
          </a:p>
          <a:p>
            <a:pPr algn="l">
              <a:lnSpc>
                <a:spcPct val="140000"/>
              </a:lnSpc>
            </a:pPr>
            <a:r>
              <a:rPr sz="2000" b="1" dirty="0" err="1">
                <a:solidFill>
                  <a:srgbClr val="1F3A6E"/>
                </a:solidFill>
                <a:latin typeface="メイリオ"/>
                <a:ea typeface="メイリオ"/>
                <a:cs typeface="メイリオ"/>
              </a:rPr>
              <a:t>し、新たなものを創る</a:t>
            </a:r>
            <a:endParaRPr sz="2000" b="1" dirty="0">
              <a:solidFill>
                <a:srgbClr val="1F3A6E"/>
              </a:solidFill>
              <a:latin typeface="メイリオ"/>
              <a:ea typeface="メイリオ"/>
              <a:cs typeface="メイリオ"/>
            </a:endParaRPr>
          </a:p>
        </p:txBody>
      </p:sp>
      <p:sp>
        <p:nvSpPr>
          <p:cNvPr id="12" name="Rectangle 11"/>
          <p:cNvSpPr/>
          <p:nvPr/>
        </p:nvSpPr>
        <p:spPr>
          <a:xfrm>
            <a:off x="400000" y="4600000"/>
            <a:ext cx="11400000" cy="16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40000"/>
              </a:lnSpc>
            </a:pPr>
            <a:r>
              <a:rPr sz="2200" b="1" dirty="0" err="1">
                <a:solidFill>
                  <a:srgbClr val="000000"/>
                </a:solidFill>
                <a:latin typeface="メイリオ"/>
                <a:ea typeface="メイリオ"/>
                <a:cs typeface="メイリオ"/>
              </a:rPr>
              <a:t>授業改善の視点</a:t>
            </a:r>
            <a:r>
              <a:rPr sz="2200" b="1" dirty="0">
                <a:solidFill>
                  <a:srgbClr val="000000"/>
                </a:solidFill>
                <a:latin typeface="メイリオ"/>
                <a:ea typeface="メイリオ"/>
                <a:cs typeface="メイリオ"/>
              </a:rPr>
              <a:t> → </a:t>
            </a:r>
            <a:r>
              <a:rPr lang="ja-JP" altLang="en-US" sz="2600" b="1" dirty="0">
                <a:solidFill>
                  <a:srgbClr val="EB6C15"/>
                </a:solidFill>
                <a:latin typeface="メイリオ"/>
                <a:ea typeface="メイリオ"/>
                <a:cs typeface="メイリオ"/>
              </a:rPr>
              <a:t>実現を目指す生徒の</a:t>
            </a:r>
            <a:r>
              <a:rPr sz="2600" b="1" dirty="0">
                <a:solidFill>
                  <a:srgbClr val="EB6C15"/>
                </a:solidFill>
                <a:latin typeface="メイリオ"/>
                <a:ea typeface="メイリオ"/>
                <a:cs typeface="メイリオ"/>
              </a:rPr>
              <a:t>「</a:t>
            </a:r>
            <a:r>
              <a:rPr sz="2600" b="1" dirty="0" err="1">
                <a:solidFill>
                  <a:srgbClr val="EB6C15"/>
                </a:solidFill>
                <a:latin typeface="メイリオ"/>
                <a:ea typeface="メイリオ"/>
                <a:cs typeface="メイリオ"/>
              </a:rPr>
              <a:t>学びの姿</a:t>
            </a:r>
            <a:r>
              <a:rPr sz="2600" b="1" dirty="0">
                <a:solidFill>
                  <a:srgbClr val="EB6C15"/>
                </a:solidFill>
                <a:latin typeface="メイリオ"/>
                <a:ea typeface="メイリオ"/>
                <a:cs typeface="メイリオ"/>
              </a:rPr>
              <a:t>」</a:t>
            </a:r>
          </a:p>
          <a:p>
            <a:pPr algn="l">
              <a:lnSpc>
                <a:spcPct val="140000"/>
              </a:lnSpc>
            </a:pPr>
            <a:r>
              <a:rPr sz="2200" b="1" dirty="0">
                <a:solidFill>
                  <a:srgbClr val="000000"/>
                </a:solidFill>
                <a:latin typeface="メイリオ"/>
                <a:ea typeface="メイリオ"/>
                <a:cs typeface="メイリオ"/>
              </a:rPr>
              <a:t>　 が </a:t>
            </a:r>
            <a:r>
              <a:rPr sz="2600" b="1" dirty="0" err="1">
                <a:solidFill>
                  <a:srgbClr val="EB6C15"/>
                </a:solidFill>
                <a:latin typeface="メイリオ"/>
                <a:ea typeface="メイリオ"/>
                <a:cs typeface="メイリオ"/>
              </a:rPr>
              <a:t>評価の対象</a:t>
            </a:r>
            <a:r>
              <a:rPr sz="2200" b="1" dirty="0" err="1">
                <a:solidFill>
                  <a:srgbClr val="000000"/>
                </a:solidFill>
                <a:latin typeface="メイリオ"/>
                <a:ea typeface="メイリオ"/>
                <a:cs typeface="メイリオ"/>
              </a:rPr>
              <a:t>（特に「主体的に取り組む態度</a:t>
            </a:r>
            <a:r>
              <a:rPr sz="2200" b="1" dirty="0">
                <a:solidFill>
                  <a:srgbClr val="000000"/>
                </a:solidFill>
                <a:latin typeface="メイリオ"/>
                <a:ea typeface="メイリオ"/>
                <a:cs typeface="メイリオ"/>
              </a:rPr>
              <a:t>」）</a:t>
            </a:r>
          </a:p>
        </p:txBody>
      </p:sp>
      <p:sp>
        <p:nvSpPr>
          <p:cNvPr id="13" name="TextBox 12"/>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dirty="0" err="1">
                <a:solidFill>
                  <a:srgbClr val="404040"/>
                </a:solidFill>
                <a:latin typeface="メイリオ"/>
                <a:ea typeface="メイリオ"/>
                <a:cs typeface="メイリオ"/>
              </a:rPr>
              <a:t>出典：中学校学習指導要領</a:t>
            </a:r>
            <a:r>
              <a:rPr sz="1300" dirty="0">
                <a:solidFill>
                  <a:srgbClr val="404040"/>
                </a:solidFill>
                <a:latin typeface="メイリオ"/>
                <a:ea typeface="メイリオ"/>
                <a:cs typeface="メイリオ"/>
              </a:rPr>
              <a:t> </a:t>
            </a:r>
            <a:r>
              <a:rPr sz="1300" dirty="0" err="1">
                <a:solidFill>
                  <a:srgbClr val="404040"/>
                </a:solidFill>
                <a:latin typeface="メイリオ"/>
                <a:ea typeface="メイリオ"/>
                <a:cs typeface="メイリオ"/>
              </a:rPr>
              <a:t>解説</a:t>
            </a:r>
            <a:r>
              <a:rPr sz="1300" dirty="0">
                <a:solidFill>
                  <a:srgbClr val="404040"/>
                </a:solidFill>
                <a:latin typeface="メイリオ"/>
                <a:ea typeface="メイリオ"/>
                <a:cs typeface="メイリオ"/>
              </a:rPr>
              <a:t>　</a:t>
            </a:r>
            <a:r>
              <a:rPr sz="1300" dirty="0" err="1">
                <a:solidFill>
                  <a:srgbClr val="404040"/>
                </a:solidFill>
                <a:latin typeface="メイリオ"/>
                <a:ea typeface="メイリオ"/>
                <a:cs typeface="メイリオ"/>
              </a:rPr>
              <a:t>総則編／文部科学省</a:t>
            </a:r>
            <a:endParaRPr sz="1300" dirty="0">
              <a:solidFill>
                <a:srgbClr val="404040"/>
              </a:solidFill>
              <a:latin typeface="メイリオ"/>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latin typeface="メイリオ"/>
                <a:ea typeface="メイリオ"/>
                <a:cs typeface="メイリオ"/>
              </a:rPr>
              <a:t>１　主体的・対話的で深い学びの実現に向けた授業改善</a:t>
            </a:r>
            <a:endParaRPr lang="en-US" altLang="ja-JP" sz="2800" b="1" dirty="0"/>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3000" b="1">
                <a:solidFill>
                  <a:srgbClr val="1F3A6E"/>
                </a:solidFill>
                <a:latin typeface="メイリオ"/>
                <a:ea typeface="メイリオ"/>
                <a:cs typeface="メイリオ"/>
              </a:rPr>
              <a:t>「主体的な学び」のイメージ</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0000" y="190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興味や関心
を高める</a:t>
            </a:r>
          </a:p>
        </p:txBody>
      </p:sp>
      <p:sp>
        <p:nvSpPr>
          <p:cNvPr id="7" name="Rectangle 6"/>
          <p:cNvSpPr/>
          <p:nvPr/>
        </p:nvSpPr>
        <p:spPr>
          <a:xfrm>
            <a:off x="4250000" y="190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見通しを
もつ</a:t>
            </a:r>
          </a:p>
        </p:txBody>
      </p:sp>
      <p:sp>
        <p:nvSpPr>
          <p:cNvPr id="8" name="Rectangle 7"/>
          <p:cNvSpPr/>
          <p:nvPr/>
        </p:nvSpPr>
        <p:spPr>
          <a:xfrm>
            <a:off x="8100000" y="190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粘り強く
取り組む</a:t>
            </a:r>
          </a:p>
        </p:txBody>
      </p:sp>
      <p:sp>
        <p:nvSpPr>
          <p:cNvPr id="9" name="Rectangle 8"/>
          <p:cNvSpPr/>
          <p:nvPr/>
        </p:nvSpPr>
        <p:spPr>
          <a:xfrm>
            <a:off x="400000" y="355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dirty="0" err="1">
                <a:solidFill>
                  <a:srgbClr val="1F3A6E"/>
                </a:solidFill>
                <a:latin typeface="メイリオ"/>
                <a:ea typeface="メイリオ"/>
                <a:cs typeface="メイリオ"/>
              </a:rPr>
              <a:t>自分と</a:t>
            </a:r>
            <a:endParaRPr lang="en-US" sz="2200" b="1" dirty="0">
              <a:solidFill>
                <a:srgbClr val="1F3A6E"/>
              </a:solidFill>
              <a:latin typeface="メイリオ"/>
              <a:ea typeface="メイリオ"/>
              <a:cs typeface="メイリオ"/>
            </a:endParaRPr>
          </a:p>
          <a:p>
            <a:pPr algn="ctr">
              <a:lnSpc>
                <a:spcPct val="120000"/>
              </a:lnSpc>
            </a:pPr>
            <a:r>
              <a:rPr sz="2200" b="1" dirty="0" err="1">
                <a:solidFill>
                  <a:srgbClr val="1F3A6E"/>
                </a:solidFill>
                <a:latin typeface="メイリオ"/>
                <a:ea typeface="メイリオ"/>
                <a:cs typeface="メイリオ"/>
              </a:rPr>
              <a:t>結び付ける</a:t>
            </a:r>
            <a:endParaRPr sz="2200" b="1" dirty="0">
              <a:solidFill>
                <a:srgbClr val="1F3A6E"/>
              </a:solidFill>
              <a:latin typeface="メイリオ"/>
              <a:ea typeface="メイリオ"/>
              <a:cs typeface="メイリオ"/>
            </a:endParaRPr>
          </a:p>
        </p:txBody>
      </p:sp>
      <p:sp>
        <p:nvSpPr>
          <p:cNvPr id="10" name="Rectangle 9"/>
          <p:cNvSpPr/>
          <p:nvPr/>
        </p:nvSpPr>
        <p:spPr>
          <a:xfrm>
            <a:off x="4250000" y="355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振り返って
次へつなげる</a:t>
            </a:r>
          </a:p>
        </p:txBody>
      </p:sp>
      <p:sp>
        <p:nvSpPr>
          <p:cNvPr id="11" name="Rectangle 10"/>
          <p:cNvSpPr/>
          <p:nvPr/>
        </p:nvSpPr>
        <p:spPr>
          <a:xfrm>
            <a:off x="8100000" y="355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学び続ける
意志</a:t>
            </a:r>
          </a:p>
        </p:txBody>
      </p:sp>
      <p:sp>
        <p:nvSpPr>
          <p:cNvPr id="12" name="Rectangle 11"/>
          <p:cNvSpPr/>
          <p:nvPr/>
        </p:nvSpPr>
        <p:spPr>
          <a:xfrm>
            <a:off x="400000" y="5300000"/>
            <a:ext cx="11400000" cy="9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2200" b="1" dirty="0" err="1">
                <a:solidFill>
                  <a:srgbClr val="000000"/>
                </a:solidFill>
                <a:latin typeface="メイリオ"/>
                <a:ea typeface="メイリオ"/>
                <a:cs typeface="メイリオ"/>
              </a:rPr>
              <a:t>これらが</a:t>
            </a:r>
            <a:r>
              <a:rPr sz="2200" b="1" dirty="0">
                <a:solidFill>
                  <a:srgbClr val="000000"/>
                </a:solidFill>
                <a:latin typeface="メイリオ"/>
                <a:ea typeface="メイリオ"/>
                <a:cs typeface="メイリオ"/>
              </a:rPr>
              <a:t> </a:t>
            </a:r>
            <a:r>
              <a:rPr sz="2400" b="1" dirty="0" err="1">
                <a:solidFill>
                  <a:srgbClr val="EB6C15"/>
                </a:solidFill>
                <a:latin typeface="メイリオ"/>
                <a:ea typeface="メイリオ"/>
                <a:cs typeface="メイリオ"/>
              </a:rPr>
              <a:t>単元の中で実際に見えるか</a:t>
            </a:r>
            <a:r>
              <a:rPr sz="2200" b="1" dirty="0" err="1">
                <a:solidFill>
                  <a:srgbClr val="000000"/>
                </a:solidFill>
                <a:latin typeface="メイリオ"/>
                <a:ea typeface="メイリオ"/>
                <a:cs typeface="メイリオ"/>
              </a:rPr>
              <a:t>を観る</a:t>
            </a:r>
            <a:endParaRPr sz="2200" b="1" dirty="0">
              <a:solidFill>
                <a:srgbClr val="000000"/>
              </a:solidFill>
              <a:latin typeface="メイリオ"/>
              <a:ea typeface="メイリオ"/>
              <a:cs typeface="メイリオ"/>
            </a:endParaRPr>
          </a:p>
        </p:txBody>
      </p:sp>
      <p:sp>
        <p:nvSpPr>
          <p:cNvPr id="13" name="TextBox 12"/>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a:solidFill>
                  <a:srgbClr val="404040"/>
                </a:solidFill>
                <a:latin typeface="メイリオ"/>
                <a:ea typeface="メイリオ"/>
                <a:cs typeface="メイリオ"/>
              </a:rPr>
              <a:t>出典：中学校学習指導要領 解説　総則編／文部科学省</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latin typeface="メイリオ"/>
                <a:ea typeface="メイリオ"/>
                <a:cs typeface="メイリオ"/>
              </a:rPr>
              <a:t>１　主体的・対話的で深い学びの実現に向けた授業改善</a:t>
            </a:r>
            <a:endParaRPr lang="en-US" altLang="ja-JP" sz="2800" b="1" dirty="0"/>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3000" b="1">
                <a:solidFill>
                  <a:srgbClr val="1F3A6E"/>
                </a:solidFill>
                <a:latin typeface="メイリオ"/>
                <a:ea typeface="メイリオ"/>
                <a:cs typeface="メイリオ"/>
              </a:rPr>
              <a:t>「対話的な学び」のイメージ</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0000" y="190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互いの考え
を比べる</a:t>
            </a:r>
          </a:p>
        </p:txBody>
      </p:sp>
      <p:sp>
        <p:nvSpPr>
          <p:cNvPr id="7" name="Rectangle 6"/>
          <p:cNvSpPr/>
          <p:nvPr/>
        </p:nvSpPr>
        <p:spPr>
          <a:xfrm>
            <a:off x="4250000" y="190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多様な手段
で説明する</a:t>
            </a:r>
          </a:p>
        </p:txBody>
      </p:sp>
      <p:sp>
        <p:nvSpPr>
          <p:cNvPr id="8" name="Rectangle 7"/>
          <p:cNvSpPr/>
          <p:nvPr/>
        </p:nvSpPr>
        <p:spPr>
          <a:xfrm>
            <a:off x="8100000" y="190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共に考えを
創り上げる</a:t>
            </a:r>
          </a:p>
        </p:txBody>
      </p:sp>
      <p:sp>
        <p:nvSpPr>
          <p:cNvPr id="9" name="Rectangle 8"/>
          <p:cNvSpPr/>
          <p:nvPr/>
        </p:nvSpPr>
        <p:spPr>
          <a:xfrm>
            <a:off x="400000" y="355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多様な情報
を収集する</a:t>
            </a:r>
          </a:p>
        </p:txBody>
      </p:sp>
      <p:sp>
        <p:nvSpPr>
          <p:cNvPr id="10" name="Rectangle 9"/>
          <p:cNvSpPr/>
          <p:nvPr/>
        </p:nvSpPr>
        <p:spPr>
          <a:xfrm>
            <a:off x="4250000" y="355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協働して
課題を解決</a:t>
            </a:r>
          </a:p>
        </p:txBody>
      </p:sp>
      <p:sp>
        <p:nvSpPr>
          <p:cNvPr id="11" name="Rectangle 10"/>
          <p:cNvSpPr/>
          <p:nvPr/>
        </p:nvSpPr>
        <p:spPr>
          <a:xfrm>
            <a:off x="8100000" y="355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先哲の考え
を手掛かりに</a:t>
            </a:r>
          </a:p>
        </p:txBody>
      </p:sp>
      <p:sp>
        <p:nvSpPr>
          <p:cNvPr id="12" name="Rectangle 11"/>
          <p:cNvSpPr/>
          <p:nvPr/>
        </p:nvSpPr>
        <p:spPr>
          <a:xfrm>
            <a:off x="400000" y="5300000"/>
            <a:ext cx="11400000" cy="9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2200" b="1">
                <a:solidFill>
                  <a:srgbClr val="000000"/>
                </a:solidFill>
                <a:latin typeface="メイリオ"/>
                <a:ea typeface="メイリオ"/>
                <a:cs typeface="メイリオ"/>
              </a:rPr>
              <a:t>Input ⇄ Output の往復で </a:t>
            </a:r>
            <a:r>
              <a:rPr sz="2400" b="1">
                <a:solidFill>
                  <a:srgbClr val="EB6C15"/>
                </a:solidFill>
                <a:latin typeface="メイリオ"/>
                <a:ea typeface="メイリオ"/>
                <a:cs typeface="メイリオ"/>
              </a:rPr>
              <a:t>自分の考えを更新する姿</a:t>
            </a:r>
            <a:r>
              <a:rPr sz="2200" b="1">
                <a:solidFill>
                  <a:srgbClr val="000000"/>
                </a:solidFill>
                <a:latin typeface="メイリオ"/>
                <a:ea typeface="メイリオ"/>
                <a:cs typeface="メイリオ"/>
              </a:rPr>
              <a:t>を観る</a:t>
            </a:r>
          </a:p>
        </p:txBody>
      </p:sp>
      <p:sp>
        <p:nvSpPr>
          <p:cNvPr id="13" name="TextBox 12"/>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dirty="0" err="1">
                <a:solidFill>
                  <a:srgbClr val="404040"/>
                </a:solidFill>
                <a:latin typeface="メイリオ"/>
                <a:ea typeface="メイリオ"/>
                <a:cs typeface="メイリオ"/>
              </a:rPr>
              <a:t>出典：中学校学習指導要領</a:t>
            </a:r>
            <a:r>
              <a:rPr sz="1300" dirty="0">
                <a:solidFill>
                  <a:srgbClr val="404040"/>
                </a:solidFill>
                <a:latin typeface="メイリオ"/>
                <a:ea typeface="メイリオ"/>
                <a:cs typeface="メイリオ"/>
              </a:rPr>
              <a:t> </a:t>
            </a:r>
            <a:r>
              <a:rPr sz="1300" dirty="0" err="1">
                <a:solidFill>
                  <a:srgbClr val="404040"/>
                </a:solidFill>
                <a:latin typeface="メイリオ"/>
                <a:ea typeface="メイリオ"/>
                <a:cs typeface="メイリオ"/>
              </a:rPr>
              <a:t>解説</a:t>
            </a:r>
            <a:r>
              <a:rPr sz="1300" dirty="0">
                <a:solidFill>
                  <a:srgbClr val="404040"/>
                </a:solidFill>
                <a:latin typeface="メイリオ"/>
                <a:ea typeface="メイリオ"/>
                <a:cs typeface="メイリオ"/>
              </a:rPr>
              <a:t>　</a:t>
            </a:r>
            <a:r>
              <a:rPr sz="1300" dirty="0" err="1">
                <a:solidFill>
                  <a:srgbClr val="404040"/>
                </a:solidFill>
                <a:latin typeface="メイリオ"/>
                <a:ea typeface="メイリオ"/>
                <a:cs typeface="メイリオ"/>
              </a:rPr>
              <a:t>総則編／文部科学省</a:t>
            </a:r>
            <a:endParaRPr sz="1300" dirty="0">
              <a:solidFill>
                <a:srgbClr val="404040"/>
              </a:solidFill>
              <a:latin typeface="メイリオ"/>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latin typeface="メイリオ"/>
                <a:ea typeface="メイリオ"/>
                <a:cs typeface="メイリオ"/>
              </a:rPr>
              <a:t>１　主体的・対話的で深い学びの実現に向けた授業改善</a:t>
            </a:r>
            <a:endParaRPr lang="en-US" altLang="ja-JP" sz="2800" b="1" dirty="0"/>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3000" b="1">
                <a:solidFill>
                  <a:srgbClr val="1F3A6E"/>
                </a:solidFill>
                <a:latin typeface="メイリオ"/>
                <a:ea typeface="メイリオ"/>
                <a:cs typeface="メイリオ"/>
              </a:rPr>
              <a:t>「深い学び」のイメージ</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0000" y="190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知識・技能を
習得する</a:t>
            </a:r>
          </a:p>
        </p:txBody>
      </p:sp>
      <p:sp>
        <p:nvSpPr>
          <p:cNvPr id="7" name="Rectangle 6"/>
          <p:cNvSpPr/>
          <p:nvPr/>
        </p:nvSpPr>
        <p:spPr>
          <a:xfrm>
            <a:off x="4250000" y="190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知識・技能を
活用する</a:t>
            </a:r>
          </a:p>
        </p:txBody>
      </p:sp>
      <p:sp>
        <p:nvSpPr>
          <p:cNvPr id="8" name="Rectangle 7"/>
          <p:cNvSpPr/>
          <p:nvPr/>
        </p:nvSpPr>
        <p:spPr>
          <a:xfrm>
            <a:off x="8100000" y="190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知識・技能を
概念化する</a:t>
            </a:r>
          </a:p>
        </p:txBody>
      </p:sp>
      <p:sp>
        <p:nvSpPr>
          <p:cNvPr id="9" name="Rectangle 8"/>
          <p:cNvSpPr/>
          <p:nvPr/>
        </p:nvSpPr>
        <p:spPr>
          <a:xfrm>
            <a:off x="400000" y="355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自分の考えを
形成する</a:t>
            </a:r>
          </a:p>
        </p:txBody>
      </p:sp>
      <p:sp>
        <p:nvSpPr>
          <p:cNvPr id="10" name="Rectangle 9"/>
          <p:cNvSpPr/>
          <p:nvPr/>
        </p:nvSpPr>
        <p:spPr>
          <a:xfrm>
            <a:off x="4250000" y="355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思考して
問い続ける</a:t>
            </a:r>
          </a:p>
        </p:txBody>
      </p:sp>
      <p:sp>
        <p:nvSpPr>
          <p:cNvPr id="11" name="Rectangle 10"/>
          <p:cNvSpPr/>
          <p:nvPr/>
        </p:nvSpPr>
        <p:spPr>
          <a:xfrm>
            <a:off x="8100000" y="355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新たなものを
創り上げる</a:t>
            </a:r>
          </a:p>
        </p:txBody>
      </p:sp>
      <p:sp>
        <p:nvSpPr>
          <p:cNvPr id="12" name="Rectangle 11"/>
          <p:cNvSpPr/>
          <p:nvPr/>
        </p:nvSpPr>
        <p:spPr>
          <a:xfrm>
            <a:off x="400000" y="5300000"/>
            <a:ext cx="11400000" cy="9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2200" b="1" dirty="0">
                <a:solidFill>
                  <a:srgbClr val="000000"/>
                </a:solidFill>
                <a:latin typeface="メイリオ"/>
                <a:ea typeface="メイリオ"/>
                <a:cs typeface="メイリオ"/>
              </a:rPr>
              <a:t>「</a:t>
            </a:r>
            <a:r>
              <a:rPr sz="2200" b="1" dirty="0" err="1">
                <a:solidFill>
                  <a:srgbClr val="000000"/>
                </a:solidFill>
                <a:latin typeface="メイリオ"/>
                <a:ea typeface="メイリオ"/>
                <a:cs typeface="メイリオ"/>
              </a:rPr>
              <a:t>分かった」を超えて</a:t>
            </a:r>
            <a:r>
              <a:rPr sz="2200" b="1" dirty="0">
                <a:solidFill>
                  <a:srgbClr val="000000"/>
                </a:solidFill>
                <a:latin typeface="メイリオ"/>
                <a:ea typeface="メイリオ"/>
                <a:cs typeface="メイリオ"/>
              </a:rPr>
              <a:t> </a:t>
            </a:r>
            <a:r>
              <a:rPr sz="2400" b="1" dirty="0">
                <a:solidFill>
                  <a:srgbClr val="EB6C15"/>
                </a:solidFill>
                <a:latin typeface="メイリオ"/>
                <a:ea typeface="メイリオ"/>
                <a:cs typeface="メイリオ"/>
              </a:rPr>
              <a:t>「</a:t>
            </a:r>
            <a:r>
              <a:rPr sz="2400" b="1" dirty="0" err="1">
                <a:solidFill>
                  <a:srgbClr val="EB6C15"/>
                </a:solidFill>
                <a:latin typeface="メイリオ"/>
                <a:ea typeface="メイリオ"/>
                <a:cs typeface="メイリオ"/>
              </a:rPr>
              <a:t>使える・問い続ける」姿</a:t>
            </a:r>
            <a:r>
              <a:rPr sz="2200" b="1" dirty="0" err="1">
                <a:solidFill>
                  <a:srgbClr val="000000"/>
                </a:solidFill>
                <a:latin typeface="メイリオ"/>
                <a:ea typeface="メイリオ"/>
                <a:cs typeface="メイリオ"/>
              </a:rPr>
              <a:t>を観る</a:t>
            </a:r>
            <a:endParaRPr sz="2200" b="1" dirty="0">
              <a:solidFill>
                <a:srgbClr val="000000"/>
              </a:solidFill>
              <a:latin typeface="メイリオ"/>
            </a:endParaRPr>
          </a:p>
        </p:txBody>
      </p:sp>
      <p:sp>
        <p:nvSpPr>
          <p:cNvPr id="13" name="TextBox 12"/>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dirty="0" err="1">
                <a:solidFill>
                  <a:srgbClr val="404040"/>
                </a:solidFill>
                <a:latin typeface="メイリオ"/>
                <a:ea typeface="メイリオ"/>
                <a:cs typeface="メイリオ"/>
              </a:rPr>
              <a:t>出典：中学校学習指導要領</a:t>
            </a:r>
            <a:r>
              <a:rPr sz="1300" dirty="0">
                <a:solidFill>
                  <a:srgbClr val="404040"/>
                </a:solidFill>
                <a:latin typeface="メイリオ"/>
                <a:ea typeface="メイリオ"/>
                <a:cs typeface="メイリオ"/>
              </a:rPr>
              <a:t> </a:t>
            </a:r>
            <a:r>
              <a:rPr sz="1300" dirty="0" err="1">
                <a:solidFill>
                  <a:srgbClr val="404040"/>
                </a:solidFill>
                <a:latin typeface="メイリオ"/>
                <a:ea typeface="メイリオ"/>
                <a:cs typeface="メイリオ"/>
              </a:rPr>
              <a:t>解説</a:t>
            </a:r>
            <a:r>
              <a:rPr sz="1300" dirty="0">
                <a:solidFill>
                  <a:srgbClr val="404040"/>
                </a:solidFill>
                <a:latin typeface="メイリオ"/>
                <a:ea typeface="メイリオ"/>
                <a:cs typeface="メイリオ"/>
              </a:rPr>
              <a:t>　</a:t>
            </a:r>
            <a:r>
              <a:rPr sz="1300" dirty="0" err="1">
                <a:solidFill>
                  <a:srgbClr val="404040"/>
                </a:solidFill>
                <a:latin typeface="メイリオ"/>
                <a:ea typeface="メイリオ"/>
                <a:cs typeface="メイリオ"/>
              </a:rPr>
              <a:t>総則編／文部科学省</a:t>
            </a:r>
            <a:endParaRPr sz="1300" dirty="0">
              <a:solidFill>
                <a:srgbClr val="404040"/>
              </a:solidFill>
              <a:latin typeface="メイリオ"/>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latin typeface="メイリオ"/>
                <a:ea typeface="メイリオ"/>
                <a:cs typeface="メイリオ"/>
              </a:rPr>
              <a:t>１　主体的・対話的で深い学びの実現に向けた授業改善</a:t>
            </a:r>
            <a:endParaRPr lang="en-US" altLang="ja-JP" sz="2800" b="1" dirty="0"/>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3000" b="1">
                <a:solidFill>
                  <a:srgbClr val="1F3A6E"/>
                </a:solidFill>
                <a:latin typeface="メイリオ"/>
                <a:ea typeface="メイリオ"/>
                <a:cs typeface="メイリオ"/>
              </a:rPr>
              <a:t>授業改善 と 評価 は一体</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0000" y="1900000"/>
            <a:ext cx="11400000" cy="9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2600" b="1" dirty="0">
                <a:solidFill>
                  <a:srgbClr val="1F3A6E"/>
                </a:solidFill>
                <a:latin typeface="メイリオ"/>
                <a:ea typeface="メイリオ"/>
                <a:cs typeface="メイリオ"/>
              </a:rPr>
              <a:t>「</a:t>
            </a:r>
            <a:r>
              <a:rPr sz="2600" b="1" dirty="0" err="1">
                <a:solidFill>
                  <a:srgbClr val="1F3A6E"/>
                </a:solidFill>
                <a:latin typeface="メイリオ"/>
                <a:ea typeface="メイリオ"/>
                <a:cs typeface="メイリオ"/>
              </a:rPr>
              <a:t>主体的・対話的で深い学び」の視点で授業を改善する</a:t>
            </a:r>
            <a:endParaRPr sz="2600" b="1" dirty="0">
              <a:solidFill>
                <a:srgbClr val="1F3A6E"/>
              </a:solidFill>
              <a:latin typeface="メイリオ"/>
            </a:endParaRPr>
          </a:p>
        </p:txBody>
      </p:sp>
      <p:sp>
        <p:nvSpPr>
          <p:cNvPr id="7" name="Down Arrow 6"/>
          <p:cNvSpPr/>
          <p:nvPr/>
        </p:nvSpPr>
        <p:spPr>
          <a:xfrm>
            <a:off x="5596000" y="2900000"/>
            <a:ext cx="1000000" cy="500000"/>
          </a:xfrm>
          <a:prstGeom prst="downArrow">
            <a:avLst/>
          </a:prstGeom>
          <a:solidFill>
            <a:srgbClr val="EB6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00000" y="3500000"/>
            <a:ext cx="11400000" cy="9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2600" b="1">
                <a:solidFill>
                  <a:srgbClr val="1F3A6E"/>
                </a:solidFill>
                <a:latin typeface="メイリオ"/>
                <a:ea typeface="メイリオ"/>
                <a:cs typeface="メイリオ"/>
              </a:rPr>
              <a:t>授業で「目指す生徒の姿」を、教師が事前に描く</a:t>
            </a:r>
          </a:p>
        </p:txBody>
      </p:sp>
      <p:sp>
        <p:nvSpPr>
          <p:cNvPr id="9" name="Down Arrow 8"/>
          <p:cNvSpPr/>
          <p:nvPr/>
        </p:nvSpPr>
        <p:spPr>
          <a:xfrm>
            <a:off x="5596000" y="4500000"/>
            <a:ext cx="1000000" cy="500000"/>
          </a:xfrm>
          <a:prstGeom prst="downArrow">
            <a:avLst/>
          </a:prstGeom>
          <a:solidFill>
            <a:srgbClr val="EB6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00000" y="5100000"/>
            <a:ext cx="11400000" cy="1100000"/>
          </a:xfrm>
          <a:prstGeom prst="rect">
            <a:avLst/>
          </a:prstGeom>
          <a:solidFill>
            <a:srgbClr val="FFFFFF"/>
          </a:solidFill>
          <a:ln w="508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2400" b="1" dirty="0" err="1">
                <a:solidFill>
                  <a:srgbClr val="000000"/>
                </a:solidFill>
                <a:latin typeface="メイリオ"/>
                <a:ea typeface="メイリオ"/>
                <a:cs typeface="メイリオ"/>
              </a:rPr>
              <a:t>その「目指す姿」が</a:t>
            </a:r>
            <a:r>
              <a:rPr sz="2400" b="1" dirty="0">
                <a:solidFill>
                  <a:srgbClr val="000000"/>
                </a:solidFill>
                <a:latin typeface="メイリオ"/>
                <a:ea typeface="メイリオ"/>
                <a:cs typeface="メイリオ"/>
              </a:rPr>
              <a:t> </a:t>
            </a:r>
            <a:r>
              <a:rPr sz="2600" b="1" dirty="0" err="1">
                <a:solidFill>
                  <a:srgbClr val="EB6C15"/>
                </a:solidFill>
                <a:latin typeface="メイリオ"/>
                <a:ea typeface="メイリオ"/>
                <a:cs typeface="メイリオ"/>
              </a:rPr>
              <a:t>評価規準（Bと判断する姿</a:t>
            </a:r>
            <a:r>
              <a:rPr sz="2600" b="1" dirty="0">
                <a:solidFill>
                  <a:srgbClr val="EB6C15"/>
                </a:solidFill>
                <a:latin typeface="メイリオ"/>
                <a:ea typeface="メイリオ"/>
                <a:cs typeface="メイリオ"/>
              </a:rPr>
              <a:t>）</a:t>
            </a:r>
            <a:r>
              <a:rPr sz="2400" b="1" dirty="0">
                <a:solidFill>
                  <a:srgbClr val="000000"/>
                </a:solidFill>
                <a:latin typeface="メイリオ"/>
                <a:ea typeface="メイリオ"/>
                <a:cs typeface="メイリオ"/>
              </a:rPr>
              <a:t> </a:t>
            </a:r>
            <a:r>
              <a:rPr sz="2400" b="1" dirty="0" err="1">
                <a:solidFill>
                  <a:srgbClr val="000000"/>
                </a:solidFill>
                <a:latin typeface="メイリオ"/>
                <a:ea typeface="メイリオ"/>
                <a:cs typeface="メイリオ"/>
              </a:rPr>
              <a:t>になる</a:t>
            </a:r>
            <a:endParaRPr sz="2400" b="1" dirty="0">
              <a:solidFill>
                <a:srgbClr val="000000"/>
              </a:solidFill>
              <a:latin typeface="メイリオ"/>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20000"/>
          </a:xfrm>
          <a:prstGeom prst="rect">
            <a:avLst/>
          </a:prstGeom>
          <a:solidFill>
            <a:srgbClr val="07A973"/>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pPr algn="l"/>
            <a:r>
              <a:rPr sz="2400" b="1" dirty="0">
                <a:solidFill>
                  <a:srgbClr val="FFFFFF"/>
                </a:solidFill>
                <a:latin typeface="メイリオ"/>
                <a:ea typeface="メイリオ"/>
                <a:cs typeface="メイリオ"/>
              </a:rPr>
              <a:t>【</a:t>
            </a:r>
            <a:r>
              <a:rPr sz="2400" b="1" dirty="0" err="1">
                <a:solidFill>
                  <a:srgbClr val="FFFFFF"/>
                </a:solidFill>
                <a:latin typeface="メイリオ"/>
                <a:ea typeface="メイリオ"/>
                <a:cs typeface="メイリオ"/>
              </a:rPr>
              <a:t>ペアトーク</a:t>
            </a:r>
            <a:r>
              <a:rPr sz="2400" b="1" dirty="0">
                <a:solidFill>
                  <a:srgbClr val="FFFFFF"/>
                </a:solidFill>
                <a:latin typeface="メイリオ"/>
                <a:ea typeface="メイリオ"/>
                <a:cs typeface="メイリオ"/>
              </a:rPr>
              <a:t>①】　</a:t>
            </a:r>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lang="ja-JP" altLang="en-US" sz="2800" b="1" dirty="0">
                <a:solidFill>
                  <a:srgbClr val="1F3A6E"/>
                </a:solidFill>
                <a:latin typeface="メイリオ"/>
                <a:ea typeface="メイリオ"/>
                <a:cs typeface="メイリオ"/>
              </a:rPr>
              <a:t>１</a:t>
            </a:r>
            <a:r>
              <a:rPr sz="2800" b="1" dirty="0" err="1">
                <a:solidFill>
                  <a:srgbClr val="1F3A6E"/>
                </a:solidFill>
                <a:latin typeface="メイリオ"/>
                <a:ea typeface="メイリオ"/>
                <a:cs typeface="メイリオ"/>
              </a:rPr>
              <a:t>分で話してみてください</a:t>
            </a:r>
            <a:endParaRPr sz="2800" b="1" dirty="0">
              <a:solidFill>
                <a:srgbClr val="1F3A6E"/>
              </a:solidFill>
              <a:latin typeface="メイリオ"/>
              <a:ea typeface="メイリオ"/>
              <a:cs typeface="メイリオ"/>
            </a:endParaRP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00000" y="1900000"/>
            <a:ext cx="11400000" cy="1600000"/>
          </a:xfrm>
          <a:prstGeom prst="rect">
            <a:avLst/>
          </a:prstGeom>
          <a:solidFill>
            <a:srgbClr val="D6EEFA"/>
          </a:solidFill>
          <a:ln w="63500">
            <a:solidFill>
              <a:srgbClr val="07A973"/>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fontScale="92500" lnSpcReduction="20000"/>
          </a:bodyPr>
          <a:lstStyle/>
          <a:p>
            <a:pPr algn="ctr">
              <a:lnSpc>
                <a:spcPct val="130000"/>
              </a:lnSpc>
            </a:pPr>
            <a:r>
              <a:rPr sz="2800" b="1">
                <a:solidFill>
                  <a:srgbClr val="000000"/>
                </a:solidFill>
                <a:latin typeface="メイリオ"/>
                <a:ea typeface="メイリオ"/>
                <a:cs typeface="メイリオ"/>
              </a:rPr>
              <a:t>最近の授業で、</a:t>
            </a:r>
          </a:p>
          <a:p>
            <a:pPr algn="ctr">
              <a:lnSpc>
                <a:spcPct val="130000"/>
              </a:lnSpc>
            </a:pPr>
            <a:r>
              <a:rPr sz="3000" b="1">
                <a:solidFill>
                  <a:srgbClr val="EB6C15"/>
                </a:solidFill>
                <a:latin typeface="メイリオ"/>
                <a:ea typeface="メイリオ"/>
                <a:cs typeface="メイリオ"/>
              </a:rPr>
              <a:t>「主体的な学び」「対話的な学び」「深い学び」</a:t>
            </a:r>
          </a:p>
          <a:p>
            <a:pPr algn="ctr">
              <a:lnSpc>
                <a:spcPct val="130000"/>
              </a:lnSpc>
            </a:pPr>
            <a:r>
              <a:rPr sz="2800" b="1">
                <a:solidFill>
                  <a:srgbClr val="000000"/>
                </a:solidFill>
                <a:latin typeface="メイリオ"/>
                <a:ea typeface="メイリオ"/>
                <a:cs typeface="メイリオ"/>
              </a:rPr>
              <a:t>が見えた場面はありましたか？</a:t>
            </a:r>
          </a:p>
        </p:txBody>
      </p:sp>
      <p:sp>
        <p:nvSpPr>
          <p:cNvPr id="6" name="Rectangle 5"/>
          <p:cNvSpPr/>
          <p:nvPr/>
        </p:nvSpPr>
        <p:spPr>
          <a:xfrm>
            <a:off x="400000" y="3700000"/>
            <a:ext cx="11400000" cy="11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fontScale="70000" lnSpcReduction="20000"/>
          </a:bodyPr>
          <a:lstStyle/>
          <a:p>
            <a:pPr algn="l">
              <a:lnSpc>
                <a:spcPct val="150000"/>
              </a:lnSpc>
            </a:pPr>
            <a:r>
              <a:rPr sz="2200" b="1">
                <a:solidFill>
                  <a:srgbClr val="1F3A6E"/>
                </a:solidFill>
                <a:latin typeface="メイリオ"/>
                <a:ea typeface="メイリオ"/>
                <a:cs typeface="メイリオ"/>
              </a:rPr>
              <a:t>○ どんな小さなことでもOK</a:t>
            </a:r>
          </a:p>
          <a:p>
            <a:pPr algn="l">
              <a:lnSpc>
                <a:spcPct val="150000"/>
              </a:lnSpc>
            </a:pPr>
            <a:r>
              <a:rPr sz="2200" b="1">
                <a:solidFill>
                  <a:srgbClr val="1F3A6E"/>
                </a:solidFill>
                <a:latin typeface="メイリオ"/>
                <a:ea typeface="メイリオ"/>
                <a:cs typeface="メイリオ"/>
              </a:rPr>
              <a:t>○ 教科特性を超えて、一場面を思い出してみる</a:t>
            </a:r>
          </a:p>
          <a:p>
            <a:pPr algn="l">
              <a:lnSpc>
                <a:spcPct val="150000"/>
              </a:lnSpc>
            </a:pPr>
            <a:r>
              <a:rPr sz="2200" b="1">
                <a:solidFill>
                  <a:srgbClr val="404040"/>
                </a:solidFill>
                <a:latin typeface="メイリオ"/>
                <a:ea typeface="メイリオ"/>
                <a:cs typeface="メイリオ"/>
              </a:rPr>
              <a:t>○ 「逆に見えなかった…」もOKです</a:t>
            </a:r>
          </a:p>
        </p:txBody>
      </p:sp>
      <p:sp>
        <p:nvSpPr>
          <p:cNvPr id="7" name="Rectangle 6"/>
          <p:cNvSpPr/>
          <p:nvPr/>
        </p:nvSpPr>
        <p:spPr>
          <a:xfrm>
            <a:off x="400000" y="5000000"/>
            <a:ext cx="5400000" cy="900000"/>
          </a:xfrm>
          <a:prstGeom prst="rect">
            <a:avLst/>
          </a:prstGeom>
          <a:solidFill>
            <a:srgbClr val="EB6C15"/>
          </a:solidFill>
          <a:ln w="25400">
            <a:solidFill>
              <a:srgbClr val="EB6C15"/>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lnSpcReduction="10000"/>
          </a:bodyPr>
          <a:lstStyle/>
          <a:p>
            <a:pPr algn="ctr">
              <a:lnSpc>
                <a:spcPct val="130000"/>
              </a:lnSpc>
            </a:pPr>
            <a:r>
              <a:rPr sz="4000" b="1" dirty="0">
                <a:solidFill>
                  <a:srgbClr val="FFFFFF"/>
                </a:solidFill>
                <a:latin typeface="メイリオ"/>
                <a:ea typeface="メイリオ"/>
                <a:cs typeface="メイリオ"/>
              </a:rPr>
              <a:t>⏱ </a:t>
            </a:r>
            <a:r>
              <a:rPr lang="ja-JP" altLang="en-US" sz="4000" b="1" dirty="0">
                <a:solidFill>
                  <a:srgbClr val="FFFFFF"/>
                </a:solidFill>
                <a:latin typeface="メイリオ"/>
                <a:ea typeface="メイリオ"/>
                <a:cs typeface="メイリオ"/>
              </a:rPr>
              <a:t>１</a:t>
            </a:r>
            <a:r>
              <a:rPr sz="4000" b="1" dirty="0">
                <a:solidFill>
                  <a:srgbClr val="FFFFFF"/>
                </a:solidFill>
                <a:latin typeface="メイリオ"/>
                <a:ea typeface="メイリオ"/>
                <a:cs typeface="メイリオ"/>
              </a:rPr>
              <a:t>分</a:t>
            </a:r>
          </a:p>
        </p:txBody>
      </p:sp>
      <p:sp>
        <p:nvSpPr>
          <p:cNvPr id="8" name="Rectangle 7"/>
          <p:cNvSpPr/>
          <p:nvPr/>
        </p:nvSpPr>
        <p:spPr>
          <a:xfrm>
            <a:off x="6400000" y="5000000"/>
            <a:ext cx="5400000" cy="900000"/>
          </a:xfrm>
          <a:prstGeom prst="rect">
            <a:avLst/>
          </a:prstGeom>
          <a:solidFill>
            <a:srgbClr val="FFE066"/>
          </a:solidFill>
          <a:ln w="25400">
            <a:solidFill>
              <a:srgbClr val="EB6C15"/>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a:bodyPr>
          <a:lstStyle/>
          <a:p>
            <a:pPr algn="ctr">
              <a:lnSpc>
                <a:spcPct val="130000"/>
              </a:lnSpc>
            </a:pPr>
            <a:r>
              <a:rPr sz="2400" b="1">
                <a:solidFill>
                  <a:srgbClr val="1F3A6E"/>
                </a:solidFill>
                <a:latin typeface="メイリオ"/>
                <a:ea typeface="メイリオ"/>
                <a:cs typeface="メイリオ"/>
              </a:rPr>
              <a:t>隣の方とペアで</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1427843" y="2661217"/>
            <a:ext cx="9428844" cy="1417299"/>
          </a:xfrm>
        </p:spPr>
        <p:txBody>
          <a:bodyPr>
            <a:noAutofit/>
          </a:bodyPr>
          <a:lstStyle/>
          <a:p>
            <a:r>
              <a:rPr lang="ja-JP" altLang="en-US" sz="4000" b="1" dirty="0">
                <a:latin typeface="メイリオ"/>
                <a:ea typeface="メイリオ"/>
                <a:cs typeface="メイリオ"/>
              </a:rPr>
              <a:t>２　</a:t>
            </a:r>
            <a:r>
              <a:rPr lang="en-US" altLang="ja-JP" sz="4000" b="1" dirty="0">
                <a:latin typeface="メイリオ"/>
                <a:ea typeface="メイリオ"/>
                <a:cs typeface="メイリオ"/>
              </a:rPr>
              <a:t>『</a:t>
            </a:r>
            <a:r>
              <a:rPr lang="ja-JP" altLang="en-US" sz="4000" b="1" dirty="0">
                <a:latin typeface="メイリオ"/>
                <a:ea typeface="メイリオ"/>
                <a:cs typeface="メイリオ"/>
              </a:rPr>
              <a:t>主体的に学習に取り組む態度</a:t>
            </a:r>
            <a:r>
              <a:rPr lang="en-US" altLang="ja-JP" sz="4000" b="1" dirty="0">
                <a:latin typeface="メイリオ"/>
                <a:ea typeface="メイリオ"/>
                <a:cs typeface="メイリオ"/>
              </a:rPr>
              <a:t>』</a:t>
            </a:r>
            <a:br>
              <a:rPr lang="en-US" altLang="ja-JP" sz="4000" b="1" dirty="0">
                <a:latin typeface="+mn-ea"/>
                <a:ea typeface="+mn-ea"/>
              </a:rPr>
            </a:br>
            <a:r>
              <a:rPr lang="ja-JP" altLang="en-US" sz="4000" b="1" dirty="0">
                <a:latin typeface="メイリオ"/>
                <a:ea typeface="メイリオ"/>
                <a:cs typeface="メイリオ"/>
              </a:rPr>
              <a:t>　　　　　　　　　　　　　の学習評価</a:t>
            </a:r>
            <a:endParaRPr lang="ja-JP" altLang="en-US" sz="4000" dirty="0">
              <a:latin typeface="+mn-ea"/>
              <a:ea typeface="+mn-ea"/>
            </a:endParaRPr>
          </a:p>
        </p:txBody>
      </p:sp>
    </p:spTree>
    <p:extLst>
      <p:ext uri="{BB962C8B-B14F-4D97-AF65-F5344CB8AC3E}">
        <p14:creationId xmlns:p14="http://schemas.microsoft.com/office/powerpoint/2010/main" val="24237765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コンテンツ プレースホルダー 2"/>
          <p:cNvSpPr txBox="1">
            <a:spLocks/>
          </p:cNvSpPr>
          <p:nvPr/>
        </p:nvSpPr>
        <p:spPr>
          <a:xfrm>
            <a:off x="888643" y="1930319"/>
            <a:ext cx="4971243" cy="271088"/>
          </a:xfrm>
          <a:prstGeom prst="rect">
            <a:avLst/>
          </a:prstGeom>
        </p:spPr>
        <p:txBody>
          <a:bodyPr vert="horz" lIns="91440" tIns="45720" rIns="91440" bIns="45720" rtlCol="0">
            <a:no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50000"/>
              </a:lnSpc>
              <a:buNone/>
            </a:pPr>
            <a:r>
              <a:rPr lang="ja-JP" altLang="en-US" sz="3600" b="1" dirty="0">
                <a:latin typeface="メイリオ"/>
                <a:ea typeface="メイリオ"/>
                <a:cs typeface="メイリオ"/>
              </a:rPr>
              <a:t>・学習改善への活用</a:t>
            </a:r>
          </a:p>
        </p:txBody>
      </p:sp>
      <p:sp>
        <p:nvSpPr>
          <p:cNvPr id="7" name="コンテンツ プレースホルダー 2"/>
          <p:cNvSpPr txBox="1">
            <a:spLocks/>
          </p:cNvSpPr>
          <p:nvPr/>
        </p:nvSpPr>
        <p:spPr>
          <a:xfrm>
            <a:off x="888644" y="2585405"/>
            <a:ext cx="6697012" cy="433838"/>
          </a:xfrm>
          <a:prstGeom prst="rect">
            <a:avLst/>
          </a:prstGeom>
        </p:spPr>
        <p:txBody>
          <a:bodyPr vert="horz" lIns="91440" tIns="45720" rIns="91440" bIns="45720" rtlCol="0">
            <a:no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70000"/>
              </a:lnSpc>
              <a:buNone/>
            </a:pPr>
            <a:r>
              <a:rPr lang="ja-JP" altLang="en-US" sz="3600" b="1" dirty="0">
                <a:latin typeface="メイリオ"/>
                <a:ea typeface="メイリオ"/>
                <a:cs typeface="メイリオ"/>
              </a:rPr>
              <a:t>・生徒や保護者からの誤解</a:t>
            </a:r>
            <a:endParaRPr lang="en-US" altLang="ja-JP" sz="3600" b="1" dirty="0"/>
          </a:p>
        </p:txBody>
      </p:sp>
      <p:sp>
        <p:nvSpPr>
          <p:cNvPr id="10" name="コンテンツ プレースホルダー 2"/>
          <p:cNvSpPr txBox="1">
            <a:spLocks/>
          </p:cNvSpPr>
          <p:nvPr/>
        </p:nvSpPr>
        <p:spPr>
          <a:xfrm>
            <a:off x="888642" y="3247125"/>
            <a:ext cx="6362164" cy="845671"/>
          </a:xfrm>
          <a:prstGeom prst="rect">
            <a:avLst/>
          </a:prstGeom>
        </p:spPr>
        <p:txBody>
          <a:bodyPr vert="horz" lIns="91440" tIns="45720" rIns="91440" bIns="45720" rtlCol="0">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3600" b="1" dirty="0">
                <a:latin typeface="メイリオ"/>
                <a:ea typeface="メイリオ"/>
                <a:cs typeface="メイリオ"/>
              </a:rPr>
              <a:t>・教員への負担</a:t>
            </a:r>
          </a:p>
        </p:txBody>
      </p:sp>
      <p:sp>
        <p:nvSpPr>
          <p:cNvPr id="11" name="コンテンツ プレースホルダー 2"/>
          <p:cNvSpPr txBox="1">
            <a:spLocks/>
          </p:cNvSpPr>
          <p:nvPr/>
        </p:nvSpPr>
        <p:spPr>
          <a:xfrm>
            <a:off x="888642" y="4160812"/>
            <a:ext cx="8319749" cy="707007"/>
          </a:xfrm>
          <a:prstGeom prst="rect">
            <a:avLst/>
          </a:prstGeom>
        </p:spPr>
        <p:txBody>
          <a:bodyPr vert="horz" lIns="91440" tIns="45720" rIns="91440" bIns="45720" rtlCol="0">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50000"/>
              </a:lnSpc>
              <a:buNone/>
            </a:pPr>
            <a:r>
              <a:rPr lang="ja-JP" altLang="en-US" sz="3600" b="1" dirty="0">
                <a:latin typeface="メイリオ"/>
                <a:ea typeface="メイリオ"/>
                <a:cs typeface="メイリオ"/>
              </a:rPr>
              <a:t>・正しい理解がされていない</a:t>
            </a:r>
          </a:p>
        </p:txBody>
      </p:sp>
      <p:sp>
        <p:nvSpPr>
          <p:cNvPr id="13" name="コンテンツ プレースホルダー 2"/>
          <p:cNvSpPr txBox="1">
            <a:spLocks/>
          </p:cNvSpPr>
          <p:nvPr/>
        </p:nvSpPr>
        <p:spPr>
          <a:xfrm>
            <a:off x="888642" y="4871654"/>
            <a:ext cx="10820755" cy="1033789"/>
          </a:xfrm>
          <a:prstGeom prst="rect">
            <a:avLst/>
          </a:prstGeom>
          <a:ln w="38100">
            <a:solidFill>
              <a:srgbClr val="C00000"/>
            </a:solidFill>
          </a:ln>
        </p:spPr>
        <p:txBody>
          <a:bodyPr vert="horz" lIns="91440" tIns="45720" rIns="91440" bIns="45720" rtlCol="0">
            <a:no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3600" b="1" dirty="0">
                <a:latin typeface="メイリオ"/>
                <a:ea typeface="メイリオ"/>
                <a:cs typeface="メイリオ"/>
              </a:rPr>
              <a:t>何のために「学習評価」を行うのか改めて意識することが重要</a:t>
            </a:r>
          </a:p>
        </p:txBody>
      </p:sp>
      <p:sp>
        <p:nvSpPr>
          <p:cNvPr id="2" name="Rectangle 1">
            <a:extLst>
              <a:ext uri="{FF2B5EF4-FFF2-40B4-BE49-F238E27FC236}">
                <a16:creationId xmlns:a16="http://schemas.microsoft.com/office/drawing/2014/main" id="{5E7DD3BE-F7B3-B8D0-AEA2-6C58CC9CBC74}"/>
              </a:ext>
            </a:extLst>
          </p:cNvPr>
          <p:cNvSpPr/>
          <p:nvPr/>
        </p:nvSpPr>
        <p:spPr>
          <a:xfrm>
            <a:off x="0" y="-59585"/>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4" name="Rectangle 2">
            <a:extLst>
              <a:ext uri="{FF2B5EF4-FFF2-40B4-BE49-F238E27FC236}">
                <a16:creationId xmlns:a16="http://schemas.microsoft.com/office/drawing/2014/main" id="{3C9C8EB6-E975-E555-C422-99E9829C80A5}"/>
              </a:ext>
            </a:extLst>
          </p:cNvPr>
          <p:cNvSpPr/>
          <p:nvPr/>
        </p:nvSpPr>
        <p:spPr>
          <a:xfrm>
            <a:off x="0" y="770415"/>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r>
              <a:rPr lang="ja-JP" altLang="en-US" sz="3200" b="1" dirty="0">
                <a:solidFill>
                  <a:schemeClr val="tx1"/>
                </a:solidFill>
                <a:latin typeface="メイリオ"/>
                <a:ea typeface="メイリオ"/>
                <a:cs typeface="メイリオ"/>
              </a:rPr>
              <a:t>学習評価の現状における課題</a:t>
            </a:r>
          </a:p>
        </p:txBody>
      </p:sp>
    </p:spTree>
    <p:extLst>
      <p:ext uri="{BB962C8B-B14F-4D97-AF65-F5344CB8AC3E}">
        <p14:creationId xmlns:p14="http://schemas.microsoft.com/office/powerpoint/2010/main" val="2898441235"/>
      </p:ext>
    </p:extLst>
  </p:cSld>
  <p:clrMapOvr>
    <a:masterClrMapping/>
  </p:clrMapOvr>
  <p:transition spd="slow">
    <p:cove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コンテンツ プレースホルダー 2"/>
          <p:cNvSpPr txBox="1">
            <a:spLocks/>
          </p:cNvSpPr>
          <p:nvPr/>
        </p:nvSpPr>
        <p:spPr>
          <a:xfrm>
            <a:off x="888647" y="2232148"/>
            <a:ext cx="10400764" cy="627045"/>
          </a:xfrm>
          <a:prstGeom prst="rect">
            <a:avLst/>
          </a:prstGeom>
        </p:spPr>
        <p:txBody>
          <a:bodyPr vert="horz" lIns="91440" tIns="45720" rIns="91440" bIns="45720" rtlCol="0">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3200" b="1" dirty="0">
                <a:latin typeface="メイリオ"/>
                <a:ea typeface="メイリオ"/>
                <a:cs typeface="メイリオ"/>
              </a:rPr>
              <a:t>①</a:t>
            </a:r>
            <a:r>
              <a:rPr lang="ja-JP" altLang="en-US" sz="3200" b="1" dirty="0">
                <a:solidFill>
                  <a:srgbClr val="FF0000"/>
                </a:solidFill>
                <a:latin typeface="メイリオ"/>
                <a:ea typeface="メイリオ"/>
                <a:cs typeface="メイリオ"/>
              </a:rPr>
              <a:t>生徒の学習改善</a:t>
            </a:r>
            <a:r>
              <a:rPr lang="ja-JP" altLang="en-US" sz="3200" b="1" dirty="0">
                <a:latin typeface="メイリオ"/>
                <a:ea typeface="メイリオ"/>
                <a:cs typeface="メイリオ"/>
              </a:rPr>
              <a:t>につながるものにしていくこと</a:t>
            </a:r>
          </a:p>
        </p:txBody>
      </p:sp>
      <p:sp>
        <p:nvSpPr>
          <p:cNvPr id="12" name="コンテンツ プレースホルダー 2"/>
          <p:cNvSpPr txBox="1">
            <a:spLocks/>
          </p:cNvSpPr>
          <p:nvPr/>
        </p:nvSpPr>
        <p:spPr>
          <a:xfrm>
            <a:off x="888647" y="3437409"/>
            <a:ext cx="10400764" cy="503123"/>
          </a:xfrm>
          <a:prstGeom prst="rect">
            <a:avLst/>
          </a:prstGeom>
        </p:spPr>
        <p:txBody>
          <a:bodyPr vert="horz" lIns="91440" tIns="45720" rIns="91440" bIns="45720" rtlCol="0">
            <a:normAutofit fontScale="92500" lnSpcReduction="10000"/>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3200" b="1" dirty="0">
                <a:latin typeface="メイリオ"/>
                <a:ea typeface="メイリオ"/>
                <a:cs typeface="メイリオ"/>
              </a:rPr>
              <a:t>②</a:t>
            </a:r>
            <a:r>
              <a:rPr lang="ja-JP" altLang="en-US" sz="3200" b="1" dirty="0">
                <a:solidFill>
                  <a:srgbClr val="FF0000"/>
                </a:solidFill>
                <a:latin typeface="メイリオ"/>
                <a:ea typeface="メイリオ"/>
                <a:cs typeface="メイリオ"/>
              </a:rPr>
              <a:t>教師の指導改善</a:t>
            </a:r>
            <a:r>
              <a:rPr lang="ja-JP" altLang="en-US" sz="3200" b="1" dirty="0">
                <a:latin typeface="メイリオ"/>
                <a:ea typeface="メイリオ"/>
                <a:cs typeface="メイリオ"/>
              </a:rPr>
              <a:t>につながるものにしていくこと</a:t>
            </a:r>
          </a:p>
        </p:txBody>
      </p:sp>
      <p:sp>
        <p:nvSpPr>
          <p:cNvPr id="13" name="コンテンツ プレースホルダー 2"/>
          <p:cNvSpPr txBox="1">
            <a:spLocks/>
          </p:cNvSpPr>
          <p:nvPr/>
        </p:nvSpPr>
        <p:spPr>
          <a:xfrm>
            <a:off x="888645" y="4518748"/>
            <a:ext cx="10782656" cy="1003413"/>
          </a:xfrm>
          <a:prstGeom prst="rect">
            <a:avLst/>
          </a:prstGeom>
          <a:noFill/>
        </p:spPr>
        <p:txBody>
          <a:bodyPr vert="horz" lIns="91440" tIns="45720" rIns="91440" bIns="45720" rtlCol="0">
            <a:no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b="1" dirty="0">
                <a:latin typeface="メイリオ"/>
                <a:ea typeface="メイリオ"/>
                <a:cs typeface="メイリオ"/>
              </a:rPr>
              <a:t>③</a:t>
            </a:r>
            <a:r>
              <a:rPr lang="ja-JP" altLang="en-US" sz="3200" b="1" dirty="0">
                <a:latin typeface="メイリオ"/>
                <a:ea typeface="メイリオ"/>
                <a:cs typeface="メイリオ"/>
              </a:rPr>
              <a:t>これまで慣行として行われてきたことでも、</a:t>
            </a:r>
            <a:endParaRPr lang="en-US" altLang="ja-JP" sz="3200" b="1" dirty="0"/>
          </a:p>
          <a:p>
            <a:pPr marL="0" indent="0">
              <a:buNone/>
            </a:pPr>
            <a:r>
              <a:rPr lang="ja-JP" altLang="en-US" sz="3200" b="1" dirty="0">
                <a:latin typeface="メイリオ"/>
                <a:ea typeface="メイリオ"/>
                <a:cs typeface="メイリオ"/>
              </a:rPr>
              <a:t>　</a:t>
            </a:r>
            <a:r>
              <a:rPr lang="ja-JP" altLang="en-US" sz="3200" b="1" dirty="0">
                <a:solidFill>
                  <a:srgbClr val="FF0000"/>
                </a:solidFill>
                <a:latin typeface="メイリオ"/>
                <a:ea typeface="メイリオ"/>
                <a:cs typeface="メイリオ"/>
              </a:rPr>
              <a:t>必要性・妥当性</a:t>
            </a:r>
            <a:r>
              <a:rPr lang="ja-JP" altLang="en-US" sz="3200" b="1" dirty="0">
                <a:latin typeface="メイリオ"/>
                <a:ea typeface="メイリオ"/>
                <a:cs typeface="メイリオ"/>
              </a:rPr>
              <a:t>が認められないものは見直していくこと</a:t>
            </a:r>
          </a:p>
        </p:txBody>
      </p:sp>
      <p:sp>
        <p:nvSpPr>
          <p:cNvPr id="2" name="Rectangle 1">
            <a:extLst>
              <a:ext uri="{FF2B5EF4-FFF2-40B4-BE49-F238E27FC236}">
                <a16:creationId xmlns:a16="http://schemas.microsoft.com/office/drawing/2014/main" id="{E9650E6E-0348-6C46-A97A-BE78213930C8}"/>
              </a:ext>
            </a:extLst>
          </p:cNvPr>
          <p:cNvSpPr/>
          <p:nvPr/>
        </p:nvSpPr>
        <p:spPr>
          <a:xfrm>
            <a:off x="0" y="-196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4" name="Rectangle 2">
            <a:extLst>
              <a:ext uri="{FF2B5EF4-FFF2-40B4-BE49-F238E27FC236}">
                <a16:creationId xmlns:a16="http://schemas.microsoft.com/office/drawing/2014/main" id="{BF337071-516D-9061-A429-4C4ECD1D91D6}"/>
              </a:ext>
            </a:extLst>
          </p:cNvPr>
          <p:cNvSpPr/>
          <p:nvPr/>
        </p:nvSpPr>
        <p:spPr>
          <a:xfrm>
            <a:off x="0" y="82804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r>
              <a:rPr lang="ja-JP" altLang="en-US" sz="3200" b="1" dirty="0">
                <a:solidFill>
                  <a:schemeClr val="tx1"/>
                </a:solidFill>
                <a:latin typeface="メイリオ"/>
                <a:ea typeface="メイリオ"/>
                <a:cs typeface="メイリオ"/>
              </a:rPr>
              <a:t>学習評価の改善の基本方針</a:t>
            </a:r>
          </a:p>
        </p:txBody>
      </p:sp>
    </p:spTree>
    <p:extLst>
      <p:ext uri="{BB962C8B-B14F-4D97-AF65-F5344CB8AC3E}">
        <p14:creationId xmlns:p14="http://schemas.microsoft.com/office/powerpoint/2010/main" val="3235622663"/>
      </p:ext>
    </p:extLst>
  </p:cSld>
  <p:clrMapOvr>
    <a:masterClrMapping/>
  </p:clrMapOvr>
  <p:transition spd="slow">
    <p:cove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pPr algn="l"/>
            <a:r>
              <a:rPr sz="2200" b="1">
                <a:solidFill>
                  <a:srgbClr val="FFFFFF"/>
                </a:solidFill>
                <a:latin typeface="メイリオ"/>
                <a:ea typeface="メイリオ"/>
                <a:cs typeface="メイリオ"/>
              </a:rPr>
              <a:t>２　『主体的に学習に取り組む態度』の学習評価</a:t>
            </a:r>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2800" b="1">
                <a:solidFill>
                  <a:srgbClr val="1F3A6E"/>
                </a:solidFill>
                <a:latin typeface="メイリオ"/>
                <a:ea typeface="メイリオ"/>
                <a:cs typeface="メイリオ"/>
              </a:rPr>
              <a:t>授業改善につながる評価 ─ 評価を次の指導に生かす</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00000" y="1850000"/>
            <a:ext cx="11400000" cy="72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a:bodyPr>
          <a:lstStyle/>
          <a:p>
            <a:pPr algn="ctr">
              <a:lnSpc>
                <a:spcPct val="130000"/>
              </a:lnSpc>
            </a:pPr>
            <a:r>
              <a:rPr sz="2000" b="1" dirty="0">
                <a:solidFill>
                  <a:srgbClr val="000000"/>
                </a:solidFill>
                <a:latin typeface="メイリオ"/>
                <a:ea typeface="メイリオ"/>
                <a:cs typeface="メイリオ"/>
              </a:rPr>
              <a:t>評価には2つの役割：</a:t>
            </a:r>
            <a:r>
              <a:rPr sz="1900" b="1" dirty="0">
                <a:solidFill>
                  <a:srgbClr val="404040"/>
                </a:solidFill>
                <a:latin typeface="メイリオ"/>
                <a:ea typeface="メイリオ"/>
                <a:cs typeface="メイリオ"/>
              </a:rPr>
              <a:t>①</a:t>
            </a:r>
            <a:r>
              <a:rPr sz="1900" b="1" dirty="0" err="1">
                <a:solidFill>
                  <a:srgbClr val="404040"/>
                </a:solidFill>
                <a:latin typeface="メイリオ"/>
                <a:ea typeface="メイリオ"/>
                <a:cs typeface="メイリオ"/>
              </a:rPr>
              <a:t>記録・評定のため（総括的</a:t>
            </a:r>
            <a:r>
              <a:rPr sz="1900" b="1" dirty="0">
                <a:solidFill>
                  <a:srgbClr val="404040"/>
                </a:solidFill>
                <a:latin typeface="メイリオ"/>
                <a:ea typeface="メイリオ"/>
                <a:cs typeface="メイリオ"/>
              </a:rPr>
              <a:t>）</a:t>
            </a:r>
            <a:r>
              <a:rPr sz="1900" b="1" dirty="0">
                <a:solidFill>
                  <a:srgbClr val="000000"/>
                </a:solidFill>
                <a:latin typeface="メイリオ"/>
                <a:ea typeface="メイリオ"/>
                <a:cs typeface="メイリオ"/>
              </a:rPr>
              <a:t>　／　</a:t>
            </a:r>
            <a:r>
              <a:rPr sz="2000" b="1" dirty="0">
                <a:solidFill>
                  <a:srgbClr val="EB6C15"/>
                </a:solidFill>
                <a:latin typeface="メイリオ"/>
                <a:ea typeface="メイリオ"/>
                <a:cs typeface="メイリオ"/>
              </a:rPr>
              <a:t>②</a:t>
            </a:r>
            <a:r>
              <a:rPr sz="2000" b="1" dirty="0" err="1">
                <a:solidFill>
                  <a:srgbClr val="EB6C15"/>
                </a:solidFill>
                <a:latin typeface="メイリオ"/>
                <a:ea typeface="メイリオ"/>
                <a:cs typeface="メイリオ"/>
              </a:rPr>
              <a:t>指導改善のため（形成的</a:t>
            </a:r>
            <a:r>
              <a:rPr sz="2000" b="1" dirty="0">
                <a:solidFill>
                  <a:srgbClr val="EB6C15"/>
                </a:solidFill>
                <a:latin typeface="メイリオ"/>
                <a:ea typeface="メイリオ"/>
                <a:cs typeface="メイリオ"/>
              </a:rPr>
              <a:t>）</a:t>
            </a:r>
            <a:r>
              <a:rPr sz="1900" b="1" dirty="0">
                <a:solidFill>
                  <a:srgbClr val="C04040"/>
                </a:solidFill>
                <a:latin typeface="メイリオ"/>
                <a:ea typeface="メイリオ"/>
                <a:cs typeface="メイリオ"/>
              </a:rPr>
              <a:t>　</a:t>
            </a:r>
          </a:p>
        </p:txBody>
      </p:sp>
      <p:sp>
        <p:nvSpPr>
          <p:cNvPr id="6" name="Rectangle 5"/>
          <p:cNvSpPr/>
          <p:nvPr/>
        </p:nvSpPr>
        <p:spPr>
          <a:xfrm>
            <a:off x="400000" y="2750000"/>
            <a:ext cx="2550000" cy="12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a:bodyPr>
          <a:lstStyle/>
          <a:p>
            <a:pPr algn="ctr">
              <a:lnSpc>
                <a:spcPct val="115000"/>
              </a:lnSpc>
            </a:pPr>
            <a:r>
              <a:rPr sz="2300" b="1">
                <a:solidFill>
                  <a:srgbClr val="FFFFFF"/>
                </a:solidFill>
                <a:latin typeface="メイリオ"/>
                <a:ea typeface="メイリオ"/>
                <a:cs typeface="メイリオ"/>
              </a:rPr>
              <a:t>① みとる</a:t>
            </a:r>
          </a:p>
          <a:p>
            <a:pPr algn="ctr">
              <a:lnSpc>
                <a:spcPct val="115000"/>
              </a:lnSpc>
            </a:pPr>
            <a:r>
              <a:rPr sz="1500" b="1">
                <a:solidFill>
                  <a:srgbClr val="1F3A6E"/>
                </a:solidFill>
                <a:latin typeface="メイリオ"/>
                <a:ea typeface="メイリオ"/>
                <a:cs typeface="メイリオ"/>
              </a:rPr>
              <a:t>評価で学習状況を把握</a:t>
            </a:r>
          </a:p>
        </p:txBody>
      </p:sp>
      <p:sp>
        <p:nvSpPr>
          <p:cNvPr id="7" name="Rectangle 6"/>
          <p:cNvSpPr/>
          <p:nvPr/>
        </p:nvSpPr>
        <p:spPr>
          <a:xfrm>
            <a:off x="3350000" y="2750000"/>
            <a:ext cx="2550000" cy="12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a:bodyPr>
          <a:lstStyle/>
          <a:p>
            <a:pPr algn="ctr">
              <a:lnSpc>
                <a:spcPct val="115000"/>
              </a:lnSpc>
            </a:pPr>
            <a:r>
              <a:rPr sz="2300" b="1">
                <a:solidFill>
                  <a:srgbClr val="FFFFFF"/>
                </a:solidFill>
                <a:latin typeface="メイリオ"/>
                <a:ea typeface="メイリオ"/>
                <a:cs typeface="メイリオ"/>
              </a:rPr>
              <a:t>② 気づく</a:t>
            </a:r>
          </a:p>
          <a:p>
            <a:pPr algn="ctr">
              <a:lnSpc>
                <a:spcPct val="115000"/>
              </a:lnSpc>
            </a:pPr>
            <a:r>
              <a:rPr sz="1500" b="1">
                <a:solidFill>
                  <a:srgbClr val="1F3A6E"/>
                </a:solidFill>
                <a:latin typeface="メイリオ"/>
                <a:ea typeface="メイリオ"/>
                <a:cs typeface="メイリオ"/>
              </a:rPr>
              <a:t>つまずき・伸びを発見</a:t>
            </a:r>
          </a:p>
        </p:txBody>
      </p:sp>
      <p:sp>
        <p:nvSpPr>
          <p:cNvPr id="8" name="Rectangle 7"/>
          <p:cNvSpPr/>
          <p:nvPr/>
        </p:nvSpPr>
        <p:spPr>
          <a:xfrm>
            <a:off x="6300000" y="2750000"/>
            <a:ext cx="2550000" cy="12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a:bodyPr>
          <a:lstStyle/>
          <a:p>
            <a:pPr algn="ctr">
              <a:lnSpc>
                <a:spcPct val="115000"/>
              </a:lnSpc>
            </a:pPr>
            <a:r>
              <a:rPr sz="2300" b="1">
                <a:solidFill>
                  <a:srgbClr val="FFFFFF"/>
                </a:solidFill>
                <a:latin typeface="メイリオ"/>
                <a:ea typeface="メイリオ"/>
                <a:cs typeface="メイリオ"/>
              </a:rPr>
              <a:t>③ 変える</a:t>
            </a:r>
          </a:p>
          <a:p>
            <a:pPr algn="ctr">
              <a:lnSpc>
                <a:spcPct val="115000"/>
              </a:lnSpc>
            </a:pPr>
            <a:r>
              <a:rPr sz="1500" b="1">
                <a:solidFill>
                  <a:srgbClr val="1F3A6E"/>
                </a:solidFill>
                <a:latin typeface="メイリオ"/>
                <a:ea typeface="メイリオ"/>
                <a:cs typeface="メイリオ"/>
              </a:rPr>
              <a:t>次時の指導を修正</a:t>
            </a:r>
          </a:p>
        </p:txBody>
      </p:sp>
      <p:sp>
        <p:nvSpPr>
          <p:cNvPr id="9" name="Rectangle 8"/>
          <p:cNvSpPr/>
          <p:nvPr/>
        </p:nvSpPr>
        <p:spPr>
          <a:xfrm>
            <a:off x="9250000" y="2750000"/>
            <a:ext cx="2550000" cy="12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a:bodyPr>
          <a:lstStyle/>
          <a:p>
            <a:pPr algn="ctr">
              <a:lnSpc>
                <a:spcPct val="115000"/>
              </a:lnSpc>
            </a:pPr>
            <a:r>
              <a:rPr sz="2300" b="1">
                <a:solidFill>
                  <a:srgbClr val="FFFFFF"/>
                </a:solidFill>
                <a:latin typeface="メイリオ"/>
                <a:ea typeface="メイリオ"/>
                <a:cs typeface="メイリオ"/>
              </a:rPr>
              <a:t>④ 伸びる</a:t>
            </a:r>
          </a:p>
          <a:p>
            <a:pPr algn="ctr">
              <a:lnSpc>
                <a:spcPct val="115000"/>
              </a:lnSpc>
            </a:pPr>
            <a:r>
              <a:rPr sz="1500" b="1">
                <a:solidFill>
                  <a:srgbClr val="1F3A6E"/>
                </a:solidFill>
                <a:latin typeface="メイリオ"/>
                <a:ea typeface="メイリオ"/>
                <a:cs typeface="メイリオ"/>
              </a:rPr>
              <a:t>生徒の学習が改善</a:t>
            </a:r>
          </a:p>
        </p:txBody>
      </p:sp>
      <p:sp>
        <p:nvSpPr>
          <p:cNvPr id="10" name="Right Arrow 9"/>
          <p:cNvSpPr/>
          <p:nvPr/>
        </p:nvSpPr>
        <p:spPr>
          <a:xfrm>
            <a:off x="2950000" y="3230000"/>
            <a:ext cx="400000" cy="360000"/>
          </a:xfrm>
          <a:prstGeom prst="rightArrow">
            <a:avLst/>
          </a:prstGeom>
          <a:solidFill>
            <a:srgbClr val="EB6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ight Arrow 10"/>
          <p:cNvSpPr/>
          <p:nvPr/>
        </p:nvSpPr>
        <p:spPr>
          <a:xfrm>
            <a:off x="5900000" y="3230000"/>
            <a:ext cx="400000" cy="360000"/>
          </a:xfrm>
          <a:prstGeom prst="rightArrow">
            <a:avLst/>
          </a:prstGeom>
          <a:solidFill>
            <a:srgbClr val="EB6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ight Arrow 11"/>
          <p:cNvSpPr/>
          <p:nvPr/>
        </p:nvSpPr>
        <p:spPr>
          <a:xfrm>
            <a:off x="8850000" y="3230000"/>
            <a:ext cx="400000" cy="360000"/>
          </a:xfrm>
          <a:prstGeom prst="rightArrow">
            <a:avLst/>
          </a:prstGeom>
          <a:solidFill>
            <a:srgbClr val="EB6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00000" y="4180000"/>
            <a:ext cx="11400000" cy="108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fontScale="92500"/>
          </a:bodyPr>
          <a:lstStyle/>
          <a:p>
            <a:pPr algn="l">
              <a:lnSpc>
                <a:spcPct val="130000"/>
              </a:lnSpc>
            </a:pPr>
            <a:r>
              <a:rPr sz="1800" b="1">
                <a:solidFill>
                  <a:srgbClr val="EB6C15"/>
                </a:solidFill>
                <a:latin typeface="メイリオ"/>
                <a:ea typeface="メイリオ"/>
                <a:cs typeface="メイリオ"/>
              </a:rPr>
              <a:t>＜例＞</a:t>
            </a:r>
          </a:p>
          <a:p>
            <a:pPr algn="l">
              <a:lnSpc>
                <a:spcPct val="130000"/>
              </a:lnSpc>
            </a:pPr>
            <a:r>
              <a:rPr sz="1900" b="1">
                <a:solidFill>
                  <a:srgbClr val="1F3A6E"/>
                </a:solidFill>
                <a:latin typeface="メイリオ"/>
                <a:ea typeface="メイリオ"/>
                <a:cs typeface="メイリオ"/>
              </a:rPr>
              <a:t>振り返りで「見通しが弱い」生徒が多い → 次時の冒頭に「今日のゴールと手順」を確認する場面を加える</a:t>
            </a:r>
          </a:p>
        </p:txBody>
      </p:sp>
      <p:sp>
        <p:nvSpPr>
          <p:cNvPr id="14" name="Rectangle 13"/>
          <p:cNvSpPr/>
          <p:nvPr/>
        </p:nvSpPr>
        <p:spPr>
          <a:xfrm>
            <a:off x="400000" y="5380000"/>
            <a:ext cx="11400000" cy="560000"/>
          </a:xfrm>
          <a:prstGeom prst="rect">
            <a:avLst/>
          </a:prstGeom>
          <a:solidFill>
            <a:srgbClr val="FFE066"/>
          </a:solidFill>
          <a:ln w="38100">
            <a:solidFill>
              <a:srgbClr val="EB6C15"/>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fontScale="92500"/>
          </a:bodyPr>
          <a:lstStyle/>
          <a:p>
            <a:pPr algn="ctr">
              <a:lnSpc>
                <a:spcPct val="130000"/>
              </a:lnSpc>
            </a:pPr>
            <a:r>
              <a:rPr sz="2100" b="1" dirty="0" err="1">
                <a:solidFill>
                  <a:srgbClr val="000000"/>
                </a:solidFill>
                <a:latin typeface="メイリオ"/>
                <a:ea typeface="メイリオ"/>
                <a:cs typeface="メイリオ"/>
              </a:rPr>
              <a:t>評価は</a:t>
            </a:r>
            <a:r>
              <a:rPr sz="2300" b="1" dirty="0" err="1">
                <a:solidFill>
                  <a:srgbClr val="EB6C15"/>
                </a:solidFill>
                <a:latin typeface="メイリオ"/>
                <a:ea typeface="メイリオ"/>
                <a:cs typeface="メイリオ"/>
              </a:rPr>
              <a:t>“つける”だけでなく“生かす</a:t>
            </a:r>
            <a:r>
              <a:rPr sz="2300" b="1" dirty="0">
                <a:solidFill>
                  <a:srgbClr val="EB6C15"/>
                </a:solidFill>
                <a:latin typeface="メイリオ"/>
                <a:ea typeface="メイリオ"/>
                <a:cs typeface="メイリオ"/>
              </a:rPr>
              <a:t>”</a:t>
            </a:r>
            <a:r>
              <a:rPr sz="2100" b="1" dirty="0">
                <a:solidFill>
                  <a:srgbClr val="000000"/>
                </a:solidFill>
                <a:latin typeface="メイリオ"/>
                <a:ea typeface="メイリオ"/>
                <a:cs typeface="メイリオ"/>
              </a:rPr>
              <a:t>。</a:t>
            </a:r>
          </a:p>
        </p:txBody>
      </p:sp>
      <p:sp>
        <p:nvSpPr>
          <p:cNvPr id="15" name="TextBox 14"/>
          <p:cNvSpPr txBox="1"/>
          <p:nvPr/>
        </p:nvSpPr>
        <p:spPr>
          <a:xfrm>
            <a:off x="300000" y="6080000"/>
            <a:ext cx="11400000" cy="310000"/>
          </a:xfrm>
          <a:prstGeom prst="rect">
            <a:avLst/>
          </a:prstGeom>
          <a:noFill/>
        </p:spPr>
        <p:txBody>
          <a:bodyPr wrap="square" lIns="40000" tIns="10000" rIns="40000" bIns="10000" anchor="ctr">
            <a:normAutofit/>
          </a:bodyPr>
          <a:lstStyle/>
          <a:p>
            <a:pPr algn="r"/>
            <a:r>
              <a:rPr sz="1300" dirty="0" err="1">
                <a:solidFill>
                  <a:srgbClr val="404040"/>
                </a:solidFill>
                <a:latin typeface="メイリオ"/>
                <a:ea typeface="メイリオ"/>
                <a:cs typeface="メイリオ"/>
              </a:rPr>
              <a:t>出典：中学校学習指導要領</a:t>
            </a:r>
            <a:r>
              <a:rPr sz="1300" dirty="0">
                <a:solidFill>
                  <a:srgbClr val="404040"/>
                </a:solidFill>
                <a:latin typeface="メイリオ"/>
                <a:ea typeface="メイリオ"/>
                <a:cs typeface="メイリオ"/>
              </a:rPr>
              <a:t> </a:t>
            </a:r>
            <a:r>
              <a:rPr sz="1300" dirty="0" err="1">
                <a:solidFill>
                  <a:srgbClr val="404040"/>
                </a:solidFill>
                <a:latin typeface="メイリオ"/>
                <a:ea typeface="メイリオ"/>
                <a:cs typeface="メイリオ"/>
              </a:rPr>
              <a:t>解説</a:t>
            </a:r>
            <a:r>
              <a:rPr sz="1300" dirty="0">
                <a:solidFill>
                  <a:srgbClr val="404040"/>
                </a:solidFill>
                <a:latin typeface="メイリオ"/>
                <a:ea typeface="メイリオ"/>
                <a:cs typeface="メイリオ"/>
              </a:rPr>
              <a:t> </a:t>
            </a:r>
            <a:r>
              <a:rPr sz="1300" dirty="0" err="1">
                <a:solidFill>
                  <a:srgbClr val="404040"/>
                </a:solidFill>
                <a:latin typeface="メイリオ"/>
                <a:ea typeface="メイリオ"/>
                <a:cs typeface="メイリオ"/>
              </a:rPr>
              <a:t>総則編</a:t>
            </a:r>
            <a:endParaRPr sz="1300" dirty="0">
              <a:solidFill>
                <a:srgbClr val="404040"/>
              </a:solidFill>
              <a:latin typeface="メイリオ"/>
              <a:ea typeface="メイリオ"/>
              <a:cs typeface="メイリオ"/>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グループ化 2"/>
          <p:cNvGrpSpPr/>
          <p:nvPr/>
        </p:nvGrpSpPr>
        <p:grpSpPr>
          <a:xfrm>
            <a:off x="927116" y="1351079"/>
            <a:ext cx="10362293" cy="5306776"/>
            <a:chOff x="1118507" y="1427853"/>
            <a:chExt cx="7632700" cy="4006850"/>
          </a:xfrm>
        </p:grpSpPr>
        <p:grpSp>
          <p:nvGrpSpPr>
            <p:cNvPr id="23" name="グループ化 22"/>
            <p:cNvGrpSpPr>
              <a:grpSpLocks/>
            </p:cNvGrpSpPr>
            <p:nvPr/>
          </p:nvGrpSpPr>
          <p:grpSpPr bwMode="auto">
            <a:xfrm>
              <a:off x="1118507" y="1427853"/>
              <a:ext cx="7599363" cy="838200"/>
              <a:chOff x="755650" y="2159000"/>
              <a:chExt cx="7599363" cy="838200"/>
            </a:xfrm>
          </p:grpSpPr>
          <p:sp>
            <p:nvSpPr>
              <p:cNvPr id="24" name="正方形/長方形 23"/>
              <p:cNvSpPr/>
              <p:nvPr/>
            </p:nvSpPr>
            <p:spPr>
              <a:xfrm>
                <a:off x="755650" y="2159000"/>
                <a:ext cx="7599363" cy="83820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a:defRPr/>
                </a:pPr>
                <a:endParaRPr lang="ja-JP" altLang="en-US" b="1">
                  <a:latin typeface="+mn-ea"/>
                </a:endParaRPr>
              </a:p>
            </p:txBody>
          </p:sp>
          <p:sp>
            <p:nvSpPr>
              <p:cNvPr id="25" name="角丸四角形 24"/>
              <p:cNvSpPr/>
              <p:nvPr/>
            </p:nvSpPr>
            <p:spPr>
              <a:xfrm>
                <a:off x="909638" y="2268538"/>
                <a:ext cx="1862137" cy="623887"/>
              </a:xfrm>
              <a:prstGeom prst="round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anchor="ctr"/>
              <a:lstStyle/>
              <a:p>
                <a:pPr algn="ctr">
                  <a:defRPr/>
                </a:pPr>
                <a:r>
                  <a:rPr lang="ja-JP" altLang="en-US" b="1" dirty="0">
                    <a:latin typeface="メイリオ"/>
                    <a:ea typeface="メイリオ"/>
                    <a:cs typeface="メイリオ"/>
                  </a:rPr>
                  <a:t>学習指導要領に示す</a:t>
                </a:r>
                <a:endParaRPr lang="en-US" altLang="ja-JP" b="1" dirty="0">
                  <a:latin typeface="+mn-ea"/>
                </a:endParaRPr>
              </a:p>
              <a:p>
                <a:pPr algn="ctr">
                  <a:defRPr/>
                </a:pPr>
                <a:r>
                  <a:rPr lang="ja-JP" altLang="en-US" b="1" dirty="0">
                    <a:latin typeface="メイリオ"/>
                    <a:ea typeface="メイリオ"/>
                    <a:cs typeface="メイリオ"/>
                  </a:rPr>
                  <a:t>目標や内容</a:t>
                </a:r>
              </a:p>
            </p:txBody>
          </p:sp>
        </p:grpSp>
        <p:sp>
          <p:nvSpPr>
            <p:cNvPr id="26" name="角丸四角形 25"/>
            <p:cNvSpPr/>
            <p:nvPr/>
          </p:nvSpPr>
          <p:spPr>
            <a:xfrm>
              <a:off x="3282270" y="1537391"/>
              <a:ext cx="1655762" cy="623887"/>
            </a:xfrm>
            <a:prstGeom prst="roundRect">
              <a:avLst/>
            </a:prstGeom>
            <a:ln w="28575"/>
          </p:spPr>
          <p:style>
            <a:lnRef idx="2">
              <a:schemeClr val="dk1"/>
            </a:lnRef>
            <a:fillRef idx="1">
              <a:schemeClr val="lt1"/>
            </a:fillRef>
            <a:effectRef idx="0">
              <a:schemeClr val="dk1"/>
            </a:effectRef>
            <a:fontRef idx="minor">
              <a:schemeClr val="dk1"/>
            </a:fontRef>
          </p:style>
          <p:txBody>
            <a:bodyPr anchor="ctr"/>
            <a:lstStyle/>
            <a:p>
              <a:pPr algn="ctr">
                <a:defRPr/>
              </a:pPr>
              <a:r>
                <a:rPr lang="ja-JP" altLang="en-US" b="1" dirty="0">
                  <a:latin typeface="メイリオ"/>
                  <a:ea typeface="メイリオ"/>
                  <a:cs typeface="メイリオ"/>
                </a:rPr>
                <a:t>知識及び技能</a:t>
              </a:r>
            </a:p>
          </p:txBody>
        </p:sp>
        <p:sp>
          <p:nvSpPr>
            <p:cNvPr id="27" name="角丸四角形 26"/>
            <p:cNvSpPr/>
            <p:nvPr/>
          </p:nvSpPr>
          <p:spPr>
            <a:xfrm>
              <a:off x="5085670" y="1537391"/>
              <a:ext cx="1655762" cy="623887"/>
            </a:xfrm>
            <a:prstGeom prst="roundRect">
              <a:avLst/>
            </a:prstGeom>
            <a:ln w="28575"/>
          </p:spPr>
          <p:style>
            <a:lnRef idx="2">
              <a:schemeClr val="dk1"/>
            </a:lnRef>
            <a:fillRef idx="1">
              <a:schemeClr val="lt1"/>
            </a:fillRef>
            <a:effectRef idx="0">
              <a:schemeClr val="dk1"/>
            </a:effectRef>
            <a:fontRef idx="minor">
              <a:schemeClr val="dk1"/>
            </a:fontRef>
          </p:style>
          <p:txBody>
            <a:bodyPr anchor="ctr"/>
            <a:lstStyle/>
            <a:p>
              <a:pPr algn="ctr">
                <a:defRPr/>
              </a:pPr>
              <a:r>
                <a:rPr lang="ja-JP" altLang="en-US" sz="1351" b="1" dirty="0">
                  <a:latin typeface="メイリオ"/>
                  <a:ea typeface="メイリオ"/>
                  <a:cs typeface="メイリオ"/>
                </a:rPr>
                <a:t>思考力、判断力、</a:t>
              </a:r>
              <a:endParaRPr lang="en-US" altLang="ja-JP" sz="1351" b="1" dirty="0">
                <a:latin typeface="+mn-ea"/>
              </a:endParaRPr>
            </a:p>
            <a:p>
              <a:pPr algn="ctr">
                <a:defRPr/>
              </a:pPr>
              <a:r>
                <a:rPr lang="ja-JP" altLang="en-US" sz="1351" b="1" dirty="0">
                  <a:latin typeface="メイリオ"/>
                  <a:ea typeface="メイリオ"/>
                  <a:cs typeface="メイリオ"/>
                </a:rPr>
                <a:t>表現力等</a:t>
              </a:r>
            </a:p>
          </p:txBody>
        </p:sp>
        <p:sp>
          <p:nvSpPr>
            <p:cNvPr id="28" name="角丸四角形 27"/>
            <p:cNvSpPr/>
            <p:nvPr/>
          </p:nvSpPr>
          <p:spPr>
            <a:xfrm>
              <a:off x="6870020" y="1543741"/>
              <a:ext cx="1655762" cy="623887"/>
            </a:xfrm>
            <a:prstGeom prst="roundRect">
              <a:avLst/>
            </a:prstGeom>
            <a:ln w="28575"/>
          </p:spPr>
          <p:style>
            <a:lnRef idx="2">
              <a:schemeClr val="dk1"/>
            </a:lnRef>
            <a:fillRef idx="1">
              <a:schemeClr val="lt1"/>
            </a:fillRef>
            <a:effectRef idx="0">
              <a:schemeClr val="dk1"/>
            </a:effectRef>
            <a:fontRef idx="minor">
              <a:schemeClr val="dk1"/>
            </a:fontRef>
          </p:style>
          <p:txBody>
            <a:bodyPr anchor="ctr"/>
            <a:lstStyle/>
            <a:p>
              <a:pPr algn="ctr">
                <a:defRPr/>
              </a:pPr>
              <a:r>
                <a:rPr lang="ja-JP" altLang="en-US" b="1" dirty="0">
                  <a:latin typeface="メイリオ"/>
                  <a:ea typeface="メイリオ"/>
                  <a:cs typeface="メイリオ"/>
                </a:rPr>
                <a:t>学びに向かう力、</a:t>
              </a:r>
              <a:endParaRPr lang="en-US" altLang="ja-JP" b="1" dirty="0">
                <a:latin typeface="+mn-ea"/>
              </a:endParaRPr>
            </a:p>
            <a:p>
              <a:pPr algn="ctr">
                <a:defRPr/>
              </a:pPr>
              <a:r>
                <a:rPr lang="ja-JP" altLang="en-US" b="1" dirty="0">
                  <a:latin typeface="メイリオ"/>
                  <a:ea typeface="メイリオ"/>
                  <a:cs typeface="メイリオ"/>
                </a:rPr>
                <a:t>人間性等</a:t>
              </a:r>
            </a:p>
          </p:txBody>
        </p:sp>
        <p:grpSp>
          <p:nvGrpSpPr>
            <p:cNvPr id="29" name="グループ化 28"/>
            <p:cNvGrpSpPr>
              <a:grpSpLocks/>
            </p:cNvGrpSpPr>
            <p:nvPr/>
          </p:nvGrpSpPr>
          <p:grpSpPr bwMode="auto">
            <a:xfrm>
              <a:off x="1118507" y="2626416"/>
              <a:ext cx="7599363" cy="2016125"/>
              <a:chOff x="755650" y="3357563"/>
              <a:chExt cx="7599363" cy="2016125"/>
            </a:xfrm>
          </p:grpSpPr>
          <p:sp>
            <p:nvSpPr>
              <p:cNvPr id="30" name="正方形/長方形 29"/>
              <p:cNvSpPr/>
              <p:nvPr/>
            </p:nvSpPr>
            <p:spPr>
              <a:xfrm>
                <a:off x="5183188" y="4146550"/>
                <a:ext cx="3171825" cy="1223963"/>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b="1">
                  <a:latin typeface="+mn-ea"/>
                </a:endParaRPr>
              </a:p>
            </p:txBody>
          </p:sp>
          <p:grpSp>
            <p:nvGrpSpPr>
              <p:cNvPr id="31" name="グループ化 25"/>
              <p:cNvGrpSpPr>
                <a:grpSpLocks/>
              </p:cNvGrpSpPr>
              <p:nvPr/>
            </p:nvGrpSpPr>
            <p:grpSpPr bwMode="auto">
              <a:xfrm>
                <a:off x="755650" y="3357563"/>
                <a:ext cx="5688013" cy="2016125"/>
                <a:chOff x="755650" y="3357563"/>
                <a:chExt cx="5688013" cy="2016125"/>
              </a:xfrm>
            </p:grpSpPr>
            <p:sp>
              <p:nvSpPr>
                <p:cNvPr id="32" name="正方形/長方形 31"/>
                <p:cNvSpPr/>
                <p:nvPr/>
              </p:nvSpPr>
              <p:spPr>
                <a:xfrm>
                  <a:off x="755650" y="3357563"/>
                  <a:ext cx="5688013" cy="2016125"/>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b="1">
                    <a:latin typeface="+mn-ea"/>
                  </a:endParaRPr>
                </a:p>
              </p:txBody>
            </p:sp>
            <p:sp>
              <p:nvSpPr>
                <p:cNvPr id="33" name="角丸四角形 32"/>
                <p:cNvSpPr/>
                <p:nvPr/>
              </p:nvSpPr>
              <p:spPr>
                <a:xfrm>
                  <a:off x="909638" y="3452813"/>
                  <a:ext cx="1865312" cy="623887"/>
                </a:xfrm>
                <a:prstGeom prst="round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anchor="ctr"/>
                <a:lstStyle/>
                <a:p>
                  <a:pPr algn="ctr">
                    <a:defRPr/>
                  </a:pPr>
                  <a:r>
                    <a:rPr lang="ja-JP" altLang="en-US" b="1" dirty="0">
                      <a:latin typeface="メイリオ"/>
                      <a:ea typeface="メイリオ"/>
                      <a:cs typeface="メイリオ"/>
                    </a:rPr>
                    <a:t>観点別学習状況評価の各観点</a:t>
                  </a:r>
                </a:p>
              </p:txBody>
            </p:sp>
          </p:grpSp>
        </p:grpSp>
        <p:grpSp>
          <p:nvGrpSpPr>
            <p:cNvPr id="34" name="グループ化 33"/>
            <p:cNvGrpSpPr>
              <a:grpSpLocks/>
            </p:cNvGrpSpPr>
            <p:nvPr/>
          </p:nvGrpSpPr>
          <p:grpSpPr bwMode="auto">
            <a:xfrm>
              <a:off x="6901770" y="2626416"/>
              <a:ext cx="1816100" cy="720725"/>
              <a:chOff x="6538913" y="3357563"/>
              <a:chExt cx="1816100" cy="720725"/>
            </a:xfrm>
          </p:grpSpPr>
          <p:sp>
            <p:nvSpPr>
              <p:cNvPr id="35" name="正方形/長方形 34"/>
              <p:cNvSpPr/>
              <p:nvPr/>
            </p:nvSpPr>
            <p:spPr>
              <a:xfrm>
                <a:off x="6538913" y="3357563"/>
                <a:ext cx="1816100" cy="720725"/>
              </a:xfrm>
              <a:prstGeom prst="rect">
                <a:avLst/>
              </a:prstGeom>
              <a:ln/>
            </p:spPr>
            <p:style>
              <a:lnRef idx="1">
                <a:schemeClr val="accent5"/>
              </a:lnRef>
              <a:fillRef idx="2">
                <a:schemeClr val="accent5"/>
              </a:fillRef>
              <a:effectRef idx="1">
                <a:schemeClr val="accent5"/>
              </a:effectRef>
              <a:fontRef idx="minor">
                <a:schemeClr val="dk1"/>
              </a:fontRef>
            </p:style>
            <p:txBody>
              <a:bodyPr anchor="ctr"/>
              <a:lstStyle/>
              <a:p>
                <a:pPr algn="ctr">
                  <a:defRPr/>
                </a:pPr>
                <a:endParaRPr lang="ja-JP" altLang="en-US" sz="1100" b="1">
                  <a:latin typeface="+mn-ea"/>
                </a:endParaRPr>
              </a:p>
            </p:txBody>
          </p:sp>
          <p:sp>
            <p:nvSpPr>
              <p:cNvPr id="36" name="角丸四角形 35"/>
              <p:cNvSpPr/>
              <p:nvPr/>
            </p:nvSpPr>
            <p:spPr>
              <a:xfrm>
                <a:off x="6600825" y="3486150"/>
                <a:ext cx="1655763" cy="508000"/>
              </a:xfrm>
              <a:prstGeom prst="roundRect">
                <a:avLst/>
              </a:prstGeom>
              <a:ln w="28575">
                <a:solidFill>
                  <a:srgbClr val="0070C0"/>
                </a:solidFill>
              </a:ln>
            </p:spPr>
            <p:style>
              <a:lnRef idx="2">
                <a:schemeClr val="dk1"/>
              </a:lnRef>
              <a:fillRef idx="1">
                <a:schemeClr val="lt1"/>
              </a:fillRef>
              <a:effectRef idx="0">
                <a:schemeClr val="dk1"/>
              </a:effectRef>
              <a:fontRef idx="minor">
                <a:schemeClr val="dk1"/>
              </a:fontRef>
            </p:style>
            <p:txBody>
              <a:bodyPr anchor="ctr"/>
              <a:lstStyle/>
              <a:p>
                <a:pPr algn="ctr">
                  <a:defRPr/>
                </a:pPr>
                <a:r>
                  <a:rPr lang="ja-JP" altLang="en-US" sz="1600" b="1" dirty="0">
                    <a:latin typeface="メイリオ"/>
                    <a:ea typeface="メイリオ"/>
                    <a:cs typeface="メイリオ"/>
                  </a:rPr>
                  <a:t>感性、思いやりなど</a:t>
                </a:r>
                <a:endParaRPr lang="en-US" altLang="ja-JP" sz="1600" b="1" dirty="0">
                  <a:latin typeface="+mn-ea"/>
                </a:endParaRPr>
              </a:p>
            </p:txBody>
          </p:sp>
        </p:grpSp>
        <p:sp>
          <p:nvSpPr>
            <p:cNvPr id="37" name="正方形/長方形 36"/>
            <p:cNvSpPr/>
            <p:nvPr/>
          </p:nvSpPr>
          <p:spPr>
            <a:xfrm>
              <a:off x="1118507" y="5001316"/>
              <a:ext cx="5040313" cy="433387"/>
            </a:xfrm>
            <a:prstGeom prst="rect">
              <a:avLst/>
            </a:prstGeom>
            <a:ln w="38100">
              <a:solidFill>
                <a:srgbClr val="FF0000"/>
              </a:solidFill>
              <a:prstDash val="dash"/>
            </a:ln>
          </p:spPr>
          <p:style>
            <a:lnRef idx="2">
              <a:schemeClr val="accent6"/>
            </a:lnRef>
            <a:fillRef idx="1">
              <a:schemeClr val="lt1"/>
            </a:fillRef>
            <a:effectRef idx="0">
              <a:schemeClr val="accent6"/>
            </a:effectRef>
            <a:fontRef idx="minor">
              <a:schemeClr val="dk1"/>
            </a:fontRef>
          </p:style>
          <p:txBody>
            <a:bodyPr anchor="ctr"/>
            <a:lstStyle/>
            <a:p>
              <a:pPr algn="ctr">
                <a:defRPr/>
              </a:pPr>
              <a:r>
                <a:rPr lang="ja-JP" altLang="en-US" sz="2400" b="1" dirty="0">
                  <a:latin typeface="メイリオ"/>
                  <a:ea typeface="メイリオ"/>
                  <a:cs typeface="メイリオ"/>
                </a:rPr>
                <a:t>評定（５段階で評価）</a:t>
              </a:r>
            </a:p>
          </p:txBody>
        </p:sp>
        <p:sp>
          <p:nvSpPr>
            <p:cNvPr id="38" name="正方形/長方形 37"/>
            <p:cNvSpPr/>
            <p:nvPr/>
          </p:nvSpPr>
          <p:spPr>
            <a:xfrm>
              <a:off x="6341382" y="5001316"/>
              <a:ext cx="2409825" cy="433387"/>
            </a:xfrm>
            <a:prstGeom prst="rect">
              <a:avLst/>
            </a:prstGeom>
            <a:ln>
              <a:solidFill>
                <a:schemeClr val="tx1"/>
              </a:solidFill>
              <a:prstDash val="dash"/>
            </a:ln>
          </p:spPr>
          <p:style>
            <a:lnRef idx="2">
              <a:schemeClr val="accent6"/>
            </a:lnRef>
            <a:fillRef idx="1">
              <a:schemeClr val="lt1"/>
            </a:fillRef>
            <a:effectRef idx="0">
              <a:schemeClr val="accent6"/>
            </a:effectRef>
            <a:fontRef idx="minor">
              <a:schemeClr val="dk1"/>
            </a:fontRef>
          </p:style>
          <p:txBody>
            <a:bodyPr anchor="ctr"/>
            <a:lstStyle/>
            <a:p>
              <a:pPr algn="ctr">
                <a:defRPr/>
              </a:pPr>
              <a:r>
                <a:rPr lang="ja-JP" altLang="en-US" sz="2400" b="1" dirty="0">
                  <a:latin typeface="メイリオ"/>
                  <a:ea typeface="メイリオ"/>
                  <a:cs typeface="メイリオ"/>
                </a:rPr>
                <a:t>個人内評価</a:t>
              </a:r>
            </a:p>
          </p:txBody>
        </p:sp>
        <p:sp>
          <p:nvSpPr>
            <p:cNvPr id="39" name="二等辺三角形 38"/>
            <p:cNvSpPr/>
            <p:nvPr/>
          </p:nvSpPr>
          <p:spPr>
            <a:xfrm flipV="1">
              <a:off x="1639207" y="2353366"/>
              <a:ext cx="6480175" cy="215900"/>
            </a:xfrm>
            <a:prstGeom prst="triangle">
              <a:avLst/>
            </a:prstGeom>
            <a:ln>
              <a:solidFill>
                <a:schemeClr val="tx1"/>
              </a:solidFill>
            </a:ln>
          </p:spPr>
          <p:style>
            <a:lnRef idx="2">
              <a:schemeClr val="accent6"/>
            </a:lnRef>
            <a:fillRef idx="1">
              <a:schemeClr val="lt1"/>
            </a:fillRef>
            <a:effectRef idx="0">
              <a:schemeClr val="accent6"/>
            </a:effectRef>
            <a:fontRef idx="minor">
              <a:schemeClr val="dk1"/>
            </a:fontRef>
          </p:style>
          <p:txBody>
            <a:bodyPr anchor="ctr"/>
            <a:lstStyle/>
            <a:p>
              <a:pPr algn="ctr">
                <a:defRPr/>
              </a:pPr>
              <a:endParaRPr lang="ja-JP" altLang="en-US" b="1">
                <a:latin typeface="+mn-ea"/>
              </a:endParaRPr>
            </a:p>
          </p:txBody>
        </p:sp>
        <p:grpSp>
          <p:nvGrpSpPr>
            <p:cNvPr id="40" name="グループ化 39"/>
            <p:cNvGrpSpPr>
              <a:grpSpLocks/>
            </p:cNvGrpSpPr>
            <p:nvPr/>
          </p:nvGrpSpPr>
          <p:grpSpPr bwMode="auto">
            <a:xfrm>
              <a:off x="3936320" y="4282178"/>
              <a:ext cx="3924300" cy="706438"/>
              <a:chOff x="3573463" y="5013325"/>
              <a:chExt cx="3924300" cy="706438"/>
            </a:xfrm>
          </p:grpSpPr>
          <p:sp>
            <p:nvSpPr>
              <p:cNvPr id="41" name="下矢印 40"/>
              <p:cNvSpPr/>
              <p:nvPr/>
            </p:nvSpPr>
            <p:spPr>
              <a:xfrm>
                <a:off x="3573463" y="5013325"/>
                <a:ext cx="255587" cy="706438"/>
              </a:xfrm>
              <a:prstGeom prst="downArrow">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ja-JP" altLang="en-US" b="1">
                  <a:latin typeface="+mn-ea"/>
                </a:endParaRPr>
              </a:p>
            </p:txBody>
          </p:sp>
          <p:sp>
            <p:nvSpPr>
              <p:cNvPr id="42" name="正方形/長方形 41"/>
              <p:cNvSpPr/>
              <p:nvPr/>
            </p:nvSpPr>
            <p:spPr>
              <a:xfrm>
                <a:off x="3708400" y="5303838"/>
                <a:ext cx="3789363" cy="141287"/>
              </a:xfrm>
              <a:prstGeom prst="rect">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ja-JP" altLang="en-US" b="1">
                  <a:latin typeface="+mn-ea"/>
                </a:endParaRPr>
              </a:p>
            </p:txBody>
          </p:sp>
          <p:sp>
            <p:nvSpPr>
              <p:cNvPr id="43" name="正方形/長方形 42"/>
              <p:cNvSpPr/>
              <p:nvPr/>
            </p:nvSpPr>
            <p:spPr>
              <a:xfrm rot="16200000">
                <a:off x="5335588" y="5113337"/>
                <a:ext cx="344488" cy="144463"/>
              </a:xfrm>
              <a:prstGeom prst="rect">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ja-JP" altLang="en-US" b="1">
                  <a:latin typeface="+mn-ea"/>
                </a:endParaRPr>
              </a:p>
            </p:txBody>
          </p:sp>
          <p:sp>
            <p:nvSpPr>
              <p:cNvPr id="44" name="正方形/長方形 43"/>
              <p:cNvSpPr/>
              <p:nvPr/>
            </p:nvSpPr>
            <p:spPr>
              <a:xfrm rot="16200000">
                <a:off x="7243763" y="5113337"/>
                <a:ext cx="344488" cy="144463"/>
              </a:xfrm>
              <a:prstGeom prst="rect">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ja-JP" altLang="en-US" b="1">
                  <a:latin typeface="+mn-ea"/>
                </a:endParaRPr>
              </a:p>
            </p:txBody>
          </p:sp>
        </p:grpSp>
        <p:cxnSp>
          <p:nvCxnSpPr>
            <p:cNvPr id="45" name="カギ線コネクタ 44"/>
            <p:cNvCxnSpPr/>
            <p:nvPr/>
          </p:nvCxnSpPr>
          <p:spPr>
            <a:xfrm flipH="1">
              <a:off x="8055882" y="2986778"/>
              <a:ext cx="598488" cy="2014538"/>
            </a:xfrm>
            <a:prstGeom prst="bentConnector4">
              <a:avLst>
                <a:gd name="adj1" fmla="val -13630"/>
                <a:gd name="adj2" fmla="val 80802"/>
              </a:avLst>
            </a:prstGeom>
            <a:ln w="57150">
              <a:solidFill>
                <a:srgbClr val="0070C0"/>
              </a:solidFill>
              <a:tailEnd type="triangle"/>
            </a:ln>
          </p:spPr>
          <p:style>
            <a:lnRef idx="2">
              <a:schemeClr val="accent4"/>
            </a:lnRef>
            <a:fillRef idx="0">
              <a:schemeClr val="accent4"/>
            </a:fillRef>
            <a:effectRef idx="1">
              <a:schemeClr val="accent4"/>
            </a:effectRef>
            <a:fontRef idx="minor">
              <a:schemeClr val="tx1"/>
            </a:fontRef>
          </p:style>
        </p:cxnSp>
        <p:sp>
          <p:nvSpPr>
            <p:cNvPr id="46" name="角丸四角形 45"/>
            <p:cNvSpPr/>
            <p:nvPr/>
          </p:nvSpPr>
          <p:spPr>
            <a:xfrm>
              <a:off x="3264807" y="2697853"/>
              <a:ext cx="1655763" cy="1584325"/>
            </a:xfrm>
            <a:prstGeom prst="roundRect">
              <a:avLst/>
            </a:prstGeom>
            <a:ln w="38100">
              <a:solidFill>
                <a:schemeClr val="accent5"/>
              </a:solidFill>
            </a:ln>
          </p:spPr>
          <p:style>
            <a:lnRef idx="2">
              <a:schemeClr val="dk1"/>
            </a:lnRef>
            <a:fillRef idx="1">
              <a:schemeClr val="lt1"/>
            </a:fillRef>
            <a:effectRef idx="0">
              <a:schemeClr val="dk1"/>
            </a:effectRef>
            <a:fontRef idx="minor">
              <a:schemeClr val="dk1"/>
            </a:fontRef>
          </p:style>
          <p:txBody>
            <a:bodyPr anchor="ctr"/>
            <a:lstStyle/>
            <a:p>
              <a:pPr algn="ctr">
                <a:defRPr/>
              </a:pPr>
              <a:r>
                <a:rPr lang="ja-JP" altLang="en-US" sz="2400" b="1" dirty="0">
                  <a:latin typeface="メイリオ"/>
                  <a:ea typeface="メイリオ"/>
                  <a:cs typeface="メイリオ"/>
                </a:rPr>
                <a:t>知識・技能</a:t>
              </a:r>
            </a:p>
          </p:txBody>
        </p:sp>
        <p:sp>
          <p:nvSpPr>
            <p:cNvPr id="47" name="角丸四角形 46"/>
            <p:cNvSpPr/>
            <p:nvPr/>
          </p:nvSpPr>
          <p:spPr>
            <a:xfrm>
              <a:off x="5055507" y="2759766"/>
              <a:ext cx="1655763" cy="1522412"/>
            </a:xfrm>
            <a:prstGeom prst="roundRect">
              <a:avLst/>
            </a:prstGeom>
            <a:ln w="38100">
              <a:solidFill>
                <a:srgbClr val="FFC000"/>
              </a:solidFill>
            </a:ln>
          </p:spPr>
          <p:style>
            <a:lnRef idx="2">
              <a:schemeClr val="dk1"/>
            </a:lnRef>
            <a:fillRef idx="1">
              <a:schemeClr val="lt1"/>
            </a:fillRef>
            <a:effectRef idx="0">
              <a:schemeClr val="dk1"/>
            </a:effectRef>
            <a:fontRef idx="minor">
              <a:schemeClr val="dk1"/>
            </a:fontRef>
          </p:style>
          <p:txBody>
            <a:bodyPr anchor="ctr"/>
            <a:lstStyle/>
            <a:p>
              <a:pPr algn="ctr">
                <a:defRPr/>
              </a:pPr>
              <a:r>
                <a:rPr lang="ja-JP" altLang="en-US" sz="2400" b="1" dirty="0">
                  <a:latin typeface="メイリオ"/>
                  <a:ea typeface="メイリオ"/>
                  <a:cs typeface="メイリオ"/>
                </a:rPr>
                <a:t>思考・判断・</a:t>
              </a:r>
              <a:endParaRPr lang="en-US" altLang="ja-JP" sz="2400" b="1" dirty="0">
                <a:latin typeface="+mn-ea"/>
              </a:endParaRPr>
            </a:p>
            <a:p>
              <a:pPr algn="ctr">
                <a:defRPr/>
              </a:pPr>
              <a:r>
                <a:rPr lang="ja-JP" altLang="en-US" sz="2400" b="1" dirty="0">
                  <a:latin typeface="メイリオ"/>
                  <a:ea typeface="メイリオ"/>
                  <a:cs typeface="メイリオ"/>
                </a:rPr>
                <a:t>表現</a:t>
              </a:r>
            </a:p>
          </p:txBody>
        </p:sp>
        <p:sp>
          <p:nvSpPr>
            <p:cNvPr id="48" name="角丸四角形 47"/>
            <p:cNvSpPr/>
            <p:nvPr/>
          </p:nvSpPr>
          <p:spPr>
            <a:xfrm>
              <a:off x="6935107" y="3531291"/>
              <a:ext cx="1655763" cy="750887"/>
            </a:xfrm>
            <a:prstGeom prst="roundRect">
              <a:avLst/>
            </a:prstGeom>
            <a:ln w="28575">
              <a:solidFill>
                <a:schemeClr val="accent2"/>
              </a:solidFill>
            </a:ln>
          </p:spPr>
          <p:style>
            <a:lnRef idx="2">
              <a:schemeClr val="dk1"/>
            </a:lnRef>
            <a:fillRef idx="1">
              <a:schemeClr val="lt1"/>
            </a:fillRef>
            <a:effectRef idx="0">
              <a:schemeClr val="dk1"/>
            </a:effectRef>
            <a:fontRef idx="minor">
              <a:schemeClr val="dk1"/>
            </a:fontRef>
          </p:style>
          <p:txBody>
            <a:bodyPr anchor="ctr"/>
            <a:lstStyle/>
            <a:p>
              <a:pPr algn="ctr">
                <a:defRPr/>
              </a:pPr>
              <a:r>
                <a:rPr lang="ja-JP" altLang="en-US" b="1" dirty="0">
                  <a:latin typeface="メイリオ"/>
                  <a:ea typeface="メイリオ"/>
                  <a:cs typeface="メイリオ"/>
                </a:rPr>
                <a:t>主体的に学習に</a:t>
              </a:r>
              <a:endParaRPr lang="en-US" altLang="ja-JP" b="1" dirty="0">
                <a:latin typeface="+mn-ea"/>
              </a:endParaRPr>
            </a:p>
            <a:p>
              <a:pPr algn="ctr">
                <a:defRPr/>
              </a:pPr>
              <a:r>
                <a:rPr lang="ja-JP" altLang="en-US" b="1" dirty="0">
                  <a:latin typeface="メイリオ"/>
                  <a:ea typeface="メイリオ"/>
                  <a:cs typeface="メイリオ"/>
                </a:rPr>
                <a:t>取り組む態度</a:t>
              </a:r>
            </a:p>
          </p:txBody>
        </p:sp>
        <p:sp>
          <p:nvSpPr>
            <p:cNvPr id="49" name="角丸四角形 48"/>
            <p:cNvSpPr/>
            <p:nvPr/>
          </p:nvSpPr>
          <p:spPr>
            <a:xfrm>
              <a:off x="1118508" y="3363016"/>
              <a:ext cx="2267814" cy="1292225"/>
            </a:xfrm>
            <a:prstGeom prst="roundRect">
              <a:avLst/>
            </a:prstGeom>
            <a:noFill/>
            <a:ln>
              <a:noFill/>
            </a:ln>
          </p:spPr>
          <p:style>
            <a:lnRef idx="2">
              <a:schemeClr val="accent6"/>
            </a:lnRef>
            <a:fillRef idx="1">
              <a:schemeClr val="lt1"/>
            </a:fillRef>
            <a:effectRef idx="0">
              <a:schemeClr val="accent6"/>
            </a:effectRef>
            <a:fontRef idx="minor">
              <a:schemeClr val="dk1"/>
            </a:fontRef>
          </p:style>
          <p:txBody>
            <a:bodyPr anchor="ctr"/>
            <a:lstStyle/>
            <a:p>
              <a:pPr>
                <a:defRPr/>
              </a:pPr>
              <a:r>
                <a:rPr lang="ja-JP" altLang="en-US" sz="2000" b="1" dirty="0">
                  <a:latin typeface="メイリオ"/>
                  <a:ea typeface="メイリオ"/>
                  <a:cs typeface="メイリオ"/>
                </a:rPr>
                <a:t>●観点ごとに評価し、</a:t>
              </a:r>
              <a:endParaRPr lang="en-US" altLang="ja-JP" sz="2000" b="1" dirty="0">
                <a:latin typeface="+mn-ea"/>
              </a:endParaRPr>
            </a:p>
            <a:p>
              <a:pPr>
                <a:defRPr/>
              </a:pPr>
              <a:r>
                <a:rPr lang="ja-JP" altLang="en-US" sz="2000" b="1" dirty="0">
                  <a:latin typeface="メイリオ"/>
                  <a:ea typeface="メイリオ"/>
                  <a:cs typeface="メイリオ"/>
                </a:rPr>
                <a:t>　生徒の学習状況を</a:t>
              </a:r>
              <a:endParaRPr lang="en-US" altLang="ja-JP" sz="2000" b="1" dirty="0">
                <a:latin typeface="+mn-ea"/>
              </a:endParaRPr>
            </a:p>
            <a:p>
              <a:pPr>
                <a:defRPr/>
              </a:pPr>
              <a:r>
                <a:rPr lang="ja-JP" altLang="en-US" sz="2000" b="1" dirty="0">
                  <a:latin typeface="メイリオ"/>
                  <a:ea typeface="メイリオ"/>
                  <a:cs typeface="メイリオ"/>
                </a:rPr>
                <a:t>　分析的捉えるもの</a:t>
              </a:r>
              <a:endParaRPr lang="en-US" altLang="ja-JP" sz="2000" b="1" dirty="0">
                <a:latin typeface="+mn-ea"/>
              </a:endParaRPr>
            </a:p>
            <a:p>
              <a:pPr>
                <a:defRPr/>
              </a:pPr>
              <a:r>
                <a:rPr lang="ja-JP" altLang="en-US" sz="2000" b="1" dirty="0">
                  <a:latin typeface="メイリオ"/>
                  <a:ea typeface="メイリオ"/>
                  <a:cs typeface="メイリオ"/>
                </a:rPr>
                <a:t>●観点ごとにＡＢＣの</a:t>
              </a:r>
              <a:endParaRPr lang="en-US" altLang="ja-JP" sz="2000" b="1" dirty="0">
                <a:latin typeface="+mn-ea"/>
              </a:endParaRPr>
            </a:p>
            <a:p>
              <a:pPr>
                <a:defRPr/>
              </a:pPr>
              <a:r>
                <a:rPr lang="ja-JP" altLang="en-US" sz="2000" b="1" dirty="0">
                  <a:latin typeface="メイリオ"/>
                  <a:ea typeface="メイリオ"/>
                  <a:cs typeface="メイリオ"/>
                </a:rPr>
                <a:t>　３段階で評価</a:t>
              </a:r>
            </a:p>
          </p:txBody>
        </p:sp>
      </p:grpSp>
      <p:sp>
        <p:nvSpPr>
          <p:cNvPr id="5" name="Rectangle 1">
            <a:extLst>
              <a:ext uri="{FF2B5EF4-FFF2-40B4-BE49-F238E27FC236}">
                <a16:creationId xmlns:a16="http://schemas.microsoft.com/office/drawing/2014/main" id="{CC918D9F-967F-F960-44BF-BFFC1DB1C96E}"/>
              </a:ext>
            </a:extLst>
          </p:cNvPr>
          <p:cNvSpPr/>
          <p:nvPr/>
        </p:nvSpPr>
        <p:spPr>
          <a:xfrm>
            <a:off x="0" y="-9228"/>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7" name="Rectangle 2">
            <a:extLst>
              <a:ext uri="{FF2B5EF4-FFF2-40B4-BE49-F238E27FC236}">
                <a16:creationId xmlns:a16="http://schemas.microsoft.com/office/drawing/2014/main" id="{ABE622A9-BE55-F9D4-EDEF-6E7499AB6F3B}"/>
              </a:ext>
            </a:extLst>
          </p:cNvPr>
          <p:cNvSpPr/>
          <p:nvPr/>
        </p:nvSpPr>
        <p:spPr>
          <a:xfrm>
            <a:off x="0" y="820772"/>
            <a:ext cx="12192000" cy="365171"/>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fontScale="77500" lnSpcReduction="20000"/>
          </a:bodyPr>
          <a:lstStyle/>
          <a:p>
            <a:r>
              <a:rPr lang="ja-JP" altLang="en-US" sz="3200" b="1" dirty="0">
                <a:solidFill>
                  <a:schemeClr val="tx1"/>
                </a:solidFill>
                <a:latin typeface="メイリオ"/>
                <a:ea typeface="メイリオ"/>
                <a:cs typeface="メイリオ"/>
              </a:rPr>
              <a:t>各教科における評価の基本構造</a:t>
            </a:r>
          </a:p>
        </p:txBody>
      </p:sp>
    </p:spTree>
    <p:extLst>
      <p:ext uri="{BB962C8B-B14F-4D97-AF65-F5344CB8AC3E}">
        <p14:creationId xmlns:p14="http://schemas.microsoft.com/office/powerpoint/2010/main" val="3497813644"/>
      </p:ext>
    </p:extLst>
  </p:cSld>
  <p:clrMapOvr>
    <a:masterClrMapping/>
  </p:clrMapOvr>
  <p:transition spd="slow">
    <p:cove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コンテンツ プレースホルダー 2"/>
          <p:cNvSpPr txBox="1">
            <a:spLocks/>
          </p:cNvSpPr>
          <p:nvPr/>
        </p:nvSpPr>
        <p:spPr>
          <a:xfrm>
            <a:off x="888647" y="1826944"/>
            <a:ext cx="10400765" cy="1572423"/>
          </a:xfrm>
          <a:prstGeom prst="rect">
            <a:avLst/>
          </a:prstGeom>
        </p:spPr>
        <p:txBody>
          <a:bodyPr vert="horz" lIns="91440" tIns="45720" rIns="91440" bIns="45720" rtlCol="0">
            <a:no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3200" b="1" dirty="0">
                <a:latin typeface="メイリオ"/>
                <a:ea typeface="メイリオ"/>
                <a:cs typeface="メイリオ"/>
              </a:rPr>
              <a:t>○　既有の知識及び技能と関連づけたり活用したりする</a:t>
            </a:r>
            <a:endParaRPr lang="en-US" altLang="ja-JP" sz="3200" b="1" dirty="0"/>
          </a:p>
          <a:p>
            <a:pPr marL="0" indent="0">
              <a:buNone/>
            </a:pPr>
            <a:r>
              <a:rPr lang="ja-JP" altLang="en-US" sz="3200" b="1" dirty="0">
                <a:latin typeface="メイリオ"/>
                <a:ea typeface="メイリオ"/>
                <a:cs typeface="メイリオ"/>
              </a:rPr>
              <a:t>　　中で、概念等として理解したり、技能を習得したり</a:t>
            </a:r>
            <a:endParaRPr lang="en-US" altLang="ja-JP" sz="3200" b="1" dirty="0"/>
          </a:p>
          <a:p>
            <a:pPr marL="0" indent="0">
              <a:buNone/>
            </a:pPr>
            <a:r>
              <a:rPr lang="ja-JP" altLang="en-US" sz="3200" b="1" dirty="0">
                <a:latin typeface="メイリオ"/>
                <a:ea typeface="メイリオ"/>
                <a:cs typeface="メイリオ"/>
              </a:rPr>
              <a:t>　　しているかについて評価する。</a:t>
            </a:r>
          </a:p>
        </p:txBody>
      </p:sp>
      <p:sp>
        <p:nvSpPr>
          <p:cNvPr id="18" name="コンテンツ プレースホルダー 2"/>
          <p:cNvSpPr txBox="1">
            <a:spLocks/>
          </p:cNvSpPr>
          <p:nvPr/>
        </p:nvSpPr>
        <p:spPr>
          <a:xfrm>
            <a:off x="888647" y="3665125"/>
            <a:ext cx="10400765" cy="1962288"/>
          </a:xfrm>
          <a:prstGeom prst="rect">
            <a:avLst/>
          </a:prstGeom>
          <a:ln w="57150">
            <a:solidFill>
              <a:schemeClr val="accent5"/>
            </a:solidFill>
          </a:ln>
        </p:spPr>
        <p:txBody>
          <a:bodyPr vert="horz" lIns="91440" tIns="45720" rIns="91440" bIns="45720" rtlCol="0">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spcBef>
                <a:spcPts val="600"/>
              </a:spcBef>
              <a:buNone/>
            </a:pPr>
            <a:endParaRPr lang="en-US" altLang="ja-JP" sz="1300" b="1" dirty="0"/>
          </a:p>
          <a:p>
            <a:pPr marL="0" indent="0">
              <a:spcBef>
                <a:spcPts val="600"/>
              </a:spcBef>
              <a:buNone/>
            </a:pPr>
            <a:r>
              <a:rPr lang="ja-JP" altLang="en-US" sz="3000" b="1" dirty="0">
                <a:latin typeface="メイリオ"/>
                <a:ea typeface="メイリオ"/>
                <a:cs typeface="メイリオ"/>
              </a:rPr>
              <a:t>＜評価の工夫例＞</a:t>
            </a:r>
            <a:endParaRPr lang="en-US" altLang="ja-JP" sz="3000" b="1" dirty="0"/>
          </a:p>
          <a:p>
            <a:pPr marL="0" indent="0">
              <a:buNone/>
            </a:pPr>
            <a:r>
              <a:rPr lang="ja-JP" altLang="en-US" sz="3000" b="1" dirty="0">
                <a:latin typeface="メイリオ"/>
                <a:ea typeface="メイリオ"/>
                <a:cs typeface="メイリオ"/>
              </a:rPr>
              <a:t>○ペーパーテスト</a:t>
            </a:r>
            <a:endParaRPr lang="en-US" altLang="ja-JP" sz="3000" b="1" dirty="0"/>
          </a:p>
          <a:p>
            <a:pPr marL="0" indent="0">
              <a:buNone/>
            </a:pPr>
            <a:r>
              <a:rPr lang="ja-JP" altLang="en-US" sz="3000" b="1" dirty="0">
                <a:latin typeface="メイリオ"/>
                <a:ea typeface="メイリオ"/>
                <a:cs typeface="メイリオ"/>
              </a:rPr>
              <a:t>○実際に知識や技能を用いる場面を設けた学習活動</a:t>
            </a:r>
            <a:endParaRPr lang="en-US" altLang="ja-JP" sz="3000" b="1" dirty="0"/>
          </a:p>
        </p:txBody>
      </p:sp>
      <p:sp>
        <p:nvSpPr>
          <p:cNvPr id="2" name="Rectangle 1">
            <a:extLst>
              <a:ext uri="{FF2B5EF4-FFF2-40B4-BE49-F238E27FC236}">
                <a16:creationId xmlns:a16="http://schemas.microsoft.com/office/drawing/2014/main" id="{8E80A6CC-FE31-1773-749F-3294CC509BB8}"/>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3" name="Rectangle 2">
            <a:extLst>
              <a:ext uri="{FF2B5EF4-FFF2-40B4-BE49-F238E27FC236}">
                <a16:creationId xmlns:a16="http://schemas.microsoft.com/office/drawing/2014/main" id="{07B49455-C776-E5ED-D0C5-961C47995252}"/>
              </a:ext>
            </a:extLst>
          </p:cNvPr>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r>
              <a:rPr lang="ja-JP" altLang="en-US" sz="3200" b="1" dirty="0">
                <a:solidFill>
                  <a:schemeClr val="tx1"/>
                </a:solidFill>
                <a:latin typeface="メイリオ"/>
                <a:ea typeface="メイリオ"/>
                <a:cs typeface="メイリオ"/>
              </a:rPr>
              <a:t>「知識・技能」の評価</a:t>
            </a:r>
          </a:p>
        </p:txBody>
      </p:sp>
      <p:sp>
        <p:nvSpPr>
          <p:cNvPr id="4" name="TextBox 8">
            <a:extLst>
              <a:ext uri="{FF2B5EF4-FFF2-40B4-BE49-F238E27FC236}">
                <a16:creationId xmlns:a16="http://schemas.microsoft.com/office/drawing/2014/main" id="{4AF4BAF8-0E6E-4ABD-4A0E-A7219D3808DF}"/>
              </a:ext>
            </a:extLst>
          </p:cNvPr>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dirty="0" err="1">
                <a:solidFill>
                  <a:srgbClr val="404040"/>
                </a:solidFill>
                <a:latin typeface="メイリオ"/>
                <a:ea typeface="メイリオ"/>
                <a:cs typeface="メイリオ"/>
              </a:rPr>
              <a:t>出典：国立教育政策研究所「学習評価の在り方ハンドブック（中学校編</a:t>
            </a:r>
            <a:r>
              <a:rPr sz="1300" dirty="0">
                <a:solidFill>
                  <a:srgbClr val="404040"/>
                </a:solidFill>
                <a:latin typeface="メイリオ"/>
                <a:ea typeface="メイリオ"/>
                <a:cs typeface="メイリオ"/>
              </a:rPr>
              <a:t>）」</a:t>
            </a:r>
          </a:p>
        </p:txBody>
      </p:sp>
    </p:spTree>
    <p:extLst>
      <p:ext uri="{BB962C8B-B14F-4D97-AF65-F5344CB8AC3E}">
        <p14:creationId xmlns:p14="http://schemas.microsoft.com/office/powerpoint/2010/main" val="1292362610"/>
      </p:ext>
    </p:extLst>
  </p:cSld>
  <p:clrMapOvr>
    <a:masterClrMapping/>
  </p:clrMapOvr>
  <p:transition spd="slow">
    <p:cove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コンテンツ プレースホルダー 2"/>
          <p:cNvSpPr txBox="1">
            <a:spLocks/>
          </p:cNvSpPr>
          <p:nvPr/>
        </p:nvSpPr>
        <p:spPr>
          <a:xfrm>
            <a:off x="888644" y="1938908"/>
            <a:ext cx="10400765" cy="1276011"/>
          </a:xfrm>
          <a:prstGeom prst="rect">
            <a:avLst/>
          </a:prstGeom>
        </p:spPr>
        <p:txBody>
          <a:bodyPr vert="horz" lIns="91440" tIns="45720" rIns="91440" bIns="45720" rtlCol="0">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b="1" dirty="0">
                <a:latin typeface="メイリオ"/>
                <a:ea typeface="メイリオ"/>
                <a:cs typeface="メイリオ"/>
              </a:rPr>
              <a:t>各教科等の知識及び技能を活用して課題を解決する等のために必要な思考力、判断力、表現力等を身に付けているかどうかを評価する。</a:t>
            </a:r>
          </a:p>
        </p:txBody>
      </p:sp>
      <p:sp>
        <p:nvSpPr>
          <p:cNvPr id="18" name="コンテンツ プレースホルダー 2"/>
          <p:cNvSpPr txBox="1">
            <a:spLocks/>
          </p:cNvSpPr>
          <p:nvPr/>
        </p:nvSpPr>
        <p:spPr>
          <a:xfrm>
            <a:off x="2966041" y="3536180"/>
            <a:ext cx="6230897" cy="2785495"/>
          </a:xfrm>
          <a:prstGeom prst="rect">
            <a:avLst/>
          </a:prstGeom>
          <a:ln w="38100">
            <a:solidFill>
              <a:srgbClr val="C00000"/>
            </a:solidFill>
          </a:ln>
        </p:spPr>
        <p:txBody>
          <a:bodyPr vert="horz" lIns="91440" tIns="45720" rIns="91440" bIns="45720" rtlCol="0">
            <a:normAutofit lnSpcReduction="10000"/>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endParaRPr lang="en-US" altLang="ja-JP" sz="1000" b="1" dirty="0"/>
          </a:p>
          <a:p>
            <a:pPr marL="0" indent="0">
              <a:buNone/>
            </a:pPr>
            <a:r>
              <a:rPr lang="ja-JP" altLang="en-US" b="1" dirty="0">
                <a:latin typeface="メイリオ"/>
                <a:ea typeface="メイリオ"/>
                <a:cs typeface="メイリオ"/>
              </a:rPr>
              <a:t>＜評価の工夫例＞</a:t>
            </a:r>
            <a:endParaRPr lang="en-US" altLang="ja-JP" b="1" dirty="0"/>
          </a:p>
          <a:p>
            <a:pPr marL="0" indent="0">
              <a:buNone/>
            </a:pPr>
            <a:r>
              <a:rPr lang="ja-JP" altLang="en-US" b="1" dirty="0">
                <a:latin typeface="メイリオ"/>
                <a:ea typeface="メイリオ"/>
                <a:cs typeface="メイリオ"/>
              </a:rPr>
              <a:t>○論述やレポートの作成、発表</a:t>
            </a:r>
            <a:endParaRPr lang="en-US" altLang="ja-JP" b="1" dirty="0"/>
          </a:p>
          <a:p>
            <a:pPr marL="0" indent="0">
              <a:buNone/>
            </a:pPr>
            <a:r>
              <a:rPr lang="ja-JP" altLang="en-US" b="1" dirty="0">
                <a:latin typeface="メイリオ"/>
                <a:ea typeface="メイリオ"/>
                <a:cs typeface="メイリオ"/>
              </a:rPr>
              <a:t>○グループでの話合い</a:t>
            </a:r>
            <a:endParaRPr lang="en-US" altLang="ja-JP" b="1" dirty="0"/>
          </a:p>
          <a:p>
            <a:pPr marL="0" indent="0">
              <a:buNone/>
            </a:pPr>
            <a:r>
              <a:rPr lang="ja-JP" altLang="en-US" b="1" dirty="0">
                <a:latin typeface="メイリオ"/>
                <a:ea typeface="メイリオ"/>
                <a:cs typeface="メイリオ"/>
              </a:rPr>
              <a:t>○作品の制作や表現等の多様な活動</a:t>
            </a:r>
            <a:endParaRPr lang="en-US" altLang="ja-JP" b="1" dirty="0"/>
          </a:p>
          <a:p>
            <a:pPr marL="0" indent="0">
              <a:buNone/>
            </a:pPr>
            <a:r>
              <a:rPr lang="ja-JP" altLang="en-US" b="1" dirty="0">
                <a:latin typeface="メイリオ"/>
                <a:ea typeface="メイリオ"/>
                <a:cs typeface="メイリオ"/>
              </a:rPr>
              <a:t>○ポートフォリオの活用</a:t>
            </a:r>
          </a:p>
        </p:txBody>
      </p:sp>
      <p:sp>
        <p:nvSpPr>
          <p:cNvPr id="4" name="Rectangle 1">
            <a:extLst>
              <a:ext uri="{FF2B5EF4-FFF2-40B4-BE49-F238E27FC236}">
                <a16:creationId xmlns:a16="http://schemas.microsoft.com/office/drawing/2014/main" id="{792DFF4A-273B-8E69-BF6C-2D3A37E5CDAB}"/>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5" name="Rectangle 2">
            <a:extLst>
              <a:ext uri="{FF2B5EF4-FFF2-40B4-BE49-F238E27FC236}">
                <a16:creationId xmlns:a16="http://schemas.microsoft.com/office/drawing/2014/main" id="{2EC89BC6-C1B3-B4E2-9CC9-6F25DBFA4C47}"/>
              </a:ext>
            </a:extLst>
          </p:cNvPr>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r>
              <a:rPr lang="ja-JP" altLang="en-US" sz="3200" b="1" dirty="0">
                <a:solidFill>
                  <a:schemeClr val="tx1"/>
                </a:solidFill>
                <a:latin typeface="メイリオ"/>
                <a:ea typeface="メイリオ"/>
                <a:cs typeface="メイリオ"/>
              </a:rPr>
              <a:t>「思考・判断・表現」の評価</a:t>
            </a:r>
          </a:p>
        </p:txBody>
      </p:sp>
      <p:sp>
        <p:nvSpPr>
          <p:cNvPr id="6" name="TextBox 8">
            <a:extLst>
              <a:ext uri="{FF2B5EF4-FFF2-40B4-BE49-F238E27FC236}">
                <a16:creationId xmlns:a16="http://schemas.microsoft.com/office/drawing/2014/main" id="{C8EC3372-453D-37C1-3D67-95FBD6FE7BAB}"/>
              </a:ext>
            </a:extLst>
          </p:cNvPr>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dirty="0" err="1">
                <a:solidFill>
                  <a:srgbClr val="404040"/>
                </a:solidFill>
                <a:latin typeface="メイリオ"/>
                <a:ea typeface="メイリオ"/>
                <a:cs typeface="メイリオ"/>
              </a:rPr>
              <a:t>出典：国立教育政策研究所「学習評価の在り方ハンドブック（中学校編</a:t>
            </a:r>
            <a:r>
              <a:rPr sz="1300" dirty="0">
                <a:solidFill>
                  <a:srgbClr val="404040"/>
                </a:solidFill>
                <a:latin typeface="メイリオ"/>
                <a:ea typeface="メイリオ"/>
                <a:cs typeface="メイリオ"/>
              </a:rPr>
              <a:t>）」</a:t>
            </a:r>
          </a:p>
        </p:txBody>
      </p:sp>
    </p:spTree>
    <p:extLst>
      <p:ext uri="{BB962C8B-B14F-4D97-AF65-F5344CB8AC3E}">
        <p14:creationId xmlns:p14="http://schemas.microsoft.com/office/powerpoint/2010/main" val="1313705403"/>
      </p:ext>
    </p:extLst>
  </p:cSld>
  <p:clrMapOvr>
    <a:masterClrMapping/>
  </p:clrMapOvr>
  <p:transition spd="slow">
    <p:cove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図 6"/>
          <p:cNvPicPr>
            <a:picLocks noChangeAspect="1"/>
          </p:cNvPicPr>
          <p:nvPr/>
        </p:nvPicPr>
        <p:blipFill rotWithShape="1">
          <a:blip r:embed="rId3"/>
          <a:srcRect l="38092" t="19270" r="25988" b="10937"/>
          <a:stretch/>
        </p:blipFill>
        <p:spPr>
          <a:xfrm>
            <a:off x="1285571" y="1690932"/>
            <a:ext cx="5217866" cy="4970314"/>
          </a:xfrm>
          <a:prstGeom prst="rect">
            <a:avLst/>
          </a:prstGeom>
          <a:ln w="28575">
            <a:solidFill>
              <a:schemeClr val="tx1"/>
            </a:solidFill>
          </a:ln>
        </p:spPr>
      </p:pic>
      <p:sp>
        <p:nvSpPr>
          <p:cNvPr id="9" name="角丸四角形吹き出し 8"/>
          <p:cNvSpPr/>
          <p:nvPr/>
        </p:nvSpPr>
        <p:spPr>
          <a:xfrm>
            <a:off x="7037359" y="3429000"/>
            <a:ext cx="4031449" cy="2002907"/>
          </a:xfrm>
          <a:prstGeom prst="wedgeRoundRectCallout">
            <a:avLst>
              <a:gd name="adj1" fmla="val -59962"/>
              <a:gd name="adj2" fmla="val -7948"/>
              <a:gd name="adj3" fmla="val 16667"/>
            </a:avLst>
          </a:prstGeom>
          <a:solidFill>
            <a:schemeClr val="bg1"/>
          </a:solidFill>
          <a:ln w="57150"/>
        </p:spPr>
        <p:style>
          <a:lnRef idx="2">
            <a:schemeClr val="accent6"/>
          </a:lnRef>
          <a:fillRef idx="1">
            <a:schemeClr val="lt1"/>
          </a:fillRef>
          <a:effectRef idx="0">
            <a:schemeClr val="accent6"/>
          </a:effectRef>
          <a:fontRef idx="minor">
            <a:schemeClr val="dk1"/>
          </a:fontRef>
        </p:style>
        <p:txBody>
          <a:bodyPr rtlCol="0" anchor="ctr"/>
          <a:lstStyle/>
          <a:p>
            <a:r>
              <a:rPr lang="ja-JP" altLang="en-US" sz="2400" b="1" dirty="0">
                <a:latin typeface="メイリオ" panose="020B0609070205080204" pitchFamily="49" charset="-128"/>
                <a:ea typeface="メイリオ" panose="020B0609070205080204" pitchFamily="49" charset="-128"/>
                <a:cs typeface="メイリオ"/>
              </a:rPr>
              <a:t>①と②は、別々ではなく相互に関わり合っている。①がＡで②がＣという生徒の姿は一般的ではない。</a:t>
            </a:r>
          </a:p>
        </p:txBody>
      </p:sp>
      <p:sp>
        <p:nvSpPr>
          <p:cNvPr id="2" name="Rectangle 1">
            <a:extLst>
              <a:ext uri="{FF2B5EF4-FFF2-40B4-BE49-F238E27FC236}">
                <a16:creationId xmlns:a16="http://schemas.microsoft.com/office/drawing/2014/main" id="{42D9CE4D-4F6F-4525-CFFE-4EFD7D76718E}"/>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3" name="Rectangle 2">
            <a:extLst>
              <a:ext uri="{FF2B5EF4-FFF2-40B4-BE49-F238E27FC236}">
                <a16:creationId xmlns:a16="http://schemas.microsoft.com/office/drawing/2014/main" id="{1E6A2D0E-0E2A-8069-4104-96E7246E0681}"/>
              </a:ext>
            </a:extLst>
          </p:cNvPr>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r>
              <a:rPr lang="ja-JP" altLang="en-US" sz="3200" b="1" dirty="0">
                <a:solidFill>
                  <a:schemeClr val="tx1"/>
                </a:solidFill>
                <a:latin typeface="メイリオ"/>
                <a:ea typeface="メイリオ"/>
                <a:cs typeface="メイリオ"/>
              </a:rPr>
              <a:t>「主体的に学習に取り組む態度」の評価</a:t>
            </a:r>
          </a:p>
        </p:txBody>
      </p:sp>
    </p:spTree>
    <p:extLst>
      <p:ext uri="{BB962C8B-B14F-4D97-AF65-F5344CB8AC3E}">
        <p14:creationId xmlns:p14="http://schemas.microsoft.com/office/powerpoint/2010/main" val="2480890887"/>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1000"/>
                                        <p:tgtEl>
                                          <p:spTgt spid="9"/>
                                        </p:tgtEl>
                                      </p:cBhvr>
                                    </p:animEffect>
                                    <p:anim calcmode="lin" valueType="num">
                                      <p:cBhvr>
                                        <p:cTn id="15" dur="1000" fill="hold"/>
                                        <p:tgtEl>
                                          <p:spTgt spid="9"/>
                                        </p:tgtEl>
                                        <p:attrNameLst>
                                          <p:attrName>ppt_x</p:attrName>
                                        </p:attrNameLst>
                                      </p:cBhvr>
                                      <p:tavLst>
                                        <p:tav tm="0">
                                          <p:val>
                                            <p:strVal val="#ppt_x"/>
                                          </p:val>
                                        </p:tav>
                                        <p:tav tm="100000">
                                          <p:val>
                                            <p:strVal val="#ppt_x"/>
                                          </p:val>
                                        </p:tav>
                                      </p:tavLst>
                                    </p:anim>
                                    <p:anim calcmode="lin" valueType="num">
                                      <p:cBhvr>
                                        <p:cTn id="1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コンテンツ プレースホルダー 2"/>
          <p:cNvSpPr txBox="1">
            <a:spLocks/>
          </p:cNvSpPr>
          <p:nvPr/>
        </p:nvSpPr>
        <p:spPr>
          <a:xfrm>
            <a:off x="1335384" y="2106014"/>
            <a:ext cx="9507291" cy="3620664"/>
          </a:xfrm>
          <a:prstGeom prst="rect">
            <a:avLst/>
          </a:prstGeom>
          <a:ln w="38100">
            <a:solidFill>
              <a:srgbClr val="FFC000"/>
            </a:solidFill>
          </a:ln>
        </p:spPr>
        <p:txBody>
          <a:bodyPr vert="horz" lIns="91440" tIns="45720" rIns="91440" bIns="45720" rtlCol="0">
            <a:no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endParaRPr lang="en-US" altLang="ja-JP" sz="300" b="1" dirty="0"/>
          </a:p>
          <a:p>
            <a:pPr marL="0" indent="0">
              <a:buNone/>
            </a:pPr>
            <a:r>
              <a:rPr lang="ja-JP" altLang="en-US" sz="4000" b="1" dirty="0">
                <a:latin typeface="メイリオ"/>
                <a:ea typeface="メイリオ"/>
                <a:cs typeface="メイリオ"/>
              </a:rPr>
              <a:t>＜評価の工夫例＞</a:t>
            </a:r>
            <a:endParaRPr lang="en-US" altLang="ja-JP" sz="4000" b="1" dirty="0"/>
          </a:p>
          <a:p>
            <a:pPr marL="0" indent="0">
              <a:buNone/>
            </a:pPr>
            <a:r>
              <a:rPr lang="ja-JP" altLang="en-US" sz="4000" b="1" dirty="0">
                <a:latin typeface="メイリオ"/>
                <a:ea typeface="メイリオ"/>
                <a:cs typeface="メイリオ"/>
              </a:rPr>
              <a:t>○ノートやレポート等における記述</a:t>
            </a:r>
            <a:endParaRPr lang="en-US" altLang="ja-JP" sz="4000" b="1" dirty="0"/>
          </a:p>
          <a:p>
            <a:pPr marL="0" indent="0">
              <a:buNone/>
            </a:pPr>
            <a:r>
              <a:rPr lang="ja-JP" altLang="en-US" sz="4000" b="1" dirty="0">
                <a:latin typeface="メイリオ"/>
                <a:ea typeface="メイリオ"/>
                <a:cs typeface="メイリオ"/>
              </a:rPr>
              <a:t>○授業中の発言</a:t>
            </a:r>
            <a:endParaRPr lang="en-US" altLang="ja-JP" sz="4000" b="1" dirty="0"/>
          </a:p>
          <a:p>
            <a:pPr marL="0" indent="0">
              <a:buNone/>
            </a:pPr>
            <a:r>
              <a:rPr lang="ja-JP" altLang="en-US" sz="4000" b="1" dirty="0">
                <a:latin typeface="メイリオ"/>
                <a:ea typeface="メイリオ"/>
                <a:cs typeface="メイリオ"/>
              </a:rPr>
              <a:t>○教師による行動観察</a:t>
            </a:r>
            <a:endParaRPr lang="en-US" altLang="ja-JP" sz="4000" b="1" dirty="0"/>
          </a:p>
          <a:p>
            <a:pPr marL="0" indent="0">
              <a:buNone/>
            </a:pPr>
            <a:r>
              <a:rPr lang="ja-JP" altLang="en-US" sz="4000" b="1" dirty="0">
                <a:latin typeface="メイリオ"/>
                <a:ea typeface="メイリオ"/>
                <a:cs typeface="メイリオ"/>
              </a:rPr>
              <a:t>○生徒による自己評価・相互評価等</a:t>
            </a:r>
          </a:p>
        </p:txBody>
      </p:sp>
      <p:sp>
        <p:nvSpPr>
          <p:cNvPr id="6" name="Rectangle 1">
            <a:extLst>
              <a:ext uri="{FF2B5EF4-FFF2-40B4-BE49-F238E27FC236}">
                <a16:creationId xmlns:a16="http://schemas.microsoft.com/office/drawing/2014/main" id="{8336BE88-6DA2-CABF-0D3A-2C7CFBB8A356}"/>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7" name="Rectangle 2">
            <a:extLst>
              <a:ext uri="{FF2B5EF4-FFF2-40B4-BE49-F238E27FC236}">
                <a16:creationId xmlns:a16="http://schemas.microsoft.com/office/drawing/2014/main" id="{B0320CFA-D114-BC86-C30F-76CEEA81CF68}"/>
              </a:ext>
            </a:extLst>
          </p:cNvPr>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r>
              <a:rPr lang="ja-JP" altLang="en-US" sz="3200" b="1" dirty="0">
                <a:solidFill>
                  <a:schemeClr val="tx1"/>
                </a:solidFill>
                <a:latin typeface="メイリオ"/>
                <a:ea typeface="メイリオ"/>
                <a:cs typeface="メイリオ"/>
              </a:rPr>
              <a:t>「主体的に学習に取り組む態度」の評価</a:t>
            </a:r>
          </a:p>
        </p:txBody>
      </p:sp>
      <p:sp>
        <p:nvSpPr>
          <p:cNvPr id="9" name="TextBox 8">
            <a:extLst>
              <a:ext uri="{FF2B5EF4-FFF2-40B4-BE49-F238E27FC236}">
                <a16:creationId xmlns:a16="http://schemas.microsoft.com/office/drawing/2014/main" id="{765B1BC6-6930-328F-8CE1-F49D28DB4BEE}"/>
              </a:ext>
            </a:extLst>
          </p:cNvPr>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dirty="0" err="1">
                <a:solidFill>
                  <a:srgbClr val="404040"/>
                </a:solidFill>
                <a:latin typeface="メイリオ"/>
                <a:ea typeface="メイリオ"/>
                <a:cs typeface="メイリオ"/>
              </a:rPr>
              <a:t>出典：国立教育政策研究所「学習評価の在り方ハンドブック（中学校編</a:t>
            </a:r>
            <a:r>
              <a:rPr sz="1300" dirty="0">
                <a:solidFill>
                  <a:srgbClr val="404040"/>
                </a:solidFill>
                <a:latin typeface="メイリオ"/>
                <a:ea typeface="メイリオ"/>
                <a:cs typeface="メイリオ"/>
              </a:rPr>
              <a:t>）」</a:t>
            </a:r>
          </a:p>
        </p:txBody>
      </p:sp>
    </p:spTree>
    <p:extLst>
      <p:ext uri="{BB962C8B-B14F-4D97-AF65-F5344CB8AC3E}">
        <p14:creationId xmlns:p14="http://schemas.microsoft.com/office/powerpoint/2010/main" val="379402200"/>
      </p:ext>
    </p:extLst>
  </p:cSld>
  <p:clrMapOvr>
    <a:masterClrMapping/>
  </p:clrMapOvr>
  <p:transition spd="slow">
    <p:cove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楕円 3"/>
          <p:cNvSpPr/>
          <p:nvPr/>
        </p:nvSpPr>
        <p:spPr>
          <a:xfrm>
            <a:off x="4595396" y="2830536"/>
            <a:ext cx="2942068" cy="2942068"/>
          </a:xfrm>
          <a:prstGeom prst="ellipse">
            <a:avLst/>
          </a:prstGeom>
          <a:ln w="76200"/>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5400" b="1" dirty="0">
                <a:latin typeface="メイリオ"/>
                <a:ea typeface="メイリオ"/>
                <a:cs typeface="メイリオ"/>
              </a:rPr>
              <a:t>行動観察</a:t>
            </a:r>
          </a:p>
        </p:txBody>
      </p:sp>
      <p:sp>
        <p:nvSpPr>
          <p:cNvPr id="2" name="角丸四角形 1"/>
          <p:cNvSpPr/>
          <p:nvPr/>
        </p:nvSpPr>
        <p:spPr>
          <a:xfrm>
            <a:off x="313897" y="1364365"/>
            <a:ext cx="5117911" cy="1009934"/>
          </a:xfrm>
          <a:prstGeom prst="roundRect">
            <a:avLst/>
          </a:prstGeom>
          <a:solidFill>
            <a:schemeClr val="accent4">
              <a:lumMod val="60000"/>
              <a:lumOff val="40000"/>
            </a:schemeClr>
          </a:solidFill>
          <a:ln w="57150">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2800" b="1" dirty="0">
                <a:latin typeface="メイリオ"/>
                <a:ea typeface="メイリオ"/>
                <a:cs typeface="メイリオ"/>
              </a:rPr>
              <a:t>粘り強く取り組んでいる姿</a:t>
            </a:r>
          </a:p>
        </p:txBody>
      </p:sp>
      <p:sp>
        <p:nvSpPr>
          <p:cNvPr id="7" name="角丸四角形 6"/>
          <p:cNvSpPr/>
          <p:nvPr/>
        </p:nvSpPr>
        <p:spPr>
          <a:xfrm>
            <a:off x="6591869" y="1364365"/>
            <a:ext cx="5117911" cy="1009934"/>
          </a:xfrm>
          <a:prstGeom prst="roundRect">
            <a:avLst/>
          </a:prstGeom>
          <a:solidFill>
            <a:schemeClr val="accent1">
              <a:lumMod val="40000"/>
              <a:lumOff val="60000"/>
            </a:schemeClr>
          </a:solidFill>
          <a:ln w="571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2800" b="1" dirty="0">
                <a:latin typeface="メイリオ"/>
                <a:ea typeface="メイリオ"/>
                <a:cs typeface="メイリオ"/>
              </a:rPr>
              <a:t>自己調整している姿</a:t>
            </a:r>
          </a:p>
        </p:txBody>
      </p:sp>
      <p:sp>
        <p:nvSpPr>
          <p:cNvPr id="8" name="角丸四角形 7"/>
          <p:cNvSpPr/>
          <p:nvPr/>
        </p:nvSpPr>
        <p:spPr>
          <a:xfrm>
            <a:off x="798286" y="2566194"/>
            <a:ext cx="4180113" cy="1009934"/>
          </a:xfrm>
          <a:prstGeom prst="roundRect">
            <a:avLst/>
          </a:prstGeom>
          <a:ln w="57150">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ja-JP" altLang="en-US" sz="2000" b="1" dirty="0">
                <a:latin typeface="メイリオ"/>
                <a:ea typeface="メイリオ"/>
                <a:cs typeface="メイリオ"/>
              </a:rPr>
              <a:t>前時までのノートを見返している</a:t>
            </a:r>
            <a:endParaRPr kumimoji="1" lang="ja-JP" altLang="en-US" sz="2000" b="1" dirty="0"/>
          </a:p>
        </p:txBody>
      </p:sp>
      <p:sp>
        <p:nvSpPr>
          <p:cNvPr id="9" name="角丸四角形 8"/>
          <p:cNvSpPr/>
          <p:nvPr/>
        </p:nvSpPr>
        <p:spPr>
          <a:xfrm>
            <a:off x="7186306" y="2566194"/>
            <a:ext cx="4243262" cy="1009934"/>
          </a:xfrm>
          <a:prstGeom prst="roundRect">
            <a:avLst/>
          </a:prstGeom>
          <a:solidFill>
            <a:schemeClr val="bg1"/>
          </a:solidFill>
          <a:ln w="571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2000" b="1" dirty="0">
                <a:latin typeface="メイリオ"/>
                <a:ea typeface="メイリオ"/>
                <a:cs typeface="メイリオ"/>
              </a:rPr>
              <a:t>解決方法を振り返り、修正したり別の方法を考えたりする</a:t>
            </a:r>
          </a:p>
        </p:txBody>
      </p:sp>
      <p:sp>
        <p:nvSpPr>
          <p:cNvPr id="10" name="角丸四角形 9"/>
          <p:cNvSpPr/>
          <p:nvPr/>
        </p:nvSpPr>
        <p:spPr>
          <a:xfrm>
            <a:off x="798286" y="3746564"/>
            <a:ext cx="4180113" cy="1009934"/>
          </a:xfrm>
          <a:prstGeom prst="roundRect">
            <a:avLst/>
          </a:prstGeom>
          <a:ln w="57150">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2000" b="1" dirty="0">
                <a:latin typeface="メイリオ"/>
                <a:ea typeface="メイリオ"/>
                <a:cs typeface="メイリオ"/>
              </a:rPr>
              <a:t>わかりやすくするために式に言葉や図での説明を書き加える</a:t>
            </a:r>
          </a:p>
        </p:txBody>
      </p:sp>
      <p:sp>
        <p:nvSpPr>
          <p:cNvPr id="11" name="角丸四角形 10"/>
          <p:cNvSpPr/>
          <p:nvPr/>
        </p:nvSpPr>
        <p:spPr>
          <a:xfrm>
            <a:off x="7179483" y="3746564"/>
            <a:ext cx="4243262" cy="1009934"/>
          </a:xfrm>
          <a:prstGeom prst="roundRect">
            <a:avLst/>
          </a:prstGeom>
          <a:solidFill>
            <a:schemeClr val="bg1"/>
          </a:solidFill>
          <a:ln w="571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2000" b="1" dirty="0">
                <a:latin typeface="メイリオ"/>
                <a:ea typeface="メイリオ"/>
                <a:cs typeface="メイリオ"/>
              </a:rPr>
              <a:t>解決方法を自己評価し、更によいものを求めようとする</a:t>
            </a:r>
          </a:p>
        </p:txBody>
      </p:sp>
      <p:sp>
        <p:nvSpPr>
          <p:cNvPr id="12" name="角丸四角形 11"/>
          <p:cNvSpPr/>
          <p:nvPr/>
        </p:nvSpPr>
        <p:spPr>
          <a:xfrm>
            <a:off x="798286" y="4926934"/>
            <a:ext cx="4180113" cy="1009934"/>
          </a:xfrm>
          <a:prstGeom prst="roundRect">
            <a:avLst/>
          </a:prstGeom>
          <a:ln w="57150">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2000" b="1" dirty="0">
                <a:latin typeface="メイリオ"/>
                <a:ea typeface="メイリオ"/>
                <a:cs typeface="メイリオ"/>
              </a:rPr>
              <a:t>別の方法での解決を試みる</a:t>
            </a:r>
          </a:p>
        </p:txBody>
      </p:sp>
      <p:sp>
        <p:nvSpPr>
          <p:cNvPr id="13" name="角丸四角形 12"/>
          <p:cNvSpPr/>
          <p:nvPr/>
        </p:nvSpPr>
        <p:spPr>
          <a:xfrm>
            <a:off x="7186306" y="4926934"/>
            <a:ext cx="4243262" cy="1009934"/>
          </a:xfrm>
          <a:prstGeom prst="roundRect">
            <a:avLst/>
          </a:prstGeom>
          <a:solidFill>
            <a:schemeClr val="bg1"/>
          </a:solidFill>
          <a:ln w="571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2000" b="1" dirty="0">
                <a:latin typeface="メイリオ"/>
                <a:ea typeface="メイリオ"/>
                <a:cs typeface="メイリオ"/>
              </a:rPr>
              <a:t>友達に説明することを念頭に置いて、着想や説明を書き加えていく</a:t>
            </a:r>
          </a:p>
        </p:txBody>
      </p:sp>
      <p:sp>
        <p:nvSpPr>
          <p:cNvPr id="3" name="正方形/長方形 2"/>
          <p:cNvSpPr/>
          <p:nvPr/>
        </p:nvSpPr>
        <p:spPr>
          <a:xfrm>
            <a:off x="1414817" y="6035465"/>
            <a:ext cx="9362365" cy="723331"/>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kumimoji="1" lang="ja-JP" altLang="en-US" sz="3200" b="1" dirty="0">
                <a:latin typeface="メイリオ"/>
                <a:ea typeface="メイリオ"/>
                <a:cs typeface="メイリオ"/>
              </a:rPr>
              <a:t>生徒の学びの姿をイメージした学習活動をつくる</a:t>
            </a:r>
          </a:p>
        </p:txBody>
      </p:sp>
      <p:sp>
        <p:nvSpPr>
          <p:cNvPr id="5" name="Rectangle 1">
            <a:extLst>
              <a:ext uri="{FF2B5EF4-FFF2-40B4-BE49-F238E27FC236}">
                <a16:creationId xmlns:a16="http://schemas.microsoft.com/office/drawing/2014/main" id="{1AEC97A5-720E-FEC4-03F9-5861B665EE2A}"/>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6" name="Rectangle 2">
            <a:extLst>
              <a:ext uri="{FF2B5EF4-FFF2-40B4-BE49-F238E27FC236}">
                <a16:creationId xmlns:a16="http://schemas.microsoft.com/office/drawing/2014/main" id="{22933B37-45EB-8E47-F8B4-523FFFC14BB4}"/>
              </a:ext>
            </a:extLst>
          </p:cNvPr>
          <p:cNvSpPr/>
          <p:nvPr/>
        </p:nvSpPr>
        <p:spPr>
          <a:xfrm>
            <a:off x="0" y="751591"/>
            <a:ext cx="12192000" cy="516984"/>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lvl="0">
              <a:defRPr/>
            </a:pPr>
            <a:r>
              <a:rPr lang="ja-JP" altLang="en-US" sz="2800" b="1" dirty="0">
                <a:solidFill>
                  <a:prstClr val="black"/>
                </a:solidFill>
                <a:latin typeface="メイリオ"/>
                <a:ea typeface="メイリオ"/>
                <a:cs typeface="メイリオ"/>
              </a:rPr>
              <a:t>「主体的に学習に取り組む態度」の評価の工夫</a:t>
            </a:r>
          </a:p>
        </p:txBody>
      </p:sp>
    </p:spTree>
    <p:extLst>
      <p:ext uri="{BB962C8B-B14F-4D97-AF65-F5344CB8AC3E}">
        <p14:creationId xmlns:p14="http://schemas.microsoft.com/office/powerpoint/2010/main" val="1285680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arn(inVertical)">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arn(inVertical)">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barn(inVertical)">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barn(inVertical)">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barn(inVertical)">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barn(inVertical)">
                                      <p:cBhvr>
                                        <p:cTn id="37" dur="5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grpId="0"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barn(inVertical)">
                                      <p:cBhvr>
                                        <p:cTn id="42" dur="500"/>
                                        <p:tgtEl>
                                          <p:spTgt spid="13"/>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21" fill="hold" grpId="0" nodeType="clickEffect">
                                  <p:stCondLst>
                                    <p:cond delay="0"/>
                                  </p:stCondLst>
                                  <p:childTnLst>
                                    <p:set>
                                      <p:cBhvr>
                                        <p:cTn id="46" dur="1" fill="hold">
                                          <p:stCondLst>
                                            <p:cond delay="0"/>
                                          </p:stCondLst>
                                        </p:cTn>
                                        <p:tgtEl>
                                          <p:spTgt spid="3"/>
                                        </p:tgtEl>
                                        <p:attrNameLst>
                                          <p:attrName>style.visibility</p:attrName>
                                        </p:attrNameLst>
                                      </p:cBhvr>
                                      <p:to>
                                        <p:strVal val="visible"/>
                                      </p:to>
                                    </p:set>
                                    <p:animEffect transition="in" filter="barn(inVertical)">
                                      <p:cBhvr>
                                        <p:cTn id="4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animBg="1"/>
      <p:bldP spid="8" grpId="0" animBg="1"/>
      <p:bldP spid="9" grpId="0" animBg="1"/>
      <p:bldP spid="10" grpId="0" animBg="1"/>
      <p:bldP spid="11" grpId="0" animBg="1"/>
      <p:bldP spid="12" grpId="0" animBg="1"/>
      <p:bldP spid="13" grpId="0" animBg="1"/>
      <p:bldP spid="3"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角丸四角形 7"/>
          <p:cNvSpPr/>
          <p:nvPr/>
        </p:nvSpPr>
        <p:spPr>
          <a:xfrm>
            <a:off x="309349" y="1439492"/>
            <a:ext cx="11573302" cy="2016849"/>
          </a:xfrm>
          <a:prstGeom prst="roundRect">
            <a:avLst>
              <a:gd name="adj" fmla="val 11110"/>
            </a:avLst>
          </a:prstGeom>
          <a:ln w="571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800" b="1" i="0" u="none" strike="noStrike" kern="1200" cap="none" spc="0" normalizeH="0" baseline="0" noProof="0" dirty="0">
                <a:ln>
                  <a:noFill/>
                </a:ln>
                <a:solidFill>
                  <a:prstClr val="black"/>
                </a:solidFill>
                <a:effectLst/>
                <a:uLnTx/>
                <a:uFillTx/>
                <a:latin typeface="メイリオ" panose="020F0502020204030204"/>
                <a:ea typeface="メイリオ" panose="020B0400000000000000" pitchFamily="50" charset="-128"/>
                <a:cs typeface="メイリオ"/>
              </a:rPr>
              <a:t>評価に当たって</a:t>
            </a:r>
            <a:endParaRPr kumimoji="1" lang="en-US" altLang="ja-JP" sz="28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800" b="1" i="0" u="none" strike="noStrike" kern="1200" cap="none" spc="0" normalizeH="0" baseline="0" noProof="0" dirty="0">
                <a:ln>
                  <a:noFill/>
                </a:ln>
                <a:solidFill>
                  <a:prstClr val="black"/>
                </a:solidFill>
                <a:effectLst/>
                <a:uLnTx/>
                <a:uFillTx/>
                <a:latin typeface="メイリオ" panose="020F0502020204030204"/>
                <a:ea typeface="メイリオ" panose="020B0400000000000000" pitchFamily="50" charset="-128"/>
                <a:cs typeface="メイリオ"/>
              </a:rPr>
              <a:t>①</a:t>
            </a:r>
            <a:r>
              <a:rPr kumimoji="1" lang="ja-JP" altLang="en-US" sz="2800" b="1" i="0" u="none" strike="noStrike" kern="1200" cap="none" spc="0" normalizeH="0" baseline="0" noProof="0" dirty="0">
                <a:ln>
                  <a:noFill/>
                </a:ln>
                <a:solidFill>
                  <a:srgbClr val="00B050"/>
                </a:solidFill>
                <a:effectLst/>
                <a:uLnTx/>
                <a:uFillTx/>
                <a:latin typeface="メイリオ" panose="020F0502020204030204"/>
                <a:ea typeface="メイリオ" panose="020B0400000000000000" pitchFamily="50" charset="-128"/>
                <a:cs typeface="メイリオ"/>
              </a:rPr>
              <a:t>自らの理解の状況</a:t>
            </a:r>
            <a:r>
              <a:rPr kumimoji="1" lang="ja-JP" altLang="en-US" sz="2800" b="1" i="0" u="none" strike="noStrike" kern="1200" cap="none" spc="0" normalizeH="0" baseline="0" noProof="0" dirty="0">
                <a:ln>
                  <a:noFill/>
                </a:ln>
                <a:solidFill>
                  <a:prstClr val="black"/>
                </a:solidFill>
                <a:effectLst/>
                <a:uLnTx/>
                <a:uFillTx/>
                <a:latin typeface="メイリオ" panose="020F0502020204030204"/>
                <a:ea typeface="メイリオ" panose="020B0400000000000000" pitchFamily="50" charset="-128"/>
                <a:cs typeface="メイリオ"/>
              </a:rPr>
              <a:t>を</a:t>
            </a:r>
            <a:r>
              <a:rPr kumimoji="1" lang="ja-JP" altLang="en-US" sz="2800" b="1" i="0" u="none" strike="noStrike" kern="1200" cap="none" spc="0" normalizeH="0" baseline="0" noProof="0" dirty="0">
                <a:ln>
                  <a:noFill/>
                </a:ln>
                <a:solidFill>
                  <a:srgbClr val="FF0000"/>
                </a:solidFill>
                <a:effectLst/>
                <a:uLnTx/>
                <a:uFillTx/>
                <a:latin typeface="メイリオ" panose="020F0502020204030204"/>
                <a:ea typeface="メイリオ" panose="020B0400000000000000" pitchFamily="50" charset="-128"/>
                <a:cs typeface="メイリオ"/>
              </a:rPr>
              <a:t>振り返る</a:t>
            </a:r>
            <a:r>
              <a:rPr kumimoji="1" lang="ja-JP" altLang="en-US" sz="2800" b="1" i="0" u="none" strike="noStrike" kern="1200" cap="none" spc="0" normalizeH="0" baseline="0" noProof="0" dirty="0">
                <a:ln>
                  <a:noFill/>
                </a:ln>
                <a:solidFill>
                  <a:prstClr val="black"/>
                </a:solidFill>
                <a:effectLst/>
                <a:uLnTx/>
                <a:uFillTx/>
                <a:latin typeface="メイリオ" panose="020F0502020204030204"/>
                <a:ea typeface="メイリオ" panose="020B0400000000000000" pitchFamily="50" charset="-128"/>
                <a:cs typeface="メイリオ"/>
              </a:rPr>
              <a:t>ことができるような発問を工夫する</a:t>
            </a:r>
            <a:endParaRPr kumimoji="1" lang="en-US" altLang="ja-JP" sz="28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800" b="1" i="0" u="none" strike="noStrike" kern="1200" cap="none" spc="0" normalizeH="0" baseline="0" noProof="0" dirty="0">
                <a:ln>
                  <a:noFill/>
                </a:ln>
                <a:solidFill>
                  <a:prstClr val="black"/>
                </a:solidFill>
                <a:effectLst/>
                <a:uLnTx/>
                <a:uFillTx/>
                <a:latin typeface="メイリオ" panose="020F0502020204030204"/>
                <a:ea typeface="メイリオ" panose="020B0400000000000000" pitchFamily="50" charset="-128"/>
                <a:cs typeface="メイリオ"/>
              </a:rPr>
              <a:t>②</a:t>
            </a:r>
            <a:r>
              <a:rPr kumimoji="1" lang="ja-JP" altLang="en-US" sz="2800" b="1" i="0" u="none" strike="noStrike" kern="1200" cap="none" spc="0" normalizeH="0" baseline="0" noProof="0" dirty="0">
                <a:ln>
                  <a:noFill/>
                </a:ln>
                <a:solidFill>
                  <a:srgbClr val="00B050"/>
                </a:solidFill>
                <a:effectLst/>
                <a:uLnTx/>
                <a:uFillTx/>
                <a:latin typeface="メイリオ" panose="020F0502020204030204"/>
                <a:ea typeface="メイリオ" panose="020B0400000000000000" pitchFamily="50" charset="-128"/>
                <a:cs typeface="メイリオ"/>
              </a:rPr>
              <a:t>他者との協働を通じて</a:t>
            </a:r>
            <a:r>
              <a:rPr kumimoji="1" lang="ja-JP" altLang="en-US" sz="2800" b="1" i="0" u="none" strike="noStrike" kern="1200" cap="none" spc="0" normalizeH="0" baseline="0" noProof="0" dirty="0">
                <a:ln>
                  <a:noFill/>
                </a:ln>
                <a:solidFill>
                  <a:prstClr val="black"/>
                </a:solidFill>
                <a:effectLst/>
                <a:uLnTx/>
                <a:uFillTx/>
                <a:latin typeface="メイリオ" panose="020F0502020204030204"/>
                <a:ea typeface="メイリオ" panose="020B0400000000000000" pitchFamily="50" charset="-128"/>
                <a:cs typeface="メイリオ"/>
              </a:rPr>
              <a:t>自らの考えを</a:t>
            </a:r>
            <a:r>
              <a:rPr kumimoji="1" lang="ja-JP" altLang="en-US" sz="2800" b="1" i="0" u="none" strike="noStrike" kern="1200" cap="none" spc="0" normalizeH="0" baseline="0" noProof="0" dirty="0">
                <a:ln>
                  <a:noFill/>
                </a:ln>
                <a:solidFill>
                  <a:srgbClr val="FF0000"/>
                </a:solidFill>
                <a:effectLst/>
                <a:uLnTx/>
                <a:uFillTx/>
                <a:latin typeface="メイリオ" panose="020F0502020204030204"/>
                <a:ea typeface="メイリオ" panose="020B0400000000000000" pitchFamily="50" charset="-128"/>
                <a:cs typeface="メイリオ"/>
              </a:rPr>
              <a:t>相対化する</a:t>
            </a:r>
            <a:r>
              <a:rPr kumimoji="1" lang="ja-JP" altLang="en-US" sz="2800" b="1" i="0" u="none" strike="noStrike" kern="1200" cap="none" spc="0" normalizeH="0" baseline="0" noProof="0" dirty="0">
                <a:ln>
                  <a:noFill/>
                </a:ln>
                <a:solidFill>
                  <a:prstClr val="black"/>
                </a:solidFill>
                <a:effectLst/>
                <a:uLnTx/>
                <a:uFillTx/>
                <a:latin typeface="メイリオ" panose="020F0502020204030204"/>
                <a:ea typeface="メイリオ" panose="020B0400000000000000" pitchFamily="50" charset="-128"/>
                <a:cs typeface="メイリオ"/>
              </a:rPr>
              <a:t>場面を設定する</a:t>
            </a:r>
            <a:endParaRPr kumimoji="1" lang="en-US" altLang="ja-JP" sz="28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800" b="1" i="0" u="none" strike="noStrike" kern="1200" cap="none" spc="0" normalizeH="0" baseline="0" noProof="0" dirty="0">
                <a:ln>
                  <a:noFill/>
                </a:ln>
                <a:solidFill>
                  <a:prstClr val="black"/>
                </a:solidFill>
                <a:effectLst/>
                <a:uLnTx/>
                <a:uFillTx/>
                <a:latin typeface="メイリオ" panose="020F0502020204030204"/>
                <a:ea typeface="メイリオ" panose="020B0400000000000000" pitchFamily="50" charset="-128"/>
                <a:cs typeface="メイリオ"/>
              </a:rPr>
              <a:t>③学習のめあてや見通しをもたせたり、その</a:t>
            </a:r>
            <a:r>
              <a:rPr kumimoji="1" lang="ja-JP" altLang="en-US" sz="2800" b="1" i="0" u="none" strike="noStrike" kern="1200" cap="none" spc="0" normalizeH="0" baseline="0" noProof="0" dirty="0">
                <a:ln>
                  <a:noFill/>
                </a:ln>
                <a:solidFill>
                  <a:srgbClr val="00B050"/>
                </a:solidFill>
                <a:effectLst/>
                <a:uLnTx/>
                <a:uFillTx/>
                <a:latin typeface="メイリオ" panose="020F0502020204030204"/>
                <a:ea typeface="メイリオ" panose="020B0400000000000000" pitchFamily="50" charset="-128"/>
                <a:cs typeface="メイリオ"/>
              </a:rPr>
              <a:t>達成状況</a:t>
            </a:r>
            <a:r>
              <a:rPr kumimoji="1" lang="ja-JP" altLang="en-US" sz="2800" b="1" i="0" u="none" strike="noStrike" kern="1200" cap="none" spc="0" normalizeH="0" baseline="0" noProof="0" dirty="0">
                <a:ln>
                  <a:noFill/>
                </a:ln>
                <a:solidFill>
                  <a:prstClr val="black"/>
                </a:solidFill>
                <a:effectLst/>
                <a:uLnTx/>
                <a:uFillTx/>
                <a:latin typeface="メイリオ" panose="020F0502020204030204"/>
                <a:ea typeface="メイリオ" panose="020B0400000000000000" pitchFamily="50" charset="-128"/>
                <a:cs typeface="メイリオ"/>
              </a:rPr>
              <a:t>を</a:t>
            </a:r>
            <a:r>
              <a:rPr kumimoji="1" lang="ja-JP" altLang="en-US" sz="2800" b="1" i="0" u="none" strike="noStrike" kern="1200" cap="none" spc="0" normalizeH="0" baseline="0" noProof="0" dirty="0">
                <a:ln>
                  <a:noFill/>
                </a:ln>
                <a:solidFill>
                  <a:srgbClr val="FF0000"/>
                </a:solidFill>
                <a:effectLst/>
                <a:uLnTx/>
                <a:uFillTx/>
                <a:latin typeface="メイリオ" panose="020F0502020204030204"/>
                <a:ea typeface="メイリオ" panose="020B0400000000000000" pitchFamily="50" charset="-128"/>
                <a:cs typeface="メイリオ"/>
              </a:rPr>
              <a:t>振り返らせる</a:t>
            </a:r>
          </a:p>
        </p:txBody>
      </p:sp>
      <p:pic>
        <p:nvPicPr>
          <p:cNvPr id="2" name="図 1"/>
          <p:cNvPicPr>
            <a:picLocks noChangeAspect="1"/>
          </p:cNvPicPr>
          <p:nvPr/>
        </p:nvPicPr>
        <p:blipFill>
          <a:blip r:embed="rId3">
            <a:extLst>
              <a:ext uri="{BEBA8EAE-BF5A-486C-A8C5-ECC9F3942E4B}">
                <a14:imgProps xmlns:a14="http://schemas.microsoft.com/office/drawing/2010/main">
                  <a14:imgLayer r:embed="rId4">
                    <a14:imgEffect>
                      <a14:backgroundRemoval t="625" b="100000" l="0" r="93651">
                        <a14:foregroundMark x1="44444" y1="11250" x2="48016" y2="26750"/>
                        <a14:foregroundMark x1="66270" y1="12500" x2="66270" y2="28000"/>
                        <a14:foregroundMark x1="45833" y1="92250" x2="45833" y2="97125"/>
                        <a14:foregroundMark x1="39286" y1="98250" x2="49008" y2="98500"/>
                        <a14:foregroundMark x1="59921" y1="98250" x2="69048" y2="98750"/>
                        <a14:foregroundMark x1="36508" y1="98750" x2="39881" y2="98375"/>
                        <a14:foregroundMark x1="68056" y1="98875" x2="71032" y2="98500"/>
                        <a14:foregroundMark x1="35516" y1="98875" x2="40476" y2="98375"/>
                      </a14:backgroundRemoval>
                    </a14:imgEffect>
                  </a14:imgLayer>
                </a14:imgProps>
              </a:ext>
            </a:extLst>
          </a:blip>
          <a:stretch>
            <a:fillRect/>
          </a:stretch>
        </p:blipFill>
        <p:spPr>
          <a:xfrm>
            <a:off x="4875313" y="3682564"/>
            <a:ext cx="2186565" cy="3145253"/>
          </a:xfrm>
          <a:prstGeom prst="rect">
            <a:avLst/>
          </a:prstGeom>
        </p:spPr>
      </p:pic>
      <p:sp>
        <p:nvSpPr>
          <p:cNvPr id="3" name="角丸四角形吹き出し 2"/>
          <p:cNvSpPr/>
          <p:nvPr/>
        </p:nvSpPr>
        <p:spPr>
          <a:xfrm>
            <a:off x="1001486" y="3682564"/>
            <a:ext cx="3443514" cy="1297917"/>
          </a:xfrm>
          <a:prstGeom prst="wedgeRoundRectCallout">
            <a:avLst>
              <a:gd name="adj1" fmla="val 74465"/>
              <a:gd name="adj2" fmla="val 25198"/>
              <a:gd name="adj3" fmla="val 16667"/>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r>
              <a:rPr kumimoji="1" lang="ja-JP" altLang="en-US" sz="2400" b="1" dirty="0">
                <a:latin typeface="メイリオ"/>
                <a:ea typeface="メイリオ"/>
                <a:cs typeface="メイリオ"/>
              </a:rPr>
              <a:t>①授業の最初と比べて</a:t>
            </a:r>
            <a:endParaRPr kumimoji="1" lang="en-US" altLang="ja-JP" sz="2400" b="1" dirty="0"/>
          </a:p>
          <a:p>
            <a:r>
              <a:rPr lang="ja-JP" altLang="en-US" sz="2400" b="1" dirty="0">
                <a:latin typeface="メイリオ"/>
                <a:ea typeface="メイリオ"/>
                <a:cs typeface="メイリオ"/>
              </a:rPr>
              <a:t>　</a:t>
            </a:r>
            <a:r>
              <a:rPr kumimoji="1" lang="ja-JP" altLang="en-US" sz="2400" b="1" dirty="0">
                <a:latin typeface="メイリオ"/>
                <a:ea typeface="メイリオ"/>
                <a:cs typeface="メイリオ"/>
              </a:rPr>
              <a:t>考え方が変わったと</a:t>
            </a:r>
            <a:endParaRPr kumimoji="1" lang="en-US" altLang="ja-JP" sz="2400" b="1" dirty="0"/>
          </a:p>
          <a:p>
            <a:r>
              <a:rPr lang="ja-JP" altLang="en-US" sz="2400" b="1" dirty="0">
                <a:latin typeface="メイリオ"/>
                <a:ea typeface="メイリオ"/>
                <a:cs typeface="メイリオ"/>
              </a:rPr>
              <a:t>　</a:t>
            </a:r>
            <a:r>
              <a:rPr kumimoji="1" lang="ja-JP" altLang="en-US" sz="2400" b="1" dirty="0">
                <a:latin typeface="メイリオ"/>
                <a:ea typeface="メイリオ"/>
                <a:cs typeface="メイリオ"/>
              </a:rPr>
              <a:t>ころは？</a:t>
            </a:r>
          </a:p>
        </p:txBody>
      </p:sp>
      <p:sp>
        <p:nvSpPr>
          <p:cNvPr id="9" name="角丸四角形吹き出し 8"/>
          <p:cNvSpPr/>
          <p:nvPr/>
        </p:nvSpPr>
        <p:spPr>
          <a:xfrm>
            <a:off x="7265078" y="3682564"/>
            <a:ext cx="4331837" cy="935060"/>
          </a:xfrm>
          <a:prstGeom prst="wedgeRoundRectCallout">
            <a:avLst>
              <a:gd name="adj1" fmla="val -62079"/>
              <a:gd name="adj2" fmla="val 43618"/>
              <a:gd name="adj3" fmla="val 16667"/>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r>
              <a:rPr lang="ja-JP" altLang="en-US" sz="2400" b="1" dirty="0">
                <a:latin typeface="メイリオ"/>
                <a:ea typeface="メイリオ"/>
                <a:cs typeface="メイリオ"/>
              </a:rPr>
              <a:t>②</a:t>
            </a:r>
            <a:r>
              <a:rPr kumimoji="1" lang="ja-JP" altLang="en-US" sz="2400" b="1" dirty="0">
                <a:latin typeface="メイリオ"/>
                <a:ea typeface="メイリオ"/>
                <a:cs typeface="メイリオ"/>
              </a:rPr>
              <a:t>友達の意見を聞いて、自分</a:t>
            </a:r>
            <a:endParaRPr kumimoji="1" lang="en-US" altLang="ja-JP" sz="2400" b="1" dirty="0"/>
          </a:p>
          <a:p>
            <a:r>
              <a:rPr lang="ja-JP" altLang="en-US" sz="2400" b="1" dirty="0">
                <a:latin typeface="メイリオ"/>
                <a:ea typeface="メイリオ"/>
                <a:cs typeface="メイリオ"/>
              </a:rPr>
              <a:t>　</a:t>
            </a:r>
            <a:r>
              <a:rPr kumimoji="1" lang="ja-JP" altLang="en-US" sz="2400" b="1" dirty="0">
                <a:latin typeface="メイリオ"/>
                <a:ea typeface="メイリオ"/>
                <a:cs typeface="メイリオ"/>
              </a:rPr>
              <a:t>の考えを見直してみよう。</a:t>
            </a:r>
            <a:endParaRPr kumimoji="1" lang="en-US" altLang="ja-JP" sz="2400" b="1" dirty="0"/>
          </a:p>
        </p:txBody>
      </p:sp>
      <p:sp>
        <p:nvSpPr>
          <p:cNvPr id="10" name="角丸四角形吹き出し 9"/>
          <p:cNvSpPr/>
          <p:nvPr/>
        </p:nvSpPr>
        <p:spPr>
          <a:xfrm>
            <a:off x="6934200" y="5194043"/>
            <a:ext cx="3806372" cy="986971"/>
          </a:xfrm>
          <a:prstGeom prst="wedgeRoundRectCallout">
            <a:avLst>
              <a:gd name="adj1" fmla="val -54290"/>
              <a:gd name="adj2" fmla="val -95570"/>
              <a:gd name="adj3" fmla="val 16667"/>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r>
              <a:rPr lang="ja-JP" altLang="en-US" sz="2400" b="1" dirty="0">
                <a:latin typeface="メイリオ"/>
                <a:ea typeface="メイリオ"/>
                <a:cs typeface="メイリオ"/>
              </a:rPr>
              <a:t>③今日の学習の目標は</a:t>
            </a:r>
            <a:endParaRPr lang="en-US" altLang="ja-JP" sz="2400" b="1" dirty="0"/>
          </a:p>
          <a:p>
            <a:r>
              <a:rPr lang="ja-JP" altLang="en-US" sz="2400" b="1" dirty="0">
                <a:latin typeface="メイリオ"/>
                <a:ea typeface="メイリオ"/>
                <a:cs typeface="メイリオ"/>
              </a:rPr>
              <a:t>　達成できたかな？</a:t>
            </a:r>
            <a:endParaRPr kumimoji="1" lang="ja-JP" altLang="en-US" sz="2400" b="1" dirty="0"/>
          </a:p>
        </p:txBody>
      </p:sp>
      <p:sp>
        <p:nvSpPr>
          <p:cNvPr id="4" name="Rectangle 1">
            <a:extLst>
              <a:ext uri="{FF2B5EF4-FFF2-40B4-BE49-F238E27FC236}">
                <a16:creationId xmlns:a16="http://schemas.microsoft.com/office/drawing/2014/main" id="{6C8891CF-80C2-3979-A709-7536A404940C}"/>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5" name="Rectangle 2">
            <a:extLst>
              <a:ext uri="{FF2B5EF4-FFF2-40B4-BE49-F238E27FC236}">
                <a16:creationId xmlns:a16="http://schemas.microsoft.com/office/drawing/2014/main" id="{481E611F-0310-18E5-14D7-530928A0F131}"/>
              </a:ext>
            </a:extLst>
          </p:cNvPr>
          <p:cNvSpPr/>
          <p:nvPr/>
        </p:nvSpPr>
        <p:spPr>
          <a:xfrm>
            <a:off x="0" y="751591"/>
            <a:ext cx="12192000" cy="516984"/>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lvl="0">
              <a:defRPr/>
            </a:pPr>
            <a:r>
              <a:rPr lang="ja-JP" altLang="en-US" sz="2800" b="1" dirty="0">
                <a:solidFill>
                  <a:prstClr val="black"/>
                </a:solidFill>
                <a:latin typeface="メイリオ"/>
                <a:ea typeface="メイリオ"/>
                <a:cs typeface="メイリオ"/>
              </a:rPr>
              <a:t>「主体的に学習に取り組む態度」の評価の工夫</a:t>
            </a:r>
          </a:p>
        </p:txBody>
      </p:sp>
    </p:spTree>
    <p:extLst>
      <p:ext uri="{BB962C8B-B14F-4D97-AF65-F5344CB8AC3E}">
        <p14:creationId xmlns:p14="http://schemas.microsoft.com/office/powerpoint/2010/main" val="1377656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arn(inVertical)">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arn(inVertical)">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9" grpId="0" animBg="1"/>
      <p:bldP spid="10"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fontScale="85000" lnSpcReduction="10000"/>
          </a:bodyPr>
          <a:lstStyle/>
          <a:p>
            <a:r>
              <a:rPr lang="ja-JP" altLang="en-US" sz="3200" b="1" dirty="0">
                <a:solidFill>
                  <a:schemeClr val="tx1"/>
                </a:solidFill>
                <a:latin typeface="メイリオ" panose="020B0604030504040204" pitchFamily="50" charset="-128"/>
                <a:ea typeface="メイリオ" panose="020B0604030504040204" pitchFamily="50" charset="-128"/>
              </a:rPr>
              <a:t>「主体的に学習に取り組む態度」の評価方法＜</a:t>
            </a:r>
            <a:r>
              <a:rPr sz="3000" b="1" dirty="0" err="1">
                <a:solidFill>
                  <a:srgbClr val="1F3A6E"/>
                </a:solidFill>
                <a:latin typeface="メイリオ"/>
                <a:ea typeface="メイリオ"/>
                <a:cs typeface="メイリオ"/>
              </a:rPr>
              <a:t>数学「二次方程式」の例</a:t>
            </a:r>
            <a:r>
              <a:rPr lang="ja-JP" altLang="en-US" sz="3000" b="1" dirty="0">
                <a:solidFill>
                  <a:srgbClr val="1F3A6E"/>
                </a:solidFill>
                <a:latin typeface="メイリオ"/>
                <a:ea typeface="メイリオ"/>
                <a:cs typeface="メイリオ"/>
              </a:rPr>
              <a:t>＞</a:t>
            </a:r>
            <a:endParaRPr sz="3000" b="1" dirty="0">
              <a:solidFill>
                <a:srgbClr val="1F3A6E"/>
              </a:solidFill>
              <a:latin typeface="メイリオ"/>
              <a:ea typeface="メイリオ"/>
              <a:cs typeface="メイリオ"/>
            </a:endParaRP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0000" y="1900000"/>
            <a:ext cx="11400000" cy="64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40000"/>
              </a:lnSpc>
            </a:pPr>
            <a:r>
              <a:rPr sz="2200" b="1" dirty="0" err="1">
                <a:solidFill>
                  <a:srgbClr val="FFFFFF"/>
                </a:solidFill>
                <a:latin typeface="メイリオ"/>
                <a:ea typeface="メイリオ"/>
                <a:cs typeface="メイリオ"/>
              </a:rPr>
              <a:t>学習</a:t>
            </a:r>
            <a:r>
              <a:rPr lang="ja-JP" altLang="en-US" sz="2200" b="1" dirty="0">
                <a:solidFill>
                  <a:srgbClr val="FFFFFF"/>
                </a:solidFill>
                <a:latin typeface="メイリオ"/>
                <a:ea typeface="メイリオ"/>
                <a:cs typeface="メイリオ"/>
              </a:rPr>
              <a:t>ノート</a:t>
            </a:r>
            <a:r>
              <a:rPr sz="2200" b="1" dirty="0" err="1">
                <a:solidFill>
                  <a:srgbClr val="FFFFFF"/>
                </a:solidFill>
                <a:latin typeface="メイリオ"/>
                <a:ea typeface="メイリオ"/>
                <a:cs typeface="メイリオ"/>
              </a:rPr>
              <a:t>に「気を付けるポイント」を記述</a:t>
            </a:r>
            <a:endParaRPr sz="2200" b="1" dirty="0">
              <a:solidFill>
                <a:srgbClr val="FFFFFF"/>
              </a:solidFill>
              <a:latin typeface="メイリオ"/>
              <a:ea typeface="メイリオ"/>
              <a:cs typeface="メイリオ"/>
            </a:endParaRPr>
          </a:p>
        </p:txBody>
      </p:sp>
      <p:sp>
        <p:nvSpPr>
          <p:cNvPr id="7" name="Rectangle 6"/>
          <p:cNvSpPr/>
          <p:nvPr/>
        </p:nvSpPr>
        <p:spPr>
          <a:xfrm>
            <a:off x="400000" y="2600000"/>
            <a:ext cx="5600000" cy="640000"/>
          </a:xfrm>
          <a:prstGeom prst="rect">
            <a:avLst/>
          </a:prstGeom>
          <a:solidFill>
            <a:srgbClr val="5BC0DE"/>
          </a:solidFill>
          <a:ln w="254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fontScale="92500"/>
          </a:bodyPr>
          <a:lstStyle/>
          <a:p>
            <a:pPr algn="ctr">
              <a:lnSpc>
                <a:spcPct val="140000"/>
              </a:lnSpc>
            </a:pPr>
            <a:r>
              <a:rPr sz="2400" b="1">
                <a:solidFill>
                  <a:srgbClr val="FFFFFF"/>
                </a:solidFill>
                <a:latin typeface="メイリオ"/>
                <a:ea typeface="メイリオ"/>
                <a:cs typeface="メイリオ"/>
              </a:rPr>
              <a:t>▼ おおむね満足（B）</a:t>
            </a:r>
          </a:p>
        </p:txBody>
      </p:sp>
      <p:sp>
        <p:nvSpPr>
          <p:cNvPr id="8" name="Rectangle 7"/>
          <p:cNvSpPr/>
          <p:nvPr/>
        </p:nvSpPr>
        <p:spPr>
          <a:xfrm>
            <a:off x="400000" y="3240000"/>
            <a:ext cx="5600000" cy="215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t">
            <a:normAutofit/>
          </a:bodyPr>
          <a:lstStyle/>
          <a:p>
            <a:pPr algn="l">
              <a:lnSpc>
                <a:spcPct val="130000"/>
              </a:lnSpc>
            </a:pPr>
            <a:r>
              <a:rPr sz="2200" b="1" dirty="0" err="1">
                <a:solidFill>
                  <a:srgbClr val="000000"/>
                </a:solidFill>
                <a:latin typeface="メイリオ"/>
                <a:ea typeface="メイリオ"/>
                <a:cs typeface="メイリオ"/>
              </a:rPr>
              <a:t>ポイントが</a:t>
            </a:r>
            <a:r>
              <a:rPr sz="2400" b="1" dirty="0" err="1">
                <a:solidFill>
                  <a:srgbClr val="EB6C15"/>
                </a:solidFill>
                <a:latin typeface="メイリオ"/>
                <a:ea typeface="メイリオ"/>
                <a:cs typeface="メイリオ"/>
              </a:rPr>
              <a:t>書かれている</a:t>
            </a:r>
            <a:endParaRPr sz="2400" b="1" dirty="0">
              <a:solidFill>
                <a:srgbClr val="EB6C15"/>
              </a:solidFill>
              <a:latin typeface="メイリオ"/>
            </a:endParaRPr>
          </a:p>
          <a:p>
            <a:pPr algn="l">
              <a:lnSpc>
                <a:spcPct val="130000"/>
              </a:lnSpc>
            </a:pPr>
            <a:endParaRPr sz="2400" b="1" dirty="0">
              <a:solidFill>
                <a:srgbClr val="EB6C15"/>
              </a:solidFill>
              <a:latin typeface="メイリオ"/>
            </a:endParaRPr>
          </a:p>
          <a:p>
            <a:pPr>
              <a:lnSpc>
                <a:spcPct val="130000"/>
              </a:lnSpc>
            </a:pPr>
            <a:r>
              <a:rPr lang="ja-JP" altLang="en-US" sz="1800" b="1" dirty="0">
                <a:solidFill>
                  <a:srgbClr val="404040"/>
                </a:solidFill>
                <a:latin typeface="メイリオ"/>
                <a:ea typeface="メイリオ"/>
                <a:cs typeface="メイリオ"/>
              </a:rPr>
              <a:t>記述</a:t>
            </a:r>
            <a:r>
              <a:rPr sz="1800" b="1" dirty="0">
                <a:solidFill>
                  <a:srgbClr val="404040"/>
                </a:solidFill>
                <a:latin typeface="メイリオ"/>
                <a:ea typeface="メイリオ"/>
                <a:cs typeface="メイリオ"/>
              </a:rPr>
              <a:t>例：</a:t>
            </a:r>
            <a:r>
              <a:rPr lang="ja-JP" altLang="en-US" b="1" dirty="0">
                <a:solidFill>
                  <a:schemeClr val="accent1"/>
                </a:solidFill>
                <a:latin typeface="メイリオ"/>
                <a:ea typeface="メイリオ"/>
                <a:cs typeface="メイリオ"/>
              </a:rPr>
              <a:t>別の文字に置き換えて解く方法</a:t>
            </a:r>
            <a:r>
              <a:rPr lang="ja-JP" altLang="en-US" b="1" dirty="0">
                <a:solidFill>
                  <a:srgbClr val="404040"/>
                </a:solidFill>
                <a:latin typeface="メイリオ"/>
                <a:ea typeface="メイリオ"/>
                <a:cs typeface="メイリオ"/>
              </a:rPr>
              <a:t>を使える</a:t>
            </a:r>
          </a:p>
          <a:p>
            <a:pPr>
              <a:lnSpc>
                <a:spcPct val="130000"/>
              </a:lnSpc>
            </a:pPr>
            <a:r>
              <a:rPr lang="ja-JP" altLang="en-US" b="1" dirty="0">
                <a:solidFill>
                  <a:srgbClr val="404040"/>
                </a:solidFill>
                <a:latin typeface="メイリオ"/>
                <a:ea typeface="メイリオ"/>
                <a:cs typeface="メイリオ"/>
              </a:rPr>
              <a:t>　　　　ようにする。 </a:t>
            </a:r>
            <a:endParaRPr sz="1800" b="1" dirty="0">
              <a:solidFill>
                <a:srgbClr val="404040"/>
              </a:solidFill>
              <a:latin typeface="メイリオ"/>
            </a:endParaRPr>
          </a:p>
        </p:txBody>
      </p:sp>
      <p:sp>
        <p:nvSpPr>
          <p:cNvPr id="9" name="Rectangle 8"/>
          <p:cNvSpPr/>
          <p:nvPr/>
        </p:nvSpPr>
        <p:spPr>
          <a:xfrm>
            <a:off x="6200000" y="2600000"/>
            <a:ext cx="5600000" cy="64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fontScale="92500"/>
          </a:bodyPr>
          <a:lstStyle/>
          <a:p>
            <a:pPr algn="ctr">
              <a:lnSpc>
                <a:spcPct val="140000"/>
              </a:lnSpc>
            </a:pPr>
            <a:r>
              <a:rPr sz="2400" b="1">
                <a:solidFill>
                  <a:srgbClr val="FFFFFF"/>
                </a:solidFill>
                <a:latin typeface="メイリオ"/>
                <a:ea typeface="メイリオ"/>
                <a:cs typeface="メイリオ"/>
              </a:rPr>
              <a:t>▼ 十分満足（A）</a:t>
            </a:r>
          </a:p>
        </p:txBody>
      </p:sp>
      <p:sp>
        <p:nvSpPr>
          <p:cNvPr id="10" name="Rectangle 9"/>
          <p:cNvSpPr/>
          <p:nvPr/>
        </p:nvSpPr>
        <p:spPr>
          <a:xfrm>
            <a:off x="6200000" y="3240000"/>
            <a:ext cx="5600000" cy="215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t">
            <a:normAutofit fontScale="92500" lnSpcReduction="20000"/>
          </a:bodyPr>
          <a:lstStyle/>
          <a:p>
            <a:pPr algn="l">
              <a:lnSpc>
                <a:spcPct val="130000"/>
              </a:lnSpc>
            </a:pPr>
            <a:r>
              <a:rPr sz="2200" b="1" dirty="0" err="1">
                <a:solidFill>
                  <a:srgbClr val="000000"/>
                </a:solidFill>
                <a:latin typeface="メイリオ"/>
                <a:ea typeface="メイリオ"/>
                <a:cs typeface="メイリオ"/>
              </a:rPr>
              <a:t>ポイント＋</a:t>
            </a:r>
            <a:r>
              <a:rPr sz="2400" b="1" dirty="0" err="1">
                <a:solidFill>
                  <a:srgbClr val="EB6C15"/>
                </a:solidFill>
                <a:latin typeface="メイリオ"/>
                <a:ea typeface="メイリオ"/>
                <a:cs typeface="メイリオ"/>
              </a:rPr>
              <a:t>理由</a:t>
            </a:r>
            <a:r>
              <a:rPr sz="2200" b="1" dirty="0" err="1">
                <a:solidFill>
                  <a:srgbClr val="000000"/>
                </a:solidFill>
                <a:latin typeface="メイリオ"/>
                <a:ea typeface="メイリオ"/>
                <a:cs typeface="メイリオ"/>
              </a:rPr>
              <a:t>が書かれている</a:t>
            </a:r>
            <a:endParaRPr sz="2200" b="1" dirty="0">
              <a:solidFill>
                <a:srgbClr val="000000"/>
              </a:solidFill>
              <a:latin typeface="メイリオ"/>
              <a:ea typeface="メイリオ"/>
              <a:cs typeface="メイリオ"/>
            </a:endParaRPr>
          </a:p>
          <a:p>
            <a:pPr algn="l">
              <a:lnSpc>
                <a:spcPct val="130000"/>
              </a:lnSpc>
            </a:pPr>
            <a:endParaRPr sz="2200" b="1" dirty="0">
              <a:solidFill>
                <a:srgbClr val="000000"/>
              </a:solidFill>
              <a:latin typeface="メイリオ"/>
            </a:endParaRPr>
          </a:p>
          <a:p>
            <a:pPr>
              <a:lnSpc>
                <a:spcPct val="130000"/>
              </a:lnSpc>
            </a:pPr>
            <a:r>
              <a:rPr lang="ja-JP" altLang="en-US" sz="1900" b="1" dirty="0">
                <a:solidFill>
                  <a:srgbClr val="404040"/>
                </a:solidFill>
                <a:latin typeface="メイリオ"/>
                <a:ea typeface="メイリオ"/>
                <a:cs typeface="メイリオ"/>
              </a:rPr>
              <a:t>記述</a:t>
            </a:r>
            <a:r>
              <a:rPr sz="1900" b="1" dirty="0">
                <a:solidFill>
                  <a:srgbClr val="404040"/>
                </a:solidFill>
                <a:latin typeface="メイリオ"/>
                <a:ea typeface="メイリオ"/>
                <a:cs typeface="メイリオ"/>
              </a:rPr>
              <a:t>例：</a:t>
            </a:r>
            <a:r>
              <a:rPr lang="ja-JP" altLang="en-US" sz="1900" b="1" dirty="0">
                <a:solidFill>
                  <a:srgbClr val="404040"/>
                </a:solidFill>
                <a:latin typeface="メイリオ"/>
                <a:ea typeface="メイリオ"/>
                <a:cs typeface="メイリオ"/>
              </a:rPr>
              <a:t>式の形を見ずに、すぐに式を展開して解</a:t>
            </a:r>
          </a:p>
          <a:p>
            <a:pPr>
              <a:lnSpc>
                <a:spcPct val="130000"/>
              </a:lnSpc>
            </a:pPr>
            <a:r>
              <a:rPr lang="ja-JP" altLang="en-US" sz="1900" b="1" dirty="0">
                <a:solidFill>
                  <a:srgbClr val="404040"/>
                </a:solidFill>
                <a:latin typeface="メイリオ"/>
                <a:ea typeface="メイリオ"/>
                <a:cs typeface="メイリオ"/>
              </a:rPr>
              <a:t>　　　　いていたけれど、</a:t>
            </a:r>
            <a:r>
              <a:rPr lang="ja-JP" altLang="en-US" sz="1900" b="1" dirty="0">
                <a:solidFill>
                  <a:schemeClr val="accent2"/>
                </a:solidFill>
                <a:latin typeface="メイリオ"/>
                <a:ea typeface="メイリオ"/>
                <a:cs typeface="メイリオ"/>
              </a:rPr>
              <a:t>時間もかかるし、間違</a:t>
            </a:r>
          </a:p>
          <a:p>
            <a:pPr>
              <a:lnSpc>
                <a:spcPct val="130000"/>
              </a:lnSpc>
            </a:pPr>
            <a:r>
              <a:rPr lang="ja-JP" altLang="en-US" sz="1900" b="1" dirty="0">
                <a:solidFill>
                  <a:schemeClr val="accent2"/>
                </a:solidFill>
                <a:latin typeface="メイリオ"/>
                <a:ea typeface="メイリオ"/>
                <a:cs typeface="メイリオ"/>
              </a:rPr>
              <a:t>　　　　える可能性がある</a:t>
            </a:r>
            <a:r>
              <a:rPr lang="ja-JP" altLang="en-US" sz="1900" b="1" dirty="0">
                <a:solidFill>
                  <a:srgbClr val="404040"/>
                </a:solidFill>
                <a:latin typeface="メイリオ"/>
                <a:ea typeface="メイリオ"/>
                <a:cs typeface="メイリオ"/>
              </a:rPr>
              <a:t>ので、</a:t>
            </a:r>
            <a:r>
              <a:rPr lang="ja-JP" altLang="en-US" sz="1900" b="1" dirty="0">
                <a:solidFill>
                  <a:schemeClr val="accent1"/>
                </a:solidFill>
                <a:latin typeface="メイリオ"/>
                <a:ea typeface="メイリオ"/>
                <a:cs typeface="メイリオ"/>
              </a:rPr>
              <a:t>別の文字に置き</a:t>
            </a:r>
          </a:p>
          <a:p>
            <a:pPr>
              <a:lnSpc>
                <a:spcPct val="130000"/>
              </a:lnSpc>
            </a:pPr>
            <a:r>
              <a:rPr lang="ja-JP" altLang="en-US" sz="1900" b="1" dirty="0">
                <a:solidFill>
                  <a:schemeClr val="accent1"/>
                </a:solidFill>
                <a:latin typeface="メイリオ"/>
                <a:ea typeface="メイリオ"/>
                <a:cs typeface="メイリオ"/>
              </a:rPr>
              <a:t>　　　　換えて解く方法</a:t>
            </a:r>
            <a:r>
              <a:rPr lang="ja-JP" altLang="en-US" sz="1900" b="1" dirty="0">
                <a:solidFill>
                  <a:srgbClr val="404040"/>
                </a:solidFill>
                <a:latin typeface="メイリオ"/>
                <a:ea typeface="メイリオ"/>
                <a:cs typeface="メイリオ"/>
              </a:rPr>
              <a:t>を使えるようにする。 </a:t>
            </a:r>
            <a:endParaRPr sz="1900" b="1" dirty="0">
              <a:solidFill>
                <a:srgbClr val="404040"/>
              </a:solidFill>
              <a:latin typeface="メイリオ"/>
              <a:ea typeface="メイリオ"/>
              <a:cs typeface="メイリオ"/>
            </a:endParaRPr>
          </a:p>
        </p:txBody>
      </p:sp>
      <p:sp>
        <p:nvSpPr>
          <p:cNvPr id="11" name="Rectangle 10"/>
          <p:cNvSpPr/>
          <p:nvPr/>
        </p:nvSpPr>
        <p:spPr>
          <a:xfrm>
            <a:off x="400000" y="5500000"/>
            <a:ext cx="11400000" cy="700000"/>
          </a:xfrm>
          <a:prstGeom prst="rect">
            <a:avLst/>
          </a:prstGeom>
          <a:solidFill>
            <a:srgbClr val="D6EEFA"/>
          </a:solidFill>
          <a:ln w="508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2200" b="1">
                <a:solidFill>
                  <a:srgbClr val="1F3A6E"/>
                </a:solidFill>
                <a:latin typeface="メイリオ"/>
                <a:ea typeface="メイリオ"/>
                <a:cs typeface="メイリオ"/>
              </a:rPr>
              <a:t>同じ気付きでも「理由まで書けるか」でA／Bが分かれる</a:t>
            </a:r>
          </a:p>
        </p:txBody>
      </p:sp>
      <p:sp>
        <p:nvSpPr>
          <p:cNvPr id="12" name="TextBox 11"/>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a:solidFill>
                  <a:srgbClr val="404040"/>
                </a:solidFill>
                <a:latin typeface="メイリオ"/>
                <a:ea typeface="メイリオ"/>
                <a:cs typeface="メイリオ"/>
              </a:rPr>
              <a:t>出典：国立教育政策研究所「指導と評価の一体化のための参考資料」（数学）</a:t>
            </a:r>
          </a:p>
        </p:txBody>
      </p:sp>
      <p:sp>
        <p:nvSpPr>
          <p:cNvPr id="13" name="Rectangle 1">
            <a:extLst>
              <a:ext uri="{FF2B5EF4-FFF2-40B4-BE49-F238E27FC236}">
                <a16:creationId xmlns:a16="http://schemas.microsoft.com/office/drawing/2014/main" id="{7E7CE34B-4441-01E5-C7FB-41574BA435D3}"/>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91AFC6-1694-FC3D-EFBA-791339F113D3}"/>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8CC55056-7293-8E1B-C958-4F8BEB8CECB1}"/>
              </a:ext>
            </a:extLst>
          </p:cNvPr>
          <p:cNvSpPr/>
          <p:nvPr/>
        </p:nvSpPr>
        <p:spPr>
          <a:xfrm>
            <a:off x="299104" y="1857902"/>
            <a:ext cx="11272409" cy="4228850"/>
          </a:xfrm>
          <a:prstGeom prst="rect">
            <a:avLst/>
          </a:prstGeom>
          <a:solidFill>
            <a:schemeClr val="bg1"/>
          </a:solidFill>
          <a:ln>
            <a:noFill/>
          </a:ln>
        </p:spPr>
        <p:txBody>
          <a:bodyPr wrap="square">
            <a:spAutoFit/>
          </a:bodyPr>
          <a:lstStyle/>
          <a:p>
            <a:pPr>
              <a:lnSpc>
                <a:spcPct val="120000"/>
              </a:lnSpc>
            </a:pPr>
            <a:r>
              <a:rPr lang="ja-JP" altLang="en-US" sz="3200" dirty="0">
                <a:latin typeface="UD デジタル 教科書体 N-B" panose="02020700000000000000" pitchFamily="17" charset="-128"/>
                <a:ea typeface="UD デジタル 教科書体 N-B" panose="02020700000000000000" pitchFamily="17" charset="-128"/>
                <a:cs typeface="メイリオ" panose="020B0604030504040204" pitchFamily="50" charset="-128"/>
              </a:rPr>
              <a:t>＜ワークシートの例＞</a:t>
            </a:r>
            <a:endParaRPr lang="en-US" altLang="ja-JP" sz="3200" dirty="0">
              <a:latin typeface="UD デジタル 教科書体 N-B" panose="02020700000000000000" pitchFamily="17" charset="-128"/>
              <a:ea typeface="UD デジタル 教科書体 N-B" panose="02020700000000000000" pitchFamily="17" charset="-128"/>
              <a:cs typeface="メイリオ" panose="020B0604030504040204" pitchFamily="50" charset="-128"/>
            </a:endParaRPr>
          </a:p>
          <a:p>
            <a:pPr>
              <a:lnSpc>
                <a:spcPct val="120000"/>
              </a:lnSpc>
            </a:pPr>
            <a:r>
              <a:rPr lang="ja-JP" altLang="en-US" sz="3200" dirty="0">
                <a:latin typeface="UD デジタル 教科書体 N-B" panose="02020700000000000000" pitchFamily="17" charset="-128"/>
                <a:ea typeface="UD デジタル 教科書体 N-B" panose="02020700000000000000" pitchFamily="17" charset="-128"/>
                <a:cs typeface="メイリオ" panose="020B0604030504040204" pitchFamily="50" charset="-128"/>
              </a:rPr>
              <a:t>①「遺伝」という言葉を中心に、イメージする言葉を</a:t>
            </a:r>
            <a:endParaRPr lang="en-US" altLang="ja-JP" sz="3200" dirty="0">
              <a:latin typeface="UD デジタル 教科書体 N-B" panose="02020700000000000000" pitchFamily="17" charset="-128"/>
              <a:ea typeface="UD デジタル 教科書体 N-B" panose="02020700000000000000" pitchFamily="17" charset="-128"/>
              <a:cs typeface="メイリオ" panose="020B0604030504040204" pitchFamily="50" charset="-128"/>
            </a:endParaRPr>
          </a:p>
          <a:p>
            <a:pPr>
              <a:lnSpc>
                <a:spcPct val="120000"/>
              </a:lnSpc>
            </a:pPr>
            <a:r>
              <a:rPr lang="ja-JP" altLang="en-US" sz="3200" dirty="0">
                <a:latin typeface="UD デジタル 教科書体 N-B" panose="02020700000000000000" pitchFamily="17" charset="-128"/>
                <a:ea typeface="UD デジタル 教科書体 N-B" panose="02020700000000000000" pitchFamily="17" charset="-128"/>
                <a:cs typeface="メイリオ" panose="020B0604030504040204" pitchFamily="50" charset="-128"/>
              </a:rPr>
              <a:t>　つないでイメージマップをつくろう。</a:t>
            </a:r>
            <a:endParaRPr lang="en-US" altLang="ja-JP" sz="3200" dirty="0">
              <a:latin typeface="UD デジタル 教科書体 N-B" panose="02020700000000000000" pitchFamily="17" charset="-128"/>
              <a:ea typeface="UD デジタル 教科書体 N-B" panose="02020700000000000000" pitchFamily="17" charset="-128"/>
              <a:cs typeface="メイリオ" panose="020B0604030504040204" pitchFamily="50" charset="-128"/>
            </a:endParaRPr>
          </a:p>
          <a:p>
            <a:pPr>
              <a:lnSpc>
                <a:spcPct val="120000"/>
              </a:lnSpc>
            </a:pPr>
            <a:r>
              <a:rPr lang="ja-JP" altLang="en-US" sz="3200" dirty="0">
                <a:latin typeface="UD デジタル 教科書体 N-B" panose="02020700000000000000" pitchFamily="17" charset="-128"/>
                <a:ea typeface="UD デジタル 教科書体 N-B" panose="02020700000000000000" pitchFamily="17" charset="-128"/>
                <a:cs typeface="メイリオ" panose="020B0604030504040204" pitchFamily="50" charset="-128"/>
              </a:rPr>
              <a:t>　（学習前は黒で記入し、学習後は赤で書き加える）</a:t>
            </a:r>
            <a:endParaRPr lang="en-US" altLang="ja-JP" sz="3200" dirty="0">
              <a:latin typeface="UD デジタル 教科書体 N-B" panose="02020700000000000000" pitchFamily="17" charset="-128"/>
              <a:ea typeface="UD デジタル 教科書体 N-B" panose="02020700000000000000" pitchFamily="17" charset="-128"/>
              <a:cs typeface="メイリオ" panose="020B0604030504040204" pitchFamily="50" charset="-128"/>
            </a:endParaRPr>
          </a:p>
          <a:p>
            <a:pPr>
              <a:lnSpc>
                <a:spcPct val="120000"/>
              </a:lnSpc>
            </a:pPr>
            <a:r>
              <a:rPr lang="ja-JP" altLang="en-US" sz="3200" dirty="0">
                <a:latin typeface="UD デジタル 教科書体 N-B" panose="02020700000000000000" pitchFamily="17" charset="-128"/>
                <a:ea typeface="UD デジタル 教科書体 N-B" panose="02020700000000000000" pitchFamily="17" charset="-128"/>
                <a:cs typeface="メイリオ" panose="020B0604030504040204" pitchFamily="50" charset="-128"/>
              </a:rPr>
              <a:t>②学習後に書き加えたイメージマップを使って、自らの学習　</a:t>
            </a:r>
            <a:endParaRPr lang="en-US" altLang="ja-JP" sz="3200" dirty="0">
              <a:latin typeface="UD デジタル 教科書体 N-B" panose="02020700000000000000" pitchFamily="17" charset="-128"/>
              <a:ea typeface="UD デジタル 教科書体 N-B" panose="02020700000000000000" pitchFamily="17" charset="-128"/>
              <a:cs typeface="メイリオ" panose="020B0604030504040204" pitchFamily="50" charset="-128"/>
            </a:endParaRPr>
          </a:p>
          <a:p>
            <a:pPr>
              <a:lnSpc>
                <a:spcPct val="120000"/>
              </a:lnSpc>
            </a:pPr>
            <a:r>
              <a:rPr lang="ja-JP" altLang="en-US" sz="3200" dirty="0">
                <a:latin typeface="UD デジタル 教科書体 N-B" panose="02020700000000000000" pitchFamily="17" charset="-128"/>
                <a:ea typeface="UD デジタル 教科書体 N-B" panose="02020700000000000000" pitchFamily="17" charset="-128"/>
                <a:cs typeface="メイリオ" panose="020B0604030504040204" pitchFamily="50" charset="-128"/>
              </a:rPr>
              <a:t>　を振り返り、自己の成長について考えたことや思ったこと　</a:t>
            </a:r>
            <a:endParaRPr lang="en-US" altLang="ja-JP" sz="3200" dirty="0">
              <a:latin typeface="UD デジタル 教科書体 N-B" panose="02020700000000000000" pitchFamily="17" charset="-128"/>
              <a:ea typeface="UD デジタル 教科書体 N-B" panose="02020700000000000000" pitchFamily="17" charset="-128"/>
              <a:cs typeface="メイリオ" panose="020B0604030504040204" pitchFamily="50" charset="-128"/>
            </a:endParaRPr>
          </a:p>
          <a:p>
            <a:pPr>
              <a:lnSpc>
                <a:spcPct val="120000"/>
              </a:lnSpc>
            </a:pPr>
            <a:r>
              <a:rPr lang="ja-JP" altLang="en-US" sz="3200" dirty="0">
                <a:latin typeface="UD デジタル 教科書体 N-B" panose="02020700000000000000" pitchFamily="17" charset="-128"/>
                <a:ea typeface="UD デジタル 教科書体 N-B" panose="02020700000000000000" pitchFamily="17" charset="-128"/>
                <a:cs typeface="メイリオ" panose="020B0604030504040204" pitchFamily="50" charset="-128"/>
              </a:rPr>
              <a:t>　を記述しよう。</a:t>
            </a:r>
            <a:endParaRPr lang="en-US" altLang="ja-JP" sz="3200" dirty="0">
              <a:latin typeface="UD デジタル 教科書体 N-B" panose="02020700000000000000" pitchFamily="17" charset="-128"/>
              <a:ea typeface="UD デジタル 教科書体 N-B" panose="02020700000000000000" pitchFamily="17" charset="-128"/>
              <a:cs typeface="メイリオ" panose="020B0604030504040204" pitchFamily="50" charset="-128"/>
            </a:endParaRPr>
          </a:p>
        </p:txBody>
      </p:sp>
      <p:sp>
        <p:nvSpPr>
          <p:cNvPr id="2" name="Rectangle 1">
            <a:extLst>
              <a:ext uri="{FF2B5EF4-FFF2-40B4-BE49-F238E27FC236}">
                <a16:creationId xmlns:a16="http://schemas.microsoft.com/office/drawing/2014/main" id="{439CF058-1AB1-26F2-A31D-D513F47A963E}"/>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5" name="Rectangle 2">
            <a:extLst>
              <a:ext uri="{FF2B5EF4-FFF2-40B4-BE49-F238E27FC236}">
                <a16:creationId xmlns:a16="http://schemas.microsoft.com/office/drawing/2014/main" id="{6E8C62D5-AB04-351F-08FC-5BD0222C52B7}"/>
              </a:ext>
            </a:extLst>
          </p:cNvPr>
          <p:cNvSpPr/>
          <p:nvPr/>
        </p:nvSpPr>
        <p:spPr>
          <a:xfrm>
            <a:off x="0" y="751591"/>
            <a:ext cx="12192000" cy="516984"/>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r>
              <a:rPr lang="ja-JP" altLang="en-US" sz="2800" b="1" dirty="0">
                <a:solidFill>
                  <a:schemeClr val="tx1"/>
                </a:solidFill>
                <a:latin typeface="メイリオ" panose="020B0604030504040204" pitchFamily="50" charset="-128"/>
                <a:ea typeface="メイリオ" panose="020B0604030504040204" pitchFamily="50" charset="-128"/>
              </a:rPr>
              <a:t>「主体的に学習に取り組む態度」の評価方法＜理科＞</a:t>
            </a:r>
            <a:endParaRPr lang="en-US" altLang="ja-JP" sz="2800" b="1" dirty="0">
              <a:solidFill>
                <a:schemeClr val="tx1"/>
              </a:solidFill>
              <a:latin typeface="メイリオ" panose="020B0604030504040204" pitchFamily="50" charset="-128"/>
              <a:ea typeface="メイリオ" panose="020B0604030504040204" pitchFamily="50" charset="-128"/>
            </a:endParaRPr>
          </a:p>
        </p:txBody>
      </p:sp>
      <p:sp>
        <p:nvSpPr>
          <p:cNvPr id="6" name="Rectangle 3">
            <a:extLst>
              <a:ext uri="{FF2B5EF4-FFF2-40B4-BE49-F238E27FC236}">
                <a16:creationId xmlns:a16="http://schemas.microsoft.com/office/drawing/2014/main" id="{AA15EBC6-8733-11D0-3F73-066167B3502C}"/>
              </a:ext>
            </a:extLst>
          </p:cNvPr>
          <p:cNvSpPr/>
          <p:nvPr/>
        </p:nvSpPr>
        <p:spPr>
          <a:xfrm>
            <a:off x="0" y="1280166"/>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3170116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EFCB17-E716-D8A6-DFFA-FADAFF7F57F2}"/>
            </a:ext>
          </a:extLst>
        </p:cNvPr>
        <p:cNvGrpSpPr/>
        <p:nvPr/>
      </p:nvGrpSpPr>
      <p:grpSpPr>
        <a:xfrm>
          <a:off x="0" y="0"/>
          <a:ext cx="0" cy="0"/>
          <a:chOff x="0" y="0"/>
          <a:chExt cx="0" cy="0"/>
        </a:xfrm>
      </p:grpSpPr>
      <p:pic>
        <p:nvPicPr>
          <p:cNvPr id="9" name="図 8">
            <a:extLst>
              <a:ext uri="{FF2B5EF4-FFF2-40B4-BE49-F238E27FC236}">
                <a16:creationId xmlns:a16="http://schemas.microsoft.com/office/drawing/2014/main" id="{3B971534-9AE2-017B-BCDF-64B89DF25297}"/>
              </a:ext>
            </a:extLst>
          </p:cNvPr>
          <p:cNvPicPr>
            <a:picLocks noChangeAspect="1"/>
          </p:cNvPicPr>
          <p:nvPr/>
        </p:nvPicPr>
        <p:blipFill rotWithShape="1">
          <a:blip r:embed="rId3">
            <a:extLst>
              <a:ext uri="{28A0092B-C50C-407E-A947-70E740481C1C}">
                <a14:useLocalDpi xmlns:a14="http://schemas.microsoft.com/office/drawing/2010/main" val="0"/>
              </a:ext>
            </a:extLst>
          </a:blip>
          <a:srcRect l="8497" t="7187" r="12597" b="39916"/>
          <a:stretch/>
        </p:blipFill>
        <p:spPr>
          <a:xfrm>
            <a:off x="2126342" y="1728232"/>
            <a:ext cx="8244114" cy="3246800"/>
          </a:xfrm>
          <a:prstGeom prst="rect">
            <a:avLst/>
          </a:prstGeom>
        </p:spPr>
      </p:pic>
      <p:pic>
        <p:nvPicPr>
          <p:cNvPr id="5" name="図 4">
            <a:extLst>
              <a:ext uri="{FF2B5EF4-FFF2-40B4-BE49-F238E27FC236}">
                <a16:creationId xmlns:a16="http://schemas.microsoft.com/office/drawing/2014/main" id="{85A0DC87-6331-2AA5-940F-04B30D21F3F0}"/>
              </a:ext>
            </a:extLst>
          </p:cNvPr>
          <p:cNvPicPr>
            <a:picLocks noChangeAspect="1"/>
          </p:cNvPicPr>
          <p:nvPr/>
        </p:nvPicPr>
        <p:blipFill rotWithShape="1">
          <a:blip r:embed="rId3">
            <a:extLst>
              <a:ext uri="{28A0092B-C50C-407E-A947-70E740481C1C}">
                <a14:useLocalDpi xmlns:a14="http://schemas.microsoft.com/office/drawing/2010/main" val="0"/>
              </a:ext>
            </a:extLst>
          </a:blip>
          <a:srcRect l="8497" t="7187" r="12597" b="39916"/>
          <a:stretch/>
        </p:blipFill>
        <p:spPr>
          <a:xfrm>
            <a:off x="1973942" y="1575832"/>
            <a:ext cx="8244114" cy="3246800"/>
          </a:xfrm>
          <a:prstGeom prst="rect">
            <a:avLst/>
          </a:prstGeom>
        </p:spPr>
      </p:pic>
      <p:sp>
        <p:nvSpPr>
          <p:cNvPr id="6" name="正方形/長方形 5">
            <a:extLst>
              <a:ext uri="{FF2B5EF4-FFF2-40B4-BE49-F238E27FC236}">
                <a16:creationId xmlns:a16="http://schemas.microsoft.com/office/drawing/2014/main" id="{45B3C51A-06F9-447A-5111-DB1CBB3F4F9F}"/>
              </a:ext>
            </a:extLst>
          </p:cNvPr>
          <p:cNvSpPr/>
          <p:nvPr/>
        </p:nvSpPr>
        <p:spPr>
          <a:xfrm>
            <a:off x="429984" y="5203372"/>
            <a:ext cx="11332029" cy="1249573"/>
          </a:xfrm>
          <a:prstGeom prst="rect">
            <a:avLst/>
          </a:prstGeom>
          <a:solidFill>
            <a:schemeClr val="bg1"/>
          </a:solidFill>
          <a:ln>
            <a:solidFill>
              <a:schemeClr val="tx1"/>
            </a:solidFill>
          </a:ln>
        </p:spPr>
        <p:txBody>
          <a:bodyPr wrap="square">
            <a:spAutoFit/>
          </a:bodyPr>
          <a:lstStyle/>
          <a:p>
            <a:pPr>
              <a:lnSpc>
                <a:spcPct val="120000"/>
              </a:lnSpc>
            </a:pPr>
            <a:r>
              <a:rPr lang="ja-JP" altLang="en-US" sz="3200" dirty="0">
                <a:latin typeface="UD デジタル 教科書体 N-B" panose="02020700000000000000" pitchFamily="17" charset="-128"/>
                <a:ea typeface="UD デジタル 教科書体 N-B" panose="02020700000000000000" pitchFamily="17" charset="-128"/>
                <a:cs typeface="メイリオ" panose="020B0604030504040204" pitchFamily="50" charset="-128"/>
              </a:rPr>
              <a:t>今まで、遺伝という言葉を適当に使っていたけれど、</a:t>
            </a:r>
            <a:endParaRPr lang="en-US" altLang="ja-JP" sz="3200" dirty="0">
              <a:latin typeface="UD デジタル 教科書体 N-B" panose="02020700000000000000" pitchFamily="17" charset="-128"/>
              <a:ea typeface="UD デジタル 教科書体 N-B" panose="02020700000000000000" pitchFamily="17" charset="-128"/>
              <a:cs typeface="メイリオ" panose="020B0604030504040204" pitchFamily="50" charset="-128"/>
            </a:endParaRPr>
          </a:p>
          <a:p>
            <a:pPr>
              <a:lnSpc>
                <a:spcPct val="120000"/>
              </a:lnSpc>
            </a:pPr>
            <a:r>
              <a:rPr lang="ja-JP" altLang="en-US" sz="3200" dirty="0">
                <a:latin typeface="UD デジタル 教科書体 N-B" panose="02020700000000000000" pitchFamily="17" charset="-128"/>
                <a:ea typeface="UD デジタル 教科書体 N-B" panose="02020700000000000000" pitchFamily="17" charset="-128"/>
                <a:cs typeface="メイリオ" panose="020B0604030504040204" pitchFamily="50" charset="-128"/>
              </a:rPr>
              <a:t>遺伝には決まりがあることが分かったので次もがんばりたい。</a:t>
            </a:r>
            <a:endParaRPr lang="en-US" altLang="ja-JP" sz="3200" dirty="0">
              <a:latin typeface="UD デジタル 教科書体 N-B" panose="02020700000000000000" pitchFamily="17" charset="-128"/>
              <a:ea typeface="UD デジタル 教科書体 N-B" panose="02020700000000000000" pitchFamily="17" charset="-128"/>
              <a:cs typeface="メイリオ" panose="020B0604030504040204" pitchFamily="50" charset="-128"/>
            </a:endParaRPr>
          </a:p>
        </p:txBody>
      </p:sp>
      <p:sp>
        <p:nvSpPr>
          <p:cNvPr id="7" name="正方形/長方形 6">
            <a:extLst>
              <a:ext uri="{FF2B5EF4-FFF2-40B4-BE49-F238E27FC236}">
                <a16:creationId xmlns:a16="http://schemas.microsoft.com/office/drawing/2014/main" id="{EF555052-ED6A-A09A-E6C1-91B7606DB31F}"/>
              </a:ext>
            </a:extLst>
          </p:cNvPr>
          <p:cNvSpPr/>
          <p:nvPr/>
        </p:nvSpPr>
        <p:spPr>
          <a:xfrm>
            <a:off x="1405786" y="1488197"/>
            <a:ext cx="2077644" cy="513154"/>
          </a:xfrm>
          <a:prstGeom prst="rect">
            <a:avLst/>
          </a:prstGeom>
          <a:solidFill>
            <a:schemeClr val="bg1"/>
          </a:solidFill>
          <a:ln>
            <a:noFill/>
          </a:ln>
        </p:spPr>
        <p:txBody>
          <a:bodyPr wrap="square">
            <a:spAutoFit/>
          </a:bodyPr>
          <a:lstStyle/>
          <a:p>
            <a:pPr>
              <a:lnSpc>
                <a:spcPct val="120000"/>
              </a:lnSpc>
            </a:pPr>
            <a:r>
              <a:rPr lang="ja-JP" altLang="en-US" sz="2400" dirty="0">
                <a:latin typeface="UD デジタル 教科書体 N-B" panose="02020700000000000000" pitchFamily="17" charset="-128"/>
                <a:ea typeface="UD デジタル 教科書体 N-B" panose="02020700000000000000" pitchFamily="17" charset="-128"/>
                <a:cs typeface="メイリオ" panose="020B0604030504040204" pitchFamily="50" charset="-128"/>
              </a:rPr>
              <a:t>単元の学習前</a:t>
            </a:r>
            <a:endParaRPr lang="en-US" altLang="ja-JP" sz="2400" dirty="0">
              <a:latin typeface="UD デジタル 教科書体 N-B" panose="02020700000000000000" pitchFamily="17" charset="-128"/>
              <a:ea typeface="UD デジタル 教科書体 N-B" panose="02020700000000000000" pitchFamily="17" charset="-128"/>
              <a:cs typeface="メイリオ" panose="020B0604030504040204" pitchFamily="50" charset="-128"/>
            </a:endParaRPr>
          </a:p>
        </p:txBody>
      </p:sp>
      <p:sp>
        <p:nvSpPr>
          <p:cNvPr id="8" name="正方形/長方形 7">
            <a:extLst>
              <a:ext uri="{FF2B5EF4-FFF2-40B4-BE49-F238E27FC236}">
                <a16:creationId xmlns:a16="http://schemas.microsoft.com/office/drawing/2014/main" id="{32867BA6-7FC4-48AA-1560-A004DE8A3925}"/>
              </a:ext>
            </a:extLst>
          </p:cNvPr>
          <p:cNvSpPr/>
          <p:nvPr/>
        </p:nvSpPr>
        <p:spPr>
          <a:xfrm>
            <a:off x="5840982" y="1488197"/>
            <a:ext cx="2177183" cy="513154"/>
          </a:xfrm>
          <a:prstGeom prst="rect">
            <a:avLst/>
          </a:prstGeom>
          <a:solidFill>
            <a:schemeClr val="bg1"/>
          </a:solidFill>
          <a:ln>
            <a:noFill/>
          </a:ln>
        </p:spPr>
        <p:txBody>
          <a:bodyPr wrap="square">
            <a:spAutoFit/>
          </a:bodyPr>
          <a:lstStyle/>
          <a:p>
            <a:pPr>
              <a:lnSpc>
                <a:spcPct val="120000"/>
              </a:lnSpc>
            </a:pPr>
            <a:r>
              <a:rPr lang="ja-JP" altLang="en-US" sz="2400" dirty="0">
                <a:latin typeface="UD デジタル 教科書体 N-B" panose="02020700000000000000" pitchFamily="17" charset="-128"/>
                <a:ea typeface="UD デジタル 教科書体 N-B" panose="02020700000000000000" pitchFamily="17" charset="-128"/>
                <a:cs typeface="メイリオ" panose="020B0604030504040204" pitchFamily="50" charset="-128"/>
              </a:rPr>
              <a:t>単元の学習後</a:t>
            </a:r>
            <a:endParaRPr lang="en-US" altLang="ja-JP" sz="2400" dirty="0">
              <a:latin typeface="UD デジタル 教科書体 N-B" panose="02020700000000000000" pitchFamily="17" charset="-128"/>
              <a:ea typeface="UD デジタル 教科書体 N-B" panose="02020700000000000000" pitchFamily="17" charset="-128"/>
              <a:cs typeface="メイリオ" panose="020B0604030504040204" pitchFamily="50" charset="-128"/>
            </a:endParaRPr>
          </a:p>
        </p:txBody>
      </p:sp>
      <p:sp>
        <p:nvSpPr>
          <p:cNvPr id="11" name="右矢印 2">
            <a:extLst>
              <a:ext uri="{FF2B5EF4-FFF2-40B4-BE49-F238E27FC236}">
                <a16:creationId xmlns:a16="http://schemas.microsoft.com/office/drawing/2014/main" id="{B234F141-5252-3652-6CB0-D4C0237447F9}"/>
              </a:ext>
            </a:extLst>
          </p:cNvPr>
          <p:cNvSpPr/>
          <p:nvPr/>
        </p:nvSpPr>
        <p:spPr>
          <a:xfrm>
            <a:off x="4767943" y="3199232"/>
            <a:ext cx="953296" cy="991632"/>
          </a:xfrm>
          <a:prstGeom prst="rightArrow">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Rectangle 1">
            <a:extLst>
              <a:ext uri="{FF2B5EF4-FFF2-40B4-BE49-F238E27FC236}">
                <a16:creationId xmlns:a16="http://schemas.microsoft.com/office/drawing/2014/main" id="{CDD0E6AF-B941-EE11-B1EB-EDFA0CEDAEAD}"/>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4" name="Rectangle 2">
            <a:extLst>
              <a:ext uri="{FF2B5EF4-FFF2-40B4-BE49-F238E27FC236}">
                <a16:creationId xmlns:a16="http://schemas.microsoft.com/office/drawing/2014/main" id="{B17A5FD5-D2CD-9AE6-2504-E211AA2FE918}"/>
              </a:ext>
            </a:extLst>
          </p:cNvPr>
          <p:cNvSpPr/>
          <p:nvPr/>
        </p:nvSpPr>
        <p:spPr>
          <a:xfrm>
            <a:off x="0" y="751591"/>
            <a:ext cx="12192000" cy="516984"/>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r>
              <a:rPr lang="ja-JP" altLang="en-US" sz="2800" b="1" dirty="0">
                <a:solidFill>
                  <a:schemeClr val="tx1"/>
                </a:solidFill>
                <a:latin typeface="メイリオ" panose="020B0604030504040204" pitchFamily="50" charset="-128"/>
                <a:ea typeface="メイリオ" panose="020B0604030504040204" pitchFamily="50" charset="-128"/>
              </a:rPr>
              <a:t>「主体的に学習に取り組む態度」の評価方法＜理科＞</a:t>
            </a:r>
            <a:endParaRPr lang="en-US" altLang="ja-JP" sz="2800" b="1" dirty="0">
              <a:solidFill>
                <a:schemeClr val="tx1"/>
              </a:solidFill>
              <a:latin typeface="メイリオ" panose="020B0604030504040204" pitchFamily="50" charset="-128"/>
              <a:ea typeface="メイリオ" panose="020B0604030504040204" pitchFamily="50" charset="-128"/>
            </a:endParaRPr>
          </a:p>
        </p:txBody>
      </p:sp>
      <p:sp>
        <p:nvSpPr>
          <p:cNvPr id="10" name="Rectangle 3">
            <a:extLst>
              <a:ext uri="{FF2B5EF4-FFF2-40B4-BE49-F238E27FC236}">
                <a16:creationId xmlns:a16="http://schemas.microsoft.com/office/drawing/2014/main" id="{59D05BA9-0264-9EC6-69F4-5405102BB401}"/>
              </a:ext>
            </a:extLst>
          </p:cNvPr>
          <p:cNvSpPr/>
          <p:nvPr/>
        </p:nvSpPr>
        <p:spPr>
          <a:xfrm>
            <a:off x="0" y="1280166"/>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31414357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534DB3-6730-B5FA-8AD9-591ECFD4F6D2}"/>
            </a:ext>
          </a:extLst>
        </p:cNvPr>
        <p:cNvGrpSpPr/>
        <p:nvPr/>
      </p:nvGrpSpPr>
      <p:grpSpPr>
        <a:xfrm>
          <a:off x="0" y="0"/>
          <a:ext cx="0" cy="0"/>
          <a:chOff x="0" y="0"/>
          <a:chExt cx="0" cy="0"/>
        </a:xfrm>
      </p:grpSpPr>
      <p:pic>
        <p:nvPicPr>
          <p:cNvPr id="4" name="図 3">
            <a:extLst>
              <a:ext uri="{FF2B5EF4-FFF2-40B4-BE49-F238E27FC236}">
                <a16:creationId xmlns:a16="http://schemas.microsoft.com/office/drawing/2014/main" id="{3802F8B9-083E-A756-A367-5497A8C036BF}"/>
              </a:ext>
            </a:extLst>
          </p:cNvPr>
          <p:cNvPicPr>
            <a:picLocks noChangeAspect="1"/>
          </p:cNvPicPr>
          <p:nvPr/>
        </p:nvPicPr>
        <p:blipFill rotWithShape="1">
          <a:blip r:embed="rId3">
            <a:extLst>
              <a:ext uri="{28A0092B-C50C-407E-A947-70E740481C1C}">
                <a14:useLocalDpi xmlns:a14="http://schemas.microsoft.com/office/drawing/2010/main" val="0"/>
              </a:ext>
            </a:extLst>
          </a:blip>
          <a:srcRect l="13013" t="50448" r="71479" b="18376"/>
          <a:stretch>
            <a:fillRect/>
          </a:stretch>
        </p:blipFill>
        <p:spPr>
          <a:xfrm>
            <a:off x="3560650" y="1714028"/>
            <a:ext cx="1722549" cy="1785257"/>
          </a:xfrm>
          <a:prstGeom prst="rect">
            <a:avLst/>
          </a:prstGeom>
        </p:spPr>
      </p:pic>
      <p:sp>
        <p:nvSpPr>
          <p:cNvPr id="5" name="正方形/長方形 4">
            <a:extLst>
              <a:ext uri="{FF2B5EF4-FFF2-40B4-BE49-F238E27FC236}">
                <a16:creationId xmlns:a16="http://schemas.microsoft.com/office/drawing/2014/main" id="{403AE3D9-2789-9F2C-49EB-1F0DE6E97221}"/>
              </a:ext>
            </a:extLst>
          </p:cNvPr>
          <p:cNvSpPr/>
          <p:nvPr/>
        </p:nvSpPr>
        <p:spPr>
          <a:xfrm>
            <a:off x="1121732" y="1444051"/>
            <a:ext cx="2802291" cy="653384"/>
          </a:xfrm>
          <a:prstGeom prst="rect">
            <a:avLst/>
          </a:prstGeom>
          <a:solidFill>
            <a:schemeClr val="bg1"/>
          </a:solidFill>
          <a:ln>
            <a:noFill/>
          </a:ln>
        </p:spPr>
        <p:txBody>
          <a:bodyPr wrap="square">
            <a:spAutoFit/>
          </a:bodyPr>
          <a:lstStyle/>
          <a:p>
            <a:pPr>
              <a:lnSpc>
                <a:spcPct val="120000"/>
              </a:lnSpc>
            </a:pPr>
            <a:r>
              <a:rPr lang="ja-JP" altLang="en-US" sz="3200" dirty="0">
                <a:latin typeface="UD デジタル 教科書体 N-B" panose="02020700000000000000" pitchFamily="17" charset="-128"/>
                <a:ea typeface="UD デジタル 教科書体 N-B" panose="02020700000000000000" pitchFamily="17" charset="-128"/>
                <a:cs typeface="メイリオ" panose="020B0604030504040204" pitchFamily="50" charset="-128"/>
              </a:rPr>
              <a:t>単元の学習前</a:t>
            </a:r>
            <a:endParaRPr lang="en-US" altLang="ja-JP" sz="3200" dirty="0">
              <a:latin typeface="UD デジタル 教科書体 N-B" panose="02020700000000000000" pitchFamily="17" charset="-128"/>
              <a:ea typeface="UD デジタル 教科書体 N-B" panose="02020700000000000000" pitchFamily="17" charset="-128"/>
              <a:cs typeface="メイリオ" panose="020B0604030504040204" pitchFamily="50" charset="-128"/>
            </a:endParaRPr>
          </a:p>
        </p:txBody>
      </p:sp>
      <p:pic>
        <p:nvPicPr>
          <p:cNvPr id="3" name="図 2">
            <a:extLst>
              <a:ext uri="{FF2B5EF4-FFF2-40B4-BE49-F238E27FC236}">
                <a16:creationId xmlns:a16="http://schemas.microsoft.com/office/drawing/2014/main" id="{B6109402-1D92-AAF1-9C24-56BBB144F6DC}"/>
              </a:ext>
            </a:extLst>
          </p:cNvPr>
          <p:cNvPicPr>
            <a:picLocks noChangeAspect="1"/>
          </p:cNvPicPr>
          <p:nvPr/>
        </p:nvPicPr>
        <p:blipFill rotWithShape="1">
          <a:blip r:embed="rId3">
            <a:extLst>
              <a:ext uri="{28A0092B-C50C-407E-A947-70E740481C1C}">
                <a14:useLocalDpi xmlns:a14="http://schemas.microsoft.com/office/drawing/2010/main" val="0"/>
              </a:ext>
            </a:extLst>
          </a:blip>
          <a:srcRect l="46400" t="14584" b="3929"/>
          <a:stretch/>
        </p:blipFill>
        <p:spPr>
          <a:xfrm>
            <a:off x="6711990" y="2390544"/>
            <a:ext cx="5206867" cy="4081142"/>
          </a:xfrm>
          <a:prstGeom prst="rect">
            <a:avLst/>
          </a:prstGeom>
        </p:spPr>
      </p:pic>
      <p:sp>
        <p:nvSpPr>
          <p:cNvPr id="8" name="正方形/長方形 7">
            <a:extLst>
              <a:ext uri="{FF2B5EF4-FFF2-40B4-BE49-F238E27FC236}">
                <a16:creationId xmlns:a16="http://schemas.microsoft.com/office/drawing/2014/main" id="{735C8454-134F-9DC0-4B4D-492AC091458F}"/>
              </a:ext>
            </a:extLst>
          </p:cNvPr>
          <p:cNvSpPr/>
          <p:nvPr/>
        </p:nvSpPr>
        <p:spPr>
          <a:xfrm>
            <a:off x="7582697" y="1465702"/>
            <a:ext cx="2936547" cy="653384"/>
          </a:xfrm>
          <a:prstGeom prst="rect">
            <a:avLst/>
          </a:prstGeom>
          <a:solidFill>
            <a:schemeClr val="bg1"/>
          </a:solidFill>
          <a:ln>
            <a:noFill/>
          </a:ln>
        </p:spPr>
        <p:txBody>
          <a:bodyPr wrap="square">
            <a:spAutoFit/>
          </a:bodyPr>
          <a:lstStyle/>
          <a:p>
            <a:pPr>
              <a:lnSpc>
                <a:spcPct val="120000"/>
              </a:lnSpc>
            </a:pPr>
            <a:r>
              <a:rPr lang="ja-JP" altLang="en-US" sz="3200" dirty="0">
                <a:latin typeface="UD デジタル 教科書体 N-B" panose="02020700000000000000" pitchFamily="17" charset="-128"/>
                <a:ea typeface="UD デジタル 教科書体 N-B" panose="02020700000000000000" pitchFamily="17" charset="-128"/>
                <a:cs typeface="メイリオ" panose="020B0604030504040204" pitchFamily="50" charset="-128"/>
              </a:rPr>
              <a:t>単元の学習後</a:t>
            </a:r>
            <a:endParaRPr lang="en-US" altLang="ja-JP" sz="3200" dirty="0">
              <a:latin typeface="UD デジタル 教科書体 N-B" panose="02020700000000000000" pitchFamily="17" charset="-128"/>
              <a:ea typeface="UD デジタル 教科書体 N-B" panose="02020700000000000000" pitchFamily="17" charset="-128"/>
              <a:cs typeface="メイリオ" panose="020B0604030504040204" pitchFamily="50" charset="-128"/>
            </a:endParaRPr>
          </a:p>
        </p:txBody>
      </p:sp>
      <p:sp>
        <p:nvSpPr>
          <p:cNvPr id="10" name="右矢印 2">
            <a:extLst>
              <a:ext uri="{FF2B5EF4-FFF2-40B4-BE49-F238E27FC236}">
                <a16:creationId xmlns:a16="http://schemas.microsoft.com/office/drawing/2014/main" id="{87B0E75C-8E41-D6F7-8479-D7B0361B7628}"/>
              </a:ext>
            </a:extLst>
          </p:cNvPr>
          <p:cNvSpPr/>
          <p:nvPr/>
        </p:nvSpPr>
        <p:spPr>
          <a:xfrm>
            <a:off x="5591195" y="2606657"/>
            <a:ext cx="986971" cy="696686"/>
          </a:xfrm>
          <a:prstGeom prst="rightArrow">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7E563A9C-9638-76AD-0AA5-2788DE89869B}"/>
              </a:ext>
            </a:extLst>
          </p:cNvPr>
          <p:cNvSpPr/>
          <p:nvPr/>
        </p:nvSpPr>
        <p:spPr>
          <a:xfrm>
            <a:off x="273143" y="3554657"/>
            <a:ext cx="5822856" cy="3172343"/>
          </a:xfrm>
          <a:prstGeom prst="rect">
            <a:avLst/>
          </a:prstGeom>
          <a:solidFill>
            <a:schemeClr val="bg1"/>
          </a:solidFill>
          <a:ln>
            <a:solidFill>
              <a:schemeClr val="tx1"/>
            </a:solidFill>
          </a:ln>
        </p:spPr>
        <p:txBody>
          <a:bodyPr wrap="square">
            <a:spAutoFit/>
          </a:bodyPr>
          <a:lstStyle/>
          <a:p>
            <a:pPr>
              <a:lnSpc>
                <a:spcPct val="120000"/>
              </a:lnSpc>
            </a:pPr>
            <a:r>
              <a:rPr lang="ja-JP" altLang="en-US" sz="2400" dirty="0">
                <a:latin typeface="UD デジタル 教科書体 N-B" panose="02020700000000000000" pitchFamily="17" charset="-128"/>
                <a:ea typeface="UD デジタル 教科書体 N-B" panose="02020700000000000000" pitchFamily="17" charset="-128"/>
                <a:cs typeface="メイリオ" panose="020B0604030504040204" pitchFamily="50" charset="-128"/>
              </a:rPr>
              <a:t>　最初は単に「遺伝は親から子へ伝わるもの」としか考えていなかったが、これまでの授業で、一人の人間や</a:t>
            </a:r>
            <a:endParaRPr lang="en-US" altLang="ja-JP" sz="2400" dirty="0">
              <a:latin typeface="UD デジタル 教科書体 N-B" panose="02020700000000000000" pitchFamily="17" charset="-128"/>
              <a:ea typeface="UD デジタル 教科書体 N-B" panose="02020700000000000000" pitchFamily="17" charset="-128"/>
              <a:cs typeface="メイリオ" panose="020B0604030504040204" pitchFamily="50" charset="-128"/>
            </a:endParaRPr>
          </a:p>
          <a:p>
            <a:pPr>
              <a:lnSpc>
                <a:spcPct val="120000"/>
              </a:lnSpc>
            </a:pPr>
            <a:r>
              <a:rPr lang="ja-JP" altLang="en-US" sz="2400" dirty="0">
                <a:latin typeface="UD デジタル 教科書体 N-B" panose="02020700000000000000" pitchFamily="17" charset="-128"/>
                <a:ea typeface="UD デジタル 教科書体 N-B" panose="02020700000000000000" pitchFamily="17" charset="-128"/>
                <a:cs typeface="メイリオ" panose="020B0604030504040204" pitchFamily="50" charset="-128"/>
              </a:rPr>
              <a:t>生物が生まれるにもたくさんの組合せがあること、その仕組みや研究についてわかるようになった。</a:t>
            </a:r>
            <a:r>
              <a:rPr lang="en-US" altLang="ja-JP" sz="2400" dirty="0" err="1">
                <a:latin typeface="UD デジタル 教科書体 N-B" panose="02020700000000000000" pitchFamily="17" charset="-128"/>
                <a:ea typeface="UD デジタル 教科書体 N-B" panose="02020700000000000000" pitchFamily="17" charset="-128"/>
                <a:cs typeface="メイリオ" panose="020B0604030504040204" pitchFamily="50" charset="-128"/>
              </a:rPr>
              <a:t>iPS</a:t>
            </a:r>
            <a:r>
              <a:rPr lang="ja-JP" altLang="en-US" sz="2400" dirty="0">
                <a:latin typeface="UD デジタル 教科書体 N-B" panose="02020700000000000000" pitchFamily="17" charset="-128"/>
                <a:ea typeface="UD デジタル 教科書体 N-B" panose="02020700000000000000" pitchFamily="17" charset="-128"/>
                <a:cs typeface="メイリオ" panose="020B0604030504040204" pitchFamily="50" charset="-128"/>
              </a:rPr>
              <a:t>細胞などの最新の研究についても調べられてよかった。</a:t>
            </a:r>
            <a:endParaRPr lang="en-US" altLang="ja-JP" sz="2400" dirty="0">
              <a:latin typeface="UD デジタル 教科書体 N-B" panose="02020700000000000000" pitchFamily="17" charset="-128"/>
              <a:ea typeface="UD デジタル 教科書体 N-B" panose="02020700000000000000" pitchFamily="17" charset="-128"/>
              <a:cs typeface="メイリオ" panose="020B0604030504040204" pitchFamily="50" charset="-128"/>
            </a:endParaRPr>
          </a:p>
        </p:txBody>
      </p:sp>
      <p:sp>
        <p:nvSpPr>
          <p:cNvPr id="13" name="テキスト ボックス 12">
            <a:extLst>
              <a:ext uri="{FF2B5EF4-FFF2-40B4-BE49-F238E27FC236}">
                <a16:creationId xmlns:a16="http://schemas.microsoft.com/office/drawing/2014/main" id="{D3FC0846-C21C-C561-899E-84D7845EC610}"/>
              </a:ext>
            </a:extLst>
          </p:cNvPr>
          <p:cNvSpPr txBox="1"/>
          <p:nvPr/>
        </p:nvSpPr>
        <p:spPr>
          <a:xfrm>
            <a:off x="-1" y="936796"/>
            <a:ext cx="9350829" cy="553998"/>
          </a:xfrm>
          <a:prstGeom prst="rect">
            <a:avLst/>
          </a:prstGeom>
          <a:noFill/>
        </p:spPr>
        <p:txBody>
          <a:bodyPr wrap="square" rtlCol="0">
            <a:spAutoFit/>
          </a:bodyPr>
          <a:lstStyle/>
          <a:p>
            <a:pPr algn="ctr"/>
            <a:r>
              <a:rPr kumimoji="1" lang="ja-JP" altLang="en-US" sz="3000" dirty="0">
                <a:latin typeface="UD デジタル 教科書体 N-B" panose="02020700000000000000" pitchFamily="17" charset="-128"/>
                <a:ea typeface="UD デジタル 教科書体 N-B" panose="02020700000000000000" pitchFamily="17" charset="-128"/>
              </a:rPr>
              <a:t>「主体的に学習に取り組む態度」の評価方法＜理科＞</a:t>
            </a:r>
            <a:endParaRPr kumimoji="1" lang="en-US" altLang="ja-JP" sz="3000" dirty="0">
              <a:latin typeface="UD デジタル 教科書体 N-B" panose="02020700000000000000" pitchFamily="17" charset="-128"/>
              <a:ea typeface="UD デジタル 教科書体 N-B" panose="02020700000000000000" pitchFamily="17" charset="-128"/>
            </a:endParaRPr>
          </a:p>
        </p:txBody>
      </p:sp>
      <p:sp>
        <p:nvSpPr>
          <p:cNvPr id="9" name="タイトル 1">
            <a:extLst>
              <a:ext uri="{FF2B5EF4-FFF2-40B4-BE49-F238E27FC236}">
                <a16:creationId xmlns:a16="http://schemas.microsoft.com/office/drawing/2014/main" id="{492F3C57-8C2D-9193-E6EA-3A3D10B5634D}"/>
              </a:ext>
            </a:extLst>
          </p:cNvPr>
          <p:cNvSpPr txBox="1">
            <a:spLocks/>
          </p:cNvSpPr>
          <p:nvPr/>
        </p:nvSpPr>
        <p:spPr>
          <a:xfrm>
            <a:off x="0" y="1"/>
            <a:ext cx="12191999" cy="851757"/>
          </a:xfrm>
          <a:prstGeom prst="rect">
            <a:avLst/>
          </a:prstGeom>
          <a:solidFill>
            <a:schemeClr val="accent1"/>
          </a:solidFill>
        </p:spPr>
        <p:txBody>
          <a:bodyPr vert="horz" lIns="91440" tIns="45720" rIns="91440" bIns="45720" rtlCol="0" anchor="ctr">
            <a:noAutofit/>
          </a:bodyPr>
          <a:lstStyle>
            <a:lvl1pPr algn="ctr" defTabSz="914309" rtl="0" eaLnBrk="1" latinLnBrk="0" hangingPunct="1">
              <a:lnSpc>
                <a:spcPct val="90000"/>
              </a:lnSpc>
              <a:spcBef>
                <a:spcPct val="0"/>
              </a:spcBef>
              <a:buNone/>
              <a:defRPr kumimoji="1" sz="6000" kern="1200">
                <a:solidFill>
                  <a:schemeClr val="tx1"/>
                </a:solidFill>
                <a:latin typeface="+mj-lt"/>
                <a:ea typeface="+mj-ea"/>
                <a:cs typeface="+mj-cs"/>
              </a:defRPr>
            </a:lvl1pPr>
          </a:lstStyle>
          <a:p>
            <a:pPr algn="l"/>
            <a:r>
              <a:rPr lang="ja-JP" altLang="en-US" sz="2800">
                <a:solidFill>
                  <a:schemeClr val="bg1"/>
                </a:solidFill>
                <a:latin typeface="UD デジタル 教科書体 N-B" panose="02020700000000000000" pitchFamily="17" charset="-128"/>
                <a:ea typeface="UD デジタル 教科書体 N-B" panose="02020700000000000000" pitchFamily="17" charset="-128"/>
              </a:rPr>
              <a:t>「主体的に学習に取り組む態度」の学習評価</a:t>
            </a:r>
            <a:endParaRPr lang="ja-JP" altLang="en-US" sz="2800" dirty="0">
              <a:solidFill>
                <a:schemeClr val="bg1"/>
              </a:solidFill>
              <a:latin typeface="UD デジタル 教科書体 N-B" panose="02020700000000000000" pitchFamily="17" charset="-128"/>
              <a:ea typeface="UD デジタル 教科書体 N-B" panose="02020700000000000000" pitchFamily="17" charset="-128"/>
            </a:endParaRPr>
          </a:p>
        </p:txBody>
      </p:sp>
    </p:spTree>
    <p:extLst>
      <p:ext uri="{BB962C8B-B14F-4D97-AF65-F5344CB8AC3E}">
        <p14:creationId xmlns:p14="http://schemas.microsoft.com/office/powerpoint/2010/main" val="7842158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F43DE5-3958-1060-DAC2-C6C3DEC9086B}"/>
            </a:ext>
          </a:extLst>
        </p:cNvPr>
        <p:cNvGrpSpPr/>
        <p:nvPr/>
      </p:nvGrpSpPr>
      <p:grpSpPr>
        <a:xfrm>
          <a:off x="0" y="0"/>
          <a:ext cx="0" cy="0"/>
          <a:chOff x="0" y="0"/>
          <a:chExt cx="0" cy="0"/>
        </a:xfrm>
      </p:grpSpPr>
      <p:pic>
        <p:nvPicPr>
          <p:cNvPr id="7" name="図 6">
            <a:extLst>
              <a:ext uri="{FF2B5EF4-FFF2-40B4-BE49-F238E27FC236}">
                <a16:creationId xmlns:a16="http://schemas.microsoft.com/office/drawing/2014/main" id="{DC330332-8C6F-1384-6EC5-0F8CD8EE7B13}"/>
              </a:ext>
            </a:extLst>
          </p:cNvPr>
          <p:cNvPicPr>
            <a:picLocks noChangeAspect="1"/>
          </p:cNvPicPr>
          <p:nvPr/>
        </p:nvPicPr>
        <p:blipFill rotWithShape="1">
          <a:blip r:embed="rId3">
            <a:extLst>
              <a:ext uri="{28A0092B-C50C-407E-A947-70E740481C1C}">
                <a14:useLocalDpi xmlns:a14="http://schemas.microsoft.com/office/drawing/2010/main" val="0"/>
              </a:ext>
            </a:extLst>
          </a:blip>
          <a:srcRect l="2439" t="8145" r="10232" b="34685"/>
          <a:stretch/>
        </p:blipFill>
        <p:spPr>
          <a:xfrm>
            <a:off x="767644" y="2578376"/>
            <a:ext cx="10656710" cy="3425372"/>
          </a:xfrm>
          <a:prstGeom prst="rect">
            <a:avLst/>
          </a:prstGeom>
        </p:spPr>
      </p:pic>
      <p:sp>
        <p:nvSpPr>
          <p:cNvPr id="9" name="正方形/長方形 8">
            <a:extLst>
              <a:ext uri="{FF2B5EF4-FFF2-40B4-BE49-F238E27FC236}">
                <a16:creationId xmlns:a16="http://schemas.microsoft.com/office/drawing/2014/main" id="{7495BFAD-0597-A9EE-80CF-BDDBA68B7F83}"/>
              </a:ext>
            </a:extLst>
          </p:cNvPr>
          <p:cNvSpPr/>
          <p:nvPr/>
        </p:nvSpPr>
        <p:spPr>
          <a:xfrm>
            <a:off x="767644" y="6003748"/>
            <a:ext cx="7581118" cy="653384"/>
          </a:xfrm>
          <a:prstGeom prst="rect">
            <a:avLst/>
          </a:prstGeom>
          <a:solidFill>
            <a:schemeClr val="bg1"/>
          </a:solidFill>
          <a:ln>
            <a:solidFill>
              <a:schemeClr val="tx1"/>
            </a:solidFill>
          </a:ln>
        </p:spPr>
        <p:txBody>
          <a:bodyPr wrap="square">
            <a:spAutoFit/>
          </a:bodyPr>
          <a:lstStyle/>
          <a:p>
            <a:pPr>
              <a:lnSpc>
                <a:spcPct val="120000"/>
              </a:lnSpc>
            </a:pPr>
            <a:r>
              <a:rPr lang="ja-JP" altLang="en-US" sz="3200" dirty="0">
                <a:latin typeface="UD デジタル 教科書体 N-B" panose="02020700000000000000" pitchFamily="17" charset="-128"/>
                <a:ea typeface="UD デジタル 教科書体 N-B" panose="02020700000000000000" pitchFamily="17" charset="-128"/>
                <a:cs typeface="メイリオ" panose="020B0604030504040204" pitchFamily="50" charset="-128"/>
              </a:rPr>
              <a:t>難しかったので、よく分からなかった。</a:t>
            </a:r>
            <a:endParaRPr lang="en-US" altLang="ja-JP" sz="3200" dirty="0">
              <a:latin typeface="UD デジタル 教科書体 N-B" panose="02020700000000000000" pitchFamily="17" charset="-128"/>
              <a:ea typeface="UD デジタル 教科書体 N-B" panose="02020700000000000000" pitchFamily="17" charset="-128"/>
              <a:cs typeface="メイリオ" panose="020B0604030504040204" pitchFamily="50" charset="-128"/>
            </a:endParaRPr>
          </a:p>
        </p:txBody>
      </p:sp>
      <p:sp>
        <p:nvSpPr>
          <p:cNvPr id="12" name="右矢印 2">
            <a:extLst>
              <a:ext uri="{FF2B5EF4-FFF2-40B4-BE49-F238E27FC236}">
                <a16:creationId xmlns:a16="http://schemas.microsoft.com/office/drawing/2014/main" id="{B7F85247-BC85-3B2F-3845-BBD66097AE53}"/>
              </a:ext>
            </a:extLst>
          </p:cNvPr>
          <p:cNvSpPr/>
          <p:nvPr/>
        </p:nvSpPr>
        <p:spPr>
          <a:xfrm>
            <a:off x="4746171" y="3429000"/>
            <a:ext cx="976804" cy="991632"/>
          </a:xfrm>
          <a:prstGeom prst="rightArrow">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正方形/長方形 3">
            <a:extLst>
              <a:ext uri="{FF2B5EF4-FFF2-40B4-BE49-F238E27FC236}">
                <a16:creationId xmlns:a16="http://schemas.microsoft.com/office/drawing/2014/main" id="{4216AA6C-FBDE-4EB8-DE6F-FA2437641172}"/>
              </a:ext>
            </a:extLst>
          </p:cNvPr>
          <p:cNvSpPr/>
          <p:nvPr/>
        </p:nvSpPr>
        <p:spPr>
          <a:xfrm>
            <a:off x="767644" y="2560756"/>
            <a:ext cx="2077644" cy="513154"/>
          </a:xfrm>
          <a:prstGeom prst="rect">
            <a:avLst/>
          </a:prstGeom>
          <a:solidFill>
            <a:schemeClr val="bg1"/>
          </a:solidFill>
          <a:ln>
            <a:noFill/>
          </a:ln>
        </p:spPr>
        <p:txBody>
          <a:bodyPr wrap="square">
            <a:spAutoFit/>
          </a:bodyPr>
          <a:lstStyle/>
          <a:p>
            <a:pPr>
              <a:lnSpc>
                <a:spcPct val="120000"/>
              </a:lnSpc>
            </a:pPr>
            <a:r>
              <a:rPr lang="ja-JP" altLang="en-US" sz="2400" dirty="0">
                <a:latin typeface="UD デジタル 教科書体 N-B" panose="02020700000000000000" pitchFamily="17" charset="-128"/>
                <a:ea typeface="UD デジタル 教科書体 N-B" panose="02020700000000000000" pitchFamily="17" charset="-128"/>
                <a:cs typeface="メイリオ" panose="020B0604030504040204" pitchFamily="50" charset="-128"/>
              </a:rPr>
              <a:t>単元の学習前</a:t>
            </a:r>
            <a:endParaRPr lang="en-US" altLang="ja-JP" sz="2400" dirty="0">
              <a:latin typeface="UD デジタル 教科書体 N-B" panose="02020700000000000000" pitchFamily="17" charset="-128"/>
              <a:ea typeface="UD デジタル 教科書体 N-B" panose="02020700000000000000" pitchFamily="17" charset="-128"/>
              <a:cs typeface="メイリオ" panose="020B0604030504040204" pitchFamily="50" charset="-128"/>
            </a:endParaRPr>
          </a:p>
        </p:txBody>
      </p:sp>
      <p:sp>
        <p:nvSpPr>
          <p:cNvPr id="5" name="正方形/長方形 4">
            <a:extLst>
              <a:ext uri="{FF2B5EF4-FFF2-40B4-BE49-F238E27FC236}">
                <a16:creationId xmlns:a16="http://schemas.microsoft.com/office/drawing/2014/main" id="{2569EEF1-78D0-D667-B5F4-582A25396069}"/>
              </a:ext>
            </a:extLst>
          </p:cNvPr>
          <p:cNvSpPr/>
          <p:nvPr/>
        </p:nvSpPr>
        <p:spPr>
          <a:xfrm>
            <a:off x="5202840" y="2560756"/>
            <a:ext cx="2177183" cy="513154"/>
          </a:xfrm>
          <a:prstGeom prst="rect">
            <a:avLst/>
          </a:prstGeom>
          <a:solidFill>
            <a:schemeClr val="bg1"/>
          </a:solidFill>
          <a:ln>
            <a:noFill/>
          </a:ln>
        </p:spPr>
        <p:txBody>
          <a:bodyPr wrap="square">
            <a:spAutoFit/>
          </a:bodyPr>
          <a:lstStyle/>
          <a:p>
            <a:pPr>
              <a:lnSpc>
                <a:spcPct val="120000"/>
              </a:lnSpc>
            </a:pPr>
            <a:r>
              <a:rPr lang="ja-JP" altLang="en-US" sz="2400" dirty="0">
                <a:latin typeface="UD デジタル 教科書体 N-B" panose="02020700000000000000" pitchFamily="17" charset="-128"/>
                <a:ea typeface="UD デジタル 教科書体 N-B" panose="02020700000000000000" pitchFamily="17" charset="-128"/>
                <a:cs typeface="メイリオ" panose="020B0604030504040204" pitchFamily="50" charset="-128"/>
              </a:rPr>
              <a:t>単元の学習後</a:t>
            </a:r>
            <a:endParaRPr lang="en-US" altLang="ja-JP" sz="2400" dirty="0">
              <a:latin typeface="UD デジタル 教科書体 N-B" panose="02020700000000000000" pitchFamily="17" charset="-128"/>
              <a:ea typeface="UD デジタル 教科書体 N-B" panose="02020700000000000000" pitchFamily="17" charset="-128"/>
              <a:cs typeface="メイリオ" panose="020B0604030504040204" pitchFamily="50" charset="-128"/>
            </a:endParaRPr>
          </a:p>
        </p:txBody>
      </p:sp>
      <p:sp>
        <p:nvSpPr>
          <p:cNvPr id="2" name="Rectangle 1">
            <a:extLst>
              <a:ext uri="{FF2B5EF4-FFF2-40B4-BE49-F238E27FC236}">
                <a16:creationId xmlns:a16="http://schemas.microsoft.com/office/drawing/2014/main" id="{215BB9AE-D97E-02BA-E373-C864A210949E}"/>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3" name="Rectangle 2">
            <a:extLst>
              <a:ext uri="{FF2B5EF4-FFF2-40B4-BE49-F238E27FC236}">
                <a16:creationId xmlns:a16="http://schemas.microsoft.com/office/drawing/2014/main" id="{80471E6D-EC9A-0139-34D3-C0CDFFD0148A}"/>
              </a:ext>
            </a:extLst>
          </p:cNvPr>
          <p:cNvSpPr/>
          <p:nvPr/>
        </p:nvSpPr>
        <p:spPr>
          <a:xfrm>
            <a:off x="0" y="751591"/>
            <a:ext cx="12192000" cy="516984"/>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r>
              <a:rPr lang="ja-JP" altLang="en-US" sz="2800" b="1" dirty="0">
                <a:solidFill>
                  <a:schemeClr val="tx1"/>
                </a:solidFill>
                <a:latin typeface="メイリオ" panose="020B0604030504040204" pitchFamily="50" charset="-128"/>
                <a:ea typeface="メイリオ" panose="020B0604030504040204" pitchFamily="50" charset="-128"/>
              </a:rPr>
              <a:t>「主体的に学習に取り組む態度」の評価方法＜理科＞</a:t>
            </a:r>
            <a:endParaRPr lang="en-US" altLang="ja-JP" sz="2800" b="1" dirty="0">
              <a:solidFill>
                <a:schemeClr val="tx1"/>
              </a:solidFill>
              <a:latin typeface="メイリオ" panose="020B0604030504040204" pitchFamily="50" charset="-128"/>
              <a:ea typeface="メイリオ" panose="020B0604030504040204" pitchFamily="50" charset="-128"/>
            </a:endParaRPr>
          </a:p>
        </p:txBody>
      </p:sp>
      <p:sp>
        <p:nvSpPr>
          <p:cNvPr id="8" name="Rectangle 3">
            <a:extLst>
              <a:ext uri="{FF2B5EF4-FFF2-40B4-BE49-F238E27FC236}">
                <a16:creationId xmlns:a16="http://schemas.microsoft.com/office/drawing/2014/main" id="{34E89E98-8E12-B913-2209-1B9F252F5969}"/>
              </a:ext>
            </a:extLst>
          </p:cNvPr>
          <p:cNvSpPr/>
          <p:nvPr/>
        </p:nvSpPr>
        <p:spPr>
          <a:xfrm>
            <a:off x="0" y="1280166"/>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7613637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4FC1EA-83F4-F180-09E5-1E03401C5D6A}"/>
            </a:ext>
          </a:extLst>
        </p:cNvPr>
        <p:cNvGrpSpPr/>
        <p:nvPr/>
      </p:nvGrpSpPr>
      <p:grpSpPr>
        <a:xfrm>
          <a:off x="0" y="0"/>
          <a:ext cx="0" cy="0"/>
          <a:chOff x="0" y="0"/>
          <a:chExt cx="0" cy="0"/>
        </a:xfrm>
      </p:grpSpPr>
      <p:pic>
        <p:nvPicPr>
          <p:cNvPr id="9" name="図 8">
            <a:extLst>
              <a:ext uri="{FF2B5EF4-FFF2-40B4-BE49-F238E27FC236}">
                <a16:creationId xmlns:a16="http://schemas.microsoft.com/office/drawing/2014/main" id="{12D8AC5D-30F9-45EB-0D28-A0EDB5374DD1}"/>
              </a:ext>
            </a:extLst>
          </p:cNvPr>
          <p:cNvPicPr>
            <a:picLocks noChangeAspect="1"/>
          </p:cNvPicPr>
          <p:nvPr/>
        </p:nvPicPr>
        <p:blipFill rotWithShape="1">
          <a:blip r:embed="rId3">
            <a:extLst>
              <a:ext uri="{28A0092B-C50C-407E-A947-70E740481C1C}">
                <a14:useLocalDpi xmlns:a14="http://schemas.microsoft.com/office/drawing/2010/main" val="0"/>
              </a:ext>
            </a:extLst>
          </a:blip>
          <a:srcRect l="8497" t="7187" r="12597" b="39916"/>
          <a:stretch/>
        </p:blipFill>
        <p:spPr>
          <a:xfrm>
            <a:off x="2126342" y="1728232"/>
            <a:ext cx="8244114" cy="3246800"/>
          </a:xfrm>
          <a:prstGeom prst="rect">
            <a:avLst/>
          </a:prstGeom>
        </p:spPr>
      </p:pic>
      <p:pic>
        <p:nvPicPr>
          <p:cNvPr id="5" name="図 4">
            <a:extLst>
              <a:ext uri="{FF2B5EF4-FFF2-40B4-BE49-F238E27FC236}">
                <a16:creationId xmlns:a16="http://schemas.microsoft.com/office/drawing/2014/main" id="{91B6AC54-5878-FAD6-5623-2CE691D3F725}"/>
              </a:ext>
            </a:extLst>
          </p:cNvPr>
          <p:cNvPicPr>
            <a:picLocks noChangeAspect="1"/>
          </p:cNvPicPr>
          <p:nvPr/>
        </p:nvPicPr>
        <p:blipFill rotWithShape="1">
          <a:blip r:embed="rId3">
            <a:extLst>
              <a:ext uri="{28A0092B-C50C-407E-A947-70E740481C1C}">
                <a14:useLocalDpi xmlns:a14="http://schemas.microsoft.com/office/drawing/2010/main" val="0"/>
              </a:ext>
            </a:extLst>
          </a:blip>
          <a:srcRect l="8497" t="7187" r="12597" b="39916"/>
          <a:stretch/>
        </p:blipFill>
        <p:spPr>
          <a:xfrm>
            <a:off x="1973942" y="1575832"/>
            <a:ext cx="8244114" cy="3246800"/>
          </a:xfrm>
          <a:prstGeom prst="rect">
            <a:avLst/>
          </a:prstGeom>
        </p:spPr>
      </p:pic>
      <p:sp>
        <p:nvSpPr>
          <p:cNvPr id="6" name="正方形/長方形 5">
            <a:extLst>
              <a:ext uri="{FF2B5EF4-FFF2-40B4-BE49-F238E27FC236}">
                <a16:creationId xmlns:a16="http://schemas.microsoft.com/office/drawing/2014/main" id="{153919CA-8D36-408C-2651-AC4061FE8D78}"/>
              </a:ext>
            </a:extLst>
          </p:cNvPr>
          <p:cNvSpPr/>
          <p:nvPr/>
        </p:nvSpPr>
        <p:spPr>
          <a:xfrm>
            <a:off x="429984" y="5203372"/>
            <a:ext cx="11332029" cy="1249573"/>
          </a:xfrm>
          <a:prstGeom prst="rect">
            <a:avLst/>
          </a:prstGeom>
          <a:solidFill>
            <a:schemeClr val="bg1"/>
          </a:solidFill>
          <a:ln>
            <a:solidFill>
              <a:schemeClr val="tx1"/>
            </a:solidFill>
          </a:ln>
        </p:spPr>
        <p:txBody>
          <a:bodyPr wrap="square">
            <a:spAutoFit/>
          </a:bodyPr>
          <a:lstStyle/>
          <a:p>
            <a:pPr>
              <a:lnSpc>
                <a:spcPct val="120000"/>
              </a:lnSpc>
            </a:pPr>
            <a:r>
              <a:rPr lang="ja-JP" altLang="en-US" sz="3200" dirty="0">
                <a:latin typeface="UD デジタル 教科書体 N-B" panose="02020700000000000000" pitchFamily="17" charset="-128"/>
                <a:ea typeface="UD デジタル 教科書体 N-B" panose="02020700000000000000" pitchFamily="17" charset="-128"/>
                <a:cs typeface="メイリオ" panose="020B0604030504040204" pitchFamily="50" charset="-128"/>
              </a:rPr>
              <a:t>今まで、遺伝という言葉を適当に使っていたけれど、</a:t>
            </a:r>
            <a:endParaRPr lang="en-US" altLang="ja-JP" sz="3200" dirty="0">
              <a:latin typeface="UD デジタル 教科書体 N-B" panose="02020700000000000000" pitchFamily="17" charset="-128"/>
              <a:ea typeface="UD デジタル 教科書体 N-B" panose="02020700000000000000" pitchFamily="17" charset="-128"/>
              <a:cs typeface="メイリオ" panose="020B0604030504040204" pitchFamily="50" charset="-128"/>
            </a:endParaRPr>
          </a:p>
          <a:p>
            <a:pPr>
              <a:lnSpc>
                <a:spcPct val="120000"/>
              </a:lnSpc>
            </a:pPr>
            <a:r>
              <a:rPr lang="ja-JP" altLang="en-US" sz="3200" dirty="0">
                <a:latin typeface="UD デジタル 教科書体 N-B" panose="02020700000000000000" pitchFamily="17" charset="-128"/>
                <a:ea typeface="UD デジタル 教科書体 N-B" panose="02020700000000000000" pitchFamily="17" charset="-128"/>
                <a:cs typeface="メイリオ" panose="020B0604030504040204" pitchFamily="50" charset="-128"/>
              </a:rPr>
              <a:t>遺伝には決まりがあることが分かったので次もがんばりたい。</a:t>
            </a:r>
            <a:endParaRPr lang="en-US" altLang="ja-JP" sz="3200" dirty="0">
              <a:latin typeface="UD デジタル 教科書体 N-B" panose="02020700000000000000" pitchFamily="17" charset="-128"/>
              <a:ea typeface="UD デジタル 教科書体 N-B" panose="02020700000000000000" pitchFamily="17" charset="-128"/>
              <a:cs typeface="メイリオ" panose="020B0604030504040204" pitchFamily="50" charset="-128"/>
            </a:endParaRPr>
          </a:p>
        </p:txBody>
      </p:sp>
      <p:sp>
        <p:nvSpPr>
          <p:cNvPr id="7" name="正方形/長方形 6">
            <a:extLst>
              <a:ext uri="{FF2B5EF4-FFF2-40B4-BE49-F238E27FC236}">
                <a16:creationId xmlns:a16="http://schemas.microsoft.com/office/drawing/2014/main" id="{6081388D-D91A-EF4C-7705-24DCDDBE3C9A}"/>
              </a:ext>
            </a:extLst>
          </p:cNvPr>
          <p:cNvSpPr/>
          <p:nvPr/>
        </p:nvSpPr>
        <p:spPr>
          <a:xfrm>
            <a:off x="1405786" y="1488197"/>
            <a:ext cx="2077644" cy="513154"/>
          </a:xfrm>
          <a:prstGeom prst="rect">
            <a:avLst/>
          </a:prstGeom>
          <a:solidFill>
            <a:schemeClr val="bg1"/>
          </a:solidFill>
          <a:ln>
            <a:noFill/>
          </a:ln>
        </p:spPr>
        <p:txBody>
          <a:bodyPr wrap="square">
            <a:spAutoFit/>
          </a:bodyPr>
          <a:lstStyle/>
          <a:p>
            <a:pPr>
              <a:lnSpc>
                <a:spcPct val="120000"/>
              </a:lnSpc>
            </a:pPr>
            <a:r>
              <a:rPr lang="ja-JP" altLang="en-US" sz="2400" dirty="0">
                <a:latin typeface="UD デジタル 教科書体 N-B" panose="02020700000000000000" pitchFamily="17" charset="-128"/>
                <a:ea typeface="UD デジタル 教科書体 N-B" panose="02020700000000000000" pitchFamily="17" charset="-128"/>
                <a:cs typeface="メイリオ" panose="020B0604030504040204" pitchFamily="50" charset="-128"/>
              </a:rPr>
              <a:t>単元の学習前</a:t>
            </a:r>
            <a:endParaRPr lang="en-US" altLang="ja-JP" sz="2400" dirty="0">
              <a:latin typeface="UD デジタル 教科書体 N-B" panose="02020700000000000000" pitchFamily="17" charset="-128"/>
              <a:ea typeface="UD デジタル 教科書体 N-B" panose="02020700000000000000" pitchFamily="17" charset="-128"/>
              <a:cs typeface="メイリオ" panose="020B0604030504040204" pitchFamily="50" charset="-128"/>
            </a:endParaRPr>
          </a:p>
        </p:txBody>
      </p:sp>
      <p:sp>
        <p:nvSpPr>
          <p:cNvPr id="8" name="正方形/長方形 7">
            <a:extLst>
              <a:ext uri="{FF2B5EF4-FFF2-40B4-BE49-F238E27FC236}">
                <a16:creationId xmlns:a16="http://schemas.microsoft.com/office/drawing/2014/main" id="{0F5B95AC-BF7C-C9FC-DB67-0243FBDE0833}"/>
              </a:ext>
            </a:extLst>
          </p:cNvPr>
          <p:cNvSpPr/>
          <p:nvPr/>
        </p:nvSpPr>
        <p:spPr>
          <a:xfrm>
            <a:off x="5840982" y="1488197"/>
            <a:ext cx="2177183" cy="513154"/>
          </a:xfrm>
          <a:prstGeom prst="rect">
            <a:avLst/>
          </a:prstGeom>
          <a:solidFill>
            <a:schemeClr val="bg1"/>
          </a:solidFill>
          <a:ln>
            <a:noFill/>
          </a:ln>
        </p:spPr>
        <p:txBody>
          <a:bodyPr wrap="square">
            <a:spAutoFit/>
          </a:bodyPr>
          <a:lstStyle/>
          <a:p>
            <a:pPr>
              <a:lnSpc>
                <a:spcPct val="120000"/>
              </a:lnSpc>
            </a:pPr>
            <a:r>
              <a:rPr lang="ja-JP" altLang="en-US" sz="2400" dirty="0">
                <a:latin typeface="UD デジタル 教科書体 N-B" panose="02020700000000000000" pitchFamily="17" charset="-128"/>
                <a:ea typeface="UD デジタル 教科書体 N-B" panose="02020700000000000000" pitchFamily="17" charset="-128"/>
                <a:cs typeface="メイリオ" panose="020B0604030504040204" pitchFamily="50" charset="-128"/>
              </a:rPr>
              <a:t>単元の学習後</a:t>
            </a:r>
            <a:endParaRPr lang="en-US" altLang="ja-JP" sz="2400" dirty="0">
              <a:latin typeface="UD デジタル 教科書体 N-B" panose="02020700000000000000" pitchFamily="17" charset="-128"/>
              <a:ea typeface="UD デジタル 教科書体 N-B" panose="02020700000000000000" pitchFamily="17" charset="-128"/>
              <a:cs typeface="メイリオ" panose="020B0604030504040204" pitchFamily="50" charset="-128"/>
            </a:endParaRPr>
          </a:p>
        </p:txBody>
      </p:sp>
      <p:sp>
        <p:nvSpPr>
          <p:cNvPr id="11" name="右矢印 2">
            <a:extLst>
              <a:ext uri="{FF2B5EF4-FFF2-40B4-BE49-F238E27FC236}">
                <a16:creationId xmlns:a16="http://schemas.microsoft.com/office/drawing/2014/main" id="{1E068C05-F854-64B3-5C26-308FEA2A491B}"/>
              </a:ext>
            </a:extLst>
          </p:cNvPr>
          <p:cNvSpPr/>
          <p:nvPr/>
        </p:nvSpPr>
        <p:spPr>
          <a:xfrm>
            <a:off x="4767943" y="3199232"/>
            <a:ext cx="953296" cy="991632"/>
          </a:xfrm>
          <a:prstGeom prst="rightArrow">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正方形/長方形 3">
            <a:extLst>
              <a:ext uri="{FF2B5EF4-FFF2-40B4-BE49-F238E27FC236}">
                <a16:creationId xmlns:a16="http://schemas.microsoft.com/office/drawing/2014/main" id="{A703AE0A-E4D0-DC3C-3EA6-FCD85F8C9AFB}"/>
              </a:ext>
            </a:extLst>
          </p:cNvPr>
          <p:cNvSpPr/>
          <p:nvPr/>
        </p:nvSpPr>
        <p:spPr>
          <a:xfrm>
            <a:off x="-4955" y="1935706"/>
            <a:ext cx="3042069" cy="653384"/>
          </a:xfrm>
          <a:prstGeom prst="rect">
            <a:avLst/>
          </a:prstGeom>
          <a:solidFill>
            <a:srgbClr val="0070C0"/>
          </a:solidFill>
          <a:ln>
            <a:solidFill>
              <a:schemeClr val="tx1"/>
            </a:solidFill>
          </a:ln>
        </p:spPr>
        <p:txBody>
          <a:bodyPr wrap="square">
            <a:spAutoFit/>
          </a:bodyPr>
          <a:lstStyle/>
          <a:p>
            <a:pPr>
              <a:lnSpc>
                <a:spcPct val="120000"/>
              </a:lnSpc>
            </a:pPr>
            <a:r>
              <a:rPr lang="en-US" altLang="ja-JP" sz="3200" dirty="0">
                <a:solidFill>
                  <a:schemeClr val="bg1"/>
                </a:solidFill>
                <a:latin typeface="UD デジタル 教科書体 N-B" panose="02020700000000000000" pitchFamily="17" charset="-128"/>
                <a:ea typeface="UD デジタル 教科書体 N-B" panose="02020700000000000000" pitchFamily="17" charset="-128"/>
                <a:cs typeface="メイリオ" panose="020B0604030504040204" pitchFamily="50" charset="-128"/>
              </a:rPr>
              <a:t>【</a:t>
            </a:r>
            <a:r>
              <a:rPr lang="ja-JP" altLang="en-US" sz="3200" dirty="0">
                <a:solidFill>
                  <a:schemeClr val="bg1"/>
                </a:solidFill>
                <a:latin typeface="UD デジタル 教科書体 N-B" panose="02020700000000000000" pitchFamily="17" charset="-128"/>
                <a:ea typeface="UD デジタル 教科書体 N-B" panose="02020700000000000000" pitchFamily="17" charset="-128"/>
                <a:cs typeface="メイリオ" panose="020B0604030504040204" pitchFamily="50" charset="-128"/>
              </a:rPr>
              <a:t>評価Ｂの例</a:t>
            </a:r>
            <a:r>
              <a:rPr lang="en-US" altLang="ja-JP" sz="3200" dirty="0">
                <a:solidFill>
                  <a:schemeClr val="bg1"/>
                </a:solidFill>
                <a:latin typeface="UD デジタル 教科書体 N-B" panose="02020700000000000000" pitchFamily="17" charset="-128"/>
                <a:ea typeface="UD デジタル 教科書体 N-B" panose="02020700000000000000" pitchFamily="17" charset="-128"/>
                <a:cs typeface="メイリオ" panose="020B0604030504040204" pitchFamily="50" charset="-128"/>
              </a:rPr>
              <a:t>】</a:t>
            </a:r>
          </a:p>
        </p:txBody>
      </p:sp>
      <p:sp>
        <p:nvSpPr>
          <p:cNvPr id="2" name="Rectangle 1">
            <a:extLst>
              <a:ext uri="{FF2B5EF4-FFF2-40B4-BE49-F238E27FC236}">
                <a16:creationId xmlns:a16="http://schemas.microsoft.com/office/drawing/2014/main" id="{A9A86C46-61A5-7BE9-64AE-731B04F0BA97}"/>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10" name="Rectangle 2">
            <a:extLst>
              <a:ext uri="{FF2B5EF4-FFF2-40B4-BE49-F238E27FC236}">
                <a16:creationId xmlns:a16="http://schemas.microsoft.com/office/drawing/2014/main" id="{22A6CA25-6E2D-238B-E6DF-D3A61A6270B7}"/>
              </a:ext>
            </a:extLst>
          </p:cNvPr>
          <p:cNvSpPr/>
          <p:nvPr/>
        </p:nvSpPr>
        <p:spPr>
          <a:xfrm>
            <a:off x="0" y="751591"/>
            <a:ext cx="12192000" cy="516984"/>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r>
              <a:rPr lang="ja-JP" altLang="en-US" sz="2800" b="1" dirty="0">
                <a:solidFill>
                  <a:schemeClr val="tx1"/>
                </a:solidFill>
                <a:latin typeface="メイリオ" panose="020B0604030504040204" pitchFamily="50" charset="-128"/>
                <a:ea typeface="メイリオ" panose="020B0604030504040204" pitchFamily="50" charset="-128"/>
              </a:rPr>
              <a:t>「主体的に学習に取り組む態度」の評価方法＜理科＞</a:t>
            </a:r>
            <a:endParaRPr lang="en-US" altLang="ja-JP" sz="2800" b="1" dirty="0">
              <a:solidFill>
                <a:schemeClr val="tx1"/>
              </a:solidFill>
              <a:latin typeface="メイリオ" panose="020B0604030504040204" pitchFamily="50" charset="-128"/>
              <a:ea typeface="メイリオ" panose="020B0604030504040204" pitchFamily="50" charset="-128"/>
            </a:endParaRPr>
          </a:p>
        </p:txBody>
      </p:sp>
      <p:sp>
        <p:nvSpPr>
          <p:cNvPr id="12" name="Rectangle 3">
            <a:extLst>
              <a:ext uri="{FF2B5EF4-FFF2-40B4-BE49-F238E27FC236}">
                <a16:creationId xmlns:a16="http://schemas.microsoft.com/office/drawing/2014/main" id="{6AEDC3E5-0B46-5C60-B4D8-AB2CE5DDBA3C}"/>
              </a:ext>
            </a:extLst>
          </p:cNvPr>
          <p:cNvSpPr/>
          <p:nvPr/>
        </p:nvSpPr>
        <p:spPr>
          <a:xfrm>
            <a:off x="0" y="1280166"/>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24585268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6A5D1B-EA89-C4BB-B443-A087E3BA4C60}"/>
            </a:ext>
          </a:extLst>
        </p:cNvPr>
        <p:cNvGrpSpPr/>
        <p:nvPr/>
      </p:nvGrpSpPr>
      <p:grpSpPr>
        <a:xfrm>
          <a:off x="0" y="0"/>
          <a:ext cx="0" cy="0"/>
          <a:chOff x="0" y="0"/>
          <a:chExt cx="0" cy="0"/>
        </a:xfrm>
      </p:grpSpPr>
      <p:pic>
        <p:nvPicPr>
          <p:cNvPr id="4" name="図 3">
            <a:extLst>
              <a:ext uri="{FF2B5EF4-FFF2-40B4-BE49-F238E27FC236}">
                <a16:creationId xmlns:a16="http://schemas.microsoft.com/office/drawing/2014/main" id="{4CF9CF0B-A93F-1EE2-154D-22CD850C963F}"/>
              </a:ext>
            </a:extLst>
          </p:cNvPr>
          <p:cNvPicPr>
            <a:picLocks noChangeAspect="1"/>
          </p:cNvPicPr>
          <p:nvPr/>
        </p:nvPicPr>
        <p:blipFill rotWithShape="1">
          <a:blip r:embed="rId3">
            <a:extLst>
              <a:ext uri="{28A0092B-C50C-407E-A947-70E740481C1C}">
                <a14:useLocalDpi xmlns:a14="http://schemas.microsoft.com/office/drawing/2010/main" val="0"/>
              </a:ext>
            </a:extLst>
          </a:blip>
          <a:srcRect l="13013" t="50448" r="71479" b="18376"/>
          <a:stretch>
            <a:fillRect/>
          </a:stretch>
        </p:blipFill>
        <p:spPr>
          <a:xfrm>
            <a:off x="3560650" y="1714028"/>
            <a:ext cx="1722549" cy="1785257"/>
          </a:xfrm>
          <a:prstGeom prst="rect">
            <a:avLst/>
          </a:prstGeom>
        </p:spPr>
      </p:pic>
      <p:sp>
        <p:nvSpPr>
          <p:cNvPr id="5" name="正方形/長方形 4">
            <a:extLst>
              <a:ext uri="{FF2B5EF4-FFF2-40B4-BE49-F238E27FC236}">
                <a16:creationId xmlns:a16="http://schemas.microsoft.com/office/drawing/2014/main" id="{18E44D88-5335-DC48-202C-F8F0BF06A282}"/>
              </a:ext>
            </a:extLst>
          </p:cNvPr>
          <p:cNvSpPr/>
          <p:nvPr/>
        </p:nvSpPr>
        <p:spPr>
          <a:xfrm>
            <a:off x="1121732" y="1444051"/>
            <a:ext cx="2802291" cy="653384"/>
          </a:xfrm>
          <a:prstGeom prst="rect">
            <a:avLst/>
          </a:prstGeom>
          <a:solidFill>
            <a:schemeClr val="bg1"/>
          </a:solidFill>
          <a:ln>
            <a:noFill/>
          </a:ln>
        </p:spPr>
        <p:txBody>
          <a:bodyPr wrap="square">
            <a:spAutoFit/>
          </a:bodyPr>
          <a:lstStyle/>
          <a:p>
            <a:pPr>
              <a:lnSpc>
                <a:spcPct val="120000"/>
              </a:lnSpc>
            </a:pPr>
            <a:r>
              <a:rPr lang="ja-JP" altLang="en-US" sz="3200" dirty="0">
                <a:latin typeface="UD デジタル 教科書体 N-B" panose="02020700000000000000" pitchFamily="17" charset="-128"/>
                <a:ea typeface="UD デジタル 教科書体 N-B" panose="02020700000000000000" pitchFamily="17" charset="-128"/>
                <a:cs typeface="メイリオ" panose="020B0604030504040204" pitchFamily="50" charset="-128"/>
              </a:rPr>
              <a:t>単元の学習前</a:t>
            </a:r>
            <a:endParaRPr lang="en-US" altLang="ja-JP" sz="3200" dirty="0">
              <a:latin typeface="UD デジタル 教科書体 N-B" panose="02020700000000000000" pitchFamily="17" charset="-128"/>
              <a:ea typeface="UD デジタル 教科書体 N-B" panose="02020700000000000000" pitchFamily="17" charset="-128"/>
              <a:cs typeface="メイリオ" panose="020B0604030504040204" pitchFamily="50" charset="-128"/>
            </a:endParaRPr>
          </a:p>
        </p:txBody>
      </p:sp>
      <p:pic>
        <p:nvPicPr>
          <p:cNvPr id="3" name="図 2">
            <a:extLst>
              <a:ext uri="{FF2B5EF4-FFF2-40B4-BE49-F238E27FC236}">
                <a16:creationId xmlns:a16="http://schemas.microsoft.com/office/drawing/2014/main" id="{F1389793-FA70-A7CB-957F-D7D3A2C92B86}"/>
              </a:ext>
            </a:extLst>
          </p:cNvPr>
          <p:cNvPicPr>
            <a:picLocks noChangeAspect="1"/>
          </p:cNvPicPr>
          <p:nvPr/>
        </p:nvPicPr>
        <p:blipFill rotWithShape="1">
          <a:blip r:embed="rId3">
            <a:extLst>
              <a:ext uri="{28A0092B-C50C-407E-A947-70E740481C1C}">
                <a14:useLocalDpi xmlns:a14="http://schemas.microsoft.com/office/drawing/2010/main" val="0"/>
              </a:ext>
            </a:extLst>
          </a:blip>
          <a:srcRect l="46400" t="14584" b="3929"/>
          <a:stretch/>
        </p:blipFill>
        <p:spPr>
          <a:xfrm>
            <a:off x="6711990" y="2390544"/>
            <a:ext cx="5206867" cy="4081142"/>
          </a:xfrm>
          <a:prstGeom prst="rect">
            <a:avLst/>
          </a:prstGeom>
        </p:spPr>
      </p:pic>
      <p:sp>
        <p:nvSpPr>
          <p:cNvPr id="8" name="正方形/長方形 7">
            <a:extLst>
              <a:ext uri="{FF2B5EF4-FFF2-40B4-BE49-F238E27FC236}">
                <a16:creationId xmlns:a16="http://schemas.microsoft.com/office/drawing/2014/main" id="{8A83E737-B165-CFBF-CD8F-C4FCF0E3A78A}"/>
              </a:ext>
            </a:extLst>
          </p:cNvPr>
          <p:cNvSpPr/>
          <p:nvPr/>
        </p:nvSpPr>
        <p:spPr>
          <a:xfrm>
            <a:off x="7582697" y="1465702"/>
            <a:ext cx="2936547" cy="653384"/>
          </a:xfrm>
          <a:prstGeom prst="rect">
            <a:avLst/>
          </a:prstGeom>
          <a:solidFill>
            <a:schemeClr val="bg1"/>
          </a:solidFill>
          <a:ln>
            <a:noFill/>
          </a:ln>
        </p:spPr>
        <p:txBody>
          <a:bodyPr wrap="square">
            <a:spAutoFit/>
          </a:bodyPr>
          <a:lstStyle/>
          <a:p>
            <a:pPr>
              <a:lnSpc>
                <a:spcPct val="120000"/>
              </a:lnSpc>
            </a:pPr>
            <a:r>
              <a:rPr lang="ja-JP" altLang="en-US" sz="3200" dirty="0">
                <a:latin typeface="UD デジタル 教科書体 N-B" panose="02020700000000000000" pitchFamily="17" charset="-128"/>
                <a:ea typeface="UD デジタル 教科書体 N-B" panose="02020700000000000000" pitchFamily="17" charset="-128"/>
                <a:cs typeface="メイリオ" panose="020B0604030504040204" pitchFamily="50" charset="-128"/>
              </a:rPr>
              <a:t>単元の学習後</a:t>
            </a:r>
            <a:endParaRPr lang="en-US" altLang="ja-JP" sz="3200" dirty="0">
              <a:latin typeface="UD デジタル 教科書体 N-B" panose="02020700000000000000" pitchFamily="17" charset="-128"/>
              <a:ea typeface="UD デジタル 教科書体 N-B" panose="02020700000000000000" pitchFamily="17" charset="-128"/>
              <a:cs typeface="メイリオ" panose="020B0604030504040204" pitchFamily="50" charset="-128"/>
            </a:endParaRPr>
          </a:p>
        </p:txBody>
      </p:sp>
      <p:sp>
        <p:nvSpPr>
          <p:cNvPr id="10" name="右矢印 2">
            <a:extLst>
              <a:ext uri="{FF2B5EF4-FFF2-40B4-BE49-F238E27FC236}">
                <a16:creationId xmlns:a16="http://schemas.microsoft.com/office/drawing/2014/main" id="{EF09E33B-9383-1DD9-12E6-9B7E477FE559}"/>
              </a:ext>
            </a:extLst>
          </p:cNvPr>
          <p:cNvSpPr/>
          <p:nvPr/>
        </p:nvSpPr>
        <p:spPr>
          <a:xfrm>
            <a:off x="5591195" y="2606657"/>
            <a:ext cx="986971" cy="696686"/>
          </a:xfrm>
          <a:prstGeom prst="rightArrow">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0BCEFEFF-607A-4483-54DD-D91BDF292884}"/>
              </a:ext>
            </a:extLst>
          </p:cNvPr>
          <p:cNvSpPr/>
          <p:nvPr/>
        </p:nvSpPr>
        <p:spPr>
          <a:xfrm>
            <a:off x="273143" y="3554657"/>
            <a:ext cx="5822856" cy="3172343"/>
          </a:xfrm>
          <a:prstGeom prst="rect">
            <a:avLst/>
          </a:prstGeom>
          <a:solidFill>
            <a:schemeClr val="bg1"/>
          </a:solidFill>
          <a:ln>
            <a:solidFill>
              <a:schemeClr val="tx1"/>
            </a:solidFill>
          </a:ln>
        </p:spPr>
        <p:txBody>
          <a:bodyPr wrap="square">
            <a:spAutoFit/>
          </a:bodyPr>
          <a:lstStyle/>
          <a:p>
            <a:pPr>
              <a:lnSpc>
                <a:spcPct val="120000"/>
              </a:lnSpc>
            </a:pPr>
            <a:r>
              <a:rPr lang="ja-JP" altLang="en-US" sz="2400" dirty="0">
                <a:latin typeface="UD デジタル 教科書体 N-B" panose="02020700000000000000" pitchFamily="17" charset="-128"/>
                <a:ea typeface="UD デジタル 教科書体 N-B" panose="02020700000000000000" pitchFamily="17" charset="-128"/>
                <a:cs typeface="メイリオ" panose="020B0604030504040204" pitchFamily="50" charset="-128"/>
              </a:rPr>
              <a:t>　最初は単に「遺伝は親から子へ伝わるもの」としか考えていなかったが、これまでの授業で、一人の人間や</a:t>
            </a:r>
            <a:endParaRPr lang="en-US" altLang="ja-JP" sz="2400" dirty="0">
              <a:latin typeface="UD デジタル 教科書体 N-B" panose="02020700000000000000" pitchFamily="17" charset="-128"/>
              <a:ea typeface="UD デジタル 教科書体 N-B" panose="02020700000000000000" pitchFamily="17" charset="-128"/>
              <a:cs typeface="メイリオ" panose="020B0604030504040204" pitchFamily="50" charset="-128"/>
            </a:endParaRPr>
          </a:p>
          <a:p>
            <a:pPr>
              <a:lnSpc>
                <a:spcPct val="120000"/>
              </a:lnSpc>
            </a:pPr>
            <a:r>
              <a:rPr lang="ja-JP" altLang="en-US" sz="2400" dirty="0">
                <a:latin typeface="UD デジタル 教科書体 N-B" panose="02020700000000000000" pitchFamily="17" charset="-128"/>
                <a:ea typeface="UD デジタル 教科書体 N-B" panose="02020700000000000000" pitchFamily="17" charset="-128"/>
                <a:cs typeface="メイリオ" panose="020B0604030504040204" pitchFamily="50" charset="-128"/>
              </a:rPr>
              <a:t>生物が生まれるにもたくさんの組合せがあること、その仕組みや研究についてわかるようになった。</a:t>
            </a:r>
            <a:r>
              <a:rPr lang="en-US" altLang="ja-JP" sz="2400" dirty="0" err="1">
                <a:latin typeface="UD デジタル 教科書体 N-B" panose="02020700000000000000" pitchFamily="17" charset="-128"/>
                <a:ea typeface="UD デジタル 教科書体 N-B" panose="02020700000000000000" pitchFamily="17" charset="-128"/>
                <a:cs typeface="メイリオ" panose="020B0604030504040204" pitchFamily="50" charset="-128"/>
              </a:rPr>
              <a:t>iPS</a:t>
            </a:r>
            <a:r>
              <a:rPr lang="ja-JP" altLang="en-US" sz="2400" dirty="0">
                <a:latin typeface="UD デジタル 教科書体 N-B" panose="02020700000000000000" pitchFamily="17" charset="-128"/>
                <a:ea typeface="UD デジタル 教科書体 N-B" panose="02020700000000000000" pitchFamily="17" charset="-128"/>
                <a:cs typeface="メイリオ" panose="020B0604030504040204" pitchFamily="50" charset="-128"/>
              </a:rPr>
              <a:t>細胞などの最新の研究についても調べられてよかった。</a:t>
            </a:r>
            <a:endParaRPr lang="en-US" altLang="ja-JP" sz="2400" dirty="0">
              <a:latin typeface="UD デジタル 教科書体 N-B" panose="02020700000000000000" pitchFamily="17" charset="-128"/>
              <a:ea typeface="UD デジタル 教科書体 N-B" panose="02020700000000000000" pitchFamily="17"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0489FF00-BDAE-D295-6795-49A3B10BAAE9}"/>
              </a:ext>
            </a:extLst>
          </p:cNvPr>
          <p:cNvSpPr/>
          <p:nvPr/>
        </p:nvSpPr>
        <p:spPr>
          <a:xfrm>
            <a:off x="40336" y="2390544"/>
            <a:ext cx="3051208" cy="653384"/>
          </a:xfrm>
          <a:prstGeom prst="rect">
            <a:avLst/>
          </a:prstGeom>
          <a:solidFill>
            <a:srgbClr val="0070C0"/>
          </a:solidFill>
          <a:ln>
            <a:solidFill>
              <a:schemeClr val="tx1"/>
            </a:solidFill>
          </a:ln>
        </p:spPr>
        <p:txBody>
          <a:bodyPr wrap="square">
            <a:spAutoFit/>
          </a:bodyPr>
          <a:lstStyle/>
          <a:p>
            <a:pPr>
              <a:lnSpc>
                <a:spcPct val="120000"/>
              </a:lnSpc>
            </a:pPr>
            <a:r>
              <a:rPr lang="en-US" altLang="ja-JP" sz="3200" dirty="0">
                <a:solidFill>
                  <a:schemeClr val="bg1"/>
                </a:solidFill>
                <a:latin typeface="UD デジタル 教科書体 N-B" panose="02020700000000000000" pitchFamily="17" charset="-128"/>
                <a:ea typeface="UD デジタル 教科書体 N-B" panose="02020700000000000000" pitchFamily="17" charset="-128"/>
                <a:cs typeface="メイリオ" panose="020B0604030504040204" pitchFamily="50" charset="-128"/>
              </a:rPr>
              <a:t>【</a:t>
            </a:r>
            <a:r>
              <a:rPr lang="ja-JP" altLang="en-US" sz="3200" dirty="0">
                <a:solidFill>
                  <a:schemeClr val="bg1"/>
                </a:solidFill>
                <a:latin typeface="UD デジタル 教科書体 N-B" panose="02020700000000000000" pitchFamily="17" charset="-128"/>
                <a:ea typeface="UD デジタル 教科書体 N-B" panose="02020700000000000000" pitchFamily="17" charset="-128"/>
                <a:cs typeface="メイリオ" panose="020B0604030504040204" pitchFamily="50" charset="-128"/>
              </a:rPr>
              <a:t>評価Ａの例</a:t>
            </a:r>
            <a:r>
              <a:rPr lang="en-US" altLang="ja-JP" sz="3200" dirty="0">
                <a:solidFill>
                  <a:schemeClr val="bg1"/>
                </a:solidFill>
                <a:latin typeface="UD デジタル 教科書体 N-B" panose="02020700000000000000" pitchFamily="17" charset="-128"/>
                <a:ea typeface="UD デジタル 教科書体 N-B" panose="02020700000000000000" pitchFamily="17" charset="-128"/>
                <a:cs typeface="メイリオ" panose="020B0604030504040204" pitchFamily="50" charset="-128"/>
              </a:rPr>
              <a:t>】</a:t>
            </a:r>
          </a:p>
        </p:txBody>
      </p:sp>
      <p:sp>
        <p:nvSpPr>
          <p:cNvPr id="2" name="Rectangle 1">
            <a:extLst>
              <a:ext uri="{FF2B5EF4-FFF2-40B4-BE49-F238E27FC236}">
                <a16:creationId xmlns:a16="http://schemas.microsoft.com/office/drawing/2014/main" id="{D6A8BD8F-2346-E482-F945-A64487FB3310}"/>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7" name="Rectangle 2">
            <a:extLst>
              <a:ext uri="{FF2B5EF4-FFF2-40B4-BE49-F238E27FC236}">
                <a16:creationId xmlns:a16="http://schemas.microsoft.com/office/drawing/2014/main" id="{F0605564-3BA9-E5B2-EAF7-959BE9473473}"/>
              </a:ext>
            </a:extLst>
          </p:cNvPr>
          <p:cNvSpPr/>
          <p:nvPr/>
        </p:nvSpPr>
        <p:spPr>
          <a:xfrm>
            <a:off x="0" y="751591"/>
            <a:ext cx="12192000" cy="516984"/>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r>
              <a:rPr lang="ja-JP" altLang="en-US" sz="2800" b="1" dirty="0">
                <a:solidFill>
                  <a:schemeClr val="tx1"/>
                </a:solidFill>
                <a:latin typeface="メイリオ" panose="020B0604030504040204" pitchFamily="50" charset="-128"/>
                <a:ea typeface="メイリオ" panose="020B0604030504040204" pitchFamily="50" charset="-128"/>
              </a:rPr>
              <a:t>「主体的に学習に取り組む態度」の評価方法＜理科＞</a:t>
            </a:r>
            <a:endParaRPr lang="en-US" altLang="ja-JP" sz="2800" b="1" dirty="0">
              <a:solidFill>
                <a:schemeClr val="tx1"/>
              </a:solidFill>
              <a:latin typeface="メイリオ" panose="020B0604030504040204" pitchFamily="50" charset="-128"/>
              <a:ea typeface="メイリオ" panose="020B0604030504040204" pitchFamily="50" charset="-128"/>
            </a:endParaRPr>
          </a:p>
        </p:txBody>
      </p:sp>
      <p:sp>
        <p:nvSpPr>
          <p:cNvPr id="9" name="Rectangle 3">
            <a:extLst>
              <a:ext uri="{FF2B5EF4-FFF2-40B4-BE49-F238E27FC236}">
                <a16:creationId xmlns:a16="http://schemas.microsoft.com/office/drawing/2014/main" id="{FE6EFEDF-D36B-D4B3-2458-AE9B465CC76C}"/>
              </a:ext>
            </a:extLst>
          </p:cNvPr>
          <p:cNvSpPr/>
          <p:nvPr/>
        </p:nvSpPr>
        <p:spPr>
          <a:xfrm>
            <a:off x="0" y="1280166"/>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4595165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52A382-77A5-DA7F-8B38-FEF2B88D98A4}"/>
            </a:ext>
          </a:extLst>
        </p:cNvPr>
        <p:cNvGrpSpPr/>
        <p:nvPr/>
      </p:nvGrpSpPr>
      <p:grpSpPr>
        <a:xfrm>
          <a:off x="0" y="0"/>
          <a:ext cx="0" cy="0"/>
          <a:chOff x="0" y="0"/>
          <a:chExt cx="0" cy="0"/>
        </a:xfrm>
      </p:grpSpPr>
      <p:pic>
        <p:nvPicPr>
          <p:cNvPr id="7" name="図 6">
            <a:extLst>
              <a:ext uri="{FF2B5EF4-FFF2-40B4-BE49-F238E27FC236}">
                <a16:creationId xmlns:a16="http://schemas.microsoft.com/office/drawing/2014/main" id="{9CE08062-7012-DB92-5FD6-1231210FC60B}"/>
              </a:ext>
            </a:extLst>
          </p:cNvPr>
          <p:cNvPicPr>
            <a:picLocks noChangeAspect="1"/>
          </p:cNvPicPr>
          <p:nvPr/>
        </p:nvPicPr>
        <p:blipFill rotWithShape="1">
          <a:blip r:embed="rId3">
            <a:extLst>
              <a:ext uri="{28A0092B-C50C-407E-A947-70E740481C1C}">
                <a14:useLocalDpi xmlns:a14="http://schemas.microsoft.com/office/drawing/2010/main" val="0"/>
              </a:ext>
            </a:extLst>
          </a:blip>
          <a:srcRect l="2439" t="8145" r="10232" b="34685"/>
          <a:stretch/>
        </p:blipFill>
        <p:spPr>
          <a:xfrm>
            <a:off x="767644" y="2578376"/>
            <a:ext cx="10656710" cy="3425372"/>
          </a:xfrm>
          <a:prstGeom prst="rect">
            <a:avLst/>
          </a:prstGeom>
        </p:spPr>
      </p:pic>
      <p:sp>
        <p:nvSpPr>
          <p:cNvPr id="9" name="正方形/長方形 8">
            <a:extLst>
              <a:ext uri="{FF2B5EF4-FFF2-40B4-BE49-F238E27FC236}">
                <a16:creationId xmlns:a16="http://schemas.microsoft.com/office/drawing/2014/main" id="{1B023A68-3299-DE7F-C3E4-421E0A78CC87}"/>
              </a:ext>
            </a:extLst>
          </p:cNvPr>
          <p:cNvSpPr/>
          <p:nvPr/>
        </p:nvSpPr>
        <p:spPr>
          <a:xfrm>
            <a:off x="767644" y="6003748"/>
            <a:ext cx="7581118" cy="653384"/>
          </a:xfrm>
          <a:prstGeom prst="rect">
            <a:avLst/>
          </a:prstGeom>
          <a:solidFill>
            <a:schemeClr val="bg1"/>
          </a:solidFill>
          <a:ln>
            <a:solidFill>
              <a:schemeClr val="tx1"/>
            </a:solidFill>
          </a:ln>
        </p:spPr>
        <p:txBody>
          <a:bodyPr wrap="square">
            <a:spAutoFit/>
          </a:bodyPr>
          <a:lstStyle/>
          <a:p>
            <a:pPr>
              <a:lnSpc>
                <a:spcPct val="120000"/>
              </a:lnSpc>
            </a:pPr>
            <a:r>
              <a:rPr lang="ja-JP" altLang="en-US" sz="3200" dirty="0">
                <a:latin typeface="UD デジタル 教科書体 N-B" panose="02020700000000000000" pitchFamily="17" charset="-128"/>
                <a:ea typeface="UD デジタル 教科書体 N-B" panose="02020700000000000000" pitchFamily="17" charset="-128"/>
                <a:cs typeface="メイリオ" panose="020B0604030504040204" pitchFamily="50" charset="-128"/>
              </a:rPr>
              <a:t>難しかったので、よく分からなかった。</a:t>
            </a:r>
            <a:endParaRPr lang="en-US" altLang="ja-JP" sz="3200" dirty="0">
              <a:latin typeface="UD デジタル 教科書体 N-B" panose="02020700000000000000" pitchFamily="17" charset="-128"/>
              <a:ea typeface="UD デジタル 教科書体 N-B" panose="02020700000000000000" pitchFamily="17" charset="-128"/>
              <a:cs typeface="メイリオ" panose="020B0604030504040204" pitchFamily="50" charset="-128"/>
            </a:endParaRPr>
          </a:p>
        </p:txBody>
      </p:sp>
      <p:sp>
        <p:nvSpPr>
          <p:cNvPr id="12" name="右矢印 2">
            <a:extLst>
              <a:ext uri="{FF2B5EF4-FFF2-40B4-BE49-F238E27FC236}">
                <a16:creationId xmlns:a16="http://schemas.microsoft.com/office/drawing/2014/main" id="{9B1FF985-FD11-772B-8BBF-2B1F05B12AC2}"/>
              </a:ext>
            </a:extLst>
          </p:cNvPr>
          <p:cNvSpPr/>
          <p:nvPr/>
        </p:nvSpPr>
        <p:spPr>
          <a:xfrm>
            <a:off x="4746171" y="3429000"/>
            <a:ext cx="976804" cy="991632"/>
          </a:xfrm>
          <a:prstGeom prst="rightArrow">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正方形/長方形 2">
            <a:extLst>
              <a:ext uri="{FF2B5EF4-FFF2-40B4-BE49-F238E27FC236}">
                <a16:creationId xmlns:a16="http://schemas.microsoft.com/office/drawing/2014/main" id="{A3CDB52E-1E75-9EDF-72F1-6A7E3BE4CAA2}"/>
              </a:ext>
            </a:extLst>
          </p:cNvPr>
          <p:cNvSpPr/>
          <p:nvPr/>
        </p:nvSpPr>
        <p:spPr>
          <a:xfrm>
            <a:off x="196210" y="1751610"/>
            <a:ext cx="3036848" cy="653384"/>
          </a:xfrm>
          <a:prstGeom prst="rect">
            <a:avLst/>
          </a:prstGeom>
          <a:solidFill>
            <a:srgbClr val="0070C0"/>
          </a:solidFill>
          <a:ln>
            <a:solidFill>
              <a:schemeClr val="tx1"/>
            </a:solidFill>
          </a:ln>
        </p:spPr>
        <p:txBody>
          <a:bodyPr wrap="square">
            <a:spAutoFit/>
          </a:bodyPr>
          <a:lstStyle/>
          <a:p>
            <a:pPr>
              <a:lnSpc>
                <a:spcPct val="120000"/>
              </a:lnSpc>
            </a:pPr>
            <a:r>
              <a:rPr lang="en-US" altLang="ja-JP" sz="3200" dirty="0">
                <a:solidFill>
                  <a:schemeClr val="bg1"/>
                </a:solidFill>
                <a:latin typeface="UD デジタル 教科書体 N-B" panose="02020700000000000000" pitchFamily="17" charset="-128"/>
                <a:ea typeface="UD デジタル 教科書体 N-B" panose="02020700000000000000" pitchFamily="17" charset="-128"/>
                <a:cs typeface="メイリオ" panose="020B0604030504040204" pitchFamily="50" charset="-128"/>
              </a:rPr>
              <a:t>【</a:t>
            </a:r>
            <a:r>
              <a:rPr lang="ja-JP" altLang="en-US" sz="3200" dirty="0">
                <a:solidFill>
                  <a:schemeClr val="bg1"/>
                </a:solidFill>
                <a:latin typeface="UD デジタル 教科書体 N-B" panose="02020700000000000000" pitchFamily="17" charset="-128"/>
                <a:ea typeface="UD デジタル 教科書体 N-B" panose="02020700000000000000" pitchFamily="17" charset="-128"/>
                <a:cs typeface="メイリオ" panose="020B0604030504040204" pitchFamily="50" charset="-128"/>
              </a:rPr>
              <a:t>評価Ｃの例</a:t>
            </a:r>
            <a:r>
              <a:rPr lang="en-US" altLang="ja-JP" sz="3200" dirty="0">
                <a:solidFill>
                  <a:schemeClr val="bg1"/>
                </a:solidFill>
                <a:latin typeface="UD デジタル 教科書体 N-B" panose="02020700000000000000" pitchFamily="17" charset="-128"/>
                <a:ea typeface="UD デジタル 教科書体 N-B" panose="02020700000000000000" pitchFamily="17" charset="-128"/>
                <a:cs typeface="メイリオ" panose="020B0604030504040204" pitchFamily="50" charset="-128"/>
              </a:rPr>
              <a:t>】</a:t>
            </a:r>
          </a:p>
        </p:txBody>
      </p:sp>
      <p:sp>
        <p:nvSpPr>
          <p:cNvPr id="4" name="正方形/長方形 3">
            <a:extLst>
              <a:ext uri="{FF2B5EF4-FFF2-40B4-BE49-F238E27FC236}">
                <a16:creationId xmlns:a16="http://schemas.microsoft.com/office/drawing/2014/main" id="{FC4CF87A-D079-E982-F4E4-C567F80BD5F1}"/>
              </a:ext>
            </a:extLst>
          </p:cNvPr>
          <p:cNvSpPr/>
          <p:nvPr/>
        </p:nvSpPr>
        <p:spPr>
          <a:xfrm>
            <a:off x="767644" y="2560756"/>
            <a:ext cx="2077644" cy="513154"/>
          </a:xfrm>
          <a:prstGeom prst="rect">
            <a:avLst/>
          </a:prstGeom>
          <a:solidFill>
            <a:schemeClr val="bg1"/>
          </a:solidFill>
          <a:ln>
            <a:noFill/>
          </a:ln>
        </p:spPr>
        <p:txBody>
          <a:bodyPr wrap="square">
            <a:spAutoFit/>
          </a:bodyPr>
          <a:lstStyle/>
          <a:p>
            <a:pPr>
              <a:lnSpc>
                <a:spcPct val="120000"/>
              </a:lnSpc>
            </a:pPr>
            <a:r>
              <a:rPr lang="ja-JP" altLang="en-US" sz="2400" dirty="0">
                <a:latin typeface="UD デジタル 教科書体 N-B" panose="02020700000000000000" pitchFamily="17" charset="-128"/>
                <a:ea typeface="UD デジタル 教科書体 N-B" panose="02020700000000000000" pitchFamily="17" charset="-128"/>
                <a:cs typeface="メイリオ" panose="020B0604030504040204" pitchFamily="50" charset="-128"/>
              </a:rPr>
              <a:t>単元の学習前</a:t>
            </a:r>
            <a:endParaRPr lang="en-US" altLang="ja-JP" sz="2400" dirty="0">
              <a:latin typeface="UD デジタル 教科書体 N-B" panose="02020700000000000000" pitchFamily="17" charset="-128"/>
              <a:ea typeface="UD デジタル 教科書体 N-B" panose="02020700000000000000" pitchFamily="17" charset="-128"/>
              <a:cs typeface="メイリオ" panose="020B0604030504040204" pitchFamily="50" charset="-128"/>
            </a:endParaRPr>
          </a:p>
        </p:txBody>
      </p:sp>
      <p:sp>
        <p:nvSpPr>
          <p:cNvPr id="5" name="正方形/長方形 4">
            <a:extLst>
              <a:ext uri="{FF2B5EF4-FFF2-40B4-BE49-F238E27FC236}">
                <a16:creationId xmlns:a16="http://schemas.microsoft.com/office/drawing/2014/main" id="{CB2682F2-7D61-A1CE-5058-E4010649855F}"/>
              </a:ext>
            </a:extLst>
          </p:cNvPr>
          <p:cNvSpPr/>
          <p:nvPr/>
        </p:nvSpPr>
        <p:spPr>
          <a:xfrm>
            <a:off x="5202840" y="2560756"/>
            <a:ext cx="2177183" cy="513154"/>
          </a:xfrm>
          <a:prstGeom prst="rect">
            <a:avLst/>
          </a:prstGeom>
          <a:solidFill>
            <a:schemeClr val="bg1"/>
          </a:solidFill>
          <a:ln>
            <a:noFill/>
          </a:ln>
        </p:spPr>
        <p:txBody>
          <a:bodyPr wrap="square">
            <a:spAutoFit/>
          </a:bodyPr>
          <a:lstStyle/>
          <a:p>
            <a:pPr>
              <a:lnSpc>
                <a:spcPct val="120000"/>
              </a:lnSpc>
            </a:pPr>
            <a:r>
              <a:rPr lang="ja-JP" altLang="en-US" sz="2400" dirty="0">
                <a:latin typeface="UD デジタル 教科書体 N-B" panose="02020700000000000000" pitchFamily="17" charset="-128"/>
                <a:ea typeface="UD デジタル 教科書体 N-B" panose="02020700000000000000" pitchFamily="17" charset="-128"/>
                <a:cs typeface="メイリオ" panose="020B0604030504040204" pitchFamily="50" charset="-128"/>
              </a:rPr>
              <a:t>単元の学習後</a:t>
            </a:r>
            <a:endParaRPr lang="en-US" altLang="ja-JP" sz="2400" dirty="0">
              <a:latin typeface="UD デジタル 教科書体 N-B" panose="02020700000000000000" pitchFamily="17" charset="-128"/>
              <a:ea typeface="UD デジタル 教科書体 N-B" panose="02020700000000000000" pitchFamily="17" charset="-128"/>
              <a:cs typeface="メイリオ" panose="020B0604030504040204" pitchFamily="50" charset="-128"/>
            </a:endParaRPr>
          </a:p>
        </p:txBody>
      </p:sp>
      <p:sp>
        <p:nvSpPr>
          <p:cNvPr id="2" name="Rectangle 1">
            <a:extLst>
              <a:ext uri="{FF2B5EF4-FFF2-40B4-BE49-F238E27FC236}">
                <a16:creationId xmlns:a16="http://schemas.microsoft.com/office/drawing/2014/main" id="{98403450-AD7F-41F7-C35C-030351D810EF}"/>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8" name="Rectangle 2">
            <a:extLst>
              <a:ext uri="{FF2B5EF4-FFF2-40B4-BE49-F238E27FC236}">
                <a16:creationId xmlns:a16="http://schemas.microsoft.com/office/drawing/2014/main" id="{B26BC6E5-1A03-CF5E-D1E9-4E5FED8D4A14}"/>
              </a:ext>
            </a:extLst>
          </p:cNvPr>
          <p:cNvSpPr/>
          <p:nvPr/>
        </p:nvSpPr>
        <p:spPr>
          <a:xfrm>
            <a:off x="0" y="751591"/>
            <a:ext cx="12192000" cy="516984"/>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r>
              <a:rPr lang="ja-JP" altLang="en-US" sz="2800" b="1" dirty="0">
                <a:solidFill>
                  <a:schemeClr val="tx1"/>
                </a:solidFill>
                <a:latin typeface="メイリオ" panose="020B0604030504040204" pitchFamily="50" charset="-128"/>
                <a:ea typeface="メイリオ" panose="020B0604030504040204" pitchFamily="50" charset="-128"/>
              </a:rPr>
              <a:t>「主体的に学習に取り組む態度」の評価方法＜理科＞</a:t>
            </a:r>
            <a:endParaRPr lang="en-US" altLang="ja-JP" sz="2800" b="1" dirty="0">
              <a:solidFill>
                <a:schemeClr val="tx1"/>
              </a:solidFill>
              <a:latin typeface="メイリオ" panose="020B0604030504040204" pitchFamily="50" charset="-128"/>
              <a:ea typeface="メイリオ" panose="020B0604030504040204" pitchFamily="50" charset="-128"/>
            </a:endParaRPr>
          </a:p>
        </p:txBody>
      </p:sp>
      <p:sp>
        <p:nvSpPr>
          <p:cNvPr id="10" name="Rectangle 3">
            <a:extLst>
              <a:ext uri="{FF2B5EF4-FFF2-40B4-BE49-F238E27FC236}">
                <a16:creationId xmlns:a16="http://schemas.microsoft.com/office/drawing/2014/main" id="{65EE1C5B-E004-F9A5-58DB-9C7B6A92E1C3}"/>
              </a:ext>
            </a:extLst>
          </p:cNvPr>
          <p:cNvSpPr/>
          <p:nvPr/>
        </p:nvSpPr>
        <p:spPr>
          <a:xfrm>
            <a:off x="0" y="1280166"/>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4993090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EB87BB-A192-74F9-6E46-A162379544B8}"/>
            </a:ext>
          </a:extLst>
        </p:cNvPr>
        <p:cNvGrpSpPr/>
        <p:nvPr/>
      </p:nvGrpSpPr>
      <p:grpSpPr>
        <a:xfrm>
          <a:off x="0" y="0"/>
          <a:ext cx="0" cy="0"/>
          <a:chOff x="0" y="0"/>
          <a:chExt cx="0" cy="0"/>
        </a:xfrm>
      </p:grpSpPr>
      <p:graphicFrame>
        <p:nvGraphicFramePr>
          <p:cNvPr id="3" name="表 2">
            <a:extLst>
              <a:ext uri="{FF2B5EF4-FFF2-40B4-BE49-F238E27FC236}">
                <a16:creationId xmlns:a16="http://schemas.microsoft.com/office/drawing/2014/main" id="{B744B89F-0E5D-3F34-08B8-7AD0CCE3162A}"/>
              </a:ext>
            </a:extLst>
          </p:cNvPr>
          <p:cNvGraphicFramePr>
            <a:graphicFrameLocks noGrp="1"/>
          </p:cNvGraphicFramePr>
          <p:nvPr/>
        </p:nvGraphicFramePr>
        <p:xfrm>
          <a:off x="522514" y="1678430"/>
          <a:ext cx="11146972" cy="4197716"/>
        </p:xfrm>
        <a:graphic>
          <a:graphicData uri="http://schemas.openxmlformats.org/drawingml/2006/table">
            <a:tbl>
              <a:tblPr firstRow="1" bandRow="1">
                <a:tableStyleId>{5940675A-B579-460E-94D1-54222C63F5DA}</a:tableStyleId>
              </a:tblPr>
              <a:tblGrid>
                <a:gridCol w="2249715">
                  <a:extLst>
                    <a:ext uri="{9D8B030D-6E8A-4147-A177-3AD203B41FA5}">
                      <a16:colId xmlns:a16="http://schemas.microsoft.com/office/drawing/2014/main" val="465790210"/>
                    </a:ext>
                  </a:extLst>
                </a:gridCol>
                <a:gridCol w="8897257">
                  <a:extLst>
                    <a:ext uri="{9D8B030D-6E8A-4147-A177-3AD203B41FA5}">
                      <a16:colId xmlns:a16="http://schemas.microsoft.com/office/drawing/2014/main" val="550537347"/>
                    </a:ext>
                  </a:extLst>
                </a:gridCol>
              </a:tblGrid>
              <a:tr h="1074059">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2800" dirty="0">
                          <a:latin typeface="UD デジタル 教科書体 N-B" panose="02020700000000000000" pitchFamily="17" charset="-128"/>
                          <a:ea typeface="UD デジタル 教科書体 N-B" panose="02020700000000000000" pitchFamily="17" charset="-128"/>
                          <a:cs typeface="メイリオ" panose="020B0604030504040204" pitchFamily="50" charset="-128"/>
                        </a:rPr>
                        <a:t>イメージマップの読み取りの視点</a:t>
                      </a:r>
                      <a:endParaRPr lang="en-US" altLang="ja-JP" sz="2800" dirty="0">
                        <a:latin typeface="UD デジタル 教科書体 N-B" panose="02020700000000000000" pitchFamily="17" charset="-128"/>
                        <a:ea typeface="UD デジタル 教科書体 N-B" panose="02020700000000000000" pitchFamily="17" charset="-128"/>
                        <a:cs typeface="メイリオ" panose="020B0604030504040204" pitchFamily="50" charset="-128"/>
                      </a:endParaRPr>
                    </a:p>
                  </a:txBody>
                  <a:tcPr anchor="ctr"/>
                </a:tc>
                <a:tc hMerge="1">
                  <a:txBody>
                    <a:bodyPr/>
                    <a:lstStyle/>
                    <a:p>
                      <a:endParaRPr kumimoji="1" lang="ja-JP" altLang="en-US" dirty="0"/>
                    </a:p>
                  </a:txBody>
                  <a:tcPr/>
                </a:tc>
                <a:extLst>
                  <a:ext uri="{0D108BD9-81ED-4DB2-BD59-A6C34878D82A}">
                    <a16:rowId xmlns:a16="http://schemas.microsoft.com/office/drawing/2014/main" val="3717665930"/>
                  </a:ext>
                </a:extLst>
              </a:tr>
              <a:tr h="3123657">
                <a:tc>
                  <a:txBody>
                    <a:bodyPr/>
                    <a:lstStyle/>
                    <a:p>
                      <a:r>
                        <a:rPr kumimoji="1" lang="ja-JP" altLang="en-US" sz="2800" dirty="0">
                          <a:latin typeface="UD デジタル 教科書体 N-B" panose="02020700000000000000" pitchFamily="17" charset="-128"/>
                          <a:ea typeface="UD デジタル 教科書体 N-B" panose="02020700000000000000" pitchFamily="17" charset="-128"/>
                        </a:rPr>
                        <a:t>用語の量</a:t>
                      </a:r>
                      <a:endParaRPr kumimoji="1" lang="en-US" altLang="ja-JP" sz="2800" dirty="0">
                        <a:latin typeface="UD デジタル 教科書体 N-B" panose="02020700000000000000" pitchFamily="17" charset="-128"/>
                        <a:ea typeface="UD デジタル 教科書体 N-B" panose="02020700000000000000" pitchFamily="17" charset="-128"/>
                      </a:endParaRPr>
                    </a:p>
                    <a:p>
                      <a:endParaRPr kumimoji="1" lang="en-US" altLang="ja-JP" sz="2800" dirty="0">
                        <a:latin typeface="UD デジタル 教科書体 N-B" panose="02020700000000000000" pitchFamily="17" charset="-128"/>
                        <a:ea typeface="UD デジタル 教科書体 N-B" panose="02020700000000000000" pitchFamily="17" charset="-128"/>
                      </a:endParaRPr>
                    </a:p>
                    <a:p>
                      <a:r>
                        <a:rPr kumimoji="1" lang="ja-JP" altLang="en-US" sz="2800" dirty="0">
                          <a:latin typeface="UD デジタル 教科書体 N-B" panose="02020700000000000000" pitchFamily="17" charset="-128"/>
                          <a:ea typeface="UD デジタル 教科書体 N-B" panose="02020700000000000000" pitchFamily="17" charset="-128"/>
                        </a:rPr>
                        <a:t>用語の内容</a:t>
                      </a:r>
                      <a:endParaRPr kumimoji="1" lang="en-US" altLang="ja-JP" sz="2800" dirty="0">
                        <a:latin typeface="UD デジタル 教科書体 N-B" panose="02020700000000000000" pitchFamily="17" charset="-128"/>
                        <a:ea typeface="UD デジタル 教科書体 N-B" panose="02020700000000000000" pitchFamily="17" charset="-128"/>
                      </a:endParaRPr>
                    </a:p>
                    <a:p>
                      <a:r>
                        <a:rPr kumimoji="1" lang="ja-JP" altLang="en-US" sz="2800" dirty="0">
                          <a:latin typeface="UD デジタル 教科書体 N-B" panose="02020700000000000000" pitchFamily="17" charset="-128"/>
                          <a:ea typeface="UD デジタル 教科書体 N-B" panose="02020700000000000000" pitchFamily="17" charset="-128"/>
                        </a:rPr>
                        <a:t>用語の関係</a:t>
                      </a:r>
                    </a:p>
                  </a:txBody>
                  <a:tcPr/>
                </a:tc>
                <a:tc>
                  <a:txBody>
                    <a:bodyPr/>
                    <a:lstStyle/>
                    <a:p>
                      <a:r>
                        <a:rPr kumimoji="1" lang="ja-JP" altLang="en-US" sz="2800" dirty="0">
                          <a:latin typeface="UD デジタル 教科書体 N-B" panose="02020700000000000000" pitchFamily="17" charset="-128"/>
                          <a:ea typeface="UD デジタル 教科書体 N-B" panose="02020700000000000000" pitchFamily="17" charset="-128"/>
                        </a:rPr>
                        <a:t>・学習内容に加えて、自分で調べたり、関心を</a:t>
                      </a:r>
                      <a:endParaRPr kumimoji="1" lang="en-US" altLang="ja-JP" sz="2800" dirty="0">
                        <a:latin typeface="UD デジタル 教科書体 N-B" panose="02020700000000000000" pitchFamily="17" charset="-128"/>
                        <a:ea typeface="UD デジタル 教科書体 N-B" panose="02020700000000000000" pitchFamily="17" charset="-128"/>
                      </a:endParaRPr>
                    </a:p>
                    <a:p>
                      <a:r>
                        <a:rPr kumimoji="1" lang="ja-JP" altLang="en-US" sz="2800" dirty="0">
                          <a:latin typeface="UD デジタル 教科書体 N-B" panose="02020700000000000000" pitchFamily="17" charset="-128"/>
                          <a:ea typeface="UD デジタル 教科書体 N-B" panose="02020700000000000000" pitchFamily="17" charset="-128"/>
                        </a:rPr>
                        <a:t>　もったりした用語が増加している。</a:t>
                      </a:r>
                      <a:endParaRPr kumimoji="1" lang="en-US" altLang="ja-JP" sz="2800" dirty="0">
                        <a:latin typeface="UD デジタル 教科書体 N-B" panose="02020700000000000000" pitchFamily="17" charset="-128"/>
                        <a:ea typeface="UD デジタル 教科書体 N-B" panose="02020700000000000000" pitchFamily="17" charset="-128"/>
                      </a:endParaRPr>
                    </a:p>
                    <a:p>
                      <a:r>
                        <a:rPr kumimoji="1" lang="ja-JP" altLang="en-US" sz="2800" dirty="0">
                          <a:latin typeface="UD デジタル 教科書体 N-B" panose="02020700000000000000" pitchFamily="17" charset="-128"/>
                          <a:ea typeface="UD デジタル 教科書体 N-B" panose="02020700000000000000" pitchFamily="17" charset="-128"/>
                        </a:rPr>
                        <a:t>・学習内容に関連する用語が増えている。</a:t>
                      </a:r>
                      <a:endParaRPr kumimoji="1" lang="en-US" altLang="ja-JP" sz="2800" dirty="0">
                        <a:latin typeface="UD デジタル 教科書体 N-B" panose="02020700000000000000" pitchFamily="17" charset="-128"/>
                        <a:ea typeface="UD デジタル 教科書体 N-B" panose="02020700000000000000" pitchFamily="17" charset="-128"/>
                      </a:endParaRPr>
                    </a:p>
                    <a:p>
                      <a:r>
                        <a:rPr kumimoji="1" lang="ja-JP" altLang="en-US" sz="2800" dirty="0">
                          <a:latin typeface="UD デジタル 教科書体 N-B" panose="02020700000000000000" pitchFamily="17" charset="-128"/>
                          <a:ea typeface="UD デジタル 教科書体 N-B" panose="02020700000000000000" pitchFamily="17" charset="-128"/>
                        </a:rPr>
                        <a:t>・用語どうしの関係が正しく結び付けられている。</a:t>
                      </a:r>
                      <a:endParaRPr kumimoji="1" lang="en-US" altLang="ja-JP" sz="2800" dirty="0">
                        <a:latin typeface="UD デジタル 教科書体 N-B" panose="02020700000000000000" pitchFamily="17" charset="-128"/>
                        <a:ea typeface="UD デジタル 教科書体 N-B" panose="02020700000000000000" pitchFamily="17" charset="-128"/>
                      </a:endParaRPr>
                    </a:p>
                    <a:p>
                      <a:r>
                        <a:rPr kumimoji="1" lang="ja-JP" altLang="en-US" sz="2800" dirty="0">
                          <a:latin typeface="UD デジタル 教科書体 N-B" panose="02020700000000000000" pitchFamily="17" charset="-128"/>
                          <a:ea typeface="UD デジタル 教科書体 N-B" panose="02020700000000000000" pitchFamily="17" charset="-128"/>
                        </a:rPr>
                        <a:t>・学習前は不十分であった用語の関係が、正しく訂正　</a:t>
                      </a:r>
                      <a:endParaRPr kumimoji="1" lang="en-US" altLang="ja-JP" sz="2800" dirty="0">
                        <a:latin typeface="UD デジタル 教科書体 N-B" panose="02020700000000000000" pitchFamily="17" charset="-128"/>
                        <a:ea typeface="UD デジタル 教科書体 N-B" panose="02020700000000000000" pitchFamily="17" charset="-128"/>
                      </a:endParaRPr>
                    </a:p>
                    <a:p>
                      <a:r>
                        <a:rPr kumimoji="1" lang="ja-JP" altLang="en-US" sz="2800" dirty="0">
                          <a:latin typeface="UD デジタル 教科書体 N-B" panose="02020700000000000000" pitchFamily="17" charset="-128"/>
                          <a:ea typeface="UD デジタル 教科書体 N-B" panose="02020700000000000000" pitchFamily="17" charset="-128"/>
                        </a:rPr>
                        <a:t>　されている。</a:t>
                      </a:r>
                    </a:p>
                  </a:txBody>
                  <a:tcPr/>
                </a:tc>
                <a:extLst>
                  <a:ext uri="{0D108BD9-81ED-4DB2-BD59-A6C34878D82A}">
                    <a16:rowId xmlns:a16="http://schemas.microsoft.com/office/drawing/2014/main" val="3930463979"/>
                  </a:ext>
                </a:extLst>
              </a:tr>
            </a:tbl>
          </a:graphicData>
        </a:graphic>
      </p:graphicFrame>
      <p:sp>
        <p:nvSpPr>
          <p:cNvPr id="4" name="正方形/長方形 3">
            <a:extLst>
              <a:ext uri="{FF2B5EF4-FFF2-40B4-BE49-F238E27FC236}">
                <a16:creationId xmlns:a16="http://schemas.microsoft.com/office/drawing/2014/main" id="{6D910D0F-8D3A-ED49-8373-3363C5390A5E}"/>
              </a:ext>
            </a:extLst>
          </p:cNvPr>
          <p:cNvSpPr/>
          <p:nvPr/>
        </p:nvSpPr>
        <p:spPr>
          <a:xfrm>
            <a:off x="1741714" y="6027002"/>
            <a:ext cx="9144000" cy="793679"/>
          </a:xfrm>
          <a:prstGeom prst="rect">
            <a:avLst/>
          </a:prstGeom>
          <a:solidFill>
            <a:schemeClr val="bg1"/>
          </a:solidFill>
          <a:ln>
            <a:noFill/>
          </a:ln>
        </p:spPr>
        <p:txBody>
          <a:bodyPr wrap="square">
            <a:spAutoFit/>
          </a:bodyPr>
          <a:lstStyle/>
          <a:p>
            <a:pPr>
              <a:lnSpc>
                <a:spcPct val="120000"/>
              </a:lnSpc>
            </a:pPr>
            <a:r>
              <a:rPr lang="ja-JP" altLang="en-US" sz="4000" u="heavy" dirty="0">
                <a:uFill>
                  <a:solidFill>
                    <a:srgbClr val="FF0000"/>
                  </a:solidFill>
                </a:uFill>
                <a:latin typeface="UD デジタル 教科書体 N-B" panose="02020700000000000000" pitchFamily="17" charset="-128"/>
                <a:ea typeface="UD デジタル 教科書体 N-B" panose="02020700000000000000" pitchFamily="17" charset="-128"/>
                <a:cs typeface="メイリオ" panose="020B0604030504040204" pitchFamily="50" charset="-128"/>
              </a:rPr>
              <a:t>何を、どのように評価するかを決める。</a:t>
            </a:r>
            <a:endParaRPr lang="en-US" altLang="ja-JP" sz="4000" u="heavy" dirty="0">
              <a:uFill>
                <a:solidFill>
                  <a:srgbClr val="FF0000"/>
                </a:solidFill>
              </a:uFill>
              <a:latin typeface="UD デジタル 教科書体 N-B" panose="02020700000000000000" pitchFamily="17" charset="-128"/>
              <a:ea typeface="UD デジタル 教科書体 N-B" panose="02020700000000000000" pitchFamily="17" charset="-128"/>
              <a:cs typeface="メイリオ" panose="020B0604030504040204" pitchFamily="50" charset="-128"/>
            </a:endParaRPr>
          </a:p>
        </p:txBody>
      </p:sp>
      <p:sp>
        <p:nvSpPr>
          <p:cNvPr id="2" name="Rectangle 1">
            <a:extLst>
              <a:ext uri="{FF2B5EF4-FFF2-40B4-BE49-F238E27FC236}">
                <a16:creationId xmlns:a16="http://schemas.microsoft.com/office/drawing/2014/main" id="{2C48905A-7E52-27FF-794A-62052F433E27}"/>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5" name="Rectangle 2">
            <a:extLst>
              <a:ext uri="{FF2B5EF4-FFF2-40B4-BE49-F238E27FC236}">
                <a16:creationId xmlns:a16="http://schemas.microsoft.com/office/drawing/2014/main" id="{21D75B57-2602-A09B-50A0-A35893C7D21E}"/>
              </a:ext>
            </a:extLst>
          </p:cNvPr>
          <p:cNvSpPr/>
          <p:nvPr/>
        </p:nvSpPr>
        <p:spPr>
          <a:xfrm>
            <a:off x="0" y="751591"/>
            <a:ext cx="12192000" cy="516984"/>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r>
              <a:rPr lang="ja-JP" altLang="en-US" sz="2800" b="1" dirty="0">
                <a:solidFill>
                  <a:schemeClr val="tx1"/>
                </a:solidFill>
                <a:latin typeface="メイリオ" panose="020B0604030504040204" pitchFamily="50" charset="-128"/>
                <a:ea typeface="メイリオ" panose="020B0604030504040204" pitchFamily="50" charset="-128"/>
              </a:rPr>
              <a:t>「主体的に学習に取り組む態度」の評価方法＜理科＞</a:t>
            </a:r>
            <a:endParaRPr lang="en-US" altLang="ja-JP" sz="2800" b="1" dirty="0">
              <a:solidFill>
                <a:schemeClr val="tx1"/>
              </a:solidFill>
              <a:latin typeface="メイリオ" panose="020B0604030504040204" pitchFamily="50" charset="-128"/>
              <a:ea typeface="メイリオ" panose="020B0604030504040204" pitchFamily="50" charset="-128"/>
            </a:endParaRPr>
          </a:p>
        </p:txBody>
      </p:sp>
      <p:sp>
        <p:nvSpPr>
          <p:cNvPr id="6" name="Rectangle 3">
            <a:extLst>
              <a:ext uri="{FF2B5EF4-FFF2-40B4-BE49-F238E27FC236}">
                <a16:creationId xmlns:a16="http://schemas.microsoft.com/office/drawing/2014/main" id="{6126AB3A-F019-D843-6C11-5FC10C79E62D}"/>
              </a:ext>
            </a:extLst>
          </p:cNvPr>
          <p:cNvSpPr/>
          <p:nvPr/>
        </p:nvSpPr>
        <p:spPr>
          <a:xfrm>
            <a:off x="0" y="1280166"/>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9435062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3000" b="1">
                <a:solidFill>
                  <a:srgbClr val="1F3A6E"/>
                </a:solidFill>
                <a:latin typeface="メイリオ"/>
                <a:ea typeface="メイリオ"/>
                <a:cs typeface="メイリオ"/>
              </a:rPr>
              <a:t>評価のばらつきを防ぐ ─ 妥当性 × 信頼性</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0000" y="1900000"/>
            <a:ext cx="5600000" cy="7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lnSpcReduction="10000"/>
          </a:bodyPr>
          <a:lstStyle/>
          <a:p>
            <a:pPr algn="ctr">
              <a:lnSpc>
                <a:spcPct val="140000"/>
              </a:lnSpc>
            </a:pPr>
            <a:r>
              <a:rPr sz="2600" b="1">
                <a:solidFill>
                  <a:srgbClr val="FFFFFF"/>
                </a:solidFill>
                <a:latin typeface="メイリオ"/>
                <a:ea typeface="メイリオ"/>
                <a:cs typeface="メイリオ"/>
              </a:rPr>
              <a:t>妥当性</a:t>
            </a:r>
          </a:p>
        </p:txBody>
      </p:sp>
      <p:sp>
        <p:nvSpPr>
          <p:cNvPr id="7" name="Rectangle 6"/>
          <p:cNvSpPr/>
          <p:nvPr/>
        </p:nvSpPr>
        <p:spPr>
          <a:xfrm>
            <a:off x="400000" y="2600000"/>
            <a:ext cx="5600000" cy="24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t">
            <a:normAutofit/>
          </a:bodyPr>
          <a:lstStyle/>
          <a:p>
            <a:pPr algn="l">
              <a:lnSpc>
                <a:spcPct val="130000"/>
              </a:lnSpc>
            </a:pPr>
            <a:r>
              <a:rPr sz="2000" b="1" dirty="0" err="1">
                <a:solidFill>
                  <a:srgbClr val="000000"/>
                </a:solidFill>
                <a:latin typeface="メイリオ"/>
                <a:ea typeface="メイリオ"/>
                <a:cs typeface="メイリオ"/>
              </a:rPr>
              <a:t>資質・能力を</a:t>
            </a:r>
            <a:endParaRPr sz="2000" b="1" dirty="0">
              <a:solidFill>
                <a:srgbClr val="000000"/>
              </a:solidFill>
              <a:latin typeface="メイリオ"/>
            </a:endParaRPr>
          </a:p>
          <a:p>
            <a:pPr algn="l">
              <a:lnSpc>
                <a:spcPct val="130000"/>
              </a:lnSpc>
            </a:pPr>
            <a:r>
              <a:rPr sz="2000" b="1" dirty="0">
                <a:solidFill>
                  <a:srgbClr val="000000"/>
                </a:solidFill>
                <a:latin typeface="メイリオ"/>
                <a:ea typeface="メイリオ"/>
                <a:cs typeface="メイリオ"/>
              </a:rPr>
              <a:t>　</a:t>
            </a:r>
            <a:r>
              <a:rPr sz="2400" b="1" dirty="0" err="1">
                <a:solidFill>
                  <a:srgbClr val="EB6C15"/>
                </a:solidFill>
                <a:latin typeface="メイリオ"/>
                <a:ea typeface="メイリオ"/>
                <a:cs typeface="メイリオ"/>
              </a:rPr>
              <a:t>適切に反映</a:t>
            </a:r>
            <a:r>
              <a:rPr lang="ja-JP" altLang="en-US" sz="2400" b="1" dirty="0">
                <a:solidFill>
                  <a:srgbClr val="EB6C15"/>
                </a:solidFill>
                <a:latin typeface="メイリオ"/>
                <a:ea typeface="メイリオ"/>
                <a:cs typeface="メイリオ"/>
              </a:rPr>
              <a:t>　</a:t>
            </a:r>
            <a:r>
              <a:rPr sz="2000" b="1" dirty="0" err="1">
                <a:solidFill>
                  <a:srgbClr val="000000"/>
                </a:solidFill>
                <a:latin typeface="メイリオ"/>
                <a:ea typeface="メイリオ"/>
                <a:cs typeface="メイリオ"/>
              </a:rPr>
              <a:t>していること</a:t>
            </a:r>
            <a:endParaRPr sz="2000" b="1" dirty="0">
              <a:solidFill>
                <a:srgbClr val="000000"/>
              </a:solidFill>
              <a:latin typeface="メイリオ"/>
            </a:endParaRPr>
          </a:p>
          <a:p>
            <a:pPr algn="l">
              <a:lnSpc>
                <a:spcPct val="130000"/>
              </a:lnSpc>
            </a:pPr>
            <a:endParaRPr sz="2000" b="1" dirty="0">
              <a:solidFill>
                <a:srgbClr val="000000"/>
              </a:solidFill>
              <a:latin typeface="メイリオ"/>
            </a:endParaRPr>
          </a:p>
          <a:p>
            <a:pPr algn="l">
              <a:lnSpc>
                <a:spcPct val="130000"/>
              </a:lnSpc>
            </a:pPr>
            <a:r>
              <a:rPr sz="1800" b="1" dirty="0">
                <a:solidFill>
                  <a:srgbClr val="404040"/>
                </a:solidFill>
                <a:latin typeface="メイリオ"/>
                <a:ea typeface="メイリオ"/>
                <a:cs typeface="メイリオ"/>
              </a:rPr>
              <a:t>（「</a:t>
            </a:r>
            <a:r>
              <a:rPr sz="1800" b="1" dirty="0" err="1">
                <a:solidFill>
                  <a:srgbClr val="404040"/>
                </a:solidFill>
                <a:latin typeface="メイリオ"/>
                <a:ea typeface="メイリオ"/>
                <a:cs typeface="メイリオ"/>
              </a:rPr>
              <a:t>測りたい力」と「方法」が一致している</a:t>
            </a:r>
            <a:r>
              <a:rPr sz="1800" b="1" dirty="0">
                <a:solidFill>
                  <a:srgbClr val="404040"/>
                </a:solidFill>
                <a:latin typeface="メイリオ"/>
                <a:ea typeface="メイリオ"/>
                <a:cs typeface="メイリオ"/>
              </a:rPr>
              <a:t>）</a:t>
            </a:r>
          </a:p>
        </p:txBody>
      </p:sp>
      <p:sp>
        <p:nvSpPr>
          <p:cNvPr id="8" name="Rectangle 7"/>
          <p:cNvSpPr/>
          <p:nvPr/>
        </p:nvSpPr>
        <p:spPr>
          <a:xfrm>
            <a:off x="6200000" y="1900000"/>
            <a:ext cx="5600000" cy="700000"/>
          </a:xfrm>
          <a:prstGeom prst="rect">
            <a:avLst/>
          </a:prstGeom>
          <a:solidFill>
            <a:srgbClr val="5BC0DE"/>
          </a:solidFill>
          <a:ln w="254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lnSpcReduction="10000"/>
          </a:bodyPr>
          <a:lstStyle/>
          <a:p>
            <a:pPr algn="ctr">
              <a:lnSpc>
                <a:spcPct val="140000"/>
              </a:lnSpc>
            </a:pPr>
            <a:r>
              <a:rPr sz="2600" b="1">
                <a:solidFill>
                  <a:srgbClr val="FFFFFF"/>
                </a:solidFill>
                <a:latin typeface="メイリオ"/>
                <a:ea typeface="メイリオ"/>
                <a:cs typeface="メイリオ"/>
              </a:rPr>
              <a:t>信頼性</a:t>
            </a:r>
          </a:p>
        </p:txBody>
      </p:sp>
      <p:sp>
        <p:nvSpPr>
          <p:cNvPr id="9" name="Rectangle 8"/>
          <p:cNvSpPr/>
          <p:nvPr/>
        </p:nvSpPr>
        <p:spPr>
          <a:xfrm>
            <a:off x="6200000" y="2600000"/>
            <a:ext cx="5600000" cy="24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t">
            <a:normAutofit/>
          </a:bodyPr>
          <a:lstStyle/>
          <a:p>
            <a:pPr algn="l">
              <a:lnSpc>
                <a:spcPct val="130000"/>
              </a:lnSpc>
            </a:pPr>
            <a:r>
              <a:rPr sz="2000" b="1" dirty="0" err="1">
                <a:solidFill>
                  <a:srgbClr val="000000"/>
                </a:solidFill>
                <a:latin typeface="メイリオ"/>
                <a:ea typeface="メイリオ"/>
                <a:cs typeface="メイリオ"/>
              </a:rPr>
              <a:t>誰が評価しても</a:t>
            </a:r>
            <a:endParaRPr sz="2000" b="1" dirty="0">
              <a:solidFill>
                <a:srgbClr val="000000"/>
              </a:solidFill>
              <a:latin typeface="メイリオ"/>
            </a:endParaRPr>
          </a:p>
          <a:p>
            <a:pPr algn="l">
              <a:lnSpc>
                <a:spcPct val="130000"/>
              </a:lnSpc>
            </a:pPr>
            <a:r>
              <a:rPr sz="2000" b="1" dirty="0">
                <a:solidFill>
                  <a:srgbClr val="000000"/>
                </a:solidFill>
                <a:latin typeface="メイリオ"/>
                <a:ea typeface="メイリオ"/>
                <a:cs typeface="メイリオ"/>
              </a:rPr>
              <a:t>　</a:t>
            </a:r>
            <a:r>
              <a:rPr sz="2400" b="1" dirty="0" err="1">
                <a:solidFill>
                  <a:srgbClr val="EB6C15"/>
                </a:solidFill>
                <a:latin typeface="メイリオ"/>
                <a:ea typeface="メイリオ"/>
                <a:cs typeface="メイリオ"/>
              </a:rPr>
              <a:t>同じ結果になる</a:t>
            </a:r>
            <a:r>
              <a:rPr lang="ja-JP" altLang="en-US" sz="2400" b="1" dirty="0">
                <a:solidFill>
                  <a:srgbClr val="EB6C15"/>
                </a:solidFill>
                <a:latin typeface="メイリオ"/>
                <a:ea typeface="メイリオ"/>
                <a:cs typeface="メイリオ"/>
              </a:rPr>
              <a:t>　</a:t>
            </a:r>
            <a:r>
              <a:rPr sz="2000" b="1" dirty="0" err="1">
                <a:solidFill>
                  <a:srgbClr val="000000"/>
                </a:solidFill>
                <a:latin typeface="メイリオ"/>
                <a:ea typeface="メイリオ"/>
                <a:cs typeface="メイリオ"/>
              </a:rPr>
              <a:t>こと</a:t>
            </a:r>
            <a:endParaRPr sz="2000" b="1" dirty="0">
              <a:solidFill>
                <a:srgbClr val="000000"/>
              </a:solidFill>
              <a:latin typeface="メイリオ"/>
            </a:endParaRPr>
          </a:p>
          <a:p>
            <a:pPr algn="l">
              <a:lnSpc>
                <a:spcPct val="130000"/>
              </a:lnSpc>
            </a:pPr>
            <a:endParaRPr sz="2000" b="1" dirty="0">
              <a:solidFill>
                <a:srgbClr val="000000"/>
              </a:solidFill>
              <a:latin typeface="メイリオ"/>
            </a:endParaRPr>
          </a:p>
          <a:p>
            <a:pPr algn="l">
              <a:lnSpc>
                <a:spcPct val="130000"/>
              </a:lnSpc>
            </a:pPr>
            <a:r>
              <a:rPr sz="1800" b="1" dirty="0">
                <a:solidFill>
                  <a:srgbClr val="404040"/>
                </a:solidFill>
                <a:latin typeface="メイリオ"/>
                <a:ea typeface="メイリオ"/>
                <a:cs typeface="メイリオ"/>
              </a:rPr>
              <a:t>（</a:t>
            </a:r>
            <a:r>
              <a:rPr sz="1800" b="1" dirty="0" err="1">
                <a:solidFill>
                  <a:srgbClr val="404040"/>
                </a:solidFill>
                <a:latin typeface="メイリオ"/>
                <a:ea typeface="メイリオ"/>
                <a:cs typeface="メイリオ"/>
              </a:rPr>
              <a:t>教師の主観だけに流されない</a:t>
            </a:r>
            <a:r>
              <a:rPr sz="1800" b="1" dirty="0">
                <a:solidFill>
                  <a:srgbClr val="404040"/>
                </a:solidFill>
                <a:latin typeface="メイリオ"/>
                <a:ea typeface="メイリオ"/>
                <a:cs typeface="メイリオ"/>
              </a:rPr>
              <a:t>）</a:t>
            </a:r>
          </a:p>
        </p:txBody>
      </p:sp>
      <p:sp>
        <p:nvSpPr>
          <p:cNvPr id="10" name="Rectangle 9"/>
          <p:cNvSpPr/>
          <p:nvPr/>
        </p:nvSpPr>
        <p:spPr>
          <a:xfrm>
            <a:off x="400000" y="5200000"/>
            <a:ext cx="11400000" cy="1000000"/>
          </a:xfrm>
          <a:prstGeom prst="rect">
            <a:avLst/>
          </a:prstGeom>
          <a:solidFill>
            <a:srgbClr val="D6EEFA"/>
          </a:solidFill>
          <a:ln w="508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40000"/>
              </a:lnSpc>
            </a:pPr>
            <a:r>
              <a:rPr sz="2400" b="1">
                <a:solidFill>
                  <a:srgbClr val="000000"/>
                </a:solidFill>
                <a:latin typeface="メイリオ"/>
                <a:ea typeface="メイリオ"/>
                <a:cs typeface="メイリオ"/>
              </a:rPr>
              <a:t>妥当性は</a:t>
            </a:r>
            <a:r>
              <a:rPr sz="2600" b="1">
                <a:solidFill>
                  <a:srgbClr val="EB6C15"/>
                </a:solidFill>
                <a:latin typeface="メイリオ"/>
                <a:ea typeface="メイリオ"/>
                <a:cs typeface="メイリオ"/>
              </a:rPr>
              <a:t>個人の授業設計</a:t>
            </a:r>
            <a:r>
              <a:rPr sz="2400" b="1">
                <a:solidFill>
                  <a:srgbClr val="000000"/>
                </a:solidFill>
                <a:latin typeface="メイリオ"/>
                <a:ea typeface="メイリオ"/>
                <a:cs typeface="メイリオ"/>
              </a:rPr>
              <a:t>で、信頼性は</a:t>
            </a:r>
            <a:r>
              <a:rPr sz="2600" b="1">
                <a:solidFill>
                  <a:srgbClr val="EB6C15"/>
                </a:solidFill>
                <a:latin typeface="メイリオ"/>
                <a:ea typeface="メイリオ"/>
                <a:cs typeface="メイリオ"/>
              </a:rPr>
              <a:t>組織で揃える</a:t>
            </a:r>
          </a:p>
        </p:txBody>
      </p:sp>
      <p:sp>
        <p:nvSpPr>
          <p:cNvPr id="11" name="TextBox 10"/>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dirty="0">
                <a:solidFill>
                  <a:srgbClr val="404040"/>
                </a:solidFill>
                <a:latin typeface="メイリオ"/>
                <a:ea typeface="メイリオ"/>
                <a:cs typeface="メイリオ"/>
              </a:rPr>
              <a:t>出典：令和２年９月 </a:t>
            </a:r>
            <a:r>
              <a:rPr sz="1300" dirty="0" err="1">
                <a:solidFill>
                  <a:srgbClr val="404040"/>
                </a:solidFill>
                <a:latin typeface="メイリオ"/>
                <a:ea typeface="メイリオ"/>
                <a:cs typeface="メイリオ"/>
              </a:rPr>
              <a:t>東京都教育委員会「指導と評価の一体化を目指して</a:t>
            </a:r>
            <a:r>
              <a:rPr sz="1300" dirty="0">
                <a:solidFill>
                  <a:srgbClr val="404040"/>
                </a:solidFill>
                <a:latin typeface="メイリオ"/>
                <a:ea typeface="メイリオ"/>
                <a:cs typeface="メイリオ"/>
              </a:rPr>
              <a:t>」</a:t>
            </a:r>
          </a:p>
        </p:txBody>
      </p:sp>
      <p:sp>
        <p:nvSpPr>
          <p:cNvPr id="12" name="Rectangle 1">
            <a:extLst>
              <a:ext uri="{FF2B5EF4-FFF2-40B4-BE49-F238E27FC236}">
                <a16:creationId xmlns:a16="http://schemas.microsoft.com/office/drawing/2014/main" id="{F286CEB8-3740-B9CD-989C-4C94119C5A92}"/>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lang="ja-JP" altLang="en-US" sz="3000" b="1" dirty="0">
                <a:solidFill>
                  <a:srgbClr val="1F3A6E"/>
                </a:solidFill>
                <a:latin typeface="メイリオ"/>
                <a:ea typeface="メイリオ"/>
                <a:cs typeface="メイリオ"/>
              </a:rPr>
              <a:t>各</a:t>
            </a:r>
            <a:r>
              <a:rPr sz="3000" b="1" dirty="0">
                <a:solidFill>
                  <a:srgbClr val="1F3A6E"/>
                </a:solidFill>
                <a:latin typeface="メイリオ"/>
                <a:ea typeface="メイリオ"/>
                <a:cs typeface="メイリオ"/>
              </a:rPr>
              <a:t>教科会で揃える</a:t>
            </a:r>
            <a:r>
              <a:rPr sz="3000" b="1" dirty="0">
                <a:solidFill>
                  <a:srgbClr val="1F3A6E"/>
                </a:solidFill>
                <a:latin typeface="メイリオ" panose="020B0604030504040204" pitchFamily="50" charset="-128"/>
                <a:ea typeface="メイリオ" panose="020B0604030504040204" pitchFamily="50" charset="-128"/>
                <a:cs typeface="メイリオ"/>
              </a:rPr>
              <a:t>3つ</a:t>
            </a:r>
            <a:r>
              <a:rPr lang="ja-JP" altLang="en-US" sz="3000" b="1" dirty="0">
                <a:solidFill>
                  <a:srgbClr val="1F3A6E"/>
                </a:solidFill>
                <a:latin typeface="メイリオ" panose="020B0604030504040204" pitchFamily="50" charset="-128"/>
                <a:ea typeface="メイリオ" panose="020B0604030504040204" pitchFamily="50" charset="-128"/>
                <a:cs typeface="メイリオ"/>
              </a:rPr>
              <a:t>のポイント</a:t>
            </a:r>
            <a:endParaRPr sz="3000" b="1" dirty="0">
              <a:solidFill>
                <a:srgbClr val="1F3A6E"/>
              </a:solidFill>
              <a:latin typeface="メイリオ" panose="020B0604030504040204" pitchFamily="50" charset="-128"/>
              <a:ea typeface="メイリオ" panose="020B0604030504040204" pitchFamily="50" charset="-128"/>
            </a:endParaRP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0000" y="1900000"/>
            <a:ext cx="900000" cy="11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4400" b="1">
                <a:solidFill>
                  <a:srgbClr val="FFFFFF"/>
                </a:solidFill>
                <a:latin typeface="メイリオ"/>
                <a:ea typeface="メイリオ"/>
                <a:cs typeface="メイリオ"/>
              </a:rPr>
              <a:t>①</a:t>
            </a:r>
          </a:p>
        </p:txBody>
      </p:sp>
      <p:sp>
        <p:nvSpPr>
          <p:cNvPr id="7" name="Rectangle 6"/>
          <p:cNvSpPr/>
          <p:nvPr/>
        </p:nvSpPr>
        <p:spPr>
          <a:xfrm>
            <a:off x="1400000" y="1900000"/>
            <a:ext cx="10400000" cy="11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20000"/>
              </a:lnSpc>
            </a:pPr>
            <a:r>
              <a:rPr sz="2600" b="1" dirty="0" err="1">
                <a:solidFill>
                  <a:srgbClr val="EB6C15"/>
                </a:solidFill>
                <a:latin typeface="メイリオ"/>
                <a:ea typeface="メイリオ"/>
                <a:cs typeface="メイリオ"/>
              </a:rPr>
              <a:t>Bの姿</a:t>
            </a:r>
            <a:endParaRPr sz="2600" b="1" dirty="0">
              <a:solidFill>
                <a:srgbClr val="EB6C15"/>
              </a:solidFill>
              <a:latin typeface="メイリオ"/>
            </a:endParaRPr>
          </a:p>
          <a:p>
            <a:pPr algn="l">
              <a:lnSpc>
                <a:spcPct val="120000"/>
              </a:lnSpc>
            </a:pPr>
            <a:r>
              <a:rPr sz="2000" b="1" dirty="0" err="1">
                <a:solidFill>
                  <a:srgbClr val="1F3A6E"/>
                </a:solidFill>
                <a:latin typeface="メイリオ"/>
                <a:ea typeface="メイリオ"/>
                <a:cs typeface="メイリオ"/>
              </a:rPr>
              <a:t>観点別評価で「B」と判断する具体的な姿</a:t>
            </a:r>
            <a:endParaRPr sz="2000" b="1" dirty="0">
              <a:solidFill>
                <a:srgbClr val="1F3A6E"/>
              </a:solidFill>
              <a:latin typeface="メイリオ"/>
            </a:endParaRPr>
          </a:p>
        </p:txBody>
      </p:sp>
      <p:sp>
        <p:nvSpPr>
          <p:cNvPr id="8" name="Rectangle 7"/>
          <p:cNvSpPr/>
          <p:nvPr/>
        </p:nvSpPr>
        <p:spPr>
          <a:xfrm>
            <a:off x="400000" y="3200000"/>
            <a:ext cx="900000" cy="11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4400" b="1">
                <a:solidFill>
                  <a:srgbClr val="FFFFFF"/>
                </a:solidFill>
                <a:latin typeface="メイリオ"/>
                <a:ea typeface="メイリオ"/>
                <a:cs typeface="メイリオ"/>
              </a:rPr>
              <a:t>②</a:t>
            </a:r>
          </a:p>
        </p:txBody>
      </p:sp>
      <p:sp>
        <p:nvSpPr>
          <p:cNvPr id="9" name="Rectangle 8"/>
          <p:cNvSpPr/>
          <p:nvPr/>
        </p:nvSpPr>
        <p:spPr>
          <a:xfrm>
            <a:off x="1400000" y="3200000"/>
            <a:ext cx="10400000" cy="11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20000"/>
              </a:lnSpc>
            </a:pPr>
            <a:r>
              <a:rPr sz="2600" b="1">
                <a:solidFill>
                  <a:srgbClr val="EB6C15"/>
                </a:solidFill>
                <a:latin typeface="メイリオ"/>
                <a:ea typeface="メイリオ"/>
                <a:cs typeface="メイリオ"/>
              </a:rPr>
              <a:t>評価場面・方法</a:t>
            </a:r>
          </a:p>
          <a:p>
            <a:pPr algn="l">
              <a:lnSpc>
                <a:spcPct val="120000"/>
              </a:lnSpc>
            </a:pPr>
            <a:r>
              <a:rPr sz="2000" b="1">
                <a:solidFill>
                  <a:srgbClr val="1F3A6E"/>
                </a:solidFill>
                <a:latin typeface="メイリオ"/>
                <a:ea typeface="メイリオ"/>
                <a:cs typeface="メイリオ"/>
              </a:rPr>
              <a:t>いつ・どの活動で・どんな方法で見取るか</a:t>
            </a:r>
          </a:p>
        </p:txBody>
      </p:sp>
      <p:sp>
        <p:nvSpPr>
          <p:cNvPr id="10" name="Rectangle 9"/>
          <p:cNvSpPr/>
          <p:nvPr/>
        </p:nvSpPr>
        <p:spPr>
          <a:xfrm>
            <a:off x="400000" y="4500000"/>
            <a:ext cx="900000" cy="11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4400" b="1">
                <a:solidFill>
                  <a:srgbClr val="FFFFFF"/>
                </a:solidFill>
                <a:latin typeface="メイリオ"/>
                <a:ea typeface="メイリオ"/>
                <a:cs typeface="メイリオ"/>
              </a:rPr>
              <a:t>③</a:t>
            </a:r>
          </a:p>
        </p:txBody>
      </p:sp>
      <p:sp>
        <p:nvSpPr>
          <p:cNvPr id="11" name="Rectangle 10"/>
          <p:cNvSpPr/>
          <p:nvPr/>
        </p:nvSpPr>
        <p:spPr>
          <a:xfrm>
            <a:off x="1400000" y="4500000"/>
            <a:ext cx="10400000" cy="11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20000"/>
              </a:lnSpc>
            </a:pPr>
            <a:r>
              <a:rPr sz="2600" b="1">
                <a:solidFill>
                  <a:srgbClr val="EB6C15"/>
                </a:solidFill>
                <a:latin typeface="メイリオ"/>
                <a:ea typeface="メイリオ"/>
                <a:cs typeface="メイリオ"/>
              </a:rPr>
              <a:t>総括の方法</a:t>
            </a:r>
          </a:p>
          <a:p>
            <a:pPr algn="l">
              <a:lnSpc>
                <a:spcPct val="120000"/>
              </a:lnSpc>
            </a:pPr>
            <a:r>
              <a:rPr sz="2000" b="1">
                <a:solidFill>
                  <a:srgbClr val="1F3A6E"/>
                </a:solidFill>
                <a:latin typeface="メイリオ"/>
                <a:ea typeface="メイリオ"/>
                <a:cs typeface="メイリオ"/>
              </a:rPr>
              <a:t>観点別評価から評定への総括ルール</a:t>
            </a:r>
          </a:p>
        </p:txBody>
      </p:sp>
      <p:sp>
        <p:nvSpPr>
          <p:cNvPr id="13" name="Rectangle 1">
            <a:extLst>
              <a:ext uri="{FF2B5EF4-FFF2-40B4-BE49-F238E27FC236}">
                <a16:creationId xmlns:a16="http://schemas.microsoft.com/office/drawing/2014/main" id="{2E9C9C79-21A3-3C1F-39DC-6769C9282415}"/>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14" name="Rectangle 13"/>
          <p:cNvSpPr/>
          <p:nvPr/>
        </p:nvSpPr>
        <p:spPr>
          <a:xfrm>
            <a:off x="1400000" y="5650000"/>
            <a:ext cx="10400000" cy="520000"/>
          </a:xfrm>
          <a:prstGeom prst="rect">
            <a:avLst/>
          </a:prstGeom>
          <a:solidFill>
            <a:srgbClr val="D6EEFA"/>
          </a:solidFill>
          <a:ln w="254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40000" tIns="60000" rIns="140000" bIns="60000" rtlCol="0" anchor="ctr">
            <a:normAutofit/>
          </a:bodyPr>
          <a:lstStyle/>
          <a:p>
            <a:pPr algn="l">
              <a:lnSpc>
                <a:spcPct val="110000"/>
              </a:lnSpc>
            </a:pPr>
            <a:r>
              <a:rPr sz="1600" b="1">
                <a:solidFill>
                  <a:srgbClr val="404040"/>
                </a:solidFill>
                <a:latin typeface="メイリオ"/>
                <a:ea typeface="メイリオ"/>
                <a:cs typeface="メイリオ"/>
              </a:rPr>
              <a:t>③の例：</a:t>
            </a:r>
            <a:r>
              <a:rPr sz="1700" b="1">
                <a:solidFill>
                  <a:srgbClr val="EB6C15"/>
                </a:solidFill>
                <a:latin typeface="メイリオ"/>
                <a:ea typeface="メイリオ"/>
                <a:cs typeface="メイリオ"/>
              </a:rPr>
              <a:t>AAA→A</a:t>
            </a:r>
            <a:r>
              <a:rPr sz="1700" b="1">
                <a:solidFill>
                  <a:srgbClr val="1F3A6E"/>
                </a:solidFill>
                <a:latin typeface="メイリオ"/>
                <a:ea typeface="メイリオ"/>
                <a:cs typeface="メイリオ"/>
              </a:rPr>
              <a:t>　／　ABB→B　／　BBC→B　／　CCC→C</a:t>
            </a:r>
            <a:r>
              <a:rPr sz="1400" b="1">
                <a:solidFill>
                  <a:srgbClr val="404040"/>
                </a:solidFill>
                <a:latin typeface="メイリオ"/>
                <a:ea typeface="メイリオ"/>
                <a:cs typeface="メイリオ"/>
              </a:rPr>
              <a:t>　（教科会で総括ルールを揃える）</a:t>
            </a:r>
          </a:p>
        </p:txBody>
      </p:sp>
      <p:sp>
        <p:nvSpPr>
          <p:cNvPr id="15" name="TextBox 14"/>
          <p:cNvSpPr txBox="1"/>
          <p:nvPr/>
        </p:nvSpPr>
        <p:spPr>
          <a:xfrm>
            <a:off x="300000" y="6230000"/>
            <a:ext cx="11400000" cy="540000"/>
          </a:xfrm>
          <a:prstGeom prst="rect">
            <a:avLst/>
          </a:prstGeom>
          <a:noFill/>
        </p:spPr>
        <p:txBody>
          <a:bodyPr wrap="square" lIns="40000" tIns="10000" rIns="40000" bIns="10000" anchor="ctr">
            <a:normAutofit/>
          </a:bodyPr>
          <a:lstStyle/>
          <a:p>
            <a:pPr algn="r"/>
            <a:r>
              <a:rPr sz="1300" dirty="0" err="1">
                <a:solidFill>
                  <a:srgbClr val="404040"/>
                </a:solidFill>
                <a:latin typeface="メイリオ"/>
                <a:ea typeface="メイリオ"/>
                <a:cs typeface="メイリオ"/>
              </a:rPr>
              <a:t>出典：東京都教育委員会「指導と評価の一体化を目指して</a:t>
            </a:r>
            <a:r>
              <a:rPr sz="1300" dirty="0">
                <a:solidFill>
                  <a:srgbClr val="404040"/>
                </a:solidFill>
                <a:latin typeface="メイリオ"/>
                <a:ea typeface="メイリオ"/>
                <a:cs typeface="メイリオ"/>
              </a:rPr>
              <a:t>」</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20000"/>
          </a:xfrm>
          <a:prstGeom prst="rect">
            <a:avLst/>
          </a:prstGeom>
          <a:solidFill>
            <a:srgbClr val="07A973"/>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pPr algn="l"/>
            <a:r>
              <a:rPr sz="2400" b="1">
                <a:solidFill>
                  <a:srgbClr val="FFFFFF"/>
                </a:solidFill>
                <a:latin typeface="メイリオ"/>
                <a:ea typeface="メイリオ"/>
                <a:cs typeface="メイリオ"/>
              </a:rPr>
              <a:t>【ペアトーク②】　─　自分の教科で「Ｂの姿」を描く</a:t>
            </a:r>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lang="ja-JP" altLang="en-US" sz="2800" b="1" dirty="0">
                <a:solidFill>
                  <a:srgbClr val="1F3A6E"/>
                </a:solidFill>
                <a:latin typeface="メイリオ"/>
                <a:ea typeface="メイリオ"/>
                <a:cs typeface="メイリオ"/>
              </a:rPr>
              <a:t>２</a:t>
            </a:r>
            <a:r>
              <a:rPr sz="2800" b="1" dirty="0">
                <a:solidFill>
                  <a:srgbClr val="1F3A6E"/>
                </a:solidFill>
                <a:latin typeface="メイリオ"/>
                <a:ea typeface="メイリオ"/>
                <a:cs typeface="メイリオ"/>
              </a:rPr>
              <a:t>分（個人考1分→ペアでシェア</a:t>
            </a:r>
            <a:r>
              <a:rPr lang="ja-JP" altLang="en-US" sz="2800" b="1" dirty="0">
                <a:solidFill>
                  <a:srgbClr val="1F3A6E"/>
                </a:solidFill>
                <a:latin typeface="メイリオ"/>
                <a:ea typeface="メイリオ"/>
                <a:cs typeface="メイリオ"/>
              </a:rPr>
              <a:t>１</a:t>
            </a:r>
            <a:r>
              <a:rPr sz="2800" b="1" dirty="0">
                <a:solidFill>
                  <a:srgbClr val="1F3A6E"/>
                </a:solidFill>
                <a:latin typeface="メイリオ"/>
                <a:ea typeface="メイリオ"/>
                <a:cs typeface="メイリオ"/>
              </a:rPr>
              <a:t>分）</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00000" y="1900000"/>
            <a:ext cx="11400000" cy="1600000"/>
          </a:xfrm>
          <a:prstGeom prst="rect">
            <a:avLst/>
          </a:prstGeom>
          <a:solidFill>
            <a:srgbClr val="D6EEFA"/>
          </a:solidFill>
          <a:ln w="63500">
            <a:solidFill>
              <a:srgbClr val="07A973"/>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a:bodyPr>
          <a:lstStyle/>
          <a:p>
            <a:pPr algn="ctr">
              <a:lnSpc>
                <a:spcPct val="130000"/>
              </a:lnSpc>
            </a:pPr>
            <a:r>
              <a:rPr sz="2800" b="1">
                <a:solidFill>
                  <a:srgbClr val="000000"/>
                </a:solidFill>
                <a:latin typeface="メイリオ"/>
                <a:ea typeface="メイリオ"/>
                <a:cs typeface="メイリオ"/>
              </a:rPr>
              <a:t>あなたの教科で、</a:t>
            </a:r>
          </a:p>
          <a:p>
            <a:pPr algn="ctr">
              <a:lnSpc>
                <a:spcPct val="130000"/>
              </a:lnSpc>
            </a:pPr>
            <a:r>
              <a:rPr sz="2800" b="1">
                <a:solidFill>
                  <a:srgbClr val="000000"/>
                </a:solidFill>
                <a:latin typeface="メイリオ"/>
                <a:ea typeface="メイリオ"/>
                <a:cs typeface="メイリオ"/>
              </a:rPr>
              <a:t>次の単元の</a:t>
            </a:r>
            <a:r>
              <a:rPr sz="3200" b="1">
                <a:solidFill>
                  <a:srgbClr val="EB6C15"/>
                </a:solidFill>
                <a:latin typeface="メイリオ"/>
                <a:ea typeface="メイリオ"/>
                <a:cs typeface="メイリオ"/>
              </a:rPr>
              <a:t>「Ｂの姿」</a:t>
            </a:r>
            <a:r>
              <a:rPr sz="2800" b="1">
                <a:solidFill>
                  <a:srgbClr val="000000"/>
                </a:solidFill>
                <a:latin typeface="メイリオ"/>
                <a:ea typeface="メイリオ"/>
                <a:cs typeface="メイリオ"/>
              </a:rPr>
              <a:t>を1つ、言葉にしてみよう</a:t>
            </a:r>
          </a:p>
        </p:txBody>
      </p:sp>
      <p:sp>
        <p:nvSpPr>
          <p:cNvPr id="6" name="Rectangle 5"/>
          <p:cNvSpPr/>
          <p:nvPr/>
        </p:nvSpPr>
        <p:spPr>
          <a:xfrm>
            <a:off x="400000" y="3700000"/>
            <a:ext cx="11400000" cy="11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fontScale="77500" lnSpcReduction="20000"/>
          </a:bodyPr>
          <a:lstStyle/>
          <a:p>
            <a:pPr algn="l">
              <a:lnSpc>
                <a:spcPct val="140000"/>
              </a:lnSpc>
            </a:pPr>
            <a:r>
              <a:rPr sz="2200" b="1">
                <a:solidFill>
                  <a:srgbClr val="1F3A6E"/>
                </a:solidFill>
                <a:latin typeface="メイリオ"/>
                <a:ea typeface="メイリオ"/>
                <a:cs typeface="メイリオ"/>
              </a:rPr>
              <a:t>○ 「〜できている」「〜と書ける」「〜を選んでいる」</a:t>
            </a:r>
          </a:p>
          <a:p>
            <a:pPr algn="l">
              <a:lnSpc>
                <a:spcPct val="140000"/>
              </a:lnSpc>
            </a:pPr>
            <a:r>
              <a:rPr sz="2000" b="1">
                <a:solidFill>
                  <a:srgbClr val="1F3A6E"/>
                </a:solidFill>
                <a:latin typeface="メイリオ"/>
                <a:ea typeface="メイリオ"/>
                <a:cs typeface="メイリオ"/>
              </a:rPr>
              <a:t>○ 例（数学）：「式の操作の途中で、自分のミスに気づいて修正できている」</a:t>
            </a:r>
          </a:p>
          <a:p>
            <a:pPr algn="l">
              <a:lnSpc>
                <a:spcPct val="140000"/>
              </a:lnSpc>
            </a:pPr>
            <a:r>
              <a:rPr sz="2000" b="1">
                <a:solidFill>
                  <a:srgbClr val="404040"/>
                </a:solidFill>
                <a:latin typeface="メイリオ"/>
                <a:ea typeface="メイリオ"/>
                <a:cs typeface="メイリオ"/>
              </a:rPr>
              <a:t>○ うまく書けなくてもOK ─ 言葉にしようとすることが大事</a:t>
            </a:r>
          </a:p>
        </p:txBody>
      </p:sp>
      <p:sp>
        <p:nvSpPr>
          <p:cNvPr id="7" name="Rectangle 6"/>
          <p:cNvSpPr/>
          <p:nvPr/>
        </p:nvSpPr>
        <p:spPr>
          <a:xfrm>
            <a:off x="400000" y="5000000"/>
            <a:ext cx="5400000" cy="900000"/>
          </a:xfrm>
          <a:prstGeom prst="rect">
            <a:avLst/>
          </a:prstGeom>
          <a:solidFill>
            <a:srgbClr val="EB6C15"/>
          </a:solidFill>
          <a:ln w="25400">
            <a:solidFill>
              <a:srgbClr val="EB6C15"/>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lnSpcReduction="10000"/>
          </a:bodyPr>
          <a:lstStyle/>
          <a:p>
            <a:pPr algn="ctr">
              <a:lnSpc>
                <a:spcPct val="130000"/>
              </a:lnSpc>
            </a:pPr>
            <a:r>
              <a:rPr sz="4000" b="1" dirty="0">
                <a:solidFill>
                  <a:srgbClr val="FFFFFF"/>
                </a:solidFill>
                <a:latin typeface="メイリオ"/>
                <a:ea typeface="メイリオ"/>
                <a:cs typeface="メイリオ"/>
              </a:rPr>
              <a:t>⏱ </a:t>
            </a:r>
            <a:r>
              <a:rPr lang="ja-JP" altLang="en-US" sz="4000" b="1" dirty="0">
                <a:solidFill>
                  <a:srgbClr val="FFFFFF"/>
                </a:solidFill>
                <a:latin typeface="メイリオ"/>
                <a:ea typeface="メイリオ"/>
                <a:cs typeface="メイリオ"/>
              </a:rPr>
              <a:t>１</a:t>
            </a:r>
            <a:r>
              <a:rPr sz="4000" b="1" dirty="0">
                <a:solidFill>
                  <a:srgbClr val="FFFFFF"/>
                </a:solidFill>
                <a:latin typeface="メイリオ"/>
                <a:ea typeface="メイリオ"/>
                <a:cs typeface="メイリオ"/>
              </a:rPr>
              <a:t>分</a:t>
            </a:r>
          </a:p>
        </p:txBody>
      </p:sp>
      <p:sp>
        <p:nvSpPr>
          <p:cNvPr id="8" name="Rectangle 7"/>
          <p:cNvSpPr/>
          <p:nvPr/>
        </p:nvSpPr>
        <p:spPr>
          <a:xfrm>
            <a:off x="6400000" y="5000000"/>
            <a:ext cx="5400000" cy="900000"/>
          </a:xfrm>
          <a:prstGeom prst="rect">
            <a:avLst/>
          </a:prstGeom>
          <a:solidFill>
            <a:srgbClr val="FFE066"/>
          </a:solidFill>
          <a:ln w="25400">
            <a:solidFill>
              <a:srgbClr val="EB6C15"/>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a:bodyPr>
          <a:lstStyle/>
          <a:p>
            <a:pPr algn="ctr">
              <a:lnSpc>
                <a:spcPct val="130000"/>
              </a:lnSpc>
            </a:pPr>
            <a:r>
              <a:rPr sz="2000" b="1" dirty="0">
                <a:solidFill>
                  <a:srgbClr val="1F3A6E"/>
                </a:solidFill>
                <a:latin typeface="メイリオ"/>
                <a:ea typeface="メイリオ"/>
                <a:cs typeface="メイリオ"/>
              </a:rPr>
              <a:t>個人考1分→ペアでシェア</a:t>
            </a:r>
            <a:r>
              <a:rPr lang="ja-JP" altLang="en-US" sz="2000" b="1" dirty="0">
                <a:solidFill>
                  <a:srgbClr val="1F3A6E"/>
                </a:solidFill>
                <a:latin typeface="メイリオ"/>
                <a:ea typeface="メイリオ"/>
                <a:cs typeface="メイリオ"/>
              </a:rPr>
              <a:t>１</a:t>
            </a:r>
            <a:r>
              <a:rPr sz="2000" b="1" dirty="0">
                <a:solidFill>
                  <a:srgbClr val="1F3A6E"/>
                </a:solidFill>
                <a:latin typeface="メイリオ"/>
                <a:ea typeface="メイリオ"/>
                <a:cs typeface="メイリオ"/>
              </a:rPr>
              <a:t>分</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pPr algn="l"/>
            <a:r>
              <a:rPr sz="2800" b="1" dirty="0" err="1">
                <a:solidFill>
                  <a:srgbClr val="FFFFFF"/>
                </a:solidFill>
                <a:latin typeface="メイリオ"/>
                <a:ea typeface="メイリオ"/>
                <a:cs typeface="メイリオ"/>
              </a:rPr>
              <a:t>まとめ</a:t>
            </a:r>
            <a:endParaRPr sz="2800" b="1" dirty="0">
              <a:solidFill>
                <a:srgbClr val="FFFFFF"/>
              </a:solidFill>
              <a:latin typeface="メイリオ"/>
              <a:ea typeface="メイリオ"/>
              <a:cs typeface="メイリオ"/>
            </a:endParaRPr>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2800" b="1">
                <a:solidFill>
                  <a:srgbClr val="1F3A6E"/>
                </a:solidFill>
                <a:latin typeface="メイリオ"/>
                <a:ea typeface="メイリオ"/>
                <a:cs typeface="メイリオ"/>
              </a:rPr>
              <a:t>本日のまとめ ── 明日からできること</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00000" y="1820000"/>
            <a:ext cx="11400000" cy="72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a:bodyPr>
          <a:lstStyle/>
          <a:p>
            <a:pPr algn="ctr">
              <a:lnSpc>
                <a:spcPct val="130000"/>
              </a:lnSpc>
            </a:pPr>
            <a:r>
              <a:rPr sz="2000" b="1">
                <a:solidFill>
                  <a:srgbClr val="000000"/>
                </a:solidFill>
                <a:latin typeface="メイリオ"/>
                <a:ea typeface="メイリオ"/>
                <a:cs typeface="メイリオ"/>
              </a:rPr>
              <a:t>「指導と評価の一体化」＝ </a:t>
            </a:r>
            <a:r>
              <a:rPr sz="2100" b="1">
                <a:solidFill>
                  <a:srgbClr val="EB6C15"/>
                </a:solidFill>
                <a:latin typeface="メイリオ"/>
                <a:ea typeface="メイリオ"/>
                <a:cs typeface="メイリオ"/>
              </a:rPr>
              <a:t>目標→指導→評価→改善 をくり返し、評価を授業改善に生かす</a:t>
            </a:r>
          </a:p>
        </p:txBody>
      </p:sp>
      <p:sp>
        <p:nvSpPr>
          <p:cNvPr id="6" name="Rectangle 5"/>
          <p:cNvSpPr/>
          <p:nvPr/>
        </p:nvSpPr>
        <p:spPr>
          <a:xfrm>
            <a:off x="400000" y="2720000"/>
            <a:ext cx="11400000" cy="62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a:bodyPr>
          <a:lstStyle/>
          <a:p>
            <a:pPr algn="l">
              <a:lnSpc>
                <a:spcPct val="130000"/>
              </a:lnSpc>
            </a:pPr>
            <a:r>
              <a:rPr sz="2200" b="1">
                <a:solidFill>
                  <a:srgbClr val="1F3A6E"/>
                </a:solidFill>
                <a:latin typeface="メイリオ"/>
                <a:ea typeface="メイリオ"/>
                <a:cs typeface="メイリオ"/>
              </a:rPr>
              <a:t>□ 次の単元で「Ｂの姿」を1つ言語化し、教科会で揃える</a:t>
            </a:r>
          </a:p>
        </p:txBody>
      </p:sp>
      <p:sp>
        <p:nvSpPr>
          <p:cNvPr id="7" name="Rectangle 6"/>
          <p:cNvSpPr/>
          <p:nvPr/>
        </p:nvSpPr>
        <p:spPr>
          <a:xfrm>
            <a:off x="400000" y="3420000"/>
            <a:ext cx="11400000" cy="62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a:bodyPr>
          <a:lstStyle/>
          <a:p>
            <a:pPr algn="l">
              <a:lnSpc>
                <a:spcPct val="130000"/>
              </a:lnSpc>
            </a:pPr>
            <a:r>
              <a:rPr sz="2200" b="1">
                <a:solidFill>
                  <a:srgbClr val="1F3A6E"/>
                </a:solidFill>
                <a:latin typeface="メイリオ"/>
                <a:ea typeface="メイリオ"/>
                <a:cs typeface="メイリオ"/>
              </a:rPr>
              <a:t>□ 評価の工夫（行動観察・発問・自己評価）から1つ授業に入れる</a:t>
            </a:r>
          </a:p>
        </p:txBody>
      </p:sp>
      <p:sp>
        <p:nvSpPr>
          <p:cNvPr id="8" name="Rectangle 7"/>
          <p:cNvSpPr/>
          <p:nvPr/>
        </p:nvSpPr>
        <p:spPr>
          <a:xfrm>
            <a:off x="400000" y="4120000"/>
            <a:ext cx="11400000" cy="62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a:bodyPr>
          <a:lstStyle/>
          <a:p>
            <a:pPr algn="l">
              <a:lnSpc>
                <a:spcPct val="130000"/>
              </a:lnSpc>
            </a:pPr>
            <a:r>
              <a:rPr sz="2200" b="1">
                <a:solidFill>
                  <a:srgbClr val="1F3A6E"/>
                </a:solidFill>
                <a:latin typeface="メイリオ"/>
                <a:ea typeface="メイリオ"/>
                <a:cs typeface="メイリオ"/>
              </a:rPr>
              <a:t>□ 振り返り／自己評価の機会を1回入れる</a:t>
            </a:r>
          </a:p>
        </p:txBody>
      </p:sp>
      <p:sp>
        <p:nvSpPr>
          <p:cNvPr id="9" name="Rectangle 8"/>
          <p:cNvSpPr/>
          <p:nvPr/>
        </p:nvSpPr>
        <p:spPr>
          <a:xfrm>
            <a:off x="400000" y="4820000"/>
            <a:ext cx="11400000" cy="62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a:bodyPr>
          <a:lstStyle/>
          <a:p>
            <a:pPr algn="l">
              <a:lnSpc>
                <a:spcPct val="130000"/>
              </a:lnSpc>
            </a:pPr>
            <a:r>
              <a:rPr sz="2200" b="1">
                <a:solidFill>
                  <a:srgbClr val="1F3A6E"/>
                </a:solidFill>
                <a:latin typeface="メイリオ"/>
                <a:ea typeface="メイリオ"/>
                <a:cs typeface="メイリオ"/>
              </a:rPr>
              <a:t>□ 評価結果を、次の授業改善に1つ生かす</a:t>
            </a:r>
          </a:p>
        </p:txBody>
      </p:sp>
      <p:sp>
        <p:nvSpPr>
          <p:cNvPr id="10" name="Rectangle 9"/>
          <p:cNvSpPr/>
          <p:nvPr/>
        </p:nvSpPr>
        <p:spPr>
          <a:xfrm>
            <a:off x="400000" y="5620000"/>
            <a:ext cx="11400000" cy="560000"/>
          </a:xfrm>
          <a:prstGeom prst="rect">
            <a:avLst/>
          </a:prstGeom>
          <a:solidFill>
            <a:srgbClr val="FFE066"/>
          </a:solidFill>
          <a:ln w="38100">
            <a:solidFill>
              <a:srgbClr val="EB6C15"/>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lnSpcReduction="10000"/>
          </a:bodyPr>
          <a:lstStyle/>
          <a:p>
            <a:pPr algn="ctr">
              <a:lnSpc>
                <a:spcPct val="130000"/>
              </a:lnSpc>
            </a:pPr>
            <a:r>
              <a:rPr sz="2200" b="1">
                <a:solidFill>
                  <a:srgbClr val="1F3A6E"/>
                </a:solidFill>
                <a:latin typeface="メイリオ"/>
                <a:ea typeface="メイリオ"/>
                <a:cs typeface="メイリオ"/>
              </a:rPr>
              <a:t>やることを「絞る」から、続く</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pPr algn="l"/>
            <a:r>
              <a:rPr sz="2800" b="1" dirty="0" err="1">
                <a:solidFill>
                  <a:srgbClr val="FFFFFF"/>
                </a:solidFill>
                <a:latin typeface="メイリオ"/>
                <a:ea typeface="メイリオ"/>
                <a:cs typeface="メイリオ"/>
              </a:rPr>
              <a:t>グループ協議へ</a:t>
            </a:r>
            <a:endParaRPr sz="2800" b="1" dirty="0">
              <a:solidFill>
                <a:srgbClr val="FFFFFF"/>
              </a:solidFill>
              <a:latin typeface="メイリオ"/>
              <a:ea typeface="メイリオ"/>
              <a:cs typeface="メイリオ"/>
            </a:endParaRPr>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2800" b="1">
                <a:solidFill>
                  <a:srgbClr val="1F3A6E"/>
                </a:solidFill>
                <a:latin typeface="メイリオ"/>
                <a:ea typeface="メイリオ"/>
                <a:cs typeface="メイリオ"/>
              </a:rPr>
              <a:t>このあと、各教科の評価資料を持ち寄って検討します</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00000" y="1820000"/>
            <a:ext cx="11400000" cy="72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a:bodyPr>
          <a:lstStyle/>
          <a:p>
            <a:pPr algn="ctr">
              <a:lnSpc>
                <a:spcPct val="130000"/>
              </a:lnSpc>
            </a:pPr>
            <a:r>
              <a:rPr sz="2000" b="1">
                <a:solidFill>
                  <a:srgbClr val="000000"/>
                </a:solidFill>
                <a:latin typeface="メイリオ"/>
                <a:ea typeface="メイリオ"/>
                <a:cs typeface="メイリオ"/>
              </a:rPr>
              <a:t>協議テーマ：</a:t>
            </a:r>
            <a:r>
              <a:rPr sz="2200" b="1">
                <a:solidFill>
                  <a:srgbClr val="EB6C15"/>
                </a:solidFill>
                <a:latin typeface="メイリオ"/>
                <a:ea typeface="メイリオ"/>
                <a:cs typeface="メイリオ"/>
              </a:rPr>
              <a:t>各教科で評価方法の「ばらつき」を減らす</a:t>
            </a:r>
          </a:p>
        </p:txBody>
      </p:sp>
      <p:sp>
        <p:nvSpPr>
          <p:cNvPr id="6" name="Rectangle 5"/>
          <p:cNvSpPr/>
          <p:nvPr/>
        </p:nvSpPr>
        <p:spPr>
          <a:xfrm>
            <a:off x="400000" y="2720000"/>
            <a:ext cx="1000000" cy="78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fontScale="92500"/>
          </a:bodyPr>
          <a:lstStyle/>
          <a:p>
            <a:pPr algn="ctr">
              <a:lnSpc>
                <a:spcPct val="130000"/>
              </a:lnSpc>
            </a:pPr>
            <a:r>
              <a:rPr sz="3600" b="1">
                <a:solidFill>
                  <a:srgbClr val="FFFFFF"/>
                </a:solidFill>
                <a:latin typeface="メイリオ"/>
                <a:ea typeface="メイリオ"/>
                <a:cs typeface="メイリオ"/>
              </a:rPr>
              <a:t>①</a:t>
            </a:r>
          </a:p>
        </p:txBody>
      </p:sp>
      <p:sp>
        <p:nvSpPr>
          <p:cNvPr id="7" name="Rectangle 6"/>
          <p:cNvSpPr/>
          <p:nvPr/>
        </p:nvSpPr>
        <p:spPr>
          <a:xfrm>
            <a:off x="1500000" y="2720000"/>
            <a:ext cx="10300000" cy="78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a:bodyPr>
          <a:lstStyle/>
          <a:p>
            <a:pPr algn="l">
              <a:lnSpc>
                <a:spcPct val="130000"/>
              </a:lnSpc>
            </a:pPr>
            <a:r>
              <a:rPr sz="2100" b="1">
                <a:solidFill>
                  <a:srgbClr val="1F3A6E"/>
                </a:solidFill>
                <a:latin typeface="メイリオ"/>
                <a:ea typeface="メイリオ"/>
                <a:cs typeface="メイリオ"/>
              </a:rPr>
              <a:t>あなたの教科で「Ｂと判断する姿」は、具体的にどんな姿か？</a:t>
            </a:r>
          </a:p>
        </p:txBody>
      </p:sp>
      <p:sp>
        <p:nvSpPr>
          <p:cNvPr id="8" name="Rectangle 7"/>
          <p:cNvSpPr/>
          <p:nvPr/>
        </p:nvSpPr>
        <p:spPr>
          <a:xfrm>
            <a:off x="400000" y="3620000"/>
            <a:ext cx="1000000" cy="78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fontScale="92500"/>
          </a:bodyPr>
          <a:lstStyle/>
          <a:p>
            <a:pPr algn="ctr">
              <a:lnSpc>
                <a:spcPct val="130000"/>
              </a:lnSpc>
            </a:pPr>
            <a:r>
              <a:rPr sz="3600" b="1">
                <a:solidFill>
                  <a:srgbClr val="FFFFFF"/>
                </a:solidFill>
                <a:latin typeface="メイリオ"/>
                <a:ea typeface="メイリオ"/>
                <a:cs typeface="メイリオ"/>
              </a:rPr>
              <a:t>②</a:t>
            </a:r>
          </a:p>
        </p:txBody>
      </p:sp>
      <p:sp>
        <p:nvSpPr>
          <p:cNvPr id="9" name="Rectangle 8"/>
          <p:cNvSpPr/>
          <p:nvPr/>
        </p:nvSpPr>
        <p:spPr>
          <a:xfrm>
            <a:off x="1500000" y="3620000"/>
            <a:ext cx="10300000" cy="78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a:bodyPr>
          <a:lstStyle/>
          <a:p>
            <a:pPr algn="l">
              <a:lnSpc>
                <a:spcPct val="130000"/>
              </a:lnSpc>
            </a:pPr>
            <a:r>
              <a:rPr sz="2100" b="1">
                <a:solidFill>
                  <a:srgbClr val="1F3A6E"/>
                </a:solidFill>
                <a:latin typeface="メイリオ"/>
                <a:ea typeface="メイリオ"/>
                <a:cs typeface="メイリオ"/>
              </a:rPr>
              <a:t>単元のどの場面で、どんな方法でみとるか？</a:t>
            </a:r>
          </a:p>
        </p:txBody>
      </p:sp>
      <p:sp>
        <p:nvSpPr>
          <p:cNvPr id="10" name="Rectangle 9"/>
          <p:cNvSpPr/>
          <p:nvPr/>
        </p:nvSpPr>
        <p:spPr>
          <a:xfrm>
            <a:off x="400000" y="4520000"/>
            <a:ext cx="1000000" cy="78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fontScale="92500"/>
          </a:bodyPr>
          <a:lstStyle/>
          <a:p>
            <a:pPr algn="ctr">
              <a:lnSpc>
                <a:spcPct val="130000"/>
              </a:lnSpc>
            </a:pPr>
            <a:r>
              <a:rPr sz="3600" b="1">
                <a:solidFill>
                  <a:srgbClr val="FFFFFF"/>
                </a:solidFill>
                <a:latin typeface="メイリオ"/>
                <a:ea typeface="メイリオ"/>
                <a:cs typeface="メイリオ"/>
              </a:rPr>
              <a:t>③</a:t>
            </a:r>
          </a:p>
        </p:txBody>
      </p:sp>
      <p:sp>
        <p:nvSpPr>
          <p:cNvPr id="11" name="Rectangle 10"/>
          <p:cNvSpPr/>
          <p:nvPr/>
        </p:nvSpPr>
        <p:spPr>
          <a:xfrm>
            <a:off x="1500000" y="4520000"/>
            <a:ext cx="10300000" cy="78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a:bodyPr>
          <a:lstStyle/>
          <a:p>
            <a:pPr algn="l">
              <a:lnSpc>
                <a:spcPct val="130000"/>
              </a:lnSpc>
            </a:pPr>
            <a:r>
              <a:rPr sz="2100" b="1">
                <a:solidFill>
                  <a:srgbClr val="1F3A6E"/>
                </a:solidFill>
                <a:latin typeface="メイリオ"/>
                <a:ea typeface="メイリオ"/>
                <a:cs typeface="メイリオ"/>
              </a:rPr>
              <a:t>その評価を、次の授業改善にどう生かすか？</a:t>
            </a:r>
          </a:p>
        </p:txBody>
      </p:sp>
      <p:sp>
        <p:nvSpPr>
          <p:cNvPr id="12" name="Rectangle 11"/>
          <p:cNvSpPr/>
          <p:nvPr/>
        </p:nvSpPr>
        <p:spPr>
          <a:xfrm>
            <a:off x="400000" y="5520000"/>
            <a:ext cx="11400000" cy="620000"/>
          </a:xfrm>
          <a:prstGeom prst="rect">
            <a:avLst/>
          </a:prstGeom>
          <a:solidFill>
            <a:srgbClr val="FFE066"/>
          </a:solidFill>
          <a:ln w="38100">
            <a:solidFill>
              <a:srgbClr val="EB6C15"/>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a:bodyPr>
          <a:lstStyle/>
          <a:p>
            <a:pPr algn="ctr">
              <a:lnSpc>
                <a:spcPct val="130000"/>
              </a:lnSpc>
            </a:pPr>
            <a:r>
              <a:rPr sz="2100" b="1">
                <a:solidFill>
                  <a:srgbClr val="1F3A6E"/>
                </a:solidFill>
                <a:latin typeface="メイリオ"/>
                <a:ea typeface="メイリオ"/>
                <a:cs typeface="メイリオ"/>
              </a:rPr>
              <a:t>持ち寄った評価資料をもとに話し合い、教科として評価方法をそろえる</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pPr algn="l"/>
            <a:r>
              <a:rPr sz="3200" b="1" dirty="0" err="1">
                <a:solidFill>
                  <a:srgbClr val="FFFFFF"/>
                </a:solidFill>
                <a:latin typeface="メイリオ"/>
                <a:ea typeface="メイリオ"/>
                <a:cs typeface="メイリオ"/>
              </a:rPr>
              <a:t>今後に向けて</a:t>
            </a:r>
            <a:endParaRPr sz="3200" b="1" dirty="0">
              <a:solidFill>
                <a:srgbClr val="FFFFFF"/>
              </a:solidFill>
              <a:latin typeface="メイリオ"/>
              <a:ea typeface="メイリオ"/>
              <a:cs typeface="メイリオ"/>
            </a:endParaRPr>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2800" b="1">
                <a:solidFill>
                  <a:srgbClr val="1F3A6E"/>
                </a:solidFill>
                <a:latin typeface="メイリオ"/>
                <a:ea typeface="メイリオ"/>
                <a:cs typeface="メイリオ"/>
              </a:rPr>
              <a:t>次期学習指導要領の方向性 ─ 令和7年「論点整理」</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00000" y="1820000"/>
            <a:ext cx="11400000" cy="620000"/>
          </a:xfrm>
          <a:prstGeom prst="rect">
            <a:avLst/>
          </a:prstGeom>
          <a:solidFill>
            <a:srgbClr val="FFE066"/>
          </a:solidFill>
          <a:ln w="31750">
            <a:solidFill>
              <a:srgbClr val="EB6C15"/>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a:bodyPr>
          <a:lstStyle/>
          <a:p>
            <a:pPr algn="ctr">
              <a:lnSpc>
                <a:spcPct val="130000"/>
              </a:lnSpc>
            </a:pPr>
            <a:r>
              <a:rPr sz="1800" b="1">
                <a:solidFill>
                  <a:srgbClr val="000000"/>
                </a:solidFill>
                <a:latin typeface="メイリオ"/>
                <a:ea typeface="メイリオ"/>
                <a:cs typeface="メイリオ"/>
              </a:rPr>
              <a:t>ここから先は</a:t>
            </a:r>
            <a:r>
              <a:rPr sz="2200" b="1">
                <a:solidFill>
                  <a:srgbClr val="EB6C15"/>
                </a:solidFill>
                <a:latin typeface="メイリオ"/>
                <a:ea typeface="メイリオ"/>
                <a:cs typeface="メイリオ"/>
              </a:rPr>
              <a:t>「方向性」</a:t>
            </a:r>
            <a:r>
              <a:rPr sz="1800" b="1">
                <a:solidFill>
                  <a:srgbClr val="000000"/>
                </a:solidFill>
                <a:latin typeface="メイリオ"/>
                <a:ea typeface="メイリオ"/>
                <a:cs typeface="メイリオ"/>
              </a:rPr>
              <a:t>です。現時点での運用は </a:t>
            </a:r>
            <a:r>
              <a:rPr sz="2200" b="1">
                <a:solidFill>
                  <a:srgbClr val="1F3A6E"/>
                </a:solidFill>
                <a:latin typeface="メイリオ"/>
                <a:ea typeface="メイリオ"/>
                <a:cs typeface="メイリオ"/>
              </a:rPr>
              <a:t>現行3観点ABC</a:t>
            </a:r>
            <a:r>
              <a:rPr sz="1800" b="1">
                <a:solidFill>
                  <a:srgbClr val="000000"/>
                </a:solidFill>
                <a:latin typeface="メイリオ"/>
                <a:ea typeface="メイリオ"/>
                <a:cs typeface="メイリオ"/>
              </a:rPr>
              <a:t> のままです</a:t>
            </a:r>
          </a:p>
        </p:txBody>
      </p:sp>
      <p:sp>
        <p:nvSpPr>
          <p:cNvPr id="6" name="Rectangle 5"/>
          <p:cNvSpPr/>
          <p:nvPr/>
        </p:nvSpPr>
        <p:spPr>
          <a:xfrm>
            <a:off x="400000" y="2550000"/>
            <a:ext cx="900000" cy="9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a:bodyPr>
          <a:lstStyle/>
          <a:p>
            <a:pPr algn="ctr">
              <a:lnSpc>
                <a:spcPct val="130000"/>
              </a:lnSpc>
            </a:pPr>
            <a:r>
              <a:rPr sz="4200" b="1">
                <a:solidFill>
                  <a:srgbClr val="FFFFFF"/>
                </a:solidFill>
                <a:latin typeface="メイリオ"/>
                <a:ea typeface="メイリオ"/>
                <a:cs typeface="メイリオ"/>
              </a:rPr>
              <a:t>①</a:t>
            </a:r>
          </a:p>
        </p:txBody>
      </p:sp>
      <p:sp>
        <p:nvSpPr>
          <p:cNvPr id="7" name="Rectangle 6"/>
          <p:cNvSpPr/>
          <p:nvPr/>
        </p:nvSpPr>
        <p:spPr>
          <a:xfrm>
            <a:off x="1400000" y="2550000"/>
            <a:ext cx="10400000" cy="95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fontScale="92500" lnSpcReduction="20000"/>
          </a:bodyPr>
          <a:lstStyle/>
          <a:p>
            <a:pPr algn="l">
              <a:lnSpc>
                <a:spcPct val="120000"/>
              </a:lnSpc>
            </a:pPr>
            <a:r>
              <a:rPr sz="2200" b="1">
                <a:solidFill>
                  <a:srgbClr val="EB6C15"/>
                </a:solidFill>
                <a:latin typeface="メイリオ"/>
                <a:ea typeface="メイリオ"/>
                <a:cs typeface="メイリオ"/>
              </a:rPr>
              <a:t>評定の対象外へ</a:t>
            </a:r>
          </a:p>
          <a:p>
            <a:pPr algn="l">
              <a:lnSpc>
                <a:spcPct val="120000"/>
              </a:lnSpc>
            </a:pPr>
            <a:r>
              <a:rPr sz="1600" b="1">
                <a:solidFill>
                  <a:srgbClr val="1F3A6E"/>
                </a:solidFill>
                <a:latin typeface="メイリオ"/>
                <a:ea typeface="メイリオ"/>
                <a:cs typeface="メイリオ"/>
              </a:rPr>
              <a:t>「主体的に学習に取り組む態度」を A・B・C の目標準拠評価から外し、
個人の成長や良さを記述する「個人内評価」へ転換</a:t>
            </a:r>
          </a:p>
        </p:txBody>
      </p:sp>
      <p:sp>
        <p:nvSpPr>
          <p:cNvPr id="8" name="Rectangle 7"/>
          <p:cNvSpPr/>
          <p:nvPr/>
        </p:nvSpPr>
        <p:spPr>
          <a:xfrm>
            <a:off x="400000" y="3650000"/>
            <a:ext cx="900000" cy="9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a:bodyPr>
          <a:lstStyle/>
          <a:p>
            <a:pPr algn="ctr">
              <a:lnSpc>
                <a:spcPct val="130000"/>
              </a:lnSpc>
            </a:pPr>
            <a:r>
              <a:rPr sz="4200" b="1">
                <a:solidFill>
                  <a:srgbClr val="FFFFFF"/>
                </a:solidFill>
                <a:latin typeface="メイリオ"/>
                <a:ea typeface="メイリオ"/>
                <a:cs typeface="メイリオ"/>
              </a:rPr>
              <a:t>②</a:t>
            </a:r>
          </a:p>
        </p:txBody>
      </p:sp>
      <p:sp>
        <p:nvSpPr>
          <p:cNvPr id="9" name="Rectangle 8"/>
          <p:cNvSpPr/>
          <p:nvPr/>
        </p:nvSpPr>
        <p:spPr>
          <a:xfrm>
            <a:off x="1400000" y="3650000"/>
            <a:ext cx="10400000" cy="95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fontScale="92500" lnSpcReduction="20000"/>
          </a:bodyPr>
          <a:lstStyle/>
          <a:p>
            <a:pPr algn="l">
              <a:lnSpc>
                <a:spcPct val="120000"/>
              </a:lnSpc>
            </a:pPr>
            <a:r>
              <a:rPr sz="2200" b="1">
                <a:solidFill>
                  <a:srgbClr val="EB6C15"/>
                </a:solidFill>
                <a:latin typeface="メイリオ"/>
                <a:ea typeface="メイリオ"/>
                <a:cs typeface="メイリオ"/>
              </a:rPr>
              <a:t>総合所見＋「○」付記</a:t>
            </a:r>
          </a:p>
          <a:p>
            <a:pPr algn="l">
              <a:lnSpc>
                <a:spcPct val="120000"/>
              </a:lnSpc>
            </a:pPr>
            <a:r>
              <a:rPr sz="1600" b="1">
                <a:solidFill>
                  <a:srgbClr val="1F3A6E"/>
                </a:solidFill>
                <a:latin typeface="メイリオ"/>
                <a:ea typeface="メイリオ"/>
                <a:cs typeface="メイリオ"/>
              </a:rPr>
              <a:t>「学びに向かう力」を総合所見欄での個人内評価と、
「思考・判断・表現」観点別評価への「○」付記の組合せで見る方向</a:t>
            </a:r>
          </a:p>
        </p:txBody>
      </p:sp>
      <p:sp>
        <p:nvSpPr>
          <p:cNvPr id="10" name="Rectangle 9"/>
          <p:cNvSpPr/>
          <p:nvPr/>
        </p:nvSpPr>
        <p:spPr>
          <a:xfrm>
            <a:off x="400000" y="4750000"/>
            <a:ext cx="900000" cy="9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a:bodyPr>
          <a:lstStyle/>
          <a:p>
            <a:pPr algn="ctr">
              <a:lnSpc>
                <a:spcPct val="130000"/>
              </a:lnSpc>
            </a:pPr>
            <a:r>
              <a:rPr sz="4200" b="1">
                <a:solidFill>
                  <a:srgbClr val="FFFFFF"/>
                </a:solidFill>
                <a:latin typeface="メイリオ"/>
                <a:ea typeface="メイリオ"/>
                <a:cs typeface="メイリオ"/>
              </a:rPr>
              <a:t>③</a:t>
            </a:r>
          </a:p>
        </p:txBody>
      </p:sp>
      <p:sp>
        <p:nvSpPr>
          <p:cNvPr id="11" name="Rectangle 10"/>
          <p:cNvSpPr/>
          <p:nvPr/>
        </p:nvSpPr>
        <p:spPr>
          <a:xfrm>
            <a:off x="1400000" y="4750000"/>
            <a:ext cx="10400000" cy="95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fontScale="92500" lnSpcReduction="20000"/>
          </a:bodyPr>
          <a:lstStyle/>
          <a:p>
            <a:pPr algn="l">
              <a:lnSpc>
                <a:spcPct val="120000"/>
              </a:lnSpc>
            </a:pPr>
            <a:r>
              <a:rPr sz="2200" b="1">
                <a:solidFill>
                  <a:srgbClr val="EB6C15"/>
                </a:solidFill>
                <a:latin typeface="メイリオ"/>
                <a:ea typeface="メイリオ"/>
                <a:cs typeface="メイリオ"/>
              </a:rPr>
              <a:t>形式的評価からの脱却</a:t>
            </a:r>
          </a:p>
          <a:p>
            <a:pPr algn="l">
              <a:lnSpc>
                <a:spcPct val="120000"/>
              </a:lnSpc>
            </a:pPr>
            <a:r>
              <a:rPr sz="1600" b="1">
                <a:solidFill>
                  <a:srgbClr val="1F3A6E"/>
                </a:solidFill>
                <a:latin typeface="メイリオ"/>
                <a:ea typeface="メイリオ"/>
                <a:cs typeface="メイリオ"/>
              </a:rPr>
              <a:t>ノート提出頻度・挙手回数など「勤勉さ」ではなく、
見通し・粘り強さ・振り返りの「学びの過程」そのものを評価</a:t>
            </a:r>
          </a:p>
        </p:txBody>
      </p:sp>
      <p:sp>
        <p:nvSpPr>
          <p:cNvPr id="12" name="TextBox 11"/>
          <p:cNvSpPr txBox="1"/>
          <p:nvPr/>
        </p:nvSpPr>
        <p:spPr>
          <a:xfrm>
            <a:off x="300000" y="6054875"/>
            <a:ext cx="11500000" cy="220250"/>
          </a:xfrm>
          <a:prstGeom prst="rect">
            <a:avLst/>
          </a:prstGeom>
          <a:noFill/>
        </p:spPr>
        <p:txBody>
          <a:bodyPr wrap="square" lIns="40000" tIns="10000" rIns="40000" bIns="10000" anchor="ctr">
            <a:spAutoFit/>
          </a:bodyPr>
          <a:lstStyle/>
          <a:p>
            <a:pPr algn="r"/>
            <a:r>
              <a:rPr sz="1300" dirty="0" err="1">
                <a:solidFill>
                  <a:srgbClr val="404040"/>
                </a:solidFill>
                <a:latin typeface="メイリオ"/>
                <a:ea typeface="メイリオ"/>
                <a:cs typeface="メイリオ"/>
              </a:rPr>
              <a:t>出典：中央教育審議会</a:t>
            </a:r>
            <a:r>
              <a:rPr sz="1300" dirty="0">
                <a:solidFill>
                  <a:srgbClr val="404040"/>
                </a:solidFill>
                <a:latin typeface="メイリオ"/>
                <a:ea typeface="メイリオ"/>
                <a:cs typeface="メイリオ"/>
              </a:rPr>
              <a:t> 教育課程企画特別部会「論点整理」令和7年9月25日</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pPr algn="l"/>
            <a:r>
              <a:rPr sz="2800" b="1" dirty="0" err="1">
                <a:solidFill>
                  <a:srgbClr val="FFFFFF"/>
                </a:solidFill>
                <a:latin typeface="メイリオ"/>
                <a:ea typeface="メイリオ"/>
                <a:cs typeface="メイリオ"/>
              </a:rPr>
              <a:t>今後に向けて</a:t>
            </a:r>
            <a:endParaRPr sz="2800" b="1" dirty="0">
              <a:solidFill>
                <a:srgbClr val="FFFFFF"/>
              </a:solidFill>
              <a:latin typeface="メイリオ"/>
              <a:ea typeface="メイリオ"/>
              <a:cs typeface="メイリオ"/>
            </a:endParaRPr>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2800" b="1">
                <a:solidFill>
                  <a:srgbClr val="1F3A6E"/>
                </a:solidFill>
                <a:latin typeface="メイリオ"/>
                <a:ea typeface="メイリオ"/>
                <a:cs typeface="メイリオ"/>
              </a:rPr>
              <a:t>今日の取り組みは「次期」でこそ生きる</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00000" y="1820000"/>
            <a:ext cx="11400000" cy="65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a:bodyPr>
          <a:lstStyle/>
          <a:p>
            <a:pPr algn="ctr">
              <a:lnSpc>
                <a:spcPct val="130000"/>
              </a:lnSpc>
            </a:pPr>
            <a:r>
              <a:rPr sz="2000" b="1">
                <a:solidFill>
                  <a:srgbClr val="404040"/>
                </a:solidFill>
                <a:latin typeface="メイリオ"/>
                <a:ea typeface="メイリオ"/>
                <a:cs typeface="メイリオ"/>
              </a:rPr>
              <a:t>「今日の研修が無駄になるのでは？」</a:t>
            </a:r>
            <a:r>
              <a:rPr sz="2000" b="1">
                <a:solidFill>
                  <a:srgbClr val="000000"/>
                </a:solidFill>
                <a:latin typeface="メイリオ"/>
                <a:ea typeface="メイリオ"/>
                <a:cs typeface="メイリオ"/>
              </a:rPr>
              <a:t>　─　いいえ、むしろ</a:t>
            </a:r>
            <a:r>
              <a:rPr sz="2200" b="1">
                <a:solidFill>
                  <a:srgbClr val="EB6C15"/>
                </a:solidFill>
                <a:latin typeface="メイリオ"/>
                <a:ea typeface="メイリオ"/>
                <a:cs typeface="メイリオ"/>
              </a:rPr>
              <a:t>強化されます</a:t>
            </a:r>
          </a:p>
        </p:txBody>
      </p:sp>
      <p:sp>
        <p:nvSpPr>
          <p:cNvPr id="6" name="Rectangle 5"/>
          <p:cNvSpPr/>
          <p:nvPr/>
        </p:nvSpPr>
        <p:spPr>
          <a:xfrm>
            <a:off x="400000" y="2570000"/>
            <a:ext cx="4200000" cy="88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a:bodyPr>
          <a:lstStyle/>
          <a:p>
            <a:pPr algn="ctr">
              <a:lnSpc>
                <a:spcPct val="115000"/>
              </a:lnSpc>
            </a:pPr>
            <a:r>
              <a:rPr sz="1800" b="1">
                <a:solidFill>
                  <a:srgbClr val="FFFFFF"/>
                </a:solidFill>
                <a:latin typeface="メイリオ"/>
                <a:ea typeface="メイリオ"/>
                <a:cs typeface="メイリオ"/>
              </a:rPr>
              <a:t>Ｂの姿の言語化</a:t>
            </a:r>
          </a:p>
        </p:txBody>
      </p:sp>
      <p:sp>
        <p:nvSpPr>
          <p:cNvPr id="7" name="Rectangle 6"/>
          <p:cNvSpPr/>
          <p:nvPr/>
        </p:nvSpPr>
        <p:spPr>
          <a:xfrm>
            <a:off x="4700000" y="2570000"/>
            <a:ext cx="7100000" cy="88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a:bodyPr>
          <a:lstStyle/>
          <a:p>
            <a:pPr algn="l">
              <a:lnSpc>
                <a:spcPct val="120000"/>
              </a:lnSpc>
            </a:pPr>
            <a:r>
              <a:rPr sz="1800" b="1">
                <a:solidFill>
                  <a:srgbClr val="EB6C15"/>
                </a:solidFill>
                <a:latin typeface="メイリオ"/>
                <a:ea typeface="メイリオ"/>
                <a:cs typeface="メイリオ"/>
              </a:rPr>
              <a:t>→ 個人内評価の根拠記述に直結</a:t>
            </a:r>
          </a:p>
          <a:p>
            <a:pPr algn="l">
              <a:lnSpc>
                <a:spcPct val="120000"/>
              </a:lnSpc>
            </a:pPr>
            <a:r>
              <a:rPr sz="1500" b="1">
                <a:solidFill>
                  <a:srgbClr val="1F3A6E"/>
                </a:solidFill>
                <a:latin typeface="メイリオ"/>
                <a:ea typeface="メイリオ"/>
                <a:cs typeface="メイリオ"/>
              </a:rPr>
              <a:t>規準が言語化できていれば、所見欄での質の高い記述が書ける</a:t>
            </a:r>
          </a:p>
        </p:txBody>
      </p:sp>
      <p:sp>
        <p:nvSpPr>
          <p:cNvPr id="8" name="Rectangle 7"/>
          <p:cNvSpPr/>
          <p:nvPr/>
        </p:nvSpPr>
        <p:spPr>
          <a:xfrm>
            <a:off x="400000" y="3570000"/>
            <a:ext cx="4200000" cy="88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a:bodyPr>
          <a:lstStyle/>
          <a:p>
            <a:pPr algn="ctr">
              <a:lnSpc>
                <a:spcPct val="115000"/>
              </a:lnSpc>
            </a:pPr>
            <a:r>
              <a:rPr sz="1800" b="1">
                <a:solidFill>
                  <a:srgbClr val="FFFFFF"/>
                </a:solidFill>
                <a:latin typeface="メイリオ"/>
                <a:ea typeface="メイリオ"/>
                <a:cs typeface="メイリオ"/>
              </a:rPr>
              <a:t>形成的評価
（みとる→気づく→変える→伸びる）</a:t>
            </a:r>
          </a:p>
        </p:txBody>
      </p:sp>
      <p:sp>
        <p:nvSpPr>
          <p:cNvPr id="9" name="Rectangle 8"/>
          <p:cNvSpPr/>
          <p:nvPr/>
        </p:nvSpPr>
        <p:spPr>
          <a:xfrm>
            <a:off x="4700000" y="3570000"/>
            <a:ext cx="7100000" cy="88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a:bodyPr>
          <a:lstStyle/>
          <a:p>
            <a:pPr algn="l">
              <a:lnSpc>
                <a:spcPct val="120000"/>
              </a:lnSpc>
            </a:pPr>
            <a:r>
              <a:rPr sz="1800" b="1">
                <a:solidFill>
                  <a:srgbClr val="EB6C15"/>
                </a:solidFill>
                <a:latin typeface="メイリオ"/>
                <a:ea typeface="メイリオ"/>
                <a:cs typeface="メイリオ"/>
              </a:rPr>
              <a:t>→ 次期の中心となる視点</a:t>
            </a:r>
          </a:p>
          <a:p>
            <a:pPr algn="l">
              <a:lnSpc>
                <a:spcPct val="120000"/>
              </a:lnSpc>
            </a:pPr>
            <a:r>
              <a:rPr sz="1500" b="1">
                <a:solidFill>
                  <a:srgbClr val="1F3A6E"/>
                </a:solidFill>
                <a:latin typeface="メイリオ"/>
                <a:ea typeface="メイリオ"/>
                <a:cs typeface="メイリオ"/>
              </a:rPr>
              <a:t>「学びの過程」を見る目こそ、次期で最も求められる教師の力</a:t>
            </a:r>
          </a:p>
        </p:txBody>
      </p:sp>
      <p:sp>
        <p:nvSpPr>
          <p:cNvPr id="10" name="Rectangle 9"/>
          <p:cNvSpPr/>
          <p:nvPr/>
        </p:nvSpPr>
        <p:spPr>
          <a:xfrm>
            <a:off x="400000" y="4570000"/>
            <a:ext cx="4200000" cy="88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a:bodyPr>
          <a:lstStyle/>
          <a:p>
            <a:pPr algn="ctr">
              <a:lnSpc>
                <a:spcPct val="115000"/>
              </a:lnSpc>
            </a:pPr>
            <a:r>
              <a:rPr sz="1800" b="1">
                <a:solidFill>
                  <a:srgbClr val="FFFFFF"/>
                </a:solidFill>
                <a:latin typeface="メイリオ"/>
                <a:ea typeface="メイリオ"/>
                <a:cs typeface="メイリオ"/>
              </a:rPr>
              <a:t>教科会で揃える3つ</a:t>
            </a:r>
          </a:p>
        </p:txBody>
      </p:sp>
      <p:sp>
        <p:nvSpPr>
          <p:cNvPr id="11" name="Rectangle 10"/>
          <p:cNvSpPr/>
          <p:nvPr/>
        </p:nvSpPr>
        <p:spPr>
          <a:xfrm>
            <a:off x="4700000" y="4570000"/>
            <a:ext cx="7100000" cy="88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a:bodyPr>
          <a:lstStyle/>
          <a:p>
            <a:pPr algn="l">
              <a:lnSpc>
                <a:spcPct val="120000"/>
              </a:lnSpc>
            </a:pPr>
            <a:r>
              <a:rPr sz="1800" b="1">
                <a:solidFill>
                  <a:srgbClr val="EB6C15"/>
                </a:solidFill>
                <a:latin typeface="メイリオ"/>
                <a:ea typeface="メイリオ"/>
                <a:cs typeface="メイリオ"/>
              </a:rPr>
              <a:t>→ 観点が減っても価値は不変</a:t>
            </a:r>
          </a:p>
          <a:p>
            <a:pPr algn="l">
              <a:lnSpc>
                <a:spcPct val="120000"/>
              </a:lnSpc>
            </a:pPr>
            <a:r>
              <a:rPr sz="1500" b="1">
                <a:solidFill>
                  <a:srgbClr val="1F3A6E"/>
                </a:solidFill>
                <a:latin typeface="メイリオ"/>
                <a:ea typeface="メイリオ"/>
                <a:cs typeface="メイリオ"/>
              </a:rPr>
              <a:t>個人内評価でも「教科として何を見るか」を揃える力は同じく必要</a:t>
            </a:r>
          </a:p>
        </p:txBody>
      </p:sp>
      <p:sp>
        <p:nvSpPr>
          <p:cNvPr id="12" name="Rectangle 11"/>
          <p:cNvSpPr/>
          <p:nvPr/>
        </p:nvSpPr>
        <p:spPr>
          <a:xfrm>
            <a:off x="400000" y="5700000"/>
            <a:ext cx="11400000" cy="550000"/>
          </a:xfrm>
          <a:prstGeom prst="rect">
            <a:avLst/>
          </a:prstGeom>
          <a:solidFill>
            <a:srgbClr val="FFE066"/>
          </a:solidFill>
          <a:ln w="38100">
            <a:solidFill>
              <a:srgbClr val="EB6C15"/>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lnSpcReduction="10000"/>
          </a:bodyPr>
          <a:lstStyle/>
          <a:p>
            <a:pPr algn="ctr">
              <a:lnSpc>
                <a:spcPct val="130000"/>
              </a:lnSpc>
            </a:pPr>
            <a:r>
              <a:rPr sz="2000" b="1">
                <a:solidFill>
                  <a:srgbClr val="000000"/>
                </a:solidFill>
                <a:latin typeface="メイリオ"/>
                <a:ea typeface="メイリオ"/>
                <a:cs typeface="メイリオ"/>
              </a:rPr>
              <a:t>方向性が変わっても、</a:t>
            </a:r>
            <a:r>
              <a:rPr sz="2200" b="1">
                <a:solidFill>
                  <a:srgbClr val="EB6C15"/>
                </a:solidFill>
                <a:latin typeface="メイリオ"/>
                <a:ea typeface="メイリオ"/>
                <a:cs typeface="メイリオ"/>
              </a:rPr>
              <a:t>「学びの過程を見る目」</a:t>
            </a:r>
            <a:r>
              <a:rPr sz="2000" b="1">
                <a:solidFill>
                  <a:srgbClr val="000000"/>
                </a:solidFill>
                <a:latin typeface="メイリオ"/>
                <a:ea typeface="メイリオ"/>
                <a:cs typeface="メイリオ"/>
              </a:rPr>
              <a:t>は変わらない</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C1220DAA-8AF5-61D3-8407-F14721C46441}"/>
              </a:ext>
            </a:extLst>
          </p:cNvPr>
          <p:cNvSpPr/>
          <p:nvPr/>
        </p:nvSpPr>
        <p:spPr bwMode="white">
          <a:xfrm>
            <a:off x="302214" y="6411724"/>
            <a:ext cx="11137513" cy="446276"/>
          </a:xfrm>
          <a:prstGeom prst="rect">
            <a:avLst/>
          </a:prstGeom>
          <a:noFill/>
          <a:ln>
            <a:noFill/>
          </a:ln>
        </p:spPr>
        <p:txBody>
          <a:bodyPr wrap="square">
            <a:spAutoFit/>
          </a:bodyPr>
          <a:lstStyle/>
          <a:p>
            <a:pPr algn="r">
              <a:lnSpc>
                <a:spcPct val="120000"/>
              </a:lnSpc>
            </a:pPr>
            <a:r>
              <a:rPr lang="ja-JP" altLang="en-US" sz="20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令和８年３月　文部科学省　教育課程部会　総則・評価特別部会　資料１－１より引用</a:t>
            </a:r>
          </a:p>
        </p:txBody>
      </p:sp>
      <p:sp>
        <p:nvSpPr>
          <p:cNvPr id="4" name="Rectangle 2">
            <a:extLst>
              <a:ext uri="{FF2B5EF4-FFF2-40B4-BE49-F238E27FC236}">
                <a16:creationId xmlns:a16="http://schemas.microsoft.com/office/drawing/2014/main" id="{ABCCB3B6-9306-04C6-E396-7EEE52969FBD}"/>
              </a:ext>
            </a:extLst>
          </p:cNvPr>
          <p:cNvSpPr txBox="1">
            <a:spLocks noChangeArrowheads="1"/>
          </p:cNvSpPr>
          <p:nvPr/>
        </p:nvSpPr>
        <p:spPr>
          <a:xfrm>
            <a:off x="302214" y="954049"/>
            <a:ext cx="11693843" cy="1157780"/>
          </a:xfrm>
          <a:prstGeom prst="rect">
            <a:avLst/>
          </a:prstGeom>
        </p:spPr>
        <p:txBody>
          <a:bodyPr vert="horz" lIns="91440" tIns="45720" rIns="91440" bIns="45720" rtlCol="0" anchor="t">
            <a:noAutofit/>
          </a:bodyPr>
          <a:lstStyle>
            <a:lvl1pPr algn="ctr"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pPr algn="l">
              <a:defRPr/>
            </a:pPr>
            <a:r>
              <a:rPr lang="ja-JP" altLang="en-US" sz="3600" b="1" dirty="0">
                <a:latin typeface="UD デジタル 教科書体 N-B" panose="02020700000000000000" pitchFamily="17" charset="-128"/>
                <a:ea typeface="UD デジタル 教科書体 N-B" panose="02020700000000000000" pitchFamily="17" charset="-128"/>
              </a:rPr>
              <a:t>「学びに向かう力・人間性等」の特質に応じた新たな</a:t>
            </a:r>
            <a:endParaRPr lang="en-US" altLang="ja-JP" sz="3600" b="1" dirty="0">
              <a:latin typeface="UD デジタル 教科書体 N-B" panose="02020700000000000000" pitchFamily="17" charset="-128"/>
              <a:ea typeface="UD デジタル 教科書体 N-B" panose="02020700000000000000" pitchFamily="17" charset="-128"/>
            </a:endParaRPr>
          </a:p>
          <a:p>
            <a:pPr algn="l">
              <a:defRPr/>
            </a:pPr>
            <a:r>
              <a:rPr lang="ja-JP" altLang="en-US" sz="3600" b="1" dirty="0">
                <a:latin typeface="UD デジタル 教科書体 N-B" panose="02020700000000000000" pitchFamily="17" charset="-128"/>
                <a:ea typeface="UD デジタル 教科書体 N-B" panose="02020700000000000000" pitchFamily="17" charset="-128"/>
              </a:rPr>
              <a:t>　観点別評価</a:t>
            </a:r>
            <a:endParaRPr lang="en-US" altLang="ja-JP" sz="3600" b="1" dirty="0">
              <a:latin typeface="UD デジタル 教科書体 N-B" panose="02020700000000000000" pitchFamily="17" charset="-128"/>
              <a:ea typeface="UD デジタル 教科書体 N-B" panose="02020700000000000000" pitchFamily="17" charset="-128"/>
            </a:endParaRPr>
          </a:p>
        </p:txBody>
      </p:sp>
      <p:sp>
        <p:nvSpPr>
          <p:cNvPr id="5" name="Rectangle 2">
            <a:extLst>
              <a:ext uri="{FF2B5EF4-FFF2-40B4-BE49-F238E27FC236}">
                <a16:creationId xmlns:a16="http://schemas.microsoft.com/office/drawing/2014/main" id="{A3307A4B-FBB5-343F-755F-2CAC6D6E189C}"/>
              </a:ext>
            </a:extLst>
          </p:cNvPr>
          <p:cNvSpPr txBox="1">
            <a:spLocks noChangeArrowheads="1"/>
          </p:cNvSpPr>
          <p:nvPr/>
        </p:nvSpPr>
        <p:spPr>
          <a:xfrm>
            <a:off x="827314" y="2302436"/>
            <a:ext cx="10908929" cy="1649078"/>
          </a:xfrm>
          <a:prstGeom prst="rect">
            <a:avLst/>
          </a:prstGeom>
        </p:spPr>
        <p:txBody>
          <a:bodyPr vert="horz" lIns="91440" tIns="45720" rIns="91440" bIns="45720" rtlCol="0" anchor="t">
            <a:noAutofit/>
          </a:bodyPr>
          <a:lstStyle>
            <a:lvl1pPr algn="ctr"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pPr algn="l">
              <a:defRPr/>
            </a:pPr>
            <a:r>
              <a:rPr lang="ja-JP" altLang="en-US" sz="3600" b="1" dirty="0">
                <a:latin typeface="UD デジタル 教科書体 N-B" panose="02020700000000000000" pitchFamily="17" charset="-128"/>
                <a:ea typeface="UD デジタル 教科書体 N-B" panose="02020700000000000000" pitchFamily="17" charset="-128"/>
              </a:rPr>
              <a:t>◆形式的かつ過度な評価材料集めを抑制しつつ、</a:t>
            </a:r>
            <a:endParaRPr lang="en-US" altLang="ja-JP" sz="3600" b="1" dirty="0">
              <a:latin typeface="UD デジタル 教科書体 N-B" panose="02020700000000000000" pitchFamily="17" charset="-128"/>
              <a:ea typeface="UD デジタル 教科書体 N-B" panose="02020700000000000000" pitchFamily="17" charset="-128"/>
            </a:endParaRPr>
          </a:p>
          <a:p>
            <a:pPr algn="l">
              <a:defRPr/>
            </a:pPr>
            <a:r>
              <a:rPr lang="ja-JP" altLang="en-US" sz="3600" b="1" dirty="0">
                <a:latin typeface="UD デジタル 教科書体 N-B" panose="02020700000000000000" pitchFamily="17" charset="-128"/>
                <a:ea typeface="UD デジタル 教科書体 N-B" panose="02020700000000000000" pitchFamily="17" charset="-128"/>
              </a:rPr>
              <a:t>　多様な子供達一人一人の良さや成長を肯定的に</a:t>
            </a:r>
            <a:endParaRPr lang="en-US" altLang="ja-JP" sz="3600" b="1" dirty="0">
              <a:latin typeface="UD デジタル 教科書体 N-B" panose="02020700000000000000" pitchFamily="17" charset="-128"/>
              <a:ea typeface="UD デジタル 教科書体 N-B" panose="02020700000000000000" pitchFamily="17" charset="-128"/>
            </a:endParaRPr>
          </a:p>
          <a:p>
            <a:pPr algn="l">
              <a:defRPr/>
            </a:pPr>
            <a:r>
              <a:rPr lang="ja-JP" altLang="en-US" sz="3600" b="1" dirty="0">
                <a:latin typeface="UD デジタル 教科書体 N-B" panose="02020700000000000000" pitchFamily="17" charset="-128"/>
                <a:ea typeface="UD デジタル 教科書体 N-B" panose="02020700000000000000" pitchFamily="17" charset="-128"/>
              </a:rPr>
              <a:t>　評価できるよう、実質化を図る。</a:t>
            </a:r>
            <a:endParaRPr lang="en-US" altLang="ja-JP" sz="3600" b="1" dirty="0">
              <a:latin typeface="UD デジタル 教科書体 N-B" panose="02020700000000000000" pitchFamily="17" charset="-128"/>
              <a:ea typeface="UD デジタル 教科書体 N-B" panose="02020700000000000000" pitchFamily="17" charset="-128"/>
            </a:endParaRPr>
          </a:p>
          <a:p>
            <a:pPr algn="l">
              <a:defRPr/>
            </a:pPr>
            <a:endParaRPr lang="en-US" altLang="ja-JP" sz="3600" b="1" dirty="0">
              <a:latin typeface="UD デジタル 教科書体 N-B" panose="02020700000000000000" pitchFamily="17" charset="-128"/>
              <a:ea typeface="UD デジタル 教科書体 N-B" panose="02020700000000000000" pitchFamily="17" charset="-128"/>
            </a:endParaRPr>
          </a:p>
        </p:txBody>
      </p:sp>
      <p:sp>
        <p:nvSpPr>
          <p:cNvPr id="7" name="Rectangle 2">
            <a:extLst>
              <a:ext uri="{FF2B5EF4-FFF2-40B4-BE49-F238E27FC236}">
                <a16:creationId xmlns:a16="http://schemas.microsoft.com/office/drawing/2014/main" id="{73F83B4B-53EF-77FE-85FE-D08B6BAF295D}"/>
              </a:ext>
            </a:extLst>
          </p:cNvPr>
          <p:cNvSpPr txBox="1">
            <a:spLocks noChangeArrowheads="1"/>
          </p:cNvSpPr>
          <p:nvPr/>
        </p:nvSpPr>
        <p:spPr>
          <a:xfrm>
            <a:off x="827313" y="4142121"/>
            <a:ext cx="10908929" cy="1649078"/>
          </a:xfrm>
          <a:prstGeom prst="rect">
            <a:avLst/>
          </a:prstGeom>
        </p:spPr>
        <p:txBody>
          <a:bodyPr vert="horz" lIns="91440" tIns="45720" rIns="91440" bIns="45720" rtlCol="0" anchor="t">
            <a:noAutofit/>
          </a:bodyPr>
          <a:lstStyle>
            <a:lvl1pPr algn="ctr"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pPr algn="l">
              <a:defRPr/>
            </a:pPr>
            <a:r>
              <a:rPr lang="ja-JP" altLang="en-US" sz="3600" b="1" dirty="0">
                <a:latin typeface="UD デジタル 教科書体 N-B" panose="02020700000000000000" pitchFamily="17" charset="-128"/>
                <a:ea typeface="UD デジタル 教科書体 N-B" panose="02020700000000000000" pitchFamily="17" charset="-128"/>
              </a:rPr>
              <a:t>◆「思考・判断・表現」の過程で一体的に見取る</a:t>
            </a:r>
            <a:endParaRPr lang="en-US" altLang="ja-JP" sz="3600" b="1" dirty="0">
              <a:latin typeface="UD デジタル 教科書体 N-B" panose="02020700000000000000" pitchFamily="17" charset="-128"/>
              <a:ea typeface="UD デジタル 教科書体 N-B" panose="02020700000000000000" pitchFamily="17" charset="-128"/>
            </a:endParaRPr>
          </a:p>
          <a:p>
            <a:pPr algn="l">
              <a:defRPr/>
            </a:pPr>
            <a:r>
              <a:rPr lang="ja-JP" altLang="en-US" sz="3600" b="1" dirty="0">
                <a:latin typeface="UD デジタル 教科書体 N-B" panose="02020700000000000000" pitchFamily="17" charset="-128"/>
                <a:ea typeface="UD デジタル 教科書体 N-B" panose="02020700000000000000" pitchFamily="17" charset="-128"/>
              </a:rPr>
              <a:t>　こととし、学びの主体的な調整が必要となる</a:t>
            </a:r>
            <a:endParaRPr lang="en-US" altLang="ja-JP" sz="3600" b="1" dirty="0">
              <a:latin typeface="UD デジタル 教科書体 N-B" panose="02020700000000000000" pitchFamily="17" charset="-128"/>
              <a:ea typeface="UD デジタル 教科書体 N-B" panose="02020700000000000000" pitchFamily="17" charset="-128"/>
            </a:endParaRPr>
          </a:p>
          <a:p>
            <a:pPr algn="l">
              <a:defRPr/>
            </a:pPr>
            <a:r>
              <a:rPr lang="ja-JP" altLang="en-US" sz="3600" b="1" dirty="0">
                <a:latin typeface="UD デジタル 教科書体 N-B" panose="02020700000000000000" pitchFamily="17" charset="-128"/>
                <a:ea typeface="UD デジタル 教科書体 N-B" panose="02020700000000000000" pitchFamily="17" charset="-128"/>
              </a:rPr>
              <a:t>　学習課題を核とした指導・評価の改善を促す。</a:t>
            </a:r>
            <a:endParaRPr lang="en-US" altLang="ja-JP" sz="3600" b="1" dirty="0">
              <a:latin typeface="UD デジタル 教科書体 N-B" panose="02020700000000000000" pitchFamily="17" charset="-128"/>
              <a:ea typeface="UD デジタル 教科書体 N-B" panose="02020700000000000000" pitchFamily="17" charset="-128"/>
            </a:endParaRPr>
          </a:p>
        </p:txBody>
      </p:sp>
      <p:sp>
        <p:nvSpPr>
          <p:cNvPr id="2" name="Rectangle 1">
            <a:extLst>
              <a:ext uri="{FF2B5EF4-FFF2-40B4-BE49-F238E27FC236}">
                <a16:creationId xmlns:a16="http://schemas.microsoft.com/office/drawing/2014/main" id="{581D0301-482E-104C-B875-243DA3BB428B}"/>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pPr algn="l"/>
            <a:r>
              <a:rPr sz="2800" b="1" dirty="0" err="1">
                <a:solidFill>
                  <a:srgbClr val="FFFFFF"/>
                </a:solidFill>
                <a:latin typeface="メイリオ"/>
                <a:ea typeface="メイリオ"/>
                <a:cs typeface="メイリオ"/>
              </a:rPr>
              <a:t>今後に向けて</a:t>
            </a:r>
            <a:endParaRPr sz="2800" b="1" dirty="0">
              <a:solidFill>
                <a:srgbClr val="FFFFFF"/>
              </a:solidFill>
              <a:latin typeface="メイリオ"/>
              <a:ea typeface="メイリオ"/>
              <a:cs typeface="メイリオ"/>
            </a:endParaRPr>
          </a:p>
        </p:txBody>
      </p:sp>
    </p:spTree>
    <p:extLst>
      <p:ext uri="{BB962C8B-B14F-4D97-AF65-F5344CB8AC3E}">
        <p14:creationId xmlns:p14="http://schemas.microsoft.com/office/powerpoint/2010/main" val="39650404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C1220DAA-8AF5-61D3-8407-F14721C46441}"/>
              </a:ext>
            </a:extLst>
          </p:cNvPr>
          <p:cNvSpPr/>
          <p:nvPr/>
        </p:nvSpPr>
        <p:spPr bwMode="white">
          <a:xfrm>
            <a:off x="302214" y="6411724"/>
            <a:ext cx="11137513" cy="446276"/>
          </a:xfrm>
          <a:prstGeom prst="rect">
            <a:avLst/>
          </a:prstGeom>
          <a:noFill/>
          <a:ln>
            <a:noFill/>
          </a:ln>
        </p:spPr>
        <p:txBody>
          <a:bodyPr wrap="square">
            <a:spAutoFit/>
          </a:bodyPr>
          <a:lstStyle/>
          <a:p>
            <a:pPr algn="r">
              <a:lnSpc>
                <a:spcPct val="120000"/>
              </a:lnSpc>
            </a:pPr>
            <a:r>
              <a:rPr lang="ja-JP" altLang="en-US" sz="20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令和８年３月　文部科学省　教育課程部会　総則・評価特別部会　資料１－１より引用</a:t>
            </a:r>
          </a:p>
        </p:txBody>
      </p:sp>
      <p:sp>
        <p:nvSpPr>
          <p:cNvPr id="4" name="Rectangle 2">
            <a:extLst>
              <a:ext uri="{FF2B5EF4-FFF2-40B4-BE49-F238E27FC236}">
                <a16:creationId xmlns:a16="http://schemas.microsoft.com/office/drawing/2014/main" id="{ABCCB3B6-9306-04C6-E396-7EEE52969FBD}"/>
              </a:ext>
            </a:extLst>
          </p:cNvPr>
          <p:cNvSpPr txBox="1">
            <a:spLocks noChangeArrowheads="1"/>
          </p:cNvSpPr>
          <p:nvPr/>
        </p:nvSpPr>
        <p:spPr>
          <a:xfrm>
            <a:off x="302214" y="954049"/>
            <a:ext cx="11434029" cy="1157780"/>
          </a:xfrm>
          <a:prstGeom prst="rect">
            <a:avLst/>
          </a:prstGeom>
        </p:spPr>
        <p:txBody>
          <a:bodyPr vert="horz" lIns="91440" tIns="45720" rIns="91440" bIns="45720" rtlCol="0" anchor="t">
            <a:noAutofit/>
          </a:bodyPr>
          <a:lstStyle>
            <a:lvl1pPr algn="ctr"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pPr algn="l">
              <a:defRPr/>
            </a:pPr>
            <a:r>
              <a:rPr lang="ja-JP" altLang="en-US" sz="3600" b="1" dirty="0">
                <a:latin typeface="UD デジタル 教科書体 N-B" panose="02020700000000000000" pitchFamily="17" charset="-128"/>
                <a:ea typeface="UD デジタル 教科書体 N-B" panose="02020700000000000000" pitchFamily="17" charset="-128"/>
              </a:rPr>
              <a:t>「学びに向かう力・人間性等」イメージ図</a:t>
            </a:r>
            <a:endParaRPr lang="en-US" altLang="ja-JP" sz="3600" b="1" dirty="0">
              <a:latin typeface="UD デジタル 教科書体 N-B" panose="02020700000000000000" pitchFamily="17" charset="-128"/>
              <a:ea typeface="UD デジタル 教科書体 N-B" panose="02020700000000000000" pitchFamily="17" charset="-128"/>
            </a:endParaRPr>
          </a:p>
        </p:txBody>
      </p:sp>
      <p:pic>
        <p:nvPicPr>
          <p:cNvPr id="6" name="図 5">
            <a:extLst>
              <a:ext uri="{FF2B5EF4-FFF2-40B4-BE49-F238E27FC236}">
                <a16:creationId xmlns:a16="http://schemas.microsoft.com/office/drawing/2014/main" id="{2E5201C5-9A54-0F6D-8C69-F7950720C1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5757" y="1532939"/>
            <a:ext cx="11281111" cy="4710416"/>
          </a:xfrm>
          <a:prstGeom prst="rect">
            <a:avLst/>
          </a:prstGeom>
          <a:ln w="57150">
            <a:solidFill>
              <a:schemeClr val="tx1"/>
            </a:solidFill>
          </a:ln>
        </p:spPr>
      </p:pic>
      <p:sp>
        <p:nvSpPr>
          <p:cNvPr id="2" name="Rectangle 1">
            <a:extLst>
              <a:ext uri="{FF2B5EF4-FFF2-40B4-BE49-F238E27FC236}">
                <a16:creationId xmlns:a16="http://schemas.microsoft.com/office/drawing/2014/main" id="{E3832187-0E79-C630-71AF-7A02B1DDE53A}"/>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pPr algn="l"/>
            <a:r>
              <a:rPr sz="2800" b="1" dirty="0" err="1">
                <a:solidFill>
                  <a:srgbClr val="FFFFFF"/>
                </a:solidFill>
                <a:latin typeface="メイリオ"/>
                <a:ea typeface="メイリオ"/>
                <a:cs typeface="メイリオ"/>
              </a:rPr>
              <a:t>今後に向けて</a:t>
            </a:r>
            <a:endParaRPr sz="2800" b="1" dirty="0">
              <a:solidFill>
                <a:srgbClr val="FFFFFF"/>
              </a:solidFill>
              <a:latin typeface="メイリオ"/>
              <a:ea typeface="メイリオ"/>
              <a:cs typeface="メイリオ"/>
            </a:endParaRPr>
          </a:p>
        </p:txBody>
      </p:sp>
    </p:spTree>
    <p:extLst>
      <p:ext uri="{BB962C8B-B14F-4D97-AF65-F5344CB8AC3E}">
        <p14:creationId xmlns:p14="http://schemas.microsoft.com/office/powerpoint/2010/main" val="18580906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C1220DAA-8AF5-61D3-8407-F14721C46441}"/>
              </a:ext>
            </a:extLst>
          </p:cNvPr>
          <p:cNvSpPr/>
          <p:nvPr/>
        </p:nvSpPr>
        <p:spPr bwMode="white">
          <a:xfrm>
            <a:off x="302214" y="6411724"/>
            <a:ext cx="11137513" cy="446276"/>
          </a:xfrm>
          <a:prstGeom prst="rect">
            <a:avLst/>
          </a:prstGeom>
          <a:noFill/>
          <a:ln>
            <a:noFill/>
          </a:ln>
        </p:spPr>
        <p:txBody>
          <a:bodyPr wrap="square">
            <a:spAutoFit/>
          </a:bodyPr>
          <a:lstStyle/>
          <a:p>
            <a:pPr algn="r">
              <a:lnSpc>
                <a:spcPct val="120000"/>
              </a:lnSpc>
            </a:pPr>
            <a:r>
              <a:rPr lang="ja-JP" altLang="en-US" sz="20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令和８年３月　文部科学省　教育課程部会　総則・評価特別部会　資料１－１より引用</a:t>
            </a:r>
          </a:p>
        </p:txBody>
      </p:sp>
      <p:sp>
        <p:nvSpPr>
          <p:cNvPr id="4" name="Rectangle 2">
            <a:extLst>
              <a:ext uri="{FF2B5EF4-FFF2-40B4-BE49-F238E27FC236}">
                <a16:creationId xmlns:a16="http://schemas.microsoft.com/office/drawing/2014/main" id="{ABCCB3B6-9306-04C6-E396-7EEE52969FBD}"/>
              </a:ext>
            </a:extLst>
          </p:cNvPr>
          <p:cNvSpPr txBox="1">
            <a:spLocks noChangeArrowheads="1"/>
          </p:cNvSpPr>
          <p:nvPr/>
        </p:nvSpPr>
        <p:spPr>
          <a:xfrm>
            <a:off x="302839" y="866497"/>
            <a:ext cx="11434029" cy="1157780"/>
          </a:xfrm>
          <a:prstGeom prst="rect">
            <a:avLst/>
          </a:prstGeom>
        </p:spPr>
        <p:txBody>
          <a:bodyPr vert="horz" lIns="91440" tIns="45720" rIns="91440" bIns="45720" rtlCol="0" anchor="t">
            <a:noAutofit/>
          </a:bodyPr>
          <a:lstStyle>
            <a:lvl1pPr algn="ctr"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pPr algn="l">
              <a:defRPr/>
            </a:pPr>
            <a:r>
              <a:rPr lang="ja-JP" altLang="en-US" sz="3600" b="1" dirty="0">
                <a:latin typeface="UD デジタル 教科書体 N-B" panose="02020700000000000000" pitchFamily="17" charset="-128"/>
                <a:ea typeface="UD デジタル 教科書体 N-B" panose="02020700000000000000" pitchFamily="17" charset="-128"/>
              </a:rPr>
              <a:t>「学びに向かう力・人間性等」の「〇」の付記の運用</a:t>
            </a:r>
            <a:endParaRPr lang="en-US" altLang="ja-JP" sz="3600" b="1" dirty="0">
              <a:latin typeface="UD デジタル 教科書体 N-B" panose="02020700000000000000" pitchFamily="17" charset="-128"/>
              <a:ea typeface="UD デジタル 教科書体 N-B" panose="02020700000000000000" pitchFamily="17" charset="-128"/>
            </a:endParaRPr>
          </a:p>
          <a:p>
            <a:pPr algn="l">
              <a:defRPr/>
            </a:pPr>
            <a:r>
              <a:rPr lang="ja-JP" altLang="en-US" sz="3600" b="1" dirty="0">
                <a:latin typeface="UD デジタル 教科書体 N-B" panose="02020700000000000000" pitchFamily="17" charset="-128"/>
                <a:ea typeface="UD デジタル 教科書体 N-B" panose="02020700000000000000" pitchFamily="17" charset="-128"/>
              </a:rPr>
              <a:t>　について</a:t>
            </a:r>
            <a:endParaRPr lang="en-US" altLang="ja-JP" sz="3600" b="1" dirty="0">
              <a:latin typeface="UD デジタル 教科書体 N-B" panose="02020700000000000000" pitchFamily="17" charset="-128"/>
              <a:ea typeface="UD デジタル 教科書体 N-B" panose="02020700000000000000" pitchFamily="17" charset="-128"/>
            </a:endParaRPr>
          </a:p>
        </p:txBody>
      </p:sp>
      <p:pic>
        <p:nvPicPr>
          <p:cNvPr id="7" name="図 6">
            <a:extLst>
              <a:ext uri="{FF2B5EF4-FFF2-40B4-BE49-F238E27FC236}">
                <a16:creationId xmlns:a16="http://schemas.microsoft.com/office/drawing/2014/main" id="{8DA98A1D-B60A-1905-1D46-0565FA9D41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9587" y="1984627"/>
            <a:ext cx="11858241" cy="4006876"/>
          </a:xfrm>
          <a:prstGeom prst="rect">
            <a:avLst/>
          </a:prstGeom>
          <a:ln w="28575">
            <a:noFill/>
          </a:ln>
        </p:spPr>
      </p:pic>
      <p:sp>
        <p:nvSpPr>
          <p:cNvPr id="2" name="Rectangle 1">
            <a:extLst>
              <a:ext uri="{FF2B5EF4-FFF2-40B4-BE49-F238E27FC236}">
                <a16:creationId xmlns:a16="http://schemas.microsoft.com/office/drawing/2014/main" id="{8EAF9D9C-B287-7F27-367C-BF5E7D101FA2}"/>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pPr algn="l"/>
            <a:r>
              <a:rPr sz="2800" b="1" dirty="0" err="1">
                <a:solidFill>
                  <a:srgbClr val="FFFFFF"/>
                </a:solidFill>
                <a:latin typeface="メイリオ"/>
                <a:ea typeface="メイリオ"/>
                <a:cs typeface="メイリオ"/>
              </a:rPr>
              <a:t>今後に向けて</a:t>
            </a:r>
            <a:endParaRPr sz="2800" b="1" dirty="0">
              <a:solidFill>
                <a:srgbClr val="FFFFFF"/>
              </a:solidFill>
              <a:latin typeface="メイリオ"/>
              <a:ea typeface="メイリオ"/>
              <a:cs typeface="メイリオ"/>
            </a:endParaRPr>
          </a:p>
        </p:txBody>
      </p:sp>
    </p:spTree>
    <p:extLst>
      <p:ext uri="{BB962C8B-B14F-4D97-AF65-F5344CB8AC3E}">
        <p14:creationId xmlns:p14="http://schemas.microsoft.com/office/powerpoint/2010/main" val="5952261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FF8957E1-8789-866A-B23B-16FAF34F4B2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5731" y="1887959"/>
            <a:ext cx="11061137" cy="4438950"/>
          </a:xfrm>
          <a:prstGeom prst="rect">
            <a:avLst/>
          </a:prstGeom>
        </p:spPr>
      </p:pic>
      <p:sp>
        <p:nvSpPr>
          <p:cNvPr id="3" name="正方形/長方形 2">
            <a:extLst>
              <a:ext uri="{FF2B5EF4-FFF2-40B4-BE49-F238E27FC236}">
                <a16:creationId xmlns:a16="http://schemas.microsoft.com/office/drawing/2014/main" id="{C1220DAA-8AF5-61D3-8407-F14721C46441}"/>
              </a:ext>
            </a:extLst>
          </p:cNvPr>
          <p:cNvSpPr/>
          <p:nvPr/>
        </p:nvSpPr>
        <p:spPr bwMode="white">
          <a:xfrm>
            <a:off x="302214" y="6411724"/>
            <a:ext cx="11137513" cy="446276"/>
          </a:xfrm>
          <a:prstGeom prst="rect">
            <a:avLst/>
          </a:prstGeom>
          <a:noFill/>
          <a:ln>
            <a:noFill/>
          </a:ln>
        </p:spPr>
        <p:txBody>
          <a:bodyPr wrap="square">
            <a:spAutoFit/>
          </a:bodyPr>
          <a:lstStyle/>
          <a:p>
            <a:pPr algn="r">
              <a:lnSpc>
                <a:spcPct val="120000"/>
              </a:lnSpc>
            </a:pPr>
            <a:r>
              <a:rPr lang="ja-JP" altLang="en-US" sz="20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令和８年３月　文部科学省　教育課程部会　総則・評価特別部会　資料１－１より引用</a:t>
            </a:r>
          </a:p>
        </p:txBody>
      </p:sp>
      <p:sp>
        <p:nvSpPr>
          <p:cNvPr id="4" name="Rectangle 2">
            <a:extLst>
              <a:ext uri="{FF2B5EF4-FFF2-40B4-BE49-F238E27FC236}">
                <a16:creationId xmlns:a16="http://schemas.microsoft.com/office/drawing/2014/main" id="{ABCCB3B6-9306-04C6-E396-7EEE52969FBD}"/>
              </a:ext>
            </a:extLst>
          </p:cNvPr>
          <p:cNvSpPr txBox="1">
            <a:spLocks noChangeArrowheads="1"/>
          </p:cNvSpPr>
          <p:nvPr/>
        </p:nvSpPr>
        <p:spPr>
          <a:xfrm>
            <a:off x="302839" y="866497"/>
            <a:ext cx="11434029" cy="1157780"/>
          </a:xfrm>
          <a:prstGeom prst="rect">
            <a:avLst/>
          </a:prstGeom>
        </p:spPr>
        <p:txBody>
          <a:bodyPr vert="horz" lIns="91440" tIns="45720" rIns="91440" bIns="45720" rtlCol="0" anchor="t">
            <a:noAutofit/>
          </a:bodyPr>
          <a:lstStyle>
            <a:lvl1pPr algn="ctr"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pPr algn="l">
              <a:defRPr/>
            </a:pPr>
            <a:r>
              <a:rPr lang="ja-JP" altLang="en-US" sz="3600" b="1" dirty="0">
                <a:latin typeface="UD デジタル 教科書体 N-B" panose="02020700000000000000" pitchFamily="17" charset="-128"/>
                <a:ea typeface="UD デジタル 教科書体 N-B" panose="02020700000000000000" pitchFamily="17" charset="-128"/>
              </a:rPr>
              <a:t>「学びに向かう力・人間性等」の「〇」の付記の運用</a:t>
            </a:r>
            <a:endParaRPr lang="en-US" altLang="ja-JP" sz="3600" b="1" dirty="0">
              <a:latin typeface="UD デジタル 教科書体 N-B" panose="02020700000000000000" pitchFamily="17" charset="-128"/>
              <a:ea typeface="UD デジタル 教科書体 N-B" panose="02020700000000000000" pitchFamily="17" charset="-128"/>
            </a:endParaRPr>
          </a:p>
          <a:p>
            <a:pPr algn="l">
              <a:defRPr/>
            </a:pPr>
            <a:r>
              <a:rPr lang="ja-JP" altLang="en-US" sz="3600" b="1" dirty="0">
                <a:latin typeface="UD デジタル 教科書体 N-B" panose="02020700000000000000" pitchFamily="17" charset="-128"/>
                <a:ea typeface="UD デジタル 教科書体 N-B" panose="02020700000000000000" pitchFamily="17" charset="-128"/>
              </a:rPr>
              <a:t>　について</a:t>
            </a:r>
            <a:endParaRPr lang="en-US" altLang="ja-JP" sz="3600" b="1" dirty="0">
              <a:latin typeface="UD デジタル 教科書体 N-B" panose="02020700000000000000" pitchFamily="17" charset="-128"/>
              <a:ea typeface="UD デジタル 教科書体 N-B" panose="02020700000000000000" pitchFamily="17" charset="-128"/>
            </a:endParaRPr>
          </a:p>
        </p:txBody>
      </p:sp>
      <p:sp>
        <p:nvSpPr>
          <p:cNvPr id="6" name="正方形/長方形 5">
            <a:extLst>
              <a:ext uri="{FF2B5EF4-FFF2-40B4-BE49-F238E27FC236}">
                <a16:creationId xmlns:a16="http://schemas.microsoft.com/office/drawing/2014/main" id="{AD38EB23-DC65-2C88-D4CC-CB7C4A1835DD}"/>
              </a:ext>
            </a:extLst>
          </p:cNvPr>
          <p:cNvSpPr/>
          <p:nvPr/>
        </p:nvSpPr>
        <p:spPr>
          <a:xfrm>
            <a:off x="11516269" y="2024277"/>
            <a:ext cx="302839" cy="46904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二等辺三角形 8">
            <a:extLst>
              <a:ext uri="{FF2B5EF4-FFF2-40B4-BE49-F238E27FC236}">
                <a16:creationId xmlns:a16="http://schemas.microsoft.com/office/drawing/2014/main" id="{2035A33F-60EF-A0E0-5981-DDC3F341DFBB}"/>
              </a:ext>
            </a:extLst>
          </p:cNvPr>
          <p:cNvSpPr/>
          <p:nvPr/>
        </p:nvSpPr>
        <p:spPr>
          <a:xfrm rot="10800000">
            <a:off x="4705205" y="1895615"/>
            <a:ext cx="1898794" cy="385765"/>
          </a:xfrm>
          <a:prstGeom prst="triangle">
            <a:avLst>
              <a:gd name="adj" fmla="val 50000"/>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Rectangle 1">
            <a:extLst>
              <a:ext uri="{FF2B5EF4-FFF2-40B4-BE49-F238E27FC236}">
                <a16:creationId xmlns:a16="http://schemas.microsoft.com/office/drawing/2014/main" id="{2A11883B-3FF9-E229-62B7-FA404DD61CC6}"/>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pPr algn="l"/>
            <a:r>
              <a:rPr sz="2800" b="1" dirty="0" err="1">
                <a:solidFill>
                  <a:srgbClr val="FFFFFF"/>
                </a:solidFill>
                <a:latin typeface="メイリオ"/>
                <a:ea typeface="メイリオ"/>
                <a:cs typeface="メイリオ"/>
              </a:rPr>
              <a:t>今後に向けて</a:t>
            </a:r>
            <a:endParaRPr sz="2800" b="1" dirty="0">
              <a:solidFill>
                <a:srgbClr val="FFFFFF"/>
              </a:solidFill>
              <a:latin typeface="メイリオ"/>
              <a:ea typeface="メイリオ"/>
              <a:cs typeface="メイリオ"/>
            </a:endParaRPr>
          </a:p>
        </p:txBody>
      </p:sp>
    </p:spTree>
    <p:extLst>
      <p:ext uri="{BB962C8B-B14F-4D97-AF65-F5344CB8AC3E}">
        <p14:creationId xmlns:p14="http://schemas.microsoft.com/office/powerpoint/2010/main" val="3319184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C1220DAA-8AF5-61D3-8407-F14721C46441}"/>
              </a:ext>
            </a:extLst>
          </p:cNvPr>
          <p:cNvSpPr/>
          <p:nvPr/>
        </p:nvSpPr>
        <p:spPr bwMode="white">
          <a:xfrm>
            <a:off x="302214" y="6411724"/>
            <a:ext cx="11137513" cy="446276"/>
          </a:xfrm>
          <a:prstGeom prst="rect">
            <a:avLst/>
          </a:prstGeom>
          <a:noFill/>
          <a:ln>
            <a:noFill/>
          </a:ln>
        </p:spPr>
        <p:txBody>
          <a:bodyPr wrap="square">
            <a:spAutoFit/>
          </a:bodyPr>
          <a:lstStyle/>
          <a:p>
            <a:pPr algn="r">
              <a:lnSpc>
                <a:spcPct val="120000"/>
              </a:lnSpc>
            </a:pPr>
            <a:r>
              <a:rPr lang="ja-JP" altLang="en-US" sz="20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令和８年３月　文部科学省　教育課程部会　総則・評価特別部会　資料１－１より引用</a:t>
            </a:r>
          </a:p>
        </p:txBody>
      </p:sp>
      <p:sp>
        <p:nvSpPr>
          <p:cNvPr id="4" name="Rectangle 2">
            <a:extLst>
              <a:ext uri="{FF2B5EF4-FFF2-40B4-BE49-F238E27FC236}">
                <a16:creationId xmlns:a16="http://schemas.microsoft.com/office/drawing/2014/main" id="{ABCCB3B6-9306-04C6-E396-7EEE52969FBD}"/>
              </a:ext>
            </a:extLst>
          </p:cNvPr>
          <p:cNvSpPr txBox="1">
            <a:spLocks noChangeArrowheads="1"/>
          </p:cNvSpPr>
          <p:nvPr/>
        </p:nvSpPr>
        <p:spPr>
          <a:xfrm>
            <a:off x="302839" y="866497"/>
            <a:ext cx="11434029" cy="1157780"/>
          </a:xfrm>
          <a:prstGeom prst="rect">
            <a:avLst/>
          </a:prstGeom>
        </p:spPr>
        <p:txBody>
          <a:bodyPr vert="horz" lIns="91440" tIns="45720" rIns="91440" bIns="45720" rtlCol="0" anchor="t">
            <a:noAutofit/>
          </a:bodyPr>
          <a:lstStyle>
            <a:lvl1pPr algn="ctr"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pPr algn="l">
              <a:defRPr/>
            </a:pPr>
            <a:r>
              <a:rPr lang="ja-JP" altLang="en-US" sz="3600" b="1" dirty="0">
                <a:latin typeface="UD デジタル 教科書体 N-B" panose="02020700000000000000" pitchFamily="17" charset="-128"/>
                <a:ea typeface="UD デジタル 教科書体 N-B" panose="02020700000000000000" pitchFamily="17" charset="-128"/>
              </a:rPr>
              <a:t>「学びに向かう力・人間性等」の「〇」の付記の運用</a:t>
            </a:r>
            <a:endParaRPr lang="en-US" altLang="ja-JP" sz="3600" b="1" dirty="0">
              <a:latin typeface="UD デジタル 教科書体 N-B" panose="02020700000000000000" pitchFamily="17" charset="-128"/>
              <a:ea typeface="UD デジタル 教科書体 N-B" panose="02020700000000000000" pitchFamily="17" charset="-128"/>
            </a:endParaRPr>
          </a:p>
          <a:p>
            <a:pPr algn="l">
              <a:defRPr/>
            </a:pPr>
            <a:r>
              <a:rPr lang="ja-JP" altLang="en-US" sz="3600" b="1" dirty="0">
                <a:latin typeface="UD デジタル 教科書体 N-B" panose="02020700000000000000" pitchFamily="17" charset="-128"/>
                <a:ea typeface="UD デジタル 教科書体 N-B" panose="02020700000000000000" pitchFamily="17" charset="-128"/>
              </a:rPr>
              <a:t>　について</a:t>
            </a:r>
            <a:endParaRPr lang="en-US" altLang="ja-JP" sz="3600" b="1" dirty="0">
              <a:latin typeface="UD デジタル 教科書体 N-B" panose="02020700000000000000" pitchFamily="17" charset="-128"/>
              <a:ea typeface="UD デジタル 教科書体 N-B" panose="02020700000000000000" pitchFamily="17" charset="-128"/>
            </a:endParaRPr>
          </a:p>
        </p:txBody>
      </p:sp>
      <p:sp>
        <p:nvSpPr>
          <p:cNvPr id="6" name="正方形/長方形 5">
            <a:extLst>
              <a:ext uri="{FF2B5EF4-FFF2-40B4-BE49-F238E27FC236}">
                <a16:creationId xmlns:a16="http://schemas.microsoft.com/office/drawing/2014/main" id="{AD38EB23-DC65-2C88-D4CC-CB7C4A1835DD}"/>
              </a:ext>
            </a:extLst>
          </p:cNvPr>
          <p:cNvSpPr/>
          <p:nvPr/>
        </p:nvSpPr>
        <p:spPr>
          <a:xfrm>
            <a:off x="11963400" y="1751645"/>
            <a:ext cx="228600" cy="46904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二等辺三角形 8">
            <a:extLst>
              <a:ext uri="{FF2B5EF4-FFF2-40B4-BE49-F238E27FC236}">
                <a16:creationId xmlns:a16="http://schemas.microsoft.com/office/drawing/2014/main" id="{2035A33F-60EF-A0E0-5981-DDC3F341DFBB}"/>
              </a:ext>
            </a:extLst>
          </p:cNvPr>
          <p:cNvSpPr/>
          <p:nvPr/>
        </p:nvSpPr>
        <p:spPr>
          <a:xfrm rot="10800000">
            <a:off x="4952998" y="1751643"/>
            <a:ext cx="1415144" cy="272633"/>
          </a:xfrm>
          <a:prstGeom prst="triangl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7" name="図 6">
            <a:extLst>
              <a:ext uri="{FF2B5EF4-FFF2-40B4-BE49-F238E27FC236}">
                <a16:creationId xmlns:a16="http://schemas.microsoft.com/office/drawing/2014/main" id="{2FCDB775-7F97-D6DA-5E53-D5F7ABE17D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60116" y="1390959"/>
            <a:ext cx="6616052" cy="4900984"/>
          </a:xfrm>
          <a:prstGeom prst="rect">
            <a:avLst/>
          </a:prstGeom>
          <a:ln w="28575">
            <a:noFill/>
          </a:ln>
        </p:spPr>
      </p:pic>
      <p:sp>
        <p:nvSpPr>
          <p:cNvPr id="8" name="正方形/長方形 7">
            <a:extLst>
              <a:ext uri="{FF2B5EF4-FFF2-40B4-BE49-F238E27FC236}">
                <a16:creationId xmlns:a16="http://schemas.microsoft.com/office/drawing/2014/main" id="{33F501C9-E2FB-711D-F690-139BD260DB12}"/>
              </a:ext>
            </a:extLst>
          </p:cNvPr>
          <p:cNvSpPr/>
          <p:nvPr/>
        </p:nvSpPr>
        <p:spPr>
          <a:xfrm>
            <a:off x="2928257" y="3222171"/>
            <a:ext cx="849086" cy="186340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Rectangle 1">
            <a:extLst>
              <a:ext uri="{FF2B5EF4-FFF2-40B4-BE49-F238E27FC236}">
                <a16:creationId xmlns:a16="http://schemas.microsoft.com/office/drawing/2014/main" id="{E3C92826-A53D-73D9-EE3B-9AF7D328502B}"/>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pPr algn="l"/>
            <a:r>
              <a:rPr sz="2800" b="1" dirty="0" err="1">
                <a:solidFill>
                  <a:srgbClr val="FFFFFF"/>
                </a:solidFill>
                <a:latin typeface="メイリオ"/>
                <a:ea typeface="メイリオ"/>
                <a:cs typeface="メイリオ"/>
              </a:rPr>
              <a:t>今後に向けて</a:t>
            </a:r>
            <a:endParaRPr sz="2800" b="1" dirty="0">
              <a:solidFill>
                <a:srgbClr val="FFFFFF"/>
              </a:solidFill>
              <a:latin typeface="メイリオ"/>
              <a:ea typeface="メイリオ"/>
              <a:cs typeface="メイリオ"/>
            </a:endParaRPr>
          </a:p>
        </p:txBody>
      </p:sp>
    </p:spTree>
    <p:extLst>
      <p:ext uri="{BB962C8B-B14F-4D97-AF65-F5344CB8AC3E}">
        <p14:creationId xmlns:p14="http://schemas.microsoft.com/office/powerpoint/2010/main" val="29659013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C1220DAA-8AF5-61D3-8407-F14721C46441}"/>
              </a:ext>
            </a:extLst>
          </p:cNvPr>
          <p:cNvSpPr/>
          <p:nvPr/>
        </p:nvSpPr>
        <p:spPr bwMode="white">
          <a:xfrm>
            <a:off x="302214" y="6411724"/>
            <a:ext cx="11137513" cy="446276"/>
          </a:xfrm>
          <a:prstGeom prst="rect">
            <a:avLst/>
          </a:prstGeom>
          <a:noFill/>
          <a:ln>
            <a:noFill/>
          </a:ln>
        </p:spPr>
        <p:txBody>
          <a:bodyPr wrap="square">
            <a:spAutoFit/>
          </a:bodyPr>
          <a:lstStyle/>
          <a:p>
            <a:pPr algn="r">
              <a:lnSpc>
                <a:spcPct val="120000"/>
              </a:lnSpc>
            </a:pPr>
            <a:r>
              <a:rPr lang="ja-JP" altLang="en-US" sz="20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令和８年３月　文部科学省　教育課程部会　総則・評価特別部会　資料１－１より引用</a:t>
            </a:r>
          </a:p>
        </p:txBody>
      </p:sp>
      <p:sp>
        <p:nvSpPr>
          <p:cNvPr id="4" name="Rectangle 2">
            <a:extLst>
              <a:ext uri="{FF2B5EF4-FFF2-40B4-BE49-F238E27FC236}">
                <a16:creationId xmlns:a16="http://schemas.microsoft.com/office/drawing/2014/main" id="{ABCCB3B6-9306-04C6-E396-7EEE52969FBD}"/>
              </a:ext>
            </a:extLst>
          </p:cNvPr>
          <p:cNvSpPr txBox="1">
            <a:spLocks noChangeArrowheads="1"/>
          </p:cNvSpPr>
          <p:nvPr/>
        </p:nvSpPr>
        <p:spPr>
          <a:xfrm>
            <a:off x="302839" y="866497"/>
            <a:ext cx="11434029" cy="1157780"/>
          </a:xfrm>
          <a:prstGeom prst="rect">
            <a:avLst/>
          </a:prstGeom>
        </p:spPr>
        <p:txBody>
          <a:bodyPr vert="horz" lIns="91440" tIns="45720" rIns="91440" bIns="45720" rtlCol="0" anchor="t">
            <a:noAutofit/>
          </a:bodyPr>
          <a:lstStyle>
            <a:lvl1pPr algn="ctr"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pPr algn="l">
              <a:defRPr/>
            </a:pPr>
            <a:r>
              <a:rPr lang="ja-JP" altLang="en-US" sz="3600" b="1" dirty="0">
                <a:latin typeface="UD デジタル 教科書体 N-B" panose="02020700000000000000" pitchFamily="17" charset="-128"/>
                <a:ea typeface="UD デジタル 教科書体 N-B" panose="02020700000000000000" pitchFamily="17" charset="-128"/>
              </a:rPr>
              <a:t>「学びに向かう力・人間性等」の「〇」の付記の運用</a:t>
            </a:r>
            <a:endParaRPr lang="en-US" altLang="ja-JP" sz="3600" b="1" dirty="0">
              <a:latin typeface="UD デジタル 教科書体 N-B" panose="02020700000000000000" pitchFamily="17" charset="-128"/>
              <a:ea typeface="UD デジタル 教科書体 N-B" panose="02020700000000000000" pitchFamily="17" charset="-128"/>
            </a:endParaRPr>
          </a:p>
          <a:p>
            <a:pPr algn="l">
              <a:defRPr/>
            </a:pPr>
            <a:r>
              <a:rPr lang="ja-JP" altLang="en-US" sz="3600" b="1" dirty="0">
                <a:latin typeface="UD デジタル 教科書体 N-B" panose="02020700000000000000" pitchFamily="17" charset="-128"/>
                <a:ea typeface="UD デジタル 教科書体 N-B" panose="02020700000000000000" pitchFamily="17" charset="-128"/>
              </a:rPr>
              <a:t>　について</a:t>
            </a:r>
            <a:endParaRPr lang="en-US" altLang="ja-JP" sz="3600" b="1" dirty="0">
              <a:latin typeface="UD デジタル 教科書体 N-B" panose="02020700000000000000" pitchFamily="17" charset="-128"/>
              <a:ea typeface="UD デジタル 教科書体 N-B" panose="02020700000000000000" pitchFamily="17" charset="-128"/>
            </a:endParaRPr>
          </a:p>
        </p:txBody>
      </p:sp>
      <p:sp>
        <p:nvSpPr>
          <p:cNvPr id="6" name="正方形/長方形 5">
            <a:extLst>
              <a:ext uri="{FF2B5EF4-FFF2-40B4-BE49-F238E27FC236}">
                <a16:creationId xmlns:a16="http://schemas.microsoft.com/office/drawing/2014/main" id="{AD38EB23-DC65-2C88-D4CC-CB7C4A1835DD}"/>
              </a:ext>
            </a:extLst>
          </p:cNvPr>
          <p:cNvSpPr/>
          <p:nvPr/>
        </p:nvSpPr>
        <p:spPr>
          <a:xfrm>
            <a:off x="11963400" y="1751645"/>
            <a:ext cx="228600" cy="46904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二等辺三角形 8">
            <a:extLst>
              <a:ext uri="{FF2B5EF4-FFF2-40B4-BE49-F238E27FC236}">
                <a16:creationId xmlns:a16="http://schemas.microsoft.com/office/drawing/2014/main" id="{2035A33F-60EF-A0E0-5981-DDC3F341DFBB}"/>
              </a:ext>
            </a:extLst>
          </p:cNvPr>
          <p:cNvSpPr/>
          <p:nvPr/>
        </p:nvSpPr>
        <p:spPr>
          <a:xfrm rot="10800000">
            <a:off x="4952998" y="1751643"/>
            <a:ext cx="1415144" cy="272633"/>
          </a:xfrm>
          <a:prstGeom prst="triangl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33F501C9-E2FB-711D-F690-139BD260DB12}"/>
              </a:ext>
            </a:extLst>
          </p:cNvPr>
          <p:cNvSpPr/>
          <p:nvPr/>
        </p:nvSpPr>
        <p:spPr>
          <a:xfrm>
            <a:off x="2928257" y="3222171"/>
            <a:ext cx="849086" cy="186340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Rectangle 2">
            <a:extLst>
              <a:ext uri="{FF2B5EF4-FFF2-40B4-BE49-F238E27FC236}">
                <a16:creationId xmlns:a16="http://schemas.microsoft.com/office/drawing/2014/main" id="{A0453F46-175E-FD6A-62F4-64C292D8512D}"/>
              </a:ext>
            </a:extLst>
          </p:cNvPr>
          <p:cNvSpPr txBox="1">
            <a:spLocks noChangeArrowheads="1"/>
          </p:cNvSpPr>
          <p:nvPr/>
        </p:nvSpPr>
        <p:spPr>
          <a:xfrm>
            <a:off x="302214" y="2192646"/>
            <a:ext cx="11812961" cy="1649078"/>
          </a:xfrm>
          <a:prstGeom prst="rect">
            <a:avLst/>
          </a:prstGeom>
        </p:spPr>
        <p:txBody>
          <a:bodyPr vert="horz" lIns="91440" tIns="45720" rIns="91440" bIns="45720" rtlCol="0" anchor="t">
            <a:noAutofit/>
          </a:bodyPr>
          <a:lstStyle>
            <a:lvl1pPr algn="ctr"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pPr algn="l">
              <a:defRPr/>
            </a:pPr>
            <a:r>
              <a:rPr lang="en-US" altLang="ja-JP" sz="3600" b="1" dirty="0">
                <a:latin typeface="UD デジタル 教科書体 N-B" panose="02020700000000000000" pitchFamily="17" charset="-128"/>
                <a:ea typeface="UD デジタル 教科書体 N-B" panose="02020700000000000000" pitchFamily="17" charset="-128"/>
              </a:rPr>
              <a:t>【</a:t>
            </a:r>
            <a:r>
              <a:rPr lang="ja-JP" altLang="en-US" sz="3600" b="1" dirty="0">
                <a:latin typeface="UD デジタル 教科書体 N-B" panose="02020700000000000000" pitchFamily="17" charset="-128"/>
                <a:ea typeface="UD デジタル 教科書体 N-B" panose="02020700000000000000" pitchFamily="17" charset="-128"/>
              </a:rPr>
              <a:t>検討事項</a:t>
            </a:r>
            <a:r>
              <a:rPr lang="en-US" altLang="ja-JP" sz="3600" b="1" dirty="0">
                <a:latin typeface="UD デジタル 教科書体 N-B" panose="02020700000000000000" pitchFamily="17" charset="-128"/>
                <a:ea typeface="UD デジタル 教科書体 N-B" panose="02020700000000000000" pitchFamily="17" charset="-128"/>
              </a:rPr>
              <a:t>】</a:t>
            </a:r>
          </a:p>
          <a:p>
            <a:pPr algn="l">
              <a:defRPr/>
            </a:pPr>
            <a:r>
              <a:rPr lang="ja-JP" altLang="en-US" sz="3600" b="1" dirty="0">
                <a:latin typeface="UD デジタル 教科書体 N-B" panose="02020700000000000000" pitchFamily="17" charset="-128"/>
                <a:ea typeface="UD デジタル 教科書体 N-B" panose="02020700000000000000" pitchFamily="17" charset="-128"/>
              </a:rPr>
              <a:t>　・「学びに向かう力、人間性等」の評価をしなく</a:t>
            </a:r>
            <a:endParaRPr lang="en-US" altLang="ja-JP" sz="3600" b="1" dirty="0">
              <a:latin typeface="UD デジタル 教科書体 N-B" panose="02020700000000000000" pitchFamily="17" charset="-128"/>
              <a:ea typeface="UD デジタル 教科書体 N-B" panose="02020700000000000000" pitchFamily="17" charset="-128"/>
            </a:endParaRPr>
          </a:p>
          <a:p>
            <a:pPr algn="l">
              <a:defRPr/>
            </a:pPr>
            <a:r>
              <a:rPr lang="ja-JP" altLang="en-US" sz="3600" b="1" dirty="0">
                <a:latin typeface="UD デジタル 教科書体 N-B" panose="02020700000000000000" pitchFamily="17" charset="-128"/>
                <a:ea typeface="UD デジタル 教科書体 N-B" panose="02020700000000000000" pitchFamily="17" charset="-128"/>
              </a:rPr>
              <a:t>　　てもよくなる」「軽視してもよい」といった</a:t>
            </a:r>
            <a:endParaRPr lang="en-US" altLang="ja-JP" sz="3600" b="1" dirty="0">
              <a:latin typeface="UD デジタル 教科書体 N-B" panose="02020700000000000000" pitchFamily="17" charset="-128"/>
              <a:ea typeface="UD デジタル 教科書体 N-B" panose="02020700000000000000" pitchFamily="17" charset="-128"/>
            </a:endParaRPr>
          </a:p>
          <a:p>
            <a:pPr algn="l">
              <a:defRPr/>
            </a:pPr>
            <a:r>
              <a:rPr lang="ja-JP" altLang="en-US" sz="3600" b="1" dirty="0">
                <a:latin typeface="UD デジタル 教科書体 N-B" panose="02020700000000000000" pitchFamily="17" charset="-128"/>
                <a:ea typeface="UD デジタル 教科書体 N-B" panose="02020700000000000000" pitchFamily="17" charset="-128"/>
              </a:rPr>
              <a:t>　　誤った理解とならないよう、具体的な運用の</a:t>
            </a:r>
            <a:endParaRPr lang="en-US" altLang="ja-JP" sz="3600" b="1" dirty="0">
              <a:latin typeface="UD デジタル 教科書体 N-B" panose="02020700000000000000" pitchFamily="17" charset="-128"/>
              <a:ea typeface="UD デジタル 教科書体 N-B" panose="02020700000000000000" pitchFamily="17" charset="-128"/>
            </a:endParaRPr>
          </a:p>
          <a:p>
            <a:pPr algn="l">
              <a:defRPr/>
            </a:pPr>
            <a:r>
              <a:rPr lang="ja-JP" altLang="en-US" sz="3600" b="1" dirty="0">
                <a:latin typeface="UD デジタル 教科書体 N-B" panose="02020700000000000000" pitchFamily="17" charset="-128"/>
                <a:ea typeface="UD デジタル 教科書体 N-B" panose="02020700000000000000" pitchFamily="17" charset="-128"/>
              </a:rPr>
              <a:t>　　設計と趣旨の周知・徹底を図るべき。</a:t>
            </a:r>
            <a:endParaRPr lang="en-US" altLang="ja-JP" sz="3600" b="1" dirty="0">
              <a:latin typeface="UD デジタル 教科書体 N-B" panose="02020700000000000000" pitchFamily="17" charset="-128"/>
              <a:ea typeface="UD デジタル 教科書体 N-B" panose="02020700000000000000" pitchFamily="17" charset="-128"/>
            </a:endParaRPr>
          </a:p>
          <a:p>
            <a:pPr algn="l">
              <a:defRPr/>
            </a:pPr>
            <a:r>
              <a:rPr lang="ja-JP" altLang="en-US" sz="3600" b="1" dirty="0">
                <a:latin typeface="UD デジタル 教科書体 N-B" panose="02020700000000000000" pitchFamily="17" charset="-128"/>
                <a:ea typeface="UD デジタル 教科書体 N-B" panose="02020700000000000000" pitchFamily="17" charset="-128"/>
              </a:rPr>
              <a:t>　</a:t>
            </a:r>
            <a:endParaRPr lang="en-US" altLang="ja-JP" sz="3600" b="1" dirty="0">
              <a:latin typeface="UD デジタル 教科書体 N-B" panose="02020700000000000000" pitchFamily="17" charset="-128"/>
              <a:ea typeface="UD デジタル 教科書体 N-B" panose="02020700000000000000" pitchFamily="17" charset="-128"/>
            </a:endParaRPr>
          </a:p>
          <a:p>
            <a:pPr algn="l">
              <a:defRPr/>
            </a:pPr>
            <a:r>
              <a:rPr lang="ja-JP" altLang="en-US" sz="3600" b="1" dirty="0">
                <a:latin typeface="UD デジタル 教科書体 N-B" panose="02020700000000000000" pitchFamily="17" charset="-128"/>
                <a:ea typeface="UD デジタル 教科書体 N-B" panose="02020700000000000000" pitchFamily="17" charset="-128"/>
              </a:rPr>
              <a:t>　・「〇」を付記した際、それを評定に一定程度加味</a:t>
            </a:r>
            <a:endParaRPr lang="en-US" altLang="ja-JP" sz="3600" b="1" dirty="0">
              <a:latin typeface="UD デジタル 教科書体 N-B" panose="02020700000000000000" pitchFamily="17" charset="-128"/>
              <a:ea typeface="UD デジタル 教科書体 N-B" panose="02020700000000000000" pitchFamily="17" charset="-128"/>
            </a:endParaRPr>
          </a:p>
          <a:p>
            <a:pPr algn="l">
              <a:defRPr/>
            </a:pPr>
            <a:r>
              <a:rPr lang="ja-JP" altLang="en-US" sz="3600" b="1" dirty="0">
                <a:latin typeface="UD デジタル 教科書体 N-B" panose="02020700000000000000" pitchFamily="17" charset="-128"/>
                <a:ea typeface="UD デジタル 教科書体 N-B" panose="02020700000000000000" pitchFamily="17" charset="-128"/>
              </a:rPr>
              <a:t>　　することの適否については、検討を深めるべき。</a:t>
            </a:r>
            <a:endParaRPr lang="en-US" altLang="ja-JP" sz="3600" b="1" dirty="0">
              <a:latin typeface="UD デジタル 教科書体 N-B" panose="02020700000000000000" pitchFamily="17" charset="-128"/>
              <a:ea typeface="UD デジタル 教科書体 N-B" panose="02020700000000000000" pitchFamily="17" charset="-128"/>
            </a:endParaRPr>
          </a:p>
          <a:p>
            <a:pPr algn="l">
              <a:defRPr/>
            </a:pPr>
            <a:endParaRPr lang="en-US" altLang="ja-JP" sz="3600" b="1" dirty="0">
              <a:latin typeface="UD デジタル 教科書体 N-B" panose="02020700000000000000" pitchFamily="17" charset="-128"/>
              <a:ea typeface="UD デジタル 教科書体 N-B" panose="02020700000000000000" pitchFamily="17" charset="-128"/>
            </a:endParaRPr>
          </a:p>
        </p:txBody>
      </p:sp>
      <p:sp>
        <p:nvSpPr>
          <p:cNvPr id="5" name="Rectangle 1">
            <a:extLst>
              <a:ext uri="{FF2B5EF4-FFF2-40B4-BE49-F238E27FC236}">
                <a16:creationId xmlns:a16="http://schemas.microsoft.com/office/drawing/2014/main" id="{BD0B3B64-3F8F-D29C-41D6-B95D55B9FB77}"/>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pPr algn="l"/>
            <a:r>
              <a:rPr sz="2800" b="1" dirty="0" err="1">
                <a:solidFill>
                  <a:srgbClr val="FFFFFF"/>
                </a:solidFill>
                <a:latin typeface="メイリオ"/>
                <a:ea typeface="メイリオ"/>
                <a:cs typeface="メイリオ"/>
              </a:rPr>
              <a:t>今後に向けて</a:t>
            </a:r>
            <a:endParaRPr sz="2800" b="1" dirty="0">
              <a:solidFill>
                <a:srgbClr val="FFFFFF"/>
              </a:solidFill>
              <a:latin typeface="メイリオ"/>
              <a:ea typeface="メイリオ"/>
              <a:cs typeface="メイリオ"/>
            </a:endParaRPr>
          </a:p>
        </p:txBody>
      </p:sp>
    </p:spTree>
    <p:extLst>
      <p:ext uri="{BB962C8B-B14F-4D97-AF65-F5344CB8AC3E}">
        <p14:creationId xmlns:p14="http://schemas.microsoft.com/office/powerpoint/2010/main" val="308333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353</TotalTime>
  <Words>5165</Words>
  <Application>Microsoft Office PowerPoint</Application>
  <PresentationFormat>ワイド画面</PresentationFormat>
  <Paragraphs>842</Paragraphs>
  <Slides>47</Slides>
  <Notes>47</Notes>
  <HiddenSlides>0</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47</vt:i4>
      </vt:variant>
    </vt:vector>
  </HeadingPairs>
  <TitlesOfParts>
    <vt:vector size="55" baseType="lpstr">
      <vt:lpstr>BIZ UDPゴシック</vt:lpstr>
      <vt:lpstr>UD デジタル 教科書体 N-B</vt:lpstr>
      <vt:lpstr>UD デジタル 教科書体 NK-B</vt:lpstr>
      <vt:lpstr>メイリオ</vt:lpstr>
      <vt:lpstr>游ゴシック</vt:lpstr>
      <vt:lpstr>游ゴシック Light</vt:lpstr>
      <vt:lpstr>Arial</vt:lpstr>
      <vt:lpstr>Office テーマ</vt:lpstr>
      <vt:lpstr>「指導と評価の一体化」</vt:lpstr>
      <vt:lpstr>PowerPoint プレゼンテーション</vt:lpstr>
      <vt:lpstr>　はじめに</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２　『主体的に学習に取り組む態度』 　　　　　　　　　　　　　の学習評価</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『主体的に学習に取り組む態度』の評価</dc:title>
  <dc:creator>髙橋　庸介</dc:creator>
  <cp:lastModifiedBy>紺多　章一郎</cp:lastModifiedBy>
  <cp:revision>31</cp:revision>
  <cp:lastPrinted>2026-05-28T02:11:29Z</cp:lastPrinted>
  <dcterms:modified xsi:type="dcterms:W3CDTF">2026-06-03T00:30:24Z</dcterms:modified>
</cp:coreProperties>
</file>