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お集まりいただきありがとうございます。この30分では、次期学習指導要領のポイントを『概要』と『各学校で汎用できる視点』の二本立てで整理します。ゴールは、皆さんが学校訪問の場で、先生方に自信を持って助言できる“共通の言葉”を持ち帰ることです。なお本資料は、令和6年12月の諮問、論点整理、令和7年8月の中間まとめに基づく現時点の整理であり、最終的な内容は今後の答申・告示で確定する点を最初にお断りしてお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本日のゴールを共有します。狙いは3つ。①全体像と現在地を説明できること、②変わる点・変わらない点を切り分けられること、③学校訪問で使える持ち帰りを得ること、です。進め方は右の通り、背景と全体像を7分ほど、核となる5つのポイントを13分、学校での活かし方とQ&amp;Aを8分、最後にまとめ、という配分でいきます。時間の都合で駆け足になる所はスライドのノートで補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なぜ今改訂するのか。背景は大きく、予測困難な社会と生成AIの急速な普及です。学校像そのものを、正解を一斉に教える場から、一人ひとりの興味・関心を原動力に学びをデザインする場へと進化させよう、という方向性です。学校訪問では『また新しい方針か』と受け止められがちですが、これは令和の日本型学校教育の延長線上にあり、断絶ではなく発展だと伝えると先生方の納得が得やす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ケジュールの全体像です。令和6年12月に大臣から中教審へ諮問、令和7年に論点整理、8月に審議の中間まとめが出ました。今はちょうど答申が見込まれる時期、令和8年夏の前後にあたります。この先、令和8年度末に告示、令和9年度が周知・準備、そして小学校は令和11年度から全面実施という流れです。学校訪問で最も多い質問が『いつからか』です。ポイントは“すぐ全部は変わらない・準備期間がある”こと、そして中学校・高校は小学校より後、という段階実施を正確に伝え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像の一つ目のレンズが、論点整理の『3つの方向性』です。①深い学びの実現、②多様性の包摂、③実現可能性の確保。特に③は今回の特徴で、理想を語るだけでなく“現場が無理なく実施できるか”を正面から据えたのがポイントです。そのために内容の精選を進め、共通の前提としてデジタル学習基盤を置いています。この3つは、このあと説明する5つのポイントの背骨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像の二つ目のレンズが、中間まとめの3つのキーワードです。AIとの共生、ウェルビーイング、教育内容の精選。先ほどの3つの方向性と重なりますが、より“合言葉”として現場に伝わりやすい言葉です。特に『教育内容の精選』と、そこから生まれる『余白』は、今回の改訂を象徴するキーワードなので、このあとポイント②と③で詳しく扱います。学校では、この3語だけでも覚えて帰ってもらうと会話の入り口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学校訪問で最も効く一枚です。改訂と聞くと現場は身構えますが、育成を目指す資質・能力の三つの柱、主体的・対話的で深い学び、カリキュラム・マネジメント、そして学習の基盤となる力といった“土台”は継続します。つまりゼロからやり直すのではなく、今の実践の上に積み上げる。先生方には『これまでの授業改善は無駄になりません、その延長です』と伝えると、前向きに受け止めてもら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が本題、現場でおさえる5つのポイントです。①個別最適と協働的な学びの一体的充実、②教育内容の精選と余白、③柔軟な教育課程＝調整授業時数制度、④デジタル・生成AI・情報活用能力、⑤探究の質と学習評価。この5つは、先ほどの3つの方向性・3つのキーワードを“現場の動きに翻訳”したものです。一枚ずつ、概要と『学校で何を見取るか』をセットで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イント①。個別最適な学びと協働的な学びを“別々のもの”ではなく一体で充実させる、という考え方です。鍵は往還。個で考えた成果を協働で練り上げ、その成果をまた個に返す。この行き来をICTが後押しし、最終的に子供が自分で学びを進める自律的な学びを目指します。学校訪問では右の3点で見取ります。一斉一辺倒になっていないか、端末が個別ドリルで完結せず共有・練り上げにつながっているか、めあてと振り返りで子供が自己調整しているか。ここを先生と一緒に確認すると具体的な助言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イント②は教育内容の精選と余白です。長年の課題であるカリキュラム・オーバーロード、つまり内容が増え続け消化に追われる状態を見直します。大事なのは、精選は“内容を薄める・削って楽をする”ことではない、という点。単元の中で最も残したい学びを見極め、そこに時間をかける。そうして生まれた余白を、探究、個別最適・補習、地域連携の独自活動に充てます。学校では『この単元で一番残したい学びは何ですか』という問いかけが有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イント③が今回の目玉、調整授業時数制度です。各教科の標準授業時数から、学校の裁量でおよそ1割程度、あるいはそれ以上を調整して教育課程を編成できる、という新しい仕組みです。ここで絶対に外してはいけない説明が、左のカードです。指導内容はすべて網羅するのが前提で、減るのは“時数の運用の柔軟性”であって学ぶ内容ではない。現場では必ず『授業が減るのか』『内容が減るのか』と誤解されるので、そこを丁寧に解きほぐしてください。生み出した時数は余白として探究や個別最適、地域連携に使う。狙いは学校の特色化と、不登校や特別な配慮を要する子への柔軟な対応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イント④はデジタルです。GIGAスクールで整った1人1台端末は、次期では学びの前提、デジタル学習基盤になります。三本柱で説明します。デジタル学習基盤を日常の文房具に、生成AIとはガイドラインVer.2.0を踏まえて共生し探究や問題解決に生かす、そして情報活用能力を言語能力と並ぶ学習の基盤として育てる。学校訪問では、端末が特別な日の“イベント”になっていないか、学級差・教員差が大きくないかを見取り、毎時間の当たり前の選択肢にしていく助言が有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イント⑤は探究と評価です。探究は“量”より“質”。調べて発表して終わりではなく、資質・能力に迫る問いに高めます。教科横断で実社会の課題とつなぎ、総合的な学習・探究の時間を核に各教科を結びます。評価は3観点を着実に、とりわけ学びに向かう力の見取りを丁寧に。評価と入試の在り方も併せて検討が進んでいます。訪問時のキーワードは『活動あって学びなし』を避けること。探究を“何ができるようになるか”から設計し、評価と指導を一体で回すよう助言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本日の核心、どの学校でも汎用できる“今からできること”です。ポイントは、告示や新しい教科書を待たなくても始められること。6つ挙げました。単元の重点を絞る、端末を文房具にする、めあてと振り返りを往復させる、個から協働への場面を設計する、実社会とつなぐ探究を一つ試す、そして余白の使い道を学校全体で対話する。いずれも予算も特別な準備も要りません。学校訪問では、この6つから“その学校が既にやれていること”を見つけて価値づけ、次の一歩を一緒に選ぶ、という使い方を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輩の皆さんへ、指導主事としての関わり方のコツです。第一に『変えさせる』のではなく『価値づける』。先生方の今の実践を、次期の言葉で意味づけて返すのが私たちの仕事です。第二に相手で切り口を変える。管理職にはカリマネや時数の運用、教員には授業の一場面から。第三に正解を配らない。自律を子供に促すなら、まず私たち自身が学校の自律を促す関わりを。第四に誤解に備える。右の4つの問いは、どの学校でもそのまま使える汎用の問いかけです。指示ではなく問いで、学校自身が考え出す支援をし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でよく聞かれる質問への“模範解答”を4つ用意しました。これはそのまま暗記しておくと、訪問先で慌てません。いつからか、時数・内容は減るのか、負担は増えるのか、何から始めるか。共通して押さえるべき筋は、①段階的な実施で準備期間がある、②減るのは運用の柔軟性で内容ではない、③精選の方向で土台は継続、④明日の一単元から始められる、の4点です。後輩同士でロールプレイしておくと、実際の訪問で自然に言葉が出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まとめです。持ち帰ってほしいのは3つ。一つ、土台は継続し方向は精選・個別最適・デジタル、だからゼロからではない。二つ、目玉は時数の柔軟化＝調整授業時数制度と、そこから生まれる余白の活用。内容は網羅が前提だという点をセットで。三つ、私たちの指導は、今の実践を次期の言葉で価値づけ、正解を配らず問いで学校の自律を促すこと。答申・告示の確定を待ちながらも、できることは今の授業から始まっています。以上です、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資料と出典です。本資料は、令和6年12月の諮問、論点整理、令和7年8月の審議の中間まとめ、生成AIガイドラインVer.2.0、そして個別最適・協働的な学びに関する文科省資料などに基づいています。繰り返しになりますが、最終的な内容は今後の答申・告示で確定します。研修後に自分で確認する際は、必ず文部科学省の公表資料を一次情報として当た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737360"/>
            <a:ext cx="4754880" cy="4754880"/>
          </a:xfrm>
          <a:prstGeom prst="ellipse">
            <a:avLst/>
          </a:prstGeom>
          <a:solidFill>
            <a:srgbClr val="2A9D8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4206240" cy="420624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E4A11B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9281160" y="416052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│　指導主事 勉強会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86384" y="18745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次期学習指導要領のポイント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2999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 概要と、各学校で汎用できる指導のヒント ―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E4A11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41148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9776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所要時間　約30分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39776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後輩指導主事のための研修資料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　│　諮問・論点整理・審議の中間まとめに基づく整理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本日のゴールと進め方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この30分のゴール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6968" y="239572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1460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63624" y="235915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改訂の全体像と『今どこか』を説明できる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63624" y="2679192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諮問→答申→告示→実施の流れと現在地を押さえる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86968" y="3566160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68503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63624" y="352958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『変わる点』と『変わらない点』を整理できる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63624" y="3849624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土台は継続。何が新しいのかを切り分ける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86968" y="4736592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5546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63624" y="4700016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学校訪問で助言できる『持ち帰り』を得る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563624" y="5020056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どの小・中学校でも汎用できる視点にする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5508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5875">
            <a:solidFill>
              <a:srgbClr val="CFE0DB"/>
            </a:solidFill>
            <a:prstDash val="solid"/>
          </a:ln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67512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進め方（約30分）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675120" y="2432304"/>
            <a:ext cx="457200" cy="457200"/>
          </a:xfrm>
          <a:prstGeom prst="ellipse">
            <a:avLst/>
          </a:prstGeom>
          <a:solidFill>
            <a:srgbClr val="0E4D4A"/>
          </a:solidFill>
          <a:ln/>
        </p:spPr>
      </p:sp>
      <p:sp>
        <p:nvSpPr>
          <p:cNvPr id="21" name="Text 16"/>
          <p:cNvSpPr/>
          <p:nvPr/>
        </p:nvSpPr>
        <p:spPr>
          <a:xfrm>
            <a:off x="667512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287768" y="24048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背景・全体像をつかむ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0561320" y="243230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約7分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675120" y="3328416"/>
            <a:ext cx="457200" cy="457200"/>
          </a:xfrm>
          <a:prstGeom prst="ellipse">
            <a:avLst/>
          </a:prstGeom>
          <a:solidFill>
            <a:srgbClr val="0E4D4A"/>
          </a:solidFill>
          <a:ln/>
        </p:spPr>
      </p:sp>
      <p:sp>
        <p:nvSpPr>
          <p:cNvPr id="25" name="Text 20"/>
          <p:cNvSpPr/>
          <p:nvPr/>
        </p:nvSpPr>
        <p:spPr>
          <a:xfrm>
            <a:off x="667512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287768" y="33009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現場でおさえる5つのポイント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10561320" y="332841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約13分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675120" y="4224528"/>
            <a:ext cx="457200" cy="457200"/>
          </a:xfrm>
          <a:prstGeom prst="ellipse">
            <a:avLst/>
          </a:prstGeom>
          <a:solidFill>
            <a:srgbClr val="0E4D4A"/>
          </a:solidFill>
          <a:ln/>
        </p:spPr>
      </p:sp>
      <p:sp>
        <p:nvSpPr>
          <p:cNvPr id="29" name="Text 24"/>
          <p:cNvSpPr/>
          <p:nvPr/>
        </p:nvSpPr>
        <p:spPr>
          <a:xfrm>
            <a:off x="66751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7287768" y="41970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学校での活かし方・想定Q&amp;A</a:t>
            </a:r>
            <a:endParaRPr lang="en-US" sz="1450" dirty="0"/>
          </a:p>
        </p:txBody>
      </p:sp>
      <p:sp>
        <p:nvSpPr>
          <p:cNvPr id="31" name="Text 26"/>
          <p:cNvSpPr/>
          <p:nvPr/>
        </p:nvSpPr>
        <p:spPr>
          <a:xfrm>
            <a:off x="10561320" y="42245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約8分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675120" y="5120640"/>
            <a:ext cx="457200" cy="457200"/>
          </a:xfrm>
          <a:prstGeom prst="ellipse">
            <a:avLst/>
          </a:prstGeom>
          <a:solidFill>
            <a:srgbClr val="0E4D4A"/>
          </a:solidFill>
          <a:ln/>
        </p:spPr>
      </p:sp>
      <p:sp>
        <p:nvSpPr>
          <p:cNvPr id="33" name="Text 28"/>
          <p:cNvSpPr/>
          <p:nvPr/>
        </p:nvSpPr>
        <p:spPr>
          <a:xfrm>
            <a:off x="66751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7287768" y="5093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まとめ（3つの持ち帰り）</a:t>
            </a:r>
            <a:endParaRPr lang="en-US" sz="1450" dirty="0"/>
          </a:p>
        </p:txBody>
      </p:sp>
      <p:sp>
        <p:nvSpPr>
          <p:cNvPr id="35" name="Text 30"/>
          <p:cNvSpPr/>
          <p:nvPr/>
        </p:nvSpPr>
        <p:spPr>
          <a:xfrm>
            <a:off x="10561320" y="5120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約2分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なぜ、いま改訂するのか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予測困難な社会と生成AIの急速な普及。</a:t>
            </a:r>
            <a:pPr indent="0" marL="0">
              <a:buNone/>
            </a:pPr>
            <a:r>
              <a:rPr lang="en-US" sz="14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『令和の日本型学校教育』をさらに前へ進める改訂です。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350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これまで（見直す姿）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07208"/>
            <a:ext cx="4242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正解主義・同調圧力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『教える場』としての学校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04688" y="2907792"/>
            <a:ext cx="768096" cy="768096"/>
          </a:xfrm>
          <a:prstGeom prst="ellipse">
            <a:avLst/>
          </a:prstGeom>
          <a:solidFill>
            <a:srgbClr val="E4A11B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56" y="310896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0" y="214884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0E4D4A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0" y="2350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これから（目指す姿）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14032" y="2807208"/>
            <a:ext cx="4242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一人ひとりの『好き・得意』を原動力に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『学びをデザインする場』へ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66928" y="4709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改訂を後押しする3つの潮流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502920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E9F3F0"/>
          </a:solidFill>
          <a:ln/>
        </p:spPr>
      </p:sp>
      <p:sp>
        <p:nvSpPr>
          <p:cNvPr id="15" name="Shape 12"/>
          <p:cNvSpPr/>
          <p:nvPr/>
        </p:nvSpPr>
        <p:spPr>
          <a:xfrm>
            <a:off x="795528" y="5266944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34" y="5385450"/>
            <a:ext cx="256764" cy="2567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35608" y="50292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予測困難な社会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315968" y="502920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E9F3F0"/>
          </a:solidFill>
          <a:ln/>
        </p:spPr>
      </p:sp>
      <p:sp>
        <p:nvSpPr>
          <p:cNvPr id="19" name="Shape 15"/>
          <p:cNvSpPr/>
          <p:nvPr/>
        </p:nvSpPr>
        <p:spPr>
          <a:xfrm>
            <a:off x="4544568" y="5266944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074" y="5385450"/>
            <a:ext cx="256764" cy="2567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84648" y="50292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生成AIの進展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065008" y="5029200"/>
            <a:ext cx="3566160" cy="960120"/>
          </a:xfrm>
          <a:prstGeom prst="roundRect">
            <a:avLst>
              <a:gd name="adj" fmla="val 9524"/>
            </a:avLst>
          </a:prstGeom>
          <a:solidFill>
            <a:srgbClr val="E9F3F0"/>
          </a:solidFill>
          <a:ln/>
        </p:spPr>
      </p:sp>
      <p:sp>
        <p:nvSpPr>
          <p:cNvPr id="23" name="Shape 18"/>
          <p:cNvSpPr/>
          <p:nvPr/>
        </p:nvSpPr>
        <p:spPr>
          <a:xfrm>
            <a:off x="8293608" y="5266944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114" y="5385450"/>
            <a:ext cx="256764" cy="2567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33688" y="50292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多様な子供たち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改訂スケジュール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私たちは『今』どこにいるか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96112" y="3383280"/>
            <a:ext cx="10396728" cy="50292"/>
          </a:xfrm>
          <a:prstGeom prst="roundRect">
            <a:avLst>
              <a:gd name="adj" fmla="val 36364"/>
            </a:avLst>
          </a:prstGeom>
          <a:solidFill>
            <a:srgbClr val="9BC6BD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3314700"/>
            <a:ext cx="182880" cy="18288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" y="3639312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令和6年12月
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諮問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7460" y="3314700"/>
            <a:ext cx="182880" cy="18288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5084" y="214884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令和7年
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論点整理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0248" y="3314700"/>
            <a:ext cx="182880" cy="18288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3639312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令和7年8月
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審議の中間まとめ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75604" y="3287268"/>
            <a:ext cx="237744" cy="237744"/>
          </a:xfrm>
          <a:prstGeom prst="ellipse">
            <a:avLst/>
          </a:prstGeom>
          <a:solidFill>
            <a:srgbClr val="0E4D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0660" y="214884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 夏頃
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答申（予定）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35824" y="3314700"/>
            <a:ext cx="182880" cy="18288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3639312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令和8年度末
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告示（予定）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68612" y="3314700"/>
            <a:ext cx="182880" cy="18288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46236" y="214884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令和9年度
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周知・準備期間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173968" y="3287268"/>
            <a:ext cx="237744" cy="237744"/>
          </a:xfrm>
          <a:prstGeom prst="ellipse">
            <a:avLst/>
          </a:prstGeom>
          <a:solidFill>
            <a:srgbClr val="E4A11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79024" y="3639312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令和11年度〜
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小学校 全面実施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80076" y="1325880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E4A11B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4668" y="1449324"/>
            <a:ext cx="26517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637276" y="132588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現在地（2026年7月）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80760" y="1828800"/>
            <a:ext cx="27432" cy="1463040"/>
          </a:xfrm>
          <a:prstGeom prst="roundRect">
            <a:avLst>
              <a:gd name="adj" fmla="val 33333"/>
            </a:avLst>
          </a:prstGeom>
          <a:solidFill>
            <a:srgbClr val="E4A11B"/>
          </a:solidFill>
          <a:ln/>
        </p:spPr>
      </p:sp>
      <p:sp>
        <p:nvSpPr>
          <p:cNvPr id="23" name="Shape 20"/>
          <p:cNvSpPr/>
          <p:nvPr/>
        </p:nvSpPr>
        <p:spPr>
          <a:xfrm>
            <a:off x="566928" y="54406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9F3F0"/>
          </a:solidFill>
          <a:ln/>
        </p:spPr>
      </p:sp>
      <p:sp>
        <p:nvSpPr>
          <p:cNvPr id="24" name="Shape 21"/>
          <p:cNvSpPr/>
          <p:nvPr/>
        </p:nvSpPr>
        <p:spPr>
          <a:xfrm>
            <a:off x="786384" y="5632704"/>
            <a:ext cx="402336" cy="40233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10" y="5723230"/>
            <a:ext cx="221285" cy="22128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53312" y="5440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本資料は諮問・論点整理・『審議の中間まとめ』に基づく整理です。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最終的な内容・時期は、今後の答申・告示で確定します（実施は段階的：中学校・高校は小学校より後）。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改訂の『3つの方向性』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論点整理が示した、改訂の大きな方向。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529584" cy="3246120"/>
          </a:xfrm>
          <a:prstGeom prst="roundRect">
            <a:avLst>
              <a:gd name="adj" fmla="val 2817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50008"/>
            <a:ext cx="713232" cy="71323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528316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2004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方向性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32688" y="344728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深い学びの実現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32688" y="3977640"/>
            <a:ext cx="2798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主体的・対話的で深い学びを一層充実。探究や実社会と結び付け、資質・能力に迫る。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1965960"/>
            <a:ext cx="3529584" cy="3246120"/>
          </a:xfrm>
          <a:prstGeom prst="roundRect">
            <a:avLst>
              <a:gd name="adj" fmla="val 2817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0016" y="2350008"/>
            <a:ext cx="713232" cy="71323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24" y="2528316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0016" y="32004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方向性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00016" y="344728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多様性の包摂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700016" y="3977640"/>
            <a:ext cx="2798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多様な子供一人ひとりを大切に。特別支援・不登校・外国につながる子等に応える。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01584" y="1965960"/>
            <a:ext cx="3529584" cy="3246120"/>
          </a:xfrm>
          <a:prstGeom prst="roundRect">
            <a:avLst>
              <a:gd name="adj" fmla="val 2817"/>
            </a:avLst>
          </a:prstGeom>
          <a:solidFill>
            <a:srgbClr val="0E4D4A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67344" y="2350008"/>
            <a:ext cx="713232" cy="713232"/>
          </a:xfrm>
          <a:prstGeom prst="ellipse">
            <a:avLst/>
          </a:prstGeom>
          <a:solidFill>
            <a:srgbClr val="E4A11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652" y="2528316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67344" y="32004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方向性 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467344" y="344728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実現可能性の確保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67344" y="3977640"/>
            <a:ext cx="2798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学校が無理なく実施できる形へ。内容の精選とデジタル学習基盤が前提となる。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66928" y="54406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9F3F0"/>
          </a:solidFill>
          <a:ln/>
        </p:spPr>
      </p:sp>
      <p:sp>
        <p:nvSpPr>
          <p:cNvPr id="24" name="Shape 19"/>
          <p:cNvSpPr/>
          <p:nvPr/>
        </p:nvSpPr>
        <p:spPr>
          <a:xfrm>
            <a:off x="786384" y="5586984"/>
            <a:ext cx="365760" cy="365760"/>
          </a:xfrm>
          <a:prstGeom prst="ellipse">
            <a:avLst/>
          </a:prstGeom>
          <a:solidFill>
            <a:srgbClr val="0E4D4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66928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98448" y="54406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共通の前提：</a:t>
            </a:r>
            <a:pPr indent="0" marL="0">
              <a:buNone/>
            </a:pPr>
            <a:r>
              <a:rPr lang="en-US" sz="125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1人1台端末など『デジタル学習基盤』が、全ての学びの土台になります。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中間まとめの『3つのキーワード』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令和7年8月『審議の中間まとめ』で固まった大枠。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12848"/>
            <a:ext cx="768096" cy="768096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4048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76272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AIとの共生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257800" y="2267712"/>
            <a:ext cx="27432" cy="658368"/>
          </a:xfrm>
          <a:prstGeom prst="roundRect">
            <a:avLst>
              <a:gd name="adj" fmla="val 33333"/>
            </a:avLst>
          </a:prstGeom>
          <a:solidFill>
            <a:srgbClr val="CFE0DB"/>
          </a:solidFill>
          <a:ln/>
        </p:spPr>
      </p:sp>
      <p:sp>
        <p:nvSpPr>
          <p:cNvPr id="10" name="Text 7"/>
          <p:cNvSpPr/>
          <p:nvPr/>
        </p:nvSpPr>
        <p:spPr>
          <a:xfrm>
            <a:off x="5532120" y="2176272"/>
            <a:ext cx="5779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生成AIを前提にした社会で、人間ならではの学びを問い直す。使いこなす力と向き合う。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328416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529584"/>
            <a:ext cx="768096" cy="768096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72160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349300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ウェルビーイング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5257800" y="3584448"/>
            <a:ext cx="27432" cy="658368"/>
          </a:xfrm>
          <a:prstGeom prst="roundRect">
            <a:avLst>
              <a:gd name="adj" fmla="val 33333"/>
            </a:avLst>
          </a:prstGeom>
          <a:solidFill>
            <a:srgbClr val="CFE0DB"/>
          </a:solidFill>
          <a:ln/>
        </p:spPr>
      </p:sp>
      <p:sp>
        <p:nvSpPr>
          <p:cNvPr id="16" name="Text 12"/>
          <p:cNvSpPr/>
          <p:nvPr/>
        </p:nvSpPr>
        <p:spPr>
          <a:xfrm>
            <a:off x="5532120" y="3493008"/>
            <a:ext cx="5779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子供と教職員の幸福・成長を土台に据える。学びの質と“心地よさ”を両立させる。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66928" y="4645152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E9F3F0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8680" y="4846320"/>
            <a:ext cx="768096" cy="768096"/>
          </a:xfrm>
          <a:prstGeom prst="ellipse">
            <a:avLst/>
          </a:prstGeom>
          <a:solidFill>
            <a:srgbClr val="E4A11B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5038344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480974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教育内容の精選</a:t>
            </a:r>
            <a:endParaRPr lang="en-US" sz="2100" dirty="0"/>
          </a:p>
        </p:txBody>
      </p:sp>
      <p:sp>
        <p:nvSpPr>
          <p:cNvPr id="21" name="Shape 16"/>
          <p:cNvSpPr/>
          <p:nvPr/>
        </p:nvSpPr>
        <p:spPr>
          <a:xfrm>
            <a:off x="5257800" y="4901184"/>
            <a:ext cx="27432" cy="658368"/>
          </a:xfrm>
          <a:prstGeom prst="roundRect">
            <a:avLst>
              <a:gd name="adj" fmla="val 33333"/>
            </a:avLst>
          </a:prstGeom>
          <a:solidFill>
            <a:srgbClr val="CFE0DB"/>
          </a:solidFill>
          <a:ln/>
        </p:spPr>
      </p:sp>
      <p:sp>
        <p:nvSpPr>
          <p:cNvPr id="22" name="Text 17"/>
          <p:cNvSpPr/>
          <p:nvPr/>
        </p:nvSpPr>
        <p:spPr>
          <a:xfrm>
            <a:off x="5532120" y="4809744"/>
            <a:ext cx="57790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詰め込みすぎを見直し、重要な内容を深く。学びに『余白』を生み出す。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押さえどころ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変わらない『土台』― ここは継続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E4D4A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3677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8132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4A1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“ゼロから”ではない。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現行の土台の上に積み上げる改訂です。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66928" y="2432304"/>
            <a:ext cx="5257800" cy="3611880"/>
          </a:xfrm>
          <a:prstGeom prst="roundRect">
            <a:avLst>
              <a:gd name="adj" fmla="val 2532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2615184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育成する資質・能力（三つの柱）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77824" y="3108960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27048" y="30632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知識及び技能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27048" y="3383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何を理解し、何ができるか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77824" y="4041648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1"/>
          <p:cNvSpPr/>
          <p:nvPr/>
        </p:nvSpPr>
        <p:spPr>
          <a:xfrm>
            <a:off x="877824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527048" y="39959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思考力・判断力・表現力等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27048" y="43159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理解していることをどう使うか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77824" y="4974336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5"/>
          <p:cNvSpPr/>
          <p:nvPr/>
        </p:nvSpPr>
        <p:spPr>
          <a:xfrm>
            <a:off x="877824" y="4974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527048" y="49286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学びに向かう力・人間性等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27048" y="52486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どう社会・人生に生かそうとするか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53328" y="2432304"/>
            <a:ext cx="557784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CFE0DB"/>
            </a:solidFill>
            <a:prstDash val="solid"/>
          </a:ln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45936" y="2615184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授業づくりの視点（継続）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345936" y="3108960"/>
            <a:ext cx="475488" cy="475488"/>
          </a:xfrm>
          <a:prstGeom prst="ellipse">
            <a:avLst/>
          </a:prstGeom>
          <a:solidFill>
            <a:srgbClr val="0E4D4A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3227832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22592" y="307238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主体的・対話的で深い学び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7022592" y="339242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アクティブ・ラーニングの視点での授業改善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345936" y="4059936"/>
            <a:ext cx="475488" cy="475488"/>
          </a:xfrm>
          <a:prstGeom prst="ellipse">
            <a:avLst/>
          </a:prstGeom>
          <a:solidFill>
            <a:srgbClr val="0E4D4A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178808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022592" y="402336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カリキュラム・マネジメント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7022592" y="434340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内容・時間・体制を学校全体で最適化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345936" y="5010912"/>
            <a:ext cx="475488" cy="475488"/>
          </a:xfrm>
          <a:prstGeom prst="ellipse">
            <a:avLst/>
          </a:prstGeom>
          <a:solidFill>
            <a:srgbClr val="0E4D4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512978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22592" y="4974336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学習の基盤となる資質・能力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7022592" y="529437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言語能力／情報活用能力／問題発見・解決能力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4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4937760" cy="4937760"/>
          </a:xfrm>
          <a:prstGeom prst="ellipse">
            <a:avLst/>
          </a:prstGeom>
          <a:solidFill>
            <a:srgbClr val="2A9D8F">
              <a:alpha val="1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9784080" y="411480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4A1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ここからが本題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86384" y="11704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現場でおさえる『5つのポイント』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22960" y="2212848"/>
            <a:ext cx="566928" cy="566928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212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個別最適な学び × 協働的な学び の一体的充実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22960" y="3035808"/>
            <a:ext cx="566928" cy="566928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00200" y="299008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教育内容の精選と『余白』（内容過多への対応）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22960" y="3858768"/>
            <a:ext cx="566928" cy="566928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00200" y="3813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柔軟な教育課程 ＝『調整授業時数制度』（新制度）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822960" y="4681728"/>
            <a:ext cx="566928" cy="566928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681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00200" y="463600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デジタル学習基盤・生成AI・情報活用能力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822960" y="5504688"/>
            <a:ext cx="566928" cy="566928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504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00200" y="54589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探究の質の向上／学習評価の見直し</a:t>
            </a:r>
            <a:endParaRPr lang="en-US" sz="1750" dirty="0"/>
          </a:p>
        </p:txBody>
      </p:sp>
      <p:sp>
        <p:nvSpPr>
          <p:cNvPr id="22" name="Text 1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個別最適な学び × 協働的な学び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810512"/>
            <a:ext cx="4581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『一体的な充実』とは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252728" y="2395728"/>
            <a:ext cx="1234440" cy="123444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027" y="2729027"/>
            <a:ext cx="567842" cy="567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67588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個別最適な学び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39502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指導の個別化・学習の個性化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55848" y="2395728"/>
            <a:ext cx="1234440" cy="1234440"/>
          </a:xfrm>
          <a:prstGeom prst="ellipse">
            <a:avLst/>
          </a:prstGeom>
          <a:solidFill>
            <a:srgbClr val="0E4D4A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147" y="2729027"/>
            <a:ext cx="567842" cy="567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367588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協働的な学び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852928" y="39502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多様な他者と考えを練り上げる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776" y="2724912"/>
            <a:ext cx="566928" cy="56692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41248" y="4572000"/>
            <a:ext cx="461772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9BC6B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024128" y="4645152"/>
            <a:ext cx="4251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往還（おうかん）：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個別最適の成果を協働に生かし、その成果をまた個別最適へ還元。ICTがこの行き来を後押しし、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自律的な学び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につなげる。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035040" y="1664208"/>
            <a:ext cx="5596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学校で見取るポイント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035040" y="2194560"/>
            <a:ext cx="5596128" cy="1170432"/>
          </a:xfrm>
          <a:prstGeom prst="roundRect">
            <a:avLst>
              <a:gd name="adj" fmla="val 7813"/>
            </a:avLst>
          </a:prstGeom>
          <a:solidFill>
            <a:srgbClr val="E9F3F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45059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0" y="2340864"/>
            <a:ext cx="4544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一斉指導“一辺倒”になっていないか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858000" y="2798064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子供が課題・方法・ペースを選べる場面があるか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035040" y="3493008"/>
            <a:ext cx="5596128" cy="1170432"/>
          </a:xfrm>
          <a:prstGeom prst="roundRect">
            <a:avLst>
              <a:gd name="adj" fmla="val 7813"/>
            </a:avLst>
          </a:prstGeom>
          <a:solidFill>
            <a:srgbClr val="E9F3F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374904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0" y="3639312"/>
            <a:ext cx="4544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端末で“個”のペース＋“考えの共有”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858000" y="4096512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個別ドリルで終わらず、練り上げに接続しているか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035040" y="4791456"/>
            <a:ext cx="5596128" cy="1170432"/>
          </a:xfrm>
          <a:prstGeom prst="roundRect">
            <a:avLst>
              <a:gd name="adj" fmla="val 7813"/>
            </a:avLst>
          </a:prstGeom>
          <a:solidFill>
            <a:srgbClr val="E9F3F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5047488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58000" y="4937760"/>
            <a:ext cx="4544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『めあて』と『振り返り』の往復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858000" y="5394960"/>
            <a:ext cx="4544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子供が自分の学びを自己調整する場面をつくる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教育内容の精選と『余白』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カリキュラム・オーバーロード（内容過多）への対応。</a:t>
            </a:r>
            <a:pPr indent="0" marL="0">
              <a:buNone/>
            </a:pPr>
            <a:r>
              <a:rPr lang="en-US" sz="14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“あれもこれも”を見直し、深く学ぶ時間を生む。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現行イメージ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450592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9BC6BD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45059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内容がびっしり（消化に追われる）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次期イメージ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547872"/>
            <a:ext cx="4195267" cy="566928"/>
          </a:xfrm>
          <a:prstGeom prst="roundRect">
            <a:avLst>
              <a:gd name="adj" fmla="val 12903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547872"/>
            <a:ext cx="41952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精選した重要内容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17059" y="3547872"/>
            <a:ext cx="2516429" cy="566928"/>
          </a:xfrm>
          <a:prstGeom prst="roundRect">
            <a:avLst>
              <a:gd name="adj" fmla="val 12903"/>
            </a:avLst>
          </a:prstGeom>
          <a:solidFill>
            <a:srgbClr val="E4A11B">
              <a:alpha val="88000"/>
            </a:srgbClr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7059" y="3547872"/>
            <a:ext cx="25164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7B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余白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生み出した『余白』の使い道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919472"/>
            <a:ext cx="2194560" cy="960120"/>
          </a:xfrm>
          <a:prstGeom prst="roundRect">
            <a:avLst>
              <a:gd name="adj" fmla="val 9524"/>
            </a:avLst>
          </a:prstGeom>
          <a:solidFill>
            <a:srgbClr val="E9F3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5138928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03" y="5261823"/>
            <a:ext cx="266273" cy="26627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35024" y="491947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探究的な学び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852928" y="4919472"/>
            <a:ext cx="2194560" cy="960120"/>
          </a:xfrm>
          <a:prstGeom prst="roundRect">
            <a:avLst>
              <a:gd name="adj" fmla="val 9524"/>
            </a:avLst>
          </a:prstGeom>
          <a:solidFill>
            <a:srgbClr val="E9F3F0"/>
          </a:solidFill>
          <a:ln/>
        </p:spPr>
      </p:sp>
      <p:sp>
        <p:nvSpPr>
          <p:cNvPr id="19" name="Shape 16"/>
          <p:cNvSpPr/>
          <p:nvPr/>
        </p:nvSpPr>
        <p:spPr>
          <a:xfrm>
            <a:off x="3035808" y="5138928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703" y="5261823"/>
            <a:ext cx="266273" cy="26627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1024" y="491947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個別最適・補習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138928" y="4919472"/>
            <a:ext cx="2194560" cy="960120"/>
          </a:xfrm>
          <a:prstGeom prst="roundRect">
            <a:avLst>
              <a:gd name="adj" fmla="val 9524"/>
            </a:avLst>
          </a:prstGeom>
          <a:solidFill>
            <a:srgbClr val="E9F3F0"/>
          </a:solidFill>
          <a:ln/>
        </p:spPr>
      </p:sp>
      <p:sp>
        <p:nvSpPr>
          <p:cNvPr id="23" name="Shape 19"/>
          <p:cNvSpPr/>
          <p:nvPr/>
        </p:nvSpPr>
        <p:spPr>
          <a:xfrm>
            <a:off x="5321808" y="5138928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703" y="5261823"/>
            <a:ext cx="266273" cy="26627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907024" y="491947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地域と連携した独自の活動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635240" y="2148840"/>
            <a:ext cx="3995928" cy="3730752"/>
          </a:xfrm>
          <a:prstGeom prst="roundRect">
            <a:avLst>
              <a:gd name="adj" fmla="val 2451"/>
            </a:avLst>
          </a:prstGeom>
          <a:solidFill>
            <a:srgbClr val="0E4D4A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395728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03920" y="237744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A1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指導のひとこと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955280" y="3017520"/>
            <a:ext cx="33558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精選＝“薄める”ではない。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単元の中で「最も残したい学び」を明確にし、そこに時間をかける。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
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“全部を同じ濃さで”をやめる発想が、余白を生む第一歩。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 ③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柔軟な教育課程 ＝『調整授業時数制度』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601200" y="658368"/>
            <a:ext cx="2029968" cy="457200"/>
          </a:xfrm>
          <a:prstGeom prst="roundRect">
            <a:avLst>
              <a:gd name="adj" fmla="val 50000"/>
            </a:avLst>
          </a:prstGeom>
          <a:solidFill>
            <a:srgbClr val="E4A11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65836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新制度（目玉）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977640" cy="4160520"/>
          </a:xfrm>
          <a:prstGeom prst="roundRect">
            <a:avLst>
              <a:gd name="adj" fmla="val 2299"/>
            </a:avLst>
          </a:prstGeom>
          <a:solidFill>
            <a:srgbClr val="0E4D4A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874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学校の裁量で調整できる時数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28600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</a:t>
            </a:r>
            <a:pPr algn="ctr" indent="0" marL="0">
              <a:buNone/>
            </a:pPr>
            <a:r>
              <a:rPr lang="en-US" sz="7400" b="1" dirty="0">
                <a:solidFill>
                  <a:srgbClr val="E4A1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1割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6968" y="36758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標準授業時数から（程度、以上）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6968" y="4160520"/>
            <a:ext cx="3337560" cy="1325880"/>
          </a:xfrm>
          <a:prstGeom prst="roundRect">
            <a:avLst>
              <a:gd name="adj" fmla="val 6897"/>
            </a:avLst>
          </a:prstGeom>
          <a:solidFill>
            <a:srgbClr val="0A3B3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4370832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6968" y="47548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内容はすべて網羅が前提。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減るのは“時数の運用”であって、学ぶ内容ではない。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1627632"/>
            <a:ext cx="6876288" cy="960120"/>
          </a:xfrm>
          <a:prstGeom prst="roundRect">
            <a:avLst>
              <a:gd name="adj" fmla="val 9524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74336" y="1874520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453" y="1988637"/>
            <a:ext cx="247254" cy="24725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3560" y="1755648"/>
            <a:ext cx="5779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学校裁量で時数を調整できる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23560" y="2103120"/>
            <a:ext cx="5779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各教科の標準時数から一定割合を学校の判断で調整可能に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54880" y="2670048"/>
            <a:ext cx="6876288" cy="960120"/>
          </a:xfrm>
          <a:prstGeom prst="roundRect">
            <a:avLst>
              <a:gd name="adj" fmla="val 9524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74336" y="2916936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453" y="3031053"/>
            <a:ext cx="247254" cy="24725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23560" y="2798064"/>
            <a:ext cx="5779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指導内容は“網羅”が前提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623560" y="3145536"/>
            <a:ext cx="5779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定められた内容はすべて扱う。内容が減るわけではない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3712464"/>
            <a:ext cx="6876288" cy="960120"/>
          </a:xfrm>
          <a:prstGeom prst="roundRect">
            <a:avLst>
              <a:gd name="adj" fmla="val 9524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74336" y="3959352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453" y="4073469"/>
            <a:ext cx="247254" cy="24725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3840480"/>
            <a:ext cx="5779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生み出した時数＝『余白』の活用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23560" y="4187952"/>
            <a:ext cx="5779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探究・補習（個別最適）・地域連携など特色ある活動へ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754880" y="4754880"/>
            <a:ext cx="6876288" cy="960120"/>
          </a:xfrm>
          <a:prstGeom prst="roundRect">
            <a:avLst>
              <a:gd name="adj" fmla="val 9524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974336" y="500176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453" y="5115885"/>
            <a:ext cx="247254" cy="24725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623560" y="4882896"/>
            <a:ext cx="5779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ねらいは特色化と柔軟な対応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623560" y="5230368"/>
            <a:ext cx="5779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学校の特色づくり、不登校・特別な配慮への柔軟な対応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 ④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デジタル学習基盤・生成AI・情報活用能力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1人1台端末（デジタル学習基盤）は、次期の“前提”。</a:t>
            </a:r>
            <a:pPr indent="0" marL="0">
              <a:buNone/>
            </a:pPr>
            <a:r>
              <a:rPr lang="en-US" sz="14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使うかどうかではなく、どう学びに生かすか。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731520" cy="73152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560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デジタル学習基盤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端末・学習データを日常の学びへ。デジタル教科書等も活用し、“特別なこと”から“文房具”に。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34256" y="201168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0E4D4A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2377440"/>
            <a:ext cx="731520" cy="731520"/>
          </a:xfrm>
          <a:prstGeom prst="ellipse">
            <a:avLst/>
          </a:prstGeom>
          <a:solidFill>
            <a:srgbClr val="E4A11B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560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生成AIとの共生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81728" y="38862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ガイドライン（Ver.2.0）を踏まえ、探究や問題解決に活用。便利さと危うさの両面を学ぶ。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01584" y="201168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49056" y="2377440"/>
            <a:ext cx="731520" cy="73152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560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9056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情報活用能力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49056" y="38862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言語能力と並ぶ『学習の基盤となる力』。情報モラルを含めて育てる。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66928" y="5596128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E9F3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74243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559612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学校で見取る：</a:t>
            </a:r>
            <a:pPr indent="0" marL="0">
              <a:buNone/>
            </a:pPr>
            <a:r>
              <a:rPr lang="en-US" sz="125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端末が“イベント”になっていないか。学級・教員による活用差をならし、毎時間の選択肢にする。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 ⑤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探究の質の向上／学習評価の見直し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532120" cy="3246120"/>
          </a:xfrm>
          <a:prstGeom prst="roundRect">
            <a:avLst>
              <a:gd name="adj" fmla="val 2817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938528"/>
            <a:ext cx="658368" cy="658368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031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93852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探究・教科横断</a:t>
            </a:r>
            <a:endParaRPr lang="en-US" sz="1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87121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4168" y="27980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探究的な学びの“質”を高める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344168" y="31272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調べ学習で終わらず、資質・能力に迫る問いへ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85616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44168" y="37124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教科横断で実社会の課題に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344168" y="4041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総合的な学習（探究）の時間を核に各教科をつなぐ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28232" y="1645920"/>
            <a:ext cx="5532120" cy="3246120"/>
          </a:xfrm>
          <a:prstGeom prst="roundRect">
            <a:avLst>
              <a:gd name="adj" fmla="val 2817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748272" y="1938528"/>
            <a:ext cx="658368" cy="658368"/>
          </a:xfrm>
          <a:prstGeom prst="ellipse">
            <a:avLst/>
          </a:prstGeom>
          <a:solidFill>
            <a:srgbClr val="0E4D4A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103120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25512" y="193852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学習評価・入試</a:t>
            </a:r>
            <a:endParaRPr lang="en-US" sz="1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287121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05472" y="27980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3観点の評価を着実に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7205472" y="31272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特に『学びに向かう力』の見取りを丁寧に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378561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205472" y="37124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評価と指導は一体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7205472" y="4041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評価と入試の在り方も併せて検討が進む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566928" y="513892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E4D4A"/>
          </a:solidFill>
          <a:ln/>
          <a:effectLst>
            <a:outerShdw sx="100000" sy="100000" kx="0" ky="0" algn="bl" rotWithShape="0" blurRad="114300" dist="38100" dir="5400000">
              <a:srgbClr val="234641">
                <a:alpha val="22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94960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371600" y="513892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4A1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学校で見取る：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『活動あって学びなし』を避ける。探究は“何ができるようになるか（資質・能力）”を軸に設計し、評価は指導と一体で。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学校での活かし方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練馬区の学校で『今』からできること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A1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告示を待たなくてよい。</a:t>
            </a:r>
            <a:pPr indent="0" marL="0">
              <a:buNone/>
            </a:pPr>
            <a:r>
              <a:rPr lang="en-US" sz="140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方向性に沿って“今の授業”を少しずつ。どの小・中学校でも汎用できる6つ。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529584" cy="1417320"/>
          </a:xfrm>
          <a:prstGeom prst="roundRect">
            <a:avLst>
              <a:gd name="adj" fmla="val 6452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88900" dist="38100" dir="5400000">
              <a:srgbClr val="23464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23719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222199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単元の“重点”を絞る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1248" y="286207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全部を同じ濃さで教えない（精選の発想）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4256" y="1965960"/>
            <a:ext cx="3529584" cy="1417320"/>
          </a:xfrm>
          <a:prstGeom prst="roundRect">
            <a:avLst>
              <a:gd name="adj" fmla="val 6452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88900" dist="38100" dir="5400000">
              <a:srgbClr val="234641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08576" y="224028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50" y="23719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222199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端末を“文房具”に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08576" y="286207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毎時間の当たり前の選択肢として使う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529584" cy="1417320"/>
          </a:xfrm>
          <a:prstGeom prst="roundRect">
            <a:avLst>
              <a:gd name="adj" fmla="val 6452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88900" dist="38100" dir="5400000">
              <a:srgbClr val="234641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75904" y="224028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78" y="23719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61704" y="222199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めあて→振り返りの往復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75904" y="286207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子供が自分の学びを調整する場面をつくる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3602736"/>
            <a:ext cx="3529584" cy="1417320"/>
          </a:xfrm>
          <a:prstGeom prst="roundRect">
            <a:avLst>
              <a:gd name="adj" fmla="val 6452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88900" dist="38100" dir="5400000">
              <a:srgbClr val="234641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3877056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008730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27048" y="385876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個→協働の場面を設計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41248" y="44988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個の考えを共有し、練り上げる時間を置く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4256" y="3602736"/>
            <a:ext cx="3529584" cy="1417320"/>
          </a:xfrm>
          <a:prstGeom prst="roundRect">
            <a:avLst>
              <a:gd name="adj" fmla="val 6452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88900" dist="38100" dir="5400000">
              <a:srgbClr val="234641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08576" y="3877056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250" y="4008730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94376" y="385876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実社会とつなぐ一単元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08576" y="44988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教科横断・探究を“まず一つ”試してみる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01584" y="3602736"/>
            <a:ext cx="3529584" cy="1417320"/>
          </a:xfrm>
          <a:prstGeom prst="roundRect">
            <a:avLst>
              <a:gd name="adj" fmla="val 6452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88900" dist="38100" dir="5400000">
              <a:srgbClr val="234641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75904" y="3877056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578" y="4008730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61704" y="385876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余白の使い道を対話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75904" y="449884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カリマネで学校全体の時間の使い方を話し合う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66928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特別な準備や予算がなくても、明日の一単元から始められる視点です。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指導主事として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学校訪問での関わり方・助言のコツ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関わり方の原則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493776" cy="493776"/>
          </a:xfrm>
          <a:prstGeom prst="ellipse">
            <a:avLst/>
          </a:prstGeom>
          <a:solidFill>
            <a:srgbClr val="0E4D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13512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975104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『変える』より『価値づける』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61872" y="2295144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今の実践を“次期の言葉”で意味づけて返す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3035808"/>
            <a:ext cx="493776" cy="493776"/>
          </a:xfrm>
          <a:prstGeom prst="ellipse">
            <a:avLst/>
          </a:prstGeom>
          <a:solidFill>
            <a:srgbClr val="0E4D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159252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2999232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相手で切り口を変える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61872" y="3319272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管理職とはカリマネ・時数、教員とは授業の一場面から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" y="4059936"/>
            <a:ext cx="493776" cy="493776"/>
          </a:xfrm>
          <a:prstGeom prst="ellipse">
            <a:avLst/>
          </a:prstGeom>
          <a:solidFill>
            <a:srgbClr val="0E4D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183380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4023360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“正解を配らない”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61872" y="4343400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学校の実態から一緒に考える（自律を促す姿勢を我々も）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6928" y="5084064"/>
            <a:ext cx="493776" cy="493776"/>
          </a:xfrm>
          <a:prstGeom prst="ellipse">
            <a:avLst/>
          </a:prstGeom>
          <a:solidFill>
            <a:srgbClr val="0E4D4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5207508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1872" y="504748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誤解に備える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61872" y="5367528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『内容が減る』『端末で遊ぶ』ではない、を丁寧に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355080" y="1572768"/>
            <a:ext cx="5276088" cy="4526280"/>
          </a:xfrm>
          <a:prstGeom prst="roundRect">
            <a:avLst>
              <a:gd name="adj" fmla="val 2020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1792224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96328" y="1773936"/>
            <a:ext cx="4178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学校に投げかける『問い』の例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647688" y="2395728"/>
            <a:ext cx="46908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9BC6BD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2633472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69480" y="2450592"/>
            <a:ext cx="3995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この単元で“最も”残したい学びは何ですか？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647688" y="3310128"/>
            <a:ext cx="46908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9BC6BD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0568" y="3547872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69480" y="3364992"/>
            <a:ext cx="3995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子供が自分で選ぶ・振り返る場面はどこにありますか？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6647688" y="4224528"/>
            <a:ext cx="46908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9BC6BD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0568" y="4462272"/>
            <a:ext cx="310896" cy="31089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269480" y="4279392"/>
            <a:ext cx="3995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端末は毎時間、当たり前の選択肢になっていますか？</a:t>
            </a:r>
            <a:endParaRPr lang="en-US" sz="1250" dirty="0"/>
          </a:p>
        </p:txBody>
      </p:sp>
      <p:sp>
        <p:nvSpPr>
          <p:cNvPr id="33" name="Shape 23"/>
          <p:cNvSpPr/>
          <p:nvPr/>
        </p:nvSpPr>
        <p:spPr>
          <a:xfrm>
            <a:off x="6647688" y="5138928"/>
            <a:ext cx="46908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9BC6BD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0568" y="5376672"/>
            <a:ext cx="310896" cy="31089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269480" y="5193792"/>
            <a:ext cx="39959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時間を生み出せるとしたら、何に使いたいですか？</a:t>
            </a:r>
            <a:endParaRPr lang="en-US" sz="1250" dirty="0"/>
          </a:p>
        </p:txBody>
      </p:sp>
      <p:sp>
        <p:nvSpPr>
          <p:cNvPr id="37" name="Text 25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そなえる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現場で聞かれる質問 ― 想定Q&amp;A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532120" cy="1993392"/>
          </a:xfrm>
          <a:prstGeom prst="roundRect">
            <a:avLst>
              <a:gd name="adj" fmla="val 4587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88900" dist="38100" dir="5400000">
              <a:srgbClr val="23464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603504" cy="420624"/>
          </a:xfrm>
          <a:prstGeom prst="roundRect">
            <a:avLst>
              <a:gd name="adj" fmla="val 21739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8366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36192" y="18653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いつから始まるの？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432304"/>
            <a:ext cx="4946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B27B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告示は令和8年度末頃の予定、小学校の全面実施は令和11年度〜。周知・準備期間があり、すぐ全部は変わりません（中・高は小より後）。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28232" y="1645920"/>
            <a:ext cx="5532120" cy="1993392"/>
          </a:xfrm>
          <a:prstGeom prst="roundRect">
            <a:avLst>
              <a:gd name="adj" fmla="val 4587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88900" dist="38100" dir="5400000">
              <a:srgbClr val="23464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84264" y="1883664"/>
            <a:ext cx="603504" cy="420624"/>
          </a:xfrm>
          <a:prstGeom prst="roundRect">
            <a:avLst>
              <a:gd name="adj" fmla="val 21739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684264" y="188366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97496" y="18653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授業時数・内容が減るの？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432304"/>
            <a:ext cx="4946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B27B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減るのは“時数の運用の柔軟性”。指導内容は網羅が前提です。生み出した分は余白＝探究・個別最適等へ回します。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858768"/>
            <a:ext cx="5532120" cy="1993392"/>
          </a:xfrm>
          <a:prstGeom prst="roundRect">
            <a:avLst>
              <a:gd name="adj" fmla="val 4587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88900" dist="38100" dir="5400000">
              <a:srgbClr val="234641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96512"/>
            <a:ext cx="603504" cy="420624"/>
          </a:xfrm>
          <a:prstGeom prst="roundRect">
            <a:avLst>
              <a:gd name="adj" fmla="val 21739"/>
            </a:avLst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9651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36192" y="40782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また負担が増える？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" y="4645152"/>
            <a:ext cx="4946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B27B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むしろ“精選”で絞る方向。三つの柱や主体的・対話的で深い学びなど土台は継続で、ゼロからではありません。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28232" y="3858768"/>
            <a:ext cx="5532120" cy="1993392"/>
          </a:xfrm>
          <a:prstGeom prst="roundRect">
            <a:avLst>
              <a:gd name="adj" fmla="val 4587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  <a:effectLst>
            <a:outerShdw sx="100000" sy="100000" kx="0" ky="0" algn="bl" rotWithShape="0" blurRad="88900" dist="38100" dir="5400000">
              <a:srgbClr val="234641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84264" y="4096512"/>
            <a:ext cx="603504" cy="420624"/>
          </a:xfrm>
          <a:prstGeom prst="roundRect">
            <a:avLst>
              <a:gd name="adj" fmla="val 21739"/>
            </a:avLst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684264" y="409651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97496" y="40782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何から始めれば？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4645152"/>
            <a:ext cx="4946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B27B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単元の重点化と、端末＋めあて・振り返りの日常化から。特別な準備なしで、明日の一単元から始められます。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4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572000" cy="4572000"/>
          </a:xfrm>
          <a:prstGeom prst="ellipse">
            <a:avLst/>
          </a:prstGeom>
          <a:solidFill>
            <a:srgbClr val="2A9D8F">
              <a:alpha val="1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9875520" y="50292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4A1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86384" y="11155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きょうの『3つの持ち帰り』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658368" cy="658368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91640" y="22128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土台は継続、方向は『精選 × 個別最適 × デジタル』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268833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だから“ゼロから”ではない。今の実践の延長線上にある。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456432"/>
            <a:ext cx="658368" cy="658368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4564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91640" y="3383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目玉は『時数の柔軟化（調整授業時数制度）』と『余白』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691640" y="38587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内容は網羅が前提。生んだ時間を探究・個別最適・地域連携へ。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626864"/>
            <a:ext cx="658368" cy="658368"/>
          </a:xfrm>
          <a:prstGeom prst="ellipse">
            <a:avLst/>
          </a:prstGeom>
          <a:solidFill>
            <a:srgbClr val="E4A11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6268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3B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691640" y="45537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指導は『今の実践を次期の言葉で価値づけ、学校と共に考える』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691640" y="5029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FE0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正解を配らず、問いで学校の自律を促す。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5943600"/>
            <a:ext cx="10561320" cy="566928"/>
          </a:xfrm>
          <a:prstGeom prst="roundRect">
            <a:avLst>
              <a:gd name="adj" fmla="val 16129"/>
            </a:avLst>
          </a:prstGeom>
          <a:solidFill>
            <a:srgbClr val="0A3B39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59436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答申・告示の確定を待ちつつ、</a:t>
            </a:r>
            <a:pPr indent="0" marL="0">
              <a:buNone/>
            </a:pPr>
            <a:r>
              <a:rPr lang="en-US" sz="1400" b="1" dirty="0">
                <a:solidFill>
                  <a:srgbClr val="E4A1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“今の授業”から一歩ずつ。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6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C7A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参考資料・出典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19656"/>
            <a:ext cx="438912" cy="43891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23" y="1924995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556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中央教育審議会 諮問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89888" y="20756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「初等中等教育における教育課程の基準等の在り方について」（令和6年12月25日）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2523744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2697480"/>
            <a:ext cx="438912" cy="43891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23" y="2802819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263347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中教審 教育課程部会「論点整理」／「審議の中間まとめ」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389888" y="29535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改訂の3つの方向性・3つのキーワード（令和7年）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" y="3401568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3575304"/>
            <a:ext cx="438912" cy="43891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23" y="368064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351129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柔軟な教育課程（調整授業時数制度）関連資料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89888" y="383133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標準授業時数の弾力化に関する審議・報道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4279392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6384" y="4453128"/>
            <a:ext cx="438912" cy="43891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23" y="4558467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43891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初等中等教育段階における生成AIの利活用に関するガイドライン Ver.2.0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89888" y="47091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文部科学省（令和6年12月）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6928" y="5157216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F2F8F6"/>
          </a:solidFill>
          <a:ln w="12700">
            <a:solidFill>
              <a:srgbClr val="CFE0D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86384" y="5330952"/>
            <a:ext cx="438912" cy="43891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723" y="5436291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526694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D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「個別最適な学びと協働的な学びの一体的な充実」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89888" y="55869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文部科学省 特設ページ 等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66928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本資料は上記に基づく研修用の整理です。最新・確定情報は文部科学省の公表資料をご確認ください。　作成：練馬区教育委員会 指導主事研修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566928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練馬区教育委員会　指導主事研修資料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次期学習指導要領のポイント</dc:title>
  <dc:subject>PptxGenJS Presentation</dc:subject>
  <dc:creator>練馬区教育委員会 指導主事</dc:creator>
  <cp:lastModifiedBy>練馬区教育委員会 指導主事</cp:lastModifiedBy>
  <cp:revision>1</cp:revision>
  <dcterms:created xsi:type="dcterms:W3CDTF">2026-07-22T10:42:58Z</dcterms:created>
  <dcterms:modified xsi:type="dcterms:W3CDTF">2026-07-22T10:42:58Z</dcterms:modified>
</cp:coreProperties>
</file>