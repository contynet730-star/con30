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43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26000"/>
            <a:ext cx="12193200" cy="43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827999"/>
            <a:ext cx="1147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600" b="1">
                <a:solidFill>
                  <a:srgbClr val="1A1A1A"/>
                </a:solidFill>
                <a:latin typeface="メイリオ"/>
                <a:ea typeface="メイリオ"/>
              </a:rPr>
              <a:t>練馬区立開進第四小学校  校内研究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368000"/>
            <a:ext cx="11473200" cy="4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令和８年５月２５日（月）  第３学年  国語科  研究授業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088000"/>
            <a:ext cx="10753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2268000"/>
            <a:ext cx="114732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3200" b="1">
                <a:solidFill>
                  <a:srgbClr val="002060"/>
                </a:solidFill>
                <a:latin typeface="メイリオ"/>
                <a:ea typeface="メイリオ"/>
              </a:rPr>
              <a:t>指 導 講 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3060000"/>
            <a:ext cx="11473200" cy="180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5600" b="1">
                <a:solidFill>
                  <a:srgbClr val="1A1A1A"/>
                </a:solidFill>
                <a:latin typeface="メイリオ"/>
                <a:ea typeface="メイリオ"/>
              </a:rPr>
              <a:t>対話を通して、</a:t>
            </a:r>
          </a:p>
          <a:p>
            <a:pPr algn="ctr"/>
            <a:r>
              <a:rPr sz="5600" b="1">
                <a:solidFill>
                  <a:srgbClr val="1A1A1A"/>
                </a:solidFill>
                <a:latin typeface="メイリオ"/>
                <a:ea typeface="メイリオ"/>
              </a:rPr>
              <a:t>学びをつなげる児童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" y="5508000"/>
            <a:ext cx="10753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5652000"/>
            <a:ext cx="1147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中学年分科会  第３学年 国語科  授業者：菅原 愛里 教諭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82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メイリオ"/>
                <a:ea typeface="メイリオ"/>
              </a:rPr>
              <a:t>本日の流れ（10分間）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64000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0000" y="1332000"/>
            <a:ext cx="576000" cy="5760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332000"/>
            <a:ext cx="576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0000" y="1224000"/>
            <a:ext cx="216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0:00 – 1:00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8000" y="1224000"/>
            <a:ext cx="612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メイリオ"/>
                <a:ea typeface="メイリオ"/>
              </a:rPr>
              <a:t>アイスブレイク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3200" y="1224000"/>
            <a:ext cx="162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2000" b="0">
                <a:solidFill>
                  <a:srgbClr val="666666"/>
                </a:solidFill>
                <a:latin typeface="メイリオ"/>
                <a:ea typeface="メイリオ"/>
              </a:rPr>
              <a:t>1分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1260000" y="1998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0000" y="2124000"/>
            <a:ext cx="576000" cy="5760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2124000"/>
            <a:ext cx="576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0000" y="2016000"/>
            <a:ext cx="216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1:00 – 3:00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8000" y="2016000"/>
            <a:ext cx="612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メイリオ"/>
                <a:ea typeface="メイリオ"/>
              </a:rPr>
              <a:t>本時の授業の価値づけ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33200" y="2016000"/>
            <a:ext cx="162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2000" b="0">
                <a:solidFill>
                  <a:srgbClr val="666666"/>
                </a:solidFill>
                <a:latin typeface="メイリオ"/>
                <a:ea typeface="メイリオ"/>
              </a:rPr>
              <a:t>2分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60000" y="2790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0000" y="2916000"/>
            <a:ext cx="576000" cy="5760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000" y="2916000"/>
            <a:ext cx="576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0000" y="2808000"/>
            <a:ext cx="216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3:00 – 5:00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8000" y="2808000"/>
            <a:ext cx="612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メイリオ"/>
                <a:ea typeface="メイリオ"/>
              </a:rPr>
              <a:t>研究主題との関連と根拠資料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33200" y="2808000"/>
            <a:ext cx="162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2000" b="0">
                <a:solidFill>
                  <a:srgbClr val="666666"/>
                </a:solidFill>
                <a:latin typeface="メイリオ"/>
                <a:ea typeface="メイリオ"/>
              </a:rPr>
              <a:t>2分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60000" y="3582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0000" y="3708000"/>
            <a:ext cx="576000" cy="5760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0000" y="3708000"/>
            <a:ext cx="576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0000" y="3600000"/>
            <a:ext cx="216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5:00 – 7:00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8000" y="3600000"/>
            <a:ext cx="612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メイリオ"/>
                <a:ea typeface="メイリオ"/>
              </a:rPr>
              <a:t>【投げかけ】先生方とのペア交流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3200" y="3600000"/>
            <a:ext cx="162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2000" b="0">
                <a:solidFill>
                  <a:srgbClr val="666666"/>
                </a:solidFill>
                <a:latin typeface="メイリオ"/>
                <a:ea typeface="メイリオ"/>
              </a:rPr>
              <a:t>2分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0000" y="4374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0000" y="4500000"/>
            <a:ext cx="576000" cy="5760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0000" y="4500000"/>
            <a:ext cx="576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0000" y="4392000"/>
            <a:ext cx="216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7:00 – 9:30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392000"/>
            <a:ext cx="612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メイリオ"/>
                <a:ea typeface="メイリオ"/>
              </a:rPr>
              <a:t>共有と今後への提案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33200" y="4392000"/>
            <a:ext cx="162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2000" b="0">
                <a:solidFill>
                  <a:srgbClr val="666666"/>
                </a:solidFill>
                <a:latin typeface="メイリオ"/>
                <a:ea typeface="メイリオ"/>
              </a:rPr>
              <a:t>2分30秒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60000" y="5166000"/>
            <a:ext cx="10573200" cy="108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0000" y="5292000"/>
            <a:ext cx="576000" cy="5760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0000" y="5292000"/>
            <a:ext cx="576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0000" y="5184000"/>
            <a:ext cx="216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9:30 – 10:00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0" y="5184000"/>
            <a:ext cx="612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メイリオ"/>
                <a:ea typeface="メイリオ"/>
              </a:rPr>
              <a:t>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33200" y="5184000"/>
            <a:ext cx="1620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2000" b="0">
                <a:solidFill>
                  <a:srgbClr val="666666"/>
                </a:solidFill>
                <a:latin typeface="メイリオ"/>
                <a:ea typeface="メイリオ"/>
              </a:rPr>
              <a:t>30秒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82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メイリオ"/>
                <a:ea typeface="メイリオ"/>
              </a:rPr>
              <a:t>①  アイスブレイク（1分）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64000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0000" y="1260000"/>
            <a:ext cx="11113200" cy="342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1440000"/>
            <a:ext cx="103932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800" b="1">
                <a:solidFill>
                  <a:srgbClr val="002060"/>
                </a:solidFill>
                <a:latin typeface="メイリオ"/>
                <a:ea typeface="メイリオ"/>
              </a:rPr>
              <a:t>Q．  隣の先生と…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2160000"/>
            <a:ext cx="10393200" cy="1007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A1A1A"/>
                </a:solidFill>
                <a:latin typeface="メイリオ"/>
                <a:ea typeface="メイリオ"/>
              </a:rPr>
              <a:t>「今日の授業で、思わず </a:t>
            </a:r>
            <a:r>
              <a:rPr sz="3200" b="1">
                <a:solidFill>
                  <a:srgbClr val="FF0000"/>
                </a:solidFill>
                <a:latin typeface="メイリオ"/>
                <a:ea typeface="メイリオ"/>
              </a:rPr>
              <a:t>〝おっ〟</a:t>
            </a:r>
            <a:r>
              <a:rPr sz="2600" b="1">
                <a:solidFill>
                  <a:srgbClr val="1A1A1A"/>
                </a:solidFill>
                <a:latin typeface="メイリオ"/>
                <a:ea typeface="メイリオ"/>
              </a:rPr>
              <a:t> と心が動いた瞬間」を、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348000"/>
            <a:ext cx="10393200" cy="1007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FF0000"/>
                </a:solidFill>
                <a:latin typeface="メイリオ"/>
                <a:ea typeface="メイリオ"/>
              </a:rPr>
              <a:t>ジェスチャー一つ</a:t>
            </a:r>
            <a:r>
              <a:rPr sz="2600" b="1">
                <a:solidFill>
                  <a:srgbClr val="1A1A1A"/>
                </a:solidFill>
                <a:latin typeface="メイリオ"/>
                <a:ea typeface="メイリオ"/>
              </a:rPr>
              <a:t> で表してみてください。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960000" y="4968000"/>
            <a:ext cx="4273200" cy="72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60000" y="4968000"/>
            <a:ext cx="4273200" cy="72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メイリオ"/>
                <a:ea typeface="メイリオ"/>
              </a:rPr>
              <a:t>⏱   30 秒  ペアトーク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5868000"/>
            <a:ext cx="111132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▶ 今、皆さん自身が〝対話〟を始めました。これが今日のテーマです。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82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メイリオ"/>
                <a:ea typeface="メイリオ"/>
              </a:rPr>
              <a:t>②  本時の授業の価値づけ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64000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080000"/>
            <a:ext cx="11113200" cy="540000"/>
          </a:xfrm>
          <a:prstGeom prst="rect">
            <a:avLst/>
          </a:prstGeom>
          <a:solidFill>
            <a:srgbClr val="DA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32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第３学年 国語科  単元「もっと知りたい、友だちのこと」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52600" y="1764000"/>
            <a:ext cx="3600000" cy="432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2600" y="1764000"/>
            <a:ext cx="3600000" cy="90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600" y="1764000"/>
            <a:ext cx="54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メイリオ"/>
                <a:ea typeface="メイリオ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6600" y="1764000"/>
            <a:ext cx="2844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教師自身が〝話し手〟に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600" y="2771999"/>
            <a:ext cx="3240000" cy="31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「いつ・どこで・だれが」</a:t>
            </a:r>
          </a:p>
          <a:p>
            <a:pPr algn="ctr"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と質問の種類を整理。</a:t>
            </a:r>
          </a:p>
          <a:p>
            <a:pPr algn="ctr">
              <a:lnSpc>
                <a:spcPct val="140000"/>
              </a:lnSpc>
            </a:pPr>
          </a:p>
          <a:p>
            <a:pPr algn="ctr"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児童が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〝自分が引き出した〟</a:t>
            </a:r>
          </a:p>
          <a:p>
            <a:pPr algn="ctr"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手応えを実感。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6600" y="1764000"/>
            <a:ext cx="3600000" cy="432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6600" y="1764000"/>
            <a:ext cx="3600000" cy="90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4600" y="1764000"/>
            <a:ext cx="54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メイリオ"/>
                <a:ea typeface="メイリオ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0600" y="1764000"/>
            <a:ext cx="2844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動画教材で対話を客観視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600" y="2771999"/>
            <a:ext cx="3240000" cy="31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「よりよいやりとり」を、</a:t>
            </a:r>
          </a:p>
          <a:p>
            <a:pPr algn="ctr">
              <a:lnSpc>
                <a:spcPct val="140000"/>
              </a:lnSpc>
            </a:pPr>
          </a:p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抽象論ではなく</a:t>
            </a: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、</a:t>
            </a:r>
          </a:p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具体的な場面の観察</a:t>
            </a:r>
          </a:p>
          <a:p>
            <a:pPr algn="ctr"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から考えさせた。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0600" y="1764000"/>
            <a:ext cx="3600000" cy="432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0600" y="1764000"/>
            <a:ext cx="3600000" cy="90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8600" y="1764000"/>
            <a:ext cx="54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メイリオ"/>
                <a:ea typeface="メイリオ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24600" y="1764000"/>
            <a:ext cx="2844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対話の質を3観点で可視化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600" y="2771999"/>
            <a:ext cx="3240000" cy="31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「確かめ／</a:t>
            </a:r>
          </a:p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2nd Q／感想」</a:t>
            </a:r>
          </a:p>
          <a:p>
            <a:pPr algn="ctr">
              <a:lnSpc>
                <a:spcPct val="140000"/>
              </a:lnSpc>
            </a:pPr>
          </a:p>
          <a:p>
            <a:pPr algn="ctr"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をクラス共通の</a:t>
            </a:r>
          </a:p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〝対話の型〟</a:t>
            </a:r>
          </a:p>
          <a:p>
            <a:pPr algn="ctr"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として整理。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82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メイリオ"/>
                <a:ea typeface="メイリオ"/>
              </a:rPr>
              <a:t>授業の様子  ①   導入～質問の整理の場面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64000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152000"/>
            <a:ext cx="11113200" cy="3240000"/>
          </a:xfrm>
          <a:prstGeom prst="rect">
            <a:avLst/>
          </a:prstGeom>
          <a:solidFill>
            <a:srgbClr val="EEEEEE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11113200" cy="32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400" b="0">
                <a:solidFill>
                  <a:srgbClr val="666666"/>
                </a:solidFill>
                <a:latin typeface="メイリオ"/>
                <a:ea typeface="メイリオ"/>
              </a:rPr>
              <a:t>📷  【ここに授業写真を貼り付け】</a:t>
            </a:r>
          </a:p>
          <a:p>
            <a:pPr algn="ctr"/>
            <a:r>
              <a:rPr sz="2400" b="0">
                <a:solidFill>
                  <a:srgbClr val="666666"/>
                </a:solidFill>
                <a:latin typeface="メイリオ"/>
                <a:ea typeface="メイリオ"/>
              </a:rPr>
              <a:t/>
            </a:r>
          </a:p>
          <a:p>
            <a:pPr algn="ctr"/>
            <a:r>
              <a:rPr sz="2400" b="0">
                <a:solidFill>
                  <a:srgbClr val="666666"/>
                </a:solidFill>
                <a:latin typeface="メイリオ"/>
                <a:ea typeface="メイリオ"/>
              </a:rPr>
              <a:t>教師の話を聞き、質問を考える場面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572000"/>
            <a:ext cx="54666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4572000"/>
            <a:ext cx="5466600" cy="3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▼ 注目ポイント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4932000"/>
            <a:ext cx="5466600" cy="1295999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000" y="5004000"/>
            <a:ext cx="5250600" cy="115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「いつ・どこで・だれが」</a:t>
            </a: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の板書整理が、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質問を 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〝見える化〟</a:t>
            </a: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 している。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6600" y="4572000"/>
            <a:ext cx="54666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6600" y="4572000"/>
            <a:ext cx="5466600" cy="3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▼ 児童の姿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6600" y="4932000"/>
            <a:ext cx="5466600" cy="1295999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4600" y="5004000"/>
            <a:ext cx="5250600" cy="115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ペアで 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安心して交流</a:t>
            </a: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。</a:t>
            </a:r>
          </a:p>
          <a:p>
            <a:pPr algn="l">
              <a:lnSpc>
                <a:spcPct val="150000"/>
              </a:lnSpc>
            </a:pP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書く時間の確保</a:t>
            </a:r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が発言の自信に。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82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メイリオ"/>
                <a:ea typeface="メイリオ"/>
              </a:rPr>
              <a:t>授業の様子  ②   動画視聴～全体共有の場面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64000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188000"/>
            <a:ext cx="6120000" cy="2340000"/>
          </a:xfrm>
          <a:prstGeom prst="rect">
            <a:avLst/>
          </a:prstGeom>
          <a:solidFill>
            <a:srgbClr val="EEEEEE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6120000" cy="23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📷  【写真①】 動画教材を視聴する場面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3708000"/>
            <a:ext cx="6120000" cy="2340000"/>
          </a:xfrm>
          <a:prstGeom prst="rect">
            <a:avLst/>
          </a:prstGeom>
          <a:solidFill>
            <a:srgbClr val="EEEEEE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3708000"/>
            <a:ext cx="6120000" cy="23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0">
                <a:solidFill>
                  <a:srgbClr val="666666"/>
                </a:solidFill>
                <a:latin typeface="メイリオ"/>
                <a:ea typeface="メイリオ"/>
              </a:rPr>
              <a:t>📷  【写真②】 全体で対話の質を整理する場面</a:t>
            </a:r>
          </a:p>
        </p:txBody>
      </p:sp>
      <p:sp>
        <p:nvSpPr>
          <p:cNvPr id="8" name="Rectangle 7"/>
          <p:cNvSpPr/>
          <p:nvPr/>
        </p:nvSpPr>
        <p:spPr>
          <a:xfrm>
            <a:off x="6840000" y="1188000"/>
            <a:ext cx="4813200" cy="64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0" y="1188000"/>
            <a:ext cx="48132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対話を深める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3つの観点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40000" y="1908000"/>
            <a:ext cx="4813200" cy="1404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4000" y="1908000"/>
            <a:ext cx="468000" cy="1404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600" b="1">
                <a:solidFill>
                  <a:srgbClr val="FF0000"/>
                </a:solidFill>
                <a:latin typeface="メイリオ"/>
                <a:ea typeface="メイリオ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80000" y="2016000"/>
            <a:ext cx="42372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700" b="1">
                <a:solidFill>
                  <a:srgbClr val="002060"/>
                </a:solidFill>
                <a:latin typeface="メイリオ"/>
                <a:ea typeface="メイリオ"/>
              </a:rPr>
              <a:t>確かめる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80000" y="2592000"/>
            <a:ext cx="42372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相手の話を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聞き返し確認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40000" y="3366000"/>
            <a:ext cx="4813200" cy="1404000"/>
          </a:xfrm>
          <a:prstGeom prst="rect">
            <a:avLst/>
          </a:prstGeom>
          <a:solidFill>
            <a:srgbClr val="FCE4E4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94000" y="3366000"/>
            <a:ext cx="468000" cy="1404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600" b="1">
                <a:solidFill>
                  <a:srgbClr val="FF0000"/>
                </a:solidFill>
                <a:latin typeface="メイリオ"/>
                <a:ea typeface="メイリオ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0000" y="3474000"/>
            <a:ext cx="42372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700" b="1">
                <a:solidFill>
                  <a:srgbClr val="002060"/>
                </a:solidFill>
                <a:latin typeface="メイリオ"/>
                <a:ea typeface="メイリオ"/>
              </a:rPr>
              <a:t>2nd 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80000" y="4050000"/>
            <a:ext cx="42372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答えから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さらに質問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40000" y="4824000"/>
            <a:ext cx="4813200" cy="1404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4000" y="4824000"/>
            <a:ext cx="468000" cy="1404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600" b="1">
                <a:solidFill>
                  <a:srgbClr val="FF0000"/>
                </a:solidFill>
                <a:latin typeface="メイリオ"/>
                <a:ea typeface="メイリオ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0000" y="4932000"/>
            <a:ext cx="42372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700" b="1">
                <a:solidFill>
                  <a:srgbClr val="002060"/>
                </a:solidFill>
                <a:latin typeface="メイリオ"/>
                <a:ea typeface="メイリオ"/>
              </a:rPr>
              <a:t>感想を伝える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0000" y="5508000"/>
            <a:ext cx="4237200" cy="64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思いを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メイリオ"/>
                <a:ea typeface="メイリオ"/>
              </a:rPr>
              <a:t>言葉にして返す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82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メイリオ"/>
                <a:ea typeface="メイリオ"/>
              </a:rPr>
              <a:t>③  研究主題との関連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64000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152000"/>
            <a:ext cx="198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19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研究主題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0" y="1152000"/>
            <a:ext cx="9133200" cy="468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20000" y="1152000"/>
            <a:ext cx="913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400" b="1">
                <a:solidFill>
                  <a:srgbClr val="002060"/>
                </a:solidFill>
                <a:latin typeface="メイリオ"/>
                <a:ea typeface="メイリオ"/>
              </a:rPr>
              <a:t>対話を通して、学びをつなげる児童の育成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692000"/>
            <a:ext cx="1980000" cy="108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1692000"/>
            <a:ext cx="1980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研究仮説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0" y="1692000"/>
            <a:ext cx="9133200" cy="10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8000" y="1764000"/>
            <a:ext cx="8917200" cy="93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手だてや話題を工夫し、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視点を明確にした対話を継続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することで、児童の</a:t>
            </a: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対話に広がりや深まり</a:t>
            </a:r>
            <a:r>
              <a:rPr sz="1800" b="0">
                <a:solidFill>
                  <a:srgbClr val="1A1A1A"/>
                </a:solidFill>
                <a:latin typeface="メイリオ"/>
                <a:ea typeface="メイリオ"/>
              </a:rPr>
              <a:t>が見られる。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2880000"/>
            <a:ext cx="11113200" cy="324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▼  本時はこう応えた  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600" y="3311999"/>
            <a:ext cx="360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600" y="3311999"/>
            <a:ext cx="36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手だての工夫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2600" y="3851999"/>
            <a:ext cx="3600000" cy="2340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600" y="3923999"/>
            <a:ext cx="3384000" cy="21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教師モデル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A1A1A"/>
                </a:solidFill>
                <a:latin typeface="メイリオ"/>
                <a:ea typeface="メイリオ"/>
              </a:rPr>
              <a:t>＋ 動画教材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A1A1A"/>
                </a:solidFill>
                <a:latin typeface="メイリオ"/>
                <a:ea typeface="メイリオ"/>
              </a:rPr>
              <a:t>＋ ワークシート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6600" y="3311999"/>
            <a:ext cx="360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6600" y="3311999"/>
            <a:ext cx="36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話題の工夫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6600" y="3851999"/>
            <a:ext cx="3600000" cy="2340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4600" y="3923999"/>
            <a:ext cx="3384000" cy="21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「友だちのこと」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A1A1A"/>
                </a:solidFill>
                <a:latin typeface="メイリオ"/>
                <a:ea typeface="メイリオ"/>
              </a:rPr>
              <a:t>＝ 聞きたくなる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A1A1A"/>
                </a:solidFill>
                <a:latin typeface="メイリオ"/>
                <a:ea typeface="メイリオ"/>
              </a:rPr>
              <a:t>身近な話題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0600" y="3311999"/>
            <a:ext cx="3600000" cy="54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0600" y="3311999"/>
            <a:ext cx="36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視点の明確化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0600" y="3851999"/>
            <a:ext cx="3600000" cy="2340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00" y="3923999"/>
            <a:ext cx="3384000" cy="216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確かめ／2nd Q／感想</a:t>
            </a:r>
          </a:p>
          <a:p>
            <a:pPr algn="ctr">
              <a:lnSpc>
                <a:spcPct val="150000"/>
              </a:lnSpc>
            </a:pP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A1A1A"/>
                </a:solidFill>
                <a:latin typeface="メイリオ"/>
                <a:ea typeface="メイリオ"/>
              </a:rPr>
              <a:t>の3観点を提示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82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メイリオ"/>
                <a:ea typeface="メイリオ"/>
              </a:rPr>
              <a:t>③-1  根拠資料①  文部科学省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64000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13200" y="216000"/>
            <a:ext cx="4320000" cy="61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メイリオ"/>
                <a:ea typeface="メイリオ"/>
              </a:rPr>
              <a:t>「小学校学習指導要領（H29告示）解説 国語編」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11113200" cy="50399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152000"/>
            <a:ext cx="11113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  <a:ea typeface="メイリオ"/>
              </a:rPr>
              <a:t>第３・４学年「話すこと・聞くこと」  指導事項 エ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764000"/>
            <a:ext cx="11113200" cy="2160000"/>
          </a:xfrm>
          <a:prstGeom prst="rect">
            <a:avLst/>
          </a:prstGeom>
          <a:solidFill>
            <a:srgbClr val="DAE3F3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872000"/>
            <a:ext cx="10753200" cy="61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「必要なことを </a:t>
            </a:r>
            <a:r>
              <a:rPr sz="2600" b="1">
                <a:solidFill>
                  <a:srgbClr val="FF0000"/>
                </a:solidFill>
                <a:latin typeface="メイリオ"/>
                <a:ea typeface="メイリオ"/>
              </a:rPr>
              <a:t>質問しながら聞き</a:t>
            </a: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520000"/>
            <a:ext cx="10753200" cy="61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  話し手が伝えたいことの </a:t>
            </a:r>
            <a:r>
              <a:rPr sz="2600" b="1">
                <a:solidFill>
                  <a:srgbClr val="FF0000"/>
                </a:solidFill>
                <a:latin typeface="メイリオ"/>
                <a:ea typeface="メイリオ"/>
              </a:rPr>
              <a:t>中心を捉え</a:t>
            </a: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3168000"/>
            <a:ext cx="10753200" cy="61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   </a:t>
            </a:r>
            <a:r>
              <a:rPr sz="2600" b="1">
                <a:solidFill>
                  <a:srgbClr val="FF0000"/>
                </a:solidFill>
                <a:latin typeface="メイリオ"/>
                <a:ea typeface="メイリオ"/>
              </a:rPr>
              <a:t>自分の考えをもつ</a:t>
            </a: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 こと。」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4104000"/>
            <a:ext cx="3240000" cy="503999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4104000"/>
            <a:ext cx="324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</a:rPr>
              <a:t>▶ 本時の手だてとのつながり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4608000"/>
            <a:ext cx="11113200" cy="1728000"/>
          </a:xfrm>
          <a:prstGeom prst="rect">
            <a:avLst/>
          </a:prstGeom>
          <a:solidFill>
            <a:srgbClr val="FFF2CC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4680000"/>
            <a:ext cx="10753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「質問の種類」を可視化する手だて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5183999"/>
            <a:ext cx="10753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メイリオ"/>
                <a:ea typeface="メイリオ"/>
              </a:rPr>
              <a:t>      =  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〝聞く力の中核〟</a:t>
            </a:r>
            <a:r>
              <a:rPr sz="1900" b="0">
                <a:solidFill>
                  <a:srgbClr val="1A1A1A"/>
                </a:solidFill>
                <a:latin typeface="メイリオ"/>
                <a:ea typeface="メイリオ"/>
              </a:rPr>
              <a:t> そのもの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5724000"/>
            <a:ext cx="10753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900" b="0">
                <a:solidFill>
                  <a:srgbClr val="1A1A1A"/>
                </a:solidFill>
                <a:latin typeface="メイリオ"/>
                <a:ea typeface="メイリオ"/>
              </a:rPr>
              <a:t>「考えをもつ」 →  </a:t>
            </a:r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ワークシートで保証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82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メイリオ"/>
                <a:ea typeface="メイリオ"/>
              </a:rPr>
              <a:t>③-2  根拠資料②  対話的な学び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64000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13200" y="216000"/>
            <a:ext cx="4320000" cy="61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メイリオ"/>
                <a:ea typeface="メイリオ"/>
              </a:rPr>
              <a:t>中教審答申「令和の日本型学校教育」(R3.1)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11113200" cy="50399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152000"/>
            <a:ext cx="11113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  <a:ea typeface="メイリオ"/>
              </a:rPr>
              <a:t>答申で示された方向性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55999"/>
            <a:ext cx="11113200" cy="1152000"/>
          </a:xfrm>
          <a:prstGeom prst="rect">
            <a:avLst/>
          </a:prstGeom>
          <a:solidFill>
            <a:srgbClr val="DAE3F3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764000"/>
            <a:ext cx="10753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「</a:t>
            </a:r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個別最適な学び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」と「</a:t>
            </a:r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協働的な学び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」を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268000"/>
            <a:ext cx="10753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400" b="1">
                <a:solidFill>
                  <a:srgbClr val="002060"/>
                </a:solidFill>
                <a:latin typeface="メイリオ"/>
                <a:ea typeface="メイリオ"/>
              </a:rPr>
              <a:t>一体的に充実 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させ、</a:t>
            </a:r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主体的・対話的で深い学び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の実現を目指す。」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2951999"/>
            <a:ext cx="11113200" cy="324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0000"/>
                </a:solidFill>
                <a:latin typeface="メイリオ"/>
                <a:ea typeface="メイリオ"/>
              </a:rPr>
              <a:t>▼  菅原学級の対話の流れがまさに体現  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2600" y="3384000"/>
            <a:ext cx="2412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2600" y="3384000"/>
            <a:ext cx="2412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</a:rPr>
              <a:t>個別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2600" y="3960000"/>
            <a:ext cx="2412000" cy="1584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2600" y="4032000"/>
            <a:ext cx="2412000" cy="14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ワークシート</a:t>
            </a:r>
          </a:p>
          <a:p>
            <a:pPr algn="ctr"/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に記入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62600" y="4284000"/>
            <a:ext cx="324000" cy="360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4600" y="3384000"/>
            <a:ext cx="2412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4600" y="3384000"/>
            <a:ext cx="2412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</a:rPr>
              <a:t>ペア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4600" y="3960000"/>
            <a:ext cx="2412000" cy="1584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4600" y="4032000"/>
            <a:ext cx="2412000" cy="14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隣同士で</a:t>
            </a:r>
          </a:p>
          <a:p>
            <a:pPr algn="ctr"/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交流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34600" y="4284000"/>
            <a:ext cx="324000" cy="360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6600" y="3384000"/>
            <a:ext cx="2412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6600" y="3384000"/>
            <a:ext cx="2412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</a:rPr>
              <a:t>グループ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6600" y="3960000"/>
            <a:ext cx="2412000" cy="1584000"/>
          </a:xfrm>
          <a:prstGeom prst="rect">
            <a:avLst/>
          </a:prstGeom>
          <a:solidFill>
            <a:srgbClr val="FFF2CC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6600" y="4032000"/>
            <a:ext cx="2412000" cy="14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動画から</a:t>
            </a:r>
          </a:p>
          <a:p>
            <a:pPr algn="ctr"/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良さを探す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706600" y="4284000"/>
            <a:ext cx="324000" cy="360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48600" y="3384000"/>
            <a:ext cx="2412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48600" y="3384000"/>
            <a:ext cx="2412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</a:rPr>
              <a:t>全体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48600" y="3960000"/>
            <a:ext cx="2412000" cy="1584000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48600" y="4032000"/>
            <a:ext cx="2412000" cy="144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対話の質を</a:t>
            </a:r>
          </a:p>
          <a:p>
            <a:pPr algn="ctr"/>
            <a:r>
              <a:rPr sz="1800" b="1">
                <a:solidFill>
                  <a:srgbClr val="1A1A1A"/>
                </a:solidFill>
                <a:latin typeface="メイリオ"/>
                <a:ea typeface="メイリオ"/>
              </a:rPr>
              <a:t>共通理解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000" y="5760000"/>
            <a:ext cx="1111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個別 ⇄ 協働 </a:t>
            </a: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の往還が、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〝学びをつなげる〟</a:t>
            </a: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 土台に。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82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メイリオ"/>
                <a:ea typeface="メイリオ"/>
              </a:rPr>
              <a:t>③-3  根拠資料③  東京都教育委員会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64000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13200" y="216000"/>
            <a:ext cx="4320000" cy="61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メイリオ"/>
                <a:ea typeface="メイリオ"/>
              </a:rPr>
              <a:t>「東京都教育ビジョン（第5次）」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6300000" cy="50399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152000"/>
            <a:ext cx="63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  <a:ea typeface="メイリオ"/>
              </a:rPr>
              <a:t>東京都教育ビジョン（第5次）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55999"/>
            <a:ext cx="6300000" cy="4536000"/>
          </a:xfrm>
          <a:prstGeom prst="rect">
            <a:avLst/>
          </a:prstGeom>
          <a:solidFill>
            <a:srgbClr val="DAE3F3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835999"/>
            <a:ext cx="594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002060"/>
                </a:solidFill>
                <a:latin typeface="メイリオ"/>
                <a:ea typeface="メイリオ"/>
              </a:rPr>
              <a:t>●  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主体的に学び・考え・行動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339998"/>
            <a:ext cx="59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       する力の育成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3203999"/>
            <a:ext cx="594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002060"/>
                </a:solidFill>
                <a:latin typeface="メイリオ"/>
                <a:ea typeface="メイリオ"/>
              </a:rPr>
              <a:t>●  「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話す・聞く・読む・書く</a:t>
            </a:r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3707998"/>
            <a:ext cx="59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       言語能力を全教育で育成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4571999"/>
            <a:ext cx="594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002060"/>
                </a:solidFill>
                <a:latin typeface="メイリオ"/>
                <a:ea typeface="メイリオ"/>
              </a:rPr>
              <a:t>●  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思考・判断・表現力</a:t>
            </a:r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の基盤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075998"/>
            <a:ext cx="59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       として言語能力を位置づけ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20000" y="1152000"/>
            <a:ext cx="4633200" cy="503999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0000" y="1152000"/>
            <a:ext cx="4633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メイリオ"/>
                <a:ea typeface="メイリオ"/>
              </a:rPr>
              <a:t>▶ 本校研究とのつながり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000" y="1655999"/>
            <a:ext cx="4633200" cy="4536000"/>
          </a:xfrm>
          <a:prstGeom prst="rect">
            <a:avLst/>
          </a:prstGeom>
          <a:solidFill>
            <a:srgbClr val="FFF2CC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8000" y="1872000"/>
            <a:ext cx="4417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ctr"/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本校研究仮説の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28000" y="2448000"/>
            <a:ext cx="44172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ctr"/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「視点を明確に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8000" y="3024000"/>
            <a:ext cx="44172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ctr"/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した対話の継続」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8000" y="3888000"/>
            <a:ext cx="4417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ctr"/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は、都の方向と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28000" y="4392000"/>
            <a:ext cx="44172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ctr"/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完全に一致。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8000" y="5220000"/>
            <a:ext cx="4417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ctr"/>
            <a:r>
              <a:rPr sz="2000" b="0">
                <a:solidFill>
                  <a:srgbClr val="1A1A1A"/>
                </a:solidFill>
                <a:latin typeface="メイリオ"/>
                <a:ea typeface="メイリオ"/>
              </a:rPr>
              <a:t>校内研究は、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28000" y="5688000"/>
            <a:ext cx="4417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ctr"/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都の施策推進そのもの。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82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メイリオ"/>
                <a:ea typeface="メイリオ"/>
              </a:rPr>
              <a:t>④  先生方への投げかけ（2分）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64000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0000" y="1152000"/>
            <a:ext cx="11113200" cy="827999"/>
          </a:xfrm>
          <a:prstGeom prst="rect">
            <a:avLst/>
          </a:prstGeom>
          <a:solidFill>
            <a:srgbClr val="DAE3F3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224000"/>
            <a:ext cx="10753200" cy="684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📊  「</a:t>
            </a:r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質問を考えながら聞く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」と答えた児童 ▶ </a:t>
            </a:r>
            <a:r>
              <a:rPr sz="3600" b="1">
                <a:solidFill>
                  <a:srgbClr val="FF0000"/>
                </a:solidFill>
                <a:latin typeface="メイリオ"/>
                <a:ea typeface="メイリオ"/>
              </a:rPr>
              <a:t>33％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2124000"/>
            <a:ext cx="5400000" cy="46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2124000"/>
            <a:ext cx="540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Q．  隣の先生と1分間  考えてみて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2700000"/>
            <a:ext cx="11113200" cy="1332000"/>
          </a:xfrm>
          <a:prstGeom prst="rect">
            <a:avLst/>
          </a:prstGeom>
          <a:solidFill>
            <a:srgbClr val="FFF2CC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2700000"/>
            <a:ext cx="540000" cy="1332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2700000"/>
            <a:ext cx="540000" cy="13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メイリオ"/>
                <a:ea typeface="メイリオ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0000" y="2844000"/>
            <a:ext cx="10285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自分の教科で、</a:t>
            </a:r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「質問の種類」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 のような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0000" y="3384000"/>
            <a:ext cx="10285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0000"/>
                </a:solidFill>
                <a:latin typeface="メイリオ"/>
                <a:ea typeface="メイリオ"/>
              </a:rPr>
              <a:t>〝対話の足場〟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 を作るとしたら？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4140000"/>
            <a:ext cx="11113200" cy="1332000"/>
          </a:xfrm>
          <a:prstGeom prst="rect">
            <a:avLst/>
          </a:prstGeom>
          <a:solidFill>
            <a:srgbClr val="FFF2CC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0000" y="4140000"/>
            <a:ext cx="540000" cy="1332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0000" y="4140000"/>
            <a:ext cx="540000" cy="133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メイリオ"/>
                <a:ea typeface="メイリオ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0000" y="4284000"/>
            <a:ext cx="10285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〝伝えてよかった〟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と実感する場面を、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0000" y="4824000"/>
            <a:ext cx="10285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2600" b="1">
                <a:solidFill>
                  <a:srgbClr val="FF0000"/>
                </a:solidFill>
                <a:latin typeface="メイリオ"/>
                <a:ea typeface="メイリオ"/>
              </a:rPr>
              <a:t>どう仕掛けますか？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0000" y="5760000"/>
            <a:ext cx="6433200" cy="612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000" y="5760000"/>
            <a:ext cx="6433200" cy="612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  <a:ea typeface="メイリオ"/>
              </a:rPr>
              <a:t>⏱  1分ペアトーク → 30秒共有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82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3400" b="1">
                <a:solidFill>
                  <a:srgbClr val="1A1A1A"/>
                </a:solidFill>
                <a:latin typeface="メイリオ"/>
                <a:ea typeface="メイリオ"/>
              </a:rPr>
              <a:t>⑤  今後への提案  ／  ⑥  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864000"/>
            <a:ext cx="11617200" cy="5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2600" y="1188000"/>
            <a:ext cx="3600000" cy="252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2600" y="1188000"/>
            <a:ext cx="360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60600" y="1260000"/>
            <a:ext cx="468000" cy="468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0600" y="1260000"/>
            <a:ext cx="468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0600" y="1188000"/>
            <a:ext cx="2844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メイリオ"/>
                <a:ea typeface="メイリオ"/>
              </a:rPr>
              <a:t>話題の吟味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600" y="1908000"/>
            <a:ext cx="3240000" cy="1692001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1A1A1A"/>
                </a:solidFill>
                <a:latin typeface="メイリオ"/>
                <a:ea typeface="メイリオ"/>
              </a:rPr>
              <a:t>児童が</a:t>
            </a:r>
            <a:r>
              <a:rPr sz="1900" b="1">
                <a:solidFill>
                  <a:srgbClr val="FF0000"/>
                </a:solidFill>
                <a:latin typeface="メイリオ"/>
                <a:ea typeface="メイリオ"/>
              </a:rPr>
              <a:t>〝聞きたくなる〟</a:t>
            </a:r>
          </a:p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1A1A1A"/>
                </a:solidFill>
                <a:latin typeface="メイリオ"/>
                <a:ea typeface="メイリオ"/>
              </a:rPr>
              <a:t>話題を、</a:t>
            </a:r>
          </a:p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1A1A1A"/>
                </a:solidFill>
                <a:latin typeface="メイリオ"/>
                <a:ea typeface="メイリオ"/>
              </a:rPr>
              <a:t>教師が体現する。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6600" y="1188000"/>
            <a:ext cx="3600000" cy="252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6600" y="1188000"/>
            <a:ext cx="360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04600" y="1260000"/>
            <a:ext cx="468000" cy="468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4600" y="1260000"/>
            <a:ext cx="468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4600" y="1188000"/>
            <a:ext cx="2844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メイリオ"/>
                <a:ea typeface="メイリオ"/>
              </a:rPr>
              <a:t>視点の共通言語化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600" y="1908000"/>
            <a:ext cx="3240000" cy="1692001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900" b="1">
                <a:solidFill>
                  <a:srgbClr val="FF0000"/>
                </a:solidFill>
                <a:latin typeface="メイリオ"/>
                <a:ea typeface="メイリオ"/>
              </a:rPr>
              <a:t>「確かめ・2nd Q・</a:t>
            </a:r>
          </a:p>
          <a:p>
            <a:pPr algn="ctr">
              <a:lnSpc>
                <a:spcPct val="140000"/>
              </a:lnSpc>
            </a:pPr>
            <a:r>
              <a:rPr sz="1900" b="1">
                <a:solidFill>
                  <a:srgbClr val="FF0000"/>
                </a:solidFill>
                <a:latin typeface="メイリオ"/>
                <a:ea typeface="メイリオ"/>
              </a:rPr>
              <a:t>感想」</a:t>
            </a:r>
            <a:r>
              <a:rPr sz="1700" b="0">
                <a:solidFill>
                  <a:srgbClr val="1A1A1A"/>
                </a:solidFill>
                <a:latin typeface="メイリオ"/>
                <a:ea typeface="メイリオ"/>
              </a:rPr>
              <a:t>を学校全体の</a:t>
            </a:r>
          </a:p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1A1A1A"/>
                </a:solidFill>
                <a:latin typeface="メイリオ"/>
                <a:ea typeface="メイリオ"/>
              </a:rPr>
              <a:t>共通言語に。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0600" y="1188000"/>
            <a:ext cx="3600000" cy="252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0600" y="1188000"/>
            <a:ext cx="3600000" cy="576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48600" y="1260000"/>
            <a:ext cx="468000" cy="468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48600" y="1260000"/>
            <a:ext cx="468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8600" y="1188000"/>
            <a:ext cx="2844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メイリオ"/>
                <a:ea typeface="メイリオ"/>
              </a:rPr>
              <a:t>安心の環境づくり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600" y="1908000"/>
            <a:ext cx="3240000" cy="1692001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900" b="1">
                <a:solidFill>
                  <a:srgbClr val="FF0000"/>
                </a:solidFill>
                <a:latin typeface="メイリオ"/>
                <a:ea typeface="メイリオ"/>
              </a:rPr>
              <a:t>話型・モデル提示</a:t>
            </a:r>
            <a:r>
              <a:rPr sz="1700" b="0">
                <a:solidFill>
                  <a:srgbClr val="1A1A1A"/>
                </a:solidFill>
                <a:latin typeface="メイリオ"/>
                <a:ea typeface="メイリオ"/>
              </a:rPr>
              <a:t>の継続</a:t>
            </a:r>
          </a:p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1A1A1A"/>
                </a:solidFill>
                <a:latin typeface="メイリオ"/>
                <a:ea typeface="メイリオ"/>
              </a:rPr>
              <a:t>で、</a:t>
            </a:r>
            <a:r>
              <a:rPr sz="1900" b="1">
                <a:solidFill>
                  <a:srgbClr val="FF0000"/>
                </a:solidFill>
                <a:latin typeface="メイリオ"/>
                <a:ea typeface="メイリオ"/>
              </a:rPr>
              <a:t>〝自信がない児童〟</a:t>
            </a:r>
          </a:p>
          <a:p>
            <a:pPr algn="ctr">
              <a:lnSpc>
                <a:spcPct val="140000"/>
              </a:lnSpc>
            </a:pPr>
            <a:r>
              <a:rPr sz="1700" b="0">
                <a:solidFill>
                  <a:srgbClr val="1A1A1A"/>
                </a:solidFill>
                <a:latin typeface="メイリオ"/>
                <a:ea typeface="メイリオ"/>
              </a:rPr>
              <a:t>にも届ける。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0" y="3924000"/>
            <a:ext cx="3240000" cy="50399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0000" y="3924000"/>
            <a:ext cx="324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⑥  本日のまとめ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4428000"/>
            <a:ext cx="11113200" cy="1872000"/>
          </a:xfrm>
          <a:prstGeom prst="rect">
            <a:avLst/>
          </a:prstGeom>
          <a:solidFill>
            <a:srgbClr val="FFF2CC"/>
          </a:solidFill>
          <a:ln w="254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0000" y="4536000"/>
            <a:ext cx="1075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002060"/>
                </a:solidFill>
                <a:latin typeface="メイリオ"/>
                <a:ea typeface="メイリオ"/>
              </a:rPr>
              <a:t>「学びをつなげる児童」 は、まず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000" y="5004000"/>
            <a:ext cx="10753200" cy="503999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400" b="1">
                <a:solidFill>
                  <a:srgbClr val="FF0000"/>
                </a:solidFill>
                <a:latin typeface="メイリオ"/>
                <a:ea typeface="メイリオ"/>
              </a:rPr>
              <a:t>教師自身が〝対話で学ぶ姿〟</a:t>
            </a:r>
            <a:r>
              <a:rPr sz="2200" b="1">
                <a:solidFill>
                  <a:srgbClr val="1A1A1A"/>
                </a:solidFill>
                <a:latin typeface="メイリオ"/>
                <a:ea typeface="メイリオ"/>
              </a:rPr>
              <a:t>から始まる。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000" y="5616000"/>
            <a:ext cx="1075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今日交わした言葉が、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0000" y="6048000"/>
            <a:ext cx="10753200" cy="468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ctr">
            <a:spAutoFit/>
          </a:bodyPr>
          <a:lstStyle/>
          <a:p>
            <a:pPr algn="ctr"/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明日 </a:t>
            </a:r>
            <a:r>
              <a:rPr sz="2200" b="1">
                <a:solidFill>
                  <a:srgbClr val="FF0000"/>
                </a:solidFill>
                <a:latin typeface="メイリオ"/>
                <a:ea typeface="メイリオ"/>
              </a:rPr>
              <a:t>子どもたちに返っていく</a:t>
            </a:r>
            <a:r>
              <a:rPr sz="2000" b="1">
                <a:solidFill>
                  <a:srgbClr val="1A1A1A"/>
                </a:solidFill>
                <a:latin typeface="メイリオ"/>
                <a:ea typeface="メイリオ"/>
              </a:rPr>
              <a:t>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00" y="6534000"/>
            <a:ext cx="9000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指導講評  研究主題「対話を通して、学びをつなげる児童の育成」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13200" y="6534000"/>
            <a:ext cx="79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54000" rIns="54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メイリオ"/>
                <a:ea typeface="メイリオ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