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43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26000"/>
            <a:ext cx="12193200" cy="43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827999"/>
            <a:ext cx="114732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2400" b="1">
                <a:solidFill>
                  <a:srgbClr val="1A1A1A"/>
                </a:solidFill>
                <a:latin typeface="メイリオ"/>
                <a:ea typeface="メイリオ"/>
              </a:rPr>
              <a:t>練馬区立開進第四小学校  校内研究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332000"/>
            <a:ext cx="114732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メイリオ"/>
                <a:ea typeface="メイリオ"/>
              </a:rPr>
              <a:t>令和８年５月２５日（月）  第３学年  国語科  研究授業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2088000"/>
            <a:ext cx="10753200" cy="5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2268000"/>
            <a:ext cx="114732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2800" b="1">
                <a:solidFill>
                  <a:srgbClr val="002060"/>
                </a:solidFill>
                <a:latin typeface="メイリオ"/>
                <a:ea typeface="メイリオ"/>
              </a:rPr>
              <a:t>指 導 講 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3060000"/>
            <a:ext cx="11473200" cy="180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5200" b="1">
                <a:solidFill>
                  <a:srgbClr val="1A1A1A"/>
                </a:solidFill>
                <a:latin typeface="メイリオ"/>
                <a:ea typeface="メイリオ"/>
              </a:rPr>
              <a:t>対話を通して、</a:t>
            </a:r>
          </a:p>
          <a:p>
            <a:pPr algn="ctr"/>
            <a:r>
              <a:rPr sz="5200" b="1">
                <a:solidFill>
                  <a:srgbClr val="1A1A1A"/>
                </a:solidFill>
                <a:latin typeface="メイリオ"/>
                <a:ea typeface="メイリオ"/>
              </a:rPr>
              <a:t>学びをつなげる児童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5508000"/>
            <a:ext cx="10753200" cy="5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5688000"/>
            <a:ext cx="114732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メイリオ"/>
                <a:ea typeface="メイリオ"/>
              </a:rPr>
              <a:t>中学年分科会  第３学年 国語科  授業者：菅原 愛里 教諭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メイリオ"/>
                <a:ea typeface="メイリオ"/>
              </a:rPr>
              <a:t>本日の流れ（10分間）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827999"/>
            <a:ext cx="11617200" cy="5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0000" y="1350000"/>
            <a:ext cx="503999" cy="50399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350000"/>
            <a:ext cx="503999" cy="503999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000" y="1260000"/>
            <a:ext cx="2160000" cy="75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メイリオ"/>
                <a:ea typeface="メイリオ"/>
              </a:rPr>
              <a:t>0:00 – 1:00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0" y="1260000"/>
            <a:ext cx="6120000" cy="75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メイリオ"/>
                <a:ea typeface="メイリオ"/>
              </a:rPr>
              <a:t>アイスブレイク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3200" y="1260000"/>
            <a:ext cx="1620000" cy="75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r"/>
            <a:r>
              <a:rPr sz="1600" b="0">
                <a:solidFill>
                  <a:srgbClr val="666666"/>
                </a:solidFill>
                <a:latin typeface="メイリオ"/>
                <a:ea typeface="メイリオ"/>
              </a:rPr>
              <a:t>1分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000" y="1998000"/>
            <a:ext cx="10573200" cy="108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0000" y="2106000"/>
            <a:ext cx="503999" cy="50399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2106000"/>
            <a:ext cx="503999" cy="503999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000" y="2016000"/>
            <a:ext cx="2160000" cy="75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メイリオ"/>
                <a:ea typeface="メイリオ"/>
              </a:rPr>
              <a:t>1:00 – 3:00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0000" y="2016000"/>
            <a:ext cx="6120000" cy="75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メイリオ"/>
                <a:ea typeface="メイリオ"/>
              </a:rPr>
              <a:t>本時の授業の価値づけ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33200" y="2016000"/>
            <a:ext cx="1620000" cy="75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r"/>
            <a:r>
              <a:rPr sz="1600" b="0">
                <a:solidFill>
                  <a:srgbClr val="666666"/>
                </a:solidFill>
                <a:latin typeface="メイリオ"/>
                <a:ea typeface="メイリオ"/>
              </a:rPr>
              <a:t>2分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000" y="2754000"/>
            <a:ext cx="10573200" cy="108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0000" y="2862000"/>
            <a:ext cx="503999" cy="50399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000" y="2862000"/>
            <a:ext cx="503999" cy="503999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000" y="2772000"/>
            <a:ext cx="2160000" cy="75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メイリオ"/>
                <a:ea typeface="メイリオ"/>
              </a:rPr>
              <a:t>3:00 – 5:00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0000" y="2772000"/>
            <a:ext cx="6120000" cy="75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メイリオ"/>
                <a:ea typeface="メイリオ"/>
              </a:rPr>
              <a:t>研究主題との関連と根拠資料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33200" y="2772000"/>
            <a:ext cx="1620000" cy="75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r"/>
            <a:r>
              <a:rPr sz="1600" b="0">
                <a:solidFill>
                  <a:srgbClr val="666666"/>
                </a:solidFill>
                <a:latin typeface="メイリオ"/>
                <a:ea typeface="メイリオ"/>
              </a:rPr>
              <a:t>2分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000" y="3510000"/>
            <a:ext cx="10573200" cy="108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40000" y="3618000"/>
            <a:ext cx="503999" cy="50399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000" y="3618000"/>
            <a:ext cx="503999" cy="503999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000" y="3528000"/>
            <a:ext cx="2160000" cy="75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メイリオ"/>
                <a:ea typeface="メイリオ"/>
              </a:rPr>
              <a:t>5:00 – 7:00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0000" y="3528000"/>
            <a:ext cx="6120000" cy="75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メイリオ"/>
                <a:ea typeface="メイリオ"/>
              </a:rPr>
              <a:t>【投げかけ】先生方とのペア交流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33200" y="3528000"/>
            <a:ext cx="1620000" cy="75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r"/>
            <a:r>
              <a:rPr sz="1600" b="0">
                <a:solidFill>
                  <a:srgbClr val="666666"/>
                </a:solidFill>
                <a:latin typeface="メイリオ"/>
                <a:ea typeface="メイリオ"/>
              </a:rPr>
              <a:t>2分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88000" y="4266000"/>
            <a:ext cx="10573200" cy="108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40000" y="4374000"/>
            <a:ext cx="503999" cy="50399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0000" y="4374000"/>
            <a:ext cx="503999" cy="503999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</a:rPr>
              <a:t>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000" y="4284000"/>
            <a:ext cx="2160000" cy="75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メイリオ"/>
                <a:ea typeface="メイリオ"/>
              </a:rPr>
              <a:t>7:00 – 9:30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0000" y="4284000"/>
            <a:ext cx="6120000" cy="75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メイリオ"/>
                <a:ea typeface="メイリオ"/>
              </a:rPr>
              <a:t>共有と今後への提案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3200" y="4284000"/>
            <a:ext cx="1620000" cy="75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r"/>
            <a:r>
              <a:rPr sz="1600" b="0">
                <a:solidFill>
                  <a:srgbClr val="666666"/>
                </a:solidFill>
                <a:latin typeface="メイリオ"/>
                <a:ea typeface="メイリオ"/>
              </a:rPr>
              <a:t>2分30秒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88000" y="5022000"/>
            <a:ext cx="10573200" cy="108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0000" y="5130000"/>
            <a:ext cx="503999" cy="503999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0000" y="5130000"/>
            <a:ext cx="503999" cy="503999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</a:rPr>
              <a:t>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000" y="5040000"/>
            <a:ext cx="2160000" cy="75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1800" b="1">
                <a:solidFill>
                  <a:srgbClr val="002060"/>
                </a:solidFill>
                <a:latin typeface="メイリオ"/>
                <a:ea typeface="メイリオ"/>
              </a:rPr>
              <a:t>9:30 – 10:00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0000" y="5040000"/>
            <a:ext cx="6120000" cy="75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メイリオ"/>
                <a:ea typeface="メイリオ"/>
              </a:rPr>
              <a:t>まとめ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33200" y="5040000"/>
            <a:ext cx="1620000" cy="75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r"/>
            <a:r>
              <a:rPr sz="1600" b="0">
                <a:solidFill>
                  <a:srgbClr val="666666"/>
                </a:solidFill>
                <a:latin typeface="メイリオ"/>
                <a:ea typeface="メイリオ"/>
              </a:rPr>
              <a:t>30秒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00" y="6534000"/>
            <a:ext cx="90000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指導講評  研究主題「対話を通して、学びをつなげる児童の育成」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13200" y="6534000"/>
            <a:ext cx="7920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メイリオ"/>
                <a:ea typeface="メイリオ"/>
              </a:rPr>
              <a:t>①  アイスブレイク（1分）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827999"/>
            <a:ext cx="11617200" cy="5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0000" y="1260000"/>
            <a:ext cx="11113200" cy="3240000"/>
          </a:xfrm>
          <a:prstGeom prst="roundRect">
            <a:avLst/>
          </a:prstGeom>
          <a:solidFill>
            <a:srgbClr val="FFF2CC"/>
          </a:solidFill>
          <a:ln w="254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1440000"/>
            <a:ext cx="103932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2400" b="1">
                <a:solidFill>
                  <a:srgbClr val="002060"/>
                </a:solidFill>
                <a:latin typeface="メイリオ"/>
                <a:ea typeface="メイリオ"/>
              </a:rPr>
              <a:t>Q．  隣の先生と…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088000"/>
            <a:ext cx="10393200" cy="90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メイリオ"/>
                <a:ea typeface="メイリオ"/>
              </a:rPr>
              <a:t>「今日の授業で、思わず </a:t>
            </a:r>
            <a:r>
              <a:rPr sz="2800" b="1">
                <a:solidFill>
                  <a:srgbClr val="FF0000"/>
                </a:solidFill>
                <a:latin typeface="メイリオ"/>
                <a:ea typeface="メイリオ"/>
              </a:rPr>
              <a:t>〝おっ〟</a:t>
            </a:r>
            <a:r>
              <a:rPr sz="2400" b="1">
                <a:solidFill>
                  <a:srgbClr val="1A1A1A"/>
                </a:solidFill>
                <a:latin typeface="メイリオ"/>
                <a:ea typeface="メイリオ"/>
              </a:rPr>
              <a:t> と心が動いた瞬間」を、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168000"/>
            <a:ext cx="10393200" cy="90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FF0000"/>
                </a:solidFill>
                <a:latin typeface="メイリオ"/>
                <a:ea typeface="メイリオ"/>
              </a:rPr>
              <a:t>ジェスチャー一つ</a:t>
            </a:r>
            <a:r>
              <a:rPr sz="2400" b="1">
                <a:solidFill>
                  <a:srgbClr val="1A1A1A"/>
                </a:solidFill>
                <a:latin typeface="メイリオ"/>
                <a:ea typeface="メイリオ"/>
              </a:rPr>
              <a:t> で表してみてください。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960000" y="4860000"/>
            <a:ext cx="4273200" cy="64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0000" y="4860000"/>
            <a:ext cx="4273200" cy="64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メイリオ"/>
                <a:ea typeface="メイリオ"/>
              </a:rPr>
              <a:t>⏱   30 秒  ペアトーク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5760000"/>
            <a:ext cx="111132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2000" b="1">
                <a:solidFill>
                  <a:srgbClr val="002060"/>
                </a:solidFill>
                <a:latin typeface="メイリオ"/>
                <a:ea typeface="メイリオ"/>
              </a:rPr>
              <a:t>▶ 今、皆さん自身が〝対話〟を始めました。これが今日のテーマです。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6534000"/>
            <a:ext cx="90000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指導講評  研究主題「対話を通して、学びをつなげる児童の育成」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13200" y="6534000"/>
            <a:ext cx="7920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メイリオ"/>
                <a:ea typeface="メイリオ"/>
              </a:rPr>
              <a:t>②  本時の授業の価値づけ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827999"/>
            <a:ext cx="11617200" cy="5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080000"/>
            <a:ext cx="11113200" cy="503999"/>
          </a:xfrm>
          <a:prstGeom prst="rect">
            <a:avLst/>
          </a:prstGeom>
          <a:solidFill>
            <a:srgbClr val="DA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1113200" cy="503999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800" b="1">
                <a:solidFill>
                  <a:srgbClr val="002060"/>
                </a:solidFill>
                <a:latin typeface="メイリオ"/>
                <a:ea typeface="メイリオ"/>
              </a:rPr>
              <a:t>第３学年 国語科  単元「もっと知りたい、友だちのこと」  （全６時間中の第３時）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52600" y="1728000"/>
            <a:ext cx="3600000" cy="414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2600" y="1728000"/>
            <a:ext cx="3600000" cy="79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600" y="1728000"/>
            <a:ext cx="540000" cy="79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メイリオ"/>
                <a:ea typeface="メイリオ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6600" y="1728000"/>
            <a:ext cx="2844000" cy="79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メイリオ"/>
                <a:ea typeface="メイリオ"/>
              </a:rPr>
              <a:t>教師自身が〝話し手〟に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2600" y="2664000"/>
            <a:ext cx="3240000" cy="306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1">
                <a:solidFill>
                  <a:srgbClr val="FF0000"/>
                </a:solidFill>
                <a:latin typeface="メイリオ"/>
                <a:ea typeface="メイリオ"/>
              </a:rPr>
              <a:t>「いつ・どこで・だれが」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1A1A1A"/>
                </a:solidFill>
                <a:latin typeface="メイリオ"/>
                <a:ea typeface="メイリオ"/>
              </a:rPr>
              <a:t>と質問の種類を整理。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1A1A1A"/>
                </a:solidFill>
                <a:latin typeface="メイリオ"/>
                <a:ea typeface="メイリオ"/>
              </a:rPr>
              <a:t>児童が</a:t>
            </a:r>
            <a:r>
              <a:rPr sz="1700" b="1">
                <a:solidFill>
                  <a:srgbClr val="FF0000"/>
                </a:solidFill>
                <a:latin typeface="メイリオ"/>
                <a:ea typeface="メイリオ"/>
              </a:rPr>
              <a:t>〝自分が引き出した〟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1A1A1A"/>
                </a:solidFill>
                <a:latin typeface="メイリオ"/>
                <a:ea typeface="メイリオ"/>
              </a:rPr>
              <a:t>手応えを実感。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6600" y="1728000"/>
            <a:ext cx="3600000" cy="414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6600" y="1728000"/>
            <a:ext cx="3600000" cy="79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600" y="1728000"/>
            <a:ext cx="540000" cy="79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メイリオ"/>
                <a:ea typeface="メイリオ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0600" y="1728000"/>
            <a:ext cx="2844000" cy="79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メイリオ"/>
                <a:ea typeface="メイリオ"/>
              </a:rPr>
              <a:t>動画教材で対話を客観視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6600" y="2664000"/>
            <a:ext cx="3240000" cy="306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1A1A1A"/>
                </a:solidFill>
                <a:latin typeface="メイリオ"/>
                <a:ea typeface="メイリオ"/>
              </a:rPr>
              <a:t>「よりよいやりとり」を、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FF0000"/>
                </a:solidFill>
                <a:latin typeface="メイリオ"/>
                <a:ea typeface="メイリオ"/>
              </a:rPr>
              <a:t>抽象論ではなく</a:t>
            </a:r>
            <a:r>
              <a:rPr sz="1700" b="0">
                <a:solidFill>
                  <a:srgbClr val="1A1A1A"/>
                </a:solidFill>
                <a:latin typeface="メイリオ"/>
                <a:ea typeface="メイリオ"/>
              </a:rPr>
              <a:t>、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FF0000"/>
                </a:solidFill>
                <a:latin typeface="メイリオ"/>
                <a:ea typeface="メイリオ"/>
              </a:rPr>
              <a:t>具体的な場面の観察</a:t>
            </a:r>
            <a:r>
              <a:rPr sz="1700" b="0">
                <a:solidFill>
                  <a:srgbClr val="1A1A1A"/>
                </a:solidFill>
                <a:latin typeface="メイリオ"/>
                <a:ea typeface="メイリオ"/>
              </a:rPr>
              <a:t>から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1A1A1A"/>
                </a:solidFill>
                <a:latin typeface="メイリオ"/>
                <a:ea typeface="メイリオ"/>
              </a:rPr>
              <a:t>考えさせた。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0600" y="1728000"/>
            <a:ext cx="3600000" cy="414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0600" y="1728000"/>
            <a:ext cx="3600000" cy="79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8600" y="1728000"/>
            <a:ext cx="540000" cy="79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メイリオ"/>
                <a:ea typeface="メイリオ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24600" y="1728000"/>
            <a:ext cx="2844000" cy="79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メイリオ"/>
                <a:ea typeface="メイリオ"/>
              </a:rPr>
              <a:t>対話の質を3観点で可視化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600" y="2664000"/>
            <a:ext cx="3240000" cy="306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1A1A1A"/>
                </a:solidFill>
                <a:latin typeface="メイリオ"/>
                <a:ea typeface="メイリオ"/>
              </a:rPr>
              <a:t>「確かめ／</a:t>
            </a:r>
          </a:p>
          <a:p>
            <a:pPr algn="l">
              <a:lnSpc>
                <a:spcPct val="140000"/>
              </a:lnSpc>
            </a:pPr>
            <a:r>
              <a:rPr sz="1700" b="1">
                <a:solidFill>
                  <a:srgbClr val="FF0000"/>
                </a:solidFill>
                <a:latin typeface="メイリオ"/>
                <a:ea typeface="メイリオ"/>
              </a:rPr>
              <a:t>セカンドクエスチョン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1A1A1A"/>
                </a:solidFill>
                <a:latin typeface="メイリオ"/>
                <a:ea typeface="メイリオ"/>
              </a:rPr>
              <a:t>／感想」を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1A1A1A"/>
                </a:solidFill>
                <a:latin typeface="メイリオ"/>
                <a:ea typeface="メイリオ"/>
              </a:rPr>
              <a:t>クラス共通の</a:t>
            </a:r>
            <a:r>
              <a:rPr sz="1700" b="1">
                <a:solidFill>
                  <a:srgbClr val="FF0000"/>
                </a:solidFill>
                <a:latin typeface="メイリオ"/>
                <a:ea typeface="メイリオ"/>
              </a:rPr>
              <a:t>〝対話の型〟</a:t>
            </a:r>
          </a:p>
          <a:p>
            <a:pPr algn="l">
              <a:lnSpc>
                <a:spcPct val="140000"/>
              </a:lnSpc>
            </a:pPr>
            <a:r>
              <a:rPr sz="1700" b="0">
                <a:solidFill>
                  <a:srgbClr val="1A1A1A"/>
                </a:solidFill>
                <a:latin typeface="メイリオ"/>
                <a:ea typeface="メイリオ"/>
              </a:rPr>
              <a:t>として整理。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00" y="6534000"/>
            <a:ext cx="90000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指導講評  研究主題「対話を通して、学びをつなげる児童の育成」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13200" y="6534000"/>
            <a:ext cx="7920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メイリオ"/>
                <a:ea typeface="メイリオ"/>
              </a:rPr>
              <a:t>授業の様子  ①   導入～質問の種類を整理する場面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827999"/>
            <a:ext cx="11617200" cy="5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152000"/>
            <a:ext cx="11113200" cy="3420000"/>
          </a:xfrm>
          <a:prstGeom prst="rect">
            <a:avLst/>
          </a:prstGeom>
          <a:solidFill>
            <a:srgbClr val="EEEEEE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152000"/>
            <a:ext cx="11113200" cy="342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2200" b="0">
                <a:solidFill>
                  <a:srgbClr val="666666"/>
                </a:solidFill>
                <a:latin typeface="メイリオ"/>
                <a:ea typeface="メイリオ"/>
              </a:rPr>
              <a:t>📷  【ここに授業写真を貼り付け】</a:t>
            </a:r>
          </a:p>
          <a:p>
            <a:pPr algn="ctr"/>
            <a:r>
              <a:rPr sz="2200" b="0">
                <a:solidFill>
                  <a:srgbClr val="666666"/>
                </a:solidFill>
                <a:latin typeface="メイリオ"/>
                <a:ea typeface="メイリオ"/>
              </a:rPr>
              <a:t/>
            </a:r>
          </a:p>
          <a:p>
            <a:pPr algn="ctr"/>
            <a:r>
              <a:rPr sz="2200" b="0">
                <a:solidFill>
                  <a:srgbClr val="666666"/>
                </a:solidFill>
                <a:latin typeface="メイリオ"/>
                <a:ea typeface="メイリオ"/>
              </a:rPr>
              <a:t>教師の話を聞き、ワークシートに質問を記入している場面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4752000"/>
            <a:ext cx="5466600" cy="32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4752000"/>
            <a:ext cx="5466600" cy="324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メイリオ"/>
                <a:ea typeface="メイリオ"/>
              </a:rPr>
              <a:t>▼ 注目ポイント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5076000"/>
            <a:ext cx="5466600" cy="1116000"/>
          </a:xfrm>
          <a:prstGeom prst="rect">
            <a:avLst/>
          </a:prstGeom>
          <a:solidFill>
            <a:srgbClr val="FFF2CC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5148000"/>
            <a:ext cx="5250600" cy="100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>
                <a:solidFill>
                  <a:srgbClr val="FF0000"/>
                </a:solidFill>
                <a:latin typeface="メイリオ"/>
                <a:ea typeface="メイリオ"/>
              </a:rPr>
              <a:t>「いつ・どこで・だれが」</a:t>
            </a:r>
            <a:r>
              <a:rPr sz="1700" b="0">
                <a:solidFill>
                  <a:srgbClr val="1A1A1A"/>
                </a:solidFill>
                <a:latin typeface="メイリオ"/>
                <a:ea typeface="メイリオ"/>
              </a:rPr>
              <a:t>の板書整理が、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1A1A1A"/>
                </a:solidFill>
                <a:latin typeface="メイリオ"/>
                <a:ea typeface="メイリオ"/>
              </a:rPr>
              <a:t>児童の質問を </a:t>
            </a:r>
            <a:r>
              <a:rPr sz="1800" b="1">
                <a:solidFill>
                  <a:srgbClr val="FF0000"/>
                </a:solidFill>
                <a:latin typeface="メイリオ"/>
                <a:ea typeface="メイリオ"/>
              </a:rPr>
              <a:t>〝見える化〟</a:t>
            </a:r>
            <a:r>
              <a:rPr sz="1700" b="0">
                <a:solidFill>
                  <a:srgbClr val="1A1A1A"/>
                </a:solidFill>
                <a:latin typeface="メイリオ"/>
                <a:ea typeface="メイリオ"/>
              </a:rPr>
              <a:t> している。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6600" y="4752000"/>
            <a:ext cx="5466600" cy="32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6600" y="4752000"/>
            <a:ext cx="5466600" cy="324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メイリオ"/>
                <a:ea typeface="メイリオ"/>
              </a:rPr>
              <a:t>▼ 児童の姿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6600" y="5076000"/>
            <a:ext cx="5466600" cy="1116000"/>
          </a:xfrm>
          <a:prstGeom prst="rect">
            <a:avLst/>
          </a:prstGeom>
          <a:solidFill>
            <a:srgbClr val="DAE3F3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4600" y="5148000"/>
            <a:ext cx="5250600" cy="100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A1A1A"/>
                </a:solidFill>
                <a:latin typeface="メイリオ"/>
                <a:ea typeface="メイリオ"/>
              </a:rPr>
              <a:t>自分が考えた質問をペアで </a:t>
            </a:r>
            <a:r>
              <a:rPr sz="1800" b="1">
                <a:solidFill>
                  <a:srgbClr val="FF0000"/>
                </a:solidFill>
                <a:latin typeface="メイリオ"/>
                <a:ea typeface="メイリオ"/>
              </a:rPr>
              <a:t>安心して交流</a:t>
            </a:r>
            <a:r>
              <a:rPr sz="1700" b="0">
                <a:solidFill>
                  <a:srgbClr val="1A1A1A"/>
                </a:solidFill>
                <a:latin typeface="メイリオ"/>
                <a:ea typeface="メイリオ"/>
              </a:rPr>
              <a:t>。</a:t>
            </a:r>
          </a:p>
          <a:p>
            <a:pPr algn="l">
              <a:lnSpc>
                <a:spcPct val="150000"/>
              </a:lnSpc>
            </a:pPr>
            <a:r>
              <a:rPr sz="1800" b="1">
                <a:solidFill>
                  <a:srgbClr val="FF0000"/>
                </a:solidFill>
                <a:latin typeface="メイリオ"/>
                <a:ea typeface="メイリオ"/>
              </a:rPr>
              <a:t>書く時間の確保</a:t>
            </a:r>
            <a:r>
              <a:rPr sz="1700" b="0">
                <a:solidFill>
                  <a:srgbClr val="1A1A1A"/>
                </a:solidFill>
                <a:latin typeface="メイリオ"/>
                <a:ea typeface="メイリオ"/>
              </a:rPr>
              <a:t>が発言の自信に。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6534000"/>
            <a:ext cx="90000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指導講評  研究主題「対話を通して、学びをつなげる児童の育成」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3200" y="6534000"/>
            <a:ext cx="7920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メイリオ"/>
                <a:ea typeface="メイリオ"/>
              </a:rPr>
              <a:t>授業の様子  ②   動画視聴～全体共有の場面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827999"/>
            <a:ext cx="11617200" cy="5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188000"/>
            <a:ext cx="6120000" cy="2268000"/>
          </a:xfrm>
          <a:prstGeom prst="rect">
            <a:avLst/>
          </a:prstGeom>
          <a:solidFill>
            <a:srgbClr val="EEEEEE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188000"/>
            <a:ext cx="6120000" cy="226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メイリオ"/>
                <a:ea typeface="メイリオ"/>
              </a:rPr>
              <a:t>📷  【写真①】 動画教材を視聴し、良い対話を分析する場面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3671999"/>
            <a:ext cx="6120000" cy="2268000"/>
          </a:xfrm>
          <a:prstGeom prst="rect">
            <a:avLst/>
          </a:prstGeom>
          <a:solidFill>
            <a:srgbClr val="EEEEEE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3671999"/>
            <a:ext cx="6120000" cy="226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メイリオ"/>
                <a:ea typeface="メイリオ"/>
              </a:rPr>
              <a:t>📷  【写真②】 全体で意見を共有し、対話の質を整理する場面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6840000" y="1188000"/>
            <a:ext cx="4813200" cy="576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40000" y="1188000"/>
            <a:ext cx="4813200" cy="57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メイリオ"/>
                <a:ea typeface="メイリオ"/>
              </a:rPr>
              <a:t>対話を深める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メイリオ"/>
                <a:ea typeface="メイリオ"/>
              </a:rPr>
              <a:t>3つの観点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40000" y="1835999"/>
            <a:ext cx="4813200" cy="1332000"/>
          </a:xfrm>
          <a:prstGeom prst="rect">
            <a:avLst/>
          </a:prstGeom>
          <a:solidFill>
            <a:srgbClr val="FFF2CC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000" y="1835999"/>
            <a:ext cx="432000" cy="133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0000"/>
                </a:solidFill>
                <a:latin typeface="メイリオ"/>
                <a:ea typeface="メイリオ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3999" y="1925999"/>
            <a:ext cx="4273200" cy="57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メイリオ"/>
                <a:ea typeface="メイリオ"/>
              </a:rPr>
              <a:t>確かめる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43999" y="2519999"/>
            <a:ext cx="4273200" cy="61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メイリオ"/>
                <a:ea typeface="メイリオ"/>
              </a:rPr>
              <a:t>相手の話を聞き返し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メイリオ"/>
                <a:ea typeface="メイリオ"/>
              </a:rPr>
              <a:t>理解を確認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40000" y="3221999"/>
            <a:ext cx="4813200" cy="1332000"/>
          </a:xfrm>
          <a:prstGeom prst="rect">
            <a:avLst/>
          </a:prstGeom>
          <a:solidFill>
            <a:srgbClr val="FCE4E4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94000" y="3221999"/>
            <a:ext cx="432000" cy="133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0000"/>
                </a:solidFill>
                <a:latin typeface="メイリオ"/>
                <a:ea typeface="メイリオ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43999" y="3311999"/>
            <a:ext cx="4273200" cy="57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メイリオ"/>
                <a:ea typeface="メイリオ"/>
              </a:rPr>
              <a:t>セカンド</a:t>
            </a:r>
          </a:p>
          <a:p>
            <a:pPr algn="l"/>
            <a:r>
              <a:rPr sz="1400" b="1">
                <a:solidFill>
                  <a:srgbClr val="002060"/>
                </a:solidFill>
                <a:latin typeface="メイリオ"/>
                <a:ea typeface="メイリオ"/>
              </a:rPr>
              <a:t>クエスチョン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3999" y="3905999"/>
            <a:ext cx="4273200" cy="61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メイリオ"/>
                <a:ea typeface="メイリオ"/>
              </a:rPr>
              <a:t>答えからさらに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メイリオ"/>
                <a:ea typeface="メイリオ"/>
              </a:rPr>
              <a:t>質問をつなげる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40000" y="4607999"/>
            <a:ext cx="4813200" cy="1332000"/>
          </a:xfrm>
          <a:prstGeom prst="rect">
            <a:avLst/>
          </a:prstGeom>
          <a:solidFill>
            <a:srgbClr val="DAE3F3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94000" y="4607999"/>
            <a:ext cx="432000" cy="133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0000"/>
                </a:solidFill>
                <a:latin typeface="メイリオ"/>
                <a:ea typeface="メイリオ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3999" y="4697999"/>
            <a:ext cx="4273200" cy="57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メイリオ"/>
                <a:ea typeface="メイリオ"/>
              </a:rPr>
              <a:t>感想を伝える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3999" y="5291999"/>
            <a:ext cx="4273200" cy="61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メイリオ"/>
                <a:ea typeface="メイリオ"/>
              </a:rPr>
              <a:t>受け取った思いを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メイリオ"/>
                <a:ea typeface="メイリオ"/>
              </a:rPr>
              <a:t>言葉にして返す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00" y="6534000"/>
            <a:ext cx="90000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指導講評  研究主題「対話を通して、学びをつなげる児童の育成」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13200" y="6534000"/>
            <a:ext cx="7920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メイリオ"/>
                <a:ea typeface="メイリオ"/>
              </a:rPr>
              <a:t>③  研究主題との関連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827999"/>
            <a:ext cx="11617200" cy="5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152000"/>
            <a:ext cx="1800000" cy="43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152000"/>
            <a:ext cx="180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研究主題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2340000" y="1152000"/>
            <a:ext cx="9313200" cy="432000"/>
          </a:xfrm>
          <a:prstGeom prst="rect">
            <a:avLst/>
          </a:prstGeom>
          <a:solidFill>
            <a:srgbClr val="DAE3F3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40000" y="1152000"/>
            <a:ext cx="93132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002060"/>
                </a:solidFill>
                <a:latin typeface="メイリオ"/>
                <a:ea typeface="メイリオ"/>
              </a:rPr>
              <a:t>対話を通して、学びをつなげる児童の育成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1692000"/>
            <a:ext cx="1800000" cy="100799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1692000"/>
            <a:ext cx="1800000" cy="1007999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研究仮説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40000" y="1692000"/>
            <a:ext cx="9313200" cy="100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48000" y="1764000"/>
            <a:ext cx="9097200" cy="864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A1A1A"/>
                </a:solidFill>
                <a:latin typeface="メイリオ"/>
                <a:ea typeface="メイリオ"/>
              </a:rPr>
              <a:t>手だてや話題を工夫し、</a:t>
            </a:r>
            <a:r>
              <a:rPr sz="1600" b="1">
                <a:solidFill>
                  <a:srgbClr val="FF0000"/>
                </a:solidFill>
                <a:latin typeface="メイリオ"/>
                <a:ea typeface="メイリオ"/>
              </a:rPr>
              <a:t>視点を明確にした対話を継続的に実践</a:t>
            </a:r>
            <a:r>
              <a:rPr sz="1500" b="0">
                <a:solidFill>
                  <a:srgbClr val="1A1A1A"/>
                </a:solidFill>
                <a:latin typeface="メイリオ"/>
                <a:ea typeface="メイリオ"/>
              </a:rPr>
              <a:t>する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A1A1A"/>
                </a:solidFill>
                <a:latin typeface="メイリオ"/>
                <a:ea typeface="メイリオ"/>
              </a:rPr>
              <a:t>ことで、児童の</a:t>
            </a:r>
            <a:r>
              <a:rPr sz="1600" b="1">
                <a:solidFill>
                  <a:srgbClr val="FF0000"/>
                </a:solidFill>
                <a:latin typeface="メイリオ"/>
                <a:ea typeface="メイリオ"/>
              </a:rPr>
              <a:t>対話に広がりや深まりが見られる</a:t>
            </a:r>
            <a:r>
              <a:rPr sz="1500" b="0">
                <a:solidFill>
                  <a:srgbClr val="1A1A1A"/>
                </a:solidFill>
                <a:latin typeface="メイリオ"/>
                <a:ea typeface="メイリオ"/>
              </a:rPr>
              <a:t>だろう。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844000"/>
            <a:ext cx="11113200" cy="324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800" b="1">
                <a:solidFill>
                  <a:srgbClr val="FF0000"/>
                </a:solidFill>
                <a:latin typeface="メイリオ"/>
                <a:ea typeface="メイリオ"/>
              </a:rPr>
              <a:t>▼  本時はこう応えた  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2600" y="3311999"/>
            <a:ext cx="3600000" cy="46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2600" y="3311999"/>
            <a:ext cx="3600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手だての工夫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2600" y="3779999"/>
            <a:ext cx="3600000" cy="2412000"/>
          </a:xfrm>
          <a:prstGeom prst="rect">
            <a:avLst/>
          </a:prstGeom>
          <a:solidFill>
            <a:srgbClr val="FFF2CC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600" y="3887999"/>
            <a:ext cx="3384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FF0000"/>
                </a:solidFill>
                <a:latin typeface="メイリオ"/>
                <a:ea typeface="メイリオ"/>
              </a:rPr>
              <a:t>教師モデル</a:t>
            </a:r>
          </a:p>
          <a:p>
            <a:pPr algn="ctr">
              <a:lnSpc>
                <a:spcPct val="150000"/>
              </a:lnSpc>
            </a:pPr>
            <a:r>
              <a:rPr sz="1600" b="0">
                <a:solidFill>
                  <a:srgbClr val="1A1A1A"/>
                </a:solidFill>
                <a:latin typeface="メイリオ"/>
                <a:ea typeface="メイリオ"/>
              </a:rPr>
              <a:t>＋ 動画教材</a:t>
            </a:r>
          </a:p>
          <a:p>
            <a:pPr algn="ctr">
              <a:lnSpc>
                <a:spcPct val="150000"/>
              </a:lnSpc>
            </a:pPr>
            <a:r>
              <a:rPr sz="1600" b="0">
                <a:solidFill>
                  <a:srgbClr val="1A1A1A"/>
                </a:solidFill>
                <a:latin typeface="メイリオ"/>
                <a:ea typeface="メイリオ"/>
              </a:rPr>
              <a:t>＋ ワークシート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6600" y="3311999"/>
            <a:ext cx="3600000" cy="46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6600" y="3311999"/>
            <a:ext cx="3600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話題の工夫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6600" y="3779999"/>
            <a:ext cx="3600000" cy="2412000"/>
          </a:xfrm>
          <a:prstGeom prst="rect">
            <a:avLst/>
          </a:prstGeom>
          <a:solidFill>
            <a:srgbClr val="FFF2CC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4600" y="3887999"/>
            <a:ext cx="3384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1">
                <a:solidFill>
                  <a:srgbClr val="FF0000"/>
                </a:solidFill>
                <a:latin typeface="メイリオ"/>
                <a:ea typeface="メイリオ"/>
              </a:rPr>
              <a:t>「友だちのこと」</a:t>
            </a:r>
          </a:p>
          <a:p>
            <a:pPr algn="ctr">
              <a:lnSpc>
                <a:spcPct val="150000"/>
              </a:lnSpc>
            </a:pPr>
            <a:r>
              <a:rPr sz="1600" b="0">
                <a:solidFill>
                  <a:srgbClr val="1A1A1A"/>
                </a:solidFill>
                <a:latin typeface="メイリオ"/>
                <a:ea typeface="メイリオ"/>
              </a:rPr>
              <a:t>＝ 聞きたくなる</a:t>
            </a:r>
          </a:p>
          <a:p>
            <a:pPr algn="ctr">
              <a:lnSpc>
                <a:spcPct val="150000"/>
              </a:lnSpc>
            </a:pPr>
            <a:r>
              <a:rPr sz="1600" b="0">
                <a:solidFill>
                  <a:srgbClr val="1A1A1A"/>
                </a:solidFill>
                <a:latin typeface="メイリオ"/>
                <a:ea typeface="メイリオ"/>
              </a:rPr>
              <a:t>身近な話題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0600" y="3311999"/>
            <a:ext cx="3600000" cy="46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0600" y="3311999"/>
            <a:ext cx="3600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視点の明確化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0600" y="3779999"/>
            <a:ext cx="3600000" cy="2412000"/>
          </a:xfrm>
          <a:prstGeom prst="rect">
            <a:avLst/>
          </a:prstGeom>
          <a:solidFill>
            <a:srgbClr val="FFF2CC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48600" y="3887999"/>
            <a:ext cx="3384000" cy="216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700" b="1">
                <a:solidFill>
                  <a:srgbClr val="FF0000"/>
                </a:solidFill>
                <a:latin typeface="メイリオ"/>
                <a:ea typeface="メイリオ"/>
              </a:rPr>
              <a:t>確かめ／2nd Q／感想</a:t>
            </a:r>
          </a:p>
          <a:p>
            <a:pPr algn="ctr">
              <a:lnSpc>
                <a:spcPct val="150000"/>
              </a:lnSpc>
            </a:pPr>
            <a:r>
              <a:rPr sz="1600" b="0">
                <a:solidFill>
                  <a:srgbClr val="1A1A1A"/>
                </a:solidFill>
                <a:latin typeface="メイリオ"/>
                <a:ea typeface="メイリオ"/>
              </a:rPr>
              <a:t>の3観点を提示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00" y="6534000"/>
            <a:ext cx="90000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指導講評  研究主題「対話を通して、学びをつなげる児童の育成」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13200" y="6534000"/>
            <a:ext cx="7920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メイリオ"/>
                <a:ea typeface="メイリオ"/>
              </a:rPr>
              <a:t>③-1  根拠資料①  文部科学省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827999"/>
            <a:ext cx="11617200" cy="5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13200" y="216000"/>
            <a:ext cx="4320000" cy="503999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r"/>
            <a:r>
              <a:rPr sz="1100" b="1">
                <a:solidFill>
                  <a:srgbClr val="666666"/>
                </a:solidFill>
                <a:latin typeface="メイリオ"/>
                <a:ea typeface="メイリオ"/>
              </a:rPr>
              <a:t>「小学校学習指導要領（平成29年告示）解説  国語編」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52000"/>
            <a:ext cx="11113200" cy="46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152000"/>
            <a:ext cx="111132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メイリオ"/>
                <a:ea typeface="メイリオ"/>
              </a:rPr>
              <a:t>第３学年及び第４学年「話すこと・聞くこと」  指導事項 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728000"/>
            <a:ext cx="11113200" cy="2160000"/>
          </a:xfrm>
          <a:prstGeom prst="rect">
            <a:avLst/>
          </a:prstGeom>
          <a:solidFill>
            <a:srgbClr val="DAE3F3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836000"/>
            <a:ext cx="10753200" cy="57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メイリオ"/>
                <a:ea typeface="メイリオ"/>
              </a:rPr>
              <a:t>「必要なことを記録したり </a:t>
            </a:r>
            <a:r>
              <a:rPr sz="2200" b="1">
                <a:solidFill>
                  <a:srgbClr val="FF0000"/>
                </a:solidFill>
                <a:latin typeface="メイリオ"/>
                <a:ea typeface="メイリオ"/>
              </a:rPr>
              <a:t>質問したりしながら聞き</a:t>
            </a:r>
            <a:r>
              <a:rPr sz="1800" b="1">
                <a:solidFill>
                  <a:srgbClr val="1A1A1A"/>
                </a:solidFill>
                <a:latin typeface="メイリオ"/>
                <a:ea typeface="メイリオ"/>
              </a:rPr>
              <a:t>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448000"/>
            <a:ext cx="10753200" cy="57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メイリオ"/>
                <a:ea typeface="メイリオ"/>
              </a:rPr>
              <a:t>  話し手が伝えたいことや自分が聞きたいことの </a:t>
            </a:r>
            <a:r>
              <a:rPr sz="2200" b="1">
                <a:solidFill>
                  <a:srgbClr val="FF0000"/>
                </a:solidFill>
                <a:latin typeface="メイリオ"/>
                <a:ea typeface="メイリオ"/>
              </a:rPr>
              <a:t>中心を捉え</a:t>
            </a:r>
            <a:r>
              <a:rPr sz="1800" b="1">
                <a:solidFill>
                  <a:srgbClr val="1A1A1A"/>
                </a:solidFill>
                <a:latin typeface="メイリオ"/>
                <a:ea typeface="メイリオ"/>
              </a:rPr>
              <a:t>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3096000"/>
            <a:ext cx="10753200" cy="57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メイリオ"/>
                <a:ea typeface="メイリオ"/>
              </a:rPr>
              <a:t>   </a:t>
            </a:r>
            <a:r>
              <a:rPr sz="2200" b="1">
                <a:solidFill>
                  <a:srgbClr val="FF0000"/>
                </a:solidFill>
                <a:latin typeface="メイリオ"/>
                <a:ea typeface="メイリオ"/>
              </a:rPr>
              <a:t>自分の考えをもつ</a:t>
            </a:r>
            <a:r>
              <a:rPr sz="1800" b="1">
                <a:solidFill>
                  <a:srgbClr val="1A1A1A"/>
                </a:solidFill>
                <a:latin typeface="メイリオ"/>
                <a:ea typeface="メイリオ"/>
              </a:rPr>
              <a:t> こと。」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4031999"/>
            <a:ext cx="2880000" cy="432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4031999"/>
            <a:ext cx="288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メイリオ"/>
                <a:ea typeface="メイリオ"/>
              </a:rPr>
              <a:t>▶ 本時の手だてとのつながり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4464000"/>
            <a:ext cx="11113200" cy="1800000"/>
          </a:xfrm>
          <a:prstGeom prst="rect">
            <a:avLst/>
          </a:prstGeom>
          <a:solidFill>
            <a:srgbClr val="FFF2CC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0000" y="4536000"/>
            <a:ext cx="107532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メイリオ"/>
                <a:ea typeface="メイリオ"/>
              </a:rPr>
              <a:t>・</a:t>
            </a:r>
            <a:r>
              <a:rPr sz="1900" b="1">
                <a:solidFill>
                  <a:srgbClr val="FF0000"/>
                </a:solidFill>
                <a:latin typeface="メイリオ"/>
                <a:ea typeface="メイリオ"/>
              </a:rPr>
              <a:t>「質問の種類」を可視化する手だて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4968000"/>
            <a:ext cx="107532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メイリオ"/>
                <a:ea typeface="メイリオ"/>
              </a:rPr>
              <a:t>       = 解説で示された </a:t>
            </a:r>
            <a:r>
              <a:rPr sz="1900" b="1">
                <a:solidFill>
                  <a:srgbClr val="FF0000"/>
                </a:solidFill>
                <a:latin typeface="メイリオ"/>
                <a:ea typeface="メイリオ"/>
              </a:rPr>
              <a:t>〝聞く力の中核〟</a:t>
            </a:r>
            <a:r>
              <a:rPr sz="1700" b="0">
                <a:solidFill>
                  <a:srgbClr val="1A1A1A"/>
                </a:solidFill>
                <a:latin typeface="メイリオ"/>
                <a:ea typeface="メイリオ"/>
              </a:rPr>
              <a:t> そのもの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5436000"/>
            <a:ext cx="107532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メイリオ"/>
                <a:ea typeface="メイリオ"/>
              </a:rPr>
              <a:t>・</a:t>
            </a:r>
            <a:r>
              <a:rPr sz="1900" b="1">
                <a:solidFill>
                  <a:srgbClr val="FF0000"/>
                </a:solidFill>
                <a:latin typeface="メイリオ"/>
                <a:ea typeface="メイリオ"/>
              </a:rPr>
              <a:t>「中心を捉え、自分の考えをもつ」</a:t>
            </a:r>
            <a:r>
              <a:rPr sz="1700" b="0">
                <a:solidFill>
                  <a:srgbClr val="1A1A1A"/>
                </a:solidFill>
                <a:latin typeface="メイリオ"/>
                <a:ea typeface="メイリオ"/>
              </a:rPr>
              <a:t>   →   </a:t>
            </a:r>
            <a:r>
              <a:rPr sz="1900" b="1">
                <a:solidFill>
                  <a:srgbClr val="002060"/>
                </a:solidFill>
                <a:latin typeface="メイリオ"/>
                <a:ea typeface="メイリオ"/>
              </a:rPr>
              <a:t>ワークシートで保証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" y="6534000"/>
            <a:ext cx="90000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指導講評  研究主題「対話を通して、学びをつなげる児童の育成」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3200" y="6534000"/>
            <a:ext cx="7920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メイリオ"/>
                <a:ea typeface="メイリオ"/>
              </a:rPr>
              <a:t>③-2  根拠資料②  対話的な学びの重要性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827999"/>
            <a:ext cx="11617200" cy="5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13200" y="216000"/>
            <a:ext cx="4320000" cy="503999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r"/>
            <a:r>
              <a:rPr sz="1100" b="1">
                <a:solidFill>
                  <a:srgbClr val="666666"/>
                </a:solidFill>
                <a:latin typeface="メイリオ"/>
                <a:ea typeface="メイリオ"/>
              </a:rPr>
              <a:t>中央教育審議会答申「令和の日本型学校教育」（令和3年1月）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52000"/>
            <a:ext cx="11113200" cy="46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152000"/>
            <a:ext cx="111132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メイリオ"/>
                <a:ea typeface="メイリオ"/>
              </a:rPr>
              <a:t>答申で示された方向性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11113200" cy="972000"/>
          </a:xfrm>
          <a:prstGeom prst="rect">
            <a:avLst/>
          </a:prstGeom>
          <a:solidFill>
            <a:srgbClr val="DAE3F3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692000"/>
            <a:ext cx="107532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900" b="1">
                <a:solidFill>
                  <a:srgbClr val="1A1A1A"/>
                </a:solidFill>
                <a:latin typeface="メイリオ"/>
                <a:ea typeface="メイリオ"/>
              </a:rPr>
              <a:t>「</a:t>
            </a:r>
            <a:r>
              <a:rPr sz="2100" b="1">
                <a:solidFill>
                  <a:srgbClr val="FF0000"/>
                </a:solidFill>
                <a:latin typeface="メイリオ"/>
                <a:ea typeface="メイリオ"/>
              </a:rPr>
              <a:t>個別最適な学び</a:t>
            </a:r>
            <a:r>
              <a:rPr sz="1900" b="1">
                <a:solidFill>
                  <a:srgbClr val="1A1A1A"/>
                </a:solidFill>
                <a:latin typeface="メイリオ"/>
                <a:ea typeface="メイリオ"/>
              </a:rPr>
              <a:t>」と「</a:t>
            </a:r>
            <a:r>
              <a:rPr sz="2100" b="1">
                <a:solidFill>
                  <a:srgbClr val="FF0000"/>
                </a:solidFill>
                <a:latin typeface="メイリオ"/>
                <a:ea typeface="メイリオ"/>
              </a:rPr>
              <a:t>協働的な学び</a:t>
            </a:r>
            <a:r>
              <a:rPr sz="1900" b="1">
                <a:solidFill>
                  <a:srgbClr val="1A1A1A"/>
                </a:solidFill>
                <a:latin typeface="メイリオ"/>
                <a:ea typeface="メイリオ"/>
              </a:rPr>
              <a:t>」を </a:t>
            </a:r>
            <a:r>
              <a:rPr sz="2100" b="1">
                <a:solidFill>
                  <a:srgbClr val="002060"/>
                </a:solidFill>
                <a:latin typeface="メイリオ"/>
                <a:ea typeface="メイリオ"/>
              </a:rPr>
              <a:t>一体的に充実</a:t>
            </a:r>
            <a:r>
              <a:rPr sz="1900" b="1">
                <a:solidFill>
                  <a:srgbClr val="1A1A1A"/>
                </a:solidFill>
                <a:latin typeface="メイリオ"/>
                <a:ea typeface="メイリオ"/>
              </a:rPr>
              <a:t> させ、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124000"/>
            <a:ext cx="107532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900" b="1">
                <a:solidFill>
                  <a:srgbClr val="1A1A1A"/>
                </a:solidFill>
                <a:latin typeface="メイリオ"/>
                <a:ea typeface="メイリオ"/>
              </a:rPr>
              <a:t>  </a:t>
            </a:r>
            <a:r>
              <a:rPr sz="2100" b="1">
                <a:solidFill>
                  <a:srgbClr val="FF0000"/>
                </a:solidFill>
                <a:latin typeface="メイリオ"/>
                <a:ea typeface="メイリオ"/>
              </a:rPr>
              <a:t>主体的・対話的で深い学び</a:t>
            </a:r>
            <a:r>
              <a:rPr sz="1900" b="1">
                <a:solidFill>
                  <a:srgbClr val="1A1A1A"/>
                </a:solidFill>
                <a:latin typeface="メイリオ"/>
                <a:ea typeface="メイリオ"/>
              </a:rPr>
              <a:t> の実現を目指す。」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700000"/>
            <a:ext cx="11113200" cy="324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800" b="1">
                <a:solidFill>
                  <a:srgbClr val="FF0000"/>
                </a:solidFill>
                <a:latin typeface="メイリオ"/>
                <a:ea typeface="メイリオ"/>
              </a:rPr>
              <a:t>▼  菅原学級の対話の流れがまさに体現  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600" y="3131999"/>
            <a:ext cx="2340000" cy="54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600" y="3131999"/>
            <a:ext cx="234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メイリオ"/>
                <a:ea typeface="メイリオ"/>
              </a:rPr>
              <a:t>個別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600" y="3671999"/>
            <a:ext cx="2340000" cy="1620000"/>
          </a:xfrm>
          <a:prstGeom prst="rect">
            <a:avLst/>
          </a:prstGeom>
          <a:solidFill>
            <a:srgbClr val="FFF2CC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600" y="3743999"/>
            <a:ext cx="2340000" cy="147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メイリオ"/>
                <a:ea typeface="メイリオ"/>
              </a:rPr>
              <a:t>自分の質問を</a:t>
            </a:r>
          </a:p>
          <a:p>
            <a:pPr algn="ctr"/>
            <a:r>
              <a:rPr sz="1500" b="1">
                <a:solidFill>
                  <a:srgbClr val="1A1A1A"/>
                </a:solidFill>
                <a:latin typeface="メイリオ"/>
                <a:ea typeface="メイリオ"/>
              </a:rPr>
              <a:t>ワークシートに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98600" y="4031999"/>
            <a:ext cx="324000" cy="3600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58600" y="3131999"/>
            <a:ext cx="2340000" cy="54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58600" y="3131999"/>
            <a:ext cx="234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メイリオ"/>
                <a:ea typeface="メイリオ"/>
              </a:rPr>
              <a:t>ペア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58600" y="3671999"/>
            <a:ext cx="2340000" cy="1620000"/>
          </a:xfrm>
          <a:prstGeom prst="rect">
            <a:avLst/>
          </a:prstGeom>
          <a:solidFill>
            <a:srgbClr val="DAE3F3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58600" y="3743999"/>
            <a:ext cx="2340000" cy="147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メイリオ"/>
                <a:ea typeface="メイリオ"/>
              </a:rPr>
              <a:t>隣同士で</a:t>
            </a:r>
          </a:p>
          <a:p>
            <a:pPr algn="ctr"/>
            <a:r>
              <a:rPr sz="1500" b="1">
                <a:solidFill>
                  <a:srgbClr val="1A1A1A"/>
                </a:solidFill>
                <a:latin typeface="メイリオ"/>
                <a:ea typeface="メイリオ"/>
              </a:rPr>
              <a:t>質問を交流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34600" y="4031999"/>
            <a:ext cx="324000" cy="3600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94600" y="3131999"/>
            <a:ext cx="2340000" cy="54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4600" y="3131999"/>
            <a:ext cx="234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メイリオ"/>
                <a:ea typeface="メイリオ"/>
              </a:rPr>
              <a:t>グループ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94600" y="3671999"/>
            <a:ext cx="2340000" cy="1620000"/>
          </a:xfrm>
          <a:prstGeom prst="rect">
            <a:avLst/>
          </a:prstGeom>
          <a:solidFill>
            <a:srgbClr val="FFF2CC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4600" y="3743999"/>
            <a:ext cx="2340000" cy="147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メイリオ"/>
                <a:ea typeface="メイリオ"/>
              </a:rPr>
              <a:t>動画を見て</a:t>
            </a:r>
          </a:p>
          <a:p>
            <a:pPr algn="ctr"/>
            <a:r>
              <a:rPr sz="1500" b="1">
                <a:solidFill>
                  <a:srgbClr val="1A1A1A"/>
                </a:solidFill>
                <a:latin typeface="メイリオ"/>
                <a:ea typeface="メイリオ"/>
              </a:rPr>
              <a:t>良さを探す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670600" y="4031999"/>
            <a:ext cx="324000" cy="36000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0600" y="3131999"/>
            <a:ext cx="2340000" cy="54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30600" y="3131999"/>
            <a:ext cx="234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メイリオ"/>
                <a:ea typeface="メイリオ"/>
              </a:rPr>
              <a:t>全体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0600" y="3671999"/>
            <a:ext cx="2340000" cy="1620000"/>
          </a:xfrm>
          <a:prstGeom prst="rect">
            <a:avLst/>
          </a:prstGeom>
          <a:solidFill>
            <a:srgbClr val="DAE3F3"/>
          </a:solidFill>
          <a:ln w="127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0600" y="3743999"/>
            <a:ext cx="2340000" cy="147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メイリオ"/>
                <a:ea typeface="メイリオ"/>
              </a:rPr>
              <a:t>対話の質を</a:t>
            </a:r>
          </a:p>
          <a:p>
            <a:pPr algn="ctr"/>
            <a:r>
              <a:rPr sz="1500" b="1">
                <a:solidFill>
                  <a:srgbClr val="1A1A1A"/>
                </a:solidFill>
                <a:latin typeface="メイリオ"/>
                <a:ea typeface="メイリオ"/>
              </a:rPr>
              <a:t>共通理解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000" y="5580000"/>
            <a:ext cx="111132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2000" b="1">
                <a:solidFill>
                  <a:srgbClr val="FF0000"/>
                </a:solidFill>
                <a:latin typeface="メイリオ"/>
                <a:ea typeface="メイリオ"/>
              </a:rPr>
              <a:t>個別 ⇄ 協働</a:t>
            </a:r>
            <a:r>
              <a:rPr sz="1800" b="1">
                <a:solidFill>
                  <a:srgbClr val="1A1A1A"/>
                </a:solidFill>
                <a:latin typeface="メイリオ"/>
                <a:ea typeface="メイリオ"/>
              </a:rPr>
              <a:t> の往還が、児童の </a:t>
            </a:r>
            <a:r>
              <a:rPr sz="2000" b="1">
                <a:solidFill>
                  <a:srgbClr val="FF0000"/>
                </a:solidFill>
                <a:latin typeface="メイリオ"/>
                <a:ea typeface="メイリオ"/>
              </a:rPr>
              <a:t>〝学びをつなげる〟</a:t>
            </a:r>
            <a:r>
              <a:rPr sz="1800" b="1">
                <a:solidFill>
                  <a:srgbClr val="1A1A1A"/>
                </a:solidFill>
                <a:latin typeface="メイリオ"/>
                <a:ea typeface="メイリオ"/>
              </a:rPr>
              <a:t> 土台になる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00" y="6534000"/>
            <a:ext cx="90000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指導講評  研究主題「対話を通して、学びをつなげる児童の育成」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13200" y="6534000"/>
            <a:ext cx="7920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メイリオ"/>
                <a:ea typeface="メイリオ"/>
              </a:rPr>
              <a:t>③-3  根拠資料③  東京都教育委員会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827999"/>
            <a:ext cx="11617200" cy="5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13200" y="216000"/>
            <a:ext cx="4320000" cy="503999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r"/>
            <a:r>
              <a:rPr sz="1100" b="1">
                <a:solidFill>
                  <a:srgbClr val="666666"/>
                </a:solidFill>
                <a:latin typeface="メイリオ"/>
                <a:ea typeface="メイリオ"/>
              </a:rPr>
              <a:t>「東京都教育ビジョン（第5次）」／「言語能力向上推進事業」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52000"/>
            <a:ext cx="6300000" cy="46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152000"/>
            <a:ext cx="6300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メイリオ"/>
                <a:ea typeface="メイリオ"/>
              </a:rPr>
              <a:t>東京都教育ビジョン（第5次）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0000" y="1620000"/>
            <a:ext cx="6300000" cy="4572000"/>
          </a:xfrm>
          <a:prstGeom prst="rect">
            <a:avLst/>
          </a:prstGeom>
          <a:solidFill>
            <a:srgbClr val="DAE3F3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764000"/>
            <a:ext cx="5940000" cy="503999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ea typeface="メイリオ"/>
              </a:rPr>
              <a:t>●  </a:t>
            </a:r>
            <a:r>
              <a:rPr sz="2000" b="1">
                <a:solidFill>
                  <a:srgbClr val="FF0000"/>
                </a:solidFill>
                <a:latin typeface="メイリオ"/>
                <a:ea typeface="メイリオ"/>
              </a:rPr>
              <a:t>主体的に学び、考え、行動する力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232000"/>
            <a:ext cx="594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メイリオ"/>
                <a:ea typeface="メイリオ"/>
              </a:rPr>
              <a:t>      の育成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916000"/>
            <a:ext cx="5940000" cy="503999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ea typeface="メイリオ"/>
              </a:rPr>
              <a:t>●  「</a:t>
            </a:r>
            <a:r>
              <a:rPr sz="2000" b="1">
                <a:solidFill>
                  <a:srgbClr val="FF0000"/>
                </a:solidFill>
                <a:latin typeface="メイリオ"/>
                <a:ea typeface="メイリオ"/>
              </a:rPr>
              <a:t>話す・聞く・読む・書く</a:t>
            </a:r>
            <a:r>
              <a:rPr sz="1800" b="0">
                <a:solidFill>
                  <a:srgbClr val="1A1A1A"/>
                </a:solidFill>
                <a:latin typeface="メイリオ"/>
                <a:ea typeface="メイリオ"/>
              </a:rPr>
              <a:t>」言語能力を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3384000"/>
            <a:ext cx="594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メイリオ"/>
                <a:ea typeface="メイリオ"/>
              </a:rPr>
              <a:t>      全教育活動で計画的に育成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4068000"/>
            <a:ext cx="5940000" cy="503999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002060"/>
                </a:solidFill>
                <a:latin typeface="メイリオ"/>
                <a:ea typeface="メイリオ"/>
              </a:rPr>
              <a:t>●  </a:t>
            </a:r>
            <a:r>
              <a:rPr sz="2000" b="1">
                <a:solidFill>
                  <a:srgbClr val="FF0000"/>
                </a:solidFill>
                <a:latin typeface="メイリオ"/>
                <a:ea typeface="メイリオ"/>
              </a:rPr>
              <a:t>思考力・判断力・表現力等</a:t>
            </a:r>
            <a:r>
              <a:rPr sz="1800" b="0">
                <a:solidFill>
                  <a:srgbClr val="1A1A1A"/>
                </a:solidFill>
                <a:latin typeface="メイリオ"/>
                <a:ea typeface="メイリオ"/>
              </a:rPr>
              <a:t>の基盤として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4536000"/>
            <a:ext cx="594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メイリオ"/>
                <a:ea typeface="メイリオ"/>
              </a:rPr>
              <a:t>      言語能力を位置づける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20000" y="1152000"/>
            <a:ext cx="4633200" cy="468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20000" y="1152000"/>
            <a:ext cx="46332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メイリオ"/>
                <a:ea typeface="メイリオ"/>
              </a:rPr>
              <a:t>▶ 本校研究とのつながり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20000" y="1620000"/>
            <a:ext cx="4633200" cy="4572000"/>
          </a:xfrm>
          <a:prstGeom prst="rect">
            <a:avLst/>
          </a:prstGeom>
          <a:solidFill>
            <a:srgbClr val="FFF2CC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28000" y="1800000"/>
            <a:ext cx="44172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ctr"/>
            <a:r>
              <a:rPr sz="1700" b="0">
                <a:solidFill>
                  <a:srgbClr val="1A1A1A"/>
                </a:solidFill>
                <a:latin typeface="メイリオ"/>
                <a:ea typeface="メイリオ"/>
              </a:rPr>
              <a:t>本校研究仮説の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28000" y="2340000"/>
            <a:ext cx="44172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FF0000"/>
                </a:solidFill>
                <a:latin typeface="メイリオ"/>
                <a:ea typeface="メイリオ"/>
              </a:rPr>
              <a:t>「視点を明確にした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8000" y="2880000"/>
            <a:ext cx="44172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FF0000"/>
                </a:solidFill>
                <a:latin typeface="メイリオ"/>
                <a:ea typeface="メイリオ"/>
              </a:rPr>
              <a:t>対話の継続」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8000" y="3600000"/>
            <a:ext cx="44172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ctr"/>
            <a:r>
              <a:rPr sz="1700" b="0">
                <a:solidFill>
                  <a:srgbClr val="1A1A1A"/>
                </a:solidFill>
                <a:latin typeface="メイリオ"/>
                <a:ea typeface="メイリオ"/>
              </a:rPr>
              <a:t>は、都の言語能力育成の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28000" y="4031999"/>
            <a:ext cx="44172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700" b="0">
                <a:solidFill>
                  <a:srgbClr val="1A1A1A"/>
                </a:solidFill>
                <a:latin typeface="メイリオ"/>
                <a:ea typeface="メイリオ"/>
              </a:rPr>
              <a:t>方向と </a:t>
            </a:r>
            <a:r>
              <a:rPr sz="2000" b="1">
                <a:solidFill>
                  <a:srgbClr val="FF0000"/>
                </a:solidFill>
                <a:latin typeface="メイリオ"/>
                <a:ea typeface="メイリオ"/>
              </a:rPr>
              <a:t>完全に一致</a:t>
            </a:r>
            <a:r>
              <a:rPr sz="1700" b="0">
                <a:solidFill>
                  <a:srgbClr val="1A1A1A"/>
                </a:solidFill>
                <a:latin typeface="メイリオ"/>
                <a:ea typeface="メイリオ"/>
              </a:rPr>
              <a:t>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8000" y="4752000"/>
            <a:ext cx="44172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ctr"/>
            <a:r>
              <a:rPr sz="1700" b="0">
                <a:solidFill>
                  <a:srgbClr val="1A1A1A"/>
                </a:solidFill>
                <a:latin typeface="メイリオ"/>
                <a:ea typeface="メイリオ"/>
              </a:rPr>
              <a:t>校内研究は、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8000" y="5220000"/>
            <a:ext cx="44172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ctr"/>
            <a:r>
              <a:rPr sz="2000" b="1">
                <a:solidFill>
                  <a:srgbClr val="002060"/>
                </a:solidFill>
                <a:latin typeface="メイリオ"/>
                <a:ea typeface="メイリオ"/>
              </a:rPr>
              <a:t>都の施策推進そのもの。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00" y="6534000"/>
            <a:ext cx="90000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指導講評  研究主題「対話を通して、学びをつなげる児童の育成」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13200" y="6534000"/>
            <a:ext cx="7920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メイリオ"/>
                <a:ea typeface="メイリオ"/>
              </a:rPr>
              <a:t>④  先生方への投げかけ（2分）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827999"/>
            <a:ext cx="11617200" cy="5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152000"/>
            <a:ext cx="11113200" cy="792000"/>
          </a:xfrm>
          <a:prstGeom prst="rect">
            <a:avLst/>
          </a:prstGeom>
          <a:solidFill>
            <a:srgbClr val="DAE3F3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224000"/>
            <a:ext cx="10753200" cy="64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メイリオ"/>
                <a:ea typeface="メイリオ"/>
              </a:rPr>
              <a:t>📊  児童の意識調査より：「</a:t>
            </a:r>
            <a:r>
              <a:rPr sz="2200" b="1">
                <a:solidFill>
                  <a:srgbClr val="FF0000"/>
                </a:solidFill>
                <a:latin typeface="メイリオ"/>
                <a:ea typeface="メイリオ"/>
              </a:rPr>
              <a:t>質問を考えながら聞く</a:t>
            </a:r>
            <a:r>
              <a:rPr sz="2000" b="1">
                <a:solidFill>
                  <a:srgbClr val="1A1A1A"/>
                </a:solidFill>
                <a:latin typeface="メイリオ"/>
                <a:ea typeface="メイリオ"/>
              </a:rPr>
              <a:t>」と答えた児童は ▶ </a:t>
            </a:r>
            <a:r>
              <a:rPr sz="3000" b="1">
                <a:solidFill>
                  <a:srgbClr val="FF0000"/>
                </a:solidFill>
                <a:latin typeface="メイリオ"/>
                <a:ea typeface="メイリオ"/>
              </a:rPr>
              <a:t>33％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2124000"/>
            <a:ext cx="4680000" cy="43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2124000"/>
            <a:ext cx="4680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メイリオ"/>
                <a:ea typeface="メイリオ"/>
              </a:rPr>
              <a:t>Q．  隣の先生と1分間  考えてみてください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" y="2664000"/>
            <a:ext cx="11113200" cy="1368000"/>
          </a:xfrm>
          <a:prstGeom prst="rect">
            <a:avLst/>
          </a:prstGeom>
          <a:solidFill>
            <a:srgbClr val="FFF2CC"/>
          </a:solidFill>
          <a:ln w="254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0000" y="2664000"/>
            <a:ext cx="540000" cy="1368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2664000"/>
            <a:ext cx="540000" cy="136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メイリオ"/>
                <a:ea typeface="メイリオ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0000" y="2844000"/>
            <a:ext cx="102852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メイリオ"/>
                <a:ea typeface="メイリオ"/>
              </a:rPr>
              <a:t>自分の学年・教科で、</a:t>
            </a:r>
            <a:r>
              <a:rPr sz="2100" b="1">
                <a:solidFill>
                  <a:srgbClr val="FF0000"/>
                </a:solidFill>
                <a:latin typeface="メイリオ"/>
                <a:ea typeface="メイリオ"/>
              </a:rPr>
              <a:t>「質問の種類」</a:t>
            </a:r>
            <a:r>
              <a:rPr sz="2000" b="1">
                <a:solidFill>
                  <a:srgbClr val="1A1A1A"/>
                </a:solidFill>
                <a:latin typeface="メイリオ"/>
                <a:ea typeface="メイリオ"/>
              </a:rPr>
              <a:t> のような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0000" y="3384000"/>
            <a:ext cx="102852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2200" b="1">
                <a:solidFill>
                  <a:srgbClr val="FF0000"/>
                </a:solidFill>
                <a:latin typeface="メイリオ"/>
                <a:ea typeface="メイリオ"/>
              </a:rPr>
              <a:t>〝対話の足場〟</a:t>
            </a:r>
            <a:r>
              <a:rPr sz="2000" b="1">
                <a:solidFill>
                  <a:srgbClr val="1A1A1A"/>
                </a:solidFill>
                <a:latin typeface="メイリオ"/>
                <a:ea typeface="メイリオ"/>
              </a:rPr>
              <a:t> を作るとしたら、何ができますか？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0000" y="4140000"/>
            <a:ext cx="11113200" cy="1368000"/>
          </a:xfrm>
          <a:prstGeom prst="rect">
            <a:avLst/>
          </a:prstGeom>
          <a:solidFill>
            <a:srgbClr val="FFF2CC"/>
          </a:solidFill>
          <a:ln w="254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0000" y="4140000"/>
            <a:ext cx="540000" cy="1368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4140000"/>
            <a:ext cx="540000" cy="136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メイリオ"/>
                <a:ea typeface="メイリオ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0000" y="4320000"/>
            <a:ext cx="102852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メイリオ"/>
                <a:ea typeface="メイリオ"/>
              </a:rPr>
              <a:t>児童が </a:t>
            </a:r>
            <a:r>
              <a:rPr sz="2100" b="1">
                <a:solidFill>
                  <a:srgbClr val="FF0000"/>
                </a:solidFill>
                <a:latin typeface="メイリオ"/>
                <a:ea typeface="メイリオ"/>
              </a:rPr>
              <a:t>〝伝えてよかった・聞けてよかった〟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0000" y="4860000"/>
            <a:ext cx="102852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メイリオ"/>
                <a:ea typeface="メイリオ"/>
              </a:rPr>
              <a:t>と実感する場面を、</a:t>
            </a:r>
            <a:r>
              <a:rPr sz="2200" b="1">
                <a:solidFill>
                  <a:srgbClr val="FF0000"/>
                </a:solidFill>
                <a:latin typeface="メイリオ"/>
                <a:ea typeface="メイリオ"/>
              </a:rPr>
              <a:t>どう仕掛けますか？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000" y="5832000"/>
            <a:ext cx="6433200" cy="5760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000" y="5832000"/>
            <a:ext cx="6433200" cy="57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⏱  1分間ペアトーク → 30秒で2～3名から共有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00" y="6534000"/>
            <a:ext cx="90000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指導講評  研究主題「対話を通して、学びをつなげる児童の育成」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3200" y="6534000"/>
            <a:ext cx="7920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8280000" cy="64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メイリオ"/>
                <a:ea typeface="メイリオ"/>
              </a:rPr>
              <a:t>⑤  今後への提案  ／  ⑥  まとめ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00" y="827999"/>
            <a:ext cx="11617200" cy="5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2600" y="1188000"/>
            <a:ext cx="3600000" cy="234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2600" y="1188000"/>
            <a:ext cx="3600000" cy="54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0600" y="1242000"/>
            <a:ext cx="432000" cy="43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600" y="1242000"/>
            <a:ext cx="4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4600" y="1188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メイリオ"/>
                <a:ea typeface="メイリオ"/>
              </a:rPr>
              <a:t>話題の吟味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2600" y="1872000"/>
            <a:ext cx="3240000" cy="154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>
                <a:solidFill>
                  <a:srgbClr val="1A1A1A"/>
                </a:solidFill>
                <a:latin typeface="メイリオ"/>
                <a:ea typeface="メイリオ"/>
              </a:rPr>
              <a:t>児童が </a:t>
            </a:r>
            <a:r>
              <a:rPr sz="1600" b="1">
                <a:solidFill>
                  <a:srgbClr val="FF0000"/>
                </a:solidFill>
                <a:latin typeface="メイリオ"/>
                <a:ea typeface="メイリオ"/>
              </a:rPr>
              <a:t>〝聞きたくなる〟</a:t>
            </a:r>
          </a:p>
          <a:p>
            <a:pPr algn="ctr">
              <a:lnSpc>
                <a:spcPct val="140000"/>
              </a:lnSpc>
            </a:pPr>
            <a:r>
              <a:rPr sz="1400" b="0">
                <a:solidFill>
                  <a:srgbClr val="1A1A1A"/>
                </a:solidFill>
                <a:latin typeface="メイリオ"/>
                <a:ea typeface="メイリオ"/>
              </a:rPr>
              <a:t>話題を、</a:t>
            </a:r>
          </a:p>
          <a:p>
            <a:pPr algn="ctr">
              <a:lnSpc>
                <a:spcPct val="140000"/>
              </a:lnSpc>
            </a:pPr>
            <a:r>
              <a:rPr sz="1400" b="0">
                <a:solidFill>
                  <a:srgbClr val="1A1A1A"/>
                </a:solidFill>
                <a:latin typeface="メイリオ"/>
                <a:ea typeface="メイリオ"/>
              </a:rPr>
              <a:t>教師自身が体現する。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6600" y="1188000"/>
            <a:ext cx="3600000" cy="234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6600" y="1188000"/>
            <a:ext cx="3600000" cy="54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04600" y="1242000"/>
            <a:ext cx="432000" cy="43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4600" y="1242000"/>
            <a:ext cx="4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8600" y="1188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メイリオ"/>
                <a:ea typeface="メイリオ"/>
              </a:rPr>
              <a:t>視点の共通言語化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6600" y="1872000"/>
            <a:ext cx="3240000" cy="154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1">
                <a:solidFill>
                  <a:srgbClr val="FF0000"/>
                </a:solidFill>
                <a:latin typeface="メイリオ"/>
                <a:ea typeface="メイリオ"/>
              </a:rPr>
              <a:t>「確かめ・2ndQ・感想」</a:t>
            </a:r>
          </a:p>
          <a:p>
            <a:pPr algn="ctr">
              <a:lnSpc>
                <a:spcPct val="140000"/>
              </a:lnSpc>
            </a:pPr>
            <a:r>
              <a:rPr sz="1400" b="0">
                <a:solidFill>
                  <a:srgbClr val="1A1A1A"/>
                </a:solidFill>
                <a:latin typeface="メイリオ"/>
                <a:ea typeface="メイリオ"/>
              </a:rPr>
              <a:t>を学校全体の</a:t>
            </a:r>
          </a:p>
          <a:p>
            <a:pPr algn="ctr">
              <a:lnSpc>
                <a:spcPct val="140000"/>
              </a:lnSpc>
            </a:pPr>
            <a:r>
              <a:rPr sz="1400" b="0">
                <a:solidFill>
                  <a:srgbClr val="1A1A1A"/>
                </a:solidFill>
                <a:latin typeface="メイリオ"/>
                <a:ea typeface="メイリオ"/>
              </a:rPr>
              <a:t>共通言語に。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0600" y="1188000"/>
            <a:ext cx="3600000" cy="2340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0600" y="1188000"/>
            <a:ext cx="3600000" cy="54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48600" y="1242000"/>
            <a:ext cx="432000" cy="432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48600" y="1242000"/>
            <a:ext cx="4320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52600" y="1188000"/>
            <a:ext cx="2880000" cy="540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メイリオ"/>
                <a:ea typeface="メイリオ"/>
              </a:rPr>
              <a:t>安心の環境づくり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600" y="1872000"/>
            <a:ext cx="3240000" cy="154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1">
                <a:solidFill>
                  <a:srgbClr val="FF0000"/>
                </a:solidFill>
                <a:latin typeface="メイリオ"/>
                <a:ea typeface="メイリオ"/>
              </a:rPr>
              <a:t>話型・モデル提示</a:t>
            </a:r>
            <a:r>
              <a:rPr sz="1400" b="0">
                <a:solidFill>
                  <a:srgbClr val="1A1A1A"/>
                </a:solidFill>
                <a:latin typeface="メイリオ"/>
                <a:ea typeface="メイリオ"/>
              </a:rPr>
              <a:t>の継続で、</a:t>
            </a:r>
          </a:p>
          <a:p>
            <a:pPr algn="ctr">
              <a:lnSpc>
                <a:spcPct val="140000"/>
              </a:lnSpc>
            </a:pPr>
            <a:r>
              <a:rPr sz="1600" b="1">
                <a:solidFill>
                  <a:srgbClr val="FF0000"/>
                </a:solidFill>
                <a:latin typeface="メイリオ"/>
                <a:ea typeface="メイリオ"/>
              </a:rPr>
              <a:t>〝自信がない児童〟</a:t>
            </a:r>
            <a:r>
              <a:rPr sz="1400" b="0">
                <a:solidFill>
                  <a:srgbClr val="1A1A1A"/>
                </a:solidFill>
                <a:latin typeface="メイリオ"/>
                <a:ea typeface="メイリオ"/>
              </a:rPr>
              <a:t>にも</a:t>
            </a:r>
          </a:p>
          <a:p>
            <a:pPr algn="ctr">
              <a:lnSpc>
                <a:spcPct val="140000"/>
              </a:lnSpc>
            </a:pPr>
            <a:r>
              <a:rPr sz="1400" b="0">
                <a:solidFill>
                  <a:srgbClr val="1A1A1A"/>
                </a:solidFill>
                <a:latin typeface="メイリオ"/>
                <a:ea typeface="メイリオ"/>
              </a:rPr>
              <a:t>届ける。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0000" y="3780000"/>
            <a:ext cx="2880000" cy="46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0000" y="3780000"/>
            <a:ext cx="2880000" cy="468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メイリオ"/>
                <a:ea typeface="メイリオ"/>
              </a:rPr>
              <a:t>⑥  本日のまとめ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" y="4248000"/>
            <a:ext cx="11113200" cy="1980000"/>
          </a:xfrm>
          <a:prstGeom prst="rect">
            <a:avLst/>
          </a:prstGeom>
          <a:solidFill>
            <a:srgbClr val="FFF2CC"/>
          </a:solidFill>
          <a:ln w="2540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0000" y="4392000"/>
            <a:ext cx="107532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900" b="1">
                <a:solidFill>
                  <a:srgbClr val="002060"/>
                </a:solidFill>
                <a:latin typeface="メイリオ"/>
                <a:ea typeface="メイリオ"/>
              </a:rPr>
              <a:t>「対話を通して、学びをつなげる児童」</a:t>
            </a:r>
            <a:r>
              <a:rPr sz="1800" b="1">
                <a:solidFill>
                  <a:srgbClr val="1A1A1A"/>
                </a:solidFill>
                <a:latin typeface="メイリオ"/>
                <a:ea typeface="メイリオ"/>
              </a:rPr>
              <a:t> は、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000" y="4860000"/>
            <a:ext cx="10753200" cy="432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700" b="1">
                <a:solidFill>
                  <a:srgbClr val="1A1A1A"/>
                </a:solidFill>
                <a:latin typeface="メイリオ"/>
                <a:ea typeface="メイリオ"/>
              </a:rPr>
              <a:t>まず </a:t>
            </a:r>
            <a:r>
              <a:rPr sz="1900" b="1">
                <a:solidFill>
                  <a:srgbClr val="FF0000"/>
                </a:solidFill>
                <a:latin typeface="メイリオ"/>
                <a:ea typeface="メイリオ"/>
              </a:rPr>
              <a:t>教師自身が〝対話で学びをつなげる姿〟</a:t>
            </a:r>
            <a:r>
              <a:rPr sz="1700" b="1">
                <a:solidFill>
                  <a:srgbClr val="1A1A1A"/>
                </a:solidFill>
                <a:latin typeface="メイリオ"/>
                <a:ea typeface="メイリオ"/>
              </a:rPr>
              <a:t> から始まる。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5472000"/>
            <a:ext cx="10753200" cy="39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メイリオ"/>
                <a:ea typeface="メイリオ"/>
              </a:rPr>
              <a:t>今日皆さんが隣の先生と交わした言葉が、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000" y="5867999"/>
            <a:ext cx="10753200" cy="39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メイリオ"/>
                <a:ea typeface="メイリオ"/>
              </a:rPr>
              <a:t>明日の授業で </a:t>
            </a:r>
            <a:r>
              <a:rPr sz="1800" b="1">
                <a:solidFill>
                  <a:srgbClr val="FF0000"/>
                </a:solidFill>
                <a:latin typeface="メイリオ"/>
                <a:ea typeface="メイリオ"/>
              </a:rPr>
              <a:t>子どもたちに返っていきます</a:t>
            </a:r>
            <a:r>
              <a:rPr sz="1600" b="1">
                <a:solidFill>
                  <a:srgbClr val="1A1A1A"/>
                </a:solidFill>
                <a:latin typeface="メイリオ"/>
                <a:ea typeface="メイリオ"/>
              </a:rPr>
              <a:t>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00" y="6534000"/>
            <a:ext cx="90000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指導講評  研究主題「対話を通して、学びをつなげる児童の育成」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13200" y="6534000"/>
            <a:ext cx="792000" cy="216000"/>
          </a:xfrm>
          <a:prstGeom prst="rect">
            <a:avLst/>
          </a:prstGeom>
          <a:noFill/>
          <a:ln>
            <a:noFill/>
          </a:ln>
        </p:spPr>
        <p:txBody>
          <a:bodyPr wrap="square" lIns="54000" rIns="54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メイリオ"/>
                <a:ea typeface="メイリオ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