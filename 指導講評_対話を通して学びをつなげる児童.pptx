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43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26000"/>
            <a:ext cx="12193200" cy="43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827999"/>
            <a:ext cx="1147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2400" b="1">
                <a:solidFill>
                  <a:srgbClr val="1A1A1A"/>
                </a:solidFill>
                <a:latin typeface="メイリオ"/>
                <a:ea typeface="メイリオ"/>
              </a:rPr>
              <a:t>練馬区立開進第四小学校  校内研究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368000"/>
            <a:ext cx="11473200" cy="3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令和８年５月２５日（月）  第３学年  国語科  研究授業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160000"/>
            <a:ext cx="10753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2340000"/>
            <a:ext cx="114732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3200" b="1">
                <a:solidFill>
                  <a:srgbClr val="002060"/>
                </a:solidFill>
                <a:latin typeface="メイリオ"/>
                <a:ea typeface="メイリオ"/>
              </a:rPr>
              <a:t>指 導 講 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3240000"/>
            <a:ext cx="11473200" cy="14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6000" b="1">
                <a:solidFill>
                  <a:srgbClr val="1A1A1A"/>
                </a:solidFill>
                <a:latin typeface="メイリオ"/>
                <a:ea typeface="メイリオ"/>
              </a:rPr>
              <a:t>対話を通して、</a:t>
            </a:r>
          </a:p>
          <a:p>
            <a:pPr algn="ctr"/>
            <a:r>
              <a:rPr sz="6000" b="1">
                <a:solidFill>
                  <a:srgbClr val="1A1A1A"/>
                </a:solidFill>
                <a:latin typeface="メイリオ"/>
                <a:ea typeface="メイリオ"/>
              </a:rPr>
              <a:t>学びをつなげる児童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" y="5508000"/>
            <a:ext cx="10753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5688000"/>
            <a:ext cx="114732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中学年分科会  第３学年 国語科  授業者：菅原 愛里 教諭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900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メイリオ"/>
                <a:ea typeface="メイリオ"/>
              </a:rPr>
              <a:t>本日の流れ（10分間）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900000"/>
            <a:ext cx="11617200" cy="648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0000" y="1440000"/>
            <a:ext cx="503999" cy="50399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440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000" y="1368000"/>
            <a:ext cx="19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0:00 – 1:00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0000" y="1368000"/>
            <a:ext cx="612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アイスブレイク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3200" y="1368000"/>
            <a:ext cx="162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1分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000" y="2070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0000" y="2160000"/>
            <a:ext cx="503999" cy="50399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0" y="2160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000" y="2088000"/>
            <a:ext cx="19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1:00 – 3:00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0000" y="2088000"/>
            <a:ext cx="612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本時の授業の価値づけ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33200" y="2088000"/>
            <a:ext cx="162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2分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000" y="2790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0000" y="2880000"/>
            <a:ext cx="503999" cy="50399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0000" y="2880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000" y="2808000"/>
            <a:ext cx="19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3:00 – 5:00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0000" y="2808000"/>
            <a:ext cx="612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研究主題との関連と根拠資料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33200" y="2808000"/>
            <a:ext cx="162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2分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000" y="3510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0000" y="3600000"/>
            <a:ext cx="503999" cy="50399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0000" y="3600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000" y="3528000"/>
            <a:ext cx="19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5:00 – 7:00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0000" y="3528000"/>
            <a:ext cx="612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【投げかけ】先生方とのペア交流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3200" y="3528000"/>
            <a:ext cx="162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2分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88000" y="4230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0000" y="4320000"/>
            <a:ext cx="503999" cy="50399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0000" y="4320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000" y="4248000"/>
            <a:ext cx="19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7:00 – 9:30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0000" y="4248000"/>
            <a:ext cx="612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共有と今後への提案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33200" y="4248000"/>
            <a:ext cx="162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2分30秒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88000" y="4950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0000" y="5040000"/>
            <a:ext cx="503999" cy="50399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0000" y="5040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000" y="4968000"/>
            <a:ext cx="19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9:30 – 10:00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0000" y="4968000"/>
            <a:ext cx="612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33200" y="4968000"/>
            <a:ext cx="162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30秒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900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メイリオ"/>
                <a:ea typeface="メイリオ"/>
              </a:rPr>
              <a:t>①  アイスブレイク（1分）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900000"/>
            <a:ext cx="11617200" cy="648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0000" y="1440000"/>
            <a:ext cx="11113200" cy="252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000" y="1548000"/>
            <a:ext cx="10393200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2600" b="1">
                <a:solidFill>
                  <a:srgbClr val="002060"/>
                </a:solidFill>
                <a:latin typeface="メイリオ"/>
                <a:ea typeface="メイリオ"/>
              </a:rPr>
              <a:t>Q．  隣の先生と…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2160000"/>
            <a:ext cx="10393200" cy="18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1">
                <a:solidFill>
                  <a:srgbClr val="1A1A1A"/>
                </a:solidFill>
                <a:latin typeface="メイリオ"/>
                <a:ea typeface="メイリオ"/>
              </a:rPr>
              <a:t>「今日の授業で、思わず</a:t>
            </a:r>
            <a:r>
              <a:rPr sz="3800" b="1">
                <a:solidFill>
                  <a:srgbClr val="FF0000"/>
                </a:solidFill>
                <a:latin typeface="メイリオ"/>
                <a:ea typeface="メイリオ"/>
              </a:rPr>
              <a:t>〝おっ〟</a:t>
            </a:r>
            <a:r>
              <a:rPr sz="3000" b="1">
                <a:solidFill>
                  <a:srgbClr val="1A1A1A"/>
                </a:solidFill>
                <a:latin typeface="メイリオ"/>
                <a:ea typeface="メイリオ"/>
              </a:rPr>
              <a:t>と心が動いた瞬間」を、</a:t>
            </a:r>
          </a:p>
          <a:p>
            <a:pPr algn="l">
              <a:lnSpc>
                <a:spcPct val="140000"/>
              </a:lnSpc>
            </a:pPr>
            <a:r>
              <a:rPr sz="3800" b="1">
                <a:solidFill>
                  <a:srgbClr val="FF0000"/>
                </a:solidFill>
                <a:latin typeface="メイリオ"/>
                <a:ea typeface="メイリオ"/>
              </a:rPr>
              <a:t>ジェスチャー一つ</a:t>
            </a:r>
            <a:r>
              <a:rPr sz="3000" b="1">
                <a:solidFill>
                  <a:srgbClr val="1A1A1A"/>
                </a:solidFill>
                <a:latin typeface="メイリオ"/>
                <a:ea typeface="メイリオ"/>
              </a:rPr>
              <a:t>で表してみてください。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960000" y="4500000"/>
            <a:ext cx="4273200" cy="72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0000" y="4500000"/>
            <a:ext cx="42732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  <a:ea typeface="メイリオ"/>
              </a:rPr>
              <a:t>⏱   30 秒  ペアトーク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5580000"/>
            <a:ext cx="111132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▶ 今、皆さん自身が〝対話〟を始めました。これが今日のテーマです。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900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メイリオ"/>
                <a:ea typeface="メイリオ"/>
              </a:rPr>
              <a:t>②  本時の授業の価値づけ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900000"/>
            <a:ext cx="11617200" cy="648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152000"/>
            <a:ext cx="11113200" cy="503999"/>
          </a:xfrm>
          <a:prstGeom prst="rect">
            <a:avLst/>
          </a:prstGeom>
          <a:solidFill>
            <a:srgbClr val="DA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11113200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第３学年 国語科  単元「もっと知りたい、友だちのこと」  （全６時間中の第３時）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52600" y="1980000"/>
            <a:ext cx="3600000" cy="360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2600" y="1980000"/>
            <a:ext cx="3600000" cy="64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600" y="1980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  <a:ea typeface="メイリオ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600" y="1980000"/>
            <a:ext cx="288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メイリオ"/>
                <a:ea typeface="メイリオ"/>
              </a:rPr>
              <a:t>教師自身が〝話し手〟に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600" y="2772000"/>
            <a:ext cx="3240000" cy="27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「いつ・どこで・だれが」</a:t>
            </a: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と質問の種類を整理。</a:t>
            </a:r>
          </a:p>
          <a:p>
            <a:pPr algn="l">
              <a:lnSpc>
                <a:spcPct val="140000"/>
              </a:lnSpc>
            </a:pP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児童が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〝自分が引き出した〟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手応えを実感。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6600" y="1980000"/>
            <a:ext cx="3600000" cy="360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6600" y="1980000"/>
            <a:ext cx="3600000" cy="64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4600" y="1980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  <a:ea typeface="メイリオ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4600" y="1980000"/>
            <a:ext cx="288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メイリオ"/>
                <a:ea typeface="メイリオ"/>
              </a:rPr>
              <a:t>動画教材で対話を客観視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600" y="2772000"/>
            <a:ext cx="3240000" cy="27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「よりよいやりとり」を、</a:t>
            </a:r>
          </a:p>
          <a:p>
            <a:pPr algn="l">
              <a:lnSpc>
                <a:spcPct val="140000"/>
              </a:lnSpc>
            </a:pP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抽象論ではなく</a:t>
            </a: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、</a:t>
            </a:r>
          </a:p>
          <a:p>
            <a:pPr algn="l">
              <a:lnSpc>
                <a:spcPct val="140000"/>
              </a:lnSpc>
            </a:pP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具体的な場面の観察</a:t>
            </a: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から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考えさせた。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0600" y="1980000"/>
            <a:ext cx="3600000" cy="360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0600" y="1980000"/>
            <a:ext cx="3600000" cy="64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8600" y="1980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  <a:ea typeface="メイリオ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8600" y="1980000"/>
            <a:ext cx="288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メイリオ"/>
                <a:ea typeface="メイリオ"/>
              </a:rPr>
              <a:t>対話の質を3観点で可視化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600" y="2772000"/>
            <a:ext cx="3240000" cy="27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「確かめ／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セカンドクエスチョン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／感想」</a:t>
            </a: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をクラス共通の</a:t>
            </a:r>
          </a:p>
          <a:p>
            <a:pPr algn="l">
              <a:lnSpc>
                <a:spcPct val="140000"/>
              </a:lnSpc>
            </a:pP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〝対話の型〟</a:t>
            </a: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として整理。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900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メイリオ"/>
                <a:ea typeface="メイリオ"/>
              </a:rPr>
              <a:t>授業の様子  ①   導入～質問の種類を整理する場面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900000"/>
            <a:ext cx="11617200" cy="648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260000"/>
            <a:ext cx="7200000" cy="4500000"/>
          </a:xfrm>
          <a:prstGeom prst="rect">
            <a:avLst/>
          </a:prstGeom>
          <a:solidFill>
            <a:srgbClr val="EEEEEE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260000"/>
            <a:ext cx="720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0">
                <a:solidFill>
                  <a:srgbClr val="666666"/>
                </a:solidFill>
                <a:latin typeface="メイリオ"/>
                <a:ea typeface="メイリオ"/>
              </a:rPr>
              <a:t>📷</a:t>
            </a:r>
          </a:p>
          <a:p>
            <a:pPr algn="ctr"/>
            <a:r>
              <a:rPr sz="2200" b="0">
                <a:solidFill>
                  <a:srgbClr val="666666"/>
                </a:solidFill>
                <a:latin typeface="メイリオ"/>
                <a:ea typeface="メイリオ"/>
              </a:rPr>
              <a:t/>
            </a:r>
          </a:p>
          <a:p>
            <a:pPr algn="ctr"/>
            <a:r>
              <a:rPr sz="2200" b="0">
                <a:solidFill>
                  <a:srgbClr val="666666"/>
                </a:solidFill>
                <a:latin typeface="メイリオ"/>
                <a:ea typeface="メイリオ"/>
              </a:rPr>
              <a:t>【ここに授業写真を貼り付け】</a:t>
            </a:r>
          </a:p>
          <a:p>
            <a:pPr algn="ctr"/>
            <a:r>
              <a:rPr sz="2200" b="0">
                <a:solidFill>
                  <a:srgbClr val="666666"/>
                </a:solidFill>
                <a:latin typeface="メイリオ"/>
                <a:ea typeface="メイリオ"/>
              </a:rPr>
              <a:t/>
            </a:r>
          </a:p>
          <a:p>
            <a:pPr algn="ctr"/>
            <a:r>
              <a:rPr sz="2200" b="0">
                <a:solidFill>
                  <a:srgbClr val="666666"/>
                </a:solidFill>
                <a:latin typeface="メイリオ"/>
                <a:ea typeface="メイリオ"/>
              </a:rPr>
              <a:t>教師の話を聞き、ワークシートに</a:t>
            </a:r>
          </a:p>
          <a:p>
            <a:pPr algn="ctr"/>
            <a:r>
              <a:rPr sz="2200" b="0">
                <a:solidFill>
                  <a:srgbClr val="666666"/>
                </a:solidFill>
                <a:latin typeface="メイリオ"/>
                <a:ea typeface="メイリオ"/>
              </a:rPr>
              <a:t>質問を記入している場面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0" y="1260000"/>
            <a:ext cx="3733200" cy="28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28000" y="1260000"/>
            <a:ext cx="3517200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▼ 注目ポイント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0" y="1548000"/>
            <a:ext cx="3733200" cy="1800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8000" y="1620000"/>
            <a:ext cx="3517200" cy="172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0000"/>
                </a:solidFill>
                <a:latin typeface="メイリオ"/>
                <a:ea typeface="メイリオ"/>
              </a:rPr>
              <a:t>「いつ・どこで・だれが」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の板書整理が、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児童の質問を</a:t>
            </a:r>
          </a:p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0000"/>
                </a:solidFill>
                <a:latin typeface="メイリオ"/>
                <a:ea typeface="メイリオ"/>
              </a:rPr>
              <a:t>〝見える化〟</a:t>
            </a: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している。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0" y="3600000"/>
            <a:ext cx="3733200" cy="28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000" y="3600000"/>
            <a:ext cx="3517200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▼ 児童の姿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0" y="3888000"/>
            <a:ext cx="3733200" cy="1872000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8000" y="3960000"/>
            <a:ext cx="3517200" cy="18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自分が考えた質問を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ペアで</a:t>
            </a:r>
            <a:r>
              <a:rPr sz="1500" b="1">
                <a:solidFill>
                  <a:srgbClr val="FF0000"/>
                </a:solidFill>
                <a:latin typeface="メイリオ"/>
                <a:ea typeface="メイリオ"/>
              </a:rPr>
              <a:t>安心して</a:t>
            </a: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交流。</a:t>
            </a:r>
          </a:p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0000"/>
                </a:solidFill>
                <a:latin typeface="メイリオ"/>
                <a:ea typeface="メイリオ"/>
              </a:rPr>
              <a:t>書く時間の確保</a:t>
            </a: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が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発言の自信に。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900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メイリオ"/>
                <a:ea typeface="メイリオ"/>
              </a:rPr>
              <a:t>授業の様子  ②   動画視聴～全体共有の場面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900000"/>
            <a:ext cx="11617200" cy="648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260000"/>
            <a:ext cx="6120000" cy="2160000"/>
          </a:xfrm>
          <a:prstGeom prst="rect">
            <a:avLst/>
          </a:prstGeom>
          <a:solidFill>
            <a:srgbClr val="EEEEEE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260000"/>
            <a:ext cx="6120000" cy="21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📷  【写真①】 動画教材を視聴し、良い対話を分析する場面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3671999"/>
            <a:ext cx="6120000" cy="2160000"/>
          </a:xfrm>
          <a:prstGeom prst="rect">
            <a:avLst/>
          </a:prstGeom>
          <a:solidFill>
            <a:srgbClr val="EEEEEE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3671999"/>
            <a:ext cx="6120000" cy="21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📷  【写真②】 全体で意見を共有し、対話の質を整理する場面</a:t>
            </a:r>
          </a:p>
        </p:txBody>
      </p:sp>
      <p:sp>
        <p:nvSpPr>
          <p:cNvPr id="8" name="Rectangle 7"/>
          <p:cNvSpPr/>
          <p:nvPr/>
        </p:nvSpPr>
        <p:spPr>
          <a:xfrm>
            <a:off x="6840000" y="1260000"/>
            <a:ext cx="48132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0" y="1260000"/>
            <a:ext cx="4813200" cy="57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対話を深める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3つの観点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40000" y="1908000"/>
            <a:ext cx="4813200" cy="1152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12000" y="1908000"/>
            <a:ext cx="432000" cy="115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43999" y="1980000"/>
            <a:ext cx="4237200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1">
                <a:solidFill>
                  <a:srgbClr val="002060"/>
                </a:solidFill>
                <a:latin typeface="メイリオ"/>
                <a:ea typeface="メイリオ"/>
              </a:rPr>
              <a:t>確かめる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43999" y="2484000"/>
            <a:ext cx="4237200" cy="57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メイリオ"/>
                <a:ea typeface="メイリオ"/>
              </a:rPr>
              <a:t>相手の話を聞き返し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メイリオ"/>
                <a:ea typeface="メイリオ"/>
              </a:rPr>
              <a:t>理解を確認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40000" y="3114000"/>
            <a:ext cx="4813200" cy="1152000"/>
          </a:xfrm>
          <a:prstGeom prst="rect">
            <a:avLst/>
          </a:prstGeom>
          <a:solidFill>
            <a:srgbClr val="FCE4E4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12000" y="3114000"/>
            <a:ext cx="432000" cy="115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3999" y="3186000"/>
            <a:ext cx="4237200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1">
                <a:solidFill>
                  <a:srgbClr val="002060"/>
                </a:solidFill>
                <a:latin typeface="メイリオ"/>
                <a:ea typeface="メイリオ"/>
              </a:rPr>
              <a:t>セカンド</a:t>
            </a:r>
          </a:p>
          <a:p>
            <a:pPr algn="l"/>
            <a:r>
              <a:rPr sz="1400" b="1">
                <a:solidFill>
                  <a:srgbClr val="002060"/>
                </a:solidFill>
                <a:latin typeface="メイリオ"/>
                <a:ea typeface="メイリオ"/>
              </a:rPr>
              <a:t>クエスチョン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3999" y="3690000"/>
            <a:ext cx="4237200" cy="57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メイリオ"/>
                <a:ea typeface="メイリオ"/>
              </a:rPr>
              <a:t>答えからさらに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メイリオ"/>
                <a:ea typeface="メイリオ"/>
              </a:rPr>
              <a:t>質問をつなげる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40000" y="4320000"/>
            <a:ext cx="4813200" cy="1152000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2000" y="4320000"/>
            <a:ext cx="432000" cy="115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3999" y="4392000"/>
            <a:ext cx="4237200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1">
                <a:solidFill>
                  <a:srgbClr val="002060"/>
                </a:solidFill>
                <a:latin typeface="メイリオ"/>
                <a:ea typeface="メイリオ"/>
              </a:rPr>
              <a:t>感想を伝える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3999" y="4896000"/>
            <a:ext cx="4237200" cy="57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メイリオ"/>
                <a:ea typeface="メイリオ"/>
              </a:rPr>
              <a:t>受け取った思いを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メイリオ"/>
                <a:ea typeface="メイリオ"/>
              </a:rPr>
              <a:t>言葉にして返す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900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メイリオ"/>
                <a:ea typeface="メイリオ"/>
              </a:rPr>
              <a:t>③  研究主題との関連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900000"/>
            <a:ext cx="11617200" cy="648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800000" cy="43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224000"/>
            <a:ext cx="180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研究主題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2340000" y="1224000"/>
            <a:ext cx="9313200" cy="432000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40000" y="1224000"/>
            <a:ext cx="93132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対話を通して、学びをつなげる児童の育成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872000"/>
            <a:ext cx="1800000" cy="90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1872000"/>
            <a:ext cx="18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研究仮説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40000" y="1872000"/>
            <a:ext cx="931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8000" y="1944000"/>
            <a:ext cx="9097200" cy="75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1A1A1A"/>
                </a:solidFill>
                <a:latin typeface="メイリオ"/>
                <a:ea typeface="メイリオ"/>
              </a:rPr>
              <a:t>手だてや話題を工夫し、</a:t>
            </a:r>
            <a:r>
              <a:rPr sz="1800" b="1">
                <a:solidFill>
                  <a:srgbClr val="FF0000"/>
                </a:solidFill>
                <a:latin typeface="メイリオ"/>
                <a:ea typeface="メイリオ"/>
              </a:rPr>
              <a:t>視点を明確にした対話を継続的に実践</a:t>
            </a:r>
            <a:r>
              <a:rPr sz="1700" b="0">
                <a:solidFill>
                  <a:srgbClr val="1A1A1A"/>
                </a:solidFill>
                <a:latin typeface="メイリオ"/>
                <a:ea typeface="メイリオ"/>
              </a:rPr>
              <a:t>する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1A1A1A"/>
                </a:solidFill>
                <a:latin typeface="メイリオ"/>
                <a:ea typeface="メイリオ"/>
              </a:rPr>
              <a:t>ことで、児童の</a:t>
            </a:r>
            <a:r>
              <a:rPr sz="1800" b="1">
                <a:solidFill>
                  <a:srgbClr val="FF0000"/>
                </a:solidFill>
                <a:latin typeface="メイリオ"/>
                <a:ea typeface="メイリオ"/>
              </a:rPr>
              <a:t>対話に広がりや深まりが見られる</a:t>
            </a:r>
            <a:r>
              <a:rPr sz="1700" b="0">
                <a:solidFill>
                  <a:srgbClr val="1A1A1A"/>
                </a:solidFill>
                <a:latin typeface="メイリオ"/>
                <a:ea typeface="メイリオ"/>
              </a:rPr>
              <a:t>だろう。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2880000"/>
            <a:ext cx="11113200" cy="32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800" b="1">
                <a:solidFill>
                  <a:srgbClr val="FF0000"/>
                </a:solidFill>
                <a:latin typeface="メイリオ"/>
                <a:ea typeface="メイリオ"/>
              </a:rPr>
              <a:t>▼  本時はこう応えた  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600" y="3420000"/>
            <a:ext cx="360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600" y="3420000"/>
            <a:ext cx="360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手だての工夫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2600" y="3888000"/>
            <a:ext cx="3600000" cy="1692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600" y="3996000"/>
            <a:ext cx="3384000" cy="147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教師モデル</a:t>
            </a:r>
          </a:p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＋ 動画教材</a:t>
            </a:r>
          </a:p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＋ ワークシート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6600" y="3420000"/>
            <a:ext cx="360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6600" y="3420000"/>
            <a:ext cx="360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話題の工夫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6600" y="3888000"/>
            <a:ext cx="3600000" cy="1692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04600" y="3996000"/>
            <a:ext cx="3384000" cy="147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「友だちのこと」</a:t>
            </a:r>
          </a:p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＝ 聞きたくなる</a:t>
            </a:r>
          </a:p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身近な話題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0600" y="3420000"/>
            <a:ext cx="360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0600" y="3420000"/>
            <a:ext cx="360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視点の明確化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0600" y="3888000"/>
            <a:ext cx="3600000" cy="1692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00" y="3996000"/>
            <a:ext cx="3384000" cy="147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確かめ／2nd Q／感想</a:t>
            </a:r>
          </a:p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の</a:t>
            </a:r>
          </a:p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3観点を提示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900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メイリオ"/>
                <a:ea typeface="メイリオ"/>
              </a:rPr>
              <a:t>③-1  根拠資料①  文部科学省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900000"/>
            <a:ext cx="11617200" cy="648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13200" y="144000"/>
            <a:ext cx="43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200" b="1">
                <a:solidFill>
                  <a:srgbClr val="666666"/>
                </a:solidFill>
                <a:latin typeface="メイリオ"/>
                <a:ea typeface="メイリオ"/>
              </a:rPr>
              <a:t>「小学校学習指導要領（平成29年告示）解説  国語編」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224000"/>
            <a:ext cx="111132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224000"/>
            <a:ext cx="1111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第３学年及び第４学年「話すこと・聞くこと」  指導事項 エ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800000"/>
            <a:ext cx="11113200" cy="1800000"/>
          </a:xfrm>
          <a:prstGeom prst="rect">
            <a:avLst/>
          </a:prstGeom>
          <a:solidFill>
            <a:srgbClr val="DAE3F3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908000"/>
            <a:ext cx="10753200" cy="16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「必要なことを記録したり</a:t>
            </a:r>
            <a:r>
              <a:rPr sz="2600" b="1">
                <a:solidFill>
                  <a:srgbClr val="FF0000"/>
                </a:solidFill>
                <a:latin typeface="メイリオ"/>
                <a:ea typeface="メイリオ"/>
              </a:rPr>
              <a:t>質問したりしながら聞き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、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  話し手が伝えたいことや自分が聞きたいことの</a:t>
            </a:r>
            <a:r>
              <a:rPr sz="2600" b="1">
                <a:solidFill>
                  <a:srgbClr val="FF0000"/>
                </a:solidFill>
                <a:latin typeface="メイリオ"/>
                <a:ea typeface="メイリオ"/>
              </a:rPr>
              <a:t>中心を捉え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、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  </a:t>
            </a:r>
            <a:r>
              <a:rPr sz="2600" b="1">
                <a:solidFill>
                  <a:srgbClr val="FF0000"/>
                </a:solidFill>
                <a:latin typeface="メイリオ"/>
                <a:ea typeface="メイリオ"/>
              </a:rPr>
              <a:t>自分の考えをもつ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こと。」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3780000"/>
            <a:ext cx="2520000" cy="432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3780000"/>
            <a:ext cx="25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▶ 本時の手だてとのつながり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4212000"/>
            <a:ext cx="11113200" cy="1908000"/>
          </a:xfrm>
          <a:prstGeom prst="rect">
            <a:avLst/>
          </a:prstGeom>
          <a:solidFill>
            <a:srgbClr val="FFF2CC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4320000"/>
            <a:ext cx="10753200" cy="18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「質問の種類」を可視化する手だて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       = 解説で示された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〝聞く力の中核〟</a:t>
            </a: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そのもの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「中心を捉え、自分の考えをもつ」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       → </a:t>
            </a:r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ワークシートで保証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900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メイリオ"/>
                <a:ea typeface="メイリオ"/>
              </a:rPr>
              <a:t>③-2  根拠資料②  対話的な学びの重要性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900000"/>
            <a:ext cx="11617200" cy="648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13200" y="144000"/>
            <a:ext cx="43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200" b="1">
                <a:solidFill>
                  <a:srgbClr val="666666"/>
                </a:solidFill>
                <a:latin typeface="メイリオ"/>
                <a:ea typeface="メイリオ"/>
              </a:rPr>
              <a:t>中央教育審議会答申「令和の日本型学校教育」（令和3年1月）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224000"/>
            <a:ext cx="111132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224000"/>
            <a:ext cx="1111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答申で示された方向性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92000"/>
            <a:ext cx="11113200" cy="972000"/>
          </a:xfrm>
          <a:prstGeom prst="rect">
            <a:avLst/>
          </a:prstGeom>
          <a:solidFill>
            <a:srgbClr val="DAE3F3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764000"/>
            <a:ext cx="10753200" cy="86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「</a:t>
            </a:r>
            <a:r>
              <a:rPr sz="2400" b="1">
                <a:solidFill>
                  <a:srgbClr val="FF0000"/>
                </a:solidFill>
                <a:latin typeface="メイリオ"/>
                <a:ea typeface="メイリオ"/>
              </a:rPr>
              <a:t>個別最適な学び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」と「</a:t>
            </a:r>
            <a:r>
              <a:rPr sz="2400" b="1">
                <a:solidFill>
                  <a:srgbClr val="FF0000"/>
                </a:solidFill>
                <a:latin typeface="メイリオ"/>
                <a:ea typeface="メイリオ"/>
              </a:rPr>
              <a:t>協働的な学び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」を</a:t>
            </a:r>
            <a:r>
              <a:rPr sz="2400" b="1">
                <a:solidFill>
                  <a:srgbClr val="002060"/>
                </a:solidFill>
                <a:latin typeface="メイリオ"/>
                <a:ea typeface="メイリオ"/>
              </a:rPr>
              <a:t>一体的に充実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させ、</a:t>
            </a: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   </a:t>
            </a:r>
            <a:r>
              <a:rPr sz="2400" b="1">
                <a:solidFill>
                  <a:srgbClr val="FF0000"/>
                </a:solidFill>
                <a:latin typeface="メイリオ"/>
                <a:ea typeface="メイリオ"/>
              </a:rPr>
              <a:t>主体的・対話的で深い学び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の実現を目指す。」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772000"/>
            <a:ext cx="11113200" cy="32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800" b="1">
                <a:solidFill>
                  <a:srgbClr val="FF0000"/>
                </a:solidFill>
                <a:latin typeface="メイリオ"/>
                <a:ea typeface="メイリオ"/>
              </a:rPr>
              <a:t>▼  菅原学級の対話の流れがまさに体現  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2600" y="3168000"/>
            <a:ext cx="2448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600" y="3168000"/>
            <a:ext cx="244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</a:rPr>
              <a:t>個別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2600" y="3708000"/>
            <a:ext cx="2448000" cy="1440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2600" y="3780000"/>
            <a:ext cx="2448000" cy="129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メイリオ"/>
                <a:ea typeface="メイリオ"/>
              </a:rPr>
              <a:t>自分の質問を</a:t>
            </a:r>
          </a:p>
          <a:p>
            <a:pPr algn="ctr"/>
            <a:r>
              <a:rPr sz="1600" b="1">
                <a:solidFill>
                  <a:srgbClr val="1A1A1A"/>
                </a:solidFill>
                <a:latin typeface="メイリオ"/>
                <a:ea typeface="メイリオ"/>
              </a:rPr>
              <a:t>ワークシートに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36600" y="3978000"/>
            <a:ext cx="360000" cy="360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32600" y="3168000"/>
            <a:ext cx="2448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2600" y="3168000"/>
            <a:ext cx="244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</a:rPr>
              <a:t>ペア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32600" y="3708000"/>
            <a:ext cx="2448000" cy="1440000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32600" y="3780000"/>
            <a:ext cx="2448000" cy="129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メイリオ"/>
                <a:ea typeface="メイリオ"/>
              </a:rPr>
              <a:t>隣同士で</a:t>
            </a:r>
          </a:p>
          <a:p>
            <a:pPr algn="ctr"/>
            <a:r>
              <a:rPr sz="1600" b="1">
                <a:solidFill>
                  <a:srgbClr val="1A1A1A"/>
                </a:solidFill>
                <a:latin typeface="メイリオ"/>
                <a:ea typeface="メイリオ"/>
              </a:rPr>
              <a:t>質問を交流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16600" y="3978000"/>
            <a:ext cx="360000" cy="360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12600" y="3168000"/>
            <a:ext cx="2448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2600" y="3168000"/>
            <a:ext cx="244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</a:rPr>
              <a:t>グループ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2600" y="3708000"/>
            <a:ext cx="2448000" cy="1440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2600" y="3780000"/>
            <a:ext cx="2448000" cy="129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メイリオ"/>
                <a:ea typeface="メイリオ"/>
              </a:rPr>
              <a:t>動画を見て</a:t>
            </a:r>
          </a:p>
          <a:p>
            <a:pPr algn="ctr"/>
            <a:r>
              <a:rPr sz="1600" b="1">
                <a:solidFill>
                  <a:srgbClr val="1A1A1A"/>
                </a:solidFill>
                <a:latin typeface="メイリオ"/>
                <a:ea typeface="メイリオ"/>
              </a:rPr>
              <a:t>良さを探す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796600" y="3978000"/>
            <a:ext cx="360000" cy="360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92600" y="3168000"/>
            <a:ext cx="2448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92600" y="3168000"/>
            <a:ext cx="244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</a:rPr>
              <a:t>全体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92600" y="3708000"/>
            <a:ext cx="2448000" cy="1440000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92600" y="3780000"/>
            <a:ext cx="2448000" cy="129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メイリオ"/>
                <a:ea typeface="メイリオ"/>
              </a:rPr>
              <a:t>対話の質を</a:t>
            </a:r>
          </a:p>
          <a:p>
            <a:pPr algn="ctr"/>
            <a:r>
              <a:rPr sz="1600" b="1">
                <a:solidFill>
                  <a:srgbClr val="1A1A1A"/>
                </a:solidFill>
                <a:latin typeface="メイリオ"/>
                <a:ea typeface="メイリオ"/>
              </a:rPr>
              <a:t>共通理解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000" y="5292000"/>
            <a:ext cx="111132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個別 ⇄ 協働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 の往還が、児童の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〝学びをつなげる〟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 土台になる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900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メイリオ"/>
                <a:ea typeface="メイリオ"/>
              </a:rPr>
              <a:t>③-3  根拠資料③  東京都教育委員会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900000"/>
            <a:ext cx="11617200" cy="648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13200" y="144000"/>
            <a:ext cx="43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200" b="1">
                <a:solidFill>
                  <a:srgbClr val="666666"/>
                </a:solidFill>
                <a:latin typeface="メイリオ"/>
                <a:ea typeface="メイリオ"/>
              </a:rPr>
              <a:t>「東京都教育ビジョン（第5次）」／「言語能力向上推進事業」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224000"/>
            <a:ext cx="558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224000"/>
            <a:ext cx="55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東京都教育ビジョン（第5次）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92000"/>
            <a:ext cx="5580000" cy="4428000"/>
          </a:xfrm>
          <a:prstGeom prst="rect">
            <a:avLst/>
          </a:prstGeom>
          <a:solidFill>
            <a:srgbClr val="DAE3F3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800000"/>
            <a:ext cx="5220000" cy="424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● 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主体的に学び、考え、行動する力</a:t>
            </a: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の育成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● 「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話す・聞く・読む・書く</a:t>
            </a: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」言語能力を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    全教育活動で計画的に育成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● 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思考力・判断力・表現力等</a:t>
            </a: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の基盤として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    言語能力を位置づける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000" y="1224000"/>
            <a:ext cx="5353200" cy="468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0" y="1224000"/>
            <a:ext cx="535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▶ 本校研究とのつながり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692000"/>
            <a:ext cx="5353200" cy="4428000"/>
          </a:xfrm>
          <a:prstGeom prst="rect">
            <a:avLst/>
          </a:prstGeom>
          <a:solidFill>
            <a:srgbClr val="FFF2CC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8000" y="1800000"/>
            <a:ext cx="5137200" cy="424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メイリオ"/>
                <a:ea typeface="メイリオ"/>
              </a:rPr>
              <a:t>本校研究仮説の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0000"/>
                </a:solidFill>
                <a:latin typeface="メイリオ"/>
                <a:ea typeface="メイリオ"/>
              </a:rPr>
              <a:t>「視点を明確にした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0000"/>
                </a:solidFill>
                <a:latin typeface="メイリオ"/>
                <a:ea typeface="メイリオ"/>
              </a:rPr>
              <a:t>  対話の継続」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メイリオ"/>
                <a:ea typeface="メイリオ"/>
              </a:rPr>
              <a:t>は、都の言語能力育成の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メイリオ"/>
                <a:ea typeface="メイリオ"/>
              </a:rPr>
              <a:t>方向と</a:t>
            </a:r>
            <a:r>
              <a:rPr sz="1800" b="1">
                <a:solidFill>
                  <a:srgbClr val="FF0000"/>
                </a:solidFill>
                <a:latin typeface="メイリオ"/>
                <a:ea typeface="メイリオ"/>
              </a:rPr>
              <a:t>完全に一致</a:t>
            </a:r>
            <a:r>
              <a:rPr sz="1600" b="0">
                <a:solidFill>
                  <a:srgbClr val="1A1A1A"/>
                </a:solidFill>
                <a:latin typeface="メイリオ"/>
                <a:ea typeface="メイリオ"/>
              </a:rPr>
              <a:t>。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メイリオ"/>
                <a:ea typeface="メイリオ"/>
              </a:rPr>
              <a:t>校内研究は、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002060"/>
                </a:solidFill>
                <a:latin typeface="メイリオ"/>
                <a:ea typeface="メイリオ"/>
              </a:rPr>
              <a:t>都の施策推進そのもの。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900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メイリオ"/>
                <a:ea typeface="メイリオ"/>
              </a:rPr>
              <a:t>④  先生方への投げかけ（2分）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900000"/>
            <a:ext cx="11617200" cy="648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1113200" cy="792000"/>
          </a:xfrm>
          <a:prstGeom prst="rect">
            <a:avLst/>
          </a:prstGeom>
          <a:solidFill>
            <a:srgbClr val="DAE3F3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296000"/>
            <a:ext cx="10753200" cy="64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📊  児童の意識調査より：「</a:t>
            </a:r>
            <a:r>
              <a:rPr sz="2400" b="1">
                <a:solidFill>
                  <a:srgbClr val="FF0000"/>
                </a:solidFill>
                <a:latin typeface="メイリオ"/>
                <a:ea typeface="メイリオ"/>
              </a:rPr>
              <a:t>質問を考えながら聞く</a:t>
            </a: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」と答えた児童は ▶ </a:t>
            </a:r>
            <a:r>
              <a:rPr sz="3200" b="1">
                <a:solidFill>
                  <a:srgbClr val="FF0000"/>
                </a:solidFill>
                <a:latin typeface="メイリオ"/>
                <a:ea typeface="メイリオ"/>
              </a:rPr>
              <a:t>33％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2160000"/>
            <a:ext cx="288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2160000"/>
            <a:ext cx="28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Q．  隣の先生と1分間  考えてみてください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2628000"/>
            <a:ext cx="11113200" cy="2520000"/>
          </a:xfrm>
          <a:prstGeom prst="rect">
            <a:avLst/>
          </a:prstGeom>
          <a:solidFill>
            <a:srgbClr val="FFF2CC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808000"/>
            <a:ext cx="103932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①  自分の学年・教科で、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「質問の種類」</a:t>
            </a: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のような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       〝対話の足場〟</a:t>
            </a: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を作るとしたら、何ができますか？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3960000"/>
            <a:ext cx="103932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②  児童が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〝伝えてよかった・聞けてよかった〟</a:t>
            </a: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と</a:t>
            </a:r>
          </a:p>
          <a:p>
            <a:pPr algn="l"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       実感する場面を、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どう仕掛けますか？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000" y="5508000"/>
            <a:ext cx="6433200" cy="720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000" y="5508000"/>
            <a:ext cx="64332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⏱  1分間ペアトーク → 30秒で2～3名から共有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900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メイリオ"/>
                <a:ea typeface="メイリオ"/>
              </a:rPr>
              <a:t>⑤  今後への提案  ／  ⑥  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900000"/>
            <a:ext cx="11617200" cy="648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2600" y="1260000"/>
            <a:ext cx="3600000" cy="234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2600" y="1260000"/>
            <a:ext cx="360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60600" y="1314000"/>
            <a:ext cx="432000" cy="43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0600" y="1314000"/>
            <a:ext cx="43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4600" y="1260000"/>
            <a:ext cx="288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話題の吟味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600" y="1980000"/>
            <a:ext cx="3240000" cy="1512001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児童が</a:t>
            </a: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〝聞きたくなる〟</a:t>
            </a:r>
          </a:p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話題を、</a:t>
            </a:r>
          </a:p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教師自身が体現する。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6600" y="1260000"/>
            <a:ext cx="3600000" cy="234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6600" y="1260000"/>
            <a:ext cx="360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04600" y="1314000"/>
            <a:ext cx="432000" cy="43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4600" y="1314000"/>
            <a:ext cx="43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08600" y="1260000"/>
            <a:ext cx="288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視点の共通言語化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600" y="1980000"/>
            <a:ext cx="3240000" cy="1512001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「確かめ・2ndQ・感想」</a:t>
            </a:r>
          </a:p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を</a:t>
            </a: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学校全体の</a:t>
            </a:r>
          </a:p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共通言語に。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0600" y="1260000"/>
            <a:ext cx="3600000" cy="234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0600" y="1260000"/>
            <a:ext cx="360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48600" y="1314000"/>
            <a:ext cx="432000" cy="43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48600" y="1314000"/>
            <a:ext cx="43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2600" y="1260000"/>
            <a:ext cx="288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安心の環境づくり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600" y="1980000"/>
            <a:ext cx="3240000" cy="1512001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話型・モデル提示</a:t>
            </a: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の継続で、</a:t>
            </a:r>
          </a:p>
          <a:p>
            <a:pPr algn="ctr">
              <a:lnSpc>
                <a:spcPct val="140000"/>
              </a:lnSpc>
            </a:pP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〝自信がない児童〟</a:t>
            </a: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にも</a:t>
            </a:r>
          </a:p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届ける。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0" y="3960000"/>
            <a:ext cx="288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0000" y="3960000"/>
            <a:ext cx="28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⑥  本日のまとめ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4428000"/>
            <a:ext cx="11113200" cy="1800000"/>
          </a:xfrm>
          <a:prstGeom prst="rect">
            <a:avLst/>
          </a:prstGeom>
          <a:solidFill>
            <a:srgbClr val="FFF2CC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0000" y="4536000"/>
            <a:ext cx="10753200" cy="16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「対話を通して、学びをつなげる児童」</a:t>
            </a: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は、</a:t>
            </a:r>
          </a:p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まず 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教師自身が〝対話で学びをつなげる姿〟</a:t>
            </a: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から始まる。</a:t>
            </a:r>
          </a:p>
          <a:p>
            <a:pPr algn="ctr">
              <a:lnSpc>
                <a:spcPct val="140000"/>
              </a:lnSpc>
            </a:pPr>
          </a:p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今日皆さんが隣の先生と交わした言葉が、</a:t>
            </a:r>
          </a:p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明日の授業で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子どもたちに返っていきます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