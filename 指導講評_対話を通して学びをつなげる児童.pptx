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68000"/>
            <a:ext cx="12191695" cy="54000"/>
          </a:xfrm>
          <a:prstGeom prst="rect">
            <a:avLst/>
          </a:prstGeom>
          <a:solidFill>
            <a:srgbClr val="E86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40000"/>
            <a:ext cx="12191695" cy="54000"/>
          </a:xfrm>
          <a:prstGeom prst="rect">
            <a:avLst/>
          </a:prstGeom>
          <a:solidFill>
            <a:srgbClr val="E86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000" y="720000"/>
            <a:ext cx="11471695" cy="5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指 導 講 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1620000"/>
            <a:ext cx="11471695" cy="12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</a:rPr>
              <a:t>対話を通して、</a:t>
            </a:r>
          </a:p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</a:rPr>
              <a:t>学びをつなげる児童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4248000"/>
            <a:ext cx="11471695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Yu Gothic"/>
                <a:ea typeface="Yu Gothic"/>
              </a:rPr>
              <a:t>令和８年度  校内研究  中学年分科会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Yu Gothic"/>
                <a:ea typeface="Yu Gothic"/>
              </a:rPr>
              <a:t>第３学年 国語科  研究授業  指導講評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5220000"/>
            <a:ext cx="11471695" cy="5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Yu Gothic"/>
                <a:ea typeface="Yu Gothic"/>
              </a:rPr>
              <a:t>令和８年５月２５日（月）  練馬区立開進第四小学校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72000"/>
            <a:ext cx="11759695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Yu Gothic"/>
                <a:ea typeface="Yu Gothic"/>
              </a:rPr>
              <a:t>本日の流れ（10分間）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76000"/>
            <a:ext cx="12191695" cy="36000"/>
          </a:xfrm>
          <a:prstGeom prst="rect">
            <a:avLst/>
          </a:prstGeom>
          <a:solidFill>
            <a:srgbClr val="E86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000" y="648000"/>
            <a:ext cx="11759695" cy="28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0">
                <a:solidFill>
                  <a:srgbClr val="777777"/>
                </a:solidFill>
                <a:latin typeface="Yu Gothic"/>
                <a:ea typeface="Yu Gothic"/>
              </a:rPr>
              <a:t>Today's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1260000"/>
            <a:ext cx="11111695" cy="504000"/>
          </a:xfrm>
          <a:prstGeom prst="rect">
            <a:avLst/>
          </a:prstGeom>
          <a:solidFill>
            <a:srgbClr val="F2F7FB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000" y="1260000"/>
            <a:ext cx="54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200" b="1">
                <a:solidFill>
                  <a:srgbClr val="E86E2C"/>
                </a:solidFill>
                <a:latin typeface="Yu Gothic"/>
                <a:ea typeface="Yu Gothi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0000" y="1260000"/>
            <a:ext cx="144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Yu Gothic"/>
                <a:ea typeface="Yu Gothic"/>
              </a:rPr>
              <a:t>0:00 – 1:00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0" y="1260000"/>
            <a:ext cx="540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Yu Gothic"/>
                <a:ea typeface="Yu Gothic"/>
              </a:rPr>
              <a:t>アイスブレイク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71695" y="1260000"/>
            <a:ext cx="108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r"/>
            <a:r>
              <a:rPr sz="1400" b="0">
                <a:solidFill>
                  <a:srgbClr val="777777"/>
                </a:solidFill>
                <a:latin typeface="Yu Gothic"/>
                <a:ea typeface="Yu Gothic"/>
              </a:rPr>
              <a:t>1分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1800000"/>
            <a:ext cx="11111695" cy="504000"/>
          </a:xfrm>
          <a:prstGeom prst="rect">
            <a:avLst/>
          </a:prstGeom>
          <a:solidFill>
            <a:srgbClr val="FFFFFF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000" y="1800000"/>
            <a:ext cx="54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200" b="1">
                <a:solidFill>
                  <a:srgbClr val="E86E2C"/>
                </a:solidFill>
                <a:latin typeface="Yu Gothic"/>
                <a:ea typeface="Yu Gothic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0000" y="1800000"/>
            <a:ext cx="144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Yu Gothic"/>
                <a:ea typeface="Yu Gothic"/>
              </a:rPr>
              <a:t>1:00 – 3:00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000" y="1800000"/>
            <a:ext cx="540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Yu Gothic"/>
                <a:ea typeface="Yu Gothic"/>
              </a:rPr>
              <a:t>本時の授業の価値づけ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71695" y="1800000"/>
            <a:ext cx="108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r"/>
            <a:r>
              <a:rPr sz="1400" b="0">
                <a:solidFill>
                  <a:srgbClr val="777777"/>
                </a:solidFill>
                <a:latin typeface="Yu Gothic"/>
                <a:ea typeface="Yu Gothic"/>
              </a:rPr>
              <a:t>2分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2340000"/>
            <a:ext cx="11111695" cy="504000"/>
          </a:xfrm>
          <a:prstGeom prst="rect">
            <a:avLst/>
          </a:prstGeom>
          <a:solidFill>
            <a:srgbClr val="F2F7FB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000" y="2340000"/>
            <a:ext cx="54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200" b="1">
                <a:solidFill>
                  <a:srgbClr val="E86E2C"/>
                </a:solidFill>
                <a:latin typeface="Yu Gothic"/>
                <a:ea typeface="Yu Gothic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0000" y="2340000"/>
            <a:ext cx="144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Yu Gothic"/>
                <a:ea typeface="Yu Gothic"/>
              </a:rPr>
              <a:t>3:00 – 5:00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000" y="2340000"/>
            <a:ext cx="540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Yu Gothic"/>
                <a:ea typeface="Yu Gothic"/>
              </a:rPr>
              <a:t>研究主題との関連と根拠資料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71695" y="2340000"/>
            <a:ext cx="108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r"/>
            <a:r>
              <a:rPr sz="1400" b="0">
                <a:solidFill>
                  <a:srgbClr val="777777"/>
                </a:solidFill>
                <a:latin typeface="Yu Gothic"/>
                <a:ea typeface="Yu Gothic"/>
              </a:rPr>
              <a:t>2分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0000" y="2880000"/>
            <a:ext cx="11111695" cy="504000"/>
          </a:xfrm>
          <a:prstGeom prst="rect">
            <a:avLst/>
          </a:prstGeom>
          <a:solidFill>
            <a:srgbClr val="FFFFFF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000" y="2880000"/>
            <a:ext cx="54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200" b="1">
                <a:solidFill>
                  <a:srgbClr val="E86E2C"/>
                </a:solidFill>
                <a:latin typeface="Yu Gothic"/>
                <a:ea typeface="Yu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0000" y="2880000"/>
            <a:ext cx="144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Yu Gothic"/>
                <a:ea typeface="Yu Gothic"/>
              </a:rPr>
              <a:t>5:00 – 7:00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000" y="2880000"/>
            <a:ext cx="540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Yu Gothic"/>
                <a:ea typeface="Yu Gothic"/>
              </a:rPr>
              <a:t>【投げかけ】先生方とのペア交流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71695" y="2880000"/>
            <a:ext cx="108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r"/>
            <a:r>
              <a:rPr sz="1400" b="0">
                <a:solidFill>
                  <a:srgbClr val="777777"/>
                </a:solidFill>
                <a:latin typeface="Yu Gothic"/>
                <a:ea typeface="Yu Gothic"/>
              </a:rPr>
              <a:t>2分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0" y="3420000"/>
            <a:ext cx="11111695" cy="504000"/>
          </a:xfrm>
          <a:prstGeom prst="rect">
            <a:avLst/>
          </a:prstGeom>
          <a:solidFill>
            <a:srgbClr val="F2F7FB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000" y="3420000"/>
            <a:ext cx="54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200" b="1">
                <a:solidFill>
                  <a:srgbClr val="E86E2C"/>
                </a:solidFill>
                <a:latin typeface="Yu Gothic"/>
                <a:ea typeface="Yu Gothic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60000" y="3420000"/>
            <a:ext cx="144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Yu Gothic"/>
                <a:ea typeface="Yu Gothic"/>
              </a:rPr>
              <a:t>7:00 – 9:30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000" y="3420000"/>
            <a:ext cx="540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Yu Gothic"/>
                <a:ea typeface="Yu Gothic"/>
              </a:rPr>
              <a:t>共有と今後への提案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71695" y="3420000"/>
            <a:ext cx="108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r"/>
            <a:r>
              <a:rPr sz="1400" b="0">
                <a:solidFill>
                  <a:srgbClr val="777777"/>
                </a:solidFill>
                <a:latin typeface="Yu Gothic"/>
                <a:ea typeface="Yu Gothic"/>
              </a:rPr>
              <a:t>2分30秒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0000" y="3960000"/>
            <a:ext cx="11111695" cy="504000"/>
          </a:xfrm>
          <a:prstGeom prst="rect">
            <a:avLst/>
          </a:prstGeom>
          <a:solidFill>
            <a:srgbClr val="FFFFFF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000" y="3960000"/>
            <a:ext cx="54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200" b="1">
                <a:solidFill>
                  <a:srgbClr val="E86E2C"/>
                </a:solidFill>
                <a:latin typeface="Yu Gothic"/>
                <a:ea typeface="Yu Gothic"/>
              </a:rPr>
              <a:t>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60000" y="3960000"/>
            <a:ext cx="144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Yu Gothic"/>
                <a:ea typeface="Yu Gothic"/>
              </a:rPr>
              <a:t>9:30 – 10:00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000" y="3960000"/>
            <a:ext cx="540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Yu Gothic"/>
                <a:ea typeface="Yu Gothic"/>
              </a:rPr>
              <a:t>まとめ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71695" y="3960000"/>
            <a:ext cx="1080000" cy="504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r"/>
            <a:r>
              <a:rPr sz="1400" b="0">
                <a:solidFill>
                  <a:srgbClr val="777777"/>
                </a:solidFill>
                <a:latin typeface="Yu Gothic"/>
                <a:ea typeface="Yu Gothic"/>
              </a:rPr>
              <a:t>30秒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6000" y="6534000"/>
            <a:ext cx="72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指導講評  /  研究主題「対話を通して、学びをつなげる児童の育成」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11695" y="6534000"/>
            <a:ext cx="9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72000"/>
            <a:ext cx="11759695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Yu Gothic"/>
                <a:ea typeface="Yu Gothic"/>
              </a:rPr>
              <a:t>① アイスブレイク（1分）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76000"/>
            <a:ext cx="12191695" cy="36000"/>
          </a:xfrm>
          <a:prstGeom prst="rect">
            <a:avLst/>
          </a:prstGeom>
          <a:solidFill>
            <a:srgbClr val="E86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000" y="648000"/>
            <a:ext cx="11759695" cy="28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0">
                <a:solidFill>
                  <a:srgbClr val="777777"/>
                </a:solidFill>
                <a:latin typeface="Yu Gothic"/>
                <a:ea typeface="Yu Gothic"/>
              </a:rPr>
              <a:t>まずは肩の力を抜いて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1440000"/>
            <a:ext cx="10751695" cy="1620000"/>
          </a:xfrm>
          <a:prstGeom prst="roundRect">
            <a:avLst/>
          </a:prstGeom>
          <a:solidFill>
            <a:srgbClr val="FFF6D9"/>
          </a:solidFill>
          <a:ln w="25400">
            <a:solidFill>
              <a:srgbClr val="E86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548000"/>
            <a:ext cx="10391695" cy="3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2000" b="1">
                <a:solidFill>
                  <a:srgbClr val="E86E2C"/>
                </a:solidFill>
                <a:latin typeface="Yu Gothic"/>
                <a:ea typeface="Yu Gothic"/>
              </a:rPr>
              <a:t>Q．  隣の先生と…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1980000"/>
            <a:ext cx="10391695" cy="108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Yu Gothic"/>
                <a:ea typeface="Yu Gothic"/>
              </a:rPr>
              <a:t>「今日の授業で、思わず〝おっ〟と心が動いた瞬間」を、</a:t>
            </a:r>
          </a:p>
          <a:p>
            <a:pPr algn="l"/>
            <a:r>
              <a:rPr sz="2600" b="1">
                <a:solidFill>
                  <a:srgbClr val="333333"/>
                </a:solidFill>
                <a:latin typeface="Yu Gothic"/>
                <a:ea typeface="Yu Gothic"/>
              </a:rPr>
              <a:t>ジェスチャー一つで表してみてください。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60000" y="3420000"/>
            <a:ext cx="3960000" cy="7200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0000" y="3420000"/>
            <a:ext cx="396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Yu Gothic"/>
                <a:ea typeface="Yu Gothic"/>
              </a:rPr>
              <a:t>⏱  30秒  ペアトーク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4500000"/>
            <a:ext cx="10751695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800" b="1">
                <a:solidFill>
                  <a:srgbClr val="1F4E79"/>
                </a:solidFill>
                <a:latin typeface="Yu Gothic"/>
                <a:ea typeface="Yu Gothic"/>
              </a:rPr>
              <a:t>▶ 今、皆さん自身が〝対話〟を始めました。これが今日のテーマです。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000" y="6534000"/>
            <a:ext cx="72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指導講評  /  研究主題「対話を通して、学びをつなげる児童の育成」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11695" y="6534000"/>
            <a:ext cx="9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72000"/>
            <a:ext cx="11759695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Yu Gothic"/>
                <a:ea typeface="Yu Gothic"/>
              </a:rPr>
              <a:t>② 本時の授業の価値づけ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76000"/>
            <a:ext cx="12191695" cy="36000"/>
          </a:xfrm>
          <a:prstGeom prst="rect">
            <a:avLst/>
          </a:prstGeom>
          <a:solidFill>
            <a:srgbClr val="E86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000" y="648000"/>
            <a:ext cx="11759695" cy="28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0">
                <a:solidFill>
                  <a:srgbClr val="777777"/>
                </a:solidFill>
                <a:latin typeface="Yu Gothic"/>
                <a:ea typeface="Yu Gothic"/>
              </a:rPr>
              <a:t>菅原先生の手だての見事さ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1152000"/>
            <a:ext cx="11111695" cy="503999"/>
          </a:xfrm>
          <a:prstGeom prst="rect">
            <a:avLst/>
          </a:prstGeom>
          <a:solidFill>
            <a:srgbClr val="E3EEF7"/>
          </a:solidFill>
          <a:ln w="63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8000" y="1188000"/>
            <a:ext cx="10931695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Yu Gothic"/>
                <a:ea typeface="Yu Gothic"/>
              </a:rPr>
              <a:t>第３学年 国語科  単元「もっと知りたい、友だちのこと」  （全６時間中の第３時）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848" y="1872000"/>
            <a:ext cx="3420000" cy="30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848" y="1872000"/>
            <a:ext cx="3420000" cy="503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848" y="1872000"/>
            <a:ext cx="54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200" b="1">
                <a:solidFill>
                  <a:srgbClr val="E86E2C"/>
                </a:solidFill>
                <a:latin typeface="Yu Gothic"/>
                <a:ea typeface="Yu Gothic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3848" y="1872000"/>
            <a:ext cx="288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教師自身が〝話し手〟に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848" y="2592000"/>
            <a:ext cx="3132000" cy="21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>「いつ・どこで・だれが」と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>質問の種類を整理。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>児童が〝自分が引き出した〟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>手応えを実感。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5847" y="1872000"/>
            <a:ext cx="3420000" cy="30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5847" y="1872000"/>
            <a:ext cx="3420000" cy="503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5847" y="1872000"/>
            <a:ext cx="54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200" b="1">
                <a:solidFill>
                  <a:srgbClr val="E86E2C"/>
                </a:solidFill>
                <a:latin typeface="Yu Gothic"/>
                <a:ea typeface="Yu Gothic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5847" y="1872000"/>
            <a:ext cx="288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動画教材で対話を客観視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847" y="2592000"/>
            <a:ext cx="3132000" cy="21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>「よりよいやりとり」を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>抽象論ではなく、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>具体的な場面の観察から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>考えさせた。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7846" y="1872000"/>
            <a:ext cx="3420000" cy="30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7846" y="1872000"/>
            <a:ext cx="3420000" cy="503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7846" y="1872000"/>
            <a:ext cx="54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200" b="1">
                <a:solidFill>
                  <a:srgbClr val="E86E2C"/>
                </a:solidFill>
                <a:latin typeface="Yu Gothic"/>
                <a:ea typeface="Yu Gothic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7846" y="1872000"/>
            <a:ext cx="288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対話の質を3観点で可視化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1846" y="2592000"/>
            <a:ext cx="3132000" cy="21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>確かめ／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>セカンドクエスチョン／感想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>をクラス共通の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>〝対話の型〟として整理。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6000" y="6534000"/>
            <a:ext cx="72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指導講評  /  研究主題「対話を通して、学びをつなげる児童の育成」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11695" y="6534000"/>
            <a:ext cx="9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72000"/>
            <a:ext cx="11759695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Yu Gothic"/>
                <a:ea typeface="Yu Gothic"/>
              </a:rPr>
              <a:t>授業の様子 ①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76000"/>
            <a:ext cx="12191695" cy="36000"/>
          </a:xfrm>
          <a:prstGeom prst="rect">
            <a:avLst/>
          </a:prstGeom>
          <a:solidFill>
            <a:srgbClr val="E86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000" y="648000"/>
            <a:ext cx="11759695" cy="28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0">
                <a:solidFill>
                  <a:srgbClr val="777777"/>
                </a:solidFill>
                <a:latin typeface="Yu Gothic"/>
                <a:ea typeface="Yu Gothic"/>
              </a:rPr>
              <a:t>導入～質問の種類を整理する場面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1260000"/>
            <a:ext cx="5760000" cy="3960000"/>
          </a:xfrm>
          <a:prstGeom prst="rect">
            <a:avLst/>
          </a:prstGeom>
          <a:solidFill>
            <a:srgbClr val="EEEEEE"/>
          </a:solidFill>
          <a:ln w="12700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1260000"/>
            <a:ext cx="5760000" cy="39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000" b="0">
                <a:solidFill>
                  <a:srgbClr val="777777"/>
                </a:solidFill>
                <a:latin typeface="Yu Gothic"/>
                <a:ea typeface="Yu Gothic"/>
              </a:rPr>
              <a:t>📷</a:t>
            </a:r>
          </a:p>
          <a:p>
            <a:pPr algn="ctr"/>
            <a:r>
              <a:rPr sz="2000" b="0">
                <a:solidFill>
                  <a:srgbClr val="777777"/>
                </a:solidFill>
                <a:latin typeface="Yu Gothic"/>
                <a:ea typeface="Yu Gothic"/>
              </a:rPr>
              <a:t/>
            </a:r>
          </a:p>
          <a:p>
            <a:pPr algn="ctr"/>
            <a:r>
              <a:rPr sz="2000" b="0">
                <a:solidFill>
                  <a:srgbClr val="777777"/>
                </a:solidFill>
                <a:latin typeface="Yu Gothic"/>
                <a:ea typeface="Yu Gothic"/>
              </a:rPr>
              <a:t>【ここに授業写真を貼り付け】</a:t>
            </a:r>
          </a:p>
          <a:p>
            <a:pPr algn="ctr"/>
            <a:r>
              <a:rPr sz="2000" b="0">
                <a:solidFill>
                  <a:srgbClr val="777777"/>
                </a:solidFill>
                <a:latin typeface="Yu Gothic"/>
                <a:ea typeface="Yu Gothic"/>
              </a:rPr>
              <a:t/>
            </a:r>
          </a:p>
          <a:p>
            <a:pPr algn="ctr"/>
            <a:r>
              <a:rPr sz="2000" b="0">
                <a:solidFill>
                  <a:srgbClr val="777777"/>
                </a:solidFill>
                <a:latin typeface="Yu Gothic"/>
                <a:ea typeface="Yu Gothic"/>
              </a:rPr>
              <a:t>教師の話を聞き、ワークシートに</a:t>
            </a:r>
          </a:p>
          <a:p>
            <a:pPr algn="ctr"/>
            <a:r>
              <a:rPr sz="2000" b="0">
                <a:solidFill>
                  <a:srgbClr val="777777"/>
                </a:solidFill>
                <a:latin typeface="Yu Gothic"/>
                <a:ea typeface="Yu Gothic"/>
              </a:rPr>
              <a:t>質問を記入している場面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80000" y="1260000"/>
            <a:ext cx="5171695" cy="1800000"/>
          </a:xfrm>
          <a:prstGeom prst="roundRect">
            <a:avLst/>
          </a:prstGeom>
          <a:solidFill>
            <a:srgbClr val="FFF6D9"/>
          </a:solidFill>
          <a:ln w="19050">
            <a:solidFill>
              <a:srgbClr val="E86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8000" y="1332000"/>
            <a:ext cx="4955695" cy="28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1">
                <a:solidFill>
                  <a:srgbClr val="E86E2C"/>
                </a:solidFill>
                <a:latin typeface="Yu Gothic"/>
                <a:ea typeface="Yu Gothic"/>
              </a:rPr>
              <a:t>▼ 注目ポイント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000" y="1656000"/>
            <a:ext cx="4955695" cy="136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「いつ・どこで・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だれが」の板書整理が、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児童の質問を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〝見える化〟している。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80000" y="3240000"/>
            <a:ext cx="5171695" cy="1980000"/>
          </a:xfrm>
          <a:prstGeom prst="roundRect">
            <a:avLst/>
          </a:prstGeom>
          <a:solidFill>
            <a:srgbClr val="E3EEF7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8000" y="3312000"/>
            <a:ext cx="4955695" cy="28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Yu Gothic"/>
                <a:ea typeface="Yu Gothic"/>
              </a:rPr>
              <a:t>▼ 児童の姿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8000" y="3636000"/>
            <a:ext cx="4955695" cy="14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自分が考えた質問を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ペアで安心して交流。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書く時間の確保が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発言の自信に。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000" y="6534000"/>
            <a:ext cx="72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指導講評  /  研究主題「対話を通して、学びをつなげる児童の育成」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1695" y="6534000"/>
            <a:ext cx="9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72000"/>
            <a:ext cx="11759695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Yu Gothic"/>
                <a:ea typeface="Yu Gothic"/>
              </a:rPr>
              <a:t>授業の様子 ②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76000"/>
            <a:ext cx="12191695" cy="36000"/>
          </a:xfrm>
          <a:prstGeom prst="rect">
            <a:avLst/>
          </a:prstGeom>
          <a:solidFill>
            <a:srgbClr val="E86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000" y="648000"/>
            <a:ext cx="11759695" cy="28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0">
                <a:solidFill>
                  <a:srgbClr val="777777"/>
                </a:solidFill>
                <a:latin typeface="Yu Gothic"/>
                <a:ea typeface="Yu Gothic"/>
              </a:rPr>
              <a:t>動画視聴～全体共有の場面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1152000"/>
            <a:ext cx="5040000" cy="1872000"/>
          </a:xfrm>
          <a:prstGeom prst="rect">
            <a:avLst/>
          </a:prstGeom>
          <a:solidFill>
            <a:srgbClr val="EEEEEE"/>
          </a:solidFill>
          <a:ln w="12700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1152000"/>
            <a:ext cx="5040000" cy="187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600" b="0">
                <a:solidFill>
                  <a:srgbClr val="777777"/>
                </a:solidFill>
                <a:latin typeface="Yu Gothic"/>
                <a:ea typeface="Yu Gothic"/>
              </a:rPr>
              <a:t>📷  【写真①】 動画教材を視聴し、良い対話を分析する場面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3240000"/>
            <a:ext cx="5040000" cy="1872000"/>
          </a:xfrm>
          <a:prstGeom prst="rect">
            <a:avLst/>
          </a:prstGeom>
          <a:solidFill>
            <a:srgbClr val="EEEEEE"/>
          </a:solidFill>
          <a:ln w="12700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3240000"/>
            <a:ext cx="5040000" cy="187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600" b="0">
                <a:solidFill>
                  <a:srgbClr val="777777"/>
                </a:solidFill>
                <a:latin typeface="Yu Gothic"/>
                <a:ea typeface="Yu Gothic"/>
              </a:rPr>
              <a:t>📷  【写真②】 全体で意見を共有し、対話の質を整理する場面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0" y="1152000"/>
            <a:ext cx="5891695" cy="39600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68000" y="1260000"/>
            <a:ext cx="5675695" cy="3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対話を深める3つの観点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0000" y="1655999"/>
            <a:ext cx="5531695" cy="18000"/>
          </a:xfrm>
          <a:prstGeom prst="rect">
            <a:avLst/>
          </a:prstGeom>
          <a:solidFill>
            <a:srgbClr val="E86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68000" y="1800000"/>
            <a:ext cx="432000" cy="9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200" b="1">
                <a:solidFill>
                  <a:srgbClr val="E86E2C"/>
                </a:solidFill>
                <a:latin typeface="Yu Gothic"/>
                <a:ea typeface="Yu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1800000"/>
            <a:ext cx="5243695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  <a:ea typeface="Yu Gothic"/>
              </a:rPr>
              <a:t>確かめる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000" y="2232000"/>
            <a:ext cx="5243695" cy="5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100" b="0">
                <a:solidFill>
                  <a:srgbClr val="F2F7FB"/>
                </a:solidFill>
                <a:latin typeface="Yu Gothic"/>
                <a:ea typeface="Yu Gothic"/>
              </a:rPr>
              <a:t>相手の話を聞き返し</a:t>
            </a:r>
          </a:p>
          <a:p>
            <a:pPr algn="l"/>
            <a:r>
              <a:rPr sz="1100" b="0">
                <a:solidFill>
                  <a:srgbClr val="F2F7FB"/>
                </a:solidFill>
                <a:latin typeface="Yu Gothic"/>
                <a:ea typeface="Yu Gothic"/>
              </a:rPr>
              <a:t>理解を確認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68000" y="2844000"/>
            <a:ext cx="432000" cy="9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200" b="1">
                <a:solidFill>
                  <a:srgbClr val="E86E2C"/>
                </a:solidFill>
                <a:latin typeface="Yu Gothic"/>
                <a:ea typeface="Yu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000" y="2844000"/>
            <a:ext cx="5243695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  <a:ea typeface="Yu Gothic"/>
              </a:rPr>
              <a:t>セカンド</a:t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Yu Gothic"/>
                <a:ea typeface="Yu Gothic"/>
              </a:rPr>
              <a:t>クエスチョン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000" y="3276000"/>
            <a:ext cx="5243695" cy="5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100" b="0">
                <a:solidFill>
                  <a:srgbClr val="F2F7FB"/>
                </a:solidFill>
                <a:latin typeface="Yu Gothic"/>
                <a:ea typeface="Yu Gothic"/>
              </a:rPr>
              <a:t>答えからさらに</a:t>
            </a:r>
          </a:p>
          <a:p>
            <a:pPr algn="l"/>
            <a:r>
              <a:rPr sz="1100" b="0">
                <a:solidFill>
                  <a:srgbClr val="F2F7FB"/>
                </a:solidFill>
                <a:latin typeface="Yu Gothic"/>
                <a:ea typeface="Yu Gothic"/>
              </a:rPr>
              <a:t>質問をつなげる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68000" y="3888000"/>
            <a:ext cx="432000" cy="9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200" b="1">
                <a:solidFill>
                  <a:srgbClr val="E86E2C"/>
                </a:solidFill>
                <a:latin typeface="Yu Gothic"/>
                <a:ea typeface="Yu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000" y="3888000"/>
            <a:ext cx="5243695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  <a:ea typeface="Yu Gothic"/>
              </a:rPr>
              <a:t>感想を伝える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000" y="4320000"/>
            <a:ext cx="5243695" cy="5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100" b="0">
                <a:solidFill>
                  <a:srgbClr val="F2F7FB"/>
                </a:solidFill>
                <a:latin typeface="Yu Gothic"/>
                <a:ea typeface="Yu Gothic"/>
              </a:rPr>
              <a:t>受け取った思いを</a:t>
            </a:r>
          </a:p>
          <a:p>
            <a:pPr algn="l"/>
            <a:r>
              <a:rPr sz="1100" b="0">
                <a:solidFill>
                  <a:srgbClr val="F2F7FB"/>
                </a:solidFill>
                <a:latin typeface="Yu Gothic"/>
                <a:ea typeface="Yu Gothic"/>
              </a:rPr>
              <a:t>言葉にして返す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000" y="6534000"/>
            <a:ext cx="72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指導講評  /  研究主題「対話を通して、学びをつなげる児童の育成」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11695" y="6534000"/>
            <a:ext cx="9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72000"/>
            <a:ext cx="11759695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Yu Gothic"/>
                <a:ea typeface="Yu Gothic"/>
              </a:rPr>
              <a:t>③ 研究主題との関連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76000"/>
            <a:ext cx="12191695" cy="36000"/>
          </a:xfrm>
          <a:prstGeom prst="rect">
            <a:avLst/>
          </a:prstGeom>
          <a:solidFill>
            <a:srgbClr val="E86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000" y="648000"/>
            <a:ext cx="11759695" cy="28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0">
                <a:solidFill>
                  <a:srgbClr val="777777"/>
                </a:solidFill>
                <a:latin typeface="Yu Gothic"/>
                <a:ea typeface="Yu Gothic"/>
              </a:rPr>
              <a:t>本時の手だてが、研究仮説とどう結びつくか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1152000"/>
            <a:ext cx="11111695" cy="7200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1188000"/>
            <a:ext cx="11111695" cy="28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400" b="1">
                <a:solidFill>
                  <a:srgbClr val="E86E2C"/>
                </a:solidFill>
                <a:latin typeface="Yu Gothic"/>
                <a:ea typeface="Yu Gothic"/>
              </a:rPr>
              <a:t>研究主題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404000"/>
            <a:ext cx="11111695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Yu Gothic"/>
                <a:ea typeface="Yu Gothic"/>
              </a:rPr>
              <a:t>対話を通して、学びをつなげる児童の育成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000" y="2088000"/>
            <a:ext cx="11111695" cy="900000"/>
          </a:xfrm>
          <a:prstGeom prst="roundRect">
            <a:avLst/>
          </a:prstGeom>
          <a:solidFill>
            <a:srgbClr val="F2F7FB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8000" y="2124000"/>
            <a:ext cx="10895695" cy="28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Yu Gothic"/>
                <a:ea typeface="Yu Gothic"/>
              </a:rPr>
              <a:t>▼ 研究仮説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000" y="2376000"/>
            <a:ext cx="10895695" cy="576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Yu Gothic"/>
                <a:ea typeface="Yu Gothic"/>
              </a:rPr>
              <a:t>手だてや話題を工夫し、視点を明確にした対話を継続的に実践することで、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Yu Gothic"/>
                <a:ea typeface="Yu Gothic"/>
              </a:rPr>
              <a:t>児童の対話に広がりや深まりが見られるだろう。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" y="3060000"/>
            <a:ext cx="11111695" cy="3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600" b="1">
                <a:solidFill>
                  <a:srgbClr val="E86E2C"/>
                </a:solidFill>
                <a:latin typeface="Yu Gothic"/>
                <a:ea typeface="Yu Gothic"/>
              </a:rPr>
              <a:t>▼  本時はこう応えた  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5847" y="3600000"/>
            <a:ext cx="3240000" cy="1440000"/>
          </a:xfrm>
          <a:prstGeom prst="roundRect">
            <a:avLst/>
          </a:prstGeom>
          <a:solidFill>
            <a:srgbClr val="FFF6D9"/>
          </a:solidFill>
          <a:ln w="19050">
            <a:solidFill>
              <a:srgbClr val="E86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5847" y="3708000"/>
            <a:ext cx="324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600" b="1">
                <a:solidFill>
                  <a:srgbClr val="E86E2C"/>
                </a:solidFill>
                <a:latin typeface="Yu Gothic"/>
                <a:ea typeface="Yu Gothic"/>
              </a:rPr>
              <a:t>手だての工夫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5847" y="4103999"/>
            <a:ext cx="324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教師モデル＋</a:t>
            </a:r>
          </a:p>
          <a:p>
            <a:pPr algn="ctr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動画教材＋</a:t>
            </a:r>
          </a:p>
          <a:p>
            <a:pPr algn="ctr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ワークシート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75847" y="3600000"/>
            <a:ext cx="3240000" cy="1440000"/>
          </a:xfrm>
          <a:prstGeom prst="roundRect">
            <a:avLst/>
          </a:prstGeom>
          <a:solidFill>
            <a:srgbClr val="FFF6D9"/>
          </a:solidFill>
          <a:ln w="19050">
            <a:solidFill>
              <a:srgbClr val="E86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5847" y="3708000"/>
            <a:ext cx="324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600" b="1">
                <a:solidFill>
                  <a:srgbClr val="E86E2C"/>
                </a:solidFill>
                <a:latin typeface="Yu Gothic"/>
                <a:ea typeface="Yu Gothic"/>
              </a:rPr>
              <a:t>話題の工夫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5847" y="4103999"/>
            <a:ext cx="324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「友だちのこと」</a:t>
            </a:r>
          </a:p>
          <a:p>
            <a:pPr algn="ctr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＝聞きたくなる</a:t>
            </a:r>
          </a:p>
          <a:p>
            <a:pPr algn="ctr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身近な話題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95847" y="3600000"/>
            <a:ext cx="3240000" cy="1440000"/>
          </a:xfrm>
          <a:prstGeom prst="roundRect">
            <a:avLst/>
          </a:prstGeom>
          <a:solidFill>
            <a:srgbClr val="FFF6D9"/>
          </a:solidFill>
          <a:ln w="19050">
            <a:solidFill>
              <a:srgbClr val="E86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95847" y="3708000"/>
            <a:ext cx="324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600" b="1">
                <a:solidFill>
                  <a:srgbClr val="E86E2C"/>
                </a:solidFill>
                <a:latin typeface="Yu Gothic"/>
                <a:ea typeface="Yu Gothic"/>
              </a:rPr>
              <a:t>視点の明確化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5847" y="4103999"/>
            <a:ext cx="324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確かめ／2nd Q／</a:t>
            </a:r>
          </a:p>
          <a:p>
            <a:pPr algn="ctr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感想 の</a:t>
            </a:r>
          </a:p>
          <a:p>
            <a:pPr algn="ctr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3観点を提示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000" y="6534000"/>
            <a:ext cx="72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指導講評  /  研究主題「対話を通して、学びをつなげる児童の育成」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11695" y="6534000"/>
            <a:ext cx="9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72000"/>
            <a:ext cx="11759695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Yu Gothic"/>
                <a:ea typeface="Yu Gothic"/>
              </a:rPr>
              <a:t>③-1  根拠資料①：文部科学省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76000"/>
            <a:ext cx="12191695" cy="36000"/>
          </a:xfrm>
          <a:prstGeom prst="rect">
            <a:avLst/>
          </a:prstGeom>
          <a:solidFill>
            <a:srgbClr val="E86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000" y="648000"/>
            <a:ext cx="11759695" cy="28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0">
                <a:solidFill>
                  <a:srgbClr val="777777"/>
                </a:solidFill>
                <a:latin typeface="Yu Gothic"/>
                <a:ea typeface="Yu Gothic"/>
              </a:rPr>
              <a:t>小学校学習指導要領（平成29年告示）解説 国語編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1152000"/>
            <a:ext cx="11111695" cy="1800000"/>
          </a:xfrm>
          <a:prstGeom prst="roundRect">
            <a:avLst/>
          </a:prstGeom>
          <a:solidFill>
            <a:srgbClr val="F2F7FB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1224000"/>
            <a:ext cx="10751695" cy="3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Yu Gothic"/>
                <a:ea typeface="Yu Gothic"/>
              </a:rPr>
              <a:t>■ 第3学年及び第4学年「話すこと・聞くこと」  指導事項 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1620000"/>
            <a:ext cx="10391695" cy="12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  <a:ea typeface="Yu Gothic"/>
              </a:rPr>
              <a:t>「必要なことを記録したり質問したりしながら聞き、</a:t>
            </a:r>
          </a:p>
          <a:p>
            <a:pPr algn="l"/>
            <a:r>
              <a:rPr sz="2200" b="1">
                <a:solidFill>
                  <a:srgbClr val="333333"/>
                </a:solidFill>
                <a:latin typeface="Yu Gothic"/>
                <a:ea typeface="Yu Gothic"/>
              </a:rPr>
              <a:t>  話し手が伝えたいことや自分が聞きたいことの中心を捉え、</a:t>
            </a:r>
          </a:p>
          <a:p>
            <a:pPr algn="l"/>
            <a:r>
              <a:rPr sz="2200" b="1">
                <a:solidFill>
                  <a:srgbClr val="333333"/>
                </a:solidFill>
                <a:latin typeface="Yu Gothic"/>
                <a:ea typeface="Yu Gothic"/>
              </a:rPr>
              <a:t>  自分の考えをもつこと。」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000" y="3240000"/>
            <a:ext cx="11111695" cy="1800000"/>
          </a:xfrm>
          <a:prstGeom prst="roundRect">
            <a:avLst/>
          </a:prstGeom>
          <a:solidFill>
            <a:srgbClr val="FFF6D9"/>
          </a:solidFill>
          <a:ln w="19050">
            <a:solidFill>
              <a:srgbClr val="E86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0000" y="3311999"/>
            <a:ext cx="10751695" cy="3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600" b="1">
                <a:solidFill>
                  <a:srgbClr val="E86E2C"/>
                </a:solidFill>
                <a:latin typeface="Yu Gothic"/>
                <a:ea typeface="Yu Gothic"/>
              </a:rPr>
              <a:t>▶ 本時の手だてとのつながり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3708000"/>
            <a:ext cx="10391695" cy="136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Yu Gothic"/>
                <a:ea typeface="Yu Gothic"/>
              </a:rPr>
              <a:t>・「質問の種類」を可視化する手だて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Yu Gothic"/>
                <a:ea typeface="Yu Gothic"/>
              </a:rPr>
              <a:t>     ＝ 解説で示された〝聞く力の中核〟そのもの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Yu Gothic"/>
                <a:ea typeface="Yu Gothic"/>
              </a:rPr>
              <a:t>・「中心を捉え、自分の考えをもつ」 → ワークシートで保証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000" y="6534000"/>
            <a:ext cx="72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指導講評  /  研究主題「対話を通して、学びをつなげる児童の育成」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11695" y="6534000"/>
            <a:ext cx="9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72000"/>
            <a:ext cx="11759695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Yu Gothic"/>
                <a:ea typeface="Yu Gothic"/>
              </a:rPr>
              <a:t>③-2  根拠資料②：対話的な学びの重要性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76000"/>
            <a:ext cx="12191695" cy="36000"/>
          </a:xfrm>
          <a:prstGeom prst="rect">
            <a:avLst/>
          </a:prstGeom>
          <a:solidFill>
            <a:srgbClr val="E86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000" y="648000"/>
            <a:ext cx="11759695" cy="28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0">
                <a:solidFill>
                  <a:srgbClr val="777777"/>
                </a:solidFill>
                <a:latin typeface="Yu Gothic"/>
                <a:ea typeface="Yu Gothic"/>
              </a:rPr>
              <a:t>中央教育審議会答申「令和の日本型学校教育」（令和3年1月）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1152000"/>
            <a:ext cx="11111695" cy="1080000"/>
          </a:xfrm>
          <a:prstGeom prst="roundRect">
            <a:avLst/>
          </a:prstGeom>
          <a:solidFill>
            <a:srgbClr val="E3EEF7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1224000"/>
            <a:ext cx="10751695" cy="3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Yu Gothic"/>
                <a:ea typeface="Yu Gothic"/>
              </a:rPr>
              <a:t>■ 答申で示された方向性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1584000"/>
            <a:ext cx="10391695" cy="72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  <a:ea typeface="Yu Gothic"/>
              </a:rPr>
              <a:t>「個別最適な学び」と「協働的な学び」を一体的に充実させ、</a:t>
            </a:r>
          </a:p>
          <a:p>
            <a:pPr algn="l"/>
            <a:r>
              <a:rPr sz="1800" b="1">
                <a:solidFill>
                  <a:srgbClr val="333333"/>
                </a:solidFill>
                <a:latin typeface="Yu Gothic"/>
                <a:ea typeface="Yu Gothic"/>
              </a:rPr>
              <a:t>  主体的・対話的で深い学びの実現を目指す。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520000"/>
            <a:ext cx="11111695" cy="3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600" b="1">
                <a:solidFill>
                  <a:srgbClr val="E86E2C"/>
                </a:solidFill>
                <a:latin typeface="Yu Gothic"/>
                <a:ea typeface="Yu Gothic"/>
              </a:rPr>
              <a:t>▼  菅原学級の対話の流れがまさに体現  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3847" y="2988000"/>
            <a:ext cx="2520000" cy="1620000"/>
          </a:xfrm>
          <a:prstGeom prst="roundRect">
            <a:avLst/>
          </a:prstGeom>
          <a:solidFill>
            <a:srgbClr val="F2F7FB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3847" y="3096000"/>
            <a:ext cx="25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2000" b="1">
                <a:solidFill>
                  <a:srgbClr val="1F4E79"/>
                </a:solidFill>
                <a:latin typeface="Yu Gothic"/>
                <a:ea typeface="Yu Gothic"/>
              </a:rPr>
              <a:t>個別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3847" y="3636000"/>
            <a:ext cx="252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300" b="0">
                <a:solidFill>
                  <a:srgbClr val="1F4E79"/>
                </a:solidFill>
                <a:latin typeface="Yu Gothic"/>
                <a:ea typeface="Yu Gothic"/>
              </a:rPr>
              <a:t>ワークシートに</a:t>
            </a:r>
          </a:p>
          <a:p>
            <a:pPr algn="ctr"/>
            <a:r>
              <a:rPr sz="1300" b="0">
                <a:solidFill>
                  <a:srgbClr val="1F4E79"/>
                </a:solidFill>
                <a:latin typeface="Yu Gothic"/>
                <a:ea typeface="Yu Gothic"/>
              </a:rPr>
              <a:t>自分の質問を書く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77847" y="3654000"/>
            <a:ext cx="180000" cy="288000"/>
          </a:xfrm>
          <a:prstGeom prst="rightArrow">
            <a:avLst/>
          </a:prstGeom>
          <a:solidFill>
            <a:srgbClr val="E86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1847" y="2988000"/>
            <a:ext cx="2520000" cy="1620000"/>
          </a:xfrm>
          <a:prstGeom prst="roundRect">
            <a:avLst/>
          </a:prstGeom>
          <a:solidFill>
            <a:srgbClr val="E3EEF7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1847" y="3096000"/>
            <a:ext cx="25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2000" b="1">
                <a:solidFill>
                  <a:srgbClr val="1F4E79"/>
                </a:solidFill>
                <a:latin typeface="Yu Gothic"/>
                <a:ea typeface="Yu Gothic"/>
              </a:rPr>
              <a:t>ペア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1847" y="3636000"/>
            <a:ext cx="252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300" b="0">
                <a:solidFill>
                  <a:srgbClr val="1F4E79"/>
                </a:solidFill>
                <a:latin typeface="Yu Gothic"/>
                <a:ea typeface="Yu Gothic"/>
              </a:rPr>
              <a:t>隣同士で</a:t>
            </a:r>
          </a:p>
          <a:p>
            <a:pPr algn="ctr"/>
            <a:r>
              <a:rPr sz="1300" b="0">
                <a:solidFill>
                  <a:srgbClr val="1F4E79"/>
                </a:solidFill>
                <a:latin typeface="Yu Gothic"/>
                <a:ea typeface="Yu Gothic"/>
              </a:rPr>
              <a:t>質問を交流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05847" y="3654000"/>
            <a:ext cx="180000" cy="288000"/>
          </a:xfrm>
          <a:prstGeom prst="rightArrow">
            <a:avLst/>
          </a:prstGeom>
          <a:solidFill>
            <a:srgbClr val="E86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49847" y="2988000"/>
            <a:ext cx="2520000" cy="1620000"/>
          </a:xfrm>
          <a:prstGeom prst="roundRect">
            <a:avLst/>
          </a:prstGeom>
          <a:solidFill>
            <a:srgbClr val="FFF6D9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9847" y="3096000"/>
            <a:ext cx="25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2000" b="1">
                <a:solidFill>
                  <a:srgbClr val="E86E2C"/>
                </a:solidFill>
                <a:latin typeface="Yu Gothic"/>
                <a:ea typeface="Yu Gothic"/>
              </a:rPr>
              <a:t>グループ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9847" y="3636000"/>
            <a:ext cx="252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300" b="0">
                <a:solidFill>
                  <a:srgbClr val="E86E2C"/>
                </a:solidFill>
                <a:latin typeface="Yu Gothic"/>
                <a:ea typeface="Yu Gothic"/>
              </a:rPr>
              <a:t>動画を見て</a:t>
            </a:r>
          </a:p>
          <a:p>
            <a:pPr algn="ctr"/>
            <a:r>
              <a:rPr sz="1300" b="0">
                <a:solidFill>
                  <a:srgbClr val="E86E2C"/>
                </a:solidFill>
                <a:latin typeface="Yu Gothic"/>
                <a:ea typeface="Yu Gothic"/>
              </a:rPr>
              <a:t>良さを探す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633847" y="3654000"/>
            <a:ext cx="180000" cy="288000"/>
          </a:xfrm>
          <a:prstGeom prst="rightArrow">
            <a:avLst/>
          </a:prstGeom>
          <a:solidFill>
            <a:srgbClr val="E86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77847" y="2988000"/>
            <a:ext cx="2520000" cy="1620000"/>
          </a:xfrm>
          <a:prstGeom prst="roundRect">
            <a:avLst/>
          </a:prstGeom>
          <a:solidFill>
            <a:srgbClr val="1F4E79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7847" y="3096000"/>
            <a:ext cx="25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</a:rPr>
              <a:t>全体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7847" y="3636000"/>
            <a:ext cx="252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Yu Gothic"/>
                <a:ea typeface="Yu Gothic"/>
              </a:rPr>
              <a:t>対話の質を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Yu Gothic"/>
                <a:ea typeface="Yu Gothic"/>
              </a:rPr>
              <a:t>共通理解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4968000"/>
            <a:ext cx="11111695" cy="28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Yu Gothic"/>
                <a:ea typeface="Yu Gothic"/>
              </a:rPr>
              <a:t>個別 ⇄ 協働 の往還が、児童の〝学びをつなげる〟土台になる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000" y="6534000"/>
            <a:ext cx="72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指導講評  /  研究主題「対話を通して、学びをつなげる児童の育成」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11695" y="6534000"/>
            <a:ext cx="9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72000"/>
            <a:ext cx="11759695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Yu Gothic"/>
                <a:ea typeface="Yu Gothic"/>
              </a:rPr>
              <a:t>③-3  根拠資料③：東京都教育委員会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76000"/>
            <a:ext cx="12191695" cy="36000"/>
          </a:xfrm>
          <a:prstGeom prst="rect">
            <a:avLst/>
          </a:prstGeom>
          <a:solidFill>
            <a:srgbClr val="E86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000" y="648000"/>
            <a:ext cx="11759695" cy="28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0">
                <a:solidFill>
                  <a:srgbClr val="777777"/>
                </a:solidFill>
                <a:latin typeface="Yu Gothic"/>
                <a:ea typeface="Yu Gothic"/>
              </a:rPr>
              <a:t>東京都教育ビジョン（第5次）／ 言語能力向上推進事業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1152000"/>
            <a:ext cx="5400000" cy="3960000"/>
          </a:xfrm>
          <a:prstGeom prst="roundRect">
            <a:avLst/>
          </a:prstGeom>
          <a:solidFill>
            <a:srgbClr val="F2F7FB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000" y="1152000"/>
            <a:ext cx="5400000" cy="503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8000" y="1188000"/>
            <a:ext cx="52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Yu Gothic"/>
                <a:ea typeface="Yu Gothic"/>
              </a:rPr>
              <a:t>■ 東京都教育ビジョン（第5次）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1764000"/>
            <a:ext cx="5040000" cy="32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>・主体的に学び、考え、行動する力の育成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>・「話す・聞く・読む・書く」言語能力を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>  全教育活動で計画的に育成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>・思考力・判断力・表現力等の基盤として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Yu Gothic"/>
                <a:ea typeface="Yu Gothic"/>
              </a:rPr>
              <a:t>  言語能力を位置づける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0000" y="1152000"/>
            <a:ext cx="5531695" cy="3960000"/>
          </a:xfrm>
          <a:prstGeom prst="roundRect">
            <a:avLst/>
          </a:prstGeom>
          <a:solidFill>
            <a:srgbClr val="FFF6D9"/>
          </a:solidFill>
          <a:ln w="19050">
            <a:solidFill>
              <a:srgbClr val="E86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0000" y="1152000"/>
            <a:ext cx="5531695" cy="503999"/>
          </a:xfrm>
          <a:prstGeom prst="rect">
            <a:avLst/>
          </a:prstGeom>
          <a:solidFill>
            <a:srgbClr val="E86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28000" y="1188000"/>
            <a:ext cx="5315695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Yu Gothic"/>
                <a:ea typeface="Yu Gothic"/>
              </a:rPr>
              <a:t>▶ 本校研究とのつながり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999" y="1764000"/>
            <a:ext cx="5315695" cy="32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本校研究仮説の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「視点を明確にした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  対話の継続」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は、都の言語能力育成の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方向と完全に一致。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校内研究は、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都の施策推進そのもの。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000" y="6534000"/>
            <a:ext cx="72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指導講評  /  研究主題「対話を通して、学びをつなげる児童の育成」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1695" y="6534000"/>
            <a:ext cx="9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72000"/>
            <a:ext cx="11759695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Yu Gothic"/>
                <a:ea typeface="Yu Gothic"/>
              </a:rPr>
              <a:t>④ 先生方への投げかけ（2分）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76000"/>
            <a:ext cx="12191695" cy="36000"/>
          </a:xfrm>
          <a:prstGeom prst="rect">
            <a:avLst/>
          </a:prstGeom>
          <a:solidFill>
            <a:srgbClr val="E86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000" y="648000"/>
            <a:ext cx="11759695" cy="28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0">
                <a:solidFill>
                  <a:srgbClr val="777777"/>
                </a:solidFill>
                <a:latin typeface="Yu Gothic"/>
                <a:ea typeface="Yu Gothic"/>
              </a:rPr>
              <a:t>ペアトークで、本時を自分の実践につなげる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1152000"/>
            <a:ext cx="11111695" cy="720000"/>
          </a:xfrm>
          <a:prstGeom prst="roundRect">
            <a:avLst/>
          </a:prstGeom>
          <a:solidFill>
            <a:srgbClr val="E3EEF7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1224000"/>
            <a:ext cx="10751695" cy="64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Yu Gothic"/>
                <a:ea typeface="Yu Gothic"/>
              </a:rPr>
              <a:t>📊  児童の意識調査より：</a:t>
            </a:r>
          </a:p>
          <a:p>
            <a:pPr algn="l"/>
            <a:r>
              <a:rPr sz="1800" b="1">
                <a:solidFill>
                  <a:srgbClr val="1F4E79"/>
                </a:solidFill>
                <a:latin typeface="Yu Gothic"/>
                <a:ea typeface="Yu Gothic"/>
              </a:rPr>
              <a:t>       「質問を考えながら聞く」と答えた児童は ▶ 33％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2052000"/>
            <a:ext cx="11111695" cy="2520000"/>
          </a:xfrm>
          <a:prstGeom prst="roundRect">
            <a:avLst/>
          </a:prstGeom>
          <a:solidFill>
            <a:srgbClr val="FFF6D9"/>
          </a:solidFill>
          <a:ln w="25400">
            <a:solidFill>
              <a:srgbClr val="E86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2124000"/>
            <a:ext cx="10751695" cy="3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2000" b="1">
                <a:solidFill>
                  <a:srgbClr val="E86E2C"/>
                </a:solidFill>
                <a:latin typeface="Yu Gothic"/>
                <a:ea typeface="Yu Gothic"/>
              </a:rPr>
              <a:t>Q．  隣の先生と1分間  考えてみてください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2628000"/>
            <a:ext cx="10391695" cy="9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  <a:ea typeface="Yu Gothic"/>
              </a:rPr>
              <a:t>①  自分の学年・教科で、「質問の種類」のような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  <a:ea typeface="Yu Gothic"/>
              </a:rPr>
              <a:t>      〝対話の足場〟を作るとしたら、何ができますか？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3708000"/>
            <a:ext cx="10391695" cy="9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  <a:ea typeface="Yu Gothic"/>
              </a:rPr>
              <a:t>②  児童が〝伝えてよかった・聞けてよかった〟と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  <a:ea typeface="Yu Gothic"/>
              </a:rPr>
              <a:t>      実感する場面を、どう仕掛けますか？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0000" y="4788000"/>
            <a:ext cx="5400000" cy="6120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0000" y="4788000"/>
            <a:ext cx="5400000" cy="61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  <a:ea typeface="Yu Gothic"/>
              </a:rPr>
              <a:t>⏱  1分間ペアトーク → 30秒で2～3名から共有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000" y="6534000"/>
            <a:ext cx="72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指導講評  /  研究主題「対話を通して、学びをつなげる児童の育成」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1695" y="6534000"/>
            <a:ext cx="9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72000"/>
            <a:ext cx="11759695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Yu Gothic"/>
                <a:ea typeface="Yu Gothic"/>
              </a:rPr>
              <a:t>⑤ 今後への提案  ／  ⑥ 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76000"/>
            <a:ext cx="12191695" cy="36000"/>
          </a:xfrm>
          <a:prstGeom prst="rect">
            <a:avLst/>
          </a:prstGeom>
          <a:solidFill>
            <a:srgbClr val="E86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000" y="648000"/>
            <a:ext cx="11759695" cy="288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0">
                <a:solidFill>
                  <a:srgbClr val="777777"/>
                </a:solidFill>
                <a:latin typeface="Yu Gothic"/>
                <a:ea typeface="Yu Gothic"/>
              </a:rPr>
              <a:t>研究仮説の検証ポイント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5847" y="1260000"/>
            <a:ext cx="3420000" cy="19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5847" y="1404000"/>
            <a:ext cx="540000" cy="540000"/>
          </a:xfrm>
          <a:prstGeom prst="ellipse">
            <a:avLst/>
          </a:prstGeom>
          <a:solidFill>
            <a:srgbClr val="E86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5847" y="1404000"/>
            <a:ext cx="54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Yu Gothic"/>
                <a:ea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7847" y="1476000"/>
            <a:ext cx="25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Yu Gothic"/>
                <a:ea typeface="Yu Gothic"/>
              </a:rPr>
              <a:t>話題の吟味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847" y="2052000"/>
            <a:ext cx="3060000" cy="108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児童が〝聞きたくなる〟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話題を、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教師自身が体現する。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5847" y="1260000"/>
            <a:ext cx="3420000" cy="19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65847" y="1404000"/>
            <a:ext cx="540000" cy="540000"/>
          </a:xfrm>
          <a:prstGeom prst="ellipse">
            <a:avLst/>
          </a:prstGeom>
          <a:solidFill>
            <a:srgbClr val="E86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847" y="1404000"/>
            <a:ext cx="54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77847" y="1476000"/>
            <a:ext cx="25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Yu Gothic"/>
                <a:ea typeface="Yu Gothic"/>
              </a:rPr>
              <a:t>視点の共通言語化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847" y="2052000"/>
            <a:ext cx="3060000" cy="108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「確かめ・2ndQ・感想」を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学校全体の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共通言語に。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85847" y="1260000"/>
            <a:ext cx="3420000" cy="19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65847" y="1404000"/>
            <a:ext cx="540000" cy="540000"/>
          </a:xfrm>
          <a:prstGeom prst="ellipse">
            <a:avLst/>
          </a:prstGeom>
          <a:solidFill>
            <a:srgbClr val="E86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5847" y="1404000"/>
            <a:ext cx="54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7847" y="1476000"/>
            <a:ext cx="25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Yu Gothic"/>
                <a:ea typeface="Yu Gothic"/>
              </a:rPr>
              <a:t>安心の環境づくり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847" y="2052000"/>
            <a:ext cx="3060000" cy="108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話型・モデル提示の継続で、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〝自信がない児童〟にも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Yu Gothic"/>
                <a:ea typeface="Yu Gothic"/>
              </a:rPr>
              <a:t>届ける。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0000" y="3600000"/>
            <a:ext cx="11111695" cy="18000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0000" y="3708000"/>
            <a:ext cx="11111695" cy="36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600" b="1">
                <a:solidFill>
                  <a:srgbClr val="E86E2C"/>
                </a:solidFill>
                <a:latin typeface="Yu Gothic"/>
                <a:ea typeface="Yu Gothic"/>
              </a:rPr>
              <a:t>⑥  本日のまとめ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4140000"/>
            <a:ext cx="10751695" cy="108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  <a:ea typeface="Yu Gothic"/>
              </a:rPr>
              <a:t>「対話を通して、学びをつなげる児童」は、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Yu Gothic"/>
                <a:ea typeface="Yu Gothic"/>
              </a:rPr>
              <a:t>まず 教師自身が〝対話で学びをつなげる姿〟から始まる。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Yu Gothic"/>
                <a:ea typeface="Yu Gothic"/>
              </a:rPr>
              <a:t/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Yu Gothic"/>
                <a:ea typeface="Yu Gothic"/>
              </a:rPr>
              <a:t>今日皆さんが隣の先生と交わした言葉が、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Yu Gothic"/>
                <a:ea typeface="Yu Gothic"/>
              </a:rPr>
              <a:t>明日の授業で子どもたちに返っていきます。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000" y="6534000"/>
            <a:ext cx="72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指導講評  /  研究主題「対話を通して、学びをつなげる児童の育成」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11695" y="6534000"/>
            <a:ext cx="9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 anchor="t">
            <a:spAutoFit/>
          </a:bodyPr>
          <a:lstStyle/>
          <a:p>
            <a:pPr algn="r"/>
            <a:r>
              <a:rPr sz="1000" b="0">
                <a:solidFill>
                  <a:srgbClr val="777777"/>
                </a:solidFill>
                <a:latin typeface="Yu Gothic"/>
                <a:ea typeface="Yu Gothic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