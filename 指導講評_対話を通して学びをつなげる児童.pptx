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32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432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26000"/>
            <a:ext cx="12193200" cy="432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0000" y="827999"/>
            <a:ext cx="11473200" cy="432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ctr"/>
            <a:r>
              <a:rPr sz="2200" b="1">
                <a:solidFill>
                  <a:srgbClr val="1A1A1A"/>
                </a:solidFill>
                <a:latin typeface="メイリオ"/>
                <a:ea typeface="メイリオ"/>
              </a:rPr>
              <a:t>練馬区立開進第四小学校  校内研究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1332000"/>
            <a:ext cx="11473200" cy="360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ctr"/>
            <a:r>
              <a:rPr sz="1800" b="1">
                <a:solidFill>
                  <a:srgbClr val="1A1A1A"/>
                </a:solidFill>
                <a:latin typeface="メイリオ"/>
                <a:ea typeface="メイリオ"/>
              </a:rPr>
              <a:t>令和８年５月２５日（月）  第３学年  国語科  研究授業</a:t>
            </a:r>
          </a:p>
        </p:txBody>
      </p:sp>
      <p:sp>
        <p:nvSpPr>
          <p:cNvPr id="6" name="Rectangle 5"/>
          <p:cNvSpPr/>
          <p:nvPr/>
        </p:nvSpPr>
        <p:spPr>
          <a:xfrm>
            <a:off x="720000" y="2088000"/>
            <a:ext cx="10753200" cy="54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0000" y="2268000"/>
            <a:ext cx="11473200" cy="540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ctr"/>
            <a:r>
              <a:rPr sz="2800" b="1">
                <a:solidFill>
                  <a:srgbClr val="002060"/>
                </a:solidFill>
                <a:latin typeface="メイリオ"/>
                <a:ea typeface="メイリオ"/>
              </a:rPr>
              <a:t>指 導 講 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0000" y="3060000"/>
            <a:ext cx="11473200" cy="1800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ctr"/>
            <a:r>
              <a:rPr sz="5200" b="1">
                <a:solidFill>
                  <a:srgbClr val="1A1A1A"/>
                </a:solidFill>
                <a:latin typeface="メイリオ"/>
                <a:ea typeface="メイリオ"/>
              </a:rPr>
              <a:t>対話を通して、</a:t>
            </a:r>
          </a:p>
          <a:p>
            <a:pPr algn="ctr"/>
            <a:r>
              <a:rPr sz="5200" b="1">
                <a:solidFill>
                  <a:srgbClr val="1A1A1A"/>
                </a:solidFill>
                <a:latin typeface="メイリオ"/>
                <a:ea typeface="メイリオ"/>
              </a:rPr>
              <a:t>学びをつなげる児童</a:t>
            </a:r>
          </a:p>
        </p:txBody>
      </p:sp>
      <p:sp>
        <p:nvSpPr>
          <p:cNvPr id="9" name="Rectangle 8"/>
          <p:cNvSpPr/>
          <p:nvPr/>
        </p:nvSpPr>
        <p:spPr>
          <a:xfrm>
            <a:off x="720000" y="5508000"/>
            <a:ext cx="10753200" cy="54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0000" y="5688000"/>
            <a:ext cx="11473200" cy="432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ctr"/>
            <a:r>
              <a:rPr sz="1600" b="1">
                <a:solidFill>
                  <a:srgbClr val="1A1A1A"/>
                </a:solidFill>
                <a:latin typeface="メイリオ"/>
                <a:ea typeface="メイリオ"/>
              </a:rPr>
              <a:t>中学年分科会  第３学年 国語科  授業者：菅原 愛里 教諭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88000" y="144000"/>
            <a:ext cx="8280000" cy="648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l"/>
            <a:r>
              <a:rPr sz="3200" b="1">
                <a:solidFill>
                  <a:srgbClr val="1A1A1A"/>
                </a:solidFill>
                <a:latin typeface="メイリオ"/>
                <a:ea typeface="メイリオ"/>
              </a:rPr>
              <a:t>本日の流れ（10分間）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288000" y="827999"/>
            <a:ext cx="11617200" cy="54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40000" y="1350000"/>
            <a:ext cx="503999" cy="503999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0000" y="1350000"/>
            <a:ext cx="503999" cy="503999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メイリオ"/>
                <a:ea typeface="メイリオ"/>
              </a:rPr>
              <a:t>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000" y="1260000"/>
            <a:ext cx="2160000" cy="756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l"/>
            <a:r>
              <a:rPr sz="1800" b="1">
                <a:solidFill>
                  <a:srgbClr val="002060"/>
                </a:solidFill>
                <a:latin typeface="メイリオ"/>
                <a:ea typeface="メイリオ"/>
              </a:rPr>
              <a:t>0:00 – 1:00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20000" y="1260000"/>
            <a:ext cx="6120000" cy="756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l"/>
            <a:r>
              <a:rPr sz="2000" b="1">
                <a:solidFill>
                  <a:srgbClr val="1A1A1A"/>
                </a:solidFill>
                <a:latin typeface="メイリオ"/>
                <a:ea typeface="メイリオ"/>
              </a:rPr>
              <a:t>アイスブレイク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33200" y="1260000"/>
            <a:ext cx="1620000" cy="756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r"/>
            <a:r>
              <a:rPr sz="1600" b="0">
                <a:solidFill>
                  <a:srgbClr val="666666"/>
                </a:solidFill>
                <a:latin typeface="メイリオ"/>
                <a:ea typeface="メイリオ"/>
              </a:rPr>
              <a:t>1分</a:t>
            </a:r>
          </a:p>
        </p:txBody>
      </p:sp>
      <p:sp>
        <p:nvSpPr>
          <p:cNvPr id="9" name="Rectangle 8"/>
          <p:cNvSpPr/>
          <p:nvPr/>
        </p:nvSpPr>
        <p:spPr>
          <a:xfrm>
            <a:off x="1188000" y="1998000"/>
            <a:ext cx="10573200" cy="108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40000" y="2106000"/>
            <a:ext cx="503999" cy="503999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0000" y="2106000"/>
            <a:ext cx="503999" cy="503999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メイリオ"/>
                <a:ea typeface="メイリオ"/>
              </a:rPr>
              <a:t>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000" y="2016000"/>
            <a:ext cx="2160000" cy="756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l"/>
            <a:r>
              <a:rPr sz="1800" b="1">
                <a:solidFill>
                  <a:srgbClr val="002060"/>
                </a:solidFill>
                <a:latin typeface="メイリオ"/>
                <a:ea typeface="メイリオ"/>
              </a:rPr>
              <a:t>1:00 – 3:00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20000" y="2016000"/>
            <a:ext cx="6120000" cy="756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l"/>
            <a:r>
              <a:rPr sz="2000" b="1">
                <a:solidFill>
                  <a:srgbClr val="1A1A1A"/>
                </a:solidFill>
                <a:latin typeface="メイリオ"/>
                <a:ea typeface="メイリオ"/>
              </a:rPr>
              <a:t>本時の授業の価値づけ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33200" y="2016000"/>
            <a:ext cx="1620000" cy="756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r"/>
            <a:r>
              <a:rPr sz="1600" b="0">
                <a:solidFill>
                  <a:srgbClr val="666666"/>
                </a:solidFill>
                <a:latin typeface="メイリオ"/>
                <a:ea typeface="メイリオ"/>
              </a:rPr>
              <a:t>2分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88000" y="2754000"/>
            <a:ext cx="10573200" cy="108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40000" y="2862000"/>
            <a:ext cx="503999" cy="503999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0000" y="2862000"/>
            <a:ext cx="503999" cy="503999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メイリオ"/>
                <a:ea typeface="メイリオ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000" y="2772000"/>
            <a:ext cx="2160000" cy="756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l"/>
            <a:r>
              <a:rPr sz="1800" b="1">
                <a:solidFill>
                  <a:srgbClr val="002060"/>
                </a:solidFill>
                <a:latin typeface="メイリオ"/>
                <a:ea typeface="メイリオ"/>
              </a:rPr>
              <a:t>3:00 – 5:00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20000" y="2772000"/>
            <a:ext cx="6120000" cy="756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l"/>
            <a:r>
              <a:rPr sz="2000" b="1">
                <a:solidFill>
                  <a:srgbClr val="1A1A1A"/>
                </a:solidFill>
                <a:latin typeface="メイリオ"/>
                <a:ea typeface="メイリオ"/>
              </a:rPr>
              <a:t>研究主題との関連と根拠資料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33200" y="2772000"/>
            <a:ext cx="1620000" cy="756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r"/>
            <a:r>
              <a:rPr sz="1600" b="0">
                <a:solidFill>
                  <a:srgbClr val="666666"/>
                </a:solidFill>
                <a:latin typeface="メイリオ"/>
                <a:ea typeface="メイリオ"/>
              </a:rPr>
              <a:t>2分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188000" y="3510000"/>
            <a:ext cx="10573200" cy="108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40000" y="3618000"/>
            <a:ext cx="503999" cy="503999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0000" y="3618000"/>
            <a:ext cx="503999" cy="503999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メイリオ"/>
                <a:ea typeface="メイリオ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000" y="3528000"/>
            <a:ext cx="2160000" cy="756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l"/>
            <a:r>
              <a:rPr sz="1800" b="1">
                <a:solidFill>
                  <a:srgbClr val="002060"/>
                </a:solidFill>
                <a:latin typeface="メイリオ"/>
                <a:ea typeface="メイリオ"/>
              </a:rPr>
              <a:t>5:00 – 7:00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20000" y="3528000"/>
            <a:ext cx="6120000" cy="756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l"/>
            <a:r>
              <a:rPr sz="2000" b="1">
                <a:solidFill>
                  <a:srgbClr val="1A1A1A"/>
                </a:solidFill>
                <a:latin typeface="メイリオ"/>
                <a:ea typeface="メイリオ"/>
              </a:rPr>
              <a:t>【投げかけ】先生方とのペア交流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33200" y="3528000"/>
            <a:ext cx="1620000" cy="756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r"/>
            <a:r>
              <a:rPr sz="1600" b="0">
                <a:solidFill>
                  <a:srgbClr val="666666"/>
                </a:solidFill>
                <a:latin typeface="メイリオ"/>
                <a:ea typeface="メイリオ"/>
              </a:rPr>
              <a:t>2分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188000" y="4266000"/>
            <a:ext cx="10573200" cy="108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40000" y="4374000"/>
            <a:ext cx="503999" cy="503999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0000" y="4374000"/>
            <a:ext cx="503999" cy="503999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メイリオ"/>
                <a:ea typeface="メイリオ"/>
              </a:rPr>
              <a:t>⑤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88000" y="4284000"/>
            <a:ext cx="2160000" cy="756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l"/>
            <a:r>
              <a:rPr sz="1800" b="1">
                <a:solidFill>
                  <a:srgbClr val="002060"/>
                </a:solidFill>
                <a:latin typeface="メイリオ"/>
                <a:ea typeface="メイリオ"/>
              </a:rPr>
              <a:t>7:00 – 9:30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20000" y="4284000"/>
            <a:ext cx="6120000" cy="756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l"/>
            <a:r>
              <a:rPr sz="2000" b="1">
                <a:solidFill>
                  <a:srgbClr val="1A1A1A"/>
                </a:solidFill>
                <a:latin typeface="メイリオ"/>
                <a:ea typeface="メイリオ"/>
              </a:rPr>
              <a:t>共有と今後への提案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33200" y="4284000"/>
            <a:ext cx="1620000" cy="756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r"/>
            <a:r>
              <a:rPr sz="1600" b="0">
                <a:solidFill>
                  <a:srgbClr val="666666"/>
                </a:solidFill>
                <a:latin typeface="メイリオ"/>
                <a:ea typeface="メイリオ"/>
              </a:rPr>
              <a:t>2分30秒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88000" y="5022000"/>
            <a:ext cx="10573200" cy="108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540000" y="5130000"/>
            <a:ext cx="503999" cy="503999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0000" y="5130000"/>
            <a:ext cx="503999" cy="503999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メイリオ"/>
                <a:ea typeface="メイリオ"/>
              </a:rPr>
              <a:t>⑥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88000" y="5040000"/>
            <a:ext cx="2160000" cy="756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l"/>
            <a:r>
              <a:rPr sz="1800" b="1">
                <a:solidFill>
                  <a:srgbClr val="002060"/>
                </a:solidFill>
                <a:latin typeface="メイリオ"/>
                <a:ea typeface="メイリオ"/>
              </a:rPr>
              <a:t>9:30 – 10:00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420000" y="5040000"/>
            <a:ext cx="6120000" cy="756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l"/>
            <a:r>
              <a:rPr sz="2000" b="1">
                <a:solidFill>
                  <a:srgbClr val="1A1A1A"/>
                </a:solidFill>
                <a:latin typeface="メイリオ"/>
                <a:ea typeface="メイリオ"/>
              </a:rPr>
              <a:t>まとめ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033200" y="5040000"/>
            <a:ext cx="1620000" cy="756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r"/>
            <a:r>
              <a:rPr sz="1600" b="0">
                <a:solidFill>
                  <a:srgbClr val="666666"/>
                </a:solidFill>
                <a:latin typeface="メイリオ"/>
                <a:ea typeface="メイリオ"/>
              </a:rPr>
              <a:t>30秒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88000" y="6534000"/>
            <a:ext cx="9000000" cy="216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t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メイリオ"/>
                <a:ea typeface="メイリオ"/>
              </a:rPr>
              <a:t>指導講評  研究主題「対話を通して、学びをつなげる児童の育成」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113200" y="6534000"/>
            <a:ext cx="792000" cy="216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t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メイリオ"/>
                <a:ea typeface="メイリオ"/>
              </a:rPr>
              <a:t>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88000" y="144000"/>
            <a:ext cx="8280000" cy="648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l"/>
            <a:r>
              <a:rPr sz="3200" b="1">
                <a:solidFill>
                  <a:srgbClr val="1A1A1A"/>
                </a:solidFill>
                <a:latin typeface="メイリオ"/>
                <a:ea typeface="メイリオ"/>
              </a:rPr>
              <a:t>①  アイスブレイク（1分）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288000" y="827999"/>
            <a:ext cx="11617200" cy="54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0000" y="1260000"/>
            <a:ext cx="11113200" cy="3060000"/>
          </a:xfrm>
          <a:prstGeom prst="roundRect">
            <a:avLst/>
          </a:prstGeom>
          <a:solidFill>
            <a:srgbClr val="FFF2CC"/>
          </a:solidFill>
          <a:ln w="254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00000" y="1404000"/>
            <a:ext cx="10393200" cy="468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l"/>
            <a:r>
              <a:rPr sz="2200" b="1">
                <a:solidFill>
                  <a:srgbClr val="002060"/>
                </a:solidFill>
                <a:latin typeface="メイリオ"/>
                <a:ea typeface="メイリオ"/>
              </a:rPr>
              <a:t>Q．  隣の先生と…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0000" y="1980000"/>
            <a:ext cx="10393200" cy="792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>
                <a:solidFill>
                  <a:srgbClr val="1A1A1A"/>
                </a:solidFill>
                <a:latin typeface="メイリオ"/>
                <a:ea typeface="メイリオ"/>
              </a:rPr>
              <a:t>「今日の授業で、思わず </a:t>
            </a:r>
            <a:r>
              <a:rPr sz="2600" b="1">
                <a:solidFill>
                  <a:srgbClr val="FF0000"/>
                </a:solidFill>
                <a:latin typeface="メイリオ"/>
                <a:ea typeface="メイリオ"/>
              </a:rPr>
              <a:t>〝おっ〟</a:t>
            </a:r>
            <a:r>
              <a:rPr sz="2200" b="1">
                <a:solidFill>
                  <a:srgbClr val="1A1A1A"/>
                </a:solidFill>
                <a:latin typeface="メイリオ"/>
                <a:ea typeface="メイリオ"/>
              </a:rPr>
              <a:t> と心が動いた瞬間」を、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2880000"/>
            <a:ext cx="10393200" cy="792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1">
                <a:solidFill>
                  <a:srgbClr val="FF0000"/>
                </a:solidFill>
                <a:latin typeface="メイリオ"/>
                <a:ea typeface="メイリオ"/>
              </a:rPr>
              <a:t>ジェスチャー一つ</a:t>
            </a:r>
            <a:r>
              <a:rPr sz="2200" b="1">
                <a:solidFill>
                  <a:srgbClr val="1A1A1A"/>
                </a:solidFill>
                <a:latin typeface="メイリオ"/>
                <a:ea typeface="メイリオ"/>
              </a:rPr>
              <a:t> で表してみてください。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3960000" y="4680000"/>
            <a:ext cx="4273200" cy="64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60000" y="4680000"/>
            <a:ext cx="4273200" cy="648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メイリオ"/>
                <a:ea typeface="メイリオ"/>
              </a:rPr>
              <a:t>⏱   30 秒  ペアトーク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0000" y="5580000"/>
            <a:ext cx="11113200" cy="540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ctr"/>
            <a:r>
              <a:rPr sz="1800" b="1">
                <a:solidFill>
                  <a:srgbClr val="002060"/>
                </a:solidFill>
                <a:latin typeface="メイリオ"/>
                <a:ea typeface="メイリオ"/>
              </a:rPr>
              <a:t>▶ 今、皆さん自身が〝対話〟を始めました。これが今日のテーマです。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000" y="6534000"/>
            <a:ext cx="9000000" cy="216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t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メイリオ"/>
                <a:ea typeface="メイリオ"/>
              </a:rPr>
              <a:t>指導講評  研究主題「対話を通して、学びをつなげる児童の育成」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13200" y="6534000"/>
            <a:ext cx="792000" cy="216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t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メイリオ"/>
                <a:ea typeface="メイリオ"/>
              </a:rPr>
              <a:t>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88000" y="144000"/>
            <a:ext cx="8280000" cy="648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l"/>
            <a:r>
              <a:rPr sz="3200" b="1">
                <a:solidFill>
                  <a:srgbClr val="1A1A1A"/>
                </a:solidFill>
                <a:latin typeface="メイリオ"/>
                <a:ea typeface="メイリオ"/>
              </a:rPr>
              <a:t>②  本時の授業の価値づけ</a:t>
            </a:r>
          </a:p>
        </p:txBody>
      </p:sp>
      <p:sp>
        <p:nvSpPr>
          <p:cNvPr id="3" name="Rectangle 2"/>
          <p:cNvSpPr/>
          <p:nvPr/>
        </p:nvSpPr>
        <p:spPr>
          <a:xfrm>
            <a:off x="288000" y="827999"/>
            <a:ext cx="11617200" cy="54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0000" y="1080000"/>
            <a:ext cx="11113200" cy="503999"/>
          </a:xfrm>
          <a:prstGeom prst="rect">
            <a:avLst/>
          </a:prstGeom>
          <a:solidFill>
            <a:srgbClr val="DAE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0000" y="1080000"/>
            <a:ext cx="11113200" cy="503999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ctr"/>
            <a:r>
              <a:rPr sz="1800" b="1">
                <a:solidFill>
                  <a:srgbClr val="002060"/>
                </a:solidFill>
                <a:latin typeface="メイリオ"/>
                <a:ea typeface="メイリオ"/>
              </a:rPr>
              <a:t>第３学年 国語科  単元「もっと知りたい、友だちのこと」  （全６時間中の第３時）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52600" y="1728000"/>
            <a:ext cx="3600000" cy="4140000"/>
          </a:xfrm>
          <a:prstGeom prst="rect">
            <a:avLst/>
          </a:prstGeom>
          <a:solidFill>
            <a:srgbClr val="FFFFFF"/>
          </a:solidFill>
          <a:ln w="254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52600" y="1728000"/>
            <a:ext cx="3600000" cy="792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0600" y="1728000"/>
            <a:ext cx="540000" cy="792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メイリオ"/>
                <a:ea typeface="メイリオ"/>
              </a:rPr>
              <a:t>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00600" y="1728000"/>
            <a:ext cx="2880000" cy="792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メイリオ"/>
                <a:ea typeface="メイリオ"/>
              </a:rPr>
              <a:t>教師自身が〝話し手〟に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2600" y="2664000"/>
            <a:ext cx="3240000" cy="3060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FF0000"/>
                </a:solidFill>
                <a:latin typeface="メイリオ"/>
                <a:ea typeface="メイリオ"/>
              </a:rPr>
              <a:t>「いつ・どこで・だれが」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1A1A1A"/>
                </a:solidFill>
                <a:latin typeface="メイリオ"/>
                <a:ea typeface="メイリオ"/>
              </a:rPr>
              <a:t>と質問の種類を整理。</a:t>
            </a:r>
          </a:p>
          <a:p>
            <a:pPr algn="l">
              <a:lnSpc>
                <a:spcPct val="135000"/>
              </a:lnSpc>
            </a:pP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1A1A1A"/>
                </a:solidFill>
                <a:latin typeface="メイリオ"/>
                <a:ea typeface="メイリオ"/>
              </a:rPr>
              <a:t>児童が</a:t>
            </a:r>
            <a:r>
              <a:rPr sz="1600" b="1">
                <a:solidFill>
                  <a:srgbClr val="FF0000"/>
                </a:solidFill>
                <a:latin typeface="メイリオ"/>
                <a:ea typeface="メイリオ"/>
              </a:rPr>
              <a:t>〝自分が引き出した〟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1A1A1A"/>
                </a:solidFill>
                <a:latin typeface="メイリオ"/>
                <a:ea typeface="メイリオ"/>
              </a:rPr>
              <a:t>手応えを実感。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96600" y="1728000"/>
            <a:ext cx="3600000" cy="4140000"/>
          </a:xfrm>
          <a:prstGeom prst="rect">
            <a:avLst/>
          </a:prstGeom>
          <a:solidFill>
            <a:srgbClr val="FFFFFF"/>
          </a:solidFill>
          <a:ln w="254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96600" y="1728000"/>
            <a:ext cx="3600000" cy="792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04600" y="1728000"/>
            <a:ext cx="540000" cy="792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メイリオ"/>
                <a:ea typeface="メイリオ"/>
              </a:rPr>
              <a:t>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44600" y="1728000"/>
            <a:ext cx="2880000" cy="792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メイリオ"/>
                <a:ea typeface="メイリオ"/>
              </a:rPr>
              <a:t>動画教材で対話を客観視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76600" y="2664000"/>
            <a:ext cx="3240000" cy="3060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1A1A1A"/>
                </a:solidFill>
                <a:latin typeface="メイリオ"/>
                <a:ea typeface="メイリオ"/>
              </a:rPr>
              <a:t>「よりよいやりとり」を、</a:t>
            </a:r>
          </a:p>
          <a:p>
            <a:pPr algn="l">
              <a:lnSpc>
                <a:spcPct val="135000"/>
              </a:lnSpc>
            </a:pPr>
            <a:r>
              <a:rPr sz="1600" b="1">
                <a:solidFill>
                  <a:srgbClr val="FF0000"/>
                </a:solidFill>
                <a:latin typeface="メイリオ"/>
                <a:ea typeface="メイリオ"/>
              </a:rPr>
              <a:t>抽象論ではなく</a:t>
            </a:r>
            <a:r>
              <a:rPr sz="1500" b="0">
                <a:solidFill>
                  <a:srgbClr val="1A1A1A"/>
                </a:solidFill>
                <a:latin typeface="メイリオ"/>
                <a:ea typeface="メイリオ"/>
              </a:rPr>
              <a:t>、</a:t>
            </a:r>
          </a:p>
          <a:p>
            <a:pPr algn="l">
              <a:lnSpc>
                <a:spcPct val="135000"/>
              </a:lnSpc>
            </a:pPr>
            <a:r>
              <a:rPr sz="1600" b="1">
                <a:solidFill>
                  <a:srgbClr val="FF0000"/>
                </a:solidFill>
                <a:latin typeface="メイリオ"/>
                <a:ea typeface="メイリオ"/>
              </a:rPr>
              <a:t>具体的な場面の観察</a:t>
            </a:r>
            <a:r>
              <a:rPr sz="1500" b="0">
                <a:solidFill>
                  <a:srgbClr val="1A1A1A"/>
                </a:solidFill>
                <a:latin typeface="メイリオ"/>
                <a:ea typeface="メイリオ"/>
              </a:rPr>
              <a:t>から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1A1A1A"/>
                </a:solidFill>
                <a:latin typeface="メイリオ"/>
                <a:ea typeface="メイリオ"/>
              </a:rPr>
              <a:t>考えさせた。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40600" y="1728000"/>
            <a:ext cx="3600000" cy="4140000"/>
          </a:xfrm>
          <a:prstGeom prst="rect">
            <a:avLst/>
          </a:prstGeom>
          <a:solidFill>
            <a:srgbClr val="FFFFFF"/>
          </a:solidFill>
          <a:ln w="254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0600" y="1728000"/>
            <a:ext cx="3600000" cy="792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48600" y="1728000"/>
            <a:ext cx="540000" cy="792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メイリオ"/>
                <a:ea typeface="メイリオ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8600" y="1728000"/>
            <a:ext cx="2880000" cy="792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メイリオ"/>
                <a:ea typeface="メイリオ"/>
              </a:rPr>
              <a:t>対話の質を3観点で可視化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0600" y="2664000"/>
            <a:ext cx="3240000" cy="3060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1A1A1A"/>
                </a:solidFill>
                <a:latin typeface="メイリオ"/>
                <a:ea typeface="メイリオ"/>
              </a:rPr>
              <a:t>「確かめ／</a:t>
            </a:r>
            <a:r>
              <a:rPr sz="1600" b="1">
                <a:solidFill>
                  <a:srgbClr val="FF0000"/>
                </a:solidFill>
                <a:latin typeface="メイリオ"/>
                <a:ea typeface="メイリオ"/>
              </a:rPr>
              <a:t>セカンドクエスチョン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1A1A1A"/>
                </a:solidFill>
                <a:latin typeface="メイリオ"/>
                <a:ea typeface="メイリオ"/>
              </a:rPr>
              <a:t>／感想」を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1A1A1A"/>
                </a:solidFill>
                <a:latin typeface="メイリオ"/>
                <a:ea typeface="メイリオ"/>
              </a:rPr>
              <a:t>クラス共通の</a:t>
            </a:r>
          </a:p>
          <a:p>
            <a:pPr algn="l">
              <a:lnSpc>
                <a:spcPct val="135000"/>
              </a:lnSpc>
            </a:pPr>
            <a:r>
              <a:rPr sz="1600" b="1">
                <a:solidFill>
                  <a:srgbClr val="FF0000"/>
                </a:solidFill>
                <a:latin typeface="メイリオ"/>
                <a:ea typeface="メイリオ"/>
              </a:rPr>
              <a:t>〝対話の型〟</a:t>
            </a:r>
            <a:r>
              <a:rPr sz="1500" b="0">
                <a:solidFill>
                  <a:srgbClr val="1A1A1A"/>
                </a:solidFill>
                <a:latin typeface="メイリオ"/>
                <a:ea typeface="メイリオ"/>
              </a:rPr>
              <a:t>として整理。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8000" y="6534000"/>
            <a:ext cx="9000000" cy="216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t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メイリオ"/>
                <a:ea typeface="メイリオ"/>
              </a:rPr>
              <a:t>指導講評  研究主題「対話を通して、学びをつなげる児童の育成」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13200" y="6534000"/>
            <a:ext cx="792000" cy="216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t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メイリオ"/>
                <a:ea typeface="メイリオ"/>
              </a:rPr>
              <a:t>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88000" y="144000"/>
            <a:ext cx="8280000" cy="648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l"/>
            <a:r>
              <a:rPr sz="3200" b="1">
                <a:solidFill>
                  <a:srgbClr val="1A1A1A"/>
                </a:solidFill>
                <a:latin typeface="メイリオ"/>
                <a:ea typeface="メイリオ"/>
              </a:rPr>
              <a:t>授業の様子  ①   導入～質問の種類を整理する場面</a:t>
            </a:r>
          </a:p>
        </p:txBody>
      </p:sp>
      <p:sp>
        <p:nvSpPr>
          <p:cNvPr id="3" name="Rectangle 2"/>
          <p:cNvSpPr/>
          <p:nvPr/>
        </p:nvSpPr>
        <p:spPr>
          <a:xfrm>
            <a:off x="288000" y="827999"/>
            <a:ext cx="11617200" cy="54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0000" y="1188000"/>
            <a:ext cx="7200000" cy="4680000"/>
          </a:xfrm>
          <a:prstGeom prst="rect">
            <a:avLst/>
          </a:prstGeom>
          <a:solidFill>
            <a:srgbClr val="EEEEEE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0000" y="1188000"/>
            <a:ext cx="7200000" cy="4680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ctr"/>
            <a:r>
              <a:rPr sz="2000" b="0">
                <a:solidFill>
                  <a:srgbClr val="666666"/>
                </a:solidFill>
                <a:latin typeface="メイリオ"/>
                <a:ea typeface="メイリオ"/>
              </a:rPr>
              <a:t>📷</a:t>
            </a:r>
          </a:p>
          <a:p>
            <a:pPr algn="ctr"/>
            <a:r>
              <a:rPr sz="2000" b="0">
                <a:solidFill>
                  <a:srgbClr val="666666"/>
                </a:solidFill>
                <a:latin typeface="メイリオ"/>
                <a:ea typeface="メイリオ"/>
              </a:rPr>
              <a:t/>
            </a:r>
          </a:p>
          <a:p>
            <a:pPr algn="ctr"/>
            <a:r>
              <a:rPr sz="2000" b="0">
                <a:solidFill>
                  <a:srgbClr val="666666"/>
                </a:solidFill>
                <a:latin typeface="メイリオ"/>
                <a:ea typeface="メイリオ"/>
              </a:rPr>
              <a:t>【ここに授業写真を貼り付け】</a:t>
            </a:r>
          </a:p>
          <a:p>
            <a:pPr algn="ctr"/>
            <a:r>
              <a:rPr sz="2000" b="0">
                <a:solidFill>
                  <a:srgbClr val="666666"/>
                </a:solidFill>
                <a:latin typeface="メイリオ"/>
                <a:ea typeface="メイリオ"/>
              </a:rPr>
              <a:t/>
            </a:r>
          </a:p>
          <a:p>
            <a:pPr algn="ctr"/>
            <a:r>
              <a:rPr sz="2000" b="0">
                <a:solidFill>
                  <a:srgbClr val="666666"/>
                </a:solidFill>
                <a:latin typeface="メイリオ"/>
                <a:ea typeface="メイリオ"/>
              </a:rPr>
              <a:t>教師の話を聞き、ワークシートに</a:t>
            </a:r>
          </a:p>
          <a:p>
            <a:pPr algn="ctr"/>
            <a:r>
              <a:rPr sz="2000" b="0">
                <a:solidFill>
                  <a:srgbClr val="666666"/>
                </a:solidFill>
                <a:latin typeface="メイリオ"/>
                <a:ea typeface="メイリオ"/>
              </a:rPr>
              <a:t>質問を記入している場面</a:t>
            </a:r>
          </a:p>
        </p:txBody>
      </p:sp>
      <p:sp>
        <p:nvSpPr>
          <p:cNvPr id="6" name="Rectangle 5"/>
          <p:cNvSpPr/>
          <p:nvPr/>
        </p:nvSpPr>
        <p:spPr>
          <a:xfrm>
            <a:off x="7920000" y="1188000"/>
            <a:ext cx="3733200" cy="28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20000" y="1188000"/>
            <a:ext cx="3733200" cy="288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  <a:ea typeface="メイリオ"/>
              </a:rPr>
              <a:t>▼ 注目ポイント</a:t>
            </a:r>
          </a:p>
        </p:txBody>
      </p:sp>
      <p:sp>
        <p:nvSpPr>
          <p:cNvPr id="8" name="Rectangle 7"/>
          <p:cNvSpPr/>
          <p:nvPr/>
        </p:nvSpPr>
        <p:spPr>
          <a:xfrm>
            <a:off x="7920000" y="1476000"/>
            <a:ext cx="3733200" cy="1980000"/>
          </a:xfrm>
          <a:prstGeom prst="rect">
            <a:avLst/>
          </a:prstGeom>
          <a:solidFill>
            <a:srgbClr val="FFF2CC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10000" y="1548000"/>
            <a:ext cx="3553200" cy="1835999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</a:rPr>
              <a:t>「いつ・</a:t>
            </a:r>
          </a:p>
          <a:p>
            <a:pPr algn="l">
              <a:lnSpc>
                <a:spcPct val="13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</a:rPr>
              <a:t>どこで・だれが」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1A1A1A"/>
                </a:solidFill>
                <a:latin typeface="メイリオ"/>
                <a:ea typeface="メイリオ"/>
              </a:rPr>
              <a:t>の板書整理が、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1A1A1A"/>
                </a:solidFill>
                <a:latin typeface="メイリオ"/>
                <a:ea typeface="メイリオ"/>
              </a:rPr>
              <a:t>児童の質問を</a:t>
            </a:r>
          </a:p>
          <a:p>
            <a:pPr algn="l">
              <a:lnSpc>
                <a:spcPct val="13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</a:rPr>
              <a:t>〝見える化〟</a:t>
            </a:r>
            <a:r>
              <a:rPr sz="1300" b="0">
                <a:solidFill>
                  <a:srgbClr val="1A1A1A"/>
                </a:solidFill>
                <a:latin typeface="メイリオ"/>
                <a:ea typeface="メイリオ"/>
              </a:rPr>
              <a:t>している。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20000" y="3708000"/>
            <a:ext cx="3733200" cy="28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20000" y="3708000"/>
            <a:ext cx="3733200" cy="288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  <a:ea typeface="メイリオ"/>
              </a:rPr>
              <a:t>▼ 児童の姿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0000" y="3996000"/>
            <a:ext cx="3733200" cy="1980000"/>
          </a:xfrm>
          <a:prstGeom prst="rect">
            <a:avLst/>
          </a:prstGeom>
          <a:solidFill>
            <a:srgbClr val="DAE3F3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10000" y="4068000"/>
            <a:ext cx="3553200" cy="1835999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1A1A1A"/>
                </a:solidFill>
                <a:latin typeface="メイリオ"/>
                <a:ea typeface="メイリオ"/>
              </a:rPr>
              <a:t>自分が考えた質問を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1A1A1A"/>
                </a:solidFill>
                <a:latin typeface="メイリオ"/>
                <a:ea typeface="メイリオ"/>
              </a:rPr>
              <a:t>ペアで</a:t>
            </a:r>
            <a:r>
              <a:rPr sz="1400" b="1">
                <a:solidFill>
                  <a:srgbClr val="FF0000"/>
                </a:solidFill>
                <a:latin typeface="メイリオ"/>
                <a:ea typeface="メイリオ"/>
              </a:rPr>
              <a:t>安心して</a:t>
            </a:r>
            <a:r>
              <a:rPr sz="1300" b="0">
                <a:solidFill>
                  <a:srgbClr val="1A1A1A"/>
                </a:solidFill>
                <a:latin typeface="メイリオ"/>
                <a:ea typeface="メイリオ"/>
              </a:rPr>
              <a:t>交流。</a:t>
            </a:r>
          </a:p>
          <a:p>
            <a:pPr algn="l">
              <a:lnSpc>
                <a:spcPct val="13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</a:rPr>
              <a:t>書く時間の確保</a:t>
            </a:r>
            <a:r>
              <a:rPr sz="1300" b="0">
                <a:solidFill>
                  <a:srgbClr val="1A1A1A"/>
                </a:solidFill>
                <a:latin typeface="メイリオ"/>
                <a:ea typeface="メイリオ"/>
              </a:rPr>
              <a:t>が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1A1A1A"/>
                </a:solidFill>
                <a:latin typeface="メイリオ"/>
                <a:ea typeface="メイリオ"/>
              </a:rPr>
              <a:t>発言の自信に。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8000" y="6534000"/>
            <a:ext cx="9000000" cy="216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t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メイリオ"/>
                <a:ea typeface="メイリオ"/>
              </a:rPr>
              <a:t>指導講評  研究主題「対話を通して、学びをつなげる児童の育成」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13200" y="6534000"/>
            <a:ext cx="792000" cy="216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t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メイリオ"/>
                <a:ea typeface="メイリオ"/>
              </a:rPr>
              <a:t>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88000" y="144000"/>
            <a:ext cx="8280000" cy="648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l"/>
            <a:r>
              <a:rPr sz="3200" b="1">
                <a:solidFill>
                  <a:srgbClr val="1A1A1A"/>
                </a:solidFill>
                <a:latin typeface="メイリオ"/>
                <a:ea typeface="メイリオ"/>
              </a:rPr>
              <a:t>授業の様子  ②   動画視聴～全体共有の場面</a:t>
            </a:r>
          </a:p>
        </p:txBody>
      </p:sp>
      <p:sp>
        <p:nvSpPr>
          <p:cNvPr id="3" name="Rectangle 2"/>
          <p:cNvSpPr/>
          <p:nvPr/>
        </p:nvSpPr>
        <p:spPr>
          <a:xfrm>
            <a:off x="288000" y="827999"/>
            <a:ext cx="11617200" cy="54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0000" y="1188000"/>
            <a:ext cx="6120000" cy="2268000"/>
          </a:xfrm>
          <a:prstGeom prst="rect">
            <a:avLst/>
          </a:prstGeom>
          <a:solidFill>
            <a:srgbClr val="EEEEEE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0000" y="1188000"/>
            <a:ext cx="6120000" cy="2268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ctr"/>
            <a:r>
              <a:rPr sz="1600" b="0">
                <a:solidFill>
                  <a:srgbClr val="666666"/>
                </a:solidFill>
                <a:latin typeface="メイリオ"/>
                <a:ea typeface="メイリオ"/>
              </a:rPr>
              <a:t>📷  【写真①】 動画教材を視聴し、良い対話を分析する場面</a:t>
            </a:r>
          </a:p>
        </p:txBody>
      </p:sp>
      <p:sp>
        <p:nvSpPr>
          <p:cNvPr id="6" name="Rectangle 5"/>
          <p:cNvSpPr/>
          <p:nvPr/>
        </p:nvSpPr>
        <p:spPr>
          <a:xfrm>
            <a:off x="540000" y="3671999"/>
            <a:ext cx="6120000" cy="2268000"/>
          </a:xfrm>
          <a:prstGeom prst="rect">
            <a:avLst/>
          </a:prstGeom>
          <a:solidFill>
            <a:srgbClr val="EEEEEE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0000" y="3671999"/>
            <a:ext cx="6120000" cy="2268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ctr"/>
            <a:r>
              <a:rPr sz="1600" b="0">
                <a:solidFill>
                  <a:srgbClr val="666666"/>
                </a:solidFill>
                <a:latin typeface="メイリオ"/>
                <a:ea typeface="メイリオ"/>
              </a:rPr>
              <a:t>📷  【写真②】 全体で意見を共有し、対話の質を整理する場面</a:t>
            </a:r>
          </a:p>
        </p:txBody>
      </p:sp>
      <p:sp>
        <p:nvSpPr>
          <p:cNvPr id="8" name="Rectangle 7"/>
          <p:cNvSpPr/>
          <p:nvPr/>
        </p:nvSpPr>
        <p:spPr>
          <a:xfrm>
            <a:off x="6840000" y="1188000"/>
            <a:ext cx="4813200" cy="576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40000" y="1188000"/>
            <a:ext cx="4813200" cy="576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メイリオ"/>
                <a:ea typeface="メイリオ"/>
              </a:rPr>
              <a:t>対話を深める</a:t>
            </a:r>
          </a:p>
          <a:p>
            <a:pPr algn="ctr"/>
            <a:r>
              <a:rPr sz="1500" b="1">
                <a:solidFill>
                  <a:srgbClr val="FFFFFF"/>
                </a:solidFill>
                <a:latin typeface="メイリオ"/>
                <a:ea typeface="メイリオ"/>
              </a:rPr>
              <a:t>3つの観点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40000" y="1835999"/>
            <a:ext cx="4813200" cy="1332000"/>
          </a:xfrm>
          <a:prstGeom prst="rect">
            <a:avLst/>
          </a:prstGeom>
          <a:solidFill>
            <a:srgbClr val="FFF2CC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94000" y="1835999"/>
            <a:ext cx="396000" cy="1332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ctr"/>
            <a:r>
              <a:rPr sz="2000" b="1">
                <a:solidFill>
                  <a:srgbClr val="FF0000"/>
                </a:solidFill>
                <a:latin typeface="メイリオ"/>
                <a:ea typeface="メイリオ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08000" y="1925999"/>
            <a:ext cx="4309201" cy="576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t">
            <a:spAutoFit/>
          </a:bodyPr>
          <a:lstStyle/>
          <a:p>
            <a:pPr algn="l"/>
            <a:r>
              <a:rPr sz="1300" b="1">
                <a:solidFill>
                  <a:srgbClr val="002060"/>
                </a:solidFill>
                <a:latin typeface="メイリオ"/>
                <a:ea typeface="メイリオ"/>
              </a:rPr>
              <a:t>確かめる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08000" y="2519999"/>
            <a:ext cx="4309201" cy="612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メイリオ"/>
                <a:ea typeface="メイリオ"/>
              </a:rPr>
              <a:t>相手の話を聞き返し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メイリオ"/>
                <a:ea typeface="メイリオ"/>
              </a:rPr>
              <a:t>理解を確認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40000" y="3221999"/>
            <a:ext cx="4813200" cy="1332000"/>
          </a:xfrm>
          <a:prstGeom prst="rect">
            <a:avLst/>
          </a:prstGeom>
          <a:solidFill>
            <a:srgbClr val="FCE4E4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94000" y="3221999"/>
            <a:ext cx="396000" cy="1332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ctr"/>
            <a:r>
              <a:rPr sz="2000" b="1">
                <a:solidFill>
                  <a:srgbClr val="FF0000"/>
                </a:solidFill>
                <a:latin typeface="メイリオ"/>
                <a:ea typeface="メイリオ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08000" y="3311999"/>
            <a:ext cx="4309201" cy="576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t">
            <a:spAutoFit/>
          </a:bodyPr>
          <a:lstStyle/>
          <a:p>
            <a:pPr algn="l"/>
            <a:r>
              <a:rPr sz="1300" b="1">
                <a:solidFill>
                  <a:srgbClr val="002060"/>
                </a:solidFill>
                <a:latin typeface="メイリオ"/>
                <a:ea typeface="メイリオ"/>
              </a:rPr>
              <a:t>セカンド</a:t>
            </a:r>
          </a:p>
          <a:p>
            <a:pPr algn="l"/>
            <a:r>
              <a:rPr sz="1300" b="1">
                <a:solidFill>
                  <a:srgbClr val="002060"/>
                </a:solidFill>
                <a:latin typeface="メイリオ"/>
                <a:ea typeface="メイリオ"/>
              </a:rPr>
              <a:t>クエスチョン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08000" y="3905999"/>
            <a:ext cx="4309201" cy="612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メイリオ"/>
                <a:ea typeface="メイリオ"/>
              </a:rPr>
              <a:t>答えからさらに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メイリオ"/>
                <a:ea typeface="メイリオ"/>
              </a:rPr>
              <a:t>質問をつなげる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40000" y="4607999"/>
            <a:ext cx="4813200" cy="1332000"/>
          </a:xfrm>
          <a:prstGeom prst="rect">
            <a:avLst/>
          </a:prstGeom>
          <a:solidFill>
            <a:srgbClr val="DAE3F3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94000" y="4607999"/>
            <a:ext cx="396000" cy="1332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ctr"/>
            <a:r>
              <a:rPr sz="2000" b="1">
                <a:solidFill>
                  <a:srgbClr val="FF0000"/>
                </a:solidFill>
                <a:latin typeface="メイリオ"/>
                <a:ea typeface="メイリオ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08000" y="4697999"/>
            <a:ext cx="4309201" cy="576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t">
            <a:spAutoFit/>
          </a:bodyPr>
          <a:lstStyle/>
          <a:p>
            <a:pPr algn="l"/>
            <a:r>
              <a:rPr sz="1300" b="1">
                <a:solidFill>
                  <a:srgbClr val="002060"/>
                </a:solidFill>
                <a:latin typeface="メイリオ"/>
                <a:ea typeface="メイリオ"/>
              </a:rPr>
              <a:t>感想を伝える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08000" y="5291999"/>
            <a:ext cx="4309201" cy="612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メイリオ"/>
                <a:ea typeface="メイリオ"/>
              </a:rPr>
              <a:t>受け取った思いを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メイリオ"/>
                <a:ea typeface="メイリオ"/>
              </a:rPr>
              <a:t>言葉にして返す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8000" y="6534000"/>
            <a:ext cx="9000000" cy="216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t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メイリオ"/>
                <a:ea typeface="メイリオ"/>
              </a:rPr>
              <a:t>指導講評  研究主題「対話を通して、学びをつなげる児童の育成」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13200" y="6534000"/>
            <a:ext cx="792000" cy="216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t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メイリオ"/>
                <a:ea typeface="メイリオ"/>
              </a:rPr>
              <a:t>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88000" y="144000"/>
            <a:ext cx="8280000" cy="648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l"/>
            <a:r>
              <a:rPr sz="3200" b="1">
                <a:solidFill>
                  <a:srgbClr val="1A1A1A"/>
                </a:solidFill>
                <a:latin typeface="メイリオ"/>
                <a:ea typeface="メイリオ"/>
              </a:rPr>
              <a:t>③  研究主題との関連</a:t>
            </a:r>
          </a:p>
        </p:txBody>
      </p:sp>
      <p:sp>
        <p:nvSpPr>
          <p:cNvPr id="3" name="Rectangle 2"/>
          <p:cNvSpPr/>
          <p:nvPr/>
        </p:nvSpPr>
        <p:spPr>
          <a:xfrm>
            <a:off x="288000" y="827999"/>
            <a:ext cx="11617200" cy="54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0000" y="1152000"/>
            <a:ext cx="1800000" cy="432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0000" y="1152000"/>
            <a:ext cx="1800000" cy="432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メイリオ"/>
                <a:ea typeface="メイリオ"/>
              </a:rPr>
              <a:t>研究主題</a:t>
            </a:r>
          </a:p>
        </p:txBody>
      </p:sp>
      <p:sp>
        <p:nvSpPr>
          <p:cNvPr id="6" name="Rectangle 5"/>
          <p:cNvSpPr/>
          <p:nvPr/>
        </p:nvSpPr>
        <p:spPr>
          <a:xfrm>
            <a:off x="2340000" y="1152000"/>
            <a:ext cx="9313200" cy="432000"/>
          </a:xfrm>
          <a:prstGeom prst="rect">
            <a:avLst/>
          </a:prstGeom>
          <a:solidFill>
            <a:srgbClr val="DAE3F3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340000" y="1152000"/>
            <a:ext cx="9313200" cy="432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ctr"/>
            <a:r>
              <a:rPr sz="2000" b="1">
                <a:solidFill>
                  <a:srgbClr val="002060"/>
                </a:solidFill>
                <a:latin typeface="メイリオ"/>
                <a:ea typeface="メイリオ"/>
              </a:rPr>
              <a:t>対話を通して、学びをつなげる児童の育成</a:t>
            </a:r>
          </a:p>
        </p:txBody>
      </p:sp>
      <p:sp>
        <p:nvSpPr>
          <p:cNvPr id="8" name="Rectangle 7"/>
          <p:cNvSpPr/>
          <p:nvPr/>
        </p:nvSpPr>
        <p:spPr>
          <a:xfrm>
            <a:off x="540000" y="1692000"/>
            <a:ext cx="1800000" cy="100799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0000" y="1692000"/>
            <a:ext cx="1800000" cy="1007999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メイリオ"/>
                <a:ea typeface="メイリオ"/>
              </a:rPr>
              <a:t>研究仮説</a:t>
            </a:r>
          </a:p>
        </p:txBody>
      </p:sp>
      <p:sp>
        <p:nvSpPr>
          <p:cNvPr id="10" name="Rectangle 9"/>
          <p:cNvSpPr/>
          <p:nvPr/>
        </p:nvSpPr>
        <p:spPr>
          <a:xfrm>
            <a:off x="2340000" y="1692000"/>
            <a:ext cx="9313200" cy="1007999"/>
          </a:xfrm>
          <a:prstGeom prst="rect">
            <a:avLst/>
          </a:prstGeom>
          <a:solidFill>
            <a:srgbClr val="FFFFFF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48000" y="1764000"/>
            <a:ext cx="9097200" cy="864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1A1A1A"/>
                </a:solidFill>
                <a:latin typeface="メイリオ"/>
                <a:ea typeface="メイリオ"/>
              </a:rPr>
              <a:t>手だてや話題を工夫し、</a:t>
            </a:r>
            <a:r>
              <a:rPr sz="1500" b="1">
                <a:solidFill>
                  <a:srgbClr val="FF0000"/>
                </a:solidFill>
                <a:latin typeface="メイリオ"/>
                <a:ea typeface="メイリオ"/>
              </a:rPr>
              <a:t>視点を明確にした対話を継続的に実践</a:t>
            </a:r>
            <a:r>
              <a:rPr sz="1400" b="0">
                <a:solidFill>
                  <a:srgbClr val="1A1A1A"/>
                </a:solidFill>
                <a:latin typeface="メイリオ"/>
                <a:ea typeface="メイリオ"/>
              </a:rPr>
              <a:t>する</a:t>
            </a:r>
          </a:p>
          <a:p>
            <a:pPr algn="l">
              <a:lnSpc>
                <a:spcPct val="140000"/>
              </a:lnSpc>
            </a:pPr>
            <a:r>
              <a:rPr sz="1400" b="0">
                <a:solidFill>
                  <a:srgbClr val="1A1A1A"/>
                </a:solidFill>
                <a:latin typeface="メイリオ"/>
                <a:ea typeface="メイリオ"/>
              </a:rPr>
              <a:t>ことで、児童の</a:t>
            </a:r>
            <a:r>
              <a:rPr sz="1500" b="1">
                <a:solidFill>
                  <a:srgbClr val="FF0000"/>
                </a:solidFill>
                <a:latin typeface="メイリオ"/>
                <a:ea typeface="メイリオ"/>
              </a:rPr>
              <a:t>対話に広がりや深まりが見られる</a:t>
            </a:r>
            <a:r>
              <a:rPr sz="1400" b="0">
                <a:solidFill>
                  <a:srgbClr val="1A1A1A"/>
                </a:solidFill>
                <a:latin typeface="メイリオ"/>
                <a:ea typeface="メイリオ"/>
              </a:rPr>
              <a:t>だろう。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0000" y="2844000"/>
            <a:ext cx="11113200" cy="324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ctr"/>
            <a:r>
              <a:rPr sz="1600" b="1">
                <a:solidFill>
                  <a:srgbClr val="FF0000"/>
                </a:solidFill>
                <a:latin typeface="メイリオ"/>
                <a:ea typeface="メイリオ"/>
              </a:rPr>
              <a:t>▼  本時はこう応えた  ▼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52600" y="3311999"/>
            <a:ext cx="3600000" cy="46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52600" y="3311999"/>
            <a:ext cx="3600000" cy="468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メイリオ"/>
                <a:ea typeface="メイリオ"/>
              </a:rPr>
              <a:t>手だての工夫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52600" y="3779999"/>
            <a:ext cx="3600000" cy="2412000"/>
          </a:xfrm>
          <a:prstGeom prst="rect">
            <a:avLst/>
          </a:prstGeom>
          <a:solidFill>
            <a:srgbClr val="FFF2CC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600" y="3887999"/>
            <a:ext cx="3384000" cy="2160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ctr">
              <a:lnSpc>
                <a:spcPct val="140000"/>
              </a:lnSpc>
            </a:pPr>
            <a:r>
              <a:rPr sz="1600" b="1">
                <a:solidFill>
                  <a:srgbClr val="FF0000"/>
                </a:solidFill>
                <a:latin typeface="メイリオ"/>
                <a:ea typeface="メイリオ"/>
              </a:rPr>
              <a:t>教師モデル</a:t>
            </a:r>
          </a:p>
          <a:p>
            <a:pPr algn="ctr">
              <a:lnSpc>
                <a:spcPct val="140000"/>
              </a:lnSpc>
            </a:pPr>
            <a:r>
              <a:rPr sz="1400" b="0">
                <a:solidFill>
                  <a:srgbClr val="1A1A1A"/>
                </a:solidFill>
                <a:latin typeface="メイリオ"/>
                <a:ea typeface="メイリオ"/>
              </a:rPr>
              <a:t>＋ 動画教材</a:t>
            </a:r>
          </a:p>
          <a:p>
            <a:pPr algn="ctr">
              <a:lnSpc>
                <a:spcPct val="140000"/>
              </a:lnSpc>
            </a:pPr>
            <a:r>
              <a:rPr sz="1400" b="0">
                <a:solidFill>
                  <a:srgbClr val="1A1A1A"/>
                </a:solidFill>
                <a:latin typeface="メイリオ"/>
                <a:ea typeface="メイリオ"/>
              </a:rPr>
              <a:t>＋ ワークシート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96600" y="3311999"/>
            <a:ext cx="3600000" cy="46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96600" y="3311999"/>
            <a:ext cx="3600000" cy="468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メイリオ"/>
                <a:ea typeface="メイリオ"/>
              </a:rPr>
              <a:t>話題の工夫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96600" y="3779999"/>
            <a:ext cx="3600000" cy="2412000"/>
          </a:xfrm>
          <a:prstGeom prst="rect">
            <a:avLst/>
          </a:prstGeom>
          <a:solidFill>
            <a:srgbClr val="FFF2CC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04600" y="3887999"/>
            <a:ext cx="3384000" cy="2160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ctr">
              <a:lnSpc>
                <a:spcPct val="140000"/>
              </a:lnSpc>
            </a:pPr>
            <a:r>
              <a:rPr sz="1600" b="1">
                <a:solidFill>
                  <a:srgbClr val="FF0000"/>
                </a:solidFill>
                <a:latin typeface="メイリオ"/>
                <a:ea typeface="メイリオ"/>
              </a:rPr>
              <a:t>「友だちのこと」</a:t>
            </a:r>
          </a:p>
          <a:p>
            <a:pPr algn="ctr">
              <a:lnSpc>
                <a:spcPct val="140000"/>
              </a:lnSpc>
            </a:pPr>
            <a:r>
              <a:rPr sz="1400" b="0">
                <a:solidFill>
                  <a:srgbClr val="1A1A1A"/>
                </a:solidFill>
                <a:latin typeface="メイリオ"/>
                <a:ea typeface="メイリオ"/>
              </a:rPr>
              <a:t>＝ 聞きたくなる</a:t>
            </a:r>
          </a:p>
          <a:p>
            <a:pPr algn="ctr">
              <a:lnSpc>
                <a:spcPct val="140000"/>
              </a:lnSpc>
            </a:pPr>
            <a:r>
              <a:rPr sz="1400" b="0">
                <a:solidFill>
                  <a:srgbClr val="1A1A1A"/>
                </a:solidFill>
                <a:latin typeface="メイリオ"/>
                <a:ea typeface="メイリオ"/>
              </a:rPr>
              <a:t>身近な話題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40600" y="3311999"/>
            <a:ext cx="3600000" cy="46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0600" y="3311999"/>
            <a:ext cx="3600000" cy="468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メイリオ"/>
                <a:ea typeface="メイリオ"/>
              </a:rPr>
              <a:t>視点の明確化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40600" y="3779999"/>
            <a:ext cx="3600000" cy="2412000"/>
          </a:xfrm>
          <a:prstGeom prst="rect">
            <a:avLst/>
          </a:prstGeom>
          <a:solidFill>
            <a:srgbClr val="FFF2CC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48600" y="3887999"/>
            <a:ext cx="3384000" cy="2160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ctr">
              <a:lnSpc>
                <a:spcPct val="140000"/>
              </a:lnSpc>
            </a:pPr>
            <a:r>
              <a:rPr sz="1500" b="1">
                <a:solidFill>
                  <a:srgbClr val="FF0000"/>
                </a:solidFill>
                <a:latin typeface="メイリオ"/>
                <a:ea typeface="メイリオ"/>
              </a:rPr>
              <a:t>確かめ／2nd Q／感想</a:t>
            </a:r>
          </a:p>
          <a:p>
            <a:pPr algn="ctr">
              <a:lnSpc>
                <a:spcPct val="140000"/>
              </a:lnSpc>
            </a:pPr>
            <a:r>
              <a:rPr sz="1400" b="0">
                <a:solidFill>
                  <a:srgbClr val="1A1A1A"/>
                </a:solidFill>
                <a:latin typeface="メイリオ"/>
                <a:ea typeface="メイリオ"/>
              </a:rPr>
              <a:t>の</a:t>
            </a:r>
            <a:r>
              <a:rPr sz="1400" b="0">
                <a:solidFill>
                  <a:srgbClr val="1A1A1A"/>
                </a:solidFill>
                <a:latin typeface="メイリオ"/>
                <a:ea typeface="メイリオ"/>
              </a:rPr>
              <a:t>3観点を提示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8000" y="6534000"/>
            <a:ext cx="9000000" cy="216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t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メイリオ"/>
                <a:ea typeface="メイリオ"/>
              </a:rPr>
              <a:t>指導講評  研究主題「対話を通して、学びをつなげる児童の育成」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13200" y="6534000"/>
            <a:ext cx="792000" cy="216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t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メイリオ"/>
                <a:ea typeface="メイリオ"/>
              </a:rPr>
              <a:t>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88000" y="144000"/>
            <a:ext cx="8280000" cy="648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l"/>
            <a:r>
              <a:rPr sz="3200" b="1">
                <a:solidFill>
                  <a:srgbClr val="1A1A1A"/>
                </a:solidFill>
                <a:latin typeface="メイリオ"/>
                <a:ea typeface="メイリオ"/>
              </a:rPr>
              <a:t>③-1  根拠資料①  文部科学省</a:t>
            </a:r>
          </a:p>
        </p:txBody>
      </p:sp>
      <p:sp>
        <p:nvSpPr>
          <p:cNvPr id="3" name="Rectangle 2"/>
          <p:cNvSpPr/>
          <p:nvPr/>
        </p:nvSpPr>
        <p:spPr>
          <a:xfrm>
            <a:off x="288000" y="827999"/>
            <a:ext cx="11617200" cy="54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513200" y="216000"/>
            <a:ext cx="4320000" cy="503999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r"/>
            <a:r>
              <a:rPr sz="1100" b="1">
                <a:solidFill>
                  <a:srgbClr val="666666"/>
                </a:solidFill>
                <a:latin typeface="メイリオ"/>
                <a:ea typeface="メイリオ"/>
              </a:rPr>
              <a:t>「小学校学習指導要領（平成29年告示）解説  国語編」</a:t>
            </a:r>
          </a:p>
        </p:txBody>
      </p:sp>
      <p:sp>
        <p:nvSpPr>
          <p:cNvPr id="5" name="Rectangle 4"/>
          <p:cNvSpPr/>
          <p:nvPr/>
        </p:nvSpPr>
        <p:spPr>
          <a:xfrm>
            <a:off x="540000" y="1152000"/>
            <a:ext cx="11113200" cy="46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0000" y="1152000"/>
            <a:ext cx="11113200" cy="468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メイリオ"/>
                <a:ea typeface="メイリオ"/>
              </a:rPr>
              <a:t>第３学年及び第４学年「話すこと・聞くこと」  指導事項 エ</a:t>
            </a:r>
          </a:p>
        </p:txBody>
      </p:sp>
      <p:sp>
        <p:nvSpPr>
          <p:cNvPr id="7" name="Rectangle 6"/>
          <p:cNvSpPr/>
          <p:nvPr/>
        </p:nvSpPr>
        <p:spPr>
          <a:xfrm>
            <a:off x="540000" y="1692000"/>
            <a:ext cx="11113200" cy="2160000"/>
          </a:xfrm>
          <a:prstGeom prst="rect">
            <a:avLst/>
          </a:prstGeom>
          <a:solidFill>
            <a:srgbClr val="DAE3F3"/>
          </a:solidFill>
          <a:ln w="1905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0000" y="1800000"/>
            <a:ext cx="10753200" cy="1944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l">
              <a:lnSpc>
                <a:spcPct val="150000"/>
              </a:lnSpc>
            </a:pPr>
            <a:r>
              <a:rPr sz="1800" b="1">
                <a:solidFill>
                  <a:srgbClr val="1A1A1A"/>
                </a:solidFill>
                <a:latin typeface="メイリオ"/>
                <a:ea typeface="メイリオ"/>
              </a:rPr>
              <a:t>「必要なことを記録したり</a:t>
            </a:r>
            <a:r>
              <a:rPr sz="2200" b="1">
                <a:solidFill>
                  <a:srgbClr val="FF0000"/>
                </a:solidFill>
                <a:latin typeface="メイリオ"/>
                <a:ea typeface="メイリオ"/>
              </a:rPr>
              <a:t>質問したりしながら聞き</a:t>
            </a:r>
            <a:r>
              <a:rPr sz="1800" b="1">
                <a:solidFill>
                  <a:srgbClr val="1A1A1A"/>
                </a:solidFill>
                <a:latin typeface="メイリオ"/>
                <a:ea typeface="メイリオ"/>
              </a:rPr>
              <a:t>、</a:t>
            </a:r>
          </a:p>
          <a:p>
            <a:pPr algn="l">
              <a:lnSpc>
                <a:spcPct val="150000"/>
              </a:lnSpc>
            </a:pPr>
            <a:r>
              <a:rPr sz="1800" b="1">
                <a:solidFill>
                  <a:srgbClr val="1A1A1A"/>
                </a:solidFill>
                <a:latin typeface="メイリオ"/>
                <a:ea typeface="メイリオ"/>
              </a:rPr>
              <a:t>  話し手が伝えたいことや自分が聞きたいことの</a:t>
            </a:r>
          </a:p>
          <a:p>
            <a:pPr algn="l">
              <a:lnSpc>
                <a:spcPct val="150000"/>
              </a:lnSpc>
            </a:pPr>
            <a:r>
              <a:rPr sz="1800" b="1">
                <a:solidFill>
                  <a:srgbClr val="1A1A1A"/>
                </a:solidFill>
                <a:latin typeface="メイリオ"/>
                <a:ea typeface="メイリオ"/>
              </a:rPr>
              <a:t>  </a:t>
            </a:r>
            <a:r>
              <a:rPr sz="2200" b="1">
                <a:solidFill>
                  <a:srgbClr val="FF0000"/>
                </a:solidFill>
                <a:latin typeface="メイリオ"/>
                <a:ea typeface="メイリオ"/>
              </a:rPr>
              <a:t>中心を捉え</a:t>
            </a:r>
            <a:r>
              <a:rPr sz="1800" b="1">
                <a:solidFill>
                  <a:srgbClr val="1A1A1A"/>
                </a:solidFill>
                <a:latin typeface="メイリオ"/>
                <a:ea typeface="メイリオ"/>
              </a:rPr>
              <a:t>、</a:t>
            </a:r>
            <a:r>
              <a:rPr sz="2200" b="1">
                <a:solidFill>
                  <a:srgbClr val="FF0000"/>
                </a:solidFill>
                <a:latin typeface="メイリオ"/>
                <a:ea typeface="メイリオ"/>
              </a:rPr>
              <a:t>自分の考えをもつ</a:t>
            </a:r>
            <a:r>
              <a:rPr sz="1800" b="1">
                <a:solidFill>
                  <a:srgbClr val="1A1A1A"/>
                </a:solidFill>
                <a:latin typeface="メイリオ"/>
                <a:ea typeface="メイリオ"/>
              </a:rPr>
              <a:t>こと。」</a:t>
            </a:r>
          </a:p>
        </p:txBody>
      </p:sp>
      <p:sp>
        <p:nvSpPr>
          <p:cNvPr id="9" name="Rectangle 8"/>
          <p:cNvSpPr/>
          <p:nvPr/>
        </p:nvSpPr>
        <p:spPr>
          <a:xfrm>
            <a:off x="540000" y="3960000"/>
            <a:ext cx="2520000" cy="432000"/>
          </a:xfrm>
          <a:prstGeom prst="rect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0000" y="3960000"/>
            <a:ext cx="2520000" cy="432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メイリオ"/>
                <a:ea typeface="メイリオ"/>
              </a:rPr>
              <a:t>▶ 本時の手だてとのつながり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0000" y="4392000"/>
            <a:ext cx="11113200" cy="1800000"/>
          </a:xfrm>
          <a:prstGeom prst="rect">
            <a:avLst/>
          </a:prstGeom>
          <a:solidFill>
            <a:srgbClr val="FFF2CC"/>
          </a:solidFill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0000" y="4500000"/>
            <a:ext cx="10753200" cy="1620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>
                <a:solidFill>
                  <a:srgbClr val="1A1A1A"/>
                </a:solidFill>
                <a:latin typeface="メイリオ"/>
                <a:ea typeface="メイリオ"/>
              </a:rPr>
              <a:t>・</a:t>
            </a:r>
            <a:r>
              <a:rPr sz="1800" b="1">
                <a:solidFill>
                  <a:srgbClr val="FF0000"/>
                </a:solidFill>
                <a:latin typeface="メイリオ"/>
                <a:ea typeface="メイリオ"/>
              </a:rPr>
              <a:t>「質問の種類」を可視化する手だて</a:t>
            </a:r>
          </a:p>
          <a:p>
            <a:pPr algn="l">
              <a:lnSpc>
                <a:spcPct val="135000"/>
              </a:lnSpc>
            </a:pPr>
            <a:r>
              <a:rPr sz="1600" b="0">
                <a:solidFill>
                  <a:srgbClr val="1A1A1A"/>
                </a:solidFill>
                <a:latin typeface="メイリオ"/>
                <a:ea typeface="メイリオ"/>
              </a:rPr>
              <a:t>       = 解説で示された </a:t>
            </a:r>
            <a:r>
              <a:rPr sz="1800" b="1">
                <a:solidFill>
                  <a:srgbClr val="FF0000"/>
                </a:solidFill>
                <a:latin typeface="メイリオ"/>
                <a:ea typeface="メイリオ"/>
              </a:rPr>
              <a:t>〝聞く力の中核〟</a:t>
            </a:r>
            <a:r>
              <a:rPr sz="1600" b="0">
                <a:solidFill>
                  <a:srgbClr val="1A1A1A"/>
                </a:solidFill>
                <a:latin typeface="メイリオ"/>
                <a:ea typeface="メイリオ"/>
              </a:rPr>
              <a:t> そのもの</a:t>
            </a:r>
          </a:p>
          <a:p>
            <a:pPr algn="l">
              <a:lnSpc>
                <a:spcPct val="135000"/>
              </a:lnSpc>
            </a:pPr>
            <a:r>
              <a:rPr sz="1600" b="0">
                <a:solidFill>
                  <a:srgbClr val="1A1A1A"/>
                </a:solidFill>
                <a:latin typeface="メイリオ"/>
                <a:ea typeface="メイリオ"/>
              </a:rPr>
              <a:t>・</a:t>
            </a:r>
            <a:r>
              <a:rPr sz="1800" b="1">
                <a:solidFill>
                  <a:srgbClr val="FF0000"/>
                </a:solidFill>
                <a:latin typeface="メイリオ"/>
                <a:ea typeface="メイリオ"/>
              </a:rPr>
              <a:t>「中心を捉え、自分の考えをもつ」</a:t>
            </a:r>
          </a:p>
          <a:p>
            <a:pPr algn="l">
              <a:lnSpc>
                <a:spcPct val="135000"/>
              </a:lnSpc>
            </a:pPr>
            <a:r>
              <a:rPr sz="1600" b="0">
                <a:solidFill>
                  <a:srgbClr val="1A1A1A"/>
                </a:solidFill>
                <a:latin typeface="メイリオ"/>
                <a:ea typeface="メイリオ"/>
              </a:rPr>
              <a:t>       →  </a:t>
            </a:r>
            <a:r>
              <a:rPr sz="1800" b="1">
                <a:solidFill>
                  <a:srgbClr val="002060"/>
                </a:solidFill>
                <a:latin typeface="メイリオ"/>
                <a:ea typeface="メイリオ"/>
              </a:rPr>
              <a:t>ワークシートで保証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8000" y="6534000"/>
            <a:ext cx="9000000" cy="216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t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メイリオ"/>
                <a:ea typeface="メイリオ"/>
              </a:rPr>
              <a:t>指導講評  研究主題「対話を通して、学びをつなげる児童の育成」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13200" y="6534000"/>
            <a:ext cx="792000" cy="216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t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メイリオ"/>
                <a:ea typeface="メイリオ"/>
              </a:rPr>
              <a:t>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88000" y="144000"/>
            <a:ext cx="8280000" cy="648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l"/>
            <a:r>
              <a:rPr sz="3200" b="1">
                <a:solidFill>
                  <a:srgbClr val="1A1A1A"/>
                </a:solidFill>
                <a:latin typeface="メイリオ"/>
                <a:ea typeface="メイリオ"/>
              </a:rPr>
              <a:t>③-2  根拠資料②  対話的な学びの重要性</a:t>
            </a:r>
          </a:p>
        </p:txBody>
      </p:sp>
      <p:sp>
        <p:nvSpPr>
          <p:cNvPr id="3" name="Rectangle 2"/>
          <p:cNvSpPr/>
          <p:nvPr/>
        </p:nvSpPr>
        <p:spPr>
          <a:xfrm>
            <a:off x="288000" y="827999"/>
            <a:ext cx="11617200" cy="54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513200" y="216000"/>
            <a:ext cx="4320000" cy="503999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r"/>
            <a:r>
              <a:rPr sz="1100" b="1">
                <a:solidFill>
                  <a:srgbClr val="666666"/>
                </a:solidFill>
                <a:latin typeface="メイリオ"/>
                <a:ea typeface="メイリオ"/>
              </a:rPr>
              <a:t>中央教育審議会答申「令和の日本型学校教育」（令和3年1月）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0000" y="1152000"/>
            <a:ext cx="11113200" cy="46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0000" y="1152000"/>
            <a:ext cx="11113200" cy="468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メイリオ"/>
                <a:ea typeface="メイリオ"/>
              </a:rPr>
              <a:t>答申で示された方向性</a:t>
            </a:r>
          </a:p>
        </p:txBody>
      </p:sp>
      <p:sp>
        <p:nvSpPr>
          <p:cNvPr id="7" name="Rectangle 6"/>
          <p:cNvSpPr/>
          <p:nvPr/>
        </p:nvSpPr>
        <p:spPr>
          <a:xfrm>
            <a:off x="540000" y="1620000"/>
            <a:ext cx="11113200" cy="972000"/>
          </a:xfrm>
          <a:prstGeom prst="rect">
            <a:avLst/>
          </a:prstGeom>
          <a:solidFill>
            <a:srgbClr val="DAE3F3"/>
          </a:solidFill>
          <a:ln w="1905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0000" y="1692000"/>
            <a:ext cx="10753200" cy="827999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sz="1800" b="1">
                <a:solidFill>
                  <a:srgbClr val="1A1A1A"/>
                </a:solidFill>
                <a:latin typeface="メイリオ"/>
                <a:ea typeface="メイリオ"/>
              </a:rPr>
              <a:t>「</a:t>
            </a:r>
            <a:r>
              <a:rPr sz="2000" b="1">
                <a:solidFill>
                  <a:srgbClr val="FF0000"/>
                </a:solidFill>
                <a:latin typeface="メイリオ"/>
                <a:ea typeface="メイリオ"/>
              </a:rPr>
              <a:t>個別最適な学び</a:t>
            </a:r>
            <a:r>
              <a:rPr sz="1800" b="1">
                <a:solidFill>
                  <a:srgbClr val="1A1A1A"/>
                </a:solidFill>
                <a:latin typeface="メイリオ"/>
                <a:ea typeface="メイリオ"/>
              </a:rPr>
              <a:t>」と「</a:t>
            </a:r>
            <a:r>
              <a:rPr sz="2000" b="1">
                <a:solidFill>
                  <a:srgbClr val="FF0000"/>
                </a:solidFill>
                <a:latin typeface="メイリオ"/>
                <a:ea typeface="メイリオ"/>
              </a:rPr>
              <a:t>協働的な学び</a:t>
            </a:r>
            <a:r>
              <a:rPr sz="1800" b="1">
                <a:solidFill>
                  <a:srgbClr val="1A1A1A"/>
                </a:solidFill>
                <a:latin typeface="メイリオ"/>
                <a:ea typeface="メイリオ"/>
              </a:rPr>
              <a:t>」を</a:t>
            </a:r>
            <a:r>
              <a:rPr sz="2000" b="1">
                <a:solidFill>
                  <a:srgbClr val="002060"/>
                </a:solidFill>
                <a:latin typeface="メイリオ"/>
                <a:ea typeface="メイリオ"/>
              </a:rPr>
              <a:t>一体的に充実</a:t>
            </a:r>
            <a:r>
              <a:rPr sz="1800" b="1">
                <a:solidFill>
                  <a:srgbClr val="1A1A1A"/>
                </a:solidFill>
                <a:latin typeface="メイリオ"/>
                <a:ea typeface="メイリオ"/>
              </a:rPr>
              <a:t>させ、</a:t>
            </a:r>
          </a:p>
          <a:p>
            <a:pPr algn="ctr">
              <a:lnSpc>
                <a:spcPct val="150000"/>
              </a:lnSpc>
            </a:pPr>
            <a:r>
              <a:rPr sz="1800" b="1">
                <a:solidFill>
                  <a:srgbClr val="1A1A1A"/>
                </a:solidFill>
                <a:latin typeface="メイリオ"/>
                <a:ea typeface="メイリオ"/>
              </a:rPr>
              <a:t>   </a:t>
            </a:r>
            <a:r>
              <a:rPr sz="2000" b="1">
                <a:solidFill>
                  <a:srgbClr val="FF0000"/>
                </a:solidFill>
                <a:latin typeface="メイリオ"/>
                <a:ea typeface="メイリオ"/>
              </a:rPr>
              <a:t>主体的・対話的で深い学び</a:t>
            </a:r>
            <a:r>
              <a:rPr sz="1800" b="1">
                <a:solidFill>
                  <a:srgbClr val="1A1A1A"/>
                </a:solidFill>
                <a:latin typeface="メイリオ"/>
                <a:ea typeface="メイリオ"/>
              </a:rPr>
              <a:t> の実現を目指す。」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0000" y="2700000"/>
            <a:ext cx="11113200" cy="324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ctr"/>
            <a:r>
              <a:rPr sz="1600" b="1">
                <a:solidFill>
                  <a:srgbClr val="FF0000"/>
                </a:solidFill>
                <a:latin typeface="メイリオ"/>
                <a:ea typeface="メイリオ"/>
              </a:rPr>
              <a:t>▼  菅原学級の対話の流れがまさに体現  ▼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600" y="3131999"/>
            <a:ext cx="2340000" cy="540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600" y="3131999"/>
            <a:ext cx="2340000" cy="540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メイリオ"/>
                <a:ea typeface="メイリオ"/>
              </a:rPr>
              <a:t>個別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600" y="3671999"/>
            <a:ext cx="2340000" cy="1620000"/>
          </a:xfrm>
          <a:prstGeom prst="rect">
            <a:avLst/>
          </a:prstGeom>
          <a:solidFill>
            <a:srgbClr val="FFF2CC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600" y="3743999"/>
            <a:ext cx="2340000" cy="1476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ctr"/>
            <a:r>
              <a:rPr sz="1400" b="1">
                <a:solidFill>
                  <a:srgbClr val="1A1A1A"/>
                </a:solidFill>
                <a:latin typeface="メイリオ"/>
                <a:ea typeface="メイリオ"/>
              </a:rPr>
              <a:t>自分の質問を</a:t>
            </a:r>
          </a:p>
          <a:p>
            <a:pPr algn="ctr"/>
            <a:r>
              <a:rPr sz="1400" b="1">
                <a:solidFill>
                  <a:srgbClr val="1A1A1A"/>
                </a:solidFill>
                <a:latin typeface="メイリオ"/>
                <a:ea typeface="メイリオ"/>
              </a:rPr>
              <a:t>ワークシートに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198600" y="4031999"/>
            <a:ext cx="324000" cy="360000"/>
          </a:xfrm>
          <a:prstGeom prst="rightArrow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58600" y="3131999"/>
            <a:ext cx="2340000" cy="540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58600" y="3131999"/>
            <a:ext cx="2340000" cy="540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メイリオ"/>
                <a:ea typeface="メイリオ"/>
              </a:rPr>
              <a:t>ペア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58600" y="3671999"/>
            <a:ext cx="2340000" cy="1620000"/>
          </a:xfrm>
          <a:prstGeom prst="rect">
            <a:avLst/>
          </a:prstGeom>
          <a:solidFill>
            <a:srgbClr val="DAE3F3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58600" y="3743999"/>
            <a:ext cx="2340000" cy="1476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ctr"/>
            <a:r>
              <a:rPr sz="1400" b="1">
                <a:solidFill>
                  <a:srgbClr val="1A1A1A"/>
                </a:solidFill>
                <a:latin typeface="メイリオ"/>
                <a:ea typeface="メイリオ"/>
              </a:rPr>
              <a:t>隣同士で</a:t>
            </a:r>
          </a:p>
          <a:p>
            <a:pPr algn="ctr"/>
            <a:r>
              <a:rPr sz="1400" b="1">
                <a:solidFill>
                  <a:srgbClr val="1A1A1A"/>
                </a:solidFill>
                <a:latin typeface="メイリオ"/>
                <a:ea typeface="メイリオ"/>
              </a:rPr>
              <a:t>質問を交流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5934600" y="4031999"/>
            <a:ext cx="324000" cy="360000"/>
          </a:xfrm>
          <a:prstGeom prst="rightArrow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94600" y="3131999"/>
            <a:ext cx="2340000" cy="540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94600" y="3131999"/>
            <a:ext cx="2340000" cy="540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メイリオ"/>
                <a:ea typeface="メイリオ"/>
              </a:rPr>
              <a:t>グループ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94600" y="3671999"/>
            <a:ext cx="2340000" cy="1620000"/>
          </a:xfrm>
          <a:prstGeom prst="rect">
            <a:avLst/>
          </a:prstGeom>
          <a:solidFill>
            <a:srgbClr val="FFF2CC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94600" y="3743999"/>
            <a:ext cx="2340000" cy="1476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ctr"/>
            <a:r>
              <a:rPr sz="1400" b="1">
                <a:solidFill>
                  <a:srgbClr val="1A1A1A"/>
                </a:solidFill>
                <a:latin typeface="メイリオ"/>
                <a:ea typeface="メイリオ"/>
              </a:rPr>
              <a:t>動画を見て</a:t>
            </a:r>
          </a:p>
          <a:p>
            <a:pPr algn="ctr"/>
            <a:r>
              <a:rPr sz="1400" b="1">
                <a:solidFill>
                  <a:srgbClr val="1A1A1A"/>
                </a:solidFill>
                <a:latin typeface="メイリオ"/>
                <a:ea typeface="メイリオ"/>
              </a:rPr>
              <a:t>良さを探す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8670600" y="4031999"/>
            <a:ext cx="324000" cy="360000"/>
          </a:xfrm>
          <a:prstGeom prst="rightArrow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030600" y="3131999"/>
            <a:ext cx="2340000" cy="540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30600" y="3131999"/>
            <a:ext cx="2340000" cy="540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メイリオ"/>
                <a:ea typeface="メイリオ"/>
              </a:rPr>
              <a:t>全体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30600" y="3671999"/>
            <a:ext cx="2340000" cy="1620000"/>
          </a:xfrm>
          <a:prstGeom prst="rect">
            <a:avLst/>
          </a:prstGeom>
          <a:solidFill>
            <a:srgbClr val="DAE3F3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30600" y="3743999"/>
            <a:ext cx="2340000" cy="1476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ctr"/>
            <a:r>
              <a:rPr sz="1400" b="1">
                <a:solidFill>
                  <a:srgbClr val="1A1A1A"/>
                </a:solidFill>
                <a:latin typeface="メイリオ"/>
                <a:ea typeface="メイリオ"/>
              </a:rPr>
              <a:t>対話の質を</a:t>
            </a:r>
          </a:p>
          <a:p>
            <a:pPr algn="ctr"/>
            <a:r>
              <a:rPr sz="1400" b="1">
                <a:solidFill>
                  <a:srgbClr val="1A1A1A"/>
                </a:solidFill>
                <a:latin typeface="メイリオ"/>
                <a:ea typeface="メイリオ"/>
              </a:rPr>
              <a:t>共通理解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0000" y="5580000"/>
            <a:ext cx="11113200" cy="468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ctr"/>
            <a:r>
              <a:rPr sz="1800" b="1">
                <a:solidFill>
                  <a:srgbClr val="FF0000"/>
                </a:solidFill>
                <a:latin typeface="メイリオ"/>
                <a:ea typeface="メイリオ"/>
              </a:rPr>
              <a:t>個別 ⇄ 協働</a:t>
            </a:r>
            <a:r>
              <a:rPr sz="1600" b="1">
                <a:solidFill>
                  <a:srgbClr val="1A1A1A"/>
                </a:solidFill>
                <a:latin typeface="メイリオ"/>
                <a:ea typeface="メイリオ"/>
              </a:rPr>
              <a:t> の往還が、児童の </a:t>
            </a:r>
            <a:r>
              <a:rPr sz="1800" b="1">
                <a:solidFill>
                  <a:srgbClr val="FF0000"/>
                </a:solidFill>
                <a:latin typeface="メイリオ"/>
                <a:ea typeface="メイリオ"/>
              </a:rPr>
              <a:t>〝学びをつなげる〟</a:t>
            </a:r>
            <a:r>
              <a:rPr sz="1600" b="1">
                <a:solidFill>
                  <a:srgbClr val="1A1A1A"/>
                </a:solidFill>
                <a:latin typeface="メイリオ"/>
                <a:ea typeface="メイリオ"/>
              </a:rPr>
              <a:t> 土台になる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8000" y="6534000"/>
            <a:ext cx="9000000" cy="216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t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メイリオ"/>
                <a:ea typeface="メイリオ"/>
              </a:rPr>
              <a:t>指導講評  研究主題「対話を通して、学びをつなげる児童の育成」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13200" y="6534000"/>
            <a:ext cx="792000" cy="216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t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メイリオ"/>
                <a:ea typeface="メイリオ"/>
              </a:rPr>
              <a:t>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88000" y="144000"/>
            <a:ext cx="8280000" cy="648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l"/>
            <a:r>
              <a:rPr sz="3200" b="1">
                <a:solidFill>
                  <a:srgbClr val="1A1A1A"/>
                </a:solidFill>
                <a:latin typeface="メイリオ"/>
                <a:ea typeface="メイリオ"/>
              </a:rPr>
              <a:t>③-3  根拠資料③  東京都教育委員会</a:t>
            </a:r>
          </a:p>
        </p:txBody>
      </p:sp>
      <p:sp>
        <p:nvSpPr>
          <p:cNvPr id="3" name="Rectangle 2"/>
          <p:cNvSpPr/>
          <p:nvPr/>
        </p:nvSpPr>
        <p:spPr>
          <a:xfrm>
            <a:off x="288000" y="827999"/>
            <a:ext cx="11617200" cy="54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513200" y="216000"/>
            <a:ext cx="4320000" cy="503999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r"/>
            <a:r>
              <a:rPr sz="1100" b="1">
                <a:solidFill>
                  <a:srgbClr val="666666"/>
                </a:solidFill>
                <a:latin typeface="メイリオ"/>
                <a:ea typeface="メイリオ"/>
              </a:rPr>
              <a:t>「東京都教育ビジョン（第5次）」／「言語能力向上推進事業」</a:t>
            </a:r>
          </a:p>
        </p:txBody>
      </p:sp>
      <p:sp>
        <p:nvSpPr>
          <p:cNvPr id="5" name="Rectangle 4"/>
          <p:cNvSpPr/>
          <p:nvPr/>
        </p:nvSpPr>
        <p:spPr>
          <a:xfrm>
            <a:off x="540000" y="1152000"/>
            <a:ext cx="5580000" cy="46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0000" y="1152000"/>
            <a:ext cx="5580000" cy="468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メイリオ"/>
                <a:ea typeface="メイリオ"/>
              </a:rPr>
              <a:t>東京都教育ビジョン（第5次）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40000" y="1620000"/>
            <a:ext cx="5580000" cy="4572000"/>
          </a:xfrm>
          <a:prstGeom prst="rect">
            <a:avLst/>
          </a:prstGeom>
          <a:solidFill>
            <a:srgbClr val="DAE3F3"/>
          </a:solidFill>
          <a:ln w="1905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0000" y="1800000"/>
            <a:ext cx="5220000" cy="4248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1">
                <a:solidFill>
                  <a:srgbClr val="002060"/>
                </a:solidFill>
                <a:latin typeface="メイリオ"/>
                <a:ea typeface="メイリオ"/>
              </a:rPr>
              <a:t>●  </a:t>
            </a:r>
            <a:r>
              <a:rPr sz="1700" b="1">
                <a:solidFill>
                  <a:srgbClr val="FF0000"/>
                </a:solidFill>
                <a:latin typeface="メイリオ"/>
                <a:ea typeface="メイリオ"/>
              </a:rPr>
              <a:t>主体的に学び、考え、行動する力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1A1A1A"/>
                </a:solidFill>
                <a:latin typeface="メイリオ"/>
                <a:ea typeface="メイリオ"/>
              </a:rPr>
              <a:t>     の育成</a:t>
            </a:r>
          </a:p>
          <a:p>
            <a:pPr algn="l">
              <a:lnSpc>
                <a:spcPct val="135000"/>
              </a:lnSpc>
            </a:pPr>
          </a:p>
          <a:p>
            <a:pPr algn="l">
              <a:lnSpc>
                <a:spcPct val="135000"/>
              </a:lnSpc>
            </a:pPr>
            <a:r>
              <a:rPr sz="1700" b="1">
                <a:solidFill>
                  <a:srgbClr val="002060"/>
                </a:solidFill>
                <a:latin typeface="メイリオ"/>
                <a:ea typeface="メイリオ"/>
              </a:rPr>
              <a:t>●  「</a:t>
            </a:r>
            <a:r>
              <a:rPr sz="1700" b="1">
                <a:solidFill>
                  <a:srgbClr val="FF0000"/>
                </a:solidFill>
                <a:latin typeface="メイリオ"/>
                <a:ea typeface="メイリオ"/>
              </a:rPr>
              <a:t>話す・聞く・読む・書く</a:t>
            </a:r>
            <a:r>
              <a:rPr sz="1500" b="0">
                <a:solidFill>
                  <a:srgbClr val="1A1A1A"/>
                </a:solidFill>
                <a:latin typeface="メイリオ"/>
                <a:ea typeface="メイリオ"/>
              </a:rPr>
              <a:t>」言語能力を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1A1A1A"/>
                </a:solidFill>
                <a:latin typeface="メイリオ"/>
                <a:ea typeface="メイリオ"/>
              </a:rPr>
              <a:t>     全教育活動で計画的に育成</a:t>
            </a:r>
          </a:p>
          <a:p>
            <a:pPr algn="l">
              <a:lnSpc>
                <a:spcPct val="135000"/>
              </a:lnSpc>
            </a:pPr>
          </a:p>
          <a:p>
            <a:pPr algn="l">
              <a:lnSpc>
                <a:spcPct val="135000"/>
              </a:lnSpc>
            </a:pPr>
            <a:r>
              <a:rPr sz="1700" b="1">
                <a:solidFill>
                  <a:srgbClr val="002060"/>
                </a:solidFill>
                <a:latin typeface="メイリオ"/>
                <a:ea typeface="メイリオ"/>
              </a:rPr>
              <a:t>●  </a:t>
            </a:r>
            <a:r>
              <a:rPr sz="1700" b="1">
                <a:solidFill>
                  <a:srgbClr val="FF0000"/>
                </a:solidFill>
                <a:latin typeface="メイリオ"/>
                <a:ea typeface="メイリオ"/>
              </a:rPr>
              <a:t>思考力・判断力・表現力等</a:t>
            </a:r>
            <a:r>
              <a:rPr sz="1500" b="0">
                <a:solidFill>
                  <a:srgbClr val="1A1A1A"/>
                </a:solidFill>
                <a:latin typeface="メイリオ"/>
                <a:ea typeface="メイリオ"/>
              </a:rPr>
              <a:t>の基盤として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1A1A1A"/>
                </a:solidFill>
                <a:latin typeface="メイリオ"/>
                <a:ea typeface="メイリオ"/>
              </a:rPr>
              <a:t>     言語能力を位置づける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0000" y="1152000"/>
            <a:ext cx="5353200" cy="468000"/>
          </a:xfrm>
          <a:prstGeom prst="rect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0000" y="1152000"/>
            <a:ext cx="5353200" cy="468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メイリオ"/>
                <a:ea typeface="メイリオ"/>
              </a:rPr>
              <a:t>▶ 本校研究とのつながり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0000" y="1620000"/>
            <a:ext cx="5353200" cy="4572000"/>
          </a:xfrm>
          <a:prstGeom prst="rect">
            <a:avLst/>
          </a:prstGeom>
          <a:solidFill>
            <a:srgbClr val="FFF2CC"/>
          </a:solidFill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8000" y="1800000"/>
            <a:ext cx="5137200" cy="4248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1A1A1A"/>
                </a:solidFill>
                <a:latin typeface="メイリオ"/>
                <a:ea typeface="メイリオ"/>
              </a:rPr>
              <a:t>本校研究仮説の</a:t>
            </a:r>
          </a:p>
          <a:p>
            <a:pPr algn="l">
              <a:lnSpc>
                <a:spcPct val="130000"/>
              </a:lnSpc>
            </a:pPr>
          </a:p>
          <a:p>
            <a:pPr algn="l">
              <a:lnSpc>
                <a:spcPct val="130000"/>
              </a:lnSpc>
            </a:pPr>
            <a:r>
              <a:rPr sz="1600" b="1">
                <a:solidFill>
                  <a:srgbClr val="FF0000"/>
                </a:solidFill>
                <a:latin typeface="メイリオ"/>
                <a:ea typeface="メイリオ"/>
              </a:rPr>
              <a:t>「視点を明確にした</a:t>
            </a:r>
          </a:p>
          <a:p>
            <a:pPr algn="l">
              <a:lnSpc>
                <a:spcPct val="130000"/>
              </a:lnSpc>
            </a:pPr>
            <a:r>
              <a:rPr sz="1600" b="1">
                <a:solidFill>
                  <a:srgbClr val="FF0000"/>
                </a:solidFill>
                <a:latin typeface="メイリオ"/>
                <a:ea typeface="メイリオ"/>
              </a:rPr>
              <a:t>  対話の継続」</a:t>
            </a:r>
          </a:p>
          <a:p>
            <a:pPr algn="l">
              <a:lnSpc>
                <a:spcPct val="130000"/>
              </a:lnSpc>
            </a:pP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1A1A1A"/>
                </a:solidFill>
                <a:latin typeface="メイリオ"/>
                <a:ea typeface="メイリオ"/>
              </a:rPr>
              <a:t>は、都の言語能力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1A1A1A"/>
                </a:solidFill>
                <a:latin typeface="メイリオ"/>
                <a:ea typeface="メイリオ"/>
              </a:rPr>
              <a:t>育成の方向と</a:t>
            </a:r>
          </a:p>
          <a:p>
            <a:pPr algn="l">
              <a:lnSpc>
                <a:spcPct val="130000"/>
              </a:lnSpc>
            </a:pPr>
            <a:r>
              <a:rPr sz="1600" b="1">
                <a:solidFill>
                  <a:srgbClr val="FF0000"/>
                </a:solidFill>
                <a:latin typeface="メイリオ"/>
                <a:ea typeface="メイリオ"/>
              </a:rPr>
              <a:t>完全に一致</a:t>
            </a:r>
            <a:r>
              <a:rPr sz="1400" b="0">
                <a:solidFill>
                  <a:srgbClr val="1A1A1A"/>
                </a:solidFill>
                <a:latin typeface="メイリオ"/>
                <a:ea typeface="メイリオ"/>
              </a:rPr>
              <a:t>。</a:t>
            </a:r>
          </a:p>
          <a:p>
            <a:pPr algn="l">
              <a:lnSpc>
                <a:spcPct val="130000"/>
              </a:lnSpc>
            </a:pP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1A1A1A"/>
                </a:solidFill>
                <a:latin typeface="メイリオ"/>
                <a:ea typeface="メイリオ"/>
              </a:rPr>
              <a:t>校内研究は、</a:t>
            </a:r>
          </a:p>
          <a:p>
            <a:pPr algn="l">
              <a:lnSpc>
                <a:spcPct val="130000"/>
              </a:lnSpc>
            </a:pPr>
            <a:r>
              <a:rPr sz="1600" b="1">
                <a:solidFill>
                  <a:srgbClr val="002060"/>
                </a:solidFill>
                <a:latin typeface="メイリオ"/>
                <a:ea typeface="メイリオ"/>
              </a:rPr>
              <a:t>都の施策推進</a:t>
            </a:r>
          </a:p>
          <a:p>
            <a:pPr algn="l">
              <a:lnSpc>
                <a:spcPct val="130000"/>
              </a:lnSpc>
            </a:pPr>
            <a:r>
              <a:rPr sz="1600" b="1">
                <a:solidFill>
                  <a:srgbClr val="002060"/>
                </a:solidFill>
                <a:latin typeface="メイリオ"/>
                <a:ea typeface="メイリオ"/>
              </a:rPr>
              <a:t>そのもの。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8000" y="6534000"/>
            <a:ext cx="9000000" cy="216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t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メイリオ"/>
                <a:ea typeface="メイリオ"/>
              </a:rPr>
              <a:t>指導講評  研究主題「対話を通して、学びをつなげる児童の育成」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13200" y="6534000"/>
            <a:ext cx="792000" cy="216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t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メイリオ"/>
                <a:ea typeface="メイリオ"/>
              </a:rPr>
              <a:t>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88000" y="144000"/>
            <a:ext cx="8280000" cy="648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l"/>
            <a:r>
              <a:rPr sz="3200" b="1">
                <a:solidFill>
                  <a:srgbClr val="1A1A1A"/>
                </a:solidFill>
                <a:latin typeface="メイリオ"/>
                <a:ea typeface="メイリオ"/>
              </a:rPr>
              <a:t>④  先生方への投げかけ（2分）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288000" y="827999"/>
            <a:ext cx="11617200" cy="54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0000" y="1152000"/>
            <a:ext cx="11113200" cy="792000"/>
          </a:xfrm>
          <a:prstGeom prst="rect">
            <a:avLst/>
          </a:prstGeom>
          <a:solidFill>
            <a:srgbClr val="DAE3F3"/>
          </a:solidFill>
          <a:ln w="1905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0000" y="1224000"/>
            <a:ext cx="10753200" cy="648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ctr"/>
            <a:r>
              <a:rPr sz="1800" b="1">
                <a:solidFill>
                  <a:srgbClr val="1A1A1A"/>
                </a:solidFill>
                <a:latin typeface="メイリオ"/>
                <a:ea typeface="メイリオ"/>
              </a:rPr>
              <a:t>📊  児童の意識調査より：「</a:t>
            </a:r>
            <a:r>
              <a:rPr sz="2000" b="1">
                <a:solidFill>
                  <a:srgbClr val="FF0000"/>
                </a:solidFill>
                <a:latin typeface="メイリオ"/>
                <a:ea typeface="メイリオ"/>
              </a:rPr>
              <a:t>質問を考えながら聞く</a:t>
            </a:r>
            <a:r>
              <a:rPr sz="1800" b="1">
                <a:solidFill>
                  <a:srgbClr val="1A1A1A"/>
                </a:solidFill>
                <a:latin typeface="メイリオ"/>
                <a:ea typeface="メイリオ"/>
              </a:rPr>
              <a:t>」と答えた児童は ▶ </a:t>
            </a:r>
            <a:r>
              <a:rPr sz="2800" b="1">
                <a:solidFill>
                  <a:srgbClr val="FF0000"/>
                </a:solidFill>
                <a:latin typeface="メイリオ"/>
                <a:ea typeface="メイリオ"/>
              </a:rPr>
              <a:t>33％</a:t>
            </a:r>
          </a:p>
        </p:txBody>
      </p:sp>
      <p:sp>
        <p:nvSpPr>
          <p:cNvPr id="6" name="Rectangle 5"/>
          <p:cNvSpPr/>
          <p:nvPr/>
        </p:nvSpPr>
        <p:spPr>
          <a:xfrm>
            <a:off x="540000" y="2088000"/>
            <a:ext cx="3600000" cy="432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0000" y="2088000"/>
            <a:ext cx="3600000" cy="432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メイリオ"/>
                <a:ea typeface="メイリオ"/>
              </a:rPr>
              <a:t>Q．  隣の先生と1分間  考えてみてください</a:t>
            </a:r>
          </a:p>
        </p:txBody>
      </p:sp>
      <p:sp>
        <p:nvSpPr>
          <p:cNvPr id="8" name="Rectangle 7"/>
          <p:cNvSpPr/>
          <p:nvPr/>
        </p:nvSpPr>
        <p:spPr>
          <a:xfrm>
            <a:off x="540000" y="2520000"/>
            <a:ext cx="11113200" cy="2880000"/>
          </a:xfrm>
          <a:prstGeom prst="rect">
            <a:avLst/>
          </a:prstGeom>
          <a:solidFill>
            <a:srgbClr val="FFF2CC"/>
          </a:solidFill>
          <a:ln w="254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0000" y="2700000"/>
            <a:ext cx="10393200" cy="1260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800" b="1">
                <a:solidFill>
                  <a:srgbClr val="1A1A1A"/>
                </a:solidFill>
                <a:latin typeface="メイリオ"/>
                <a:ea typeface="メイリオ"/>
              </a:rPr>
              <a:t>①  自分の学年・教科で、</a:t>
            </a:r>
            <a:r>
              <a:rPr sz="1900" b="1">
                <a:solidFill>
                  <a:srgbClr val="FF0000"/>
                </a:solidFill>
                <a:latin typeface="メイリオ"/>
                <a:ea typeface="メイリオ"/>
              </a:rPr>
              <a:t>「質問の種類」</a:t>
            </a:r>
            <a:r>
              <a:rPr sz="1800" b="1">
                <a:solidFill>
                  <a:srgbClr val="1A1A1A"/>
                </a:solidFill>
                <a:latin typeface="メイリオ"/>
                <a:ea typeface="メイリオ"/>
              </a:rPr>
              <a:t>のような</a:t>
            </a:r>
          </a:p>
          <a:p>
            <a:pPr algn="l">
              <a:lnSpc>
                <a:spcPct val="150000"/>
              </a:lnSpc>
            </a:pPr>
            <a:r>
              <a:rPr sz="1800" b="1">
                <a:solidFill>
                  <a:srgbClr val="1A1A1A"/>
                </a:solidFill>
                <a:latin typeface="メイリオ"/>
                <a:ea typeface="メイリオ"/>
              </a:rPr>
              <a:t>     </a:t>
            </a:r>
            <a:r>
              <a:rPr sz="1900" b="1">
                <a:solidFill>
                  <a:srgbClr val="FF0000"/>
                </a:solidFill>
                <a:latin typeface="メイリオ"/>
                <a:ea typeface="メイリオ"/>
              </a:rPr>
              <a:t>〝対話の足場〟</a:t>
            </a:r>
            <a:r>
              <a:rPr sz="1800" b="1">
                <a:solidFill>
                  <a:srgbClr val="1A1A1A"/>
                </a:solidFill>
                <a:latin typeface="メイリオ"/>
                <a:ea typeface="メイリオ"/>
              </a:rPr>
              <a:t>を作るとしたら、何ができますか？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0000" y="4068000"/>
            <a:ext cx="10393200" cy="1260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800" b="1">
                <a:solidFill>
                  <a:srgbClr val="1A1A1A"/>
                </a:solidFill>
                <a:latin typeface="メイリオ"/>
                <a:ea typeface="メイリオ"/>
              </a:rPr>
              <a:t>②  児童が</a:t>
            </a:r>
            <a:r>
              <a:rPr sz="1900" b="1">
                <a:solidFill>
                  <a:srgbClr val="FF0000"/>
                </a:solidFill>
                <a:latin typeface="メイリオ"/>
                <a:ea typeface="メイリオ"/>
              </a:rPr>
              <a:t>〝伝えてよかった・聞けてよかった〟</a:t>
            </a:r>
            <a:r>
              <a:rPr sz="1800" b="1">
                <a:solidFill>
                  <a:srgbClr val="1A1A1A"/>
                </a:solidFill>
                <a:latin typeface="メイリオ"/>
                <a:ea typeface="メイリオ"/>
              </a:rPr>
              <a:t>と</a:t>
            </a:r>
          </a:p>
          <a:p>
            <a:pPr algn="l">
              <a:lnSpc>
                <a:spcPct val="150000"/>
              </a:lnSpc>
            </a:pPr>
            <a:r>
              <a:rPr sz="1800" b="1">
                <a:solidFill>
                  <a:srgbClr val="1A1A1A"/>
                </a:solidFill>
                <a:latin typeface="メイリオ"/>
                <a:ea typeface="メイリオ"/>
              </a:rPr>
              <a:t>     実感する場面を、</a:t>
            </a:r>
            <a:r>
              <a:rPr sz="1900" b="1">
                <a:solidFill>
                  <a:srgbClr val="FF0000"/>
                </a:solidFill>
                <a:latin typeface="メイリオ"/>
                <a:ea typeface="メイリオ"/>
              </a:rPr>
              <a:t>どう仕掛けますか？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80000" y="5652000"/>
            <a:ext cx="6433200" cy="576000"/>
          </a:xfrm>
          <a:prstGeom prst="rect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80000" y="5652000"/>
            <a:ext cx="6433200" cy="576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メイリオ"/>
                <a:ea typeface="メイリオ"/>
              </a:rPr>
              <a:t>⏱  1分間ペアトーク → 30秒で2～3名から共有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8000" y="6534000"/>
            <a:ext cx="9000000" cy="216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t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メイリオ"/>
                <a:ea typeface="メイリオ"/>
              </a:rPr>
              <a:t>指導講評  研究主題「対話を通して、学びをつなげる児童の育成」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13200" y="6534000"/>
            <a:ext cx="792000" cy="216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t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メイリオ"/>
                <a:ea typeface="メイリオ"/>
              </a:rPr>
              <a:t>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88000" y="144000"/>
            <a:ext cx="8280000" cy="648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l"/>
            <a:r>
              <a:rPr sz="3200" b="1">
                <a:solidFill>
                  <a:srgbClr val="1A1A1A"/>
                </a:solidFill>
                <a:latin typeface="メイリオ"/>
                <a:ea typeface="メイリオ"/>
              </a:rPr>
              <a:t>⑤  今後への提案  ／  ⑥  まとめ</a:t>
            </a:r>
          </a:p>
        </p:txBody>
      </p:sp>
      <p:sp>
        <p:nvSpPr>
          <p:cNvPr id="3" name="Rectangle 2"/>
          <p:cNvSpPr/>
          <p:nvPr/>
        </p:nvSpPr>
        <p:spPr>
          <a:xfrm>
            <a:off x="288000" y="827999"/>
            <a:ext cx="11617200" cy="54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52600" y="1188000"/>
            <a:ext cx="3600000" cy="2340000"/>
          </a:xfrm>
          <a:prstGeom prst="rect">
            <a:avLst/>
          </a:prstGeom>
          <a:solidFill>
            <a:srgbClr val="FFFFFF"/>
          </a:solidFill>
          <a:ln w="254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52600" y="1188000"/>
            <a:ext cx="3600000" cy="540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60600" y="1242000"/>
            <a:ext cx="432000" cy="432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0600" y="1242000"/>
            <a:ext cx="432000" cy="432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メイリオ"/>
                <a:ea typeface="メイリオ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4600" y="1188000"/>
            <a:ext cx="2880000" cy="540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メイリオ"/>
                <a:ea typeface="メイリオ"/>
              </a:rPr>
              <a:t>話題の吟味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2600" y="1872000"/>
            <a:ext cx="3240000" cy="1548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ctr">
              <a:lnSpc>
                <a:spcPct val="140000"/>
              </a:lnSpc>
            </a:pPr>
            <a:r>
              <a:rPr sz="1300" b="0">
                <a:solidFill>
                  <a:srgbClr val="1A1A1A"/>
                </a:solidFill>
                <a:latin typeface="メイリオ"/>
                <a:ea typeface="メイリオ"/>
              </a:rPr>
              <a:t>児童が</a:t>
            </a:r>
            <a:r>
              <a:rPr sz="1500" b="1">
                <a:solidFill>
                  <a:srgbClr val="FF0000"/>
                </a:solidFill>
                <a:latin typeface="メイリオ"/>
                <a:ea typeface="メイリオ"/>
              </a:rPr>
              <a:t>〝聞きたくなる〟</a:t>
            </a:r>
          </a:p>
          <a:p>
            <a:pPr algn="ctr">
              <a:lnSpc>
                <a:spcPct val="140000"/>
              </a:lnSpc>
            </a:pPr>
            <a:r>
              <a:rPr sz="1300" b="0">
                <a:solidFill>
                  <a:srgbClr val="1A1A1A"/>
                </a:solidFill>
                <a:latin typeface="メイリオ"/>
                <a:ea typeface="メイリオ"/>
              </a:rPr>
              <a:t>話題を、</a:t>
            </a:r>
          </a:p>
          <a:p>
            <a:pPr algn="ctr">
              <a:lnSpc>
                <a:spcPct val="140000"/>
              </a:lnSpc>
            </a:pPr>
            <a:r>
              <a:rPr sz="1300" b="0">
                <a:solidFill>
                  <a:srgbClr val="1A1A1A"/>
                </a:solidFill>
                <a:latin typeface="メイリオ"/>
                <a:ea typeface="メイリオ"/>
              </a:rPr>
              <a:t>教師自身が体現する。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6600" y="1188000"/>
            <a:ext cx="3600000" cy="2340000"/>
          </a:xfrm>
          <a:prstGeom prst="rect">
            <a:avLst/>
          </a:prstGeom>
          <a:solidFill>
            <a:srgbClr val="FFFFFF"/>
          </a:solidFill>
          <a:ln w="254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96600" y="1188000"/>
            <a:ext cx="3600000" cy="540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404600" y="1242000"/>
            <a:ext cx="432000" cy="432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04600" y="1242000"/>
            <a:ext cx="432000" cy="432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メイリオ"/>
                <a:ea typeface="メイリオ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08600" y="1188000"/>
            <a:ext cx="2880000" cy="540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メイリオ"/>
                <a:ea typeface="メイリオ"/>
              </a:rPr>
              <a:t>視点の共通言語化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76600" y="1872000"/>
            <a:ext cx="3240000" cy="1548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ctr">
              <a:lnSpc>
                <a:spcPct val="140000"/>
              </a:lnSpc>
            </a:pPr>
            <a:r>
              <a:rPr sz="1500" b="1">
                <a:solidFill>
                  <a:srgbClr val="FF0000"/>
                </a:solidFill>
                <a:latin typeface="メイリオ"/>
                <a:ea typeface="メイリオ"/>
              </a:rPr>
              <a:t>「確かめ・2ndQ・感想」</a:t>
            </a:r>
          </a:p>
          <a:p>
            <a:pPr algn="ctr">
              <a:lnSpc>
                <a:spcPct val="140000"/>
              </a:lnSpc>
            </a:pPr>
            <a:r>
              <a:rPr sz="1300" b="0">
                <a:solidFill>
                  <a:srgbClr val="1A1A1A"/>
                </a:solidFill>
                <a:latin typeface="メイリオ"/>
                <a:ea typeface="メイリオ"/>
              </a:rPr>
              <a:t>を学校全体の</a:t>
            </a:r>
          </a:p>
          <a:p>
            <a:pPr algn="ctr">
              <a:lnSpc>
                <a:spcPct val="140000"/>
              </a:lnSpc>
            </a:pPr>
            <a:r>
              <a:rPr sz="1300" b="0">
                <a:solidFill>
                  <a:srgbClr val="1A1A1A"/>
                </a:solidFill>
                <a:latin typeface="メイリオ"/>
                <a:ea typeface="メイリオ"/>
              </a:rPr>
              <a:t>共通言語に。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40600" y="1188000"/>
            <a:ext cx="3600000" cy="2340000"/>
          </a:xfrm>
          <a:prstGeom prst="rect">
            <a:avLst/>
          </a:prstGeom>
          <a:solidFill>
            <a:srgbClr val="FFFFFF"/>
          </a:solidFill>
          <a:ln w="254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0600" y="1188000"/>
            <a:ext cx="3600000" cy="540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148600" y="1242000"/>
            <a:ext cx="432000" cy="432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48600" y="1242000"/>
            <a:ext cx="432000" cy="432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メイリオ"/>
                <a:ea typeface="メイリオ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52600" y="1188000"/>
            <a:ext cx="2880000" cy="540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メイリオ"/>
                <a:ea typeface="メイリオ"/>
              </a:rPr>
              <a:t>安心の環境づくり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0600" y="1872000"/>
            <a:ext cx="3240000" cy="1548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ctr">
              <a:lnSpc>
                <a:spcPct val="140000"/>
              </a:lnSpc>
            </a:pPr>
            <a:r>
              <a:rPr sz="1500" b="1">
                <a:solidFill>
                  <a:srgbClr val="FF0000"/>
                </a:solidFill>
                <a:latin typeface="メイリオ"/>
                <a:ea typeface="メイリオ"/>
              </a:rPr>
              <a:t>話型・モデル提示</a:t>
            </a:r>
            <a:r>
              <a:rPr sz="1300" b="0">
                <a:solidFill>
                  <a:srgbClr val="1A1A1A"/>
                </a:solidFill>
                <a:latin typeface="メイリオ"/>
                <a:ea typeface="メイリオ"/>
              </a:rPr>
              <a:t>の継続で、</a:t>
            </a:r>
          </a:p>
          <a:p>
            <a:pPr algn="ctr">
              <a:lnSpc>
                <a:spcPct val="140000"/>
              </a:lnSpc>
            </a:pPr>
            <a:r>
              <a:rPr sz="1500" b="1">
                <a:solidFill>
                  <a:srgbClr val="FF0000"/>
                </a:solidFill>
                <a:latin typeface="メイリオ"/>
                <a:ea typeface="メイリオ"/>
              </a:rPr>
              <a:t>〝自信がない児童〟</a:t>
            </a:r>
            <a:r>
              <a:rPr sz="1300" b="0">
                <a:solidFill>
                  <a:srgbClr val="1A1A1A"/>
                </a:solidFill>
                <a:latin typeface="メイリオ"/>
                <a:ea typeface="メイリオ"/>
              </a:rPr>
              <a:t>にも</a:t>
            </a:r>
          </a:p>
          <a:p>
            <a:pPr algn="ctr">
              <a:lnSpc>
                <a:spcPct val="140000"/>
              </a:lnSpc>
            </a:pPr>
            <a:r>
              <a:rPr sz="1300" b="0">
                <a:solidFill>
                  <a:srgbClr val="1A1A1A"/>
                </a:solidFill>
                <a:latin typeface="メイリオ"/>
                <a:ea typeface="メイリオ"/>
              </a:rPr>
              <a:t>届ける。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0000" y="3780000"/>
            <a:ext cx="2880000" cy="46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0000" y="3780000"/>
            <a:ext cx="2880000" cy="468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メイリオ"/>
                <a:ea typeface="メイリオ"/>
              </a:rPr>
              <a:t>⑥  本日のまとめ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0000" y="4248000"/>
            <a:ext cx="11113200" cy="1980000"/>
          </a:xfrm>
          <a:prstGeom prst="rect">
            <a:avLst/>
          </a:prstGeom>
          <a:solidFill>
            <a:srgbClr val="FFF2CC"/>
          </a:solidFill>
          <a:ln w="254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0000" y="4356000"/>
            <a:ext cx="10753200" cy="1800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ctr">
              <a:lnSpc>
                <a:spcPct val="145000"/>
              </a:lnSpc>
            </a:pPr>
            <a:r>
              <a:rPr sz="1800" b="1">
                <a:solidFill>
                  <a:srgbClr val="002060"/>
                </a:solidFill>
                <a:latin typeface="メイリオ"/>
                <a:ea typeface="メイリオ"/>
              </a:rPr>
              <a:t>「対話を通して、学びをつなげる児童」</a:t>
            </a:r>
            <a:r>
              <a:rPr sz="1800" b="1">
                <a:solidFill>
                  <a:srgbClr val="1A1A1A"/>
                </a:solidFill>
                <a:latin typeface="メイリオ"/>
                <a:ea typeface="メイリオ"/>
              </a:rPr>
              <a:t> は、</a:t>
            </a:r>
          </a:p>
          <a:p>
            <a:pPr algn="ctr">
              <a:lnSpc>
                <a:spcPct val="145000"/>
              </a:lnSpc>
            </a:pPr>
            <a:r>
              <a:rPr sz="1700" b="1">
                <a:solidFill>
                  <a:srgbClr val="1A1A1A"/>
                </a:solidFill>
                <a:latin typeface="メイリオ"/>
                <a:ea typeface="メイリオ"/>
              </a:rPr>
              <a:t>まず </a:t>
            </a:r>
            <a:r>
              <a:rPr sz="1900" b="1">
                <a:solidFill>
                  <a:srgbClr val="FF0000"/>
                </a:solidFill>
                <a:latin typeface="メイリオ"/>
                <a:ea typeface="メイリオ"/>
              </a:rPr>
              <a:t>教師自身が〝対話で学びをつなげる姿〟</a:t>
            </a:r>
            <a:r>
              <a:rPr sz="1700" b="1">
                <a:solidFill>
                  <a:srgbClr val="1A1A1A"/>
                </a:solidFill>
                <a:latin typeface="メイリオ"/>
                <a:ea typeface="メイリオ"/>
              </a:rPr>
              <a:t> から始まる。</a:t>
            </a:r>
          </a:p>
          <a:p>
            <a:pPr algn="ctr">
              <a:lnSpc>
                <a:spcPct val="145000"/>
              </a:lnSpc>
            </a:pPr>
          </a:p>
          <a:p>
            <a:pPr algn="ctr">
              <a:lnSpc>
                <a:spcPct val="145000"/>
              </a:lnSpc>
            </a:pPr>
            <a:r>
              <a:rPr sz="1600" b="1">
                <a:solidFill>
                  <a:srgbClr val="1A1A1A"/>
                </a:solidFill>
                <a:latin typeface="メイリオ"/>
                <a:ea typeface="メイリオ"/>
              </a:rPr>
              <a:t>今日皆さんが隣の先生と交わした言葉が、</a:t>
            </a:r>
          </a:p>
          <a:p>
            <a:pPr algn="ctr">
              <a:lnSpc>
                <a:spcPct val="145000"/>
              </a:lnSpc>
            </a:pPr>
            <a:r>
              <a:rPr sz="1600" b="1">
                <a:solidFill>
                  <a:srgbClr val="1A1A1A"/>
                </a:solidFill>
                <a:latin typeface="メイリオ"/>
                <a:ea typeface="メイリオ"/>
              </a:rPr>
              <a:t>明日の授業で </a:t>
            </a:r>
            <a:r>
              <a:rPr sz="1800" b="1">
                <a:solidFill>
                  <a:srgbClr val="FF0000"/>
                </a:solidFill>
                <a:latin typeface="メイリオ"/>
                <a:ea typeface="メイリオ"/>
              </a:rPr>
              <a:t>子どもたちに返っていきます</a:t>
            </a:r>
            <a:r>
              <a:rPr sz="1600" b="1">
                <a:solidFill>
                  <a:srgbClr val="1A1A1A"/>
                </a:solidFill>
                <a:latin typeface="メイリオ"/>
                <a:ea typeface="メイリオ"/>
              </a:rPr>
              <a:t>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8000" y="6534000"/>
            <a:ext cx="9000000" cy="216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t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メイリオ"/>
                <a:ea typeface="メイリオ"/>
              </a:rPr>
              <a:t>指導講評  研究主題「対話を通して、学びをつなげる児童の育成」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13200" y="6534000"/>
            <a:ext cx="792000" cy="216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t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メイリオ"/>
                <a:ea typeface="メイリオ"/>
              </a:rPr>
              <a:t>12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