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8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95" r:id="rId33"/>
  </p:sldIdLst>
  <p:sldSz cx="12192000" cy="6858000"/>
  <p:notesSz cx="9869488" cy="67373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80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練馬区 紺多　章一郎" userId="9416857a74a95685" providerId="LiveId" clId="{B4727B4F-34DD-46C5-BE3C-DC95A10A0C15}"/>
    <pc:docChg chg="addSld modSld">
      <pc:chgData name="練馬区 紺多　章一郎" userId="9416857a74a95685" providerId="LiveId" clId="{B4727B4F-34DD-46C5-BE3C-DC95A10A0C15}" dt="2026-10-27T12:47:28.039" v="23"/>
      <pc:docMkLst>
        <pc:docMk/>
      </pc:docMkLst>
      <pc:sldChg chg="modAnim">
        <pc:chgData name="練馬区 紺多　章一郎" userId="9416857a74a95685" providerId="LiveId" clId="{B4727B4F-34DD-46C5-BE3C-DC95A10A0C15}" dt="2026-10-27T12:02:21.599" v="22"/>
        <pc:sldMkLst>
          <pc:docMk/>
          <pc:sldMk cId="0" sldId="257"/>
        </pc:sldMkLst>
      </pc:sldChg>
      <pc:sldChg chg="modAnim">
        <pc:chgData name="練馬区 紺多　章一郎" userId="9416857a74a95685" providerId="LiveId" clId="{B4727B4F-34DD-46C5-BE3C-DC95A10A0C15}" dt="2026-10-27T11:48:55.401" v="1"/>
        <pc:sldMkLst>
          <pc:docMk/>
          <pc:sldMk cId="0" sldId="261"/>
        </pc:sldMkLst>
      </pc:sldChg>
      <pc:sldChg chg="modAnim">
        <pc:chgData name="練馬区 紺多　章一郎" userId="9416857a74a95685" providerId="LiveId" clId="{B4727B4F-34DD-46C5-BE3C-DC95A10A0C15}" dt="2026-10-27T11:56:08.423" v="15"/>
        <pc:sldMkLst>
          <pc:docMk/>
          <pc:sldMk cId="0" sldId="263"/>
        </pc:sldMkLst>
      </pc:sldChg>
      <pc:sldChg chg="modAnim">
        <pc:chgData name="練馬区 紺多　章一郎" userId="9416857a74a95685" providerId="LiveId" clId="{B4727B4F-34DD-46C5-BE3C-DC95A10A0C15}" dt="2026-10-27T11:56:15.717" v="17"/>
        <pc:sldMkLst>
          <pc:docMk/>
          <pc:sldMk cId="0" sldId="265"/>
        </pc:sldMkLst>
      </pc:sldChg>
      <pc:sldChg chg="add setBg">
        <pc:chgData name="練馬区 紺多　章一郎" userId="9416857a74a95685" providerId="LiveId" clId="{B4727B4F-34DD-46C5-BE3C-DC95A10A0C15}" dt="2026-10-27T12:47:28.039" v="23"/>
        <pc:sldMkLst>
          <pc:docMk/>
          <pc:sldMk cId="0" sldId="267"/>
        </pc:sldMkLst>
      </pc:sldChg>
      <pc:sldChg chg="add setBg">
        <pc:chgData name="練馬区 紺多　章一郎" userId="9416857a74a95685" providerId="LiveId" clId="{B4727B4F-34DD-46C5-BE3C-DC95A10A0C15}" dt="2026-10-27T12:47:28.039" v="23"/>
        <pc:sldMkLst>
          <pc:docMk/>
          <pc:sldMk cId="0" sldId="269"/>
        </pc:sldMkLst>
      </pc:sldChg>
      <pc:sldChg chg="modAnim">
        <pc:chgData name="練馬区 紺多　章一郎" userId="9416857a74a95685" providerId="LiveId" clId="{B4727B4F-34DD-46C5-BE3C-DC95A10A0C15}" dt="2026-10-27T11:55:49.126" v="14"/>
        <pc:sldMkLst>
          <pc:docMk/>
          <pc:sldMk cId="0" sldId="273"/>
        </pc:sldMkLst>
      </pc:sldChg>
      <pc:sldChg chg="modAnim">
        <pc:chgData name="練馬区 紺多　章一郎" userId="9416857a74a95685" providerId="LiveId" clId="{B4727B4F-34DD-46C5-BE3C-DC95A10A0C15}" dt="2026-10-27T11:50:38.396" v="5"/>
        <pc:sldMkLst>
          <pc:docMk/>
          <pc:sldMk cId="0" sldId="280"/>
        </pc:sldMkLst>
      </pc:sldChg>
      <pc:sldChg chg="modAnim">
        <pc:chgData name="練馬区 紺多　章一郎" userId="9416857a74a95685" providerId="LiveId" clId="{B4727B4F-34DD-46C5-BE3C-DC95A10A0C15}" dt="2026-10-27T11:50:45.926" v="6"/>
        <pc:sldMkLst>
          <pc:docMk/>
          <pc:sldMk cId="0" sldId="281"/>
        </pc:sldMkLst>
      </pc:sldChg>
      <pc:sldChg chg="modAnim">
        <pc:chgData name="練馬区 紺多　章一郎" userId="9416857a74a95685" providerId="LiveId" clId="{B4727B4F-34DD-46C5-BE3C-DC95A10A0C15}" dt="2026-10-27T11:50:53.432" v="7"/>
        <pc:sldMkLst>
          <pc:docMk/>
          <pc:sldMk cId="0" sldId="282"/>
        </pc:sldMkLst>
      </pc:sldChg>
      <pc:sldChg chg="add setBg">
        <pc:chgData name="練馬区 紺多　章一郎" userId="9416857a74a95685" providerId="LiveId" clId="{B4727B4F-34DD-46C5-BE3C-DC95A10A0C15}" dt="2026-10-27T11:57:09.435" v="18"/>
        <pc:sldMkLst>
          <pc:docMk/>
          <pc:sldMk cId="0"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92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〇改めまして、先生方、こんにちは。練馬区教育委員会 指導主事の紺多 章一郎です。本日はよろしくお願いいたします。</a:t>
            </a:r>
          </a:p>
          <a:p>
            <a:r>
              <a:t>〇本日このような形で授業を参観し、協議を通して学び合う機会をいただきましたこと、校長先生をはじめ、大泉北小学校の先生方に心より感謝申し上げます。</a:t>
            </a:r>
          </a:p>
          <a:p>
            <a:r>
              <a:t>〇１年２組の子供たちと一緒に素晴らしい授業を公開してくださった水野先生、本当にお疲れさまでした。単元づくりを支えてこられた低学年分科会の先生方にも感謝申し上げます。</a:t>
            </a:r>
          </a:p>
          <a:p>
            <a:r>
              <a:t>〇今日は「体育から考えるキャリア教育」というテーマでお話しします。若手の先生方、今年度異動してこられた先生方にも、「キャリア教育とはこういうことか」と腑に落ちる時間にしたいと思っています。</a:t>
            </a:r>
          </a:p>
          <a:p>
            <a:r>
              <a:t>〇答えは、先ほど皆さんと一緒に見た「子供たちの姿」の中にあります。子供の姿を真ん中に置いて考えていきましょう。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〇最初に一つ質問です。「キャリア教育」と聞いて、何を思い浮かべますか。近くの先生と30秒ほど共有してください。</a:t>
            </a:r>
          </a:p>
          <a:p>
            <a:r>
              <a:t>〇（２～３名指名）ありがとうございます。将来の夢を書く活動、まち探検や社会科での仕事調べ・インタビュー、キャリア・パスポート、係活動……。どれも大切な取組です。</a:t>
            </a:r>
          </a:p>
          <a:p>
            <a:r>
              <a:t>〇でも、キャリア教育はそれ“だけ”ではありません。実は、今日の１年生の体育の授業の中に、キャリア教育の本質がたくさん詰まっていました。今日はそれを一緒に確かめていきます。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〇本日は、この５つの流れでお話しします。</a:t>
            </a:r>
          </a:p>
          <a:p>
            <a:r>
              <a:t>〇最初に「キャリア教育とは何か」を確認し、次に「体育とキャリア教育について」、学習指導要領を根拠に確かめます。そのうえで、今日の授業を振り返り、文部科学省の最新動向、明日からの授業へとつなげます。</a:t>
            </a:r>
          </a:p>
          <a:p>
            <a:r>
              <a:t>【時間配分の目安（計30分）】導入２分／01 キャリア教育とは５分／02 体育とキャリア教育について７分／03 本時の授業から９分／04 次期学習指導要領４分／05 明日からの授業へ３分</a:t>
            </a:r>
          </a:p>
          <a:p>
            <a:r>
              <a:t>〇巻末の参考資料編は、若手の先生方や今年度異動してこられた先生方向けの解説です。今日は時間の都合で触れませんが、校内研修や学年会などでご活用ください。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〇最初に、「キャリア教育とは何か」を確認します。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〇平成23年の中央教育審議会答申では、「キャリア」を「人が、生涯の中で様々な役割を果たす過程で、自らの役割の価値や自分と役割との関係を見いだしていく連なりや積み重ね」と定義しています。</a:t>
            </a:r>
          </a:p>
          <a:p>
            <a:r>
              <a:t>〇ポイントは「役割」と「連なりや積み重ね」です。キャリアは「職業」のことだけではありません。子供にとっては、家庭での役割、学級での係や当番、そして授業の中での役割も、すべてキャリアの一部です。</a:t>
            </a:r>
          </a:p>
          <a:p>
            <a:r>
              <a:t>〇そしてキャリア教育は、「一人一人の社会的・職業的自立に向け、必要な基盤となる能力や態度を育てることを通して、キャリア発達を促す教育」です。</a:t>
            </a:r>
          </a:p>
          <a:p>
            <a:r>
              <a:t>〇つまり、役割を果たしながら自分らしく生きていく力の「土台」を、毎日の学びの中で育てていくこと。これがキャリア教育です。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〇キャリア教育には、よくある誤解が３つあります。</a:t>
            </a:r>
          </a:p>
          <a:p>
            <a:r>
              <a:t>〇１つ目、「将来の職業を決めるための教育」。そうではなく、どんな道に進んでも自分らしく生きていけるための「土台」を育てる教育です。</a:t>
            </a:r>
          </a:p>
          <a:p>
            <a:r>
              <a:t>〇２つ目、「職場体験や行事など、特別な時間にやるもの」。学習指導要領の総則には「特別活動を要としつつ各教科等の特質に応じて、キャリア教育の充実を図ること」と書かれています。つまり、キャリア教育の主な舞台は、毎日の各教科等の授業です。</a:t>
            </a:r>
          </a:p>
          <a:p>
            <a:r>
              <a:t>〇３つ目、「高学年や中学校になってから」。低学年には低学年のキャリア発達があります。今日の１年生の授業は、まさにその実践でした。</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〇では、キャリア教育で育てたい「基盤となる能力」とは何か。国は「基礎的・汎用的能力」として４つに整理しています。</a:t>
            </a:r>
          </a:p>
          <a:p>
            <a:r>
              <a:t>〇人間関係形成・社会形成能力、自己理解・自己管理能力、課題対応能力、キャリアプランニング能力です。（スライドの説明は講師による要約です。）</a:t>
            </a:r>
          </a:p>
          <a:p>
            <a:r>
              <a:t>〇難しそうに聞こえますが、今日の授業に当てはめると、とても身近です。ペアでよい動きを伝え合う、自分に合った用具や位置を選ぶ、遠くへ投げる「ひみつ」を探して試す、前の自分と比べて次の目標をもつ。どれも今日、１年生がしていた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〇大北小学校は、基礎的・汎用的能力を、子供にも分かる「見つける力」「考える力」「聴く・伝える力」の３つに整理し、１年生ではさらに「すきなことをみつけよう」「やってみよう」「きこう はなそう」というキーワードにしています。（基礎的・汎用的能力との対応は、主な関連として私が整理したものです。）</a:t>
            </a:r>
          </a:p>
          <a:p>
            <a:r>
              <a:t>〇今日の単元では、この３つの力が、それぞれ具体的なキャリアの目標になっていました。</a:t>
            </a:r>
          </a:p>
          <a:p>
            <a:r>
              <a:t>〇大切なのは、キャリアの目標が体育の目標と別物として「上乗せ」されているのではなく、体育の学習そのものと無理なく重なっていることです。これが「各教科等の特質に応じた」キャリア教育の姿で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〇ここからが今日の中心です。学習指導要領の総則と体育の目標を根拠に、体育とキャリア教育の重なりを確かめます。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〇まず根拠を確認します。学習指導要領の総則には、「特別活動を要としつつ各教科等の特質に応じて、キャリア教育の充実を図ること」と示されています。</a:t>
            </a:r>
          </a:p>
          <a:p>
            <a:r>
              <a:t>〇つまり、キャリア教育は特別活動だけで行うものではなく、体育を含む全ての教科等で、その教科の特質に応じて行うものです。ここは「示されている」と言い切れる部分です。</a:t>
            </a:r>
          </a:p>
          <a:p>
            <a:r>
              <a:t>〇では、体育の特質に応じたキャリア教育とは何か。次のスライドで、体育の目標の言葉とキャリア教育の言葉を並べてみます。</a:t>
            </a:r>
          </a:p>
          <a:p>
            <a:r>
              <a:t>※総則と体育の目標（いずれも学習指導要領の原文）を根拠に、体育とキャリア教育の重なりを示します。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（目安：２分）</a:t>
            </a:r>
          </a:p>
          <a:p>
            <a:r>
              <a:t>〇左は体育科の学習指導要領とその解説、右は文部科学省「小学校キャリア教育の手引き」（令和４年３月）に示されたキャリア教育の言葉です。どちらも原文です。</a:t>
            </a:r>
          </a:p>
          <a:p>
            <a:r>
              <a:t>〇体育の目標は「生涯にわたって」豊かなスポーツライフを実現すること。手引きでは、キャリアを「人が、生涯の中で様々な役割を果たす過程」と定義しています。どちらも「生涯」です。</a:t>
            </a:r>
          </a:p>
          <a:p>
            <a:r>
              <a:t>〇解説の体育の見方・考え方には「自己の適性等に応じた『する・みる・支える・知る』の多様な関わり方」とあります。手引きに示された基礎的・汎用的能力には「自己理解・自己管理能力」があります。</a:t>
            </a:r>
          </a:p>
          <a:p>
            <a:r>
              <a:t>〇体育の目標の「課題を見付け、その解決に向けた学習過程」と、「課題対応能力」。</a:t>
            </a:r>
          </a:p>
          <a:p>
            <a:r>
              <a:t>〇低学年の目標の「考えたことを他者に伝える」と、「人間関係形成・社会形成能力」。</a:t>
            </a:r>
          </a:p>
          <a:p>
            <a:r>
              <a:t>〇このように、体育の目標とキャリア教育の定義には、同じ言葉が使われています。総則が「各教科等の特質に応じて」キャリア教育を行うと示しているのは、こうした各教科の目標を通して行うということです。だから、体育の目標に沿って授業を充実させることが、体育の特質に応じたキャリア教育になります。</a:t>
            </a:r>
          </a:p>
          <a:p>
            <a:r>
              <a:t>※出典について問われた場合：キャリアの定義と基礎的・汎用的能力は、平成23年1月の中教審答申で示されたものです。国の最新の資料である「小学校キャリア教育の手引き」（令和４年３月）でも同じ定義と４つの能力が示されており、現在も国の基本的な考え方です。次期学習指導要領に向けては、基礎的・汎用的能力と「学びに向かう力、人間性等」との関係を整理する方向で審議中です（スライド27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〇低学年の体育の目標と、本時の手だてを並べます。</a:t>
            </a:r>
          </a:p>
          <a:p>
            <a:r>
              <a:t>〇目標(2)「各種の運動遊びの行い方を工夫する」。本時は４種類の用具と３つの場から、自分に合うものを選びました。</a:t>
            </a:r>
          </a:p>
          <a:p>
            <a:r>
              <a:t>〇目標(3)「各種の運動遊びに進んで取り組み」。本時は「〇〇できるかな？」の遊びと指示書で、子供が自分から挑戦していました。</a:t>
            </a:r>
          </a:p>
          <a:p>
            <a:r>
              <a:t>〇目標(2)「考えたことを他者に伝える」。本時は見る人・投げる人のペアで、友達の動きを伝え合いました。</a:t>
            </a:r>
          </a:p>
          <a:p>
            <a:r>
              <a:t>〇いずれも学習指導要領の目標に沿った手だてです。そして、選ぶこと、挑戦すること、伝え合うことは、先ほど見た基礎的・汎用的能力の言葉と重なります。体育の目標どおりの授業が、そのまま体育の特質に応じたキャリア教育の場面になっ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〇体育とキャリア教育のつながりは、学年が上がるにつれて階段のように高まっていきます。</a:t>
            </a:r>
          </a:p>
          <a:p>
            <a:r>
              <a:t>〇低学年は運動遊び。「すき」を見付けて、まずやってみる。自分に合った場や用具を選ぶ。今日の１年生の姿です。</a:t>
            </a:r>
          </a:p>
          <a:p>
            <a:r>
              <a:t>〇中学年では、友達と動きを見合い、伝え合い、自分の課題を見付けたり、グループで役割を分担したりします。</a:t>
            </a:r>
          </a:p>
          <a:p>
            <a:r>
              <a:t>〇高学年では、自己の適性に応じて、する・みる・支えるといった役割を選び、ボール運動の作戦の中で自分の役割を果たします。</a:t>
            </a:r>
          </a:p>
          <a:p>
            <a:r>
              <a:t>〇キャリア教育の手引きでは、小学校段階は「進路の探索・選択にかかる基盤形成の時期」、低学年では「自分の好きなことを見付けて、のびのびと活動する」ことが大切だとされています。今日の１年生の「すきなことをみつけよう」は、６年間の階段の一段目です。全学年の先生方で、この階段を一緒につくっていき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156A8-4A4F-F195-9CA9-52B02854F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0C49-17E4-EE76-D7B8-A8A0167EA0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50D247-FD73-D974-DED9-48796E25024C}"/>
              </a:ext>
            </a:extLst>
          </p:cNvPr>
          <p:cNvSpPr>
            <a:spLocks noGrp="1"/>
          </p:cNvSpPr>
          <p:nvPr>
            <p:ph type="body" sz="quarter" idx="3"/>
          </p:nvPr>
        </p:nvSpPr>
        <p:spPr/>
        <p:txBody>
          <a:bodyPr/>
          <a:lstStyle/>
          <a:p>
            <a:r>
              <a:t>（目安：１分30秒）</a:t>
            </a:r>
          </a:p>
          <a:p>
            <a:r>
              <a:t>〇では、キャリア教育で育てたい「基盤となる能力」とは何か。国は「基礎的・汎用的能力」として４つに整理しています。</a:t>
            </a:r>
          </a:p>
          <a:p>
            <a:r>
              <a:t>〇人間関係形成・社会形成能力、自己理解・自己管理能力、課題対応能力、キャリアプランニング能力です。（スライドの説明は講師による要約です。）</a:t>
            </a:r>
          </a:p>
          <a:p>
            <a:r>
              <a:t>〇難しそうに聞こえますが、今日の授業に当てはめると、とても身近です。ペアでよい動きを伝え合う、自分に合った用具や位置を選ぶ、遠くへ投げる「ひみつ」を探して試す、前の自分と比べて次の目標をもつ。どれも今日、１年生がしていたことです。</a:t>
            </a:r>
          </a:p>
        </p:txBody>
      </p:sp>
      <p:sp>
        <p:nvSpPr>
          <p:cNvPr id="4" name="Slide Number Placeholder 3">
            <a:extLst>
              <a:ext uri="{FF2B5EF4-FFF2-40B4-BE49-F238E27FC236}">
                <a16:creationId xmlns:a16="http://schemas.microsoft.com/office/drawing/2014/main" id="{AD18CC48-71DA-1CEB-63CE-3BA5C6B71459}"/>
              </a:ext>
            </a:extLst>
          </p:cNvPr>
          <p:cNvSpPr>
            <a:spLocks noGrp="1"/>
          </p:cNvSpPr>
          <p:nvPr>
            <p:ph type="sldNum" sz="quarter" idx="5"/>
          </p:nvPr>
        </p:nvSpPr>
        <p:spPr/>
      </p:sp>
    </p:spTree>
    <p:extLst>
      <p:ext uri="{BB962C8B-B14F-4D97-AF65-F5344CB8AC3E}">
        <p14:creationId xmlns:p14="http://schemas.microsoft.com/office/powerpoint/2010/main" val="2617450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〇ここからは、今日の水野先生の授業を、キャリア教育の視点で振り返ります。</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（目安：30秒）</a:t>
            </a:r>
          </a:p>
          <a:p>
            <a:r>
              <a:t>〇本時は全４時間の４時間目、単元のまとめの時間でした。</a:t>
            </a:r>
          </a:p>
          <a:p>
            <a:r>
              <a:t>〇目標は、知識及び技能「前上方向に投げて遊ぶ」と、思考・判断・表現「友達のよい動きを見付けて伝える」。キャリアの目標は「自分の投げやすい用具や位置を見付けて、やってみることができる」です。</a:t>
            </a:r>
          </a:p>
          <a:p>
            <a:r>
              <a:t>〇めあては「ビューン！となげるひみつや えらんだボール、いちで、さいこうきろくを めざそう！」。前時までに見付けた「ひみつ」と、自分で「えらんだ」ボールや位置を生かす、単元のまとめにふさわしいめあてでした。</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（目安：45秒）</a:t>
            </a:r>
          </a:p>
          <a:p>
            <a:r>
              <a:t>〇単元全体は、第１時「出合う」、第２時「試す」、第３時「見付ける」、第４時「発揮する」と構成されています。</a:t>
            </a:r>
          </a:p>
          <a:p>
            <a:r>
              <a:t>〇子供の側から言い換えると、「選ぶ→困る→見付ける→生かす」というストーリーです。</a:t>
            </a:r>
          </a:p>
          <a:p>
            <a:r>
              <a:t>〇特に、第２時で「もっと遠くへ投げたい」という困り感をもたせてから、第３時で「ひみつ」を見付けさせている点がよく考えられています。課題意識があるからこそ、コツが子供にとって意味のあるものになります。これは課題対応能力を育てる学習過程そのものです。</a:t>
            </a:r>
          </a:p>
          <a:p>
            <a:r>
              <a:t>〇１単位時間も「つかむ・試す・つなぐ」で構造化され、子供が見通しをもって学べるようになっていました。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〇指導案の児童観に、１年生のキーワードに沿った事前アンケートの結果がありました。「すきなことをみつけよう」90.6%、「やってみよう」90.6%、「きこう はなそう」81.2%。どれも高い数値です。</a:t>
            </a:r>
          </a:p>
          <a:p>
            <a:r>
              <a:t>〇私が注目したいのは、否定的に回答した「３名・３名・６名」の子供たちです。指導案にも、投能力に課題をもつ児童ほど苦手意識があると書かれていました。</a:t>
            </a:r>
          </a:p>
          <a:p>
            <a:r>
              <a:t>〇キャリア教育は「全員」のためのものです。授業を見る一つの視点は、この子たちに今日どんな変化があったか、です。（参観後に追記：例）近いラインから投げていた子が、ペアの友達に励まされて一つ後ろのラインに挑戦していました。</a:t>
            </a:r>
          </a:p>
          <a:p>
            <a:r>
              <a:t>〇ぜひ単元後にも同じアンケートを取り、変容を見取っていただきたいと思います。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〇手だての１つ目、「見つける力」です。重さや形の異なる４種類の用具と、位置や用具を選べる３つの場（重い的を落とす場、前上方へ投げ越す場、距離を競う場）が用意されていました。</a:t>
            </a:r>
          </a:p>
          <a:p>
            <a:r>
              <a:t>〇キャリア教育の視点で見ると、技能の高い子も低い子も「これならできそう」と思える選択肢があることに価値があります。選べるから、やってみたくなる。そして「自分はこれが投げやすい」と選ぶ経験の積み重ねが、自分を知る、自己理解の第一歩になります。</a:t>
            </a:r>
          </a:p>
          <a:p>
            <a:r>
              <a:t>〇（参観後に追記）例えば、〇〇さんは最初新聞ボールを選んでいましたが、うまく飛ばず、手ぬぐいボールに替えて投げ直していました。これこそ「自分に合ったものを見付ける」姿です。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２つ目、「考える力」です。主運動につながる６つの運動遊び（紙鉄砲、めんこ、回転標的、芯ロケット、バウンド舞台、ギャラリー入れ）に、「音を鳴らせるかな？」「２階に乗っけられるかな？」というミッション型の指示書が置かれていました。</a:t>
            </a:r>
          </a:p>
          <a:p>
            <a:r>
              <a:t>〇教師が「肘を上げなさい」と教え込むのではなく、紙鉄砲を鳴らそうとするうちに自然に肘が上がるよう、遊びが仕組まれています。子供は自分で試し、自分で気付きます。これが課題対応能力の芽です。</a:t>
            </a:r>
          </a:p>
          <a:p>
            <a:r>
              <a:t>〇さらに、振り返りでは友達との比較ではなく「前の自分からの伸び」をタブレットで可視化していました。前の自分と比べるから、技能に関係なく誰もが「できた」を実感できます。</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〇手だての３つ目、「聴く・伝える力」です。投げる人と観察する人を交代するペア学習が位置付けられていました。</a:t>
            </a:r>
          </a:p>
          <a:p>
            <a:r>
              <a:t>〇１年生に「友達のよいところを伝えましょう」と言っても、何を見ればよいか分からないと「すごいね」で終わってしまいます。水野先生は「横にぱっ！手はお空、頭にコンコン、ビューン！」という合言葉を、共通の「ものさし」として示していました。だから「手がお空に行ってたよ」と具体的に伝えられるのです。</a:t>
            </a:r>
          </a:p>
          <a:p>
            <a:r>
              <a:t>〇また、観察する役は、体育の見方・考え方でいう「みる」「支える」関わり方の体験でもあります。人の役に立つ経験は、人間関係形成・社会形成能力の土台です。</a:t>
            </a:r>
          </a:p>
          <a:p>
            <a:r>
              <a:t>〇（参観後に追記）実際に聞こえてきた子供の言葉を紹介。</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〇本単元の指導の柱は「失敗しても大丈夫と思える、技能が低い児童も取り組める場の設定と教師行動」でした。</a:t>
            </a:r>
          </a:p>
          <a:p>
            <a:r>
              <a:t>〇指導案には、つまずきの姿ごとに、具体的な教師の言葉掛けが「称賛・価値付け」「問い」「つなぐ」の３種類で整理されていました。ここまで具体的に言葉を準備している指導案は、なかなかありません。若手の先生方は、ぜひ指導案のこの表を参考にしてください。</a:t>
            </a:r>
          </a:p>
          <a:p>
            <a:r>
              <a:t>〇特に「学びをつなぐ」言葉掛けが素晴らしいと思います。友達の選択をモデルにして、自分に合ったものを見付けるきっかけを与えています。まさに「見つける力」を育てる言葉です。</a:t>
            </a:r>
          </a:p>
          <a:p>
            <a:r>
              <a:t>〇安心があるから挑戦できる。挑戦するから、自分を知ることができる。教師の言葉は、キャリア教育の土台そのものです。</a:t>
            </a:r>
          </a:p>
          <a:p>
            <a:r>
              <a:t>〇（参観後に追記）実際に聞こえた水野先生の言葉掛けを紹介。</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〇さらなる充実に向けて４点お伝えします。協議会での議論も踏まえて、当日差し替えてください。</a:t>
            </a:r>
          </a:p>
          <a:p>
            <a:r>
              <a:t>〇１つ目、「選んだ理由」を言葉にすること。１年生でも「これがかるいから」「ここならとどくから」と言えます。理由を言葉にすることで、無自覚な選択が自覚的な選択になり、「自分を知る力」へと育ちます。</a:t>
            </a:r>
          </a:p>
          <a:p>
            <a:r>
              <a:t>〇２つ目、「伸び」と「気持ち」を残すこと。記録だけでなく「すきだった」「やってみた」「つたえた」をシールや記号で残すと、次の単元、次の学期の振り返りにつながります。これが、本来のキャリア・パスポートの考え方です。</a:t>
            </a:r>
          </a:p>
          <a:p>
            <a:r>
              <a:t>〇３つ目、運動量と待ち時間。（参観後に具体的に）</a:t>
            </a:r>
          </a:p>
          <a:p>
            <a:r>
              <a:t>〇４つ目、運動の日常化。体育館の２階に投げ入れる遊びなどは、休み時間にもできます。投の運動遊びを単元で終わらせず続けることが、投能力の向上につながります。</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〇次に、文部科学省の最新の動向をお伝えします。今日の授業が、これからの方向性とどうつながっているかを確認します。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ここからは、国で現在審議中の内容です。中央教育審議会教育課程部会から「次期学習指導要領等に向けた審議まとめ」が公表され、現在パブリックコメントが行われています。今後、答申、告示へと進みますので、ここでお話しするのは確定した内容ではなく「方向性」としてお聞きください。</a:t>
            </a:r>
          </a:p>
          <a:p>
            <a:r>
              <a:t>〇審議まとめでは、３つの方向性が示されている段階です。①「主体的・対話的で深い学び」の実装、②多様性の包摂、③実現可能性の確保です。</a:t>
            </a:r>
          </a:p>
          <a:p>
            <a:r>
              <a:t>〇①では、学習の自己調整や学び方の指導が重視されています。今日の授業の「自分で選ぶ」「前の自分と比べて振り返る」は、まさに１年生なりの自己調整の芽です。</a:t>
            </a:r>
          </a:p>
          <a:p>
            <a:r>
              <a:t>〇②の多様性の包摂は、技能の高い子も苦手な子も、それぞれに合った場や用具で同じ「楽しさ」を味わえるようにした今日の工夫と重なります。</a:t>
            </a:r>
          </a:p>
          <a:p>
            <a:r>
              <a:t>※数値・文言は最新の公表資料で確認のうえ使用してください。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（目安：１分15秒）</a:t>
            </a:r>
          </a:p>
          <a:p>
            <a:r>
              <a:rPr dirty="0" err="1"/>
              <a:t>〇体育科については、ワーキンググループの取りまとめで、このような方向性が示されています</a:t>
            </a:r>
            <a:r>
              <a:rPr dirty="0"/>
              <a:t>。（</a:t>
            </a:r>
            <a:r>
              <a:rPr dirty="0" err="1"/>
              <a:t>審議段階の内容ですので、最終的には答申・告示で確認が必要です</a:t>
            </a:r>
            <a:r>
              <a:rPr dirty="0"/>
              <a:t>。）</a:t>
            </a:r>
          </a:p>
          <a:p>
            <a:r>
              <a:rPr dirty="0"/>
              <a:t>〇小学校１年から４年までを「運動遊び」として再整理し、各種の運動の基礎を培う時期と位置付ける方向です。幼児教育との接続を重視し、子供が夢中になって試行錯誤する「遊び」の要素と、内発的な動機付けを大切にする考え方です。</a:t>
            </a:r>
          </a:p>
          <a:p>
            <a:r>
              <a:rPr dirty="0" err="1"/>
              <a:t>〇また、公正・協力・責任・参画・共生・健康安全といった「態度」の指導と評価を、知識及び技能と関連付けて具体化すること</a:t>
            </a:r>
            <a:r>
              <a:rPr dirty="0"/>
              <a:t>、「</a:t>
            </a:r>
            <a:r>
              <a:rPr dirty="0" err="1"/>
              <a:t>する・みる・支える・知る」の多様な関わり方を一体的に整理すること</a:t>
            </a:r>
            <a:r>
              <a:rPr dirty="0"/>
              <a:t>、「</a:t>
            </a:r>
            <a:r>
              <a:rPr dirty="0" err="1"/>
              <a:t>種目をこなす体育」から「資質・能力を育てる体育」への転換が示されています</a:t>
            </a:r>
            <a:r>
              <a:rPr dirty="0"/>
              <a:t>。</a:t>
            </a:r>
          </a:p>
          <a:p>
            <a:r>
              <a:rPr dirty="0"/>
              <a:t>〇今日の「なげなげあそび」は、遊びの中で夢中に試行錯誤し、動きの基礎を培う姿そのものでした。低学年の今の実践が、次期学習指導要領の方向性を先取りしていると言えます。</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（目安：１分30秒）</a:t>
            </a:r>
          </a:p>
          <a:p>
            <a:r>
              <a:rPr dirty="0" err="1"/>
              <a:t>〇最後に、今後のキャリア教育の方向性です</a:t>
            </a:r>
            <a:r>
              <a:rPr dirty="0"/>
              <a:t>。</a:t>
            </a:r>
          </a:p>
          <a:p>
            <a:r>
              <a:rPr dirty="0"/>
              <a:t>〇【変わらないこと】現行の学習指導要領の総則では、キャリア教育は「特別活動を要としつつ各教科等の特質に応じて」充実を図ると示されています。また総則は、学習の見通しを立て、学習したことを振り返る活動を計画的に取り入れることも求めています。</a:t>
            </a:r>
          </a:p>
          <a:p>
            <a:r>
              <a:rPr dirty="0"/>
              <a:t>〇【審議で示された方向】今年５月の中教審特別活動ワーキンググループでは、次のような方向が示されたと報じられています。</a:t>
            </a:r>
          </a:p>
          <a:p>
            <a:r>
              <a:rPr dirty="0"/>
              <a:t>　・</a:t>
            </a:r>
            <a:r>
              <a:rPr dirty="0" err="1"/>
              <a:t>キャリア教育で育む基礎的・汎用的能力と</a:t>
            </a:r>
            <a:r>
              <a:rPr dirty="0"/>
              <a:t>、「</a:t>
            </a:r>
            <a:r>
              <a:rPr dirty="0" err="1"/>
              <a:t>学びに向かう力、人間性等」との関係を整理して示すこと</a:t>
            </a:r>
            <a:r>
              <a:rPr dirty="0"/>
              <a:t>。</a:t>
            </a:r>
          </a:p>
          <a:p>
            <a:r>
              <a:rPr dirty="0"/>
              <a:t>　・キャリア・パスポートは例示資料を廃止し、特定の様式にとらわれず、デジタルも活用して学びを記録し、見通し・振り返りに生かすこと。校種間の引継ぎは求めないこと。</a:t>
            </a:r>
          </a:p>
          <a:p>
            <a:r>
              <a:rPr dirty="0"/>
              <a:t>　・</a:t>
            </a:r>
            <a:r>
              <a:rPr dirty="0" err="1"/>
              <a:t>修学旅行などの学校行事を、総合的な学習の時間の探究と関連付けること</a:t>
            </a:r>
            <a:r>
              <a:rPr dirty="0"/>
              <a:t>。</a:t>
            </a:r>
          </a:p>
          <a:p>
            <a:r>
              <a:rPr dirty="0" err="1"/>
              <a:t>〇これらは現在パブリックコメント中の審議段階の内容で、最終的には答申・告示で確定します</a:t>
            </a:r>
            <a:r>
              <a:rPr dirty="0"/>
              <a:t>。</a:t>
            </a:r>
          </a:p>
          <a:p>
            <a:r>
              <a:rPr dirty="0"/>
              <a:t>〇どの方向を見ても、キャリア教育は特別な書類や行事だけで行うものではありません。これからも、各教科等の毎日の授業がキャリア教育の土台です。今日の体育の授業で見られた「自分で選ぶ」「</a:t>
            </a:r>
            <a:r>
              <a:rPr dirty="0" err="1"/>
              <a:t>前の自分と比べて振り返る」姿は、その土台そのものです</a:t>
            </a:r>
            <a:r>
              <a:rPr dirty="0"/>
              <a:t>。</a:t>
            </a:r>
          </a:p>
          <a:p>
            <a:r>
              <a:rPr dirty="0"/>
              <a:t>※</a:t>
            </a:r>
            <a:r>
              <a:rPr dirty="0" err="1"/>
              <a:t>審議の状況は、当日までに文部科学省の公表資料（審議まとめ本文）で確認してください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〇最後に、明日からの授業にどうつなげるかです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（目安：１分30秒）</a:t>
            </a:r>
          </a:p>
          <a:p>
            <a:r>
              <a:rPr dirty="0"/>
              <a:t>〇明日からすぐにできる「体育×キャリア」の５つのコツです。どれも、今日の水野先生の授業の中にあったものです。</a:t>
            </a:r>
          </a:p>
          <a:p>
            <a:r>
              <a:rPr dirty="0"/>
              <a:t>〇１つ目、選ばせる。「</a:t>
            </a:r>
            <a:r>
              <a:rPr dirty="0" err="1"/>
              <a:t>どのボールにする</a:t>
            </a:r>
            <a:r>
              <a:rPr dirty="0"/>
              <a:t>？」「</a:t>
            </a:r>
            <a:r>
              <a:rPr dirty="0" err="1"/>
              <a:t>どの線から始める</a:t>
            </a:r>
            <a:r>
              <a:rPr dirty="0"/>
              <a:t>？」。</a:t>
            </a:r>
            <a:r>
              <a:rPr dirty="0" err="1"/>
              <a:t>選ぶ経験が自己理解につながります</a:t>
            </a:r>
            <a:r>
              <a:rPr dirty="0"/>
              <a:t>。</a:t>
            </a:r>
          </a:p>
          <a:p>
            <a:r>
              <a:rPr dirty="0"/>
              <a:t>〇２つ目、前の自分と比べさせる。「</a:t>
            </a:r>
            <a:r>
              <a:rPr dirty="0" err="1"/>
              <a:t>最初と比べて、どこが伸びた</a:t>
            </a:r>
            <a:r>
              <a:rPr dirty="0"/>
              <a:t>？」。</a:t>
            </a:r>
            <a:r>
              <a:rPr dirty="0" err="1"/>
              <a:t>友達との比較ではなく自分の伸びに目を向けることで、自己肯定感が育ちます</a:t>
            </a:r>
            <a:r>
              <a:rPr dirty="0"/>
              <a:t>。</a:t>
            </a:r>
          </a:p>
          <a:p>
            <a:r>
              <a:rPr dirty="0"/>
              <a:t>〇３つ目、役割を任せ、価値付ける。「</a:t>
            </a:r>
            <a:r>
              <a:rPr dirty="0" err="1"/>
              <a:t>準備してくれたから、すぐ始められたね</a:t>
            </a:r>
            <a:r>
              <a:rPr dirty="0"/>
              <a:t>」。</a:t>
            </a:r>
            <a:r>
              <a:rPr dirty="0" err="1"/>
              <a:t>役割の価値に気付くことが社会形成につながります</a:t>
            </a:r>
            <a:r>
              <a:rPr dirty="0"/>
              <a:t>。</a:t>
            </a:r>
          </a:p>
          <a:p>
            <a:r>
              <a:rPr dirty="0"/>
              <a:t>〇４つ目、友達のよさを言葉にさせる。「</a:t>
            </a:r>
            <a:r>
              <a:rPr dirty="0" err="1"/>
              <a:t>〇〇さんのどこがすごかった</a:t>
            </a:r>
            <a:r>
              <a:rPr dirty="0"/>
              <a:t>？」。</a:t>
            </a:r>
            <a:r>
              <a:rPr dirty="0" err="1"/>
              <a:t>人間関係形成の基礎です</a:t>
            </a:r>
            <a:r>
              <a:rPr dirty="0"/>
              <a:t>。</a:t>
            </a:r>
          </a:p>
          <a:p>
            <a:r>
              <a:rPr dirty="0"/>
              <a:t>〇５つ目、「</a:t>
            </a:r>
            <a:r>
              <a:rPr dirty="0" err="1"/>
              <a:t>次」を考えさせる</a:t>
            </a:r>
            <a:r>
              <a:rPr dirty="0"/>
              <a:t>。「</a:t>
            </a:r>
            <a:r>
              <a:rPr dirty="0" err="1"/>
              <a:t>次の時間は、何に挑戦する</a:t>
            </a:r>
            <a:r>
              <a:rPr dirty="0"/>
              <a:t>？」。</a:t>
            </a:r>
            <a:r>
              <a:rPr dirty="0" err="1"/>
              <a:t>見通しをもつことが、キャリアプランニングの芽になります</a:t>
            </a:r>
            <a:r>
              <a:rPr dirty="0"/>
              <a:t>。</a:t>
            </a:r>
          </a:p>
          <a:p>
            <a:r>
              <a:rPr dirty="0" err="1"/>
              <a:t>〇体育だけでなく、どの教科でも使えます。ぜひ明日から一つでも試してみてください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a:t>
            </a:r>
          </a:p>
          <a:p>
            <a:r>
              <a:rPr dirty="0" err="1"/>
              <a:t>〇最後にまとめます</a:t>
            </a:r>
            <a:r>
              <a:rPr dirty="0"/>
              <a:t>。</a:t>
            </a:r>
          </a:p>
          <a:p>
            <a:r>
              <a:rPr dirty="0" err="1"/>
              <a:t>〇今日、子供たちは、自分に合ったボールを選び、何度も挑戦し、友達と伝え合いながら、少しでも遠くへ投げようとしていました</a:t>
            </a:r>
            <a:r>
              <a:rPr dirty="0"/>
              <a:t>。</a:t>
            </a:r>
          </a:p>
          <a:p>
            <a:r>
              <a:rPr dirty="0"/>
              <a:t>〇「遠くへ投げる」という経験は、自分を知り、挑み、仲間と関わる経験です。それはそのまま、子供たちが「未来へ向かう」力になります。</a:t>
            </a:r>
          </a:p>
          <a:p>
            <a:r>
              <a:rPr dirty="0"/>
              <a:t>〇キャリア教育は、将来の職業を決めることではなく、自分らしい生き方を考える教育です。１年生にとっては、「</a:t>
            </a:r>
            <a:r>
              <a:rPr dirty="0" err="1"/>
              <a:t>すきなことをみつけよう</a:t>
            </a:r>
            <a:r>
              <a:rPr dirty="0"/>
              <a:t>」「</a:t>
            </a:r>
            <a:r>
              <a:rPr dirty="0" err="1"/>
              <a:t>やってみよう</a:t>
            </a:r>
            <a:r>
              <a:rPr dirty="0"/>
              <a:t>」「</a:t>
            </a:r>
            <a:r>
              <a:rPr dirty="0" err="1"/>
              <a:t>きこう</a:t>
            </a:r>
            <a:r>
              <a:rPr dirty="0"/>
              <a:t> </a:t>
            </a:r>
            <a:r>
              <a:rPr dirty="0" err="1"/>
              <a:t>はなそう」を大切にした毎日の授業そのものが、キャリア教育です</a:t>
            </a:r>
            <a:r>
              <a:rPr dirty="0"/>
              <a:t>。</a:t>
            </a:r>
          </a:p>
          <a:p>
            <a:r>
              <a:rPr dirty="0" err="1"/>
              <a:t>〇大北小学校のこれまでの研究の積み重ねが、確実に子供たちの姿に表れていました。今後のさらなる研究の深まりを期待しています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〇水野先生、低学年分科会の先生方、そして本日協議会に参加された皆様、貴重なお時間をありがとうございました。以上で指導・講評を終わります。</a:t>
            </a:r>
          </a:p>
          <a:p>
            <a:r>
              <a:rPr dirty="0" err="1"/>
              <a:t>〇巻末の参考資料編は、若手の先生方や異動してこられた先生方の校内研修等でご活用ください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（配布・校内研修用）</a:t>
            </a:r>
          </a:p>
          <a:p>
            <a:r>
              <a:t>〇練馬区の体力向上の取組「POWER UP NERIMA」です。「やってみよう」編、「パプリカ」編など、授業の準備運動や、休み時間、家庭でも取り組める動画を用意しています。</a:t>
            </a:r>
          </a:p>
          <a:p>
            <a:r>
              <a:t>〇低学年のうちに多様な動きを「遊び」の中でたくさん経験させることが、体力向上の土台になります。ぜひご活用ください。</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7239000" y="698500"/>
            <a:ext cx="4318000" cy="4318000"/>
          </a:xfrm>
          <a:prstGeom prst="rect">
            <a:avLst/>
          </a:prstGeom>
        </p:spPr>
      </p:pic>
      <p:pic>
        <p:nvPicPr>
          <p:cNvPr id="3" name="Picture 2" descr="nerimaru.png"/>
          <p:cNvPicPr>
            <a:picLocks noChangeAspect="1"/>
          </p:cNvPicPr>
          <p:nvPr/>
        </p:nvPicPr>
        <p:blipFill>
          <a:blip r:embed="rId4"/>
          <a:stretch>
            <a:fillRect/>
          </a:stretch>
        </p:blipFill>
        <p:spPr>
          <a:xfrm>
            <a:off x="9334500" y="4642197"/>
            <a:ext cx="2159000" cy="1764606"/>
          </a:xfrm>
          <a:prstGeom prst="rect">
            <a:avLst/>
          </a:prstGeom>
        </p:spPr>
      </p:pic>
      <p:sp>
        <p:nvSpPr>
          <p:cNvPr id="4" name="TextBox 3"/>
          <p:cNvSpPr txBox="1"/>
          <p:nvPr/>
        </p:nvSpPr>
        <p:spPr>
          <a:xfrm>
            <a:off x="762000" y="635000"/>
            <a:ext cx="10744200" cy="319980"/>
          </a:xfrm>
          <a:prstGeom prst="rect">
            <a:avLst/>
          </a:prstGeom>
          <a:noFill/>
        </p:spPr>
        <p:txBody>
          <a:bodyPr wrap="none" lIns="0" tIns="0" rIns="0" bIns="0" anchor="t">
            <a:noAutofit/>
          </a:bodyPr>
          <a:lstStyle/>
          <a:p>
            <a:pPr algn="l">
              <a:lnSpc>
                <a:spcPct val="116700"/>
              </a:lnSpc>
            </a:pPr>
            <a:r>
              <a:rPr sz="1800" b="1" u="none">
                <a:solidFill>
                  <a:srgbClr val="F5A25A"/>
                </a:solidFill>
                <a:latin typeface="BIZ UDPGothic"/>
                <a:ea typeface="BIZ UDPGothic"/>
                <a:cs typeface="BIZ UDPGothic"/>
              </a:rPr>
              <a:t>大泉北小学校　校内研究会</a:t>
            </a:r>
          </a:p>
        </p:txBody>
      </p:sp>
      <p:sp>
        <p:nvSpPr>
          <p:cNvPr id="5" name="TextBox 4"/>
          <p:cNvSpPr txBox="1"/>
          <p:nvPr/>
        </p:nvSpPr>
        <p:spPr>
          <a:xfrm>
            <a:off x="762000" y="1685230"/>
            <a:ext cx="7378700" cy="1889720"/>
          </a:xfrm>
          <a:prstGeom prst="rect">
            <a:avLst/>
          </a:prstGeom>
          <a:noFill/>
        </p:spPr>
        <p:txBody>
          <a:bodyPr wrap="square" lIns="0" tIns="0" rIns="0" bIns="0" anchor="t">
            <a:noAutofit/>
          </a:bodyPr>
          <a:lstStyle/>
          <a:p>
            <a:pPr algn="l">
              <a:lnSpc>
                <a:spcPct val="100000"/>
              </a:lnSpc>
            </a:pPr>
            <a:r>
              <a:rPr sz="6200" b="1" u="none" dirty="0" err="1">
                <a:solidFill>
                  <a:srgbClr val="FFFFFF"/>
                </a:solidFill>
                <a:latin typeface="BIZ UDPGothic"/>
                <a:ea typeface="BIZ UDPGothic"/>
                <a:cs typeface="BIZ UDPGothic"/>
              </a:rPr>
              <a:t>体育から考える</a:t>
            </a:r>
            <a:br>
              <a:rPr dirty="0"/>
            </a:br>
            <a:r>
              <a:rPr sz="6200" b="1" u="none" dirty="0" err="1">
                <a:solidFill>
                  <a:srgbClr val="FFFFFF"/>
                </a:solidFill>
                <a:latin typeface="BIZ UDPGothic"/>
                <a:ea typeface="BIZ UDPGothic"/>
                <a:cs typeface="BIZ UDPGothic"/>
              </a:rPr>
              <a:t>キャリア教育</a:t>
            </a:r>
            <a:endParaRPr sz="6200" b="1" u="none" dirty="0">
              <a:solidFill>
                <a:srgbClr val="FFFFFF"/>
              </a:solidFill>
              <a:latin typeface="BIZ UDPGothic"/>
              <a:ea typeface="BIZ UDPGothic"/>
              <a:cs typeface="BIZ UDPGothic"/>
            </a:endParaRPr>
          </a:p>
        </p:txBody>
      </p:sp>
      <p:sp>
        <p:nvSpPr>
          <p:cNvPr id="6" name="Rounded Rectangle 5"/>
          <p:cNvSpPr/>
          <p:nvPr/>
        </p:nvSpPr>
        <p:spPr>
          <a:xfrm>
            <a:off x="762000" y="3765451"/>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7" name="TextBox 6"/>
          <p:cNvSpPr txBox="1"/>
          <p:nvPr/>
        </p:nvSpPr>
        <p:spPr>
          <a:xfrm>
            <a:off x="762000" y="4032151"/>
            <a:ext cx="7378700" cy="838200"/>
          </a:xfrm>
          <a:prstGeom prst="rect">
            <a:avLst/>
          </a:prstGeom>
          <a:noFill/>
        </p:spPr>
        <p:txBody>
          <a:bodyPr wrap="square" lIns="0" tIns="0" rIns="0" bIns="0" anchor="t">
            <a:noAutofit/>
          </a:bodyPr>
          <a:lstStyle/>
          <a:p>
            <a:pPr algn="l">
              <a:lnSpc>
                <a:spcPct val="125000"/>
              </a:lnSpc>
            </a:pPr>
            <a:r>
              <a:rPr sz="2200" b="0" u="none" dirty="0">
                <a:solidFill>
                  <a:srgbClr val="E6EBF3"/>
                </a:solidFill>
                <a:latin typeface="BIZ UDPGothic"/>
                <a:ea typeface="BIZ UDPGothic"/>
                <a:cs typeface="BIZ UDPGothic"/>
              </a:rPr>
              <a:t>第１学年「なげなげランド！」</a:t>
            </a:r>
            <a:br>
              <a:rPr dirty="0"/>
            </a:br>
            <a:r>
              <a:rPr sz="2200" b="0" u="none" dirty="0" err="1">
                <a:solidFill>
                  <a:srgbClr val="E6EBF3"/>
                </a:solidFill>
                <a:latin typeface="BIZ UDPGothic"/>
                <a:ea typeface="BIZ UDPGothic"/>
                <a:cs typeface="BIZ UDPGothic"/>
              </a:rPr>
              <a:t>水野</a:t>
            </a:r>
            <a:r>
              <a:rPr sz="2200" b="0" u="none" dirty="0">
                <a:solidFill>
                  <a:srgbClr val="E6EBF3"/>
                </a:solidFill>
                <a:latin typeface="BIZ UDPGothic"/>
                <a:ea typeface="BIZ UDPGothic"/>
                <a:cs typeface="BIZ UDPGothic"/>
              </a:rPr>
              <a:t> </a:t>
            </a:r>
            <a:r>
              <a:rPr sz="2200" b="0" u="none" dirty="0" err="1">
                <a:solidFill>
                  <a:srgbClr val="E6EBF3"/>
                </a:solidFill>
                <a:latin typeface="BIZ UDPGothic"/>
                <a:ea typeface="BIZ UDPGothic"/>
                <a:cs typeface="BIZ UDPGothic"/>
              </a:rPr>
              <a:t>秀弥</a:t>
            </a:r>
            <a:r>
              <a:rPr lang="ja-JP" altLang="en-US" sz="2200" dirty="0">
                <a:solidFill>
                  <a:srgbClr val="E6EBF3"/>
                </a:solidFill>
                <a:latin typeface="BIZ UDPGothic"/>
                <a:ea typeface="BIZ UDPGothic"/>
                <a:cs typeface="BIZ UDPGothic"/>
              </a:rPr>
              <a:t>　</a:t>
            </a:r>
            <a:r>
              <a:rPr lang="ja-JP" altLang="en-US" sz="2200" b="0" u="none" dirty="0">
                <a:solidFill>
                  <a:srgbClr val="E6EBF3"/>
                </a:solidFill>
                <a:latin typeface="BIZ UDPGothic"/>
                <a:ea typeface="BIZ UDPGothic"/>
                <a:cs typeface="BIZ UDPGothic"/>
              </a:rPr>
              <a:t>主任</a:t>
            </a:r>
            <a:r>
              <a:rPr sz="2200" b="0" u="none" dirty="0" err="1">
                <a:solidFill>
                  <a:srgbClr val="E6EBF3"/>
                </a:solidFill>
                <a:latin typeface="BIZ UDPGothic"/>
                <a:ea typeface="BIZ UDPGothic"/>
                <a:cs typeface="BIZ UDPGothic"/>
              </a:rPr>
              <a:t>教諭</a:t>
            </a:r>
            <a:r>
              <a:rPr sz="2200" b="0" u="none" dirty="0">
                <a:solidFill>
                  <a:srgbClr val="E6EBF3"/>
                </a:solidFill>
                <a:latin typeface="BIZ UDPGothic"/>
                <a:ea typeface="BIZ UDPGothic"/>
                <a:cs typeface="BIZ UDPGothic"/>
              </a:rPr>
              <a:t>　</a:t>
            </a:r>
          </a:p>
        </p:txBody>
      </p:sp>
      <p:sp>
        <p:nvSpPr>
          <p:cNvPr id="8" name="TextBox 7"/>
          <p:cNvSpPr txBox="1"/>
          <p:nvPr/>
        </p:nvSpPr>
        <p:spPr>
          <a:xfrm>
            <a:off x="4987636" y="5600601"/>
            <a:ext cx="6518564" cy="685800"/>
          </a:xfrm>
          <a:prstGeom prst="rect">
            <a:avLst/>
          </a:prstGeom>
          <a:noFill/>
        </p:spPr>
        <p:txBody>
          <a:bodyPr wrap="square" lIns="0" tIns="0" rIns="0" bIns="0" anchor="t">
            <a:noAutofit/>
          </a:bodyPr>
          <a:lstStyle/>
          <a:p>
            <a:pPr algn="l">
              <a:lnSpc>
                <a:spcPct val="125000"/>
              </a:lnSpc>
            </a:pPr>
            <a:r>
              <a:rPr sz="1800" b="0" u="none">
                <a:solidFill>
                  <a:srgbClr val="E6EBF3"/>
                </a:solidFill>
                <a:latin typeface="BIZ UDPGothic"/>
                <a:ea typeface="BIZ UDPGothic"/>
                <a:cs typeface="BIZ UDPGothic"/>
              </a:rPr>
              <a:t>令和８年10月28日（水）</a:t>
            </a:r>
            <a:br/>
            <a:r>
              <a:rPr sz="1800" b="0" u="none">
                <a:solidFill>
                  <a:srgbClr val="E6EBF3"/>
                </a:solidFill>
                <a:latin typeface="BIZ UDPGothic"/>
                <a:ea typeface="BIZ UDPGothic"/>
                <a:cs typeface="BIZ UDPGothic"/>
              </a:rPr>
              <a:t>練馬区教育委員会　指導主事　紺多 章一郎</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はじめに</a:t>
            </a:r>
          </a:p>
        </p:txBody>
      </p:sp>
      <p:sp>
        <p:nvSpPr>
          <p:cNvPr id="3" name="TextBox 2"/>
          <p:cNvSpPr txBox="1"/>
          <p:nvPr/>
        </p:nvSpPr>
        <p:spPr>
          <a:xfrm>
            <a:off x="762000" y="944860"/>
            <a:ext cx="10744200" cy="1188641"/>
          </a:xfrm>
          <a:prstGeom prst="rect">
            <a:avLst/>
          </a:prstGeom>
          <a:noFill/>
        </p:spPr>
        <p:txBody>
          <a:bodyPr wrap="square" lIns="0" tIns="0" rIns="0" bIns="0" anchor="t">
            <a:noAutofit/>
          </a:bodyPr>
          <a:lstStyle/>
          <a:p>
            <a:pPr algn="l">
              <a:lnSpc>
                <a:spcPct val="108300"/>
              </a:lnSpc>
            </a:pPr>
            <a:r>
              <a:rPr sz="3600" b="1" u="none">
                <a:solidFill>
                  <a:srgbClr val="1B2A4A"/>
                </a:solidFill>
                <a:latin typeface="BIZ UDPGothic"/>
                <a:ea typeface="BIZ UDPGothic"/>
                <a:cs typeface="BIZ UDPGothic"/>
              </a:rPr>
              <a:t>小学校で「キャリア教育」と聞いて、</a:t>
            </a:r>
            <a:br/>
            <a:r>
              <a:rPr sz="3600" b="1" u="none">
                <a:solidFill>
                  <a:srgbClr val="1B2A4A"/>
                </a:solidFill>
                <a:latin typeface="BIZ UDPGothic"/>
                <a:ea typeface="BIZ UDPGothic"/>
                <a:cs typeface="BIZ UDPGothic"/>
              </a:rPr>
              <a:t>何を思い浮かべますか？</a:t>
            </a:r>
          </a:p>
        </p:txBody>
      </p:sp>
      <p:sp>
        <p:nvSpPr>
          <p:cNvPr id="4" name="Rounded Rectangle 3"/>
          <p:cNvSpPr/>
          <p:nvPr/>
        </p:nvSpPr>
        <p:spPr>
          <a:xfrm>
            <a:off x="762000" y="2222401"/>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641501"/>
            <a:ext cx="3420566" cy="1348581"/>
          </a:xfrm>
          <a:prstGeom prst="roundRect">
            <a:avLst>
              <a:gd name="adj" fmla="val 11300"/>
            </a:avLst>
          </a:prstGeom>
          <a:solidFill>
            <a:srgbClr val="EEF2F8"/>
          </a:solidFill>
          <a:ln>
            <a:noFill/>
          </a:ln>
          <a:effectLst/>
        </p:spPr>
        <p:txBody>
          <a:bodyPr wrap="squar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仕事調べ</a:t>
            </a:r>
            <a:r>
              <a:rPr sz="2600" b="1" u="none" dirty="0">
                <a:solidFill>
                  <a:srgbClr val="1B2A4A"/>
                </a:solidFill>
                <a:latin typeface="BIZ UDPGothic"/>
                <a:ea typeface="BIZ UDPGothic"/>
                <a:cs typeface="BIZ UDPGothic"/>
              </a:rPr>
              <a:t>・</a:t>
            </a:r>
            <a:br>
              <a:rPr dirty="0"/>
            </a:br>
            <a:r>
              <a:rPr sz="2600" b="1" u="none" dirty="0" err="1">
                <a:solidFill>
                  <a:srgbClr val="1B2A4A"/>
                </a:solidFill>
                <a:latin typeface="BIZ UDPGothic"/>
                <a:ea typeface="BIZ UDPGothic"/>
                <a:cs typeface="BIZ UDPGothic"/>
              </a:rPr>
              <a:t>インタビュ</a:t>
            </a:r>
            <a:r>
              <a:rPr sz="2600" b="1" u="none" dirty="0">
                <a:solidFill>
                  <a:srgbClr val="1B2A4A"/>
                </a:solidFill>
                <a:latin typeface="BIZ UDPGothic"/>
                <a:ea typeface="BIZ UDPGothic"/>
                <a:cs typeface="BIZ UDPGothic"/>
              </a:rPr>
              <a:t>ー</a:t>
            </a:r>
          </a:p>
        </p:txBody>
      </p:sp>
      <p:sp>
        <p:nvSpPr>
          <p:cNvPr id="6" name="Rounded Rectangle 5"/>
          <p:cNvSpPr/>
          <p:nvPr/>
        </p:nvSpPr>
        <p:spPr>
          <a:xfrm>
            <a:off x="4385766" y="2641501"/>
            <a:ext cx="3420566" cy="1348581"/>
          </a:xfrm>
          <a:prstGeom prst="roundRect">
            <a:avLst>
              <a:gd name="adj" fmla="val 11300"/>
            </a:avLst>
          </a:prstGeom>
          <a:solidFill>
            <a:srgbClr val="EEF2F8"/>
          </a:solidFill>
          <a:ln>
            <a:noFill/>
          </a:ln>
          <a:effectLst/>
        </p:spPr>
        <p:txBody>
          <a:bodyPr wrap="non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将来の夢</a:t>
            </a:r>
            <a:endParaRPr lang="en-US" sz="2600" b="1" u="none" dirty="0">
              <a:solidFill>
                <a:srgbClr val="1B2A4A"/>
              </a:solidFill>
              <a:latin typeface="BIZ UDPGothic"/>
              <a:ea typeface="BIZ UDPGothic"/>
              <a:cs typeface="BIZ UDPGothic"/>
            </a:endParaRPr>
          </a:p>
        </p:txBody>
      </p:sp>
      <p:sp>
        <p:nvSpPr>
          <p:cNvPr id="7" name="Rounded Rectangle 6"/>
          <p:cNvSpPr/>
          <p:nvPr/>
        </p:nvSpPr>
        <p:spPr>
          <a:xfrm>
            <a:off x="8009533" y="2641501"/>
            <a:ext cx="3420566" cy="1348581"/>
          </a:xfrm>
          <a:prstGeom prst="roundRect">
            <a:avLst>
              <a:gd name="adj" fmla="val 11300"/>
            </a:avLst>
          </a:prstGeom>
          <a:solidFill>
            <a:srgbClr val="EEF2F8"/>
          </a:solidFill>
          <a:ln>
            <a:noFill/>
          </a:ln>
          <a:effectLst/>
        </p:spPr>
        <p:txBody>
          <a:bodyPr wrap="squar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キャリア</a:t>
            </a:r>
            <a:r>
              <a:rPr sz="2600" b="1" u="none" dirty="0">
                <a:solidFill>
                  <a:srgbClr val="1B2A4A"/>
                </a:solidFill>
                <a:latin typeface="BIZ UDPGothic"/>
                <a:ea typeface="BIZ UDPGothic"/>
                <a:cs typeface="BIZ UDPGothic"/>
              </a:rPr>
              <a:t>・</a:t>
            </a:r>
            <a:br>
              <a:rPr dirty="0"/>
            </a:br>
            <a:r>
              <a:rPr sz="2600" b="1" u="none" dirty="0" err="1">
                <a:solidFill>
                  <a:srgbClr val="1B2A4A"/>
                </a:solidFill>
                <a:latin typeface="BIZ UDPGothic"/>
                <a:ea typeface="BIZ UDPGothic"/>
                <a:cs typeface="BIZ UDPGothic"/>
              </a:rPr>
              <a:t>パスポート</a:t>
            </a:r>
            <a:endParaRPr sz="2600" b="1" u="none" dirty="0">
              <a:solidFill>
                <a:srgbClr val="1B2A4A"/>
              </a:solidFill>
              <a:latin typeface="BIZ UDPGothic"/>
              <a:ea typeface="BIZ UDPGothic"/>
              <a:cs typeface="BIZ UDPGothic"/>
            </a:endParaRPr>
          </a:p>
        </p:txBody>
      </p:sp>
      <p:pic>
        <p:nvPicPr>
          <p:cNvPr id="8" name="Picture 7" descr="teacher.png"/>
          <p:cNvPicPr>
            <a:picLocks noChangeAspect="1"/>
          </p:cNvPicPr>
          <p:nvPr/>
        </p:nvPicPr>
        <p:blipFill>
          <a:blip r:embed="rId3"/>
          <a:stretch>
            <a:fillRect/>
          </a:stretch>
        </p:blipFill>
        <p:spPr>
          <a:xfrm>
            <a:off x="889501" y="4889500"/>
            <a:ext cx="951497" cy="1390650"/>
          </a:xfrm>
          <a:prstGeom prst="rect">
            <a:avLst/>
          </a:prstGeom>
        </p:spPr>
      </p:pic>
      <p:sp>
        <p:nvSpPr>
          <p:cNvPr id="9" name="Rounded Rectangular Callout 8"/>
          <p:cNvSpPr/>
          <p:nvPr/>
        </p:nvSpPr>
        <p:spPr>
          <a:xfrm>
            <a:off x="2159000" y="5016500"/>
            <a:ext cx="9271000" cy="1016000"/>
          </a:xfrm>
          <a:prstGeom prst="wedgeRoundRectCallout">
            <a:avLst>
              <a:gd name="adj1" fmla="val -52541"/>
              <a:gd name="adj2" fmla="val 0"/>
              <a:gd name="adj3" fmla="val 35000"/>
            </a:avLst>
          </a:prstGeom>
          <a:solidFill>
            <a:srgbClr val="FFF3E6"/>
          </a:solidFill>
          <a:ln w="25400">
            <a:solidFill>
              <a:srgbClr val="E8730C"/>
            </a:solidFill>
          </a:ln>
          <a:effectLst/>
        </p:spPr>
        <p:txBody>
          <a:bodyPr rtlCol="0" anchor="ctr"/>
          <a:lstStyle/>
          <a:p>
            <a:pPr algn="ctr"/>
            <a:endParaRPr/>
          </a:p>
        </p:txBody>
      </p:sp>
      <p:sp>
        <p:nvSpPr>
          <p:cNvPr id="10" name="TextBox 9"/>
          <p:cNvSpPr txBox="1"/>
          <p:nvPr/>
        </p:nvSpPr>
        <p:spPr>
          <a:xfrm>
            <a:off x="2540000" y="5283200"/>
            <a:ext cx="8839200" cy="497780"/>
          </a:xfrm>
          <a:prstGeom prst="rect">
            <a:avLst/>
          </a:prstGeom>
          <a:noFill/>
        </p:spPr>
        <p:txBody>
          <a:bodyPr wrap="none" lIns="0" tIns="0" rIns="0" bIns="0" anchor="t">
            <a:noAutofit/>
          </a:bodyPr>
          <a:lstStyle/>
          <a:p>
            <a:pPr algn="l">
              <a:lnSpc>
                <a:spcPct val="116700"/>
              </a:lnSpc>
            </a:pPr>
            <a:r>
              <a:rPr sz="2800" b="1" u="none" dirty="0" err="1">
                <a:solidFill>
                  <a:srgbClr val="1B2A4A"/>
                </a:solidFill>
                <a:latin typeface="BIZ UDPGothic"/>
                <a:ea typeface="BIZ UDPGothic"/>
                <a:cs typeface="BIZ UDPGothic"/>
              </a:rPr>
              <a:t>どれも大切。でも、</a:t>
            </a:r>
            <a:r>
              <a:rPr sz="2800" b="1" u="none" dirty="0" err="1">
                <a:solidFill>
                  <a:srgbClr val="B85A00"/>
                </a:solidFill>
                <a:latin typeface="BIZ UDPGothic"/>
                <a:ea typeface="BIZ UDPGothic"/>
                <a:cs typeface="BIZ UDPGothic"/>
              </a:rPr>
              <a:t>それ“だけ”ではありません</a:t>
            </a:r>
            <a:r>
              <a:rPr sz="2800" b="1" u="none" dirty="0">
                <a:solidFill>
                  <a:srgbClr val="B85A00"/>
                </a:solidFill>
                <a:latin typeface="BIZ UDPGothic"/>
                <a:ea typeface="BIZ UDPGothic"/>
                <a:cs typeface="BIZ UDPGothic"/>
              </a:rPr>
              <a:t>。</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はじめに</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本日の流れ</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TextBox 4"/>
          <p:cNvSpPr txBox="1"/>
          <p:nvPr/>
        </p:nvSpPr>
        <p:spPr>
          <a:xfrm>
            <a:off x="812800" y="192024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01</a:t>
            </a:r>
          </a:p>
        </p:txBody>
      </p:sp>
      <p:sp>
        <p:nvSpPr>
          <p:cNvPr id="6" name="TextBox 5"/>
          <p:cNvSpPr txBox="1"/>
          <p:nvPr/>
        </p:nvSpPr>
        <p:spPr>
          <a:xfrm>
            <a:off x="1765300" y="1938528"/>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キャリア教育とは</a:t>
            </a:r>
          </a:p>
        </p:txBody>
      </p:sp>
      <p:sp>
        <p:nvSpPr>
          <p:cNvPr id="7" name="TextBox 6"/>
          <p:cNvSpPr txBox="1"/>
          <p:nvPr/>
        </p:nvSpPr>
        <p:spPr>
          <a:xfrm>
            <a:off x="812800" y="2578608"/>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02</a:t>
            </a:r>
          </a:p>
        </p:txBody>
      </p:sp>
      <p:sp>
        <p:nvSpPr>
          <p:cNvPr id="8" name="TextBox 7"/>
          <p:cNvSpPr txBox="1"/>
          <p:nvPr/>
        </p:nvSpPr>
        <p:spPr>
          <a:xfrm>
            <a:off x="1765300" y="2596896"/>
            <a:ext cx="9690100" cy="497780"/>
          </a:xfrm>
          <a:prstGeom prst="rect">
            <a:avLst/>
          </a:prstGeom>
          <a:noFill/>
        </p:spPr>
        <p:txBody>
          <a:bodyPr wrap="none" lIns="0" tIns="0" rIns="0" bIns="0" anchor="t">
            <a:noAutofit/>
          </a:bodyPr>
          <a:lstStyle/>
          <a:p>
            <a:pPr algn="l">
              <a:lnSpc>
                <a:spcPct val="116700"/>
              </a:lnSpc>
            </a:pPr>
            <a:r>
              <a:rPr sz="2800" b="1" u="none" dirty="0" err="1">
                <a:solidFill>
                  <a:srgbClr val="1B2A4A"/>
                </a:solidFill>
                <a:latin typeface="BIZ UDPGothic"/>
                <a:ea typeface="BIZ UDPGothic"/>
                <a:cs typeface="BIZ UDPGothic"/>
              </a:rPr>
              <a:t>体育とキャリア教育</a:t>
            </a:r>
            <a:r>
              <a:rPr lang="ja-JP" altLang="en-US" sz="2800" b="1" u="none" dirty="0">
                <a:solidFill>
                  <a:srgbClr val="1B2A4A"/>
                </a:solidFill>
                <a:latin typeface="BIZ UDPGothic"/>
                <a:ea typeface="BIZ UDPGothic"/>
                <a:cs typeface="BIZ UDPGothic"/>
              </a:rPr>
              <a:t>について</a:t>
            </a:r>
            <a:endParaRPr sz="2800" b="1" u="none" dirty="0">
              <a:solidFill>
                <a:srgbClr val="1B2A4A"/>
              </a:solidFill>
              <a:latin typeface="BIZ UDPGothic"/>
              <a:ea typeface="BIZ UDPGothic"/>
              <a:cs typeface="BIZ UDPGothic"/>
            </a:endParaRPr>
          </a:p>
        </p:txBody>
      </p:sp>
      <p:sp>
        <p:nvSpPr>
          <p:cNvPr id="9" name="TextBox 8"/>
          <p:cNvSpPr txBox="1"/>
          <p:nvPr/>
        </p:nvSpPr>
        <p:spPr>
          <a:xfrm>
            <a:off x="812800" y="3236976"/>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03</a:t>
            </a:r>
          </a:p>
        </p:txBody>
      </p:sp>
      <p:sp>
        <p:nvSpPr>
          <p:cNvPr id="10" name="TextBox 9"/>
          <p:cNvSpPr txBox="1"/>
          <p:nvPr/>
        </p:nvSpPr>
        <p:spPr>
          <a:xfrm>
            <a:off x="1765300" y="3255264"/>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本時の授業から</a:t>
            </a:r>
          </a:p>
        </p:txBody>
      </p:sp>
      <p:sp>
        <p:nvSpPr>
          <p:cNvPr id="11" name="TextBox 10"/>
          <p:cNvSpPr txBox="1"/>
          <p:nvPr/>
        </p:nvSpPr>
        <p:spPr>
          <a:xfrm>
            <a:off x="812800" y="3895344"/>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04</a:t>
            </a:r>
          </a:p>
        </p:txBody>
      </p:sp>
      <p:sp>
        <p:nvSpPr>
          <p:cNvPr id="12" name="TextBox 11"/>
          <p:cNvSpPr txBox="1"/>
          <p:nvPr/>
        </p:nvSpPr>
        <p:spPr>
          <a:xfrm>
            <a:off x="1765300" y="3913632"/>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次期学習指導要領に向けて</a:t>
            </a:r>
          </a:p>
        </p:txBody>
      </p:sp>
      <p:sp>
        <p:nvSpPr>
          <p:cNvPr id="13" name="TextBox 12"/>
          <p:cNvSpPr txBox="1"/>
          <p:nvPr/>
        </p:nvSpPr>
        <p:spPr>
          <a:xfrm>
            <a:off x="812800" y="4553712"/>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05</a:t>
            </a:r>
          </a:p>
        </p:txBody>
      </p:sp>
      <p:sp>
        <p:nvSpPr>
          <p:cNvPr id="14" name="TextBox 13"/>
          <p:cNvSpPr txBox="1"/>
          <p:nvPr/>
        </p:nvSpPr>
        <p:spPr>
          <a:xfrm>
            <a:off x="1765300" y="4572000"/>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明日からの授業へ</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a:t>
            </a:r>
          </a:p>
        </p:txBody>
      </p:sp>
      <p:sp>
        <p:nvSpPr>
          <p:cNvPr id="21" name="Message Band"/>
          <p:cNvSpPr/>
          <p:nvPr/>
        </p:nvSpPr>
        <p:spPr>
          <a:xfrm>
            <a:off x="762000" y="5349240"/>
            <a:ext cx="10668000" cy="685800"/>
          </a:xfrm>
          <a:prstGeom prst="roundRect">
            <a:avLst>
              <a:gd name="adj" fmla="val 24056"/>
            </a:avLst>
          </a:prstGeom>
          <a:solidFill>
            <a:srgbClr val="1B2A4A"/>
          </a:solidFill>
          <a:ln>
            <a:noFill/>
          </a:ln>
          <a:effectLst/>
        </p:spPr>
        <p:txBody>
          <a:bodyPr rtlCol="0" anchor="ctr"/>
          <a:lstStyle/>
          <a:p>
            <a:pPr algn="ctr"/>
            <a:endParaRPr/>
          </a:p>
        </p:txBody>
      </p:sp>
      <p:sp>
        <p:nvSpPr>
          <p:cNvPr id="22" name="Message Text"/>
          <p:cNvSpPr txBox="1"/>
          <p:nvPr/>
        </p:nvSpPr>
        <p:spPr>
          <a:xfrm>
            <a:off x="1066800" y="5487772"/>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今日のメッセージ：</a:t>
            </a:r>
            <a:r>
              <a:rPr sz="2300" b="1" u="none">
                <a:solidFill>
                  <a:srgbClr val="F5A25A"/>
                </a:solidFill>
                <a:latin typeface="BIZ UDPGothic"/>
                <a:ea typeface="BIZ UDPGothic"/>
                <a:cs typeface="BIZ UDPGothic"/>
              </a:rPr>
              <a:t>毎日の授業そのものが、キャリア教育</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01</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キャリア教育とは</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まず、言葉の意味を確かめましょう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「キャリア」は、仕事のことだけではない</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96380"/>
            <a:ext cx="10668000" cy="1823641"/>
          </a:xfrm>
          <a:prstGeom prst="roundRect">
            <a:avLst>
              <a:gd name="adj" fmla="val 9749"/>
            </a:avLst>
          </a:prstGeom>
          <a:solidFill>
            <a:srgbClr val="EEF2F8"/>
          </a:solidFill>
          <a:ln>
            <a:noFill/>
          </a:ln>
          <a:effectLst/>
        </p:spPr>
        <p:txBody>
          <a:bodyPr rtlCol="0" anchor="ctr"/>
          <a:lstStyle/>
          <a:p>
            <a:pPr algn="ctr"/>
            <a:endParaRPr/>
          </a:p>
        </p:txBody>
      </p:sp>
      <p:sp>
        <p:nvSpPr>
          <p:cNvPr id="6" name="TextBox 5"/>
          <p:cNvSpPr txBox="1"/>
          <p:nvPr/>
        </p:nvSpPr>
        <p:spPr>
          <a:xfrm>
            <a:off x="1117600" y="2275780"/>
            <a:ext cx="10033000" cy="731441"/>
          </a:xfrm>
          <a:prstGeom prst="rect">
            <a:avLst/>
          </a:prstGeom>
          <a:noFill/>
        </p:spPr>
        <p:txBody>
          <a:bodyPr wrap="none" lIns="0" tIns="0" rIns="0" bIns="0" anchor="t">
            <a:noAutofit/>
          </a:bodyPr>
          <a:lstStyle/>
          <a:p>
            <a:pPr algn="l">
              <a:lnSpc>
                <a:spcPct val="100000"/>
              </a:lnSpc>
            </a:pPr>
            <a:r>
              <a:rPr sz="4800" b="1" u="none">
                <a:solidFill>
                  <a:srgbClr val="1B2A4A"/>
                </a:solidFill>
                <a:latin typeface="BIZ UDPGothic"/>
                <a:ea typeface="BIZ UDPGothic"/>
                <a:cs typeface="BIZ UDPGothic"/>
              </a:rPr>
              <a:t>キャリア ＝ </a:t>
            </a:r>
            <a:r>
              <a:rPr sz="4800" b="1" u="none">
                <a:solidFill>
                  <a:srgbClr val="E8730C"/>
                </a:solidFill>
                <a:latin typeface="BIZ UDPGothic"/>
                <a:ea typeface="BIZ UDPGothic"/>
                <a:cs typeface="BIZ UDPGothic"/>
              </a:rPr>
              <a:t>「役割」の積み重ね</a:t>
            </a:r>
          </a:p>
        </p:txBody>
      </p:sp>
      <p:sp>
        <p:nvSpPr>
          <p:cNvPr id="7" name="TextBox 6"/>
          <p:cNvSpPr txBox="1"/>
          <p:nvPr/>
        </p:nvSpPr>
        <p:spPr>
          <a:xfrm>
            <a:off x="1117600" y="3121521"/>
            <a:ext cx="10033000" cy="419100"/>
          </a:xfrm>
          <a:prstGeom prst="rect">
            <a:avLst/>
          </a:prstGeom>
          <a:noFill/>
        </p:spPr>
        <p:txBody>
          <a:bodyPr wrap="none" lIns="0" tIns="0" rIns="0" bIns="0" anchor="t">
            <a:noAutofit/>
          </a:bodyPr>
          <a:lstStyle/>
          <a:p>
            <a:pPr algn="l">
              <a:lnSpc>
                <a:spcPct val="125000"/>
              </a:lnSpc>
            </a:pPr>
            <a:r>
              <a:rPr sz="2200" b="0" u="none">
                <a:solidFill>
                  <a:srgbClr val="2B2F36"/>
                </a:solidFill>
                <a:latin typeface="BIZ UDPGothic"/>
                <a:ea typeface="BIZ UDPGothic"/>
                <a:cs typeface="BIZ UDPGothic"/>
              </a:rPr>
              <a:t>家庭・学級・授業の中の役割も、すべてキャリア</a:t>
            </a:r>
          </a:p>
        </p:txBody>
      </p:sp>
      <p:sp>
        <p:nvSpPr>
          <p:cNvPr id="8" name="Rounded Rectangle 7"/>
          <p:cNvSpPr/>
          <p:nvPr/>
        </p:nvSpPr>
        <p:spPr>
          <a:xfrm>
            <a:off x="762000" y="4124821"/>
            <a:ext cx="10668000" cy="935930"/>
          </a:xfrm>
          <a:prstGeom prst="roundRect">
            <a:avLst>
              <a:gd name="adj" fmla="val 18997"/>
            </a:avLst>
          </a:prstGeom>
          <a:solidFill>
            <a:srgbClr val="1B2A4A"/>
          </a:solidFill>
          <a:ln>
            <a:noFill/>
          </a:ln>
          <a:effectLst/>
        </p:spPr>
        <p:txBody>
          <a:bodyPr rtlCol="0" anchor="ctr"/>
          <a:lstStyle/>
          <a:p>
            <a:pPr algn="ctr"/>
            <a:endParaRPr/>
          </a:p>
        </p:txBody>
      </p:sp>
      <p:sp>
        <p:nvSpPr>
          <p:cNvPr id="9" name="TextBox 8"/>
          <p:cNvSpPr txBox="1"/>
          <p:nvPr/>
        </p:nvSpPr>
        <p:spPr>
          <a:xfrm>
            <a:off x="1117600" y="4353421"/>
            <a:ext cx="10033000" cy="478730"/>
          </a:xfrm>
          <a:prstGeom prst="rect">
            <a:avLst/>
          </a:prstGeom>
          <a:noFill/>
        </p:spPr>
        <p:txBody>
          <a:bodyPr wrap="none" lIns="0" tIns="0" rIns="0" bIns="0" anchor="t">
            <a:noAutofit/>
          </a:bodyPr>
          <a:lstStyle/>
          <a:p>
            <a:pPr algn="l">
              <a:lnSpc>
                <a:spcPct val="120800"/>
              </a:lnSpc>
            </a:pPr>
            <a:r>
              <a:rPr sz="2600" b="1" u="none">
                <a:solidFill>
                  <a:srgbClr val="FFFFFF"/>
                </a:solidFill>
                <a:latin typeface="BIZ UDPGothic"/>
                <a:ea typeface="BIZ UDPGothic"/>
                <a:cs typeface="BIZ UDPGothic"/>
              </a:rPr>
              <a:t>キャリア教育 ＝ </a:t>
            </a:r>
            <a:r>
              <a:rPr sz="2600" b="1" u="none">
                <a:solidFill>
                  <a:srgbClr val="F5A25A"/>
                </a:solidFill>
                <a:latin typeface="BIZ UDPGothic"/>
                <a:ea typeface="BIZ UDPGothic"/>
                <a:cs typeface="BIZ UDPGothic"/>
              </a:rPr>
              <a:t>自分らしく生きる力の「土台」</a:t>
            </a:r>
            <a:r>
              <a:rPr sz="2600" b="1" u="none">
                <a:solidFill>
                  <a:srgbClr val="FFFFFF"/>
                </a:solidFill>
                <a:latin typeface="BIZ UDPGothic"/>
                <a:ea typeface="BIZ UDPGothic"/>
                <a:cs typeface="BIZ UDPGothic"/>
              </a:rPr>
              <a:t>を育てる</a:t>
            </a:r>
          </a:p>
        </p:txBody>
      </p:sp>
      <p:sp>
        <p:nvSpPr>
          <p:cNvPr id="10" name="TextBox 9"/>
          <p:cNvSpPr txBox="1"/>
          <p:nvPr/>
        </p:nvSpPr>
        <p:spPr>
          <a:xfrm>
            <a:off x="762000" y="5897880"/>
            <a:ext cx="9601200" cy="704088"/>
          </a:xfrm>
          <a:prstGeom prst="rect">
            <a:avLst/>
          </a:prstGeom>
          <a:noFill/>
        </p:spPr>
        <p:txBody>
          <a:bodyPr wrap="square" lIns="0" tIns="0" rIns="0" bIns="0" anchor="b">
            <a:noAutofit/>
          </a:bodyPr>
          <a:lstStyle/>
          <a:p>
            <a:pPr>
              <a:lnSpc>
                <a:spcPct val="116700"/>
              </a:lnSpc>
            </a:pPr>
            <a:r>
              <a:rPr sz="1200" b="0" u="none" dirty="0">
                <a:solidFill>
                  <a:srgbClr val="5B6472"/>
                </a:solidFill>
                <a:latin typeface="BIZ UDPGothic"/>
                <a:ea typeface="BIZ UDPGothic"/>
                <a:cs typeface="BIZ UDPGothic"/>
              </a:rPr>
              <a:t>出典：中央教育審議会答申（平成23年1月）、小学校キャリア教育の手引き（令和４年３月）</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よくある３つの誤解</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00650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職業を決める教育</a:t>
            </a:r>
          </a:p>
        </p:txBody>
      </p:sp>
      <p:sp>
        <p:nvSpPr>
          <p:cNvPr id="6" name="Right Arrow 5"/>
          <p:cNvSpPr/>
          <p:nvPr/>
        </p:nvSpPr>
        <p:spPr>
          <a:xfrm>
            <a:off x="5003800" y="2265561"/>
            <a:ext cx="457200" cy="228600"/>
          </a:xfrm>
          <a:prstGeom prst="rightArrow">
            <a:avLst/>
          </a:prstGeom>
          <a:solidFill>
            <a:srgbClr val="E8730C"/>
          </a:solidFill>
          <a:ln>
            <a:noFill/>
          </a:ln>
          <a:effectLst/>
        </p:spPr>
        <p:txBody>
          <a:bodyPr rtlCol="0" anchor="ctr"/>
          <a:lstStyle/>
          <a:p>
            <a:pPr algn="ctr"/>
            <a:endParaRPr/>
          </a:p>
        </p:txBody>
      </p:sp>
      <p:sp>
        <p:nvSpPr>
          <p:cNvPr id="7" name="Rounded Rectangle 6"/>
          <p:cNvSpPr/>
          <p:nvPr/>
        </p:nvSpPr>
        <p:spPr>
          <a:xfrm>
            <a:off x="5638800" y="1996380"/>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dirty="0">
                <a:solidFill>
                  <a:srgbClr val="1B2A4A"/>
                </a:solidFill>
                <a:latin typeface="BIZ UDPGothic"/>
                <a:ea typeface="BIZ UDPGothic"/>
                <a:cs typeface="BIZ UDPGothic"/>
              </a:rPr>
              <a:t>○　</a:t>
            </a:r>
            <a:r>
              <a:rPr sz="2600" b="1" u="none" dirty="0" err="1">
                <a:solidFill>
                  <a:srgbClr val="1B2A4A"/>
                </a:solidFill>
                <a:latin typeface="BIZ UDPGothic"/>
                <a:ea typeface="BIZ UDPGothic"/>
                <a:cs typeface="BIZ UDPGothic"/>
              </a:rPr>
              <a:t>生き方の「土台」をつくる</a:t>
            </a:r>
            <a:endParaRPr sz="2600" b="1" u="none" dirty="0">
              <a:solidFill>
                <a:srgbClr val="1B2A4A"/>
              </a:solidFill>
              <a:latin typeface="BIZ UDPGothic"/>
              <a:ea typeface="BIZ UDPGothic"/>
              <a:cs typeface="BIZ UDPGothic"/>
            </a:endParaRPr>
          </a:p>
        </p:txBody>
      </p:sp>
      <p:sp>
        <p:nvSpPr>
          <p:cNvPr id="8" name="Rounded Rectangle 7"/>
          <p:cNvSpPr/>
          <p:nvPr/>
        </p:nvSpPr>
        <p:spPr>
          <a:xfrm>
            <a:off x="762000" y="297676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特別な時間にやる</a:t>
            </a:r>
          </a:p>
        </p:txBody>
      </p:sp>
      <p:sp>
        <p:nvSpPr>
          <p:cNvPr id="9" name="Right Arrow 8"/>
          <p:cNvSpPr/>
          <p:nvPr/>
        </p:nvSpPr>
        <p:spPr>
          <a:xfrm>
            <a:off x="5003800" y="3235821"/>
            <a:ext cx="457200" cy="228600"/>
          </a:xfrm>
          <a:prstGeom prst="rightArrow">
            <a:avLst/>
          </a:prstGeom>
          <a:solidFill>
            <a:srgbClr val="E8730C"/>
          </a:solidFill>
          <a:ln>
            <a:noFill/>
          </a:ln>
          <a:effectLst/>
        </p:spPr>
        <p:txBody>
          <a:bodyPr rtlCol="0" anchor="ctr"/>
          <a:lstStyle/>
          <a:p>
            <a:pPr algn="ctr"/>
            <a:endParaRPr/>
          </a:p>
        </p:txBody>
      </p:sp>
      <p:sp>
        <p:nvSpPr>
          <p:cNvPr id="10" name="Rounded Rectangle 9"/>
          <p:cNvSpPr/>
          <p:nvPr/>
        </p:nvSpPr>
        <p:spPr>
          <a:xfrm>
            <a:off x="5638800" y="2966641"/>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毎日の授業の中で</a:t>
            </a:r>
          </a:p>
        </p:txBody>
      </p:sp>
      <p:sp>
        <p:nvSpPr>
          <p:cNvPr id="11" name="Rounded Rectangle 10"/>
          <p:cNvSpPr/>
          <p:nvPr/>
        </p:nvSpPr>
        <p:spPr>
          <a:xfrm>
            <a:off x="762000" y="394702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高学年になってから</a:t>
            </a:r>
          </a:p>
        </p:txBody>
      </p:sp>
      <p:sp>
        <p:nvSpPr>
          <p:cNvPr id="12" name="Right Arrow 11"/>
          <p:cNvSpPr/>
          <p:nvPr/>
        </p:nvSpPr>
        <p:spPr>
          <a:xfrm>
            <a:off x="5003800" y="4206081"/>
            <a:ext cx="457200" cy="228600"/>
          </a:xfrm>
          <a:prstGeom prst="rightArrow">
            <a:avLst/>
          </a:prstGeom>
          <a:solidFill>
            <a:srgbClr val="E8730C"/>
          </a:solidFill>
          <a:ln>
            <a:noFill/>
          </a:ln>
          <a:effectLst/>
        </p:spPr>
        <p:txBody>
          <a:bodyPr rtlCol="0" anchor="ctr"/>
          <a:lstStyle/>
          <a:p>
            <a:pPr algn="ctr"/>
            <a:endParaRPr/>
          </a:p>
        </p:txBody>
      </p:sp>
      <p:sp>
        <p:nvSpPr>
          <p:cNvPr id="13" name="Rounded Rectangle 12"/>
          <p:cNvSpPr/>
          <p:nvPr/>
        </p:nvSpPr>
        <p:spPr>
          <a:xfrm>
            <a:off x="5638800" y="3936901"/>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低学年から</a:t>
            </a:r>
          </a:p>
        </p:txBody>
      </p:sp>
      <p:sp>
        <p:nvSpPr>
          <p:cNvPr id="14" name="TextBox 13"/>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出典：小学校学習指導要領（平成29年告示）総則、小学校キャリア教育の手引き（令和４年３月）</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育てたい４つの力（基礎的・汎用的能力）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6" name="TextBox 5"/>
          <p:cNvSpPr txBox="1"/>
          <p:nvPr/>
        </p:nvSpPr>
        <p:spPr>
          <a:xfrm>
            <a:off x="10160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人間関係形成・社会形成能力</a:t>
            </a:r>
          </a:p>
        </p:txBody>
      </p:sp>
      <p:sp>
        <p:nvSpPr>
          <p:cNvPr id="8" name="Rounded Rectangle 7"/>
          <p:cNvSpPr/>
          <p:nvPr/>
        </p:nvSpPr>
        <p:spPr>
          <a:xfrm>
            <a:off x="61849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9" name="TextBox 8"/>
          <p:cNvSpPr txBox="1"/>
          <p:nvPr/>
        </p:nvSpPr>
        <p:spPr>
          <a:xfrm>
            <a:off x="64389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自己理解・自己管理能力</a:t>
            </a:r>
          </a:p>
        </p:txBody>
      </p:sp>
      <p:sp>
        <p:nvSpPr>
          <p:cNvPr id="11" name="Rounded Rectangle 10"/>
          <p:cNvSpPr/>
          <p:nvPr/>
        </p:nvSpPr>
        <p:spPr>
          <a:xfrm>
            <a:off x="7620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2" name="TextBox 11"/>
          <p:cNvSpPr txBox="1"/>
          <p:nvPr/>
        </p:nvSpPr>
        <p:spPr>
          <a:xfrm>
            <a:off x="10160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課題対応能力</a:t>
            </a:r>
          </a:p>
        </p:txBody>
      </p:sp>
      <p:sp>
        <p:nvSpPr>
          <p:cNvPr id="14" name="Rounded Rectangle 13"/>
          <p:cNvSpPr/>
          <p:nvPr/>
        </p:nvSpPr>
        <p:spPr>
          <a:xfrm>
            <a:off x="61849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5" name="TextBox 14"/>
          <p:cNvSpPr txBox="1"/>
          <p:nvPr/>
        </p:nvSpPr>
        <p:spPr>
          <a:xfrm>
            <a:off x="64389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キャリアプランニング能力</a:t>
            </a:r>
          </a:p>
        </p:txBody>
      </p:sp>
      <p:sp>
        <p:nvSpPr>
          <p:cNvPr id="17" name="TextBox 16"/>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出典：中央教育審議会答申（平成23年1月）、小学校キャリア教育の手引き（令和４年３月）</a:t>
            </a:r>
          </a:p>
        </p:txBody>
      </p:sp>
      <p:sp>
        <p:nvSpPr>
          <p:cNvPr id="18" name="TextBox 17"/>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大北小の「３つの力」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6" name="Rounded Rectangle 5"/>
          <p:cNvSpPr/>
          <p:nvPr/>
        </p:nvSpPr>
        <p:spPr>
          <a:xfrm>
            <a:off x="1399381" y="2199580"/>
            <a:ext cx="2145804"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見つける力</a:t>
            </a:r>
          </a:p>
        </p:txBody>
      </p:sp>
      <p:sp>
        <p:nvSpPr>
          <p:cNvPr id="7" name="TextBox 6"/>
          <p:cNvSpPr txBox="1"/>
          <p:nvPr/>
        </p:nvSpPr>
        <p:spPr>
          <a:xfrm>
            <a:off x="1618258" y="2915841"/>
            <a:ext cx="1708051"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すきなことを</a:t>
            </a:r>
            <a:br/>
            <a:r>
              <a:rPr sz="2200" b="1" u="none">
                <a:solidFill>
                  <a:srgbClr val="1B2A4A"/>
                </a:solidFill>
                <a:latin typeface="BIZ UDPGothic"/>
                <a:ea typeface="BIZ UDPGothic"/>
                <a:cs typeface="BIZ UDPGothic"/>
              </a:rPr>
              <a:t>みつけよう</a:t>
            </a:r>
          </a:p>
        </p:txBody>
      </p:sp>
      <p:sp>
        <p:nvSpPr>
          <p:cNvPr id="8" name="TextBox 7"/>
          <p:cNvSpPr txBox="1"/>
          <p:nvPr/>
        </p:nvSpPr>
        <p:spPr>
          <a:xfrm>
            <a:off x="1462584" y="3825081"/>
            <a:ext cx="20193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自己理解・自己管理</a:t>
            </a:r>
          </a:p>
        </p:txBody>
      </p:sp>
      <p:sp>
        <p:nvSpPr>
          <p:cNvPr id="9" name="Rounded Rectangle 8"/>
          <p:cNvSpPr/>
          <p:nvPr/>
        </p:nvSpPr>
        <p:spPr>
          <a:xfrm>
            <a:off x="4385766"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10" name="Rounded Rectangle 9"/>
          <p:cNvSpPr/>
          <p:nvPr/>
        </p:nvSpPr>
        <p:spPr>
          <a:xfrm>
            <a:off x="5194796" y="2199580"/>
            <a:ext cx="1802408"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考える力</a:t>
            </a:r>
          </a:p>
        </p:txBody>
      </p:sp>
      <p:sp>
        <p:nvSpPr>
          <p:cNvPr id="11" name="TextBox 10"/>
          <p:cNvSpPr txBox="1"/>
          <p:nvPr/>
        </p:nvSpPr>
        <p:spPr>
          <a:xfrm>
            <a:off x="5248970" y="2915841"/>
            <a:ext cx="1694160"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やってみよう</a:t>
            </a:r>
            <a:br/>
            <a:r>
              <a:rPr sz="2200" b="1" u="none">
                <a:solidFill>
                  <a:srgbClr val="1B2A4A"/>
                </a:solidFill>
                <a:latin typeface="BIZ UDPGothic"/>
                <a:ea typeface="BIZ UDPGothic"/>
                <a:cs typeface="BIZ UDPGothic"/>
              </a:rPr>
              <a:t>　</a:t>
            </a:r>
          </a:p>
        </p:txBody>
      </p:sp>
      <p:sp>
        <p:nvSpPr>
          <p:cNvPr id="12" name="TextBox 11"/>
          <p:cNvSpPr txBox="1"/>
          <p:nvPr/>
        </p:nvSpPr>
        <p:spPr>
          <a:xfrm>
            <a:off x="5600700" y="3825081"/>
            <a:ext cx="9906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課題対応</a:t>
            </a:r>
          </a:p>
        </p:txBody>
      </p:sp>
      <p:sp>
        <p:nvSpPr>
          <p:cNvPr id="13" name="Rounded Rectangle 12"/>
          <p:cNvSpPr/>
          <p:nvPr/>
        </p:nvSpPr>
        <p:spPr>
          <a:xfrm>
            <a:off x="8009533"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14" name="Rounded Rectangle 13"/>
          <p:cNvSpPr/>
          <p:nvPr/>
        </p:nvSpPr>
        <p:spPr>
          <a:xfrm>
            <a:off x="8427244" y="2199580"/>
            <a:ext cx="2585045"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聴く・伝える力</a:t>
            </a:r>
          </a:p>
        </p:txBody>
      </p:sp>
      <p:sp>
        <p:nvSpPr>
          <p:cNvPr id="15" name="TextBox 14"/>
          <p:cNvSpPr txBox="1"/>
          <p:nvPr/>
        </p:nvSpPr>
        <p:spPr>
          <a:xfrm>
            <a:off x="9138245" y="2915841"/>
            <a:ext cx="1163141"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きこう</a:t>
            </a:r>
            <a:br/>
            <a:r>
              <a:rPr sz="2200" b="1" u="none">
                <a:solidFill>
                  <a:srgbClr val="1B2A4A"/>
                </a:solidFill>
                <a:latin typeface="BIZ UDPGothic"/>
                <a:ea typeface="BIZ UDPGothic"/>
                <a:cs typeface="BIZ UDPGothic"/>
              </a:rPr>
              <a:t>はなそう</a:t>
            </a:r>
          </a:p>
        </p:txBody>
      </p:sp>
      <p:sp>
        <p:nvSpPr>
          <p:cNvPr id="16" name="TextBox 15"/>
          <p:cNvSpPr txBox="1"/>
          <p:nvPr/>
        </p:nvSpPr>
        <p:spPr>
          <a:xfrm>
            <a:off x="8481516" y="3825081"/>
            <a:ext cx="24765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人間関係形成・社会形成</a:t>
            </a:r>
          </a:p>
        </p:txBody>
      </p:sp>
      <p:sp>
        <p:nvSpPr>
          <p:cNvPr id="17" name="TextBox 16"/>
          <p:cNvSpPr txBox="1"/>
          <p:nvPr/>
        </p:nvSpPr>
        <p:spPr>
          <a:xfrm>
            <a:off x="762000" y="4653062"/>
            <a:ext cx="10744200" cy="426641"/>
          </a:xfrm>
          <a:prstGeom prst="rect">
            <a:avLst/>
          </a:prstGeom>
          <a:noFill/>
        </p:spPr>
        <p:txBody>
          <a:bodyPr wrap="none" lIns="0" tIns="0" rIns="0" bIns="0" anchor="t">
            <a:noAutofit/>
          </a:bodyPr>
          <a:lstStyle/>
          <a:p>
            <a:pPr algn="l">
              <a:lnSpc>
                <a:spcPct val="116700"/>
              </a:lnSpc>
            </a:pPr>
            <a:r>
              <a:rPr sz="2400" b="1" u="none" dirty="0">
                <a:solidFill>
                  <a:srgbClr val="1B2A4A"/>
                </a:solidFill>
                <a:latin typeface="BIZ UDPGothic"/>
                <a:ea typeface="BIZ UDPGothic"/>
                <a:cs typeface="BIZ UDPGothic"/>
              </a:rPr>
              <a:t>→ </a:t>
            </a:r>
            <a:r>
              <a:rPr sz="2400" b="1" u="none" dirty="0" err="1">
                <a:solidFill>
                  <a:srgbClr val="1B2A4A"/>
                </a:solidFill>
                <a:latin typeface="BIZ UDPGothic"/>
                <a:ea typeface="BIZ UDPGothic"/>
                <a:cs typeface="BIZ UDPGothic"/>
              </a:rPr>
              <a:t>体育の目標と</a:t>
            </a:r>
            <a:r>
              <a:rPr sz="2400" b="1" u="none" dirty="0">
                <a:solidFill>
                  <a:srgbClr val="1B2A4A"/>
                </a:solidFill>
                <a:latin typeface="BIZ UDPGothic"/>
                <a:ea typeface="BIZ UDPGothic"/>
                <a:cs typeface="BIZ UDPGothic"/>
              </a:rPr>
              <a:t>、</a:t>
            </a:r>
            <a:r>
              <a:rPr lang="ja-JP" altLang="en-US" sz="2400" b="1" u="none" dirty="0">
                <a:solidFill>
                  <a:srgbClr val="B85A00"/>
                </a:solidFill>
                <a:latin typeface="BIZ UDPGothic"/>
                <a:ea typeface="BIZ UDPGothic"/>
                <a:cs typeface="BIZ UDPGothic"/>
              </a:rPr>
              <a:t>どうつながるでしょうか？</a:t>
            </a:r>
            <a:endParaRPr sz="2400" b="1" u="none" dirty="0">
              <a:solidFill>
                <a:srgbClr val="B85A00"/>
              </a:solidFill>
              <a:latin typeface="BIZ UDPGothic"/>
              <a:ea typeface="BIZ UDPGothic"/>
              <a:cs typeface="BIZ UDPGothic"/>
            </a:endParaRPr>
          </a:p>
        </p:txBody>
      </p:sp>
      <p:sp>
        <p:nvSpPr>
          <p:cNvPr id="19" name="TextBox 18"/>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8</a:t>
            </a:r>
          </a:p>
        </p:txBody>
      </p:sp>
      <p:sp>
        <p:nvSpPr>
          <p:cNvPr id="20" name="Footnote"/>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※「３つの力」と基礎的・汎用的能力との対応は、主な関連として講師が整理したもの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1828800"/>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02</a:t>
            </a:r>
          </a:p>
        </p:txBody>
      </p:sp>
      <p:sp>
        <p:nvSpPr>
          <p:cNvPr id="4" name="TextBox 3"/>
          <p:cNvSpPr txBox="1"/>
          <p:nvPr/>
        </p:nvSpPr>
        <p:spPr>
          <a:xfrm>
            <a:off x="1016000" y="3276600"/>
            <a:ext cx="10236200" cy="698500"/>
          </a:xfrm>
          <a:prstGeom prst="rect">
            <a:avLst/>
          </a:prstGeom>
          <a:noFill/>
        </p:spPr>
        <p:txBody>
          <a:bodyPr wrap="none" lIns="0" tIns="0" rIns="0" bIns="0" anchor="t">
            <a:noAutofit/>
          </a:bodyPr>
          <a:lstStyle/>
          <a:p>
            <a:pPr algn="l">
              <a:lnSpc>
                <a:spcPct val="104200"/>
              </a:lnSpc>
            </a:pPr>
            <a:r>
              <a:rPr sz="4400" b="1" u="none" dirty="0" err="1">
                <a:solidFill>
                  <a:srgbClr val="FFFFFF"/>
                </a:solidFill>
                <a:latin typeface="BIZ UDPGothic"/>
                <a:ea typeface="BIZ UDPGothic"/>
                <a:cs typeface="BIZ UDPGothic"/>
              </a:rPr>
              <a:t>体育とキャリア教育</a:t>
            </a:r>
            <a:r>
              <a:rPr lang="ja-JP" altLang="en-US" sz="4400" b="1" u="none" dirty="0">
                <a:solidFill>
                  <a:srgbClr val="FFFFFF"/>
                </a:solidFill>
                <a:latin typeface="BIZ UDPGothic"/>
                <a:ea typeface="BIZ UDPGothic"/>
                <a:cs typeface="BIZ UDPGothic"/>
              </a:rPr>
              <a:t>について</a:t>
            </a:r>
            <a:endParaRPr sz="4400" b="1" u="none" dirty="0">
              <a:solidFill>
                <a:srgbClr val="FFFFFF"/>
              </a:solidFill>
              <a:latin typeface="BIZ UDPGothic"/>
              <a:ea typeface="BIZ UDPGothic"/>
              <a:cs typeface="BIZ UDPGothic"/>
            </a:endParaRPr>
          </a:p>
        </p:txBody>
      </p:sp>
      <p:sp>
        <p:nvSpPr>
          <p:cNvPr id="5" name="TextBox 4"/>
          <p:cNvSpPr txBox="1"/>
          <p:nvPr/>
        </p:nvSpPr>
        <p:spPr>
          <a:xfrm>
            <a:off x="1016000" y="4152900"/>
            <a:ext cx="10236200" cy="876300"/>
          </a:xfrm>
          <a:prstGeom prst="rect">
            <a:avLst/>
          </a:prstGeom>
          <a:noFill/>
        </p:spPr>
        <p:txBody>
          <a:bodyPr wrap="square" lIns="0" tIns="0" rIns="0" bIns="0" anchor="t">
            <a:noAutofit/>
          </a:bodyPr>
          <a:lstStyle/>
          <a:p>
            <a:pPr algn="l">
              <a:lnSpc>
                <a:spcPct val="125000"/>
              </a:lnSpc>
            </a:pPr>
            <a:r>
              <a:rPr sz="2300" b="0" u="none">
                <a:solidFill>
                  <a:srgbClr val="C9D3E6"/>
                </a:solidFill>
                <a:latin typeface="BIZ UDPGothic"/>
                <a:ea typeface="BIZ UDPGothic"/>
                <a:cs typeface="BIZ UDPGothic"/>
              </a:rPr>
              <a:t>体育の目標には、</a:t>
            </a:r>
            <a:br/>
            <a:r>
              <a:rPr sz="2300" b="0" u="none">
                <a:solidFill>
                  <a:srgbClr val="C9D3E6"/>
                </a:solidFill>
                <a:latin typeface="BIZ UDPGothic"/>
                <a:ea typeface="BIZ UDPGothic"/>
                <a:cs typeface="BIZ UDPGothic"/>
              </a:rPr>
              <a:t>キャリア教育と重なる言葉があります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根拠は、学習指導要領 総則</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10668000" cy="2405360"/>
          </a:xfrm>
          <a:prstGeom prst="roundRect">
            <a:avLst>
              <a:gd name="adj" fmla="val 6335"/>
            </a:avLst>
          </a:prstGeom>
          <a:solidFill>
            <a:srgbClr val="EEF2F8"/>
          </a:solidFill>
          <a:ln>
            <a:noFill/>
          </a:ln>
          <a:effectLst/>
        </p:spPr>
        <p:txBody>
          <a:bodyPr rtlCol="0" anchor="ctr"/>
          <a:lstStyle/>
          <a:p>
            <a:pPr algn="ctr"/>
            <a:endParaRPr/>
          </a:p>
        </p:txBody>
      </p:sp>
      <p:sp>
        <p:nvSpPr>
          <p:cNvPr id="6" name="TextBox 5"/>
          <p:cNvSpPr txBox="1"/>
          <p:nvPr/>
        </p:nvSpPr>
        <p:spPr>
          <a:xfrm>
            <a:off x="1193800" y="2224980"/>
            <a:ext cx="9956800" cy="284460"/>
          </a:xfrm>
          <a:prstGeom prst="rect">
            <a:avLst/>
          </a:prstGeom>
          <a:noFill/>
        </p:spPr>
        <p:txBody>
          <a:bodyPr wrap="none" lIns="0" tIns="0" rIns="0" bIns="0" anchor="t">
            <a:noAutofit/>
          </a:bodyPr>
          <a:lstStyle/>
          <a:p>
            <a:pPr algn="l">
              <a:lnSpc>
                <a:spcPct val="116700"/>
              </a:lnSpc>
            </a:pPr>
            <a:r>
              <a:rPr sz="1600" b="1" u="none">
                <a:solidFill>
                  <a:srgbClr val="5B6472"/>
                </a:solidFill>
                <a:latin typeface="BIZ UDPGothic"/>
                <a:ea typeface="BIZ UDPGothic"/>
                <a:cs typeface="BIZ UDPGothic"/>
              </a:rPr>
              <a:t>第１章 総則　第４の１（３）より</a:t>
            </a:r>
          </a:p>
        </p:txBody>
      </p:sp>
      <p:sp>
        <p:nvSpPr>
          <p:cNvPr id="7" name="TextBox 6"/>
          <p:cNvSpPr txBox="1"/>
          <p:nvPr/>
        </p:nvSpPr>
        <p:spPr>
          <a:xfrm>
            <a:off x="1193800" y="2636441"/>
            <a:ext cx="9956800" cy="1485900"/>
          </a:xfrm>
          <a:prstGeom prst="rect">
            <a:avLst/>
          </a:prstGeom>
          <a:noFill/>
        </p:spPr>
        <p:txBody>
          <a:bodyPr wrap="square" lIns="0" tIns="0" rIns="0" bIns="0" anchor="t">
            <a:noAutofit/>
          </a:bodyPr>
          <a:lstStyle/>
          <a:p>
            <a:pPr algn="l">
              <a:lnSpc>
                <a:spcPct val="125000"/>
              </a:lnSpc>
            </a:pPr>
            <a:r>
              <a:rPr sz="2600" b="1" u="none">
                <a:solidFill>
                  <a:srgbClr val="1B2A4A"/>
                </a:solidFill>
                <a:latin typeface="BIZ UDPGothic"/>
                <a:ea typeface="BIZ UDPGothic"/>
                <a:cs typeface="BIZ UDPGothic"/>
              </a:rPr>
              <a:t>特別活動を要としつつ</a:t>
            </a:r>
            <a:br/>
            <a:r>
              <a:rPr sz="2600" b="1" u="none">
                <a:solidFill>
                  <a:srgbClr val="B85A00"/>
                </a:solidFill>
                <a:latin typeface="BIZ UDPGothic"/>
                <a:ea typeface="BIZ UDPGothic"/>
                <a:cs typeface="BIZ UDPGothic"/>
              </a:rPr>
              <a:t>各教科等の特質に応じて</a:t>
            </a:r>
            <a:r>
              <a:rPr sz="2600" b="1" u="none">
                <a:solidFill>
                  <a:srgbClr val="1B2A4A"/>
                </a:solidFill>
                <a:latin typeface="BIZ UDPGothic"/>
                <a:ea typeface="BIZ UDPGothic"/>
                <a:cs typeface="BIZ UDPGothic"/>
              </a:rPr>
              <a:t>、</a:t>
            </a:r>
            <a:br/>
            <a:r>
              <a:rPr sz="2600" b="1" u="none">
                <a:solidFill>
                  <a:srgbClr val="1B2A4A"/>
                </a:solidFill>
                <a:latin typeface="BIZ UDPGothic"/>
                <a:ea typeface="BIZ UDPGothic"/>
                <a:cs typeface="BIZ UDPGothic"/>
              </a:rPr>
              <a:t>キャリア教育の充実を図ること</a:t>
            </a:r>
          </a:p>
        </p:txBody>
      </p:sp>
      <p:sp>
        <p:nvSpPr>
          <p:cNvPr id="8" name="Rounded Rectangle 7"/>
          <p:cNvSpPr/>
          <p:nvPr/>
        </p:nvSpPr>
        <p:spPr>
          <a:xfrm>
            <a:off x="762000" y="465574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9" name="TextBox 8"/>
          <p:cNvSpPr txBox="1"/>
          <p:nvPr/>
        </p:nvSpPr>
        <p:spPr>
          <a:xfrm>
            <a:off x="1066800" y="4846241"/>
            <a:ext cx="10134600" cy="441920"/>
          </a:xfrm>
          <a:prstGeom prst="rect">
            <a:avLst/>
          </a:prstGeom>
          <a:noFill/>
        </p:spPr>
        <p:txBody>
          <a:bodyPr wrap="none" lIns="0" tIns="0" rIns="0" bIns="0" anchor="t">
            <a:noAutofit/>
          </a:bodyPr>
          <a:lstStyle/>
          <a:p>
            <a:pPr algn="l">
              <a:lnSpc>
                <a:spcPct val="120800"/>
              </a:lnSpc>
            </a:pPr>
            <a:r>
              <a:rPr sz="2400" b="1" u="none" dirty="0" err="1">
                <a:solidFill>
                  <a:srgbClr val="FFFFFF"/>
                </a:solidFill>
                <a:latin typeface="BIZ UDPGothic"/>
                <a:ea typeface="BIZ UDPGothic"/>
                <a:cs typeface="BIZ UDPGothic"/>
              </a:rPr>
              <a:t>体育でも、</a:t>
            </a:r>
            <a:r>
              <a:rPr sz="2400" b="1" u="none" dirty="0" err="1">
                <a:solidFill>
                  <a:srgbClr val="F5A25A"/>
                </a:solidFill>
                <a:latin typeface="BIZ UDPGothic"/>
                <a:ea typeface="BIZ UDPGothic"/>
                <a:cs typeface="BIZ UDPGothic"/>
              </a:rPr>
              <a:t>体育の特質に応じて</a:t>
            </a:r>
            <a:r>
              <a:rPr sz="2400" b="1" u="none" dirty="0" err="1">
                <a:solidFill>
                  <a:srgbClr val="FFFFFF"/>
                </a:solidFill>
                <a:latin typeface="BIZ UDPGothic"/>
                <a:ea typeface="BIZ UDPGothic"/>
                <a:cs typeface="BIZ UDPGothic"/>
              </a:rPr>
              <a:t>行う</a:t>
            </a:r>
            <a:endParaRPr sz="2400" b="1" u="none" dirty="0">
              <a:solidFill>
                <a:srgbClr val="FFFFFF"/>
              </a:solidFill>
              <a:latin typeface="BIZ UDPGothic"/>
              <a:ea typeface="BIZ UDPGothic"/>
              <a:cs typeface="BIZ UDPGothic"/>
            </a:endParaRPr>
          </a:p>
        </p:txBody>
      </p:sp>
      <p:sp>
        <p:nvSpPr>
          <p:cNvPr id="10" name="TextBox 9"/>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体育とキャリア教育、原文に同じ言葉</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TextBox 4"/>
          <p:cNvSpPr txBox="1"/>
          <p:nvPr/>
        </p:nvSpPr>
        <p:spPr>
          <a:xfrm>
            <a:off x="762000" y="1894780"/>
            <a:ext cx="5029200" cy="284460"/>
          </a:xfrm>
          <a:prstGeom prst="rect">
            <a:avLst/>
          </a:prstGeom>
          <a:noFill/>
        </p:spPr>
        <p:txBody>
          <a:bodyPr wrap="none" lIns="190500" tIns="0" rIns="190500" bIns="0" anchor="t">
            <a:noAutofit/>
          </a:bodyPr>
          <a:lstStyle/>
          <a:p>
            <a:pPr algn="l">
              <a:lnSpc>
                <a:spcPct val="116700"/>
              </a:lnSpc>
            </a:pPr>
            <a:r>
              <a:rPr sz="1600" b="1" u="none">
                <a:solidFill>
                  <a:srgbClr val="5B6472"/>
                </a:solidFill>
                <a:latin typeface="BIZ UDPGothic"/>
                <a:ea typeface="BIZ UDPGothic"/>
                <a:cs typeface="BIZ UDPGothic"/>
              </a:rPr>
              <a:t>体育（学習指導要領・解説）</a:t>
            </a:r>
          </a:p>
        </p:txBody>
      </p:sp>
      <p:sp>
        <p:nvSpPr>
          <p:cNvPr id="6" name="TextBox 5"/>
          <p:cNvSpPr txBox="1"/>
          <p:nvPr/>
        </p:nvSpPr>
        <p:spPr>
          <a:xfrm>
            <a:off x="5842000" y="1894780"/>
            <a:ext cx="584200" cy="284460"/>
          </a:xfrm>
          <a:prstGeom prst="rect">
            <a:avLst/>
          </a:prstGeom>
          <a:noFill/>
        </p:spPr>
        <p:txBody>
          <a:bodyPr wrap="none" lIns="0" tIns="0" rIns="0" bIns="0" anchor="t">
            <a:noAutofit/>
          </a:bodyPr>
          <a:lstStyle/>
          <a:p>
            <a:pPr algn="l">
              <a:lnSpc>
                <a:spcPct val="116700"/>
              </a:lnSpc>
            </a:pPr>
            <a:endParaRPr/>
          </a:p>
        </p:txBody>
      </p:sp>
      <p:sp>
        <p:nvSpPr>
          <p:cNvPr id="7" name="TextBox 6"/>
          <p:cNvSpPr txBox="1"/>
          <p:nvPr/>
        </p:nvSpPr>
        <p:spPr>
          <a:xfrm>
            <a:off x="6477000" y="1894780"/>
            <a:ext cx="5029200" cy="284460"/>
          </a:xfrm>
          <a:prstGeom prst="rect">
            <a:avLst/>
          </a:prstGeom>
          <a:noFill/>
        </p:spPr>
        <p:txBody>
          <a:bodyPr wrap="none" lIns="190500" tIns="0" rIns="190500" bIns="0" anchor="t">
            <a:noAutofit/>
          </a:bodyPr>
          <a:lstStyle/>
          <a:p>
            <a:pPr algn="l">
              <a:lnSpc>
                <a:spcPct val="116700"/>
              </a:lnSpc>
            </a:pPr>
            <a:r>
              <a:rPr sz="1600" b="1" u="none">
                <a:solidFill>
                  <a:srgbClr val="5B6472"/>
                </a:solidFill>
                <a:latin typeface="BIZ UDPGothic"/>
                <a:ea typeface="BIZ UDPGothic"/>
                <a:cs typeface="BIZ UDPGothic"/>
              </a:rPr>
              <a:t>キャリア教育（キャリア教育の手引き）</a:t>
            </a:r>
          </a:p>
        </p:txBody>
      </p:sp>
      <p:sp>
        <p:nvSpPr>
          <p:cNvPr id="8" name="Rounded Rectangle 7"/>
          <p:cNvSpPr/>
          <p:nvPr/>
        </p:nvSpPr>
        <p:spPr>
          <a:xfrm>
            <a:off x="762000" y="226814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生涯</a:t>
            </a:r>
            <a:r>
              <a:rPr sz="2100" b="1" u="none">
                <a:solidFill>
                  <a:srgbClr val="1B2A4A"/>
                </a:solidFill>
                <a:latin typeface="BIZ UDPGothic"/>
                <a:ea typeface="BIZ UDPGothic"/>
                <a:cs typeface="BIZ UDPGothic"/>
              </a:rPr>
              <a:t>にわたって…スポーツライフ</a:t>
            </a:r>
          </a:p>
        </p:txBody>
      </p:sp>
      <p:sp>
        <p:nvSpPr>
          <p:cNvPr id="9" name="TextBox 8"/>
          <p:cNvSpPr txBox="1"/>
          <p:nvPr/>
        </p:nvSpPr>
        <p:spPr>
          <a:xfrm>
            <a:off x="5803900" y="232529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0" name="Rounded Rectangle 9"/>
          <p:cNvSpPr/>
          <p:nvPr/>
        </p:nvSpPr>
        <p:spPr>
          <a:xfrm>
            <a:off x="6477000" y="226814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生涯</a:t>
            </a:r>
            <a:r>
              <a:rPr sz="2100" b="1" u="none">
                <a:solidFill>
                  <a:srgbClr val="1B2A4A"/>
                </a:solidFill>
                <a:latin typeface="BIZ UDPGothic"/>
                <a:ea typeface="BIZ UDPGothic"/>
                <a:cs typeface="BIZ UDPGothic"/>
              </a:rPr>
              <a:t>の中で様々な役割を果たす</a:t>
            </a:r>
          </a:p>
        </p:txBody>
      </p:sp>
      <p:sp>
        <p:nvSpPr>
          <p:cNvPr id="11" name="Rounded Rectangle 10"/>
          <p:cNvSpPr/>
          <p:nvPr/>
        </p:nvSpPr>
        <p:spPr>
          <a:xfrm>
            <a:off x="762000" y="293360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の適性等に応じた関わり方</a:t>
            </a:r>
          </a:p>
        </p:txBody>
      </p:sp>
      <p:sp>
        <p:nvSpPr>
          <p:cNvPr id="12" name="TextBox 11"/>
          <p:cNvSpPr txBox="1"/>
          <p:nvPr/>
        </p:nvSpPr>
        <p:spPr>
          <a:xfrm>
            <a:off x="5803900" y="299075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3" name="Rounded Rectangle 12"/>
          <p:cNvSpPr/>
          <p:nvPr/>
        </p:nvSpPr>
        <p:spPr>
          <a:xfrm>
            <a:off x="6477000" y="293360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理解・</a:t>
            </a: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管理能力</a:t>
            </a:r>
          </a:p>
        </p:txBody>
      </p:sp>
      <p:sp>
        <p:nvSpPr>
          <p:cNvPr id="14" name="Rounded Rectangle 13"/>
          <p:cNvSpPr/>
          <p:nvPr/>
        </p:nvSpPr>
        <p:spPr>
          <a:xfrm>
            <a:off x="762000" y="359906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課題</a:t>
            </a:r>
            <a:r>
              <a:rPr sz="2100" b="1" u="none">
                <a:solidFill>
                  <a:srgbClr val="1B2A4A"/>
                </a:solidFill>
                <a:latin typeface="BIZ UDPGothic"/>
                <a:ea typeface="BIZ UDPGothic"/>
                <a:cs typeface="BIZ UDPGothic"/>
              </a:rPr>
              <a:t>を見付け、その解決に向けた</a:t>
            </a:r>
          </a:p>
        </p:txBody>
      </p:sp>
      <p:sp>
        <p:nvSpPr>
          <p:cNvPr id="15" name="TextBox 14"/>
          <p:cNvSpPr txBox="1"/>
          <p:nvPr/>
        </p:nvSpPr>
        <p:spPr>
          <a:xfrm>
            <a:off x="5803900" y="365621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6" name="Rounded Rectangle 15"/>
          <p:cNvSpPr/>
          <p:nvPr/>
        </p:nvSpPr>
        <p:spPr>
          <a:xfrm>
            <a:off x="6477000" y="359906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課題</a:t>
            </a:r>
            <a:r>
              <a:rPr sz="2100" b="1" u="none">
                <a:solidFill>
                  <a:srgbClr val="1B2A4A"/>
                </a:solidFill>
                <a:latin typeface="BIZ UDPGothic"/>
                <a:ea typeface="BIZ UDPGothic"/>
                <a:cs typeface="BIZ UDPGothic"/>
              </a:rPr>
              <a:t>対応能力</a:t>
            </a:r>
          </a:p>
        </p:txBody>
      </p:sp>
      <p:sp>
        <p:nvSpPr>
          <p:cNvPr id="17" name="Rounded Rectangle 16"/>
          <p:cNvSpPr/>
          <p:nvPr/>
        </p:nvSpPr>
        <p:spPr>
          <a:xfrm>
            <a:off x="762000" y="426452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1B2A4A"/>
                </a:solidFill>
                <a:latin typeface="BIZ UDPGothic"/>
                <a:ea typeface="BIZ UDPGothic"/>
                <a:cs typeface="BIZ UDPGothic"/>
              </a:rPr>
              <a:t>考えたことを</a:t>
            </a:r>
            <a:r>
              <a:rPr sz="2100" b="1" u="none">
                <a:solidFill>
                  <a:srgbClr val="B85A00"/>
                </a:solidFill>
                <a:latin typeface="BIZ UDPGothic"/>
                <a:ea typeface="BIZ UDPGothic"/>
                <a:cs typeface="BIZ UDPGothic"/>
              </a:rPr>
              <a:t>他者</a:t>
            </a:r>
            <a:r>
              <a:rPr sz="2100" b="1" u="none">
                <a:solidFill>
                  <a:srgbClr val="1B2A4A"/>
                </a:solidFill>
                <a:latin typeface="BIZ UDPGothic"/>
                <a:ea typeface="BIZ UDPGothic"/>
                <a:cs typeface="BIZ UDPGothic"/>
              </a:rPr>
              <a:t>に伝える</a:t>
            </a:r>
          </a:p>
        </p:txBody>
      </p:sp>
      <p:sp>
        <p:nvSpPr>
          <p:cNvPr id="18" name="TextBox 17"/>
          <p:cNvSpPr txBox="1"/>
          <p:nvPr/>
        </p:nvSpPr>
        <p:spPr>
          <a:xfrm>
            <a:off x="5803900" y="432167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9" name="Rounded Rectangle 18"/>
          <p:cNvSpPr/>
          <p:nvPr/>
        </p:nvSpPr>
        <p:spPr>
          <a:xfrm>
            <a:off x="6477000" y="426452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人間関係</a:t>
            </a:r>
            <a:r>
              <a:rPr sz="2100" b="1" u="none">
                <a:solidFill>
                  <a:srgbClr val="1B2A4A"/>
                </a:solidFill>
                <a:latin typeface="BIZ UDPGothic"/>
                <a:ea typeface="BIZ UDPGothic"/>
                <a:cs typeface="BIZ UDPGothic"/>
              </a:rPr>
              <a:t>形成・社会形成能力</a:t>
            </a:r>
          </a:p>
        </p:txBody>
      </p:sp>
      <p:sp>
        <p:nvSpPr>
          <p:cNvPr id="20" name="Rounded Rectangle 19"/>
          <p:cNvSpPr/>
          <p:nvPr/>
        </p:nvSpPr>
        <p:spPr>
          <a:xfrm>
            <a:off x="762000" y="504428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21" name="TextBox 20"/>
          <p:cNvSpPr txBox="1"/>
          <p:nvPr/>
        </p:nvSpPr>
        <p:spPr>
          <a:xfrm>
            <a:off x="1066800" y="520938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体育の目標に、</a:t>
            </a:r>
            <a:r>
              <a:rPr sz="2300" b="1" u="none">
                <a:solidFill>
                  <a:srgbClr val="F5A25A"/>
                </a:solidFill>
                <a:latin typeface="BIZ UDPGothic"/>
                <a:ea typeface="BIZ UDPGothic"/>
                <a:cs typeface="BIZ UDPGothic"/>
              </a:rPr>
              <a:t>キャリア教育と同じ言葉</a:t>
            </a:r>
            <a:r>
              <a:rPr sz="2300" b="1" u="none">
                <a:solidFill>
                  <a:srgbClr val="FFFFFF"/>
                </a:solidFill>
                <a:latin typeface="BIZ UDPGothic"/>
                <a:ea typeface="BIZ UDPGothic"/>
                <a:cs typeface="BIZ UDPGothic"/>
              </a:rPr>
              <a:t>が使われている</a:t>
            </a:r>
          </a:p>
        </p:txBody>
      </p:sp>
      <p:sp>
        <p:nvSpPr>
          <p:cNvPr id="22" name="TextBox 21"/>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出典：小学校学習指導要領（平成29年告示）体育、小学校キャリア教育の手引き（令和４年３月）</a:t>
            </a:r>
          </a:p>
        </p:txBody>
      </p:sp>
      <p:sp>
        <p:nvSpPr>
          <p:cNvPr id="23" name="TextBox 2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低学年の目標が、本時の手だてに</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45580"/>
            <a:ext cx="3429000" cy="2677120"/>
          </a:xfrm>
          <a:prstGeom prst="roundRect">
            <a:avLst>
              <a:gd name="adj" fmla="val 6641"/>
            </a:avLst>
          </a:prstGeom>
          <a:solidFill>
            <a:srgbClr val="EEF2F8"/>
          </a:solidFill>
          <a:ln>
            <a:noFill/>
          </a:ln>
          <a:effectLst/>
        </p:spPr>
        <p:txBody>
          <a:bodyPr rtlCol="0" anchor="ctr"/>
          <a:lstStyle/>
          <a:p>
            <a:pPr algn="ctr"/>
            <a:endParaRPr/>
          </a:p>
        </p:txBody>
      </p:sp>
      <p:sp>
        <p:nvSpPr>
          <p:cNvPr id="6" name="TextBox 5"/>
          <p:cNvSpPr txBox="1"/>
          <p:nvPr/>
        </p:nvSpPr>
        <p:spPr>
          <a:xfrm>
            <a:off x="977900" y="2161480"/>
            <a:ext cx="30734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1</a:t>
            </a:r>
          </a:p>
        </p:txBody>
      </p:sp>
      <p:sp>
        <p:nvSpPr>
          <p:cNvPr id="7" name="TextBox 6"/>
          <p:cNvSpPr txBox="1"/>
          <p:nvPr/>
        </p:nvSpPr>
        <p:spPr>
          <a:xfrm>
            <a:off x="977900" y="2732980"/>
            <a:ext cx="30734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「行い方を</a:t>
            </a:r>
            <a:br/>
            <a:r>
              <a:rPr sz="2400" b="1" u="none">
                <a:solidFill>
                  <a:srgbClr val="1B2A4A"/>
                </a:solidFill>
                <a:latin typeface="BIZ UDPGothic"/>
                <a:ea typeface="BIZ UDPGothic"/>
                <a:cs typeface="BIZ UDPGothic"/>
              </a:rPr>
              <a:t>工夫する」</a:t>
            </a:r>
          </a:p>
        </p:txBody>
      </p:sp>
      <p:sp>
        <p:nvSpPr>
          <p:cNvPr id="8" name="TextBox 7"/>
          <p:cNvSpPr txBox="1"/>
          <p:nvPr/>
        </p:nvSpPr>
        <p:spPr>
          <a:xfrm>
            <a:off x="977900" y="3670201"/>
            <a:ext cx="3073400" cy="736600"/>
          </a:xfrm>
          <a:prstGeom prst="rect">
            <a:avLst/>
          </a:prstGeom>
          <a:noFill/>
        </p:spPr>
        <p:txBody>
          <a:bodyPr wrap="square" lIns="0" tIns="0" rIns="0" bIns="0" anchor="t">
            <a:noAutofit/>
          </a:bodyPr>
          <a:lstStyle/>
          <a:p>
            <a:pPr algn="l">
              <a:lnSpc>
                <a:spcPct val="120800"/>
              </a:lnSpc>
            </a:pPr>
            <a:r>
              <a:rPr sz="2000" b="1" u="none">
                <a:solidFill>
                  <a:srgbClr val="B85A00"/>
                </a:solidFill>
                <a:latin typeface="BIZ UDPGothic"/>
                <a:ea typeface="BIZ UDPGothic"/>
                <a:cs typeface="BIZ UDPGothic"/>
              </a:rPr>
              <a:t>本時：</a:t>
            </a:r>
            <a:br/>
            <a:r>
              <a:rPr sz="2000" b="1" u="none">
                <a:solidFill>
                  <a:srgbClr val="B85A00"/>
                </a:solidFill>
                <a:latin typeface="BIZ UDPGothic"/>
                <a:ea typeface="BIZ UDPGothic"/>
                <a:cs typeface="BIZ UDPGothic"/>
              </a:rPr>
              <a:t>用具と場を選ぶ</a:t>
            </a:r>
          </a:p>
        </p:txBody>
      </p:sp>
      <p:sp>
        <p:nvSpPr>
          <p:cNvPr id="9" name="Rounded Rectangle 8"/>
          <p:cNvSpPr/>
          <p:nvPr/>
        </p:nvSpPr>
        <p:spPr>
          <a:xfrm>
            <a:off x="4381500" y="1945580"/>
            <a:ext cx="3429000" cy="2677120"/>
          </a:xfrm>
          <a:prstGeom prst="roundRect">
            <a:avLst>
              <a:gd name="adj" fmla="val 6641"/>
            </a:avLst>
          </a:prstGeom>
          <a:solidFill>
            <a:srgbClr val="EEF2F8"/>
          </a:solidFill>
          <a:ln>
            <a:noFill/>
          </a:ln>
          <a:effectLst/>
        </p:spPr>
        <p:txBody>
          <a:bodyPr rtlCol="0" anchor="ctr"/>
          <a:lstStyle/>
          <a:p>
            <a:pPr algn="ctr"/>
            <a:endParaRPr/>
          </a:p>
        </p:txBody>
      </p:sp>
      <p:sp>
        <p:nvSpPr>
          <p:cNvPr id="10" name="TextBox 9"/>
          <p:cNvSpPr txBox="1"/>
          <p:nvPr/>
        </p:nvSpPr>
        <p:spPr>
          <a:xfrm>
            <a:off x="4597400" y="2161480"/>
            <a:ext cx="30734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2</a:t>
            </a:r>
          </a:p>
        </p:txBody>
      </p:sp>
      <p:sp>
        <p:nvSpPr>
          <p:cNvPr id="11" name="TextBox 10"/>
          <p:cNvSpPr txBox="1"/>
          <p:nvPr/>
        </p:nvSpPr>
        <p:spPr>
          <a:xfrm>
            <a:off x="4597400" y="2732980"/>
            <a:ext cx="30734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「進んで</a:t>
            </a:r>
            <a:br/>
            <a:r>
              <a:rPr sz="2400" b="1" u="none">
                <a:solidFill>
                  <a:srgbClr val="1B2A4A"/>
                </a:solidFill>
                <a:latin typeface="BIZ UDPGothic"/>
                <a:ea typeface="BIZ UDPGothic"/>
                <a:cs typeface="BIZ UDPGothic"/>
              </a:rPr>
              <a:t>取り組み」</a:t>
            </a:r>
          </a:p>
        </p:txBody>
      </p:sp>
      <p:sp>
        <p:nvSpPr>
          <p:cNvPr id="12" name="TextBox 11"/>
          <p:cNvSpPr txBox="1"/>
          <p:nvPr/>
        </p:nvSpPr>
        <p:spPr>
          <a:xfrm>
            <a:off x="4597400" y="3670201"/>
            <a:ext cx="3073400" cy="736600"/>
          </a:xfrm>
          <a:prstGeom prst="rect">
            <a:avLst/>
          </a:prstGeom>
          <a:noFill/>
        </p:spPr>
        <p:txBody>
          <a:bodyPr wrap="square" lIns="0" tIns="0" rIns="0" bIns="0" anchor="t">
            <a:noAutofit/>
          </a:bodyPr>
          <a:lstStyle/>
          <a:p>
            <a:pPr algn="l">
              <a:lnSpc>
                <a:spcPct val="120800"/>
              </a:lnSpc>
            </a:pPr>
            <a:r>
              <a:rPr sz="2000" b="1" u="none">
                <a:solidFill>
                  <a:srgbClr val="B85A00"/>
                </a:solidFill>
                <a:latin typeface="BIZ UDPGothic"/>
                <a:ea typeface="BIZ UDPGothic"/>
                <a:cs typeface="BIZ UDPGothic"/>
              </a:rPr>
              <a:t>本時：</a:t>
            </a:r>
            <a:br/>
            <a:r>
              <a:rPr sz="2000" b="1" u="none">
                <a:solidFill>
                  <a:srgbClr val="B85A00"/>
                </a:solidFill>
                <a:latin typeface="BIZ UDPGothic"/>
                <a:ea typeface="BIZ UDPGothic"/>
                <a:cs typeface="BIZ UDPGothic"/>
              </a:rPr>
              <a:t>「〇〇できるかな？」</a:t>
            </a:r>
          </a:p>
        </p:txBody>
      </p:sp>
      <p:sp>
        <p:nvSpPr>
          <p:cNvPr id="13" name="Rounded Rectangle 12"/>
          <p:cNvSpPr/>
          <p:nvPr/>
        </p:nvSpPr>
        <p:spPr>
          <a:xfrm>
            <a:off x="8001000" y="1945580"/>
            <a:ext cx="3429000" cy="2677120"/>
          </a:xfrm>
          <a:prstGeom prst="roundRect">
            <a:avLst>
              <a:gd name="adj" fmla="val 6641"/>
            </a:avLst>
          </a:prstGeom>
          <a:solidFill>
            <a:srgbClr val="EEF2F8"/>
          </a:solidFill>
          <a:ln>
            <a:noFill/>
          </a:ln>
          <a:effectLst/>
        </p:spPr>
        <p:txBody>
          <a:bodyPr rtlCol="0" anchor="ctr"/>
          <a:lstStyle/>
          <a:p>
            <a:pPr algn="ctr"/>
            <a:endParaRPr/>
          </a:p>
        </p:txBody>
      </p:sp>
      <p:sp>
        <p:nvSpPr>
          <p:cNvPr id="14" name="TextBox 13"/>
          <p:cNvSpPr txBox="1"/>
          <p:nvPr/>
        </p:nvSpPr>
        <p:spPr>
          <a:xfrm>
            <a:off x="8216900" y="2161480"/>
            <a:ext cx="30734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3</a:t>
            </a:r>
          </a:p>
        </p:txBody>
      </p:sp>
      <p:sp>
        <p:nvSpPr>
          <p:cNvPr id="15" name="TextBox 14"/>
          <p:cNvSpPr txBox="1"/>
          <p:nvPr/>
        </p:nvSpPr>
        <p:spPr>
          <a:xfrm>
            <a:off x="8216900" y="2732980"/>
            <a:ext cx="30734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「考えたことを</a:t>
            </a:r>
            <a:br/>
            <a:r>
              <a:rPr sz="2400" b="1" u="none">
                <a:solidFill>
                  <a:srgbClr val="1B2A4A"/>
                </a:solidFill>
                <a:latin typeface="BIZ UDPGothic"/>
                <a:ea typeface="BIZ UDPGothic"/>
                <a:cs typeface="BIZ UDPGothic"/>
              </a:rPr>
              <a:t>他者に伝える」</a:t>
            </a:r>
          </a:p>
        </p:txBody>
      </p:sp>
      <p:sp>
        <p:nvSpPr>
          <p:cNvPr id="16" name="TextBox 15"/>
          <p:cNvSpPr txBox="1"/>
          <p:nvPr/>
        </p:nvSpPr>
        <p:spPr>
          <a:xfrm>
            <a:off x="8216900" y="3670201"/>
            <a:ext cx="3073400" cy="736600"/>
          </a:xfrm>
          <a:prstGeom prst="rect">
            <a:avLst/>
          </a:prstGeom>
          <a:noFill/>
        </p:spPr>
        <p:txBody>
          <a:bodyPr wrap="square" lIns="0" tIns="0" rIns="0" bIns="0" anchor="t">
            <a:noAutofit/>
          </a:bodyPr>
          <a:lstStyle/>
          <a:p>
            <a:pPr algn="l">
              <a:lnSpc>
                <a:spcPct val="120800"/>
              </a:lnSpc>
            </a:pPr>
            <a:r>
              <a:rPr sz="2000" b="1" u="none">
                <a:solidFill>
                  <a:srgbClr val="B85A00"/>
                </a:solidFill>
                <a:latin typeface="BIZ UDPGothic"/>
                <a:ea typeface="BIZ UDPGothic"/>
                <a:cs typeface="BIZ UDPGothic"/>
              </a:rPr>
              <a:t>本時：</a:t>
            </a:r>
            <a:br/>
            <a:r>
              <a:rPr sz="2000" b="1" u="none">
                <a:solidFill>
                  <a:srgbClr val="B85A00"/>
                </a:solidFill>
                <a:latin typeface="BIZ UDPGothic"/>
                <a:ea typeface="BIZ UDPGothic"/>
                <a:cs typeface="BIZ UDPGothic"/>
              </a:rPr>
              <a:t>見る人・投げる人のペア</a:t>
            </a:r>
          </a:p>
        </p:txBody>
      </p:sp>
      <p:sp>
        <p:nvSpPr>
          <p:cNvPr id="17" name="Rounded Rectangle 16"/>
          <p:cNvSpPr/>
          <p:nvPr/>
        </p:nvSpPr>
        <p:spPr>
          <a:xfrm>
            <a:off x="762000" y="487670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18" name="TextBox 17"/>
          <p:cNvSpPr txBox="1"/>
          <p:nvPr/>
        </p:nvSpPr>
        <p:spPr>
          <a:xfrm>
            <a:off x="1066800" y="504180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目標どおりの手だてが、</a:t>
            </a:r>
            <a:r>
              <a:rPr sz="2300" b="1" u="none">
                <a:solidFill>
                  <a:srgbClr val="F5A25A"/>
                </a:solidFill>
                <a:latin typeface="BIZ UDPGothic"/>
                <a:ea typeface="BIZ UDPGothic"/>
                <a:cs typeface="BIZ UDPGothic"/>
              </a:rPr>
              <a:t>そのままキャリア教育の場面</a:t>
            </a:r>
            <a:r>
              <a:rPr sz="2300" b="1" u="none">
                <a:solidFill>
                  <a:srgbClr val="FFFFFF"/>
                </a:solidFill>
                <a:latin typeface="BIZ UDPGothic"/>
                <a:ea typeface="BIZ UDPGothic"/>
                <a:cs typeface="BIZ UDPGothic"/>
              </a:rPr>
              <a:t>に</a:t>
            </a:r>
          </a:p>
        </p:txBody>
      </p:sp>
      <p:sp>
        <p:nvSpPr>
          <p:cNvPr id="19" name="TextBox 18"/>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出典：小学校学習指導要領（平成29年告示）体育</a:t>
            </a: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１年生から６年生へ、つながる力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961580"/>
            <a:ext cx="3471366" cy="2159000"/>
          </a:xfrm>
          <a:prstGeom prst="roundRect">
            <a:avLst>
              <a:gd name="adj" fmla="val 8235"/>
            </a:avLst>
          </a:prstGeom>
          <a:solidFill>
            <a:srgbClr val="FFF3E6"/>
          </a:solidFill>
          <a:ln w="25400">
            <a:solidFill>
              <a:srgbClr val="E8730C"/>
            </a:solidFill>
          </a:ln>
          <a:effectLst/>
        </p:spPr>
        <p:txBody>
          <a:bodyPr rtlCol="0" anchor="ctr"/>
          <a:lstStyle/>
          <a:p>
            <a:pPr algn="ctr"/>
            <a:endParaRPr/>
          </a:p>
        </p:txBody>
      </p:sp>
      <p:sp>
        <p:nvSpPr>
          <p:cNvPr id="6" name="Rounded Rectangle 5"/>
          <p:cNvSpPr/>
          <p:nvPr/>
        </p:nvSpPr>
        <p:spPr>
          <a:xfrm>
            <a:off x="990600" y="3190180"/>
            <a:ext cx="3014166" cy="457200"/>
          </a:xfrm>
          <a:prstGeom prst="roundRect">
            <a:avLst>
              <a:gd name="adj" fmla="val 50000"/>
            </a:avLst>
          </a:prstGeom>
          <a:solidFill>
            <a:srgbClr val="E8730C"/>
          </a:solidFill>
          <a:ln>
            <a:noFill/>
          </a:ln>
          <a:effectLst/>
        </p:spPr>
        <p:txBody>
          <a:bodyPr wrap="none" lIns="0" tIns="50800" rIns="0" bIns="50800" rtlCol="0" anchor="ctr">
            <a:noAutofit/>
          </a:bodyPr>
          <a:lstStyle/>
          <a:p>
            <a:pPr algn="ctr">
              <a:lnSpc>
                <a:spcPct val="116700"/>
              </a:lnSpc>
            </a:pPr>
            <a:r>
              <a:rPr sz="2000" b="1" u="none" dirty="0" err="1">
                <a:solidFill>
                  <a:srgbClr val="FFFFFF"/>
                </a:solidFill>
                <a:latin typeface="BIZ UDPGothic"/>
                <a:ea typeface="BIZ UDPGothic"/>
                <a:cs typeface="BIZ UDPGothic"/>
              </a:rPr>
              <a:t>低学年</a:t>
            </a:r>
            <a:endParaRPr sz="2000" b="1" u="none" dirty="0">
              <a:solidFill>
                <a:srgbClr val="FFFFFF"/>
              </a:solidFill>
              <a:latin typeface="BIZ UDPGothic"/>
              <a:ea typeface="BIZ UDPGothic"/>
              <a:cs typeface="BIZ UDPGothic"/>
            </a:endParaRPr>
          </a:p>
        </p:txBody>
      </p:sp>
      <p:sp>
        <p:nvSpPr>
          <p:cNvPr id="7" name="TextBox 6"/>
          <p:cNvSpPr txBox="1"/>
          <p:nvPr/>
        </p:nvSpPr>
        <p:spPr>
          <a:xfrm>
            <a:off x="990600" y="3799780"/>
            <a:ext cx="3090366" cy="810220"/>
          </a:xfrm>
          <a:prstGeom prst="rect">
            <a:avLst/>
          </a:prstGeom>
          <a:noFill/>
        </p:spPr>
        <p:txBody>
          <a:bodyPr wrap="square" lIns="0" tIns="0" rIns="0" bIns="0" anchor="t">
            <a:noAutofit/>
          </a:bodyPr>
          <a:lstStyle/>
          <a:p>
            <a:pPr algn="l">
              <a:lnSpc>
                <a:spcPct val="120800"/>
              </a:lnSpc>
            </a:pPr>
            <a:r>
              <a:rPr sz="2200" b="1" u="none">
                <a:solidFill>
                  <a:srgbClr val="1B2A4A"/>
                </a:solidFill>
                <a:latin typeface="BIZ UDPGothic"/>
                <a:ea typeface="BIZ UDPGothic"/>
                <a:cs typeface="BIZ UDPGothic"/>
              </a:rPr>
              <a:t>「すき」を見付け、</a:t>
            </a:r>
            <a:br/>
            <a:r>
              <a:rPr sz="2200" b="1" u="none">
                <a:solidFill>
                  <a:srgbClr val="1B2A4A"/>
                </a:solidFill>
                <a:latin typeface="BIZ UDPGothic"/>
                <a:ea typeface="BIZ UDPGothic"/>
                <a:cs typeface="BIZ UDPGothic"/>
              </a:rPr>
              <a:t>やってみる</a:t>
            </a:r>
          </a:p>
        </p:txBody>
      </p:sp>
      <p:sp>
        <p:nvSpPr>
          <p:cNvPr id="8" name="Rounded Rectangle 7"/>
          <p:cNvSpPr/>
          <p:nvPr/>
        </p:nvSpPr>
        <p:spPr>
          <a:xfrm>
            <a:off x="4411166" y="2453580"/>
            <a:ext cx="3420566" cy="2667000"/>
          </a:xfrm>
          <a:prstGeom prst="roundRect">
            <a:avLst>
              <a:gd name="adj" fmla="val 6666"/>
            </a:avLst>
          </a:prstGeom>
          <a:solidFill>
            <a:srgbClr val="EEF2F8"/>
          </a:solidFill>
          <a:ln>
            <a:noFill/>
          </a:ln>
          <a:effectLst/>
        </p:spPr>
        <p:txBody>
          <a:bodyPr rtlCol="0" anchor="ctr"/>
          <a:lstStyle/>
          <a:p>
            <a:pPr algn="ctr"/>
            <a:endParaRPr/>
          </a:p>
        </p:txBody>
      </p:sp>
      <p:sp>
        <p:nvSpPr>
          <p:cNvPr id="9" name="Rounded Rectangle 8"/>
          <p:cNvSpPr/>
          <p:nvPr/>
        </p:nvSpPr>
        <p:spPr>
          <a:xfrm>
            <a:off x="4614366" y="2656780"/>
            <a:ext cx="3014166" cy="457200"/>
          </a:xfrm>
          <a:prstGeom prst="roundRect">
            <a:avLst>
              <a:gd name="adj" fmla="val 50000"/>
            </a:avLst>
          </a:prstGeom>
          <a:solidFill>
            <a:srgbClr val="4A6A9A"/>
          </a:solidFill>
          <a:ln>
            <a:noFill/>
          </a:ln>
          <a:effectLst/>
        </p:spPr>
        <p:txBody>
          <a:bodyPr wrap="none" lIns="0" tIns="50800" rIns="0" bIns="50800" rtlCol="0" anchor="ctr">
            <a:noAutofit/>
          </a:bodyPr>
          <a:lstStyle/>
          <a:p>
            <a:pPr algn="ctr">
              <a:lnSpc>
                <a:spcPct val="116700"/>
              </a:lnSpc>
            </a:pPr>
            <a:r>
              <a:rPr sz="2000" b="1" u="none">
                <a:solidFill>
                  <a:srgbClr val="FFFFFF"/>
                </a:solidFill>
                <a:latin typeface="BIZ UDPGothic"/>
                <a:ea typeface="BIZ UDPGothic"/>
                <a:cs typeface="BIZ UDPGothic"/>
              </a:rPr>
              <a:t>中学年</a:t>
            </a:r>
          </a:p>
        </p:txBody>
      </p:sp>
      <p:sp>
        <p:nvSpPr>
          <p:cNvPr id="10" name="TextBox 9"/>
          <p:cNvSpPr txBox="1"/>
          <p:nvPr/>
        </p:nvSpPr>
        <p:spPr>
          <a:xfrm>
            <a:off x="4614366" y="3266380"/>
            <a:ext cx="3090366" cy="810220"/>
          </a:xfrm>
          <a:prstGeom prst="rect">
            <a:avLst/>
          </a:prstGeom>
          <a:noFill/>
        </p:spPr>
        <p:txBody>
          <a:bodyPr wrap="square" lIns="0" tIns="0" rIns="0" bIns="0" anchor="t">
            <a:noAutofit/>
          </a:bodyPr>
          <a:lstStyle/>
          <a:p>
            <a:pPr algn="l">
              <a:lnSpc>
                <a:spcPct val="120800"/>
              </a:lnSpc>
            </a:pPr>
            <a:r>
              <a:rPr sz="2200" b="1" u="none">
                <a:solidFill>
                  <a:srgbClr val="1B2A4A"/>
                </a:solidFill>
                <a:latin typeface="BIZ UDPGothic"/>
                <a:ea typeface="BIZ UDPGothic"/>
                <a:cs typeface="BIZ UDPGothic"/>
              </a:rPr>
              <a:t>友達と見合い、</a:t>
            </a:r>
            <a:br/>
            <a:r>
              <a:rPr sz="2200" b="1" u="none">
                <a:solidFill>
                  <a:srgbClr val="1B2A4A"/>
                </a:solidFill>
                <a:latin typeface="BIZ UDPGothic"/>
                <a:ea typeface="BIZ UDPGothic"/>
                <a:cs typeface="BIZ UDPGothic"/>
              </a:rPr>
              <a:t>伝え合う</a:t>
            </a:r>
          </a:p>
        </p:txBody>
      </p:sp>
      <p:sp>
        <p:nvSpPr>
          <p:cNvPr id="11" name="Rounded Rectangle 10"/>
          <p:cNvSpPr/>
          <p:nvPr/>
        </p:nvSpPr>
        <p:spPr>
          <a:xfrm>
            <a:off x="8009533" y="1945580"/>
            <a:ext cx="3420566" cy="3175000"/>
          </a:xfrm>
          <a:prstGeom prst="roundRect">
            <a:avLst>
              <a:gd name="adj" fmla="val 5600"/>
            </a:avLst>
          </a:prstGeom>
          <a:solidFill>
            <a:srgbClr val="EEF2F8"/>
          </a:solidFill>
          <a:ln>
            <a:noFill/>
          </a:ln>
          <a:effectLst/>
        </p:spPr>
        <p:txBody>
          <a:bodyPr rtlCol="0" anchor="ctr"/>
          <a:lstStyle/>
          <a:p>
            <a:pPr algn="ctr"/>
            <a:endParaRPr/>
          </a:p>
        </p:txBody>
      </p:sp>
      <p:sp>
        <p:nvSpPr>
          <p:cNvPr id="12" name="Rounded Rectangle 11"/>
          <p:cNvSpPr/>
          <p:nvPr/>
        </p:nvSpPr>
        <p:spPr>
          <a:xfrm>
            <a:off x="8212733" y="2148780"/>
            <a:ext cx="3014166" cy="457200"/>
          </a:xfrm>
          <a:prstGeom prst="roundRect">
            <a:avLst>
              <a:gd name="adj" fmla="val 50000"/>
            </a:avLst>
          </a:prstGeom>
          <a:solidFill>
            <a:srgbClr val="1B2A4A"/>
          </a:solidFill>
          <a:ln>
            <a:noFill/>
          </a:ln>
          <a:effectLst/>
        </p:spPr>
        <p:txBody>
          <a:bodyPr wrap="none" lIns="0" tIns="50800" rIns="0" bIns="50800" rtlCol="0" anchor="ctr">
            <a:noAutofit/>
          </a:bodyPr>
          <a:lstStyle/>
          <a:p>
            <a:pPr algn="ctr">
              <a:lnSpc>
                <a:spcPct val="116700"/>
              </a:lnSpc>
            </a:pPr>
            <a:r>
              <a:rPr sz="2000" b="1" u="none" dirty="0" err="1">
                <a:solidFill>
                  <a:srgbClr val="FFFFFF"/>
                </a:solidFill>
                <a:latin typeface="BIZ UDPGothic"/>
                <a:ea typeface="BIZ UDPGothic"/>
                <a:cs typeface="BIZ UDPGothic"/>
              </a:rPr>
              <a:t>高学年</a:t>
            </a:r>
            <a:endParaRPr sz="2000" b="1" u="none" dirty="0">
              <a:solidFill>
                <a:srgbClr val="FFFFFF"/>
              </a:solidFill>
              <a:latin typeface="BIZ UDPGothic"/>
              <a:ea typeface="BIZ UDPGothic"/>
              <a:cs typeface="BIZ UDPGothic"/>
            </a:endParaRPr>
          </a:p>
        </p:txBody>
      </p:sp>
      <p:sp>
        <p:nvSpPr>
          <p:cNvPr id="13" name="TextBox 12"/>
          <p:cNvSpPr txBox="1"/>
          <p:nvPr/>
        </p:nvSpPr>
        <p:spPr>
          <a:xfrm>
            <a:off x="8212733" y="2758380"/>
            <a:ext cx="3090366" cy="1215330"/>
          </a:xfrm>
          <a:prstGeom prst="rect">
            <a:avLst/>
          </a:prstGeom>
          <a:noFill/>
        </p:spPr>
        <p:txBody>
          <a:bodyPr wrap="square" lIns="0" tIns="0" rIns="0" bIns="0" anchor="t">
            <a:noAutofit/>
          </a:bodyPr>
          <a:lstStyle/>
          <a:p>
            <a:pPr algn="l">
              <a:lnSpc>
                <a:spcPct val="120800"/>
              </a:lnSpc>
            </a:pPr>
            <a:r>
              <a:rPr sz="2200" b="1" u="none">
                <a:solidFill>
                  <a:srgbClr val="1B2A4A"/>
                </a:solidFill>
                <a:latin typeface="BIZ UDPGothic"/>
                <a:ea typeface="BIZ UDPGothic"/>
                <a:cs typeface="BIZ UDPGothic"/>
              </a:rPr>
              <a:t>自分に合った</a:t>
            </a:r>
            <a:br/>
            <a:r>
              <a:rPr sz="2200" b="1" u="none">
                <a:solidFill>
                  <a:srgbClr val="1B2A4A"/>
                </a:solidFill>
                <a:latin typeface="BIZ UDPGothic"/>
                <a:ea typeface="BIZ UDPGothic"/>
                <a:cs typeface="BIZ UDPGothic"/>
              </a:rPr>
              <a:t>役割を選び、</a:t>
            </a:r>
            <a:br/>
            <a:r>
              <a:rPr sz="2200" b="1" u="none">
                <a:solidFill>
                  <a:srgbClr val="1B2A4A"/>
                </a:solidFill>
                <a:latin typeface="BIZ UDPGothic"/>
                <a:ea typeface="BIZ UDPGothic"/>
                <a:cs typeface="BIZ UDPGothic"/>
              </a:rPr>
              <a:t>果たす</a:t>
            </a:r>
          </a:p>
        </p:txBody>
      </p:sp>
      <p:sp>
        <p:nvSpPr>
          <p:cNvPr id="14" name="TextBox 13"/>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a:solidFill>
                  <a:srgbClr val="5B6472"/>
                </a:solidFill>
                <a:latin typeface="BIZ UDPGothic"/>
                <a:ea typeface="BIZ UDPGothic"/>
                <a:cs typeface="BIZ UDPGothic"/>
              </a:rPr>
              <a:t>出典：小学校キャリア教育の手引き（令和４年３月）、小学校学習指導要領（平成29年告示）解説 体育編 をもとに講師が整理</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3BC6-0DEA-DC8E-2A6C-D6B26D070E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C92125-F86E-2C66-8E68-E51F7C1022D1}"/>
              </a:ext>
            </a:extLst>
          </p:cNvPr>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a:extLst>
              <a:ext uri="{FF2B5EF4-FFF2-40B4-BE49-F238E27FC236}">
                <a16:creationId xmlns:a16="http://schemas.microsoft.com/office/drawing/2014/main" id="{C3FF0DE3-06A2-DCF1-6AD8-5CE4FF1519FC}"/>
              </a:ext>
            </a:extLst>
          </p:cNvPr>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育てたい４つの力（基礎的・汎用的能力）</a:t>
            </a:r>
          </a:p>
        </p:txBody>
      </p:sp>
      <p:sp>
        <p:nvSpPr>
          <p:cNvPr id="4" name="Rounded Rectangle 3">
            <a:extLst>
              <a:ext uri="{FF2B5EF4-FFF2-40B4-BE49-F238E27FC236}">
                <a16:creationId xmlns:a16="http://schemas.microsoft.com/office/drawing/2014/main" id="{A7CD2BBB-AFBC-CC03-692D-82DA724BBB2D}"/>
              </a:ext>
            </a:extLst>
          </p:cNvPr>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a:extLst>
              <a:ext uri="{FF2B5EF4-FFF2-40B4-BE49-F238E27FC236}">
                <a16:creationId xmlns:a16="http://schemas.microsoft.com/office/drawing/2014/main" id="{2778BDDA-5D29-7031-09C9-7EA82B72E1DD}"/>
              </a:ext>
            </a:extLst>
          </p:cNvPr>
          <p:cNvSpPr/>
          <p:nvPr/>
        </p:nvSpPr>
        <p:spPr>
          <a:xfrm>
            <a:off x="7620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6" name="TextBox 5">
            <a:extLst>
              <a:ext uri="{FF2B5EF4-FFF2-40B4-BE49-F238E27FC236}">
                <a16:creationId xmlns:a16="http://schemas.microsoft.com/office/drawing/2014/main" id="{16FCA1D4-9C53-D2C7-8A78-E37A4F5E31C4}"/>
              </a:ext>
            </a:extLst>
          </p:cNvPr>
          <p:cNvSpPr txBox="1"/>
          <p:nvPr/>
        </p:nvSpPr>
        <p:spPr>
          <a:xfrm>
            <a:off x="10160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人間関係形成・社会形成能力</a:t>
            </a:r>
          </a:p>
        </p:txBody>
      </p:sp>
      <p:sp>
        <p:nvSpPr>
          <p:cNvPr id="7" name="TextBox 6">
            <a:extLst>
              <a:ext uri="{FF2B5EF4-FFF2-40B4-BE49-F238E27FC236}">
                <a16:creationId xmlns:a16="http://schemas.microsoft.com/office/drawing/2014/main" id="{20EBBB0B-612C-CDD2-B39E-3C631668F30F}"/>
              </a:ext>
            </a:extLst>
          </p:cNvPr>
          <p:cNvSpPr txBox="1"/>
          <p:nvPr/>
        </p:nvSpPr>
        <p:spPr>
          <a:xfrm>
            <a:off x="1016000" y="2668191"/>
            <a:ext cx="48133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本時　ペアで伝え合う</a:t>
            </a:r>
          </a:p>
        </p:txBody>
      </p:sp>
      <p:sp>
        <p:nvSpPr>
          <p:cNvPr id="8" name="Rounded Rectangle 7">
            <a:extLst>
              <a:ext uri="{FF2B5EF4-FFF2-40B4-BE49-F238E27FC236}">
                <a16:creationId xmlns:a16="http://schemas.microsoft.com/office/drawing/2014/main" id="{EFEBF1FC-E344-676E-7A2D-B25212022875}"/>
              </a:ext>
            </a:extLst>
          </p:cNvPr>
          <p:cNvSpPr/>
          <p:nvPr/>
        </p:nvSpPr>
        <p:spPr>
          <a:xfrm>
            <a:off x="61849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9" name="TextBox 8">
            <a:extLst>
              <a:ext uri="{FF2B5EF4-FFF2-40B4-BE49-F238E27FC236}">
                <a16:creationId xmlns:a16="http://schemas.microsoft.com/office/drawing/2014/main" id="{0D56006E-E071-94B3-0C92-F708D72BB22C}"/>
              </a:ext>
            </a:extLst>
          </p:cNvPr>
          <p:cNvSpPr txBox="1"/>
          <p:nvPr/>
        </p:nvSpPr>
        <p:spPr>
          <a:xfrm>
            <a:off x="64389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自己理解・自己管理能力</a:t>
            </a:r>
          </a:p>
        </p:txBody>
      </p:sp>
      <p:sp>
        <p:nvSpPr>
          <p:cNvPr id="10" name="TextBox 9">
            <a:extLst>
              <a:ext uri="{FF2B5EF4-FFF2-40B4-BE49-F238E27FC236}">
                <a16:creationId xmlns:a16="http://schemas.microsoft.com/office/drawing/2014/main" id="{2EDC8FE5-2EB3-008C-C5EF-091B78F7A143}"/>
              </a:ext>
            </a:extLst>
          </p:cNvPr>
          <p:cNvSpPr txBox="1"/>
          <p:nvPr/>
        </p:nvSpPr>
        <p:spPr>
          <a:xfrm>
            <a:off x="6438900" y="266819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sz="2000" b="1" u="none" dirty="0" err="1">
                <a:solidFill>
                  <a:srgbClr val="B85A00"/>
                </a:solidFill>
                <a:latin typeface="BIZ UDPGothic"/>
                <a:ea typeface="BIZ UDPGothic"/>
                <a:cs typeface="BIZ UDPGothic"/>
              </a:rPr>
              <a:t>自分に合った用具</a:t>
            </a:r>
            <a:r>
              <a:rPr lang="ja-JP" altLang="en-US" sz="2000" b="1" u="none" dirty="0">
                <a:solidFill>
                  <a:srgbClr val="B85A00"/>
                </a:solidFill>
                <a:latin typeface="BIZ UDPGothic"/>
                <a:ea typeface="BIZ UDPGothic"/>
                <a:cs typeface="BIZ UDPGothic"/>
              </a:rPr>
              <a:t>や位置</a:t>
            </a:r>
            <a:r>
              <a:rPr sz="2000" b="1" u="none" dirty="0" err="1">
                <a:solidFill>
                  <a:srgbClr val="B85A00"/>
                </a:solidFill>
                <a:latin typeface="BIZ UDPGothic"/>
                <a:ea typeface="BIZ UDPGothic"/>
                <a:cs typeface="BIZ UDPGothic"/>
              </a:rPr>
              <a:t>を選ぶ</a:t>
            </a:r>
            <a:endParaRPr sz="2000" b="1" u="none" dirty="0">
              <a:solidFill>
                <a:srgbClr val="B85A00"/>
              </a:solidFill>
              <a:latin typeface="BIZ UDPGothic"/>
              <a:ea typeface="BIZ UDPGothic"/>
              <a:cs typeface="BIZ UDPGothic"/>
            </a:endParaRPr>
          </a:p>
        </p:txBody>
      </p:sp>
      <p:sp>
        <p:nvSpPr>
          <p:cNvPr id="11" name="Rounded Rectangle 10">
            <a:extLst>
              <a:ext uri="{FF2B5EF4-FFF2-40B4-BE49-F238E27FC236}">
                <a16:creationId xmlns:a16="http://schemas.microsoft.com/office/drawing/2014/main" id="{DDBB99F0-9062-C947-EEF2-86320FE8D024}"/>
              </a:ext>
            </a:extLst>
          </p:cNvPr>
          <p:cNvSpPr/>
          <p:nvPr/>
        </p:nvSpPr>
        <p:spPr>
          <a:xfrm>
            <a:off x="7620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2" name="TextBox 11">
            <a:extLst>
              <a:ext uri="{FF2B5EF4-FFF2-40B4-BE49-F238E27FC236}">
                <a16:creationId xmlns:a16="http://schemas.microsoft.com/office/drawing/2014/main" id="{A245CBD9-0F40-C97A-3E4D-79B0A495E8D3}"/>
              </a:ext>
            </a:extLst>
          </p:cNvPr>
          <p:cNvSpPr txBox="1"/>
          <p:nvPr/>
        </p:nvSpPr>
        <p:spPr>
          <a:xfrm>
            <a:off x="10160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課題対応能力</a:t>
            </a:r>
          </a:p>
        </p:txBody>
      </p:sp>
      <p:sp>
        <p:nvSpPr>
          <p:cNvPr id="13" name="TextBox 12">
            <a:extLst>
              <a:ext uri="{FF2B5EF4-FFF2-40B4-BE49-F238E27FC236}">
                <a16:creationId xmlns:a16="http://schemas.microsoft.com/office/drawing/2014/main" id="{FEC0B7F4-39AD-64FE-A56B-96C1217A39B9}"/>
              </a:ext>
            </a:extLst>
          </p:cNvPr>
          <p:cNvSpPr txBox="1"/>
          <p:nvPr/>
        </p:nvSpPr>
        <p:spPr>
          <a:xfrm>
            <a:off x="1016000" y="411470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lang="ja-JP" altLang="en-US" sz="2000" b="1" dirty="0">
                <a:solidFill>
                  <a:srgbClr val="B85A00"/>
                </a:solidFill>
                <a:latin typeface="BIZ UDPGothic"/>
                <a:ea typeface="BIZ UDPGothic"/>
                <a:cs typeface="BIZ UDPGothic"/>
              </a:rPr>
              <a:t>前時で見つけた</a:t>
            </a:r>
            <a:r>
              <a:rPr sz="2000" b="1" u="none" dirty="0">
                <a:solidFill>
                  <a:srgbClr val="B85A00"/>
                </a:solidFill>
                <a:latin typeface="BIZ UDPGothic"/>
                <a:ea typeface="BIZ UDPGothic"/>
                <a:cs typeface="BIZ UDPGothic"/>
              </a:rPr>
              <a:t>「</a:t>
            </a:r>
            <a:r>
              <a:rPr sz="2000" b="1" u="none" dirty="0" err="1">
                <a:solidFill>
                  <a:srgbClr val="B85A00"/>
                </a:solidFill>
                <a:latin typeface="BIZ UDPGothic"/>
                <a:ea typeface="BIZ UDPGothic"/>
                <a:cs typeface="BIZ UDPGothic"/>
              </a:rPr>
              <a:t>ひみつ」を試す</a:t>
            </a:r>
            <a:endParaRPr sz="2000" b="1" u="none" dirty="0">
              <a:solidFill>
                <a:srgbClr val="B85A00"/>
              </a:solidFill>
              <a:latin typeface="BIZ UDPGothic"/>
              <a:ea typeface="BIZ UDPGothic"/>
              <a:cs typeface="BIZ UDPGothic"/>
            </a:endParaRPr>
          </a:p>
        </p:txBody>
      </p:sp>
      <p:sp>
        <p:nvSpPr>
          <p:cNvPr id="14" name="Rounded Rectangle 13">
            <a:extLst>
              <a:ext uri="{FF2B5EF4-FFF2-40B4-BE49-F238E27FC236}">
                <a16:creationId xmlns:a16="http://schemas.microsoft.com/office/drawing/2014/main" id="{95ECD3A0-0E05-33BA-00F6-082488D48953}"/>
              </a:ext>
            </a:extLst>
          </p:cNvPr>
          <p:cNvSpPr/>
          <p:nvPr/>
        </p:nvSpPr>
        <p:spPr>
          <a:xfrm>
            <a:off x="61849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5" name="TextBox 14">
            <a:extLst>
              <a:ext uri="{FF2B5EF4-FFF2-40B4-BE49-F238E27FC236}">
                <a16:creationId xmlns:a16="http://schemas.microsoft.com/office/drawing/2014/main" id="{F8B5C3F7-8BB8-8DD0-C8E4-679D13E9A67E}"/>
              </a:ext>
            </a:extLst>
          </p:cNvPr>
          <p:cNvSpPr txBox="1"/>
          <p:nvPr/>
        </p:nvSpPr>
        <p:spPr>
          <a:xfrm>
            <a:off x="64389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キャリアプランニング能力</a:t>
            </a:r>
          </a:p>
        </p:txBody>
      </p:sp>
      <p:sp>
        <p:nvSpPr>
          <p:cNvPr id="16" name="TextBox 15">
            <a:extLst>
              <a:ext uri="{FF2B5EF4-FFF2-40B4-BE49-F238E27FC236}">
                <a16:creationId xmlns:a16="http://schemas.microsoft.com/office/drawing/2014/main" id="{A14AF2AD-F383-F5FE-C324-842BC16CC775}"/>
              </a:ext>
            </a:extLst>
          </p:cNvPr>
          <p:cNvSpPr txBox="1"/>
          <p:nvPr/>
        </p:nvSpPr>
        <p:spPr>
          <a:xfrm>
            <a:off x="6438900" y="411470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sz="2000" b="1" u="none" dirty="0" err="1">
                <a:solidFill>
                  <a:srgbClr val="B85A00"/>
                </a:solidFill>
                <a:latin typeface="BIZ UDPGothic"/>
                <a:ea typeface="BIZ UDPGothic"/>
                <a:cs typeface="BIZ UDPGothic"/>
              </a:rPr>
              <a:t>前の自分と比べ、次を</a:t>
            </a:r>
            <a:r>
              <a:rPr lang="ja-JP" altLang="en-US" sz="2000" b="1" u="none" dirty="0">
                <a:solidFill>
                  <a:srgbClr val="B85A00"/>
                </a:solidFill>
                <a:latin typeface="BIZ UDPGothic"/>
                <a:ea typeface="BIZ UDPGothic"/>
                <a:cs typeface="BIZ UDPGothic"/>
              </a:rPr>
              <a:t>目指す</a:t>
            </a:r>
            <a:endParaRPr sz="2000" b="1" u="none" dirty="0">
              <a:solidFill>
                <a:srgbClr val="B85A00"/>
              </a:solidFill>
              <a:latin typeface="BIZ UDPGothic"/>
              <a:ea typeface="BIZ UDPGothic"/>
              <a:cs typeface="BIZ UDPGothic"/>
            </a:endParaRPr>
          </a:p>
        </p:txBody>
      </p:sp>
      <p:sp>
        <p:nvSpPr>
          <p:cNvPr id="17" name="TextBox 16">
            <a:extLst>
              <a:ext uri="{FF2B5EF4-FFF2-40B4-BE49-F238E27FC236}">
                <a16:creationId xmlns:a16="http://schemas.microsoft.com/office/drawing/2014/main" id="{6828851D-F045-8C7E-ECB0-AF975F5F3F79}"/>
              </a:ext>
            </a:extLst>
          </p:cNvPr>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出典：中央教育審議会答申（平成23年1月）、小学校キャリア教育の手引き（令和４年３月）</a:t>
            </a:r>
          </a:p>
        </p:txBody>
      </p:sp>
      <p:sp>
        <p:nvSpPr>
          <p:cNvPr id="18" name="TextBox 17">
            <a:extLst>
              <a:ext uri="{FF2B5EF4-FFF2-40B4-BE49-F238E27FC236}">
                <a16:creationId xmlns:a16="http://schemas.microsoft.com/office/drawing/2014/main" id="{B1DD0D76-0A23-7A42-BC73-81D10DD956D8}"/>
              </a:ext>
            </a:extLst>
          </p:cNvPr>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14</a:t>
            </a:r>
          </a:p>
        </p:txBody>
      </p:sp>
    </p:spTree>
    <p:extLst>
      <p:ext uri="{BB962C8B-B14F-4D97-AF65-F5344CB8AC3E}">
        <p14:creationId xmlns:p14="http://schemas.microsoft.com/office/powerpoint/2010/main" val="1648102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03</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本時の授業から</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３つの手だてと、子供の姿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本時の概要（４／４時間）</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118320"/>
            <a:ext cx="1905000" cy="515541"/>
          </a:xfrm>
          <a:prstGeom prst="roundRect">
            <a:avLst>
              <a:gd name="adj" fmla="val 17244"/>
            </a:avLst>
          </a:prstGeom>
          <a:solidFill>
            <a:srgbClr val="EEF2F8"/>
          </a:solidFill>
          <a:ln>
            <a:noFill/>
          </a:ln>
          <a:effectLst/>
        </p:spPr>
        <p:txBody>
          <a:bodyPr wrap="none" lIns="0" tIns="88900" rIns="0" bIns="88900" rtlCol="0" anchor="ctr">
            <a:noAutofit/>
          </a:bodyPr>
          <a:lstStyle/>
          <a:p>
            <a:pPr algn="ctr">
              <a:lnSpc>
                <a:spcPct val="116700"/>
              </a:lnSpc>
            </a:pPr>
            <a:r>
              <a:rPr sz="1900" b="1" u="none" dirty="0" err="1">
                <a:solidFill>
                  <a:srgbClr val="1B2A4A"/>
                </a:solidFill>
                <a:latin typeface="BIZ UDPGothic"/>
                <a:ea typeface="BIZ UDPGothic"/>
                <a:cs typeface="BIZ UDPGothic"/>
              </a:rPr>
              <a:t>本時の目標</a:t>
            </a:r>
            <a:endParaRPr sz="1900" b="1" u="none" dirty="0">
              <a:solidFill>
                <a:srgbClr val="1B2A4A"/>
              </a:solidFill>
              <a:latin typeface="BIZ UDPGothic"/>
              <a:ea typeface="BIZ UDPGothic"/>
              <a:cs typeface="BIZ UDPGothic"/>
            </a:endParaRPr>
          </a:p>
        </p:txBody>
      </p:sp>
      <p:sp>
        <p:nvSpPr>
          <p:cNvPr id="6" name="TextBox 5"/>
          <p:cNvSpPr txBox="1"/>
          <p:nvPr/>
        </p:nvSpPr>
        <p:spPr>
          <a:xfrm>
            <a:off x="2870199" y="1970980"/>
            <a:ext cx="9100127" cy="810220"/>
          </a:xfrm>
          <a:prstGeom prst="rect">
            <a:avLst/>
          </a:prstGeom>
          <a:noFill/>
        </p:spPr>
        <p:txBody>
          <a:bodyPr wrap="square" lIns="0" tIns="0" rIns="0" bIns="0" anchor="t">
            <a:noAutofit/>
          </a:bodyPr>
          <a:lstStyle/>
          <a:p>
            <a:pPr algn="l">
              <a:lnSpc>
                <a:spcPct val="120800"/>
              </a:lnSpc>
            </a:pPr>
            <a:r>
              <a:rPr sz="2200" b="0" u="none" dirty="0">
                <a:solidFill>
                  <a:srgbClr val="2B2F36"/>
                </a:solidFill>
                <a:latin typeface="BIZ UDPGothic"/>
                <a:ea typeface="BIZ UDPGothic"/>
                <a:cs typeface="BIZ UDPGothic"/>
              </a:rPr>
              <a:t>◎ </a:t>
            </a:r>
            <a:r>
              <a:rPr lang="ja-JP" altLang="en-US" sz="2200" b="0" u="none" dirty="0">
                <a:solidFill>
                  <a:srgbClr val="2B2F36"/>
                </a:solidFill>
                <a:latin typeface="BIZ UDPGothic"/>
                <a:ea typeface="BIZ UDPGothic"/>
                <a:cs typeface="BIZ UDPGothic"/>
              </a:rPr>
              <a:t>ボールなどの用具を片手で持ち、</a:t>
            </a:r>
            <a:r>
              <a:rPr sz="2200" b="0" u="none" dirty="0" err="1">
                <a:solidFill>
                  <a:srgbClr val="2B2F36"/>
                </a:solidFill>
                <a:latin typeface="BIZ UDPGothic"/>
                <a:ea typeface="BIZ UDPGothic"/>
                <a:cs typeface="BIZ UDPGothic"/>
              </a:rPr>
              <a:t>前上</a:t>
            </a:r>
            <a:r>
              <a:rPr lang="ja-JP" altLang="en-US" sz="2200" b="0" u="none" dirty="0">
                <a:solidFill>
                  <a:srgbClr val="2B2F36"/>
                </a:solidFill>
                <a:latin typeface="BIZ UDPGothic"/>
                <a:ea typeface="BIZ UDPGothic"/>
                <a:cs typeface="BIZ UDPGothic"/>
              </a:rPr>
              <a:t>方向</a:t>
            </a:r>
            <a:r>
              <a:rPr sz="2200" b="0" u="none" dirty="0" err="1">
                <a:solidFill>
                  <a:srgbClr val="2B2F36"/>
                </a:solidFill>
                <a:latin typeface="BIZ UDPGothic"/>
                <a:ea typeface="BIZ UDPGothic"/>
                <a:cs typeface="BIZ UDPGothic"/>
              </a:rPr>
              <a:t>へ投げて遊ぶ</a:t>
            </a:r>
            <a:r>
              <a:rPr lang="ja-JP" altLang="en-US" sz="2200" b="0" u="none" dirty="0">
                <a:solidFill>
                  <a:srgbClr val="2B2F36"/>
                </a:solidFill>
                <a:latin typeface="BIZ UDPGothic"/>
                <a:ea typeface="BIZ UDPGothic"/>
                <a:cs typeface="BIZ UDPGothic"/>
              </a:rPr>
              <a:t>ことができる</a:t>
            </a:r>
            <a:br>
              <a:rPr dirty="0"/>
            </a:br>
            <a:r>
              <a:rPr sz="2200" b="0" u="none" dirty="0">
                <a:solidFill>
                  <a:srgbClr val="2B2F36"/>
                </a:solidFill>
                <a:latin typeface="BIZ UDPGothic"/>
                <a:ea typeface="BIZ UDPGothic"/>
                <a:cs typeface="BIZ UDPGothic"/>
              </a:rPr>
              <a:t>〇 </a:t>
            </a:r>
            <a:r>
              <a:rPr sz="2200" b="0" u="none" dirty="0" err="1">
                <a:solidFill>
                  <a:srgbClr val="2B2F36"/>
                </a:solidFill>
                <a:latin typeface="BIZ UDPGothic"/>
                <a:ea typeface="BIZ UDPGothic"/>
                <a:cs typeface="BIZ UDPGothic"/>
              </a:rPr>
              <a:t>友達のよい動きを</a:t>
            </a:r>
            <a:r>
              <a:rPr lang="ja-JP" altLang="en-US" sz="2200" b="0" u="none" dirty="0">
                <a:solidFill>
                  <a:srgbClr val="2B2F36"/>
                </a:solidFill>
                <a:latin typeface="BIZ UDPGothic"/>
                <a:ea typeface="BIZ UDPGothic"/>
                <a:cs typeface="BIZ UDPGothic"/>
              </a:rPr>
              <a:t>見付けたり、考えたりしたことを友達に</a:t>
            </a:r>
            <a:r>
              <a:rPr sz="2200" b="0" u="none" dirty="0" err="1">
                <a:solidFill>
                  <a:srgbClr val="2B2F36"/>
                </a:solidFill>
                <a:latin typeface="BIZ UDPGothic"/>
                <a:ea typeface="BIZ UDPGothic"/>
                <a:cs typeface="BIZ UDPGothic"/>
              </a:rPr>
              <a:t>伝え</a:t>
            </a:r>
            <a:r>
              <a:rPr lang="ja-JP" altLang="en-US" sz="2200" b="0" u="none" dirty="0">
                <a:solidFill>
                  <a:srgbClr val="2B2F36"/>
                </a:solidFill>
                <a:latin typeface="BIZ UDPGothic"/>
                <a:ea typeface="BIZ UDPGothic"/>
                <a:cs typeface="BIZ UDPGothic"/>
              </a:rPr>
              <a:t>ている</a:t>
            </a:r>
            <a:endParaRPr sz="2200" b="0" u="none" dirty="0">
              <a:solidFill>
                <a:srgbClr val="2B2F36"/>
              </a:solidFill>
              <a:latin typeface="BIZ UDPGothic"/>
              <a:ea typeface="BIZ UDPGothic"/>
              <a:cs typeface="BIZ UDPGothic"/>
            </a:endParaRPr>
          </a:p>
        </p:txBody>
      </p:sp>
      <p:sp>
        <p:nvSpPr>
          <p:cNvPr id="7" name="Rounded Rectangle 6"/>
          <p:cNvSpPr/>
          <p:nvPr/>
        </p:nvSpPr>
        <p:spPr>
          <a:xfrm>
            <a:off x="762000" y="3119041"/>
            <a:ext cx="1905000" cy="515541"/>
          </a:xfrm>
          <a:prstGeom prst="roundRect">
            <a:avLst>
              <a:gd name="adj" fmla="val 17244"/>
            </a:avLst>
          </a:prstGeom>
          <a:solidFill>
            <a:srgbClr val="E8730C"/>
          </a:solidFill>
          <a:ln>
            <a:noFill/>
          </a:ln>
          <a:effectLst/>
        </p:spPr>
        <p:txBody>
          <a:bodyPr wrap="none" lIns="0" tIns="88900" rIns="0" bIns="88900" rtlCol="0" anchor="ctr">
            <a:noAutofit/>
          </a:bodyPr>
          <a:lstStyle/>
          <a:p>
            <a:pPr algn="ctr">
              <a:lnSpc>
                <a:spcPct val="116700"/>
              </a:lnSpc>
            </a:pPr>
            <a:r>
              <a:rPr sz="1900" b="1" u="none" dirty="0" err="1">
                <a:solidFill>
                  <a:srgbClr val="FFFFFF"/>
                </a:solidFill>
                <a:latin typeface="BIZ UDPGothic"/>
                <a:ea typeface="BIZ UDPGothic"/>
                <a:cs typeface="BIZ UDPGothic"/>
              </a:rPr>
              <a:t>キャリアの目標</a:t>
            </a:r>
            <a:endParaRPr sz="1900" b="1" u="none" dirty="0">
              <a:solidFill>
                <a:srgbClr val="FFFFFF"/>
              </a:solidFill>
              <a:latin typeface="BIZ UDPGothic"/>
              <a:ea typeface="BIZ UDPGothic"/>
              <a:cs typeface="BIZ UDPGothic"/>
            </a:endParaRPr>
          </a:p>
        </p:txBody>
      </p:sp>
      <p:sp>
        <p:nvSpPr>
          <p:cNvPr id="8" name="TextBox 7"/>
          <p:cNvSpPr txBox="1"/>
          <p:nvPr/>
        </p:nvSpPr>
        <p:spPr>
          <a:xfrm>
            <a:off x="2870200" y="2971701"/>
            <a:ext cx="8636000" cy="810220"/>
          </a:xfrm>
          <a:prstGeom prst="rect">
            <a:avLst/>
          </a:prstGeom>
          <a:noFill/>
        </p:spPr>
        <p:txBody>
          <a:bodyPr wrap="square" lIns="0" tIns="0" rIns="0" bIns="0" anchor="t">
            <a:noAutofit/>
          </a:bodyPr>
          <a:lstStyle/>
          <a:p>
            <a:pPr algn="l">
              <a:lnSpc>
                <a:spcPct val="120800"/>
              </a:lnSpc>
            </a:pPr>
            <a:r>
              <a:rPr sz="2200" b="1" u="none" dirty="0" err="1">
                <a:solidFill>
                  <a:srgbClr val="B85A00"/>
                </a:solidFill>
                <a:latin typeface="BIZ UDPGothic"/>
                <a:ea typeface="BIZ UDPGothic"/>
                <a:cs typeface="BIZ UDPGothic"/>
              </a:rPr>
              <a:t>自分の投げやすい用具や位置を見付けて</a:t>
            </a:r>
            <a:r>
              <a:rPr sz="2200" b="1" u="none" dirty="0">
                <a:solidFill>
                  <a:srgbClr val="B85A00"/>
                </a:solidFill>
                <a:latin typeface="BIZ UDPGothic"/>
                <a:ea typeface="BIZ UDPGothic"/>
                <a:cs typeface="BIZ UDPGothic"/>
              </a:rPr>
              <a:t>、</a:t>
            </a:r>
            <a:br>
              <a:rPr dirty="0"/>
            </a:br>
            <a:r>
              <a:rPr sz="2200" b="1" u="none" dirty="0" err="1">
                <a:solidFill>
                  <a:srgbClr val="B85A00"/>
                </a:solidFill>
                <a:latin typeface="BIZ UDPGothic"/>
                <a:ea typeface="BIZ UDPGothic"/>
                <a:cs typeface="BIZ UDPGothic"/>
              </a:rPr>
              <a:t>やってみる</a:t>
            </a:r>
            <a:r>
              <a:rPr lang="ja-JP" altLang="en-US" sz="2200" b="1" u="none" dirty="0">
                <a:solidFill>
                  <a:srgbClr val="B85A00"/>
                </a:solidFill>
                <a:latin typeface="BIZ UDPGothic"/>
                <a:ea typeface="BIZ UDPGothic"/>
                <a:cs typeface="BIZ UDPGothic"/>
              </a:rPr>
              <a:t>ことができる</a:t>
            </a:r>
            <a:endParaRPr sz="2200" b="1" u="none" dirty="0">
              <a:solidFill>
                <a:srgbClr val="B85A00"/>
              </a:solidFill>
              <a:latin typeface="BIZ UDPGothic"/>
              <a:ea typeface="BIZ UDPGothic"/>
              <a:cs typeface="BIZ UDPGothic"/>
            </a:endParaRPr>
          </a:p>
        </p:txBody>
      </p:sp>
      <p:sp>
        <p:nvSpPr>
          <p:cNvPr id="9" name="Rounded Rectangle 8"/>
          <p:cNvSpPr/>
          <p:nvPr/>
        </p:nvSpPr>
        <p:spPr>
          <a:xfrm>
            <a:off x="762000" y="4259461"/>
            <a:ext cx="1905000" cy="515541"/>
          </a:xfrm>
          <a:prstGeom prst="roundRect">
            <a:avLst>
              <a:gd name="adj" fmla="val 17244"/>
            </a:avLst>
          </a:prstGeom>
          <a:solidFill>
            <a:srgbClr val="EEF2F8"/>
          </a:solidFill>
          <a:ln>
            <a:noFill/>
          </a:ln>
          <a:effectLst/>
        </p:spPr>
        <p:txBody>
          <a:bodyPr wrap="none" lIns="0" tIns="88900" rIns="0" bIns="88900" rtlCol="0" anchor="t">
            <a:noAutofit/>
          </a:bodyPr>
          <a:lstStyle/>
          <a:p>
            <a:pPr algn="ctr">
              <a:lnSpc>
                <a:spcPct val="116700"/>
              </a:lnSpc>
            </a:pPr>
            <a:r>
              <a:rPr sz="1900" b="1" u="none" dirty="0" err="1">
                <a:solidFill>
                  <a:srgbClr val="1B2A4A"/>
                </a:solidFill>
                <a:latin typeface="BIZ UDPGothic"/>
                <a:ea typeface="BIZ UDPGothic"/>
                <a:cs typeface="BIZ UDPGothic"/>
              </a:rPr>
              <a:t>めあて</a:t>
            </a:r>
            <a:endParaRPr sz="1900" b="1" u="none" dirty="0">
              <a:solidFill>
                <a:srgbClr val="1B2A4A"/>
              </a:solidFill>
              <a:latin typeface="BIZ UDPGothic"/>
              <a:ea typeface="BIZ UDPGothic"/>
              <a:cs typeface="BIZ UDPGothic"/>
            </a:endParaRPr>
          </a:p>
        </p:txBody>
      </p:sp>
      <p:sp>
        <p:nvSpPr>
          <p:cNvPr id="10" name="Rounded Rectangle 9"/>
          <p:cNvSpPr/>
          <p:nvPr/>
        </p:nvSpPr>
        <p:spPr>
          <a:xfrm>
            <a:off x="2870200" y="4259461"/>
            <a:ext cx="6172200" cy="1089620"/>
          </a:xfrm>
          <a:prstGeom prst="roundRect">
            <a:avLst>
              <a:gd name="adj" fmla="val 10489"/>
            </a:avLst>
          </a:prstGeom>
          <a:noFill/>
          <a:ln w="25400">
            <a:solidFill>
              <a:srgbClr val="1B2A4A"/>
            </a:solidFill>
          </a:ln>
          <a:effectLst/>
        </p:spPr>
        <p:txBody>
          <a:bodyPr wrap="square" lIns="165100" tIns="139700" rIns="165100" bIns="139700" rtlCol="0" anchor="t">
            <a:noAutofit/>
          </a:bodyPr>
          <a:lstStyle/>
          <a:p>
            <a:pPr algn="l">
              <a:lnSpc>
                <a:spcPct val="120800"/>
              </a:lnSpc>
            </a:pPr>
            <a:r>
              <a:rPr sz="2200" b="1" u="none">
                <a:solidFill>
                  <a:srgbClr val="1B2A4A"/>
                </a:solidFill>
                <a:latin typeface="BIZ UDPGothic"/>
                <a:ea typeface="BIZ UDPGothic"/>
                <a:cs typeface="BIZ UDPGothic"/>
              </a:rPr>
              <a:t>ビューン！となげるひみつや えらんだボール、</a:t>
            </a:r>
            <a:br/>
            <a:r>
              <a:rPr sz="2200" b="1" u="none">
                <a:solidFill>
                  <a:srgbClr val="1B2A4A"/>
                </a:solidFill>
                <a:latin typeface="BIZ UDPGothic"/>
                <a:ea typeface="BIZ UDPGothic"/>
                <a:cs typeface="BIZ UDPGothic"/>
              </a:rPr>
              <a:t>いちで、さいこうきろくを めざそう！</a:t>
            </a:r>
          </a:p>
        </p:txBody>
      </p:sp>
      <p:sp>
        <p:nvSpPr>
          <p:cNvPr id="12" name="TextBox 11"/>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err="1">
                <a:solidFill>
                  <a:srgbClr val="1B2A4A"/>
                </a:solidFill>
                <a:latin typeface="BIZ UDPGothic"/>
                <a:ea typeface="BIZ UDPGothic"/>
                <a:cs typeface="BIZ UDPGothic"/>
              </a:rPr>
              <a:t>単元</a:t>
            </a:r>
            <a:r>
              <a:rPr lang="ja-JP" altLang="en-US" sz="3600" b="1" u="none" dirty="0">
                <a:solidFill>
                  <a:srgbClr val="1B2A4A"/>
                </a:solidFill>
                <a:latin typeface="BIZ UDPGothic"/>
                <a:ea typeface="BIZ UDPGothic"/>
                <a:cs typeface="BIZ UDPGothic"/>
              </a:rPr>
              <a:t>構成</a:t>
            </a:r>
            <a:r>
              <a:rPr sz="3600" b="1" u="none" dirty="0">
                <a:solidFill>
                  <a:srgbClr val="1B2A4A"/>
                </a:solidFill>
                <a:latin typeface="BIZ UDPGothic"/>
                <a:ea typeface="BIZ UDPGothic"/>
                <a:cs typeface="BIZ UDPGothic"/>
              </a:rPr>
              <a:t>（全４時間）</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6" name="TextBox 5"/>
          <p:cNvSpPr txBox="1"/>
          <p:nvPr/>
        </p:nvSpPr>
        <p:spPr>
          <a:xfrm>
            <a:off x="952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第１時</a:t>
            </a:r>
          </a:p>
        </p:txBody>
      </p:sp>
      <p:sp>
        <p:nvSpPr>
          <p:cNvPr id="7" name="TextBox 6"/>
          <p:cNvSpPr txBox="1"/>
          <p:nvPr/>
        </p:nvSpPr>
        <p:spPr>
          <a:xfrm>
            <a:off x="952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出合う</a:t>
            </a:r>
          </a:p>
        </p:txBody>
      </p:sp>
      <p:sp>
        <p:nvSpPr>
          <p:cNvPr id="8" name="Right Arrow 7"/>
          <p:cNvSpPr/>
          <p:nvPr/>
        </p:nvSpPr>
        <p:spPr>
          <a:xfrm>
            <a:off x="3098800" y="2555081"/>
            <a:ext cx="355600" cy="177800"/>
          </a:xfrm>
          <a:prstGeom prst="rightArrow">
            <a:avLst/>
          </a:prstGeom>
          <a:solidFill>
            <a:srgbClr val="E8730C"/>
          </a:solidFill>
          <a:ln>
            <a:noFill/>
          </a:ln>
          <a:effectLst/>
        </p:spPr>
        <p:txBody>
          <a:bodyPr rtlCol="0" anchor="ctr"/>
          <a:lstStyle/>
          <a:p>
            <a:pPr algn="ctr"/>
            <a:endParaRPr/>
          </a:p>
        </p:txBody>
      </p:sp>
      <p:sp>
        <p:nvSpPr>
          <p:cNvPr id="9" name="Rounded Rectangle 8"/>
          <p:cNvSpPr/>
          <p:nvPr/>
        </p:nvSpPr>
        <p:spPr>
          <a:xfrm>
            <a:off x="3556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10" name="TextBox 9"/>
          <p:cNvSpPr txBox="1"/>
          <p:nvPr/>
        </p:nvSpPr>
        <p:spPr>
          <a:xfrm>
            <a:off x="3746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第２時</a:t>
            </a:r>
          </a:p>
        </p:txBody>
      </p:sp>
      <p:sp>
        <p:nvSpPr>
          <p:cNvPr id="11" name="TextBox 10"/>
          <p:cNvSpPr txBox="1"/>
          <p:nvPr/>
        </p:nvSpPr>
        <p:spPr>
          <a:xfrm>
            <a:off x="3746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試す</a:t>
            </a:r>
          </a:p>
        </p:txBody>
      </p:sp>
      <p:sp>
        <p:nvSpPr>
          <p:cNvPr id="12" name="Right Arrow 11"/>
          <p:cNvSpPr/>
          <p:nvPr/>
        </p:nvSpPr>
        <p:spPr>
          <a:xfrm>
            <a:off x="5892800" y="2555081"/>
            <a:ext cx="355600" cy="177800"/>
          </a:xfrm>
          <a:prstGeom prst="rightArrow">
            <a:avLst/>
          </a:prstGeom>
          <a:solidFill>
            <a:srgbClr val="E8730C"/>
          </a:solidFill>
          <a:ln>
            <a:noFill/>
          </a:ln>
          <a:effectLst/>
        </p:spPr>
        <p:txBody>
          <a:bodyPr rtlCol="0" anchor="ctr"/>
          <a:lstStyle/>
          <a:p>
            <a:pPr algn="ctr"/>
            <a:endParaRPr/>
          </a:p>
        </p:txBody>
      </p:sp>
      <p:sp>
        <p:nvSpPr>
          <p:cNvPr id="13" name="Rounded Rectangle 12"/>
          <p:cNvSpPr/>
          <p:nvPr/>
        </p:nvSpPr>
        <p:spPr>
          <a:xfrm>
            <a:off x="6350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14" name="TextBox 13"/>
          <p:cNvSpPr txBox="1"/>
          <p:nvPr/>
        </p:nvSpPr>
        <p:spPr>
          <a:xfrm>
            <a:off x="6540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第３時</a:t>
            </a:r>
          </a:p>
        </p:txBody>
      </p:sp>
      <p:sp>
        <p:nvSpPr>
          <p:cNvPr id="15" name="TextBox 14"/>
          <p:cNvSpPr txBox="1"/>
          <p:nvPr/>
        </p:nvSpPr>
        <p:spPr>
          <a:xfrm>
            <a:off x="6540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見付ける</a:t>
            </a:r>
          </a:p>
        </p:txBody>
      </p:sp>
      <p:sp>
        <p:nvSpPr>
          <p:cNvPr id="16" name="Right Arrow 15"/>
          <p:cNvSpPr/>
          <p:nvPr/>
        </p:nvSpPr>
        <p:spPr>
          <a:xfrm>
            <a:off x="8686800" y="2555081"/>
            <a:ext cx="355600" cy="177800"/>
          </a:xfrm>
          <a:prstGeom prst="rightArrow">
            <a:avLst/>
          </a:prstGeom>
          <a:solidFill>
            <a:srgbClr val="E8730C"/>
          </a:solidFill>
          <a:ln>
            <a:noFill/>
          </a:ln>
          <a:effectLst/>
        </p:spPr>
        <p:txBody>
          <a:bodyPr rtlCol="0" anchor="ctr"/>
          <a:lstStyle/>
          <a:p>
            <a:pPr algn="ctr"/>
            <a:endParaRPr/>
          </a:p>
        </p:txBody>
      </p:sp>
      <p:sp>
        <p:nvSpPr>
          <p:cNvPr id="17" name="Rounded Rectangle 16"/>
          <p:cNvSpPr/>
          <p:nvPr/>
        </p:nvSpPr>
        <p:spPr>
          <a:xfrm>
            <a:off x="9144000" y="1970980"/>
            <a:ext cx="2286000" cy="1346101"/>
          </a:xfrm>
          <a:prstGeom prst="roundRect">
            <a:avLst>
              <a:gd name="adj" fmla="val 13208"/>
            </a:avLst>
          </a:prstGeom>
          <a:solidFill>
            <a:srgbClr val="FFF3E6"/>
          </a:solidFill>
          <a:ln w="25400">
            <a:solidFill>
              <a:srgbClr val="E8730C"/>
            </a:solidFill>
          </a:ln>
          <a:effectLst/>
        </p:spPr>
        <p:txBody>
          <a:bodyPr rtlCol="0" anchor="ctr"/>
          <a:lstStyle/>
          <a:p>
            <a:pPr algn="ctr"/>
            <a:endParaRPr/>
          </a:p>
        </p:txBody>
      </p:sp>
      <p:sp>
        <p:nvSpPr>
          <p:cNvPr id="18" name="TextBox 17"/>
          <p:cNvSpPr txBox="1"/>
          <p:nvPr/>
        </p:nvSpPr>
        <p:spPr>
          <a:xfrm>
            <a:off x="9359900" y="2199580"/>
            <a:ext cx="19304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第４時（本時）</a:t>
            </a:r>
          </a:p>
        </p:txBody>
      </p:sp>
      <p:sp>
        <p:nvSpPr>
          <p:cNvPr id="19" name="TextBox 18"/>
          <p:cNvSpPr txBox="1"/>
          <p:nvPr/>
        </p:nvSpPr>
        <p:spPr>
          <a:xfrm>
            <a:off x="9359900" y="25907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発揮する</a:t>
            </a:r>
          </a:p>
        </p:txBody>
      </p:sp>
      <p:sp>
        <p:nvSpPr>
          <p:cNvPr id="20" name="Rounded Rectangle 19"/>
          <p:cNvSpPr/>
          <p:nvPr/>
        </p:nvSpPr>
        <p:spPr>
          <a:xfrm>
            <a:off x="762000" y="3596481"/>
            <a:ext cx="10668000" cy="1371501"/>
          </a:xfrm>
          <a:prstGeom prst="roundRect">
            <a:avLst>
              <a:gd name="adj" fmla="val 12963"/>
            </a:avLst>
          </a:prstGeom>
          <a:solidFill>
            <a:srgbClr val="1B2A4A"/>
          </a:solidFill>
          <a:ln>
            <a:noFill/>
          </a:ln>
          <a:effectLst/>
        </p:spPr>
        <p:txBody>
          <a:bodyPr rtlCol="0" anchor="ctr"/>
          <a:lstStyle/>
          <a:p>
            <a:pPr algn="ctr"/>
            <a:endParaRPr/>
          </a:p>
        </p:txBody>
      </p:sp>
      <p:sp>
        <p:nvSpPr>
          <p:cNvPr id="21" name="TextBox 20"/>
          <p:cNvSpPr txBox="1"/>
          <p:nvPr/>
        </p:nvSpPr>
        <p:spPr>
          <a:xfrm>
            <a:off x="1066800" y="3812381"/>
            <a:ext cx="10134600" cy="391120"/>
          </a:xfrm>
          <a:prstGeom prst="rect">
            <a:avLst/>
          </a:prstGeom>
          <a:noFill/>
        </p:spPr>
        <p:txBody>
          <a:bodyPr wrap="none" lIns="0" tIns="0" rIns="0" bIns="0" anchor="t">
            <a:noAutofit/>
          </a:bodyPr>
          <a:lstStyle/>
          <a:p>
            <a:pPr algn="l">
              <a:lnSpc>
                <a:spcPct val="116700"/>
              </a:lnSpc>
            </a:pPr>
            <a:r>
              <a:rPr sz="2200" b="0" u="none">
                <a:solidFill>
                  <a:srgbClr val="C9D3E6"/>
                </a:solidFill>
                <a:latin typeface="BIZ UDPGothic"/>
                <a:ea typeface="BIZ UDPGothic"/>
                <a:cs typeface="BIZ UDPGothic"/>
              </a:rPr>
              <a:t>子供の側から見ると…</a:t>
            </a:r>
          </a:p>
        </p:txBody>
      </p:sp>
      <p:sp>
        <p:nvSpPr>
          <p:cNvPr id="22" name="TextBox 21"/>
          <p:cNvSpPr txBox="1"/>
          <p:nvPr/>
        </p:nvSpPr>
        <p:spPr>
          <a:xfrm>
            <a:off x="1066800" y="4203502"/>
            <a:ext cx="10134600" cy="548580"/>
          </a:xfrm>
          <a:prstGeom prst="rect">
            <a:avLst/>
          </a:prstGeom>
          <a:noFill/>
        </p:spPr>
        <p:txBody>
          <a:bodyPr wrap="none" lIns="0" tIns="0" rIns="0" bIns="0" anchor="t">
            <a:noAutofit/>
          </a:bodyPr>
          <a:lstStyle/>
          <a:p>
            <a:pPr algn="l">
              <a:lnSpc>
                <a:spcPct val="112500"/>
              </a:lnSpc>
            </a:pPr>
            <a:r>
              <a:rPr sz="3200" b="1" u="none" dirty="0" err="1">
                <a:solidFill>
                  <a:srgbClr val="FFFFFF"/>
                </a:solidFill>
                <a:latin typeface="BIZ UDPGothic"/>
                <a:ea typeface="BIZ UDPGothic"/>
                <a:cs typeface="BIZ UDPGothic"/>
              </a:rPr>
              <a:t>選ぶ</a:t>
            </a:r>
            <a:r>
              <a:rPr sz="3200" b="1" u="none" dirty="0">
                <a:solidFill>
                  <a:srgbClr val="FFFFFF"/>
                </a:solidFill>
                <a:latin typeface="BIZ UDPGothic"/>
                <a:ea typeface="BIZ UDPGothic"/>
                <a:cs typeface="BIZ UDPGothic"/>
              </a:rPr>
              <a:t> → </a:t>
            </a:r>
            <a:r>
              <a:rPr sz="3200" b="1" u="none" dirty="0" err="1">
                <a:solidFill>
                  <a:schemeClr val="bg1"/>
                </a:solidFill>
                <a:latin typeface="BIZ UDPGothic"/>
                <a:ea typeface="BIZ UDPGothic"/>
                <a:cs typeface="BIZ UDPGothic"/>
              </a:rPr>
              <a:t>困る</a:t>
            </a:r>
            <a:r>
              <a:rPr sz="3200" b="1" u="none" dirty="0">
                <a:solidFill>
                  <a:srgbClr val="FFFFFF"/>
                </a:solidFill>
                <a:latin typeface="BIZ UDPGothic"/>
                <a:ea typeface="BIZ UDPGothic"/>
                <a:cs typeface="BIZ UDPGothic"/>
              </a:rPr>
              <a:t> → </a:t>
            </a:r>
            <a:r>
              <a:rPr sz="3200" b="1" u="none" dirty="0" err="1">
                <a:solidFill>
                  <a:srgbClr val="FFFFFF"/>
                </a:solidFill>
                <a:latin typeface="BIZ UDPGothic"/>
                <a:ea typeface="BIZ UDPGothic"/>
                <a:cs typeface="BIZ UDPGothic"/>
              </a:rPr>
              <a:t>見付ける</a:t>
            </a:r>
            <a:r>
              <a:rPr sz="3200" b="1" u="none" dirty="0">
                <a:solidFill>
                  <a:srgbClr val="FFFFFF"/>
                </a:solidFill>
                <a:latin typeface="BIZ UDPGothic"/>
                <a:ea typeface="BIZ UDPGothic"/>
                <a:cs typeface="BIZ UDPGothic"/>
              </a:rPr>
              <a:t> → </a:t>
            </a:r>
            <a:r>
              <a:rPr sz="3200" b="1" u="none" dirty="0" err="1">
                <a:solidFill>
                  <a:schemeClr val="accent6">
                    <a:lumMod val="60000"/>
                    <a:lumOff val="40000"/>
                  </a:schemeClr>
                </a:solidFill>
                <a:latin typeface="BIZ UDPGothic"/>
                <a:ea typeface="BIZ UDPGothic"/>
                <a:cs typeface="BIZ UDPGothic"/>
              </a:rPr>
              <a:t>生かす</a:t>
            </a:r>
            <a:endParaRPr sz="3200" b="1" u="none" dirty="0">
              <a:solidFill>
                <a:schemeClr val="accent6">
                  <a:lumMod val="60000"/>
                  <a:lumOff val="40000"/>
                </a:schemeClr>
              </a:solidFill>
              <a:latin typeface="BIZ UDPGothic"/>
              <a:ea typeface="BIZ UDPGothic"/>
              <a:cs typeface="BIZ UDPGothic"/>
            </a:endParaRPr>
          </a:p>
        </p:txBody>
      </p:sp>
      <p:sp>
        <p:nvSpPr>
          <p:cNvPr id="24" name="TextBox 23"/>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子供の実態（事前アンケート）</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6" name="TextBox 5"/>
          <p:cNvSpPr txBox="1"/>
          <p:nvPr/>
        </p:nvSpPr>
        <p:spPr>
          <a:xfrm>
            <a:off x="9906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すきなことを</a:t>
            </a:r>
            <a:br/>
            <a:r>
              <a:rPr sz="2100" b="1" u="none">
                <a:solidFill>
                  <a:srgbClr val="1B2A4A"/>
                </a:solidFill>
                <a:latin typeface="BIZ UDPGothic"/>
                <a:ea typeface="BIZ UDPGothic"/>
                <a:cs typeface="BIZ UDPGothic"/>
              </a:rPr>
              <a:t>みつけよう</a:t>
            </a:r>
          </a:p>
        </p:txBody>
      </p:sp>
      <p:sp>
        <p:nvSpPr>
          <p:cNvPr id="7" name="TextBox 6"/>
          <p:cNvSpPr txBox="1"/>
          <p:nvPr/>
        </p:nvSpPr>
        <p:spPr>
          <a:xfrm>
            <a:off x="9906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90.6</a:t>
            </a:r>
            <a:r>
              <a:rPr sz="5600" b="1" u="none">
                <a:solidFill>
                  <a:srgbClr val="5B6472"/>
                </a:solidFill>
                <a:latin typeface="BIZ UDPGothic"/>
                <a:ea typeface="BIZ UDPGothic"/>
                <a:cs typeface="BIZ UDPGothic"/>
              </a:rPr>
              <a:t>%</a:t>
            </a:r>
          </a:p>
        </p:txBody>
      </p:sp>
      <p:sp>
        <p:nvSpPr>
          <p:cNvPr id="8" name="TextBox 7"/>
          <p:cNvSpPr txBox="1"/>
          <p:nvPr/>
        </p:nvSpPr>
        <p:spPr>
          <a:xfrm>
            <a:off x="9906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３名</a:t>
            </a:r>
          </a:p>
        </p:txBody>
      </p:sp>
      <p:sp>
        <p:nvSpPr>
          <p:cNvPr id="9" name="Rounded Rectangle 8"/>
          <p:cNvSpPr/>
          <p:nvPr/>
        </p:nvSpPr>
        <p:spPr>
          <a:xfrm>
            <a:off x="43815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10" name="TextBox 9"/>
          <p:cNvSpPr txBox="1"/>
          <p:nvPr/>
        </p:nvSpPr>
        <p:spPr>
          <a:xfrm>
            <a:off x="46101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やってみよう</a:t>
            </a:r>
            <a:br/>
            <a:r>
              <a:rPr sz="2100" b="1" u="none">
                <a:solidFill>
                  <a:srgbClr val="1B2A4A"/>
                </a:solidFill>
                <a:latin typeface="BIZ UDPGothic"/>
                <a:ea typeface="BIZ UDPGothic"/>
                <a:cs typeface="BIZ UDPGothic"/>
              </a:rPr>
              <a:t>　</a:t>
            </a:r>
          </a:p>
        </p:txBody>
      </p:sp>
      <p:sp>
        <p:nvSpPr>
          <p:cNvPr id="11" name="TextBox 10"/>
          <p:cNvSpPr txBox="1"/>
          <p:nvPr/>
        </p:nvSpPr>
        <p:spPr>
          <a:xfrm>
            <a:off x="46101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90.6</a:t>
            </a:r>
            <a:r>
              <a:rPr sz="5600" b="1" u="none">
                <a:solidFill>
                  <a:srgbClr val="5B6472"/>
                </a:solidFill>
                <a:latin typeface="BIZ UDPGothic"/>
                <a:ea typeface="BIZ UDPGothic"/>
                <a:cs typeface="BIZ UDPGothic"/>
              </a:rPr>
              <a:t>%</a:t>
            </a:r>
          </a:p>
        </p:txBody>
      </p:sp>
      <p:sp>
        <p:nvSpPr>
          <p:cNvPr id="12" name="TextBox 11"/>
          <p:cNvSpPr txBox="1"/>
          <p:nvPr/>
        </p:nvSpPr>
        <p:spPr>
          <a:xfrm>
            <a:off x="46101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３名</a:t>
            </a:r>
          </a:p>
        </p:txBody>
      </p:sp>
      <p:sp>
        <p:nvSpPr>
          <p:cNvPr id="13" name="Rounded Rectangle 12"/>
          <p:cNvSpPr/>
          <p:nvPr/>
        </p:nvSpPr>
        <p:spPr>
          <a:xfrm>
            <a:off x="80010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14" name="TextBox 13"/>
          <p:cNvSpPr txBox="1"/>
          <p:nvPr/>
        </p:nvSpPr>
        <p:spPr>
          <a:xfrm>
            <a:off x="82296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きこう</a:t>
            </a:r>
            <a:br/>
            <a:r>
              <a:rPr sz="2100" b="1" u="none">
                <a:solidFill>
                  <a:srgbClr val="1B2A4A"/>
                </a:solidFill>
                <a:latin typeface="BIZ UDPGothic"/>
                <a:ea typeface="BIZ UDPGothic"/>
                <a:cs typeface="BIZ UDPGothic"/>
              </a:rPr>
              <a:t>はなそう</a:t>
            </a:r>
          </a:p>
        </p:txBody>
      </p:sp>
      <p:sp>
        <p:nvSpPr>
          <p:cNvPr id="15" name="TextBox 14"/>
          <p:cNvSpPr txBox="1"/>
          <p:nvPr/>
        </p:nvSpPr>
        <p:spPr>
          <a:xfrm>
            <a:off x="82296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81.2</a:t>
            </a:r>
            <a:r>
              <a:rPr sz="5600" b="1" u="none">
                <a:solidFill>
                  <a:srgbClr val="5B6472"/>
                </a:solidFill>
                <a:latin typeface="BIZ UDPGothic"/>
                <a:ea typeface="BIZ UDPGothic"/>
                <a:cs typeface="BIZ UDPGothic"/>
              </a:rPr>
              <a:t>%</a:t>
            </a:r>
          </a:p>
        </p:txBody>
      </p:sp>
      <p:sp>
        <p:nvSpPr>
          <p:cNvPr id="16" name="TextBox 15"/>
          <p:cNvSpPr txBox="1"/>
          <p:nvPr/>
        </p:nvSpPr>
        <p:spPr>
          <a:xfrm>
            <a:off x="82296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６名</a:t>
            </a:r>
          </a:p>
        </p:txBody>
      </p:sp>
      <p:sp>
        <p:nvSpPr>
          <p:cNvPr id="17" name="Rounded Rectangle 16"/>
          <p:cNvSpPr/>
          <p:nvPr/>
        </p:nvSpPr>
        <p:spPr>
          <a:xfrm>
            <a:off x="762000" y="4692352"/>
            <a:ext cx="10668000" cy="843260"/>
          </a:xfrm>
          <a:prstGeom prst="roundRect">
            <a:avLst>
              <a:gd name="adj" fmla="val 21084"/>
            </a:avLst>
          </a:prstGeom>
          <a:solidFill>
            <a:srgbClr val="1B2A4A"/>
          </a:solidFill>
          <a:ln>
            <a:noFill/>
          </a:ln>
          <a:effectLst/>
        </p:spPr>
        <p:txBody>
          <a:bodyPr rtlCol="0" anchor="ctr"/>
          <a:lstStyle/>
          <a:p>
            <a:pPr algn="ctr"/>
            <a:endParaRPr/>
          </a:p>
        </p:txBody>
      </p:sp>
      <p:sp>
        <p:nvSpPr>
          <p:cNvPr id="18" name="TextBox 17"/>
          <p:cNvSpPr txBox="1"/>
          <p:nvPr/>
        </p:nvSpPr>
        <p:spPr>
          <a:xfrm>
            <a:off x="1066800" y="4882852"/>
            <a:ext cx="10134600" cy="462260"/>
          </a:xfrm>
          <a:prstGeom prst="rect">
            <a:avLst/>
          </a:prstGeom>
          <a:noFill/>
        </p:spPr>
        <p:txBody>
          <a:bodyPr wrap="none" lIns="0" tIns="0" rIns="0" bIns="0" anchor="t">
            <a:noAutofit/>
          </a:bodyPr>
          <a:lstStyle/>
          <a:p>
            <a:pPr algn="l">
              <a:lnSpc>
                <a:spcPct val="116700"/>
              </a:lnSpc>
            </a:pPr>
            <a:r>
              <a:rPr sz="2600" b="1" u="none" dirty="0">
                <a:solidFill>
                  <a:srgbClr val="FFFFFF"/>
                </a:solidFill>
                <a:latin typeface="BIZ UDPGothic"/>
                <a:ea typeface="BIZ UDPGothic"/>
                <a:cs typeface="BIZ UDPGothic"/>
              </a:rPr>
              <a:t>この</a:t>
            </a:r>
            <a:r>
              <a:rPr sz="2600" b="1" u="none" dirty="0">
                <a:solidFill>
                  <a:srgbClr val="F5A25A"/>
                </a:solidFill>
                <a:latin typeface="BIZ UDPGothic"/>
                <a:ea typeface="BIZ UDPGothic"/>
                <a:cs typeface="BIZ UDPGothic"/>
              </a:rPr>
              <a:t>「３名・３名・６名」</a:t>
            </a:r>
            <a:r>
              <a:rPr sz="2600" b="1" u="none" dirty="0">
                <a:solidFill>
                  <a:srgbClr val="FFFFFF"/>
                </a:solidFill>
                <a:latin typeface="BIZ UDPGothic"/>
                <a:ea typeface="BIZ UDPGothic"/>
                <a:cs typeface="BIZ UDPGothic"/>
              </a:rPr>
              <a:t>は、</a:t>
            </a:r>
            <a:r>
              <a:rPr lang="ja-JP" altLang="en-US" sz="2600" b="1" u="none" dirty="0">
                <a:solidFill>
                  <a:srgbClr val="FFFFFF"/>
                </a:solidFill>
                <a:latin typeface="BIZ UDPGothic"/>
                <a:ea typeface="BIZ UDPGothic"/>
                <a:cs typeface="BIZ UDPGothic"/>
              </a:rPr>
              <a:t>本単元を通して</a:t>
            </a:r>
            <a:r>
              <a:rPr sz="2600" b="1" u="none" dirty="0" err="1">
                <a:solidFill>
                  <a:srgbClr val="FFFFFF"/>
                </a:solidFill>
                <a:latin typeface="BIZ UDPGothic"/>
                <a:ea typeface="BIZ UDPGothic"/>
                <a:cs typeface="BIZ UDPGothic"/>
              </a:rPr>
              <a:t>どう変わったか</a:t>
            </a:r>
            <a:endParaRPr sz="2600" b="1" u="none" dirty="0">
              <a:solidFill>
                <a:srgbClr val="FFFFFF"/>
              </a:solidFill>
              <a:latin typeface="BIZ UDPGothic"/>
              <a:ea typeface="BIZ UDPGothic"/>
              <a:cs typeface="BIZ UDPGothic"/>
            </a:endParaRP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手だて①　</a:t>
            </a:r>
            <a:r>
              <a:rPr sz="3600" b="1" u="none">
                <a:solidFill>
                  <a:srgbClr val="B85A00"/>
                </a:solidFill>
                <a:latin typeface="BIZ UDPGothic"/>
                <a:ea typeface="BIZ UDPGothic"/>
                <a:cs typeface="BIZ UDPGothic"/>
              </a:rPr>
              <a:t>見つける力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４種類の用具と３つの場</a:t>
            </a:r>
            <a:br/>
            <a:r>
              <a:rPr sz="2300" b="1" u="none">
                <a:solidFill>
                  <a:srgbClr val="1B2A4A"/>
                </a:solidFill>
                <a:latin typeface="BIZ UDPGothic"/>
                <a:ea typeface="BIZ UDPGothic"/>
                <a:cs typeface="BIZ UDPGothic"/>
              </a:rPr>
              <a:t>から「選べる」</a:t>
            </a: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選ぶ経験が、</a:t>
            </a:r>
            <a:br/>
            <a:r>
              <a:rPr sz="2300" b="1" u="none">
                <a:solidFill>
                  <a:srgbClr val="1B2A4A"/>
                </a:solidFill>
                <a:latin typeface="BIZ UDPGothic"/>
                <a:ea typeface="BIZ UDPGothic"/>
                <a:cs typeface="BIZ UDPGothic"/>
              </a:rPr>
              <a:t>自分を知る第一歩</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自己理解・自己管理能力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手だて②　</a:t>
            </a:r>
            <a:r>
              <a:rPr sz="3600" b="1" u="none">
                <a:solidFill>
                  <a:srgbClr val="B85A00"/>
                </a:solidFill>
                <a:latin typeface="BIZ UDPGothic"/>
                <a:ea typeface="BIZ UDPGothic"/>
                <a:cs typeface="BIZ UDPGothic"/>
              </a:rPr>
              <a:t>考える力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dirty="0">
                <a:solidFill>
                  <a:srgbClr val="1B2A4A"/>
                </a:solidFill>
                <a:latin typeface="BIZ UDPGothic"/>
                <a:ea typeface="BIZ UDPGothic"/>
                <a:cs typeface="BIZ UDPGothic"/>
              </a:rPr>
              <a:t>「</a:t>
            </a:r>
            <a:r>
              <a:rPr sz="2300" b="1" u="none" dirty="0" err="1">
                <a:solidFill>
                  <a:srgbClr val="1B2A4A"/>
                </a:solidFill>
                <a:latin typeface="BIZ UDPGothic"/>
                <a:ea typeface="BIZ UDPGothic"/>
                <a:cs typeface="BIZ UDPGothic"/>
              </a:rPr>
              <a:t>〇〇できるかな</a:t>
            </a:r>
            <a:r>
              <a:rPr sz="2300" b="1" u="none" dirty="0">
                <a:solidFill>
                  <a:srgbClr val="1B2A4A"/>
                </a:solidFill>
                <a:latin typeface="BIZ UDPGothic"/>
                <a:ea typeface="BIZ UDPGothic"/>
                <a:cs typeface="BIZ UDPGothic"/>
              </a:rPr>
              <a:t>？」</a:t>
            </a:r>
            <a:br>
              <a:rPr dirty="0"/>
            </a:br>
            <a:r>
              <a:rPr lang="ja-JP" altLang="en-US" sz="2300" b="1" u="none" dirty="0">
                <a:solidFill>
                  <a:srgbClr val="1B2A4A"/>
                </a:solidFill>
                <a:latin typeface="BIZ UDPGothic"/>
                <a:ea typeface="BIZ UDPGothic"/>
                <a:cs typeface="BIZ UDPGothic"/>
              </a:rPr>
              <a:t>運動</a:t>
            </a:r>
            <a:r>
              <a:rPr sz="2300" b="1" u="none" dirty="0" err="1">
                <a:solidFill>
                  <a:srgbClr val="1B2A4A"/>
                </a:solidFill>
                <a:latin typeface="BIZ UDPGothic"/>
                <a:ea typeface="BIZ UDPGothic"/>
                <a:cs typeface="BIZ UDPGothic"/>
              </a:rPr>
              <a:t>遊びと指示書</a:t>
            </a:r>
            <a:endParaRPr sz="2300" b="1" u="none" dirty="0">
              <a:solidFill>
                <a:srgbClr val="1B2A4A"/>
              </a:solidFill>
              <a:latin typeface="BIZ UDPGothic"/>
              <a:ea typeface="BIZ UDPGothic"/>
              <a:cs typeface="BIZ UDPGothic"/>
            </a:endParaRP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比べる相手は</a:t>
            </a:r>
            <a:br/>
            <a:r>
              <a:rPr sz="2300" b="1" u="none">
                <a:solidFill>
                  <a:srgbClr val="1B2A4A"/>
                </a:solidFill>
                <a:latin typeface="BIZ UDPGothic"/>
                <a:ea typeface="BIZ UDPGothic"/>
                <a:cs typeface="BIZ UDPGothic"/>
              </a:rPr>
              <a:t>「前の自分」</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課題対応能力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手だて③　</a:t>
            </a:r>
            <a:r>
              <a:rPr sz="3600" b="1" u="none">
                <a:solidFill>
                  <a:srgbClr val="B85A00"/>
                </a:solidFill>
                <a:latin typeface="BIZ UDPGothic"/>
                <a:ea typeface="BIZ UDPGothic"/>
                <a:cs typeface="BIZ UDPGothic"/>
              </a:rPr>
              <a:t>聴く・伝える力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dirty="0" err="1">
                <a:solidFill>
                  <a:srgbClr val="1B2A4A"/>
                </a:solidFill>
                <a:latin typeface="BIZ UDPGothic"/>
                <a:ea typeface="BIZ UDPGothic"/>
                <a:cs typeface="BIZ UDPGothic"/>
              </a:rPr>
              <a:t>見る人・投げる人のペアと</a:t>
            </a:r>
            <a:endParaRPr lang="en-US" sz="2300" b="1" u="none" dirty="0">
              <a:solidFill>
                <a:srgbClr val="1B2A4A"/>
              </a:solidFill>
              <a:latin typeface="BIZ UDPGothic"/>
              <a:ea typeface="BIZ UDPGothic"/>
              <a:cs typeface="BIZ UDPGothic"/>
            </a:endParaRPr>
          </a:p>
          <a:p>
            <a:pPr algn="l">
              <a:lnSpc>
                <a:spcPct val="116700"/>
              </a:lnSpc>
            </a:pPr>
            <a:r>
              <a:rPr sz="2300" b="1" u="none" dirty="0" err="1">
                <a:solidFill>
                  <a:srgbClr val="1B2A4A"/>
                </a:solidFill>
                <a:latin typeface="BIZ UDPGothic"/>
                <a:ea typeface="BIZ UDPGothic"/>
                <a:cs typeface="BIZ UDPGothic"/>
              </a:rPr>
              <a:t>合言葉</a:t>
            </a:r>
            <a:endParaRPr sz="2300" b="1" u="none" dirty="0">
              <a:solidFill>
                <a:srgbClr val="1B2A4A"/>
              </a:solidFill>
              <a:latin typeface="BIZ UDPGothic"/>
              <a:ea typeface="BIZ UDPGothic"/>
              <a:cs typeface="BIZ UDPGothic"/>
            </a:endParaRP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見る視点があるから、</a:t>
            </a:r>
            <a:br/>
            <a:r>
              <a:rPr sz="2300" b="1" u="none">
                <a:solidFill>
                  <a:srgbClr val="1B2A4A"/>
                </a:solidFill>
                <a:latin typeface="BIZ UDPGothic"/>
                <a:ea typeface="BIZ UDPGothic"/>
                <a:cs typeface="BIZ UDPGothic"/>
              </a:rPr>
              <a:t>伝え合える</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人間関係形成・社会形成能力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a:solidFill>
                  <a:srgbClr val="1B2A4A"/>
                </a:solidFill>
                <a:latin typeface="BIZ UDPGothic"/>
                <a:ea typeface="BIZ UDPGothic"/>
                <a:cs typeface="BIZ UDPGothic"/>
              </a:rPr>
              <a:t>「</a:t>
            </a:r>
            <a:r>
              <a:rPr sz="3600" b="1" u="none" dirty="0" err="1">
                <a:solidFill>
                  <a:srgbClr val="1B2A4A"/>
                </a:solidFill>
                <a:latin typeface="BIZ UDPGothic"/>
                <a:ea typeface="BIZ UDPGothic"/>
                <a:cs typeface="BIZ UDPGothic"/>
              </a:rPr>
              <a:t>失敗しても大丈夫」をつくる</a:t>
            </a:r>
            <a:r>
              <a:rPr lang="ja-JP" altLang="en-US" sz="3600" b="1" u="none" dirty="0">
                <a:solidFill>
                  <a:srgbClr val="1B2A4A"/>
                </a:solidFill>
                <a:latin typeface="BIZ UDPGothic"/>
                <a:ea typeface="BIZ UDPGothic"/>
                <a:cs typeface="BIZ UDPGothic"/>
              </a:rPr>
              <a:t>教師の</a:t>
            </a:r>
            <a:r>
              <a:rPr sz="3600" b="1" u="none" dirty="0" err="1">
                <a:solidFill>
                  <a:srgbClr val="1B2A4A"/>
                </a:solidFill>
                <a:latin typeface="BIZ UDPGothic"/>
                <a:ea typeface="BIZ UDPGothic"/>
                <a:cs typeface="BIZ UDPGothic"/>
              </a:rPr>
              <a:t>言葉</a:t>
            </a:r>
            <a:endParaRPr sz="3600" b="1" u="none" dirty="0">
              <a:solidFill>
                <a:srgbClr val="1B2A4A"/>
              </a:solidFill>
              <a:latin typeface="BIZ UDPGothic"/>
              <a:ea typeface="BIZ UDPGothic"/>
              <a:cs typeface="BIZ UDPGothic"/>
            </a:endParaRP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7926"/>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ほめる</a:t>
            </a:r>
          </a:p>
        </p:txBody>
      </p:sp>
      <p:sp>
        <p:nvSpPr>
          <p:cNvPr id="6" name="Rounded Rectangular Callout 5"/>
          <p:cNvSpPr/>
          <p:nvPr/>
        </p:nvSpPr>
        <p:spPr>
          <a:xfrm>
            <a:off x="2984500" y="1945580"/>
            <a:ext cx="8445500" cy="684510"/>
          </a:xfrm>
          <a:prstGeom prst="wedgeRoundRectCallout">
            <a:avLst>
              <a:gd name="adj1" fmla="val -52790"/>
              <a:gd name="adj2" fmla="val 3804"/>
              <a:gd name="adj3" fmla="val 37106"/>
            </a:avLst>
          </a:prstGeom>
          <a:solidFill>
            <a:srgbClr val="FFF3E6"/>
          </a:solidFill>
          <a:ln w="25400">
            <a:solidFill>
              <a:srgbClr val="E8730C"/>
            </a:solidFill>
          </a:ln>
          <a:effectLst/>
        </p:spPr>
        <p:txBody>
          <a:bodyPr wrap="none" lIns="203200" tIns="139700" rIns="203200" bIns="139700" rtlCol="0" anchor="ctr">
            <a:noAutofit/>
          </a:bodyPr>
          <a:lstStyle/>
          <a:p>
            <a:pPr algn="l">
              <a:lnSpc>
                <a:spcPct val="120800"/>
              </a:lnSpc>
            </a:pPr>
            <a:r>
              <a:rPr sz="2200" b="0" u="none">
                <a:solidFill>
                  <a:srgbClr val="2B2F36"/>
                </a:solidFill>
                <a:latin typeface="BIZ UDPGothic"/>
                <a:ea typeface="BIZ UDPGothic"/>
                <a:cs typeface="BIZ UDPGothic"/>
              </a:rPr>
              <a:t>「手が耳の横まで上がったね！」</a:t>
            </a:r>
          </a:p>
        </p:txBody>
      </p:sp>
      <p:sp>
        <p:nvSpPr>
          <p:cNvPr id="7" name="Rounded Rectangle 6"/>
          <p:cNvSpPr/>
          <p:nvPr/>
        </p:nvSpPr>
        <p:spPr>
          <a:xfrm>
            <a:off x="762000" y="2827536"/>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問う</a:t>
            </a:r>
          </a:p>
        </p:txBody>
      </p:sp>
      <p:sp>
        <p:nvSpPr>
          <p:cNvPr id="8" name="Rounded Rectangular Callout 7"/>
          <p:cNvSpPr/>
          <p:nvPr/>
        </p:nvSpPr>
        <p:spPr>
          <a:xfrm>
            <a:off x="2984500" y="2795191"/>
            <a:ext cx="8445500" cy="684510"/>
          </a:xfrm>
          <a:prstGeom prst="wedgeRoundRectCallout">
            <a:avLst>
              <a:gd name="adj1" fmla="val -52790"/>
              <a:gd name="adj2" fmla="val 3804"/>
              <a:gd name="adj3" fmla="val 37106"/>
            </a:avLst>
          </a:prstGeom>
          <a:solidFill>
            <a:srgbClr val="FFF3E6"/>
          </a:solidFill>
          <a:ln w="25400">
            <a:solidFill>
              <a:srgbClr val="E8730C"/>
            </a:solidFill>
          </a:ln>
          <a:effectLst/>
        </p:spPr>
        <p:txBody>
          <a:bodyPr wrap="none" lIns="203200" tIns="139700" rIns="203200" bIns="139700" rtlCol="0" anchor="ctr">
            <a:noAutofit/>
          </a:bodyPr>
          <a:lstStyle/>
          <a:p>
            <a:pPr algn="l">
              <a:lnSpc>
                <a:spcPct val="120800"/>
              </a:lnSpc>
            </a:pPr>
            <a:r>
              <a:rPr sz="2200" b="0" u="none">
                <a:solidFill>
                  <a:srgbClr val="2B2F36"/>
                </a:solidFill>
                <a:latin typeface="BIZ UDPGothic"/>
                <a:ea typeface="BIZ UDPGothic"/>
                <a:cs typeface="BIZ UDPGothic"/>
              </a:rPr>
              <a:t>「２階に届くには、どこを目指す？」</a:t>
            </a:r>
          </a:p>
        </p:txBody>
      </p:sp>
      <p:sp>
        <p:nvSpPr>
          <p:cNvPr id="9" name="Rounded Rectangle 8"/>
          <p:cNvSpPr/>
          <p:nvPr/>
        </p:nvSpPr>
        <p:spPr>
          <a:xfrm>
            <a:off x="762000" y="3879751"/>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つなぐ</a:t>
            </a:r>
          </a:p>
        </p:txBody>
      </p:sp>
      <p:sp>
        <p:nvSpPr>
          <p:cNvPr id="10" name="Rounded Rectangular Callout 9"/>
          <p:cNvSpPr/>
          <p:nvPr/>
        </p:nvSpPr>
        <p:spPr>
          <a:xfrm>
            <a:off x="2984500" y="3644801"/>
            <a:ext cx="8445500" cy="1089620"/>
          </a:xfrm>
          <a:prstGeom prst="wedgeRoundRectCallout">
            <a:avLst>
              <a:gd name="adj1" fmla="val -52790"/>
              <a:gd name="adj2" fmla="val -16199"/>
              <a:gd name="adj3" fmla="val 23310"/>
            </a:avLst>
          </a:prstGeom>
          <a:solidFill>
            <a:srgbClr val="FFF3E6"/>
          </a:solidFill>
          <a:ln w="25400">
            <a:solidFill>
              <a:srgbClr val="E8730C"/>
            </a:solidFill>
          </a:ln>
          <a:effectLst/>
        </p:spPr>
        <p:txBody>
          <a:bodyPr wrap="square" lIns="203200" tIns="139700" rIns="203200" bIns="139700" rtlCol="0" anchor="ctr">
            <a:noAutofit/>
          </a:bodyPr>
          <a:lstStyle/>
          <a:p>
            <a:pPr algn="l">
              <a:lnSpc>
                <a:spcPct val="120800"/>
              </a:lnSpc>
            </a:pPr>
            <a:r>
              <a:rPr sz="2200" b="0" u="none" dirty="0">
                <a:solidFill>
                  <a:srgbClr val="2B2F36"/>
                </a:solidFill>
                <a:latin typeface="BIZ UDPGothic"/>
                <a:ea typeface="BIZ UDPGothic"/>
                <a:cs typeface="BIZ UDPGothic"/>
              </a:rPr>
              <a:t>「</a:t>
            </a:r>
            <a:r>
              <a:rPr sz="2200" b="0" u="none" dirty="0" err="1">
                <a:solidFill>
                  <a:srgbClr val="2B2F36"/>
                </a:solidFill>
                <a:latin typeface="BIZ UDPGothic"/>
                <a:ea typeface="BIZ UDPGothic"/>
                <a:cs typeface="BIZ UDPGothic"/>
              </a:rPr>
              <a:t>〇〇さんはボールを替えたら</a:t>
            </a:r>
            <a:br>
              <a:rPr dirty="0"/>
            </a:br>
            <a:r>
              <a:rPr sz="2200" b="0" u="none" dirty="0" err="1">
                <a:solidFill>
                  <a:srgbClr val="2B2F36"/>
                </a:solidFill>
                <a:latin typeface="BIZ UDPGothic"/>
                <a:ea typeface="BIZ UDPGothic"/>
                <a:cs typeface="BIZ UDPGothic"/>
              </a:rPr>
              <a:t>投げやすくなったよ。試してみる</a:t>
            </a:r>
            <a:r>
              <a:rPr sz="2200" b="0" u="none" dirty="0">
                <a:solidFill>
                  <a:srgbClr val="2B2F36"/>
                </a:solidFill>
                <a:latin typeface="BIZ UDPGothic"/>
                <a:ea typeface="BIZ UDPGothic"/>
                <a:cs typeface="BIZ UDPGothic"/>
              </a:rPr>
              <a:t>？」</a:t>
            </a:r>
          </a:p>
        </p:txBody>
      </p:sp>
      <p:sp>
        <p:nvSpPr>
          <p:cNvPr id="11" name="TextBox 10"/>
          <p:cNvSpPr txBox="1"/>
          <p:nvPr/>
        </p:nvSpPr>
        <p:spPr>
          <a:xfrm>
            <a:off x="762000" y="4988421"/>
            <a:ext cx="10744200" cy="462260"/>
          </a:xfrm>
          <a:prstGeom prst="rect">
            <a:avLst/>
          </a:prstGeom>
          <a:noFill/>
        </p:spPr>
        <p:txBody>
          <a:bodyPr wrap="none" lIns="0" tIns="0" rIns="0" bIns="0" anchor="t">
            <a:noAutofit/>
          </a:bodyPr>
          <a:lstStyle/>
          <a:p>
            <a:pPr algn="l">
              <a:lnSpc>
                <a:spcPct val="116700"/>
              </a:lnSpc>
            </a:pPr>
            <a:r>
              <a:rPr sz="2600" b="1" u="none">
                <a:solidFill>
                  <a:srgbClr val="1B2A4A"/>
                </a:solidFill>
                <a:latin typeface="BIZ UDPGothic"/>
                <a:ea typeface="BIZ UDPGothic"/>
                <a:cs typeface="BIZ UDPGothic"/>
              </a:rPr>
              <a:t>安心があるから、</a:t>
            </a:r>
            <a:r>
              <a:rPr sz="2600" b="1" u="none">
                <a:solidFill>
                  <a:srgbClr val="B85A00"/>
                </a:solidFill>
                <a:latin typeface="BIZ UDPGothic"/>
                <a:ea typeface="BIZ UDPGothic"/>
                <a:cs typeface="BIZ UDPGothic"/>
              </a:rPr>
              <a:t>挑戦できる。</a:t>
            </a: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lang="ja-JP" altLang="en-US" sz="3600" b="1" dirty="0">
                <a:solidFill>
                  <a:srgbClr val="1B2A4A"/>
                </a:solidFill>
                <a:latin typeface="BIZ UDPGothic"/>
                <a:ea typeface="BIZ UDPGothic"/>
                <a:cs typeface="BIZ UDPGothic"/>
              </a:rPr>
              <a:t>更</a:t>
            </a:r>
            <a:r>
              <a:rPr sz="3600" b="1" u="none" dirty="0" err="1">
                <a:solidFill>
                  <a:srgbClr val="1B2A4A"/>
                </a:solidFill>
                <a:latin typeface="BIZ UDPGothic"/>
                <a:ea typeface="BIZ UDPGothic"/>
                <a:cs typeface="BIZ UDPGothic"/>
              </a:rPr>
              <a:t>なる充実に向けて</a:t>
            </a:r>
            <a:endParaRPr sz="3600" b="1" u="none" dirty="0">
              <a:solidFill>
                <a:srgbClr val="1B2A4A"/>
              </a:solidFill>
              <a:latin typeface="BIZ UDPGothic"/>
              <a:ea typeface="BIZ UDPGothic"/>
              <a:cs typeface="BIZ UDPGothic"/>
            </a:endParaRP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6" name="TextBox 5"/>
          <p:cNvSpPr txBox="1"/>
          <p:nvPr/>
        </p:nvSpPr>
        <p:spPr>
          <a:xfrm>
            <a:off x="1016000" y="2174180"/>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1</a:t>
            </a:r>
            <a:r>
              <a:rPr sz="2400" b="1" u="none">
                <a:solidFill>
                  <a:srgbClr val="1B2A4A"/>
                </a:solidFill>
                <a:latin typeface="BIZ UDPGothic"/>
                <a:ea typeface="BIZ UDPGothic"/>
                <a:cs typeface="BIZ UDPGothic"/>
              </a:rPr>
              <a:t>　選んだ理由を言葉に</a:t>
            </a:r>
          </a:p>
        </p:txBody>
      </p:sp>
      <p:sp>
        <p:nvSpPr>
          <p:cNvPr id="7" name="TextBox 6"/>
          <p:cNvSpPr txBox="1"/>
          <p:nvPr/>
        </p:nvSpPr>
        <p:spPr>
          <a:xfrm>
            <a:off x="1016000" y="2689721"/>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「なぜそのボールにしたの？」</a:t>
            </a:r>
          </a:p>
        </p:txBody>
      </p:sp>
      <p:sp>
        <p:nvSpPr>
          <p:cNvPr id="8" name="Rounded Rectangle 7"/>
          <p:cNvSpPr/>
          <p:nvPr/>
        </p:nvSpPr>
        <p:spPr>
          <a:xfrm>
            <a:off x="6184900" y="1970980"/>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9" name="TextBox 8"/>
          <p:cNvSpPr txBox="1"/>
          <p:nvPr/>
        </p:nvSpPr>
        <p:spPr>
          <a:xfrm>
            <a:off x="6438900" y="2174180"/>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2</a:t>
            </a:r>
            <a:r>
              <a:rPr sz="2400" b="1" u="none">
                <a:solidFill>
                  <a:srgbClr val="1B2A4A"/>
                </a:solidFill>
                <a:latin typeface="BIZ UDPGothic"/>
                <a:ea typeface="BIZ UDPGothic"/>
                <a:cs typeface="BIZ UDPGothic"/>
              </a:rPr>
              <a:t>　伸びと気持ちを残す</a:t>
            </a:r>
          </a:p>
        </p:txBody>
      </p:sp>
      <p:sp>
        <p:nvSpPr>
          <p:cNvPr id="10" name="TextBox 9"/>
          <p:cNvSpPr txBox="1"/>
          <p:nvPr/>
        </p:nvSpPr>
        <p:spPr>
          <a:xfrm>
            <a:off x="6438900" y="2689721"/>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次の単元・学期へつなぐ</a:t>
            </a:r>
          </a:p>
        </p:txBody>
      </p:sp>
      <p:sp>
        <p:nvSpPr>
          <p:cNvPr id="11" name="Rounded Rectangle 10"/>
          <p:cNvSpPr/>
          <p:nvPr/>
        </p:nvSpPr>
        <p:spPr>
          <a:xfrm>
            <a:off x="762000" y="3426321"/>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12" name="TextBox 11"/>
          <p:cNvSpPr txBox="1"/>
          <p:nvPr/>
        </p:nvSpPr>
        <p:spPr>
          <a:xfrm>
            <a:off x="1016000" y="3629521"/>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3</a:t>
            </a:r>
            <a:r>
              <a:rPr sz="2400" b="1" u="none">
                <a:solidFill>
                  <a:srgbClr val="1B2A4A"/>
                </a:solidFill>
                <a:latin typeface="BIZ UDPGothic"/>
                <a:ea typeface="BIZ UDPGothic"/>
                <a:cs typeface="BIZ UDPGothic"/>
              </a:rPr>
              <a:t>　運動量の確保</a:t>
            </a:r>
          </a:p>
        </p:txBody>
      </p:sp>
      <p:sp>
        <p:nvSpPr>
          <p:cNvPr id="13" name="TextBox 12"/>
          <p:cNvSpPr txBox="1"/>
          <p:nvPr/>
        </p:nvSpPr>
        <p:spPr>
          <a:xfrm>
            <a:off x="1016000" y="4145062"/>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待ち時間を減らし、もっと投げる</a:t>
            </a:r>
          </a:p>
        </p:txBody>
      </p:sp>
      <p:sp>
        <p:nvSpPr>
          <p:cNvPr id="14" name="Rounded Rectangle 13"/>
          <p:cNvSpPr/>
          <p:nvPr/>
        </p:nvSpPr>
        <p:spPr>
          <a:xfrm>
            <a:off x="6184900" y="3426321"/>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15" name="TextBox 14"/>
          <p:cNvSpPr txBox="1"/>
          <p:nvPr/>
        </p:nvSpPr>
        <p:spPr>
          <a:xfrm>
            <a:off x="6438900" y="3629521"/>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4</a:t>
            </a:r>
            <a:r>
              <a:rPr sz="2400" b="1" u="none">
                <a:solidFill>
                  <a:srgbClr val="1B2A4A"/>
                </a:solidFill>
                <a:latin typeface="BIZ UDPGothic"/>
                <a:ea typeface="BIZ UDPGothic"/>
                <a:cs typeface="BIZ UDPGothic"/>
              </a:rPr>
              <a:t>　運動の日常化</a:t>
            </a:r>
          </a:p>
        </p:txBody>
      </p:sp>
      <p:sp>
        <p:nvSpPr>
          <p:cNvPr id="16" name="TextBox 15"/>
          <p:cNvSpPr txBox="1"/>
          <p:nvPr/>
        </p:nvSpPr>
        <p:spPr>
          <a:xfrm>
            <a:off x="6438900" y="4145062"/>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休み時間に場や用具を開放</a:t>
            </a:r>
          </a:p>
        </p:txBody>
      </p:sp>
      <p:sp>
        <p:nvSpPr>
          <p:cNvPr id="18" name="TextBox 17"/>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04</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次期学習指導要領に向けて</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dirty="0">
                <a:solidFill>
                  <a:srgbClr val="C9D3E6"/>
                </a:solidFill>
                <a:latin typeface="BIZ UDPGothic"/>
                <a:ea typeface="BIZ UDPGothic"/>
                <a:cs typeface="BIZ UDPGothic"/>
              </a:rPr>
              <a:t>最新動向（令和８年10月時点）</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dirty="0">
                <a:solidFill>
                  <a:srgbClr val="B85A00"/>
                </a:solidFill>
                <a:latin typeface="BIZ UDPGothic"/>
                <a:ea typeface="BIZ UDPGothic"/>
                <a:cs typeface="BIZ UDPGothic"/>
              </a:rPr>
              <a:t>04　</a:t>
            </a:r>
            <a:r>
              <a:rPr sz="1600" b="1" u="none" dirty="0" err="1">
                <a:solidFill>
                  <a:srgbClr val="B85A00"/>
                </a:solidFill>
                <a:latin typeface="BIZ UDPGothic"/>
                <a:ea typeface="BIZ UDPGothic"/>
                <a:cs typeface="BIZ UDPGothic"/>
              </a:rPr>
              <a:t>次期学習指導要領に向けて</a:t>
            </a:r>
            <a:r>
              <a:rPr sz="1600" b="1" u="none" dirty="0">
                <a:solidFill>
                  <a:srgbClr val="B85A00"/>
                </a:solidFill>
                <a:latin typeface="BIZ UDPGothic"/>
                <a:ea typeface="BIZ UDPGothic"/>
                <a:cs typeface="BIZ UDPGothic"/>
              </a:rPr>
              <a:t>　</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err="1">
                <a:solidFill>
                  <a:srgbClr val="1B2A4A"/>
                </a:solidFill>
                <a:latin typeface="BIZ UDPGothic"/>
                <a:ea typeface="BIZ UDPGothic"/>
                <a:cs typeface="BIZ UDPGothic"/>
              </a:rPr>
              <a:t>審議まとめ</a:t>
            </a:r>
            <a:r>
              <a:rPr lang="ja-JP" altLang="en-US" sz="3600" b="1" u="none" dirty="0">
                <a:solidFill>
                  <a:srgbClr val="1B2A4A"/>
                </a:solidFill>
                <a:latin typeface="BIZ UDPGothic"/>
                <a:ea typeface="BIZ UDPGothic"/>
                <a:cs typeface="BIZ UDPGothic"/>
              </a:rPr>
              <a:t>で示された</a:t>
            </a:r>
            <a:r>
              <a:rPr sz="3600" b="1" u="none" dirty="0">
                <a:solidFill>
                  <a:srgbClr val="1B2A4A"/>
                </a:solidFill>
                <a:latin typeface="BIZ UDPGothic"/>
                <a:ea typeface="BIZ UDPGothic"/>
                <a:cs typeface="BIZ UDPGothic"/>
              </a:rPr>
              <a:t>３つの方向性</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6" name="TextBox 5"/>
          <p:cNvSpPr txBox="1"/>
          <p:nvPr/>
        </p:nvSpPr>
        <p:spPr>
          <a:xfrm>
            <a:off x="9906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1</a:t>
            </a:r>
          </a:p>
        </p:txBody>
      </p:sp>
      <p:sp>
        <p:nvSpPr>
          <p:cNvPr id="7" name="TextBox 6"/>
          <p:cNvSpPr txBox="1"/>
          <p:nvPr/>
        </p:nvSpPr>
        <p:spPr>
          <a:xfrm>
            <a:off x="9906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主体的・対話的で</a:t>
            </a:r>
            <a:br/>
            <a:r>
              <a:rPr sz="2400" b="1" u="none">
                <a:solidFill>
                  <a:srgbClr val="1B2A4A"/>
                </a:solidFill>
                <a:latin typeface="BIZ UDPGothic"/>
                <a:ea typeface="BIZ UDPGothic"/>
                <a:cs typeface="BIZ UDPGothic"/>
              </a:rPr>
              <a:t>深い学びの実装</a:t>
            </a:r>
          </a:p>
        </p:txBody>
      </p:sp>
      <p:sp>
        <p:nvSpPr>
          <p:cNvPr id="8" name="Rounded Rectangle 7"/>
          <p:cNvSpPr/>
          <p:nvPr/>
        </p:nvSpPr>
        <p:spPr>
          <a:xfrm>
            <a:off x="43815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9" name="TextBox 8"/>
          <p:cNvSpPr txBox="1"/>
          <p:nvPr/>
        </p:nvSpPr>
        <p:spPr>
          <a:xfrm>
            <a:off x="46101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2</a:t>
            </a:r>
          </a:p>
        </p:txBody>
      </p:sp>
      <p:sp>
        <p:nvSpPr>
          <p:cNvPr id="10" name="TextBox 9"/>
          <p:cNvSpPr txBox="1"/>
          <p:nvPr/>
        </p:nvSpPr>
        <p:spPr>
          <a:xfrm>
            <a:off x="46101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多様性の</a:t>
            </a:r>
            <a:br/>
            <a:r>
              <a:rPr sz="2400" b="1" u="none">
                <a:solidFill>
                  <a:srgbClr val="1B2A4A"/>
                </a:solidFill>
                <a:latin typeface="BIZ UDPGothic"/>
                <a:ea typeface="BIZ UDPGothic"/>
                <a:cs typeface="BIZ UDPGothic"/>
              </a:rPr>
              <a:t>包摂</a:t>
            </a:r>
          </a:p>
        </p:txBody>
      </p:sp>
      <p:sp>
        <p:nvSpPr>
          <p:cNvPr id="11" name="Rounded Rectangle 10"/>
          <p:cNvSpPr/>
          <p:nvPr/>
        </p:nvSpPr>
        <p:spPr>
          <a:xfrm>
            <a:off x="80010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12" name="TextBox 11"/>
          <p:cNvSpPr txBox="1"/>
          <p:nvPr/>
        </p:nvSpPr>
        <p:spPr>
          <a:xfrm>
            <a:off x="82296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3</a:t>
            </a:r>
          </a:p>
        </p:txBody>
      </p:sp>
      <p:sp>
        <p:nvSpPr>
          <p:cNvPr id="13" name="TextBox 12"/>
          <p:cNvSpPr txBox="1"/>
          <p:nvPr/>
        </p:nvSpPr>
        <p:spPr>
          <a:xfrm>
            <a:off x="82296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実現可能性の</a:t>
            </a:r>
            <a:br/>
            <a:r>
              <a:rPr sz="2400" b="1" u="none">
                <a:solidFill>
                  <a:srgbClr val="1B2A4A"/>
                </a:solidFill>
                <a:latin typeface="BIZ UDPGothic"/>
                <a:ea typeface="BIZ UDPGothic"/>
                <a:cs typeface="BIZ UDPGothic"/>
              </a:rPr>
              <a:t>確保</a:t>
            </a:r>
          </a:p>
        </p:txBody>
      </p:sp>
      <p:sp>
        <p:nvSpPr>
          <p:cNvPr id="14" name="Rounded Rectangle 13"/>
          <p:cNvSpPr/>
          <p:nvPr/>
        </p:nvSpPr>
        <p:spPr>
          <a:xfrm>
            <a:off x="762000" y="408930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15" name="TextBox 14"/>
          <p:cNvSpPr txBox="1"/>
          <p:nvPr/>
        </p:nvSpPr>
        <p:spPr>
          <a:xfrm>
            <a:off x="1066800" y="427980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本時の「</a:t>
            </a:r>
            <a:r>
              <a:rPr sz="2400" b="1" u="none">
                <a:solidFill>
                  <a:srgbClr val="F5A25A"/>
                </a:solidFill>
                <a:latin typeface="BIZ UDPGothic"/>
                <a:ea typeface="BIZ UDPGothic"/>
                <a:cs typeface="BIZ UDPGothic"/>
              </a:rPr>
              <a:t>選ぶ</a:t>
            </a:r>
            <a:r>
              <a:rPr sz="2400" b="1" u="none">
                <a:solidFill>
                  <a:srgbClr val="FFFFFF"/>
                </a:solidFill>
                <a:latin typeface="BIZ UDPGothic"/>
                <a:ea typeface="BIZ UDPGothic"/>
                <a:cs typeface="BIZ UDPGothic"/>
              </a:rPr>
              <a:t>」「</a:t>
            </a:r>
            <a:r>
              <a:rPr sz="2400" b="1" u="none">
                <a:solidFill>
                  <a:srgbClr val="F5A25A"/>
                </a:solidFill>
                <a:latin typeface="BIZ UDPGothic"/>
                <a:ea typeface="BIZ UDPGothic"/>
                <a:cs typeface="BIZ UDPGothic"/>
              </a:rPr>
              <a:t>前の自分と比べる</a:t>
            </a:r>
            <a:r>
              <a:rPr sz="2400" b="1" u="none">
                <a:solidFill>
                  <a:srgbClr val="FFFFFF"/>
                </a:solidFill>
                <a:latin typeface="BIZ UDPGothic"/>
                <a:ea typeface="BIZ UDPGothic"/>
                <a:cs typeface="BIZ UDPGothic"/>
              </a:rPr>
              <a:t>」＝ 自己調整の芽</a:t>
            </a:r>
          </a:p>
        </p:txBody>
      </p:sp>
      <p:sp>
        <p:nvSpPr>
          <p:cNvPr id="16" name="TextBox 15"/>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err="1">
                <a:solidFill>
                  <a:srgbClr val="B85A00"/>
                </a:solidFill>
                <a:latin typeface="BIZ UDPGothic"/>
                <a:ea typeface="BIZ UDPGothic"/>
                <a:cs typeface="BIZ UDPGothic"/>
              </a:rPr>
              <a:t>※審議段階の内容です（今後、答申・告示を経て確定します）</a:t>
            </a:r>
          </a:p>
          <a:p>
            <a:pPr algn="l">
              <a:lnSpc>
                <a:spcPct val="116700"/>
              </a:lnSpc>
            </a:pPr>
            <a:r>
              <a:rPr sz="1200" b="0" u="none" dirty="0" err="1">
                <a:solidFill>
                  <a:srgbClr val="5B6472"/>
                </a:solidFill>
                <a:latin typeface="BIZ UDPGothic"/>
                <a:ea typeface="BIZ UDPGothic"/>
                <a:cs typeface="BIZ UDPGothic"/>
              </a:rPr>
              <a:t>出典：中央教育審議会 教育課程部会「次期学習指導要領等に向けた審議まとめ」（令和８年10月５日）</a:t>
            </a:r>
          </a:p>
        </p:txBody>
      </p:sp>
      <p:sp>
        <p:nvSpPr>
          <p:cNvPr id="17" name="TextBox 16"/>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dirty="0">
                <a:solidFill>
                  <a:srgbClr val="B85A00"/>
                </a:solidFill>
                <a:latin typeface="BIZ UDPGothic"/>
                <a:ea typeface="BIZ UDPGothic"/>
                <a:cs typeface="BIZ UDPGothic"/>
              </a:rPr>
              <a:t>04　</a:t>
            </a:r>
            <a:r>
              <a:rPr sz="1600" b="1" u="none" dirty="0" err="1">
                <a:solidFill>
                  <a:srgbClr val="B85A00"/>
                </a:solidFill>
                <a:latin typeface="BIZ UDPGothic"/>
                <a:ea typeface="BIZ UDPGothic"/>
                <a:cs typeface="BIZ UDPGothic"/>
              </a:rPr>
              <a:t>次期学習指導要領に向けて</a:t>
            </a:r>
            <a:r>
              <a:rPr sz="1600" b="1" u="none" dirty="0">
                <a:solidFill>
                  <a:srgbClr val="B85A00"/>
                </a:solidFill>
                <a:latin typeface="BIZ UDPGothic"/>
                <a:ea typeface="BIZ UDPGothic"/>
                <a:cs typeface="BIZ UDPGothic"/>
              </a:rPr>
              <a:t>　</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体育科の改善の方向性</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小１～４を「運動遊び」に</a:t>
            </a:r>
          </a:p>
        </p:txBody>
      </p:sp>
      <p:sp>
        <p:nvSpPr>
          <p:cNvPr id="6" name="Rounded Rectangle 5"/>
          <p:cNvSpPr/>
          <p:nvPr/>
        </p:nvSpPr>
        <p:spPr>
          <a:xfrm>
            <a:off x="6178550" y="1970980"/>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「態度」の評価を再整理</a:t>
            </a:r>
          </a:p>
        </p:txBody>
      </p:sp>
      <p:sp>
        <p:nvSpPr>
          <p:cNvPr id="7" name="Rounded Rectangle 6"/>
          <p:cNvSpPr/>
          <p:nvPr/>
        </p:nvSpPr>
        <p:spPr>
          <a:xfrm>
            <a:off x="762000" y="2900561"/>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する・みる・支える・知る</a:t>
            </a:r>
          </a:p>
        </p:txBody>
      </p:sp>
      <p:sp>
        <p:nvSpPr>
          <p:cNvPr id="8" name="Rounded Rectangle 7"/>
          <p:cNvSpPr/>
          <p:nvPr/>
        </p:nvSpPr>
        <p:spPr>
          <a:xfrm>
            <a:off x="6178550" y="2900561"/>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資質・能力を育てる体育へ</a:t>
            </a:r>
          </a:p>
        </p:txBody>
      </p:sp>
      <p:sp>
        <p:nvSpPr>
          <p:cNvPr id="9" name="Rounded Rectangle 8"/>
          <p:cNvSpPr/>
          <p:nvPr/>
        </p:nvSpPr>
        <p:spPr>
          <a:xfrm>
            <a:off x="762000" y="394444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10" name="TextBox 9"/>
          <p:cNvSpPr txBox="1"/>
          <p:nvPr/>
        </p:nvSpPr>
        <p:spPr>
          <a:xfrm>
            <a:off x="1066800" y="413494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「なげなげあそび」は、</a:t>
            </a:r>
            <a:r>
              <a:rPr sz="2400" b="1" u="none">
                <a:solidFill>
                  <a:srgbClr val="F5A25A"/>
                </a:solidFill>
                <a:latin typeface="BIZ UDPGothic"/>
                <a:ea typeface="BIZ UDPGothic"/>
                <a:cs typeface="BIZ UDPGothic"/>
              </a:rPr>
              <a:t>方向性を先取りした実践</a:t>
            </a:r>
          </a:p>
        </p:txBody>
      </p:sp>
      <p:sp>
        <p:nvSpPr>
          <p:cNvPr id="11" name="TextBox 10"/>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err="1">
                <a:solidFill>
                  <a:srgbClr val="B85A00"/>
                </a:solidFill>
                <a:latin typeface="BIZ UDPGothic"/>
                <a:ea typeface="BIZ UDPGothic"/>
                <a:cs typeface="BIZ UDPGothic"/>
              </a:rPr>
              <a:t>※審議段階の内容です（今後、答申・告示を経て確定します）</a:t>
            </a:r>
          </a:p>
          <a:p>
            <a:pPr algn="l">
              <a:lnSpc>
                <a:spcPct val="116700"/>
              </a:lnSpc>
            </a:pPr>
            <a:r>
              <a:rPr sz="1200" b="0" u="none" dirty="0" err="1">
                <a:solidFill>
                  <a:srgbClr val="5B6472"/>
                </a:solidFill>
                <a:latin typeface="BIZ UDPGothic"/>
                <a:ea typeface="BIZ UDPGothic"/>
                <a:cs typeface="BIZ UDPGothic"/>
              </a:rPr>
              <a:t>出典：中央教育審議会 体育・保健体育、健康、安全ワーキンググループ 取りまとめ（令和８年７月）</a:t>
            </a:r>
          </a:p>
        </p:txBody>
      </p:sp>
      <p:sp>
        <p:nvSpPr>
          <p:cNvPr id="12" name="TextBox 11"/>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04　次期学習指導要領に向けて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今後のキャリア教育</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20180"/>
            <a:ext cx="5238750" cy="2542480"/>
          </a:xfrm>
          <a:prstGeom prst="roundRect">
            <a:avLst>
              <a:gd name="adj" fmla="val 6993"/>
            </a:avLst>
          </a:prstGeom>
          <a:solidFill>
            <a:srgbClr val="EEF2F8"/>
          </a:solidFill>
          <a:ln>
            <a:noFill/>
          </a:ln>
          <a:effectLst/>
        </p:spPr>
        <p:txBody>
          <a:bodyPr rtlCol="0" anchor="ctr"/>
          <a:lstStyle/>
          <a:p>
            <a:pPr algn="ctr"/>
            <a:endParaRPr/>
          </a:p>
        </p:txBody>
      </p:sp>
      <p:sp>
        <p:nvSpPr>
          <p:cNvPr id="6" name="TextBox 5"/>
          <p:cNvSpPr txBox="1"/>
          <p:nvPr/>
        </p:nvSpPr>
        <p:spPr>
          <a:xfrm>
            <a:off x="1016000" y="2123380"/>
            <a:ext cx="4806950" cy="266700"/>
          </a:xfrm>
          <a:prstGeom prst="rect">
            <a:avLst/>
          </a:prstGeom>
          <a:noFill/>
        </p:spPr>
        <p:txBody>
          <a:bodyPr wrap="none" lIns="0" tIns="0" rIns="0" bIns="0" anchor="t">
            <a:noAutofit/>
          </a:bodyPr>
          <a:lstStyle/>
          <a:p>
            <a:pPr algn="l">
              <a:lnSpc>
                <a:spcPct val="116700"/>
              </a:lnSpc>
            </a:pPr>
            <a:r>
              <a:rPr sz="1500" b="1" u="none">
                <a:solidFill>
                  <a:srgbClr val="B85A00"/>
                </a:solidFill>
                <a:latin typeface="BIZ UDPGothic"/>
                <a:ea typeface="BIZ UDPGothic"/>
                <a:cs typeface="BIZ UDPGothic"/>
              </a:rPr>
              <a:t>現行の学習指導要領</a:t>
            </a:r>
          </a:p>
        </p:txBody>
      </p:sp>
      <p:sp>
        <p:nvSpPr>
          <p:cNvPr id="7" name="TextBox 6"/>
          <p:cNvSpPr txBox="1"/>
          <p:nvPr/>
        </p:nvSpPr>
        <p:spPr>
          <a:xfrm>
            <a:off x="1016000" y="2478980"/>
            <a:ext cx="4806950" cy="408880"/>
          </a:xfrm>
          <a:prstGeom prst="rect">
            <a:avLst/>
          </a:prstGeom>
          <a:noFill/>
        </p:spPr>
        <p:txBody>
          <a:bodyPr wrap="none" lIns="0" tIns="0" rIns="0" bIns="0" anchor="t">
            <a:noAutofit/>
          </a:bodyPr>
          <a:lstStyle/>
          <a:p>
            <a:pPr algn="l">
              <a:lnSpc>
                <a:spcPct val="116700"/>
              </a:lnSpc>
            </a:pPr>
            <a:r>
              <a:rPr sz="2300" b="1" u="none">
                <a:solidFill>
                  <a:srgbClr val="1B2A4A"/>
                </a:solidFill>
                <a:latin typeface="BIZ UDPGothic"/>
                <a:ea typeface="BIZ UDPGothic"/>
                <a:cs typeface="BIZ UDPGothic"/>
              </a:rPr>
              <a:t>変わらないこと</a:t>
            </a:r>
          </a:p>
        </p:txBody>
      </p:sp>
      <p:sp>
        <p:nvSpPr>
          <p:cNvPr id="8" name="TextBox 7"/>
          <p:cNvSpPr txBox="1"/>
          <p:nvPr/>
        </p:nvSpPr>
        <p:spPr>
          <a:xfrm>
            <a:off x="1016000" y="29767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・各教科等の特質に応じて行う</a:t>
            </a:r>
          </a:p>
        </p:txBody>
      </p:sp>
      <p:sp>
        <p:nvSpPr>
          <p:cNvPr id="9" name="TextBox 8"/>
          <p:cNvSpPr txBox="1"/>
          <p:nvPr/>
        </p:nvSpPr>
        <p:spPr>
          <a:xfrm>
            <a:off x="1016000" y="34339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・特別活動を要とする</a:t>
            </a:r>
          </a:p>
        </p:txBody>
      </p:sp>
      <p:sp>
        <p:nvSpPr>
          <p:cNvPr id="10" name="TextBox 9"/>
          <p:cNvSpPr txBox="1"/>
          <p:nvPr/>
        </p:nvSpPr>
        <p:spPr>
          <a:xfrm>
            <a:off x="1016000" y="38911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・見通し・振り返りを積み重ねる</a:t>
            </a:r>
          </a:p>
        </p:txBody>
      </p:sp>
      <p:sp>
        <p:nvSpPr>
          <p:cNvPr id="11" name="Rounded Rectangle 10"/>
          <p:cNvSpPr/>
          <p:nvPr/>
        </p:nvSpPr>
        <p:spPr>
          <a:xfrm>
            <a:off x="6191250" y="1920180"/>
            <a:ext cx="5238750" cy="2542480"/>
          </a:xfrm>
          <a:prstGeom prst="roundRect">
            <a:avLst>
              <a:gd name="adj" fmla="val 6993"/>
            </a:avLst>
          </a:prstGeom>
          <a:solidFill>
            <a:srgbClr val="FFF3E6"/>
          </a:solidFill>
          <a:ln>
            <a:noFill/>
          </a:ln>
          <a:effectLst/>
        </p:spPr>
        <p:txBody>
          <a:bodyPr rtlCol="0" anchor="ctr"/>
          <a:lstStyle/>
          <a:p>
            <a:pPr algn="ctr"/>
            <a:endParaRPr/>
          </a:p>
        </p:txBody>
      </p:sp>
      <p:sp>
        <p:nvSpPr>
          <p:cNvPr id="12" name="TextBox 11"/>
          <p:cNvSpPr txBox="1"/>
          <p:nvPr/>
        </p:nvSpPr>
        <p:spPr>
          <a:xfrm>
            <a:off x="6445250" y="2123380"/>
            <a:ext cx="4806950" cy="266700"/>
          </a:xfrm>
          <a:prstGeom prst="rect">
            <a:avLst/>
          </a:prstGeom>
          <a:noFill/>
        </p:spPr>
        <p:txBody>
          <a:bodyPr wrap="none" lIns="0" tIns="0" rIns="0" bIns="0" anchor="t">
            <a:noAutofit/>
          </a:bodyPr>
          <a:lstStyle/>
          <a:p>
            <a:pPr algn="l">
              <a:lnSpc>
                <a:spcPct val="116700"/>
              </a:lnSpc>
            </a:pPr>
            <a:r>
              <a:rPr sz="1500" b="1" u="none">
                <a:solidFill>
                  <a:srgbClr val="B85A00"/>
                </a:solidFill>
                <a:latin typeface="BIZ UDPGothic"/>
                <a:ea typeface="BIZ UDPGothic"/>
                <a:cs typeface="BIZ UDPGothic"/>
              </a:rPr>
              <a:t>中教審 特別活動WG（令和８年５月25日）</a:t>
            </a:r>
          </a:p>
        </p:txBody>
      </p:sp>
      <p:sp>
        <p:nvSpPr>
          <p:cNvPr id="13" name="TextBox 12"/>
          <p:cNvSpPr txBox="1"/>
          <p:nvPr/>
        </p:nvSpPr>
        <p:spPr>
          <a:xfrm>
            <a:off x="6445250" y="2478980"/>
            <a:ext cx="4806950" cy="408880"/>
          </a:xfrm>
          <a:prstGeom prst="rect">
            <a:avLst/>
          </a:prstGeom>
          <a:noFill/>
        </p:spPr>
        <p:txBody>
          <a:bodyPr wrap="none" lIns="0" tIns="0" rIns="0" bIns="0" anchor="t">
            <a:noAutofit/>
          </a:bodyPr>
          <a:lstStyle/>
          <a:p>
            <a:pPr algn="l">
              <a:lnSpc>
                <a:spcPct val="116700"/>
              </a:lnSpc>
            </a:pPr>
            <a:r>
              <a:rPr sz="2300" b="1" u="none">
                <a:solidFill>
                  <a:srgbClr val="1B2A4A"/>
                </a:solidFill>
                <a:latin typeface="BIZ UDPGothic"/>
                <a:ea typeface="BIZ UDPGothic"/>
                <a:cs typeface="BIZ UDPGothic"/>
              </a:rPr>
              <a:t>審議で示された方向</a:t>
            </a:r>
          </a:p>
        </p:txBody>
      </p:sp>
      <p:sp>
        <p:nvSpPr>
          <p:cNvPr id="14" name="TextBox 13"/>
          <p:cNvSpPr txBox="1"/>
          <p:nvPr/>
        </p:nvSpPr>
        <p:spPr>
          <a:xfrm>
            <a:off x="6445250" y="29767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・学びに向かう力との関係を整理</a:t>
            </a:r>
          </a:p>
        </p:txBody>
      </p:sp>
      <p:sp>
        <p:nvSpPr>
          <p:cNvPr id="15" name="TextBox 14"/>
          <p:cNvSpPr txBox="1"/>
          <p:nvPr/>
        </p:nvSpPr>
        <p:spPr>
          <a:xfrm>
            <a:off x="6445250" y="34339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・記録は様式を問わずデジタルで</a:t>
            </a:r>
          </a:p>
        </p:txBody>
      </p:sp>
      <p:sp>
        <p:nvSpPr>
          <p:cNvPr id="16" name="TextBox 15"/>
          <p:cNvSpPr txBox="1"/>
          <p:nvPr/>
        </p:nvSpPr>
        <p:spPr>
          <a:xfrm>
            <a:off x="6445250" y="38911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・学校行事と探究をつなぐ</a:t>
            </a:r>
          </a:p>
        </p:txBody>
      </p:sp>
      <p:sp>
        <p:nvSpPr>
          <p:cNvPr id="17" name="Rounded Rectangle 16"/>
          <p:cNvSpPr/>
          <p:nvPr/>
        </p:nvSpPr>
        <p:spPr>
          <a:xfrm>
            <a:off x="762000" y="469126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18" name="TextBox 17"/>
          <p:cNvSpPr txBox="1"/>
          <p:nvPr/>
        </p:nvSpPr>
        <p:spPr>
          <a:xfrm>
            <a:off x="1066800" y="485636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これからも、</a:t>
            </a:r>
            <a:r>
              <a:rPr sz="2300" b="1" u="none">
                <a:solidFill>
                  <a:srgbClr val="F5A25A"/>
                </a:solidFill>
                <a:latin typeface="BIZ UDPGothic"/>
                <a:ea typeface="BIZ UDPGothic"/>
                <a:cs typeface="BIZ UDPGothic"/>
              </a:rPr>
              <a:t>各教科等の授業がキャリア教育の土台</a:t>
            </a:r>
          </a:p>
        </p:txBody>
      </p:sp>
      <p:sp>
        <p:nvSpPr>
          <p:cNvPr id="19" name="TextBox 18"/>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a:solidFill>
                  <a:srgbClr val="B85A00"/>
                </a:solidFill>
                <a:latin typeface="BIZ UDPGothic"/>
                <a:ea typeface="BIZ UDPGothic"/>
                <a:cs typeface="BIZ UDPGothic"/>
              </a:rPr>
              <a:t>※審議段階の内容です（今後、答申・告示を経て確定します）</a:t>
            </a:r>
          </a:p>
          <a:p>
            <a:pPr algn="l">
              <a:lnSpc>
                <a:spcPct val="116700"/>
              </a:lnSpc>
            </a:pPr>
            <a:r>
              <a:rPr sz="1200" b="0" u="none" dirty="0">
                <a:solidFill>
                  <a:srgbClr val="5B6472"/>
                </a:solidFill>
                <a:latin typeface="BIZ UDPGothic"/>
                <a:ea typeface="BIZ UDPGothic"/>
                <a:cs typeface="BIZ UDPGothic"/>
              </a:rPr>
              <a:t>出典：小学校学習指導要領（平成29年告示）総則・特別活動、中央教育審議会 特別活動ワーキンググループ（令和８年５月25日）、同 教育課程部会 審議まとめ（令和８年10月５日）</a:t>
            </a: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05</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明日からの授業へ</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体育×キャリア　５つのコツ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05　明日からの授業へ</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明日からできる５つのコツ</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455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6" name="Rounded Rectangle 5"/>
          <p:cNvSpPr/>
          <p:nvPr/>
        </p:nvSpPr>
        <p:spPr>
          <a:xfrm>
            <a:off x="939800" y="20344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1</a:t>
            </a:r>
          </a:p>
        </p:txBody>
      </p:sp>
      <p:sp>
        <p:nvSpPr>
          <p:cNvPr id="7" name="TextBox 6"/>
          <p:cNvSpPr txBox="1"/>
          <p:nvPr/>
        </p:nvSpPr>
        <p:spPr>
          <a:xfrm>
            <a:off x="1612900" y="20624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選ばせる</a:t>
            </a:r>
          </a:p>
        </p:txBody>
      </p:sp>
      <p:sp>
        <p:nvSpPr>
          <p:cNvPr id="8" name="TextBox 7"/>
          <p:cNvSpPr txBox="1"/>
          <p:nvPr/>
        </p:nvSpPr>
        <p:spPr>
          <a:xfrm>
            <a:off x="5486400" y="20890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「どのボールにする？」</a:t>
            </a:r>
          </a:p>
        </p:txBody>
      </p:sp>
      <p:sp>
        <p:nvSpPr>
          <p:cNvPr id="9" name="Rounded Rectangle 8"/>
          <p:cNvSpPr/>
          <p:nvPr/>
        </p:nvSpPr>
        <p:spPr>
          <a:xfrm>
            <a:off x="762000" y="27202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0" name="Rounded Rectangle 9"/>
          <p:cNvSpPr/>
          <p:nvPr/>
        </p:nvSpPr>
        <p:spPr>
          <a:xfrm>
            <a:off x="939800" y="28091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2</a:t>
            </a:r>
          </a:p>
        </p:txBody>
      </p:sp>
      <p:sp>
        <p:nvSpPr>
          <p:cNvPr id="11" name="TextBox 10"/>
          <p:cNvSpPr txBox="1"/>
          <p:nvPr/>
        </p:nvSpPr>
        <p:spPr>
          <a:xfrm>
            <a:off x="1612900" y="28371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前の自分と比べさせる</a:t>
            </a:r>
          </a:p>
        </p:txBody>
      </p:sp>
      <p:sp>
        <p:nvSpPr>
          <p:cNvPr id="12" name="TextBox 11"/>
          <p:cNvSpPr txBox="1"/>
          <p:nvPr/>
        </p:nvSpPr>
        <p:spPr>
          <a:xfrm>
            <a:off x="5486400" y="28637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「最初と比べてどう？」</a:t>
            </a:r>
          </a:p>
        </p:txBody>
      </p:sp>
      <p:sp>
        <p:nvSpPr>
          <p:cNvPr id="13" name="Rounded Rectangle 12"/>
          <p:cNvSpPr/>
          <p:nvPr/>
        </p:nvSpPr>
        <p:spPr>
          <a:xfrm>
            <a:off x="762000" y="34949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4" name="Rounded Rectangle 13"/>
          <p:cNvSpPr/>
          <p:nvPr/>
        </p:nvSpPr>
        <p:spPr>
          <a:xfrm>
            <a:off x="939800" y="35838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3</a:t>
            </a:r>
          </a:p>
        </p:txBody>
      </p:sp>
      <p:sp>
        <p:nvSpPr>
          <p:cNvPr id="15" name="TextBox 14"/>
          <p:cNvSpPr txBox="1"/>
          <p:nvPr/>
        </p:nvSpPr>
        <p:spPr>
          <a:xfrm>
            <a:off x="1612900" y="36118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役割を価値付ける</a:t>
            </a:r>
          </a:p>
        </p:txBody>
      </p:sp>
      <p:sp>
        <p:nvSpPr>
          <p:cNvPr id="16" name="TextBox 15"/>
          <p:cNvSpPr txBox="1"/>
          <p:nvPr/>
        </p:nvSpPr>
        <p:spPr>
          <a:xfrm>
            <a:off x="5486400" y="36384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「準備ありがとう。助かったよ」</a:t>
            </a:r>
          </a:p>
        </p:txBody>
      </p:sp>
      <p:sp>
        <p:nvSpPr>
          <p:cNvPr id="17" name="Rounded Rectangle 16"/>
          <p:cNvSpPr/>
          <p:nvPr/>
        </p:nvSpPr>
        <p:spPr>
          <a:xfrm>
            <a:off x="762000" y="42696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8" name="Rounded Rectangle 17"/>
          <p:cNvSpPr/>
          <p:nvPr/>
        </p:nvSpPr>
        <p:spPr>
          <a:xfrm>
            <a:off x="939800" y="43585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4</a:t>
            </a:r>
          </a:p>
        </p:txBody>
      </p:sp>
      <p:sp>
        <p:nvSpPr>
          <p:cNvPr id="19" name="TextBox 18"/>
          <p:cNvSpPr txBox="1"/>
          <p:nvPr/>
        </p:nvSpPr>
        <p:spPr>
          <a:xfrm>
            <a:off x="1612900" y="43865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友達のよさを言葉に</a:t>
            </a:r>
          </a:p>
        </p:txBody>
      </p:sp>
      <p:sp>
        <p:nvSpPr>
          <p:cNvPr id="20" name="TextBox 19"/>
          <p:cNvSpPr txBox="1"/>
          <p:nvPr/>
        </p:nvSpPr>
        <p:spPr>
          <a:xfrm>
            <a:off x="5486400" y="44131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「どこがすごかった？」</a:t>
            </a:r>
          </a:p>
        </p:txBody>
      </p:sp>
      <p:sp>
        <p:nvSpPr>
          <p:cNvPr id="21" name="Rounded Rectangle 20"/>
          <p:cNvSpPr/>
          <p:nvPr/>
        </p:nvSpPr>
        <p:spPr>
          <a:xfrm>
            <a:off x="762000" y="50443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22" name="Rounded Rectangle 21"/>
          <p:cNvSpPr/>
          <p:nvPr/>
        </p:nvSpPr>
        <p:spPr>
          <a:xfrm>
            <a:off x="939800" y="51332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5</a:t>
            </a:r>
          </a:p>
        </p:txBody>
      </p:sp>
      <p:sp>
        <p:nvSpPr>
          <p:cNvPr id="23" name="TextBox 22"/>
          <p:cNvSpPr txBox="1"/>
          <p:nvPr/>
        </p:nvSpPr>
        <p:spPr>
          <a:xfrm>
            <a:off x="1612900" y="51612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「次」を考えさせる</a:t>
            </a:r>
          </a:p>
        </p:txBody>
      </p:sp>
      <p:sp>
        <p:nvSpPr>
          <p:cNvPr id="24" name="TextBox 23"/>
          <p:cNvSpPr txBox="1"/>
          <p:nvPr/>
        </p:nvSpPr>
        <p:spPr>
          <a:xfrm>
            <a:off x="5486400" y="51878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「次は何に挑戦する？」</a:t>
            </a:r>
          </a:p>
        </p:txBody>
      </p:sp>
      <p:sp>
        <p:nvSpPr>
          <p:cNvPr id="25" name="TextBox 2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890000" y="508000"/>
            <a:ext cx="2667000" cy="2667000"/>
          </a:xfrm>
          <a:prstGeom prst="rect">
            <a:avLst/>
          </a:prstGeom>
        </p:spPr>
      </p:pic>
      <p:sp>
        <p:nvSpPr>
          <p:cNvPr id="3" name="TextBox 2"/>
          <p:cNvSpPr txBox="1"/>
          <p:nvPr/>
        </p:nvSpPr>
        <p:spPr>
          <a:xfrm>
            <a:off x="1016000" y="1630660"/>
            <a:ext cx="10236200" cy="319980"/>
          </a:xfrm>
          <a:prstGeom prst="rect">
            <a:avLst/>
          </a:prstGeom>
          <a:noFill/>
        </p:spPr>
        <p:txBody>
          <a:bodyPr wrap="none" lIns="0" tIns="0" rIns="0" bIns="0" anchor="t">
            <a:noAutofit/>
          </a:bodyPr>
          <a:lstStyle/>
          <a:p>
            <a:pPr algn="l">
              <a:lnSpc>
                <a:spcPct val="116700"/>
              </a:lnSpc>
            </a:pPr>
            <a:r>
              <a:rPr sz="1800" b="1" u="none">
                <a:solidFill>
                  <a:srgbClr val="B85A00"/>
                </a:solidFill>
                <a:latin typeface="BIZ UDPGothic"/>
                <a:ea typeface="BIZ UDPGothic"/>
                <a:cs typeface="BIZ UDPGothic"/>
              </a:rPr>
              <a:t>まとめ</a:t>
            </a:r>
          </a:p>
        </p:txBody>
      </p:sp>
      <p:sp>
        <p:nvSpPr>
          <p:cNvPr id="4" name="TextBox 3"/>
          <p:cNvSpPr txBox="1"/>
          <p:nvPr/>
        </p:nvSpPr>
        <p:spPr>
          <a:xfrm>
            <a:off x="1016000" y="2280841"/>
            <a:ext cx="10236200" cy="1651000"/>
          </a:xfrm>
          <a:prstGeom prst="rect">
            <a:avLst/>
          </a:prstGeom>
          <a:noFill/>
        </p:spPr>
        <p:txBody>
          <a:bodyPr wrap="square" lIns="0" tIns="0" rIns="0" bIns="0" anchor="t">
            <a:noAutofit/>
          </a:bodyPr>
          <a:lstStyle/>
          <a:p>
            <a:pPr algn="l">
              <a:lnSpc>
                <a:spcPct val="108300"/>
              </a:lnSpc>
            </a:pPr>
            <a:r>
              <a:rPr sz="5000" b="1" u="none">
                <a:solidFill>
                  <a:srgbClr val="1B2A4A"/>
                </a:solidFill>
                <a:latin typeface="BIZ UDPGothic"/>
                <a:ea typeface="BIZ UDPGothic"/>
                <a:cs typeface="BIZ UDPGothic"/>
              </a:rPr>
              <a:t>「遠くへ投げる」経験は、</a:t>
            </a:r>
            <a:br/>
            <a:r>
              <a:rPr sz="5000" b="1" u="none">
                <a:solidFill>
                  <a:srgbClr val="E8730C"/>
                </a:solidFill>
                <a:latin typeface="BIZ UDPGothic"/>
                <a:ea typeface="BIZ UDPGothic"/>
                <a:cs typeface="BIZ UDPGothic"/>
              </a:rPr>
              <a:t>「未来へ向かう」</a:t>
            </a:r>
            <a:r>
              <a:rPr sz="5000" b="1" u="none">
                <a:solidFill>
                  <a:srgbClr val="1B2A4A"/>
                </a:solidFill>
                <a:latin typeface="BIZ UDPGothic"/>
                <a:ea typeface="BIZ UDPGothic"/>
                <a:cs typeface="BIZ UDPGothic"/>
              </a:rPr>
              <a:t>力になる。</a:t>
            </a:r>
          </a:p>
        </p:txBody>
      </p:sp>
      <p:sp>
        <p:nvSpPr>
          <p:cNvPr id="5" name="Rounded Rectangle 4"/>
          <p:cNvSpPr/>
          <p:nvPr/>
        </p:nvSpPr>
        <p:spPr>
          <a:xfrm>
            <a:off x="1016000" y="4262041"/>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6" name="TextBox 5"/>
          <p:cNvSpPr txBox="1"/>
          <p:nvPr/>
        </p:nvSpPr>
        <p:spPr>
          <a:xfrm>
            <a:off x="1016000" y="4668441"/>
            <a:ext cx="10236200" cy="495300"/>
          </a:xfrm>
          <a:prstGeom prst="rect">
            <a:avLst/>
          </a:prstGeom>
          <a:noFill/>
        </p:spPr>
        <p:txBody>
          <a:bodyPr wrap="none" lIns="0" tIns="0" rIns="0" bIns="0" anchor="t">
            <a:noAutofit/>
          </a:bodyPr>
          <a:lstStyle/>
          <a:p>
            <a:pPr algn="l">
              <a:lnSpc>
                <a:spcPct val="125000"/>
              </a:lnSpc>
            </a:pPr>
            <a:r>
              <a:rPr sz="2600" b="1" u="none">
                <a:solidFill>
                  <a:srgbClr val="2B2F36"/>
                </a:solidFill>
                <a:latin typeface="BIZ UDPGothic"/>
                <a:ea typeface="BIZ UDPGothic"/>
                <a:cs typeface="BIZ UDPGothic"/>
              </a:rPr>
              <a:t>毎日の授業そのものが、</a:t>
            </a:r>
            <a:r>
              <a:rPr sz="2600" b="1" u="none">
                <a:solidFill>
                  <a:srgbClr val="B85A00"/>
                </a:solidFill>
                <a:latin typeface="BIZ UDPGothic"/>
                <a:ea typeface="BIZ UDPGothic"/>
                <a:cs typeface="BIZ UDPGothic"/>
              </a:rPr>
              <a:t>キャリア教育</a:t>
            </a:r>
            <a:r>
              <a:rPr sz="2600" b="1" u="none">
                <a:solidFill>
                  <a:srgbClr val="2B2F36"/>
                </a:solidFill>
                <a:latin typeface="BIZ UDPGothic"/>
                <a:ea typeface="BIZ UDPGothic"/>
                <a:cs typeface="BIZ UDPGothic"/>
              </a:rPr>
              <a:t>。</a:t>
            </a:r>
          </a:p>
        </p:txBody>
      </p:sp>
      <p:sp>
        <p:nvSpPr>
          <p:cNvPr id="7" name="TextBox 6"/>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ounded Rectangle 1"/>
          <p:cNvSpPr/>
          <p:nvPr/>
        </p:nvSpPr>
        <p:spPr>
          <a:xfrm>
            <a:off x="7493000" y="1905000"/>
            <a:ext cx="3937000" cy="2540000"/>
          </a:xfrm>
          <a:prstGeom prst="roundRect">
            <a:avLst>
              <a:gd name="adj" fmla="val 7000"/>
            </a:avLst>
          </a:prstGeom>
          <a:solidFill>
            <a:srgbClr val="FFFFFF"/>
          </a:solidFill>
          <a:ln>
            <a:noFill/>
          </a:ln>
          <a:effectLst/>
        </p:spPr>
        <p:txBody>
          <a:bodyPr rtlCol="0" anchor="ctr"/>
          <a:lstStyle/>
          <a:p>
            <a:pPr algn="ctr"/>
            <a:endParaRPr/>
          </a:p>
        </p:txBody>
      </p:sp>
      <p:pic>
        <p:nvPicPr>
          <p:cNvPr id="3" name="Picture 2" descr="nerima-banner.png"/>
          <p:cNvPicPr>
            <a:picLocks noChangeAspect="1"/>
          </p:cNvPicPr>
          <p:nvPr/>
        </p:nvPicPr>
        <p:blipFill>
          <a:blip r:embed="rId3"/>
          <a:stretch>
            <a:fillRect/>
          </a:stretch>
        </p:blipFill>
        <p:spPr>
          <a:xfrm>
            <a:off x="7683500" y="2131907"/>
            <a:ext cx="3556000" cy="2086187"/>
          </a:xfrm>
          <a:prstGeom prst="rect">
            <a:avLst/>
          </a:prstGeom>
        </p:spPr>
      </p:pic>
      <p:sp>
        <p:nvSpPr>
          <p:cNvPr id="4" name="TextBox 3"/>
          <p:cNvSpPr txBox="1"/>
          <p:nvPr/>
        </p:nvSpPr>
        <p:spPr>
          <a:xfrm>
            <a:off x="1016000" y="1589484"/>
            <a:ext cx="10236200" cy="1651000"/>
          </a:xfrm>
          <a:prstGeom prst="rect">
            <a:avLst/>
          </a:prstGeom>
          <a:noFill/>
        </p:spPr>
        <p:txBody>
          <a:bodyPr wrap="square" lIns="0" tIns="0" rIns="0" bIns="0" anchor="t">
            <a:noAutofit/>
          </a:bodyPr>
          <a:lstStyle/>
          <a:p>
            <a:pPr algn="l">
              <a:lnSpc>
                <a:spcPct val="108300"/>
              </a:lnSpc>
            </a:pPr>
            <a:r>
              <a:rPr sz="5000" b="1" u="none">
                <a:solidFill>
                  <a:srgbClr val="FFFFFF"/>
                </a:solidFill>
                <a:latin typeface="BIZ UDPGothic"/>
                <a:ea typeface="BIZ UDPGothic"/>
                <a:cs typeface="BIZ UDPGothic"/>
              </a:rPr>
              <a:t>ありがとう</a:t>
            </a:r>
            <a:br/>
            <a:r>
              <a:rPr sz="5000" b="1" u="none">
                <a:solidFill>
                  <a:srgbClr val="FFFFFF"/>
                </a:solidFill>
                <a:latin typeface="BIZ UDPGothic"/>
                <a:ea typeface="BIZ UDPGothic"/>
                <a:cs typeface="BIZ UDPGothic"/>
              </a:rPr>
              <a:t>ございました</a:t>
            </a:r>
          </a:p>
        </p:txBody>
      </p:sp>
      <p:sp>
        <p:nvSpPr>
          <p:cNvPr id="5" name="Rounded Rectangle 4"/>
          <p:cNvSpPr/>
          <p:nvPr/>
        </p:nvSpPr>
        <p:spPr>
          <a:xfrm>
            <a:off x="1016000" y="3494484"/>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6" name="TextBox 5"/>
          <p:cNvSpPr txBox="1"/>
          <p:nvPr/>
        </p:nvSpPr>
        <p:spPr>
          <a:xfrm>
            <a:off x="1016000" y="3824684"/>
            <a:ext cx="6299200" cy="865981"/>
          </a:xfrm>
          <a:prstGeom prst="rect">
            <a:avLst/>
          </a:prstGeom>
          <a:noFill/>
        </p:spPr>
        <p:txBody>
          <a:bodyPr wrap="square" lIns="0" tIns="0" rIns="0" bIns="0" anchor="t">
            <a:noAutofit/>
          </a:bodyPr>
          <a:lstStyle/>
          <a:p>
            <a:pPr algn="l">
              <a:lnSpc>
                <a:spcPct val="129200"/>
              </a:lnSpc>
            </a:pPr>
            <a:r>
              <a:rPr sz="2200" b="0" u="none" dirty="0" err="1">
                <a:solidFill>
                  <a:srgbClr val="E6EBF3"/>
                </a:solidFill>
                <a:latin typeface="BIZ UDPGothic"/>
                <a:ea typeface="BIZ UDPGothic"/>
                <a:cs typeface="BIZ UDPGothic"/>
              </a:rPr>
              <a:t>水野先生、低学年分科会の先生方</a:t>
            </a:r>
            <a:r>
              <a:rPr sz="2200" b="0" u="none" dirty="0">
                <a:solidFill>
                  <a:srgbClr val="E6EBF3"/>
                </a:solidFill>
                <a:latin typeface="BIZ UDPGothic"/>
                <a:ea typeface="BIZ UDPGothic"/>
                <a:cs typeface="BIZ UDPGothic"/>
              </a:rPr>
              <a:t>、</a:t>
            </a:r>
            <a:br>
              <a:rPr dirty="0"/>
            </a:br>
            <a:r>
              <a:rPr sz="2200" b="0" u="none" dirty="0" err="1">
                <a:solidFill>
                  <a:srgbClr val="E6EBF3"/>
                </a:solidFill>
                <a:latin typeface="BIZ UDPGothic"/>
                <a:ea typeface="BIZ UDPGothic"/>
                <a:cs typeface="BIZ UDPGothic"/>
              </a:rPr>
              <a:t>本日</a:t>
            </a:r>
            <a:r>
              <a:rPr lang="ja-JP" altLang="en-US" sz="2200" b="0" u="none" dirty="0">
                <a:solidFill>
                  <a:srgbClr val="E6EBF3"/>
                </a:solidFill>
                <a:latin typeface="BIZ UDPGothic"/>
                <a:ea typeface="BIZ UDPGothic"/>
                <a:cs typeface="BIZ UDPGothic"/>
              </a:rPr>
              <a:t>は、素敵な授業をありがとうございました。</a:t>
            </a:r>
            <a:endParaRPr sz="2200" b="0" u="none" dirty="0">
              <a:solidFill>
                <a:srgbClr val="E6EBF3"/>
              </a:solidFill>
              <a:latin typeface="BIZ UDPGothic"/>
              <a:ea typeface="BIZ UDPGothic"/>
              <a:cs typeface="BIZ UDPGothic"/>
            </a:endParaRPr>
          </a:p>
        </p:txBody>
      </p:sp>
      <p:sp>
        <p:nvSpPr>
          <p:cNvPr id="7" name="TextBox 6"/>
          <p:cNvSpPr txBox="1"/>
          <p:nvPr/>
        </p:nvSpPr>
        <p:spPr>
          <a:xfrm>
            <a:off x="8543364" y="5419795"/>
            <a:ext cx="2889504" cy="594360"/>
          </a:xfrm>
          <a:prstGeom prst="rect">
            <a:avLst/>
          </a:prstGeom>
          <a:noFill/>
        </p:spPr>
        <p:txBody>
          <a:bodyPr wrap="none" lIns="0" tIns="0" rIns="0" bIns="0" anchor="t">
            <a:noAutofit/>
          </a:bodyPr>
          <a:lstStyle/>
          <a:p>
            <a:pPr algn="l">
              <a:lnSpc>
                <a:spcPct val="125000"/>
              </a:lnSpc>
            </a:pPr>
            <a:r>
              <a:rPr sz="1700" b="0" u="none" dirty="0" err="1">
                <a:solidFill>
                  <a:srgbClr val="C9D3E6"/>
                </a:solidFill>
                <a:latin typeface="BIZ UDPGothic"/>
                <a:ea typeface="BIZ UDPGothic"/>
                <a:cs typeface="BIZ UDPGothic"/>
              </a:rPr>
              <a:t>練馬区教育委員会</a:t>
            </a:r>
            <a:r>
              <a:rPr sz="1700" b="0" u="none" dirty="0">
                <a:solidFill>
                  <a:srgbClr val="C9D3E6"/>
                </a:solidFill>
                <a:latin typeface="BIZ UDPGothic"/>
                <a:ea typeface="BIZ UDPGothic"/>
                <a:cs typeface="BIZ UDPGothic"/>
              </a:rPr>
              <a:t>　</a:t>
            </a:r>
            <a:endParaRPr lang="en-US" sz="1700" b="0" u="none" dirty="0">
              <a:solidFill>
                <a:srgbClr val="C9D3E6"/>
              </a:solidFill>
              <a:latin typeface="BIZ UDPGothic"/>
              <a:ea typeface="BIZ UDPGothic"/>
              <a:cs typeface="BIZ UDPGothic"/>
            </a:endParaRPr>
          </a:p>
          <a:p>
            <a:pPr algn="l">
              <a:lnSpc>
                <a:spcPct val="125000"/>
              </a:lnSpc>
            </a:pPr>
            <a:r>
              <a:rPr lang="ja-JP" altLang="en-US" sz="1700" dirty="0">
                <a:solidFill>
                  <a:srgbClr val="C9D3E6"/>
                </a:solidFill>
                <a:latin typeface="BIZ UDPGothic"/>
                <a:ea typeface="BIZ UDPGothic"/>
                <a:cs typeface="BIZ UDPGothic"/>
              </a:rPr>
              <a:t>　　</a:t>
            </a:r>
            <a:r>
              <a:rPr sz="1700" b="0" u="none" dirty="0" err="1">
                <a:solidFill>
                  <a:srgbClr val="C9D3E6"/>
                </a:solidFill>
                <a:latin typeface="BIZ UDPGothic"/>
                <a:ea typeface="BIZ UDPGothic"/>
                <a:cs typeface="BIZ UDPGothic"/>
              </a:rPr>
              <a:t>指導主事</a:t>
            </a:r>
            <a:r>
              <a:rPr sz="1700" b="0" u="none" dirty="0">
                <a:solidFill>
                  <a:srgbClr val="C9D3E6"/>
                </a:solidFill>
                <a:latin typeface="BIZ UDPGothic"/>
                <a:ea typeface="BIZ UDPGothic"/>
                <a:cs typeface="BIZ UDPGothic"/>
              </a:rPr>
              <a:t>　紺多 章一郎</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参考資料編</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体力向上に向けた取組「POWER UP NERIMA」</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pic>
        <p:nvPicPr>
          <p:cNvPr id="5" name="Picture 4" descr="powerup1.png"/>
          <p:cNvPicPr>
            <a:picLocks noChangeAspect="1"/>
          </p:cNvPicPr>
          <p:nvPr/>
        </p:nvPicPr>
        <p:blipFill>
          <a:blip r:embed="rId3"/>
          <a:srcRect t="283" b="283"/>
          <a:stretch>
            <a:fillRect/>
          </a:stretch>
        </p:blipFill>
        <p:spPr>
          <a:xfrm>
            <a:off x="762000" y="1920180"/>
            <a:ext cx="5130800" cy="2413000"/>
          </a:xfrm>
          <a:prstGeom prst="rect">
            <a:avLst/>
          </a:prstGeom>
        </p:spPr>
      </p:pic>
      <p:sp>
        <p:nvSpPr>
          <p:cNvPr id="6" name="TextBox 5"/>
          <p:cNvSpPr txBox="1"/>
          <p:nvPr/>
        </p:nvSpPr>
        <p:spPr>
          <a:xfrm>
            <a:off x="723900" y="4422080"/>
            <a:ext cx="5308600" cy="355600"/>
          </a:xfrm>
          <a:prstGeom prst="rect">
            <a:avLst/>
          </a:prstGeom>
          <a:noFill/>
        </p:spPr>
        <p:txBody>
          <a:bodyPr wrap="none" lIns="0" tIns="0" rIns="0" bIns="0" anchor="t">
            <a:noAutofit/>
          </a:bodyPr>
          <a:lstStyle/>
          <a:p>
            <a:pPr algn="ctr">
              <a:lnSpc>
                <a:spcPct val="116700"/>
              </a:lnSpc>
            </a:pPr>
            <a:r>
              <a:rPr sz="2000" b="1" u="none">
                <a:solidFill>
                  <a:srgbClr val="1B2A4A"/>
                </a:solidFill>
                <a:latin typeface="BIZ UDPGothic"/>
                <a:ea typeface="BIZ UDPGothic"/>
                <a:cs typeface="BIZ UDPGothic"/>
              </a:rPr>
              <a:t>「やってみよう」編</a:t>
            </a:r>
          </a:p>
        </p:txBody>
      </p:sp>
      <p:pic>
        <p:nvPicPr>
          <p:cNvPr id="7" name="Picture 6" descr="powerup2.png"/>
          <p:cNvPicPr>
            <a:picLocks noChangeAspect="1"/>
          </p:cNvPicPr>
          <p:nvPr/>
        </p:nvPicPr>
        <p:blipFill>
          <a:blip r:embed="rId4"/>
          <a:srcRect l="319" r="319"/>
          <a:stretch>
            <a:fillRect/>
          </a:stretch>
        </p:blipFill>
        <p:spPr>
          <a:xfrm>
            <a:off x="6197600" y="1920180"/>
            <a:ext cx="5130800" cy="2413000"/>
          </a:xfrm>
          <a:prstGeom prst="rect">
            <a:avLst/>
          </a:prstGeom>
        </p:spPr>
      </p:pic>
      <p:sp>
        <p:nvSpPr>
          <p:cNvPr id="8" name="TextBox 7"/>
          <p:cNvSpPr txBox="1"/>
          <p:nvPr/>
        </p:nvSpPr>
        <p:spPr>
          <a:xfrm>
            <a:off x="6159500" y="4422080"/>
            <a:ext cx="5308600" cy="355600"/>
          </a:xfrm>
          <a:prstGeom prst="rect">
            <a:avLst/>
          </a:prstGeom>
          <a:noFill/>
        </p:spPr>
        <p:txBody>
          <a:bodyPr wrap="none" lIns="0" tIns="0" rIns="0" bIns="0" anchor="t">
            <a:noAutofit/>
          </a:bodyPr>
          <a:lstStyle/>
          <a:p>
            <a:pPr algn="ctr">
              <a:lnSpc>
                <a:spcPct val="116700"/>
              </a:lnSpc>
            </a:pPr>
            <a:r>
              <a:rPr sz="2000" b="1" u="none">
                <a:solidFill>
                  <a:srgbClr val="1B2A4A"/>
                </a:solidFill>
                <a:latin typeface="BIZ UDPGothic"/>
                <a:ea typeface="BIZ UDPGothic"/>
                <a:cs typeface="BIZ UDPGothic"/>
              </a:rPr>
              <a:t>「パプリカ」編</a:t>
            </a:r>
          </a:p>
        </p:txBody>
      </p:sp>
      <p:sp>
        <p:nvSpPr>
          <p:cNvPr id="9" name="TextBox 8"/>
          <p:cNvSpPr txBox="1"/>
          <p:nvPr/>
        </p:nvSpPr>
        <p:spPr>
          <a:xfrm>
            <a:off x="762000" y="5006280"/>
            <a:ext cx="10744200" cy="381000"/>
          </a:xfrm>
          <a:prstGeom prst="rect">
            <a:avLst/>
          </a:prstGeom>
          <a:noFill/>
        </p:spPr>
        <p:txBody>
          <a:bodyPr wrap="none" lIns="0" tIns="0" rIns="0" bIns="0" anchor="t">
            <a:noAutofit/>
          </a:bodyPr>
          <a:lstStyle/>
          <a:p>
            <a:pPr algn="l">
              <a:lnSpc>
                <a:spcPct val="125000"/>
              </a:lnSpc>
            </a:pPr>
            <a:r>
              <a:rPr sz="2000" b="1" u="none">
                <a:solidFill>
                  <a:srgbClr val="1B2A4A"/>
                </a:solidFill>
                <a:latin typeface="BIZ UDPGothic"/>
                <a:ea typeface="BIZ UDPGothic"/>
                <a:cs typeface="BIZ UDPGothic"/>
              </a:rPr>
              <a:t>準備運動・休み時間・家庭で、多様な動きを遊びの中で</a:t>
            </a:r>
          </a:p>
        </p:txBody>
      </p:sp>
      <p:sp>
        <p:nvSpPr>
          <p:cNvPr id="10" name="TextBox 9"/>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a:solidFill>
                  <a:srgbClr val="5B6472"/>
                </a:solidFill>
                <a:latin typeface="BIZ UDPGothic"/>
                <a:ea typeface="BIZ UDPGothic"/>
                <a:cs typeface="BIZ UDPGothic"/>
              </a:rPr>
              <a:t>出典：練馬区教育委員会「POWER UP NERIMA」、練馬区教育振興基本計画（令和４～８年度）</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3047</Words>
  <Application>Microsoft Office PowerPoint</Application>
  <PresentationFormat>ワイド画面</PresentationFormat>
  <Paragraphs>436</Paragraphs>
  <Slides>32</Slides>
  <Notes>32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32</vt:i4>
      </vt:variant>
    </vt:vector>
  </HeadingPairs>
  <TitlesOfParts>
    <vt:vector size="36" baseType="lpstr">
      <vt:lpstr>BIZ UDPGothic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体育から考えるキャリア教育</dc:title>
  <dc:subject/>
  <dc:creator>紺多　章一郎</dc:creator>
  <cp:keywords/>
  <dc:description>generated using python-pptx</dc:description>
  <cp:lastModifiedBy>練馬区 紺多　章一郎</cp:lastModifiedBy>
  <cp:revision>12</cp:revision>
  <cp:lastPrinted>2026-10-21T06:56:09Z</cp:lastPrinted>
  <dcterms:created xsi:type="dcterms:W3CDTF">2013-01-27T09:14:16Z</dcterms:created>
  <dcterms:modified xsi:type="dcterms:W3CDTF">2026-10-27T12:47:32Z</dcterms:modified>
  <cp:category/>
</cp:coreProperties>
</file>