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本日は、8月31日に中教審の教育課程企画特別部会に示された「審議まとめ（素案）」を取り上げます。
ねらいは一つです。この素案を、国の動きの解説として聞いて終わるのではなく、先生方それぞれの学校で、令和9年度の経営にどう落とすかという形でお持ち帰りいただくことです。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全体像です。ⅠとⅡで素案の中身を共有し、Ⅲで校長の権限を整理します。ⅣとⅤが本題で、自校で何をするかの部分です。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先に結論を申し上げます。この3つだけ覚えて帰っていただければ、本日の目的は達成です。特に3つめ、「確定を待たなくていい」というところが今日の肝です。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土台にするのはこの一本です。8月31日の部会に示された資料1、審議まとめの素案です。答申前の段階の文書ですが、方向性ははっきり出ています。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素案だから様子を見よう、という判断は自然です。ただ、先行導入が2028年度からである以上、告示を待つと設計に使える時間がほとんど残りません。
分けて考えたいのは、理念と方向は今から仕込める、数字は後から詰めればよい、ということです。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まずは、なぜ今なのか、というところからです。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横軸で見ていただくと分かりやすいと思います。注目していただきたいのは真ん中、2028年度です。全面実施は小学校が2030年度ですが、調整授業時数制度だけは2028年度から先行して導入できるとされています。
そこから逆算すると、設計に使える年度は令和9年度と令和10年度の2年しかありません。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左が、よくある受け止め方だと思います。私も最初はそう思いました。
ですが右のように、先行導入から逆算すると景色が変わります。意識が低いという話ではなく、単純に持ち時間の認識がずれている、ということです。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同じ制度が来ても、令和9年度をどう過ごしたかで、2年後の学校の姿は大きく変わります。右側になるかどうかは、制度ではなく、校長の判断で決まる部分が大きいと考えています。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今回の改訂を一言でいうと、これです。全国一律の横並びをやめて、各学校の裁量を広げる。その核が、次の章で説明する調整授業時数制度です。
つまり、校長の判断が子供の学びに直接効いてくる改訂だということです。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ここは正直にお伝えしておきたいところです。裁量が広がることは、そのまま重荷にもなりえます。
決められない、かえって忙しくなる、目的がずれる。この3つは実際に起こりうると思います。だからこそ、決め方を先に用意しておく必要があります。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Ⅰ章のまとめです。時間の配分を決めるのは学校、その責任者は校長。そして決め方を設計できるのも校長です。
最後の一行が実感としては一番大きくて、経営計画に書かないと、日常業務が時間を全部埋めてしまいます。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ここからは素案の中身です。理念と制度、両方おさえます。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案の基本理念は、この一文に集約されています。読み解くポイントは3つです。多様な、つまり全員。深い学び、つまり活動の消化ではない。確かなものに、つまり今度こそ実装しきる、という意思表示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検討の基盤が3つ示されています。1と2は従来からの流れですが、3つめの実現可能性の確保がはっきり前面に出てきたのが今回の特徴だと思います。現場が回らない改訂にはしない、という意思です。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目指す姿は、この2つが両輪である、という書かれ方をしています。好きを伸ばすだけでも、話し合いの形だけでもだめで、この2つが絡み合って高まっていく教育課程を作ろう、ということです。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素案を通して出てくるキーワードが、この余白です。子供にとっての深い学びの時間であり、同時に教師が教材研究に使える時間でもあります。
大事なのは、余白づくりが働き方改革と同じ方向を向いているという点です。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なぜ余白が必要かというと、前提にオーバーロードがあるからです。ここに並べたものは、いずれもこの20年ほどで学校に入ってきたものです。
これまでの改訂は足す改訂でした。今回は精選する改訂で、減らした先に何を置くかを学校が決める。ここが本日の中心テーマです。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制度の核がこれです。総時数そのものは変えません。変えられるのは中の配分です。
各教科等の時数を一定の範囲で減らし、その分を調整授業時数としてプールする。そのプールを何に使うかは学校が決める、という仕組みです。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プールした時間の使い道が3つ示されています。①と②はイメージしやすいと思います。
注目していただきたいのは③です。個別の学習支援や、教員の研究・研修といった、授業以外の活動にも時数を充てられる。これは従来の発想にはなかったものです。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制度である以上、当然ルールがあります。ここは正確におさえておきたいところです。
特に2番目の上限については、まだ審議中です。現行の特例校制度が1割程度ですので、それを上回る方向という報道がありますが、数字は確定していません。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裁量的な時間の中身です。子供に向けたものと、教職員に向けたものの両方が想定されています。
下に書いたとおり、教員の研修を時数として位置づけられるというのは、学校経営の観点ではかなり大きな変化だと思います。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情報教育の位置づけが変わります。特定の時間にICTを使うという発想から、読み書き計算と同じように、すべての学びの土台になる力として育てるという整理です。
基礎を計画的に育てて、各教科で使う。この順番が示されています。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具体的には、小学校は総合的な学習の時間に情報の領域を置きます。中学校は技術・家庭を分けて、情報・技術科を新設します。
小学校の先生方にとっては、総合の設計に直接関わってくる話です。ここは後ほどⅣ章でも触れます。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言語能力については、国語科だけの話ではないという点が重要です。理科のレポート、社会の説明、算数の記述。各教科で言葉を使う場面を充実させます。
外国語は、自分の意見を発信する、地域のことを発信する、という方向が明示されました。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評価も見直されます。特に2つめ、主体的に学習に取り組む態度をA・B・Cで切り離して評価する仕組み。ここに手が入る見込みです。
評価が変わると授業が変わりますので、校内研修の題材としては一番入りやすいところだと思います。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ここは整理の章です。できることとできないことを分けて考えます。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当たり前のことですが、あらためて確認しておきたいところです。教育課程を編成するのは学校であって、国でも区でもありません。
国が示すのは大綱的な基準です。その中身をどう組むかは、もともと学校に委ねられています。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左の列が、今日いちばん見ていただきたいところです。この7つは、原則として校長の判断だけで動かせます。
真ん中は協議が要るもの、右は権限外のものです。中央と右の線引きは自治体で違いますので、区教委への確認は必要です。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根拠を並べておきました。お手元で確認されるときの索引としてお使いください。
特に校務分掌の第43条と、研修の教特法21条・22条。この2つは、Ⅳ章の打ち手の裏づけになります。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まず時間割です。総時数を変えなくても、並べ方を変えるだけでできることがあります。
最後の可変枠は特におすすめです。学期に数コマ、用途を決めない枠を先に空けておく。これだけで年度途中の対応力が変わります。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行事は、校長の判断で最も動かしやすい領域です。ただ、いきなり減らすと必ず反発が出ます。
この4つの軸で棚卸しをして、事実を並べてから議論する。あと、やめる以外にも手段があるということを最初に共有しておくと、話が進みやすくなります。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研修は、今回の素案でかなり位置づけが上がりました。裁量的な時間として時数を充てられるという整理は、これまでになかったものです。
逆に言えば、回数をこなすだけの研修は、これからは説明がつきにくくなります。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組織づくりです。ここは校長にしかできません。
特に3つめ、若手を入れるという点です。2030年に全面実施を迎えるとき、今の若手が中堅になっています。その層を設計段階から入れておくかどうかで、定着の仕方が変わります。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ここからが本題です。具体的に何をするか、という話に入ります。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発想の転換がいります。これまでは足す発想でした。これからは、重点を決めて、それ以外を削って、削った分を重点に寄せる。
率直に申し上げて、減らす判断は職員からは出てきません。担当している人ほど言い出しにくい。ここを引き受けるのが校長の仕事だと思います。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先行事例を2つ紹介します。まず渋谷区です。授業時数特例校制度という現行の制度を使って、各教科を1割程度削って、探究に回しています。
大事なのは、これが今の制度のままでできているという点です。新しい制度を待たなくても、すでに道はあるということです。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もう一つは目黒区です。1単位時間を45分から40分にして、積み上がった時間を特色ある活動と、教材研究、研修に充てています。
注目していただきたいのは、振り向け先に教材研究と研修が入っていることです。子供のためと教職員の余白は、両立させられるということを示しています。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10並べましたが、全部やる必要はありません。むしろ全部やろうとすると失敗します。
この中から自校の状況に合うものを1つか2つ選んで、経営計画に書いていただく。それが今日のお願いです。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①から③は、行事の棚卸しです。ポイントは順番で、先に事実を揃えてから、基準を決めて、それから議論する。
基準を先に決めるのは、個別の行事の好き嫌いの話にしないためです。ここを飛ばすと必ず紛糾します。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④と⑤は、時間の器の話です。ここで強調したいのは、総時数を一切変えなくても、ここまではできるということです。
制度を待つ必要がありません。令和9年度の時間割づくりから、すぐ着手できます。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⑥と⑦です。特に⑦の系統表づくりをおすすめします。
完成度の高いものを作る必要はありません。たたき台で十分です。むしろ、作る過程で先生方が話し合うこと自体が研修になります。成果物より対話が残ります。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⑧と⑨は、教職員の時間の話です。実務的な効果もありますが、それ以上に大きいのは信頼の面です。
校長が本気で時間をつくろうとしている、と職員が感じると、その後の改革の話が通りやすくなります。順番としては、ここを先にやる手もあります。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⑩は評価です。評価は素案の中で最も授業に近いところにあるので、研修の題材としては入りやすい。
この4つの問いは、制度が固まる前でも立てられます。答えが出なくても構いません。問いを立てること自体に意味があります。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巻き込み方です。制度の説明から入らないこと。自校の数字から入ると、自分たちの話として聞いてもらえます。
そして最後、議論は開くけれど決定は校長がする。反発の矢面にも校長が立つ。ここを曖昧にすると、かえって職員が不安になります。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実際に出てくるであろう反対を4つ挙げました。想定問答としてお使いください。
3つめが実務的には一番大事です。使い道を決めずに削ると、必ず別の何かで埋まります。削ると決める前に、何に使うかを決めておく。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経営計画への落とし方です。左のような書き方は、どの学校にもあると思います。私の学校にもありました。
違いは、主語と期限と成果物が入っているかどうかだけです。この3つが入ると、年度末に振り返れる形になります。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令和9年度の一年間を4つの節目で整理しました。
山場は12月です。ここで結論を出しておかないと、令和10年度の教育課程編成に間に合いません。逆算すると、7月までに棚卸しを終えている必要があります。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いきなり全部は無理ですので、3段階に分けました。最小の「まず1つだけ」で十分です。
下のチェックリストは、年度末に見ていただくものです。特に3つめ、使い道を先に決めたか。ここが抜けると元に戻ります。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最後になります。今回の改訂は、時間の配分という最も基本的な資源を学校に返す改訂だと考えています。
返されたものをどう使うかは、それぞれの学校が決めます。令和9年度に何を選ぶか。その積み重ねが2030年の子供たちの学びになります。
本日はありがとうございました。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質疑応答の前に、私の姿勢をお伝えしておきます。反発は必ず出ますし、出ないほうがむしろ危険です。
特に2つめが実務的に大事です。先に減らした実績を作ってから、行事の話に入る。順番を逆にすると、まず通りません。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想定質問集 A．制度とスケジュールについて（Q1〜Q4）。質疑応答の際の手元資料としてお使いください。答えを読み上げるのではなく、自校の言葉に置き換えてお話しください。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想定質問集 B．「今のままでよい」というご意見に（Q5〜Q8）。質疑応答の際の手元資料としてお使いください。答えを読み上げるのではなく、自校の言葉に置き換えてお話しください。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想定質問集 C．負担と現実論について（Q9〜Q12）。質疑応答の際の手元資料としてお使いください。答えを読み上げるのではなく、自校の言葉に置き換えてお話しください。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想定質問集 D．保護者・地域・子供への影響（Q13〜Q16）。質疑応答の際の手元資料としてお使いください。答えを読み上げるのではなく、自校の言葉に置き換えてお話しください。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想定質問集 E．校内の合意形成と公平性（Q17〜Q20）。質疑応答の際の手元資料としてお使いください。答えを読み上げるのではなく、自校の言葉に置き換えてお話しください。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12A"/>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6E8A7E"/>
                </a:solidFill>
                <a:latin typeface="Meiryo" pitchFamily="34" charset="0"/>
                <a:ea typeface="Meiryo" pitchFamily="34" charset="-122"/>
                <a:cs typeface="Meiryo" pitchFamily="34" charset="-120"/>
              </a:rPr>
              <a:t>1</a:t>
            </a:r>
            <a:endParaRPr lang="en-US" sz="900" dirty="0"/>
          </a:p>
        </p:txBody>
      </p:sp>
      <p:sp>
        <p:nvSpPr>
          <p:cNvPr id="3" name="Shape 1"/>
          <p:cNvSpPr/>
          <p:nvPr/>
        </p:nvSpPr>
        <p:spPr>
          <a:xfrm>
            <a:off x="8549640" y="-1234440"/>
            <a:ext cx="5120640" cy="5120640"/>
          </a:xfrm>
          <a:prstGeom prst="ellipse">
            <a:avLst/>
          </a:prstGeom>
          <a:solidFill>
            <a:srgbClr val="1F5D4C"/>
          </a:solidFill>
          <a:ln/>
        </p:spPr>
      </p:sp>
      <p:sp>
        <p:nvSpPr>
          <p:cNvPr id="4" name="Shape 2"/>
          <p:cNvSpPr/>
          <p:nvPr/>
        </p:nvSpPr>
        <p:spPr>
          <a:xfrm>
            <a:off x="9921240" y="3611880"/>
            <a:ext cx="2834640" cy="2834640"/>
          </a:xfrm>
          <a:prstGeom prst="ellipse">
            <a:avLst/>
          </a:prstGeom>
          <a:solidFill>
            <a:srgbClr val="5C8A4A"/>
          </a:solidFill>
          <a:ln/>
        </p:spPr>
      </p:sp>
      <p:sp>
        <p:nvSpPr>
          <p:cNvPr id="5" name="Text 3"/>
          <p:cNvSpPr txBox="1"/>
          <p:nvPr/>
        </p:nvSpPr>
        <p:spPr>
          <a:xfrm>
            <a:off x="640080" y="1417320"/>
            <a:ext cx="7863840" cy="310896"/>
          </a:xfrm>
          <a:prstGeom prst="rect">
            <a:avLst/>
          </a:prstGeom>
          <a:noFill/>
          <a:ln/>
        </p:spPr>
        <p:txBody>
          <a:bodyPr wrap="square" lIns="0" tIns="0" rIns="0" bIns="0" rtlCol="0" anchor="ctr"/>
          <a:lstStyle/>
          <a:p>
            <a:pPr indent="0" marL="0">
              <a:buNone/>
            </a:pPr>
            <a:r>
              <a:rPr lang="en-US" sz="1300" b="1" dirty="0">
                <a:solidFill>
                  <a:srgbClr val="7FA86B"/>
                </a:solidFill>
                <a:latin typeface="Meiryo" pitchFamily="34" charset="0"/>
                <a:ea typeface="Meiryo" pitchFamily="34" charset="-122"/>
                <a:cs typeface="Meiryo" pitchFamily="34" charset="-120"/>
              </a:rPr>
              <a:t>中央教育審議会 教育課程企画特別部会「審議まとめ（素案）」を読む</a:t>
            </a:r>
            <a:endParaRPr lang="en-US" sz="1300" dirty="0"/>
          </a:p>
        </p:txBody>
      </p:sp>
      <p:sp>
        <p:nvSpPr>
          <p:cNvPr id="6" name="Text 4"/>
          <p:cNvSpPr txBox="1"/>
          <p:nvPr/>
        </p:nvSpPr>
        <p:spPr>
          <a:xfrm>
            <a:off x="640080" y="1874520"/>
            <a:ext cx="7863840" cy="1691640"/>
          </a:xfrm>
          <a:prstGeom prst="rect">
            <a:avLst/>
          </a:prstGeom>
          <a:noFill/>
          <a:ln/>
        </p:spPr>
        <p:txBody>
          <a:bodyPr wrap="square" lIns="0" tIns="0" rIns="0" bIns="0" rtlCol="0" anchor="ctr"/>
          <a:lstStyle/>
          <a:p>
            <a:pPr indent="0" marL="0">
              <a:lnSpc>
                <a:spcPts val="5200"/>
              </a:lnSpc>
              <a:buNone/>
            </a:pPr>
            <a:r>
              <a:rPr lang="en-US" sz="4000" b="1" dirty="0">
                <a:solidFill>
                  <a:srgbClr val="FFFFFF"/>
                </a:solidFill>
                <a:latin typeface="Meiryo" pitchFamily="34" charset="0"/>
                <a:ea typeface="Meiryo" pitchFamily="34" charset="-122"/>
                <a:cs typeface="Meiryo" pitchFamily="34" charset="-120"/>
              </a:rPr>
              <a:t>「素案」を、</a:t>
            </a:r>
            <a:endParaRPr lang="en-US" sz="4000" dirty="0"/>
          </a:p>
          <a:p>
            <a:pPr indent="0" marL="0">
              <a:lnSpc>
                <a:spcPts val="5200"/>
              </a:lnSpc>
              <a:buNone/>
            </a:pPr>
            <a:r>
              <a:rPr lang="en-US" sz="4000" b="1" dirty="0">
                <a:solidFill>
                  <a:srgbClr val="FFFFFF"/>
                </a:solidFill>
                <a:latin typeface="Meiryo" pitchFamily="34" charset="0"/>
                <a:ea typeface="Meiryo" pitchFamily="34" charset="-122"/>
                <a:cs typeface="Meiryo" pitchFamily="34" charset="-120"/>
              </a:rPr>
              <a:t>自分の学校の言葉にする。</a:t>
            </a:r>
            <a:endParaRPr lang="en-US" sz="4000" dirty="0"/>
          </a:p>
        </p:txBody>
      </p:sp>
      <p:sp>
        <p:nvSpPr>
          <p:cNvPr id="7" name="Text 5"/>
          <p:cNvSpPr txBox="1"/>
          <p:nvPr/>
        </p:nvSpPr>
        <p:spPr>
          <a:xfrm>
            <a:off x="640080" y="3730752"/>
            <a:ext cx="7863840" cy="457200"/>
          </a:xfrm>
          <a:prstGeom prst="rect">
            <a:avLst/>
          </a:prstGeom>
          <a:noFill/>
          <a:ln/>
        </p:spPr>
        <p:txBody>
          <a:bodyPr wrap="square" lIns="0" tIns="0" rIns="0" bIns="0" rtlCol="0" anchor="ctr"/>
          <a:lstStyle/>
          <a:p>
            <a:pPr indent="0" marL="0">
              <a:buNone/>
            </a:pPr>
            <a:r>
              <a:rPr lang="en-US" sz="2100" b="1" dirty="0">
                <a:solidFill>
                  <a:srgbClr val="EBB84D"/>
                </a:solidFill>
                <a:latin typeface="Meiryo" pitchFamily="34" charset="0"/>
                <a:ea typeface="Meiryo" pitchFamily="34" charset="-122"/>
                <a:cs typeface="Meiryo" pitchFamily="34" charset="-120"/>
              </a:rPr>
              <a:t>校長権限でつくる　令和9年度の学校づくり</a:t>
            </a:r>
            <a:endParaRPr lang="en-US" sz="2100" dirty="0"/>
          </a:p>
        </p:txBody>
      </p:sp>
      <p:sp>
        <p:nvSpPr>
          <p:cNvPr id="8" name="Shape 6"/>
          <p:cNvSpPr/>
          <p:nvPr/>
        </p:nvSpPr>
        <p:spPr>
          <a:xfrm>
            <a:off x="640080" y="4434840"/>
            <a:ext cx="2926080" cy="0"/>
          </a:xfrm>
          <a:prstGeom prst="line">
            <a:avLst/>
          </a:prstGeom>
          <a:noFill/>
          <a:ln w="12700">
            <a:solidFill>
              <a:srgbClr val="3D6B5A"/>
            </a:solidFill>
            <a:prstDash val="solid"/>
          </a:ln>
        </p:spPr>
      </p:sp>
      <p:sp>
        <p:nvSpPr>
          <p:cNvPr id="9" name="Text 7"/>
          <p:cNvSpPr txBox="1"/>
          <p:nvPr/>
        </p:nvSpPr>
        <p:spPr>
          <a:xfrm>
            <a:off x="640080" y="4681728"/>
            <a:ext cx="5486400" cy="731520"/>
          </a:xfrm>
          <a:prstGeom prst="rect">
            <a:avLst/>
          </a:prstGeom>
          <a:noFill/>
          <a:ln/>
        </p:spPr>
        <p:txBody>
          <a:bodyPr wrap="square" lIns="0" tIns="0" rIns="0" bIns="0" rtlCol="0" anchor="ctr"/>
          <a:lstStyle/>
          <a:p>
            <a:pPr indent="0" marL="0">
              <a:lnSpc>
                <a:spcPts val="2200"/>
              </a:lnSpc>
              <a:buNone/>
            </a:pPr>
            <a:r>
              <a:rPr lang="en-US" sz="1300" dirty="0">
                <a:solidFill>
                  <a:srgbClr val="AFC5B6"/>
                </a:solidFill>
                <a:latin typeface="Meiryo" pitchFamily="34" charset="0"/>
                <a:ea typeface="Meiryo" pitchFamily="34" charset="-122"/>
                <a:cs typeface="Meiryo" pitchFamily="34" charset="-120"/>
              </a:rPr>
              <a:t>区立小・中学校 校長会</a:t>
            </a:r>
            <a:endParaRPr lang="en-US" sz="1300" dirty="0"/>
          </a:p>
          <a:p>
            <a:pPr indent="0" marL="0">
              <a:lnSpc>
                <a:spcPts val="2200"/>
              </a:lnSpc>
              <a:buNone/>
            </a:pPr>
            <a:r>
              <a:rPr lang="en-US" sz="1300" dirty="0">
                <a:solidFill>
                  <a:srgbClr val="AFC5B6"/>
                </a:solidFill>
                <a:latin typeface="Meiryo" pitchFamily="34" charset="0"/>
                <a:ea typeface="Meiryo" pitchFamily="34" charset="-122"/>
                <a:cs typeface="Meiryo" pitchFamily="34" charset="-120"/>
              </a:rPr>
              <a:t>令和8年　月　日</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2</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本日の流れ</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5つのパートでお話しします</a:t>
            </a:r>
            <a:endParaRPr lang="en-US" sz="2800" dirty="0"/>
          </a:p>
        </p:txBody>
      </p:sp>
      <p:sp>
        <p:nvSpPr>
          <p:cNvPr id="5" name="Shape 3"/>
          <p:cNvSpPr/>
          <p:nvPr/>
        </p:nvSpPr>
        <p:spPr>
          <a:xfrm>
            <a:off x="640080" y="1481328"/>
            <a:ext cx="10911535" cy="804672"/>
          </a:xfrm>
          <a:prstGeom prst="roundRect">
            <a:avLst>
              <a:gd name="adj" fmla="val 6818"/>
            </a:avLst>
          </a:prstGeom>
          <a:solidFill>
            <a:srgbClr val="F1F5F2"/>
          </a:solidFill>
          <a:ln/>
        </p:spPr>
      </p:sp>
      <p:sp>
        <p:nvSpPr>
          <p:cNvPr id="6" name="Shape 4"/>
          <p:cNvSpPr/>
          <p:nvPr/>
        </p:nvSpPr>
        <p:spPr>
          <a:xfrm>
            <a:off x="914400" y="1655064"/>
            <a:ext cx="457200" cy="457200"/>
          </a:xfrm>
          <a:prstGeom prst="ellipse">
            <a:avLst/>
          </a:prstGeom>
          <a:solidFill>
            <a:srgbClr val="1F5D4C"/>
          </a:solidFill>
          <a:ln/>
        </p:spPr>
      </p:sp>
      <p:sp>
        <p:nvSpPr>
          <p:cNvPr id="7" name="Text 5"/>
          <p:cNvSpPr txBox="1"/>
          <p:nvPr/>
        </p:nvSpPr>
        <p:spPr>
          <a:xfrm>
            <a:off x="914400" y="1719072"/>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Ⅰ</a:t>
            </a:r>
            <a:endParaRPr lang="en-US" sz="1600" dirty="0"/>
          </a:p>
        </p:txBody>
      </p:sp>
      <p:sp>
        <p:nvSpPr>
          <p:cNvPr id="8" name="Text 6"/>
          <p:cNvSpPr txBox="1"/>
          <p:nvPr/>
        </p:nvSpPr>
        <p:spPr>
          <a:xfrm>
            <a:off x="1572768" y="1618488"/>
            <a:ext cx="5120640" cy="329184"/>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なぜ今、校長が動くのか</a:t>
            </a:r>
            <a:endParaRPr lang="en-US" sz="1700" dirty="0"/>
          </a:p>
        </p:txBody>
      </p:sp>
      <p:sp>
        <p:nvSpPr>
          <p:cNvPr id="9" name="Text 7"/>
          <p:cNvSpPr txBox="1"/>
          <p:nvPr/>
        </p:nvSpPr>
        <p:spPr>
          <a:xfrm>
            <a:off x="1572768" y="1956816"/>
            <a:ext cx="5120640" cy="274320"/>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2030年の話ではありません</a:t>
            </a:r>
            <a:endParaRPr lang="en-US" sz="1200" dirty="0"/>
          </a:p>
        </p:txBody>
      </p:sp>
      <p:sp>
        <p:nvSpPr>
          <p:cNvPr id="10" name="Shape 8"/>
          <p:cNvSpPr/>
          <p:nvPr/>
        </p:nvSpPr>
        <p:spPr>
          <a:xfrm>
            <a:off x="640080" y="2359152"/>
            <a:ext cx="10911535" cy="804672"/>
          </a:xfrm>
          <a:prstGeom prst="roundRect">
            <a:avLst>
              <a:gd name="adj" fmla="val 6818"/>
            </a:avLst>
          </a:prstGeom>
          <a:solidFill>
            <a:srgbClr val="F1F5F2"/>
          </a:solidFill>
          <a:ln/>
        </p:spPr>
      </p:sp>
      <p:sp>
        <p:nvSpPr>
          <p:cNvPr id="11" name="Shape 9"/>
          <p:cNvSpPr/>
          <p:nvPr/>
        </p:nvSpPr>
        <p:spPr>
          <a:xfrm>
            <a:off x="914400" y="2532888"/>
            <a:ext cx="457200" cy="457200"/>
          </a:xfrm>
          <a:prstGeom prst="ellipse">
            <a:avLst/>
          </a:prstGeom>
          <a:solidFill>
            <a:srgbClr val="1F5D4C"/>
          </a:solidFill>
          <a:ln/>
        </p:spPr>
      </p:sp>
      <p:sp>
        <p:nvSpPr>
          <p:cNvPr id="12" name="Text 10"/>
          <p:cNvSpPr txBox="1"/>
          <p:nvPr/>
        </p:nvSpPr>
        <p:spPr>
          <a:xfrm>
            <a:off x="914400" y="2596896"/>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Ⅱ</a:t>
            </a:r>
            <a:endParaRPr lang="en-US" sz="1600" dirty="0"/>
          </a:p>
        </p:txBody>
      </p:sp>
      <p:sp>
        <p:nvSpPr>
          <p:cNvPr id="13" name="Text 11"/>
          <p:cNvSpPr txBox="1"/>
          <p:nvPr/>
        </p:nvSpPr>
        <p:spPr>
          <a:xfrm>
            <a:off x="1572768" y="2496312"/>
            <a:ext cx="5120640" cy="329184"/>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素案は何を言っているか</a:t>
            </a:r>
            <a:endParaRPr lang="en-US" sz="1700" dirty="0"/>
          </a:p>
        </p:txBody>
      </p:sp>
      <p:sp>
        <p:nvSpPr>
          <p:cNvPr id="14" name="Text 12"/>
          <p:cNvSpPr txBox="1"/>
          <p:nvPr/>
        </p:nvSpPr>
        <p:spPr>
          <a:xfrm>
            <a:off x="1572768" y="2834640"/>
            <a:ext cx="5120640" cy="274320"/>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理念と、制度の中身</a:t>
            </a:r>
            <a:endParaRPr lang="en-US" sz="1200" dirty="0"/>
          </a:p>
        </p:txBody>
      </p:sp>
      <p:sp>
        <p:nvSpPr>
          <p:cNvPr id="15" name="Shape 13"/>
          <p:cNvSpPr/>
          <p:nvPr/>
        </p:nvSpPr>
        <p:spPr>
          <a:xfrm>
            <a:off x="640080" y="3236976"/>
            <a:ext cx="10911535" cy="804672"/>
          </a:xfrm>
          <a:prstGeom prst="roundRect">
            <a:avLst>
              <a:gd name="adj" fmla="val 6818"/>
            </a:avLst>
          </a:prstGeom>
          <a:solidFill>
            <a:srgbClr val="F1F5F2"/>
          </a:solidFill>
          <a:ln/>
        </p:spPr>
      </p:sp>
      <p:sp>
        <p:nvSpPr>
          <p:cNvPr id="16" name="Shape 14"/>
          <p:cNvSpPr/>
          <p:nvPr/>
        </p:nvSpPr>
        <p:spPr>
          <a:xfrm>
            <a:off x="914400" y="3410712"/>
            <a:ext cx="457200" cy="457200"/>
          </a:xfrm>
          <a:prstGeom prst="ellipse">
            <a:avLst/>
          </a:prstGeom>
          <a:solidFill>
            <a:srgbClr val="1F5D4C"/>
          </a:solidFill>
          <a:ln/>
        </p:spPr>
      </p:sp>
      <p:sp>
        <p:nvSpPr>
          <p:cNvPr id="17" name="Text 15"/>
          <p:cNvSpPr txBox="1"/>
          <p:nvPr/>
        </p:nvSpPr>
        <p:spPr>
          <a:xfrm>
            <a:off x="914400" y="3474720"/>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Ⅲ</a:t>
            </a:r>
            <a:endParaRPr lang="en-US" sz="1600" dirty="0"/>
          </a:p>
        </p:txBody>
      </p:sp>
      <p:sp>
        <p:nvSpPr>
          <p:cNvPr id="18" name="Text 16"/>
          <p:cNvSpPr txBox="1"/>
          <p:nvPr/>
        </p:nvSpPr>
        <p:spPr>
          <a:xfrm>
            <a:off x="1572768" y="3374136"/>
            <a:ext cx="5120640" cy="329184"/>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校長の権限はどこまで届くか</a:t>
            </a:r>
            <a:endParaRPr lang="en-US" sz="1700" dirty="0"/>
          </a:p>
        </p:txBody>
      </p:sp>
      <p:sp>
        <p:nvSpPr>
          <p:cNvPr id="19" name="Text 17"/>
          <p:cNvSpPr txBox="1"/>
          <p:nvPr/>
        </p:nvSpPr>
        <p:spPr>
          <a:xfrm>
            <a:off x="1572768" y="3712464"/>
            <a:ext cx="5120640" cy="274320"/>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できること・できないこと</a:t>
            </a:r>
            <a:endParaRPr lang="en-US" sz="1200" dirty="0"/>
          </a:p>
        </p:txBody>
      </p:sp>
      <p:sp>
        <p:nvSpPr>
          <p:cNvPr id="20" name="Shape 18"/>
          <p:cNvSpPr/>
          <p:nvPr/>
        </p:nvSpPr>
        <p:spPr>
          <a:xfrm>
            <a:off x="640080" y="4114800"/>
            <a:ext cx="10911535" cy="804672"/>
          </a:xfrm>
          <a:prstGeom prst="roundRect">
            <a:avLst>
              <a:gd name="adj" fmla="val 6818"/>
            </a:avLst>
          </a:prstGeom>
          <a:solidFill>
            <a:srgbClr val="F1F5F2"/>
          </a:solidFill>
          <a:ln/>
        </p:spPr>
      </p:sp>
      <p:sp>
        <p:nvSpPr>
          <p:cNvPr id="21" name="Shape 19"/>
          <p:cNvSpPr/>
          <p:nvPr/>
        </p:nvSpPr>
        <p:spPr>
          <a:xfrm>
            <a:off x="914400" y="4288536"/>
            <a:ext cx="457200" cy="457200"/>
          </a:xfrm>
          <a:prstGeom prst="ellipse">
            <a:avLst/>
          </a:prstGeom>
          <a:solidFill>
            <a:srgbClr val="1F5D4C"/>
          </a:solidFill>
          <a:ln/>
        </p:spPr>
      </p:sp>
      <p:sp>
        <p:nvSpPr>
          <p:cNvPr id="22" name="Text 20"/>
          <p:cNvSpPr txBox="1"/>
          <p:nvPr/>
        </p:nvSpPr>
        <p:spPr>
          <a:xfrm>
            <a:off x="914400" y="4352544"/>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Ⅳ</a:t>
            </a:r>
            <a:endParaRPr lang="en-US" sz="1600" dirty="0"/>
          </a:p>
        </p:txBody>
      </p:sp>
      <p:sp>
        <p:nvSpPr>
          <p:cNvPr id="23" name="Text 21"/>
          <p:cNvSpPr txBox="1"/>
          <p:nvPr/>
        </p:nvSpPr>
        <p:spPr>
          <a:xfrm>
            <a:off x="1572768" y="4251960"/>
            <a:ext cx="5120640" cy="329184"/>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明日から打てる手</a:t>
            </a:r>
            <a:endParaRPr lang="en-US" sz="1700" dirty="0"/>
          </a:p>
        </p:txBody>
      </p:sp>
      <p:sp>
        <p:nvSpPr>
          <p:cNvPr id="24" name="Text 22"/>
          <p:cNvSpPr txBox="1"/>
          <p:nvPr/>
        </p:nvSpPr>
        <p:spPr>
          <a:xfrm>
            <a:off x="1572768" y="4590288"/>
            <a:ext cx="5120640" cy="274320"/>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先行事例と10の打ち手</a:t>
            </a:r>
            <a:endParaRPr lang="en-US" sz="1200" dirty="0"/>
          </a:p>
        </p:txBody>
      </p:sp>
      <p:sp>
        <p:nvSpPr>
          <p:cNvPr id="25" name="Shape 23"/>
          <p:cNvSpPr/>
          <p:nvPr/>
        </p:nvSpPr>
        <p:spPr>
          <a:xfrm>
            <a:off x="640080" y="4992624"/>
            <a:ext cx="10911535" cy="804672"/>
          </a:xfrm>
          <a:prstGeom prst="roundRect">
            <a:avLst>
              <a:gd name="adj" fmla="val 6818"/>
            </a:avLst>
          </a:prstGeom>
          <a:solidFill>
            <a:srgbClr val="E4EDE6"/>
          </a:solidFill>
          <a:ln/>
        </p:spPr>
      </p:sp>
      <p:sp>
        <p:nvSpPr>
          <p:cNvPr id="26" name="Shape 24"/>
          <p:cNvSpPr/>
          <p:nvPr/>
        </p:nvSpPr>
        <p:spPr>
          <a:xfrm>
            <a:off x="914400" y="5166360"/>
            <a:ext cx="457200" cy="457200"/>
          </a:xfrm>
          <a:prstGeom prst="ellipse">
            <a:avLst/>
          </a:prstGeom>
          <a:solidFill>
            <a:srgbClr val="B26B1B"/>
          </a:solidFill>
          <a:ln/>
        </p:spPr>
      </p:sp>
      <p:sp>
        <p:nvSpPr>
          <p:cNvPr id="27" name="Text 25"/>
          <p:cNvSpPr txBox="1"/>
          <p:nvPr/>
        </p:nvSpPr>
        <p:spPr>
          <a:xfrm>
            <a:off x="914400" y="5230368"/>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Ⅴ</a:t>
            </a:r>
            <a:endParaRPr lang="en-US" sz="1600" dirty="0"/>
          </a:p>
        </p:txBody>
      </p:sp>
      <p:sp>
        <p:nvSpPr>
          <p:cNvPr id="28" name="Text 26"/>
          <p:cNvSpPr txBox="1"/>
          <p:nvPr/>
        </p:nvSpPr>
        <p:spPr>
          <a:xfrm>
            <a:off x="1572768" y="5129784"/>
            <a:ext cx="5120640" cy="329184"/>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令和9年度の学校経営に落とす</a:t>
            </a:r>
            <a:endParaRPr lang="en-US" sz="1700" dirty="0"/>
          </a:p>
        </p:txBody>
      </p:sp>
      <p:sp>
        <p:nvSpPr>
          <p:cNvPr id="29" name="Text 27"/>
          <p:cNvSpPr txBox="1"/>
          <p:nvPr/>
        </p:nvSpPr>
        <p:spPr>
          <a:xfrm>
            <a:off x="1572768" y="5468112"/>
            <a:ext cx="5120640" cy="274320"/>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経営計画への書き込み方</a:t>
            </a:r>
            <a:endParaRPr lang="en-US" sz="1200" dirty="0"/>
          </a:p>
        </p:txBody>
      </p:sp>
      <p:sp>
        <p:nvSpPr>
          <p:cNvPr id="30" name="Shape 28"/>
          <p:cNvSpPr/>
          <p:nvPr/>
        </p:nvSpPr>
        <p:spPr>
          <a:xfrm>
            <a:off x="640080" y="5888736"/>
            <a:ext cx="10911535" cy="566928"/>
          </a:xfrm>
          <a:prstGeom prst="roundRect">
            <a:avLst>
              <a:gd name="adj" fmla="val 9677"/>
            </a:avLst>
          </a:prstGeom>
          <a:solidFill>
            <a:srgbClr val="F1F5F2"/>
          </a:solidFill>
          <a:ln/>
        </p:spPr>
      </p:sp>
      <p:sp>
        <p:nvSpPr>
          <p:cNvPr id="31" name="Text 29"/>
          <p:cNvSpPr txBox="1"/>
          <p:nvPr/>
        </p:nvSpPr>
        <p:spPr>
          <a:xfrm>
            <a:off x="1051560" y="6016752"/>
            <a:ext cx="10088575" cy="329184"/>
          </a:xfrm>
          <a:prstGeom prst="rect">
            <a:avLst/>
          </a:prstGeom>
          <a:noFill/>
          <a:ln/>
        </p:spPr>
        <p:txBody>
          <a:bodyPr wrap="square" lIns="0" tIns="0" rIns="0" bIns="0" rtlCol="0" anchor="ctr"/>
          <a:lstStyle/>
          <a:p>
            <a:pPr indent="0" marL="0">
              <a:buNone/>
            </a:pPr>
            <a:r>
              <a:rPr lang="en-US" sz="1300" b="1" dirty="0">
                <a:solidFill>
                  <a:srgbClr val="1F5D4C"/>
                </a:solidFill>
                <a:latin typeface="Meiryo" pitchFamily="34" charset="0"/>
                <a:ea typeface="Meiryo" pitchFamily="34" charset="-122"/>
                <a:cs typeface="Meiryo" pitchFamily="34" charset="-120"/>
              </a:rPr>
              <a:t>巻末に、想定質問集（Q1〜Q20）を付けています。質疑応答のときにお使いください。</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3</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結論</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本日お持ち帰りいただきたいこと</a:t>
            </a:r>
            <a:endParaRPr lang="en-US" sz="2800" dirty="0"/>
          </a:p>
        </p:txBody>
      </p:sp>
      <p:sp>
        <p:nvSpPr>
          <p:cNvPr id="5" name="Shape 3"/>
          <p:cNvSpPr/>
          <p:nvPr/>
        </p:nvSpPr>
        <p:spPr>
          <a:xfrm>
            <a:off x="640080" y="1481328"/>
            <a:ext cx="10911535" cy="1389888"/>
          </a:xfrm>
          <a:prstGeom prst="roundRect">
            <a:avLst>
              <a:gd name="adj" fmla="val 3947"/>
            </a:avLst>
          </a:prstGeom>
          <a:solidFill>
            <a:srgbClr val="F1F5F2"/>
          </a:solidFill>
          <a:ln/>
        </p:spPr>
      </p:sp>
      <p:sp>
        <p:nvSpPr>
          <p:cNvPr id="6" name="Shape 4"/>
          <p:cNvSpPr/>
          <p:nvPr/>
        </p:nvSpPr>
        <p:spPr>
          <a:xfrm>
            <a:off x="950976" y="1755648"/>
            <a:ext cx="585216" cy="585216"/>
          </a:xfrm>
          <a:prstGeom prst="ellipse">
            <a:avLst/>
          </a:prstGeom>
          <a:solidFill>
            <a:srgbClr val="1F5D4C"/>
          </a:solidFill>
          <a:ln/>
        </p:spPr>
      </p:sp>
      <p:sp>
        <p:nvSpPr>
          <p:cNvPr id="7" name="Text 5"/>
          <p:cNvSpPr txBox="1"/>
          <p:nvPr/>
        </p:nvSpPr>
        <p:spPr>
          <a:xfrm>
            <a:off x="950976" y="1883664"/>
            <a:ext cx="585216" cy="329184"/>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6"/>
          <p:cNvSpPr txBox="1"/>
          <p:nvPr/>
        </p:nvSpPr>
        <p:spPr>
          <a:xfrm>
            <a:off x="1719072" y="1700784"/>
            <a:ext cx="9448495" cy="384048"/>
          </a:xfrm>
          <a:prstGeom prst="rect">
            <a:avLst/>
          </a:prstGeom>
          <a:noFill/>
          <a:ln/>
        </p:spPr>
        <p:txBody>
          <a:bodyPr wrap="square" lIns="0" tIns="0" rIns="0" bIns="0" rtlCol="0" anchor="ctr"/>
          <a:lstStyle/>
          <a:p>
            <a:pPr indent="0" marL="0">
              <a:buNone/>
            </a:pPr>
            <a:r>
              <a:rPr lang="en-US" sz="1900" b="1" dirty="0">
                <a:solidFill>
                  <a:srgbClr val="14312A"/>
                </a:solidFill>
                <a:latin typeface="Meiryo" pitchFamily="34" charset="0"/>
                <a:ea typeface="Meiryo" pitchFamily="34" charset="-122"/>
                <a:cs typeface="Meiryo" pitchFamily="34" charset="-120"/>
              </a:rPr>
              <a:t>2030年の話ではない</a:t>
            </a:r>
            <a:endParaRPr lang="en-US" sz="1900" dirty="0"/>
          </a:p>
        </p:txBody>
      </p:sp>
      <p:sp>
        <p:nvSpPr>
          <p:cNvPr id="9" name="Text 7"/>
          <p:cNvSpPr txBox="1"/>
          <p:nvPr/>
        </p:nvSpPr>
        <p:spPr>
          <a:xfrm>
            <a:off x="1719072" y="2139696"/>
            <a:ext cx="9448495" cy="585216"/>
          </a:xfrm>
          <a:prstGeom prst="rect">
            <a:avLst/>
          </a:prstGeom>
          <a:noFill/>
          <a:ln/>
        </p:spPr>
        <p:txBody>
          <a:bodyPr wrap="square" lIns="0" tIns="0" rIns="0" bIns="0" rtlCol="0" anchor="ctr"/>
          <a:lstStyle/>
          <a:p>
            <a:pPr indent="0" marL="0">
              <a:lnSpc>
                <a:spcPts val="2000"/>
              </a:lnSpc>
              <a:buNone/>
            </a:pPr>
            <a:r>
              <a:rPr lang="en-US" sz="1350" dirty="0">
                <a:solidFill>
                  <a:srgbClr val="1C2320"/>
                </a:solidFill>
                <a:latin typeface="Meiryo" pitchFamily="34" charset="0"/>
                <a:ea typeface="Meiryo" pitchFamily="34" charset="-122"/>
                <a:cs typeface="Meiryo" pitchFamily="34" charset="-120"/>
              </a:rPr>
              <a:t>調整授業時数制度は2028年度から先行導入できます。逆算すると、設計に使える年度は令和9年度と令和10年度しかありません。</a:t>
            </a:r>
            <a:endParaRPr lang="en-US" sz="1350" dirty="0"/>
          </a:p>
        </p:txBody>
      </p:sp>
      <p:sp>
        <p:nvSpPr>
          <p:cNvPr id="10" name="Shape 8"/>
          <p:cNvSpPr/>
          <p:nvPr/>
        </p:nvSpPr>
        <p:spPr>
          <a:xfrm>
            <a:off x="640080" y="2999232"/>
            <a:ext cx="10911535" cy="1389888"/>
          </a:xfrm>
          <a:prstGeom prst="roundRect">
            <a:avLst>
              <a:gd name="adj" fmla="val 3947"/>
            </a:avLst>
          </a:prstGeom>
          <a:solidFill>
            <a:srgbClr val="F1F5F2"/>
          </a:solidFill>
          <a:ln/>
        </p:spPr>
      </p:sp>
      <p:sp>
        <p:nvSpPr>
          <p:cNvPr id="11" name="Shape 9"/>
          <p:cNvSpPr/>
          <p:nvPr/>
        </p:nvSpPr>
        <p:spPr>
          <a:xfrm>
            <a:off x="950976" y="3273552"/>
            <a:ext cx="585216" cy="585216"/>
          </a:xfrm>
          <a:prstGeom prst="ellipse">
            <a:avLst/>
          </a:prstGeom>
          <a:solidFill>
            <a:srgbClr val="1F5D4C"/>
          </a:solidFill>
          <a:ln/>
        </p:spPr>
      </p:sp>
      <p:sp>
        <p:nvSpPr>
          <p:cNvPr id="12" name="Text 10"/>
          <p:cNvSpPr txBox="1"/>
          <p:nvPr/>
        </p:nvSpPr>
        <p:spPr>
          <a:xfrm>
            <a:off x="950976" y="3401568"/>
            <a:ext cx="585216" cy="329184"/>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1"/>
          <p:cNvSpPr txBox="1"/>
          <p:nvPr/>
        </p:nvSpPr>
        <p:spPr>
          <a:xfrm>
            <a:off x="1719072" y="3218688"/>
            <a:ext cx="9448495" cy="384048"/>
          </a:xfrm>
          <a:prstGeom prst="rect">
            <a:avLst/>
          </a:prstGeom>
          <a:noFill/>
          <a:ln/>
        </p:spPr>
        <p:txBody>
          <a:bodyPr wrap="square" lIns="0" tIns="0" rIns="0" bIns="0" rtlCol="0" anchor="ctr"/>
          <a:lstStyle/>
          <a:p>
            <a:pPr indent="0" marL="0">
              <a:buNone/>
            </a:pPr>
            <a:r>
              <a:rPr lang="en-US" sz="1900" b="1" dirty="0">
                <a:solidFill>
                  <a:srgbClr val="14312A"/>
                </a:solidFill>
                <a:latin typeface="Meiryo" pitchFamily="34" charset="0"/>
                <a:ea typeface="Meiryo" pitchFamily="34" charset="-122"/>
                <a:cs typeface="Meiryo" pitchFamily="34" charset="-120"/>
              </a:rPr>
              <a:t>「学校の裁量」を広げる改訂</a:t>
            </a:r>
            <a:endParaRPr lang="en-US" sz="1900" dirty="0"/>
          </a:p>
        </p:txBody>
      </p:sp>
      <p:sp>
        <p:nvSpPr>
          <p:cNvPr id="14" name="Text 12"/>
          <p:cNvSpPr txBox="1"/>
          <p:nvPr/>
        </p:nvSpPr>
        <p:spPr>
          <a:xfrm>
            <a:off x="1719072" y="3657600"/>
            <a:ext cx="9448495" cy="585216"/>
          </a:xfrm>
          <a:prstGeom prst="rect">
            <a:avLst/>
          </a:prstGeom>
          <a:noFill/>
          <a:ln/>
        </p:spPr>
        <p:txBody>
          <a:bodyPr wrap="square" lIns="0" tIns="0" rIns="0" bIns="0" rtlCol="0" anchor="ctr"/>
          <a:lstStyle/>
          <a:p>
            <a:pPr indent="0" marL="0">
              <a:lnSpc>
                <a:spcPts val="2000"/>
              </a:lnSpc>
              <a:buNone/>
            </a:pPr>
            <a:r>
              <a:rPr lang="en-US" sz="1350" dirty="0">
                <a:solidFill>
                  <a:srgbClr val="1C2320"/>
                </a:solidFill>
                <a:latin typeface="Meiryo" pitchFamily="34" charset="0"/>
                <a:ea typeface="Meiryo" pitchFamily="34" charset="-122"/>
                <a:cs typeface="Meiryo" pitchFamily="34" charset="-120"/>
              </a:rPr>
              <a:t>全国一律の横並びと決別する改訂です。制度が校長の判断に委ねる範囲が、これまでになく広がります。</a:t>
            </a:r>
            <a:endParaRPr lang="en-US" sz="1350" dirty="0"/>
          </a:p>
        </p:txBody>
      </p:sp>
      <p:sp>
        <p:nvSpPr>
          <p:cNvPr id="15" name="Shape 13"/>
          <p:cNvSpPr/>
          <p:nvPr/>
        </p:nvSpPr>
        <p:spPr>
          <a:xfrm>
            <a:off x="640080" y="4517136"/>
            <a:ext cx="10911535" cy="1389888"/>
          </a:xfrm>
          <a:prstGeom prst="roundRect">
            <a:avLst>
              <a:gd name="adj" fmla="val 3947"/>
            </a:avLst>
          </a:prstGeom>
          <a:solidFill>
            <a:srgbClr val="F1F5F2"/>
          </a:solidFill>
          <a:ln/>
        </p:spPr>
      </p:sp>
      <p:sp>
        <p:nvSpPr>
          <p:cNvPr id="16" name="Shape 14"/>
          <p:cNvSpPr/>
          <p:nvPr/>
        </p:nvSpPr>
        <p:spPr>
          <a:xfrm>
            <a:off x="950976" y="4791456"/>
            <a:ext cx="585216" cy="585216"/>
          </a:xfrm>
          <a:prstGeom prst="ellipse">
            <a:avLst/>
          </a:prstGeom>
          <a:solidFill>
            <a:srgbClr val="1F5D4C"/>
          </a:solidFill>
          <a:ln/>
        </p:spPr>
      </p:sp>
      <p:sp>
        <p:nvSpPr>
          <p:cNvPr id="17" name="Text 15"/>
          <p:cNvSpPr txBox="1"/>
          <p:nvPr/>
        </p:nvSpPr>
        <p:spPr>
          <a:xfrm>
            <a:off x="950976" y="4919472"/>
            <a:ext cx="585216" cy="329184"/>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6"/>
          <p:cNvSpPr txBox="1"/>
          <p:nvPr/>
        </p:nvSpPr>
        <p:spPr>
          <a:xfrm>
            <a:off x="1719072" y="4736592"/>
            <a:ext cx="9448495" cy="384048"/>
          </a:xfrm>
          <a:prstGeom prst="rect">
            <a:avLst/>
          </a:prstGeom>
          <a:noFill/>
          <a:ln/>
        </p:spPr>
        <p:txBody>
          <a:bodyPr wrap="square" lIns="0" tIns="0" rIns="0" bIns="0" rtlCol="0" anchor="ctr"/>
          <a:lstStyle/>
          <a:p>
            <a:pPr indent="0" marL="0">
              <a:buNone/>
            </a:pPr>
            <a:r>
              <a:rPr lang="en-US" sz="1900" b="1" dirty="0">
                <a:solidFill>
                  <a:srgbClr val="14312A"/>
                </a:solidFill>
                <a:latin typeface="Meiryo" pitchFamily="34" charset="0"/>
                <a:ea typeface="Meiryo" pitchFamily="34" charset="-122"/>
                <a:cs typeface="Meiryo" pitchFamily="34" charset="-120"/>
              </a:rPr>
              <a:t>令和9年度は「準備の年」</a:t>
            </a:r>
            <a:endParaRPr lang="en-US" sz="1900" dirty="0"/>
          </a:p>
        </p:txBody>
      </p:sp>
      <p:sp>
        <p:nvSpPr>
          <p:cNvPr id="19" name="Text 17"/>
          <p:cNvSpPr txBox="1"/>
          <p:nvPr/>
        </p:nvSpPr>
        <p:spPr>
          <a:xfrm>
            <a:off x="1719072" y="5175504"/>
            <a:ext cx="9448495" cy="585216"/>
          </a:xfrm>
          <a:prstGeom prst="rect">
            <a:avLst/>
          </a:prstGeom>
          <a:noFill/>
          <a:ln/>
        </p:spPr>
        <p:txBody>
          <a:bodyPr wrap="square" lIns="0" tIns="0" rIns="0" bIns="0" rtlCol="0" anchor="ctr"/>
          <a:lstStyle/>
          <a:p>
            <a:pPr indent="0" marL="0">
              <a:lnSpc>
                <a:spcPts val="2000"/>
              </a:lnSpc>
              <a:buNone/>
            </a:pPr>
            <a:r>
              <a:rPr lang="en-US" sz="1350" dirty="0">
                <a:solidFill>
                  <a:srgbClr val="1C2320"/>
                </a:solidFill>
                <a:latin typeface="Meiryo" pitchFamily="34" charset="0"/>
                <a:ea typeface="Meiryo" pitchFamily="34" charset="-122"/>
                <a:cs typeface="Meiryo" pitchFamily="34" charset="-120"/>
              </a:rPr>
              <a:t>確定を待つ必要はありません。今の法令のままで打てる手が、すでにいくつもあります。</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4</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取り上げる資料</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本日の土台となる「素案」</a:t>
            </a:r>
            <a:endParaRPr lang="en-US" sz="2800" dirty="0"/>
          </a:p>
        </p:txBody>
      </p:sp>
      <p:sp>
        <p:nvSpPr>
          <p:cNvPr id="5" name="Shape 3"/>
          <p:cNvSpPr/>
          <p:nvPr/>
        </p:nvSpPr>
        <p:spPr>
          <a:xfrm>
            <a:off x="640080" y="1463040"/>
            <a:ext cx="10911535" cy="1874520"/>
          </a:xfrm>
          <a:prstGeom prst="roundRect">
            <a:avLst>
              <a:gd name="adj" fmla="val 2927"/>
            </a:avLst>
          </a:prstGeom>
          <a:solidFill>
            <a:srgbClr val="E4EDE6"/>
          </a:solidFill>
          <a:ln/>
        </p:spPr>
      </p:sp>
      <p:sp>
        <p:nvSpPr>
          <p:cNvPr id="6" name="Text 4"/>
          <p:cNvSpPr txBox="1"/>
          <p:nvPr/>
        </p:nvSpPr>
        <p:spPr>
          <a:xfrm>
            <a:off x="1097280" y="1719072"/>
            <a:ext cx="9997135" cy="502920"/>
          </a:xfrm>
          <a:prstGeom prst="rect">
            <a:avLst/>
          </a:prstGeom>
          <a:noFill/>
          <a:ln/>
        </p:spPr>
        <p:txBody>
          <a:bodyPr wrap="square" lIns="0" tIns="0" rIns="0" bIns="0" rtlCol="0" anchor="ctr"/>
          <a:lstStyle/>
          <a:p>
            <a:pPr indent="0" marL="0">
              <a:buNone/>
            </a:pPr>
            <a:r>
              <a:rPr lang="en-US" sz="2600" b="1" dirty="0">
                <a:solidFill>
                  <a:srgbClr val="14312A"/>
                </a:solidFill>
                <a:latin typeface="Meiryo" pitchFamily="34" charset="0"/>
                <a:ea typeface="Meiryo" pitchFamily="34" charset="-122"/>
                <a:cs typeface="Meiryo" pitchFamily="34" charset="-120"/>
              </a:rPr>
              <a:t>次期学習指導要領等に向けた　審議まとめ（素案）</a:t>
            </a:r>
            <a:endParaRPr lang="en-US" sz="2600" dirty="0"/>
          </a:p>
        </p:txBody>
      </p:sp>
      <p:sp>
        <p:nvSpPr>
          <p:cNvPr id="7" name="Text 5"/>
          <p:cNvSpPr txBox="1"/>
          <p:nvPr/>
        </p:nvSpPr>
        <p:spPr>
          <a:xfrm>
            <a:off x="1097280" y="2304288"/>
            <a:ext cx="9997135" cy="731520"/>
          </a:xfrm>
          <a:prstGeom prst="rect">
            <a:avLst/>
          </a:prstGeom>
          <a:noFill/>
          <a:ln/>
        </p:spPr>
        <p:txBody>
          <a:bodyPr wrap="square" lIns="0" tIns="0" rIns="0" bIns="0" rtlCol="0" anchor="ctr"/>
          <a:lstStyle/>
          <a:p>
            <a:pPr indent="0" marL="0">
              <a:lnSpc>
                <a:spcPts val="2300"/>
              </a:lnSpc>
              <a:buNone/>
            </a:pPr>
            <a:r>
              <a:rPr lang="en-US" sz="1400" dirty="0">
                <a:solidFill>
                  <a:srgbClr val="1F5D4C"/>
                </a:solidFill>
                <a:latin typeface="Meiryo" pitchFamily="34" charset="0"/>
                <a:ea typeface="Meiryo" pitchFamily="34" charset="-122"/>
                <a:cs typeface="Meiryo" pitchFamily="34" charset="-120"/>
              </a:rPr>
              <a:t>中央教育審議会　初等中等教育分科会　教育課程部会</a:t>
            </a:r>
            <a:endParaRPr lang="en-US" sz="1400" dirty="0"/>
          </a:p>
          <a:p>
            <a:pPr indent="0" marL="0">
              <a:lnSpc>
                <a:spcPts val="2300"/>
              </a:lnSpc>
              <a:buNone/>
            </a:pPr>
            <a:r>
              <a:rPr lang="en-US" sz="1400" dirty="0">
                <a:solidFill>
                  <a:srgbClr val="1F5D4C"/>
                </a:solidFill>
                <a:latin typeface="Meiryo" pitchFamily="34" charset="0"/>
                <a:ea typeface="Meiryo" pitchFamily="34" charset="-122"/>
                <a:cs typeface="Meiryo" pitchFamily="34" charset="-120"/>
              </a:rPr>
              <a:t>教育課程企画特別部会（第17回）　令和8年8月31日　資料1</a:t>
            </a:r>
            <a:endParaRPr lang="en-US" sz="1400" dirty="0"/>
          </a:p>
        </p:txBody>
      </p:sp>
      <p:sp>
        <p:nvSpPr>
          <p:cNvPr id="8" name="Shape 6"/>
          <p:cNvSpPr/>
          <p:nvPr/>
        </p:nvSpPr>
        <p:spPr>
          <a:xfrm>
            <a:off x="640080" y="3611880"/>
            <a:ext cx="2286000" cy="713232"/>
          </a:xfrm>
          <a:prstGeom prst="roundRect">
            <a:avLst>
              <a:gd name="adj" fmla="val 7692"/>
            </a:avLst>
          </a:prstGeom>
          <a:solidFill>
            <a:srgbClr val="1F5D4C"/>
          </a:solidFill>
          <a:ln/>
        </p:spPr>
      </p:sp>
      <p:sp>
        <p:nvSpPr>
          <p:cNvPr id="9" name="Text 7"/>
          <p:cNvSpPr txBox="1"/>
          <p:nvPr/>
        </p:nvSpPr>
        <p:spPr>
          <a:xfrm>
            <a:off x="640080" y="3803904"/>
            <a:ext cx="22860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位置づけ</a:t>
            </a:r>
            <a:endParaRPr lang="en-US" sz="1500" dirty="0"/>
          </a:p>
        </p:txBody>
      </p:sp>
      <p:sp>
        <p:nvSpPr>
          <p:cNvPr id="10" name="Text 8"/>
          <p:cNvSpPr txBox="1"/>
          <p:nvPr/>
        </p:nvSpPr>
        <p:spPr>
          <a:xfrm>
            <a:off x="3246120" y="3794760"/>
            <a:ext cx="8214055" cy="384048"/>
          </a:xfrm>
          <a:prstGeom prst="rect">
            <a:avLst/>
          </a:prstGeom>
          <a:noFill/>
          <a:ln/>
        </p:spPr>
        <p:txBody>
          <a:bodyPr wrap="square" lIns="0" tIns="0" rIns="0" bIns="0" rtlCol="0" anchor="ctr"/>
          <a:lstStyle/>
          <a:p>
            <a:pPr indent="0" marL="0">
              <a:buNone/>
            </a:pPr>
            <a:r>
              <a:rPr lang="en-US" sz="1400" dirty="0">
                <a:solidFill>
                  <a:srgbClr val="1C2320"/>
                </a:solidFill>
                <a:latin typeface="Meiryo" pitchFamily="34" charset="0"/>
                <a:ea typeface="Meiryo" pitchFamily="34" charset="-122"/>
                <a:cs typeface="Meiryo" pitchFamily="34" charset="-120"/>
              </a:rPr>
              <a:t>答申に向けた審議のまとめの素案。国の方向性を示す文書</a:t>
            </a:r>
            <a:endParaRPr lang="en-US" sz="1400" dirty="0"/>
          </a:p>
        </p:txBody>
      </p:sp>
      <p:sp>
        <p:nvSpPr>
          <p:cNvPr id="11" name="Shape 9"/>
          <p:cNvSpPr/>
          <p:nvPr/>
        </p:nvSpPr>
        <p:spPr>
          <a:xfrm>
            <a:off x="640080" y="4471416"/>
            <a:ext cx="2286000" cy="713232"/>
          </a:xfrm>
          <a:prstGeom prst="roundRect">
            <a:avLst>
              <a:gd name="adj" fmla="val 7692"/>
            </a:avLst>
          </a:prstGeom>
          <a:solidFill>
            <a:srgbClr val="1F5D4C"/>
          </a:solidFill>
          <a:ln/>
        </p:spPr>
      </p:sp>
      <p:sp>
        <p:nvSpPr>
          <p:cNvPr id="12" name="Text 10"/>
          <p:cNvSpPr txBox="1"/>
          <p:nvPr/>
        </p:nvSpPr>
        <p:spPr>
          <a:xfrm>
            <a:off x="640080" y="4663440"/>
            <a:ext cx="22860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今後</a:t>
            </a:r>
            <a:endParaRPr lang="en-US" sz="1500" dirty="0"/>
          </a:p>
        </p:txBody>
      </p:sp>
      <p:sp>
        <p:nvSpPr>
          <p:cNvPr id="13" name="Text 11"/>
          <p:cNvSpPr txBox="1"/>
          <p:nvPr/>
        </p:nvSpPr>
        <p:spPr>
          <a:xfrm>
            <a:off x="3246120" y="4654296"/>
            <a:ext cx="8214055" cy="384048"/>
          </a:xfrm>
          <a:prstGeom prst="rect">
            <a:avLst/>
          </a:prstGeom>
          <a:noFill/>
          <a:ln/>
        </p:spPr>
        <p:txBody>
          <a:bodyPr wrap="square" lIns="0" tIns="0" rIns="0" bIns="0" rtlCol="0" anchor="ctr"/>
          <a:lstStyle/>
          <a:p>
            <a:pPr indent="0" marL="0">
              <a:buNone/>
            </a:pPr>
            <a:r>
              <a:rPr lang="en-US" sz="1400" dirty="0">
                <a:solidFill>
                  <a:srgbClr val="1C2320"/>
                </a:solidFill>
                <a:latin typeface="Meiryo" pitchFamily="34" charset="0"/>
                <a:ea typeface="Meiryo" pitchFamily="34" charset="-122"/>
                <a:cs typeface="Meiryo" pitchFamily="34" charset="-120"/>
              </a:rPr>
              <a:t>令和8年冬ごろ答申 → 令和8年度末に改訂学習指導要領を告示</a:t>
            </a:r>
            <a:endParaRPr lang="en-US" sz="1400" dirty="0"/>
          </a:p>
        </p:txBody>
      </p:sp>
      <p:sp>
        <p:nvSpPr>
          <p:cNvPr id="14" name="Shape 12"/>
          <p:cNvSpPr/>
          <p:nvPr/>
        </p:nvSpPr>
        <p:spPr>
          <a:xfrm>
            <a:off x="640080" y="5330952"/>
            <a:ext cx="2286000" cy="713232"/>
          </a:xfrm>
          <a:prstGeom prst="roundRect">
            <a:avLst>
              <a:gd name="adj" fmla="val 7692"/>
            </a:avLst>
          </a:prstGeom>
          <a:solidFill>
            <a:srgbClr val="1F5D4C"/>
          </a:solidFill>
          <a:ln/>
        </p:spPr>
      </p:sp>
      <p:sp>
        <p:nvSpPr>
          <p:cNvPr id="15" name="Text 13"/>
          <p:cNvSpPr txBox="1"/>
          <p:nvPr/>
        </p:nvSpPr>
        <p:spPr>
          <a:xfrm>
            <a:off x="640080" y="5522976"/>
            <a:ext cx="22860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性格</a:t>
            </a:r>
            <a:endParaRPr lang="en-US" sz="1500" dirty="0"/>
          </a:p>
        </p:txBody>
      </p:sp>
      <p:sp>
        <p:nvSpPr>
          <p:cNvPr id="16" name="Text 14"/>
          <p:cNvSpPr txBox="1"/>
          <p:nvPr/>
        </p:nvSpPr>
        <p:spPr>
          <a:xfrm>
            <a:off x="3246120" y="5513832"/>
            <a:ext cx="8214055" cy="384048"/>
          </a:xfrm>
          <a:prstGeom prst="rect">
            <a:avLst/>
          </a:prstGeom>
          <a:noFill/>
          <a:ln/>
        </p:spPr>
        <p:txBody>
          <a:bodyPr wrap="square" lIns="0" tIns="0" rIns="0" bIns="0" rtlCol="0" anchor="ctr"/>
          <a:lstStyle/>
          <a:p>
            <a:pPr indent="0" marL="0">
              <a:buNone/>
            </a:pPr>
            <a:r>
              <a:rPr lang="en-US" sz="1400" dirty="0">
                <a:solidFill>
                  <a:srgbClr val="1C2320"/>
                </a:solidFill>
                <a:latin typeface="Meiryo" pitchFamily="34" charset="0"/>
                <a:ea typeface="Meiryo" pitchFamily="34" charset="-122"/>
                <a:cs typeface="Meiryo" pitchFamily="34" charset="-120"/>
              </a:rPr>
              <a:t>確定版ではない。今後の審議で表現・数値は変わりうる</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5</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前提の確認</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「素案だから待つ」が成り立たない理由</a:t>
            </a:r>
            <a:endParaRPr lang="en-US" sz="2800" dirty="0"/>
          </a:p>
        </p:txBody>
      </p:sp>
      <p:sp>
        <p:nvSpPr>
          <p:cNvPr id="5" name="Shape 3"/>
          <p:cNvSpPr/>
          <p:nvPr/>
        </p:nvSpPr>
        <p:spPr>
          <a:xfrm>
            <a:off x="640080" y="1481328"/>
            <a:ext cx="5257800" cy="2057400"/>
          </a:xfrm>
          <a:prstGeom prst="roundRect">
            <a:avLst>
              <a:gd name="adj" fmla="val 2667"/>
            </a:avLst>
          </a:prstGeom>
          <a:solidFill>
            <a:srgbClr val="F1F5F2"/>
          </a:solidFill>
          <a:ln/>
        </p:spPr>
      </p:sp>
      <p:sp>
        <p:nvSpPr>
          <p:cNvPr id="6" name="Shape 4"/>
          <p:cNvSpPr/>
          <p:nvPr/>
        </p:nvSpPr>
        <p:spPr>
          <a:xfrm>
            <a:off x="969264" y="1755648"/>
            <a:ext cx="457200" cy="457200"/>
          </a:xfrm>
          <a:prstGeom prst="ellipse">
            <a:avLst/>
          </a:prstGeom>
          <a:solidFill>
            <a:srgbClr val="1F5D4C"/>
          </a:solidFill>
          <a:ln/>
        </p:spPr>
      </p:sp>
      <p:sp>
        <p:nvSpPr>
          <p:cNvPr id="7" name="Text 5"/>
          <p:cNvSpPr txBox="1"/>
          <p:nvPr/>
        </p:nvSpPr>
        <p:spPr>
          <a:xfrm>
            <a:off x="969264" y="1819656"/>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a:t>
            </a:r>
            <a:endParaRPr lang="en-US" sz="1600" dirty="0"/>
          </a:p>
        </p:txBody>
      </p:sp>
      <p:sp>
        <p:nvSpPr>
          <p:cNvPr id="8" name="Text 6"/>
          <p:cNvSpPr txBox="1"/>
          <p:nvPr/>
        </p:nvSpPr>
        <p:spPr>
          <a:xfrm>
            <a:off x="1572768" y="1773936"/>
            <a:ext cx="4114800" cy="365760"/>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確かに、確定ではありません</a:t>
            </a:r>
            <a:endParaRPr lang="en-US" sz="1700" dirty="0"/>
          </a:p>
        </p:txBody>
      </p:sp>
      <p:sp>
        <p:nvSpPr>
          <p:cNvPr id="9" name="Text 7"/>
          <p:cNvSpPr txBox="1"/>
          <p:nvPr/>
        </p:nvSpPr>
        <p:spPr>
          <a:xfrm>
            <a:off x="1024128" y="2359152"/>
            <a:ext cx="4572000" cy="10058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教科名、授業時数、評価の方法は今後変わりうる</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細部を今から作り込むのは、たしかに危険</a:t>
            </a:r>
            <a:endParaRPr lang="en-US" sz="1300" dirty="0"/>
          </a:p>
        </p:txBody>
      </p:sp>
      <p:sp>
        <p:nvSpPr>
          <p:cNvPr id="10" name="Shape 8"/>
          <p:cNvSpPr/>
          <p:nvPr/>
        </p:nvSpPr>
        <p:spPr>
          <a:xfrm>
            <a:off x="6291072" y="1481328"/>
            <a:ext cx="5257800" cy="2057400"/>
          </a:xfrm>
          <a:prstGeom prst="roundRect">
            <a:avLst>
              <a:gd name="adj" fmla="val 2667"/>
            </a:avLst>
          </a:prstGeom>
          <a:solidFill>
            <a:srgbClr val="14312A"/>
          </a:solidFill>
          <a:ln/>
        </p:spPr>
      </p:sp>
      <p:sp>
        <p:nvSpPr>
          <p:cNvPr id="11" name="Shape 9"/>
          <p:cNvSpPr/>
          <p:nvPr/>
        </p:nvSpPr>
        <p:spPr>
          <a:xfrm>
            <a:off x="6620256" y="1755648"/>
            <a:ext cx="457200" cy="457200"/>
          </a:xfrm>
          <a:prstGeom prst="ellipse">
            <a:avLst/>
          </a:prstGeom>
          <a:solidFill>
            <a:srgbClr val="EBB84D"/>
          </a:solidFill>
          <a:ln/>
        </p:spPr>
      </p:sp>
      <p:sp>
        <p:nvSpPr>
          <p:cNvPr id="12" name="Text 10"/>
          <p:cNvSpPr txBox="1"/>
          <p:nvPr/>
        </p:nvSpPr>
        <p:spPr>
          <a:xfrm>
            <a:off x="6620256" y="1819656"/>
            <a:ext cx="457200" cy="329184"/>
          </a:xfrm>
          <a:prstGeom prst="rect">
            <a:avLst/>
          </a:prstGeom>
          <a:noFill/>
          <a:ln/>
        </p:spPr>
        <p:txBody>
          <a:bodyPr wrap="square" lIns="0" tIns="0" rIns="0" bIns="0" rtlCol="0" anchor="ctr"/>
          <a:lstStyle/>
          <a:p>
            <a:pPr algn="ctr" indent="0" marL="0">
              <a:buNone/>
            </a:pPr>
            <a:r>
              <a:rPr lang="en-US" sz="1800" b="1" dirty="0">
                <a:solidFill>
                  <a:srgbClr val="14312A"/>
                </a:solidFill>
                <a:latin typeface="Meiryo" pitchFamily="34" charset="0"/>
                <a:ea typeface="Meiryo" pitchFamily="34" charset="-122"/>
                <a:cs typeface="Meiryo" pitchFamily="34" charset="-120"/>
              </a:rPr>
              <a:t>!</a:t>
            </a:r>
            <a:endParaRPr lang="en-US" sz="1800" dirty="0"/>
          </a:p>
        </p:txBody>
      </p:sp>
      <p:sp>
        <p:nvSpPr>
          <p:cNvPr id="13" name="Text 11"/>
          <p:cNvSpPr txBox="1"/>
          <p:nvPr/>
        </p:nvSpPr>
        <p:spPr>
          <a:xfrm>
            <a:off x="7223760" y="1773936"/>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しかし、待つと間に合いません</a:t>
            </a:r>
            <a:endParaRPr lang="en-US" sz="1700" dirty="0"/>
          </a:p>
        </p:txBody>
      </p:sp>
      <p:sp>
        <p:nvSpPr>
          <p:cNvPr id="14" name="Text 12"/>
          <p:cNvSpPr txBox="1"/>
          <p:nvPr/>
        </p:nvSpPr>
        <p:spPr>
          <a:xfrm>
            <a:off x="6675120" y="2359152"/>
            <a:ext cx="4572000" cy="10058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D6E4D8"/>
                </a:solidFill>
                <a:latin typeface="Meiryo" pitchFamily="34" charset="0"/>
                <a:ea typeface="Meiryo" pitchFamily="34" charset="-122"/>
                <a:cs typeface="Meiryo" pitchFamily="34" charset="-120"/>
              </a:rPr>
              <a:t>先行導入は2028年度から</a:t>
            </a:r>
            <a:endParaRPr lang="en-US" sz="1300" dirty="0"/>
          </a:p>
          <a:p>
            <a:pPr marL="342900" indent="-342900">
              <a:spcAft>
                <a:spcPts val="800"/>
              </a:spcAft>
              <a:buSzPct val="100000"/>
              <a:buChar char="•"/>
            </a:pPr>
            <a:r>
              <a:rPr lang="en-US" sz="1300" dirty="0">
                <a:solidFill>
                  <a:srgbClr val="D6E4D8"/>
                </a:solidFill>
                <a:latin typeface="Meiryo" pitchFamily="34" charset="0"/>
                <a:ea typeface="Meiryo" pitchFamily="34" charset="-122"/>
                <a:cs typeface="Meiryo" pitchFamily="34" charset="-120"/>
              </a:rPr>
              <a:t>告示を待つと、設計期間が1年を切る</a:t>
            </a:r>
            <a:endParaRPr lang="en-US" sz="1300" dirty="0"/>
          </a:p>
        </p:txBody>
      </p:sp>
      <p:sp>
        <p:nvSpPr>
          <p:cNvPr id="15" name="Shape 13"/>
          <p:cNvSpPr/>
          <p:nvPr/>
        </p:nvSpPr>
        <p:spPr>
          <a:xfrm>
            <a:off x="640080" y="3767328"/>
            <a:ext cx="10911535" cy="1481328"/>
          </a:xfrm>
          <a:prstGeom prst="roundRect">
            <a:avLst>
              <a:gd name="adj" fmla="val 3704"/>
            </a:avLst>
          </a:prstGeom>
          <a:solidFill>
            <a:srgbClr val="E4EDE6"/>
          </a:solidFill>
          <a:ln/>
        </p:spPr>
      </p:sp>
      <p:sp>
        <p:nvSpPr>
          <p:cNvPr id="16" name="Text 14"/>
          <p:cNvSpPr txBox="1"/>
          <p:nvPr/>
        </p:nvSpPr>
        <p:spPr>
          <a:xfrm>
            <a:off x="1143000" y="4041648"/>
            <a:ext cx="9905695" cy="960120"/>
          </a:xfrm>
          <a:prstGeom prst="rect">
            <a:avLst/>
          </a:prstGeom>
          <a:noFill/>
          <a:ln/>
        </p:spPr>
        <p:txBody>
          <a:bodyPr wrap="square" lIns="0" tIns="0" rIns="0" bIns="0" rtlCol="0" anchor="ctr"/>
          <a:lstStyle/>
          <a:p>
            <a:pPr indent="0" marL="0">
              <a:lnSpc>
                <a:spcPts val="3000"/>
              </a:lnSpc>
              <a:buNone/>
            </a:pPr>
            <a:r>
              <a:rPr lang="en-US" sz="1700" b="1" dirty="0">
                <a:solidFill>
                  <a:srgbClr val="14312A"/>
                </a:solidFill>
                <a:latin typeface="Meiryo" pitchFamily="34" charset="0"/>
                <a:ea typeface="Meiryo" pitchFamily="34" charset="-122"/>
                <a:cs typeface="Meiryo" pitchFamily="34" charset="-120"/>
              </a:rPr>
              <a:t>変わらないのは「理念」と「学校に委ねる」という方向。</a:t>
            </a:r>
            <a:endParaRPr lang="en-US" sz="1700" dirty="0"/>
          </a:p>
          <a:p>
            <a:pPr indent="0" marL="0">
              <a:lnSpc>
                <a:spcPts val="3000"/>
              </a:lnSpc>
              <a:buNone/>
            </a:pPr>
            <a:r>
              <a:rPr lang="en-US" sz="1700" b="1" dirty="0">
                <a:solidFill>
                  <a:srgbClr val="14312A"/>
                </a:solidFill>
                <a:latin typeface="Meiryo" pitchFamily="34" charset="0"/>
                <a:ea typeface="Meiryo" pitchFamily="34" charset="-122"/>
                <a:cs typeface="Meiryo" pitchFamily="34" charset="-120"/>
              </a:rPr>
              <a:t>ここは今から仕込めます。変わりうる「数字」は、確定してから詰めれば間に合います。</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312A"/>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6E8A7E"/>
                </a:solidFill>
                <a:latin typeface="Meiryo" pitchFamily="34" charset="0"/>
                <a:ea typeface="Meiryo" pitchFamily="34" charset="-122"/>
                <a:cs typeface="Meiryo" pitchFamily="34" charset="-120"/>
              </a:rPr>
              <a:t>6</a:t>
            </a:r>
            <a:endParaRPr lang="en-US" sz="900" dirty="0"/>
          </a:p>
        </p:txBody>
      </p:sp>
      <p:sp>
        <p:nvSpPr>
          <p:cNvPr id="3" name="Shape 1"/>
          <p:cNvSpPr/>
          <p:nvPr/>
        </p:nvSpPr>
        <p:spPr>
          <a:xfrm>
            <a:off x="640080" y="1481328"/>
            <a:ext cx="1115568" cy="1115568"/>
          </a:xfrm>
          <a:prstGeom prst="ellipse">
            <a:avLst/>
          </a:prstGeom>
          <a:solidFill>
            <a:srgbClr val="7FA86B"/>
          </a:solidFill>
          <a:ln/>
        </p:spPr>
      </p:sp>
      <p:sp>
        <p:nvSpPr>
          <p:cNvPr id="4" name="Text 2"/>
          <p:cNvSpPr txBox="1"/>
          <p:nvPr/>
        </p:nvSpPr>
        <p:spPr>
          <a:xfrm>
            <a:off x="640080" y="1874520"/>
            <a:ext cx="1115568" cy="329184"/>
          </a:xfrm>
          <a:prstGeom prst="rect">
            <a:avLst/>
          </a:prstGeom>
          <a:noFill/>
          <a:ln/>
        </p:spPr>
        <p:txBody>
          <a:bodyPr wrap="square" lIns="0" tIns="0" rIns="0" bIns="0" rtlCol="0" anchor="ctr"/>
          <a:lstStyle/>
          <a:p>
            <a:pPr algn="ctr" indent="0" marL="0">
              <a:buNone/>
            </a:pPr>
            <a:r>
              <a:rPr lang="en-US" sz="4000" b="1" dirty="0">
                <a:solidFill>
                  <a:srgbClr val="14312A"/>
                </a:solidFill>
                <a:latin typeface="Meiryo" pitchFamily="34" charset="0"/>
                <a:ea typeface="Meiryo" pitchFamily="34" charset="-122"/>
                <a:cs typeface="Meiryo" pitchFamily="34" charset="-120"/>
              </a:rPr>
              <a:t>Ⅰ</a:t>
            </a:r>
            <a:endParaRPr lang="en-US" sz="4000" dirty="0"/>
          </a:p>
        </p:txBody>
      </p:sp>
      <p:sp>
        <p:nvSpPr>
          <p:cNvPr id="5" name="Text 3"/>
          <p:cNvSpPr txBox="1"/>
          <p:nvPr/>
        </p:nvSpPr>
        <p:spPr>
          <a:xfrm>
            <a:off x="2148840" y="1554480"/>
            <a:ext cx="9402775" cy="713232"/>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なぜ今、校長が動くのか</a:t>
            </a:r>
            <a:endParaRPr lang="en-US" sz="3600" dirty="0"/>
          </a:p>
        </p:txBody>
      </p:sp>
      <p:sp>
        <p:nvSpPr>
          <p:cNvPr id="6" name="Text 4"/>
          <p:cNvSpPr txBox="1"/>
          <p:nvPr/>
        </p:nvSpPr>
        <p:spPr>
          <a:xfrm>
            <a:off x="2148840" y="2322576"/>
            <a:ext cx="9402775" cy="457200"/>
          </a:xfrm>
          <a:prstGeom prst="rect">
            <a:avLst/>
          </a:prstGeom>
          <a:noFill/>
          <a:ln/>
        </p:spPr>
        <p:txBody>
          <a:bodyPr wrap="square" lIns="0" tIns="0" rIns="0" bIns="0" rtlCol="0" anchor="ctr"/>
          <a:lstStyle/>
          <a:p>
            <a:pPr indent="0" marL="0">
              <a:buNone/>
            </a:pPr>
            <a:r>
              <a:rPr lang="en-US" sz="1500" dirty="0">
                <a:solidFill>
                  <a:srgbClr val="7FA86B"/>
                </a:solidFill>
                <a:latin typeface="Meiryo" pitchFamily="34" charset="0"/>
                <a:ea typeface="Meiryo" pitchFamily="34" charset="-122"/>
                <a:cs typeface="Meiryo" pitchFamily="34" charset="-120"/>
              </a:rPr>
              <a:t>2030年の話ではありません</a:t>
            </a:r>
            <a:endParaRPr lang="en-US" sz="1500" dirty="0"/>
          </a:p>
        </p:txBody>
      </p:sp>
      <p:sp>
        <p:nvSpPr>
          <p:cNvPr id="7" name="Shape 5"/>
          <p:cNvSpPr/>
          <p:nvPr/>
        </p:nvSpPr>
        <p:spPr>
          <a:xfrm>
            <a:off x="713232" y="3328416"/>
            <a:ext cx="274320" cy="274320"/>
          </a:xfrm>
          <a:prstGeom prst="ellipse">
            <a:avLst/>
          </a:prstGeom>
          <a:solidFill>
            <a:srgbClr val="5C8A4A"/>
          </a:solidFill>
          <a:ln/>
        </p:spPr>
      </p:sp>
      <p:sp>
        <p:nvSpPr>
          <p:cNvPr id="8" name="Text 6"/>
          <p:cNvSpPr txBox="1"/>
          <p:nvPr/>
        </p:nvSpPr>
        <p:spPr>
          <a:xfrm>
            <a:off x="713232" y="3300984"/>
            <a:ext cx="274320" cy="329184"/>
          </a:xfrm>
          <a:prstGeom prst="rect">
            <a:avLst/>
          </a:prstGeom>
          <a:noFill/>
          <a:ln/>
        </p:spPr>
        <p:txBody>
          <a:bodyPr wrap="square" lIns="0" tIns="0" rIns="0" bIns="0" rtlCol="0" anchor="ctr"/>
          <a:lstStyle/>
          <a:p>
            <a:pPr algn="ctr" indent="0" marL="0">
              <a:buNone/>
            </a:pPr>
            <a:endParaRPr lang="en-US" sz="1000" dirty="0"/>
          </a:p>
        </p:txBody>
      </p:sp>
      <p:sp>
        <p:nvSpPr>
          <p:cNvPr id="9" name="Text 7"/>
          <p:cNvSpPr txBox="1"/>
          <p:nvPr/>
        </p:nvSpPr>
        <p:spPr>
          <a:xfrm>
            <a:off x="1207008" y="3310128"/>
            <a:ext cx="10088575" cy="384048"/>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逆算すると、設計に使えるのは令和9・10年度だけ</a:t>
            </a:r>
            <a:endParaRPr lang="en-US" sz="1450" dirty="0"/>
          </a:p>
        </p:txBody>
      </p:sp>
      <p:sp>
        <p:nvSpPr>
          <p:cNvPr id="10" name="Shape 8"/>
          <p:cNvSpPr/>
          <p:nvPr/>
        </p:nvSpPr>
        <p:spPr>
          <a:xfrm>
            <a:off x="713232" y="3840480"/>
            <a:ext cx="274320" cy="274320"/>
          </a:xfrm>
          <a:prstGeom prst="ellipse">
            <a:avLst/>
          </a:prstGeom>
          <a:solidFill>
            <a:srgbClr val="5C8A4A"/>
          </a:solidFill>
          <a:ln/>
        </p:spPr>
      </p:sp>
      <p:sp>
        <p:nvSpPr>
          <p:cNvPr id="11" name="Text 9"/>
          <p:cNvSpPr txBox="1"/>
          <p:nvPr/>
        </p:nvSpPr>
        <p:spPr>
          <a:xfrm>
            <a:off x="713232" y="3813048"/>
            <a:ext cx="274320" cy="329184"/>
          </a:xfrm>
          <a:prstGeom prst="rect">
            <a:avLst/>
          </a:prstGeom>
          <a:noFill/>
          <a:ln/>
        </p:spPr>
        <p:txBody>
          <a:bodyPr wrap="square" lIns="0" tIns="0" rIns="0" bIns="0" rtlCol="0" anchor="ctr"/>
          <a:lstStyle/>
          <a:p>
            <a:pPr algn="ctr" indent="0" marL="0">
              <a:buNone/>
            </a:pPr>
            <a:endParaRPr lang="en-US" sz="1000" dirty="0"/>
          </a:p>
        </p:txBody>
      </p:sp>
      <p:sp>
        <p:nvSpPr>
          <p:cNvPr id="12" name="Text 10"/>
          <p:cNvSpPr txBox="1"/>
          <p:nvPr/>
        </p:nvSpPr>
        <p:spPr>
          <a:xfrm>
            <a:off x="1207008" y="3822192"/>
            <a:ext cx="10088575" cy="384048"/>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今回の改訂は「全国一律」と決別する改訂</a:t>
            </a:r>
            <a:endParaRPr lang="en-US" sz="1450" dirty="0"/>
          </a:p>
        </p:txBody>
      </p:sp>
      <p:sp>
        <p:nvSpPr>
          <p:cNvPr id="13" name="Shape 11"/>
          <p:cNvSpPr/>
          <p:nvPr/>
        </p:nvSpPr>
        <p:spPr>
          <a:xfrm>
            <a:off x="713232" y="4352544"/>
            <a:ext cx="274320" cy="274320"/>
          </a:xfrm>
          <a:prstGeom prst="ellipse">
            <a:avLst/>
          </a:prstGeom>
          <a:solidFill>
            <a:srgbClr val="5C8A4A"/>
          </a:solidFill>
          <a:ln/>
        </p:spPr>
      </p:sp>
      <p:sp>
        <p:nvSpPr>
          <p:cNvPr id="14" name="Text 12"/>
          <p:cNvSpPr txBox="1"/>
          <p:nvPr/>
        </p:nvSpPr>
        <p:spPr>
          <a:xfrm>
            <a:off x="713232" y="4325112"/>
            <a:ext cx="274320" cy="329184"/>
          </a:xfrm>
          <a:prstGeom prst="rect">
            <a:avLst/>
          </a:prstGeom>
          <a:noFill/>
          <a:ln/>
        </p:spPr>
        <p:txBody>
          <a:bodyPr wrap="square" lIns="0" tIns="0" rIns="0" bIns="0" rtlCol="0" anchor="ctr"/>
          <a:lstStyle/>
          <a:p>
            <a:pPr algn="ctr" indent="0" marL="0">
              <a:buNone/>
            </a:pPr>
            <a:endParaRPr lang="en-US" sz="1000" dirty="0"/>
          </a:p>
        </p:txBody>
      </p:sp>
      <p:sp>
        <p:nvSpPr>
          <p:cNvPr id="15" name="Text 13"/>
          <p:cNvSpPr txBox="1"/>
          <p:nvPr/>
        </p:nvSpPr>
        <p:spPr>
          <a:xfrm>
            <a:off x="1207008" y="4334256"/>
            <a:ext cx="10088575" cy="384048"/>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裁量が増えることは、自動的に良くなることではない</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7</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Ⅰ－1</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逆算カレンダー</a:t>
            </a:r>
            <a:endParaRPr lang="en-US" sz="2800" dirty="0"/>
          </a:p>
        </p:txBody>
      </p:sp>
      <p:sp>
        <p:nvSpPr>
          <p:cNvPr id="5" name="Shape 3"/>
          <p:cNvSpPr/>
          <p:nvPr/>
        </p:nvSpPr>
        <p:spPr>
          <a:xfrm>
            <a:off x="1097280" y="2660904"/>
            <a:ext cx="9631375" cy="0"/>
          </a:xfrm>
          <a:prstGeom prst="line">
            <a:avLst/>
          </a:prstGeom>
          <a:noFill/>
          <a:ln w="25400">
            <a:solidFill>
              <a:srgbClr val="D5E0D8"/>
            </a:solidFill>
            <a:prstDash val="solid"/>
          </a:ln>
        </p:spPr>
      </p:sp>
      <p:sp>
        <p:nvSpPr>
          <p:cNvPr id="6" name="Shape 4"/>
          <p:cNvSpPr/>
          <p:nvPr/>
        </p:nvSpPr>
        <p:spPr>
          <a:xfrm>
            <a:off x="768096" y="2331720"/>
            <a:ext cx="658368" cy="658368"/>
          </a:xfrm>
          <a:prstGeom prst="ellipse">
            <a:avLst/>
          </a:prstGeom>
          <a:solidFill>
            <a:srgbClr val="1F5D4C"/>
          </a:solidFill>
          <a:ln/>
        </p:spPr>
      </p:sp>
      <p:sp>
        <p:nvSpPr>
          <p:cNvPr id="7" name="Text 5"/>
          <p:cNvSpPr txBox="1"/>
          <p:nvPr/>
        </p:nvSpPr>
        <p:spPr>
          <a:xfrm>
            <a:off x="768096" y="2496312"/>
            <a:ext cx="658368" cy="329184"/>
          </a:xfrm>
          <a:prstGeom prst="rect">
            <a:avLst/>
          </a:prstGeom>
          <a:noFill/>
          <a:ln/>
        </p:spPr>
        <p:txBody>
          <a:bodyPr wrap="square" lIns="0" tIns="0" rIns="0" bIns="0" rtlCol="0" anchor="ctr"/>
          <a:lstStyle/>
          <a:p>
            <a:pPr algn="ctr" indent="0" marL="0">
              <a:buNone/>
            </a:pPr>
            <a:endParaRPr lang="en-US" sz="1200" dirty="0"/>
          </a:p>
        </p:txBody>
      </p:sp>
      <p:sp>
        <p:nvSpPr>
          <p:cNvPr id="8" name="Text 6"/>
          <p:cNvSpPr txBox="1"/>
          <p:nvPr/>
        </p:nvSpPr>
        <p:spPr>
          <a:xfrm>
            <a:off x="137160" y="1344168"/>
            <a:ext cx="1920240" cy="777240"/>
          </a:xfrm>
          <a:prstGeom prst="rect">
            <a:avLst/>
          </a:prstGeom>
          <a:noFill/>
          <a:ln/>
        </p:spPr>
        <p:txBody>
          <a:bodyPr wrap="square" lIns="0" tIns="0" rIns="0" bIns="0" rtlCol="0" anchor="ctr"/>
          <a:lstStyle/>
          <a:p>
            <a:pPr algn="ctr" indent="0" marL="0">
              <a:lnSpc>
                <a:spcPts val="1900"/>
              </a:lnSpc>
              <a:buNone/>
            </a:pPr>
            <a:r>
              <a:rPr lang="en-US" sz="1500" b="1" dirty="0">
                <a:solidFill>
                  <a:srgbClr val="1F5D4C"/>
                </a:solidFill>
                <a:latin typeface="Meiryo" pitchFamily="34" charset="0"/>
                <a:ea typeface="Meiryo" pitchFamily="34" charset="-122"/>
                <a:cs typeface="Meiryo" pitchFamily="34" charset="-120"/>
              </a:rPr>
              <a:t>2026</a:t>
            </a:r>
            <a:endParaRPr lang="en-US" sz="1500" dirty="0"/>
          </a:p>
          <a:p>
            <a:pPr algn="ctr" indent="0" marL="0">
              <a:lnSpc>
                <a:spcPts val="1900"/>
              </a:lnSpc>
              <a:buNone/>
            </a:pPr>
            <a:r>
              <a:rPr lang="en-US" sz="1500" b="1" dirty="0">
                <a:solidFill>
                  <a:srgbClr val="1F5D4C"/>
                </a:solidFill>
                <a:latin typeface="Meiryo" pitchFamily="34" charset="0"/>
                <a:ea typeface="Meiryo" pitchFamily="34" charset="-122"/>
                <a:cs typeface="Meiryo" pitchFamily="34" charset="-120"/>
              </a:rPr>
              <a:t>令和8</a:t>
            </a:r>
            <a:endParaRPr lang="en-US" sz="1500" dirty="0"/>
          </a:p>
        </p:txBody>
      </p:sp>
      <p:sp>
        <p:nvSpPr>
          <p:cNvPr id="9" name="Text 7"/>
          <p:cNvSpPr txBox="1"/>
          <p:nvPr/>
        </p:nvSpPr>
        <p:spPr>
          <a:xfrm>
            <a:off x="45720" y="3200400"/>
            <a:ext cx="2103120" cy="914400"/>
          </a:xfrm>
          <a:prstGeom prst="rect">
            <a:avLst/>
          </a:prstGeom>
          <a:noFill/>
          <a:ln/>
        </p:spPr>
        <p:txBody>
          <a:bodyPr wrap="square" lIns="0" tIns="0" rIns="0" bIns="0" rtlCol="0" anchor="ctr"/>
          <a:lstStyle/>
          <a:p>
            <a:pPr algn="ctr" indent="0" marL="0">
              <a:lnSpc>
                <a:spcPts val="1800"/>
              </a:lnSpc>
              <a:buNone/>
            </a:pPr>
            <a:r>
              <a:rPr lang="en-US" sz="1200" dirty="0">
                <a:solidFill>
                  <a:srgbClr val="1C2320"/>
                </a:solidFill>
                <a:latin typeface="Meiryo" pitchFamily="34" charset="0"/>
                <a:ea typeface="Meiryo" pitchFamily="34" charset="-122"/>
                <a:cs typeface="Meiryo" pitchFamily="34" charset="-120"/>
              </a:rPr>
              <a:t>冬ごろ</a:t>
            </a:r>
            <a:endParaRPr lang="en-US" sz="1200" dirty="0"/>
          </a:p>
          <a:p>
            <a:pPr algn="ctr" indent="0" marL="0">
              <a:lnSpc>
                <a:spcPts val="1800"/>
              </a:lnSpc>
              <a:buNone/>
            </a:pPr>
            <a:r>
              <a:rPr lang="en-US" sz="1200" dirty="0">
                <a:solidFill>
                  <a:srgbClr val="1C2320"/>
                </a:solidFill>
                <a:latin typeface="Meiryo" pitchFamily="34" charset="0"/>
                <a:ea typeface="Meiryo" pitchFamily="34" charset="-122"/>
                <a:cs typeface="Meiryo" pitchFamily="34" charset="-120"/>
              </a:rPr>
              <a:t>答申</a:t>
            </a:r>
            <a:endParaRPr lang="en-US" sz="1200" dirty="0"/>
          </a:p>
        </p:txBody>
      </p:sp>
      <p:sp>
        <p:nvSpPr>
          <p:cNvPr id="10" name="Shape 8"/>
          <p:cNvSpPr/>
          <p:nvPr/>
        </p:nvSpPr>
        <p:spPr>
          <a:xfrm>
            <a:off x="3175940" y="2331720"/>
            <a:ext cx="658368" cy="658368"/>
          </a:xfrm>
          <a:prstGeom prst="ellipse">
            <a:avLst/>
          </a:prstGeom>
          <a:solidFill>
            <a:srgbClr val="1F5D4C"/>
          </a:solidFill>
          <a:ln/>
        </p:spPr>
      </p:sp>
      <p:sp>
        <p:nvSpPr>
          <p:cNvPr id="11" name="Text 9"/>
          <p:cNvSpPr txBox="1"/>
          <p:nvPr/>
        </p:nvSpPr>
        <p:spPr>
          <a:xfrm>
            <a:off x="3175940" y="2496312"/>
            <a:ext cx="658368" cy="329184"/>
          </a:xfrm>
          <a:prstGeom prst="rect">
            <a:avLst/>
          </a:prstGeom>
          <a:noFill/>
          <a:ln/>
        </p:spPr>
        <p:txBody>
          <a:bodyPr wrap="square" lIns="0" tIns="0" rIns="0" bIns="0" rtlCol="0" anchor="ctr"/>
          <a:lstStyle/>
          <a:p>
            <a:pPr algn="ctr" indent="0" marL="0">
              <a:buNone/>
            </a:pPr>
            <a:endParaRPr lang="en-US" sz="1200" dirty="0"/>
          </a:p>
        </p:txBody>
      </p:sp>
      <p:sp>
        <p:nvSpPr>
          <p:cNvPr id="12" name="Text 10"/>
          <p:cNvSpPr txBox="1"/>
          <p:nvPr/>
        </p:nvSpPr>
        <p:spPr>
          <a:xfrm>
            <a:off x="2545004" y="1344168"/>
            <a:ext cx="1920240" cy="777240"/>
          </a:xfrm>
          <a:prstGeom prst="rect">
            <a:avLst/>
          </a:prstGeom>
          <a:noFill/>
          <a:ln/>
        </p:spPr>
        <p:txBody>
          <a:bodyPr wrap="square" lIns="0" tIns="0" rIns="0" bIns="0" rtlCol="0" anchor="ctr"/>
          <a:lstStyle/>
          <a:p>
            <a:pPr algn="ctr" indent="0" marL="0">
              <a:lnSpc>
                <a:spcPts val="1900"/>
              </a:lnSpc>
              <a:buNone/>
            </a:pPr>
            <a:r>
              <a:rPr lang="en-US" sz="1500" b="1" dirty="0">
                <a:solidFill>
                  <a:srgbClr val="1F5D4C"/>
                </a:solidFill>
                <a:latin typeface="Meiryo" pitchFamily="34" charset="0"/>
                <a:ea typeface="Meiryo" pitchFamily="34" charset="-122"/>
                <a:cs typeface="Meiryo" pitchFamily="34" charset="-120"/>
              </a:rPr>
              <a:t>2027</a:t>
            </a:r>
            <a:endParaRPr lang="en-US" sz="1500" dirty="0"/>
          </a:p>
          <a:p>
            <a:pPr algn="ctr" indent="0" marL="0">
              <a:lnSpc>
                <a:spcPts val="1900"/>
              </a:lnSpc>
              <a:buNone/>
            </a:pPr>
            <a:r>
              <a:rPr lang="en-US" sz="1500" b="1" dirty="0">
                <a:solidFill>
                  <a:srgbClr val="1F5D4C"/>
                </a:solidFill>
                <a:latin typeface="Meiryo" pitchFamily="34" charset="0"/>
                <a:ea typeface="Meiryo" pitchFamily="34" charset="-122"/>
                <a:cs typeface="Meiryo" pitchFamily="34" charset="-120"/>
              </a:rPr>
              <a:t>3月</a:t>
            </a:r>
            <a:endParaRPr lang="en-US" sz="1500" dirty="0"/>
          </a:p>
        </p:txBody>
      </p:sp>
      <p:sp>
        <p:nvSpPr>
          <p:cNvPr id="13" name="Text 11"/>
          <p:cNvSpPr txBox="1"/>
          <p:nvPr/>
        </p:nvSpPr>
        <p:spPr>
          <a:xfrm>
            <a:off x="2453564" y="3200400"/>
            <a:ext cx="2103120" cy="914400"/>
          </a:xfrm>
          <a:prstGeom prst="rect">
            <a:avLst/>
          </a:prstGeom>
          <a:noFill/>
          <a:ln/>
        </p:spPr>
        <p:txBody>
          <a:bodyPr wrap="square" lIns="0" tIns="0" rIns="0" bIns="0" rtlCol="0" anchor="ctr"/>
          <a:lstStyle/>
          <a:p>
            <a:pPr algn="ctr" indent="0" marL="0">
              <a:lnSpc>
                <a:spcPts val="1800"/>
              </a:lnSpc>
              <a:buNone/>
            </a:pPr>
            <a:r>
              <a:rPr lang="en-US" sz="1200" dirty="0">
                <a:solidFill>
                  <a:srgbClr val="1C2320"/>
                </a:solidFill>
                <a:latin typeface="Meiryo" pitchFamily="34" charset="0"/>
                <a:ea typeface="Meiryo" pitchFamily="34" charset="-122"/>
                <a:cs typeface="Meiryo" pitchFamily="34" charset="-120"/>
              </a:rPr>
              <a:t>改訂指導要領</a:t>
            </a:r>
            <a:endParaRPr lang="en-US" sz="1200" dirty="0"/>
          </a:p>
          <a:p>
            <a:pPr algn="ctr" indent="0" marL="0">
              <a:lnSpc>
                <a:spcPts val="1800"/>
              </a:lnSpc>
              <a:buNone/>
            </a:pPr>
            <a:r>
              <a:rPr lang="en-US" sz="1200" dirty="0">
                <a:solidFill>
                  <a:srgbClr val="1C2320"/>
                </a:solidFill>
                <a:latin typeface="Meiryo" pitchFamily="34" charset="0"/>
                <a:ea typeface="Meiryo" pitchFamily="34" charset="-122"/>
                <a:cs typeface="Meiryo" pitchFamily="34" charset="-120"/>
              </a:rPr>
              <a:t>告示</a:t>
            </a:r>
            <a:endParaRPr lang="en-US" sz="1200" dirty="0"/>
          </a:p>
        </p:txBody>
      </p:sp>
      <p:sp>
        <p:nvSpPr>
          <p:cNvPr id="14" name="Shape 12"/>
          <p:cNvSpPr/>
          <p:nvPr/>
        </p:nvSpPr>
        <p:spPr>
          <a:xfrm>
            <a:off x="5583784" y="2331720"/>
            <a:ext cx="658368" cy="658368"/>
          </a:xfrm>
          <a:prstGeom prst="ellipse">
            <a:avLst/>
          </a:prstGeom>
          <a:solidFill>
            <a:srgbClr val="B26B1B"/>
          </a:solidFill>
          <a:ln/>
        </p:spPr>
      </p:sp>
      <p:sp>
        <p:nvSpPr>
          <p:cNvPr id="15" name="Text 13"/>
          <p:cNvSpPr txBox="1"/>
          <p:nvPr/>
        </p:nvSpPr>
        <p:spPr>
          <a:xfrm>
            <a:off x="5583784" y="2496312"/>
            <a:ext cx="658368" cy="329184"/>
          </a:xfrm>
          <a:prstGeom prst="rect">
            <a:avLst/>
          </a:prstGeom>
          <a:noFill/>
          <a:ln/>
        </p:spPr>
        <p:txBody>
          <a:bodyPr wrap="square" lIns="0" tIns="0" rIns="0" bIns="0" rtlCol="0" anchor="ctr"/>
          <a:lstStyle/>
          <a:p>
            <a:pPr algn="ctr" indent="0" marL="0">
              <a:buNone/>
            </a:pPr>
            <a:endParaRPr lang="en-US" sz="1200" dirty="0"/>
          </a:p>
        </p:txBody>
      </p:sp>
      <p:sp>
        <p:nvSpPr>
          <p:cNvPr id="16" name="Text 14"/>
          <p:cNvSpPr txBox="1"/>
          <p:nvPr/>
        </p:nvSpPr>
        <p:spPr>
          <a:xfrm>
            <a:off x="4952848" y="1344168"/>
            <a:ext cx="1920240" cy="777240"/>
          </a:xfrm>
          <a:prstGeom prst="rect">
            <a:avLst/>
          </a:prstGeom>
          <a:noFill/>
          <a:ln/>
        </p:spPr>
        <p:txBody>
          <a:bodyPr wrap="square" lIns="0" tIns="0" rIns="0" bIns="0" rtlCol="0" anchor="ctr"/>
          <a:lstStyle/>
          <a:p>
            <a:pPr algn="ctr" indent="0" marL="0">
              <a:lnSpc>
                <a:spcPts val="1900"/>
              </a:lnSpc>
              <a:buNone/>
            </a:pPr>
            <a:r>
              <a:rPr lang="en-US" sz="1500" b="1" dirty="0">
                <a:solidFill>
                  <a:srgbClr val="B26B1B"/>
                </a:solidFill>
                <a:latin typeface="Meiryo" pitchFamily="34" charset="0"/>
                <a:ea typeface="Meiryo" pitchFamily="34" charset="-122"/>
                <a:cs typeface="Meiryo" pitchFamily="34" charset="-120"/>
              </a:rPr>
              <a:t>2028</a:t>
            </a:r>
            <a:endParaRPr lang="en-US" sz="1500" dirty="0"/>
          </a:p>
          <a:p>
            <a:pPr algn="ctr" indent="0" marL="0">
              <a:lnSpc>
                <a:spcPts val="1900"/>
              </a:lnSpc>
              <a:buNone/>
            </a:pPr>
            <a:r>
              <a:rPr lang="en-US" sz="1500" b="1" dirty="0">
                <a:solidFill>
                  <a:srgbClr val="B26B1B"/>
                </a:solidFill>
                <a:latin typeface="Meiryo" pitchFamily="34" charset="0"/>
                <a:ea typeface="Meiryo" pitchFamily="34" charset="-122"/>
                <a:cs typeface="Meiryo" pitchFamily="34" charset="-120"/>
              </a:rPr>
              <a:t>令和10</a:t>
            </a:r>
            <a:endParaRPr lang="en-US" sz="1500" dirty="0"/>
          </a:p>
        </p:txBody>
      </p:sp>
      <p:sp>
        <p:nvSpPr>
          <p:cNvPr id="17" name="Text 15"/>
          <p:cNvSpPr txBox="1"/>
          <p:nvPr/>
        </p:nvSpPr>
        <p:spPr>
          <a:xfrm>
            <a:off x="4861408" y="3200400"/>
            <a:ext cx="2103120" cy="914400"/>
          </a:xfrm>
          <a:prstGeom prst="rect">
            <a:avLst/>
          </a:prstGeom>
          <a:noFill/>
          <a:ln/>
        </p:spPr>
        <p:txBody>
          <a:bodyPr wrap="square" lIns="0" tIns="0" rIns="0" bIns="0" rtlCol="0" anchor="ctr"/>
          <a:lstStyle/>
          <a:p>
            <a:pPr algn="ctr" indent="0" marL="0">
              <a:lnSpc>
                <a:spcPts val="1800"/>
              </a:lnSpc>
              <a:buNone/>
            </a:pPr>
            <a:r>
              <a:rPr lang="en-US" sz="1200" dirty="0">
                <a:solidFill>
                  <a:srgbClr val="1C2320"/>
                </a:solidFill>
                <a:latin typeface="Meiryo" pitchFamily="34" charset="0"/>
                <a:ea typeface="Meiryo" pitchFamily="34" charset="-122"/>
                <a:cs typeface="Meiryo" pitchFamily="34" charset="-120"/>
              </a:rPr>
              <a:t>幼稚園 全面実施</a:t>
            </a:r>
            <a:endParaRPr lang="en-US" sz="1200" dirty="0"/>
          </a:p>
          <a:p>
            <a:pPr algn="ctr" indent="0" marL="0">
              <a:lnSpc>
                <a:spcPts val="1800"/>
              </a:lnSpc>
              <a:buNone/>
            </a:pPr>
            <a:r>
              <a:rPr lang="en-US" sz="1200" dirty="0">
                <a:solidFill>
                  <a:srgbClr val="1C2320"/>
                </a:solidFill>
                <a:latin typeface="Meiryo" pitchFamily="34" charset="0"/>
                <a:ea typeface="Meiryo" pitchFamily="34" charset="-122"/>
                <a:cs typeface="Meiryo" pitchFamily="34" charset="-120"/>
              </a:rPr>
              <a:t>調整授業時数制度 先行導入可</a:t>
            </a:r>
            <a:endParaRPr lang="en-US" sz="1200" dirty="0"/>
          </a:p>
        </p:txBody>
      </p:sp>
      <p:sp>
        <p:nvSpPr>
          <p:cNvPr id="18" name="Shape 16"/>
          <p:cNvSpPr/>
          <p:nvPr/>
        </p:nvSpPr>
        <p:spPr>
          <a:xfrm>
            <a:off x="7991627" y="2331720"/>
            <a:ext cx="658368" cy="658368"/>
          </a:xfrm>
          <a:prstGeom prst="ellipse">
            <a:avLst/>
          </a:prstGeom>
          <a:solidFill>
            <a:srgbClr val="5C8A4A"/>
          </a:solidFill>
          <a:ln/>
        </p:spPr>
      </p:sp>
      <p:sp>
        <p:nvSpPr>
          <p:cNvPr id="19" name="Text 17"/>
          <p:cNvSpPr txBox="1"/>
          <p:nvPr/>
        </p:nvSpPr>
        <p:spPr>
          <a:xfrm>
            <a:off x="7991627" y="2496312"/>
            <a:ext cx="658368" cy="329184"/>
          </a:xfrm>
          <a:prstGeom prst="rect">
            <a:avLst/>
          </a:prstGeom>
          <a:noFill/>
          <a:ln/>
        </p:spPr>
        <p:txBody>
          <a:bodyPr wrap="square" lIns="0" tIns="0" rIns="0" bIns="0" rtlCol="0" anchor="ctr"/>
          <a:lstStyle/>
          <a:p>
            <a:pPr algn="ctr" indent="0" marL="0">
              <a:buNone/>
            </a:pPr>
            <a:endParaRPr lang="en-US" sz="1200" dirty="0"/>
          </a:p>
        </p:txBody>
      </p:sp>
      <p:sp>
        <p:nvSpPr>
          <p:cNvPr id="20" name="Text 18"/>
          <p:cNvSpPr txBox="1"/>
          <p:nvPr/>
        </p:nvSpPr>
        <p:spPr>
          <a:xfrm>
            <a:off x="7360691" y="1344168"/>
            <a:ext cx="1920240" cy="777240"/>
          </a:xfrm>
          <a:prstGeom prst="rect">
            <a:avLst/>
          </a:prstGeom>
          <a:noFill/>
          <a:ln/>
        </p:spPr>
        <p:txBody>
          <a:bodyPr wrap="square" lIns="0" tIns="0" rIns="0" bIns="0" rtlCol="0" anchor="ctr"/>
          <a:lstStyle/>
          <a:p>
            <a:pPr algn="ctr" indent="0" marL="0">
              <a:lnSpc>
                <a:spcPts val="1900"/>
              </a:lnSpc>
              <a:buNone/>
            </a:pPr>
            <a:r>
              <a:rPr lang="en-US" sz="1500" b="1" dirty="0">
                <a:solidFill>
                  <a:srgbClr val="5C8A4A"/>
                </a:solidFill>
                <a:latin typeface="Meiryo" pitchFamily="34" charset="0"/>
                <a:ea typeface="Meiryo" pitchFamily="34" charset="-122"/>
                <a:cs typeface="Meiryo" pitchFamily="34" charset="-120"/>
              </a:rPr>
              <a:t>2030</a:t>
            </a:r>
            <a:endParaRPr lang="en-US" sz="1500" dirty="0"/>
          </a:p>
          <a:p>
            <a:pPr algn="ctr" indent="0" marL="0">
              <a:lnSpc>
                <a:spcPts val="1900"/>
              </a:lnSpc>
              <a:buNone/>
            </a:pPr>
            <a:r>
              <a:rPr lang="en-US" sz="1500" b="1" dirty="0">
                <a:solidFill>
                  <a:srgbClr val="5C8A4A"/>
                </a:solidFill>
                <a:latin typeface="Meiryo" pitchFamily="34" charset="0"/>
                <a:ea typeface="Meiryo" pitchFamily="34" charset="-122"/>
                <a:cs typeface="Meiryo" pitchFamily="34" charset="-120"/>
              </a:rPr>
              <a:t>令和12</a:t>
            </a:r>
            <a:endParaRPr lang="en-US" sz="1500" dirty="0"/>
          </a:p>
        </p:txBody>
      </p:sp>
      <p:sp>
        <p:nvSpPr>
          <p:cNvPr id="21" name="Text 19"/>
          <p:cNvSpPr txBox="1"/>
          <p:nvPr/>
        </p:nvSpPr>
        <p:spPr>
          <a:xfrm>
            <a:off x="7269251" y="3200400"/>
            <a:ext cx="2103120" cy="914400"/>
          </a:xfrm>
          <a:prstGeom prst="rect">
            <a:avLst/>
          </a:prstGeom>
          <a:noFill/>
          <a:ln/>
        </p:spPr>
        <p:txBody>
          <a:bodyPr wrap="square" lIns="0" tIns="0" rIns="0" bIns="0" rtlCol="0" anchor="ctr"/>
          <a:lstStyle/>
          <a:p>
            <a:pPr algn="ctr" indent="0" marL="0">
              <a:lnSpc>
                <a:spcPts val="1800"/>
              </a:lnSpc>
              <a:buNone/>
            </a:pPr>
            <a:r>
              <a:rPr lang="en-US" sz="1200" dirty="0">
                <a:solidFill>
                  <a:srgbClr val="1C2320"/>
                </a:solidFill>
                <a:latin typeface="Meiryo" pitchFamily="34" charset="0"/>
                <a:ea typeface="Meiryo" pitchFamily="34" charset="-122"/>
                <a:cs typeface="Meiryo" pitchFamily="34" charset="-120"/>
              </a:rPr>
              <a:t>小学校</a:t>
            </a:r>
            <a:endParaRPr lang="en-US" sz="1200" dirty="0"/>
          </a:p>
          <a:p>
            <a:pPr algn="ctr" indent="0" marL="0">
              <a:lnSpc>
                <a:spcPts val="1800"/>
              </a:lnSpc>
              <a:buNone/>
            </a:pPr>
            <a:r>
              <a:rPr lang="en-US" sz="1200" dirty="0">
                <a:solidFill>
                  <a:srgbClr val="1C2320"/>
                </a:solidFill>
                <a:latin typeface="Meiryo" pitchFamily="34" charset="0"/>
                <a:ea typeface="Meiryo" pitchFamily="34" charset="-122"/>
                <a:cs typeface="Meiryo" pitchFamily="34" charset="-120"/>
              </a:rPr>
              <a:t>全面実施</a:t>
            </a:r>
            <a:endParaRPr lang="en-US" sz="1200" dirty="0"/>
          </a:p>
        </p:txBody>
      </p:sp>
      <p:sp>
        <p:nvSpPr>
          <p:cNvPr id="22" name="Shape 20"/>
          <p:cNvSpPr/>
          <p:nvPr/>
        </p:nvSpPr>
        <p:spPr>
          <a:xfrm>
            <a:off x="10399471" y="2331720"/>
            <a:ext cx="658368" cy="658368"/>
          </a:xfrm>
          <a:prstGeom prst="ellipse">
            <a:avLst/>
          </a:prstGeom>
          <a:solidFill>
            <a:srgbClr val="5C8A4A"/>
          </a:solidFill>
          <a:ln/>
        </p:spPr>
      </p:sp>
      <p:sp>
        <p:nvSpPr>
          <p:cNvPr id="23" name="Text 21"/>
          <p:cNvSpPr txBox="1"/>
          <p:nvPr/>
        </p:nvSpPr>
        <p:spPr>
          <a:xfrm>
            <a:off x="10399471" y="2496312"/>
            <a:ext cx="658368" cy="329184"/>
          </a:xfrm>
          <a:prstGeom prst="rect">
            <a:avLst/>
          </a:prstGeom>
          <a:noFill/>
          <a:ln/>
        </p:spPr>
        <p:txBody>
          <a:bodyPr wrap="square" lIns="0" tIns="0" rIns="0" bIns="0" rtlCol="0" anchor="ctr"/>
          <a:lstStyle/>
          <a:p>
            <a:pPr algn="ctr" indent="0" marL="0">
              <a:buNone/>
            </a:pPr>
            <a:endParaRPr lang="en-US" sz="1200" dirty="0"/>
          </a:p>
        </p:txBody>
      </p:sp>
      <p:sp>
        <p:nvSpPr>
          <p:cNvPr id="24" name="Text 22"/>
          <p:cNvSpPr txBox="1"/>
          <p:nvPr/>
        </p:nvSpPr>
        <p:spPr>
          <a:xfrm>
            <a:off x="9768535" y="1344168"/>
            <a:ext cx="1920240" cy="777240"/>
          </a:xfrm>
          <a:prstGeom prst="rect">
            <a:avLst/>
          </a:prstGeom>
          <a:noFill/>
          <a:ln/>
        </p:spPr>
        <p:txBody>
          <a:bodyPr wrap="square" lIns="0" tIns="0" rIns="0" bIns="0" rtlCol="0" anchor="ctr"/>
          <a:lstStyle/>
          <a:p>
            <a:pPr algn="ctr" indent="0" marL="0">
              <a:lnSpc>
                <a:spcPts val="1900"/>
              </a:lnSpc>
              <a:buNone/>
            </a:pPr>
            <a:r>
              <a:rPr lang="en-US" sz="1500" b="1" dirty="0">
                <a:solidFill>
                  <a:srgbClr val="5C8A4A"/>
                </a:solidFill>
                <a:latin typeface="Meiryo" pitchFamily="34" charset="0"/>
                <a:ea typeface="Meiryo" pitchFamily="34" charset="-122"/>
                <a:cs typeface="Meiryo" pitchFamily="34" charset="-120"/>
              </a:rPr>
              <a:t>2031</a:t>
            </a:r>
            <a:endParaRPr lang="en-US" sz="1500" dirty="0"/>
          </a:p>
          <a:p>
            <a:pPr algn="ctr" indent="0" marL="0">
              <a:lnSpc>
                <a:spcPts val="1900"/>
              </a:lnSpc>
              <a:buNone/>
            </a:pPr>
            <a:r>
              <a:rPr lang="en-US" sz="1500" b="1" dirty="0">
                <a:solidFill>
                  <a:srgbClr val="5C8A4A"/>
                </a:solidFill>
                <a:latin typeface="Meiryo" pitchFamily="34" charset="0"/>
                <a:ea typeface="Meiryo" pitchFamily="34" charset="-122"/>
                <a:cs typeface="Meiryo" pitchFamily="34" charset="-120"/>
              </a:rPr>
              <a:t>令和13</a:t>
            </a:r>
            <a:endParaRPr lang="en-US" sz="1500" dirty="0"/>
          </a:p>
        </p:txBody>
      </p:sp>
      <p:sp>
        <p:nvSpPr>
          <p:cNvPr id="25" name="Text 23"/>
          <p:cNvSpPr txBox="1"/>
          <p:nvPr/>
        </p:nvSpPr>
        <p:spPr>
          <a:xfrm>
            <a:off x="9677095" y="3200400"/>
            <a:ext cx="2103120" cy="914400"/>
          </a:xfrm>
          <a:prstGeom prst="rect">
            <a:avLst/>
          </a:prstGeom>
          <a:noFill/>
          <a:ln/>
        </p:spPr>
        <p:txBody>
          <a:bodyPr wrap="square" lIns="0" tIns="0" rIns="0" bIns="0" rtlCol="0" anchor="ctr"/>
          <a:lstStyle/>
          <a:p>
            <a:pPr algn="ctr" indent="0" marL="0">
              <a:lnSpc>
                <a:spcPts val="1800"/>
              </a:lnSpc>
              <a:buNone/>
            </a:pPr>
            <a:r>
              <a:rPr lang="en-US" sz="1200" dirty="0">
                <a:solidFill>
                  <a:srgbClr val="1C2320"/>
                </a:solidFill>
                <a:latin typeface="Meiryo" pitchFamily="34" charset="0"/>
                <a:ea typeface="Meiryo" pitchFamily="34" charset="-122"/>
                <a:cs typeface="Meiryo" pitchFamily="34" charset="-120"/>
              </a:rPr>
              <a:t>中学校</a:t>
            </a:r>
            <a:endParaRPr lang="en-US" sz="1200" dirty="0"/>
          </a:p>
          <a:p>
            <a:pPr algn="ctr" indent="0" marL="0">
              <a:lnSpc>
                <a:spcPts val="1800"/>
              </a:lnSpc>
              <a:buNone/>
            </a:pPr>
            <a:r>
              <a:rPr lang="en-US" sz="1200" dirty="0">
                <a:solidFill>
                  <a:srgbClr val="1C2320"/>
                </a:solidFill>
                <a:latin typeface="Meiryo" pitchFamily="34" charset="0"/>
                <a:ea typeface="Meiryo" pitchFamily="34" charset="-122"/>
                <a:cs typeface="Meiryo" pitchFamily="34" charset="-120"/>
              </a:rPr>
              <a:t>全面実施</a:t>
            </a:r>
            <a:endParaRPr lang="en-US" sz="1200" dirty="0"/>
          </a:p>
        </p:txBody>
      </p:sp>
      <p:sp>
        <p:nvSpPr>
          <p:cNvPr id="26" name="Shape 24"/>
          <p:cNvSpPr/>
          <p:nvPr/>
        </p:nvSpPr>
        <p:spPr>
          <a:xfrm>
            <a:off x="640080" y="4343400"/>
            <a:ext cx="10911535" cy="1170432"/>
          </a:xfrm>
          <a:prstGeom prst="roundRect">
            <a:avLst>
              <a:gd name="adj" fmla="val 4688"/>
            </a:avLst>
          </a:prstGeom>
          <a:solidFill>
            <a:srgbClr val="E4EDE6"/>
          </a:solidFill>
          <a:ln/>
        </p:spPr>
      </p:sp>
      <p:sp>
        <p:nvSpPr>
          <p:cNvPr id="27" name="Text 25"/>
          <p:cNvSpPr txBox="1"/>
          <p:nvPr/>
        </p:nvSpPr>
        <p:spPr>
          <a:xfrm>
            <a:off x="1097280" y="4590288"/>
            <a:ext cx="9997135" cy="384048"/>
          </a:xfrm>
          <a:prstGeom prst="rect">
            <a:avLst/>
          </a:prstGeom>
          <a:noFill/>
          <a:ln/>
        </p:spPr>
        <p:txBody>
          <a:bodyPr wrap="square" lIns="0" tIns="0" rIns="0" bIns="0" rtlCol="0" anchor="ctr"/>
          <a:lstStyle/>
          <a:p>
            <a:pPr indent="0" marL="0">
              <a:buNone/>
            </a:pPr>
            <a:r>
              <a:rPr lang="en-US" sz="2000" b="1" dirty="0">
                <a:solidFill>
                  <a:srgbClr val="14312A"/>
                </a:solidFill>
                <a:latin typeface="Meiryo" pitchFamily="34" charset="0"/>
                <a:ea typeface="Meiryo" pitchFamily="34" charset="-122"/>
                <a:cs typeface="Meiryo" pitchFamily="34" charset="-120"/>
              </a:rPr>
              <a:t>設計に使える年度は　令和9年度・令和10年度　の2年間</a:t>
            </a:r>
            <a:endParaRPr lang="en-US" sz="2000" dirty="0"/>
          </a:p>
        </p:txBody>
      </p:sp>
      <p:sp>
        <p:nvSpPr>
          <p:cNvPr id="28" name="Text 26"/>
          <p:cNvSpPr txBox="1"/>
          <p:nvPr/>
        </p:nvSpPr>
        <p:spPr>
          <a:xfrm>
            <a:off x="1097280" y="5029200"/>
            <a:ext cx="9997135" cy="365760"/>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2028年度（令和10年度）の先行導入に間に合わせるなら、令和9年度中に校内の合意形成と設計を終えておく必要があります。</a:t>
            </a:r>
            <a:endParaRPr lang="en-US" sz="1300" dirty="0"/>
          </a:p>
        </p:txBody>
      </p:sp>
      <p:sp>
        <p:nvSpPr>
          <p:cNvPr id="29" name="Text 27"/>
          <p:cNvSpPr txBox="1"/>
          <p:nvPr/>
        </p:nvSpPr>
        <p:spPr>
          <a:xfrm>
            <a:off x="640080" y="6291072"/>
            <a:ext cx="9997135" cy="310896"/>
          </a:xfrm>
          <a:prstGeom prst="rect">
            <a:avLst/>
          </a:prstGeom>
          <a:noFill/>
          <a:ln/>
        </p:spPr>
        <p:txBody>
          <a:bodyPr wrap="square" lIns="0" tIns="0" rIns="0" bIns="0" rtlCol="0" anchor="t"/>
          <a:lstStyle/>
          <a:p>
            <a:pPr indent="0" marL="0">
              <a:buNone/>
            </a:pPr>
            <a:r>
              <a:rPr lang="en-US" sz="950" dirty="0">
                <a:solidFill>
                  <a:srgbClr val="5B6660"/>
                </a:solidFill>
                <a:latin typeface="Meiryo" pitchFamily="34" charset="0"/>
                <a:ea typeface="Meiryo" pitchFamily="34" charset="-122"/>
                <a:cs typeface="Meiryo" pitchFamily="34" charset="-120"/>
              </a:rPr>
              <a:t>※スケジュールは素案および報道に基づく。今後変更の可能性があります。</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8</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Ⅰ－2</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「2030年の話」ではない</a:t>
            </a:r>
            <a:endParaRPr lang="en-US" sz="2800" dirty="0"/>
          </a:p>
        </p:txBody>
      </p:sp>
      <p:sp>
        <p:nvSpPr>
          <p:cNvPr id="5" name="Shape 3"/>
          <p:cNvSpPr/>
          <p:nvPr/>
        </p:nvSpPr>
        <p:spPr>
          <a:xfrm>
            <a:off x="640080" y="1481328"/>
            <a:ext cx="5257800" cy="2907792"/>
          </a:xfrm>
          <a:prstGeom prst="roundRect">
            <a:avLst>
              <a:gd name="adj" fmla="val 1887"/>
            </a:avLst>
          </a:prstGeom>
          <a:solidFill>
            <a:srgbClr val="F1F5F2"/>
          </a:solidFill>
          <a:ln/>
        </p:spPr>
      </p:sp>
      <p:sp>
        <p:nvSpPr>
          <p:cNvPr id="6" name="Text 4"/>
          <p:cNvSpPr txBox="1"/>
          <p:nvPr/>
        </p:nvSpPr>
        <p:spPr>
          <a:xfrm>
            <a:off x="1024128" y="1755648"/>
            <a:ext cx="4572000" cy="329184"/>
          </a:xfrm>
          <a:prstGeom prst="rect">
            <a:avLst/>
          </a:prstGeom>
          <a:noFill/>
          <a:ln/>
        </p:spPr>
        <p:txBody>
          <a:bodyPr wrap="square" lIns="0" tIns="0" rIns="0" bIns="0" rtlCol="0" anchor="ctr"/>
          <a:lstStyle/>
          <a:p>
            <a:pPr indent="0" marL="0">
              <a:buNone/>
            </a:pPr>
            <a:r>
              <a:rPr lang="en-US" sz="1500" b="1" dirty="0">
                <a:solidFill>
                  <a:srgbClr val="5B6660"/>
                </a:solidFill>
                <a:latin typeface="Meiryo" pitchFamily="34" charset="0"/>
                <a:ea typeface="Meiryo" pitchFamily="34" charset="-122"/>
                <a:cs typeface="Meiryo" pitchFamily="34" charset="-120"/>
              </a:rPr>
              <a:t>よくある受け止め</a:t>
            </a:r>
            <a:endParaRPr lang="en-US" sz="1500" dirty="0"/>
          </a:p>
        </p:txBody>
      </p:sp>
      <p:sp>
        <p:nvSpPr>
          <p:cNvPr id="7" name="Text 5"/>
          <p:cNvSpPr txBox="1"/>
          <p:nvPr/>
        </p:nvSpPr>
        <p:spPr>
          <a:xfrm>
            <a:off x="1024128" y="2194560"/>
            <a:ext cx="4572000" cy="914400"/>
          </a:xfrm>
          <a:prstGeom prst="rect">
            <a:avLst/>
          </a:prstGeom>
          <a:noFill/>
          <a:ln/>
        </p:spPr>
        <p:txBody>
          <a:bodyPr wrap="square" lIns="0" tIns="0" rIns="0" bIns="0" rtlCol="0" anchor="ctr"/>
          <a:lstStyle/>
          <a:p>
            <a:pPr indent="0" marL="0">
              <a:lnSpc>
                <a:spcPts val="3400"/>
              </a:lnSpc>
              <a:buNone/>
            </a:pPr>
            <a:r>
              <a:rPr lang="en-US" sz="2200" b="1" dirty="0">
                <a:solidFill>
                  <a:srgbClr val="5B6660"/>
                </a:solidFill>
                <a:latin typeface="Meiryo" pitchFamily="34" charset="0"/>
                <a:ea typeface="Meiryo" pitchFamily="34" charset="-122"/>
                <a:cs typeface="Meiryo" pitchFamily="34" charset="-120"/>
              </a:rPr>
              <a:t>小学校の全面実施は2030年度。</a:t>
            </a:r>
            <a:endParaRPr lang="en-US" sz="2200" dirty="0"/>
          </a:p>
          <a:p>
            <a:pPr indent="0" marL="0">
              <a:lnSpc>
                <a:spcPts val="3400"/>
              </a:lnSpc>
              <a:buNone/>
            </a:pPr>
            <a:r>
              <a:rPr lang="en-US" sz="2200" b="1" dirty="0">
                <a:solidFill>
                  <a:srgbClr val="5B6660"/>
                </a:solidFill>
                <a:latin typeface="Meiryo" pitchFamily="34" charset="0"/>
                <a:ea typeface="Meiryo" pitchFamily="34" charset="-122"/>
                <a:cs typeface="Meiryo" pitchFamily="34" charset="-120"/>
              </a:rPr>
              <a:t>まだ4年ある。</a:t>
            </a:r>
            <a:endParaRPr lang="en-US" sz="2200" dirty="0"/>
          </a:p>
        </p:txBody>
      </p:sp>
      <p:sp>
        <p:nvSpPr>
          <p:cNvPr id="8" name="Text 6"/>
          <p:cNvSpPr txBox="1"/>
          <p:nvPr/>
        </p:nvSpPr>
        <p:spPr>
          <a:xfrm>
            <a:off x="1024128" y="3218688"/>
            <a:ext cx="4572000" cy="17373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5B6660"/>
                </a:solidFill>
                <a:latin typeface="Meiryo" pitchFamily="34" charset="0"/>
                <a:ea typeface="Meiryo" pitchFamily="34" charset="-122"/>
                <a:cs typeface="Meiryo" pitchFamily="34" charset="-120"/>
              </a:rPr>
              <a:t>告示を待ってから校内で検討</a:t>
            </a:r>
            <a:endParaRPr lang="en-US" sz="1350" dirty="0"/>
          </a:p>
          <a:p>
            <a:pPr marL="342900" indent="-342900">
              <a:spcAft>
                <a:spcPts val="800"/>
              </a:spcAft>
              <a:buSzPct val="100000"/>
              <a:buChar char="•"/>
            </a:pPr>
            <a:r>
              <a:rPr lang="en-US" sz="1350" dirty="0">
                <a:solidFill>
                  <a:srgbClr val="5B6660"/>
                </a:solidFill>
                <a:latin typeface="Meiryo" pitchFamily="34" charset="0"/>
                <a:ea typeface="Meiryo" pitchFamily="34" charset="-122"/>
                <a:cs typeface="Meiryo" pitchFamily="34" charset="-120"/>
              </a:rPr>
              <a:t>区の説明会を待ってから動く</a:t>
            </a:r>
            <a:endParaRPr lang="en-US" sz="1350" dirty="0"/>
          </a:p>
          <a:p>
            <a:pPr marL="342900" indent="-342900">
              <a:spcAft>
                <a:spcPts val="800"/>
              </a:spcAft>
              <a:buSzPct val="100000"/>
              <a:buChar char="•"/>
            </a:pPr>
            <a:r>
              <a:rPr lang="en-US" sz="1350" dirty="0">
                <a:solidFill>
                  <a:srgbClr val="5B6660"/>
                </a:solidFill>
                <a:latin typeface="Meiryo" pitchFamily="34" charset="0"/>
                <a:ea typeface="Meiryo" pitchFamily="34" charset="-122"/>
                <a:cs typeface="Meiryo" pitchFamily="34" charset="-120"/>
              </a:rPr>
              <a:t>教育課程の見直しは令和11年度から</a:t>
            </a:r>
            <a:endParaRPr lang="en-US" sz="1350" dirty="0"/>
          </a:p>
        </p:txBody>
      </p:sp>
      <p:sp>
        <p:nvSpPr>
          <p:cNvPr id="9" name="Shape 7"/>
          <p:cNvSpPr/>
          <p:nvPr/>
        </p:nvSpPr>
        <p:spPr>
          <a:xfrm>
            <a:off x="6291072" y="1481328"/>
            <a:ext cx="5257800" cy="2907792"/>
          </a:xfrm>
          <a:prstGeom prst="roundRect">
            <a:avLst>
              <a:gd name="adj" fmla="val 1887"/>
            </a:avLst>
          </a:prstGeom>
          <a:solidFill>
            <a:srgbClr val="14312A"/>
          </a:solidFill>
          <a:ln/>
        </p:spPr>
      </p:sp>
      <p:sp>
        <p:nvSpPr>
          <p:cNvPr id="10" name="Text 8"/>
          <p:cNvSpPr txBox="1"/>
          <p:nvPr/>
        </p:nvSpPr>
        <p:spPr>
          <a:xfrm>
            <a:off x="6675120" y="1755648"/>
            <a:ext cx="4572000" cy="329184"/>
          </a:xfrm>
          <a:prstGeom prst="rect">
            <a:avLst/>
          </a:prstGeom>
          <a:noFill/>
          <a:ln/>
        </p:spPr>
        <p:txBody>
          <a:bodyPr wrap="square" lIns="0" tIns="0" rIns="0" bIns="0" rtlCol="0" anchor="ctr"/>
          <a:lstStyle/>
          <a:p>
            <a:pPr indent="0" marL="0">
              <a:buNone/>
            </a:pPr>
            <a:r>
              <a:rPr lang="en-US" sz="1500" b="1" dirty="0">
                <a:solidFill>
                  <a:srgbClr val="7FA86B"/>
                </a:solidFill>
                <a:latin typeface="Meiryo" pitchFamily="34" charset="0"/>
                <a:ea typeface="Meiryo" pitchFamily="34" charset="-122"/>
                <a:cs typeface="Meiryo" pitchFamily="34" charset="-120"/>
              </a:rPr>
              <a:t>実際のスケジュール</a:t>
            </a:r>
            <a:endParaRPr lang="en-US" sz="1500" dirty="0"/>
          </a:p>
        </p:txBody>
      </p:sp>
      <p:sp>
        <p:nvSpPr>
          <p:cNvPr id="11" name="Text 9"/>
          <p:cNvSpPr txBox="1"/>
          <p:nvPr/>
        </p:nvSpPr>
        <p:spPr>
          <a:xfrm>
            <a:off x="6675120" y="2194560"/>
            <a:ext cx="4572000" cy="914400"/>
          </a:xfrm>
          <a:prstGeom prst="rect">
            <a:avLst/>
          </a:prstGeom>
          <a:noFill/>
          <a:ln/>
        </p:spPr>
        <p:txBody>
          <a:bodyPr wrap="square" lIns="0" tIns="0" rIns="0" bIns="0" rtlCol="0" anchor="ctr"/>
          <a:lstStyle/>
          <a:p>
            <a:pPr indent="0" marL="0">
              <a:lnSpc>
                <a:spcPts val="3400"/>
              </a:lnSpc>
              <a:buNone/>
            </a:pPr>
            <a:r>
              <a:rPr lang="en-US" sz="2200" b="1" dirty="0">
                <a:solidFill>
                  <a:srgbClr val="FFFFFF"/>
                </a:solidFill>
                <a:latin typeface="Meiryo" pitchFamily="34" charset="0"/>
                <a:ea typeface="Meiryo" pitchFamily="34" charset="-122"/>
                <a:cs typeface="Meiryo" pitchFamily="34" charset="-120"/>
              </a:rPr>
              <a:t>先行導入は2028年度。</a:t>
            </a:r>
            <a:endParaRPr lang="en-US" sz="2200" dirty="0"/>
          </a:p>
          <a:p>
            <a:pPr indent="0" marL="0">
              <a:lnSpc>
                <a:spcPts val="3400"/>
              </a:lnSpc>
              <a:buNone/>
            </a:pPr>
            <a:r>
              <a:rPr lang="en-US" sz="2200" b="1" dirty="0">
                <a:solidFill>
                  <a:srgbClr val="FFFFFF"/>
                </a:solidFill>
                <a:latin typeface="Meiryo" pitchFamily="34" charset="0"/>
                <a:ea typeface="Meiryo" pitchFamily="34" charset="-122"/>
                <a:cs typeface="Meiryo" pitchFamily="34" charset="-120"/>
              </a:rPr>
              <a:t>準備期間は実質2年。</a:t>
            </a:r>
            <a:endParaRPr lang="en-US" sz="2200" dirty="0"/>
          </a:p>
        </p:txBody>
      </p:sp>
      <p:sp>
        <p:nvSpPr>
          <p:cNvPr id="12" name="Text 10"/>
          <p:cNvSpPr txBox="1"/>
          <p:nvPr/>
        </p:nvSpPr>
        <p:spPr>
          <a:xfrm>
            <a:off x="6675120" y="3218688"/>
            <a:ext cx="4572000" cy="173736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D6E4D8"/>
                </a:solidFill>
                <a:latin typeface="Meiryo" pitchFamily="34" charset="0"/>
                <a:ea typeface="Meiryo" pitchFamily="34" charset="-122"/>
                <a:cs typeface="Meiryo" pitchFamily="34" charset="-120"/>
              </a:rPr>
              <a:t>令和9年度：職員の理解と現状の棚卸し</a:t>
            </a:r>
            <a:endParaRPr lang="en-US" sz="1350" dirty="0"/>
          </a:p>
          <a:p>
            <a:pPr marL="342900" indent="-342900">
              <a:spcAft>
                <a:spcPts val="900"/>
              </a:spcAft>
              <a:buSzPct val="100000"/>
              <a:buChar char="•"/>
            </a:pPr>
            <a:r>
              <a:rPr lang="en-US" sz="1350" dirty="0">
                <a:solidFill>
                  <a:srgbClr val="D6E4D8"/>
                </a:solidFill>
                <a:latin typeface="Meiryo" pitchFamily="34" charset="0"/>
                <a:ea typeface="Meiryo" pitchFamily="34" charset="-122"/>
                <a:cs typeface="Meiryo" pitchFamily="34" charset="-120"/>
              </a:rPr>
              <a:t>令和10年度：試行しながら設計を固める</a:t>
            </a:r>
            <a:endParaRPr lang="en-US" sz="1350" dirty="0"/>
          </a:p>
          <a:p>
            <a:pPr marL="342900" indent="-342900">
              <a:spcAft>
                <a:spcPts val="900"/>
              </a:spcAft>
              <a:buSzPct val="100000"/>
              <a:buChar char="•"/>
            </a:pPr>
            <a:r>
              <a:rPr lang="en-US" sz="1350" dirty="0">
                <a:solidFill>
                  <a:srgbClr val="D6E4D8"/>
                </a:solidFill>
                <a:latin typeface="Meiryo" pitchFamily="34" charset="0"/>
                <a:ea typeface="Meiryo" pitchFamily="34" charset="-122"/>
                <a:cs typeface="Meiryo" pitchFamily="34" charset="-120"/>
              </a:rPr>
              <a:t>令和11年度以降：本格運用に接続</a:t>
            </a:r>
            <a:endParaRPr lang="en-US" sz="1350" dirty="0"/>
          </a:p>
        </p:txBody>
      </p:sp>
      <p:sp>
        <p:nvSpPr>
          <p:cNvPr id="13" name="Shape 11"/>
          <p:cNvSpPr/>
          <p:nvPr/>
        </p:nvSpPr>
        <p:spPr>
          <a:xfrm>
            <a:off x="640080" y="4892040"/>
            <a:ext cx="10911535" cy="1234440"/>
          </a:xfrm>
          <a:prstGeom prst="roundRect">
            <a:avLst>
              <a:gd name="adj" fmla="val 4444"/>
            </a:avLst>
          </a:prstGeom>
          <a:solidFill>
            <a:srgbClr val="E4EDE6"/>
          </a:solidFill>
          <a:ln/>
        </p:spPr>
      </p:sp>
      <p:sp>
        <p:nvSpPr>
          <p:cNvPr id="14" name="Text 12"/>
          <p:cNvSpPr txBox="1"/>
          <p:nvPr/>
        </p:nvSpPr>
        <p:spPr>
          <a:xfrm>
            <a:off x="1097280" y="5138928"/>
            <a:ext cx="9997135" cy="420624"/>
          </a:xfrm>
          <a:prstGeom prst="rect">
            <a:avLst/>
          </a:prstGeom>
          <a:noFill/>
          <a:ln/>
        </p:spPr>
        <p:txBody>
          <a:bodyPr wrap="square" lIns="0" tIns="0" rIns="0" bIns="0" rtlCol="0" anchor="ctr"/>
          <a:lstStyle/>
          <a:p>
            <a:pPr indent="0" marL="0">
              <a:buNone/>
            </a:pPr>
            <a:r>
              <a:rPr lang="en-US" sz="2100" b="1" dirty="0">
                <a:solidFill>
                  <a:srgbClr val="14312A"/>
                </a:solidFill>
                <a:latin typeface="Meiryo" pitchFamily="34" charset="0"/>
                <a:ea typeface="Meiryo" pitchFamily="34" charset="-122"/>
                <a:cs typeface="Meiryo" pitchFamily="34" charset="-120"/>
              </a:rPr>
              <a:t>違いは「意識」ではなく「持ち時間」です。</a:t>
            </a:r>
            <a:endParaRPr lang="en-US" sz="2100" dirty="0"/>
          </a:p>
        </p:txBody>
      </p:sp>
      <p:sp>
        <p:nvSpPr>
          <p:cNvPr id="15" name="Text 13"/>
          <p:cNvSpPr txBox="1"/>
          <p:nvPr/>
        </p:nvSpPr>
        <p:spPr>
          <a:xfrm>
            <a:off x="1097280" y="5614416"/>
            <a:ext cx="9997135" cy="365760"/>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先生方の熱意の問題ではありません。いつまでに何を決めるのか、その認識がずれているだけです。</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9</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Ⅰ－3</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令和9年度の過ごし方で、2年後が決まります</a:t>
            </a:r>
            <a:endParaRPr lang="en-US" sz="2800" dirty="0"/>
          </a:p>
        </p:txBody>
      </p:sp>
      <p:sp>
        <p:nvSpPr>
          <p:cNvPr id="5" name="Shape 3"/>
          <p:cNvSpPr/>
          <p:nvPr/>
        </p:nvSpPr>
        <p:spPr>
          <a:xfrm>
            <a:off x="640080" y="1481328"/>
            <a:ext cx="5309464" cy="4160520"/>
          </a:xfrm>
          <a:prstGeom prst="roundRect">
            <a:avLst>
              <a:gd name="adj" fmla="val 1319"/>
            </a:avLst>
          </a:prstGeom>
          <a:solidFill>
            <a:srgbClr val="F1F5F2"/>
          </a:solidFill>
          <a:ln/>
        </p:spPr>
      </p:sp>
      <p:sp>
        <p:nvSpPr>
          <p:cNvPr id="6" name="Shape 4"/>
          <p:cNvSpPr/>
          <p:nvPr/>
        </p:nvSpPr>
        <p:spPr>
          <a:xfrm>
            <a:off x="1005840" y="1755648"/>
            <a:ext cx="457200" cy="457200"/>
          </a:xfrm>
          <a:prstGeom prst="ellipse">
            <a:avLst/>
          </a:prstGeom>
          <a:solidFill>
            <a:srgbClr val="5B6660"/>
          </a:solidFill>
          <a:ln/>
        </p:spPr>
      </p:sp>
      <p:sp>
        <p:nvSpPr>
          <p:cNvPr id="7" name="Text 5"/>
          <p:cNvSpPr txBox="1"/>
          <p:nvPr/>
        </p:nvSpPr>
        <p:spPr>
          <a:xfrm>
            <a:off x="1005840" y="1819656"/>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A</a:t>
            </a:r>
            <a:endParaRPr lang="en-US" sz="1600" dirty="0"/>
          </a:p>
        </p:txBody>
      </p:sp>
      <p:sp>
        <p:nvSpPr>
          <p:cNvPr id="8" name="Text 6"/>
          <p:cNvSpPr txBox="1"/>
          <p:nvPr/>
        </p:nvSpPr>
        <p:spPr>
          <a:xfrm>
            <a:off x="1600200" y="1792224"/>
            <a:ext cx="4029304" cy="384048"/>
          </a:xfrm>
          <a:prstGeom prst="rect">
            <a:avLst/>
          </a:prstGeom>
          <a:noFill/>
          <a:ln/>
        </p:spPr>
        <p:txBody>
          <a:bodyPr wrap="square" lIns="0" tIns="0" rIns="0" bIns="0" rtlCol="0" anchor="ctr"/>
          <a:lstStyle/>
          <a:p>
            <a:pPr indent="0" marL="0">
              <a:buNone/>
            </a:pPr>
            <a:r>
              <a:rPr lang="en-US" sz="2100" b="1" dirty="0">
                <a:solidFill>
                  <a:srgbClr val="5B6660"/>
                </a:solidFill>
                <a:latin typeface="Meiryo" pitchFamily="34" charset="0"/>
                <a:ea typeface="Meiryo" pitchFamily="34" charset="-122"/>
                <a:cs typeface="Meiryo" pitchFamily="34" charset="-120"/>
              </a:rPr>
              <a:t>待つ学校</a:t>
            </a:r>
            <a:endParaRPr lang="en-US" sz="2100" dirty="0"/>
          </a:p>
        </p:txBody>
      </p:sp>
      <p:sp>
        <p:nvSpPr>
          <p:cNvPr id="9" name="Text 7"/>
          <p:cNvSpPr txBox="1"/>
          <p:nvPr/>
        </p:nvSpPr>
        <p:spPr>
          <a:xfrm>
            <a:off x="1051560" y="2450592"/>
            <a:ext cx="4486504"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B6660"/>
                </a:solidFill>
                <a:latin typeface="Meiryo" pitchFamily="34" charset="0"/>
                <a:ea typeface="Meiryo" pitchFamily="34" charset="-122"/>
                <a:cs typeface="Meiryo" pitchFamily="34" charset="-120"/>
              </a:rPr>
              <a:t>告示後に一斉に検討開始</a:t>
            </a:r>
            <a:endParaRPr lang="en-US" sz="1400" dirty="0"/>
          </a:p>
          <a:p>
            <a:pPr marL="342900" indent="-342900">
              <a:spcAft>
                <a:spcPts val="800"/>
              </a:spcAft>
              <a:buSzPct val="100000"/>
              <a:buChar char="•"/>
            </a:pPr>
            <a:r>
              <a:rPr lang="en-US" sz="1400" dirty="0">
                <a:solidFill>
                  <a:srgbClr val="5B6660"/>
                </a:solidFill>
                <a:latin typeface="Meiryo" pitchFamily="34" charset="0"/>
                <a:ea typeface="Meiryo" pitchFamily="34" charset="-122"/>
                <a:cs typeface="Meiryo" pitchFamily="34" charset="-120"/>
              </a:rPr>
              <a:t>時数の組み替えは前例踏襲</a:t>
            </a:r>
            <a:endParaRPr lang="en-US" sz="1400" dirty="0"/>
          </a:p>
          <a:p>
            <a:pPr marL="342900" indent="-342900">
              <a:spcAft>
                <a:spcPts val="800"/>
              </a:spcAft>
              <a:buSzPct val="100000"/>
              <a:buChar char="•"/>
            </a:pPr>
            <a:r>
              <a:rPr lang="en-US" sz="1400" dirty="0">
                <a:solidFill>
                  <a:srgbClr val="5B6660"/>
                </a:solidFill>
                <a:latin typeface="Meiryo" pitchFamily="34" charset="0"/>
                <a:ea typeface="Meiryo" pitchFamily="34" charset="-122"/>
                <a:cs typeface="Meiryo" pitchFamily="34" charset="-120"/>
              </a:rPr>
              <a:t>行事も研修もそのまま</a:t>
            </a:r>
            <a:endParaRPr lang="en-US" sz="1400" dirty="0"/>
          </a:p>
          <a:p>
            <a:pPr marL="342900" indent="-342900">
              <a:spcAft>
                <a:spcPts val="800"/>
              </a:spcAft>
              <a:buSzPct val="100000"/>
              <a:buChar char="•"/>
            </a:pPr>
            <a:r>
              <a:rPr lang="en-US" sz="1400" dirty="0">
                <a:solidFill>
                  <a:srgbClr val="5B6660"/>
                </a:solidFill>
                <a:latin typeface="Meiryo" pitchFamily="34" charset="0"/>
                <a:ea typeface="Meiryo" pitchFamily="34" charset="-122"/>
                <a:cs typeface="Meiryo" pitchFamily="34" charset="-120"/>
              </a:rPr>
              <a:t>「やらされる改訂」になる</a:t>
            </a:r>
            <a:endParaRPr lang="en-US" sz="1400" dirty="0"/>
          </a:p>
          <a:p>
            <a:pPr marL="342900" indent="-342900">
              <a:spcAft>
                <a:spcPts val="800"/>
              </a:spcAft>
              <a:buSzPct val="100000"/>
              <a:buChar char="•"/>
            </a:pPr>
            <a:r>
              <a:rPr lang="en-US" sz="1400" dirty="0">
                <a:solidFill>
                  <a:srgbClr val="5B6660"/>
                </a:solidFill>
                <a:latin typeface="Meiryo" pitchFamily="34" charset="0"/>
                <a:ea typeface="Meiryo" pitchFamily="34" charset="-122"/>
                <a:cs typeface="Meiryo" pitchFamily="34" charset="-120"/>
              </a:rPr>
              <a:t>職員は変更への対応に追われる</a:t>
            </a:r>
            <a:endParaRPr lang="en-US" sz="1400" dirty="0"/>
          </a:p>
        </p:txBody>
      </p:sp>
      <p:sp>
        <p:nvSpPr>
          <p:cNvPr id="10" name="Shape 8"/>
          <p:cNvSpPr/>
          <p:nvPr/>
        </p:nvSpPr>
        <p:spPr>
          <a:xfrm>
            <a:off x="6242152" y="1481328"/>
            <a:ext cx="5309464" cy="4160520"/>
          </a:xfrm>
          <a:prstGeom prst="roundRect">
            <a:avLst>
              <a:gd name="adj" fmla="val 1319"/>
            </a:avLst>
          </a:prstGeom>
          <a:solidFill>
            <a:srgbClr val="E4EDE6"/>
          </a:solidFill>
          <a:ln/>
        </p:spPr>
      </p:sp>
      <p:sp>
        <p:nvSpPr>
          <p:cNvPr id="11" name="Shape 9"/>
          <p:cNvSpPr/>
          <p:nvPr/>
        </p:nvSpPr>
        <p:spPr>
          <a:xfrm>
            <a:off x="6607912" y="1755648"/>
            <a:ext cx="457200" cy="457200"/>
          </a:xfrm>
          <a:prstGeom prst="ellipse">
            <a:avLst/>
          </a:prstGeom>
          <a:solidFill>
            <a:srgbClr val="1F5D4C"/>
          </a:solidFill>
          <a:ln/>
        </p:spPr>
      </p:sp>
      <p:sp>
        <p:nvSpPr>
          <p:cNvPr id="12" name="Text 10"/>
          <p:cNvSpPr txBox="1"/>
          <p:nvPr/>
        </p:nvSpPr>
        <p:spPr>
          <a:xfrm>
            <a:off x="6607912" y="1819656"/>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B</a:t>
            </a:r>
            <a:endParaRPr lang="en-US" sz="1600" dirty="0"/>
          </a:p>
        </p:txBody>
      </p:sp>
      <p:sp>
        <p:nvSpPr>
          <p:cNvPr id="13" name="Text 11"/>
          <p:cNvSpPr txBox="1"/>
          <p:nvPr/>
        </p:nvSpPr>
        <p:spPr>
          <a:xfrm>
            <a:off x="7202272" y="1792224"/>
            <a:ext cx="4029304" cy="384048"/>
          </a:xfrm>
          <a:prstGeom prst="rect">
            <a:avLst/>
          </a:prstGeom>
          <a:noFill/>
          <a:ln/>
        </p:spPr>
        <p:txBody>
          <a:bodyPr wrap="square" lIns="0" tIns="0" rIns="0" bIns="0" rtlCol="0" anchor="ctr"/>
          <a:lstStyle/>
          <a:p>
            <a:pPr indent="0" marL="0">
              <a:buNone/>
            </a:pPr>
            <a:r>
              <a:rPr lang="en-US" sz="2100" b="1" dirty="0">
                <a:solidFill>
                  <a:srgbClr val="1F5D4C"/>
                </a:solidFill>
                <a:latin typeface="Meiryo" pitchFamily="34" charset="0"/>
                <a:ea typeface="Meiryo" pitchFamily="34" charset="-122"/>
                <a:cs typeface="Meiryo" pitchFamily="34" charset="-120"/>
              </a:rPr>
              <a:t>つくる学校</a:t>
            </a:r>
            <a:endParaRPr lang="en-US" sz="2100" dirty="0"/>
          </a:p>
        </p:txBody>
      </p:sp>
      <p:sp>
        <p:nvSpPr>
          <p:cNvPr id="14" name="Text 12"/>
          <p:cNvSpPr txBox="1"/>
          <p:nvPr/>
        </p:nvSpPr>
        <p:spPr>
          <a:xfrm>
            <a:off x="6653632" y="2450592"/>
            <a:ext cx="4486504"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C2320"/>
                </a:solidFill>
                <a:latin typeface="Meiryo" pitchFamily="34" charset="0"/>
                <a:ea typeface="Meiryo" pitchFamily="34" charset="-122"/>
                <a:cs typeface="Meiryo" pitchFamily="34" charset="-120"/>
              </a:rPr>
              <a:t>令和9年度に現状を棚卸し</a:t>
            </a:r>
            <a:endParaRPr lang="en-US" sz="1400" dirty="0"/>
          </a:p>
          <a:p>
            <a:pPr marL="342900" indent="-342900">
              <a:spcAft>
                <a:spcPts val="800"/>
              </a:spcAft>
              <a:buSzPct val="100000"/>
              <a:buChar char="•"/>
            </a:pPr>
            <a:r>
              <a:rPr lang="en-US" sz="1400" dirty="0">
                <a:solidFill>
                  <a:srgbClr val="1C2320"/>
                </a:solidFill>
                <a:latin typeface="Meiryo" pitchFamily="34" charset="0"/>
                <a:ea typeface="Meiryo" pitchFamily="34" charset="-122"/>
                <a:cs typeface="Meiryo" pitchFamily="34" charset="-120"/>
              </a:rPr>
              <a:t>自校の重点に時間を寄せる設計</a:t>
            </a:r>
            <a:endParaRPr lang="en-US" sz="1400" dirty="0"/>
          </a:p>
          <a:p>
            <a:pPr marL="342900" indent="-342900">
              <a:spcAft>
                <a:spcPts val="800"/>
              </a:spcAft>
              <a:buSzPct val="100000"/>
              <a:buChar char="•"/>
            </a:pPr>
            <a:r>
              <a:rPr lang="en-US" sz="1400" dirty="0">
                <a:solidFill>
                  <a:srgbClr val="1C2320"/>
                </a:solidFill>
                <a:latin typeface="Meiryo" pitchFamily="34" charset="0"/>
                <a:ea typeface="Meiryo" pitchFamily="34" charset="-122"/>
                <a:cs typeface="Meiryo" pitchFamily="34" charset="-120"/>
              </a:rPr>
              <a:t>行事と会議を先に整理</a:t>
            </a:r>
            <a:endParaRPr lang="en-US" sz="1400" dirty="0"/>
          </a:p>
          <a:p>
            <a:pPr marL="342900" indent="-342900">
              <a:spcAft>
                <a:spcPts val="800"/>
              </a:spcAft>
              <a:buSzPct val="100000"/>
              <a:buChar char="•"/>
            </a:pPr>
            <a:r>
              <a:rPr lang="en-US" sz="1400" dirty="0">
                <a:solidFill>
                  <a:srgbClr val="1C2320"/>
                </a:solidFill>
                <a:latin typeface="Meiryo" pitchFamily="34" charset="0"/>
                <a:ea typeface="Meiryo" pitchFamily="34" charset="-122"/>
                <a:cs typeface="Meiryo" pitchFamily="34" charset="-120"/>
              </a:rPr>
              <a:t>「自分たちで決めた改訂」になる</a:t>
            </a:r>
            <a:endParaRPr lang="en-US" sz="1400" dirty="0"/>
          </a:p>
          <a:p>
            <a:pPr marL="342900" indent="-342900">
              <a:spcAft>
                <a:spcPts val="800"/>
              </a:spcAft>
              <a:buSzPct val="100000"/>
              <a:buChar char="•"/>
            </a:pPr>
            <a:r>
              <a:rPr lang="en-US" sz="1400" dirty="0">
                <a:solidFill>
                  <a:srgbClr val="1C2320"/>
                </a:solidFill>
                <a:latin typeface="Meiryo" pitchFamily="34" charset="0"/>
                <a:ea typeface="Meiryo" pitchFamily="34" charset="-122"/>
                <a:cs typeface="Meiryo" pitchFamily="34" charset="-120"/>
              </a:rPr>
              <a:t>職員に余白が生まれる</a:t>
            </a:r>
            <a:endParaRPr lang="en-US" sz="1400" dirty="0"/>
          </a:p>
        </p:txBody>
      </p:sp>
      <p:sp>
        <p:nvSpPr>
          <p:cNvPr id="15" name="Text 13"/>
          <p:cNvSpPr txBox="1"/>
          <p:nvPr/>
        </p:nvSpPr>
        <p:spPr>
          <a:xfrm>
            <a:off x="640080" y="5870448"/>
            <a:ext cx="10911535" cy="365760"/>
          </a:xfrm>
          <a:prstGeom prst="rect">
            <a:avLst/>
          </a:prstGeom>
          <a:noFill/>
          <a:ln/>
        </p:spPr>
        <p:txBody>
          <a:bodyPr wrap="square" lIns="0" tIns="0" rIns="0" bIns="0" rtlCol="0" anchor="ctr"/>
          <a:lstStyle/>
          <a:p>
            <a:pPr algn="ctr" indent="0" marL="0">
              <a:buNone/>
            </a:pPr>
            <a:r>
              <a:rPr lang="en-US" sz="1500" b="1" dirty="0">
                <a:solidFill>
                  <a:srgbClr val="14312A"/>
                </a:solidFill>
                <a:latin typeface="Meiryo" pitchFamily="34" charset="0"/>
                <a:ea typeface="Meiryo" pitchFamily="34" charset="-122"/>
                <a:cs typeface="Meiryo" pitchFamily="34" charset="-120"/>
              </a:rPr>
              <a:t>同じ制度でも、令和11年度に見える景色はまったく違います。</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10</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Ⅰ－4</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今回の改訂の最大の特色</a:t>
            </a:r>
            <a:endParaRPr lang="en-US" sz="2800" dirty="0"/>
          </a:p>
        </p:txBody>
      </p:sp>
      <p:sp>
        <p:nvSpPr>
          <p:cNvPr id="5" name="Shape 3"/>
          <p:cNvSpPr/>
          <p:nvPr/>
        </p:nvSpPr>
        <p:spPr>
          <a:xfrm>
            <a:off x="640080" y="1463040"/>
            <a:ext cx="10911535" cy="1298448"/>
          </a:xfrm>
          <a:prstGeom prst="roundRect">
            <a:avLst>
              <a:gd name="adj" fmla="val 4225"/>
            </a:avLst>
          </a:prstGeom>
          <a:solidFill>
            <a:srgbClr val="14312A"/>
          </a:solidFill>
          <a:ln/>
        </p:spPr>
      </p:sp>
      <p:sp>
        <p:nvSpPr>
          <p:cNvPr id="6" name="Text 4"/>
          <p:cNvSpPr txBox="1"/>
          <p:nvPr/>
        </p:nvSpPr>
        <p:spPr>
          <a:xfrm>
            <a:off x="1143000" y="1773936"/>
            <a:ext cx="9905695"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全国一律の「横並び」と決別し、各学校の裁量を大幅に広げる</a:t>
            </a:r>
            <a:endParaRPr lang="en-US" sz="2400" dirty="0"/>
          </a:p>
        </p:txBody>
      </p:sp>
      <p:sp>
        <p:nvSpPr>
          <p:cNvPr id="7" name="Shape 5"/>
          <p:cNvSpPr/>
          <p:nvPr/>
        </p:nvSpPr>
        <p:spPr>
          <a:xfrm>
            <a:off x="640080" y="2971800"/>
            <a:ext cx="10911535" cy="1051560"/>
          </a:xfrm>
          <a:prstGeom prst="roundRect">
            <a:avLst>
              <a:gd name="adj" fmla="val 5217"/>
            </a:avLst>
          </a:prstGeom>
          <a:solidFill>
            <a:srgbClr val="F1F5F2"/>
          </a:solidFill>
          <a:ln/>
        </p:spPr>
      </p:sp>
      <p:sp>
        <p:nvSpPr>
          <p:cNvPr id="8" name="Text 6"/>
          <p:cNvSpPr txBox="1"/>
          <p:nvPr/>
        </p:nvSpPr>
        <p:spPr>
          <a:xfrm>
            <a:off x="1051560" y="3300984"/>
            <a:ext cx="1737360" cy="384048"/>
          </a:xfrm>
          <a:prstGeom prst="rect">
            <a:avLst/>
          </a:prstGeom>
          <a:noFill/>
          <a:ln/>
        </p:spPr>
        <p:txBody>
          <a:bodyPr wrap="square" lIns="0" tIns="0" rIns="0" bIns="0" rtlCol="0" anchor="ctr"/>
          <a:lstStyle/>
          <a:p>
            <a:pPr indent="0" marL="0">
              <a:buNone/>
            </a:pPr>
            <a:r>
              <a:rPr lang="en-US" sz="1600" b="1" dirty="0">
                <a:solidFill>
                  <a:srgbClr val="5B6660"/>
                </a:solidFill>
                <a:latin typeface="Meiryo" pitchFamily="34" charset="0"/>
                <a:ea typeface="Meiryo" pitchFamily="34" charset="-122"/>
                <a:cs typeface="Meiryo" pitchFamily="34" charset="-120"/>
              </a:rPr>
              <a:t>これまで</a:t>
            </a:r>
            <a:endParaRPr lang="en-US" sz="1600" dirty="0"/>
          </a:p>
        </p:txBody>
      </p:sp>
      <p:sp>
        <p:nvSpPr>
          <p:cNvPr id="9" name="Text 7"/>
          <p:cNvSpPr txBox="1"/>
          <p:nvPr/>
        </p:nvSpPr>
        <p:spPr>
          <a:xfrm>
            <a:off x="2971800" y="3273552"/>
            <a:ext cx="8168335" cy="457200"/>
          </a:xfrm>
          <a:prstGeom prst="rect">
            <a:avLst/>
          </a:prstGeom>
          <a:noFill/>
          <a:ln/>
        </p:spPr>
        <p:txBody>
          <a:bodyPr wrap="square" lIns="0" tIns="0" rIns="0" bIns="0" rtlCol="0" anchor="ctr"/>
          <a:lstStyle/>
          <a:p>
            <a:pPr indent="0" marL="0">
              <a:buNone/>
            </a:pPr>
            <a:r>
              <a:rPr lang="en-US" sz="1800" dirty="0">
                <a:solidFill>
                  <a:srgbClr val="1C2320"/>
                </a:solidFill>
                <a:latin typeface="Meiryo" pitchFamily="34" charset="0"/>
                <a:ea typeface="Meiryo" pitchFamily="34" charset="-122"/>
                <a:cs typeface="Meiryo" pitchFamily="34" charset="-120"/>
              </a:rPr>
              <a:t>標準授業時数を全校ほぼ同じように運用</a:t>
            </a:r>
            <a:endParaRPr lang="en-US" sz="1800" dirty="0"/>
          </a:p>
        </p:txBody>
      </p:sp>
      <p:sp>
        <p:nvSpPr>
          <p:cNvPr id="10" name="Shape 8"/>
          <p:cNvSpPr/>
          <p:nvPr/>
        </p:nvSpPr>
        <p:spPr>
          <a:xfrm>
            <a:off x="640080" y="4160520"/>
            <a:ext cx="10911535" cy="1051560"/>
          </a:xfrm>
          <a:prstGeom prst="roundRect">
            <a:avLst>
              <a:gd name="adj" fmla="val 5217"/>
            </a:avLst>
          </a:prstGeom>
          <a:solidFill>
            <a:srgbClr val="E4EDE6"/>
          </a:solidFill>
          <a:ln/>
        </p:spPr>
      </p:sp>
      <p:sp>
        <p:nvSpPr>
          <p:cNvPr id="11" name="Text 9"/>
          <p:cNvSpPr txBox="1"/>
          <p:nvPr/>
        </p:nvSpPr>
        <p:spPr>
          <a:xfrm>
            <a:off x="1051560" y="4489704"/>
            <a:ext cx="1737360" cy="384048"/>
          </a:xfrm>
          <a:prstGeom prst="rect">
            <a:avLst/>
          </a:prstGeom>
          <a:noFill/>
          <a:ln/>
        </p:spPr>
        <p:txBody>
          <a:bodyPr wrap="square" lIns="0" tIns="0" rIns="0" bIns="0" rtlCol="0" anchor="ctr"/>
          <a:lstStyle/>
          <a:p>
            <a:pPr indent="0" marL="0">
              <a:buNone/>
            </a:pPr>
            <a:r>
              <a:rPr lang="en-US" sz="1600" b="1" dirty="0">
                <a:solidFill>
                  <a:srgbClr val="1F5D4C"/>
                </a:solidFill>
                <a:latin typeface="Meiryo" pitchFamily="34" charset="0"/>
                <a:ea typeface="Meiryo" pitchFamily="34" charset="-122"/>
                <a:cs typeface="Meiryo" pitchFamily="34" charset="-120"/>
              </a:rPr>
              <a:t>これから</a:t>
            </a:r>
            <a:endParaRPr lang="en-US" sz="1600" dirty="0"/>
          </a:p>
        </p:txBody>
      </p:sp>
      <p:sp>
        <p:nvSpPr>
          <p:cNvPr id="12" name="Text 10"/>
          <p:cNvSpPr txBox="1"/>
          <p:nvPr/>
        </p:nvSpPr>
        <p:spPr>
          <a:xfrm>
            <a:off x="2971800" y="4462272"/>
            <a:ext cx="8168335" cy="457200"/>
          </a:xfrm>
          <a:prstGeom prst="rect">
            <a:avLst/>
          </a:prstGeom>
          <a:noFill/>
          <a:ln/>
        </p:spPr>
        <p:txBody>
          <a:bodyPr wrap="square" lIns="0" tIns="0" rIns="0" bIns="0" rtlCol="0" anchor="ctr"/>
          <a:lstStyle/>
          <a:p>
            <a:pPr indent="0" marL="0">
              <a:buNone/>
            </a:pPr>
            <a:r>
              <a:rPr lang="en-US" sz="1800" dirty="0">
                <a:solidFill>
                  <a:srgbClr val="1C2320"/>
                </a:solidFill>
                <a:latin typeface="Meiryo" pitchFamily="34" charset="0"/>
                <a:ea typeface="Meiryo" pitchFamily="34" charset="-122"/>
                <a:cs typeface="Meiryo" pitchFamily="34" charset="-120"/>
              </a:rPr>
              <a:t>総時数は保ちつつ、配分は学校が決める</a:t>
            </a:r>
            <a:endParaRPr lang="en-US" sz="1800" dirty="0"/>
          </a:p>
        </p:txBody>
      </p:sp>
      <p:sp>
        <p:nvSpPr>
          <p:cNvPr id="13" name="Shape 11"/>
          <p:cNvSpPr/>
          <p:nvPr/>
        </p:nvSpPr>
        <p:spPr>
          <a:xfrm>
            <a:off x="640080" y="5349240"/>
            <a:ext cx="10911535" cy="841248"/>
          </a:xfrm>
          <a:prstGeom prst="roundRect">
            <a:avLst>
              <a:gd name="adj" fmla="val 6522"/>
            </a:avLst>
          </a:prstGeom>
          <a:solidFill>
            <a:srgbClr val="F1F5F2"/>
          </a:solidFill>
          <a:ln/>
        </p:spPr>
      </p:sp>
      <p:sp>
        <p:nvSpPr>
          <p:cNvPr id="14" name="Text 12"/>
          <p:cNvSpPr txBox="1"/>
          <p:nvPr/>
        </p:nvSpPr>
        <p:spPr>
          <a:xfrm>
            <a:off x="1097280" y="5559552"/>
            <a:ext cx="9997135" cy="420624"/>
          </a:xfrm>
          <a:prstGeom prst="rect">
            <a:avLst/>
          </a:prstGeom>
          <a:noFill/>
          <a:ln/>
        </p:spPr>
        <p:txBody>
          <a:bodyPr wrap="square" lIns="0" tIns="0" rIns="0" bIns="0" rtlCol="0" anchor="ctr"/>
          <a:lstStyle/>
          <a:p>
            <a:pPr indent="0" marL="0">
              <a:buNone/>
            </a:pPr>
            <a:r>
              <a:rPr lang="en-US" sz="1700" b="1" dirty="0">
                <a:solidFill>
                  <a:srgbClr val="1F5D4C"/>
                </a:solidFill>
                <a:latin typeface="Meiryo" pitchFamily="34" charset="0"/>
                <a:ea typeface="Meiryo" pitchFamily="34" charset="-122"/>
                <a:cs typeface="Meiryo" pitchFamily="34" charset="-120"/>
              </a:rPr>
              <a:t>＝ 校長の判断が、これまでになく子供の学びに直結する改訂です。</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11</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Ⅰ－5</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ただし、裁量が増えれば自動的に良くなるわけではない</a:t>
            </a:r>
            <a:endParaRPr lang="en-US" sz="2800" dirty="0"/>
          </a:p>
        </p:txBody>
      </p:sp>
      <p:sp>
        <p:nvSpPr>
          <p:cNvPr id="5" name="Shape 3"/>
          <p:cNvSpPr/>
          <p:nvPr/>
        </p:nvSpPr>
        <p:spPr>
          <a:xfrm>
            <a:off x="640080" y="1481328"/>
            <a:ext cx="10911535" cy="1207008"/>
          </a:xfrm>
          <a:prstGeom prst="roundRect">
            <a:avLst>
              <a:gd name="adj" fmla="val 4545"/>
            </a:avLst>
          </a:prstGeom>
          <a:solidFill>
            <a:srgbClr val="E4EDE6"/>
          </a:solidFill>
          <a:ln/>
        </p:spPr>
      </p:sp>
      <p:sp>
        <p:nvSpPr>
          <p:cNvPr id="6" name="Text 4"/>
          <p:cNvSpPr txBox="1"/>
          <p:nvPr/>
        </p:nvSpPr>
        <p:spPr>
          <a:xfrm>
            <a:off x="1143000" y="1755648"/>
            <a:ext cx="9905695" cy="457200"/>
          </a:xfrm>
          <a:prstGeom prst="rect">
            <a:avLst/>
          </a:prstGeom>
          <a:noFill/>
          <a:ln/>
        </p:spPr>
        <p:txBody>
          <a:bodyPr wrap="square" lIns="0" tIns="0" rIns="0" bIns="0" rtlCol="0" anchor="ctr"/>
          <a:lstStyle/>
          <a:p>
            <a:pPr indent="0" marL="0">
              <a:buNone/>
            </a:pPr>
            <a:r>
              <a:rPr lang="en-US" sz="2100" b="1" dirty="0">
                <a:solidFill>
                  <a:srgbClr val="14312A"/>
                </a:solidFill>
                <a:latin typeface="Meiryo" pitchFamily="34" charset="0"/>
                <a:ea typeface="Meiryo" pitchFamily="34" charset="-122"/>
                <a:cs typeface="Meiryo" pitchFamily="34" charset="-120"/>
              </a:rPr>
              <a:t>「柔軟化は重荷にも？　問われるのは組織の成熟度」</a:t>
            </a:r>
            <a:endParaRPr lang="en-US" sz="2100" dirty="0"/>
          </a:p>
        </p:txBody>
      </p:sp>
      <p:sp>
        <p:nvSpPr>
          <p:cNvPr id="7" name="Text 5"/>
          <p:cNvSpPr txBox="1"/>
          <p:nvPr/>
        </p:nvSpPr>
        <p:spPr>
          <a:xfrm>
            <a:off x="1143000" y="2249424"/>
            <a:ext cx="9905695" cy="274320"/>
          </a:xfrm>
          <a:prstGeom prst="rect">
            <a:avLst/>
          </a:prstGeom>
          <a:noFill/>
          <a:ln/>
        </p:spPr>
        <p:txBody>
          <a:bodyPr wrap="square" lIns="0" tIns="0" rIns="0" bIns="0" rtlCol="0" anchor="ctr"/>
          <a:lstStyle/>
          <a:p>
            <a:pPr indent="0" marL="0">
              <a:buNone/>
            </a:pPr>
            <a:r>
              <a:rPr lang="en-US" sz="1150" dirty="0">
                <a:solidFill>
                  <a:srgbClr val="5B6660"/>
                </a:solidFill>
                <a:latin typeface="Meiryo" pitchFamily="34" charset="0"/>
                <a:ea typeface="Meiryo" pitchFamily="34" charset="-122"/>
                <a:cs typeface="Meiryo" pitchFamily="34" charset="-120"/>
              </a:rPr>
              <a:t>制度導入をめぐる報道の見出しより</a:t>
            </a:r>
            <a:endParaRPr lang="en-US" sz="1150" dirty="0"/>
          </a:p>
        </p:txBody>
      </p:sp>
      <p:sp>
        <p:nvSpPr>
          <p:cNvPr id="8" name="Shape 6"/>
          <p:cNvSpPr/>
          <p:nvPr/>
        </p:nvSpPr>
        <p:spPr>
          <a:xfrm>
            <a:off x="640080" y="2999232"/>
            <a:ext cx="10911535" cy="841248"/>
          </a:xfrm>
          <a:prstGeom prst="roundRect">
            <a:avLst>
              <a:gd name="adj" fmla="val 6522"/>
            </a:avLst>
          </a:prstGeom>
          <a:solidFill>
            <a:srgbClr val="F1F5F2"/>
          </a:solidFill>
          <a:ln/>
        </p:spPr>
      </p:sp>
      <p:sp>
        <p:nvSpPr>
          <p:cNvPr id="9" name="Shape 7"/>
          <p:cNvSpPr/>
          <p:nvPr/>
        </p:nvSpPr>
        <p:spPr>
          <a:xfrm>
            <a:off x="950976" y="3191256"/>
            <a:ext cx="457200" cy="457200"/>
          </a:xfrm>
          <a:prstGeom prst="ellipse">
            <a:avLst/>
          </a:prstGeom>
          <a:solidFill>
            <a:srgbClr val="B26B1B"/>
          </a:solidFill>
          <a:ln/>
        </p:spPr>
      </p:sp>
      <p:sp>
        <p:nvSpPr>
          <p:cNvPr id="10" name="Text 8"/>
          <p:cNvSpPr txBox="1"/>
          <p:nvPr/>
        </p:nvSpPr>
        <p:spPr>
          <a:xfrm>
            <a:off x="950976" y="3255264"/>
            <a:ext cx="4572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11" name="Text 9"/>
          <p:cNvSpPr txBox="1"/>
          <p:nvPr/>
        </p:nvSpPr>
        <p:spPr>
          <a:xfrm>
            <a:off x="1572768" y="3236976"/>
            <a:ext cx="2377440" cy="36576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決められない</a:t>
            </a:r>
            <a:endParaRPr lang="en-US" sz="1600" dirty="0"/>
          </a:p>
        </p:txBody>
      </p:sp>
      <p:sp>
        <p:nvSpPr>
          <p:cNvPr id="12" name="Text 10"/>
          <p:cNvSpPr txBox="1"/>
          <p:nvPr/>
        </p:nvSpPr>
        <p:spPr>
          <a:xfrm>
            <a:off x="4069080" y="3246120"/>
            <a:ext cx="7071055" cy="365760"/>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職員間で合意ができず、結局これまで通りになる</a:t>
            </a:r>
            <a:endParaRPr lang="en-US" sz="1350" dirty="0"/>
          </a:p>
        </p:txBody>
      </p:sp>
      <p:sp>
        <p:nvSpPr>
          <p:cNvPr id="13" name="Shape 11"/>
          <p:cNvSpPr/>
          <p:nvPr/>
        </p:nvSpPr>
        <p:spPr>
          <a:xfrm>
            <a:off x="640080" y="3959352"/>
            <a:ext cx="10911535" cy="841248"/>
          </a:xfrm>
          <a:prstGeom prst="roundRect">
            <a:avLst>
              <a:gd name="adj" fmla="val 6522"/>
            </a:avLst>
          </a:prstGeom>
          <a:solidFill>
            <a:srgbClr val="F1F5F2"/>
          </a:solidFill>
          <a:ln/>
        </p:spPr>
      </p:sp>
      <p:sp>
        <p:nvSpPr>
          <p:cNvPr id="14" name="Shape 12"/>
          <p:cNvSpPr/>
          <p:nvPr/>
        </p:nvSpPr>
        <p:spPr>
          <a:xfrm>
            <a:off x="950976" y="4151376"/>
            <a:ext cx="457200" cy="457200"/>
          </a:xfrm>
          <a:prstGeom prst="ellipse">
            <a:avLst/>
          </a:prstGeom>
          <a:solidFill>
            <a:srgbClr val="B26B1B"/>
          </a:solidFill>
          <a:ln/>
        </p:spPr>
      </p:sp>
      <p:sp>
        <p:nvSpPr>
          <p:cNvPr id="15" name="Text 13"/>
          <p:cNvSpPr txBox="1"/>
          <p:nvPr/>
        </p:nvSpPr>
        <p:spPr>
          <a:xfrm>
            <a:off x="950976" y="4215384"/>
            <a:ext cx="4572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16" name="Text 14"/>
          <p:cNvSpPr txBox="1"/>
          <p:nvPr/>
        </p:nvSpPr>
        <p:spPr>
          <a:xfrm>
            <a:off x="1572768" y="4197096"/>
            <a:ext cx="2377440" cy="36576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過重になる</a:t>
            </a:r>
            <a:endParaRPr lang="en-US" sz="1600" dirty="0"/>
          </a:p>
        </p:txBody>
      </p:sp>
      <p:sp>
        <p:nvSpPr>
          <p:cNvPr id="17" name="Text 15"/>
          <p:cNvSpPr txBox="1"/>
          <p:nvPr/>
        </p:nvSpPr>
        <p:spPr>
          <a:xfrm>
            <a:off x="4069080" y="4206240"/>
            <a:ext cx="7071055" cy="365760"/>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削った分だけ別の活動を足してしまい、かえって負担増</a:t>
            </a:r>
            <a:endParaRPr lang="en-US" sz="1350" dirty="0"/>
          </a:p>
        </p:txBody>
      </p:sp>
      <p:sp>
        <p:nvSpPr>
          <p:cNvPr id="18" name="Shape 16"/>
          <p:cNvSpPr/>
          <p:nvPr/>
        </p:nvSpPr>
        <p:spPr>
          <a:xfrm>
            <a:off x="640080" y="4919472"/>
            <a:ext cx="10911535" cy="841248"/>
          </a:xfrm>
          <a:prstGeom prst="roundRect">
            <a:avLst>
              <a:gd name="adj" fmla="val 6522"/>
            </a:avLst>
          </a:prstGeom>
          <a:solidFill>
            <a:srgbClr val="F1F5F2"/>
          </a:solidFill>
          <a:ln/>
        </p:spPr>
      </p:sp>
      <p:sp>
        <p:nvSpPr>
          <p:cNvPr id="19" name="Shape 17"/>
          <p:cNvSpPr/>
          <p:nvPr/>
        </p:nvSpPr>
        <p:spPr>
          <a:xfrm>
            <a:off x="950976" y="5111496"/>
            <a:ext cx="457200" cy="457200"/>
          </a:xfrm>
          <a:prstGeom prst="ellipse">
            <a:avLst/>
          </a:prstGeom>
          <a:solidFill>
            <a:srgbClr val="B26B1B"/>
          </a:solidFill>
          <a:ln/>
        </p:spPr>
      </p:sp>
      <p:sp>
        <p:nvSpPr>
          <p:cNvPr id="20" name="Text 18"/>
          <p:cNvSpPr txBox="1"/>
          <p:nvPr/>
        </p:nvSpPr>
        <p:spPr>
          <a:xfrm>
            <a:off x="950976" y="5175504"/>
            <a:ext cx="4572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21" name="Text 19"/>
          <p:cNvSpPr txBox="1"/>
          <p:nvPr/>
        </p:nvSpPr>
        <p:spPr>
          <a:xfrm>
            <a:off x="1572768" y="5157216"/>
            <a:ext cx="2377440" cy="36576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目的がずれる</a:t>
            </a:r>
            <a:endParaRPr lang="en-US" sz="1600" dirty="0"/>
          </a:p>
        </p:txBody>
      </p:sp>
      <p:sp>
        <p:nvSpPr>
          <p:cNvPr id="22" name="Text 20"/>
          <p:cNvSpPr txBox="1"/>
          <p:nvPr/>
        </p:nvSpPr>
        <p:spPr>
          <a:xfrm>
            <a:off x="4069080" y="5166360"/>
            <a:ext cx="7071055" cy="365760"/>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子供の学びではなく、消化のための時間割になる</a:t>
            </a:r>
            <a:endParaRPr lang="en-US" sz="1350" dirty="0"/>
          </a:p>
        </p:txBody>
      </p:sp>
      <p:sp>
        <p:nvSpPr>
          <p:cNvPr id="23" name="Text 21"/>
          <p:cNvSpPr txBox="1"/>
          <p:nvPr/>
        </p:nvSpPr>
        <p:spPr>
          <a:xfrm>
            <a:off x="640080" y="5925312"/>
            <a:ext cx="10911535" cy="365760"/>
          </a:xfrm>
          <a:prstGeom prst="rect">
            <a:avLst/>
          </a:prstGeom>
          <a:noFill/>
          <a:ln/>
        </p:spPr>
        <p:txBody>
          <a:bodyPr wrap="square" lIns="0" tIns="0" rIns="0" bIns="0" rtlCol="0" anchor="ctr"/>
          <a:lstStyle/>
          <a:p>
            <a:pPr indent="0" marL="0">
              <a:buNone/>
            </a:pPr>
            <a:r>
              <a:rPr lang="en-US" sz="1500" b="1" dirty="0">
                <a:solidFill>
                  <a:srgbClr val="1F5D4C"/>
                </a:solidFill>
                <a:latin typeface="Meiryo" pitchFamily="34" charset="0"/>
                <a:ea typeface="Meiryo" pitchFamily="34" charset="-122"/>
                <a:cs typeface="Meiryo" pitchFamily="34" charset="-120"/>
              </a:rPr>
              <a:t>自由度が上がるほど、学校としての「決め方」が問われます。</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312A"/>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6E8A7E"/>
                </a:solidFill>
                <a:latin typeface="Meiryo" pitchFamily="34" charset="0"/>
                <a:ea typeface="Meiryo" pitchFamily="34" charset="-122"/>
                <a:cs typeface="Meiryo" pitchFamily="34" charset="-120"/>
              </a:rPr>
              <a:t>12</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7FA86B"/>
                </a:solidFill>
                <a:latin typeface="Meiryo" pitchFamily="34" charset="0"/>
                <a:ea typeface="Meiryo" pitchFamily="34" charset="-122"/>
                <a:cs typeface="Meiryo" pitchFamily="34" charset="-120"/>
              </a:rPr>
              <a:t>Ⅰ　まとめ</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だから、校長が動きます</a:t>
            </a:r>
            <a:endParaRPr lang="en-US" sz="2800" dirty="0"/>
          </a:p>
        </p:txBody>
      </p:sp>
      <p:sp>
        <p:nvSpPr>
          <p:cNvPr id="5" name="Shape 3"/>
          <p:cNvSpPr/>
          <p:nvPr/>
        </p:nvSpPr>
        <p:spPr>
          <a:xfrm>
            <a:off x="640080" y="1691640"/>
            <a:ext cx="10911535" cy="1170432"/>
          </a:xfrm>
          <a:prstGeom prst="roundRect">
            <a:avLst>
              <a:gd name="adj" fmla="val 4688"/>
            </a:avLst>
          </a:prstGeom>
          <a:solidFill>
            <a:srgbClr val="1B3F35"/>
          </a:solidFill>
          <a:ln/>
        </p:spPr>
      </p:sp>
      <p:sp>
        <p:nvSpPr>
          <p:cNvPr id="6" name="Shape 4"/>
          <p:cNvSpPr/>
          <p:nvPr/>
        </p:nvSpPr>
        <p:spPr>
          <a:xfrm>
            <a:off x="969264" y="2002536"/>
            <a:ext cx="548640" cy="548640"/>
          </a:xfrm>
          <a:prstGeom prst="ellipse">
            <a:avLst/>
          </a:prstGeom>
          <a:solidFill>
            <a:srgbClr val="7FA86B"/>
          </a:solidFill>
          <a:ln/>
        </p:spPr>
      </p:sp>
      <p:sp>
        <p:nvSpPr>
          <p:cNvPr id="7" name="Text 5"/>
          <p:cNvSpPr txBox="1"/>
          <p:nvPr/>
        </p:nvSpPr>
        <p:spPr>
          <a:xfrm>
            <a:off x="969264" y="2112264"/>
            <a:ext cx="548640" cy="329184"/>
          </a:xfrm>
          <a:prstGeom prst="rect">
            <a:avLst/>
          </a:prstGeom>
          <a:noFill/>
          <a:ln/>
        </p:spPr>
        <p:txBody>
          <a:bodyPr wrap="square" lIns="0" tIns="0" rIns="0" bIns="0" rtlCol="0" anchor="ctr"/>
          <a:lstStyle/>
          <a:p>
            <a:pPr algn="ctr" indent="0" marL="0">
              <a:buNone/>
            </a:pPr>
            <a:r>
              <a:rPr lang="en-US" sz="2000" b="1" dirty="0">
                <a:solidFill>
                  <a:srgbClr val="14312A"/>
                </a:solidFill>
                <a:latin typeface="Meiryo" pitchFamily="34" charset="0"/>
                <a:ea typeface="Meiryo" pitchFamily="34" charset="-122"/>
                <a:cs typeface="Meiryo" pitchFamily="34" charset="-120"/>
              </a:rPr>
              <a:t>1</a:t>
            </a:r>
            <a:endParaRPr lang="en-US" sz="2000" dirty="0"/>
          </a:p>
        </p:txBody>
      </p:sp>
      <p:sp>
        <p:nvSpPr>
          <p:cNvPr id="8" name="Text 6"/>
          <p:cNvSpPr txBox="1"/>
          <p:nvPr/>
        </p:nvSpPr>
        <p:spPr>
          <a:xfrm>
            <a:off x="1691640" y="1929384"/>
            <a:ext cx="9448495" cy="384048"/>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時間の配分を決められるのは、学校です</a:t>
            </a:r>
            <a:endParaRPr lang="en-US" sz="1900" dirty="0"/>
          </a:p>
        </p:txBody>
      </p:sp>
      <p:sp>
        <p:nvSpPr>
          <p:cNvPr id="9" name="Text 7"/>
          <p:cNvSpPr txBox="1"/>
          <p:nvPr/>
        </p:nvSpPr>
        <p:spPr>
          <a:xfrm>
            <a:off x="1691640" y="2359152"/>
            <a:ext cx="9448495" cy="347472"/>
          </a:xfrm>
          <a:prstGeom prst="rect">
            <a:avLst/>
          </a:prstGeom>
          <a:noFill/>
          <a:ln/>
        </p:spPr>
        <p:txBody>
          <a:bodyPr wrap="square" lIns="0" tIns="0" rIns="0" bIns="0" rtlCol="0" anchor="ctr"/>
          <a:lstStyle/>
          <a:p>
            <a:pPr indent="0" marL="0">
              <a:buNone/>
            </a:pPr>
            <a:r>
              <a:rPr lang="en-US" sz="1300" dirty="0">
                <a:solidFill>
                  <a:srgbClr val="AFC5B6"/>
                </a:solidFill>
                <a:latin typeface="Meiryo" pitchFamily="34" charset="0"/>
                <a:ea typeface="Meiryo" pitchFamily="34" charset="-122"/>
                <a:cs typeface="Meiryo" pitchFamily="34" charset="-120"/>
              </a:rPr>
              <a:t>そして学校の教育課程に責任を持つのは校長です</a:t>
            </a:r>
            <a:endParaRPr lang="en-US" sz="1300" dirty="0"/>
          </a:p>
        </p:txBody>
      </p:sp>
      <p:sp>
        <p:nvSpPr>
          <p:cNvPr id="10" name="Shape 8"/>
          <p:cNvSpPr/>
          <p:nvPr/>
        </p:nvSpPr>
        <p:spPr>
          <a:xfrm>
            <a:off x="640080" y="2990088"/>
            <a:ext cx="10911535" cy="1170432"/>
          </a:xfrm>
          <a:prstGeom prst="roundRect">
            <a:avLst>
              <a:gd name="adj" fmla="val 4688"/>
            </a:avLst>
          </a:prstGeom>
          <a:solidFill>
            <a:srgbClr val="1B3F35"/>
          </a:solidFill>
          <a:ln/>
        </p:spPr>
      </p:sp>
      <p:sp>
        <p:nvSpPr>
          <p:cNvPr id="11" name="Shape 9"/>
          <p:cNvSpPr/>
          <p:nvPr/>
        </p:nvSpPr>
        <p:spPr>
          <a:xfrm>
            <a:off x="969264" y="3300984"/>
            <a:ext cx="548640" cy="548640"/>
          </a:xfrm>
          <a:prstGeom prst="ellipse">
            <a:avLst/>
          </a:prstGeom>
          <a:solidFill>
            <a:srgbClr val="7FA86B"/>
          </a:solidFill>
          <a:ln/>
        </p:spPr>
      </p:sp>
      <p:sp>
        <p:nvSpPr>
          <p:cNvPr id="12" name="Text 10"/>
          <p:cNvSpPr txBox="1"/>
          <p:nvPr/>
        </p:nvSpPr>
        <p:spPr>
          <a:xfrm>
            <a:off x="969264" y="3410712"/>
            <a:ext cx="548640" cy="329184"/>
          </a:xfrm>
          <a:prstGeom prst="rect">
            <a:avLst/>
          </a:prstGeom>
          <a:noFill/>
          <a:ln/>
        </p:spPr>
        <p:txBody>
          <a:bodyPr wrap="square" lIns="0" tIns="0" rIns="0" bIns="0" rtlCol="0" anchor="ctr"/>
          <a:lstStyle/>
          <a:p>
            <a:pPr algn="ctr" indent="0" marL="0">
              <a:buNone/>
            </a:pPr>
            <a:r>
              <a:rPr lang="en-US" sz="2000" b="1" dirty="0">
                <a:solidFill>
                  <a:srgbClr val="14312A"/>
                </a:solidFill>
                <a:latin typeface="Meiryo" pitchFamily="34" charset="0"/>
                <a:ea typeface="Meiryo" pitchFamily="34" charset="-122"/>
                <a:cs typeface="Meiryo" pitchFamily="34" charset="-120"/>
              </a:rPr>
              <a:t>2</a:t>
            </a:r>
            <a:endParaRPr lang="en-US" sz="2000" dirty="0"/>
          </a:p>
        </p:txBody>
      </p:sp>
      <p:sp>
        <p:nvSpPr>
          <p:cNvPr id="13" name="Text 11"/>
          <p:cNvSpPr txBox="1"/>
          <p:nvPr/>
        </p:nvSpPr>
        <p:spPr>
          <a:xfrm>
            <a:off x="1691640" y="3227832"/>
            <a:ext cx="9448495" cy="384048"/>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「決め方」を設計できるのも校長です</a:t>
            </a:r>
            <a:endParaRPr lang="en-US" sz="1900" dirty="0"/>
          </a:p>
        </p:txBody>
      </p:sp>
      <p:sp>
        <p:nvSpPr>
          <p:cNvPr id="14" name="Text 12"/>
          <p:cNvSpPr txBox="1"/>
          <p:nvPr/>
        </p:nvSpPr>
        <p:spPr>
          <a:xfrm>
            <a:off x="1691640" y="3657600"/>
            <a:ext cx="9448495" cy="347472"/>
          </a:xfrm>
          <a:prstGeom prst="rect">
            <a:avLst/>
          </a:prstGeom>
          <a:noFill/>
          <a:ln/>
        </p:spPr>
        <p:txBody>
          <a:bodyPr wrap="square" lIns="0" tIns="0" rIns="0" bIns="0" rtlCol="0" anchor="ctr"/>
          <a:lstStyle/>
          <a:p>
            <a:pPr indent="0" marL="0">
              <a:buNone/>
            </a:pPr>
            <a:r>
              <a:rPr lang="en-US" sz="1300" dirty="0">
                <a:solidFill>
                  <a:srgbClr val="AFC5B6"/>
                </a:solidFill>
                <a:latin typeface="Meiryo" pitchFamily="34" charset="0"/>
                <a:ea typeface="Meiryo" pitchFamily="34" charset="-122"/>
                <a:cs typeface="Meiryo" pitchFamily="34" charset="-120"/>
              </a:rPr>
              <a:t>誰と、いつ、何を根拠に決めるか。ここは権限の話です</a:t>
            </a:r>
            <a:endParaRPr lang="en-US" sz="1300" dirty="0"/>
          </a:p>
        </p:txBody>
      </p:sp>
      <p:sp>
        <p:nvSpPr>
          <p:cNvPr id="15" name="Shape 13"/>
          <p:cNvSpPr/>
          <p:nvPr/>
        </p:nvSpPr>
        <p:spPr>
          <a:xfrm>
            <a:off x="640080" y="4288536"/>
            <a:ext cx="10911535" cy="1170432"/>
          </a:xfrm>
          <a:prstGeom prst="roundRect">
            <a:avLst>
              <a:gd name="adj" fmla="val 4688"/>
            </a:avLst>
          </a:prstGeom>
          <a:solidFill>
            <a:srgbClr val="1B3F35"/>
          </a:solidFill>
          <a:ln/>
        </p:spPr>
      </p:sp>
      <p:sp>
        <p:nvSpPr>
          <p:cNvPr id="16" name="Shape 14"/>
          <p:cNvSpPr/>
          <p:nvPr/>
        </p:nvSpPr>
        <p:spPr>
          <a:xfrm>
            <a:off x="969264" y="4599432"/>
            <a:ext cx="548640" cy="548640"/>
          </a:xfrm>
          <a:prstGeom prst="ellipse">
            <a:avLst/>
          </a:prstGeom>
          <a:solidFill>
            <a:srgbClr val="7FA86B"/>
          </a:solidFill>
          <a:ln/>
        </p:spPr>
      </p:sp>
      <p:sp>
        <p:nvSpPr>
          <p:cNvPr id="17" name="Text 15"/>
          <p:cNvSpPr txBox="1"/>
          <p:nvPr/>
        </p:nvSpPr>
        <p:spPr>
          <a:xfrm>
            <a:off x="969264" y="4709160"/>
            <a:ext cx="548640" cy="329184"/>
          </a:xfrm>
          <a:prstGeom prst="rect">
            <a:avLst/>
          </a:prstGeom>
          <a:noFill/>
          <a:ln/>
        </p:spPr>
        <p:txBody>
          <a:bodyPr wrap="square" lIns="0" tIns="0" rIns="0" bIns="0" rtlCol="0" anchor="ctr"/>
          <a:lstStyle/>
          <a:p>
            <a:pPr algn="ctr" indent="0" marL="0">
              <a:buNone/>
            </a:pPr>
            <a:r>
              <a:rPr lang="en-US" sz="2000" b="1" dirty="0">
                <a:solidFill>
                  <a:srgbClr val="14312A"/>
                </a:solidFill>
                <a:latin typeface="Meiryo" pitchFamily="34" charset="0"/>
                <a:ea typeface="Meiryo" pitchFamily="34" charset="-122"/>
                <a:cs typeface="Meiryo" pitchFamily="34" charset="-120"/>
              </a:rPr>
              <a:t>3</a:t>
            </a:r>
            <a:endParaRPr lang="en-US" sz="2000" dirty="0"/>
          </a:p>
        </p:txBody>
      </p:sp>
      <p:sp>
        <p:nvSpPr>
          <p:cNvPr id="18" name="Text 16"/>
          <p:cNvSpPr txBox="1"/>
          <p:nvPr/>
        </p:nvSpPr>
        <p:spPr>
          <a:xfrm>
            <a:off x="1691640" y="4526280"/>
            <a:ext cx="9448495" cy="384048"/>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令和9年度の経営計画に書けば、動き出します</a:t>
            </a:r>
            <a:endParaRPr lang="en-US" sz="1900" dirty="0"/>
          </a:p>
        </p:txBody>
      </p:sp>
      <p:sp>
        <p:nvSpPr>
          <p:cNvPr id="19" name="Text 17"/>
          <p:cNvSpPr txBox="1"/>
          <p:nvPr/>
        </p:nvSpPr>
        <p:spPr>
          <a:xfrm>
            <a:off x="1691640" y="4956048"/>
            <a:ext cx="9448495" cy="347472"/>
          </a:xfrm>
          <a:prstGeom prst="rect">
            <a:avLst/>
          </a:prstGeom>
          <a:noFill/>
          <a:ln/>
        </p:spPr>
        <p:txBody>
          <a:bodyPr wrap="square" lIns="0" tIns="0" rIns="0" bIns="0" rtlCol="0" anchor="ctr"/>
          <a:lstStyle/>
          <a:p>
            <a:pPr indent="0" marL="0">
              <a:buNone/>
            </a:pPr>
            <a:r>
              <a:rPr lang="en-US" sz="1300" dirty="0">
                <a:solidFill>
                  <a:srgbClr val="AFC5B6"/>
                </a:solidFill>
                <a:latin typeface="Meiryo" pitchFamily="34" charset="0"/>
                <a:ea typeface="Meiryo" pitchFamily="34" charset="-122"/>
                <a:cs typeface="Meiryo" pitchFamily="34" charset="-120"/>
              </a:rPr>
              <a:t>書かなければ、日常業務が時間を埋めてしまいます</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312A"/>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6E8A7E"/>
                </a:solidFill>
                <a:latin typeface="Meiryo" pitchFamily="34" charset="0"/>
                <a:ea typeface="Meiryo" pitchFamily="34" charset="-122"/>
                <a:cs typeface="Meiryo" pitchFamily="34" charset="-120"/>
              </a:rPr>
              <a:t>13</a:t>
            </a:r>
            <a:endParaRPr lang="en-US" sz="900" dirty="0"/>
          </a:p>
        </p:txBody>
      </p:sp>
      <p:sp>
        <p:nvSpPr>
          <p:cNvPr id="3" name="Shape 1"/>
          <p:cNvSpPr/>
          <p:nvPr/>
        </p:nvSpPr>
        <p:spPr>
          <a:xfrm>
            <a:off x="640080" y="1481328"/>
            <a:ext cx="1115568" cy="1115568"/>
          </a:xfrm>
          <a:prstGeom prst="ellipse">
            <a:avLst/>
          </a:prstGeom>
          <a:solidFill>
            <a:srgbClr val="7FA86B"/>
          </a:solidFill>
          <a:ln/>
        </p:spPr>
      </p:sp>
      <p:sp>
        <p:nvSpPr>
          <p:cNvPr id="4" name="Text 2"/>
          <p:cNvSpPr txBox="1"/>
          <p:nvPr/>
        </p:nvSpPr>
        <p:spPr>
          <a:xfrm>
            <a:off x="640080" y="1874520"/>
            <a:ext cx="1115568" cy="329184"/>
          </a:xfrm>
          <a:prstGeom prst="rect">
            <a:avLst/>
          </a:prstGeom>
          <a:noFill/>
          <a:ln/>
        </p:spPr>
        <p:txBody>
          <a:bodyPr wrap="square" lIns="0" tIns="0" rIns="0" bIns="0" rtlCol="0" anchor="ctr"/>
          <a:lstStyle/>
          <a:p>
            <a:pPr algn="ctr" indent="0" marL="0">
              <a:buNone/>
            </a:pPr>
            <a:r>
              <a:rPr lang="en-US" sz="4000" b="1" dirty="0">
                <a:solidFill>
                  <a:srgbClr val="14312A"/>
                </a:solidFill>
                <a:latin typeface="Meiryo" pitchFamily="34" charset="0"/>
                <a:ea typeface="Meiryo" pitchFamily="34" charset="-122"/>
                <a:cs typeface="Meiryo" pitchFamily="34" charset="-120"/>
              </a:rPr>
              <a:t>Ⅱ</a:t>
            </a:r>
            <a:endParaRPr lang="en-US" sz="4000" dirty="0"/>
          </a:p>
        </p:txBody>
      </p:sp>
      <p:sp>
        <p:nvSpPr>
          <p:cNvPr id="5" name="Text 3"/>
          <p:cNvSpPr txBox="1"/>
          <p:nvPr/>
        </p:nvSpPr>
        <p:spPr>
          <a:xfrm>
            <a:off x="2148840" y="1554480"/>
            <a:ext cx="9402775" cy="713232"/>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素案は何を言っているか</a:t>
            </a:r>
            <a:endParaRPr lang="en-US" sz="3600" dirty="0"/>
          </a:p>
        </p:txBody>
      </p:sp>
      <p:sp>
        <p:nvSpPr>
          <p:cNvPr id="6" name="Text 4"/>
          <p:cNvSpPr txBox="1"/>
          <p:nvPr/>
        </p:nvSpPr>
        <p:spPr>
          <a:xfrm>
            <a:off x="2148840" y="2322576"/>
            <a:ext cx="9402775" cy="457200"/>
          </a:xfrm>
          <a:prstGeom prst="rect">
            <a:avLst/>
          </a:prstGeom>
          <a:noFill/>
          <a:ln/>
        </p:spPr>
        <p:txBody>
          <a:bodyPr wrap="square" lIns="0" tIns="0" rIns="0" bIns="0" rtlCol="0" anchor="ctr"/>
          <a:lstStyle/>
          <a:p>
            <a:pPr indent="0" marL="0">
              <a:buNone/>
            </a:pPr>
            <a:r>
              <a:rPr lang="en-US" sz="1500" dirty="0">
                <a:solidFill>
                  <a:srgbClr val="7FA86B"/>
                </a:solidFill>
                <a:latin typeface="Meiryo" pitchFamily="34" charset="0"/>
                <a:ea typeface="Meiryo" pitchFamily="34" charset="-122"/>
                <a:cs typeface="Meiryo" pitchFamily="34" charset="-120"/>
              </a:rPr>
              <a:t>理念と、制度の中身</a:t>
            </a:r>
            <a:endParaRPr lang="en-US" sz="1500" dirty="0"/>
          </a:p>
        </p:txBody>
      </p:sp>
      <p:sp>
        <p:nvSpPr>
          <p:cNvPr id="7" name="Shape 5"/>
          <p:cNvSpPr/>
          <p:nvPr/>
        </p:nvSpPr>
        <p:spPr>
          <a:xfrm>
            <a:off x="713232" y="3328416"/>
            <a:ext cx="274320" cy="274320"/>
          </a:xfrm>
          <a:prstGeom prst="ellipse">
            <a:avLst/>
          </a:prstGeom>
          <a:solidFill>
            <a:srgbClr val="5C8A4A"/>
          </a:solidFill>
          <a:ln/>
        </p:spPr>
      </p:sp>
      <p:sp>
        <p:nvSpPr>
          <p:cNvPr id="8" name="Text 6"/>
          <p:cNvSpPr txBox="1"/>
          <p:nvPr/>
        </p:nvSpPr>
        <p:spPr>
          <a:xfrm>
            <a:off x="713232" y="3300984"/>
            <a:ext cx="274320" cy="329184"/>
          </a:xfrm>
          <a:prstGeom prst="rect">
            <a:avLst/>
          </a:prstGeom>
          <a:noFill/>
          <a:ln/>
        </p:spPr>
        <p:txBody>
          <a:bodyPr wrap="square" lIns="0" tIns="0" rIns="0" bIns="0" rtlCol="0" anchor="ctr"/>
          <a:lstStyle/>
          <a:p>
            <a:pPr algn="ctr" indent="0" marL="0">
              <a:buNone/>
            </a:pPr>
            <a:endParaRPr lang="en-US" sz="1000" dirty="0"/>
          </a:p>
        </p:txBody>
      </p:sp>
      <p:sp>
        <p:nvSpPr>
          <p:cNvPr id="9" name="Text 7"/>
          <p:cNvSpPr txBox="1"/>
          <p:nvPr/>
        </p:nvSpPr>
        <p:spPr>
          <a:xfrm>
            <a:off x="1207008" y="3310128"/>
            <a:ext cx="10088575" cy="384048"/>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基本理念は「多様な子供たちの『深い学び』を確かなものに」</a:t>
            </a:r>
            <a:endParaRPr lang="en-US" sz="1450" dirty="0"/>
          </a:p>
        </p:txBody>
      </p:sp>
      <p:sp>
        <p:nvSpPr>
          <p:cNvPr id="10" name="Shape 8"/>
          <p:cNvSpPr/>
          <p:nvPr/>
        </p:nvSpPr>
        <p:spPr>
          <a:xfrm>
            <a:off x="713232" y="3840480"/>
            <a:ext cx="274320" cy="274320"/>
          </a:xfrm>
          <a:prstGeom prst="ellipse">
            <a:avLst/>
          </a:prstGeom>
          <a:solidFill>
            <a:srgbClr val="5C8A4A"/>
          </a:solidFill>
          <a:ln/>
        </p:spPr>
      </p:sp>
      <p:sp>
        <p:nvSpPr>
          <p:cNvPr id="11" name="Text 9"/>
          <p:cNvSpPr txBox="1"/>
          <p:nvPr/>
        </p:nvSpPr>
        <p:spPr>
          <a:xfrm>
            <a:off x="713232" y="3813048"/>
            <a:ext cx="274320" cy="329184"/>
          </a:xfrm>
          <a:prstGeom prst="rect">
            <a:avLst/>
          </a:prstGeom>
          <a:noFill/>
          <a:ln/>
        </p:spPr>
        <p:txBody>
          <a:bodyPr wrap="square" lIns="0" tIns="0" rIns="0" bIns="0" rtlCol="0" anchor="ctr"/>
          <a:lstStyle/>
          <a:p>
            <a:pPr algn="ctr" indent="0" marL="0">
              <a:buNone/>
            </a:pPr>
            <a:endParaRPr lang="en-US" sz="1000" dirty="0"/>
          </a:p>
        </p:txBody>
      </p:sp>
      <p:sp>
        <p:nvSpPr>
          <p:cNvPr id="12" name="Text 10"/>
          <p:cNvSpPr txBox="1"/>
          <p:nvPr/>
        </p:nvSpPr>
        <p:spPr>
          <a:xfrm>
            <a:off x="1207008" y="3822192"/>
            <a:ext cx="10088575" cy="384048"/>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制度の核は「調整授業時数制度」</a:t>
            </a:r>
            <a:endParaRPr lang="en-US" sz="1450" dirty="0"/>
          </a:p>
        </p:txBody>
      </p:sp>
      <p:sp>
        <p:nvSpPr>
          <p:cNvPr id="13" name="Shape 11"/>
          <p:cNvSpPr/>
          <p:nvPr/>
        </p:nvSpPr>
        <p:spPr>
          <a:xfrm>
            <a:off x="713232" y="4352544"/>
            <a:ext cx="274320" cy="274320"/>
          </a:xfrm>
          <a:prstGeom prst="ellipse">
            <a:avLst/>
          </a:prstGeom>
          <a:solidFill>
            <a:srgbClr val="5C8A4A"/>
          </a:solidFill>
          <a:ln/>
        </p:spPr>
      </p:sp>
      <p:sp>
        <p:nvSpPr>
          <p:cNvPr id="14" name="Text 12"/>
          <p:cNvSpPr txBox="1"/>
          <p:nvPr/>
        </p:nvSpPr>
        <p:spPr>
          <a:xfrm>
            <a:off x="713232" y="4325112"/>
            <a:ext cx="274320" cy="329184"/>
          </a:xfrm>
          <a:prstGeom prst="rect">
            <a:avLst/>
          </a:prstGeom>
          <a:noFill/>
          <a:ln/>
        </p:spPr>
        <p:txBody>
          <a:bodyPr wrap="square" lIns="0" tIns="0" rIns="0" bIns="0" rtlCol="0" anchor="ctr"/>
          <a:lstStyle/>
          <a:p>
            <a:pPr algn="ctr" indent="0" marL="0">
              <a:buNone/>
            </a:pPr>
            <a:endParaRPr lang="en-US" sz="1000" dirty="0"/>
          </a:p>
        </p:txBody>
      </p:sp>
      <p:sp>
        <p:nvSpPr>
          <p:cNvPr id="15" name="Text 13"/>
          <p:cNvSpPr txBox="1"/>
          <p:nvPr/>
        </p:nvSpPr>
        <p:spPr>
          <a:xfrm>
            <a:off x="1207008" y="4334256"/>
            <a:ext cx="10088575" cy="384048"/>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情報活用能力を、すべての学びの基盤に位置づける</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14</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Ⅱ－1</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基本理念</a:t>
            </a:r>
            <a:endParaRPr lang="en-US" sz="2800" dirty="0"/>
          </a:p>
        </p:txBody>
      </p:sp>
      <p:sp>
        <p:nvSpPr>
          <p:cNvPr id="5" name="Shape 3"/>
          <p:cNvSpPr/>
          <p:nvPr/>
        </p:nvSpPr>
        <p:spPr>
          <a:xfrm>
            <a:off x="640080" y="1554480"/>
            <a:ext cx="10911535" cy="1783080"/>
          </a:xfrm>
          <a:prstGeom prst="roundRect">
            <a:avLst>
              <a:gd name="adj" fmla="val 3077"/>
            </a:avLst>
          </a:prstGeom>
          <a:solidFill>
            <a:srgbClr val="14312A"/>
          </a:solidFill>
          <a:ln/>
        </p:spPr>
      </p:sp>
      <p:sp>
        <p:nvSpPr>
          <p:cNvPr id="6" name="Text 4"/>
          <p:cNvSpPr txBox="1"/>
          <p:nvPr/>
        </p:nvSpPr>
        <p:spPr>
          <a:xfrm>
            <a:off x="1188720" y="1828800"/>
            <a:ext cx="9814255" cy="1234440"/>
          </a:xfrm>
          <a:prstGeom prst="rect">
            <a:avLst/>
          </a:prstGeom>
          <a:noFill/>
          <a:ln/>
        </p:spPr>
        <p:txBody>
          <a:bodyPr wrap="square" lIns="0" tIns="0" rIns="0" bIns="0" rtlCol="0" anchor="ctr"/>
          <a:lstStyle/>
          <a:p>
            <a:pPr indent="0" marL="0">
              <a:lnSpc>
                <a:spcPts val="4600"/>
              </a:lnSpc>
              <a:buNone/>
            </a:pPr>
            <a:r>
              <a:rPr lang="en-US" sz="3200" b="1" dirty="0">
                <a:solidFill>
                  <a:srgbClr val="FFFFFF"/>
                </a:solidFill>
                <a:latin typeface="Meiryo" pitchFamily="34" charset="0"/>
                <a:ea typeface="Meiryo" pitchFamily="34" charset="-122"/>
                <a:cs typeface="Meiryo" pitchFamily="34" charset="-120"/>
              </a:rPr>
              <a:t>多様な子供たちの「深い学び」を</a:t>
            </a:r>
            <a:endParaRPr lang="en-US" sz="3200" dirty="0"/>
          </a:p>
          <a:p>
            <a:pPr indent="0" marL="0">
              <a:lnSpc>
                <a:spcPts val="4600"/>
              </a:lnSpc>
              <a:buNone/>
            </a:pPr>
            <a:r>
              <a:rPr lang="en-US" sz="3200" b="1" dirty="0">
                <a:solidFill>
                  <a:srgbClr val="FFFFFF"/>
                </a:solidFill>
                <a:latin typeface="Meiryo" pitchFamily="34" charset="0"/>
                <a:ea typeface="Meiryo" pitchFamily="34" charset="-122"/>
                <a:cs typeface="Meiryo" pitchFamily="34" charset="-120"/>
              </a:rPr>
              <a:t>確かなものに</a:t>
            </a:r>
            <a:endParaRPr lang="en-US" sz="3200" dirty="0"/>
          </a:p>
        </p:txBody>
      </p:sp>
      <p:sp>
        <p:nvSpPr>
          <p:cNvPr id="7" name="Shape 5"/>
          <p:cNvSpPr/>
          <p:nvPr/>
        </p:nvSpPr>
        <p:spPr>
          <a:xfrm>
            <a:off x="640080" y="3657600"/>
            <a:ext cx="10911535" cy="713232"/>
          </a:xfrm>
          <a:prstGeom prst="roundRect">
            <a:avLst>
              <a:gd name="adj" fmla="val 7692"/>
            </a:avLst>
          </a:prstGeom>
          <a:solidFill>
            <a:srgbClr val="F1F5F2"/>
          </a:solidFill>
          <a:ln/>
        </p:spPr>
      </p:sp>
      <p:sp>
        <p:nvSpPr>
          <p:cNvPr id="8" name="Text 6"/>
          <p:cNvSpPr txBox="1"/>
          <p:nvPr/>
        </p:nvSpPr>
        <p:spPr>
          <a:xfrm>
            <a:off x="1051560" y="3840480"/>
            <a:ext cx="2377440" cy="365760"/>
          </a:xfrm>
          <a:prstGeom prst="rect">
            <a:avLst/>
          </a:prstGeom>
          <a:noFill/>
          <a:ln/>
        </p:spPr>
        <p:txBody>
          <a:bodyPr wrap="square" lIns="0" tIns="0" rIns="0" bIns="0" rtlCol="0" anchor="ctr"/>
          <a:lstStyle/>
          <a:p>
            <a:pPr indent="0" marL="0">
              <a:buNone/>
            </a:pPr>
            <a:r>
              <a:rPr lang="en-US" sz="1600" b="1" dirty="0">
                <a:solidFill>
                  <a:srgbClr val="1F5D4C"/>
                </a:solidFill>
                <a:latin typeface="Meiryo" pitchFamily="34" charset="0"/>
                <a:ea typeface="Meiryo" pitchFamily="34" charset="-122"/>
                <a:cs typeface="Meiryo" pitchFamily="34" charset="-120"/>
              </a:rPr>
              <a:t>「多様な」</a:t>
            </a:r>
            <a:endParaRPr lang="en-US" sz="1600" dirty="0"/>
          </a:p>
        </p:txBody>
      </p:sp>
      <p:sp>
        <p:nvSpPr>
          <p:cNvPr id="9" name="Text 7"/>
          <p:cNvSpPr txBox="1"/>
          <p:nvPr/>
        </p:nvSpPr>
        <p:spPr>
          <a:xfrm>
            <a:off x="3703320" y="3849624"/>
            <a:ext cx="7436815" cy="365760"/>
          </a:xfrm>
          <a:prstGeom prst="rect">
            <a:avLst/>
          </a:prstGeom>
          <a:noFill/>
          <a:ln/>
        </p:spPr>
        <p:txBody>
          <a:bodyPr wrap="square" lIns="0" tIns="0" rIns="0" bIns="0" rtlCol="0" anchor="ctr"/>
          <a:lstStyle/>
          <a:p>
            <a:pPr indent="0" marL="0">
              <a:buNone/>
            </a:pPr>
            <a:r>
              <a:rPr lang="en-US" sz="1400" dirty="0">
                <a:solidFill>
                  <a:srgbClr val="1C2320"/>
                </a:solidFill>
                <a:latin typeface="Meiryo" pitchFamily="34" charset="0"/>
                <a:ea typeface="Meiryo" pitchFamily="34" charset="-122"/>
                <a:cs typeface="Meiryo" pitchFamily="34" charset="-120"/>
              </a:rPr>
              <a:t>一部の子ではなく、目の前の全員が対象</a:t>
            </a:r>
            <a:endParaRPr lang="en-US" sz="1400" dirty="0"/>
          </a:p>
        </p:txBody>
      </p:sp>
      <p:sp>
        <p:nvSpPr>
          <p:cNvPr id="10" name="Shape 8"/>
          <p:cNvSpPr/>
          <p:nvPr/>
        </p:nvSpPr>
        <p:spPr>
          <a:xfrm>
            <a:off x="640080" y="4480560"/>
            <a:ext cx="10911535" cy="713232"/>
          </a:xfrm>
          <a:prstGeom prst="roundRect">
            <a:avLst>
              <a:gd name="adj" fmla="val 7692"/>
            </a:avLst>
          </a:prstGeom>
          <a:solidFill>
            <a:srgbClr val="F1F5F2"/>
          </a:solidFill>
          <a:ln/>
        </p:spPr>
      </p:sp>
      <p:sp>
        <p:nvSpPr>
          <p:cNvPr id="11" name="Text 9"/>
          <p:cNvSpPr txBox="1"/>
          <p:nvPr/>
        </p:nvSpPr>
        <p:spPr>
          <a:xfrm>
            <a:off x="1051560" y="4663440"/>
            <a:ext cx="2377440" cy="365760"/>
          </a:xfrm>
          <a:prstGeom prst="rect">
            <a:avLst/>
          </a:prstGeom>
          <a:noFill/>
          <a:ln/>
        </p:spPr>
        <p:txBody>
          <a:bodyPr wrap="square" lIns="0" tIns="0" rIns="0" bIns="0" rtlCol="0" anchor="ctr"/>
          <a:lstStyle/>
          <a:p>
            <a:pPr indent="0" marL="0">
              <a:buNone/>
            </a:pPr>
            <a:r>
              <a:rPr lang="en-US" sz="1600" b="1" dirty="0">
                <a:solidFill>
                  <a:srgbClr val="1F5D4C"/>
                </a:solidFill>
                <a:latin typeface="Meiryo" pitchFamily="34" charset="0"/>
                <a:ea typeface="Meiryo" pitchFamily="34" charset="-122"/>
                <a:cs typeface="Meiryo" pitchFamily="34" charset="-120"/>
              </a:rPr>
              <a:t>「深い学び」</a:t>
            </a:r>
            <a:endParaRPr lang="en-US" sz="1600" dirty="0"/>
          </a:p>
        </p:txBody>
      </p:sp>
      <p:sp>
        <p:nvSpPr>
          <p:cNvPr id="12" name="Text 10"/>
          <p:cNvSpPr txBox="1"/>
          <p:nvPr/>
        </p:nvSpPr>
        <p:spPr>
          <a:xfrm>
            <a:off x="3703320" y="4672584"/>
            <a:ext cx="7436815" cy="365760"/>
          </a:xfrm>
          <a:prstGeom prst="rect">
            <a:avLst/>
          </a:prstGeom>
          <a:noFill/>
          <a:ln/>
        </p:spPr>
        <p:txBody>
          <a:bodyPr wrap="square" lIns="0" tIns="0" rIns="0" bIns="0" rtlCol="0" anchor="ctr"/>
          <a:lstStyle/>
          <a:p>
            <a:pPr indent="0" marL="0">
              <a:buNone/>
            </a:pPr>
            <a:r>
              <a:rPr lang="en-US" sz="1400" dirty="0">
                <a:solidFill>
                  <a:srgbClr val="1C2320"/>
                </a:solidFill>
                <a:latin typeface="Meiryo" pitchFamily="34" charset="0"/>
                <a:ea typeface="Meiryo" pitchFamily="34" charset="-122"/>
                <a:cs typeface="Meiryo" pitchFamily="34" charset="-120"/>
              </a:rPr>
              <a:t>活動をこなすことではなく、考えが深まること</a:t>
            </a:r>
            <a:endParaRPr lang="en-US" sz="1400" dirty="0"/>
          </a:p>
        </p:txBody>
      </p:sp>
      <p:sp>
        <p:nvSpPr>
          <p:cNvPr id="13" name="Shape 11"/>
          <p:cNvSpPr/>
          <p:nvPr/>
        </p:nvSpPr>
        <p:spPr>
          <a:xfrm>
            <a:off x="640080" y="5303520"/>
            <a:ext cx="10911535" cy="713232"/>
          </a:xfrm>
          <a:prstGeom prst="roundRect">
            <a:avLst>
              <a:gd name="adj" fmla="val 7692"/>
            </a:avLst>
          </a:prstGeom>
          <a:solidFill>
            <a:srgbClr val="F1F5F2"/>
          </a:solidFill>
          <a:ln/>
        </p:spPr>
      </p:sp>
      <p:sp>
        <p:nvSpPr>
          <p:cNvPr id="14" name="Text 12"/>
          <p:cNvSpPr txBox="1"/>
          <p:nvPr/>
        </p:nvSpPr>
        <p:spPr>
          <a:xfrm>
            <a:off x="1051560" y="5486400"/>
            <a:ext cx="2377440" cy="365760"/>
          </a:xfrm>
          <a:prstGeom prst="rect">
            <a:avLst/>
          </a:prstGeom>
          <a:noFill/>
          <a:ln/>
        </p:spPr>
        <p:txBody>
          <a:bodyPr wrap="square" lIns="0" tIns="0" rIns="0" bIns="0" rtlCol="0" anchor="ctr"/>
          <a:lstStyle/>
          <a:p>
            <a:pPr indent="0" marL="0">
              <a:buNone/>
            </a:pPr>
            <a:r>
              <a:rPr lang="en-US" sz="1600" b="1" dirty="0">
                <a:solidFill>
                  <a:srgbClr val="1F5D4C"/>
                </a:solidFill>
                <a:latin typeface="Meiryo" pitchFamily="34" charset="0"/>
                <a:ea typeface="Meiryo" pitchFamily="34" charset="-122"/>
                <a:cs typeface="Meiryo" pitchFamily="34" charset="-120"/>
              </a:rPr>
              <a:t>「確かなものに」</a:t>
            </a:r>
            <a:endParaRPr lang="en-US" sz="1600" dirty="0"/>
          </a:p>
        </p:txBody>
      </p:sp>
      <p:sp>
        <p:nvSpPr>
          <p:cNvPr id="15" name="Text 13"/>
          <p:cNvSpPr txBox="1"/>
          <p:nvPr/>
        </p:nvSpPr>
        <p:spPr>
          <a:xfrm>
            <a:off x="3703320" y="5495544"/>
            <a:ext cx="7436815" cy="365760"/>
          </a:xfrm>
          <a:prstGeom prst="rect">
            <a:avLst/>
          </a:prstGeom>
          <a:noFill/>
          <a:ln/>
        </p:spPr>
        <p:txBody>
          <a:bodyPr wrap="square" lIns="0" tIns="0" rIns="0" bIns="0" rtlCol="0" anchor="ctr"/>
          <a:lstStyle/>
          <a:p>
            <a:pPr indent="0" marL="0">
              <a:buNone/>
            </a:pPr>
            <a:r>
              <a:rPr lang="en-US" sz="1400" dirty="0">
                <a:solidFill>
                  <a:srgbClr val="1C2320"/>
                </a:solidFill>
                <a:latin typeface="Meiryo" pitchFamily="34" charset="0"/>
                <a:ea typeface="Meiryo" pitchFamily="34" charset="-122"/>
                <a:cs typeface="Meiryo" pitchFamily="34" charset="-120"/>
              </a:rPr>
              <a:t>掛け声ではなく、実装しきるという宣言</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15</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Ⅱ－2</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検討の基盤となる3つの考え方</a:t>
            </a:r>
            <a:endParaRPr lang="en-US" sz="2800" dirty="0"/>
          </a:p>
        </p:txBody>
      </p:sp>
      <p:sp>
        <p:nvSpPr>
          <p:cNvPr id="5" name="Shape 3"/>
          <p:cNvSpPr/>
          <p:nvPr/>
        </p:nvSpPr>
        <p:spPr>
          <a:xfrm>
            <a:off x="640080" y="1554480"/>
            <a:ext cx="3484778" cy="3337560"/>
          </a:xfrm>
          <a:prstGeom prst="roundRect">
            <a:avLst>
              <a:gd name="adj" fmla="val 1644"/>
            </a:avLst>
          </a:prstGeom>
          <a:solidFill>
            <a:srgbClr val="F1F5F2"/>
          </a:solidFill>
          <a:ln/>
        </p:spPr>
      </p:sp>
      <p:sp>
        <p:nvSpPr>
          <p:cNvPr id="6" name="Shape 4"/>
          <p:cNvSpPr/>
          <p:nvPr/>
        </p:nvSpPr>
        <p:spPr>
          <a:xfrm>
            <a:off x="2062429" y="1847088"/>
            <a:ext cx="640080" cy="640080"/>
          </a:xfrm>
          <a:prstGeom prst="ellipse">
            <a:avLst/>
          </a:prstGeom>
          <a:solidFill>
            <a:srgbClr val="1F5D4C"/>
          </a:solidFill>
          <a:ln/>
        </p:spPr>
      </p:sp>
      <p:sp>
        <p:nvSpPr>
          <p:cNvPr id="7" name="Text 5"/>
          <p:cNvSpPr txBox="1"/>
          <p:nvPr/>
        </p:nvSpPr>
        <p:spPr>
          <a:xfrm>
            <a:off x="2062429" y="2002536"/>
            <a:ext cx="640080" cy="329184"/>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8" name="Text 6"/>
          <p:cNvSpPr txBox="1"/>
          <p:nvPr/>
        </p:nvSpPr>
        <p:spPr>
          <a:xfrm>
            <a:off x="896112" y="2724912"/>
            <a:ext cx="2972714" cy="914400"/>
          </a:xfrm>
          <a:prstGeom prst="rect">
            <a:avLst/>
          </a:prstGeom>
          <a:noFill/>
          <a:ln/>
        </p:spPr>
        <p:txBody>
          <a:bodyPr wrap="square" lIns="0" tIns="0" rIns="0" bIns="0" rtlCol="0" anchor="ctr"/>
          <a:lstStyle/>
          <a:p>
            <a:pPr algn="ctr" indent="0" marL="0">
              <a:lnSpc>
                <a:spcPts val="2600"/>
              </a:lnSpc>
              <a:buNone/>
            </a:pPr>
            <a:r>
              <a:rPr lang="en-US" sz="1800" b="1" dirty="0">
                <a:solidFill>
                  <a:srgbClr val="14312A"/>
                </a:solidFill>
                <a:latin typeface="Meiryo" pitchFamily="34" charset="0"/>
                <a:ea typeface="Meiryo" pitchFamily="34" charset="-122"/>
                <a:cs typeface="Meiryo" pitchFamily="34" charset="-120"/>
              </a:rPr>
              <a:t>主体的・対話的で</a:t>
            </a:r>
            <a:endParaRPr lang="en-US" sz="1800" dirty="0"/>
          </a:p>
          <a:p>
            <a:pPr algn="ctr" indent="0" marL="0">
              <a:lnSpc>
                <a:spcPts val="2600"/>
              </a:lnSpc>
              <a:buNone/>
            </a:pPr>
            <a:r>
              <a:rPr lang="en-US" sz="1800" b="1" dirty="0">
                <a:solidFill>
                  <a:srgbClr val="14312A"/>
                </a:solidFill>
                <a:latin typeface="Meiryo" pitchFamily="34" charset="0"/>
                <a:ea typeface="Meiryo" pitchFamily="34" charset="-122"/>
                <a:cs typeface="Meiryo" pitchFamily="34" charset="-120"/>
              </a:rPr>
              <a:t>深い学びの実装</a:t>
            </a:r>
            <a:endParaRPr lang="en-US" sz="1800" dirty="0"/>
          </a:p>
        </p:txBody>
      </p:sp>
      <p:sp>
        <p:nvSpPr>
          <p:cNvPr id="9" name="Text 7"/>
          <p:cNvSpPr txBox="1"/>
          <p:nvPr/>
        </p:nvSpPr>
        <p:spPr>
          <a:xfrm>
            <a:off x="896112" y="3730752"/>
            <a:ext cx="2972714" cy="960120"/>
          </a:xfrm>
          <a:prstGeom prst="rect">
            <a:avLst/>
          </a:prstGeom>
          <a:noFill/>
          <a:ln/>
        </p:spPr>
        <p:txBody>
          <a:bodyPr wrap="square" lIns="0" tIns="0" rIns="0" bIns="0" rtlCol="0" anchor="ctr"/>
          <a:lstStyle/>
          <a:p>
            <a:pPr algn="ctr" indent="0" marL="0">
              <a:lnSpc>
                <a:spcPts val="2000"/>
              </a:lnSpc>
              <a:buNone/>
            </a:pPr>
            <a:r>
              <a:rPr lang="en-US" sz="1300" dirty="0">
                <a:solidFill>
                  <a:srgbClr val="1C2320"/>
                </a:solidFill>
                <a:latin typeface="Meiryo" pitchFamily="34" charset="0"/>
                <a:ea typeface="Meiryo" pitchFamily="34" charset="-122"/>
                <a:cs typeface="Meiryo" pitchFamily="34" charset="-120"/>
              </a:rPr>
              <a:t>理念は現行と地続き。今回は「どう実装するか」に軸足</a:t>
            </a:r>
            <a:endParaRPr lang="en-US" sz="1300" dirty="0"/>
          </a:p>
        </p:txBody>
      </p:sp>
      <p:sp>
        <p:nvSpPr>
          <p:cNvPr id="10" name="Shape 8"/>
          <p:cNvSpPr/>
          <p:nvPr/>
        </p:nvSpPr>
        <p:spPr>
          <a:xfrm>
            <a:off x="4353458" y="1554480"/>
            <a:ext cx="3484778" cy="3337560"/>
          </a:xfrm>
          <a:prstGeom prst="roundRect">
            <a:avLst>
              <a:gd name="adj" fmla="val 1644"/>
            </a:avLst>
          </a:prstGeom>
          <a:solidFill>
            <a:srgbClr val="F1F5F2"/>
          </a:solidFill>
          <a:ln/>
        </p:spPr>
      </p:sp>
      <p:sp>
        <p:nvSpPr>
          <p:cNvPr id="11" name="Shape 9"/>
          <p:cNvSpPr/>
          <p:nvPr/>
        </p:nvSpPr>
        <p:spPr>
          <a:xfrm>
            <a:off x="5775808" y="1847088"/>
            <a:ext cx="640080" cy="640080"/>
          </a:xfrm>
          <a:prstGeom prst="ellipse">
            <a:avLst/>
          </a:prstGeom>
          <a:solidFill>
            <a:srgbClr val="5C8A4A"/>
          </a:solidFill>
          <a:ln/>
        </p:spPr>
      </p:sp>
      <p:sp>
        <p:nvSpPr>
          <p:cNvPr id="12" name="Text 10"/>
          <p:cNvSpPr txBox="1"/>
          <p:nvPr/>
        </p:nvSpPr>
        <p:spPr>
          <a:xfrm>
            <a:off x="5775808" y="2002536"/>
            <a:ext cx="640080" cy="329184"/>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13" name="Text 11"/>
          <p:cNvSpPr txBox="1"/>
          <p:nvPr/>
        </p:nvSpPr>
        <p:spPr>
          <a:xfrm>
            <a:off x="4609490" y="2724912"/>
            <a:ext cx="2972714" cy="914400"/>
          </a:xfrm>
          <a:prstGeom prst="rect">
            <a:avLst/>
          </a:prstGeom>
          <a:noFill/>
          <a:ln/>
        </p:spPr>
        <p:txBody>
          <a:bodyPr wrap="square" lIns="0" tIns="0" rIns="0" bIns="0" rtlCol="0" anchor="ctr"/>
          <a:lstStyle/>
          <a:p>
            <a:pPr algn="ctr" indent="0" marL="0">
              <a:lnSpc>
                <a:spcPts val="2600"/>
              </a:lnSpc>
              <a:buNone/>
            </a:pPr>
            <a:r>
              <a:rPr lang="en-US" sz="1800" b="1" dirty="0">
                <a:solidFill>
                  <a:srgbClr val="14312A"/>
                </a:solidFill>
                <a:latin typeface="Meiryo" pitchFamily="34" charset="0"/>
                <a:ea typeface="Meiryo" pitchFamily="34" charset="-122"/>
                <a:cs typeface="Meiryo" pitchFamily="34" charset="-120"/>
              </a:rPr>
              <a:t>多様性の包摂</a:t>
            </a:r>
            <a:endParaRPr lang="en-US" sz="1800" dirty="0"/>
          </a:p>
        </p:txBody>
      </p:sp>
      <p:sp>
        <p:nvSpPr>
          <p:cNvPr id="14" name="Text 12"/>
          <p:cNvSpPr txBox="1"/>
          <p:nvPr/>
        </p:nvSpPr>
        <p:spPr>
          <a:xfrm>
            <a:off x="4609490" y="3730752"/>
            <a:ext cx="2972714" cy="960120"/>
          </a:xfrm>
          <a:prstGeom prst="rect">
            <a:avLst/>
          </a:prstGeom>
          <a:noFill/>
          <a:ln/>
        </p:spPr>
        <p:txBody>
          <a:bodyPr wrap="square" lIns="0" tIns="0" rIns="0" bIns="0" rtlCol="0" anchor="ctr"/>
          <a:lstStyle/>
          <a:p>
            <a:pPr algn="ctr" indent="0" marL="0">
              <a:lnSpc>
                <a:spcPts val="2000"/>
              </a:lnSpc>
              <a:buNone/>
            </a:pPr>
            <a:r>
              <a:rPr lang="en-US" sz="1300" dirty="0">
                <a:solidFill>
                  <a:srgbClr val="1C2320"/>
                </a:solidFill>
                <a:latin typeface="Meiryo" pitchFamily="34" charset="0"/>
                <a:ea typeface="Meiryo" pitchFamily="34" charset="-122"/>
                <a:cs typeface="Meiryo" pitchFamily="34" charset="-120"/>
              </a:rPr>
              <a:t>特別な支援、日本語指導、不登校。例外ではなく前提として設計</a:t>
            </a:r>
            <a:endParaRPr lang="en-US" sz="1300" dirty="0"/>
          </a:p>
        </p:txBody>
      </p:sp>
      <p:sp>
        <p:nvSpPr>
          <p:cNvPr id="15" name="Shape 13"/>
          <p:cNvSpPr/>
          <p:nvPr/>
        </p:nvSpPr>
        <p:spPr>
          <a:xfrm>
            <a:off x="8066837" y="1554480"/>
            <a:ext cx="3484778" cy="3337560"/>
          </a:xfrm>
          <a:prstGeom prst="roundRect">
            <a:avLst>
              <a:gd name="adj" fmla="val 1644"/>
            </a:avLst>
          </a:prstGeom>
          <a:solidFill>
            <a:srgbClr val="F1F5F2"/>
          </a:solidFill>
          <a:ln/>
        </p:spPr>
      </p:sp>
      <p:sp>
        <p:nvSpPr>
          <p:cNvPr id="16" name="Shape 14"/>
          <p:cNvSpPr/>
          <p:nvPr/>
        </p:nvSpPr>
        <p:spPr>
          <a:xfrm>
            <a:off x="9489186" y="1847088"/>
            <a:ext cx="640080" cy="640080"/>
          </a:xfrm>
          <a:prstGeom prst="ellipse">
            <a:avLst/>
          </a:prstGeom>
          <a:solidFill>
            <a:srgbClr val="B26B1B"/>
          </a:solidFill>
          <a:ln/>
        </p:spPr>
      </p:sp>
      <p:sp>
        <p:nvSpPr>
          <p:cNvPr id="17" name="Text 15"/>
          <p:cNvSpPr txBox="1"/>
          <p:nvPr/>
        </p:nvSpPr>
        <p:spPr>
          <a:xfrm>
            <a:off x="9489186" y="2002536"/>
            <a:ext cx="640080" cy="329184"/>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18" name="Text 16"/>
          <p:cNvSpPr txBox="1"/>
          <p:nvPr/>
        </p:nvSpPr>
        <p:spPr>
          <a:xfrm>
            <a:off x="8322869" y="2724912"/>
            <a:ext cx="2972714" cy="914400"/>
          </a:xfrm>
          <a:prstGeom prst="rect">
            <a:avLst/>
          </a:prstGeom>
          <a:noFill/>
          <a:ln/>
        </p:spPr>
        <p:txBody>
          <a:bodyPr wrap="square" lIns="0" tIns="0" rIns="0" bIns="0" rtlCol="0" anchor="ctr"/>
          <a:lstStyle/>
          <a:p>
            <a:pPr algn="ctr" indent="0" marL="0">
              <a:lnSpc>
                <a:spcPts val="2600"/>
              </a:lnSpc>
              <a:buNone/>
            </a:pPr>
            <a:r>
              <a:rPr lang="en-US" sz="1800" b="1" dirty="0">
                <a:solidFill>
                  <a:srgbClr val="14312A"/>
                </a:solidFill>
                <a:latin typeface="Meiryo" pitchFamily="34" charset="0"/>
                <a:ea typeface="Meiryo" pitchFamily="34" charset="-122"/>
                <a:cs typeface="Meiryo" pitchFamily="34" charset="-120"/>
              </a:rPr>
              <a:t>実現可能性の確保</a:t>
            </a:r>
            <a:endParaRPr lang="en-US" sz="1800" dirty="0"/>
          </a:p>
        </p:txBody>
      </p:sp>
      <p:sp>
        <p:nvSpPr>
          <p:cNvPr id="19" name="Text 17"/>
          <p:cNvSpPr txBox="1"/>
          <p:nvPr/>
        </p:nvSpPr>
        <p:spPr>
          <a:xfrm>
            <a:off x="8322869" y="3730752"/>
            <a:ext cx="2972714" cy="960120"/>
          </a:xfrm>
          <a:prstGeom prst="rect">
            <a:avLst/>
          </a:prstGeom>
          <a:noFill/>
          <a:ln/>
        </p:spPr>
        <p:txBody>
          <a:bodyPr wrap="square" lIns="0" tIns="0" rIns="0" bIns="0" rtlCol="0" anchor="ctr"/>
          <a:lstStyle/>
          <a:p>
            <a:pPr algn="ctr" indent="0" marL="0">
              <a:lnSpc>
                <a:spcPts val="2000"/>
              </a:lnSpc>
              <a:buNone/>
            </a:pPr>
            <a:r>
              <a:rPr lang="en-US" sz="1300" dirty="0">
                <a:solidFill>
                  <a:srgbClr val="1C2320"/>
                </a:solidFill>
                <a:latin typeface="Meiryo" pitchFamily="34" charset="0"/>
                <a:ea typeface="Meiryo" pitchFamily="34" charset="-122"/>
                <a:cs typeface="Meiryo" pitchFamily="34" charset="-120"/>
              </a:rPr>
              <a:t>現場が回らない改訂にしない。働き方改革と一体で考える</a:t>
            </a:r>
            <a:endParaRPr lang="en-US" sz="1300" dirty="0"/>
          </a:p>
        </p:txBody>
      </p:sp>
      <p:sp>
        <p:nvSpPr>
          <p:cNvPr id="20" name="Shape 18"/>
          <p:cNvSpPr/>
          <p:nvPr/>
        </p:nvSpPr>
        <p:spPr>
          <a:xfrm>
            <a:off x="640080" y="5138928"/>
            <a:ext cx="10911535" cy="960120"/>
          </a:xfrm>
          <a:prstGeom prst="roundRect">
            <a:avLst>
              <a:gd name="adj" fmla="val 5714"/>
            </a:avLst>
          </a:prstGeom>
          <a:solidFill>
            <a:srgbClr val="E4EDE6"/>
          </a:solidFill>
          <a:ln/>
        </p:spPr>
      </p:sp>
      <p:sp>
        <p:nvSpPr>
          <p:cNvPr id="21" name="Text 19"/>
          <p:cNvSpPr txBox="1"/>
          <p:nvPr/>
        </p:nvSpPr>
        <p:spPr>
          <a:xfrm>
            <a:off x="1097280" y="5376672"/>
            <a:ext cx="9997135" cy="45720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3つめの「実現可能性の確保」が、今回はっきり前面に出てきたところです。</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16</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Ⅱ－3</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目指す姿は「両輪」で語られています</a:t>
            </a:r>
            <a:endParaRPr lang="en-US" sz="2800" dirty="0"/>
          </a:p>
        </p:txBody>
      </p:sp>
      <p:sp>
        <p:nvSpPr>
          <p:cNvPr id="5" name="Shape 3"/>
          <p:cNvSpPr/>
          <p:nvPr/>
        </p:nvSpPr>
        <p:spPr>
          <a:xfrm>
            <a:off x="640080" y="1572768"/>
            <a:ext cx="5272888" cy="2697480"/>
          </a:xfrm>
          <a:prstGeom prst="roundRect">
            <a:avLst>
              <a:gd name="adj" fmla="val 2034"/>
            </a:avLst>
          </a:prstGeom>
          <a:solidFill>
            <a:srgbClr val="F1F5F2"/>
          </a:solidFill>
          <a:ln/>
        </p:spPr>
      </p:sp>
      <p:sp>
        <p:nvSpPr>
          <p:cNvPr id="6" name="Shape 4"/>
          <p:cNvSpPr/>
          <p:nvPr/>
        </p:nvSpPr>
        <p:spPr>
          <a:xfrm>
            <a:off x="1024128" y="1847088"/>
            <a:ext cx="566928" cy="566928"/>
          </a:xfrm>
          <a:prstGeom prst="ellipse">
            <a:avLst/>
          </a:prstGeom>
          <a:solidFill>
            <a:srgbClr val="1F5D4C"/>
          </a:solidFill>
          <a:ln/>
        </p:spPr>
      </p:sp>
      <p:sp>
        <p:nvSpPr>
          <p:cNvPr id="7" name="Text 5"/>
          <p:cNvSpPr txBox="1"/>
          <p:nvPr/>
        </p:nvSpPr>
        <p:spPr>
          <a:xfrm>
            <a:off x="1024128" y="1965960"/>
            <a:ext cx="566928"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a:t>
            </a:r>
            <a:endParaRPr lang="en-US" sz="2000" dirty="0"/>
          </a:p>
        </p:txBody>
      </p:sp>
      <p:sp>
        <p:nvSpPr>
          <p:cNvPr id="8" name="Text 6"/>
          <p:cNvSpPr txBox="1"/>
          <p:nvPr/>
        </p:nvSpPr>
        <p:spPr>
          <a:xfrm>
            <a:off x="1024128" y="2578608"/>
            <a:ext cx="4504792" cy="868680"/>
          </a:xfrm>
          <a:prstGeom prst="rect">
            <a:avLst/>
          </a:prstGeom>
          <a:noFill/>
          <a:ln/>
        </p:spPr>
        <p:txBody>
          <a:bodyPr wrap="square" lIns="0" tIns="0" rIns="0" bIns="0" rtlCol="0" anchor="ctr"/>
          <a:lstStyle/>
          <a:p>
            <a:pPr indent="0" marL="0">
              <a:lnSpc>
                <a:spcPts val="2700"/>
              </a:lnSpc>
              <a:buNone/>
            </a:pPr>
            <a:r>
              <a:rPr lang="en-US" sz="1900" b="1" dirty="0">
                <a:solidFill>
                  <a:srgbClr val="14312A"/>
                </a:solidFill>
                <a:latin typeface="Meiryo" pitchFamily="34" charset="0"/>
                <a:ea typeface="Meiryo" pitchFamily="34" charset="-122"/>
                <a:cs typeface="Meiryo" pitchFamily="34" charset="-120"/>
              </a:rPr>
              <a:t>「好き」を育み、</a:t>
            </a:r>
            <a:endParaRPr lang="en-US" sz="1900" dirty="0"/>
          </a:p>
          <a:p>
            <a:pPr indent="0" marL="0">
              <a:lnSpc>
                <a:spcPts val="2700"/>
              </a:lnSpc>
              <a:buNone/>
            </a:pPr>
            <a:r>
              <a:rPr lang="en-US" sz="1900" b="1" dirty="0">
                <a:solidFill>
                  <a:srgbClr val="14312A"/>
                </a:solidFill>
                <a:latin typeface="Meiryo" pitchFamily="34" charset="0"/>
                <a:ea typeface="Meiryo" pitchFamily="34" charset="-122"/>
                <a:cs typeface="Meiryo" pitchFamily="34" charset="-120"/>
              </a:rPr>
              <a:t>「得意」を伸ばす</a:t>
            </a:r>
            <a:endParaRPr lang="en-US" sz="1900" dirty="0"/>
          </a:p>
        </p:txBody>
      </p:sp>
      <p:sp>
        <p:nvSpPr>
          <p:cNvPr id="9" name="Text 7"/>
          <p:cNvSpPr txBox="1"/>
          <p:nvPr/>
        </p:nvSpPr>
        <p:spPr>
          <a:xfrm>
            <a:off x="1024128" y="3474720"/>
            <a:ext cx="4504792" cy="658368"/>
          </a:xfrm>
          <a:prstGeom prst="rect">
            <a:avLst/>
          </a:prstGeom>
          <a:noFill/>
          <a:ln/>
        </p:spPr>
        <p:txBody>
          <a:bodyPr wrap="square" lIns="0" tIns="0" rIns="0" bIns="0" rtlCol="0" anchor="ctr"/>
          <a:lstStyle/>
          <a:p>
            <a:pPr indent="0" marL="0">
              <a:lnSpc>
                <a:spcPts val="2000"/>
              </a:lnSpc>
              <a:buNone/>
            </a:pPr>
            <a:r>
              <a:rPr lang="en-US" sz="1300" dirty="0">
                <a:solidFill>
                  <a:srgbClr val="1C2320"/>
                </a:solidFill>
                <a:latin typeface="Meiryo" pitchFamily="34" charset="0"/>
                <a:ea typeface="Meiryo" pitchFamily="34" charset="-122"/>
                <a:cs typeface="Meiryo" pitchFamily="34" charset="-120"/>
              </a:rPr>
              <a:t>興味・関心を起点にする。</a:t>
            </a:r>
            <a:endParaRPr lang="en-US" sz="1300" dirty="0"/>
          </a:p>
          <a:p>
            <a:pPr indent="0" marL="0">
              <a:lnSpc>
                <a:spcPts val="2000"/>
              </a:lnSpc>
              <a:buNone/>
            </a:pPr>
            <a:r>
              <a:rPr lang="en-US" sz="1300" dirty="0">
                <a:solidFill>
                  <a:srgbClr val="1C2320"/>
                </a:solidFill>
                <a:latin typeface="Meiryo" pitchFamily="34" charset="0"/>
                <a:ea typeface="Meiryo" pitchFamily="34" charset="-122"/>
                <a:cs typeface="Meiryo" pitchFamily="34" charset="-120"/>
              </a:rPr>
              <a:t>全員を同じ地点に揃えることを目的にしない。</a:t>
            </a:r>
            <a:endParaRPr lang="en-US" sz="1300" dirty="0"/>
          </a:p>
        </p:txBody>
      </p:sp>
      <p:sp>
        <p:nvSpPr>
          <p:cNvPr id="10" name="Shape 8"/>
          <p:cNvSpPr/>
          <p:nvPr/>
        </p:nvSpPr>
        <p:spPr>
          <a:xfrm>
            <a:off x="6278728" y="1572768"/>
            <a:ext cx="5272888" cy="2697480"/>
          </a:xfrm>
          <a:prstGeom prst="roundRect">
            <a:avLst>
              <a:gd name="adj" fmla="val 2034"/>
            </a:avLst>
          </a:prstGeom>
          <a:solidFill>
            <a:srgbClr val="F1F5F2"/>
          </a:solidFill>
          <a:ln/>
        </p:spPr>
      </p:sp>
      <p:sp>
        <p:nvSpPr>
          <p:cNvPr id="11" name="Shape 9"/>
          <p:cNvSpPr/>
          <p:nvPr/>
        </p:nvSpPr>
        <p:spPr>
          <a:xfrm>
            <a:off x="6662776" y="1847088"/>
            <a:ext cx="566928" cy="566928"/>
          </a:xfrm>
          <a:prstGeom prst="ellipse">
            <a:avLst/>
          </a:prstGeom>
          <a:solidFill>
            <a:srgbClr val="5C8A4A"/>
          </a:solidFill>
          <a:ln/>
        </p:spPr>
      </p:sp>
      <p:sp>
        <p:nvSpPr>
          <p:cNvPr id="12" name="Text 10"/>
          <p:cNvSpPr txBox="1"/>
          <p:nvPr/>
        </p:nvSpPr>
        <p:spPr>
          <a:xfrm>
            <a:off x="6662776" y="1965960"/>
            <a:ext cx="566928"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a:t>
            </a:r>
            <a:endParaRPr lang="en-US" sz="2000" dirty="0"/>
          </a:p>
        </p:txBody>
      </p:sp>
      <p:sp>
        <p:nvSpPr>
          <p:cNvPr id="13" name="Text 11"/>
          <p:cNvSpPr txBox="1"/>
          <p:nvPr/>
        </p:nvSpPr>
        <p:spPr>
          <a:xfrm>
            <a:off x="6662776" y="2578608"/>
            <a:ext cx="4504792" cy="868680"/>
          </a:xfrm>
          <a:prstGeom prst="rect">
            <a:avLst/>
          </a:prstGeom>
          <a:noFill/>
          <a:ln/>
        </p:spPr>
        <p:txBody>
          <a:bodyPr wrap="square" lIns="0" tIns="0" rIns="0" bIns="0" rtlCol="0" anchor="ctr"/>
          <a:lstStyle/>
          <a:p>
            <a:pPr indent="0" marL="0">
              <a:lnSpc>
                <a:spcPts val="2700"/>
              </a:lnSpc>
              <a:buNone/>
            </a:pPr>
            <a:r>
              <a:rPr lang="en-US" sz="1900" b="1" dirty="0">
                <a:solidFill>
                  <a:srgbClr val="14312A"/>
                </a:solidFill>
                <a:latin typeface="Meiryo" pitchFamily="34" charset="0"/>
                <a:ea typeface="Meiryo" pitchFamily="34" charset="-122"/>
                <a:cs typeface="Meiryo" pitchFamily="34" charset="-120"/>
              </a:rPr>
              <a:t>当事者意識をもって</a:t>
            </a:r>
            <a:endParaRPr lang="en-US" sz="1900" dirty="0"/>
          </a:p>
          <a:p>
            <a:pPr indent="0" marL="0">
              <a:lnSpc>
                <a:spcPts val="2700"/>
              </a:lnSpc>
              <a:buNone/>
            </a:pPr>
            <a:r>
              <a:rPr lang="en-US" sz="1900" b="1" dirty="0">
                <a:solidFill>
                  <a:srgbClr val="14312A"/>
                </a:solidFill>
                <a:latin typeface="Meiryo" pitchFamily="34" charset="0"/>
                <a:ea typeface="Meiryo" pitchFamily="34" charset="-122"/>
                <a:cs typeface="Meiryo" pitchFamily="34" charset="-120"/>
              </a:rPr>
              <a:t>意見を形成し、対話と合意ができる</a:t>
            </a:r>
            <a:endParaRPr lang="en-US" sz="1900" dirty="0"/>
          </a:p>
        </p:txBody>
      </p:sp>
      <p:sp>
        <p:nvSpPr>
          <p:cNvPr id="14" name="Text 12"/>
          <p:cNvSpPr txBox="1"/>
          <p:nvPr/>
        </p:nvSpPr>
        <p:spPr>
          <a:xfrm>
            <a:off x="6662776" y="3474720"/>
            <a:ext cx="4504792" cy="658368"/>
          </a:xfrm>
          <a:prstGeom prst="rect">
            <a:avLst/>
          </a:prstGeom>
          <a:noFill/>
          <a:ln/>
        </p:spPr>
        <p:txBody>
          <a:bodyPr wrap="square" lIns="0" tIns="0" rIns="0" bIns="0" rtlCol="0" anchor="ctr"/>
          <a:lstStyle/>
          <a:p>
            <a:pPr indent="0" marL="0">
              <a:lnSpc>
                <a:spcPts val="2000"/>
              </a:lnSpc>
              <a:buNone/>
            </a:pPr>
            <a:r>
              <a:rPr lang="en-US" sz="1300" dirty="0">
                <a:solidFill>
                  <a:srgbClr val="1C2320"/>
                </a:solidFill>
                <a:latin typeface="Meiryo" pitchFamily="34" charset="0"/>
                <a:ea typeface="Meiryo" pitchFamily="34" charset="-122"/>
                <a:cs typeface="Meiryo" pitchFamily="34" charset="-120"/>
              </a:rPr>
              <a:t>自分の考えをもち、他者と折り合いをつける。</a:t>
            </a:r>
            <a:endParaRPr lang="en-US" sz="1300" dirty="0"/>
          </a:p>
          <a:p>
            <a:pPr indent="0" marL="0">
              <a:lnSpc>
                <a:spcPts val="2000"/>
              </a:lnSpc>
              <a:buNone/>
            </a:pPr>
            <a:r>
              <a:rPr lang="en-US" sz="1300" dirty="0">
                <a:solidFill>
                  <a:srgbClr val="1C2320"/>
                </a:solidFill>
                <a:latin typeface="Meiryo" pitchFamily="34" charset="0"/>
                <a:ea typeface="Meiryo" pitchFamily="34" charset="-122"/>
                <a:cs typeface="Meiryo" pitchFamily="34" charset="-120"/>
              </a:rPr>
              <a:t>民主的な社会の担い手を育てる。</a:t>
            </a:r>
            <a:endParaRPr lang="en-US" sz="1300" dirty="0"/>
          </a:p>
        </p:txBody>
      </p:sp>
      <p:sp>
        <p:nvSpPr>
          <p:cNvPr id="15" name="Shape 13"/>
          <p:cNvSpPr/>
          <p:nvPr/>
        </p:nvSpPr>
        <p:spPr>
          <a:xfrm>
            <a:off x="5784952" y="2578608"/>
            <a:ext cx="621792" cy="621792"/>
          </a:xfrm>
          <a:prstGeom prst="ellipse">
            <a:avLst/>
          </a:prstGeom>
          <a:solidFill>
            <a:srgbClr val="EBB84D"/>
          </a:solidFill>
          <a:ln w="38100">
            <a:solidFill>
              <a:srgbClr val="FFFFFF"/>
            </a:solidFill>
            <a:prstDash val="solid"/>
          </a:ln>
        </p:spPr>
      </p:sp>
      <p:sp>
        <p:nvSpPr>
          <p:cNvPr id="16" name="Text 14"/>
          <p:cNvSpPr txBox="1"/>
          <p:nvPr/>
        </p:nvSpPr>
        <p:spPr>
          <a:xfrm>
            <a:off x="5784952" y="2706624"/>
            <a:ext cx="621792" cy="365760"/>
          </a:xfrm>
          <a:prstGeom prst="rect">
            <a:avLst/>
          </a:prstGeom>
          <a:noFill/>
          <a:ln/>
        </p:spPr>
        <p:txBody>
          <a:bodyPr wrap="square" lIns="0" tIns="0" rIns="0" bIns="0" rtlCol="0" anchor="ctr"/>
          <a:lstStyle/>
          <a:p>
            <a:pPr algn="ctr" indent="0" marL="0">
              <a:buNone/>
            </a:pPr>
            <a:r>
              <a:rPr lang="en-US" sz="2000" b="1" dirty="0">
                <a:solidFill>
                  <a:srgbClr val="14312A"/>
                </a:solidFill>
                <a:latin typeface="Meiryo" pitchFamily="34" charset="0"/>
                <a:ea typeface="Meiryo" pitchFamily="34" charset="-122"/>
                <a:cs typeface="Meiryo" pitchFamily="34" charset="-120"/>
              </a:rPr>
              <a:t>＋</a:t>
            </a:r>
            <a:endParaRPr lang="en-US" sz="2000" dirty="0"/>
          </a:p>
        </p:txBody>
      </p:sp>
      <p:sp>
        <p:nvSpPr>
          <p:cNvPr id="17" name="Shape 15"/>
          <p:cNvSpPr/>
          <p:nvPr/>
        </p:nvSpPr>
        <p:spPr>
          <a:xfrm>
            <a:off x="640080" y="4526280"/>
            <a:ext cx="10911535" cy="1481328"/>
          </a:xfrm>
          <a:prstGeom prst="roundRect">
            <a:avLst>
              <a:gd name="adj" fmla="val 3704"/>
            </a:avLst>
          </a:prstGeom>
          <a:solidFill>
            <a:srgbClr val="14312A"/>
          </a:solidFill>
          <a:ln/>
        </p:spPr>
      </p:sp>
      <p:sp>
        <p:nvSpPr>
          <p:cNvPr id="18" name="Text 16"/>
          <p:cNvSpPr txBox="1"/>
          <p:nvPr/>
        </p:nvSpPr>
        <p:spPr>
          <a:xfrm>
            <a:off x="1143000" y="4773168"/>
            <a:ext cx="9905695" cy="41148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この2つは相互に有機的にかかわり合い、両輪として高まっていく</a:t>
            </a:r>
            <a:endParaRPr lang="en-US" sz="1900" dirty="0"/>
          </a:p>
        </p:txBody>
      </p:sp>
      <p:sp>
        <p:nvSpPr>
          <p:cNvPr id="19" name="Text 17"/>
          <p:cNvSpPr txBox="1"/>
          <p:nvPr/>
        </p:nvSpPr>
        <p:spPr>
          <a:xfrm>
            <a:off x="1143000" y="5285232"/>
            <a:ext cx="9905695" cy="457200"/>
          </a:xfrm>
          <a:prstGeom prst="rect">
            <a:avLst/>
          </a:prstGeom>
          <a:noFill/>
          <a:ln/>
        </p:spPr>
        <p:txBody>
          <a:bodyPr wrap="square" lIns="0" tIns="0" rIns="0" bIns="0" rtlCol="0" anchor="ctr"/>
          <a:lstStyle/>
          <a:p>
            <a:pPr indent="0" marL="0">
              <a:buNone/>
            </a:pPr>
            <a:r>
              <a:rPr lang="en-US" sz="1350" dirty="0">
                <a:solidFill>
                  <a:srgbClr val="AFC5B6"/>
                </a:solidFill>
                <a:latin typeface="Meiryo" pitchFamily="34" charset="0"/>
                <a:ea typeface="Meiryo" pitchFamily="34" charset="-122"/>
                <a:cs typeface="Meiryo" pitchFamily="34" charset="-120"/>
              </a:rPr>
              <a:t>どちらか一方ではありません。「好きなことだけ」でも「話し合いの形式だけ」でもない、という釘の刺し方がされています。</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17</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Ⅱ－4</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今回のキーワードは「余白」</a:t>
            </a:r>
            <a:endParaRPr lang="en-US" sz="2800" dirty="0"/>
          </a:p>
        </p:txBody>
      </p:sp>
      <p:sp>
        <p:nvSpPr>
          <p:cNvPr id="5" name="Shape 3"/>
          <p:cNvSpPr/>
          <p:nvPr/>
        </p:nvSpPr>
        <p:spPr>
          <a:xfrm>
            <a:off x="640080" y="1554480"/>
            <a:ext cx="10911535" cy="1965960"/>
          </a:xfrm>
          <a:prstGeom prst="roundRect">
            <a:avLst>
              <a:gd name="adj" fmla="val 2791"/>
            </a:avLst>
          </a:prstGeom>
          <a:solidFill>
            <a:srgbClr val="E4EDE6"/>
          </a:solidFill>
          <a:ln/>
        </p:spPr>
      </p:sp>
      <p:sp>
        <p:nvSpPr>
          <p:cNvPr id="6" name="Text 4"/>
          <p:cNvSpPr txBox="1"/>
          <p:nvPr/>
        </p:nvSpPr>
        <p:spPr>
          <a:xfrm>
            <a:off x="1188720" y="1920240"/>
            <a:ext cx="3108960" cy="868680"/>
          </a:xfrm>
          <a:prstGeom prst="rect">
            <a:avLst/>
          </a:prstGeom>
          <a:noFill/>
          <a:ln/>
        </p:spPr>
        <p:txBody>
          <a:bodyPr wrap="square" lIns="0" tIns="0" rIns="0" bIns="0" rtlCol="0" anchor="ctr"/>
          <a:lstStyle/>
          <a:p>
            <a:pPr indent="0" marL="0">
              <a:buNone/>
            </a:pPr>
            <a:r>
              <a:rPr lang="en-US" sz="5400" b="1" spc="600" kern="0" dirty="0">
                <a:solidFill>
                  <a:srgbClr val="1F5D4C"/>
                </a:solidFill>
                <a:latin typeface="Meiryo" pitchFamily="34" charset="0"/>
                <a:ea typeface="Meiryo" pitchFamily="34" charset="-122"/>
                <a:cs typeface="Meiryo" pitchFamily="34" charset="-120"/>
              </a:rPr>
              <a:t>余　白</a:t>
            </a:r>
            <a:endParaRPr lang="en-US" sz="5400" dirty="0"/>
          </a:p>
        </p:txBody>
      </p:sp>
      <p:sp>
        <p:nvSpPr>
          <p:cNvPr id="7" name="Text 5"/>
          <p:cNvSpPr txBox="1"/>
          <p:nvPr/>
        </p:nvSpPr>
        <p:spPr>
          <a:xfrm>
            <a:off x="4754880" y="1993392"/>
            <a:ext cx="6248095" cy="1005840"/>
          </a:xfrm>
          <a:prstGeom prst="rect">
            <a:avLst/>
          </a:prstGeom>
          <a:noFill/>
          <a:ln/>
        </p:spPr>
        <p:txBody>
          <a:bodyPr wrap="square" lIns="0" tIns="0" rIns="0" bIns="0" rtlCol="0" anchor="ctr"/>
          <a:lstStyle/>
          <a:p>
            <a:pPr indent="0" marL="0">
              <a:lnSpc>
                <a:spcPts val="3000"/>
              </a:lnSpc>
              <a:buNone/>
            </a:pPr>
            <a:r>
              <a:rPr lang="en-US" sz="1800" dirty="0">
                <a:solidFill>
                  <a:srgbClr val="14312A"/>
                </a:solidFill>
                <a:latin typeface="Meiryo" pitchFamily="34" charset="0"/>
                <a:ea typeface="Meiryo" pitchFamily="34" charset="-122"/>
                <a:cs typeface="Meiryo" pitchFamily="34" charset="-120"/>
              </a:rPr>
              <a:t>子供が深く学ぶための、時間的なゆとり。</a:t>
            </a:r>
            <a:endParaRPr lang="en-US" sz="1800" dirty="0"/>
          </a:p>
          <a:p>
            <a:pPr indent="0" marL="0">
              <a:lnSpc>
                <a:spcPts val="3000"/>
              </a:lnSpc>
              <a:buNone/>
            </a:pPr>
            <a:r>
              <a:rPr lang="en-US" sz="1800" dirty="0">
                <a:solidFill>
                  <a:srgbClr val="14312A"/>
                </a:solidFill>
                <a:latin typeface="Meiryo" pitchFamily="34" charset="0"/>
                <a:ea typeface="Meiryo" pitchFamily="34" charset="-122"/>
                <a:cs typeface="Meiryo" pitchFamily="34" charset="-120"/>
              </a:rPr>
              <a:t>そして、教師が教材研究と対話に使える時間。</a:t>
            </a:r>
            <a:endParaRPr lang="en-US" sz="1800" dirty="0"/>
          </a:p>
        </p:txBody>
      </p:sp>
      <p:sp>
        <p:nvSpPr>
          <p:cNvPr id="8" name="Text 6"/>
          <p:cNvSpPr txBox="1"/>
          <p:nvPr/>
        </p:nvSpPr>
        <p:spPr>
          <a:xfrm>
            <a:off x="640080" y="3794760"/>
            <a:ext cx="10911535" cy="329184"/>
          </a:xfrm>
          <a:prstGeom prst="rect">
            <a:avLst/>
          </a:prstGeom>
          <a:noFill/>
          <a:ln/>
        </p:spPr>
        <p:txBody>
          <a:bodyPr wrap="square" lIns="0" tIns="0" rIns="0" bIns="0" rtlCol="0" anchor="ctr"/>
          <a:lstStyle/>
          <a:p>
            <a:pPr indent="0" marL="0">
              <a:buNone/>
            </a:pPr>
            <a:r>
              <a:rPr lang="en-US" sz="1500" b="1" dirty="0">
                <a:solidFill>
                  <a:srgbClr val="5B6660"/>
                </a:solidFill>
                <a:latin typeface="Meiryo" pitchFamily="34" charset="0"/>
                <a:ea typeface="Meiryo" pitchFamily="34" charset="-122"/>
                <a:cs typeface="Meiryo" pitchFamily="34" charset="-120"/>
              </a:rPr>
              <a:t>余白はどう生まれるか</a:t>
            </a:r>
            <a:endParaRPr lang="en-US" sz="1500" dirty="0"/>
          </a:p>
        </p:txBody>
      </p:sp>
      <p:sp>
        <p:nvSpPr>
          <p:cNvPr id="9" name="Shape 7"/>
          <p:cNvSpPr/>
          <p:nvPr/>
        </p:nvSpPr>
        <p:spPr>
          <a:xfrm>
            <a:off x="640080" y="4224528"/>
            <a:ext cx="3484778" cy="1170432"/>
          </a:xfrm>
          <a:prstGeom prst="roundRect">
            <a:avLst>
              <a:gd name="adj" fmla="val 4688"/>
            </a:avLst>
          </a:prstGeom>
          <a:solidFill>
            <a:srgbClr val="F1F5F2"/>
          </a:solidFill>
          <a:ln/>
        </p:spPr>
      </p:sp>
      <p:sp>
        <p:nvSpPr>
          <p:cNvPr id="10" name="Text 8"/>
          <p:cNvSpPr txBox="1"/>
          <p:nvPr/>
        </p:nvSpPr>
        <p:spPr>
          <a:xfrm>
            <a:off x="868680" y="4462272"/>
            <a:ext cx="3027578" cy="384048"/>
          </a:xfrm>
          <a:prstGeom prst="rect">
            <a:avLst/>
          </a:prstGeom>
          <a:noFill/>
          <a:ln/>
        </p:spPr>
        <p:txBody>
          <a:bodyPr wrap="square" lIns="0" tIns="0" rIns="0" bIns="0" rtlCol="0" anchor="ctr"/>
          <a:lstStyle/>
          <a:p>
            <a:pPr algn="ctr" indent="0" marL="0">
              <a:buNone/>
            </a:pPr>
            <a:r>
              <a:rPr lang="en-US" sz="1600" b="1" dirty="0">
                <a:solidFill>
                  <a:srgbClr val="14312A"/>
                </a:solidFill>
                <a:latin typeface="Meiryo" pitchFamily="34" charset="0"/>
                <a:ea typeface="Meiryo" pitchFamily="34" charset="-122"/>
                <a:cs typeface="Meiryo" pitchFamily="34" charset="-120"/>
              </a:rPr>
              <a:t>学習内容の精選</a:t>
            </a:r>
            <a:endParaRPr lang="en-US" sz="1600" dirty="0"/>
          </a:p>
        </p:txBody>
      </p:sp>
      <p:sp>
        <p:nvSpPr>
          <p:cNvPr id="11" name="Text 9"/>
          <p:cNvSpPr txBox="1"/>
          <p:nvPr/>
        </p:nvSpPr>
        <p:spPr>
          <a:xfrm>
            <a:off x="868680" y="4882896"/>
            <a:ext cx="3027578" cy="310896"/>
          </a:xfrm>
          <a:prstGeom prst="rect">
            <a:avLst/>
          </a:prstGeom>
          <a:noFill/>
          <a:ln/>
        </p:spPr>
        <p:txBody>
          <a:bodyPr wrap="square" lIns="0" tIns="0" rIns="0" bIns="0" rtlCol="0" anchor="ctr"/>
          <a:lstStyle/>
          <a:p>
            <a:pPr algn="ctr" indent="0" marL="0">
              <a:buNone/>
            </a:pPr>
            <a:r>
              <a:rPr lang="en-US" sz="1250" dirty="0">
                <a:solidFill>
                  <a:srgbClr val="5B6660"/>
                </a:solidFill>
                <a:latin typeface="Meiryo" pitchFamily="34" charset="0"/>
                <a:ea typeface="Meiryo" pitchFamily="34" charset="-122"/>
                <a:cs typeface="Meiryo" pitchFamily="34" charset="-120"/>
              </a:rPr>
              <a:t>教える中身を絞る</a:t>
            </a:r>
            <a:endParaRPr lang="en-US" sz="1250" dirty="0"/>
          </a:p>
        </p:txBody>
      </p:sp>
      <p:sp>
        <p:nvSpPr>
          <p:cNvPr id="12" name="Shape 10"/>
          <p:cNvSpPr/>
          <p:nvPr/>
        </p:nvSpPr>
        <p:spPr>
          <a:xfrm>
            <a:off x="4353458" y="4224528"/>
            <a:ext cx="3484778" cy="1170432"/>
          </a:xfrm>
          <a:prstGeom prst="roundRect">
            <a:avLst>
              <a:gd name="adj" fmla="val 4688"/>
            </a:avLst>
          </a:prstGeom>
          <a:solidFill>
            <a:srgbClr val="F1F5F2"/>
          </a:solidFill>
          <a:ln/>
        </p:spPr>
      </p:sp>
      <p:sp>
        <p:nvSpPr>
          <p:cNvPr id="13" name="Text 11"/>
          <p:cNvSpPr txBox="1"/>
          <p:nvPr/>
        </p:nvSpPr>
        <p:spPr>
          <a:xfrm>
            <a:off x="4582058" y="4462272"/>
            <a:ext cx="3027578" cy="384048"/>
          </a:xfrm>
          <a:prstGeom prst="rect">
            <a:avLst/>
          </a:prstGeom>
          <a:noFill/>
          <a:ln/>
        </p:spPr>
        <p:txBody>
          <a:bodyPr wrap="square" lIns="0" tIns="0" rIns="0" bIns="0" rtlCol="0" anchor="ctr"/>
          <a:lstStyle/>
          <a:p>
            <a:pPr algn="ctr" indent="0" marL="0">
              <a:buNone/>
            </a:pPr>
            <a:r>
              <a:rPr lang="en-US" sz="1600" b="1" dirty="0">
                <a:solidFill>
                  <a:srgbClr val="14312A"/>
                </a:solidFill>
                <a:latin typeface="Meiryo" pitchFamily="34" charset="0"/>
                <a:ea typeface="Meiryo" pitchFamily="34" charset="-122"/>
                <a:cs typeface="Meiryo" pitchFamily="34" charset="-120"/>
              </a:rPr>
              <a:t>教科書の分量の見直し</a:t>
            </a:r>
            <a:endParaRPr lang="en-US" sz="1600" dirty="0"/>
          </a:p>
        </p:txBody>
      </p:sp>
      <p:sp>
        <p:nvSpPr>
          <p:cNvPr id="14" name="Text 12"/>
          <p:cNvSpPr txBox="1"/>
          <p:nvPr/>
        </p:nvSpPr>
        <p:spPr>
          <a:xfrm>
            <a:off x="4582058" y="4882896"/>
            <a:ext cx="3027578" cy="310896"/>
          </a:xfrm>
          <a:prstGeom prst="rect">
            <a:avLst/>
          </a:prstGeom>
          <a:noFill/>
          <a:ln/>
        </p:spPr>
        <p:txBody>
          <a:bodyPr wrap="square" lIns="0" tIns="0" rIns="0" bIns="0" rtlCol="0" anchor="ctr"/>
          <a:lstStyle/>
          <a:p>
            <a:pPr algn="ctr" indent="0" marL="0">
              <a:buNone/>
            </a:pPr>
            <a:r>
              <a:rPr lang="en-US" sz="1250" dirty="0">
                <a:solidFill>
                  <a:srgbClr val="5B6660"/>
                </a:solidFill>
                <a:latin typeface="Meiryo" pitchFamily="34" charset="0"/>
                <a:ea typeface="Meiryo" pitchFamily="34" charset="-122"/>
                <a:cs typeface="Meiryo" pitchFamily="34" charset="-120"/>
              </a:rPr>
              <a:t>こなす量を減らす</a:t>
            </a:r>
            <a:endParaRPr lang="en-US" sz="1250" dirty="0"/>
          </a:p>
        </p:txBody>
      </p:sp>
      <p:sp>
        <p:nvSpPr>
          <p:cNvPr id="15" name="Shape 13"/>
          <p:cNvSpPr/>
          <p:nvPr/>
        </p:nvSpPr>
        <p:spPr>
          <a:xfrm>
            <a:off x="8066837" y="4224528"/>
            <a:ext cx="3484778" cy="1170432"/>
          </a:xfrm>
          <a:prstGeom prst="roundRect">
            <a:avLst>
              <a:gd name="adj" fmla="val 4688"/>
            </a:avLst>
          </a:prstGeom>
          <a:solidFill>
            <a:srgbClr val="F1F5F2"/>
          </a:solidFill>
          <a:ln/>
        </p:spPr>
      </p:sp>
      <p:sp>
        <p:nvSpPr>
          <p:cNvPr id="16" name="Text 14"/>
          <p:cNvSpPr txBox="1"/>
          <p:nvPr/>
        </p:nvSpPr>
        <p:spPr>
          <a:xfrm>
            <a:off x="8295437" y="4462272"/>
            <a:ext cx="3027578" cy="384048"/>
          </a:xfrm>
          <a:prstGeom prst="rect">
            <a:avLst/>
          </a:prstGeom>
          <a:noFill/>
          <a:ln/>
        </p:spPr>
        <p:txBody>
          <a:bodyPr wrap="square" lIns="0" tIns="0" rIns="0" bIns="0" rtlCol="0" anchor="ctr"/>
          <a:lstStyle/>
          <a:p>
            <a:pPr algn="ctr" indent="0" marL="0">
              <a:buNone/>
            </a:pPr>
            <a:r>
              <a:rPr lang="en-US" sz="1600" b="1" dirty="0">
                <a:solidFill>
                  <a:srgbClr val="14312A"/>
                </a:solidFill>
                <a:latin typeface="Meiryo" pitchFamily="34" charset="0"/>
                <a:ea typeface="Meiryo" pitchFamily="34" charset="-122"/>
                <a:cs typeface="Meiryo" pitchFamily="34" charset="-120"/>
              </a:rPr>
              <a:t>時数の柔軟化</a:t>
            </a:r>
            <a:endParaRPr lang="en-US" sz="1600" dirty="0"/>
          </a:p>
        </p:txBody>
      </p:sp>
      <p:sp>
        <p:nvSpPr>
          <p:cNvPr id="17" name="Text 15"/>
          <p:cNvSpPr txBox="1"/>
          <p:nvPr/>
        </p:nvSpPr>
        <p:spPr>
          <a:xfrm>
            <a:off x="8295437" y="4882896"/>
            <a:ext cx="3027578" cy="310896"/>
          </a:xfrm>
          <a:prstGeom prst="rect">
            <a:avLst/>
          </a:prstGeom>
          <a:noFill/>
          <a:ln/>
        </p:spPr>
        <p:txBody>
          <a:bodyPr wrap="square" lIns="0" tIns="0" rIns="0" bIns="0" rtlCol="0" anchor="ctr"/>
          <a:lstStyle/>
          <a:p>
            <a:pPr algn="ctr" indent="0" marL="0">
              <a:buNone/>
            </a:pPr>
            <a:r>
              <a:rPr lang="en-US" sz="1250" dirty="0">
                <a:solidFill>
                  <a:srgbClr val="5B6660"/>
                </a:solidFill>
                <a:latin typeface="Meiryo" pitchFamily="34" charset="0"/>
                <a:ea typeface="Meiryo" pitchFamily="34" charset="-122"/>
                <a:cs typeface="Meiryo" pitchFamily="34" charset="-120"/>
              </a:rPr>
              <a:t>配分を学校が決める</a:t>
            </a:r>
            <a:endParaRPr lang="en-US" sz="1250" dirty="0"/>
          </a:p>
        </p:txBody>
      </p:sp>
      <p:sp>
        <p:nvSpPr>
          <p:cNvPr id="18" name="Text 16"/>
          <p:cNvSpPr txBox="1"/>
          <p:nvPr/>
        </p:nvSpPr>
        <p:spPr>
          <a:xfrm>
            <a:off x="640080" y="5650992"/>
            <a:ext cx="10911535" cy="402336"/>
          </a:xfrm>
          <a:prstGeom prst="rect">
            <a:avLst/>
          </a:prstGeom>
          <a:noFill/>
          <a:ln/>
        </p:spPr>
        <p:txBody>
          <a:bodyPr wrap="square" lIns="0" tIns="0" rIns="0" bIns="0" rtlCol="0" anchor="ctr"/>
          <a:lstStyle/>
          <a:p>
            <a:pPr indent="0" marL="0">
              <a:buNone/>
            </a:pPr>
            <a:r>
              <a:rPr lang="en-US" sz="1500" b="1" dirty="0">
                <a:solidFill>
                  <a:srgbClr val="1F5D4C"/>
                </a:solidFill>
                <a:latin typeface="Meiryo" pitchFamily="34" charset="0"/>
                <a:ea typeface="Meiryo" pitchFamily="34" charset="-122"/>
                <a:cs typeface="Meiryo" pitchFamily="34" charset="-120"/>
              </a:rPr>
              <a:t>余白づくりは、働き方改革と同じ方向を向いています。ここが今回、現場にとって一番大きい変化です。</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18</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Ⅱ－5</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前提にあるのは「足し算の限界」</a:t>
            </a:r>
            <a:endParaRPr lang="en-US" sz="2800" dirty="0"/>
          </a:p>
        </p:txBody>
      </p:sp>
      <p:sp>
        <p:nvSpPr>
          <p:cNvPr id="5" name="Text 3"/>
          <p:cNvSpPr txBox="1"/>
          <p:nvPr/>
        </p:nvSpPr>
        <p:spPr>
          <a:xfrm>
            <a:off x="640080" y="1481328"/>
            <a:ext cx="10911535" cy="438912"/>
          </a:xfrm>
          <a:prstGeom prst="rect">
            <a:avLst/>
          </a:prstGeom>
          <a:noFill/>
          <a:ln/>
        </p:spPr>
        <p:txBody>
          <a:bodyPr wrap="square" lIns="0" tIns="0" rIns="0" bIns="0" rtlCol="0" anchor="ctr"/>
          <a:lstStyle/>
          <a:p>
            <a:pPr indent="0" marL="0">
              <a:buNone/>
            </a:pPr>
            <a:r>
              <a:rPr lang="en-US" sz="2400" b="1" dirty="0">
                <a:solidFill>
                  <a:srgbClr val="14312A"/>
                </a:solidFill>
                <a:latin typeface="Meiryo" pitchFamily="34" charset="0"/>
                <a:ea typeface="Meiryo" pitchFamily="34" charset="-122"/>
                <a:cs typeface="Meiryo" pitchFamily="34" charset="-120"/>
              </a:rPr>
              <a:t>カリキュラム・オーバーロード</a:t>
            </a:r>
            <a:endParaRPr lang="en-US" sz="2400" dirty="0"/>
          </a:p>
        </p:txBody>
      </p:sp>
      <p:sp>
        <p:nvSpPr>
          <p:cNvPr id="6" name="Text 4"/>
          <p:cNvSpPr txBox="1"/>
          <p:nvPr/>
        </p:nvSpPr>
        <p:spPr>
          <a:xfrm>
            <a:off x="640080" y="1956816"/>
            <a:ext cx="10911535" cy="329184"/>
          </a:xfrm>
          <a:prstGeom prst="rect">
            <a:avLst/>
          </a:prstGeom>
          <a:noFill/>
          <a:ln/>
        </p:spPr>
        <p:txBody>
          <a:bodyPr wrap="square" lIns="0" tIns="0" rIns="0" bIns="0" rtlCol="0" anchor="ctr"/>
          <a:lstStyle/>
          <a:p>
            <a:pPr indent="0" marL="0">
              <a:buNone/>
            </a:pPr>
            <a:r>
              <a:rPr lang="en-US" sz="1400" dirty="0">
                <a:solidFill>
                  <a:srgbClr val="5B6660"/>
                </a:solidFill>
                <a:latin typeface="Meiryo" pitchFamily="34" charset="0"/>
                <a:ea typeface="Meiryo" pitchFamily="34" charset="-122"/>
                <a:cs typeface="Meiryo" pitchFamily="34" charset="-120"/>
              </a:rPr>
              <a:t>求められる内容が増え続け、授業時数と現場の許容量を超えている状態</a:t>
            </a:r>
            <a:endParaRPr lang="en-US" sz="1400" dirty="0"/>
          </a:p>
        </p:txBody>
      </p:sp>
      <p:sp>
        <p:nvSpPr>
          <p:cNvPr id="7" name="Shape 5"/>
          <p:cNvSpPr/>
          <p:nvPr/>
        </p:nvSpPr>
        <p:spPr>
          <a:xfrm>
            <a:off x="640080" y="2487168"/>
            <a:ext cx="891540" cy="457200"/>
          </a:xfrm>
          <a:prstGeom prst="roundRect">
            <a:avLst>
              <a:gd name="adj" fmla="val 12000"/>
            </a:avLst>
          </a:prstGeom>
          <a:solidFill>
            <a:srgbClr val="F1F5F2"/>
          </a:solidFill>
          <a:ln/>
        </p:spPr>
      </p:sp>
      <p:sp>
        <p:nvSpPr>
          <p:cNvPr id="8" name="Text 6"/>
          <p:cNvSpPr txBox="1"/>
          <p:nvPr/>
        </p:nvSpPr>
        <p:spPr>
          <a:xfrm>
            <a:off x="640080" y="2606040"/>
            <a:ext cx="891540" cy="274320"/>
          </a:xfrm>
          <a:prstGeom prst="rect">
            <a:avLst/>
          </a:prstGeom>
          <a:noFill/>
          <a:ln/>
        </p:spPr>
        <p:txBody>
          <a:bodyPr wrap="square" lIns="0" tIns="0" rIns="0" bIns="0" rtlCol="0" anchor="ctr"/>
          <a:lstStyle/>
          <a:p>
            <a:pPr algn="ctr" indent="0" marL="0">
              <a:buNone/>
            </a:pPr>
            <a:r>
              <a:rPr lang="en-US" sz="1300" dirty="0">
                <a:solidFill>
                  <a:srgbClr val="1C2320"/>
                </a:solidFill>
                <a:latin typeface="Meiryo" pitchFamily="34" charset="0"/>
                <a:ea typeface="Meiryo" pitchFamily="34" charset="-122"/>
                <a:cs typeface="Meiryo" pitchFamily="34" charset="-120"/>
              </a:rPr>
              <a:t>外国語</a:t>
            </a:r>
            <a:endParaRPr lang="en-US" sz="1300" dirty="0"/>
          </a:p>
        </p:txBody>
      </p:sp>
      <p:sp>
        <p:nvSpPr>
          <p:cNvPr id="9" name="Shape 7"/>
          <p:cNvSpPr/>
          <p:nvPr/>
        </p:nvSpPr>
        <p:spPr>
          <a:xfrm>
            <a:off x="1677924" y="2487168"/>
            <a:ext cx="1568196" cy="457200"/>
          </a:xfrm>
          <a:prstGeom prst="roundRect">
            <a:avLst>
              <a:gd name="adj" fmla="val 12000"/>
            </a:avLst>
          </a:prstGeom>
          <a:solidFill>
            <a:srgbClr val="F1F5F2"/>
          </a:solidFill>
          <a:ln/>
        </p:spPr>
      </p:sp>
      <p:sp>
        <p:nvSpPr>
          <p:cNvPr id="10" name="Text 8"/>
          <p:cNvSpPr txBox="1"/>
          <p:nvPr/>
        </p:nvSpPr>
        <p:spPr>
          <a:xfrm>
            <a:off x="1677924" y="2606040"/>
            <a:ext cx="1568196" cy="274320"/>
          </a:xfrm>
          <a:prstGeom prst="rect">
            <a:avLst/>
          </a:prstGeom>
          <a:noFill/>
          <a:ln/>
        </p:spPr>
        <p:txBody>
          <a:bodyPr wrap="square" lIns="0" tIns="0" rIns="0" bIns="0" rtlCol="0" anchor="ctr"/>
          <a:lstStyle/>
          <a:p>
            <a:pPr algn="ctr" indent="0" marL="0">
              <a:buNone/>
            </a:pPr>
            <a:r>
              <a:rPr lang="en-US" sz="1300" dirty="0">
                <a:solidFill>
                  <a:srgbClr val="1C2320"/>
                </a:solidFill>
                <a:latin typeface="Meiryo" pitchFamily="34" charset="0"/>
                <a:ea typeface="Meiryo" pitchFamily="34" charset="-122"/>
                <a:cs typeface="Meiryo" pitchFamily="34" charset="-120"/>
              </a:rPr>
              <a:t>プログラミング</a:t>
            </a:r>
            <a:endParaRPr lang="en-US" sz="1300" dirty="0"/>
          </a:p>
        </p:txBody>
      </p:sp>
      <p:sp>
        <p:nvSpPr>
          <p:cNvPr id="11" name="Shape 9"/>
          <p:cNvSpPr/>
          <p:nvPr/>
        </p:nvSpPr>
        <p:spPr>
          <a:xfrm>
            <a:off x="3392424" y="2487168"/>
            <a:ext cx="1399032" cy="457200"/>
          </a:xfrm>
          <a:prstGeom prst="roundRect">
            <a:avLst>
              <a:gd name="adj" fmla="val 12000"/>
            </a:avLst>
          </a:prstGeom>
          <a:solidFill>
            <a:srgbClr val="F1F5F2"/>
          </a:solidFill>
          <a:ln/>
        </p:spPr>
      </p:sp>
      <p:sp>
        <p:nvSpPr>
          <p:cNvPr id="12" name="Text 10"/>
          <p:cNvSpPr txBox="1"/>
          <p:nvPr/>
        </p:nvSpPr>
        <p:spPr>
          <a:xfrm>
            <a:off x="3392424" y="2606040"/>
            <a:ext cx="1399032" cy="274320"/>
          </a:xfrm>
          <a:prstGeom prst="rect">
            <a:avLst/>
          </a:prstGeom>
          <a:noFill/>
          <a:ln/>
        </p:spPr>
        <p:txBody>
          <a:bodyPr wrap="square" lIns="0" tIns="0" rIns="0" bIns="0" rtlCol="0" anchor="ctr"/>
          <a:lstStyle/>
          <a:p>
            <a:pPr algn="ctr" indent="0" marL="0">
              <a:buNone/>
            </a:pPr>
            <a:r>
              <a:rPr lang="en-US" sz="1300" dirty="0">
                <a:solidFill>
                  <a:srgbClr val="1C2320"/>
                </a:solidFill>
                <a:latin typeface="Meiryo" pitchFamily="34" charset="0"/>
                <a:ea typeface="Meiryo" pitchFamily="34" charset="-122"/>
                <a:cs typeface="Meiryo" pitchFamily="34" charset="-120"/>
              </a:rPr>
              <a:t>道徳の教科化</a:t>
            </a:r>
            <a:endParaRPr lang="en-US" sz="1300" dirty="0"/>
          </a:p>
        </p:txBody>
      </p:sp>
      <p:sp>
        <p:nvSpPr>
          <p:cNvPr id="13" name="Shape 11"/>
          <p:cNvSpPr/>
          <p:nvPr/>
        </p:nvSpPr>
        <p:spPr>
          <a:xfrm>
            <a:off x="4937760" y="2487168"/>
            <a:ext cx="1229868" cy="457200"/>
          </a:xfrm>
          <a:prstGeom prst="roundRect">
            <a:avLst>
              <a:gd name="adj" fmla="val 12000"/>
            </a:avLst>
          </a:prstGeom>
          <a:solidFill>
            <a:srgbClr val="F1F5F2"/>
          </a:solidFill>
          <a:ln/>
        </p:spPr>
      </p:sp>
      <p:sp>
        <p:nvSpPr>
          <p:cNvPr id="14" name="Text 12"/>
          <p:cNvSpPr txBox="1"/>
          <p:nvPr/>
        </p:nvSpPr>
        <p:spPr>
          <a:xfrm>
            <a:off x="4937760" y="2606040"/>
            <a:ext cx="1229868" cy="274320"/>
          </a:xfrm>
          <a:prstGeom prst="rect">
            <a:avLst/>
          </a:prstGeom>
          <a:noFill/>
          <a:ln/>
        </p:spPr>
        <p:txBody>
          <a:bodyPr wrap="square" lIns="0" tIns="0" rIns="0" bIns="0" rtlCol="0" anchor="ctr"/>
          <a:lstStyle/>
          <a:p>
            <a:pPr algn="ctr" indent="0" marL="0">
              <a:buNone/>
            </a:pPr>
            <a:r>
              <a:rPr lang="en-US" sz="1300" dirty="0">
                <a:solidFill>
                  <a:srgbClr val="1C2320"/>
                </a:solidFill>
                <a:latin typeface="Meiryo" pitchFamily="34" charset="0"/>
                <a:ea typeface="Meiryo" pitchFamily="34" charset="-122"/>
                <a:cs typeface="Meiryo" pitchFamily="34" charset="-120"/>
              </a:rPr>
              <a:t>主権者教育</a:t>
            </a:r>
            <a:endParaRPr lang="en-US" sz="1300" dirty="0"/>
          </a:p>
        </p:txBody>
      </p:sp>
      <p:sp>
        <p:nvSpPr>
          <p:cNvPr id="15" name="Shape 13"/>
          <p:cNvSpPr/>
          <p:nvPr/>
        </p:nvSpPr>
        <p:spPr>
          <a:xfrm>
            <a:off x="6313932" y="2487168"/>
            <a:ext cx="1060704" cy="457200"/>
          </a:xfrm>
          <a:prstGeom prst="roundRect">
            <a:avLst>
              <a:gd name="adj" fmla="val 12000"/>
            </a:avLst>
          </a:prstGeom>
          <a:solidFill>
            <a:srgbClr val="F1F5F2"/>
          </a:solidFill>
          <a:ln/>
        </p:spPr>
      </p:sp>
      <p:sp>
        <p:nvSpPr>
          <p:cNvPr id="16" name="Text 14"/>
          <p:cNvSpPr txBox="1"/>
          <p:nvPr/>
        </p:nvSpPr>
        <p:spPr>
          <a:xfrm>
            <a:off x="6313932" y="2606040"/>
            <a:ext cx="1060704" cy="274320"/>
          </a:xfrm>
          <a:prstGeom prst="rect">
            <a:avLst/>
          </a:prstGeom>
          <a:noFill/>
          <a:ln/>
        </p:spPr>
        <p:txBody>
          <a:bodyPr wrap="square" lIns="0" tIns="0" rIns="0" bIns="0" rtlCol="0" anchor="ctr"/>
          <a:lstStyle/>
          <a:p>
            <a:pPr algn="ctr" indent="0" marL="0">
              <a:buNone/>
            </a:pPr>
            <a:r>
              <a:rPr lang="en-US" sz="1300" dirty="0">
                <a:solidFill>
                  <a:srgbClr val="1C2320"/>
                </a:solidFill>
                <a:latin typeface="Meiryo" pitchFamily="34" charset="0"/>
                <a:ea typeface="Meiryo" pitchFamily="34" charset="-122"/>
                <a:cs typeface="Meiryo" pitchFamily="34" charset="-120"/>
              </a:rPr>
              <a:t>金融教育</a:t>
            </a:r>
            <a:endParaRPr lang="en-US" sz="1300" dirty="0"/>
          </a:p>
        </p:txBody>
      </p:sp>
      <p:sp>
        <p:nvSpPr>
          <p:cNvPr id="17" name="Shape 15"/>
          <p:cNvSpPr/>
          <p:nvPr/>
        </p:nvSpPr>
        <p:spPr>
          <a:xfrm>
            <a:off x="7520940" y="2487168"/>
            <a:ext cx="1060704" cy="457200"/>
          </a:xfrm>
          <a:prstGeom prst="roundRect">
            <a:avLst>
              <a:gd name="adj" fmla="val 12000"/>
            </a:avLst>
          </a:prstGeom>
          <a:solidFill>
            <a:srgbClr val="F1F5F2"/>
          </a:solidFill>
          <a:ln/>
        </p:spPr>
      </p:sp>
      <p:sp>
        <p:nvSpPr>
          <p:cNvPr id="18" name="Text 16"/>
          <p:cNvSpPr txBox="1"/>
          <p:nvPr/>
        </p:nvSpPr>
        <p:spPr>
          <a:xfrm>
            <a:off x="7520940" y="2606040"/>
            <a:ext cx="1060704" cy="274320"/>
          </a:xfrm>
          <a:prstGeom prst="rect">
            <a:avLst/>
          </a:prstGeom>
          <a:noFill/>
          <a:ln/>
        </p:spPr>
        <p:txBody>
          <a:bodyPr wrap="square" lIns="0" tIns="0" rIns="0" bIns="0" rtlCol="0" anchor="ctr"/>
          <a:lstStyle/>
          <a:p>
            <a:pPr algn="ctr" indent="0" marL="0">
              <a:buNone/>
            </a:pPr>
            <a:r>
              <a:rPr lang="en-US" sz="1300" dirty="0">
                <a:solidFill>
                  <a:srgbClr val="1C2320"/>
                </a:solidFill>
                <a:latin typeface="Meiryo" pitchFamily="34" charset="0"/>
                <a:ea typeface="Meiryo" pitchFamily="34" charset="-122"/>
                <a:cs typeface="Meiryo" pitchFamily="34" charset="-120"/>
              </a:rPr>
              <a:t>防災教育</a:t>
            </a:r>
            <a:endParaRPr lang="en-US" sz="1300" dirty="0"/>
          </a:p>
        </p:txBody>
      </p:sp>
      <p:sp>
        <p:nvSpPr>
          <p:cNvPr id="19" name="Shape 17"/>
          <p:cNvSpPr/>
          <p:nvPr/>
        </p:nvSpPr>
        <p:spPr>
          <a:xfrm>
            <a:off x="8727948" y="2487168"/>
            <a:ext cx="1060704" cy="457200"/>
          </a:xfrm>
          <a:prstGeom prst="roundRect">
            <a:avLst>
              <a:gd name="adj" fmla="val 12000"/>
            </a:avLst>
          </a:prstGeom>
          <a:solidFill>
            <a:srgbClr val="F1F5F2"/>
          </a:solidFill>
          <a:ln/>
        </p:spPr>
      </p:sp>
      <p:sp>
        <p:nvSpPr>
          <p:cNvPr id="20" name="Text 18"/>
          <p:cNvSpPr txBox="1"/>
          <p:nvPr/>
        </p:nvSpPr>
        <p:spPr>
          <a:xfrm>
            <a:off x="8727948" y="2606040"/>
            <a:ext cx="1060704" cy="274320"/>
          </a:xfrm>
          <a:prstGeom prst="rect">
            <a:avLst/>
          </a:prstGeom>
          <a:noFill/>
          <a:ln/>
        </p:spPr>
        <p:txBody>
          <a:bodyPr wrap="square" lIns="0" tIns="0" rIns="0" bIns="0" rtlCol="0" anchor="ctr"/>
          <a:lstStyle/>
          <a:p>
            <a:pPr algn="ctr" indent="0" marL="0">
              <a:buNone/>
            </a:pPr>
            <a:r>
              <a:rPr lang="en-US" sz="1300" dirty="0">
                <a:solidFill>
                  <a:srgbClr val="1C2320"/>
                </a:solidFill>
                <a:latin typeface="Meiryo" pitchFamily="34" charset="0"/>
                <a:ea typeface="Meiryo" pitchFamily="34" charset="-122"/>
                <a:cs typeface="Meiryo" pitchFamily="34" charset="-120"/>
              </a:rPr>
              <a:t>がん教育</a:t>
            </a:r>
            <a:endParaRPr lang="en-US" sz="1300" dirty="0"/>
          </a:p>
        </p:txBody>
      </p:sp>
      <p:sp>
        <p:nvSpPr>
          <p:cNvPr id="21" name="Shape 19"/>
          <p:cNvSpPr/>
          <p:nvPr/>
        </p:nvSpPr>
        <p:spPr>
          <a:xfrm>
            <a:off x="9934956" y="2487168"/>
            <a:ext cx="1229868" cy="457200"/>
          </a:xfrm>
          <a:prstGeom prst="roundRect">
            <a:avLst>
              <a:gd name="adj" fmla="val 12000"/>
            </a:avLst>
          </a:prstGeom>
          <a:solidFill>
            <a:srgbClr val="F1F5F2"/>
          </a:solidFill>
          <a:ln/>
        </p:spPr>
      </p:sp>
      <p:sp>
        <p:nvSpPr>
          <p:cNvPr id="22" name="Text 20"/>
          <p:cNvSpPr txBox="1"/>
          <p:nvPr/>
        </p:nvSpPr>
        <p:spPr>
          <a:xfrm>
            <a:off x="9934956" y="2606040"/>
            <a:ext cx="1229868" cy="274320"/>
          </a:xfrm>
          <a:prstGeom prst="rect">
            <a:avLst/>
          </a:prstGeom>
          <a:noFill/>
          <a:ln/>
        </p:spPr>
        <p:txBody>
          <a:bodyPr wrap="square" lIns="0" tIns="0" rIns="0" bIns="0" rtlCol="0" anchor="ctr"/>
          <a:lstStyle/>
          <a:p>
            <a:pPr algn="ctr" indent="0" marL="0">
              <a:buNone/>
            </a:pPr>
            <a:r>
              <a:rPr lang="en-US" sz="1300" dirty="0">
                <a:solidFill>
                  <a:srgbClr val="1C2320"/>
                </a:solidFill>
                <a:latin typeface="Meiryo" pitchFamily="34" charset="0"/>
                <a:ea typeface="Meiryo" pitchFamily="34" charset="-122"/>
                <a:cs typeface="Meiryo" pitchFamily="34" charset="-120"/>
              </a:rPr>
              <a:t>情報モラル</a:t>
            </a:r>
            <a:endParaRPr lang="en-US" sz="1300" dirty="0"/>
          </a:p>
        </p:txBody>
      </p:sp>
      <p:sp>
        <p:nvSpPr>
          <p:cNvPr id="23" name="Shape 21"/>
          <p:cNvSpPr/>
          <p:nvPr/>
        </p:nvSpPr>
        <p:spPr>
          <a:xfrm>
            <a:off x="640080" y="3054096"/>
            <a:ext cx="1399032" cy="457200"/>
          </a:xfrm>
          <a:prstGeom prst="roundRect">
            <a:avLst>
              <a:gd name="adj" fmla="val 12000"/>
            </a:avLst>
          </a:prstGeom>
          <a:solidFill>
            <a:srgbClr val="F1F5F2"/>
          </a:solidFill>
          <a:ln/>
        </p:spPr>
      </p:sp>
      <p:sp>
        <p:nvSpPr>
          <p:cNvPr id="24" name="Text 22"/>
          <p:cNvSpPr txBox="1"/>
          <p:nvPr/>
        </p:nvSpPr>
        <p:spPr>
          <a:xfrm>
            <a:off x="640080" y="3172968"/>
            <a:ext cx="1399032" cy="274320"/>
          </a:xfrm>
          <a:prstGeom prst="rect">
            <a:avLst/>
          </a:prstGeom>
          <a:noFill/>
          <a:ln/>
        </p:spPr>
        <p:txBody>
          <a:bodyPr wrap="square" lIns="0" tIns="0" rIns="0" bIns="0" rtlCol="0" anchor="ctr"/>
          <a:lstStyle/>
          <a:p>
            <a:pPr algn="ctr" indent="0" marL="0">
              <a:buNone/>
            </a:pPr>
            <a:r>
              <a:rPr lang="en-US" sz="1300" dirty="0">
                <a:solidFill>
                  <a:srgbClr val="1C2320"/>
                </a:solidFill>
                <a:latin typeface="Meiryo" pitchFamily="34" charset="0"/>
                <a:ea typeface="Meiryo" pitchFamily="34" charset="-122"/>
                <a:cs typeface="Meiryo" pitchFamily="34" charset="-120"/>
              </a:rPr>
              <a:t>キャリア教育</a:t>
            </a:r>
            <a:endParaRPr lang="en-US" sz="1300" dirty="0"/>
          </a:p>
        </p:txBody>
      </p:sp>
      <p:sp>
        <p:nvSpPr>
          <p:cNvPr id="25" name="Shape 23"/>
          <p:cNvSpPr/>
          <p:nvPr/>
        </p:nvSpPr>
        <p:spPr>
          <a:xfrm>
            <a:off x="2185416" y="3054096"/>
            <a:ext cx="722376" cy="457200"/>
          </a:xfrm>
          <a:prstGeom prst="roundRect">
            <a:avLst>
              <a:gd name="adj" fmla="val 12000"/>
            </a:avLst>
          </a:prstGeom>
          <a:solidFill>
            <a:srgbClr val="F1F5F2"/>
          </a:solidFill>
          <a:ln/>
        </p:spPr>
      </p:sp>
      <p:sp>
        <p:nvSpPr>
          <p:cNvPr id="26" name="Text 24"/>
          <p:cNvSpPr txBox="1"/>
          <p:nvPr/>
        </p:nvSpPr>
        <p:spPr>
          <a:xfrm>
            <a:off x="2185416" y="3172968"/>
            <a:ext cx="722376" cy="274320"/>
          </a:xfrm>
          <a:prstGeom prst="rect">
            <a:avLst/>
          </a:prstGeom>
          <a:noFill/>
          <a:ln/>
        </p:spPr>
        <p:txBody>
          <a:bodyPr wrap="square" lIns="0" tIns="0" rIns="0" bIns="0" rtlCol="0" anchor="ctr"/>
          <a:lstStyle/>
          <a:p>
            <a:pPr algn="ctr" indent="0" marL="0">
              <a:buNone/>
            </a:pPr>
            <a:r>
              <a:rPr lang="en-US" sz="1300" dirty="0">
                <a:solidFill>
                  <a:srgbClr val="1C2320"/>
                </a:solidFill>
                <a:latin typeface="Meiryo" pitchFamily="34" charset="0"/>
                <a:ea typeface="Meiryo" pitchFamily="34" charset="-122"/>
                <a:cs typeface="Meiryo" pitchFamily="34" charset="-120"/>
              </a:rPr>
              <a:t>食育</a:t>
            </a:r>
            <a:endParaRPr lang="en-US" sz="1300" dirty="0"/>
          </a:p>
        </p:txBody>
      </p:sp>
      <p:sp>
        <p:nvSpPr>
          <p:cNvPr id="27" name="Shape 25"/>
          <p:cNvSpPr/>
          <p:nvPr/>
        </p:nvSpPr>
        <p:spPr>
          <a:xfrm>
            <a:off x="640080" y="4041648"/>
            <a:ext cx="10911535" cy="868680"/>
          </a:xfrm>
          <a:prstGeom prst="roundRect">
            <a:avLst>
              <a:gd name="adj" fmla="val 6316"/>
            </a:avLst>
          </a:prstGeom>
          <a:solidFill>
            <a:srgbClr val="14312A"/>
          </a:solidFill>
          <a:ln/>
        </p:spPr>
      </p:sp>
      <p:sp>
        <p:nvSpPr>
          <p:cNvPr id="28" name="Text 26"/>
          <p:cNvSpPr txBox="1"/>
          <p:nvPr/>
        </p:nvSpPr>
        <p:spPr>
          <a:xfrm>
            <a:off x="1097280" y="4261104"/>
            <a:ext cx="9997135" cy="420624"/>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これまでの改訂は、基本的に「足す」改訂でした。</a:t>
            </a:r>
            <a:endParaRPr lang="en-US" sz="1900" dirty="0"/>
          </a:p>
        </p:txBody>
      </p:sp>
      <p:sp>
        <p:nvSpPr>
          <p:cNvPr id="29" name="Shape 27"/>
          <p:cNvSpPr/>
          <p:nvPr/>
        </p:nvSpPr>
        <p:spPr>
          <a:xfrm>
            <a:off x="640080" y="5074920"/>
            <a:ext cx="10911535" cy="1051560"/>
          </a:xfrm>
          <a:prstGeom prst="roundRect">
            <a:avLst>
              <a:gd name="adj" fmla="val 5217"/>
            </a:avLst>
          </a:prstGeom>
          <a:solidFill>
            <a:srgbClr val="E4EDE6"/>
          </a:solidFill>
          <a:ln/>
        </p:spPr>
      </p:sp>
      <p:sp>
        <p:nvSpPr>
          <p:cNvPr id="30" name="Text 28"/>
          <p:cNvSpPr txBox="1"/>
          <p:nvPr/>
        </p:nvSpPr>
        <p:spPr>
          <a:xfrm>
            <a:off x="1097280" y="5358384"/>
            <a:ext cx="9997135" cy="475488"/>
          </a:xfrm>
          <a:prstGeom prst="rect">
            <a:avLst/>
          </a:prstGeom>
          <a:noFill/>
          <a:ln/>
        </p:spPr>
        <p:txBody>
          <a:bodyPr wrap="square" lIns="0" tIns="0" rIns="0" bIns="0" rtlCol="0" anchor="ctr"/>
          <a:lstStyle/>
          <a:p>
            <a:pPr indent="0" marL="0">
              <a:buNone/>
            </a:pPr>
            <a:r>
              <a:rPr lang="en-US" sz="2000" b="1" dirty="0">
                <a:solidFill>
                  <a:srgbClr val="1F5D4C"/>
                </a:solidFill>
                <a:latin typeface="Meiryo" pitchFamily="34" charset="0"/>
                <a:ea typeface="Meiryo" pitchFamily="34" charset="-122"/>
                <a:cs typeface="Meiryo" pitchFamily="34" charset="-120"/>
              </a:rPr>
              <a:t>今回は「精選する」改訂です。減らした先に何を置くかを、学校が決めます。</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19</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Ⅱ－6</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制度の核 ―「調整授業時数制度」</a:t>
            </a:r>
            <a:endParaRPr lang="en-US" sz="2800" dirty="0"/>
          </a:p>
        </p:txBody>
      </p:sp>
      <p:sp>
        <p:nvSpPr>
          <p:cNvPr id="5" name="Shape 3"/>
          <p:cNvSpPr/>
          <p:nvPr/>
        </p:nvSpPr>
        <p:spPr>
          <a:xfrm>
            <a:off x="640080" y="1481328"/>
            <a:ext cx="10911535" cy="960120"/>
          </a:xfrm>
          <a:prstGeom prst="roundRect">
            <a:avLst>
              <a:gd name="adj" fmla="val 5714"/>
            </a:avLst>
          </a:prstGeom>
          <a:solidFill>
            <a:srgbClr val="14312A"/>
          </a:solidFill>
          <a:ln/>
        </p:spPr>
      </p:sp>
      <p:sp>
        <p:nvSpPr>
          <p:cNvPr id="6" name="Text 4"/>
          <p:cNvSpPr txBox="1"/>
          <p:nvPr/>
        </p:nvSpPr>
        <p:spPr>
          <a:xfrm>
            <a:off x="1097280" y="1709928"/>
            <a:ext cx="9997135" cy="50292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年間の標準授業時数の総時数は保ったまま、各教科等への配分を学校が調整できる仕組み</a:t>
            </a:r>
            <a:endParaRPr lang="en-US" sz="1800" dirty="0"/>
          </a:p>
        </p:txBody>
      </p:sp>
      <p:sp>
        <p:nvSpPr>
          <p:cNvPr id="7" name="Text 5"/>
          <p:cNvSpPr txBox="1"/>
          <p:nvPr/>
        </p:nvSpPr>
        <p:spPr>
          <a:xfrm>
            <a:off x="640080" y="2788920"/>
            <a:ext cx="1828800" cy="310896"/>
          </a:xfrm>
          <a:prstGeom prst="rect">
            <a:avLst/>
          </a:prstGeom>
          <a:noFill/>
          <a:ln/>
        </p:spPr>
        <p:txBody>
          <a:bodyPr wrap="square" lIns="0" tIns="0" rIns="0" bIns="0" rtlCol="0" anchor="ctr"/>
          <a:lstStyle/>
          <a:p>
            <a:pPr indent="0" marL="0">
              <a:buNone/>
            </a:pPr>
            <a:r>
              <a:rPr lang="en-US" sz="1400" b="1" dirty="0">
                <a:solidFill>
                  <a:srgbClr val="5B6660"/>
                </a:solidFill>
                <a:latin typeface="Meiryo" pitchFamily="34" charset="0"/>
                <a:ea typeface="Meiryo" pitchFamily="34" charset="-122"/>
                <a:cs typeface="Meiryo" pitchFamily="34" charset="-120"/>
              </a:rPr>
              <a:t>これまで</a:t>
            </a:r>
            <a:endParaRPr lang="en-US" sz="1400" dirty="0"/>
          </a:p>
        </p:txBody>
      </p:sp>
      <p:sp>
        <p:nvSpPr>
          <p:cNvPr id="8" name="Shape 6"/>
          <p:cNvSpPr/>
          <p:nvPr/>
        </p:nvSpPr>
        <p:spPr>
          <a:xfrm>
            <a:off x="2560320" y="2752344"/>
            <a:ext cx="8991295" cy="566928"/>
          </a:xfrm>
          <a:prstGeom prst="rect">
            <a:avLst>
              <a:gd name="adj" fmla="val 9677"/>
            </a:avLst>
          </a:prstGeom>
          <a:solidFill>
            <a:srgbClr val="F1F5F2"/>
          </a:solidFill>
          <a:ln/>
        </p:spPr>
      </p:sp>
      <p:sp>
        <p:nvSpPr>
          <p:cNvPr id="9" name="Text 7"/>
          <p:cNvSpPr txBox="1"/>
          <p:nvPr/>
        </p:nvSpPr>
        <p:spPr>
          <a:xfrm>
            <a:off x="2834640" y="2880360"/>
            <a:ext cx="8442655" cy="365760"/>
          </a:xfrm>
          <a:prstGeom prst="rect">
            <a:avLst/>
          </a:prstGeom>
          <a:noFill/>
          <a:ln/>
        </p:spPr>
        <p:txBody>
          <a:bodyPr wrap="square" lIns="0" tIns="0" rIns="0" bIns="0" rtlCol="0" anchor="ctr"/>
          <a:lstStyle/>
          <a:p>
            <a:pPr indent="0" marL="0">
              <a:buNone/>
            </a:pPr>
            <a:r>
              <a:rPr lang="en-US" sz="1400" dirty="0">
                <a:solidFill>
                  <a:srgbClr val="5B6660"/>
                </a:solidFill>
                <a:latin typeface="Meiryo" pitchFamily="34" charset="0"/>
                <a:ea typeface="Meiryo" pitchFamily="34" charset="-122"/>
                <a:cs typeface="Meiryo" pitchFamily="34" charset="-120"/>
              </a:rPr>
              <a:t>各教科等の時数は、ほぼ全校共通</a:t>
            </a:r>
            <a:endParaRPr lang="en-US" sz="1400" dirty="0"/>
          </a:p>
        </p:txBody>
      </p:sp>
      <p:sp>
        <p:nvSpPr>
          <p:cNvPr id="10" name="Text 8"/>
          <p:cNvSpPr txBox="1"/>
          <p:nvPr/>
        </p:nvSpPr>
        <p:spPr>
          <a:xfrm>
            <a:off x="640080" y="3749040"/>
            <a:ext cx="1828800" cy="310896"/>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これから</a:t>
            </a:r>
            <a:endParaRPr lang="en-US" sz="1400" dirty="0"/>
          </a:p>
        </p:txBody>
      </p:sp>
      <p:sp>
        <p:nvSpPr>
          <p:cNvPr id="11" name="Shape 9"/>
          <p:cNvSpPr/>
          <p:nvPr/>
        </p:nvSpPr>
        <p:spPr>
          <a:xfrm>
            <a:off x="2560320" y="3712464"/>
            <a:ext cx="5669280" cy="658368"/>
          </a:xfrm>
          <a:prstGeom prst="rect">
            <a:avLst>
              <a:gd name="adj" fmla="val 8333"/>
            </a:avLst>
          </a:prstGeom>
          <a:solidFill>
            <a:srgbClr val="1F5D4C"/>
          </a:solidFill>
          <a:ln/>
        </p:spPr>
      </p:sp>
      <p:sp>
        <p:nvSpPr>
          <p:cNvPr id="12" name="Text 10"/>
          <p:cNvSpPr txBox="1"/>
          <p:nvPr/>
        </p:nvSpPr>
        <p:spPr>
          <a:xfrm>
            <a:off x="2560320" y="3813048"/>
            <a:ext cx="5669280" cy="502920"/>
          </a:xfrm>
          <a:prstGeom prst="rect">
            <a:avLst/>
          </a:prstGeom>
          <a:noFill/>
          <a:ln/>
        </p:spPr>
        <p:txBody>
          <a:bodyPr wrap="square" lIns="0" tIns="0" rIns="0" bIns="0" rtlCol="0" anchor="ctr"/>
          <a:lstStyle/>
          <a:p>
            <a:pPr algn="ctr" indent="0" marL="0">
              <a:lnSpc>
                <a:spcPts val="1700"/>
              </a:lnSpc>
              <a:buNone/>
            </a:pPr>
            <a:r>
              <a:rPr lang="en-US" sz="1300" b="1" dirty="0">
                <a:solidFill>
                  <a:srgbClr val="FFFFFF"/>
                </a:solidFill>
                <a:latin typeface="Meiryo" pitchFamily="34" charset="0"/>
                <a:ea typeface="Meiryo" pitchFamily="34" charset="-122"/>
                <a:cs typeface="Meiryo" pitchFamily="34" charset="-120"/>
              </a:rPr>
              <a:t>各教科等</a:t>
            </a:r>
            <a:endParaRPr lang="en-US" sz="1300" dirty="0"/>
          </a:p>
          <a:p>
            <a:pPr algn="ctr" indent="0" marL="0">
              <a:lnSpc>
                <a:spcPts val="1700"/>
              </a:lnSpc>
              <a:buNone/>
            </a:pPr>
            <a:r>
              <a:rPr lang="en-US" sz="1300" b="1" dirty="0">
                <a:solidFill>
                  <a:srgbClr val="FFFFFF"/>
                </a:solidFill>
                <a:latin typeface="Meiryo" pitchFamily="34" charset="0"/>
                <a:ea typeface="Meiryo" pitchFamily="34" charset="-122"/>
                <a:cs typeface="Meiryo" pitchFamily="34" charset="-120"/>
              </a:rPr>
              <a:t>（調整後）</a:t>
            </a:r>
            <a:endParaRPr lang="en-US" sz="1300" dirty="0"/>
          </a:p>
        </p:txBody>
      </p:sp>
      <p:sp>
        <p:nvSpPr>
          <p:cNvPr id="13" name="Shape 11"/>
          <p:cNvSpPr/>
          <p:nvPr/>
        </p:nvSpPr>
        <p:spPr>
          <a:xfrm>
            <a:off x="8302752" y="3712464"/>
            <a:ext cx="3246120" cy="658368"/>
          </a:xfrm>
          <a:prstGeom prst="rect">
            <a:avLst>
              <a:gd name="adj" fmla="val 8333"/>
            </a:avLst>
          </a:prstGeom>
          <a:solidFill>
            <a:srgbClr val="EBB84D"/>
          </a:solidFill>
          <a:ln/>
        </p:spPr>
      </p:sp>
      <p:sp>
        <p:nvSpPr>
          <p:cNvPr id="14" name="Text 12"/>
          <p:cNvSpPr txBox="1"/>
          <p:nvPr/>
        </p:nvSpPr>
        <p:spPr>
          <a:xfrm>
            <a:off x="8302752" y="3813048"/>
            <a:ext cx="3246120" cy="502920"/>
          </a:xfrm>
          <a:prstGeom prst="rect">
            <a:avLst/>
          </a:prstGeom>
          <a:noFill/>
          <a:ln/>
        </p:spPr>
        <p:txBody>
          <a:bodyPr wrap="square" lIns="0" tIns="0" rIns="0" bIns="0" rtlCol="0" anchor="ctr"/>
          <a:lstStyle/>
          <a:p>
            <a:pPr algn="ctr" indent="0" marL="0">
              <a:lnSpc>
                <a:spcPts val="1700"/>
              </a:lnSpc>
              <a:buNone/>
            </a:pPr>
            <a:r>
              <a:rPr lang="en-US" sz="1300" b="1" dirty="0">
                <a:solidFill>
                  <a:srgbClr val="14312A"/>
                </a:solidFill>
                <a:latin typeface="Meiryo" pitchFamily="34" charset="0"/>
                <a:ea typeface="Meiryo" pitchFamily="34" charset="-122"/>
                <a:cs typeface="Meiryo" pitchFamily="34" charset="-120"/>
              </a:rPr>
              <a:t>調　整</a:t>
            </a:r>
            <a:endParaRPr lang="en-US" sz="1300" dirty="0"/>
          </a:p>
          <a:p>
            <a:pPr algn="ctr" indent="0" marL="0">
              <a:lnSpc>
                <a:spcPts val="1700"/>
              </a:lnSpc>
              <a:buNone/>
            </a:pPr>
            <a:r>
              <a:rPr lang="en-US" sz="1300" b="1" dirty="0">
                <a:solidFill>
                  <a:srgbClr val="14312A"/>
                </a:solidFill>
                <a:latin typeface="Meiryo" pitchFamily="34" charset="0"/>
                <a:ea typeface="Meiryo" pitchFamily="34" charset="-122"/>
                <a:cs typeface="Meiryo" pitchFamily="34" charset="-120"/>
              </a:rPr>
              <a:t>授業時数</a:t>
            </a:r>
            <a:endParaRPr lang="en-US" sz="1300" dirty="0"/>
          </a:p>
        </p:txBody>
      </p:sp>
      <p:sp>
        <p:nvSpPr>
          <p:cNvPr id="15" name="Shape 13"/>
          <p:cNvSpPr/>
          <p:nvPr/>
        </p:nvSpPr>
        <p:spPr>
          <a:xfrm>
            <a:off x="2560320" y="4544568"/>
            <a:ext cx="8988552" cy="0"/>
          </a:xfrm>
          <a:prstGeom prst="line">
            <a:avLst/>
          </a:prstGeom>
          <a:noFill/>
          <a:ln w="19050">
            <a:solidFill>
              <a:srgbClr val="D5E0D8"/>
            </a:solidFill>
            <a:prstDash val="solid"/>
          </a:ln>
        </p:spPr>
      </p:sp>
      <p:sp>
        <p:nvSpPr>
          <p:cNvPr id="16" name="Text 14"/>
          <p:cNvSpPr txBox="1"/>
          <p:nvPr/>
        </p:nvSpPr>
        <p:spPr>
          <a:xfrm>
            <a:off x="2560320" y="4599432"/>
            <a:ext cx="8988552" cy="292608"/>
          </a:xfrm>
          <a:prstGeom prst="rect">
            <a:avLst/>
          </a:prstGeom>
          <a:noFill/>
          <a:ln/>
        </p:spPr>
        <p:txBody>
          <a:bodyPr wrap="square" lIns="0" tIns="0" rIns="0" bIns="0" rtlCol="0" anchor="ctr"/>
          <a:lstStyle/>
          <a:p>
            <a:pPr algn="ctr" indent="0" marL="0">
              <a:buNone/>
            </a:pPr>
            <a:r>
              <a:rPr lang="en-US" sz="1200" dirty="0">
                <a:solidFill>
                  <a:srgbClr val="5B6660"/>
                </a:solidFill>
                <a:latin typeface="Meiryo" pitchFamily="34" charset="0"/>
                <a:ea typeface="Meiryo" pitchFamily="34" charset="-122"/>
                <a:cs typeface="Meiryo" pitchFamily="34" charset="-120"/>
              </a:rPr>
              <a:t>総時数は変わらない</a:t>
            </a:r>
            <a:endParaRPr lang="en-US" sz="1200" dirty="0"/>
          </a:p>
        </p:txBody>
      </p:sp>
      <p:sp>
        <p:nvSpPr>
          <p:cNvPr id="17" name="Shape 15"/>
          <p:cNvSpPr/>
          <p:nvPr/>
        </p:nvSpPr>
        <p:spPr>
          <a:xfrm>
            <a:off x="640080" y="5120640"/>
            <a:ext cx="10911535" cy="1024128"/>
          </a:xfrm>
          <a:prstGeom prst="roundRect">
            <a:avLst>
              <a:gd name="adj" fmla="val 5357"/>
            </a:avLst>
          </a:prstGeom>
          <a:solidFill>
            <a:srgbClr val="E4EDE6"/>
          </a:solidFill>
          <a:ln/>
        </p:spPr>
      </p:sp>
      <p:sp>
        <p:nvSpPr>
          <p:cNvPr id="18" name="Text 16"/>
          <p:cNvSpPr txBox="1"/>
          <p:nvPr/>
        </p:nvSpPr>
        <p:spPr>
          <a:xfrm>
            <a:off x="1097280" y="5376672"/>
            <a:ext cx="9997135" cy="457200"/>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減らしてよい枠が制度として用意される ＝ 学校が「何に時間を寄せるか」を決められる</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20</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Ⅱ－7</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調整した時間は、3つに使えます</a:t>
            </a:r>
            <a:endParaRPr lang="en-US" sz="2800" dirty="0"/>
          </a:p>
        </p:txBody>
      </p:sp>
      <p:sp>
        <p:nvSpPr>
          <p:cNvPr id="5" name="Shape 3"/>
          <p:cNvSpPr/>
          <p:nvPr/>
        </p:nvSpPr>
        <p:spPr>
          <a:xfrm>
            <a:off x="640080" y="1554480"/>
            <a:ext cx="10911535" cy="1353312"/>
          </a:xfrm>
          <a:prstGeom prst="roundRect">
            <a:avLst>
              <a:gd name="adj" fmla="val 4054"/>
            </a:avLst>
          </a:prstGeom>
          <a:solidFill>
            <a:srgbClr val="F1F5F2"/>
          </a:solidFill>
          <a:ln/>
        </p:spPr>
      </p:sp>
      <p:sp>
        <p:nvSpPr>
          <p:cNvPr id="6" name="Shape 4"/>
          <p:cNvSpPr/>
          <p:nvPr/>
        </p:nvSpPr>
        <p:spPr>
          <a:xfrm>
            <a:off x="969264" y="1938528"/>
            <a:ext cx="566928" cy="566928"/>
          </a:xfrm>
          <a:prstGeom prst="ellipse">
            <a:avLst/>
          </a:prstGeom>
          <a:solidFill>
            <a:srgbClr val="1F5D4C"/>
          </a:solidFill>
          <a:ln/>
        </p:spPr>
      </p:sp>
      <p:sp>
        <p:nvSpPr>
          <p:cNvPr id="7" name="Text 5"/>
          <p:cNvSpPr txBox="1"/>
          <p:nvPr/>
        </p:nvSpPr>
        <p:spPr>
          <a:xfrm>
            <a:off x="969264" y="2057400"/>
            <a:ext cx="566928"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①</a:t>
            </a:r>
            <a:endParaRPr lang="en-US" sz="2000" dirty="0"/>
          </a:p>
        </p:txBody>
      </p:sp>
      <p:sp>
        <p:nvSpPr>
          <p:cNvPr id="8" name="Text 6"/>
          <p:cNvSpPr txBox="1"/>
          <p:nvPr/>
        </p:nvSpPr>
        <p:spPr>
          <a:xfrm>
            <a:off x="1719072" y="1755648"/>
            <a:ext cx="4937760" cy="384048"/>
          </a:xfrm>
          <a:prstGeom prst="rect">
            <a:avLst/>
          </a:prstGeom>
          <a:noFill/>
          <a:ln/>
        </p:spPr>
        <p:txBody>
          <a:bodyPr wrap="square" lIns="0" tIns="0" rIns="0" bIns="0" rtlCol="0" anchor="ctr"/>
          <a:lstStyle/>
          <a:p>
            <a:pPr indent="0" marL="0">
              <a:buNone/>
            </a:pPr>
            <a:r>
              <a:rPr lang="en-US" sz="1900" b="1" dirty="0">
                <a:solidFill>
                  <a:srgbClr val="14312A"/>
                </a:solidFill>
                <a:latin typeface="Meiryo" pitchFamily="34" charset="0"/>
                <a:ea typeface="Meiryo" pitchFamily="34" charset="-122"/>
                <a:cs typeface="Meiryo" pitchFamily="34" charset="-120"/>
              </a:rPr>
              <a:t>既存教科の充実</a:t>
            </a:r>
            <a:endParaRPr lang="en-US" sz="1900" dirty="0"/>
          </a:p>
        </p:txBody>
      </p:sp>
      <p:sp>
        <p:nvSpPr>
          <p:cNvPr id="9" name="Text 7"/>
          <p:cNvSpPr txBox="1"/>
          <p:nvPr/>
        </p:nvSpPr>
        <p:spPr>
          <a:xfrm>
            <a:off x="1719072" y="2212848"/>
            <a:ext cx="5669280" cy="502920"/>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自校の課題に応じて、特定の教科等に時間を上乗せする</a:t>
            </a:r>
            <a:endParaRPr lang="en-US" sz="1350" dirty="0"/>
          </a:p>
        </p:txBody>
      </p:sp>
      <p:sp>
        <p:nvSpPr>
          <p:cNvPr id="10" name="Shape 8"/>
          <p:cNvSpPr/>
          <p:nvPr/>
        </p:nvSpPr>
        <p:spPr>
          <a:xfrm>
            <a:off x="7772400" y="1901952"/>
            <a:ext cx="3413455" cy="658368"/>
          </a:xfrm>
          <a:prstGeom prst="roundRect">
            <a:avLst>
              <a:gd name="adj" fmla="val 8333"/>
            </a:avLst>
          </a:prstGeom>
          <a:solidFill>
            <a:srgbClr val="FFFFFF"/>
          </a:solidFill>
          <a:ln/>
        </p:spPr>
      </p:sp>
      <p:sp>
        <p:nvSpPr>
          <p:cNvPr id="11" name="Text 9"/>
          <p:cNvSpPr txBox="1"/>
          <p:nvPr/>
        </p:nvSpPr>
        <p:spPr>
          <a:xfrm>
            <a:off x="7955280" y="2029968"/>
            <a:ext cx="3047695" cy="438912"/>
          </a:xfrm>
          <a:prstGeom prst="rect">
            <a:avLst/>
          </a:prstGeom>
          <a:noFill/>
          <a:ln/>
        </p:spPr>
        <p:txBody>
          <a:bodyPr wrap="square" lIns="0" tIns="0" rIns="0" bIns="0" rtlCol="0" anchor="ctr"/>
          <a:lstStyle/>
          <a:p>
            <a:pPr indent="0" marL="0">
              <a:buNone/>
            </a:pPr>
            <a:r>
              <a:rPr lang="en-US" sz="1250" dirty="0">
                <a:solidFill>
                  <a:srgbClr val="1F5D4C"/>
                </a:solidFill>
                <a:latin typeface="Meiryo" pitchFamily="34" charset="0"/>
                <a:ea typeface="Meiryo" pitchFamily="34" charset="-122"/>
                <a:cs typeface="Meiryo" pitchFamily="34" charset="-120"/>
              </a:rPr>
              <a:t>例：読み書きに課題 → 国語に上乗せ</a:t>
            </a:r>
            <a:endParaRPr lang="en-US" sz="1250" dirty="0"/>
          </a:p>
        </p:txBody>
      </p:sp>
      <p:sp>
        <p:nvSpPr>
          <p:cNvPr id="12" name="Shape 10"/>
          <p:cNvSpPr/>
          <p:nvPr/>
        </p:nvSpPr>
        <p:spPr>
          <a:xfrm>
            <a:off x="640080" y="3035808"/>
            <a:ext cx="10911535" cy="1353312"/>
          </a:xfrm>
          <a:prstGeom prst="roundRect">
            <a:avLst>
              <a:gd name="adj" fmla="val 4054"/>
            </a:avLst>
          </a:prstGeom>
          <a:solidFill>
            <a:srgbClr val="F1F5F2"/>
          </a:solidFill>
          <a:ln/>
        </p:spPr>
      </p:sp>
      <p:sp>
        <p:nvSpPr>
          <p:cNvPr id="13" name="Shape 11"/>
          <p:cNvSpPr/>
          <p:nvPr/>
        </p:nvSpPr>
        <p:spPr>
          <a:xfrm>
            <a:off x="969264" y="3419856"/>
            <a:ext cx="566928" cy="566928"/>
          </a:xfrm>
          <a:prstGeom prst="ellipse">
            <a:avLst/>
          </a:prstGeom>
          <a:solidFill>
            <a:srgbClr val="5C8A4A"/>
          </a:solidFill>
          <a:ln/>
        </p:spPr>
      </p:sp>
      <p:sp>
        <p:nvSpPr>
          <p:cNvPr id="14" name="Text 12"/>
          <p:cNvSpPr txBox="1"/>
          <p:nvPr/>
        </p:nvSpPr>
        <p:spPr>
          <a:xfrm>
            <a:off x="969264" y="3538728"/>
            <a:ext cx="566928"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②</a:t>
            </a:r>
            <a:endParaRPr lang="en-US" sz="2000" dirty="0"/>
          </a:p>
        </p:txBody>
      </p:sp>
      <p:sp>
        <p:nvSpPr>
          <p:cNvPr id="15" name="Text 13"/>
          <p:cNvSpPr txBox="1"/>
          <p:nvPr/>
        </p:nvSpPr>
        <p:spPr>
          <a:xfrm>
            <a:off x="1719072" y="3236976"/>
            <a:ext cx="4937760" cy="384048"/>
          </a:xfrm>
          <a:prstGeom prst="rect">
            <a:avLst/>
          </a:prstGeom>
          <a:noFill/>
          <a:ln/>
        </p:spPr>
        <p:txBody>
          <a:bodyPr wrap="square" lIns="0" tIns="0" rIns="0" bIns="0" rtlCol="0" anchor="ctr"/>
          <a:lstStyle/>
          <a:p>
            <a:pPr indent="0" marL="0">
              <a:buNone/>
            </a:pPr>
            <a:r>
              <a:rPr lang="en-US" sz="1900" b="1" dirty="0">
                <a:solidFill>
                  <a:srgbClr val="14312A"/>
                </a:solidFill>
                <a:latin typeface="Meiryo" pitchFamily="34" charset="0"/>
                <a:ea typeface="Meiryo" pitchFamily="34" charset="-122"/>
                <a:cs typeface="Meiryo" pitchFamily="34" charset="-120"/>
              </a:rPr>
              <a:t>学校設定教科の新設</a:t>
            </a:r>
            <a:endParaRPr lang="en-US" sz="1900" dirty="0"/>
          </a:p>
        </p:txBody>
      </p:sp>
      <p:sp>
        <p:nvSpPr>
          <p:cNvPr id="16" name="Text 14"/>
          <p:cNvSpPr txBox="1"/>
          <p:nvPr/>
        </p:nvSpPr>
        <p:spPr>
          <a:xfrm>
            <a:off x="1719072" y="3694176"/>
            <a:ext cx="5669280" cy="502920"/>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自校独自の教科等を設ける</a:t>
            </a:r>
            <a:endParaRPr lang="en-US" sz="1350" dirty="0"/>
          </a:p>
        </p:txBody>
      </p:sp>
      <p:sp>
        <p:nvSpPr>
          <p:cNvPr id="17" name="Shape 15"/>
          <p:cNvSpPr/>
          <p:nvPr/>
        </p:nvSpPr>
        <p:spPr>
          <a:xfrm>
            <a:off x="7772400" y="3383280"/>
            <a:ext cx="3413455" cy="658368"/>
          </a:xfrm>
          <a:prstGeom prst="roundRect">
            <a:avLst>
              <a:gd name="adj" fmla="val 8333"/>
            </a:avLst>
          </a:prstGeom>
          <a:solidFill>
            <a:srgbClr val="FFFFFF"/>
          </a:solidFill>
          <a:ln/>
        </p:spPr>
      </p:sp>
      <p:sp>
        <p:nvSpPr>
          <p:cNvPr id="18" name="Text 16"/>
          <p:cNvSpPr txBox="1"/>
          <p:nvPr/>
        </p:nvSpPr>
        <p:spPr>
          <a:xfrm>
            <a:off x="7955280" y="3511296"/>
            <a:ext cx="3047695" cy="438912"/>
          </a:xfrm>
          <a:prstGeom prst="rect">
            <a:avLst/>
          </a:prstGeom>
          <a:noFill/>
          <a:ln/>
        </p:spPr>
        <p:txBody>
          <a:bodyPr wrap="square" lIns="0" tIns="0" rIns="0" bIns="0" rtlCol="0" anchor="ctr"/>
          <a:lstStyle/>
          <a:p>
            <a:pPr indent="0" marL="0">
              <a:buNone/>
            </a:pPr>
            <a:r>
              <a:rPr lang="en-US" sz="1250" dirty="0">
                <a:solidFill>
                  <a:srgbClr val="1F5D4C"/>
                </a:solidFill>
                <a:latin typeface="Meiryo" pitchFamily="34" charset="0"/>
                <a:ea typeface="Meiryo" pitchFamily="34" charset="-122"/>
                <a:cs typeface="Meiryo" pitchFamily="34" charset="-120"/>
              </a:rPr>
              <a:t>例：地域探究、キャリア、ICT活用</a:t>
            </a:r>
            <a:endParaRPr lang="en-US" sz="1250" dirty="0"/>
          </a:p>
        </p:txBody>
      </p:sp>
      <p:sp>
        <p:nvSpPr>
          <p:cNvPr id="19" name="Shape 17"/>
          <p:cNvSpPr/>
          <p:nvPr/>
        </p:nvSpPr>
        <p:spPr>
          <a:xfrm>
            <a:off x="640080" y="4517136"/>
            <a:ext cx="10911535" cy="1353312"/>
          </a:xfrm>
          <a:prstGeom prst="roundRect">
            <a:avLst>
              <a:gd name="adj" fmla="val 4054"/>
            </a:avLst>
          </a:prstGeom>
          <a:solidFill>
            <a:srgbClr val="F1F5F2"/>
          </a:solidFill>
          <a:ln/>
        </p:spPr>
      </p:sp>
      <p:sp>
        <p:nvSpPr>
          <p:cNvPr id="20" name="Shape 18"/>
          <p:cNvSpPr/>
          <p:nvPr/>
        </p:nvSpPr>
        <p:spPr>
          <a:xfrm>
            <a:off x="969264" y="4901184"/>
            <a:ext cx="566928" cy="566928"/>
          </a:xfrm>
          <a:prstGeom prst="ellipse">
            <a:avLst/>
          </a:prstGeom>
          <a:solidFill>
            <a:srgbClr val="B26B1B"/>
          </a:solidFill>
          <a:ln/>
        </p:spPr>
      </p:sp>
      <p:sp>
        <p:nvSpPr>
          <p:cNvPr id="21" name="Text 19"/>
          <p:cNvSpPr txBox="1"/>
          <p:nvPr/>
        </p:nvSpPr>
        <p:spPr>
          <a:xfrm>
            <a:off x="969264" y="5020056"/>
            <a:ext cx="566928"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③</a:t>
            </a:r>
            <a:endParaRPr lang="en-US" sz="2000" dirty="0"/>
          </a:p>
        </p:txBody>
      </p:sp>
      <p:sp>
        <p:nvSpPr>
          <p:cNvPr id="22" name="Text 20"/>
          <p:cNvSpPr txBox="1"/>
          <p:nvPr/>
        </p:nvSpPr>
        <p:spPr>
          <a:xfrm>
            <a:off x="1719072" y="4718304"/>
            <a:ext cx="4937760" cy="384048"/>
          </a:xfrm>
          <a:prstGeom prst="rect">
            <a:avLst/>
          </a:prstGeom>
          <a:noFill/>
          <a:ln/>
        </p:spPr>
        <p:txBody>
          <a:bodyPr wrap="square" lIns="0" tIns="0" rIns="0" bIns="0" rtlCol="0" anchor="ctr"/>
          <a:lstStyle/>
          <a:p>
            <a:pPr indent="0" marL="0">
              <a:buNone/>
            </a:pPr>
            <a:r>
              <a:rPr lang="en-US" sz="1900" b="1" dirty="0">
                <a:solidFill>
                  <a:srgbClr val="14312A"/>
                </a:solidFill>
                <a:latin typeface="Meiryo" pitchFamily="34" charset="0"/>
                <a:ea typeface="Meiryo" pitchFamily="34" charset="-122"/>
                <a:cs typeface="Meiryo" pitchFamily="34" charset="-120"/>
              </a:rPr>
              <a:t>「裁量的な時間」への充当</a:t>
            </a:r>
            <a:endParaRPr lang="en-US" sz="1900" dirty="0"/>
          </a:p>
        </p:txBody>
      </p:sp>
      <p:sp>
        <p:nvSpPr>
          <p:cNvPr id="23" name="Text 21"/>
          <p:cNvSpPr txBox="1"/>
          <p:nvPr/>
        </p:nvSpPr>
        <p:spPr>
          <a:xfrm>
            <a:off x="1719072" y="5175504"/>
            <a:ext cx="5669280" cy="502920"/>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授業以外の、学びの質を高める活動に充てる</a:t>
            </a:r>
            <a:endParaRPr lang="en-US" sz="1350" dirty="0"/>
          </a:p>
        </p:txBody>
      </p:sp>
      <p:sp>
        <p:nvSpPr>
          <p:cNvPr id="24" name="Shape 22"/>
          <p:cNvSpPr/>
          <p:nvPr/>
        </p:nvSpPr>
        <p:spPr>
          <a:xfrm>
            <a:off x="7772400" y="4864608"/>
            <a:ext cx="3413455" cy="658368"/>
          </a:xfrm>
          <a:prstGeom prst="roundRect">
            <a:avLst>
              <a:gd name="adj" fmla="val 8333"/>
            </a:avLst>
          </a:prstGeom>
          <a:solidFill>
            <a:srgbClr val="FFFFFF"/>
          </a:solidFill>
          <a:ln/>
        </p:spPr>
      </p:sp>
      <p:sp>
        <p:nvSpPr>
          <p:cNvPr id="25" name="Text 23"/>
          <p:cNvSpPr txBox="1"/>
          <p:nvPr/>
        </p:nvSpPr>
        <p:spPr>
          <a:xfrm>
            <a:off x="7955280" y="4992624"/>
            <a:ext cx="3047695" cy="438912"/>
          </a:xfrm>
          <a:prstGeom prst="rect">
            <a:avLst/>
          </a:prstGeom>
          <a:noFill/>
          <a:ln/>
        </p:spPr>
        <p:txBody>
          <a:bodyPr wrap="square" lIns="0" tIns="0" rIns="0" bIns="0" rtlCol="0" anchor="ctr"/>
          <a:lstStyle/>
          <a:p>
            <a:pPr indent="0" marL="0">
              <a:buNone/>
            </a:pPr>
            <a:r>
              <a:rPr lang="en-US" sz="1250" dirty="0">
                <a:solidFill>
                  <a:srgbClr val="1F5D4C"/>
                </a:solidFill>
                <a:latin typeface="Meiryo" pitchFamily="34" charset="0"/>
                <a:ea typeface="Meiryo" pitchFamily="34" charset="-122"/>
                <a:cs typeface="Meiryo" pitchFamily="34" charset="-120"/>
              </a:rPr>
              <a:t>例：個別の学習支援、教員の研究・研修</a:t>
            </a:r>
            <a:endParaRPr lang="en-US" sz="1250" dirty="0"/>
          </a:p>
        </p:txBody>
      </p:sp>
      <p:sp>
        <p:nvSpPr>
          <p:cNvPr id="26" name="Text 24"/>
          <p:cNvSpPr txBox="1"/>
          <p:nvPr/>
        </p:nvSpPr>
        <p:spPr>
          <a:xfrm>
            <a:off x="640080" y="6016752"/>
            <a:ext cx="10911535" cy="347472"/>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③が、これまでの制度になかった発想です。授業以外にも時数を充てられます。</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21</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Ⅱ－8</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ルールと制約</a:t>
            </a:r>
            <a:endParaRPr lang="en-US" sz="2800" dirty="0"/>
          </a:p>
        </p:txBody>
      </p:sp>
      <p:sp>
        <p:nvSpPr>
          <p:cNvPr id="5" name="Shape 3"/>
          <p:cNvSpPr/>
          <p:nvPr/>
        </p:nvSpPr>
        <p:spPr>
          <a:xfrm>
            <a:off x="640080" y="1517904"/>
            <a:ext cx="10911535" cy="841248"/>
          </a:xfrm>
          <a:prstGeom prst="roundRect">
            <a:avLst>
              <a:gd name="adj" fmla="val 6522"/>
            </a:avLst>
          </a:prstGeom>
          <a:solidFill>
            <a:srgbClr val="F1F5F2"/>
          </a:solidFill>
          <a:ln/>
        </p:spPr>
      </p:sp>
      <p:sp>
        <p:nvSpPr>
          <p:cNvPr id="6" name="Shape 4"/>
          <p:cNvSpPr/>
          <p:nvPr/>
        </p:nvSpPr>
        <p:spPr>
          <a:xfrm>
            <a:off x="932688" y="1709928"/>
            <a:ext cx="457200" cy="457200"/>
          </a:xfrm>
          <a:prstGeom prst="ellipse">
            <a:avLst/>
          </a:prstGeom>
          <a:solidFill>
            <a:srgbClr val="1F5D4C"/>
          </a:solidFill>
          <a:ln/>
        </p:spPr>
      </p:sp>
      <p:sp>
        <p:nvSpPr>
          <p:cNvPr id="7" name="Text 5"/>
          <p:cNvSpPr txBox="1"/>
          <p:nvPr/>
        </p:nvSpPr>
        <p:spPr>
          <a:xfrm>
            <a:off x="932688" y="1773936"/>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1</a:t>
            </a:r>
            <a:endParaRPr lang="en-US" sz="1500" dirty="0"/>
          </a:p>
        </p:txBody>
      </p:sp>
      <p:sp>
        <p:nvSpPr>
          <p:cNvPr id="8" name="Text 6"/>
          <p:cNvSpPr txBox="1"/>
          <p:nvPr/>
        </p:nvSpPr>
        <p:spPr>
          <a:xfrm>
            <a:off x="1554480" y="1609344"/>
            <a:ext cx="4206240" cy="36576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総時数は減らさない</a:t>
            </a:r>
            <a:endParaRPr lang="en-US" sz="1600" dirty="0"/>
          </a:p>
        </p:txBody>
      </p:sp>
      <p:sp>
        <p:nvSpPr>
          <p:cNvPr id="9" name="Text 7"/>
          <p:cNvSpPr txBox="1"/>
          <p:nvPr/>
        </p:nvSpPr>
        <p:spPr>
          <a:xfrm>
            <a:off x="1554480" y="1975104"/>
            <a:ext cx="9539935" cy="329184"/>
          </a:xfrm>
          <a:prstGeom prst="rect">
            <a:avLst/>
          </a:prstGeom>
          <a:noFill/>
          <a:ln/>
        </p:spPr>
        <p:txBody>
          <a:bodyPr wrap="square" lIns="0" tIns="0" rIns="0" bIns="0" rtlCol="0" anchor="ctr"/>
          <a:lstStyle/>
          <a:p>
            <a:pPr indent="0" marL="0">
              <a:buNone/>
            </a:pPr>
            <a:r>
              <a:rPr lang="en-US" sz="1250" dirty="0">
                <a:solidFill>
                  <a:srgbClr val="1C2320"/>
                </a:solidFill>
                <a:latin typeface="Meiryo" pitchFamily="34" charset="0"/>
                <a:ea typeface="Meiryo" pitchFamily="34" charset="-122"/>
                <a:cs typeface="Meiryo" pitchFamily="34" charset="-120"/>
              </a:rPr>
              <a:t>年間の標準授業時数の総枠は維持されます</a:t>
            </a:r>
            <a:endParaRPr lang="en-US" sz="1250" dirty="0"/>
          </a:p>
        </p:txBody>
      </p:sp>
      <p:sp>
        <p:nvSpPr>
          <p:cNvPr id="10" name="Shape 8"/>
          <p:cNvSpPr/>
          <p:nvPr/>
        </p:nvSpPr>
        <p:spPr>
          <a:xfrm>
            <a:off x="640080" y="2450592"/>
            <a:ext cx="10911535" cy="841248"/>
          </a:xfrm>
          <a:prstGeom prst="roundRect">
            <a:avLst>
              <a:gd name="adj" fmla="val 6522"/>
            </a:avLst>
          </a:prstGeom>
          <a:solidFill>
            <a:srgbClr val="E4EDE6"/>
          </a:solidFill>
          <a:ln/>
        </p:spPr>
      </p:sp>
      <p:sp>
        <p:nvSpPr>
          <p:cNvPr id="11" name="Shape 9"/>
          <p:cNvSpPr/>
          <p:nvPr/>
        </p:nvSpPr>
        <p:spPr>
          <a:xfrm>
            <a:off x="932688" y="2642616"/>
            <a:ext cx="457200" cy="457200"/>
          </a:xfrm>
          <a:prstGeom prst="ellipse">
            <a:avLst/>
          </a:prstGeom>
          <a:solidFill>
            <a:srgbClr val="B26B1B"/>
          </a:solidFill>
          <a:ln/>
        </p:spPr>
      </p:sp>
      <p:sp>
        <p:nvSpPr>
          <p:cNvPr id="12" name="Text 10"/>
          <p:cNvSpPr txBox="1"/>
          <p:nvPr/>
        </p:nvSpPr>
        <p:spPr>
          <a:xfrm>
            <a:off x="932688" y="2706624"/>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2</a:t>
            </a:r>
            <a:endParaRPr lang="en-US" sz="1500" dirty="0"/>
          </a:p>
        </p:txBody>
      </p:sp>
      <p:sp>
        <p:nvSpPr>
          <p:cNvPr id="13" name="Text 11"/>
          <p:cNvSpPr txBox="1"/>
          <p:nvPr/>
        </p:nvSpPr>
        <p:spPr>
          <a:xfrm>
            <a:off x="1554480" y="2542032"/>
            <a:ext cx="4206240" cy="36576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削減の上限が設けられる</a:t>
            </a:r>
            <a:endParaRPr lang="en-US" sz="1600" dirty="0"/>
          </a:p>
        </p:txBody>
      </p:sp>
      <p:sp>
        <p:nvSpPr>
          <p:cNvPr id="14" name="Text 12"/>
          <p:cNvSpPr txBox="1"/>
          <p:nvPr/>
        </p:nvSpPr>
        <p:spPr>
          <a:xfrm>
            <a:off x="1554480" y="2907792"/>
            <a:ext cx="9539935" cy="329184"/>
          </a:xfrm>
          <a:prstGeom prst="rect">
            <a:avLst/>
          </a:prstGeom>
          <a:noFill/>
          <a:ln/>
        </p:spPr>
        <p:txBody>
          <a:bodyPr wrap="square" lIns="0" tIns="0" rIns="0" bIns="0" rtlCol="0" anchor="ctr"/>
          <a:lstStyle/>
          <a:p>
            <a:pPr indent="0" marL="0">
              <a:buNone/>
            </a:pPr>
            <a:r>
              <a:rPr lang="en-US" sz="1250" dirty="0">
                <a:solidFill>
                  <a:srgbClr val="1C2320"/>
                </a:solidFill>
                <a:latin typeface="Meiryo" pitchFamily="34" charset="0"/>
                <a:ea typeface="Meiryo" pitchFamily="34" charset="-122"/>
                <a:cs typeface="Meiryo" pitchFamily="34" charset="-120"/>
              </a:rPr>
              <a:t>現行の授業時数特例校制度（1割程度）を上回る方向で検討中</a:t>
            </a:r>
            <a:endParaRPr lang="en-US" sz="1250" dirty="0"/>
          </a:p>
        </p:txBody>
      </p:sp>
      <p:sp>
        <p:nvSpPr>
          <p:cNvPr id="15" name="Shape 13"/>
          <p:cNvSpPr/>
          <p:nvPr/>
        </p:nvSpPr>
        <p:spPr>
          <a:xfrm>
            <a:off x="640080" y="3383280"/>
            <a:ext cx="10911535" cy="841248"/>
          </a:xfrm>
          <a:prstGeom prst="roundRect">
            <a:avLst>
              <a:gd name="adj" fmla="val 6522"/>
            </a:avLst>
          </a:prstGeom>
          <a:solidFill>
            <a:srgbClr val="F1F5F2"/>
          </a:solidFill>
          <a:ln/>
        </p:spPr>
      </p:sp>
      <p:sp>
        <p:nvSpPr>
          <p:cNvPr id="16" name="Shape 14"/>
          <p:cNvSpPr/>
          <p:nvPr/>
        </p:nvSpPr>
        <p:spPr>
          <a:xfrm>
            <a:off x="932688" y="3575304"/>
            <a:ext cx="457200" cy="457200"/>
          </a:xfrm>
          <a:prstGeom prst="ellipse">
            <a:avLst/>
          </a:prstGeom>
          <a:solidFill>
            <a:srgbClr val="5C8A4A"/>
          </a:solidFill>
          <a:ln/>
        </p:spPr>
      </p:sp>
      <p:sp>
        <p:nvSpPr>
          <p:cNvPr id="17" name="Text 15"/>
          <p:cNvSpPr txBox="1"/>
          <p:nvPr/>
        </p:nvSpPr>
        <p:spPr>
          <a:xfrm>
            <a:off x="932688" y="3639312"/>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3</a:t>
            </a:r>
            <a:endParaRPr lang="en-US" sz="1500" dirty="0"/>
          </a:p>
        </p:txBody>
      </p:sp>
      <p:sp>
        <p:nvSpPr>
          <p:cNvPr id="18" name="Text 16"/>
          <p:cNvSpPr txBox="1"/>
          <p:nvPr/>
        </p:nvSpPr>
        <p:spPr>
          <a:xfrm>
            <a:off x="1554480" y="3474720"/>
            <a:ext cx="4206240" cy="36576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年35コマ以下の教科等は対象外</a:t>
            </a:r>
            <a:endParaRPr lang="en-US" sz="1600" dirty="0"/>
          </a:p>
        </p:txBody>
      </p:sp>
      <p:sp>
        <p:nvSpPr>
          <p:cNvPr id="19" name="Text 17"/>
          <p:cNvSpPr txBox="1"/>
          <p:nvPr/>
        </p:nvSpPr>
        <p:spPr>
          <a:xfrm>
            <a:off x="1554480" y="3840480"/>
            <a:ext cx="9539935" cy="329184"/>
          </a:xfrm>
          <a:prstGeom prst="rect">
            <a:avLst/>
          </a:prstGeom>
          <a:noFill/>
          <a:ln/>
        </p:spPr>
        <p:txBody>
          <a:bodyPr wrap="square" lIns="0" tIns="0" rIns="0" bIns="0" rtlCol="0" anchor="ctr"/>
          <a:lstStyle/>
          <a:p>
            <a:pPr indent="0" marL="0">
              <a:buNone/>
            </a:pPr>
            <a:r>
              <a:rPr lang="en-US" sz="1250" dirty="0">
                <a:solidFill>
                  <a:srgbClr val="1C2320"/>
                </a:solidFill>
                <a:latin typeface="Meiryo" pitchFamily="34" charset="0"/>
                <a:ea typeface="Meiryo" pitchFamily="34" charset="-122"/>
                <a:cs typeface="Meiryo" pitchFamily="34" charset="-120"/>
              </a:rPr>
              <a:t>道徳など、もともと時数の少ない教科等は削減の対象から除かれます</a:t>
            </a:r>
            <a:endParaRPr lang="en-US" sz="1250" dirty="0"/>
          </a:p>
        </p:txBody>
      </p:sp>
      <p:sp>
        <p:nvSpPr>
          <p:cNvPr id="20" name="Shape 18"/>
          <p:cNvSpPr/>
          <p:nvPr/>
        </p:nvSpPr>
        <p:spPr>
          <a:xfrm>
            <a:off x="640080" y="4315968"/>
            <a:ext cx="10911535" cy="841248"/>
          </a:xfrm>
          <a:prstGeom prst="roundRect">
            <a:avLst>
              <a:gd name="adj" fmla="val 6522"/>
            </a:avLst>
          </a:prstGeom>
          <a:solidFill>
            <a:srgbClr val="E4EDE6"/>
          </a:solidFill>
          <a:ln/>
        </p:spPr>
      </p:sp>
      <p:sp>
        <p:nvSpPr>
          <p:cNvPr id="21" name="Shape 19"/>
          <p:cNvSpPr/>
          <p:nvPr/>
        </p:nvSpPr>
        <p:spPr>
          <a:xfrm>
            <a:off x="932688" y="4507992"/>
            <a:ext cx="457200" cy="457200"/>
          </a:xfrm>
          <a:prstGeom prst="ellipse">
            <a:avLst/>
          </a:prstGeom>
          <a:solidFill>
            <a:srgbClr val="5C8A4A"/>
          </a:solidFill>
          <a:ln/>
        </p:spPr>
      </p:sp>
      <p:sp>
        <p:nvSpPr>
          <p:cNvPr id="22" name="Text 20"/>
          <p:cNvSpPr txBox="1"/>
          <p:nvPr/>
        </p:nvSpPr>
        <p:spPr>
          <a:xfrm>
            <a:off x="932688" y="4572000"/>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4</a:t>
            </a:r>
            <a:endParaRPr lang="en-US" sz="1500" dirty="0"/>
          </a:p>
        </p:txBody>
      </p:sp>
      <p:sp>
        <p:nvSpPr>
          <p:cNvPr id="23" name="Text 21"/>
          <p:cNvSpPr txBox="1"/>
          <p:nvPr/>
        </p:nvSpPr>
        <p:spPr>
          <a:xfrm>
            <a:off x="1554480" y="4407408"/>
            <a:ext cx="4206240" cy="36576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減らしても年35コマは下回らない</a:t>
            </a:r>
            <a:endParaRPr lang="en-US" sz="1600" dirty="0"/>
          </a:p>
        </p:txBody>
      </p:sp>
      <p:sp>
        <p:nvSpPr>
          <p:cNvPr id="24" name="Text 22"/>
          <p:cNvSpPr txBox="1"/>
          <p:nvPr/>
        </p:nvSpPr>
        <p:spPr>
          <a:xfrm>
            <a:off x="1554480" y="4773168"/>
            <a:ext cx="9539935" cy="329184"/>
          </a:xfrm>
          <a:prstGeom prst="rect">
            <a:avLst/>
          </a:prstGeom>
          <a:noFill/>
          <a:ln/>
        </p:spPr>
        <p:txBody>
          <a:bodyPr wrap="square" lIns="0" tIns="0" rIns="0" bIns="0" rtlCol="0" anchor="ctr"/>
          <a:lstStyle/>
          <a:p>
            <a:pPr indent="0" marL="0">
              <a:buNone/>
            </a:pPr>
            <a:r>
              <a:rPr lang="en-US" sz="1250" dirty="0">
                <a:solidFill>
                  <a:srgbClr val="1C2320"/>
                </a:solidFill>
                <a:latin typeface="Meiryo" pitchFamily="34" charset="0"/>
                <a:ea typeface="Meiryo" pitchFamily="34" charset="-122"/>
                <a:cs typeface="Meiryo" pitchFamily="34" charset="-120"/>
              </a:rPr>
              <a:t>すべての教科等で週1コマは確保される設計です</a:t>
            </a:r>
            <a:endParaRPr lang="en-US" sz="1250" dirty="0"/>
          </a:p>
        </p:txBody>
      </p:sp>
      <p:sp>
        <p:nvSpPr>
          <p:cNvPr id="25" name="Shape 23"/>
          <p:cNvSpPr/>
          <p:nvPr/>
        </p:nvSpPr>
        <p:spPr>
          <a:xfrm>
            <a:off x="640080" y="5248656"/>
            <a:ext cx="10911535" cy="841248"/>
          </a:xfrm>
          <a:prstGeom prst="roundRect">
            <a:avLst>
              <a:gd name="adj" fmla="val 6522"/>
            </a:avLst>
          </a:prstGeom>
          <a:solidFill>
            <a:srgbClr val="F1F5F2"/>
          </a:solidFill>
          <a:ln/>
        </p:spPr>
      </p:sp>
      <p:sp>
        <p:nvSpPr>
          <p:cNvPr id="26" name="Shape 24"/>
          <p:cNvSpPr/>
          <p:nvPr/>
        </p:nvSpPr>
        <p:spPr>
          <a:xfrm>
            <a:off x="932688" y="5440680"/>
            <a:ext cx="457200" cy="457200"/>
          </a:xfrm>
          <a:prstGeom prst="ellipse">
            <a:avLst/>
          </a:prstGeom>
          <a:solidFill>
            <a:srgbClr val="B26B1B"/>
          </a:solidFill>
          <a:ln/>
        </p:spPr>
      </p:sp>
      <p:sp>
        <p:nvSpPr>
          <p:cNvPr id="27" name="Text 25"/>
          <p:cNvSpPr txBox="1"/>
          <p:nvPr/>
        </p:nvSpPr>
        <p:spPr>
          <a:xfrm>
            <a:off x="932688" y="5504688"/>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5</a:t>
            </a:r>
            <a:endParaRPr lang="en-US" sz="1500" dirty="0"/>
          </a:p>
        </p:txBody>
      </p:sp>
      <p:sp>
        <p:nvSpPr>
          <p:cNvPr id="28" name="Text 26"/>
          <p:cNvSpPr txBox="1"/>
          <p:nvPr/>
        </p:nvSpPr>
        <p:spPr>
          <a:xfrm>
            <a:off x="1554480" y="5340096"/>
            <a:ext cx="4206240" cy="36576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「裁量的な時間」にも上限</a:t>
            </a:r>
            <a:endParaRPr lang="en-US" sz="1600" dirty="0"/>
          </a:p>
        </p:txBody>
      </p:sp>
      <p:sp>
        <p:nvSpPr>
          <p:cNvPr id="29" name="Text 27"/>
          <p:cNvSpPr txBox="1"/>
          <p:nvPr/>
        </p:nvSpPr>
        <p:spPr>
          <a:xfrm>
            <a:off x="1554480" y="5705856"/>
            <a:ext cx="9539935" cy="329184"/>
          </a:xfrm>
          <a:prstGeom prst="rect">
            <a:avLst/>
          </a:prstGeom>
          <a:noFill/>
          <a:ln/>
        </p:spPr>
        <p:txBody>
          <a:bodyPr wrap="square" lIns="0" tIns="0" rIns="0" bIns="0" rtlCol="0" anchor="ctr"/>
          <a:lstStyle/>
          <a:p>
            <a:pPr indent="0" marL="0">
              <a:buNone/>
            </a:pPr>
            <a:r>
              <a:rPr lang="en-US" sz="1250" dirty="0">
                <a:solidFill>
                  <a:srgbClr val="1C2320"/>
                </a:solidFill>
                <a:latin typeface="Meiryo" pitchFamily="34" charset="0"/>
                <a:ea typeface="Meiryo" pitchFamily="34" charset="-122"/>
                <a:cs typeface="Meiryo" pitchFamily="34" charset="-120"/>
              </a:rPr>
              <a:t>際限なく授業以外に振り向けることはできません</a:t>
            </a:r>
            <a:endParaRPr lang="en-US" sz="1250" dirty="0"/>
          </a:p>
        </p:txBody>
      </p:sp>
      <p:sp>
        <p:nvSpPr>
          <p:cNvPr id="30" name="Text 28"/>
          <p:cNvSpPr txBox="1"/>
          <p:nvPr/>
        </p:nvSpPr>
        <p:spPr>
          <a:xfrm>
            <a:off x="640080" y="6291072"/>
            <a:ext cx="9997135" cy="310896"/>
          </a:xfrm>
          <a:prstGeom prst="rect">
            <a:avLst/>
          </a:prstGeom>
          <a:noFill/>
          <a:ln/>
        </p:spPr>
        <p:txBody>
          <a:bodyPr wrap="square" lIns="0" tIns="0" rIns="0" bIns="0" rtlCol="0" anchor="t"/>
          <a:lstStyle/>
          <a:p>
            <a:pPr indent="0" marL="0">
              <a:buNone/>
            </a:pPr>
            <a:r>
              <a:rPr lang="en-US" sz="950" dirty="0">
                <a:solidFill>
                  <a:srgbClr val="5B6660"/>
                </a:solidFill>
                <a:latin typeface="Meiryo" pitchFamily="34" charset="0"/>
                <a:ea typeface="Meiryo" pitchFamily="34" charset="-122"/>
                <a:cs typeface="Meiryo" pitchFamily="34" charset="-120"/>
              </a:rPr>
              <a:t>※具体的な上限値は審議中です。確定値は告示および区教育委員会の通知でご確認ください。</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22</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Ⅱ－9</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「裁量的な時間」とは何か</a:t>
            </a:r>
            <a:endParaRPr lang="en-US" sz="2800" dirty="0"/>
          </a:p>
        </p:txBody>
      </p:sp>
      <p:sp>
        <p:nvSpPr>
          <p:cNvPr id="5" name="Shape 3"/>
          <p:cNvSpPr/>
          <p:nvPr/>
        </p:nvSpPr>
        <p:spPr>
          <a:xfrm>
            <a:off x="640080" y="1517904"/>
            <a:ext cx="10911535" cy="914400"/>
          </a:xfrm>
          <a:prstGeom prst="roundRect">
            <a:avLst>
              <a:gd name="adj" fmla="val 6000"/>
            </a:avLst>
          </a:prstGeom>
          <a:solidFill>
            <a:srgbClr val="14312A"/>
          </a:solidFill>
          <a:ln/>
        </p:spPr>
      </p:sp>
      <p:sp>
        <p:nvSpPr>
          <p:cNvPr id="6" name="Text 4"/>
          <p:cNvSpPr txBox="1"/>
          <p:nvPr/>
        </p:nvSpPr>
        <p:spPr>
          <a:xfrm>
            <a:off x="1097280" y="1737360"/>
            <a:ext cx="9997135" cy="438912"/>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授業のコマとしてではなく、学びの質を高める活動に充てられる時間</a:t>
            </a:r>
            <a:endParaRPr lang="en-US" sz="1800" dirty="0"/>
          </a:p>
        </p:txBody>
      </p:sp>
      <p:sp>
        <p:nvSpPr>
          <p:cNvPr id="7" name="Shape 5"/>
          <p:cNvSpPr/>
          <p:nvPr/>
        </p:nvSpPr>
        <p:spPr>
          <a:xfrm>
            <a:off x="640080" y="2633472"/>
            <a:ext cx="5272888" cy="2331720"/>
          </a:xfrm>
          <a:prstGeom prst="roundRect">
            <a:avLst>
              <a:gd name="adj" fmla="val 2353"/>
            </a:avLst>
          </a:prstGeom>
          <a:solidFill>
            <a:srgbClr val="F1F5F2"/>
          </a:solidFill>
          <a:ln/>
        </p:spPr>
      </p:sp>
      <p:sp>
        <p:nvSpPr>
          <p:cNvPr id="8" name="Shape 6"/>
          <p:cNvSpPr/>
          <p:nvPr/>
        </p:nvSpPr>
        <p:spPr>
          <a:xfrm>
            <a:off x="987552" y="2889504"/>
            <a:ext cx="475488" cy="475488"/>
          </a:xfrm>
          <a:prstGeom prst="ellipse">
            <a:avLst/>
          </a:prstGeom>
          <a:solidFill>
            <a:srgbClr val="1F5D4C"/>
          </a:solidFill>
          <a:ln/>
        </p:spPr>
      </p:sp>
      <p:sp>
        <p:nvSpPr>
          <p:cNvPr id="9" name="Text 7"/>
          <p:cNvSpPr txBox="1"/>
          <p:nvPr/>
        </p:nvSpPr>
        <p:spPr>
          <a:xfrm>
            <a:off x="987552" y="2962656"/>
            <a:ext cx="475488"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子</a:t>
            </a:r>
            <a:endParaRPr lang="en-US" sz="1500" dirty="0"/>
          </a:p>
        </p:txBody>
      </p:sp>
      <p:sp>
        <p:nvSpPr>
          <p:cNvPr id="10" name="Text 8"/>
          <p:cNvSpPr txBox="1"/>
          <p:nvPr/>
        </p:nvSpPr>
        <p:spPr>
          <a:xfrm>
            <a:off x="1600200" y="2926080"/>
            <a:ext cx="3992728" cy="365760"/>
          </a:xfrm>
          <a:prstGeom prst="rect">
            <a:avLst/>
          </a:prstGeom>
          <a:noFill/>
          <a:ln/>
        </p:spPr>
        <p:txBody>
          <a:bodyPr wrap="square" lIns="0" tIns="0" rIns="0" bIns="0" rtlCol="0" anchor="ctr"/>
          <a:lstStyle/>
          <a:p>
            <a:pPr indent="0" marL="0">
              <a:buNone/>
            </a:pPr>
            <a:r>
              <a:rPr lang="en-US" sz="1800" b="1" dirty="0">
                <a:solidFill>
                  <a:srgbClr val="14312A"/>
                </a:solidFill>
                <a:latin typeface="Meiryo" pitchFamily="34" charset="0"/>
                <a:ea typeface="Meiryo" pitchFamily="34" charset="-122"/>
                <a:cs typeface="Meiryo" pitchFamily="34" charset="-120"/>
              </a:rPr>
              <a:t>子供に向けて</a:t>
            </a:r>
            <a:endParaRPr lang="en-US" sz="1800" dirty="0"/>
          </a:p>
        </p:txBody>
      </p:sp>
      <p:sp>
        <p:nvSpPr>
          <p:cNvPr id="11" name="Text 9"/>
          <p:cNvSpPr txBox="1"/>
          <p:nvPr/>
        </p:nvSpPr>
        <p:spPr>
          <a:xfrm>
            <a:off x="1024128" y="3547872"/>
            <a:ext cx="4504792" cy="12801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C2320"/>
                </a:solidFill>
                <a:latin typeface="Meiryo" pitchFamily="34" charset="0"/>
                <a:ea typeface="Meiryo" pitchFamily="34" charset="-122"/>
                <a:cs typeface="Meiryo" pitchFamily="34" charset="-120"/>
              </a:rPr>
              <a:t>つまずいている子への個別の学習支援</a:t>
            </a:r>
            <a:endParaRPr lang="en-US" sz="1350" dirty="0"/>
          </a:p>
          <a:p>
            <a:pPr marL="342900" indent="-342900">
              <a:spcAft>
                <a:spcPts val="800"/>
              </a:spcAft>
              <a:buSzPct val="100000"/>
              <a:buChar char="•"/>
            </a:pPr>
            <a:r>
              <a:rPr lang="en-US" sz="1350" dirty="0">
                <a:solidFill>
                  <a:srgbClr val="1C2320"/>
                </a:solidFill>
                <a:latin typeface="Meiryo" pitchFamily="34" charset="0"/>
                <a:ea typeface="Meiryo" pitchFamily="34" charset="-122"/>
                <a:cs typeface="Meiryo" pitchFamily="34" charset="-120"/>
              </a:rPr>
              <a:t>興味・関心を伸ばす個別の探究</a:t>
            </a:r>
            <a:endParaRPr lang="en-US" sz="1350" dirty="0"/>
          </a:p>
          <a:p>
            <a:pPr marL="342900" indent="-342900">
              <a:spcAft>
                <a:spcPts val="800"/>
              </a:spcAft>
              <a:buSzPct val="100000"/>
              <a:buChar char="•"/>
            </a:pPr>
            <a:r>
              <a:rPr lang="en-US" sz="1350" dirty="0">
                <a:solidFill>
                  <a:srgbClr val="1C2320"/>
                </a:solidFill>
                <a:latin typeface="Meiryo" pitchFamily="34" charset="0"/>
                <a:ea typeface="Meiryo" pitchFamily="34" charset="-122"/>
                <a:cs typeface="Meiryo" pitchFamily="34" charset="-120"/>
              </a:rPr>
              <a:t>多様な背景のある子への支援</a:t>
            </a:r>
            <a:endParaRPr lang="en-US" sz="1350" dirty="0"/>
          </a:p>
        </p:txBody>
      </p:sp>
      <p:sp>
        <p:nvSpPr>
          <p:cNvPr id="12" name="Shape 10"/>
          <p:cNvSpPr/>
          <p:nvPr/>
        </p:nvSpPr>
        <p:spPr>
          <a:xfrm>
            <a:off x="6278728" y="2633472"/>
            <a:ext cx="5272888" cy="2331720"/>
          </a:xfrm>
          <a:prstGeom prst="roundRect">
            <a:avLst>
              <a:gd name="adj" fmla="val 2353"/>
            </a:avLst>
          </a:prstGeom>
          <a:solidFill>
            <a:srgbClr val="F1F5F2"/>
          </a:solidFill>
          <a:ln/>
        </p:spPr>
      </p:sp>
      <p:sp>
        <p:nvSpPr>
          <p:cNvPr id="13" name="Shape 11"/>
          <p:cNvSpPr/>
          <p:nvPr/>
        </p:nvSpPr>
        <p:spPr>
          <a:xfrm>
            <a:off x="6626200" y="2889504"/>
            <a:ext cx="475488" cy="475488"/>
          </a:xfrm>
          <a:prstGeom prst="ellipse">
            <a:avLst/>
          </a:prstGeom>
          <a:solidFill>
            <a:srgbClr val="5C8A4A"/>
          </a:solidFill>
          <a:ln/>
        </p:spPr>
      </p:sp>
      <p:sp>
        <p:nvSpPr>
          <p:cNvPr id="14" name="Text 12"/>
          <p:cNvSpPr txBox="1"/>
          <p:nvPr/>
        </p:nvSpPr>
        <p:spPr>
          <a:xfrm>
            <a:off x="6626200" y="2962656"/>
            <a:ext cx="475488"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師</a:t>
            </a:r>
            <a:endParaRPr lang="en-US" sz="1500" dirty="0"/>
          </a:p>
        </p:txBody>
      </p:sp>
      <p:sp>
        <p:nvSpPr>
          <p:cNvPr id="15" name="Text 13"/>
          <p:cNvSpPr txBox="1"/>
          <p:nvPr/>
        </p:nvSpPr>
        <p:spPr>
          <a:xfrm>
            <a:off x="7238848" y="2926080"/>
            <a:ext cx="3992728" cy="365760"/>
          </a:xfrm>
          <a:prstGeom prst="rect">
            <a:avLst/>
          </a:prstGeom>
          <a:noFill/>
          <a:ln/>
        </p:spPr>
        <p:txBody>
          <a:bodyPr wrap="square" lIns="0" tIns="0" rIns="0" bIns="0" rtlCol="0" anchor="ctr"/>
          <a:lstStyle/>
          <a:p>
            <a:pPr indent="0" marL="0">
              <a:buNone/>
            </a:pPr>
            <a:r>
              <a:rPr lang="en-US" sz="1800" b="1" dirty="0">
                <a:solidFill>
                  <a:srgbClr val="14312A"/>
                </a:solidFill>
                <a:latin typeface="Meiryo" pitchFamily="34" charset="0"/>
                <a:ea typeface="Meiryo" pitchFamily="34" charset="-122"/>
                <a:cs typeface="Meiryo" pitchFamily="34" charset="-120"/>
              </a:rPr>
              <a:t>教職員に向けて</a:t>
            </a:r>
            <a:endParaRPr lang="en-US" sz="1800" dirty="0"/>
          </a:p>
        </p:txBody>
      </p:sp>
      <p:sp>
        <p:nvSpPr>
          <p:cNvPr id="16" name="Text 14"/>
          <p:cNvSpPr txBox="1"/>
          <p:nvPr/>
        </p:nvSpPr>
        <p:spPr>
          <a:xfrm>
            <a:off x="6662776" y="3547872"/>
            <a:ext cx="4504792" cy="12801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C2320"/>
                </a:solidFill>
                <a:latin typeface="Meiryo" pitchFamily="34" charset="0"/>
                <a:ea typeface="Meiryo" pitchFamily="34" charset="-122"/>
                <a:cs typeface="Meiryo" pitchFamily="34" charset="-120"/>
              </a:rPr>
              <a:t>授業改善に直結する研究・研修</a:t>
            </a:r>
            <a:endParaRPr lang="en-US" sz="1350" dirty="0"/>
          </a:p>
          <a:p>
            <a:pPr marL="342900" indent="-342900">
              <a:spcAft>
                <a:spcPts val="800"/>
              </a:spcAft>
              <a:buSzPct val="100000"/>
              <a:buChar char="•"/>
            </a:pPr>
            <a:r>
              <a:rPr lang="en-US" sz="1350" dirty="0">
                <a:solidFill>
                  <a:srgbClr val="1C2320"/>
                </a:solidFill>
                <a:latin typeface="Meiryo" pitchFamily="34" charset="0"/>
                <a:ea typeface="Meiryo" pitchFamily="34" charset="-122"/>
                <a:cs typeface="Meiryo" pitchFamily="34" charset="-120"/>
              </a:rPr>
              <a:t>教材研究の時間</a:t>
            </a:r>
            <a:endParaRPr lang="en-US" sz="1350" dirty="0"/>
          </a:p>
          <a:p>
            <a:pPr marL="342900" indent="-342900">
              <a:spcAft>
                <a:spcPts val="800"/>
              </a:spcAft>
              <a:buSzPct val="100000"/>
              <a:buChar char="•"/>
            </a:pPr>
            <a:r>
              <a:rPr lang="en-US" sz="1350" dirty="0">
                <a:solidFill>
                  <a:srgbClr val="1C2320"/>
                </a:solidFill>
                <a:latin typeface="Meiryo" pitchFamily="34" charset="0"/>
                <a:ea typeface="Meiryo" pitchFamily="34" charset="-122"/>
                <a:cs typeface="Meiryo" pitchFamily="34" charset="-120"/>
              </a:rPr>
              <a:t>学年・教科をまたいだ打ち合わせ</a:t>
            </a:r>
            <a:endParaRPr lang="en-US" sz="1350" dirty="0"/>
          </a:p>
        </p:txBody>
      </p:sp>
      <p:sp>
        <p:nvSpPr>
          <p:cNvPr id="17" name="Shape 15"/>
          <p:cNvSpPr/>
          <p:nvPr/>
        </p:nvSpPr>
        <p:spPr>
          <a:xfrm>
            <a:off x="640080" y="5212080"/>
            <a:ext cx="10911535" cy="960120"/>
          </a:xfrm>
          <a:prstGeom prst="roundRect">
            <a:avLst>
              <a:gd name="adj" fmla="val 5714"/>
            </a:avLst>
          </a:prstGeom>
          <a:solidFill>
            <a:srgbClr val="E4EDE6"/>
          </a:solidFill>
          <a:ln/>
        </p:spPr>
      </p:sp>
      <p:sp>
        <p:nvSpPr>
          <p:cNvPr id="18" name="Text 16"/>
          <p:cNvSpPr txBox="1"/>
          <p:nvPr/>
        </p:nvSpPr>
        <p:spPr>
          <a:xfrm>
            <a:off x="1097280" y="5449824"/>
            <a:ext cx="9997135" cy="457200"/>
          </a:xfrm>
          <a:prstGeom prst="rect">
            <a:avLst/>
          </a:prstGeom>
          <a:noFill/>
          <a:ln/>
        </p:spPr>
        <p:txBody>
          <a:bodyPr wrap="square" lIns="0" tIns="0" rIns="0" bIns="0" rtlCol="0" anchor="ctr"/>
          <a:lstStyle/>
          <a:p>
            <a:pPr indent="0" marL="0">
              <a:buNone/>
            </a:pPr>
            <a:r>
              <a:rPr lang="en-US" sz="1700" b="1" dirty="0">
                <a:solidFill>
                  <a:srgbClr val="1F5D4C"/>
                </a:solidFill>
                <a:latin typeface="Meiryo" pitchFamily="34" charset="0"/>
                <a:ea typeface="Meiryo" pitchFamily="34" charset="-122"/>
                <a:cs typeface="Meiryo" pitchFamily="34" charset="-120"/>
              </a:rPr>
              <a:t>教員の研修を「時数」として位置づけられる。これは学校経営上、非常に大きい変化です。</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23</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Ⅱ－10</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情報活用能力を、すべての学びの基盤に</a:t>
            </a:r>
            <a:endParaRPr lang="en-US" sz="2800" dirty="0"/>
          </a:p>
        </p:txBody>
      </p:sp>
      <p:sp>
        <p:nvSpPr>
          <p:cNvPr id="5" name="Shape 3"/>
          <p:cNvSpPr/>
          <p:nvPr/>
        </p:nvSpPr>
        <p:spPr>
          <a:xfrm>
            <a:off x="640080" y="1536192"/>
            <a:ext cx="10911535" cy="960120"/>
          </a:xfrm>
          <a:prstGeom prst="roundRect">
            <a:avLst>
              <a:gd name="adj" fmla="val 5714"/>
            </a:avLst>
          </a:prstGeom>
          <a:solidFill>
            <a:srgbClr val="14312A"/>
          </a:solidFill>
          <a:ln/>
        </p:spPr>
      </p:sp>
      <p:sp>
        <p:nvSpPr>
          <p:cNvPr id="6" name="Text 4"/>
          <p:cNvSpPr txBox="1"/>
          <p:nvPr/>
        </p:nvSpPr>
        <p:spPr>
          <a:xfrm>
            <a:off x="1097280" y="1764792"/>
            <a:ext cx="9997135" cy="45720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情報活用能力を、すべての教科等の学びの基盤として位置づける</a:t>
            </a:r>
            <a:endParaRPr lang="en-US" sz="1900" dirty="0"/>
          </a:p>
        </p:txBody>
      </p:sp>
      <p:sp>
        <p:nvSpPr>
          <p:cNvPr id="7" name="Shape 5"/>
          <p:cNvSpPr/>
          <p:nvPr/>
        </p:nvSpPr>
        <p:spPr>
          <a:xfrm>
            <a:off x="640080" y="2788920"/>
            <a:ext cx="3240938" cy="1828800"/>
          </a:xfrm>
          <a:prstGeom prst="roundRect">
            <a:avLst>
              <a:gd name="adj" fmla="val 3000"/>
            </a:avLst>
          </a:prstGeom>
          <a:solidFill>
            <a:srgbClr val="F1F5F2"/>
          </a:solidFill>
          <a:ln/>
        </p:spPr>
      </p:sp>
      <p:sp>
        <p:nvSpPr>
          <p:cNvPr id="8" name="Shape 6"/>
          <p:cNvSpPr/>
          <p:nvPr/>
        </p:nvSpPr>
        <p:spPr>
          <a:xfrm>
            <a:off x="1986229" y="3017520"/>
            <a:ext cx="548640" cy="548640"/>
          </a:xfrm>
          <a:prstGeom prst="ellipse">
            <a:avLst/>
          </a:prstGeom>
          <a:solidFill>
            <a:srgbClr val="1F5D4C"/>
          </a:solidFill>
          <a:ln/>
        </p:spPr>
      </p:sp>
      <p:sp>
        <p:nvSpPr>
          <p:cNvPr id="9" name="Text 7"/>
          <p:cNvSpPr txBox="1"/>
          <p:nvPr/>
        </p:nvSpPr>
        <p:spPr>
          <a:xfrm>
            <a:off x="1986229" y="3127248"/>
            <a:ext cx="548640" cy="329184"/>
          </a:xfrm>
          <a:prstGeom prst="rect">
            <a:avLst/>
          </a:prstGeom>
          <a:noFill/>
          <a:ln/>
        </p:spPr>
        <p:txBody>
          <a:bodyPr wrap="square" lIns="0" tIns="0" rIns="0" bIns="0" rtlCol="0" anchor="ctr"/>
          <a:lstStyle/>
          <a:p>
            <a:pPr algn="ctr" indent="0" marL="0">
              <a:buNone/>
            </a:pPr>
            <a:r>
              <a:rPr lang="en-US" sz="1900" b="1" dirty="0">
                <a:solidFill>
                  <a:srgbClr val="FFFFFF"/>
                </a:solidFill>
                <a:latin typeface="Meiryo" pitchFamily="34" charset="0"/>
                <a:ea typeface="Meiryo" pitchFamily="34" charset="-122"/>
                <a:cs typeface="Meiryo" pitchFamily="34" charset="-120"/>
              </a:rPr>
              <a:t>1</a:t>
            </a:r>
            <a:endParaRPr lang="en-US" sz="1900" dirty="0"/>
          </a:p>
        </p:txBody>
      </p:sp>
      <p:sp>
        <p:nvSpPr>
          <p:cNvPr id="10" name="Text 8"/>
          <p:cNvSpPr txBox="1"/>
          <p:nvPr/>
        </p:nvSpPr>
        <p:spPr>
          <a:xfrm>
            <a:off x="822960" y="3675888"/>
            <a:ext cx="2875178" cy="384048"/>
          </a:xfrm>
          <a:prstGeom prst="rect">
            <a:avLst/>
          </a:prstGeom>
          <a:noFill/>
          <a:ln/>
        </p:spPr>
        <p:txBody>
          <a:bodyPr wrap="square" lIns="0" tIns="0" rIns="0" bIns="0" rtlCol="0" anchor="ctr"/>
          <a:lstStyle/>
          <a:p>
            <a:pPr algn="ctr" indent="0" marL="0">
              <a:buNone/>
            </a:pPr>
            <a:r>
              <a:rPr lang="en-US" sz="1500" b="1" dirty="0">
                <a:solidFill>
                  <a:srgbClr val="14312A"/>
                </a:solidFill>
                <a:latin typeface="Meiryo" pitchFamily="34" charset="0"/>
                <a:ea typeface="Meiryo" pitchFamily="34" charset="-122"/>
                <a:cs typeface="Meiryo" pitchFamily="34" charset="-120"/>
              </a:rPr>
              <a:t>基礎を計画的に育成</a:t>
            </a:r>
            <a:endParaRPr lang="en-US" sz="1500" dirty="0"/>
          </a:p>
        </p:txBody>
      </p:sp>
      <p:sp>
        <p:nvSpPr>
          <p:cNvPr id="11" name="Text 9"/>
          <p:cNvSpPr txBox="1"/>
          <p:nvPr/>
        </p:nvSpPr>
        <p:spPr>
          <a:xfrm>
            <a:off x="822960" y="4078224"/>
            <a:ext cx="2875178" cy="457200"/>
          </a:xfrm>
          <a:prstGeom prst="rect">
            <a:avLst/>
          </a:prstGeom>
          <a:noFill/>
          <a:ln/>
        </p:spPr>
        <p:txBody>
          <a:bodyPr wrap="square" lIns="0" tIns="0" rIns="0" bIns="0" rtlCol="0" anchor="ctr"/>
          <a:lstStyle/>
          <a:p>
            <a:pPr algn="ctr" indent="0" marL="0">
              <a:lnSpc>
                <a:spcPts val="1700"/>
              </a:lnSpc>
              <a:buNone/>
            </a:pPr>
            <a:r>
              <a:rPr lang="en-US" sz="1200" dirty="0">
                <a:solidFill>
                  <a:srgbClr val="1C2320"/>
                </a:solidFill>
                <a:latin typeface="Meiryo" pitchFamily="34" charset="0"/>
                <a:ea typeface="Meiryo" pitchFamily="34" charset="-122"/>
                <a:cs typeface="Meiryo" pitchFamily="34" charset="-120"/>
              </a:rPr>
              <a:t>小：総合の「情報の領域」</a:t>
            </a:r>
            <a:endParaRPr lang="en-US" sz="1200" dirty="0"/>
          </a:p>
          <a:p>
            <a:pPr algn="ctr" indent="0" marL="0">
              <a:lnSpc>
                <a:spcPts val="1700"/>
              </a:lnSpc>
              <a:buNone/>
            </a:pPr>
            <a:r>
              <a:rPr lang="en-US" sz="1200" dirty="0">
                <a:solidFill>
                  <a:srgbClr val="1C2320"/>
                </a:solidFill>
                <a:latin typeface="Meiryo" pitchFamily="34" charset="0"/>
                <a:ea typeface="Meiryo" pitchFamily="34" charset="-122"/>
                <a:cs typeface="Meiryo" pitchFamily="34" charset="-120"/>
              </a:rPr>
              <a:t>中：「情報・技術科」</a:t>
            </a:r>
            <a:endParaRPr lang="en-US" sz="1200" dirty="0"/>
          </a:p>
        </p:txBody>
      </p:sp>
      <p:sp>
        <p:nvSpPr>
          <p:cNvPr id="12" name="Text 10"/>
          <p:cNvSpPr txBox="1"/>
          <p:nvPr/>
        </p:nvSpPr>
        <p:spPr>
          <a:xfrm>
            <a:off x="3954170" y="3566160"/>
            <a:ext cx="457200" cy="365760"/>
          </a:xfrm>
          <a:prstGeom prst="rect">
            <a:avLst/>
          </a:prstGeom>
          <a:noFill/>
          <a:ln/>
        </p:spPr>
        <p:txBody>
          <a:bodyPr wrap="square" lIns="0" tIns="0" rIns="0" bIns="0" rtlCol="0" anchor="ctr"/>
          <a:lstStyle/>
          <a:p>
            <a:pPr algn="ctr" indent="0" marL="0">
              <a:buNone/>
            </a:pPr>
            <a:r>
              <a:rPr lang="en-US" sz="1700" dirty="0">
                <a:solidFill>
                  <a:srgbClr val="7FA86B"/>
                </a:solidFill>
                <a:latin typeface="Meiryo" pitchFamily="34" charset="0"/>
                <a:ea typeface="Meiryo" pitchFamily="34" charset="-122"/>
                <a:cs typeface="Meiryo" pitchFamily="34" charset="-120"/>
              </a:rPr>
              <a:t>▶</a:t>
            </a:r>
            <a:endParaRPr lang="en-US" sz="1700" dirty="0"/>
          </a:p>
        </p:txBody>
      </p:sp>
      <p:sp>
        <p:nvSpPr>
          <p:cNvPr id="13" name="Shape 11"/>
          <p:cNvSpPr/>
          <p:nvPr/>
        </p:nvSpPr>
        <p:spPr>
          <a:xfrm>
            <a:off x="4475378" y="2788920"/>
            <a:ext cx="3240938" cy="1828800"/>
          </a:xfrm>
          <a:prstGeom prst="roundRect">
            <a:avLst>
              <a:gd name="adj" fmla="val 3000"/>
            </a:avLst>
          </a:prstGeom>
          <a:solidFill>
            <a:srgbClr val="F1F5F2"/>
          </a:solidFill>
          <a:ln/>
        </p:spPr>
      </p:sp>
      <p:sp>
        <p:nvSpPr>
          <p:cNvPr id="14" name="Shape 12"/>
          <p:cNvSpPr/>
          <p:nvPr/>
        </p:nvSpPr>
        <p:spPr>
          <a:xfrm>
            <a:off x="5821528" y="3017520"/>
            <a:ext cx="548640" cy="548640"/>
          </a:xfrm>
          <a:prstGeom prst="ellipse">
            <a:avLst/>
          </a:prstGeom>
          <a:solidFill>
            <a:srgbClr val="5C8A4A"/>
          </a:solidFill>
          <a:ln/>
        </p:spPr>
      </p:sp>
      <p:sp>
        <p:nvSpPr>
          <p:cNvPr id="15" name="Text 13"/>
          <p:cNvSpPr txBox="1"/>
          <p:nvPr/>
        </p:nvSpPr>
        <p:spPr>
          <a:xfrm>
            <a:off x="5821528" y="3127248"/>
            <a:ext cx="548640" cy="329184"/>
          </a:xfrm>
          <a:prstGeom prst="rect">
            <a:avLst/>
          </a:prstGeom>
          <a:noFill/>
          <a:ln/>
        </p:spPr>
        <p:txBody>
          <a:bodyPr wrap="square" lIns="0" tIns="0" rIns="0" bIns="0" rtlCol="0" anchor="ctr"/>
          <a:lstStyle/>
          <a:p>
            <a:pPr algn="ctr" indent="0" marL="0">
              <a:buNone/>
            </a:pPr>
            <a:r>
              <a:rPr lang="en-US" sz="1900" b="1" dirty="0">
                <a:solidFill>
                  <a:srgbClr val="FFFFFF"/>
                </a:solidFill>
                <a:latin typeface="Meiryo" pitchFamily="34" charset="0"/>
                <a:ea typeface="Meiryo" pitchFamily="34" charset="-122"/>
                <a:cs typeface="Meiryo" pitchFamily="34" charset="-120"/>
              </a:rPr>
              <a:t>2</a:t>
            </a:r>
            <a:endParaRPr lang="en-US" sz="1900" dirty="0"/>
          </a:p>
        </p:txBody>
      </p:sp>
      <p:sp>
        <p:nvSpPr>
          <p:cNvPr id="16" name="Text 14"/>
          <p:cNvSpPr txBox="1"/>
          <p:nvPr/>
        </p:nvSpPr>
        <p:spPr>
          <a:xfrm>
            <a:off x="4658258" y="3675888"/>
            <a:ext cx="2875178" cy="384048"/>
          </a:xfrm>
          <a:prstGeom prst="rect">
            <a:avLst/>
          </a:prstGeom>
          <a:noFill/>
          <a:ln/>
        </p:spPr>
        <p:txBody>
          <a:bodyPr wrap="square" lIns="0" tIns="0" rIns="0" bIns="0" rtlCol="0" anchor="ctr"/>
          <a:lstStyle/>
          <a:p>
            <a:pPr algn="ctr" indent="0" marL="0">
              <a:buNone/>
            </a:pPr>
            <a:r>
              <a:rPr lang="en-US" sz="1500" b="1" dirty="0">
                <a:solidFill>
                  <a:srgbClr val="14312A"/>
                </a:solidFill>
                <a:latin typeface="Meiryo" pitchFamily="34" charset="0"/>
                <a:ea typeface="Meiryo" pitchFamily="34" charset="-122"/>
                <a:cs typeface="Meiryo" pitchFamily="34" charset="-120"/>
              </a:rPr>
              <a:t>各教科等の学習で活用</a:t>
            </a:r>
            <a:endParaRPr lang="en-US" sz="1500" dirty="0"/>
          </a:p>
        </p:txBody>
      </p:sp>
      <p:sp>
        <p:nvSpPr>
          <p:cNvPr id="17" name="Text 15"/>
          <p:cNvSpPr txBox="1"/>
          <p:nvPr/>
        </p:nvSpPr>
        <p:spPr>
          <a:xfrm>
            <a:off x="4658258" y="4078224"/>
            <a:ext cx="2875178" cy="457200"/>
          </a:xfrm>
          <a:prstGeom prst="rect">
            <a:avLst/>
          </a:prstGeom>
          <a:noFill/>
          <a:ln/>
        </p:spPr>
        <p:txBody>
          <a:bodyPr wrap="square" lIns="0" tIns="0" rIns="0" bIns="0" rtlCol="0" anchor="ctr"/>
          <a:lstStyle/>
          <a:p>
            <a:pPr algn="ctr" indent="0" marL="0">
              <a:lnSpc>
                <a:spcPts val="1700"/>
              </a:lnSpc>
              <a:buNone/>
            </a:pPr>
            <a:r>
              <a:rPr lang="en-US" sz="1200" dirty="0">
                <a:solidFill>
                  <a:srgbClr val="1C2320"/>
                </a:solidFill>
                <a:latin typeface="Meiryo" pitchFamily="34" charset="0"/>
                <a:ea typeface="Meiryo" pitchFamily="34" charset="-122"/>
                <a:cs typeface="Meiryo" pitchFamily="34" charset="-120"/>
              </a:rPr>
              <a:t>調べる・まとめる・伝える</a:t>
            </a:r>
            <a:endParaRPr lang="en-US" sz="1200" dirty="0"/>
          </a:p>
          <a:p>
            <a:pPr algn="ctr" indent="0" marL="0">
              <a:lnSpc>
                <a:spcPts val="1700"/>
              </a:lnSpc>
              <a:buNone/>
            </a:pPr>
            <a:r>
              <a:rPr lang="en-US" sz="1200" dirty="0">
                <a:solidFill>
                  <a:srgbClr val="1C2320"/>
                </a:solidFill>
                <a:latin typeface="Meiryo" pitchFamily="34" charset="0"/>
                <a:ea typeface="Meiryo" pitchFamily="34" charset="-122"/>
                <a:cs typeface="Meiryo" pitchFamily="34" charset="-120"/>
              </a:rPr>
              <a:t>一連の学習過程で使う</a:t>
            </a:r>
            <a:endParaRPr lang="en-US" sz="1200" dirty="0"/>
          </a:p>
        </p:txBody>
      </p:sp>
      <p:sp>
        <p:nvSpPr>
          <p:cNvPr id="18" name="Text 16"/>
          <p:cNvSpPr txBox="1"/>
          <p:nvPr/>
        </p:nvSpPr>
        <p:spPr>
          <a:xfrm>
            <a:off x="7789469" y="3566160"/>
            <a:ext cx="457200" cy="365760"/>
          </a:xfrm>
          <a:prstGeom prst="rect">
            <a:avLst/>
          </a:prstGeom>
          <a:noFill/>
          <a:ln/>
        </p:spPr>
        <p:txBody>
          <a:bodyPr wrap="square" lIns="0" tIns="0" rIns="0" bIns="0" rtlCol="0" anchor="ctr"/>
          <a:lstStyle/>
          <a:p>
            <a:pPr algn="ctr" indent="0" marL="0">
              <a:buNone/>
            </a:pPr>
            <a:r>
              <a:rPr lang="en-US" sz="1700" dirty="0">
                <a:solidFill>
                  <a:srgbClr val="7FA86B"/>
                </a:solidFill>
                <a:latin typeface="Meiryo" pitchFamily="34" charset="0"/>
                <a:ea typeface="Meiryo" pitchFamily="34" charset="-122"/>
                <a:cs typeface="Meiryo" pitchFamily="34" charset="-120"/>
              </a:rPr>
              <a:t>▶</a:t>
            </a:r>
            <a:endParaRPr lang="en-US" sz="1700" dirty="0"/>
          </a:p>
        </p:txBody>
      </p:sp>
      <p:sp>
        <p:nvSpPr>
          <p:cNvPr id="19" name="Shape 17"/>
          <p:cNvSpPr/>
          <p:nvPr/>
        </p:nvSpPr>
        <p:spPr>
          <a:xfrm>
            <a:off x="8310677" y="2788920"/>
            <a:ext cx="3240938" cy="1828800"/>
          </a:xfrm>
          <a:prstGeom prst="roundRect">
            <a:avLst>
              <a:gd name="adj" fmla="val 3000"/>
            </a:avLst>
          </a:prstGeom>
          <a:solidFill>
            <a:srgbClr val="F1F5F2"/>
          </a:solidFill>
          <a:ln/>
        </p:spPr>
      </p:sp>
      <p:sp>
        <p:nvSpPr>
          <p:cNvPr id="20" name="Shape 18"/>
          <p:cNvSpPr/>
          <p:nvPr/>
        </p:nvSpPr>
        <p:spPr>
          <a:xfrm>
            <a:off x="9656826" y="3017520"/>
            <a:ext cx="548640" cy="548640"/>
          </a:xfrm>
          <a:prstGeom prst="ellipse">
            <a:avLst/>
          </a:prstGeom>
          <a:solidFill>
            <a:srgbClr val="B26B1B"/>
          </a:solidFill>
          <a:ln/>
        </p:spPr>
      </p:sp>
      <p:sp>
        <p:nvSpPr>
          <p:cNvPr id="21" name="Text 19"/>
          <p:cNvSpPr txBox="1"/>
          <p:nvPr/>
        </p:nvSpPr>
        <p:spPr>
          <a:xfrm>
            <a:off x="9656826" y="3127248"/>
            <a:ext cx="548640" cy="329184"/>
          </a:xfrm>
          <a:prstGeom prst="rect">
            <a:avLst/>
          </a:prstGeom>
          <a:noFill/>
          <a:ln/>
        </p:spPr>
        <p:txBody>
          <a:bodyPr wrap="square" lIns="0" tIns="0" rIns="0" bIns="0" rtlCol="0" anchor="ctr"/>
          <a:lstStyle/>
          <a:p>
            <a:pPr algn="ctr" indent="0" marL="0">
              <a:buNone/>
            </a:pPr>
            <a:r>
              <a:rPr lang="en-US" sz="1900" b="1" dirty="0">
                <a:solidFill>
                  <a:srgbClr val="FFFFFF"/>
                </a:solidFill>
                <a:latin typeface="Meiryo" pitchFamily="34" charset="0"/>
                <a:ea typeface="Meiryo" pitchFamily="34" charset="-122"/>
                <a:cs typeface="Meiryo" pitchFamily="34" charset="-120"/>
              </a:rPr>
              <a:t>3</a:t>
            </a:r>
            <a:endParaRPr lang="en-US" sz="1900" dirty="0"/>
          </a:p>
        </p:txBody>
      </p:sp>
      <p:sp>
        <p:nvSpPr>
          <p:cNvPr id="22" name="Text 20"/>
          <p:cNvSpPr txBox="1"/>
          <p:nvPr/>
        </p:nvSpPr>
        <p:spPr>
          <a:xfrm>
            <a:off x="8493557" y="3675888"/>
            <a:ext cx="2875178" cy="384048"/>
          </a:xfrm>
          <a:prstGeom prst="rect">
            <a:avLst/>
          </a:prstGeom>
          <a:noFill/>
          <a:ln/>
        </p:spPr>
        <p:txBody>
          <a:bodyPr wrap="square" lIns="0" tIns="0" rIns="0" bIns="0" rtlCol="0" anchor="ctr"/>
          <a:lstStyle/>
          <a:p>
            <a:pPr algn="ctr" indent="0" marL="0">
              <a:buNone/>
            </a:pPr>
            <a:r>
              <a:rPr lang="en-US" sz="1500" b="1" dirty="0">
                <a:solidFill>
                  <a:srgbClr val="14312A"/>
                </a:solidFill>
                <a:latin typeface="Meiryo" pitchFamily="34" charset="0"/>
                <a:ea typeface="Meiryo" pitchFamily="34" charset="-122"/>
                <a:cs typeface="Meiryo" pitchFamily="34" charset="-120"/>
              </a:rPr>
              <a:t>学びの基盤として定着</a:t>
            </a:r>
            <a:endParaRPr lang="en-US" sz="1500" dirty="0"/>
          </a:p>
        </p:txBody>
      </p:sp>
      <p:sp>
        <p:nvSpPr>
          <p:cNvPr id="23" name="Text 21"/>
          <p:cNvSpPr txBox="1"/>
          <p:nvPr/>
        </p:nvSpPr>
        <p:spPr>
          <a:xfrm>
            <a:off x="8493557" y="4078224"/>
            <a:ext cx="2875178" cy="457200"/>
          </a:xfrm>
          <a:prstGeom prst="rect">
            <a:avLst/>
          </a:prstGeom>
          <a:noFill/>
          <a:ln/>
        </p:spPr>
        <p:txBody>
          <a:bodyPr wrap="square" lIns="0" tIns="0" rIns="0" bIns="0" rtlCol="0" anchor="ctr"/>
          <a:lstStyle/>
          <a:p>
            <a:pPr algn="ctr" indent="0" marL="0">
              <a:lnSpc>
                <a:spcPts val="1700"/>
              </a:lnSpc>
              <a:buNone/>
            </a:pPr>
            <a:r>
              <a:rPr lang="en-US" sz="1200" dirty="0">
                <a:solidFill>
                  <a:srgbClr val="1C2320"/>
                </a:solidFill>
                <a:latin typeface="Meiryo" pitchFamily="34" charset="0"/>
                <a:ea typeface="Meiryo" pitchFamily="34" charset="-122"/>
                <a:cs typeface="Meiryo" pitchFamily="34" charset="-120"/>
              </a:rPr>
              <a:t>読み書き・計算と同じ位置づけ</a:t>
            </a:r>
            <a:endParaRPr lang="en-US" sz="1200" dirty="0"/>
          </a:p>
        </p:txBody>
      </p:sp>
      <p:sp>
        <p:nvSpPr>
          <p:cNvPr id="24" name="Shape 22"/>
          <p:cNvSpPr/>
          <p:nvPr/>
        </p:nvSpPr>
        <p:spPr>
          <a:xfrm>
            <a:off x="640080" y="4956048"/>
            <a:ext cx="10911535" cy="1051560"/>
          </a:xfrm>
          <a:prstGeom prst="roundRect">
            <a:avLst>
              <a:gd name="adj" fmla="val 5217"/>
            </a:avLst>
          </a:prstGeom>
          <a:solidFill>
            <a:srgbClr val="E4EDE6"/>
          </a:solidFill>
          <a:ln/>
        </p:spPr>
      </p:sp>
      <p:sp>
        <p:nvSpPr>
          <p:cNvPr id="25" name="Text 23"/>
          <p:cNvSpPr txBox="1"/>
          <p:nvPr/>
        </p:nvSpPr>
        <p:spPr>
          <a:xfrm>
            <a:off x="1097280" y="5230368"/>
            <a:ext cx="9997135" cy="457200"/>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「ICTを使う時間」ではなく「どの授業でも使える力」として育てる、という整理です。</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24</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Ⅱ－11</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小学校・中学校で新たに置かれるもの</a:t>
            </a:r>
            <a:endParaRPr lang="en-US" sz="2800" dirty="0"/>
          </a:p>
        </p:txBody>
      </p:sp>
      <p:sp>
        <p:nvSpPr>
          <p:cNvPr id="5" name="Shape 3"/>
          <p:cNvSpPr/>
          <p:nvPr/>
        </p:nvSpPr>
        <p:spPr>
          <a:xfrm>
            <a:off x="640080" y="1554480"/>
            <a:ext cx="5272888" cy="4041648"/>
          </a:xfrm>
          <a:prstGeom prst="roundRect">
            <a:avLst>
              <a:gd name="adj" fmla="val 1357"/>
            </a:avLst>
          </a:prstGeom>
          <a:solidFill>
            <a:srgbClr val="F1F5F2"/>
          </a:solidFill>
          <a:ln/>
        </p:spPr>
      </p:sp>
      <p:sp>
        <p:nvSpPr>
          <p:cNvPr id="6" name="Shape 4"/>
          <p:cNvSpPr/>
          <p:nvPr/>
        </p:nvSpPr>
        <p:spPr>
          <a:xfrm>
            <a:off x="640080" y="1554480"/>
            <a:ext cx="5272888" cy="621792"/>
          </a:xfrm>
          <a:prstGeom prst="roundRect">
            <a:avLst>
              <a:gd name="adj" fmla="val 8824"/>
            </a:avLst>
          </a:prstGeom>
          <a:solidFill>
            <a:srgbClr val="1F5D4C"/>
          </a:solidFill>
          <a:ln/>
        </p:spPr>
      </p:sp>
      <p:sp>
        <p:nvSpPr>
          <p:cNvPr id="7" name="Text 5"/>
          <p:cNvSpPr txBox="1"/>
          <p:nvPr/>
        </p:nvSpPr>
        <p:spPr>
          <a:xfrm>
            <a:off x="640080" y="1700784"/>
            <a:ext cx="5272888"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小学校</a:t>
            </a:r>
            <a:endParaRPr lang="en-US" sz="1800" dirty="0"/>
          </a:p>
        </p:txBody>
      </p:sp>
      <p:sp>
        <p:nvSpPr>
          <p:cNvPr id="8" name="Text 6"/>
          <p:cNvSpPr txBox="1"/>
          <p:nvPr/>
        </p:nvSpPr>
        <p:spPr>
          <a:xfrm>
            <a:off x="960120" y="2377440"/>
            <a:ext cx="4632808" cy="868680"/>
          </a:xfrm>
          <a:prstGeom prst="rect">
            <a:avLst/>
          </a:prstGeom>
          <a:noFill/>
          <a:ln/>
        </p:spPr>
        <p:txBody>
          <a:bodyPr wrap="square" lIns="0" tIns="0" rIns="0" bIns="0" rtlCol="0" anchor="ctr"/>
          <a:lstStyle/>
          <a:p>
            <a:pPr indent="0" marL="0">
              <a:lnSpc>
                <a:spcPts val="2600"/>
              </a:lnSpc>
              <a:buNone/>
            </a:pPr>
            <a:r>
              <a:rPr lang="en-US" sz="1700" b="1" dirty="0">
                <a:solidFill>
                  <a:srgbClr val="14312A"/>
                </a:solidFill>
                <a:latin typeface="Meiryo" pitchFamily="34" charset="0"/>
                <a:ea typeface="Meiryo" pitchFamily="34" charset="-122"/>
                <a:cs typeface="Meiryo" pitchFamily="34" charset="-120"/>
              </a:rPr>
              <a:t>総合的な学習の時間に</a:t>
            </a:r>
            <a:endParaRPr lang="en-US" sz="1700" dirty="0"/>
          </a:p>
          <a:p>
            <a:pPr indent="0" marL="0">
              <a:lnSpc>
                <a:spcPts val="2600"/>
              </a:lnSpc>
              <a:buNone/>
            </a:pPr>
            <a:r>
              <a:rPr lang="en-US" sz="1700" b="1" dirty="0">
                <a:solidFill>
                  <a:srgbClr val="14312A"/>
                </a:solidFill>
                <a:latin typeface="Meiryo" pitchFamily="34" charset="0"/>
                <a:ea typeface="Meiryo" pitchFamily="34" charset="-122"/>
                <a:cs typeface="Meiryo" pitchFamily="34" charset="-120"/>
              </a:rPr>
              <a:t>「情報の領域」を設ける</a:t>
            </a:r>
            <a:endParaRPr lang="en-US" sz="1700" dirty="0"/>
          </a:p>
        </p:txBody>
      </p:sp>
      <p:sp>
        <p:nvSpPr>
          <p:cNvPr id="9" name="Text 7"/>
          <p:cNvSpPr txBox="1"/>
          <p:nvPr/>
        </p:nvSpPr>
        <p:spPr>
          <a:xfrm>
            <a:off x="987552" y="3401568"/>
            <a:ext cx="4577944"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体験的な活動を重視</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中核は情報の「活用」（収集・整理）</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情報モラルなど「適切な取扱い」</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コンピュータの仕組みなど「特性の理解」</a:t>
            </a:r>
            <a:endParaRPr lang="en-US" sz="1300" dirty="0"/>
          </a:p>
        </p:txBody>
      </p:sp>
      <p:sp>
        <p:nvSpPr>
          <p:cNvPr id="10" name="Shape 8"/>
          <p:cNvSpPr/>
          <p:nvPr/>
        </p:nvSpPr>
        <p:spPr>
          <a:xfrm>
            <a:off x="6278728" y="1554480"/>
            <a:ext cx="5272888" cy="4041648"/>
          </a:xfrm>
          <a:prstGeom prst="roundRect">
            <a:avLst>
              <a:gd name="adj" fmla="val 1357"/>
            </a:avLst>
          </a:prstGeom>
          <a:solidFill>
            <a:srgbClr val="F1F5F2"/>
          </a:solidFill>
          <a:ln/>
        </p:spPr>
      </p:sp>
      <p:sp>
        <p:nvSpPr>
          <p:cNvPr id="11" name="Shape 9"/>
          <p:cNvSpPr/>
          <p:nvPr/>
        </p:nvSpPr>
        <p:spPr>
          <a:xfrm>
            <a:off x="6278728" y="1554480"/>
            <a:ext cx="5272888" cy="621792"/>
          </a:xfrm>
          <a:prstGeom prst="roundRect">
            <a:avLst>
              <a:gd name="adj" fmla="val 8824"/>
            </a:avLst>
          </a:prstGeom>
          <a:solidFill>
            <a:srgbClr val="5C8A4A"/>
          </a:solidFill>
          <a:ln/>
        </p:spPr>
      </p:sp>
      <p:sp>
        <p:nvSpPr>
          <p:cNvPr id="12" name="Text 10"/>
          <p:cNvSpPr txBox="1"/>
          <p:nvPr/>
        </p:nvSpPr>
        <p:spPr>
          <a:xfrm>
            <a:off x="6278728" y="1700784"/>
            <a:ext cx="5272888"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中学校</a:t>
            </a:r>
            <a:endParaRPr lang="en-US" sz="1800" dirty="0"/>
          </a:p>
        </p:txBody>
      </p:sp>
      <p:sp>
        <p:nvSpPr>
          <p:cNvPr id="13" name="Text 11"/>
          <p:cNvSpPr txBox="1"/>
          <p:nvPr/>
        </p:nvSpPr>
        <p:spPr>
          <a:xfrm>
            <a:off x="6598768" y="2377440"/>
            <a:ext cx="4632808" cy="868680"/>
          </a:xfrm>
          <a:prstGeom prst="rect">
            <a:avLst/>
          </a:prstGeom>
          <a:noFill/>
          <a:ln/>
        </p:spPr>
        <p:txBody>
          <a:bodyPr wrap="square" lIns="0" tIns="0" rIns="0" bIns="0" rtlCol="0" anchor="ctr"/>
          <a:lstStyle/>
          <a:p>
            <a:pPr indent="0" marL="0">
              <a:lnSpc>
                <a:spcPts val="2600"/>
              </a:lnSpc>
              <a:buNone/>
            </a:pPr>
            <a:r>
              <a:rPr lang="en-US" sz="1700" b="1" dirty="0">
                <a:solidFill>
                  <a:srgbClr val="14312A"/>
                </a:solidFill>
                <a:latin typeface="Meiryo" pitchFamily="34" charset="0"/>
                <a:ea typeface="Meiryo" pitchFamily="34" charset="-122"/>
                <a:cs typeface="Meiryo" pitchFamily="34" charset="-120"/>
              </a:rPr>
              <a:t>「情報・技術科」を新設</a:t>
            </a:r>
            <a:endParaRPr lang="en-US" sz="1700" dirty="0"/>
          </a:p>
          <a:p>
            <a:pPr indent="0" marL="0">
              <a:lnSpc>
                <a:spcPts val="2600"/>
              </a:lnSpc>
              <a:buNone/>
            </a:pPr>
            <a:r>
              <a:rPr lang="en-US" sz="1700" b="1" dirty="0">
                <a:solidFill>
                  <a:srgbClr val="14312A"/>
                </a:solidFill>
                <a:latin typeface="Meiryo" pitchFamily="34" charset="0"/>
                <a:ea typeface="Meiryo" pitchFamily="34" charset="-122"/>
                <a:cs typeface="Meiryo" pitchFamily="34" charset="-120"/>
              </a:rPr>
              <a:t>（技術・家庭を分離）</a:t>
            </a:r>
            <a:endParaRPr lang="en-US" sz="1700" dirty="0"/>
          </a:p>
        </p:txBody>
      </p:sp>
      <p:sp>
        <p:nvSpPr>
          <p:cNvPr id="14" name="Text 12"/>
          <p:cNvSpPr txBox="1"/>
          <p:nvPr/>
        </p:nvSpPr>
        <p:spPr>
          <a:xfrm>
            <a:off x="6626200" y="3401568"/>
            <a:ext cx="4577944"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情報分野を独立した教科として扱う</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技術分野と情報分野を体系的に</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小学校からの学びを接続</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高等学校「情報」へつなぐ</a:t>
            </a:r>
            <a:endParaRPr lang="en-US" sz="1300" dirty="0"/>
          </a:p>
        </p:txBody>
      </p:sp>
      <p:sp>
        <p:nvSpPr>
          <p:cNvPr id="15" name="Text 13"/>
          <p:cNvSpPr txBox="1"/>
          <p:nvPr/>
        </p:nvSpPr>
        <p:spPr>
          <a:xfrm>
            <a:off x="640080" y="6291072"/>
            <a:ext cx="9997135" cy="310896"/>
          </a:xfrm>
          <a:prstGeom prst="rect">
            <a:avLst/>
          </a:prstGeom>
          <a:noFill/>
          <a:ln/>
        </p:spPr>
        <p:txBody>
          <a:bodyPr wrap="square" lIns="0" tIns="0" rIns="0" bIns="0" rtlCol="0" anchor="t"/>
          <a:lstStyle/>
          <a:p>
            <a:pPr indent="0" marL="0">
              <a:buNone/>
            </a:pPr>
            <a:r>
              <a:rPr lang="en-US" sz="950" dirty="0">
                <a:solidFill>
                  <a:srgbClr val="5B6660"/>
                </a:solidFill>
                <a:latin typeface="Meiryo" pitchFamily="34" charset="0"/>
                <a:ea typeface="Meiryo" pitchFamily="34" charset="-122"/>
                <a:cs typeface="Meiryo" pitchFamily="34" charset="-120"/>
              </a:rPr>
              <a:t>※教科名・領域名および内容は素案段階のものです。</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25</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Ⅱ－12</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言語能力と外国語科</a:t>
            </a:r>
            <a:endParaRPr lang="en-US" sz="2800" dirty="0"/>
          </a:p>
        </p:txBody>
      </p:sp>
      <p:sp>
        <p:nvSpPr>
          <p:cNvPr id="5" name="Shape 3"/>
          <p:cNvSpPr/>
          <p:nvPr/>
        </p:nvSpPr>
        <p:spPr>
          <a:xfrm>
            <a:off x="640080" y="1554480"/>
            <a:ext cx="10911535" cy="1920240"/>
          </a:xfrm>
          <a:prstGeom prst="roundRect">
            <a:avLst>
              <a:gd name="adj" fmla="val 2857"/>
            </a:avLst>
          </a:prstGeom>
          <a:solidFill>
            <a:srgbClr val="F1F5F2"/>
          </a:solidFill>
          <a:ln/>
        </p:spPr>
      </p:sp>
      <p:sp>
        <p:nvSpPr>
          <p:cNvPr id="6" name="Shape 4"/>
          <p:cNvSpPr/>
          <p:nvPr/>
        </p:nvSpPr>
        <p:spPr>
          <a:xfrm>
            <a:off x="1005840" y="1847088"/>
            <a:ext cx="512064" cy="512064"/>
          </a:xfrm>
          <a:prstGeom prst="ellipse">
            <a:avLst/>
          </a:prstGeom>
          <a:solidFill>
            <a:srgbClr val="1F5D4C"/>
          </a:solidFill>
          <a:ln/>
        </p:spPr>
      </p:sp>
      <p:sp>
        <p:nvSpPr>
          <p:cNvPr id="7" name="Text 5"/>
          <p:cNvSpPr txBox="1"/>
          <p:nvPr/>
        </p:nvSpPr>
        <p:spPr>
          <a:xfrm>
            <a:off x="1005840" y="1938528"/>
            <a:ext cx="512064"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言</a:t>
            </a:r>
            <a:endParaRPr lang="en-US" sz="1700" dirty="0"/>
          </a:p>
        </p:txBody>
      </p:sp>
      <p:sp>
        <p:nvSpPr>
          <p:cNvPr id="8" name="Text 6"/>
          <p:cNvSpPr txBox="1"/>
          <p:nvPr/>
        </p:nvSpPr>
        <p:spPr>
          <a:xfrm>
            <a:off x="1645920" y="1883664"/>
            <a:ext cx="9448495" cy="384048"/>
          </a:xfrm>
          <a:prstGeom prst="rect">
            <a:avLst/>
          </a:prstGeom>
          <a:noFill/>
          <a:ln/>
        </p:spPr>
        <p:txBody>
          <a:bodyPr wrap="square" lIns="0" tIns="0" rIns="0" bIns="0" rtlCol="0" anchor="ctr"/>
          <a:lstStyle/>
          <a:p>
            <a:pPr indent="0" marL="0">
              <a:buNone/>
            </a:pPr>
            <a:r>
              <a:rPr lang="en-US" sz="2000" b="1" dirty="0">
                <a:solidFill>
                  <a:srgbClr val="14312A"/>
                </a:solidFill>
                <a:latin typeface="Meiryo" pitchFamily="34" charset="0"/>
                <a:ea typeface="Meiryo" pitchFamily="34" charset="-122"/>
                <a:cs typeface="Meiryo" pitchFamily="34" charset="-120"/>
              </a:rPr>
              <a:t>学習の基盤としての言語活動の充実</a:t>
            </a:r>
            <a:endParaRPr lang="en-US" sz="2000" dirty="0"/>
          </a:p>
        </p:txBody>
      </p:sp>
      <p:sp>
        <p:nvSpPr>
          <p:cNvPr id="9" name="Text 7"/>
          <p:cNvSpPr txBox="1"/>
          <p:nvPr/>
        </p:nvSpPr>
        <p:spPr>
          <a:xfrm>
            <a:off x="1645920" y="2359152"/>
            <a:ext cx="9448495" cy="402336"/>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国語科だけの話ではありません。各教科等の中で、言葉を使って考え、まとめ、伝える活動を充実させます。</a:t>
            </a:r>
            <a:endParaRPr lang="en-US" sz="1350" dirty="0"/>
          </a:p>
        </p:txBody>
      </p:sp>
      <p:sp>
        <p:nvSpPr>
          <p:cNvPr id="10" name="Shape 8"/>
          <p:cNvSpPr/>
          <p:nvPr/>
        </p:nvSpPr>
        <p:spPr>
          <a:xfrm>
            <a:off x="1645920" y="2798064"/>
            <a:ext cx="9448495" cy="548640"/>
          </a:xfrm>
          <a:prstGeom prst="roundRect">
            <a:avLst>
              <a:gd name="adj" fmla="val 10000"/>
            </a:avLst>
          </a:prstGeom>
          <a:solidFill>
            <a:srgbClr val="FFFFFF"/>
          </a:solidFill>
          <a:ln/>
        </p:spPr>
      </p:sp>
      <p:sp>
        <p:nvSpPr>
          <p:cNvPr id="11" name="Text 9"/>
          <p:cNvSpPr txBox="1"/>
          <p:nvPr/>
        </p:nvSpPr>
        <p:spPr>
          <a:xfrm>
            <a:off x="1874520" y="2926080"/>
            <a:ext cx="8991295" cy="365760"/>
          </a:xfrm>
          <a:prstGeom prst="rect">
            <a:avLst/>
          </a:prstGeom>
          <a:noFill/>
          <a:ln/>
        </p:spPr>
        <p:txBody>
          <a:bodyPr wrap="square" lIns="0" tIns="0" rIns="0" bIns="0" rtlCol="0" anchor="ctr"/>
          <a:lstStyle/>
          <a:p>
            <a:pPr indent="0" marL="0">
              <a:buNone/>
            </a:pPr>
            <a:r>
              <a:rPr lang="en-US" sz="1300" dirty="0">
                <a:solidFill>
                  <a:srgbClr val="1F5D4C"/>
                </a:solidFill>
                <a:latin typeface="Meiryo" pitchFamily="34" charset="0"/>
                <a:ea typeface="Meiryo" pitchFamily="34" charset="-122"/>
                <a:cs typeface="Meiryo" pitchFamily="34" charset="-120"/>
              </a:rPr>
              <a:t>例：理科の実験レポートの作成　／　社会科の資料をもとにした説明　／　算数の考え方の記述</a:t>
            </a:r>
            <a:endParaRPr lang="en-US" sz="1300" dirty="0"/>
          </a:p>
        </p:txBody>
      </p:sp>
      <p:sp>
        <p:nvSpPr>
          <p:cNvPr id="12" name="Shape 10"/>
          <p:cNvSpPr/>
          <p:nvPr/>
        </p:nvSpPr>
        <p:spPr>
          <a:xfrm>
            <a:off x="640080" y="3657600"/>
            <a:ext cx="10911535" cy="1920240"/>
          </a:xfrm>
          <a:prstGeom prst="roundRect">
            <a:avLst>
              <a:gd name="adj" fmla="val 2857"/>
            </a:avLst>
          </a:prstGeom>
          <a:solidFill>
            <a:srgbClr val="E4EDE6"/>
          </a:solidFill>
          <a:ln/>
        </p:spPr>
      </p:sp>
      <p:sp>
        <p:nvSpPr>
          <p:cNvPr id="13" name="Shape 11"/>
          <p:cNvSpPr/>
          <p:nvPr/>
        </p:nvSpPr>
        <p:spPr>
          <a:xfrm>
            <a:off x="1005840" y="3950208"/>
            <a:ext cx="512064" cy="512064"/>
          </a:xfrm>
          <a:prstGeom prst="ellipse">
            <a:avLst/>
          </a:prstGeom>
          <a:solidFill>
            <a:srgbClr val="5C8A4A"/>
          </a:solidFill>
          <a:ln/>
        </p:spPr>
      </p:sp>
      <p:sp>
        <p:nvSpPr>
          <p:cNvPr id="14" name="Text 12"/>
          <p:cNvSpPr txBox="1"/>
          <p:nvPr/>
        </p:nvSpPr>
        <p:spPr>
          <a:xfrm>
            <a:off x="1005840" y="4041648"/>
            <a:ext cx="512064"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外</a:t>
            </a:r>
            <a:endParaRPr lang="en-US" sz="1700" dirty="0"/>
          </a:p>
        </p:txBody>
      </p:sp>
      <p:sp>
        <p:nvSpPr>
          <p:cNvPr id="15" name="Text 13"/>
          <p:cNvSpPr txBox="1"/>
          <p:nvPr/>
        </p:nvSpPr>
        <p:spPr>
          <a:xfrm>
            <a:off x="1645920" y="3986784"/>
            <a:ext cx="9448495" cy="384048"/>
          </a:xfrm>
          <a:prstGeom prst="rect">
            <a:avLst/>
          </a:prstGeom>
          <a:noFill/>
          <a:ln/>
        </p:spPr>
        <p:txBody>
          <a:bodyPr wrap="square" lIns="0" tIns="0" rIns="0" bIns="0" rtlCol="0" anchor="ctr"/>
          <a:lstStyle/>
          <a:p>
            <a:pPr indent="0" marL="0">
              <a:buNone/>
            </a:pPr>
            <a:r>
              <a:rPr lang="en-US" sz="2000" b="1" dirty="0">
                <a:solidFill>
                  <a:srgbClr val="14312A"/>
                </a:solidFill>
                <a:latin typeface="Meiryo" pitchFamily="34" charset="0"/>
                <a:ea typeface="Meiryo" pitchFamily="34" charset="-122"/>
                <a:cs typeface="Meiryo" pitchFamily="34" charset="-120"/>
              </a:rPr>
              <a:t>外国語科の改善</a:t>
            </a:r>
            <a:endParaRPr lang="en-US" sz="2000" dirty="0"/>
          </a:p>
        </p:txBody>
      </p:sp>
      <p:sp>
        <p:nvSpPr>
          <p:cNvPr id="16" name="Text 14"/>
          <p:cNvSpPr txBox="1"/>
          <p:nvPr/>
        </p:nvSpPr>
        <p:spPr>
          <a:xfrm>
            <a:off x="1645920" y="4462272"/>
            <a:ext cx="9448495" cy="365760"/>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新たに整理したコミュニケーション活動の中で、次の活動を充実させます。</a:t>
            </a:r>
            <a:endParaRPr lang="en-US" sz="1350" dirty="0"/>
          </a:p>
        </p:txBody>
      </p:sp>
      <p:sp>
        <p:nvSpPr>
          <p:cNvPr id="17" name="Shape 15"/>
          <p:cNvSpPr/>
          <p:nvPr/>
        </p:nvSpPr>
        <p:spPr>
          <a:xfrm>
            <a:off x="1645920" y="4864608"/>
            <a:ext cx="9448495" cy="548640"/>
          </a:xfrm>
          <a:prstGeom prst="roundRect">
            <a:avLst>
              <a:gd name="adj" fmla="val 10000"/>
            </a:avLst>
          </a:prstGeom>
          <a:solidFill>
            <a:srgbClr val="FFFFFF"/>
          </a:solidFill>
          <a:ln/>
        </p:spPr>
      </p:sp>
      <p:sp>
        <p:nvSpPr>
          <p:cNvPr id="18" name="Text 16"/>
          <p:cNvSpPr txBox="1"/>
          <p:nvPr/>
        </p:nvSpPr>
        <p:spPr>
          <a:xfrm>
            <a:off x="1874520" y="4992624"/>
            <a:ext cx="8991295" cy="365760"/>
          </a:xfrm>
          <a:prstGeom prst="rect">
            <a:avLst/>
          </a:prstGeom>
          <a:noFill/>
          <a:ln/>
        </p:spPr>
        <p:txBody>
          <a:bodyPr wrap="square" lIns="0" tIns="0" rIns="0" bIns="0" rtlCol="0" anchor="ctr"/>
          <a:lstStyle/>
          <a:p>
            <a:pPr indent="0" marL="0">
              <a:buNone/>
            </a:pPr>
            <a:r>
              <a:rPr lang="en-US" sz="1300" dirty="0">
                <a:solidFill>
                  <a:srgbClr val="1F5D4C"/>
                </a:solidFill>
                <a:latin typeface="Meiryo" pitchFamily="34" charset="0"/>
                <a:ea typeface="Meiryo" pitchFamily="34" charset="-122"/>
                <a:cs typeface="Meiryo" pitchFamily="34" charset="-120"/>
              </a:rPr>
              <a:t>自分の意見を形成・発信する活動　／　身近な地域のことを発信する活動</a:t>
            </a:r>
            <a:endParaRPr lang="en-US" sz="1300" dirty="0"/>
          </a:p>
        </p:txBody>
      </p:sp>
      <p:sp>
        <p:nvSpPr>
          <p:cNvPr id="19" name="Text 17"/>
          <p:cNvSpPr txBox="1"/>
          <p:nvPr/>
        </p:nvSpPr>
        <p:spPr>
          <a:xfrm>
            <a:off x="640080" y="5797296"/>
            <a:ext cx="10911535" cy="347472"/>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いずれも「使って考える」方向。Ⅱ－3の両輪とつながっています。</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26</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Ⅱ－13</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学習評価も見直されます</a:t>
            </a:r>
            <a:endParaRPr lang="en-US" sz="2800" dirty="0"/>
          </a:p>
        </p:txBody>
      </p:sp>
      <p:sp>
        <p:nvSpPr>
          <p:cNvPr id="5" name="Shape 3"/>
          <p:cNvSpPr/>
          <p:nvPr/>
        </p:nvSpPr>
        <p:spPr>
          <a:xfrm>
            <a:off x="640080" y="1481328"/>
            <a:ext cx="10911535" cy="914400"/>
          </a:xfrm>
          <a:prstGeom prst="roundRect">
            <a:avLst>
              <a:gd name="adj" fmla="val 6000"/>
            </a:avLst>
          </a:prstGeom>
          <a:solidFill>
            <a:srgbClr val="F1F5F2"/>
          </a:solidFill>
          <a:ln/>
        </p:spPr>
      </p:sp>
      <p:sp>
        <p:nvSpPr>
          <p:cNvPr id="6" name="Shape 4"/>
          <p:cNvSpPr/>
          <p:nvPr/>
        </p:nvSpPr>
        <p:spPr>
          <a:xfrm>
            <a:off x="950976" y="1709928"/>
            <a:ext cx="457200" cy="457200"/>
          </a:xfrm>
          <a:prstGeom prst="ellipse">
            <a:avLst/>
          </a:prstGeom>
          <a:solidFill>
            <a:srgbClr val="1F5D4C"/>
          </a:solidFill>
          <a:ln/>
        </p:spPr>
      </p:sp>
      <p:sp>
        <p:nvSpPr>
          <p:cNvPr id="7" name="Text 5"/>
          <p:cNvSpPr txBox="1"/>
          <p:nvPr/>
        </p:nvSpPr>
        <p:spPr>
          <a:xfrm>
            <a:off x="950976" y="1773936"/>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1</a:t>
            </a:r>
            <a:endParaRPr lang="en-US" sz="1500" dirty="0"/>
          </a:p>
        </p:txBody>
      </p:sp>
      <p:sp>
        <p:nvSpPr>
          <p:cNvPr id="8" name="Text 6"/>
          <p:cNvSpPr txBox="1"/>
          <p:nvPr/>
        </p:nvSpPr>
        <p:spPr>
          <a:xfrm>
            <a:off x="1572768" y="1609344"/>
            <a:ext cx="9539935" cy="365760"/>
          </a:xfrm>
          <a:prstGeom prst="rect">
            <a:avLst/>
          </a:prstGeom>
          <a:noFill/>
          <a:ln/>
        </p:spPr>
        <p:txBody>
          <a:bodyPr wrap="square" lIns="0" tIns="0" rIns="0" bIns="0" rtlCol="0" anchor="ctr"/>
          <a:lstStyle/>
          <a:p>
            <a:pPr indent="0" marL="0">
              <a:buNone/>
            </a:pPr>
            <a:r>
              <a:rPr lang="en-US" sz="1650" b="1" dirty="0">
                <a:solidFill>
                  <a:srgbClr val="14312A"/>
                </a:solidFill>
                <a:latin typeface="Meiryo" pitchFamily="34" charset="0"/>
                <a:ea typeface="Meiryo" pitchFamily="34" charset="-122"/>
                <a:cs typeface="Meiryo" pitchFamily="34" charset="-120"/>
              </a:rPr>
              <a:t>観点別評価は継続、ただし深化</a:t>
            </a:r>
            <a:endParaRPr lang="en-US" sz="1650" dirty="0"/>
          </a:p>
        </p:txBody>
      </p:sp>
      <p:sp>
        <p:nvSpPr>
          <p:cNvPr id="9" name="Text 7"/>
          <p:cNvSpPr txBox="1"/>
          <p:nvPr/>
        </p:nvSpPr>
        <p:spPr>
          <a:xfrm>
            <a:off x="1572768" y="1993392"/>
            <a:ext cx="9539935" cy="347472"/>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知識・技能／思考・判断・表現／主体的に学習に取り組む態度 の3観点は維持</a:t>
            </a:r>
            <a:endParaRPr lang="en-US" sz="1300" dirty="0"/>
          </a:p>
        </p:txBody>
      </p:sp>
      <p:sp>
        <p:nvSpPr>
          <p:cNvPr id="10" name="Shape 8"/>
          <p:cNvSpPr/>
          <p:nvPr/>
        </p:nvSpPr>
        <p:spPr>
          <a:xfrm>
            <a:off x="640080" y="2487168"/>
            <a:ext cx="10911535" cy="914400"/>
          </a:xfrm>
          <a:prstGeom prst="roundRect">
            <a:avLst>
              <a:gd name="adj" fmla="val 6000"/>
            </a:avLst>
          </a:prstGeom>
          <a:solidFill>
            <a:srgbClr val="E4EDE6"/>
          </a:solidFill>
          <a:ln/>
        </p:spPr>
      </p:sp>
      <p:sp>
        <p:nvSpPr>
          <p:cNvPr id="11" name="Shape 9"/>
          <p:cNvSpPr/>
          <p:nvPr/>
        </p:nvSpPr>
        <p:spPr>
          <a:xfrm>
            <a:off x="950976" y="2715768"/>
            <a:ext cx="457200" cy="457200"/>
          </a:xfrm>
          <a:prstGeom prst="ellipse">
            <a:avLst/>
          </a:prstGeom>
          <a:solidFill>
            <a:srgbClr val="1F5D4C"/>
          </a:solidFill>
          <a:ln/>
        </p:spPr>
      </p:sp>
      <p:sp>
        <p:nvSpPr>
          <p:cNvPr id="12" name="Text 10"/>
          <p:cNvSpPr txBox="1"/>
          <p:nvPr/>
        </p:nvSpPr>
        <p:spPr>
          <a:xfrm>
            <a:off x="950976" y="2779776"/>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2</a:t>
            </a:r>
            <a:endParaRPr lang="en-US" sz="1500" dirty="0"/>
          </a:p>
        </p:txBody>
      </p:sp>
      <p:sp>
        <p:nvSpPr>
          <p:cNvPr id="13" name="Text 11"/>
          <p:cNvSpPr txBox="1"/>
          <p:nvPr/>
        </p:nvSpPr>
        <p:spPr>
          <a:xfrm>
            <a:off x="1572768" y="2615184"/>
            <a:ext cx="9539935" cy="365760"/>
          </a:xfrm>
          <a:prstGeom prst="rect">
            <a:avLst/>
          </a:prstGeom>
          <a:noFill/>
          <a:ln/>
        </p:spPr>
        <p:txBody>
          <a:bodyPr wrap="square" lIns="0" tIns="0" rIns="0" bIns="0" rtlCol="0" anchor="ctr"/>
          <a:lstStyle/>
          <a:p>
            <a:pPr indent="0" marL="0">
              <a:buNone/>
            </a:pPr>
            <a:r>
              <a:rPr lang="en-US" sz="1650" b="1" dirty="0">
                <a:solidFill>
                  <a:srgbClr val="14312A"/>
                </a:solidFill>
                <a:latin typeface="Meiryo" pitchFamily="34" charset="0"/>
                <a:ea typeface="Meiryo" pitchFamily="34" charset="-122"/>
                <a:cs typeface="Meiryo" pitchFamily="34" charset="-120"/>
              </a:rPr>
              <a:t>「主体的に学習に取り組む態度」の扱いを見直し</a:t>
            </a:r>
            <a:endParaRPr lang="en-US" sz="1650" dirty="0"/>
          </a:p>
        </p:txBody>
      </p:sp>
      <p:sp>
        <p:nvSpPr>
          <p:cNvPr id="14" name="Text 12"/>
          <p:cNvSpPr txBox="1"/>
          <p:nvPr/>
        </p:nvSpPr>
        <p:spPr>
          <a:xfrm>
            <a:off x="1572768" y="2999232"/>
            <a:ext cx="9539935" cy="347472"/>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他の観点から切り離してA・B・Cで評定する仕組みが見直しの対象に</a:t>
            </a:r>
            <a:endParaRPr lang="en-US" sz="1300" dirty="0"/>
          </a:p>
        </p:txBody>
      </p:sp>
      <p:sp>
        <p:nvSpPr>
          <p:cNvPr id="15" name="Shape 13"/>
          <p:cNvSpPr/>
          <p:nvPr/>
        </p:nvSpPr>
        <p:spPr>
          <a:xfrm>
            <a:off x="640080" y="3493008"/>
            <a:ext cx="10911535" cy="914400"/>
          </a:xfrm>
          <a:prstGeom prst="roundRect">
            <a:avLst>
              <a:gd name="adj" fmla="val 6000"/>
            </a:avLst>
          </a:prstGeom>
          <a:solidFill>
            <a:srgbClr val="F1F5F2"/>
          </a:solidFill>
          <a:ln/>
        </p:spPr>
      </p:sp>
      <p:sp>
        <p:nvSpPr>
          <p:cNvPr id="16" name="Shape 14"/>
          <p:cNvSpPr/>
          <p:nvPr/>
        </p:nvSpPr>
        <p:spPr>
          <a:xfrm>
            <a:off x="950976" y="3721608"/>
            <a:ext cx="457200" cy="457200"/>
          </a:xfrm>
          <a:prstGeom prst="ellipse">
            <a:avLst/>
          </a:prstGeom>
          <a:solidFill>
            <a:srgbClr val="1F5D4C"/>
          </a:solidFill>
          <a:ln/>
        </p:spPr>
      </p:sp>
      <p:sp>
        <p:nvSpPr>
          <p:cNvPr id="17" name="Text 15"/>
          <p:cNvSpPr txBox="1"/>
          <p:nvPr/>
        </p:nvSpPr>
        <p:spPr>
          <a:xfrm>
            <a:off x="950976" y="3785616"/>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3</a:t>
            </a:r>
            <a:endParaRPr lang="en-US" sz="1500" dirty="0"/>
          </a:p>
        </p:txBody>
      </p:sp>
      <p:sp>
        <p:nvSpPr>
          <p:cNvPr id="18" name="Text 16"/>
          <p:cNvSpPr txBox="1"/>
          <p:nvPr/>
        </p:nvSpPr>
        <p:spPr>
          <a:xfrm>
            <a:off x="1572768" y="3621024"/>
            <a:ext cx="9539935" cy="365760"/>
          </a:xfrm>
          <a:prstGeom prst="rect">
            <a:avLst/>
          </a:prstGeom>
          <a:noFill/>
          <a:ln/>
        </p:spPr>
        <p:txBody>
          <a:bodyPr wrap="square" lIns="0" tIns="0" rIns="0" bIns="0" rtlCol="0" anchor="ctr"/>
          <a:lstStyle/>
          <a:p>
            <a:pPr indent="0" marL="0">
              <a:buNone/>
            </a:pPr>
            <a:r>
              <a:rPr lang="en-US" sz="1650" b="1" dirty="0">
                <a:solidFill>
                  <a:srgbClr val="14312A"/>
                </a:solidFill>
                <a:latin typeface="Meiryo" pitchFamily="34" charset="0"/>
                <a:ea typeface="Meiryo" pitchFamily="34" charset="-122"/>
                <a:cs typeface="Meiryo" pitchFamily="34" charset="-120"/>
              </a:rPr>
              <a:t>所見による個別のフィードバックへ</a:t>
            </a:r>
            <a:endParaRPr lang="en-US" sz="1650" dirty="0"/>
          </a:p>
        </p:txBody>
      </p:sp>
      <p:sp>
        <p:nvSpPr>
          <p:cNvPr id="19" name="Text 17"/>
          <p:cNvSpPr txBox="1"/>
          <p:nvPr/>
        </p:nvSpPr>
        <p:spPr>
          <a:xfrm>
            <a:off x="1572768" y="4005072"/>
            <a:ext cx="9539935" cy="347472"/>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記号や数値ではなく、その子に向けた言葉で返す方向</a:t>
            </a:r>
            <a:endParaRPr lang="en-US" sz="1300" dirty="0"/>
          </a:p>
        </p:txBody>
      </p:sp>
      <p:sp>
        <p:nvSpPr>
          <p:cNvPr id="20" name="Shape 18"/>
          <p:cNvSpPr/>
          <p:nvPr/>
        </p:nvSpPr>
        <p:spPr>
          <a:xfrm>
            <a:off x="640080" y="4498848"/>
            <a:ext cx="10911535" cy="914400"/>
          </a:xfrm>
          <a:prstGeom prst="roundRect">
            <a:avLst>
              <a:gd name="adj" fmla="val 6000"/>
            </a:avLst>
          </a:prstGeom>
          <a:solidFill>
            <a:srgbClr val="E4EDE6"/>
          </a:solidFill>
          <a:ln/>
        </p:spPr>
      </p:sp>
      <p:sp>
        <p:nvSpPr>
          <p:cNvPr id="21" name="Shape 19"/>
          <p:cNvSpPr/>
          <p:nvPr/>
        </p:nvSpPr>
        <p:spPr>
          <a:xfrm>
            <a:off x="950976" y="4727448"/>
            <a:ext cx="457200" cy="457200"/>
          </a:xfrm>
          <a:prstGeom prst="ellipse">
            <a:avLst/>
          </a:prstGeom>
          <a:solidFill>
            <a:srgbClr val="1F5D4C"/>
          </a:solidFill>
          <a:ln/>
        </p:spPr>
      </p:sp>
      <p:sp>
        <p:nvSpPr>
          <p:cNvPr id="22" name="Text 20"/>
          <p:cNvSpPr txBox="1"/>
          <p:nvPr/>
        </p:nvSpPr>
        <p:spPr>
          <a:xfrm>
            <a:off x="950976" y="4791456"/>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4</a:t>
            </a:r>
            <a:endParaRPr lang="en-US" sz="1500" dirty="0"/>
          </a:p>
        </p:txBody>
      </p:sp>
      <p:sp>
        <p:nvSpPr>
          <p:cNvPr id="23" name="Text 21"/>
          <p:cNvSpPr txBox="1"/>
          <p:nvPr/>
        </p:nvSpPr>
        <p:spPr>
          <a:xfrm>
            <a:off x="1572768" y="4626864"/>
            <a:ext cx="9539935" cy="365760"/>
          </a:xfrm>
          <a:prstGeom prst="rect">
            <a:avLst/>
          </a:prstGeom>
          <a:noFill/>
          <a:ln/>
        </p:spPr>
        <p:txBody>
          <a:bodyPr wrap="square" lIns="0" tIns="0" rIns="0" bIns="0" rtlCol="0" anchor="ctr"/>
          <a:lstStyle/>
          <a:p>
            <a:pPr indent="0" marL="0">
              <a:buNone/>
            </a:pPr>
            <a:r>
              <a:rPr lang="en-US" sz="1650" b="1" dirty="0">
                <a:solidFill>
                  <a:srgbClr val="14312A"/>
                </a:solidFill>
                <a:latin typeface="Meiryo" pitchFamily="34" charset="0"/>
                <a:ea typeface="Meiryo" pitchFamily="34" charset="-122"/>
                <a:cs typeface="Meiryo" pitchFamily="34" charset="-120"/>
              </a:rPr>
              <a:t>評価方法の多様化</a:t>
            </a:r>
            <a:endParaRPr lang="en-US" sz="1650" dirty="0"/>
          </a:p>
        </p:txBody>
      </p:sp>
      <p:sp>
        <p:nvSpPr>
          <p:cNvPr id="24" name="Text 22"/>
          <p:cNvSpPr txBox="1"/>
          <p:nvPr/>
        </p:nvSpPr>
        <p:spPr>
          <a:xfrm>
            <a:off x="1572768" y="5010912"/>
            <a:ext cx="9539935" cy="347472"/>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知識再生中心の筆記試験偏重から、多様な学びを評価できる仕組みへ</a:t>
            </a:r>
            <a:endParaRPr lang="en-US" sz="1300" dirty="0"/>
          </a:p>
        </p:txBody>
      </p:sp>
      <p:sp>
        <p:nvSpPr>
          <p:cNvPr id="25" name="Shape 23"/>
          <p:cNvSpPr/>
          <p:nvPr/>
        </p:nvSpPr>
        <p:spPr>
          <a:xfrm>
            <a:off x="640080" y="5559552"/>
            <a:ext cx="10911535" cy="713232"/>
          </a:xfrm>
          <a:prstGeom prst="roundRect">
            <a:avLst>
              <a:gd name="adj" fmla="val 7692"/>
            </a:avLst>
          </a:prstGeom>
          <a:solidFill>
            <a:srgbClr val="14312A"/>
          </a:solidFill>
          <a:ln/>
        </p:spPr>
      </p:sp>
      <p:sp>
        <p:nvSpPr>
          <p:cNvPr id="26" name="Text 24"/>
          <p:cNvSpPr txBox="1"/>
          <p:nvPr/>
        </p:nvSpPr>
        <p:spPr>
          <a:xfrm>
            <a:off x="1097280" y="5742432"/>
            <a:ext cx="9997135" cy="384048"/>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評価が変わると、授業が変わります。ここは校内研修の題材として最適です。</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312A"/>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6E8A7E"/>
                </a:solidFill>
                <a:latin typeface="Meiryo" pitchFamily="34" charset="0"/>
                <a:ea typeface="Meiryo" pitchFamily="34" charset="-122"/>
                <a:cs typeface="Meiryo" pitchFamily="34" charset="-120"/>
              </a:rPr>
              <a:t>27</a:t>
            </a:r>
            <a:endParaRPr lang="en-US" sz="900" dirty="0"/>
          </a:p>
        </p:txBody>
      </p:sp>
      <p:sp>
        <p:nvSpPr>
          <p:cNvPr id="3" name="Shape 1"/>
          <p:cNvSpPr/>
          <p:nvPr/>
        </p:nvSpPr>
        <p:spPr>
          <a:xfrm>
            <a:off x="640080" y="1481328"/>
            <a:ext cx="1115568" cy="1115568"/>
          </a:xfrm>
          <a:prstGeom prst="ellipse">
            <a:avLst/>
          </a:prstGeom>
          <a:solidFill>
            <a:srgbClr val="7FA86B"/>
          </a:solidFill>
          <a:ln/>
        </p:spPr>
      </p:sp>
      <p:sp>
        <p:nvSpPr>
          <p:cNvPr id="4" name="Text 2"/>
          <p:cNvSpPr txBox="1"/>
          <p:nvPr/>
        </p:nvSpPr>
        <p:spPr>
          <a:xfrm>
            <a:off x="640080" y="1874520"/>
            <a:ext cx="1115568" cy="329184"/>
          </a:xfrm>
          <a:prstGeom prst="rect">
            <a:avLst/>
          </a:prstGeom>
          <a:noFill/>
          <a:ln/>
        </p:spPr>
        <p:txBody>
          <a:bodyPr wrap="square" lIns="0" tIns="0" rIns="0" bIns="0" rtlCol="0" anchor="ctr"/>
          <a:lstStyle/>
          <a:p>
            <a:pPr algn="ctr" indent="0" marL="0">
              <a:buNone/>
            </a:pPr>
            <a:r>
              <a:rPr lang="en-US" sz="4000" b="1" dirty="0">
                <a:solidFill>
                  <a:srgbClr val="14312A"/>
                </a:solidFill>
                <a:latin typeface="Meiryo" pitchFamily="34" charset="0"/>
                <a:ea typeface="Meiryo" pitchFamily="34" charset="-122"/>
                <a:cs typeface="Meiryo" pitchFamily="34" charset="-120"/>
              </a:rPr>
              <a:t>Ⅲ</a:t>
            </a:r>
            <a:endParaRPr lang="en-US" sz="4000" dirty="0"/>
          </a:p>
        </p:txBody>
      </p:sp>
      <p:sp>
        <p:nvSpPr>
          <p:cNvPr id="5" name="Text 3"/>
          <p:cNvSpPr txBox="1"/>
          <p:nvPr/>
        </p:nvSpPr>
        <p:spPr>
          <a:xfrm>
            <a:off x="2148840" y="1554480"/>
            <a:ext cx="9402775" cy="713232"/>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校長の権限はどこまで届くか</a:t>
            </a:r>
            <a:endParaRPr lang="en-US" sz="3600" dirty="0"/>
          </a:p>
        </p:txBody>
      </p:sp>
      <p:sp>
        <p:nvSpPr>
          <p:cNvPr id="6" name="Text 4"/>
          <p:cNvSpPr txBox="1"/>
          <p:nvPr/>
        </p:nvSpPr>
        <p:spPr>
          <a:xfrm>
            <a:off x="2148840" y="2322576"/>
            <a:ext cx="9402775" cy="457200"/>
          </a:xfrm>
          <a:prstGeom prst="rect">
            <a:avLst/>
          </a:prstGeom>
          <a:noFill/>
          <a:ln/>
        </p:spPr>
        <p:txBody>
          <a:bodyPr wrap="square" lIns="0" tIns="0" rIns="0" bIns="0" rtlCol="0" anchor="ctr"/>
          <a:lstStyle/>
          <a:p>
            <a:pPr indent="0" marL="0">
              <a:buNone/>
            </a:pPr>
            <a:r>
              <a:rPr lang="en-US" sz="1500" dirty="0">
                <a:solidFill>
                  <a:srgbClr val="7FA86B"/>
                </a:solidFill>
                <a:latin typeface="Meiryo" pitchFamily="34" charset="0"/>
                <a:ea typeface="Meiryo" pitchFamily="34" charset="-122"/>
                <a:cs typeface="Meiryo" pitchFamily="34" charset="-120"/>
              </a:rPr>
              <a:t>できること・できないことを、はっきりさせます</a:t>
            </a:r>
            <a:endParaRPr lang="en-US" sz="1500" dirty="0"/>
          </a:p>
        </p:txBody>
      </p:sp>
      <p:sp>
        <p:nvSpPr>
          <p:cNvPr id="7" name="Shape 5"/>
          <p:cNvSpPr/>
          <p:nvPr/>
        </p:nvSpPr>
        <p:spPr>
          <a:xfrm>
            <a:off x="713232" y="3328416"/>
            <a:ext cx="274320" cy="274320"/>
          </a:xfrm>
          <a:prstGeom prst="ellipse">
            <a:avLst/>
          </a:prstGeom>
          <a:solidFill>
            <a:srgbClr val="5C8A4A"/>
          </a:solidFill>
          <a:ln/>
        </p:spPr>
      </p:sp>
      <p:sp>
        <p:nvSpPr>
          <p:cNvPr id="8" name="Text 6"/>
          <p:cNvSpPr txBox="1"/>
          <p:nvPr/>
        </p:nvSpPr>
        <p:spPr>
          <a:xfrm>
            <a:off x="713232" y="3300984"/>
            <a:ext cx="274320" cy="329184"/>
          </a:xfrm>
          <a:prstGeom prst="rect">
            <a:avLst/>
          </a:prstGeom>
          <a:noFill/>
          <a:ln/>
        </p:spPr>
        <p:txBody>
          <a:bodyPr wrap="square" lIns="0" tIns="0" rIns="0" bIns="0" rtlCol="0" anchor="ctr"/>
          <a:lstStyle/>
          <a:p>
            <a:pPr algn="ctr" indent="0" marL="0">
              <a:buNone/>
            </a:pPr>
            <a:endParaRPr lang="en-US" sz="1000" dirty="0"/>
          </a:p>
        </p:txBody>
      </p:sp>
      <p:sp>
        <p:nvSpPr>
          <p:cNvPr id="9" name="Text 7"/>
          <p:cNvSpPr txBox="1"/>
          <p:nvPr/>
        </p:nvSpPr>
        <p:spPr>
          <a:xfrm>
            <a:off x="1207008" y="3310128"/>
            <a:ext cx="10088575" cy="384048"/>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教育課程を編成するのは「学校」です</a:t>
            </a:r>
            <a:endParaRPr lang="en-US" sz="1450" dirty="0"/>
          </a:p>
        </p:txBody>
      </p:sp>
      <p:sp>
        <p:nvSpPr>
          <p:cNvPr id="10" name="Shape 8"/>
          <p:cNvSpPr/>
          <p:nvPr/>
        </p:nvSpPr>
        <p:spPr>
          <a:xfrm>
            <a:off x="713232" y="3840480"/>
            <a:ext cx="274320" cy="274320"/>
          </a:xfrm>
          <a:prstGeom prst="ellipse">
            <a:avLst/>
          </a:prstGeom>
          <a:solidFill>
            <a:srgbClr val="5C8A4A"/>
          </a:solidFill>
          <a:ln/>
        </p:spPr>
      </p:sp>
      <p:sp>
        <p:nvSpPr>
          <p:cNvPr id="11" name="Text 9"/>
          <p:cNvSpPr txBox="1"/>
          <p:nvPr/>
        </p:nvSpPr>
        <p:spPr>
          <a:xfrm>
            <a:off x="713232" y="3813048"/>
            <a:ext cx="274320" cy="329184"/>
          </a:xfrm>
          <a:prstGeom prst="rect">
            <a:avLst/>
          </a:prstGeom>
          <a:noFill/>
          <a:ln/>
        </p:spPr>
        <p:txBody>
          <a:bodyPr wrap="square" lIns="0" tIns="0" rIns="0" bIns="0" rtlCol="0" anchor="ctr"/>
          <a:lstStyle/>
          <a:p>
            <a:pPr algn="ctr" indent="0" marL="0">
              <a:buNone/>
            </a:pPr>
            <a:endParaRPr lang="en-US" sz="1000" dirty="0"/>
          </a:p>
        </p:txBody>
      </p:sp>
      <p:sp>
        <p:nvSpPr>
          <p:cNvPr id="12" name="Text 10"/>
          <p:cNvSpPr txBox="1"/>
          <p:nvPr/>
        </p:nvSpPr>
        <p:spPr>
          <a:xfrm>
            <a:off x="1207008" y="3822192"/>
            <a:ext cx="10088575" cy="384048"/>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校長の判断だけで動かせる領域は、思っているより広い</a:t>
            </a:r>
            <a:endParaRPr lang="en-US" sz="1450" dirty="0"/>
          </a:p>
        </p:txBody>
      </p:sp>
      <p:sp>
        <p:nvSpPr>
          <p:cNvPr id="13" name="Shape 11"/>
          <p:cNvSpPr/>
          <p:nvPr/>
        </p:nvSpPr>
        <p:spPr>
          <a:xfrm>
            <a:off x="713232" y="4352544"/>
            <a:ext cx="274320" cy="274320"/>
          </a:xfrm>
          <a:prstGeom prst="ellipse">
            <a:avLst/>
          </a:prstGeom>
          <a:solidFill>
            <a:srgbClr val="5C8A4A"/>
          </a:solidFill>
          <a:ln/>
        </p:spPr>
      </p:sp>
      <p:sp>
        <p:nvSpPr>
          <p:cNvPr id="14" name="Text 12"/>
          <p:cNvSpPr txBox="1"/>
          <p:nvPr/>
        </p:nvSpPr>
        <p:spPr>
          <a:xfrm>
            <a:off x="713232" y="4325112"/>
            <a:ext cx="274320" cy="329184"/>
          </a:xfrm>
          <a:prstGeom prst="rect">
            <a:avLst/>
          </a:prstGeom>
          <a:noFill/>
          <a:ln/>
        </p:spPr>
        <p:txBody>
          <a:bodyPr wrap="square" lIns="0" tIns="0" rIns="0" bIns="0" rtlCol="0" anchor="ctr"/>
          <a:lstStyle/>
          <a:p>
            <a:pPr algn="ctr" indent="0" marL="0">
              <a:buNone/>
            </a:pPr>
            <a:endParaRPr lang="en-US" sz="1000" dirty="0"/>
          </a:p>
        </p:txBody>
      </p:sp>
      <p:sp>
        <p:nvSpPr>
          <p:cNvPr id="15" name="Text 13"/>
          <p:cNvSpPr txBox="1"/>
          <p:nvPr/>
        </p:nvSpPr>
        <p:spPr>
          <a:xfrm>
            <a:off x="1207008" y="4334256"/>
            <a:ext cx="10088575" cy="384048"/>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同時に、権限外のことも正確におさえておく</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28</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Ⅲ－1</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大前提 ― 教育課程を編成するのは「学校」です</a:t>
            </a:r>
            <a:endParaRPr lang="en-US" sz="2800" dirty="0"/>
          </a:p>
        </p:txBody>
      </p:sp>
      <p:sp>
        <p:nvSpPr>
          <p:cNvPr id="5" name="Shape 3"/>
          <p:cNvSpPr/>
          <p:nvPr/>
        </p:nvSpPr>
        <p:spPr>
          <a:xfrm>
            <a:off x="640080" y="1554480"/>
            <a:ext cx="10911535" cy="1417320"/>
          </a:xfrm>
          <a:prstGeom prst="roundRect">
            <a:avLst>
              <a:gd name="adj" fmla="val 3871"/>
            </a:avLst>
          </a:prstGeom>
          <a:solidFill>
            <a:srgbClr val="14312A"/>
          </a:solidFill>
          <a:ln/>
        </p:spPr>
      </p:sp>
      <p:sp>
        <p:nvSpPr>
          <p:cNvPr id="6" name="Text 4"/>
          <p:cNvSpPr txBox="1"/>
          <p:nvPr/>
        </p:nvSpPr>
        <p:spPr>
          <a:xfrm>
            <a:off x="1143000" y="1847088"/>
            <a:ext cx="9905695" cy="475488"/>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校長は、校務をつかさどり、所属職員を監督する。</a:t>
            </a:r>
            <a:endParaRPr lang="en-US" sz="2400" dirty="0"/>
          </a:p>
        </p:txBody>
      </p:sp>
      <p:sp>
        <p:nvSpPr>
          <p:cNvPr id="7" name="Text 5"/>
          <p:cNvSpPr txBox="1"/>
          <p:nvPr/>
        </p:nvSpPr>
        <p:spPr>
          <a:xfrm>
            <a:off x="1143000" y="2395728"/>
            <a:ext cx="9905695" cy="310896"/>
          </a:xfrm>
          <a:prstGeom prst="rect">
            <a:avLst/>
          </a:prstGeom>
          <a:noFill/>
          <a:ln/>
        </p:spPr>
        <p:txBody>
          <a:bodyPr wrap="square" lIns="0" tIns="0" rIns="0" bIns="0" rtlCol="0" anchor="ctr"/>
          <a:lstStyle/>
          <a:p>
            <a:pPr indent="0" marL="0">
              <a:buNone/>
            </a:pPr>
            <a:r>
              <a:rPr lang="en-US" sz="1250" dirty="0">
                <a:solidFill>
                  <a:srgbClr val="7FA86B"/>
                </a:solidFill>
                <a:latin typeface="Meiryo" pitchFamily="34" charset="0"/>
                <a:ea typeface="Meiryo" pitchFamily="34" charset="-122"/>
                <a:cs typeface="Meiryo" pitchFamily="34" charset="-120"/>
              </a:rPr>
              <a:t>学校教育法 第37条第4項（中学校は第49条で準用）</a:t>
            </a:r>
            <a:endParaRPr lang="en-US" sz="1250" dirty="0"/>
          </a:p>
        </p:txBody>
      </p:sp>
      <p:sp>
        <p:nvSpPr>
          <p:cNvPr id="8" name="Shape 6"/>
          <p:cNvSpPr/>
          <p:nvPr/>
        </p:nvSpPr>
        <p:spPr>
          <a:xfrm>
            <a:off x="640080" y="3310128"/>
            <a:ext cx="3210458" cy="1664208"/>
          </a:xfrm>
          <a:prstGeom prst="roundRect">
            <a:avLst>
              <a:gd name="adj" fmla="val 3297"/>
            </a:avLst>
          </a:prstGeom>
          <a:solidFill>
            <a:srgbClr val="F1F5F2"/>
          </a:solidFill>
          <a:ln/>
        </p:spPr>
      </p:sp>
      <p:sp>
        <p:nvSpPr>
          <p:cNvPr id="9" name="Text 7"/>
          <p:cNvSpPr txBox="1"/>
          <p:nvPr/>
        </p:nvSpPr>
        <p:spPr>
          <a:xfrm>
            <a:off x="822960" y="3584448"/>
            <a:ext cx="2844698" cy="402336"/>
          </a:xfrm>
          <a:prstGeom prst="rect">
            <a:avLst/>
          </a:prstGeom>
          <a:noFill/>
          <a:ln/>
        </p:spPr>
        <p:txBody>
          <a:bodyPr wrap="square" lIns="0" tIns="0" rIns="0" bIns="0" rtlCol="0" anchor="ctr"/>
          <a:lstStyle/>
          <a:p>
            <a:pPr algn="ctr" indent="0" marL="0">
              <a:buNone/>
            </a:pPr>
            <a:r>
              <a:rPr lang="en-US" sz="1900" b="1" dirty="0">
                <a:solidFill>
                  <a:srgbClr val="5B6660"/>
                </a:solidFill>
                <a:latin typeface="Meiryo" pitchFamily="34" charset="0"/>
                <a:ea typeface="Meiryo" pitchFamily="34" charset="-122"/>
                <a:cs typeface="Meiryo" pitchFamily="34" charset="-120"/>
              </a:rPr>
              <a:t>国</a:t>
            </a:r>
            <a:endParaRPr lang="en-US" sz="1900" dirty="0"/>
          </a:p>
        </p:txBody>
      </p:sp>
      <p:sp>
        <p:nvSpPr>
          <p:cNvPr id="10" name="Text 8"/>
          <p:cNvSpPr txBox="1"/>
          <p:nvPr/>
        </p:nvSpPr>
        <p:spPr>
          <a:xfrm>
            <a:off x="822960" y="4096512"/>
            <a:ext cx="2844698" cy="685800"/>
          </a:xfrm>
          <a:prstGeom prst="rect">
            <a:avLst/>
          </a:prstGeom>
          <a:noFill/>
          <a:ln/>
        </p:spPr>
        <p:txBody>
          <a:bodyPr wrap="square" lIns="0" tIns="0" rIns="0" bIns="0" rtlCol="0" anchor="ctr"/>
          <a:lstStyle/>
          <a:p>
            <a:pPr algn="ctr" indent="0" marL="0">
              <a:lnSpc>
                <a:spcPts val="1900"/>
              </a:lnSpc>
              <a:buNone/>
            </a:pPr>
            <a:r>
              <a:rPr lang="en-US" sz="1300" dirty="0">
                <a:solidFill>
                  <a:srgbClr val="1C2320"/>
                </a:solidFill>
                <a:latin typeface="Meiryo" pitchFamily="34" charset="0"/>
                <a:ea typeface="Meiryo" pitchFamily="34" charset="-122"/>
                <a:cs typeface="Meiryo" pitchFamily="34" charset="-120"/>
              </a:rPr>
              <a:t>学習指導要領で</a:t>
            </a:r>
            <a:endParaRPr lang="en-US" sz="1300" dirty="0"/>
          </a:p>
          <a:p>
            <a:pPr algn="ctr" indent="0" marL="0">
              <a:lnSpc>
                <a:spcPts val="1900"/>
              </a:lnSpc>
              <a:buNone/>
            </a:pPr>
            <a:r>
              <a:rPr lang="en-US" sz="1300" dirty="0">
                <a:solidFill>
                  <a:srgbClr val="1C2320"/>
                </a:solidFill>
                <a:latin typeface="Meiryo" pitchFamily="34" charset="0"/>
                <a:ea typeface="Meiryo" pitchFamily="34" charset="-122"/>
                <a:cs typeface="Meiryo" pitchFamily="34" charset="-120"/>
              </a:rPr>
              <a:t>大綱的な基準を示す</a:t>
            </a:r>
            <a:endParaRPr lang="en-US" sz="1300" dirty="0"/>
          </a:p>
        </p:txBody>
      </p:sp>
      <p:sp>
        <p:nvSpPr>
          <p:cNvPr id="11" name="Text 9"/>
          <p:cNvSpPr txBox="1"/>
          <p:nvPr/>
        </p:nvSpPr>
        <p:spPr>
          <a:xfrm>
            <a:off x="3941978" y="4005072"/>
            <a:ext cx="457200" cy="365760"/>
          </a:xfrm>
          <a:prstGeom prst="rect">
            <a:avLst/>
          </a:prstGeom>
          <a:noFill/>
          <a:ln/>
        </p:spPr>
        <p:txBody>
          <a:bodyPr wrap="square" lIns="0" tIns="0" rIns="0" bIns="0" rtlCol="0" anchor="ctr"/>
          <a:lstStyle/>
          <a:p>
            <a:pPr algn="ctr" indent="0" marL="0">
              <a:buNone/>
            </a:pPr>
            <a:r>
              <a:rPr lang="en-US" sz="1800" dirty="0">
                <a:solidFill>
                  <a:srgbClr val="7FA86B"/>
                </a:solidFill>
                <a:latin typeface="Meiryo" pitchFamily="34" charset="0"/>
                <a:ea typeface="Meiryo" pitchFamily="34" charset="-122"/>
                <a:cs typeface="Meiryo" pitchFamily="34" charset="-120"/>
              </a:rPr>
              <a:t>▶</a:t>
            </a:r>
            <a:endParaRPr lang="en-US" sz="1800" dirty="0"/>
          </a:p>
        </p:txBody>
      </p:sp>
      <p:sp>
        <p:nvSpPr>
          <p:cNvPr id="12" name="Shape 10"/>
          <p:cNvSpPr/>
          <p:nvPr/>
        </p:nvSpPr>
        <p:spPr>
          <a:xfrm>
            <a:off x="4490618" y="3310128"/>
            <a:ext cx="3210458" cy="1664208"/>
          </a:xfrm>
          <a:prstGeom prst="roundRect">
            <a:avLst>
              <a:gd name="adj" fmla="val 3297"/>
            </a:avLst>
          </a:prstGeom>
          <a:solidFill>
            <a:srgbClr val="F1F5F2"/>
          </a:solidFill>
          <a:ln/>
        </p:spPr>
      </p:sp>
      <p:sp>
        <p:nvSpPr>
          <p:cNvPr id="13" name="Text 11"/>
          <p:cNvSpPr txBox="1"/>
          <p:nvPr/>
        </p:nvSpPr>
        <p:spPr>
          <a:xfrm>
            <a:off x="4673498" y="3584448"/>
            <a:ext cx="2844698" cy="402336"/>
          </a:xfrm>
          <a:prstGeom prst="rect">
            <a:avLst/>
          </a:prstGeom>
          <a:noFill/>
          <a:ln/>
        </p:spPr>
        <p:txBody>
          <a:bodyPr wrap="square" lIns="0" tIns="0" rIns="0" bIns="0" rtlCol="0" anchor="ctr"/>
          <a:lstStyle/>
          <a:p>
            <a:pPr algn="ctr" indent="0" marL="0">
              <a:buNone/>
            </a:pPr>
            <a:r>
              <a:rPr lang="en-US" sz="1900" b="1" dirty="0">
                <a:solidFill>
                  <a:srgbClr val="5C8A4A"/>
                </a:solidFill>
                <a:latin typeface="Meiryo" pitchFamily="34" charset="0"/>
                <a:ea typeface="Meiryo" pitchFamily="34" charset="-122"/>
                <a:cs typeface="Meiryo" pitchFamily="34" charset="-120"/>
              </a:rPr>
              <a:t>区教育委員会</a:t>
            </a:r>
            <a:endParaRPr lang="en-US" sz="1900" dirty="0"/>
          </a:p>
        </p:txBody>
      </p:sp>
      <p:sp>
        <p:nvSpPr>
          <p:cNvPr id="14" name="Text 12"/>
          <p:cNvSpPr txBox="1"/>
          <p:nvPr/>
        </p:nvSpPr>
        <p:spPr>
          <a:xfrm>
            <a:off x="4673498" y="4096512"/>
            <a:ext cx="2844698" cy="685800"/>
          </a:xfrm>
          <a:prstGeom prst="rect">
            <a:avLst/>
          </a:prstGeom>
          <a:noFill/>
          <a:ln/>
        </p:spPr>
        <p:txBody>
          <a:bodyPr wrap="square" lIns="0" tIns="0" rIns="0" bIns="0" rtlCol="0" anchor="ctr"/>
          <a:lstStyle/>
          <a:p>
            <a:pPr algn="ctr" indent="0" marL="0">
              <a:lnSpc>
                <a:spcPts val="1900"/>
              </a:lnSpc>
              <a:buNone/>
            </a:pPr>
            <a:r>
              <a:rPr lang="en-US" sz="1300" dirty="0">
                <a:solidFill>
                  <a:srgbClr val="1C2320"/>
                </a:solidFill>
                <a:latin typeface="Meiryo" pitchFamily="34" charset="0"/>
                <a:ea typeface="Meiryo" pitchFamily="34" charset="-122"/>
                <a:cs typeface="Meiryo" pitchFamily="34" charset="-120"/>
              </a:rPr>
              <a:t>管理運営の基準を定め、</a:t>
            </a:r>
            <a:endParaRPr lang="en-US" sz="1300" dirty="0"/>
          </a:p>
          <a:p>
            <a:pPr algn="ctr" indent="0" marL="0">
              <a:lnSpc>
                <a:spcPts val="1900"/>
              </a:lnSpc>
              <a:buNone/>
            </a:pPr>
            <a:r>
              <a:rPr lang="en-US" sz="1300" dirty="0">
                <a:solidFill>
                  <a:srgbClr val="1C2320"/>
                </a:solidFill>
                <a:latin typeface="Meiryo" pitchFamily="34" charset="0"/>
                <a:ea typeface="Meiryo" pitchFamily="34" charset="-122"/>
                <a:cs typeface="Meiryo" pitchFamily="34" charset="-120"/>
              </a:rPr>
              <a:t>指導・助言する</a:t>
            </a:r>
            <a:endParaRPr lang="en-US" sz="1300" dirty="0"/>
          </a:p>
        </p:txBody>
      </p:sp>
      <p:sp>
        <p:nvSpPr>
          <p:cNvPr id="15" name="Text 13"/>
          <p:cNvSpPr txBox="1"/>
          <p:nvPr/>
        </p:nvSpPr>
        <p:spPr>
          <a:xfrm>
            <a:off x="7792517" y="4005072"/>
            <a:ext cx="457200" cy="365760"/>
          </a:xfrm>
          <a:prstGeom prst="rect">
            <a:avLst/>
          </a:prstGeom>
          <a:noFill/>
          <a:ln/>
        </p:spPr>
        <p:txBody>
          <a:bodyPr wrap="square" lIns="0" tIns="0" rIns="0" bIns="0" rtlCol="0" anchor="ctr"/>
          <a:lstStyle/>
          <a:p>
            <a:pPr algn="ctr" indent="0" marL="0">
              <a:buNone/>
            </a:pPr>
            <a:r>
              <a:rPr lang="en-US" sz="1800" dirty="0">
                <a:solidFill>
                  <a:srgbClr val="7FA86B"/>
                </a:solidFill>
                <a:latin typeface="Meiryo" pitchFamily="34" charset="0"/>
                <a:ea typeface="Meiryo" pitchFamily="34" charset="-122"/>
                <a:cs typeface="Meiryo" pitchFamily="34" charset="-120"/>
              </a:rPr>
              <a:t>▶</a:t>
            </a:r>
            <a:endParaRPr lang="en-US" sz="1800" dirty="0"/>
          </a:p>
        </p:txBody>
      </p:sp>
      <p:sp>
        <p:nvSpPr>
          <p:cNvPr id="16" name="Shape 14"/>
          <p:cNvSpPr/>
          <p:nvPr/>
        </p:nvSpPr>
        <p:spPr>
          <a:xfrm>
            <a:off x="8341157" y="3310128"/>
            <a:ext cx="3210458" cy="1664208"/>
          </a:xfrm>
          <a:prstGeom prst="roundRect">
            <a:avLst>
              <a:gd name="adj" fmla="val 3297"/>
            </a:avLst>
          </a:prstGeom>
          <a:solidFill>
            <a:srgbClr val="E4EDE6"/>
          </a:solidFill>
          <a:ln/>
        </p:spPr>
      </p:sp>
      <p:sp>
        <p:nvSpPr>
          <p:cNvPr id="17" name="Text 15"/>
          <p:cNvSpPr txBox="1"/>
          <p:nvPr/>
        </p:nvSpPr>
        <p:spPr>
          <a:xfrm>
            <a:off x="8524037" y="3584448"/>
            <a:ext cx="2844698" cy="402336"/>
          </a:xfrm>
          <a:prstGeom prst="rect">
            <a:avLst/>
          </a:prstGeom>
          <a:noFill/>
          <a:ln/>
        </p:spPr>
        <p:txBody>
          <a:bodyPr wrap="square" lIns="0" tIns="0" rIns="0" bIns="0" rtlCol="0" anchor="ctr"/>
          <a:lstStyle/>
          <a:p>
            <a:pPr algn="ctr" indent="0" marL="0">
              <a:buNone/>
            </a:pPr>
            <a:r>
              <a:rPr lang="en-US" sz="1900" b="1" dirty="0">
                <a:solidFill>
                  <a:srgbClr val="1F5D4C"/>
                </a:solidFill>
                <a:latin typeface="Meiryo" pitchFamily="34" charset="0"/>
                <a:ea typeface="Meiryo" pitchFamily="34" charset="-122"/>
                <a:cs typeface="Meiryo" pitchFamily="34" charset="-120"/>
              </a:rPr>
              <a:t>学校（校長）</a:t>
            </a:r>
            <a:endParaRPr lang="en-US" sz="1900" dirty="0"/>
          </a:p>
        </p:txBody>
      </p:sp>
      <p:sp>
        <p:nvSpPr>
          <p:cNvPr id="18" name="Text 16"/>
          <p:cNvSpPr txBox="1"/>
          <p:nvPr/>
        </p:nvSpPr>
        <p:spPr>
          <a:xfrm>
            <a:off x="8524037" y="4096512"/>
            <a:ext cx="2844698" cy="685800"/>
          </a:xfrm>
          <a:prstGeom prst="rect">
            <a:avLst/>
          </a:prstGeom>
          <a:noFill/>
          <a:ln/>
        </p:spPr>
        <p:txBody>
          <a:bodyPr wrap="square" lIns="0" tIns="0" rIns="0" bIns="0" rtlCol="0" anchor="ctr"/>
          <a:lstStyle/>
          <a:p>
            <a:pPr algn="ctr" indent="0" marL="0">
              <a:lnSpc>
                <a:spcPts val="1900"/>
              </a:lnSpc>
              <a:buNone/>
            </a:pPr>
            <a:r>
              <a:rPr lang="en-US" sz="1300" dirty="0">
                <a:solidFill>
                  <a:srgbClr val="1C2320"/>
                </a:solidFill>
                <a:latin typeface="Meiryo" pitchFamily="34" charset="0"/>
                <a:ea typeface="Meiryo" pitchFamily="34" charset="-122"/>
                <a:cs typeface="Meiryo" pitchFamily="34" charset="-120"/>
              </a:rPr>
              <a:t>自校の教育課程を</a:t>
            </a:r>
            <a:endParaRPr lang="en-US" sz="1300" dirty="0"/>
          </a:p>
          <a:p>
            <a:pPr algn="ctr" indent="0" marL="0">
              <a:lnSpc>
                <a:spcPts val="1900"/>
              </a:lnSpc>
              <a:buNone/>
            </a:pPr>
            <a:r>
              <a:rPr lang="en-US" sz="1300" dirty="0">
                <a:solidFill>
                  <a:srgbClr val="1C2320"/>
                </a:solidFill>
                <a:latin typeface="Meiryo" pitchFamily="34" charset="0"/>
                <a:ea typeface="Meiryo" pitchFamily="34" charset="-122"/>
                <a:cs typeface="Meiryo" pitchFamily="34" charset="-120"/>
              </a:rPr>
              <a:t>編成し、実施する</a:t>
            </a:r>
            <a:endParaRPr lang="en-US" sz="1300" dirty="0"/>
          </a:p>
        </p:txBody>
      </p:sp>
      <p:sp>
        <p:nvSpPr>
          <p:cNvPr id="19" name="Shape 17"/>
          <p:cNvSpPr/>
          <p:nvPr/>
        </p:nvSpPr>
        <p:spPr>
          <a:xfrm>
            <a:off x="640080" y="5230368"/>
            <a:ext cx="10911535" cy="914400"/>
          </a:xfrm>
          <a:prstGeom prst="roundRect">
            <a:avLst>
              <a:gd name="adj" fmla="val 6000"/>
            </a:avLst>
          </a:prstGeom>
          <a:solidFill>
            <a:srgbClr val="F1F5F2"/>
          </a:solidFill>
          <a:ln/>
        </p:spPr>
      </p:sp>
      <p:sp>
        <p:nvSpPr>
          <p:cNvPr id="20" name="Text 18"/>
          <p:cNvSpPr txBox="1"/>
          <p:nvPr/>
        </p:nvSpPr>
        <p:spPr>
          <a:xfrm>
            <a:off x="1097280" y="5458968"/>
            <a:ext cx="9997135" cy="457200"/>
          </a:xfrm>
          <a:prstGeom prst="rect">
            <a:avLst/>
          </a:prstGeom>
          <a:noFill/>
          <a:ln/>
        </p:spPr>
        <p:txBody>
          <a:bodyPr wrap="square" lIns="0" tIns="0" rIns="0" bIns="0" rtlCol="0" anchor="ctr"/>
          <a:lstStyle/>
          <a:p>
            <a:pPr indent="0" marL="0">
              <a:buNone/>
            </a:pPr>
            <a:r>
              <a:rPr lang="en-US" sz="1700" b="1" dirty="0">
                <a:solidFill>
                  <a:srgbClr val="1F5D4C"/>
                </a:solidFill>
                <a:latin typeface="Meiryo" pitchFamily="34" charset="0"/>
                <a:ea typeface="Meiryo" pitchFamily="34" charset="-122"/>
                <a:cs typeface="Meiryo" pitchFamily="34" charset="-120"/>
              </a:rPr>
              <a:t>国が決めるのは「大綱的な基準」。中身をどう組むかは、学校に委ねられています。</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29</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Ⅲ－2</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校長権限マップ</a:t>
            </a:r>
            <a:endParaRPr lang="en-US" sz="2800" dirty="0"/>
          </a:p>
        </p:txBody>
      </p:sp>
      <p:sp>
        <p:nvSpPr>
          <p:cNvPr id="5" name="Shape 3"/>
          <p:cNvSpPr/>
          <p:nvPr/>
        </p:nvSpPr>
        <p:spPr>
          <a:xfrm>
            <a:off x="640080" y="1517904"/>
            <a:ext cx="3484778" cy="4078224"/>
          </a:xfrm>
          <a:prstGeom prst="roundRect">
            <a:avLst>
              <a:gd name="adj" fmla="val 1574"/>
            </a:avLst>
          </a:prstGeom>
          <a:solidFill>
            <a:srgbClr val="E4EDE6"/>
          </a:solidFill>
          <a:ln/>
        </p:spPr>
      </p:sp>
      <p:sp>
        <p:nvSpPr>
          <p:cNvPr id="6" name="Shape 4"/>
          <p:cNvSpPr/>
          <p:nvPr/>
        </p:nvSpPr>
        <p:spPr>
          <a:xfrm>
            <a:off x="640080" y="1517904"/>
            <a:ext cx="3484778" cy="804672"/>
          </a:xfrm>
          <a:prstGeom prst="roundRect">
            <a:avLst>
              <a:gd name="adj" fmla="val 6818"/>
            </a:avLst>
          </a:prstGeom>
          <a:solidFill>
            <a:srgbClr val="1F5D4C"/>
          </a:solidFill>
          <a:ln/>
        </p:spPr>
      </p:sp>
      <p:sp>
        <p:nvSpPr>
          <p:cNvPr id="7" name="Text 5"/>
          <p:cNvSpPr txBox="1"/>
          <p:nvPr/>
        </p:nvSpPr>
        <p:spPr>
          <a:xfrm>
            <a:off x="640080" y="1627632"/>
            <a:ext cx="3484778" cy="603504"/>
          </a:xfrm>
          <a:prstGeom prst="rect">
            <a:avLst/>
          </a:prstGeom>
          <a:noFill/>
          <a:ln/>
        </p:spPr>
        <p:txBody>
          <a:bodyPr wrap="square" lIns="0" tIns="0" rIns="0" bIns="0" rtlCol="0" anchor="ctr"/>
          <a:lstStyle/>
          <a:p>
            <a:pPr algn="ctr" indent="0" marL="0">
              <a:lnSpc>
                <a:spcPts val="2100"/>
              </a:lnSpc>
              <a:buNone/>
            </a:pPr>
            <a:r>
              <a:rPr lang="en-US" sz="1600" b="1" dirty="0">
                <a:solidFill>
                  <a:srgbClr val="FFFFFF"/>
                </a:solidFill>
                <a:latin typeface="Meiryo" pitchFamily="34" charset="0"/>
                <a:ea typeface="Meiryo" pitchFamily="34" charset="-122"/>
                <a:cs typeface="Meiryo" pitchFamily="34" charset="-120"/>
              </a:rPr>
              <a:t>校長の判断で</a:t>
            </a:r>
            <a:endParaRPr lang="en-US" sz="1600" dirty="0"/>
          </a:p>
          <a:p>
            <a:pPr algn="ctr" indent="0" marL="0">
              <a:lnSpc>
                <a:spcPts val="2100"/>
              </a:lnSpc>
              <a:buNone/>
            </a:pPr>
            <a:r>
              <a:rPr lang="en-US" sz="1600" b="1" dirty="0">
                <a:solidFill>
                  <a:srgbClr val="FFFFFF"/>
                </a:solidFill>
                <a:latin typeface="Meiryo" pitchFamily="34" charset="0"/>
                <a:ea typeface="Meiryo" pitchFamily="34" charset="-122"/>
                <a:cs typeface="Meiryo" pitchFamily="34" charset="-120"/>
              </a:rPr>
              <a:t>できる</a:t>
            </a:r>
            <a:endParaRPr lang="en-US" sz="1600" dirty="0"/>
          </a:p>
        </p:txBody>
      </p:sp>
      <p:sp>
        <p:nvSpPr>
          <p:cNvPr id="8" name="Text 6"/>
          <p:cNvSpPr txBox="1"/>
          <p:nvPr/>
        </p:nvSpPr>
        <p:spPr>
          <a:xfrm>
            <a:off x="914400" y="2523744"/>
            <a:ext cx="2936138" cy="29260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日課表・週時程の編成</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学校行事の精選・統合</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校内研修の内容と回数</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校務分掌の組み替え</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学校経営計画の重点設定</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授業改善の方針</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会議の持ち方・時間</a:t>
            </a:r>
            <a:endParaRPr lang="en-US" sz="1250" dirty="0"/>
          </a:p>
        </p:txBody>
      </p:sp>
      <p:sp>
        <p:nvSpPr>
          <p:cNvPr id="9" name="Shape 7"/>
          <p:cNvSpPr/>
          <p:nvPr/>
        </p:nvSpPr>
        <p:spPr>
          <a:xfrm>
            <a:off x="4353458" y="1517904"/>
            <a:ext cx="3484778" cy="4078224"/>
          </a:xfrm>
          <a:prstGeom prst="roundRect">
            <a:avLst>
              <a:gd name="adj" fmla="val 1574"/>
            </a:avLst>
          </a:prstGeom>
          <a:solidFill>
            <a:srgbClr val="F1F5F2"/>
          </a:solidFill>
          <a:ln/>
        </p:spPr>
      </p:sp>
      <p:sp>
        <p:nvSpPr>
          <p:cNvPr id="10" name="Shape 8"/>
          <p:cNvSpPr/>
          <p:nvPr/>
        </p:nvSpPr>
        <p:spPr>
          <a:xfrm>
            <a:off x="4353458" y="1517904"/>
            <a:ext cx="3484778" cy="804672"/>
          </a:xfrm>
          <a:prstGeom prst="roundRect">
            <a:avLst>
              <a:gd name="adj" fmla="val 6818"/>
            </a:avLst>
          </a:prstGeom>
          <a:solidFill>
            <a:srgbClr val="5C8A4A"/>
          </a:solidFill>
          <a:ln/>
        </p:spPr>
      </p:sp>
      <p:sp>
        <p:nvSpPr>
          <p:cNvPr id="11" name="Text 9"/>
          <p:cNvSpPr txBox="1"/>
          <p:nvPr/>
        </p:nvSpPr>
        <p:spPr>
          <a:xfrm>
            <a:off x="4353458" y="1627632"/>
            <a:ext cx="3484778" cy="603504"/>
          </a:xfrm>
          <a:prstGeom prst="rect">
            <a:avLst/>
          </a:prstGeom>
          <a:noFill/>
          <a:ln/>
        </p:spPr>
        <p:txBody>
          <a:bodyPr wrap="square" lIns="0" tIns="0" rIns="0" bIns="0" rtlCol="0" anchor="ctr"/>
          <a:lstStyle/>
          <a:p>
            <a:pPr algn="ctr" indent="0" marL="0">
              <a:lnSpc>
                <a:spcPts val="2100"/>
              </a:lnSpc>
              <a:buNone/>
            </a:pPr>
            <a:r>
              <a:rPr lang="en-US" sz="1600" b="1" dirty="0">
                <a:solidFill>
                  <a:srgbClr val="FFFFFF"/>
                </a:solidFill>
                <a:latin typeface="Meiryo" pitchFamily="34" charset="0"/>
                <a:ea typeface="Meiryo" pitchFamily="34" charset="-122"/>
                <a:cs typeface="Meiryo" pitchFamily="34" charset="-120"/>
              </a:rPr>
              <a:t>区教委との</a:t>
            </a:r>
            <a:endParaRPr lang="en-US" sz="1600" dirty="0"/>
          </a:p>
          <a:p>
            <a:pPr algn="ctr" indent="0" marL="0">
              <a:lnSpc>
                <a:spcPts val="2100"/>
              </a:lnSpc>
              <a:buNone/>
            </a:pPr>
            <a:r>
              <a:rPr lang="en-US" sz="1600" b="1" dirty="0">
                <a:solidFill>
                  <a:srgbClr val="FFFFFF"/>
                </a:solidFill>
                <a:latin typeface="Meiryo" pitchFamily="34" charset="0"/>
                <a:ea typeface="Meiryo" pitchFamily="34" charset="-122"/>
                <a:cs typeface="Meiryo" pitchFamily="34" charset="-120"/>
              </a:rPr>
              <a:t>協議・届出</a:t>
            </a:r>
            <a:endParaRPr lang="en-US" sz="1600" dirty="0"/>
          </a:p>
        </p:txBody>
      </p:sp>
      <p:sp>
        <p:nvSpPr>
          <p:cNvPr id="12" name="Text 10"/>
          <p:cNvSpPr txBox="1"/>
          <p:nvPr/>
        </p:nvSpPr>
        <p:spPr>
          <a:xfrm>
            <a:off x="4627778" y="2523744"/>
            <a:ext cx="2936138" cy="29260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教育課程の届出・報告</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標準授業時数の特例的な運用</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学校設定教科等の新設</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長期休業日の変更</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特色ある教育課程の申請</a:t>
            </a:r>
            <a:endParaRPr lang="en-US" sz="1250" dirty="0"/>
          </a:p>
        </p:txBody>
      </p:sp>
      <p:sp>
        <p:nvSpPr>
          <p:cNvPr id="13" name="Shape 11"/>
          <p:cNvSpPr/>
          <p:nvPr/>
        </p:nvSpPr>
        <p:spPr>
          <a:xfrm>
            <a:off x="8066837" y="1517904"/>
            <a:ext cx="3484778" cy="4078224"/>
          </a:xfrm>
          <a:prstGeom prst="roundRect">
            <a:avLst>
              <a:gd name="adj" fmla="val 1574"/>
            </a:avLst>
          </a:prstGeom>
          <a:solidFill>
            <a:srgbClr val="F1F5F2"/>
          </a:solidFill>
          <a:ln/>
        </p:spPr>
      </p:sp>
      <p:sp>
        <p:nvSpPr>
          <p:cNvPr id="14" name="Shape 12"/>
          <p:cNvSpPr/>
          <p:nvPr/>
        </p:nvSpPr>
        <p:spPr>
          <a:xfrm>
            <a:off x="8066837" y="1517904"/>
            <a:ext cx="3484778" cy="804672"/>
          </a:xfrm>
          <a:prstGeom prst="roundRect">
            <a:avLst>
              <a:gd name="adj" fmla="val 6818"/>
            </a:avLst>
          </a:prstGeom>
          <a:solidFill>
            <a:srgbClr val="5B6660"/>
          </a:solidFill>
          <a:ln/>
        </p:spPr>
      </p:sp>
      <p:sp>
        <p:nvSpPr>
          <p:cNvPr id="15" name="Text 13"/>
          <p:cNvSpPr txBox="1"/>
          <p:nvPr/>
        </p:nvSpPr>
        <p:spPr>
          <a:xfrm>
            <a:off x="8066837" y="1627632"/>
            <a:ext cx="3484778" cy="603504"/>
          </a:xfrm>
          <a:prstGeom prst="rect">
            <a:avLst/>
          </a:prstGeom>
          <a:noFill/>
          <a:ln/>
        </p:spPr>
        <p:txBody>
          <a:bodyPr wrap="square" lIns="0" tIns="0" rIns="0" bIns="0" rtlCol="0" anchor="ctr"/>
          <a:lstStyle/>
          <a:p>
            <a:pPr algn="ctr" indent="0" marL="0">
              <a:lnSpc>
                <a:spcPts val="2100"/>
              </a:lnSpc>
              <a:buNone/>
            </a:pPr>
            <a:r>
              <a:rPr lang="en-US" sz="1600" b="1" dirty="0">
                <a:solidFill>
                  <a:srgbClr val="FFFFFF"/>
                </a:solidFill>
                <a:latin typeface="Meiryo" pitchFamily="34" charset="0"/>
                <a:ea typeface="Meiryo" pitchFamily="34" charset="-122"/>
                <a:cs typeface="Meiryo" pitchFamily="34" charset="-120"/>
              </a:rPr>
              <a:t>校長の</a:t>
            </a:r>
            <a:endParaRPr lang="en-US" sz="1600" dirty="0"/>
          </a:p>
          <a:p>
            <a:pPr algn="ctr" indent="0" marL="0">
              <a:lnSpc>
                <a:spcPts val="2100"/>
              </a:lnSpc>
              <a:buNone/>
            </a:pPr>
            <a:r>
              <a:rPr lang="en-US" sz="1600" b="1" dirty="0">
                <a:solidFill>
                  <a:srgbClr val="FFFFFF"/>
                </a:solidFill>
                <a:latin typeface="Meiryo" pitchFamily="34" charset="0"/>
                <a:ea typeface="Meiryo" pitchFamily="34" charset="-122"/>
                <a:cs typeface="Meiryo" pitchFamily="34" charset="-120"/>
              </a:rPr>
              <a:t>権限外</a:t>
            </a:r>
            <a:endParaRPr lang="en-US" sz="1600" dirty="0"/>
          </a:p>
        </p:txBody>
      </p:sp>
      <p:sp>
        <p:nvSpPr>
          <p:cNvPr id="16" name="Text 14"/>
          <p:cNvSpPr txBox="1"/>
          <p:nvPr/>
        </p:nvSpPr>
        <p:spPr>
          <a:xfrm>
            <a:off x="8341157" y="2523744"/>
            <a:ext cx="2936138" cy="29260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5B6660"/>
                </a:solidFill>
                <a:latin typeface="Meiryo" pitchFamily="34" charset="0"/>
                <a:ea typeface="Meiryo" pitchFamily="34" charset="-122"/>
                <a:cs typeface="Meiryo" pitchFamily="34" charset="-120"/>
              </a:rPr>
              <a:t>教科書の採択（区教委の権限）</a:t>
            </a:r>
            <a:endParaRPr lang="en-US" sz="1250" dirty="0"/>
          </a:p>
          <a:p>
            <a:pPr marL="342900" indent="-342900">
              <a:spcAft>
                <a:spcPts val="800"/>
              </a:spcAft>
              <a:buSzPct val="100000"/>
              <a:buChar char="•"/>
            </a:pPr>
            <a:r>
              <a:rPr lang="en-US" sz="1250" dirty="0">
                <a:solidFill>
                  <a:srgbClr val="5B6660"/>
                </a:solidFill>
                <a:latin typeface="Meiryo" pitchFamily="34" charset="0"/>
                <a:ea typeface="Meiryo" pitchFamily="34" charset="-122"/>
                <a:cs typeface="Meiryo" pitchFamily="34" charset="-120"/>
              </a:rPr>
              <a:t>学習指導要領の内容</a:t>
            </a:r>
            <a:endParaRPr lang="en-US" sz="1250" dirty="0"/>
          </a:p>
          <a:p>
            <a:pPr marL="342900" indent="-342900">
              <a:spcAft>
                <a:spcPts val="800"/>
              </a:spcAft>
              <a:buSzPct val="100000"/>
              <a:buChar char="•"/>
            </a:pPr>
            <a:r>
              <a:rPr lang="en-US" sz="1250" dirty="0">
                <a:solidFill>
                  <a:srgbClr val="5B6660"/>
                </a:solidFill>
                <a:latin typeface="Meiryo" pitchFamily="34" charset="0"/>
                <a:ea typeface="Meiryo" pitchFamily="34" charset="-122"/>
                <a:cs typeface="Meiryo" pitchFamily="34" charset="-120"/>
              </a:rPr>
              <a:t>教職員定数・人事</a:t>
            </a:r>
            <a:endParaRPr lang="en-US" sz="1250" dirty="0"/>
          </a:p>
          <a:p>
            <a:pPr marL="342900" indent="-342900">
              <a:spcAft>
                <a:spcPts val="800"/>
              </a:spcAft>
              <a:buSzPct val="100000"/>
              <a:buChar char="•"/>
            </a:pPr>
            <a:r>
              <a:rPr lang="en-US" sz="1250" dirty="0">
                <a:solidFill>
                  <a:srgbClr val="5B6660"/>
                </a:solidFill>
                <a:latin typeface="Meiryo" pitchFamily="34" charset="0"/>
                <a:ea typeface="Meiryo" pitchFamily="34" charset="-122"/>
                <a:cs typeface="Meiryo" pitchFamily="34" charset="-120"/>
              </a:rPr>
              <a:t>標準授業時数の総枠（法令）</a:t>
            </a:r>
            <a:endParaRPr lang="en-US" sz="1250" dirty="0"/>
          </a:p>
        </p:txBody>
      </p:sp>
      <p:sp>
        <p:nvSpPr>
          <p:cNvPr id="17" name="Text 15"/>
          <p:cNvSpPr txBox="1"/>
          <p:nvPr/>
        </p:nvSpPr>
        <p:spPr>
          <a:xfrm>
            <a:off x="640080" y="6291072"/>
            <a:ext cx="9997135" cy="310896"/>
          </a:xfrm>
          <a:prstGeom prst="rect">
            <a:avLst/>
          </a:prstGeom>
          <a:noFill/>
          <a:ln/>
        </p:spPr>
        <p:txBody>
          <a:bodyPr wrap="square" lIns="0" tIns="0" rIns="0" bIns="0" rtlCol="0" anchor="t"/>
          <a:lstStyle/>
          <a:p>
            <a:pPr indent="0" marL="0">
              <a:buNone/>
            </a:pPr>
            <a:r>
              <a:rPr lang="en-US" sz="950" dirty="0">
                <a:solidFill>
                  <a:srgbClr val="5B6660"/>
                </a:solidFill>
                <a:latin typeface="Meiryo" pitchFamily="34" charset="0"/>
                <a:ea typeface="Meiryo" pitchFamily="34" charset="-122"/>
                <a:cs typeface="Meiryo" pitchFamily="34" charset="-120"/>
              </a:rPr>
              <a:t>※中央・右列の線引きは自治体の管理運営規則によって異なります。実施前に区教育委員会にご確認ください。</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30</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Ⅲ－3</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根拠となる主な法令</a:t>
            </a:r>
            <a:endParaRPr lang="en-US" sz="2800" dirty="0"/>
          </a:p>
        </p:txBody>
      </p:sp>
      <p:sp>
        <p:nvSpPr>
          <p:cNvPr id="5" name="Shape 3"/>
          <p:cNvSpPr/>
          <p:nvPr/>
        </p:nvSpPr>
        <p:spPr>
          <a:xfrm>
            <a:off x="640080" y="1481328"/>
            <a:ext cx="10911535" cy="603504"/>
          </a:xfrm>
          <a:prstGeom prst="roundRect">
            <a:avLst>
              <a:gd name="adj" fmla="val 9091"/>
            </a:avLst>
          </a:prstGeom>
          <a:solidFill>
            <a:srgbClr val="F1F5F2"/>
          </a:solidFill>
          <a:ln/>
        </p:spPr>
      </p:sp>
      <p:sp>
        <p:nvSpPr>
          <p:cNvPr id="6" name="Text 4"/>
          <p:cNvSpPr txBox="1"/>
          <p:nvPr/>
        </p:nvSpPr>
        <p:spPr>
          <a:xfrm>
            <a:off x="932688" y="1636776"/>
            <a:ext cx="2011680" cy="329184"/>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校務の掌理</a:t>
            </a:r>
            <a:endParaRPr lang="en-US" sz="1400" dirty="0"/>
          </a:p>
        </p:txBody>
      </p:sp>
      <p:sp>
        <p:nvSpPr>
          <p:cNvPr id="7" name="Text 5"/>
          <p:cNvSpPr txBox="1"/>
          <p:nvPr/>
        </p:nvSpPr>
        <p:spPr>
          <a:xfrm>
            <a:off x="3063240" y="1636776"/>
            <a:ext cx="3566160" cy="329184"/>
          </a:xfrm>
          <a:prstGeom prst="rect">
            <a:avLst/>
          </a:prstGeom>
          <a:noFill/>
          <a:ln/>
        </p:spPr>
        <p:txBody>
          <a:bodyPr wrap="square" lIns="0" tIns="0" rIns="0" bIns="0" rtlCol="0" anchor="ctr"/>
          <a:lstStyle/>
          <a:p>
            <a:pPr indent="0" marL="0">
              <a:buNone/>
            </a:pPr>
            <a:r>
              <a:rPr lang="en-US" sz="1300" b="1" dirty="0">
                <a:solidFill>
                  <a:srgbClr val="14312A"/>
                </a:solidFill>
                <a:latin typeface="Meiryo" pitchFamily="34" charset="0"/>
                <a:ea typeface="Meiryo" pitchFamily="34" charset="-122"/>
                <a:cs typeface="Meiryo" pitchFamily="34" charset="-120"/>
              </a:rPr>
              <a:t>学校教育法 第37条第4項</a:t>
            </a:r>
            <a:endParaRPr lang="en-US" sz="1300" dirty="0"/>
          </a:p>
        </p:txBody>
      </p:sp>
      <p:sp>
        <p:nvSpPr>
          <p:cNvPr id="8" name="Text 6"/>
          <p:cNvSpPr txBox="1"/>
          <p:nvPr/>
        </p:nvSpPr>
        <p:spPr>
          <a:xfrm>
            <a:off x="6766560" y="1645920"/>
            <a:ext cx="4510735" cy="329184"/>
          </a:xfrm>
          <a:prstGeom prst="rect">
            <a:avLst/>
          </a:prstGeom>
          <a:noFill/>
          <a:ln/>
        </p:spPr>
        <p:txBody>
          <a:bodyPr wrap="square" lIns="0" tIns="0" rIns="0" bIns="0" rtlCol="0" anchor="ctr"/>
          <a:lstStyle/>
          <a:p>
            <a:pPr indent="0" marL="0">
              <a:buNone/>
            </a:pPr>
            <a:r>
              <a:rPr lang="en-US" sz="1250" dirty="0">
                <a:solidFill>
                  <a:srgbClr val="1C2320"/>
                </a:solidFill>
                <a:latin typeface="Meiryo" pitchFamily="34" charset="0"/>
                <a:ea typeface="Meiryo" pitchFamily="34" charset="-122"/>
                <a:cs typeface="Meiryo" pitchFamily="34" charset="-120"/>
              </a:rPr>
              <a:t>校長は、校務をつかさどり、所属職員を監督する</a:t>
            </a:r>
            <a:endParaRPr lang="en-US" sz="1250" dirty="0"/>
          </a:p>
        </p:txBody>
      </p:sp>
      <p:sp>
        <p:nvSpPr>
          <p:cNvPr id="9" name="Shape 7"/>
          <p:cNvSpPr/>
          <p:nvPr/>
        </p:nvSpPr>
        <p:spPr>
          <a:xfrm>
            <a:off x="640080" y="2139696"/>
            <a:ext cx="10911535" cy="603504"/>
          </a:xfrm>
          <a:prstGeom prst="roundRect">
            <a:avLst>
              <a:gd name="adj" fmla="val 9091"/>
            </a:avLst>
          </a:prstGeom>
          <a:solidFill>
            <a:srgbClr val="FFFFFF"/>
          </a:solidFill>
          <a:ln/>
        </p:spPr>
      </p:sp>
      <p:sp>
        <p:nvSpPr>
          <p:cNvPr id="10" name="Text 8"/>
          <p:cNvSpPr txBox="1"/>
          <p:nvPr/>
        </p:nvSpPr>
        <p:spPr>
          <a:xfrm>
            <a:off x="932688" y="2295144"/>
            <a:ext cx="2011680" cy="329184"/>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教育課程の編成</a:t>
            </a:r>
            <a:endParaRPr lang="en-US" sz="1400" dirty="0"/>
          </a:p>
        </p:txBody>
      </p:sp>
      <p:sp>
        <p:nvSpPr>
          <p:cNvPr id="11" name="Text 9"/>
          <p:cNvSpPr txBox="1"/>
          <p:nvPr/>
        </p:nvSpPr>
        <p:spPr>
          <a:xfrm>
            <a:off x="3063240" y="2295144"/>
            <a:ext cx="3566160" cy="329184"/>
          </a:xfrm>
          <a:prstGeom prst="rect">
            <a:avLst/>
          </a:prstGeom>
          <a:noFill/>
          <a:ln/>
        </p:spPr>
        <p:txBody>
          <a:bodyPr wrap="square" lIns="0" tIns="0" rIns="0" bIns="0" rtlCol="0" anchor="ctr"/>
          <a:lstStyle/>
          <a:p>
            <a:pPr indent="0" marL="0">
              <a:buNone/>
            </a:pPr>
            <a:r>
              <a:rPr lang="en-US" sz="1300" b="1" dirty="0">
                <a:solidFill>
                  <a:srgbClr val="14312A"/>
                </a:solidFill>
                <a:latin typeface="Meiryo" pitchFamily="34" charset="0"/>
                <a:ea typeface="Meiryo" pitchFamily="34" charset="-122"/>
                <a:cs typeface="Meiryo" pitchFamily="34" charset="-120"/>
              </a:rPr>
              <a:t>学校教育法施行規則 第50条・第72条</a:t>
            </a:r>
            <a:endParaRPr lang="en-US" sz="1300" dirty="0"/>
          </a:p>
        </p:txBody>
      </p:sp>
      <p:sp>
        <p:nvSpPr>
          <p:cNvPr id="12" name="Text 10"/>
          <p:cNvSpPr txBox="1"/>
          <p:nvPr/>
        </p:nvSpPr>
        <p:spPr>
          <a:xfrm>
            <a:off x="6766560" y="2304288"/>
            <a:ext cx="4510735" cy="329184"/>
          </a:xfrm>
          <a:prstGeom prst="rect">
            <a:avLst/>
          </a:prstGeom>
          <a:noFill/>
          <a:ln/>
        </p:spPr>
        <p:txBody>
          <a:bodyPr wrap="square" lIns="0" tIns="0" rIns="0" bIns="0" rtlCol="0" anchor="ctr"/>
          <a:lstStyle/>
          <a:p>
            <a:pPr indent="0" marL="0">
              <a:buNone/>
            </a:pPr>
            <a:r>
              <a:rPr lang="en-US" sz="1250" dirty="0">
                <a:solidFill>
                  <a:srgbClr val="1C2320"/>
                </a:solidFill>
                <a:latin typeface="Meiryo" pitchFamily="34" charset="0"/>
                <a:ea typeface="Meiryo" pitchFamily="34" charset="-122"/>
                <a:cs typeface="Meiryo" pitchFamily="34" charset="-120"/>
              </a:rPr>
              <a:t>小・中学校の教育課程を構成する教科等</a:t>
            </a:r>
            <a:endParaRPr lang="en-US" sz="1250" dirty="0"/>
          </a:p>
        </p:txBody>
      </p:sp>
      <p:sp>
        <p:nvSpPr>
          <p:cNvPr id="13" name="Shape 11"/>
          <p:cNvSpPr/>
          <p:nvPr/>
        </p:nvSpPr>
        <p:spPr>
          <a:xfrm>
            <a:off x="640080" y="2798064"/>
            <a:ext cx="10911535" cy="603504"/>
          </a:xfrm>
          <a:prstGeom prst="roundRect">
            <a:avLst>
              <a:gd name="adj" fmla="val 9091"/>
            </a:avLst>
          </a:prstGeom>
          <a:solidFill>
            <a:srgbClr val="F1F5F2"/>
          </a:solidFill>
          <a:ln/>
        </p:spPr>
      </p:sp>
      <p:sp>
        <p:nvSpPr>
          <p:cNvPr id="14" name="Text 12"/>
          <p:cNvSpPr txBox="1"/>
          <p:nvPr/>
        </p:nvSpPr>
        <p:spPr>
          <a:xfrm>
            <a:off x="932688" y="2953512"/>
            <a:ext cx="2011680" cy="329184"/>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授業時数</a:t>
            </a:r>
            <a:endParaRPr lang="en-US" sz="1400" dirty="0"/>
          </a:p>
        </p:txBody>
      </p:sp>
      <p:sp>
        <p:nvSpPr>
          <p:cNvPr id="15" name="Text 13"/>
          <p:cNvSpPr txBox="1"/>
          <p:nvPr/>
        </p:nvSpPr>
        <p:spPr>
          <a:xfrm>
            <a:off x="3063240" y="2953512"/>
            <a:ext cx="3566160" cy="329184"/>
          </a:xfrm>
          <a:prstGeom prst="rect">
            <a:avLst/>
          </a:prstGeom>
          <a:noFill/>
          <a:ln/>
        </p:spPr>
        <p:txBody>
          <a:bodyPr wrap="square" lIns="0" tIns="0" rIns="0" bIns="0" rtlCol="0" anchor="ctr"/>
          <a:lstStyle/>
          <a:p>
            <a:pPr indent="0" marL="0">
              <a:buNone/>
            </a:pPr>
            <a:r>
              <a:rPr lang="en-US" sz="1300" b="1" dirty="0">
                <a:solidFill>
                  <a:srgbClr val="14312A"/>
                </a:solidFill>
                <a:latin typeface="Meiryo" pitchFamily="34" charset="0"/>
                <a:ea typeface="Meiryo" pitchFamily="34" charset="-122"/>
                <a:cs typeface="Meiryo" pitchFamily="34" charset="-120"/>
              </a:rPr>
              <a:t>同 第51条・第73条／別表第一・第二</a:t>
            </a:r>
            <a:endParaRPr lang="en-US" sz="1300" dirty="0"/>
          </a:p>
        </p:txBody>
      </p:sp>
      <p:sp>
        <p:nvSpPr>
          <p:cNvPr id="16" name="Text 14"/>
          <p:cNvSpPr txBox="1"/>
          <p:nvPr/>
        </p:nvSpPr>
        <p:spPr>
          <a:xfrm>
            <a:off x="6766560" y="2962656"/>
            <a:ext cx="4510735" cy="329184"/>
          </a:xfrm>
          <a:prstGeom prst="rect">
            <a:avLst/>
          </a:prstGeom>
          <a:noFill/>
          <a:ln/>
        </p:spPr>
        <p:txBody>
          <a:bodyPr wrap="square" lIns="0" tIns="0" rIns="0" bIns="0" rtlCol="0" anchor="ctr"/>
          <a:lstStyle/>
          <a:p>
            <a:pPr indent="0" marL="0">
              <a:buNone/>
            </a:pPr>
            <a:r>
              <a:rPr lang="en-US" sz="1250" dirty="0">
                <a:solidFill>
                  <a:srgbClr val="1C2320"/>
                </a:solidFill>
                <a:latin typeface="Meiryo" pitchFamily="34" charset="0"/>
                <a:ea typeface="Meiryo" pitchFamily="34" charset="-122"/>
                <a:cs typeface="Meiryo" pitchFamily="34" charset="-120"/>
              </a:rPr>
              <a:t>各学年の年間標準授業時数</a:t>
            </a:r>
            <a:endParaRPr lang="en-US" sz="1250" dirty="0"/>
          </a:p>
        </p:txBody>
      </p:sp>
      <p:sp>
        <p:nvSpPr>
          <p:cNvPr id="17" name="Shape 15"/>
          <p:cNvSpPr/>
          <p:nvPr/>
        </p:nvSpPr>
        <p:spPr>
          <a:xfrm>
            <a:off x="640080" y="3456432"/>
            <a:ext cx="10911535" cy="603504"/>
          </a:xfrm>
          <a:prstGeom prst="roundRect">
            <a:avLst>
              <a:gd name="adj" fmla="val 9091"/>
            </a:avLst>
          </a:prstGeom>
          <a:solidFill>
            <a:srgbClr val="FFFFFF"/>
          </a:solidFill>
          <a:ln/>
        </p:spPr>
      </p:sp>
      <p:sp>
        <p:nvSpPr>
          <p:cNvPr id="18" name="Text 16"/>
          <p:cNvSpPr txBox="1"/>
          <p:nvPr/>
        </p:nvSpPr>
        <p:spPr>
          <a:xfrm>
            <a:off x="932688" y="3611880"/>
            <a:ext cx="2011680" cy="329184"/>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校務分掌</a:t>
            </a:r>
            <a:endParaRPr lang="en-US" sz="1400" dirty="0"/>
          </a:p>
        </p:txBody>
      </p:sp>
      <p:sp>
        <p:nvSpPr>
          <p:cNvPr id="19" name="Text 17"/>
          <p:cNvSpPr txBox="1"/>
          <p:nvPr/>
        </p:nvSpPr>
        <p:spPr>
          <a:xfrm>
            <a:off x="3063240" y="3611880"/>
            <a:ext cx="3566160" cy="329184"/>
          </a:xfrm>
          <a:prstGeom prst="rect">
            <a:avLst/>
          </a:prstGeom>
          <a:noFill/>
          <a:ln/>
        </p:spPr>
        <p:txBody>
          <a:bodyPr wrap="square" lIns="0" tIns="0" rIns="0" bIns="0" rtlCol="0" anchor="ctr"/>
          <a:lstStyle/>
          <a:p>
            <a:pPr indent="0" marL="0">
              <a:buNone/>
            </a:pPr>
            <a:r>
              <a:rPr lang="en-US" sz="1300" b="1" dirty="0">
                <a:solidFill>
                  <a:srgbClr val="14312A"/>
                </a:solidFill>
                <a:latin typeface="Meiryo" pitchFamily="34" charset="0"/>
                <a:ea typeface="Meiryo" pitchFamily="34" charset="-122"/>
                <a:cs typeface="Meiryo" pitchFamily="34" charset="-120"/>
              </a:rPr>
              <a:t>同 第43条</a:t>
            </a:r>
            <a:endParaRPr lang="en-US" sz="1300" dirty="0"/>
          </a:p>
        </p:txBody>
      </p:sp>
      <p:sp>
        <p:nvSpPr>
          <p:cNvPr id="20" name="Text 18"/>
          <p:cNvSpPr txBox="1"/>
          <p:nvPr/>
        </p:nvSpPr>
        <p:spPr>
          <a:xfrm>
            <a:off x="6766560" y="3621024"/>
            <a:ext cx="4510735" cy="329184"/>
          </a:xfrm>
          <a:prstGeom prst="rect">
            <a:avLst/>
          </a:prstGeom>
          <a:noFill/>
          <a:ln/>
        </p:spPr>
        <p:txBody>
          <a:bodyPr wrap="square" lIns="0" tIns="0" rIns="0" bIns="0" rtlCol="0" anchor="ctr"/>
          <a:lstStyle/>
          <a:p>
            <a:pPr indent="0" marL="0">
              <a:buNone/>
            </a:pPr>
            <a:r>
              <a:rPr lang="en-US" sz="1250" dirty="0">
                <a:solidFill>
                  <a:srgbClr val="1C2320"/>
                </a:solidFill>
                <a:latin typeface="Meiryo" pitchFamily="34" charset="0"/>
                <a:ea typeface="Meiryo" pitchFamily="34" charset="-122"/>
                <a:cs typeface="Meiryo" pitchFamily="34" charset="-120"/>
              </a:rPr>
              <a:t>ふさわしい校務分掌の仕組みを整える</a:t>
            </a:r>
            <a:endParaRPr lang="en-US" sz="1250" dirty="0"/>
          </a:p>
        </p:txBody>
      </p:sp>
      <p:sp>
        <p:nvSpPr>
          <p:cNvPr id="21" name="Shape 19"/>
          <p:cNvSpPr/>
          <p:nvPr/>
        </p:nvSpPr>
        <p:spPr>
          <a:xfrm>
            <a:off x="640080" y="4114800"/>
            <a:ext cx="10911535" cy="603504"/>
          </a:xfrm>
          <a:prstGeom prst="roundRect">
            <a:avLst>
              <a:gd name="adj" fmla="val 9091"/>
            </a:avLst>
          </a:prstGeom>
          <a:solidFill>
            <a:srgbClr val="F1F5F2"/>
          </a:solidFill>
          <a:ln/>
        </p:spPr>
      </p:sp>
      <p:sp>
        <p:nvSpPr>
          <p:cNvPr id="22" name="Text 20"/>
          <p:cNvSpPr txBox="1"/>
          <p:nvPr/>
        </p:nvSpPr>
        <p:spPr>
          <a:xfrm>
            <a:off x="932688" y="4270248"/>
            <a:ext cx="2011680" cy="329184"/>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研修</a:t>
            </a:r>
            <a:endParaRPr lang="en-US" sz="1400" dirty="0"/>
          </a:p>
        </p:txBody>
      </p:sp>
      <p:sp>
        <p:nvSpPr>
          <p:cNvPr id="23" name="Text 21"/>
          <p:cNvSpPr txBox="1"/>
          <p:nvPr/>
        </p:nvSpPr>
        <p:spPr>
          <a:xfrm>
            <a:off x="3063240" y="4270248"/>
            <a:ext cx="3566160" cy="329184"/>
          </a:xfrm>
          <a:prstGeom prst="rect">
            <a:avLst/>
          </a:prstGeom>
          <a:noFill/>
          <a:ln/>
        </p:spPr>
        <p:txBody>
          <a:bodyPr wrap="square" lIns="0" tIns="0" rIns="0" bIns="0" rtlCol="0" anchor="ctr"/>
          <a:lstStyle/>
          <a:p>
            <a:pPr indent="0" marL="0">
              <a:buNone/>
            </a:pPr>
            <a:r>
              <a:rPr lang="en-US" sz="1300" b="1" dirty="0">
                <a:solidFill>
                  <a:srgbClr val="14312A"/>
                </a:solidFill>
                <a:latin typeface="Meiryo" pitchFamily="34" charset="0"/>
                <a:ea typeface="Meiryo" pitchFamily="34" charset="-122"/>
                <a:cs typeface="Meiryo" pitchFamily="34" charset="-120"/>
              </a:rPr>
              <a:t>教育公務員特例法 第21条・第22条</a:t>
            </a:r>
            <a:endParaRPr lang="en-US" sz="1300" dirty="0"/>
          </a:p>
        </p:txBody>
      </p:sp>
      <p:sp>
        <p:nvSpPr>
          <p:cNvPr id="24" name="Text 22"/>
          <p:cNvSpPr txBox="1"/>
          <p:nvPr/>
        </p:nvSpPr>
        <p:spPr>
          <a:xfrm>
            <a:off x="6766560" y="4279392"/>
            <a:ext cx="4510735" cy="329184"/>
          </a:xfrm>
          <a:prstGeom prst="rect">
            <a:avLst/>
          </a:prstGeom>
          <a:noFill/>
          <a:ln/>
        </p:spPr>
        <p:txBody>
          <a:bodyPr wrap="square" lIns="0" tIns="0" rIns="0" bIns="0" rtlCol="0" anchor="ctr"/>
          <a:lstStyle/>
          <a:p>
            <a:pPr indent="0" marL="0">
              <a:buNone/>
            </a:pPr>
            <a:r>
              <a:rPr lang="en-US" sz="1250" dirty="0">
                <a:solidFill>
                  <a:srgbClr val="1C2320"/>
                </a:solidFill>
                <a:latin typeface="Meiryo" pitchFamily="34" charset="0"/>
                <a:ea typeface="Meiryo" pitchFamily="34" charset="-122"/>
                <a:cs typeface="Meiryo" pitchFamily="34" charset="-120"/>
              </a:rPr>
              <a:t>研修の機会が与えられなければならない</a:t>
            </a:r>
            <a:endParaRPr lang="en-US" sz="1250" dirty="0"/>
          </a:p>
        </p:txBody>
      </p:sp>
      <p:sp>
        <p:nvSpPr>
          <p:cNvPr id="25" name="Shape 23"/>
          <p:cNvSpPr/>
          <p:nvPr/>
        </p:nvSpPr>
        <p:spPr>
          <a:xfrm>
            <a:off x="640080" y="4773168"/>
            <a:ext cx="10911535" cy="603504"/>
          </a:xfrm>
          <a:prstGeom prst="roundRect">
            <a:avLst>
              <a:gd name="adj" fmla="val 9091"/>
            </a:avLst>
          </a:prstGeom>
          <a:solidFill>
            <a:srgbClr val="FFFFFF"/>
          </a:solidFill>
          <a:ln/>
        </p:spPr>
      </p:sp>
      <p:sp>
        <p:nvSpPr>
          <p:cNvPr id="26" name="Text 24"/>
          <p:cNvSpPr txBox="1"/>
          <p:nvPr/>
        </p:nvSpPr>
        <p:spPr>
          <a:xfrm>
            <a:off x="932688" y="4928616"/>
            <a:ext cx="2011680" cy="329184"/>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学校評価</a:t>
            </a:r>
            <a:endParaRPr lang="en-US" sz="1400" dirty="0"/>
          </a:p>
        </p:txBody>
      </p:sp>
      <p:sp>
        <p:nvSpPr>
          <p:cNvPr id="27" name="Text 25"/>
          <p:cNvSpPr txBox="1"/>
          <p:nvPr/>
        </p:nvSpPr>
        <p:spPr>
          <a:xfrm>
            <a:off x="3063240" y="4928616"/>
            <a:ext cx="3566160" cy="329184"/>
          </a:xfrm>
          <a:prstGeom prst="rect">
            <a:avLst/>
          </a:prstGeom>
          <a:noFill/>
          <a:ln/>
        </p:spPr>
        <p:txBody>
          <a:bodyPr wrap="square" lIns="0" tIns="0" rIns="0" bIns="0" rtlCol="0" anchor="ctr"/>
          <a:lstStyle/>
          <a:p>
            <a:pPr indent="0" marL="0">
              <a:buNone/>
            </a:pPr>
            <a:r>
              <a:rPr lang="en-US" sz="1300" b="1" dirty="0">
                <a:solidFill>
                  <a:srgbClr val="14312A"/>
                </a:solidFill>
                <a:latin typeface="Meiryo" pitchFamily="34" charset="0"/>
                <a:ea typeface="Meiryo" pitchFamily="34" charset="-122"/>
                <a:cs typeface="Meiryo" pitchFamily="34" charset="-120"/>
              </a:rPr>
              <a:t>学校教育法施行規則 第66条～第68条</a:t>
            </a:r>
            <a:endParaRPr lang="en-US" sz="1300" dirty="0"/>
          </a:p>
        </p:txBody>
      </p:sp>
      <p:sp>
        <p:nvSpPr>
          <p:cNvPr id="28" name="Text 26"/>
          <p:cNvSpPr txBox="1"/>
          <p:nvPr/>
        </p:nvSpPr>
        <p:spPr>
          <a:xfrm>
            <a:off x="6766560" y="4937760"/>
            <a:ext cx="4510735" cy="329184"/>
          </a:xfrm>
          <a:prstGeom prst="rect">
            <a:avLst/>
          </a:prstGeom>
          <a:noFill/>
          <a:ln/>
        </p:spPr>
        <p:txBody>
          <a:bodyPr wrap="square" lIns="0" tIns="0" rIns="0" bIns="0" rtlCol="0" anchor="ctr"/>
          <a:lstStyle/>
          <a:p>
            <a:pPr indent="0" marL="0">
              <a:buNone/>
            </a:pPr>
            <a:r>
              <a:rPr lang="en-US" sz="1250" dirty="0">
                <a:solidFill>
                  <a:srgbClr val="1C2320"/>
                </a:solidFill>
                <a:latin typeface="Meiryo" pitchFamily="34" charset="0"/>
                <a:ea typeface="Meiryo" pitchFamily="34" charset="-122"/>
                <a:cs typeface="Meiryo" pitchFamily="34" charset="-120"/>
              </a:rPr>
              <a:t>自己評価・学校関係者評価・設置者への報告</a:t>
            </a:r>
            <a:endParaRPr lang="en-US" sz="1250" dirty="0"/>
          </a:p>
        </p:txBody>
      </p:sp>
      <p:sp>
        <p:nvSpPr>
          <p:cNvPr id="29" name="Shape 27"/>
          <p:cNvSpPr/>
          <p:nvPr/>
        </p:nvSpPr>
        <p:spPr>
          <a:xfrm>
            <a:off x="640080" y="5431536"/>
            <a:ext cx="10911535" cy="603504"/>
          </a:xfrm>
          <a:prstGeom prst="roundRect">
            <a:avLst>
              <a:gd name="adj" fmla="val 9091"/>
            </a:avLst>
          </a:prstGeom>
          <a:solidFill>
            <a:srgbClr val="F1F5F2"/>
          </a:solidFill>
          <a:ln/>
        </p:spPr>
      </p:sp>
      <p:sp>
        <p:nvSpPr>
          <p:cNvPr id="30" name="Text 28"/>
          <p:cNvSpPr txBox="1"/>
          <p:nvPr/>
        </p:nvSpPr>
        <p:spPr>
          <a:xfrm>
            <a:off x="932688" y="5586984"/>
            <a:ext cx="2011680" cy="329184"/>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学校運営協議会</a:t>
            </a:r>
            <a:endParaRPr lang="en-US" sz="1400" dirty="0"/>
          </a:p>
        </p:txBody>
      </p:sp>
      <p:sp>
        <p:nvSpPr>
          <p:cNvPr id="31" name="Text 29"/>
          <p:cNvSpPr txBox="1"/>
          <p:nvPr/>
        </p:nvSpPr>
        <p:spPr>
          <a:xfrm>
            <a:off x="3063240" y="5586984"/>
            <a:ext cx="3566160" cy="329184"/>
          </a:xfrm>
          <a:prstGeom prst="rect">
            <a:avLst/>
          </a:prstGeom>
          <a:noFill/>
          <a:ln/>
        </p:spPr>
        <p:txBody>
          <a:bodyPr wrap="square" lIns="0" tIns="0" rIns="0" bIns="0" rtlCol="0" anchor="ctr"/>
          <a:lstStyle/>
          <a:p>
            <a:pPr indent="0" marL="0">
              <a:buNone/>
            </a:pPr>
            <a:r>
              <a:rPr lang="en-US" sz="1300" b="1" dirty="0">
                <a:solidFill>
                  <a:srgbClr val="14312A"/>
                </a:solidFill>
                <a:latin typeface="Meiryo" pitchFamily="34" charset="0"/>
                <a:ea typeface="Meiryo" pitchFamily="34" charset="-122"/>
                <a:cs typeface="Meiryo" pitchFamily="34" charset="-120"/>
              </a:rPr>
              <a:t>地方教育行政法 第47条の5</a:t>
            </a:r>
            <a:endParaRPr lang="en-US" sz="1300" dirty="0"/>
          </a:p>
        </p:txBody>
      </p:sp>
      <p:sp>
        <p:nvSpPr>
          <p:cNvPr id="32" name="Text 30"/>
          <p:cNvSpPr txBox="1"/>
          <p:nvPr/>
        </p:nvSpPr>
        <p:spPr>
          <a:xfrm>
            <a:off x="6766560" y="5596128"/>
            <a:ext cx="4510735" cy="329184"/>
          </a:xfrm>
          <a:prstGeom prst="rect">
            <a:avLst/>
          </a:prstGeom>
          <a:noFill/>
          <a:ln/>
        </p:spPr>
        <p:txBody>
          <a:bodyPr wrap="square" lIns="0" tIns="0" rIns="0" bIns="0" rtlCol="0" anchor="ctr"/>
          <a:lstStyle/>
          <a:p>
            <a:pPr indent="0" marL="0">
              <a:buNone/>
            </a:pPr>
            <a:r>
              <a:rPr lang="en-US" sz="1250" dirty="0">
                <a:solidFill>
                  <a:srgbClr val="1C2320"/>
                </a:solidFill>
                <a:latin typeface="Meiryo" pitchFamily="34" charset="0"/>
                <a:ea typeface="Meiryo" pitchFamily="34" charset="-122"/>
                <a:cs typeface="Meiryo" pitchFamily="34" charset="-120"/>
              </a:rPr>
              <a:t>学校運営に関する協議・意見の申出</a:t>
            </a:r>
            <a:endParaRPr lang="en-US" sz="1250" dirty="0"/>
          </a:p>
        </p:txBody>
      </p:sp>
      <p:sp>
        <p:nvSpPr>
          <p:cNvPr id="33" name="Text 31"/>
          <p:cNvSpPr txBox="1"/>
          <p:nvPr/>
        </p:nvSpPr>
        <p:spPr>
          <a:xfrm>
            <a:off x="640080" y="6291072"/>
            <a:ext cx="9997135" cy="310896"/>
          </a:xfrm>
          <a:prstGeom prst="rect">
            <a:avLst/>
          </a:prstGeom>
          <a:noFill/>
          <a:ln/>
        </p:spPr>
        <p:txBody>
          <a:bodyPr wrap="square" lIns="0" tIns="0" rIns="0" bIns="0" rtlCol="0" anchor="t"/>
          <a:lstStyle/>
          <a:p>
            <a:pPr indent="0" marL="0">
              <a:buNone/>
            </a:pPr>
            <a:r>
              <a:rPr lang="en-US" sz="950" dirty="0">
                <a:solidFill>
                  <a:srgbClr val="5B6660"/>
                </a:solidFill>
                <a:latin typeface="Meiryo" pitchFamily="34" charset="0"/>
                <a:ea typeface="Meiryo" pitchFamily="34" charset="-122"/>
                <a:cs typeface="Meiryo" pitchFamily="34" charset="-120"/>
              </a:rPr>
              <a:t>※令和8年9月時点。条文番号は改正により変わることがあります。</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31</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Ⅲ－4</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できること① 教育課程・時間割・日課表</a:t>
            </a:r>
            <a:endParaRPr lang="en-US" sz="2800" dirty="0"/>
          </a:p>
        </p:txBody>
      </p:sp>
      <p:sp>
        <p:nvSpPr>
          <p:cNvPr id="5" name="Shape 3"/>
          <p:cNvSpPr/>
          <p:nvPr/>
        </p:nvSpPr>
        <p:spPr>
          <a:xfrm>
            <a:off x="640080" y="1536192"/>
            <a:ext cx="10911535" cy="804672"/>
          </a:xfrm>
          <a:prstGeom prst="roundRect">
            <a:avLst>
              <a:gd name="adj" fmla="val 6818"/>
            </a:avLst>
          </a:prstGeom>
          <a:solidFill>
            <a:srgbClr val="1F5D4C"/>
          </a:solidFill>
          <a:ln/>
        </p:spPr>
      </p:sp>
      <p:sp>
        <p:nvSpPr>
          <p:cNvPr id="6" name="Text 4"/>
          <p:cNvSpPr txBox="1"/>
          <p:nvPr/>
        </p:nvSpPr>
        <p:spPr>
          <a:xfrm>
            <a:off x="1097280" y="1737360"/>
            <a:ext cx="9997135" cy="420624"/>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「何時間やるか」より先に、「どう並べるか」で学びは変わります</a:t>
            </a:r>
            <a:endParaRPr lang="en-US" sz="1800" dirty="0"/>
          </a:p>
        </p:txBody>
      </p:sp>
      <p:sp>
        <p:nvSpPr>
          <p:cNvPr id="7" name="Shape 5"/>
          <p:cNvSpPr/>
          <p:nvPr/>
        </p:nvSpPr>
        <p:spPr>
          <a:xfrm>
            <a:off x="640080" y="2523744"/>
            <a:ext cx="10911535" cy="676656"/>
          </a:xfrm>
          <a:prstGeom prst="roundRect">
            <a:avLst>
              <a:gd name="adj" fmla="val 8108"/>
            </a:avLst>
          </a:prstGeom>
          <a:solidFill>
            <a:srgbClr val="F1F5F2"/>
          </a:solidFill>
          <a:ln/>
        </p:spPr>
      </p:sp>
      <p:sp>
        <p:nvSpPr>
          <p:cNvPr id="8" name="Shape 6"/>
          <p:cNvSpPr/>
          <p:nvPr/>
        </p:nvSpPr>
        <p:spPr>
          <a:xfrm>
            <a:off x="914400" y="2679192"/>
            <a:ext cx="365760" cy="365760"/>
          </a:xfrm>
          <a:prstGeom prst="ellipse">
            <a:avLst/>
          </a:prstGeom>
          <a:solidFill>
            <a:srgbClr val="5C8A4A"/>
          </a:solidFill>
          <a:ln/>
        </p:spPr>
      </p:sp>
      <p:sp>
        <p:nvSpPr>
          <p:cNvPr id="9" name="Text 7"/>
          <p:cNvSpPr txBox="1"/>
          <p:nvPr/>
        </p:nvSpPr>
        <p:spPr>
          <a:xfrm>
            <a:off x="914400" y="2697480"/>
            <a:ext cx="365760" cy="329184"/>
          </a:xfrm>
          <a:prstGeom prst="rect">
            <a:avLst/>
          </a:prstGeom>
          <a:noFill/>
          <a:ln/>
        </p:spPr>
        <p:txBody>
          <a:bodyPr wrap="square" lIns="0" tIns="0" rIns="0" bIns="0" rtlCol="0" anchor="ctr"/>
          <a:lstStyle/>
          <a:p>
            <a:pPr algn="ctr" indent="0" marL="0">
              <a:buNone/>
            </a:pPr>
            <a:endParaRPr lang="en-US" sz="1100" dirty="0"/>
          </a:p>
        </p:txBody>
      </p:sp>
      <p:sp>
        <p:nvSpPr>
          <p:cNvPr id="10" name="Text 8"/>
          <p:cNvSpPr txBox="1"/>
          <p:nvPr/>
        </p:nvSpPr>
        <p:spPr>
          <a:xfrm>
            <a:off x="1444752" y="2697480"/>
            <a:ext cx="3017520" cy="347472"/>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単位時間の設定</a:t>
            </a:r>
            <a:endParaRPr lang="en-US" sz="1500" dirty="0"/>
          </a:p>
        </p:txBody>
      </p:sp>
      <p:sp>
        <p:nvSpPr>
          <p:cNvPr id="11" name="Text 9"/>
          <p:cNvSpPr txBox="1"/>
          <p:nvPr/>
        </p:nvSpPr>
        <p:spPr>
          <a:xfrm>
            <a:off x="4617720" y="2706624"/>
            <a:ext cx="6659575" cy="347472"/>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45分・40分など、単位時間の設定は学校の判断で検討できます（要協議）</a:t>
            </a:r>
            <a:endParaRPr lang="en-US" sz="1300" dirty="0"/>
          </a:p>
        </p:txBody>
      </p:sp>
      <p:sp>
        <p:nvSpPr>
          <p:cNvPr id="12" name="Shape 10"/>
          <p:cNvSpPr/>
          <p:nvPr/>
        </p:nvSpPr>
        <p:spPr>
          <a:xfrm>
            <a:off x="640080" y="3273552"/>
            <a:ext cx="10911535" cy="676656"/>
          </a:xfrm>
          <a:prstGeom prst="roundRect">
            <a:avLst>
              <a:gd name="adj" fmla="val 8108"/>
            </a:avLst>
          </a:prstGeom>
          <a:solidFill>
            <a:srgbClr val="E4EDE6"/>
          </a:solidFill>
          <a:ln/>
        </p:spPr>
      </p:sp>
      <p:sp>
        <p:nvSpPr>
          <p:cNvPr id="13" name="Shape 11"/>
          <p:cNvSpPr/>
          <p:nvPr/>
        </p:nvSpPr>
        <p:spPr>
          <a:xfrm>
            <a:off x="914400" y="3429000"/>
            <a:ext cx="365760" cy="365760"/>
          </a:xfrm>
          <a:prstGeom prst="ellipse">
            <a:avLst/>
          </a:prstGeom>
          <a:solidFill>
            <a:srgbClr val="5C8A4A"/>
          </a:solidFill>
          <a:ln/>
        </p:spPr>
      </p:sp>
      <p:sp>
        <p:nvSpPr>
          <p:cNvPr id="14" name="Text 12"/>
          <p:cNvSpPr txBox="1"/>
          <p:nvPr/>
        </p:nvSpPr>
        <p:spPr>
          <a:xfrm>
            <a:off x="914400" y="3447288"/>
            <a:ext cx="365760" cy="329184"/>
          </a:xfrm>
          <a:prstGeom prst="rect">
            <a:avLst/>
          </a:prstGeom>
          <a:noFill/>
          <a:ln/>
        </p:spPr>
        <p:txBody>
          <a:bodyPr wrap="square" lIns="0" tIns="0" rIns="0" bIns="0" rtlCol="0" anchor="ctr"/>
          <a:lstStyle/>
          <a:p>
            <a:pPr algn="ctr" indent="0" marL="0">
              <a:buNone/>
            </a:pPr>
            <a:endParaRPr lang="en-US" sz="1100" dirty="0"/>
          </a:p>
        </p:txBody>
      </p:sp>
      <p:sp>
        <p:nvSpPr>
          <p:cNvPr id="15" name="Text 13"/>
          <p:cNvSpPr txBox="1"/>
          <p:nvPr/>
        </p:nvSpPr>
        <p:spPr>
          <a:xfrm>
            <a:off x="1444752" y="3447288"/>
            <a:ext cx="3017520" cy="347472"/>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モジュールの活用</a:t>
            </a:r>
            <a:endParaRPr lang="en-US" sz="1500" dirty="0"/>
          </a:p>
        </p:txBody>
      </p:sp>
      <p:sp>
        <p:nvSpPr>
          <p:cNvPr id="16" name="Text 14"/>
          <p:cNvSpPr txBox="1"/>
          <p:nvPr/>
        </p:nvSpPr>
        <p:spPr>
          <a:xfrm>
            <a:off x="4617720" y="3456432"/>
            <a:ext cx="6659575" cy="347472"/>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15分×3などの短時間学習を、朝の時間や帯に組み込む</a:t>
            </a:r>
            <a:endParaRPr lang="en-US" sz="1300" dirty="0"/>
          </a:p>
        </p:txBody>
      </p:sp>
      <p:sp>
        <p:nvSpPr>
          <p:cNvPr id="17" name="Shape 15"/>
          <p:cNvSpPr/>
          <p:nvPr/>
        </p:nvSpPr>
        <p:spPr>
          <a:xfrm>
            <a:off x="640080" y="4023360"/>
            <a:ext cx="10911535" cy="676656"/>
          </a:xfrm>
          <a:prstGeom prst="roundRect">
            <a:avLst>
              <a:gd name="adj" fmla="val 8108"/>
            </a:avLst>
          </a:prstGeom>
          <a:solidFill>
            <a:srgbClr val="F1F5F2"/>
          </a:solidFill>
          <a:ln/>
        </p:spPr>
      </p:sp>
      <p:sp>
        <p:nvSpPr>
          <p:cNvPr id="18" name="Shape 16"/>
          <p:cNvSpPr/>
          <p:nvPr/>
        </p:nvSpPr>
        <p:spPr>
          <a:xfrm>
            <a:off x="914400" y="4178808"/>
            <a:ext cx="365760" cy="365760"/>
          </a:xfrm>
          <a:prstGeom prst="ellipse">
            <a:avLst/>
          </a:prstGeom>
          <a:solidFill>
            <a:srgbClr val="5C8A4A"/>
          </a:solidFill>
          <a:ln/>
        </p:spPr>
      </p:sp>
      <p:sp>
        <p:nvSpPr>
          <p:cNvPr id="19" name="Text 17"/>
          <p:cNvSpPr txBox="1"/>
          <p:nvPr/>
        </p:nvSpPr>
        <p:spPr>
          <a:xfrm>
            <a:off x="914400" y="4197096"/>
            <a:ext cx="365760" cy="329184"/>
          </a:xfrm>
          <a:prstGeom prst="rect">
            <a:avLst/>
          </a:prstGeom>
          <a:noFill/>
          <a:ln/>
        </p:spPr>
        <p:txBody>
          <a:bodyPr wrap="square" lIns="0" tIns="0" rIns="0" bIns="0" rtlCol="0" anchor="ctr"/>
          <a:lstStyle/>
          <a:p>
            <a:pPr algn="ctr" indent="0" marL="0">
              <a:buNone/>
            </a:pPr>
            <a:endParaRPr lang="en-US" sz="1100" dirty="0"/>
          </a:p>
        </p:txBody>
      </p:sp>
      <p:sp>
        <p:nvSpPr>
          <p:cNvPr id="20" name="Text 18"/>
          <p:cNvSpPr txBox="1"/>
          <p:nvPr/>
        </p:nvSpPr>
        <p:spPr>
          <a:xfrm>
            <a:off x="1444752" y="4197096"/>
            <a:ext cx="3017520" cy="347472"/>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週時程の組み替え</a:t>
            </a:r>
            <a:endParaRPr lang="en-US" sz="1500" dirty="0"/>
          </a:p>
        </p:txBody>
      </p:sp>
      <p:sp>
        <p:nvSpPr>
          <p:cNvPr id="21" name="Text 19"/>
          <p:cNvSpPr txBox="1"/>
          <p:nvPr/>
        </p:nvSpPr>
        <p:spPr>
          <a:xfrm>
            <a:off x="4617720" y="4206240"/>
            <a:ext cx="6659575" cy="347472"/>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探究や行事に使える、まとまった時間をあらかじめ確保する</a:t>
            </a:r>
            <a:endParaRPr lang="en-US" sz="1300" dirty="0"/>
          </a:p>
        </p:txBody>
      </p:sp>
      <p:sp>
        <p:nvSpPr>
          <p:cNvPr id="22" name="Shape 20"/>
          <p:cNvSpPr/>
          <p:nvPr/>
        </p:nvSpPr>
        <p:spPr>
          <a:xfrm>
            <a:off x="640080" y="4773168"/>
            <a:ext cx="10911535" cy="676656"/>
          </a:xfrm>
          <a:prstGeom prst="roundRect">
            <a:avLst>
              <a:gd name="adj" fmla="val 8108"/>
            </a:avLst>
          </a:prstGeom>
          <a:solidFill>
            <a:srgbClr val="E4EDE6"/>
          </a:solidFill>
          <a:ln/>
        </p:spPr>
      </p:sp>
      <p:sp>
        <p:nvSpPr>
          <p:cNvPr id="23" name="Shape 21"/>
          <p:cNvSpPr/>
          <p:nvPr/>
        </p:nvSpPr>
        <p:spPr>
          <a:xfrm>
            <a:off x="914400" y="4928616"/>
            <a:ext cx="365760" cy="365760"/>
          </a:xfrm>
          <a:prstGeom prst="ellipse">
            <a:avLst/>
          </a:prstGeom>
          <a:solidFill>
            <a:srgbClr val="5C8A4A"/>
          </a:solidFill>
          <a:ln/>
        </p:spPr>
      </p:sp>
      <p:sp>
        <p:nvSpPr>
          <p:cNvPr id="24" name="Text 22"/>
          <p:cNvSpPr txBox="1"/>
          <p:nvPr/>
        </p:nvSpPr>
        <p:spPr>
          <a:xfrm>
            <a:off x="914400" y="4946904"/>
            <a:ext cx="365760" cy="329184"/>
          </a:xfrm>
          <a:prstGeom prst="rect">
            <a:avLst/>
          </a:prstGeom>
          <a:noFill/>
          <a:ln/>
        </p:spPr>
        <p:txBody>
          <a:bodyPr wrap="square" lIns="0" tIns="0" rIns="0" bIns="0" rtlCol="0" anchor="ctr"/>
          <a:lstStyle/>
          <a:p>
            <a:pPr algn="ctr" indent="0" marL="0">
              <a:buNone/>
            </a:pPr>
            <a:endParaRPr lang="en-US" sz="1100" dirty="0"/>
          </a:p>
        </p:txBody>
      </p:sp>
      <p:sp>
        <p:nvSpPr>
          <p:cNvPr id="25" name="Text 23"/>
          <p:cNvSpPr txBox="1"/>
          <p:nvPr/>
        </p:nvSpPr>
        <p:spPr>
          <a:xfrm>
            <a:off x="1444752" y="4946904"/>
            <a:ext cx="3017520" cy="347472"/>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学年・教科の横断</a:t>
            </a:r>
            <a:endParaRPr lang="en-US" sz="1500" dirty="0"/>
          </a:p>
        </p:txBody>
      </p:sp>
      <p:sp>
        <p:nvSpPr>
          <p:cNvPr id="26" name="Text 24"/>
          <p:cNvSpPr txBox="1"/>
          <p:nvPr/>
        </p:nvSpPr>
        <p:spPr>
          <a:xfrm>
            <a:off x="4617720" y="4956048"/>
            <a:ext cx="6659575" cy="347472"/>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同じ時間帯に同一教科を置き、学年内で柔軟に動かせるようにする</a:t>
            </a:r>
            <a:endParaRPr lang="en-US" sz="1300" dirty="0"/>
          </a:p>
        </p:txBody>
      </p:sp>
      <p:sp>
        <p:nvSpPr>
          <p:cNvPr id="27" name="Shape 25"/>
          <p:cNvSpPr/>
          <p:nvPr/>
        </p:nvSpPr>
        <p:spPr>
          <a:xfrm>
            <a:off x="640080" y="5522976"/>
            <a:ext cx="10911535" cy="676656"/>
          </a:xfrm>
          <a:prstGeom prst="roundRect">
            <a:avLst>
              <a:gd name="adj" fmla="val 8108"/>
            </a:avLst>
          </a:prstGeom>
          <a:solidFill>
            <a:srgbClr val="F1F5F2"/>
          </a:solidFill>
          <a:ln/>
        </p:spPr>
      </p:sp>
      <p:sp>
        <p:nvSpPr>
          <p:cNvPr id="28" name="Shape 26"/>
          <p:cNvSpPr/>
          <p:nvPr/>
        </p:nvSpPr>
        <p:spPr>
          <a:xfrm>
            <a:off x="914400" y="5678424"/>
            <a:ext cx="365760" cy="365760"/>
          </a:xfrm>
          <a:prstGeom prst="ellipse">
            <a:avLst/>
          </a:prstGeom>
          <a:solidFill>
            <a:srgbClr val="5C8A4A"/>
          </a:solidFill>
          <a:ln/>
        </p:spPr>
      </p:sp>
      <p:sp>
        <p:nvSpPr>
          <p:cNvPr id="29" name="Text 27"/>
          <p:cNvSpPr txBox="1"/>
          <p:nvPr/>
        </p:nvSpPr>
        <p:spPr>
          <a:xfrm>
            <a:off x="914400" y="5696712"/>
            <a:ext cx="365760" cy="329184"/>
          </a:xfrm>
          <a:prstGeom prst="rect">
            <a:avLst/>
          </a:prstGeom>
          <a:noFill/>
          <a:ln/>
        </p:spPr>
        <p:txBody>
          <a:bodyPr wrap="square" lIns="0" tIns="0" rIns="0" bIns="0" rtlCol="0" anchor="ctr"/>
          <a:lstStyle/>
          <a:p>
            <a:pPr algn="ctr" indent="0" marL="0">
              <a:buNone/>
            </a:pPr>
            <a:endParaRPr lang="en-US" sz="1100" dirty="0"/>
          </a:p>
        </p:txBody>
      </p:sp>
      <p:sp>
        <p:nvSpPr>
          <p:cNvPr id="30" name="Text 28"/>
          <p:cNvSpPr txBox="1"/>
          <p:nvPr/>
        </p:nvSpPr>
        <p:spPr>
          <a:xfrm>
            <a:off x="1444752" y="5696712"/>
            <a:ext cx="3017520" cy="347472"/>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時間割の可変枠</a:t>
            </a:r>
            <a:endParaRPr lang="en-US" sz="1500" dirty="0"/>
          </a:p>
        </p:txBody>
      </p:sp>
      <p:sp>
        <p:nvSpPr>
          <p:cNvPr id="31" name="Text 29"/>
          <p:cNvSpPr txBox="1"/>
          <p:nvPr/>
        </p:nvSpPr>
        <p:spPr>
          <a:xfrm>
            <a:off x="4617720" y="5705856"/>
            <a:ext cx="6659575" cy="347472"/>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学期に数コマ、用途を決めない枠を先に空けておく</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32</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Ⅲ－5</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できること② 学校行事・特別活動の精選</a:t>
            </a:r>
            <a:endParaRPr lang="en-US" sz="2800" dirty="0"/>
          </a:p>
        </p:txBody>
      </p:sp>
      <p:sp>
        <p:nvSpPr>
          <p:cNvPr id="5" name="Shape 3"/>
          <p:cNvSpPr/>
          <p:nvPr/>
        </p:nvSpPr>
        <p:spPr>
          <a:xfrm>
            <a:off x="640080" y="1536192"/>
            <a:ext cx="10911535" cy="804672"/>
          </a:xfrm>
          <a:prstGeom prst="roundRect">
            <a:avLst>
              <a:gd name="adj" fmla="val 6818"/>
            </a:avLst>
          </a:prstGeom>
          <a:solidFill>
            <a:srgbClr val="1F5D4C"/>
          </a:solidFill>
          <a:ln/>
        </p:spPr>
      </p:sp>
      <p:sp>
        <p:nvSpPr>
          <p:cNvPr id="6" name="Text 4"/>
          <p:cNvSpPr txBox="1"/>
          <p:nvPr/>
        </p:nvSpPr>
        <p:spPr>
          <a:xfrm>
            <a:off x="1097280" y="1737360"/>
            <a:ext cx="9997135" cy="420624"/>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行事は、校長の判断で最も動かしやすい領域です</a:t>
            </a:r>
            <a:endParaRPr lang="en-US" sz="1800" dirty="0"/>
          </a:p>
        </p:txBody>
      </p:sp>
      <p:sp>
        <p:nvSpPr>
          <p:cNvPr id="7" name="Text 5"/>
          <p:cNvSpPr txBox="1"/>
          <p:nvPr/>
        </p:nvSpPr>
        <p:spPr>
          <a:xfrm>
            <a:off x="640080" y="2542032"/>
            <a:ext cx="10911535" cy="329184"/>
          </a:xfrm>
          <a:prstGeom prst="rect">
            <a:avLst/>
          </a:prstGeom>
          <a:noFill/>
          <a:ln/>
        </p:spPr>
        <p:txBody>
          <a:bodyPr wrap="square" lIns="0" tIns="0" rIns="0" bIns="0" rtlCol="0" anchor="ctr"/>
          <a:lstStyle/>
          <a:p>
            <a:pPr indent="0" marL="0">
              <a:buNone/>
            </a:pPr>
            <a:r>
              <a:rPr lang="en-US" sz="1500" b="1" dirty="0">
                <a:solidFill>
                  <a:srgbClr val="5B6660"/>
                </a:solidFill>
                <a:latin typeface="Meiryo" pitchFamily="34" charset="0"/>
                <a:ea typeface="Meiryo" pitchFamily="34" charset="-122"/>
                <a:cs typeface="Meiryo" pitchFamily="34" charset="-120"/>
              </a:rPr>
              <a:t>4つの軸で棚卸しをします</a:t>
            </a:r>
            <a:endParaRPr lang="en-US" sz="1500" dirty="0"/>
          </a:p>
        </p:txBody>
      </p:sp>
      <p:sp>
        <p:nvSpPr>
          <p:cNvPr id="8" name="Shape 6"/>
          <p:cNvSpPr/>
          <p:nvPr/>
        </p:nvSpPr>
        <p:spPr>
          <a:xfrm>
            <a:off x="640080" y="2962656"/>
            <a:ext cx="2556434" cy="1572768"/>
          </a:xfrm>
          <a:prstGeom prst="roundRect">
            <a:avLst>
              <a:gd name="adj" fmla="val 3488"/>
            </a:avLst>
          </a:prstGeom>
          <a:solidFill>
            <a:srgbClr val="F1F5F2"/>
          </a:solidFill>
          <a:ln/>
        </p:spPr>
      </p:sp>
      <p:sp>
        <p:nvSpPr>
          <p:cNvPr id="9" name="Shape 7"/>
          <p:cNvSpPr/>
          <p:nvPr/>
        </p:nvSpPr>
        <p:spPr>
          <a:xfrm>
            <a:off x="1662265" y="3182112"/>
            <a:ext cx="512064" cy="512064"/>
          </a:xfrm>
          <a:prstGeom prst="ellipse">
            <a:avLst/>
          </a:prstGeom>
          <a:solidFill>
            <a:srgbClr val="1F5D4C"/>
          </a:solidFill>
          <a:ln/>
        </p:spPr>
      </p:sp>
      <p:sp>
        <p:nvSpPr>
          <p:cNvPr id="10" name="Text 8"/>
          <p:cNvSpPr txBox="1"/>
          <p:nvPr/>
        </p:nvSpPr>
        <p:spPr>
          <a:xfrm>
            <a:off x="1662265" y="3273552"/>
            <a:ext cx="51206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目的</a:t>
            </a:r>
            <a:endParaRPr lang="en-US" sz="1500" dirty="0"/>
          </a:p>
        </p:txBody>
      </p:sp>
      <p:sp>
        <p:nvSpPr>
          <p:cNvPr id="11" name="Text 9"/>
          <p:cNvSpPr txBox="1"/>
          <p:nvPr/>
        </p:nvSpPr>
        <p:spPr>
          <a:xfrm>
            <a:off x="841248" y="3858768"/>
            <a:ext cx="2154098" cy="566928"/>
          </a:xfrm>
          <a:prstGeom prst="rect">
            <a:avLst/>
          </a:prstGeom>
          <a:noFill/>
          <a:ln/>
        </p:spPr>
        <p:txBody>
          <a:bodyPr wrap="square" lIns="0" tIns="0" rIns="0" bIns="0" rtlCol="0" anchor="ctr"/>
          <a:lstStyle/>
          <a:p>
            <a:pPr algn="ctr" indent="0" marL="0">
              <a:lnSpc>
                <a:spcPts val="1800"/>
              </a:lnSpc>
              <a:buNone/>
            </a:pPr>
            <a:r>
              <a:rPr lang="en-US" sz="1250" dirty="0">
                <a:solidFill>
                  <a:srgbClr val="1C2320"/>
                </a:solidFill>
                <a:latin typeface="Meiryo" pitchFamily="34" charset="0"/>
                <a:ea typeface="Meiryo" pitchFamily="34" charset="-122"/>
                <a:cs typeface="Meiryo" pitchFamily="34" charset="-120"/>
              </a:rPr>
              <a:t>この行事は、どの資質・能力を育てるためのものか</a:t>
            </a:r>
            <a:endParaRPr lang="en-US" sz="1250" dirty="0"/>
          </a:p>
        </p:txBody>
      </p:sp>
      <p:sp>
        <p:nvSpPr>
          <p:cNvPr id="12" name="Shape 10"/>
          <p:cNvSpPr/>
          <p:nvPr/>
        </p:nvSpPr>
        <p:spPr>
          <a:xfrm>
            <a:off x="3425114" y="2962656"/>
            <a:ext cx="2556434" cy="1572768"/>
          </a:xfrm>
          <a:prstGeom prst="roundRect">
            <a:avLst>
              <a:gd name="adj" fmla="val 3488"/>
            </a:avLst>
          </a:prstGeom>
          <a:solidFill>
            <a:srgbClr val="F1F5F2"/>
          </a:solidFill>
          <a:ln/>
        </p:spPr>
      </p:sp>
      <p:sp>
        <p:nvSpPr>
          <p:cNvPr id="13" name="Shape 11"/>
          <p:cNvSpPr/>
          <p:nvPr/>
        </p:nvSpPr>
        <p:spPr>
          <a:xfrm>
            <a:off x="4447299" y="3182112"/>
            <a:ext cx="512064" cy="512064"/>
          </a:xfrm>
          <a:prstGeom prst="ellipse">
            <a:avLst/>
          </a:prstGeom>
          <a:solidFill>
            <a:srgbClr val="1F5D4C"/>
          </a:solidFill>
          <a:ln/>
        </p:spPr>
      </p:sp>
      <p:sp>
        <p:nvSpPr>
          <p:cNvPr id="14" name="Text 12"/>
          <p:cNvSpPr txBox="1"/>
          <p:nvPr/>
        </p:nvSpPr>
        <p:spPr>
          <a:xfrm>
            <a:off x="4447299" y="3273552"/>
            <a:ext cx="51206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時間</a:t>
            </a:r>
            <a:endParaRPr lang="en-US" sz="1500" dirty="0"/>
          </a:p>
        </p:txBody>
      </p:sp>
      <p:sp>
        <p:nvSpPr>
          <p:cNvPr id="15" name="Text 13"/>
          <p:cNvSpPr txBox="1"/>
          <p:nvPr/>
        </p:nvSpPr>
        <p:spPr>
          <a:xfrm>
            <a:off x="3626282" y="3858768"/>
            <a:ext cx="2154098" cy="566928"/>
          </a:xfrm>
          <a:prstGeom prst="rect">
            <a:avLst/>
          </a:prstGeom>
          <a:noFill/>
          <a:ln/>
        </p:spPr>
        <p:txBody>
          <a:bodyPr wrap="square" lIns="0" tIns="0" rIns="0" bIns="0" rtlCol="0" anchor="ctr"/>
          <a:lstStyle/>
          <a:p>
            <a:pPr algn="ctr" indent="0" marL="0">
              <a:lnSpc>
                <a:spcPts val="1800"/>
              </a:lnSpc>
              <a:buNone/>
            </a:pPr>
            <a:r>
              <a:rPr lang="en-US" sz="1250" dirty="0">
                <a:solidFill>
                  <a:srgbClr val="1C2320"/>
                </a:solidFill>
                <a:latin typeface="Meiryo" pitchFamily="34" charset="0"/>
                <a:ea typeface="Meiryo" pitchFamily="34" charset="-122"/>
                <a:cs typeface="Meiryo" pitchFamily="34" charset="-120"/>
              </a:rPr>
              <a:t>本番だけでなく、準備・練習にどれだけ使っているか</a:t>
            </a:r>
            <a:endParaRPr lang="en-US" sz="1250" dirty="0"/>
          </a:p>
        </p:txBody>
      </p:sp>
      <p:sp>
        <p:nvSpPr>
          <p:cNvPr id="16" name="Shape 14"/>
          <p:cNvSpPr/>
          <p:nvPr/>
        </p:nvSpPr>
        <p:spPr>
          <a:xfrm>
            <a:off x="6210148" y="2962656"/>
            <a:ext cx="2556434" cy="1572768"/>
          </a:xfrm>
          <a:prstGeom prst="roundRect">
            <a:avLst>
              <a:gd name="adj" fmla="val 3488"/>
            </a:avLst>
          </a:prstGeom>
          <a:solidFill>
            <a:srgbClr val="F1F5F2"/>
          </a:solidFill>
          <a:ln/>
        </p:spPr>
      </p:sp>
      <p:sp>
        <p:nvSpPr>
          <p:cNvPr id="17" name="Shape 15"/>
          <p:cNvSpPr/>
          <p:nvPr/>
        </p:nvSpPr>
        <p:spPr>
          <a:xfrm>
            <a:off x="7232333" y="3182112"/>
            <a:ext cx="512064" cy="512064"/>
          </a:xfrm>
          <a:prstGeom prst="ellipse">
            <a:avLst/>
          </a:prstGeom>
          <a:solidFill>
            <a:srgbClr val="1F5D4C"/>
          </a:solidFill>
          <a:ln/>
        </p:spPr>
      </p:sp>
      <p:sp>
        <p:nvSpPr>
          <p:cNvPr id="18" name="Text 16"/>
          <p:cNvSpPr txBox="1"/>
          <p:nvPr/>
        </p:nvSpPr>
        <p:spPr>
          <a:xfrm>
            <a:off x="7232333" y="3273552"/>
            <a:ext cx="51206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負担</a:t>
            </a:r>
            <a:endParaRPr lang="en-US" sz="1500" dirty="0"/>
          </a:p>
        </p:txBody>
      </p:sp>
      <p:sp>
        <p:nvSpPr>
          <p:cNvPr id="19" name="Text 17"/>
          <p:cNvSpPr txBox="1"/>
          <p:nvPr/>
        </p:nvSpPr>
        <p:spPr>
          <a:xfrm>
            <a:off x="6411316" y="3858768"/>
            <a:ext cx="2154098" cy="566928"/>
          </a:xfrm>
          <a:prstGeom prst="rect">
            <a:avLst/>
          </a:prstGeom>
          <a:noFill/>
          <a:ln/>
        </p:spPr>
        <p:txBody>
          <a:bodyPr wrap="square" lIns="0" tIns="0" rIns="0" bIns="0" rtlCol="0" anchor="ctr"/>
          <a:lstStyle/>
          <a:p>
            <a:pPr algn="ctr" indent="0" marL="0">
              <a:lnSpc>
                <a:spcPts val="1800"/>
              </a:lnSpc>
              <a:buNone/>
            </a:pPr>
            <a:r>
              <a:rPr lang="en-US" sz="1250" dirty="0">
                <a:solidFill>
                  <a:srgbClr val="1C2320"/>
                </a:solidFill>
                <a:latin typeface="Meiryo" pitchFamily="34" charset="0"/>
                <a:ea typeface="Meiryo" pitchFamily="34" charset="-122"/>
                <a:cs typeface="Meiryo" pitchFamily="34" charset="-120"/>
              </a:rPr>
              <a:t>担当者と子供に、どれだけの負荷がかかっているか</a:t>
            </a:r>
            <a:endParaRPr lang="en-US" sz="1250" dirty="0"/>
          </a:p>
        </p:txBody>
      </p:sp>
      <p:sp>
        <p:nvSpPr>
          <p:cNvPr id="20" name="Shape 18"/>
          <p:cNvSpPr/>
          <p:nvPr/>
        </p:nvSpPr>
        <p:spPr>
          <a:xfrm>
            <a:off x="8995181" y="2962656"/>
            <a:ext cx="2556434" cy="1572768"/>
          </a:xfrm>
          <a:prstGeom prst="roundRect">
            <a:avLst>
              <a:gd name="adj" fmla="val 3488"/>
            </a:avLst>
          </a:prstGeom>
          <a:solidFill>
            <a:srgbClr val="F1F5F2"/>
          </a:solidFill>
          <a:ln/>
        </p:spPr>
      </p:sp>
      <p:sp>
        <p:nvSpPr>
          <p:cNvPr id="21" name="Shape 19"/>
          <p:cNvSpPr/>
          <p:nvPr/>
        </p:nvSpPr>
        <p:spPr>
          <a:xfrm>
            <a:off x="10017366" y="3182112"/>
            <a:ext cx="512064" cy="512064"/>
          </a:xfrm>
          <a:prstGeom prst="ellipse">
            <a:avLst/>
          </a:prstGeom>
          <a:solidFill>
            <a:srgbClr val="1F5D4C"/>
          </a:solidFill>
          <a:ln/>
        </p:spPr>
      </p:sp>
      <p:sp>
        <p:nvSpPr>
          <p:cNvPr id="22" name="Text 20"/>
          <p:cNvSpPr txBox="1"/>
          <p:nvPr/>
        </p:nvSpPr>
        <p:spPr>
          <a:xfrm>
            <a:off x="10017366" y="3273552"/>
            <a:ext cx="51206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代替</a:t>
            </a:r>
            <a:endParaRPr lang="en-US" sz="1500" dirty="0"/>
          </a:p>
        </p:txBody>
      </p:sp>
      <p:sp>
        <p:nvSpPr>
          <p:cNvPr id="23" name="Text 21"/>
          <p:cNvSpPr txBox="1"/>
          <p:nvPr/>
        </p:nvSpPr>
        <p:spPr>
          <a:xfrm>
            <a:off x="9196349" y="3858768"/>
            <a:ext cx="2154098" cy="566928"/>
          </a:xfrm>
          <a:prstGeom prst="rect">
            <a:avLst/>
          </a:prstGeom>
          <a:noFill/>
          <a:ln/>
        </p:spPr>
        <p:txBody>
          <a:bodyPr wrap="square" lIns="0" tIns="0" rIns="0" bIns="0" rtlCol="0" anchor="ctr"/>
          <a:lstStyle/>
          <a:p>
            <a:pPr algn="ctr" indent="0" marL="0">
              <a:lnSpc>
                <a:spcPts val="1800"/>
              </a:lnSpc>
              <a:buNone/>
            </a:pPr>
            <a:r>
              <a:rPr lang="en-US" sz="1250" dirty="0">
                <a:solidFill>
                  <a:srgbClr val="1C2320"/>
                </a:solidFill>
                <a:latin typeface="Meiryo" pitchFamily="34" charset="0"/>
                <a:ea typeface="Meiryo" pitchFamily="34" charset="-122"/>
                <a:cs typeface="Meiryo" pitchFamily="34" charset="-120"/>
              </a:rPr>
              <a:t>他の行事や授業で、同じねらいを達成できないか</a:t>
            </a:r>
            <a:endParaRPr lang="en-US" sz="1250" dirty="0"/>
          </a:p>
        </p:txBody>
      </p:sp>
      <p:sp>
        <p:nvSpPr>
          <p:cNvPr id="24" name="Shape 22"/>
          <p:cNvSpPr/>
          <p:nvPr/>
        </p:nvSpPr>
        <p:spPr>
          <a:xfrm>
            <a:off x="640080" y="4828032"/>
            <a:ext cx="10911535" cy="1298448"/>
          </a:xfrm>
          <a:prstGeom prst="roundRect">
            <a:avLst>
              <a:gd name="adj" fmla="val 4225"/>
            </a:avLst>
          </a:prstGeom>
          <a:solidFill>
            <a:srgbClr val="E4EDE6"/>
          </a:solidFill>
          <a:ln/>
        </p:spPr>
      </p:sp>
      <p:sp>
        <p:nvSpPr>
          <p:cNvPr id="25" name="Text 23"/>
          <p:cNvSpPr txBox="1"/>
          <p:nvPr/>
        </p:nvSpPr>
        <p:spPr>
          <a:xfrm>
            <a:off x="1097280" y="5047488"/>
            <a:ext cx="9997135" cy="365760"/>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「やめる」だけが精選ではありません</a:t>
            </a:r>
            <a:endParaRPr lang="en-US" sz="1700" dirty="0"/>
          </a:p>
        </p:txBody>
      </p:sp>
      <p:sp>
        <p:nvSpPr>
          <p:cNvPr id="26" name="Text 24"/>
          <p:cNvSpPr txBox="1"/>
          <p:nvPr/>
        </p:nvSpPr>
        <p:spPr>
          <a:xfrm>
            <a:off x="1097280" y="5449824"/>
            <a:ext cx="9997135" cy="457200"/>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統合する／規模を小さくする／準備時間を減らす／隔年開催にする／子供に任せる範囲を広げる。手段は5つ以上あります。</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33</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Ⅲ－6</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できること③ 校内研修の設計</a:t>
            </a:r>
            <a:endParaRPr lang="en-US" sz="2800" dirty="0"/>
          </a:p>
        </p:txBody>
      </p:sp>
      <p:sp>
        <p:nvSpPr>
          <p:cNvPr id="5" name="Shape 3"/>
          <p:cNvSpPr/>
          <p:nvPr/>
        </p:nvSpPr>
        <p:spPr>
          <a:xfrm>
            <a:off x="640080" y="1536192"/>
            <a:ext cx="10911535" cy="841248"/>
          </a:xfrm>
          <a:prstGeom prst="roundRect">
            <a:avLst>
              <a:gd name="adj" fmla="val 6522"/>
            </a:avLst>
          </a:prstGeom>
          <a:solidFill>
            <a:srgbClr val="1F5D4C"/>
          </a:solidFill>
          <a:ln/>
        </p:spPr>
      </p:sp>
      <p:sp>
        <p:nvSpPr>
          <p:cNvPr id="6" name="Text 4"/>
          <p:cNvSpPr txBox="1"/>
          <p:nvPr/>
        </p:nvSpPr>
        <p:spPr>
          <a:xfrm>
            <a:off x="1097280" y="1755648"/>
            <a:ext cx="9997135" cy="438912"/>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素案は、教員の研究・研修を「時数を充てられる活動」として位置づけています</a:t>
            </a:r>
            <a:endParaRPr lang="en-US" sz="1800" dirty="0"/>
          </a:p>
        </p:txBody>
      </p:sp>
      <p:sp>
        <p:nvSpPr>
          <p:cNvPr id="7" name="Shape 5"/>
          <p:cNvSpPr/>
          <p:nvPr/>
        </p:nvSpPr>
        <p:spPr>
          <a:xfrm>
            <a:off x="640080" y="2542032"/>
            <a:ext cx="5272888" cy="2697480"/>
          </a:xfrm>
          <a:prstGeom prst="roundRect">
            <a:avLst>
              <a:gd name="adj" fmla="val 2034"/>
            </a:avLst>
          </a:prstGeom>
          <a:solidFill>
            <a:srgbClr val="F1F5F2"/>
          </a:solidFill>
          <a:ln/>
        </p:spPr>
      </p:sp>
      <p:sp>
        <p:nvSpPr>
          <p:cNvPr id="8" name="Text 6"/>
          <p:cNvSpPr txBox="1"/>
          <p:nvPr/>
        </p:nvSpPr>
        <p:spPr>
          <a:xfrm>
            <a:off x="987552" y="2761488"/>
            <a:ext cx="4577944" cy="384048"/>
          </a:xfrm>
          <a:prstGeom prst="rect">
            <a:avLst/>
          </a:prstGeom>
          <a:noFill/>
          <a:ln/>
        </p:spPr>
        <p:txBody>
          <a:bodyPr wrap="square" lIns="0" tIns="0" rIns="0" bIns="0" rtlCol="0" anchor="ctr"/>
          <a:lstStyle/>
          <a:p>
            <a:pPr indent="0" marL="0">
              <a:buNone/>
            </a:pPr>
            <a:r>
              <a:rPr lang="en-US" sz="1800" b="1" dirty="0">
                <a:solidFill>
                  <a:srgbClr val="5B6660"/>
                </a:solidFill>
                <a:latin typeface="Meiryo" pitchFamily="34" charset="0"/>
                <a:ea typeface="Meiryo" pitchFamily="34" charset="-122"/>
                <a:cs typeface="Meiryo" pitchFamily="34" charset="-120"/>
              </a:rPr>
              <a:t>これまでの校内研修</a:t>
            </a:r>
            <a:endParaRPr lang="en-US" sz="1800" dirty="0"/>
          </a:p>
        </p:txBody>
      </p:sp>
      <p:sp>
        <p:nvSpPr>
          <p:cNvPr id="9" name="Text 7"/>
          <p:cNvSpPr txBox="1"/>
          <p:nvPr/>
        </p:nvSpPr>
        <p:spPr>
          <a:xfrm>
            <a:off x="1005840" y="3310128"/>
            <a:ext cx="4541368" cy="17830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5B6660"/>
                </a:solidFill>
                <a:latin typeface="Meiryo" pitchFamily="34" charset="0"/>
                <a:ea typeface="Meiryo" pitchFamily="34" charset="-122"/>
                <a:cs typeface="Meiryo" pitchFamily="34" charset="-120"/>
              </a:rPr>
              <a:t>回数をこなすことが目的化</a:t>
            </a:r>
            <a:endParaRPr lang="en-US" sz="1350" dirty="0"/>
          </a:p>
          <a:p>
            <a:pPr marL="342900" indent="-342900">
              <a:spcAft>
                <a:spcPts val="800"/>
              </a:spcAft>
              <a:buSzPct val="100000"/>
              <a:buChar char="•"/>
            </a:pPr>
            <a:r>
              <a:rPr lang="en-US" sz="1350" dirty="0">
                <a:solidFill>
                  <a:srgbClr val="5B6660"/>
                </a:solidFill>
                <a:latin typeface="Meiryo" pitchFamily="34" charset="0"/>
                <a:ea typeface="Meiryo" pitchFamily="34" charset="-122"/>
                <a:cs typeface="Meiryo" pitchFamily="34" charset="-120"/>
              </a:rPr>
              <a:t>全員が同じ内容を受ける</a:t>
            </a:r>
            <a:endParaRPr lang="en-US" sz="1350" dirty="0"/>
          </a:p>
          <a:p>
            <a:pPr marL="342900" indent="-342900">
              <a:spcAft>
                <a:spcPts val="800"/>
              </a:spcAft>
              <a:buSzPct val="100000"/>
              <a:buChar char="•"/>
            </a:pPr>
            <a:r>
              <a:rPr lang="en-US" sz="1350" dirty="0">
                <a:solidFill>
                  <a:srgbClr val="5B6660"/>
                </a:solidFill>
                <a:latin typeface="Meiryo" pitchFamily="34" charset="0"/>
                <a:ea typeface="Meiryo" pitchFamily="34" charset="-122"/>
                <a:cs typeface="Meiryo" pitchFamily="34" charset="-120"/>
              </a:rPr>
              <a:t>放課後に押し込まれる</a:t>
            </a:r>
            <a:endParaRPr lang="en-US" sz="1350" dirty="0"/>
          </a:p>
          <a:p>
            <a:pPr marL="342900" indent="-342900">
              <a:spcAft>
                <a:spcPts val="800"/>
              </a:spcAft>
              <a:buSzPct val="100000"/>
              <a:buChar char="•"/>
            </a:pPr>
            <a:r>
              <a:rPr lang="en-US" sz="1350" dirty="0">
                <a:solidFill>
                  <a:srgbClr val="5B6660"/>
                </a:solidFill>
                <a:latin typeface="Meiryo" pitchFamily="34" charset="0"/>
                <a:ea typeface="Meiryo" pitchFamily="34" charset="-122"/>
                <a:cs typeface="Meiryo" pitchFamily="34" charset="-120"/>
              </a:rPr>
              <a:t>研究発表がゴールになる</a:t>
            </a:r>
            <a:endParaRPr lang="en-US" sz="1350" dirty="0"/>
          </a:p>
        </p:txBody>
      </p:sp>
      <p:sp>
        <p:nvSpPr>
          <p:cNvPr id="10" name="Shape 8"/>
          <p:cNvSpPr/>
          <p:nvPr/>
        </p:nvSpPr>
        <p:spPr>
          <a:xfrm>
            <a:off x="6278728" y="2542032"/>
            <a:ext cx="5272888" cy="2697480"/>
          </a:xfrm>
          <a:prstGeom prst="roundRect">
            <a:avLst>
              <a:gd name="adj" fmla="val 2034"/>
            </a:avLst>
          </a:prstGeom>
          <a:solidFill>
            <a:srgbClr val="E4EDE6"/>
          </a:solidFill>
          <a:ln/>
        </p:spPr>
      </p:sp>
      <p:sp>
        <p:nvSpPr>
          <p:cNvPr id="11" name="Text 9"/>
          <p:cNvSpPr txBox="1"/>
          <p:nvPr/>
        </p:nvSpPr>
        <p:spPr>
          <a:xfrm>
            <a:off x="6626200" y="2761488"/>
            <a:ext cx="4577944" cy="384048"/>
          </a:xfrm>
          <a:prstGeom prst="rect">
            <a:avLst/>
          </a:prstGeom>
          <a:noFill/>
          <a:ln/>
        </p:spPr>
        <p:txBody>
          <a:bodyPr wrap="square" lIns="0" tIns="0" rIns="0" bIns="0" rtlCol="0" anchor="ctr"/>
          <a:lstStyle/>
          <a:p>
            <a:pPr indent="0" marL="0">
              <a:buNone/>
            </a:pPr>
            <a:r>
              <a:rPr lang="en-US" sz="1800" b="1" dirty="0">
                <a:solidFill>
                  <a:srgbClr val="1F5D4C"/>
                </a:solidFill>
                <a:latin typeface="Meiryo" pitchFamily="34" charset="0"/>
                <a:ea typeface="Meiryo" pitchFamily="34" charset="-122"/>
                <a:cs typeface="Meiryo" pitchFamily="34" charset="-120"/>
              </a:rPr>
              <a:t>これからの校内研修</a:t>
            </a:r>
            <a:endParaRPr lang="en-US" sz="1800" dirty="0"/>
          </a:p>
        </p:txBody>
      </p:sp>
      <p:sp>
        <p:nvSpPr>
          <p:cNvPr id="12" name="Text 10"/>
          <p:cNvSpPr txBox="1"/>
          <p:nvPr/>
        </p:nvSpPr>
        <p:spPr>
          <a:xfrm>
            <a:off x="6644488" y="3310128"/>
            <a:ext cx="4541368" cy="17830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C2320"/>
                </a:solidFill>
                <a:latin typeface="Meiryo" pitchFamily="34" charset="0"/>
                <a:ea typeface="Meiryo" pitchFamily="34" charset="-122"/>
                <a:cs typeface="Meiryo" pitchFamily="34" charset="-120"/>
              </a:rPr>
              <a:t>授業改善に直結する内容に絞る</a:t>
            </a:r>
            <a:endParaRPr lang="en-US" sz="1350" dirty="0"/>
          </a:p>
          <a:p>
            <a:pPr marL="342900" indent="-342900">
              <a:spcAft>
                <a:spcPts val="800"/>
              </a:spcAft>
              <a:buSzPct val="100000"/>
              <a:buChar char="•"/>
            </a:pPr>
            <a:r>
              <a:rPr lang="en-US" sz="1350" dirty="0">
                <a:solidFill>
                  <a:srgbClr val="1C2320"/>
                </a:solidFill>
                <a:latin typeface="Meiryo" pitchFamily="34" charset="0"/>
                <a:ea typeface="Meiryo" pitchFamily="34" charset="-122"/>
                <a:cs typeface="Meiryo" pitchFamily="34" charset="-120"/>
              </a:rPr>
              <a:t>学年・教科ごとに必要なものを</a:t>
            </a:r>
            <a:endParaRPr lang="en-US" sz="1350" dirty="0"/>
          </a:p>
          <a:p>
            <a:pPr marL="342900" indent="-342900">
              <a:spcAft>
                <a:spcPts val="800"/>
              </a:spcAft>
              <a:buSzPct val="100000"/>
              <a:buChar char="•"/>
            </a:pPr>
            <a:r>
              <a:rPr lang="en-US" sz="1350" dirty="0">
                <a:solidFill>
                  <a:srgbClr val="1C2320"/>
                </a:solidFill>
                <a:latin typeface="Meiryo" pitchFamily="34" charset="0"/>
                <a:ea typeface="Meiryo" pitchFamily="34" charset="-122"/>
                <a:cs typeface="Meiryo" pitchFamily="34" charset="-120"/>
              </a:rPr>
              <a:t>裁量的な時間として位置づける</a:t>
            </a:r>
            <a:endParaRPr lang="en-US" sz="1350" dirty="0"/>
          </a:p>
          <a:p>
            <a:pPr marL="342900" indent="-342900">
              <a:spcAft>
                <a:spcPts val="800"/>
              </a:spcAft>
              <a:buSzPct val="100000"/>
              <a:buChar char="•"/>
            </a:pPr>
            <a:r>
              <a:rPr lang="en-US" sz="1350" dirty="0">
                <a:solidFill>
                  <a:srgbClr val="1C2320"/>
                </a:solidFill>
                <a:latin typeface="Meiryo" pitchFamily="34" charset="0"/>
                <a:ea typeface="Meiryo" pitchFamily="34" charset="-122"/>
                <a:cs typeface="Meiryo" pitchFamily="34" charset="-120"/>
              </a:rPr>
              <a:t>日々の授業がゴール</a:t>
            </a:r>
            <a:endParaRPr lang="en-US" sz="1350" dirty="0"/>
          </a:p>
        </p:txBody>
      </p:sp>
      <p:sp>
        <p:nvSpPr>
          <p:cNvPr id="13" name="Shape 11"/>
          <p:cNvSpPr/>
          <p:nvPr/>
        </p:nvSpPr>
        <p:spPr>
          <a:xfrm>
            <a:off x="640080" y="5413248"/>
            <a:ext cx="10911535" cy="749808"/>
          </a:xfrm>
          <a:prstGeom prst="roundRect">
            <a:avLst>
              <a:gd name="adj" fmla="val 7317"/>
            </a:avLst>
          </a:prstGeom>
          <a:solidFill>
            <a:srgbClr val="F1F5F2"/>
          </a:solidFill>
          <a:ln/>
        </p:spPr>
      </p:sp>
      <p:sp>
        <p:nvSpPr>
          <p:cNvPr id="14" name="Text 12"/>
          <p:cNvSpPr txBox="1"/>
          <p:nvPr/>
        </p:nvSpPr>
        <p:spPr>
          <a:xfrm>
            <a:off x="1097280" y="5614416"/>
            <a:ext cx="9997135" cy="384048"/>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根拠：教育公務員特例法 第21条・第22条／校内研修の設計は校長の裁量の範囲です。</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34</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Ⅲ－7</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できること④ 校務分掌と組織</a:t>
            </a:r>
            <a:endParaRPr lang="en-US" sz="2800" dirty="0"/>
          </a:p>
        </p:txBody>
      </p:sp>
      <p:sp>
        <p:nvSpPr>
          <p:cNvPr id="5" name="Shape 3"/>
          <p:cNvSpPr/>
          <p:nvPr/>
        </p:nvSpPr>
        <p:spPr>
          <a:xfrm>
            <a:off x="640080" y="1536192"/>
            <a:ext cx="10911535" cy="841248"/>
          </a:xfrm>
          <a:prstGeom prst="roundRect">
            <a:avLst>
              <a:gd name="adj" fmla="val 6522"/>
            </a:avLst>
          </a:prstGeom>
          <a:solidFill>
            <a:srgbClr val="1F5D4C"/>
          </a:solidFill>
          <a:ln/>
        </p:spPr>
      </p:sp>
      <p:sp>
        <p:nvSpPr>
          <p:cNvPr id="6" name="Text 4"/>
          <p:cNvSpPr txBox="1"/>
          <p:nvPr/>
        </p:nvSpPr>
        <p:spPr>
          <a:xfrm>
            <a:off x="1097280" y="1755648"/>
            <a:ext cx="9997135" cy="438912"/>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「調和のとれた学校運営が行われるためにふさわしい校務分掌の仕組みを整える」</a:t>
            </a:r>
            <a:endParaRPr lang="en-US" sz="1700" dirty="0"/>
          </a:p>
        </p:txBody>
      </p:sp>
      <p:sp>
        <p:nvSpPr>
          <p:cNvPr id="7" name="Text 5"/>
          <p:cNvSpPr txBox="1"/>
          <p:nvPr/>
        </p:nvSpPr>
        <p:spPr>
          <a:xfrm>
            <a:off x="1097280" y="2139696"/>
            <a:ext cx="9997135" cy="274320"/>
          </a:xfrm>
          <a:prstGeom prst="rect">
            <a:avLst/>
          </a:prstGeom>
          <a:noFill/>
          <a:ln/>
        </p:spPr>
        <p:txBody>
          <a:bodyPr wrap="square" lIns="0" tIns="0" rIns="0" bIns="0" rtlCol="0" anchor="ctr"/>
          <a:lstStyle/>
          <a:p>
            <a:pPr indent="0" marL="0">
              <a:buNone/>
            </a:pPr>
            <a:r>
              <a:rPr lang="en-US" sz="1100" dirty="0">
                <a:solidFill>
                  <a:srgbClr val="C9DACD"/>
                </a:solidFill>
                <a:latin typeface="Meiryo" pitchFamily="34" charset="0"/>
                <a:ea typeface="Meiryo" pitchFamily="34" charset="-122"/>
                <a:cs typeface="Meiryo" pitchFamily="34" charset="-120"/>
              </a:rPr>
              <a:t>学校教育法施行規則 第43条</a:t>
            </a:r>
            <a:endParaRPr lang="en-US" sz="1100" dirty="0"/>
          </a:p>
        </p:txBody>
      </p:sp>
      <p:sp>
        <p:nvSpPr>
          <p:cNvPr id="8" name="Shape 6"/>
          <p:cNvSpPr/>
          <p:nvPr/>
        </p:nvSpPr>
        <p:spPr>
          <a:xfrm>
            <a:off x="640080" y="2560320"/>
            <a:ext cx="10911535" cy="822960"/>
          </a:xfrm>
          <a:prstGeom prst="roundRect">
            <a:avLst>
              <a:gd name="adj" fmla="val 6667"/>
            </a:avLst>
          </a:prstGeom>
          <a:solidFill>
            <a:srgbClr val="F1F5F2"/>
          </a:solidFill>
          <a:ln/>
        </p:spPr>
      </p:sp>
      <p:sp>
        <p:nvSpPr>
          <p:cNvPr id="9" name="Shape 7"/>
          <p:cNvSpPr/>
          <p:nvPr/>
        </p:nvSpPr>
        <p:spPr>
          <a:xfrm>
            <a:off x="932688" y="2743200"/>
            <a:ext cx="457200" cy="457200"/>
          </a:xfrm>
          <a:prstGeom prst="ellipse">
            <a:avLst/>
          </a:prstGeom>
          <a:solidFill>
            <a:srgbClr val="1F5D4C"/>
          </a:solidFill>
          <a:ln/>
        </p:spPr>
      </p:sp>
      <p:sp>
        <p:nvSpPr>
          <p:cNvPr id="10" name="Text 8"/>
          <p:cNvSpPr txBox="1"/>
          <p:nvPr/>
        </p:nvSpPr>
        <p:spPr>
          <a:xfrm>
            <a:off x="932688" y="2807208"/>
            <a:ext cx="4572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11" name="Text 9"/>
          <p:cNvSpPr txBox="1"/>
          <p:nvPr/>
        </p:nvSpPr>
        <p:spPr>
          <a:xfrm>
            <a:off x="1554480" y="2660904"/>
            <a:ext cx="9631375" cy="36576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「教育課程検討」の担当を置く</a:t>
            </a:r>
            <a:endParaRPr lang="en-US" sz="1600" dirty="0"/>
          </a:p>
        </p:txBody>
      </p:sp>
      <p:sp>
        <p:nvSpPr>
          <p:cNvPr id="12" name="Text 10"/>
          <p:cNvSpPr txBox="1"/>
          <p:nvPr/>
        </p:nvSpPr>
        <p:spPr>
          <a:xfrm>
            <a:off x="1554480" y="3026664"/>
            <a:ext cx="9631375" cy="329184"/>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既存の分掌に埋もれさせず、独立した担当を明示する</a:t>
            </a:r>
            <a:endParaRPr lang="en-US" sz="1300" dirty="0"/>
          </a:p>
        </p:txBody>
      </p:sp>
      <p:sp>
        <p:nvSpPr>
          <p:cNvPr id="13" name="Shape 11"/>
          <p:cNvSpPr/>
          <p:nvPr/>
        </p:nvSpPr>
        <p:spPr>
          <a:xfrm>
            <a:off x="640080" y="3447288"/>
            <a:ext cx="10911535" cy="822960"/>
          </a:xfrm>
          <a:prstGeom prst="roundRect">
            <a:avLst>
              <a:gd name="adj" fmla="val 6667"/>
            </a:avLst>
          </a:prstGeom>
          <a:solidFill>
            <a:srgbClr val="F1F5F2"/>
          </a:solidFill>
          <a:ln/>
        </p:spPr>
      </p:sp>
      <p:sp>
        <p:nvSpPr>
          <p:cNvPr id="14" name="Shape 12"/>
          <p:cNvSpPr/>
          <p:nvPr/>
        </p:nvSpPr>
        <p:spPr>
          <a:xfrm>
            <a:off x="932688" y="3630168"/>
            <a:ext cx="457200" cy="457200"/>
          </a:xfrm>
          <a:prstGeom prst="ellipse">
            <a:avLst/>
          </a:prstGeom>
          <a:solidFill>
            <a:srgbClr val="5C8A4A"/>
          </a:solidFill>
          <a:ln/>
        </p:spPr>
      </p:sp>
      <p:sp>
        <p:nvSpPr>
          <p:cNvPr id="15" name="Text 13"/>
          <p:cNvSpPr txBox="1"/>
          <p:nvPr/>
        </p:nvSpPr>
        <p:spPr>
          <a:xfrm>
            <a:off x="932688" y="3694176"/>
            <a:ext cx="4572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16" name="Text 14"/>
          <p:cNvSpPr txBox="1"/>
          <p:nvPr/>
        </p:nvSpPr>
        <p:spPr>
          <a:xfrm>
            <a:off x="1554480" y="3547872"/>
            <a:ext cx="9631375" cy="36576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学年主任・教科主任を設計の主体に</a:t>
            </a:r>
            <a:endParaRPr lang="en-US" sz="1600" dirty="0"/>
          </a:p>
        </p:txBody>
      </p:sp>
      <p:sp>
        <p:nvSpPr>
          <p:cNvPr id="17" name="Text 15"/>
          <p:cNvSpPr txBox="1"/>
          <p:nvPr/>
        </p:nvSpPr>
        <p:spPr>
          <a:xfrm>
            <a:off x="1554480" y="3913632"/>
            <a:ext cx="9631375" cy="329184"/>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管理職が作った案を下ろすのではなく、主任層に描かせる</a:t>
            </a:r>
            <a:endParaRPr lang="en-US" sz="1300" dirty="0"/>
          </a:p>
        </p:txBody>
      </p:sp>
      <p:sp>
        <p:nvSpPr>
          <p:cNvPr id="18" name="Shape 16"/>
          <p:cNvSpPr/>
          <p:nvPr/>
        </p:nvSpPr>
        <p:spPr>
          <a:xfrm>
            <a:off x="640080" y="4334256"/>
            <a:ext cx="10911535" cy="822960"/>
          </a:xfrm>
          <a:prstGeom prst="roundRect">
            <a:avLst>
              <a:gd name="adj" fmla="val 6667"/>
            </a:avLst>
          </a:prstGeom>
          <a:solidFill>
            <a:srgbClr val="F1F5F2"/>
          </a:solidFill>
          <a:ln/>
        </p:spPr>
      </p:sp>
      <p:sp>
        <p:nvSpPr>
          <p:cNvPr id="19" name="Shape 17"/>
          <p:cNvSpPr/>
          <p:nvPr/>
        </p:nvSpPr>
        <p:spPr>
          <a:xfrm>
            <a:off x="932688" y="4517136"/>
            <a:ext cx="457200" cy="457200"/>
          </a:xfrm>
          <a:prstGeom prst="ellipse">
            <a:avLst/>
          </a:prstGeom>
          <a:solidFill>
            <a:srgbClr val="5C8A4A"/>
          </a:solidFill>
          <a:ln/>
        </p:spPr>
      </p:sp>
      <p:sp>
        <p:nvSpPr>
          <p:cNvPr id="20" name="Text 18"/>
          <p:cNvSpPr txBox="1"/>
          <p:nvPr/>
        </p:nvSpPr>
        <p:spPr>
          <a:xfrm>
            <a:off x="932688" y="4581144"/>
            <a:ext cx="4572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21" name="Text 19"/>
          <p:cNvSpPr txBox="1"/>
          <p:nvPr/>
        </p:nvSpPr>
        <p:spPr>
          <a:xfrm>
            <a:off x="1554480" y="4434840"/>
            <a:ext cx="9631375" cy="36576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若手を入れる</a:t>
            </a:r>
            <a:endParaRPr lang="en-US" sz="1600" dirty="0"/>
          </a:p>
        </p:txBody>
      </p:sp>
      <p:sp>
        <p:nvSpPr>
          <p:cNvPr id="22" name="Text 20"/>
          <p:cNvSpPr txBox="1"/>
          <p:nvPr/>
        </p:nvSpPr>
        <p:spPr>
          <a:xfrm>
            <a:off x="1554480" y="4800600"/>
            <a:ext cx="9631375" cy="329184"/>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2030年に中堅になる層を、設計段階から巻き込む</a:t>
            </a:r>
            <a:endParaRPr lang="en-US" sz="1300" dirty="0"/>
          </a:p>
        </p:txBody>
      </p:sp>
      <p:sp>
        <p:nvSpPr>
          <p:cNvPr id="23" name="Shape 21"/>
          <p:cNvSpPr/>
          <p:nvPr/>
        </p:nvSpPr>
        <p:spPr>
          <a:xfrm>
            <a:off x="640080" y="5221224"/>
            <a:ext cx="10911535" cy="822960"/>
          </a:xfrm>
          <a:prstGeom prst="roundRect">
            <a:avLst>
              <a:gd name="adj" fmla="val 6667"/>
            </a:avLst>
          </a:prstGeom>
          <a:solidFill>
            <a:srgbClr val="F1F5F2"/>
          </a:solidFill>
          <a:ln/>
        </p:spPr>
      </p:sp>
      <p:sp>
        <p:nvSpPr>
          <p:cNvPr id="24" name="Shape 22"/>
          <p:cNvSpPr/>
          <p:nvPr/>
        </p:nvSpPr>
        <p:spPr>
          <a:xfrm>
            <a:off x="932688" y="5404104"/>
            <a:ext cx="457200" cy="457200"/>
          </a:xfrm>
          <a:prstGeom prst="ellipse">
            <a:avLst/>
          </a:prstGeom>
          <a:solidFill>
            <a:srgbClr val="B26B1B"/>
          </a:solidFill>
          <a:ln/>
        </p:spPr>
      </p:sp>
      <p:sp>
        <p:nvSpPr>
          <p:cNvPr id="25" name="Text 23"/>
          <p:cNvSpPr txBox="1"/>
          <p:nvPr/>
        </p:nvSpPr>
        <p:spPr>
          <a:xfrm>
            <a:off x="932688" y="5468112"/>
            <a:ext cx="4572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26" name="Text 24"/>
          <p:cNvSpPr txBox="1"/>
          <p:nvPr/>
        </p:nvSpPr>
        <p:spPr>
          <a:xfrm>
            <a:off x="1554480" y="5321808"/>
            <a:ext cx="9631375" cy="365760"/>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分掌の数そのものを見直す</a:t>
            </a:r>
            <a:endParaRPr lang="en-US" sz="1600" dirty="0"/>
          </a:p>
        </p:txBody>
      </p:sp>
      <p:sp>
        <p:nvSpPr>
          <p:cNvPr id="27" name="Text 25"/>
          <p:cNvSpPr txBox="1"/>
          <p:nvPr/>
        </p:nvSpPr>
        <p:spPr>
          <a:xfrm>
            <a:off x="1554480" y="5687568"/>
            <a:ext cx="9631375" cy="329184"/>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「余白」をつくるには、まず分掌の棚卸しから</a:t>
            </a:r>
            <a:endParaRPr lang="en-US" sz="1300" dirty="0"/>
          </a:p>
        </p:txBody>
      </p:sp>
      <p:sp>
        <p:nvSpPr>
          <p:cNvPr id="28" name="Text 26"/>
          <p:cNvSpPr txBox="1"/>
          <p:nvPr/>
        </p:nvSpPr>
        <p:spPr>
          <a:xfrm>
            <a:off x="640080" y="6144768"/>
            <a:ext cx="9814255" cy="329184"/>
          </a:xfrm>
          <a:prstGeom prst="rect">
            <a:avLst/>
          </a:prstGeom>
          <a:noFill/>
          <a:ln/>
        </p:spPr>
        <p:txBody>
          <a:bodyPr wrap="square" lIns="0" tIns="0" rIns="0" bIns="0" rtlCol="0" anchor="ctr"/>
          <a:lstStyle/>
          <a:p>
            <a:pPr indent="0" marL="0">
              <a:buNone/>
            </a:pPr>
            <a:r>
              <a:rPr lang="en-US" sz="1500" b="1" dirty="0">
                <a:solidFill>
                  <a:srgbClr val="1F5D4C"/>
                </a:solidFill>
                <a:latin typeface="Meiryo" pitchFamily="34" charset="0"/>
                <a:ea typeface="Meiryo" pitchFamily="34" charset="-122"/>
                <a:cs typeface="Meiryo" pitchFamily="34" charset="-120"/>
              </a:rPr>
              <a:t>誰に考えさせるかを決めるのは、校長にしかできない仕事です。</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312A"/>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6E8A7E"/>
                </a:solidFill>
                <a:latin typeface="Meiryo" pitchFamily="34" charset="0"/>
                <a:ea typeface="Meiryo" pitchFamily="34" charset="-122"/>
                <a:cs typeface="Meiryo" pitchFamily="34" charset="-120"/>
              </a:rPr>
              <a:t>35</a:t>
            </a:r>
            <a:endParaRPr lang="en-US" sz="900" dirty="0"/>
          </a:p>
        </p:txBody>
      </p:sp>
      <p:sp>
        <p:nvSpPr>
          <p:cNvPr id="3" name="Shape 1"/>
          <p:cNvSpPr/>
          <p:nvPr/>
        </p:nvSpPr>
        <p:spPr>
          <a:xfrm>
            <a:off x="640080" y="1481328"/>
            <a:ext cx="1115568" cy="1115568"/>
          </a:xfrm>
          <a:prstGeom prst="ellipse">
            <a:avLst/>
          </a:prstGeom>
          <a:solidFill>
            <a:srgbClr val="7FA86B"/>
          </a:solidFill>
          <a:ln/>
        </p:spPr>
      </p:sp>
      <p:sp>
        <p:nvSpPr>
          <p:cNvPr id="4" name="Text 2"/>
          <p:cNvSpPr txBox="1"/>
          <p:nvPr/>
        </p:nvSpPr>
        <p:spPr>
          <a:xfrm>
            <a:off x="640080" y="1874520"/>
            <a:ext cx="1115568" cy="329184"/>
          </a:xfrm>
          <a:prstGeom prst="rect">
            <a:avLst/>
          </a:prstGeom>
          <a:noFill/>
          <a:ln/>
        </p:spPr>
        <p:txBody>
          <a:bodyPr wrap="square" lIns="0" tIns="0" rIns="0" bIns="0" rtlCol="0" anchor="ctr"/>
          <a:lstStyle/>
          <a:p>
            <a:pPr algn="ctr" indent="0" marL="0">
              <a:buNone/>
            </a:pPr>
            <a:r>
              <a:rPr lang="en-US" sz="4000" b="1" dirty="0">
                <a:solidFill>
                  <a:srgbClr val="14312A"/>
                </a:solidFill>
                <a:latin typeface="Meiryo" pitchFamily="34" charset="0"/>
                <a:ea typeface="Meiryo" pitchFamily="34" charset="-122"/>
                <a:cs typeface="Meiryo" pitchFamily="34" charset="-120"/>
              </a:rPr>
              <a:t>Ⅳ</a:t>
            </a:r>
            <a:endParaRPr lang="en-US" sz="4000" dirty="0"/>
          </a:p>
        </p:txBody>
      </p:sp>
      <p:sp>
        <p:nvSpPr>
          <p:cNvPr id="5" name="Text 3"/>
          <p:cNvSpPr txBox="1"/>
          <p:nvPr/>
        </p:nvSpPr>
        <p:spPr>
          <a:xfrm>
            <a:off x="2148840" y="1554480"/>
            <a:ext cx="9402775" cy="713232"/>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明日から打てる手</a:t>
            </a:r>
            <a:endParaRPr lang="en-US" sz="3600" dirty="0"/>
          </a:p>
        </p:txBody>
      </p:sp>
      <p:sp>
        <p:nvSpPr>
          <p:cNvPr id="6" name="Text 4"/>
          <p:cNvSpPr txBox="1"/>
          <p:nvPr/>
        </p:nvSpPr>
        <p:spPr>
          <a:xfrm>
            <a:off x="2148840" y="2322576"/>
            <a:ext cx="9402775" cy="457200"/>
          </a:xfrm>
          <a:prstGeom prst="rect">
            <a:avLst/>
          </a:prstGeom>
          <a:noFill/>
          <a:ln/>
        </p:spPr>
        <p:txBody>
          <a:bodyPr wrap="square" lIns="0" tIns="0" rIns="0" bIns="0" rtlCol="0" anchor="ctr"/>
          <a:lstStyle/>
          <a:p>
            <a:pPr indent="0" marL="0">
              <a:buNone/>
            </a:pPr>
            <a:r>
              <a:rPr lang="en-US" sz="1500" dirty="0">
                <a:solidFill>
                  <a:srgbClr val="7FA86B"/>
                </a:solidFill>
                <a:latin typeface="Meiryo" pitchFamily="34" charset="0"/>
                <a:ea typeface="Meiryo" pitchFamily="34" charset="-122"/>
                <a:cs typeface="Meiryo" pitchFamily="34" charset="-120"/>
              </a:rPr>
              <a:t>先行事例と、自校でできる10の打ち手</a:t>
            </a:r>
            <a:endParaRPr lang="en-US" sz="1500" dirty="0"/>
          </a:p>
        </p:txBody>
      </p:sp>
      <p:sp>
        <p:nvSpPr>
          <p:cNvPr id="7" name="Shape 5"/>
          <p:cNvSpPr/>
          <p:nvPr/>
        </p:nvSpPr>
        <p:spPr>
          <a:xfrm>
            <a:off x="713232" y="3328416"/>
            <a:ext cx="274320" cy="274320"/>
          </a:xfrm>
          <a:prstGeom prst="ellipse">
            <a:avLst/>
          </a:prstGeom>
          <a:solidFill>
            <a:srgbClr val="5C8A4A"/>
          </a:solidFill>
          <a:ln/>
        </p:spPr>
      </p:sp>
      <p:sp>
        <p:nvSpPr>
          <p:cNvPr id="8" name="Text 6"/>
          <p:cNvSpPr txBox="1"/>
          <p:nvPr/>
        </p:nvSpPr>
        <p:spPr>
          <a:xfrm>
            <a:off x="713232" y="3300984"/>
            <a:ext cx="274320" cy="329184"/>
          </a:xfrm>
          <a:prstGeom prst="rect">
            <a:avLst/>
          </a:prstGeom>
          <a:noFill/>
          <a:ln/>
        </p:spPr>
        <p:txBody>
          <a:bodyPr wrap="square" lIns="0" tIns="0" rIns="0" bIns="0" rtlCol="0" anchor="ctr"/>
          <a:lstStyle/>
          <a:p>
            <a:pPr algn="ctr" indent="0" marL="0">
              <a:buNone/>
            </a:pPr>
            <a:endParaRPr lang="en-US" sz="1000" dirty="0"/>
          </a:p>
        </p:txBody>
      </p:sp>
      <p:sp>
        <p:nvSpPr>
          <p:cNvPr id="9" name="Text 7"/>
          <p:cNvSpPr txBox="1"/>
          <p:nvPr/>
        </p:nvSpPr>
        <p:spPr>
          <a:xfrm>
            <a:off x="1207008" y="3310128"/>
            <a:ext cx="10088575" cy="384048"/>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すでに先行して取り組んでいる自治体があります</a:t>
            </a:r>
            <a:endParaRPr lang="en-US" sz="1450" dirty="0"/>
          </a:p>
        </p:txBody>
      </p:sp>
      <p:sp>
        <p:nvSpPr>
          <p:cNvPr id="10" name="Shape 8"/>
          <p:cNvSpPr/>
          <p:nvPr/>
        </p:nvSpPr>
        <p:spPr>
          <a:xfrm>
            <a:off x="713232" y="3840480"/>
            <a:ext cx="274320" cy="274320"/>
          </a:xfrm>
          <a:prstGeom prst="ellipse">
            <a:avLst/>
          </a:prstGeom>
          <a:solidFill>
            <a:srgbClr val="5C8A4A"/>
          </a:solidFill>
          <a:ln/>
        </p:spPr>
      </p:sp>
      <p:sp>
        <p:nvSpPr>
          <p:cNvPr id="11" name="Text 9"/>
          <p:cNvSpPr txBox="1"/>
          <p:nvPr/>
        </p:nvSpPr>
        <p:spPr>
          <a:xfrm>
            <a:off x="713232" y="3813048"/>
            <a:ext cx="274320" cy="329184"/>
          </a:xfrm>
          <a:prstGeom prst="rect">
            <a:avLst/>
          </a:prstGeom>
          <a:noFill/>
          <a:ln/>
        </p:spPr>
        <p:txBody>
          <a:bodyPr wrap="square" lIns="0" tIns="0" rIns="0" bIns="0" rtlCol="0" anchor="ctr"/>
          <a:lstStyle/>
          <a:p>
            <a:pPr algn="ctr" indent="0" marL="0">
              <a:buNone/>
            </a:pPr>
            <a:endParaRPr lang="en-US" sz="1000" dirty="0"/>
          </a:p>
        </p:txBody>
      </p:sp>
      <p:sp>
        <p:nvSpPr>
          <p:cNvPr id="12" name="Text 10"/>
          <p:cNvSpPr txBox="1"/>
          <p:nvPr/>
        </p:nvSpPr>
        <p:spPr>
          <a:xfrm>
            <a:off x="1207008" y="3822192"/>
            <a:ext cx="10088575" cy="384048"/>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告示を待たずに、今の法令のままでできることがあります</a:t>
            </a:r>
            <a:endParaRPr lang="en-US" sz="1450" dirty="0"/>
          </a:p>
        </p:txBody>
      </p:sp>
      <p:sp>
        <p:nvSpPr>
          <p:cNvPr id="13" name="Shape 11"/>
          <p:cNvSpPr/>
          <p:nvPr/>
        </p:nvSpPr>
        <p:spPr>
          <a:xfrm>
            <a:off x="713232" y="4352544"/>
            <a:ext cx="274320" cy="274320"/>
          </a:xfrm>
          <a:prstGeom prst="ellipse">
            <a:avLst/>
          </a:prstGeom>
          <a:solidFill>
            <a:srgbClr val="5C8A4A"/>
          </a:solidFill>
          <a:ln/>
        </p:spPr>
      </p:sp>
      <p:sp>
        <p:nvSpPr>
          <p:cNvPr id="14" name="Text 12"/>
          <p:cNvSpPr txBox="1"/>
          <p:nvPr/>
        </p:nvSpPr>
        <p:spPr>
          <a:xfrm>
            <a:off x="713232" y="4325112"/>
            <a:ext cx="274320" cy="329184"/>
          </a:xfrm>
          <a:prstGeom prst="rect">
            <a:avLst/>
          </a:prstGeom>
          <a:noFill/>
          <a:ln/>
        </p:spPr>
        <p:txBody>
          <a:bodyPr wrap="square" lIns="0" tIns="0" rIns="0" bIns="0" rtlCol="0" anchor="ctr"/>
          <a:lstStyle/>
          <a:p>
            <a:pPr algn="ctr" indent="0" marL="0">
              <a:buNone/>
            </a:pPr>
            <a:endParaRPr lang="en-US" sz="1000" dirty="0"/>
          </a:p>
        </p:txBody>
      </p:sp>
      <p:sp>
        <p:nvSpPr>
          <p:cNvPr id="15" name="Text 13"/>
          <p:cNvSpPr txBox="1"/>
          <p:nvPr/>
        </p:nvSpPr>
        <p:spPr>
          <a:xfrm>
            <a:off x="1207008" y="4334256"/>
            <a:ext cx="10088575" cy="384048"/>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10の打ち手のうち、まず1つ選んでください</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36</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Ⅳ－1</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発想の転換 ―「増やす」から「組み替える」へ</a:t>
            </a:r>
            <a:endParaRPr lang="en-US" sz="2800" dirty="0"/>
          </a:p>
        </p:txBody>
      </p:sp>
      <p:sp>
        <p:nvSpPr>
          <p:cNvPr id="5" name="Shape 3"/>
          <p:cNvSpPr/>
          <p:nvPr/>
        </p:nvSpPr>
        <p:spPr>
          <a:xfrm>
            <a:off x="640080" y="1554480"/>
            <a:ext cx="5272888" cy="2834640"/>
          </a:xfrm>
          <a:prstGeom prst="roundRect">
            <a:avLst>
              <a:gd name="adj" fmla="val 1935"/>
            </a:avLst>
          </a:prstGeom>
          <a:solidFill>
            <a:srgbClr val="F1F5F2"/>
          </a:solidFill>
          <a:ln/>
        </p:spPr>
      </p:sp>
      <p:sp>
        <p:nvSpPr>
          <p:cNvPr id="6" name="Text 4"/>
          <p:cNvSpPr txBox="1"/>
          <p:nvPr/>
        </p:nvSpPr>
        <p:spPr>
          <a:xfrm>
            <a:off x="1005840" y="1810512"/>
            <a:ext cx="4541368" cy="384048"/>
          </a:xfrm>
          <a:prstGeom prst="rect">
            <a:avLst/>
          </a:prstGeom>
          <a:noFill/>
          <a:ln/>
        </p:spPr>
        <p:txBody>
          <a:bodyPr wrap="square" lIns="0" tIns="0" rIns="0" bIns="0" rtlCol="0" anchor="ctr"/>
          <a:lstStyle/>
          <a:p>
            <a:pPr indent="0" marL="0">
              <a:buNone/>
            </a:pPr>
            <a:r>
              <a:rPr lang="en-US" sz="1800" b="1" dirty="0">
                <a:solidFill>
                  <a:srgbClr val="5B6660"/>
                </a:solidFill>
                <a:latin typeface="Meiryo" pitchFamily="34" charset="0"/>
                <a:ea typeface="Meiryo" pitchFamily="34" charset="-122"/>
                <a:cs typeface="Meiryo" pitchFamily="34" charset="-120"/>
              </a:rPr>
              <a:t>これまでの発想</a:t>
            </a:r>
            <a:endParaRPr lang="en-US" sz="1800" dirty="0"/>
          </a:p>
        </p:txBody>
      </p:sp>
      <p:sp>
        <p:nvSpPr>
          <p:cNvPr id="7" name="Text 5"/>
          <p:cNvSpPr txBox="1"/>
          <p:nvPr/>
        </p:nvSpPr>
        <p:spPr>
          <a:xfrm>
            <a:off x="1005840" y="2359152"/>
            <a:ext cx="4541368" cy="1783080"/>
          </a:xfrm>
          <a:prstGeom prst="rect">
            <a:avLst/>
          </a:prstGeom>
          <a:noFill/>
          <a:ln/>
        </p:spPr>
        <p:txBody>
          <a:bodyPr wrap="square" lIns="0" tIns="0" rIns="0" bIns="0" rtlCol="0" anchor="ctr"/>
          <a:lstStyle/>
          <a:p>
            <a:pPr indent="0" marL="0">
              <a:lnSpc>
                <a:spcPts val="2800"/>
              </a:lnSpc>
              <a:buNone/>
            </a:pPr>
            <a:r>
              <a:rPr lang="en-US" sz="1500" dirty="0">
                <a:solidFill>
                  <a:srgbClr val="5B6660"/>
                </a:solidFill>
                <a:latin typeface="Meiryo" pitchFamily="34" charset="0"/>
                <a:ea typeface="Meiryo" pitchFamily="34" charset="-122"/>
                <a:cs typeface="Meiryo" pitchFamily="34" charset="-120"/>
              </a:rPr>
              <a:t>新しいことが求められた</a:t>
            </a:r>
            <a:endParaRPr lang="en-US" sz="1500" dirty="0"/>
          </a:p>
          <a:p>
            <a:pPr indent="0" marL="0">
              <a:lnSpc>
                <a:spcPts val="2800"/>
              </a:lnSpc>
              <a:buNone/>
            </a:pPr>
            <a:r>
              <a:rPr lang="en-US" sz="1500" dirty="0">
                <a:solidFill>
                  <a:srgbClr val="5B6660"/>
                </a:solidFill>
                <a:latin typeface="Meiryo" pitchFamily="34" charset="0"/>
                <a:ea typeface="Meiryo" pitchFamily="34" charset="-122"/>
                <a:cs typeface="Meiryo" pitchFamily="34" charset="-120"/>
              </a:rPr>
              <a:t>　↓</a:t>
            </a:r>
            <a:endParaRPr lang="en-US" sz="1500" dirty="0"/>
          </a:p>
          <a:p>
            <a:pPr indent="0" marL="0">
              <a:lnSpc>
                <a:spcPts val="2800"/>
              </a:lnSpc>
              <a:buNone/>
            </a:pPr>
            <a:r>
              <a:rPr lang="en-US" sz="1500" dirty="0">
                <a:solidFill>
                  <a:srgbClr val="5B6660"/>
                </a:solidFill>
                <a:latin typeface="Meiryo" pitchFamily="34" charset="0"/>
                <a:ea typeface="Meiryo" pitchFamily="34" charset="-122"/>
                <a:cs typeface="Meiryo" pitchFamily="34" charset="-120"/>
              </a:rPr>
              <a:t>時間を足す・行事を足す</a:t>
            </a:r>
            <a:endParaRPr lang="en-US" sz="1500" dirty="0"/>
          </a:p>
          <a:p>
            <a:pPr indent="0" marL="0">
              <a:lnSpc>
                <a:spcPts val="2800"/>
              </a:lnSpc>
              <a:buNone/>
            </a:pPr>
            <a:r>
              <a:rPr lang="en-US" sz="1500" dirty="0">
                <a:solidFill>
                  <a:srgbClr val="5B6660"/>
                </a:solidFill>
                <a:latin typeface="Meiryo" pitchFamily="34" charset="0"/>
                <a:ea typeface="Meiryo" pitchFamily="34" charset="-122"/>
                <a:cs typeface="Meiryo" pitchFamily="34" charset="-120"/>
              </a:rPr>
              <a:t>　↓</a:t>
            </a:r>
            <a:endParaRPr lang="en-US" sz="1500" dirty="0"/>
          </a:p>
          <a:p>
            <a:pPr indent="0" marL="0">
              <a:lnSpc>
                <a:spcPts val="2800"/>
              </a:lnSpc>
              <a:buNone/>
            </a:pPr>
            <a:r>
              <a:rPr lang="en-US" sz="1500" dirty="0">
                <a:solidFill>
                  <a:srgbClr val="5B6660"/>
                </a:solidFill>
                <a:latin typeface="Meiryo" pitchFamily="34" charset="0"/>
                <a:ea typeface="Meiryo" pitchFamily="34" charset="-122"/>
                <a:cs typeface="Meiryo" pitchFamily="34" charset="-120"/>
              </a:rPr>
              <a:t>現場が回らなくなる</a:t>
            </a:r>
            <a:endParaRPr lang="en-US" sz="1500" dirty="0"/>
          </a:p>
        </p:txBody>
      </p:sp>
      <p:sp>
        <p:nvSpPr>
          <p:cNvPr id="8" name="Shape 6"/>
          <p:cNvSpPr/>
          <p:nvPr/>
        </p:nvSpPr>
        <p:spPr>
          <a:xfrm>
            <a:off x="6278728" y="1554480"/>
            <a:ext cx="5272888" cy="2834640"/>
          </a:xfrm>
          <a:prstGeom prst="roundRect">
            <a:avLst>
              <a:gd name="adj" fmla="val 1935"/>
            </a:avLst>
          </a:prstGeom>
          <a:solidFill>
            <a:srgbClr val="E4EDE6"/>
          </a:solidFill>
          <a:ln/>
        </p:spPr>
      </p:sp>
      <p:sp>
        <p:nvSpPr>
          <p:cNvPr id="9" name="Text 7"/>
          <p:cNvSpPr txBox="1"/>
          <p:nvPr/>
        </p:nvSpPr>
        <p:spPr>
          <a:xfrm>
            <a:off x="6644488" y="1810512"/>
            <a:ext cx="4541368" cy="384048"/>
          </a:xfrm>
          <a:prstGeom prst="rect">
            <a:avLst/>
          </a:prstGeom>
          <a:noFill/>
          <a:ln/>
        </p:spPr>
        <p:txBody>
          <a:bodyPr wrap="square" lIns="0" tIns="0" rIns="0" bIns="0" rtlCol="0" anchor="ctr"/>
          <a:lstStyle/>
          <a:p>
            <a:pPr indent="0" marL="0">
              <a:buNone/>
            </a:pPr>
            <a:r>
              <a:rPr lang="en-US" sz="1800" b="1" dirty="0">
                <a:solidFill>
                  <a:srgbClr val="1F5D4C"/>
                </a:solidFill>
                <a:latin typeface="Meiryo" pitchFamily="34" charset="0"/>
                <a:ea typeface="Meiryo" pitchFamily="34" charset="-122"/>
                <a:cs typeface="Meiryo" pitchFamily="34" charset="-120"/>
              </a:rPr>
              <a:t>これからの発想</a:t>
            </a:r>
            <a:endParaRPr lang="en-US" sz="1800" dirty="0"/>
          </a:p>
        </p:txBody>
      </p:sp>
      <p:sp>
        <p:nvSpPr>
          <p:cNvPr id="10" name="Text 8"/>
          <p:cNvSpPr txBox="1"/>
          <p:nvPr/>
        </p:nvSpPr>
        <p:spPr>
          <a:xfrm>
            <a:off x="6644488" y="2359152"/>
            <a:ext cx="4541368" cy="1783080"/>
          </a:xfrm>
          <a:prstGeom prst="rect">
            <a:avLst/>
          </a:prstGeom>
          <a:noFill/>
          <a:ln/>
        </p:spPr>
        <p:txBody>
          <a:bodyPr wrap="square" lIns="0" tIns="0" rIns="0" bIns="0" rtlCol="0" anchor="ctr"/>
          <a:lstStyle/>
          <a:p>
            <a:pPr indent="0" marL="0">
              <a:lnSpc>
                <a:spcPts val="2800"/>
              </a:lnSpc>
              <a:buNone/>
            </a:pPr>
            <a:r>
              <a:rPr lang="en-US" sz="1500" dirty="0">
                <a:solidFill>
                  <a:srgbClr val="1C2320"/>
                </a:solidFill>
                <a:latin typeface="Meiryo" pitchFamily="34" charset="0"/>
                <a:ea typeface="Meiryo" pitchFamily="34" charset="-122"/>
                <a:cs typeface="Meiryo" pitchFamily="34" charset="-120"/>
              </a:rPr>
              <a:t>自校の重点を決める</a:t>
            </a:r>
            <a:endParaRPr lang="en-US" sz="1500" dirty="0"/>
          </a:p>
          <a:p>
            <a:pPr indent="0" marL="0">
              <a:lnSpc>
                <a:spcPts val="2800"/>
              </a:lnSpc>
              <a:buNone/>
            </a:pPr>
            <a:r>
              <a:rPr lang="en-US" sz="1500" dirty="0">
                <a:solidFill>
                  <a:srgbClr val="1C2320"/>
                </a:solidFill>
                <a:latin typeface="Meiryo" pitchFamily="34" charset="0"/>
                <a:ea typeface="Meiryo" pitchFamily="34" charset="-122"/>
                <a:cs typeface="Meiryo" pitchFamily="34" charset="-120"/>
              </a:rPr>
              <a:t>　↓</a:t>
            </a:r>
            <a:endParaRPr lang="en-US" sz="1500" dirty="0"/>
          </a:p>
          <a:p>
            <a:pPr indent="0" marL="0">
              <a:lnSpc>
                <a:spcPts val="2800"/>
              </a:lnSpc>
              <a:buNone/>
            </a:pPr>
            <a:r>
              <a:rPr lang="en-US" sz="1500" dirty="0">
                <a:solidFill>
                  <a:srgbClr val="1C2320"/>
                </a:solidFill>
                <a:latin typeface="Meiryo" pitchFamily="34" charset="0"/>
                <a:ea typeface="Meiryo" pitchFamily="34" charset="-122"/>
                <a:cs typeface="Meiryo" pitchFamily="34" charset="-120"/>
              </a:rPr>
              <a:t>重点以外を思い切って削る</a:t>
            </a:r>
            <a:endParaRPr lang="en-US" sz="1500" dirty="0"/>
          </a:p>
          <a:p>
            <a:pPr indent="0" marL="0">
              <a:lnSpc>
                <a:spcPts val="2800"/>
              </a:lnSpc>
              <a:buNone/>
            </a:pPr>
            <a:r>
              <a:rPr lang="en-US" sz="1500" dirty="0">
                <a:solidFill>
                  <a:srgbClr val="1C2320"/>
                </a:solidFill>
                <a:latin typeface="Meiryo" pitchFamily="34" charset="0"/>
                <a:ea typeface="Meiryo" pitchFamily="34" charset="-122"/>
                <a:cs typeface="Meiryo" pitchFamily="34" charset="-120"/>
              </a:rPr>
              <a:t>　↓</a:t>
            </a:r>
            <a:endParaRPr lang="en-US" sz="1500" dirty="0"/>
          </a:p>
          <a:p>
            <a:pPr indent="0" marL="0">
              <a:lnSpc>
                <a:spcPts val="2800"/>
              </a:lnSpc>
              <a:buNone/>
            </a:pPr>
            <a:r>
              <a:rPr lang="en-US" sz="1500" dirty="0">
                <a:solidFill>
                  <a:srgbClr val="1C2320"/>
                </a:solidFill>
                <a:latin typeface="Meiryo" pitchFamily="34" charset="0"/>
                <a:ea typeface="Meiryo" pitchFamily="34" charset="-122"/>
                <a:cs typeface="Meiryo" pitchFamily="34" charset="-120"/>
              </a:rPr>
              <a:t>削った時間を重点に寄せる</a:t>
            </a:r>
            <a:endParaRPr lang="en-US" sz="1500" dirty="0"/>
          </a:p>
        </p:txBody>
      </p:sp>
      <p:sp>
        <p:nvSpPr>
          <p:cNvPr id="11" name="Shape 9"/>
          <p:cNvSpPr/>
          <p:nvPr/>
        </p:nvSpPr>
        <p:spPr>
          <a:xfrm>
            <a:off x="640080" y="4572000"/>
            <a:ext cx="10911535" cy="1572768"/>
          </a:xfrm>
          <a:prstGeom prst="roundRect">
            <a:avLst>
              <a:gd name="adj" fmla="val 3488"/>
            </a:avLst>
          </a:prstGeom>
          <a:solidFill>
            <a:srgbClr val="14312A"/>
          </a:solidFill>
          <a:ln/>
        </p:spPr>
      </p:sp>
      <p:sp>
        <p:nvSpPr>
          <p:cNvPr id="12" name="Text 10"/>
          <p:cNvSpPr txBox="1"/>
          <p:nvPr/>
        </p:nvSpPr>
        <p:spPr>
          <a:xfrm>
            <a:off x="1143000" y="4828032"/>
            <a:ext cx="9905695" cy="4572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「何を減らすか」を決められるのは、校長だけです。</a:t>
            </a:r>
            <a:endParaRPr lang="en-US" sz="2200" dirty="0"/>
          </a:p>
        </p:txBody>
      </p:sp>
      <p:sp>
        <p:nvSpPr>
          <p:cNvPr id="13" name="Text 11"/>
          <p:cNvSpPr txBox="1"/>
          <p:nvPr/>
        </p:nvSpPr>
        <p:spPr>
          <a:xfrm>
            <a:off x="1143000" y="5358384"/>
            <a:ext cx="9905695" cy="640080"/>
          </a:xfrm>
          <a:prstGeom prst="rect">
            <a:avLst/>
          </a:prstGeom>
          <a:noFill/>
          <a:ln/>
        </p:spPr>
        <p:txBody>
          <a:bodyPr wrap="square" lIns="0" tIns="0" rIns="0" bIns="0" rtlCol="0" anchor="ctr"/>
          <a:lstStyle/>
          <a:p>
            <a:pPr indent="0" marL="0">
              <a:lnSpc>
                <a:spcPts val="2100"/>
              </a:lnSpc>
              <a:buNone/>
            </a:pPr>
            <a:r>
              <a:rPr lang="en-US" sz="1350" dirty="0">
                <a:solidFill>
                  <a:srgbClr val="AFC5B6"/>
                </a:solidFill>
                <a:latin typeface="Meiryo" pitchFamily="34" charset="0"/>
                <a:ea typeface="Meiryo" pitchFamily="34" charset="-122"/>
                <a:cs typeface="Meiryo" pitchFamily="34" charset="-120"/>
              </a:rPr>
              <a:t>職員は、自分の担当を自分から減らすとは言い出しにくいものです。減らす判断を引き受けることが、</a:t>
            </a:r>
            <a:endParaRPr lang="en-US" sz="1350" dirty="0"/>
          </a:p>
          <a:p>
            <a:pPr indent="0" marL="0">
              <a:lnSpc>
                <a:spcPts val="2100"/>
              </a:lnSpc>
              <a:buNone/>
            </a:pPr>
            <a:r>
              <a:rPr lang="en-US" sz="1350" dirty="0">
                <a:solidFill>
                  <a:srgbClr val="AFC5B6"/>
                </a:solidFill>
                <a:latin typeface="Meiryo" pitchFamily="34" charset="0"/>
                <a:ea typeface="Meiryo" pitchFamily="34" charset="-122"/>
                <a:cs typeface="Meiryo" pitchFamily="34" charset="-120"/>
              </a:rPr>
              <a:t>結果として職員に余白を渡すことになります。</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37</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Ⅳ－2</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先行事例① 渋谷区 ― 授業時数特例校制度の活用</a:t>
            </a:r>
            <a:endParaRPr lang="en-US" sz="2800" dirty="0"/>
          </a:p>
        </p:txBody>
      </p:sp>
      <p:sp>
        <p:nvSpPr>
          <p:cNvPr id="5" name="Shape 3"/>
          <p:cNvSpPr/>
          <p:nvPr/>
        </p:nvSpPr>
        <p:spPr>
          <a:xfrm>
            <a:off x="640080" y="1536192"/>
            <a:ext cx="10911535" cy="1170432"/>
          </a:xfrm>
          <a:prstGeom prst="roundRect">
            <a:avLst>
              <a:gd name="adj" fmla="val 4688"/>
            </a:avLst>
          </a:prstGeom>
          <a:solidFill>
            <a:srgbClr val="E4EDE6"/>
          </a:solidFill>
          <a:ln/>
        </p:spPr>
      </p:sp>
      <p:sp>
        <p:nvSpPr>
          <p:cNvPr id="6" name="Shape 4"/>
          <p:cNvSpPr/>
          <p:nvPr/>
        </p:nvSpPr>
        <p:spPr>
          <a:xfrm>
            <a:off x="1024128" y="1810512"/>
            <a:ext cx="603504" cy="603504"/>
          </a:xfrm>
          <a:prstGeom prst="ellipse">
            <a:avLst/>
          </a:prstGeom>
          <a:solidFill>
            <a:srgbClr val="1F5D4C"/>
          </a:solidFill>
          <a:ln/>
        </p:spPr>
      </p:sp>
      <p:sp>
        <p:nvSpPr>
          <p:cNvPr id="7" name="Text 5"/>
          <p:cNvSpPr txBox="1"/>
          <p:nvPr/>
        </p:nvSpPr>
        <p:spPr>
          <a:xfrm>
            <a:off x="1024128" y="1947672"/>
            <a:ext cx="603504"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渋</a:t>
            </a:r>
            <a:endParaRPr lang="en-US" sz="2000" dirty="0"/>
          </a:p>
        </p:txBody>
      </p:sp>
      <p:sp>
        <p:nvSpPr>
          <p:cNvPr id="8" name="Text 6"/>
          <p:cNvSpPr txBox="1"/>
          <p:nvPr/>
        </p:nvSpPr>
        <p:spPr>
          <a:xfrm>
            <a:off x="1810512" y="1901952"/>
            <a:ext cx="9265615" cy="457200"/>
          </a:xfrm>
          <a:prstGeom prst="rect">
            <a:avLst/>
          </a:prstGeom>
          <a:noFill/>
          <a:ln/>
        </p:spPr>
        <p:txBody>
          <a:bodyPr wrap="square" lIns="0" tIns="0" rIns="0" bIns="0" rtlCol="0" anchor="ctr"/>
          <a:lstStyle/>
          <a:p>
            <a:pPr indent="0" marL="0">
              <a:buNone/>
            </a:pPr>
            <a:r>
              <a:rPr lang="en-US" sz="2000" b="1" dirty="0">
                <a:solidFill>
                  <a:srgbClr val="14312A"/>
                </a:solidFill>
                <a:latin typeface="Meiryo" pitchFamily="34" charset="0"/>
                <a:ea typeface="Meiryo" pitchFamily="34" charset="-122"/>
                <a:cs typeface="Meiryo" pitchFamily="34" charset="-120"/>
              </a:rPr>
              <a:t>各教科の授業時数を1割程度削減し、探究的な学習に割り当てる</a:t>
            </a:r>
            <a:endParaRPr lang="en-US" sz="2000" dirty="0"/>
          </a:p>
        </p:txBody>
      </p:sp>
      <p:sp>
        <p:nvSpPr>
          <p:cNvPr id="9" name="Shape 7"/>
          <p:cNvSpPr/>
          <p:nvPr/>
        </p:nvSpPr>
        <p:spPr>
          <a:xfrm>
            <a:off x="640080" y="2761488"/>
            <a:ext cx="10911535" cy="640080"/>
          </a:xfrm>
          <a:prstGeom prst="roundRect">
            <a:avLst>
              <a:gd name="adj" fmla="val 8571"/>
            </a:avLst>
          </a:prstGeom>
          <a:solidFill>
            <a:srgbClr val="F1F5F2"/>
          </a:solidFill>
          <a:ln/>
        </p:spPr>
      </p:sp>
      <p:sp>
        <p:nvSpPr>
          <p:cNvPr id="10" name="Text 8"/>
          <p:cNvSpPr txBox="1"/>
          <p:nvPr/>
        </p:nvSpPr>
        <p:spPr>
          <a:xfrm>
            <a:off x="960120" y="2935224"/>
            <a:ext cx="2743200" cy="347472"/>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使った制度</a:t>
            </a:r>
            <a:endParaRPr lang="en-US" sz="1400" dirty="0"/>
          </a:p>
        </p:txBody>
      </p:sp>
      <p:sp>
        <p:nvSpPr>
          <p:cNvPr id="11" name="Text 9"/>
          <p:cNvSpPr txBox="1"/>
          <p:nvPr/>
        </p:nvSpPr>
        <p:spPr>
          <a:xfrm>
            <a:off x="3886200" y="2935224"/>
            <a:ext cx="7345375" cy="347472"/>
          </a:xfrm>
          <a:prstGeom prst="rect">
            <a:avLst/>
          </a:prstGeom>
          <a:noFill/>
          <a:ln/>
        </p:spPr>
        <p:txBody>
          <a:bodyPr wrap="square" lIns="0" tIns="0" rIns="0" bIns="0" rtlCol="0" anchor="ctr"/>
          <a:lstStyle/>
          <a:p>
            <a:pPr indent="0" marL="0">
              <a:buNone/>
            </a:pPr>
            <a:r>
              <a:rPr lang="en-US" sz="1500" dirty="0">
                <a:solidFill>
                  <a:srgbClr val="14312A"/>
                </a:solidFill>
                <a:latin typeface="Meiryo" pitchFamily="34" charset="0"/>
                <a:ea typeface="Meiryo" pitchFamily="34" charset="-122"/>
                <a:cs typeface="Meiryo" pitchFamily="34" charset="-120"/>
              </a:rPr>
              <a:t>授業時数特例校制度（現行制度）</a:t>
            </a:r>
            <a:endParaRPr lang="en-US" sz="1500" dirty="0"/>
          </a:p>
        </p:txBody>
      </p:sp>
      <p:sp>
        <p:nvSpPr>
          <p:cNvPr id="12" name="Shape 10"/>
          <p:cNvSpPr/>
          <p:nvPr/>
        </p:nvSpPr>
        <p:spPr>
          <a:xfrm>
            <a:off x="640080" y="3456432"/>
            <a:ext cx="10911535" cy="640080"/>
          </a:xfrm>
          <a:prstGeom prst="roundRect">
            <a:avLst>
              <a:gd name="adj" fmla="val 8571"/>
            </a:avLst>
          </a:prstGeom>
          <a:solidFill>
            <a:srgbClr val="F1F5F2"/>
          </a:solidFill>
          <a:ln/>
        </p:spPr>
      </p:sp>
      <p:sp>
        <p:nvSpPr>
          <p:cNvPr id="13" name="Text 11"/>
          <p:cNvSpPr txBox="1"/>
          <p:nvPr/>
        </p:nvSpPr>
        <p:spPr>
          <a:xfrm>
            <a:off x="960120" y="3630168"/>
            <a:ext cx="2743200" cy="347472"/>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削減の幅</a:t>
            </a:r>
            <a:endParaRPr lang="en-US" sz="1400" dirty="0"/>
          </a:p>
        </p:txBody>
      </p:sp>
      <p:sp>
        <p:nvSpPr>
          <p:cNvPr id="14" name="Text 12"/>
          <p:cNvSpPr txBox="1"/>
          <p:nvPr/>
        </p:nvSpPr>
        <p:spPr>
          <a:xfrm>
            <a:off x="3886200" y="3630168"/>
            <a:ext cx="7345375" cy="347472"/>
          </a:xfrm>
          <a:prstGeom prst="rect">
            <a:avLst/>
          </a:prstGeom>
          <a:noFill/>
          <a:ln/>
        </p:spPr>
        <p:txBody>
          <a:bodyPr wrap="square" lIns="0" tIns="0" rIns="0" bIns="0" rtlCol="0" anchor="ctr"/>
          <a:lstStyle/>
          <a:p>
            <a:pPr indent="0" marL="0">
              <a:buNone/>
            </a:pPr>
            <a:r>
              <a:rPr lang="en-US" sz="1500" dirty="0">
                <a:solidFill>
                  <a:srgbClr val="14312A"/>
                </a:solidFill>
                <a:latin typeface="Meiryo" pitchFamily="34" charset="0"/>
                <a:ea typeface="Meiryo" pitchFamily="34" charset="-122"/>
                <a:cs typeface="Meiryo" pitchFamily="34" charset="-120"/>
              </a:rPr>
              <a:t>各教科 1割程度</a:t>
            </a:r>
            <a:endParaRPr lang="en-US" sz="1500" dirty="0"/>
          </a:p>
        </p:txBody>
      </p:sp>
      <p:sp>
        <p:nvSpPr>
          <p:cNvPr id="15" name="Shape 13"/>
          <p:cNvSpPr/>
          <p:nvPr/>
        </p:nvSpPr>
        <p:spPr>
          <a:xfrm>
            <a:off x="640080" y="4151376"/>
            <a:ext cx="10911535" cy="640080"/>
          </a:xfrm>
          <a:prstGeom prst="roundRect">
            <a:avLst>
              <a:gd name="adj" fmla="val 8571"/>
            </a:avLst>
          </a:prstGeom>
          <a:solidFill>
            <a:srgbClr val="F1F5F2"/>
          </a:solidFill>
          <a:ln/>
        </p:spPr>
      </p:sp>
      <p:sp>
        <p:nvSpPr>
          <p:cNvPr id="16" name="Text 14"/>
          <p:cNvSpPr txBox="1"/>
          <p:nvPr/>
        </p:nvSpPr>
        <p:spPr>
          <a:xfrm>
            <a:off x="960120" y="4325112"/>
            <a:ext cx="2743200" cy="347472"/>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振り向け先</a:t>
            </a:r>
            <a:endParaRPr lang="en-US" sz="1400" dirty="0"/>
          </a:p>
        </p:txBody>
      </p:sp>
      <p:sp>
        <p:nvSpPr>
          <p:cNvPr id="17" name="Text 15"/>
          <p:cNvSpPr txBox="1"/>
          <p:nvPr/>
        </p:nvSpPr>
        <p:spPr>
          <a:xfrm>
            <a:off x="3886200" y="4325112"/>
            <a:ext cx="7345375" cy="347472"/>
          </a:xfrm>
          <a:prstGeom prst="rect">
            <a:avLst/>
          </a:prstGeom>
          <a:noFill/>
          <a:ln/>
        </p:spPr>
        <p:txBody>
          <a:bodyPr wrap="square" lIns="0" tIns="0" rIns="0" bIns="0" rtlCol="0" anchor="ctr"/>
          <a:lstStyle/>
          <a:p>
            <a:pPr indent="0" marL="0">
              <a:buNone/>
            </a:pPr>
            <a:r>
              <a:rPr lang="en-US" sz="1500" dirty="0">
                <a:solidFill>
                  <a:srgbClr val="14312A"/>
                </a:solidFill>
                <a:latin typeface="Meiryo" pitchFamily="34" charset="0"/>
                <a:ea typeface="Meiryo" pitchFamily="34" charset="-122"/>
                <a:cs typeface="Meiryo" pitchFamily="34" charset="-120"/>
              </a:rPr>
              <a:t>探究的な学習</a:t>
            </a:r>
            <a:endParaRPr lang="en-US" sz="1500" dirty="0"/>
          </a:p>
        </p:txBody>
      </p:sp>
      <p:sp>
        <p:nvSpPr>
          <p:cNvPr id="18" name="Shape 16"/>
          <p:cNvSpPr/>
          <p:nvPr/>
        </p:nvSpPr>
        <p:spPr>
          <a:xfrm>
            <a:off x="640080" y="4846320"/>
            <a:ext cx="10911535" cy="640080"/>
          </a:xfrm>
          <a:prstGeom prst="roundRect">
            <a:avLst>
              <a:gd name="adj" fmla="val 8571"/>
            </a:avLst>
          </a:prstGeom>
          <a:solidFill>
            <a:srgbClr val="E4EDE6"/>
          </a:solidFill>
          <a:ln/>
        </p:spPr>
      </p:sp>
      <p:sp>
        <p:nvSpPr>
          <p:cNvPr id="19" name="Text 17"/>
          <p:cNvSpPr txBox="1"/>
          <p:nvPr/>
        </p:nvSpPr>
        <p:spPr>
          <a:xfrm>
            <a:off x="960120" y="5020056"/>
            <a:ext cx="2743200" cy="347472"/>
          </a:xfrm>
          <a:prstGeom prst="rect">
            <a:avLst/>
          </a:prstGeom>
          <a:noFill/>
          <a:ln/>
        </p:spPr>
        <p:txBody>
          <a:bodyPr wrap="square" lIns="0" tIns="0" rIns="0" bIns="0" rtlCol="0" anchor="ctr"/>
          <a:lstStyle/>
          <a:p>
            <a:pPr indent="0" marL="0">
              <a:buNone/>
            </a:pPr>
            <a:r>
              <a:rPr lang="en-US" sz="1400" b="1" dirty="0">
                <a:solidFill>
                  <a:srgbClr val="B26B1B"/>
                </a:solidFill>
                <a:latin typeface="Meiryo" pitchFamily="34" charset="0"/>
                <a:ea typeface="Meiryo" pitchFamily="34" charset="-122"/>
                <a:cs typeface="Meiryo" pitchFamily="34" charset="-120"/>
              </a:rPr>
              <a:t>示していること</a:t>
            </a:r>
            <a:endParaRPr lang="en-US" sz="1400" dirty="0"/>
          </a:p>
        </p:txBody>
      </p:sp>
      <p:sp>
        <p:nvSpPr>
          <p:cNvPr id="20" name="Text 18"/>
          <p:cNvSpPr txBox="1"/>
          <p:nvPr/>
        </p:nvSpPr>
        <p:spPr>
          <a:xfrm>
            <a:off x="3886200" y="5020056"/>
            <a:ext cx="7345375" cy="347472"/>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今の制度のままでも、すでに実行できる</a:t>
            </a:r>
            <a:endParaRPr lang="en-US" sz="1500" dirty="0"/>
          </a:p>
        </p:txBody>
      </p:sp>
      <p:sp>
        <p:nvSpPr>
          <p:cNvPr id="21" name="Shape 19"/>
          <p:cNvSpPr/>
          <p:nvPr/>
        </p:nvSpPr>
        <p:spPr>
          <a:xfrm>
            <a:off x="640080" y="5760720"/>
            <a:ext cx="10911535" cy="621792"/>
          </a:xfrm>
          <a:prstGeom prst="roundRect">
            <a:avLst>
              <a:gd name="adj" fmla="val 8824"/>
            </a:avLst>
          </a:prstGeom>
          <a:solidFill>
            <a:srgbClr val="14312A"/>
          </a:solidFill>
          <a:ln/>
        </p:spPr>
      </p:sp>
      <p:sp>
        <p:nvSpPr>
          <p:cNvPr id="22" name="Text 20"/>
          <p:cNvSpPr txBox="1"/>
          <p:nvPr/>
        </p:nvSpPr>
        <p:spPr>
          <a:xfrm>
            <a:off x="1097280" y="5916168"/>
            <a:ext cx="9997135" cy="347472"/>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調整授業時数制度は、この延長線上にあります。先行事例はすでにあります。</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38</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Ⅳ－3</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先行事例② 目黒区 ― 単位時間の短縮</a:t>
            </a:r>
            <a:endParaRPr lang="en-US" sz="2800" dirty="0"/>
          </a:p>
        </p:txBody>
      </p:sp>
      <p:sp>
        <p:nvSpPr>
          <p:cNvPr id="5" name="Shape 3"/>
          <p:cNvSpPr/>
          <p:nvPr/>
        </p:nvSpPr>
        <p:spPr>
          <a:xfrm>
            <a:off x="640080" y="1536192"/>
            <a:ext cx="10911535" cy="1170432"/>
          </a:xfrm>
          <a:prstGeom prst="roundRect">
            <a:avLst>
              <a:gd name="adj" fmla="val 4688"/>
            </a:avLst>
          </a:prstGeom>
          <a:solidFill>
            <a:srgbClr val="E4EDE6"/>
          </a:solidFill>
          <a:ln/>
        </p:spPr>
      </p:sp>
      <p:sp>
        <p:nvSpPr>
          <p:cNvPr id="6" name="Shape 4"/>
          <p:cNvSpPr/>
          <p:nvPr/>
        </p:nvSpPr>
        <p:spPr>
          <a:xfrm>
            <a:off x="1024128" y="1810512"/>
            <a:ext cx="603504" cy="603504"/>
          </a:xfrm>
          <a:prstGeom prst="ellipse">
            <a:avLst/>
          </a:prstGeom>
          <a:solidFill>
            <a:srgbClr val="5C8A4A"/>
          </a:solidFill>
          <a:ln/>
        </p:spPr>
      </p:sp>
      <p:sp>
        <p:nvSpPr>
          <p:cNvPr id="7" name="Text 5"/>
          <p:cNvSpPr txBox="1"/>
          <p:nvPr/>
        </p:nvSpPr>
        <p:spPr>
          <a:xfrm>
            <a:off x="1024128" y="1947672"/>
            <a:ext cx="603504"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目</a:t>
            </a:r>
            <a:endParaRPr lang="en-US" sz="2000" dirty="0"/>
          </a:p>
        </p:txBody>
      </p:sp>
      <p:sp>
        <p:nvSpPr>
          <p:cNvPr id="8" name="Text 6"/>
          <p:cNvSpPr txBox="1"/>
          <p:nvPr/>
        </p:nvSpPr>
        <p:spPr>
          <a:xfrm>
            <a:off x="1810512" y="1901952"/>
            <a:ext cx="9265615" cy="457200"/>
          </a:xfrm>
          <a:prstGeom prst="rect">
            <a:avLst/>
          </a:prstGeom>
          <a:noFill/>
          <a:ln/>
        </p:spPr>
        <p:txBody>
          <a:bodyPr wrap="square" lIns="0" tIns="0" rIns="0" bIns="0" rtlCol="0" anchor="ctr"/>
          <a:lstStyle/>
          <a:p>
            <a:pPr indent="0" marL="0">
              <a:buNone/>
            </a:pPr>
            <a:r>
              <a:rPr lang="en-US" sz="2000" b="1" dirty="0">
                <a:solidFill>
                  <a:srgbClr val="14312A"/>
                </a:solidFill>
                <a:latin typeface="Meiryo" pitchFamily="34" charset="0"/>
                <a:ea typeface="Meiryo" pitchFamily="34" charset="-122"/>
                <a:cs typeface="Meiryo" pitchFamily="34" charset="-120"/>
              </a:rPr>
              <a:t>小学校の1単位時間を45分から40分に短縮し、積み上げた時間を活用</a:t>
            </a:r>
            <a:endParaRPr lang="en-US" sz="2000" dirty="0"/>
          </a:p>
        </p:txBody>
      </p:sp>
      <p:sp>
        <p:nvSpPr>
          <p:cNvPr id="9" name="Shape 7"/>
          <p:cNvSpPr/>
          <p:nvPr/>
        </p:nvSpPr>
        <p:spPr>
          <a:xfrm>
            <a:off x="640080" y="2889504"/>
            <a:ext cx="5120640" cy="1371600"/>
          </a:xfrm>
          <a:prstGeom prst="roundRect">
            <a:avLst>
              <a:gd name="adj" fmla="val 4000"/>
            </a:avLst>
          </a:prstGeom>
          <a:solidFill>
            <a:srgbClr val="F1F5F2"/>
          </a:solidFill>
          <a:ln/>
        </p:spPr>
      </p:sp>
      <p:sp>
        <p:nvSpPr>
          <p:cNvPr id="10" name="Text 8"/>
          <p:cNvSpPr txBox="1"/>
          <p:nvPr/>
        </p:nvSpPr>
        <p:spPr>
          <a:xfrm>
            <a:off x="960120" y="3108960"/>
            <a:ext cx="4572000" cy="347472"/>
          </a:xfrm>
          <a:prstGeom prst="rect">
            <a:avLst/>
          </a:prstGeom>
          <a:noFill/>
          <a:ln/>
        </p:spPr>
        <p:txBody>
          <a:bodyPr wrap="square" lIns="0" tIns="0" rIns="0" bIns="0" rtlCol="0" anchor="ctr"/>
          <a:lstStyle/>
          <a:p>
            <a:pPr indent="0" marL="0">
              <a:buNone/>
            </a:pPr>
            <a:r>
              <a:rPr lang="en-US" sz="1500" b="1" dirty="0">
                <a:solidFill>
                  <a:srgbClr val="5B6660"/>
                </a:solidFill>
                <a:latin typeface="Meiryo" pitchFamily="34" charset="0"/>
                <a:ea typeface="Meiryo" pitchFamily="34" charset="-122"/>
                <a:cs typeface="Meiryo" pitchFamily="34" charset="-120"/>
              </a:rPr>
              <a:t>1コマ 5分 × 積み重ね</a:t>
            </a:r>
            <a:endParaRPr lang="en-US" sz="1500" dirty="0"/>
          </a:p>
        </p:txBody>
      </p:sp>
      <p:sp>
        <p:nvSpPr>
          <p:cNvPr id="11" name="Text 9"/>
          <p:cNvSpPr txBox="1"/>
          <p:nvPr/>
        </p:nvSpPr>
        <p:spPr>
          <a:xfrm>
            <a:off x="960120" y="3529584"/>
            <a:ext cx="4572000" cy="566928"/>
          </a:xfrm>
          <a:prstGeom prst="rect">
            <a:avLst/>
          </a:prstGeom>
          <a:noFill/>
          <a:ln/>
        </p:spPr>
        <p:txBody>
          <a:bodyPr wrap="square" lIns="0" tIns="0" rIns="0" bIns="0" rtlCol="0" anchor="ctr"/>
          <a:lstStyle/>
          <a:p>
            <a:pPr indent="0" marL="0">
              <a:lnSpc>
                <a:spcPts val="1900"/>
              </a:lnSpc>
              <a:buNone/>
            </a:pPr>
            <a:r>
              <a:rPr lang="en-US" sz="1300" dirty="0">
                <a:solidFill>
                  <a:srgbClr val="1C2320"/>
                </a:solidFill>
                <a:latin typeface="Meiryo" pitchFamily="34" charset="0"/>
                <a:ea typeface="Meiryo" pitchFamily="34" charset="-122"/>
                <a:cs typeface="Meiryo" pitchFamily="34" charset="-120"/>
              </a:rPr>
              <a:t>日々のわずかな短縮が、年間ではまとまった時間になります。</a:t>
            </a:r>
            <a:endParaRPr lang="en-US" sz="1300" dirty="0"/>
          </a:p>
        </p:txBody>
      </p:sp>
      <p:sp>
        <p:nvSpPr>
          <p:cNvPr id="12" name="Text 10"/>
          <p:cNvSpPr txBox="1"/>
          <p:nvPr/>
        </p:nvSpPr>
        <p:spPr>
          <a:xfrm>
            <a:off x="5897880" y="3401568"/>
            <a:ext cx="548640" cy="365760"/>
          </a:xfrm>
          <a:prstGeom prst="rect">
            <a:avLst/>
          </a:prstGeom>
          <a:noFill/>
          <a:ln/>
        </p:spPr>
        <p:txBody>
          <a:bodyPr wrap="square" lIns="0" tIns="0" rIns="0" bIns="0" rtlCol="0" anchor="ctr"/>
          <a:lstStyle/>
          <a:p>
            <a:pPr algn="ctr" indent="0" marL="0">
              <a:buNone/>
            </a:pPr>
            <a:r>
              <a:rPr lang="en-US" sz="2000" dirty="0">
                <a:solidFill>
                  <a:srgbClr val="7FA86B"/>
                </a:solidFill>
                <a:latin typeface="Meiryo" pitchFamily="34" charset="0"/>
                <a:ea typeface="Meiryo" pitchFamily="34" charset="-122"/>
                <a:cs typeface="Meiryo" pitchFamily="34" charset="-120"/>
              </a:rPr>
              <a:t>▶</a:t>
            </a:r>
            <a:endParaRPr lang="en-US" sz="2000" dirty="0"/>
          </a:p>
        </p:txBody>
      </p:sp>
      <p:sp>
        <p:nvSpPr>
          <p:cNvPr id="13" name="Shape 11"/>
          <p:cNvSpPr/>
          <p:nvPr/>
        </p:nvSpPr>
        <p:spPr>
          <a:xfrm>
            <a:off x="6583680" y="2889504"/>
            <a:ext cx="1572768" cy="1371600"/>
          </a:xfrm>
          <a:prstGeom prst="roundRect">
            <a:avLst>
              <a:gd name="adj" fmla="val 4000"/>
            </a:avLst>
          </a:prstGeom>
          <a:solidFill>
            <a:srgbClr val="1F5D4C"/>
          </a:solidFill>
          <a:ln/>
        </p:spPr>
      </p:sp>
      <p:sp>
        <p:nvSpPr>
          <p:cNvPr id="14" name="Text 12"/>
          <p:cNvSpPr txBox="1"/>
          <p:nvPr/>
        </p:nvSpPr>
        <p:spPr>
          <a:xfrm>
            <a:off x="6675120" y="3383280"/>
            <a:ext cx="13898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特色ある活動</a:t>
            </a:r>
            <a:endParaRPr lang="en-US" sz="1400" dirty="0"/>
          </a:p>
        </p:txBody>
      </p:sp>
      <p:sp>
        <p:nvSpPr>
          <p:cNvPr id="15" name="Shape 13"/>
          <p:cNvSpPr/>
          <p:nvPr/>
        </p:nvSpPr>
        <p:spPr>
          <a:xfrm>
            <a:off x="8266176" y="2889504"/>
            <a:ext cx="1572768" cy="1371600"/>
          </a:xfrm>
          <a:prstGeom prst="roundRect">
            <a:avLst>
              <a:gd name="adj" fmla="val 4000"/>
            </a:avLst>
          </a:prstGeom>
          <a:solidFill>
            <a:srgbClr val="1F5D4C"/>
          </a:solidFill>
          <a:ln/>
        </p:spPr>
      </p:sp>
      <p:sp>
        <p:nvSpPr>
          <p:cNvPr id="16" name="Text 14"/>
          <p:cNvSpPr txBox="1"/>
          <p:nvPr/>
        </p:nvSpPr>
        <p:spPr>
          <a:xfrm>
            <a:off x="8357616" y="3383280"/>
            <a:ext cx="13898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教材研究</a:t>
            </a:r>
            <a:endParaRPr lang="en-US" sz="1400" dirty="0"/>
          </a:p>
        </p:txBody>
      </p:sp>
      <p:sp>
        <p:nvSpPr>
          <p:cNvPr id="17" name="Shape 15"/>
          <p:cNvSpPr/>
          <p:nvPr/>
        </p:nvSpPr>
        <p:spPr>
          <a:xfrm>
            <a:off x="9948672" y="2889504"/>
            <a:ext cx="1572768" cy="1371600"/>
          </a:xfrm>
          <a:prstGeom prst="roundRect">
            <a:avLst>
              <a:gd name="adj" fmla="val 4000"/>
            </a:avLst>
          </a:prstGeom>
          <a:solidFill>
            <a:srgbClr val="1F5D4C"/>
          </a:solidFill>
          <a:ln/>
        </p:spPr>
      </p:sp>
      <p:sp>
        <p:nvSpPr>
          <p:cNvPr id="18" name="Text 16"/>
          <p:cNvSpPr txBox="1"/>
          <p:nvPr/>
        </p:nvSpPr>
        <p:spPr>
          <a:xfrm>
            <a:off x="10040112" y="3383280"/>
            <a:ext cx="13898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教員の研修</a:t>
            </a:r>
            <a:endParaRPr lang="en-US" sz="1400" dirty="0"/>
          </a:p>
        </p:txBody>
      </p:sp>
      <p:sp>
        <p:nvSpPr>
          <p:cNvPr id="19" name="Shape 17"/>
          <p:cNvSpPr/>
          <p:nvPr/>
        </p:nvSpPr>
        <p:spPr>
          <a:xfrm>
            <a:off x="640080" y="4498848"/>
            <a:ext cx="10911535" cy="822960"/>
          </a:xfrm>
          <a:prstGeom prst="roundRect">
            <a:avLst>
              <a:gd name="adj" fmla="val 6667"/>
            </a:avLst>
          </a:prstGeom>
          <a:solidFill>
            <a:srgbClr val="F1F5F2"/>
          </a:solidFill>
          <a:ln/>
        </p:spPr>
      </p:sp>
      <p:sp>
        <p:nvSpPr>
          <p:cNvPr id="20" name="Text 18"/>
          <p:cNvSpPr txBox="1"/>
          <p:nvPr/>
        </p:nvSpPr>
        <p:spPr>
          <a:xfrm>
            <a:off x="1051560" y="4700016"/>
            <a:ext cx="10088575" cy="420624"/>
          </a:xfrm>
          <a:prstGeom prst="rect">
            <a:avLst/>
          </a:prstGeom>
          <a:noFill/>
          <a:ln/>
        </p:spPr>
        <p:txBody>
          <a:bodyPr wrap="square" lIns="0" tIns="0" rIns="0" bIns="0" rtlCol="0" anchor="ctr"/>
          <a:lstStyle/>
          <a:p>
            <a:pPr indent="0" marL="0">
              <a:buNone/>
            </a:pPr>
            <a:r>
              <a:rPr lang="en-US" sz="1400" dirty="0">
                <a:solidFill>
                  <a:srgbClr val="1C2320"/>
                </a:solidFill>
                <a:latin typeface="Meiryo" pitchFamily="34" charset="0"/>
                <a:ea typeface="Meiryo" pitchFamily="34" charset="-122"/>
                <a:cs typeface="Meiryo" pitchFamily="34" charset="-120"/>
              </a:rPr>
              <a:t>使った制度：研究開発学校制度　／　振り向け先に「教材研究」「研修」が入っている点に注目</a:t>
            </a:r>
            <a:endParaRPr lang="en-US" sz="1400" dirty="0"/>
          </a:p>
        </p:txBody>
      </p:sp>
      <p:sp>
        <p:nvSpPr>
          <p:cNvPr id="21" name="Shape 19"/>
          <p:cNvSpPr/>
          <p:nvPr/>
        </p:nvSpPr>
        <p:spPr>
          <a:xfrm>
            <a:off x="640080" y="5486400"/>
            <a:ext cx="10911535" cy="749808"/>
          </a:xfrm>
          <a:prstGeom prst="roundRect">
            <a:avLst>
              <a:gd name="adj" fmla="val 7317"/>
            </a:avLst>
          </a:prstGeom>
          <a:solidFill>
            <a:srgbClr val="14312A"/>
          </a:solidFill>
          <a:ln/>
        </p:spPr>
      </p:sp>
      <p:sp>
        <p:nvSpPr>
          <p:cNvPr id="22" name="Text 20"/>
          <p:cNvSpPr txBox="1"/>
          <p:nvPr/>
        </p:nvSpPr>
        <p:spPr>
          <a:xfrm>
            <a:off x="1097280" y="5687568"/>
            <a:ext cx="9997135" cy="384048"/>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「子供のため」と「教職員の余白」は、両立させられます。</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39</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Ⅳ－4</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自校でできる10の打ち手</a:t>
            </a:r>
            <a:endParaRPr lang="en-US" sz="2800" dirty="0"/>
          </a:p>
        </p:txBody>
      </p:sp>
      <p:sp>
        <p:nvSpPr>
          <p:cNvPr id="5" name="Shape 3"/>
          <p:cNvSpPr/>
          <p:nvPr/>
        </p:nvSpPr>
        <p:spPr>
          <a:xfrm>
            <a:off x="640080" y="1481328"/>
            <a:ext cx="5318608" cy="822960"/>
          </a:xfrm>
          <a:prstGeom prst="roundRect">
            <a:avLst>
              <a:gd name="adj" fmla="val 6667"/>
            </a:avLst>
          </a:prstGeom>
          <a:solidFill>
            <a:srgbClr val="F1F5F2"/>
          </a:solidFill>
          <a:ln/>
        </p:spPr>
      </p:sp>
      <p:sp>
        <p:nvSpPr>
          <p:cNvPr id="6" name="Shape 4"/>
          <p:cNvSpPr/>
          <p:nvPr/>
        </p:nvSpPr>
        <p:spPr>
          <a:xfrm>
            <a:off x="859536" y="1673352"/>
            <a:ext cx="438912" cy="438912"/>
          </a:xfrm>
          <a:prstGeom prst="ellipse">
            <a:avLst/>
          </a:prstGeom>
          <a:solidFill>
            <a:srgbClr val="1F5D4C"/>
          </a:solidFill>
          <a:ln/>
        </p:spPr>
      </p:sp>
      <p:sp>
        <p:nvSpPr>
          <p:cNvPr id="7" name="Text 5"/>
          <p:cNvSpPr txBox="1"/>
          <p:nvPr/>
        </p:nvSpPr>
        <p:spPr>
          <a:xfrm>
            <a:off x="859536" y="1728216"/>
            <a:ext cx="438912"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①</a:t>
            </a:r>
            <a:endParaRPr lang="en-US" sz="1400" dirty="0"/>
          </a:p>
        </p:txBody>
      </p:sp>
      <p:sp>
        <p:nvSpPr>
          <p:cNvPr id="8" name="Text 6"/>
          <p:cNvSpPr txBox="1"/>
          <p:nvPr/>
        </p:nvSpPr>
        <p:spPr>
          <a:xfrm>
            <a:off x="1426464" y="1600200"/>
            <a:ext cx="4312768"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学校行事の棚卸し</a:t>
            </a:r>
            <a:endParaRPr lang="en-US" sz="1500" dirty="0"/>
          </a:p>
        </p:txBody>
      </p:sp>
      <p:sp>
        <p:nvSpPr>
          <p:cNvPr id="9" name="Text 7"/>
          <p:cNvSpPr txBox="1"/>
          <p:nvPr/>
        </p:nvSpPr>
        <p:spPr>
          <a:xfrm>
            <a:off x="1426464" y="1938528"/>
            <a:ext cx="4312768" cy="292608"/>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目的・時間・負担を一覧化する</a:t>
            </a:r>
            <a:endParaRPr lang="en-US" sz="1200" dirty="0"/>
          </a:p>
        </p:txBody>
      </p:sp>
      <p:sp>
        <p:nvSpPr>
          <p:cNvPr id="10" name="Shape 8"/>
          <p:cNvSpPr/>
          <p:nvPr/>
        </p:nvSpPr>
        <p:spPr>
          <a:xfrm>
            <a:off x="6233008" y="1481328"/>
            <a:ext cx="5318608" cy="822960"/>
          </a:xfrm>
          <a:prstGeom prst="roundRect">
            <a:avLst>
              <a:gd name="adj" fmla="val 6667"/>
            </a:avLst>
          </a:prstGeom>
          <a:solidFill>
            <a:srgbClr val="F1F5F2"/>
          </a:solidFill>
          <a:ln/>
        </p:spPr>
      </p:sp>
      <p:sp>
        <p:nvSpPr>
          <p:cNvPr id="11" name="Shape 9"/>
          <p:cNvSpPr/>
          <p:nvPr/>
        </p:nvSpPr>
        <p:spPr>
          <a:xfrm>
            <a:off x="6452464" y="1673352"/>
            <a:ext cx="438912" cy="438912"/>
          </a:xfrm>
          <a:prstGeom prst="ellipse">
            <a:avLst/>
          </a:prstGeom>
          <a:solidFill>
            <a:srgbClr val="1F5D4C"/>
          </a:solidFill>
          <a:ln/>
        </p:spPr>
      </p:sp>
      <p:sp>
        <p:nvSpPr>
          <p:cNvPr id="12" name="Text 10"/>
          <p:cNvSpPr txBox="1"/>
          <p:nvPr/>
        </p:nvSpPr>
        <p:spPr>
          <a:xfrm>
            <a:off x="6452464" y="1728216"/>
            <a:ext cx="438912"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②</a:t>
            </a:r>
            <a:endParaRPr lang="en-US" sz="1400" dirty="0"/>
          </a:p>
        </p:txBody>
      </p:sp>
      <p:sp>
        <p:nvSpPr>
          <p:cNvPr id="13" name="Text 11"/>
          <p:cNvSpPr txBox="1"/>
          <p:nvPr/>
        </p:nvSpPr>
        <p:spPr>
          <a:xfrm>
            <a:off x="7019392" y="1600200"/>
            <a:ext cx="4312768"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統合・縮減の判断基準づくり</a:t>
            </a:r>
            <a:endParaRPr lang="en-US" sz="1500" dirty="0"/>
          </a:p>
        </p:txBody>
      </p:sp>
      <p:sp>
        <p:nvSpPr>
          <p:cNvPr id="14" name="Text 12"/>
          <p:cNvSpPr txBox="1"/>
          <p:nvPr/>
        </p:nvSpPr>
        <p:spPr>
          <a:xfrm>
            <a:off x="7019392" y="1938528"/>
            <a:ext cx="4312768" cy="292608"/>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感覚ではなく基準で決める</a:t>
            </a:r>
            <a:endParaRPr lang="en-US" sz="1200" dirty="0"/>
          </a:p>
        </p:txBody>
      </p:sp>
      <p:sp>
        <p:nvSpPr>
          <p:cNvPr id="15" name="Shape 13"/>
          <p:cNvSpPr/>
          <p:nvPr/>
        </p:nvSpPr>
        <p:spPr>
          <a:xfrm>
            <a:off x="640080" y="2414016"/>
            <a:ext cx="5318608" cy="822960"/>
          </a:xfrm>
          <a:prstGeom prst="roundRect">
            <a:avLst>
              <a:gd name="adj" fmla="val 6667"/>
            </a:avLst>
          </a:prstGeom>
          <a:solidFill>
            <a:srgbClr val="E4EDE6"/>
          </a:solidFill>
          <a:ln/>
        </p:spPr>
      </p:sp>
      <p:sp>
        <p:nvSpPr>
          <p:cNvPr id="16" name="Shape 14"/>
          <p:cNvSpPr/>
          <p:nvPr/>
        </p:nvSpPr>
        <p:spPr>
          <a:xfrm>
            <a:off x="859536" y="2606040"/>
            <a:ext cx="438912" cy="438912"/>
          </a:xfrm>
          <a:prstGeom prst="ellipse">
            <a:avLst/>
          </a:prstGeom>
          <a:solidFill>
            <a:srgbClr val="1F5D4C"/>
          </a:solidFill>
          <a:ln/>
        </p:spPr>
      </p:sp>
      <p:sp>
        <p:nvSpPr>
          <p:cNvPr id="17" name="Text 15"/>
          <p:cNvSpPr txBox="1"/>
          <p:nvPr/>
        </p:nvSpPr>
        <p:spPr>
          <a:xfrm>
            <a:off x="859536" y="2660904"/>
            <a:ext cx="438912"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③</a:t>
            </a:r>
            <a:endParaRPr lang="en-US" sz="1400" dirty="0"/>
          </a:p>
        </p:txBody>
      </p:sp>
      <p:sp>
        <p:nvSpPr>
          <p:cNvPr id="18" name="Text 16"/>
          <p:cNvSpPr txBox="1"/>
          <p:nvPr/>
        </p:nvSpPr>
        <p:spPr>
          <a:xfrm>
            <a:off x="1426464" y="2532888"/>
            <a:ext cx="4312768"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前年度踏襲の見直し会議</a:t>
            </a:r>
            <a:endParaRPr lang="en-US" sz="1500" dirty="0"/>
          </a:p>
        </p:txBody>
      </p:sp>
      <p:sp>
        <p:nvSpPr>
          <p:cNvPr id="19" name="Text 17"/>
          <p:cNvSpPr txBox="1"/>
          <p:nvPr/>
        </p:nvSpPr>
        <p:spPr>
          <a:xfrm>
            <a:off x="1426464" y="2871216"/>
            <a:ext cx="4312768" cy="292608"/>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年内に1回、必ず開く</a:t>
            </a:r>
            <a:endParaRPr lang="en-US" sz="1200" dirty="0"/>
          </a:p>
        </p:txBody>
      </p:sp>
      <p:sp>
        <p:nvSpPr>
          <p:cNvPr id="20" name="Shape 18"/>
          <p:cNvSpPr/>
          <p:nvPr/>
        </p:nvSpPr>
        <p:spPr>
          <a:xfrm>
            <a:off x="6233008" y="2414016"/>
            <a:ext cx="5318608" cy="822960"/>
          </a:xfrm>
          <a:prstGeom prst="roundRect">
            <a:avLst>
              <a:gd name="adj" fmla="val 6667"/>
            </a:avLst>
          </a:prstGeom>
          <a:solidFill>
            <a:srgbClr val="E4EDE6"/>
          </a:solidFill>
          <a:ln/>
        </p:spPr>
      </p:sp>
      <p:sp>
        <p:nvSpPr>
          <p:cNvPr id="21" name="Shape 19"/>
          <p:cNvSpPr/>
          <p:nvPr/>
        </p:nvSpPr>
        <p:spPr>
          <a:xfrm>
            <a:off x="6452464" y="2606040"/>
            <a:ext cx="438912" cy="438912"/>
          </a:xfrm>
          <a:prstGeom prst="ellipse">
            <a:avLst/>
          </a:prstGeom>
          <a:solidFill>
            <a:srgbClr val="1F5D4C"/>
          </a:solidFill>
          <a:ln/>
        </p:spPr>
      </p:sp>
      <p:sp>
        <p:nvSpPr>
          <p:cNvPr id="22" name="Text 20"/>
          <p:cNvSpPr txBox="1"/>
          <p:nvPr/>
        </p:nvSpPr>
        <p:spPr>
          <a:xfrm>
            <a:off x="6452464" y="2660904"/>
            <a:ext cx="438912"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④</a:t>
            </a:r>
            <a:endParaRPr lang="en-US" sz="1400" dirty="0"/>
          </a:p>
        </p:txBody>
      </p:sp>
      <p:sp>
        <p:nvSpPr>
          <p:cNvPr id="23" name="Text 21"/>
          <p:cNvSpPr txBox="1"/>
          <p:nvPr/>
        </p:nvSpPr>
        <p:spPr>
          <a:xfrm>
            <a:off x="7019392" y="2532888"/>
            <a:ext cx="4312768"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日課表・単位時間の点検</a:t>
            </a:r>
            <a:endParaRPr lang="en-US" sz="1500" dirty="0"/>
          </a:p>
        </p:txBody>
      </p:sp>
      <p:sp>
        <p:nvSpPr>
          <p:cNvPr id="24" name="Text 22"/>
          <p:cNvSpPr txBox="1"/>
          <p:nvPr/>
        </p:nvSpPr>
        <p:spPr>
          <a:xfrm>
            <a:off x="7019392" y="2871216"/>
            <a:ext cx="4312768" cy="292608"/>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45分／40分・モジュール</a:t>
            </a:r>
            <a:endParaRPr lang="en-US" sz="1200" dirty="0"/>
          </a:p>
        </p:txBody>
      </p:sp>
      <p:sp>
        <p:nvSpPr>
          <p:cNvPr id="25" name="Shape 23"/>
          <p:cNvSpPr/>
          <p:nvPr/>
        </p:nvSpPr>
        <p:spPr>
          <a:xfrm>
            <a:off x="640080" y="3346704"/>
            <a:ext cx="5318608" cy="822960"/>
          </a:xfrm>
          <a:prstGeom prst="roundRect">
            <a:avLst>
              <a:gd name="adj" fmla="val 6667"/>
            </a:avLst>
          </a:prstGeom>
          <a:solidFill>
            <a:srgbClr val="F1F5F2"/>
          </a:solidFill>
          <a:ln/>
        </p:spPr>
      </p:sp>
      <p:sp>
        <p:nvSpPr>
          <p:cNvPr id="26" name="Shape 24"/>
          <p:cNvSpPr/>
          <p:nvPr/>
        </p:nvSpPr>
        <p:spPr>
          <a:xfrm>
            <a:off x="859536" y="3538728"/>
            <a:ext cx="438912" cy="438912"/>
          </a:xfrm>
          <a:prstGeom prst="ellipse">
            <a:avLst/>
          </a:prstGeom>
          <a:solidFill>
            <a:srgbClr val="1F5D4C"/>
          </a:solidFill>
          <a:ln/>
        </p:spPr>
      </p:sp>
      <p:sp>
        <p:nvSpPr>
          <p:cNvPr id="27" name="Text 25"/>
          <p:cNvSpPr txBox="1"/>
          <p:nvPr/>
        </p:nvSpPr>
        <p:spPr>
          <a:xfrm>
            <a:off x="859536" y="3593592"/>
            <a:ext cx="438912"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⑤</a:t>
            </a:r>
            <a:endParaRPr lang="en-US" sz="1400" dirty="0"/>
          </a:p>
        </p:txBody>
      </p:sp>
      <p:sp>
        <p:nvSpPr>
          <p:cNvPr id="28" name="Text 26"/>
          <p:cNvSpPr txBox="1"/>
          <p:nvPr/>
        </p:nvSpPr>
        <p:spPr>
          <a:xfrm>
            <a:off x="1426464" y="3465576"/>
            <a:ext cx="4312768"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週時程の組み替え</a:t>
            </a:r>
            <a:endParaRPr lang="en-US" sz="1500" dirty="0"/>
          </a:p>
        </p:txBody>
      </p:sp>
      <p:sp>
        <p:nvSpPr>
          <p:cNvPr id="29" name="Text 27"/>
          <p:cNvSpPr txBox="1"/>
          <p:nvPr/>
        </p:nvSpPr>
        <p:spPr>
          <a:xfrm>
            <a:off x="1426464" y="3803904"/>
            <a:ext cx="4312768" cy="292608"/>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まとまった時間を先に確保</a:t>
            </a:r>
            <a:endParaRPr lang="en-US" sz="1200" dirty="0"/>
          </a:p>
        </p:txBody>
      </p:sp>
      <p:sp>
        <p:nvSpPr>
          <p:cNvPr id="30" name="Shape 28"/>
          <p:cNvSpPr/>
          <p:nvPr/>
        </p:nvSpPr>
        <p:spPr>
          <a:xfrm>
            <a:off x="6233008" y="3346704"/>
            <a:ext cx="5318608" cy="822960"/>
          </a:xfrm>
          <a:prstGeom prst="roundRect">
            <a:avLst>
              <a:gd name="adj" fmla="val 6667"/>
            </a:avLst>
          </a:prstGeom>
          <a:solidFill>
            <a:srgbClr val="F1F5F2"/>
          </a:solidFill>
          <a:ln/>
        </p:spPr>
      </p:sp>
      <p:sp>
        <p:nvSpPr>
          <p:cNvPr id="31" name="Shape 29"/>
          <p:cNvSpPr/>
          <p:nvPr/>
        </p:nvSpPr>
        <p:spPr>
          <a:xfrm>
            <a:off x="6452464" y="3538728"/>
            <a:ext cx="438912" cy="438912"/>
          </a:xfrm>
          <a:prstGeom prst="ellipse">
            <a:avLst/>
          </a:prstGeom>
          <a:solidFill>
            <a:srgbClr val="1F5D4C"/>
          </a:solidFill>
          <a:ln/>
        </p:spPr>
      </p:sp>
      <p:sp>
        <p:nvSpPr>
          <p:cNvPr id="32" name="Text 30"/>
          <p:cNvSpPr txBox="1"/>
          <p:nvPr/>
        </p:nvSpPr>
        <p:spPr>
          <a:xfrm>
            <a:off x="6452464" y="3593592"/>
            <a:ext cx="438912"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⑥</a:t>
            </a:r>
            <a:endParaRPr lang="en-US" sz="1400" dirty="0"/>
          </a:p>
        </p:txBody>
      </p:sp>
      <p:sp>
        <p:nvSpPr>
          <p:cNvPr id="33" name="Text 31"/>
          <p:cNvSpPr txBox="1"/>
          <p:nvPr/>
        </p:nvSpPr>
        <p:spPr>
          <a:xfrm>
            <a:off x="7019392" y="3465576"/>
            <a:ext cx="4312768"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総合的な学習の時間の再設計</a:t>
            </a:r>
            <a:endParaRPr lang="en-US" sz="1500" dirty="0"/>
          </a:p>
        </p:txBody>
      </p:sp>
      <p:sp>
        <p:nvSpPr>
          <p:cNvPr id="34" name="Text 32"/>
          <p:cNvSpPr txBox="1"/>
          <p:nvPr/>
        </p:nvSpPr>
        <p:spPr>
          <a:xfrm>
            <a:off x="7019392" y="3803904"/>
            <a:ext cx="4312768" cy="292608"/>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「情報の領域」を見据える</a:t>
            </a:r>
            <a:endParaRPr lang="en-US" sz="1200" dirty="0"/>
          </a:p>
        </p:txBody>
      </p:sp>
      <p:sp>
        <p:nvSpPr>
          <p:cNvPr id="35" name="Shape 33"/>
          <p:cNvSpPr/>
          <p:nvPr/>
        </p:nvSpPr>
        <p:spPr>
          <a:xfrm>
            <a:off x="640080" y="4279392"/>
            <a:ext cx="5318608" cy="822960"/>
          </a:xfrm>
          <a:prstGeom prst="roundRect">
            <a:avLst>
              <a:gd name="adj" fmla="val 6667"/>
            </a:avLst>
          </a:prstGeom>
          <a:solidFill>
            <a:srgbClr val="E4EDE6"/>
          </a:solidFill>
          <a:ln/>
        </p:spPr>
      </p:sp>
      <p:sp>
        <p:nvSpPr>
          <p:cNvPr id="36" name="Shape 34"/>
          <p:cNvSpPr/>
          <p:nvPr/>
        </p:nvSpPr>
        <p:spPr>
          <a:xfrm>
            <a:off x="859536" y="4471416"/>
            <a:ext cx="438912" cy="438912"/>
          </a:xfrm>
          <a:prstGeom prst="ellipse">
            <a:avLst/>
          </a:prstGeom>
          <a:solidFill>
            <a:srgbClr val="1F5D4C"/>
          </a:solidFill>
          <a:ln/>
        </p:spPr>
      </p:sp>
      <p:sp>
        <p:nvSpPr>
          <p:cNvPr id="37" name="Text 35"/>
          <p:cNvSpPr txBox="1"/>
          <p:nvPr/>
        </p:nvSpPr>
        <p:spPr>
          <a:xfrm>
            <a:off x="859536" y="4526280"/>
            <a:ext cx="438912"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⑦</a:t>
            </a:r>
            <a:endParaRPr lang="en-US" sz="1400" dirty="0"/>
          </a:p>
        </p:txBody>
      </p:sp>
      <p:sp>
        <p:nvSpPr>
          <p:cNvPr id="38" name="Text 36"/>
          <p:cNvSpPr txBox="1"/>
          <p:nvPr/>
        </p:nvSpPr>
        <p:spPr>
          <a:xfrm>
            <a:off x="1426464" y="4398264"/>
            <a:ext cx="4312768"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情報活用能力の系統表づくり</a:t>
            </a:r>
            <a:endParaRPr lang="en-US" sz="1500" dirty="0"/>
          </a:p>
        </p:txBody>
      </p:sp>
      <p:sp>
        <p:nvSpPr>
          <p:cNvPr id="39" name="Text 37"/>
          <p:cNvSpPr txBox="1"/>
          <p:nvPr/>
        </p:nvSpPr>
        <p:spPr>
          <a:xfrm>
            <a:off x="1426464" y="4736592"/>
            <a:ext cx="4312768" cy="292608"/>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自校版を1枚つくる</a:t>
            </a:r>
            <a:endParaRPr lang="en-US" sz="1200" dirty="0"/>
          </a:p>
        </p:txBody>
      </p:sp>
      <p:sp>
        <p:nvSpPr>
          <p:cNvPr id="40" name="Shape 38"/>
          <p:cNvSpPr/>
          <p:nvPr/>
        </p:nvSpPr>
        <p:spPr>
          <a:xfrm>
            <a:off x="6233008" y="4279392"/>
            <a:ext cx="5318608" cy="822960"/>
          </a:xfrm>
          <a:prstGeom prst="roundRect">
            <a:avLst>
              <a:gd name="adj" fmla="val 6667"/>
            </a:avLst>
          </a:prstGeom>
          <a:solidFill>
            <a:srgbClr val="E4EDE6"/>
          </a:solidFill>
          <a:ln/>
        </p:spPr>
      </p:sp>
      <p:sp>
        <p:nvSpPr>
          <p:cNvPr id="41" name="Shape 39"/>
          <p:cNvSpPr/>
          <p:nvPr/>
        </p:nvSpPr>
        <p:spPr>
          <a:xfrm>
            <a:off x="6452464" y="4471416"/>
            <a:ext cx="438912" cy="438912"/>
          </a:xfrm>
          <a:prstGeom prst="ellipse">
            <a:avLst/>
          </a:prstGeom>
          <a:solidFill>
            <a:srgbClr val="1F5D4C"/>
          </a:solidFill>
          <a:ln/>
        </p:spPr>
      </p:sp>
      <p:sp>
        <p:nvSpPr>
          <p:cNvPr id="42" name="Text 40"/>
          <p:cNvSpPr txBox="1"/>
          <p:nvPr/>
        </p:nvSpPr>
        <p:spPr>
          <a:xfrm>
            <a:off x="6452464" y="4526280"/>
            <a:ext cx="438912"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⑧</a:t>
            </a:r>
            <a:endParaRPr lang="en-US" sz="1400" dirty="0"/>
          </a:p>
        </p:txBody>
      </p:sp>
      <p:sp>
        <p:nvSpPr>
          <p:cNvPr id="43" name="Text 41"/>
          <p:cNvSpPr txBox="1"/>
          <p:nvPr/>
        </p:nvSpPr>
        <p:spPr>
          <a:xfrm>
            <a:off x="7019392" y="4398264"/>
            <a:ext cx="4312768"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校内研修の絞り込み</a:t>
            </a:r>
            <a:endParaRPr lang="en-US" sz="1500" dirty="0"/>
          </a:p>
        </p:txBody>
      </p:sp>
      <p:sp>
        <p:nvSpPr>
          <p:cNvPr id="44" name="Text 42"/>
          <p:cNvSpPr txBox="1"/>
          <p:nvPr/>
        </p:nvSpPr>
        <p:spPr>
          <a:xfrm>
            <a:off x="7019392" y="4736592"/>
            <a:ext cx="4312768" cy="292608"/>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授業改善に直結するものへ</a:t>
            </a:r>
            <a:endParaRPr lang="en-US" sz="1200" dirty="0"/>
          </a:p>
        </p:txBody>
      </p:sp>
      <p:sp>
        <p:nvSpPr>
          <p:cNvPr id="45" name="Shape 43"/>
          <p:cNvSpPr/>
          <p:nvPr/>
        </p:nvSpPr>
        <p:spPr>
          <a:xfrm>
            <a:off x="640080" y="5212080"/>
            <a:ext cx="5318608" cy="822960"/>
          </a:xfrm>
          <a:prstGeom prst="roundRect">
            <a:avLst>
              <a:gd name="adj" fmla="val 6667"/>
            </a:avLst>
          </a:prstGeom>
          <a:solidFill>
            <a:srgbClr val="F1F5F2"/>
          </a:solidFill>
          <a:ln/>
        </p:spPr>
      </p:sp>
      <p:sp>
        <p:nvSpPr>
          <p:cNvPr id="46" name="Shape 44"/>
          <p:cNvSpPr/>
          <p:nvPr/>
        </p:nvSpPr>
        <p:spPr>
          <a:xfrm>
            <a:off x="859536" y="5404104"/>
            <a:ext cx="438912" cy="438912"/>
          </a:xfrm>
          <a:prstGeom prst="ellipse">
            <a:avLst/>
          </a:prstGeom>
          <a:solidFill>
            <a:srgbClr val="1F5D4C"/>
          </a:solidFill>
          <a:ln/>
        </p:spPr>
      </p:sp>
      <p:sp>
        <p:nvSpPr>
          <p:cNvPr id="47" name="Text 45"/>
          <p:cNvSpPr txBox="1"/>
          <p:nvPr/>
        </p:nvSpPr>
        <p:spPr>
          <a:xfrm>
            <a:off x="859536" y="5458968"/>
            <a:ext cx="438912"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⑨</a:t>
            </a:r>
            <a:endParaRPr lang="en-US" sz="1400" dirty="0"/>
          </a:p>
        </p:txBody>
      </p:sp>
      <p:sp>
        <p:nvSpPr>
          <p:cNvPr id="48" name="Text 46"/>
          <p:cNvSpPr txBox="1"/>
          <p:nvPr/>
        </p:nvSpPr>
        <p:spPr>
          <a:xfrm>
            <a:off x="1426464" y="5330952"/>
            <a:ext cx="4312768"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会議の精選</a:t>
            </a:r>
            <a:endParaRPr lang="en-US" sz="1500" dirty="0"/>
          </a:p>
        </p:txBody>
      </p:sp>
      <p:sp>
        <p:nvSpPr>
          <p:cNvPr id="49" name="Text 47"/>
          <p:cNvSpPr txBox="1"/>
          <p:nvPr/>
        </p:nvSpPr>
        <p:spPr>
          <a:xfrm>
            <a:off x="1426464" y="5669280"/>
            <a:ext cx="4312768" cy="292608"/>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回数・時間・参加者を見直す</a:t>
            </a:r>
            <a:endParaRPr lang="en-US" sz="1200" dirty="0"/>
          </a:p>
        </p:txBody>
      </p:sp>
      <p:sp>
        <p:nvSpPr>
          <p:cNvPr id="50" name="Shape 48"/>
          <p:cNvSpPr/>
          <p:nvPr/>
        </p:nvSpPr>
        <p:spPr>
          <a:xfrm>
            <a:off x="6233008" y="5212080"/>
            <a:ext cx="5318608" cy="822960"/>
          </a:xfrm>
          <a:prstGeom prst="roundRect">
            <a:avLst>
              <a:gd name="adj" fmla="val 6667"/>
            </a:avLst>
          </a:prstGeom>
          <a:solidFill>
            <a:srgbClr val="F1F5F2"/>
          </a:solidFill>
          <a:ln/>
        </p:spPr>
      </p:sp>
      <p:sp>
        <p:nvSpPr>
          <p:cNvPr id="51" name="Shape 49"/>
          <p:cNvSpPr/>
          <p:nvPr/>
        </p:nvSpPr>
        <p:spPr>
          <a:xfrm>
            <a:off x="6452464" y="5404104"/>
            <a:ext cx="438912" cy="438912"/>
          </a:xfrm>
          <a:prstGeom prst="ellipse">
            <a:avLst/>
          </a:prstGeom>
          <a:solidFill>
            <a:srgbClr val="1F5D4C"/>
          </a:solidFill>
          <a:ln/>
        </p:spPr>
      </p:sp>
      <p:sp>
        <p:nvSpPr>
          <p:cNvPr id="52" name="Text 50"/>
          <p:cNvSpPr txBox="1"/>
          <p:nvPr/>
        </p:nvSpPr>
        <p:spPr>
          <a:xfrm>
            <a:off x="6452464" y="5458968"/>
            <a:ext cx="438912"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⑩</a:t>
            </a:r>
            <a:endParaRPr lang="en-US" sz="1400" dirty="0"/>
          </a:p>
        </p:txBody>
      </p:sp>
      <p:sp>
        <p:nvSpPr>
          <p:cNvPr id="53" name="Text 51"/>
          <p:cNvSpPr txBox="1"/>
          <p:nvPr/>
        </p:nvSpPr>
        <p:spPr>
          <a:xfrm>
            <a:off x="7019392" y="5330952"/>
            <a:ext cx="4312768"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評価と所見の見直し</a:t>
            </a:r>
            <a:endParaRPr lang="en-US" sz="1500" dirty="0"/>
          </a:p>
        </p:txBody>
      </p:sp>
      <p:sp>
        <p:nvSpPr>
          <p:cNvPr id="54" name="Text 52"/>
          <p:cNvSpPr txBox="1"/>
          <p:nvPr/>
        </p:nvSpPr>
        <p:spPr>
          <a:xfrm>
            <a:off x="7019392" y="5669280"/>
            <a:ext cx="4312768" cy="292608"/>
          </a:xfrm>
          <a:prstGeom prst="rect">
            <a:avLst/>
          </a:prstGeom>
          <a:noFill/>
          <a:ln/>
        </p:spPr>
        <p:txBody>
          <a:bodyPr wrap="square" lIns="0" tIns="0" rIns="0" bIns="0" rtlCol="0" anchor="ctr"/>
          <a:lstStyle/>
          <a:p>
            <a:pPr indent="0" marL="0">
              <a:buNone/>
            </a:pPr>
            <a:r>
              <a:rPr lang="en-US" sz="1200" dirty="0">
                <a:solidFill>
                  <a:srgbClr val="5B6660"/>
                </a:solidFill>
                <a:latin typeface="Meiryo" pitchFamily="34" charset="0"/>
                <a:ea typeface="Meiryo" pitchFamily="34" charset="-122"/>
                <a:cs typeface="Meiryo" pitchFamily="34" charset="-120"/>
              </a:rPr>
              <a:t>記号から言葉へ</a:t>
            </a:r>
            <a:endParaRPr lang="en-US" sz="1200" dirty="0"/>
          </a:p>
        </p:txBody>
      </p:sp>
      <p:sp>
        <p:nvSpPr>
          <p:cNvPr id="55" name="Text 53"/>
          <p:cNvSpPr txBox="1"/>
          <p:nvPr/>
        </p:nvSpPr>
        <p:spPr>
          <a:xfrm>
            <a:off x="640080" y="6236208"/>
            <a:ext cx="10911535" cy="365760"/>
          </a:xfrm>
          <a:prstGeom prst="rect">
            <a:avLst/>
          </a:prstGeom>
          <a:noFill/>
          <a:ln/>
        </p:spPr>
        <p:txBody>
          <a:bodyPr wrap="square" lIns="0" tIns="0" rIns="0" bIns="0" rtlCol="0" anchor="ctr"/>
          <a:lstStyle/>
          <a:p>
            <a:pPr indent="0" marL="0">
              <a:buNone/>
            </a:pPr>
            <a:r>
              <a:rPr lang="en-US" sz="1500" b="1" dirty="0">
                <a:solidFill>
                  <a:srgbClr val="1F5D4C"/>
                </a:solidFill>
                <a:latin typeface="Meiryo" pitchFamily="34" charset="0"/>
                <a:ea typeface="Meiryo" pitchFamily="34" charset="-122"/>
                <a:cs typeface="Meiryo" pitchFamily="34" charset="-120"/>
              </a:rPr>
              <a:t>全部やる必要はありません。まず1つ選んで、令和9年度の経営計画に書いてください。</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40</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Ⅳ－5</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打ち手①②③ ― 行事を棚卸しする</a:t>
            </a:r>
            <a:endParaRPr lang="en-US" sz="2800" dirty="0"/>
          </a:p>
        </p:txBody>
      </p:sp>
      <p:sp>
        <p:nvSpPr>
          <p:cNvPr id="5" name="Shape 3"/>
          <p:cNvSpPr/>
          <p:nvPr/>
        </p:nvSpPr>
        <p:spPr>
          <a:xfrm>
            <a:off x="640080" y="1481328"/>
            <a:ext cx="10911535" cy="713232"/>
          </a:xfrm>
          <a:prstGeom prst="roundRect">
            <a:avLst>
              <a:gd name="adj" fmla="val 7692"/>
            </a:avLst>
          </a:prstGeom>
          <a:solidFill>
            <a:srgbClr val="1F5D4C"/>
          </a:solidFill>
          <a:ln/>
        </p:spPr>
      </p:sp>
      <p:sp>
        <p:nvSpPr>
          <p:cNvPr id="6" name="Text 4"/>
          <p:cNvSpPr txBox="1"/>
          <p:nvPr/>
        </p:nvSpPr>
        <p:spPr>
          <a:xfrm>
            <a:off x="1097280" y="1645920"/>
            <a:ext cx="9997135" cy="384048"/>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いちばん着手しやすく、いちばん効果が見えやすい打ち手です</a:t>
            </a:r>
            <a:endParaRPr lang="en-US" sz="1600" dirty="0"/>
          </a:p>
        </p:txBody>
      </p:sp>
      <p:sp>
        <p:nvSpPr>
          <p:cNvPr id="7" name="Shape 5"/>
          <p:cNvSpPr/>
          <p:nvPr/>
        </p:nvSpPr>
        <p:spPr>
          <a:xfrm>
            <a:off x="640080" y="2395728"/>
            <a:ext cx="10911535" cy="1170432"/>
          </a:xfrm>
          <a:prstGeom prst="roundRect">
            <a:avLst>
              <a:gd name="adj" fmla="val 4688"/>
            </a:avLst>
          </a:prstGeom>
          <a:solidFill>
            <a:srgbClr val="F1F5F2"/>
          </a:solidFill>
          <a:ln/>
        </p:spPr>
      </p:sp>
      <p:sp>
        <p:nvSpPr>
          <p:cNvPr id="8" name="Shape 6"/>
          <p:cNvSpPr/>
          <p:nvPr/>
        </p:nvSpPr>
        <p:spPr>
          <a:xfrm>
            <a:off x="969264" y="2688336"/>
            <a:ext cx="566928" cy="566928"/>
          </a:xfrm>
          <a:prstGeom prst="ellipse">
            <a:avLst/>
          </a:prstGeom>
          <a:solidFill>
            <a:srgbClr val="1F5D4C"/>
          </a:solidFill>
          <a:ln/>
        </p:spPr>
      </p:sp>
      <p:sp>
        <p:nvSpPr>
          <p:cNvPr id="9" name="Text 7"/>
          <p:cNvSpPr txBox="1"/>
          <p:nvPr/>
        </p:nvSpPr>
        <p:spPr>
          <a:xfrm>
            <a:off x="969264" y="2807208"/>
            <a:ext cx="566928"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①</a:t>
            </a:r>
            <a:endParaRPr lang="en-US" sz="2000" dirty="0"/>
          </a:p>
        </p:txBody>
      </p:sp>
      <p:sp>
        <p:nvSpPr>
          <p:cNvPr id="10" name="Text 8"/>
          <p:cNvSpPr txBox="1"/>
          <p:nvPr/>
        </p:nvSpPr>
        <p:spPr>
          <a:xfrm>
            <a:off x="1719072" y="2560320"/>
            <a:ext cx="2560320" cy="365760"/>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一覧化する</a:t>
            </a:r>
            <a:endParaRPr lang="en-US" sz="1700" dirty="0"/>
          </a:p>
        </p:txBody>
      </p:sp>
      <p:sp>
        <p:nvSpPr>
          <p:cNvPr id="11" name="Text 9"/>
          <p:cNvSpPr txBox="1"/>
          <p:nvPr/>
        </p:nvSpPr>
        <p:spPr>
          <a:xfrm>
            <a:off x="1719072" y="2962656"/>
            <a:ext cx="7528255" cy="502920"/>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全行事を、本番の時数・準備の時数・担当者数まで書き出す。まず事実を揃えます。</a:t>
            </a:r>
            <a:endParaRPr lang="en-US" sz="1300" dirty="0"/>
          </a:p>
        </p:txBody>
      </p:sp>
      <p:sp>
        <p:nvSpPr>
          <p:cNvPr id="12" name="Shape 10"/>
          <p:cNvSpPr/>
          <p:nvPr/>
        </p:nvSpPr>
        <p:spPr>
          <a:xfrm>
            <a:off x="9494215" y="2779776"/>
            <a:ext cx="1783080" cy="457200"/>
          </a:xfrm>
          <a:prstGeom prst="roundRect">
            <a:avLst>
              <a:gd name="adj" fmla="val 12000"/>
            </a:avLst>
          </a:prstGeom>
          <a:solidFill>
            <a:srgbClr val="E4EDE6"/>
          </a:solidFill>
          <a:ln/>
        </p:spPr>
      </p:sp>
      <p:sp>
        <p:nvSpPr>
          <p:cNvPr id="13" name="Text 11"/>
          <p:cNvSpPr txBox="1"/>
          <p:nvPr/>
        </p:nvSpPr>
        <p:spPr>
          <a:xfrm>
            <a:off x="9494215" y="2898648"/>
            <a:ext cx="1783080" cy="274320"/>
          </a:xfrm>
          <a:prstGeom prst="rect">
            <a:avLst/>
          </a:prstGeom>
          <a:noFill/>
          <a:ln/>
        </p:spPr>
        <p:txBody>
          <a:bodyPr wrap="square" lIns="0" tIns="0" rIns="0" bIns="0" rtlCol="0" anchor="ctr"/>
          <a:lstStyle/>
          <a:p>
            <a:pPr algn="ctr" indent="0" marL="0">
              <a:buNone/>
            </a:pPr>
            <a:r>
              <a:rPr lang="en-US" sz="1200" b="1" dirty="0">
                <a:solidFill>
                  <a:srgbClr val="1F5D4C"/>
                </a:solidFill>
                <a:latin typeface="Meiryo" pitchFamily="34" charset="0"/>
                <a:ea typeface="Meiryo" pitchFamily="34" charset="-122"/>
                <a:cs typeface="Meiryo" pitchFamily="34" charset="-120"/>
              </a:rPr>
              <a:t>所要：1〜2週間</a:t>
            </a:r>
            <a:endParaRPr lang="en-US" sz="1200" dirty="0"/>
          </a:p>
        </p:txBody>
      </p:sp>
      <p:sp>
        <p:nvSpPr>
          <p:cNvPr id="14" name="Shape 12"/>
          <p:cNvSpPr/>
          <p:nvPr/>
        </p:nvSpPr>
        <p:spPr>
          <a:xfrm>
            <a:off x="640080" y="3694176"/>
            <a:ext cx="10911535" cy="1170432"/>
          </a:xfrm>
          <a:prstGeom prst="roundRect">
            <a:avLst>
              <a:gd name="adj" fmla="val 4688"/>
            </a:avLst>
          </a:prstGeom>
          <a:solidFill>
            <a:srgbClr val="F1F5F2"/>
          </a:solidFill>
          <a:ln/>
        </p:spPr>
      </p:sp>
      <p:sp>
        <p:nvSpPr>
          <p:cNvPr id="15" name="Shape 13"/>
          <p:cNvSpPr/>
          <p:nvPr/>
        </p:nvSpPr>
        <p:spPr>
          <a:xfrm>
            <a:off x="969264" y="3986784"/>
            <a:ext cx="566928" cy="566928"/>
          </a:xfrm>
          <a:prstGeom prst="ellipse">
            <a:avLst/>
          </a:prstGeom>
          <a:solidFill>
            <a:srgbClr val="1F5D4C"/>
          </a:solidFill>
          <a:ln/>
        </p:spPr>
      </p:sp>
      <p:sp>
        <p:nvSpPr>
          <p:cNvPr id="16" name="Text 14"/>
          <p:cNvSpPr txBox="1"/>
          <p:nvPr/>
        </p:nvSpPr>
        <p:spPr>
          <a:xfrm>
            <a:off x="969264" y="4105656"/>
            <a:ext cx="566928"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②</a:t>
            </a:r>
            <a:endParaRPr lang="en-US" sz="2000" dirty="0"/>
          </a:p>
        </p:txBody>
      </p:sp>
      <p:sp>
        <p:nvSpPr>
          <p:cNvPr id="17" name="Text 15"/>
          <p:cNvSpPr txBox="1"/>
          <p:nvPr/>
        </p:nvSpPr>
        <p:spPr>
          <a:xfrm>
            <a:off x="1719072" y="3858768"/>
            <a:ext cx="2560320" cy="365760"/>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基準を決める</a:t>
            </a:r>
            <a:endParaRPr lang="en-US" sz="1700" dirty="0"/>
          </a:p>
        </p:txBody>
      </p:sp>
      <p:sp>
        <p:nvSpPr>
          <p:cNvPr id="18" name="Text 16"/>
          <p:cNvSpPr txBox="1"/>
          <p:nvPr/>
        </p:nvSpPr>
        <p:spPr>
          <a:xfrm>
            <a:off x="1719072" y="4261104"/>
            <a:ext cx="7528255" cy="502920"/>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「ねらいが他で代替できるものは統合」など、判断基準を先に共有する。個別の好き嫌いの話にしないための工夫です。</a:t>
            </a:r>
            <a:endParaRPr lang="en-US" sz="1300" dirty="0"/>
          </a:p>
        </p:txBody>
      </p:sp>
      <p:sp>
        <p:nvSpPr>
          <p:cNvPr id="19" name="Shape 17"/>
          <p:cNvSpPr/>
          <p:nvPr/>
        </p:nvSpPr>
        <p:spPr>
          <a:xfrm>
            <a:off x="9494215" y="4078224"/>
            <a:ext cx="1783080" cy="457200"/>
          </a:xfrm>
          <a:prstGeom prst="roundRect">
            <a:avLst>
              <a:gd name="adj" fmla="val 12000"/>
            </a:avLst>
          </a:prstGeom>
          <a:solidFill>
            <a:srgbClr val="E4EDE6"/>
          </a:solidFill>
          <a:ln/>
        </p:spPr>
      </p:sp>
      <p:sp>
        <p:nvSpPr>
          <p:cNvPr id="20" name="Text 18"/>
          <p:cNvSpPr txBox="1"/>
          <p:nvPr/>
        </p:nvSpPr>
        <p:spPr>
          <a:xfrm>
            <a:off x="9494215" y="4197096"/>
            <a:ext cx="1783080" cy="274320"/>
          </a:xfrm>
          <a:prstGeom prst="rect">
            <a:avLst/>
          </a:prstGeom>
          <a:noFill/>
          <a:ln/>
        </p:spPr>
        <p:txBody>
          <a:bodyPr wrap="square" lIns="0" tIns="0" rIns="0" bIns="0" rtlCol="0" anchor="ctr"/>
          <a:lstStyle/>
          <a:p>
            <a:pPr algn="ctr" indent="0" marL="0">
              <a:buNone/>
            </a:pPr>
            <a:r>
              <a:rPr lang="en-US" sz="1200" b="1" dirty="0">
                <a:solidFill>
                  <a:srgbClr val="1F5D4C"/>
                </a:solidFill>
                <a:latin typeface="Meiryo" pitchFamily="34" charset="0"/>
                <a:ea typeface="Meiryo" pitchFamily="34" charset="-122"/>
                <a:cs typeface="Meiryo" pitchFamily="34" charset="-120"/>
              </a:rPr>
              <a:t>所要：職員会議1回</a:t>
            </a:r>
            <a:endParaRPr lang="en-US" sz="1200" dirty="0"/>
          </a:p>
        </p:txBody>
      </p:sp>
      <p:sp>
        <p:nvSpPr>
          <p:cNvPr id="21" name="Shape 19"/>
          <p:cNvSpPr/>
          <p:nvPr/>
        </p:nvSpPr>
        <p:spPr>
          <a:xfrm>
            <a:off x="640080" y="4992624"/>
            <a:ext cx="10911535" cy="1170432"/>
          </a:xfrm>
          <a:prstGeom prst="roundRect">
            <a:avLst>
              <a:gd name="adj" fmla="val 4688"/>
            </a:avLst>
          </a:prstGeom>
          <a:solidFill>
            <a:srgbClr val="F1F5F2"/>
          </a:solidFill>
          <a:ln/>
        </p:spPr>
      </p:sp>
      <p:sp>
        <p:nvSpPr>
          <p:cNvPr id="22" name="Shape 20"/>
          <p:cNvSpPr/>
          <p:nvPr/>
        </p:nvSpPr>
        <p:spPr>
          <a:xfrm>
            <a:off x="969264" y="5285232"/>
            <a:ext cx="566928" cy="566928"/>
          </a:xfrm>
          <a:prstGeom prst="ellipse">
            <a:avLst/>
          </a:prstGeom>
          <a:solidFill>
            <a:srgbClr val="1F5D4C"/>
          </a:solidFill>
          <a:ln/>
        </p:spPr>
      </p:sp>
      <p:sp>
        <p:nvSpPr>
          <p:cNvPr id="23" name="Text 21"/>
          <p:cNvSpPr txBox="1"/>
          <p:nvPr/>
        </p:nvSpPr>
        <p:spPr>
          <a:xfrm>
            <a:off x="969264" y="5404104"/>
            <a:ext cx="566928"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③</a:t>
            </a:r>
            <a:endParaRPr lang="en-US" sz="2000" dirty="0"/>
          </a:p>
        </p:txBody>
      </p:sp>
      <p:sp>
        <p:nvSpPr>
          <p:cNvPr id="24" name="Text 22"/>
          <p:cNvSpPr txBox="1"/>
          <p:nvPr/>
        </p:nvSpPr>
        <p:spPr>
          <a:xfrm>
            <a:off x="1719072" y="5157216"/>
            <a:ext cx="2560320" cy="365760"/>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年内に決める</a:t>
            </a:r>
            <a:endParaRPr lang="en-US" sz="1700" dirty="0"/>
          </a:p>
        </p:txBody>
      </p:sp>
      <p:sp>
        <p:nvSpPr>
          <p:cNvPr id="25" name="Text 23"/>
          <p:cNvSpPr txBox="1"/>
          <p:nvPr/>
        </p:nvSpPr>
        <p:spPr>
          <a:xfrm>
            <a:off x="1719072" y="5559552"/>
            <a:ext cx="7528255" cy="502920"/>
          </a:xfrm>
          <a:prstGeom prst="rect">
            <a:avLst/>
          </a:prstGeom>
          <a:noFill/>
          <a:ln/>
        </p:spPr>
        <p:txBody>
          <a:bodyPr wrap="square" lIns="0" tIns="0" rIns="0" bIns="0" rtlCol="0" anchor="ctr"/>
          <a:lstStyle/>
          <a:p>
            <a:pPr indent="0" marL="0">
              <a:buNone/>
            </a:pPr>
            <a:r>
              <a:rPr lang="en-US" sz="1300" dirty="0">
                <a:solidFill>
                  <a:srgbClr val="1C2320"/>
                </a:solidFill>
                <a:latin typeface="Meiryo" pitchFamily="34" charset="0"/>
                <a:ea typeface="Meiryo" pitchFamily="34" charset="-122"/>
                <a:cs typeface="Meiryo" pitchFamily="34" charset="-120"/>
              </a:rPr>
              <a:t>年明けでは翌年度の計画に間に合いません。12月までに結論を出します。</a:t>
            </a:r>
            <a:endParaRPr lang="en-US" sz="1300" dirty="0"/>
          </a:p>
        </p:txBody>
      </p:sp>
      <p:sp>
        <p:nvSpPr>
          <p:cNvPr id="26" name="Shape 24"/>
          <p:cNvSpPr/>
          <p:nvPr/>
        </p:nvSpPr>
        <p:spPr>
          <a:xfrm>
            <a:off x="9494215" y="5376672"/>
            <a:ext cx="1783080" cy="457200"/>
          </a:xfrm>
          <a:prstGeom prst="roundRect">
            <a:avLst>
              <a:gd name="adj" fmla="val 12000"/>
            </a:avLst>
          </a:prstGeom>
          <a:solidFill>
            <a:srgbClr val="E4EDE6"/>
          </a:solidFill>
          <a:ln/>
        </p:spPr>
      </p:sp>
      <p:sp>
        <p:nvSpPr>
          <p:cNvPr id="27" name="Text 25"/>
          <p:cNvSpPr txBox="1"/>
          <p:nvPr/>
        </p:nvSpPr>
        <p:spPr>
          <a:xfrm>
            <a:off x="9494215" y="5495544"/>
            <a:ext cx="1783080" cy="274320"/>
          </a:xfrm>
          <a:prstGeom prst="rect">
            <a:avLst/>
          </a:prstGeom>
          <a:noFill/>
          <a:ln/>
        </p:spPr>
        <p:txBody>
          <a:bodyPr wrap="square" lIns="0" tIns="0" rIns="0" bIns="0" rtlCol="0" anchor="ctr"/>
          <a:lstStyle/>
          <a:p>
            <a:pPr algn="ctr" indent="0" marL="0">
              <a:buNone/>
            </a:pPr>
            <a:r>
              <a:rPr lang="en-US" sz="1200" b="1" dirty="0">
                <a:solidFill>
                  <a:srgbClr val="1F5D4C"/>
                </a:solidFill>
                <a:latin typeface="Meiryo" pitchFamily="34" charset="0"/>
                <a:ea typeface="Meiryo" pitchFamily="34" charset="-122"/>
                <a:cs typeface="Meiryo" pitchFamily="34" charset="-120"/>
              </a:rPr>
              <a:t>期限：12月</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41</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Ⅳ－6</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打ち手④⑤ ― 時間の器を組み替える</a:t>
            </a:r>
            <a:endParaRPr lang="en-US" sz="2800" dirty="0"/>
          </a:p>
        </p:txBody>
      </p:sp>
      <p:sp>
        <p:nvSpPr>
          <p:cNvPr id="5" name="Shape 3"/>
          <p:cNvSpPr/>
          <p:nvPr/>
        </p:nvSpPr>
        <p:spPr>
          <a:xfrm>
            <a:off x="640080" y="1536192"/>
            <a:ext cx="5272888" cy="3200400"/>
          </a:xfrm>
          <a:prstGeom prst="roundRect">
            <a:avLst>
              <a:gd name="adj" fmla="val 1714"/>
            </a:avLst>
          </a:prstGeom>
          <a:solidFill>
            <a:srgbClr val="F1F5F2"/>
          </a:solidFill>
          <a:ln/>
        </p:spPr>
      </p:sp>
      <p:sp>
        <p:nvSpPr>
          <p:cNvPr id="6" name="Shape 4"/>
          <p:cNvSpPr/>
          <p:nvPr/>
        </p:nvSpPr>
        <p:spPr>
          <a:xfrm>
            <a:off x="987552" y="1810512"/>
            <a:ext cx="566928" cy="566928"/>
          </a:xfrm>
          <a:prstGeom prst="ellipse">
            <a:avLst/>
          </a:prstGeom>
          <a:solidFill>
            <a:srgbClr val="1F5D4C"/>
          </a:solidFill>
          <a:ln/>
        </p:spPr>
      </p:sp>
      <p:sp>
        <p:nvSpPr>
          <p:cNvPr id="7" name="Text 5"/>
          <p:cNvSpPr txBox="1"/>
          <p:nvPr/>
        </p:nvSpPr>
        <p:spPr>
          <a:xfrm>
            <a:off x="987552" y="1929384"/>
            <a:ext cx="566928"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④</a:t>
            </a:r>
            <a:endParaRPr lang="en-US" sz="2000" dirty="0"/>
          </a:p>
        </p:txBody>
      </p:sp>
      <p:sp>
        <p:nvSpPr>
          <p:cNvPr id="8" name="Text 6"/>
          <p:cNvSpPr txBox="1"/>
          <p:nvPr/>
        </p:nvSpPr>
        <p:spPr>
          <a:xfrm>
            <a:off x="1700784" y="1901952"/>
            <a:ext cx="3901288" cy="402336"/>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日課表・単位時間の点検</a:t>
            </a:r>
            <a:endParaRPr lang="en-US" sz="1700" dirty="0"/>
          </a:p>
        </p:txBody>
      </p:sp>
      <p:sp>
        <p:nvSpPr>
          <p:cNvPr id="9" name="Text 7"/>
          <p:cNvSpPr txBox="1"/>
          <p:nvPr/>
        </p:nvSpPr>
        <p:spPr>
          <a:xfrm>
            <a:off x="1024128" y="2578608"/>
            <a:ext cx="4504792"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45分を前提にしていないか確認する</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朝の時間・帯の時間の使い方を見直す</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モジュール（15分×3など）の可能性を検討</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※単位時間の変更は区教委と要協議</a:t>
            </a:r>
            <a:endParaRPr lang="en-US" sz="1300" dirty="0"/>
          </a:p>
        </p:txBody>
      </p:sp>
      <p:sp>
        <p:nvSpPr>
          <p:cNvPr id="10" name="Shape 8"/>
          <p:cNvSpPr/>
          <p:nvPr/>
        </p:nvSpPr>
        <p:spPr>
          <a:xfrm>
            <a:off x="6278728" y="1536192"/>
            <a:ext cx="5272888" cy="3200400"/>
          </a:xfrm>
          <a:prstGeom prst="roundRect">
            <a:avLst>
              <a:gd name="adj" fmla="val 1714"/>
            </a:avLst>
          </a:prstGeom>
          <a:solidFill>
            <a:srgbClr val="F1F5F2"/>
          </a:solidFill>
          <a:ln/>
        </p:spPr>
      </p:sp>
      <p:sp>
        <p:nvSpPr>
          <p:cNvPr id="11" name="Shape 9"/>
          <p:cNvSpPr/>
          <p:nvPr/>
        </p:nvSpPr>
        <p:spPr>
          <a:xfrm>
            <a:off x="6626200" y="1810512"/>
            <a:ext cx="566928" cy="566928"/>
          </a:xfrm>
          <a:prstGeom prst="ellipse">
            <a:avLst/>
          </a:prstGeom>
          <a:solidFill>
            <a:srgbClr val="5C8A4A"/>
          </a:solidFill>
          <a:ln/>
        </p:spPr>
      </p:sp>
      <p:sp>
        <p:nvSpPr>
          <p:cNvPr id="12" name="Text 10"/>
          <p:cNvSpPr txBox="1"/>
          <p:nvPr/>
        </p:nvSpPr>
        <p:spPr>
          <a:xfrm>
            <a:off x="6626200" y="1929384"/>
            <a:ext cx="566928"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⑤</a:t>
            </a:r>
            <a:endParaRPr lang="en-US" sz="2000" dirty="0"/>
          </a:p>
        </p:txBody>
      </p:sp>
      <p:sp>
        <p:nvSpPr>
          <p:cNvPr id="13" name="Text 11"/>
          <p:cNvSpPr txBox="1"/>
          <p:nvPr/>
        </p:nvSpPr>
        <p:spPr>
          <a:xfrm>
            <a:off x="7339432" y="1901952"/>
            <a:ext cx="3901288" cy="402336"/>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週時程の組み替え</a:t>
            </a:r>
            <a:endParaRPr lang="en-US" sz="1700" dirty="0"/>
          </a:p>
        </p:txBody>
      </p:sp>
      <p:sp>
        <p:nvSpPr>
          <p:cNvPr id="14" name="Text 12"/>
          <p:cNvSpPr txBox="1"/>
          <p:nvPr/>
        </p:nvSpPr>
        <p:spPr>
          <a:xfrm>
            <a:off x="6662776" y="2578608"/>
            <a:ext cx="4504792"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探究に使える2コマ続きを先に確保する</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同一学年・同一教科を同じ時間帯に置く</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学期に数コマ、用途未定の枠を空けておく</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学年で融通できる仕組みにする</a:t>
            </a:r>
            <a:endParaRPr lang="en-US" sz="1300" dirty="0"/>
          </a:p>
        </p:txBody>
      </p:sp>
      <p:sp>
        <p:nvSpPr>
          <p:cNvPr id="15" name="Shape 13"/>
          <p:cNvSpPr/>
          <p:nvPr/>
        </p:nvSpPr>
        <p:spPr>
          <a:xfrm>
            <a:off x="640080" y="4937760"/>
            <a:ext cx="10911535" cy="1207008"/>
          </a:xfrm>
          <a:prstGeom prst="roundRect">
            <a:avLst>
              <a:gd name="adj" fmla="val 4545"/>
            </a:avLst>
          </a:prstGeom>
          <a:solidFill>
            <a:srgbClr val="E4EDE6"/>
          </a:solidFill>
          <a:ln/>
        </p:spPr>
      </p:sp>
      <p:sp>
        <p:nvSpPr>
          <p:cNvPr id="16" name="Text 14"/>
          <p:cNvSpPr txBox="1"/>
          <p:nvPr/>
        </p:nvSpPr>
        <p:spPr>
          <a:xfrm>
            <a:off x="1097280" y="5157216"/>
            <a:ext cx="9997135" cy="402336"/>
          </a:xfrm>
          <a:prstGeom prst="rect">
            <a:avLst/>
          </a:prstGeom>
          <a:noFill/>
          <a:ln/>
        </p:spPr>
        <p:txBody>
          <a:bodyPr wrap="square" lIns="0" tIns="0" rIns="0" bIns="0" rtlCol="0" anchor="ctr"/>
          <a:lstStyle/>
          <a:p>
            <a:pPr indent="0" marL="0">
              <a:buNone/>
            </a:pPr>
            <a:r>
              <a:rPr lang="en-US" sz="1900" b="1" dirty="0">
                <a:solidFill>
                  <a:srgbClr val="14312A"/>
                </a:solidFill>
                <a:latin typeface="Meiryo" pitchFamily="34" charset="0"/>
                <a:ea typeface="Meiryo" pitchFamily="34" charset="-122"/>
                <a:cs typeface="Meiryo" pitchFamily="34" charset="-120"/>
              </a:rPr>
              <a:t>総時数を変えなくても、ここまではできます。</a:t>
            </a:r>
            <a:endParaRPr lang="en-US" sz="1900" dirty="0"/>
          </a:p>
        </p:txBody>
      </p:sp>
      <p:sp>
        <p:nvSpPr>
          <p:cNvPr id="17" name="Text 15"/>
          <p:cNvSpPr txBox="1"/>
          <p:nvPr/>
        </p:nvSpPr>
        <p:spPr>
          <a:xfrm>
            <a:off x="1097280" y="5596128"/>
            <a:ext cx="9997135" cy="365760"/>
          </a:xfrm>
          <a:prstGeom prst="rect">
            <a:avLst/>
          </a:prstGeom>
          <a:noFill/>
          <a:ln/>
        </p:spPr>
        <p:txBody>
          <a:bodyPr wrap="square" lIns="0" tIns="0" rIns="0" bIns="0" rtlCol="0" anchor="ctr"/>
          <a:lstStyle/>
          <a:p>
            <a:pPr indent="0" marL="0">
              <a:buNone/>
            </a:pPr>
            <a:r>
              <a:rPr lang="en-US" sz="1400" dirty="0">
                <a:solidFill>
                  <a:srgbClr val="1C2320"/>
                </a:solidFill>
                <a:latin typeface="Meiryo" pitchFamily="34" charset="0"/>
                <a:ea typeface="Meiryo" pitchFamily="34" charset="-122"/>
                <a:cs typeface="Meiryo" pitchFamily="34" charset="-120"/>
              </a:rPr>
              <a:t>制度が変わるのを待たずに、令和9年度の時間割から着手できる領域です。</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42</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Ⅳ－7</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打ち手⑥⑦ ― 総合と情報を先に描く</a:t>
            </a:r>
            <a:endParaRPr lang="en-US" sz="2800" dirty="0"/>
          </a:p>
        </p:txBody>
      </p:sp>
      <p:sp>
        <p:nvSpPr>
          <p:cNvPr id="5" name="Shape 3"/>
          <p:cNvSpPr/>
          <p:nvPr/>
        </p:nvSpPr>
        <p:spPr>
          <a:xfrm>
            <a:off x="640080" y="1481328"/>
            <a:ext cx="10911535" cy="713232"/>
          </a:xfrm>
          <a:prstGeom prst="roundRect">
            <a:avLst>
              <a:gd name="adj" fmla="val 7692"/>
            </a:avLst>
          </a:prstGeom>
          <a:solidFill>
            <a:srgbClr val="1F5D4C"/>
          </a:solidFill>
          <a:ln/>
        </p:spPr>
      </p:sp>
      <p:sp>
        <p:nvSpPr>
          <p:cNvPr id="6" name="Text 4"/>
          <p:cNvSpPr txBox="1"/>
          <p:nvPr/>
        </p:nvSpPr>
        <p:spPr>
          <a:xfrm>
            <a:off x="1097280" y="1645920"/>
            <a:ext cx="9997135" cy="384048"/>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小学校は総合に「情報の領域」、中学校は「情報・技術科」。影響が大きい領域です。</a:t>
            </a:r>
            <a:endParaRPr lang="en-US" sz="1600" dirty="0"/>
          </a:p>
        </p:txBody>
      </p:sp>
      <p:sp>
        <p:nvSpPr>
          <p:cNvPr id="7" name="Shape 5"/>
          <p:cNvSpPr/>
          <p:nvPr/>
        </p:nvSpPr>
        <p:spPr>
          <a:xfrm>
            <a:off x="640080" y="2395728"/>
            <a:ext cx="5272888" cy="2880360"/>
          </a:xfrm>
          <a:prstGeom prst="roundRect">
            <a:avLst>
              <a:gd name="adj" fmla="val 1905"/>
            </a:avLst>
          </a:prstGeom>
          <a:solidFill>
            <a:srgbClr val="F1F5F2"/>
          </a:solidFill>
          <a:ln/>
        </p:spPr>
      </p:sp>
      <p:sp>
        <p:nvSpPr>
          <p:cNvPr id="8" name="Shape 6"/>
          <p:cNvSpPr/>
          <p:nvPr/>
        </p:nvSpPr>
        <p:spPr>
          <a:xfrm>
            <a:off x="987552" y="2651760"/>
            <a:ext cx="566928" cy="566928"/>
          </a:xfrm>
          <a:prstGeom prst="ellipse">
            <a:avLst/>
          </a:prstGeom>
          <a:solidFill>
            <a:srgbClr val="1F5D4C"/>
          </a:solidFill>
          <a:ln/>
        </p:spPr>
      </p:sp>
      <p:sp>
        <p:nvSpPr>
          <p:cNvPr id="9" name="Text 7"/>
          <p:cNvSpPr txBox="1"/>
          <p:nvPr/>
        </p:nvSpPr>
        <p:spPr>
          <a:xfrm>
            <a:off x="987552" y="2770632"/>
            <a:ext cx="566928"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⑥</a:t>
            </a:r>
            <a:endParaRPr lang="en-US" sz="2000" dirty="0"/>
          </a:p>
        </p:txBody>
      </p:sp>
      <p:sp>
        <p:nvSpPr>
          <p:cNvPr id="10" name="Text 8"/>
          <p:cNvSpPr txBox="1"/>
          <p:nvPr/>
        </p:nvSpPr>
        <p:spPr>
          <a:xfrm>
            <a:off x="1700784" y="2724912"/>
            <a:ext cx="3901288" cy="438912"/>
          </a:xfrm>
          <a:prstGeom prst="rect">
            <a:avLst/>
          </a:prstGeom>
          <a:noFill/>
          <a:ln/>
        </p:spPr>
        <p:txBody>
          <a:bodyPr wrap="square" lIns="0" tIns="0" rIns="0" bIns="0" rtlCol="0" anchor="ctr"/>
          <a:lstStyle/>
          <a:p>
            <a:pPr indent="0" marL="0">
              <a:buNone/>
            </a:pPr>
            <a:r>
              <a:rPr lang="en-US" sz="1650" b="1" dirty="0">
                <a:solidFill>
                  <a:srgbClr val="14312A"/>
                </a:solidFill>
                <a:latin typeface="Meiryo" pitchFamily="34" charset="0"/>
                <a:ea typeface="Meiryo" pitchFamily="34" charset="-122"/>
                <a:cs typeface="Meiryo" pitchFamily="34" charset="-120"/>
              </a:rPr>
              <a:t>総合的な学習の時間の再設計</a:t>
            </a:r>
            <a:endParaRPr lang="en-US" sz="1650" dirty="0"/>
          </a:p>
        </p:txBody>
      </p:sp>
      <p:sp>
        <p:nvSpPr>
          <p:cNvPr id="11" name="Text 9"/>
          <p:cNvSpPr txBox="1"/>
          <p:nvPr/>
        </p:nvSpPr>
        <p:spPr>
          <a:xfrm>
            <a:off x="1024128" y="3401568"/>
            <a:ext cx="4504792"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今の単元が「探究」になっているか点検する</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調べ学習の消化になっていないか</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情報の領域が入る前提で枠を空けておく</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地域の素材を洗い出しておく</a:t>
            </a:r>
            <a:endParaRPr lang="en-US" sz="1300" dirty="0"/>
          </a:p>
        </p:txBody>
      </p:sp>
      <p:sp>
        <p:nvSpPr>
          <p:cNvPr id="12" name="Shape 10"/>
          <p:cNvSpPr/>
          <p:nvPr/>
        </p:nvSpPr>
        <p:spPr>
          <a:xfrm>
            <a:off x="6278728" y="2395728"/>
            <a:ext cx="5272888" cy="2880360"/>
          </a:xfrm>
          <a:prstGeom prst="roundRect">
            <a:avLst>
              <a:gd name="adj" fmla="val 1905"/>
            </a:avLst>
          </a:prstGeom>
          <a:solidFill>
            <a:srgbClr val="E4EDE6"/>
          </a:solidFill>
          <a:ln/>
        </p:spPr>
      </p:sp>
      <p:sp>
        <p:nvSpPr>
          <p:cNvPr id="13" name="Shape 11"/>
          <p:cNvSpPr/>
          <p:nvPr/>
        </p:nvSpPr>
        <p:spPr>
          <a:xfrm>
            <a:off x="6626200" y="2651760"/>
            <a:ext cx="566928" cy="566928"/>
          </a:xfrm>
          <a:prstGeom prst="ellipse">
            <a:avLst/>
          </a:prstGeom>
          <a:solidFill>
            <a:srgbClr val="1F5D4C"/>
          </a:solidFill>
          <a:ln/>
        </p:spPr>
      </p:sp>
      <p:sp>
        <p:nvSpPr>
          <p:cNvPr id="14" name="Text 12"/>
          <p:cNvSpPr txBox="1"/>
          <p:nvPr/>
        </p:nvSpPr>
        <p:spPr>
          <a:xfrm>
            <a:off x="6626200" y="2770632"/>
            <a:ext cx="566928" cy="329184"/>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⑦</a:t>
            </a:r>
            <a:endParaRPr lang="en-US" sz="2000" dirty="0"/>
          </a:p>
        </p:txBody>
      </p:sp>
      <p:sp>
        <p:nvSpPr>
          <p:cNvPr id="15" name="Text 13"/>
          <p:cNvSpPr txBox="1"/>
          <p:nvPr/>
        </p:nvSpPr>
        <p:spPr>
          <a:xfrm>
            <a:off x="7339432" y="2724912"/>
            <a:ext cx="3901288" cy="438912"/>
          </a:xfrm>
          <a:prstGeom prst="rect">
            <a:avLst/>
          </a:prstGeom>
          <a:noFill/>
          <a:ln/>
        </p:spPr>
        <p:txBody>
          <a:bodyPr wrap="square" lIns="0" tIns="0" rIns="0" bIns="0" rtlCol="0" anchor="ctr"/>
          <a:lstStyle/>
          <a:p>
            <a:pPr indent="0" marL="0">
              <a:buNone/>
            </a:pPr>
            <a:r>
              <a:rPr lang="en-US" sz="1650" b="1" dirty="0">
                <a:solidFill>
                  <a:srgbClr val="14312A"/>
                </a:solidFill>
                <a:latin typeface="Meiryo" pitchFamily="34" charset="0"/>
                <a:ea typeface="Meiryo" pitchFamily="34" charset="-122"/>
                <a:cs typeface="Meiryo" pitchFamily="34" charset="-120"/>
              </a:rPr>
              <a:t>情報活用能力の系統表づくり</a:t>
            </a:r>
            <a:endParaRPr lang="en-US" sz="1650" dirty="0"/>
          </a:p>
        </p:txBody>
      </p:sp>
      <p:sp>
        <p:nvSpPr>
          <p:cNvPr id="16" name="Text 14"/>
          <p:cNvSpPr txBox="1"/>
          <p:nvPr/>
        </p:nvSpPr>
        <p:spPr>
          <a:xfrm>
            <a:off x="6662776" y="3401568"/>
            <a:ext cx="4504792" cy="17373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6年間（3年間）で何を育てるか1枚にする</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各教科のどの単元で使うかを紐づける</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完成版でなくてよい。たたき台で十分</a:t>
            </a:r>
            <a:endParaRPr lang="en-US" sz="1300" dirty="0"/>
          </a:p>
          <a:p>
            <a:pPr marL="342900" indent="-342900">
              <a:spcAft>
                <a:spcPts val="800"/>
              </a:spcAft>
              <a:buSzPct val="100000"/>
              <a:buChar char="•"/>
            </a:pPr>
            <a:r>
              <a:rPr lang="en-US" sz="1300" dirty="0">
                <a:solidFill>
                  <a:srgbClr val="1C2320"/>
                </a:solidFill>
                <a:latin typeface="Meiryo" pitchFamily="34" charset="0"/>
                <a:ea typeface="Meiryo" pitchFamily="34" charset="-122"/>
                <a:cs typeface="Meiryo" pitchFamily="34" charset="-120"/>
              </a:rPr>
              <a:t>つくる過程そのものが校内研修になる</a:t>
            </a:r>
            <a:endParaRPr lang="en-US" sz="1300" dirty="0"/>
          </a:p>
        </p:txBody>
      </p:sp>
      <p:sp>
        <p:nvSpPr>
          <p:cNvPr id="17" name="Shape 15"/>
          <p:cNvSpPr/>
          <p:nvPr/>
        </p:nvSpPr>
        <p:spPr>
          <a:xfrm>
            <a:off x="640080" y="5449824"/>
            <a:ext cx="10911535" cy="749808"/>
          </a:xfrm>
          <a:prstGeom prst="roundRect">
            <a:avLst>
              <a:gd name="adj" fmla="val 7317"/>
            </a:avLst>
          </a:prstGeom>
          <a:solidFill>
            <a:srgbClr val="14312A"/>
          </a:solidFill>
          <a:ln/>
        </p:spPr>
      </p:sp>
      <p:sp>
        <p:nvSpPr>
          <p:cNvPr id="18" name="Text 16"/>
          <p:cNvSpPr txBox="1"/>
          <p:nvPr/>
        </p:nvSpPr>
        <p:spPr>
          <a:xfrm>
            <a:off x="1097280" y="5632704"/>
            <a:ext cx="9997135" cy="402336"/>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⑦は「つくる過程が研修になる」のが利点です。成果物より、対話が残ります。</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43</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Ⅳ－8</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打ち手⑧⑨ ― 教職員の時間を取り戻す</a:t>
            </a:r>
            <a:endParaRPr lang="en-US" sz="2800" dirty="0"/>
          </a:p>
        </p:txBody>
      </p:sp>
      <p:sp>
        <p:nvSpPr>
          <p:cNvPr id="5" name="Shape 3"/>
          <p:cNvSpPr/>
          <p:nvPr/>
        </p:nvSpPr>
        <p:spPr>
          <a:xfrm>
            <a:off x="640080" y="1536192"/>
            <a:ext cx="10911535" cy="1755648"/>
          </a:xfrm>
          <a:prstGeom prst="roundRect">
            <a:avLst>
              <a:gd name="adj" fmla="val 3125"/>
            </a:avLst>
          </a:prstGeom>
          <a:solidFill>
            <a:srgbClr val="F1F5F2"/>
          </a:solidFill>
          <a:ln/>
        </p:spPr>
      </p:sp>
      <p:sp>
        <p:nvSpPr>
          <p:cNvPr id="6" name="Shape 4"/>
          <p:cNvSpPr/>
          <p:nvPr/>
        </p:nvSpPr>
        <p:spPr>
          <a:xfrm>
            <a:off x="1005840" y="1920240"/>
            <a:ext cx="658368" cy="658368"/>
          </a:xfrm>
          <a:prstGeom prst="ellipse">
            <a:avLst/>
          </a:prstGeom>
          <a:solidFill>
            <a:srgbClr val="1F5D4C"/>
          </a:solidFill>
          <a:ln/>
        </p:spPr>
      </p:sp>
      <p:sp>
        <p:nvSpPr>
          <p:cNvPr id="7" name="Text 5"/>
          <p:cNvSpPr txBox="1"/>
          <p:nvPr/>
        </p:nvSpPr>
        <p:spPr>
          <a:xfrm>
            <a:off x="1005840" y="2084832"/>
            <a:ext cx="658368" cy="329184"/>
          </a:xfrm>
          <a:prstGeom prst="rect">
            <a:avLst/>
          </a:prstGeom>
          <a:noFill/>
          <a:ln/>
        </p:spPr>
        <p:txBody>
          <a:bodyPr wrap="square" lIns="0" tIns="0" rIns="0" bIns="0" rtlCol="0" anchor="ctr"/>
          <a:lstStyle/>
          <a:p>
            <a:pPr algn="ctr" indent="0" marL="0">
              <a:buNone/>
            </a:pPr>
            <a:r>
              <a:rPr lang="en-US" sz="2300" b="1" dirty="0">
                <a:solidFill>
                  <a:srgbClr val="FFFFFF"/>
                </a:solidFill>
                <a:latin typeface="Meiryo" pitchFamily="34" charset="0"/>
                <a:ea typeface="Meiryo" pitchFamily="34" charset="-122"/>
                <a:cs typeface="Meiryo" pitchFamily="34" charset="-120"/>
              </a:rPr>
              <a:t>⑧</a:t>
            </a:r>
            <a:endParaRPr lang="en-US" sz="2300" dirty="0"/>
          </a:p>
        </p:txBody>
      </p:sp>
      <p:sp>
        <p:nvSpPr>
          <p:cNvPr id="8" name="Text 6"/>
          <p:cNvSpPr txBox="1"/>
          <p:nvPr/>
        </p:nvSpPr>
        <p:spPr>
          <a:xfrm>
            <a:off x="1847088" y="1755648"/>
            <a:ext cx="9265615" cy="420624"/>
          </a:xfrm>
          <a:prstGeom prst="rect">
            <a:avLst/>
          </a:prstGeom>
          <a:noFill/>
          <a:ln/>
        </p:spPr>
        <p:txBody>
          <a:bodyPr wrap="square" lIns="0" tIns="0" rIns="0" bIns="0" rtlCol="0" anchor="ctr"/>
          <a:lstStyle/>
          <a:p>
            <a:pPr indent="0" marL="0">
              <a:buNone/>
            </a:pPr>
            <a:r>
              <a:rPr lang="en-US" sz="1900" b="1" dirty="0">
                <a:solidFill>
                  <a:srgbClr val="14312A"/>
                </a:solidFill>
                <a:latin typeface="Meiryo" pitchFamily="34" charset="0"/>
                <a:ea typeface="Meiryo" pitchFamily="34" charset="-122"/>
                <a:cs typeface="Meiryo" pitchFamily="34" charset="-120"/>
              </a:rPr>
              <a:t>校内研修の絞り込み</a:t>
            </a:r>
            <a:endParaRPr lang="en-US" sz="1900" dirty="0"/>
          </a:p>
        </p:txBody>
      </p:sp>
      <p:sp>
        <p:nvSpPr>
          <p:cNvPr id="9" name="Text 7"/>
          <p:cNvSpPr txBox="1"/>
          <p:nvPr/>
        </p:nvSpPr>
        <p:spPr>
          <a:xfrm>
            <a:off x="1847088" y="2249424"/>
            <a:ext cx="9265615" cy="502920"/>
          </a:xfrm>
          <a:prstGeom prst="rect">
            <a:avLst/>
          </a:prstGeom>
          <a:noFill/>
          <a:ln/>
        </p:spPr>
        <p:txBody>
          <a:bodyPr wrap="square" lIns="0" tIns="0" rIns="0" bIns="0" rtlCol="0" anchor="ctr"/>
          <a:lstStyle/>
          <a:p>
            <a:pPr indent="0" marL="0">
              <a:buNone/>
            </a:pPr>
            <a:r>
              <a:rPr lang="en-US" sz="1400" dirty="0">
                <a:solidFill>
                  <a:srgbClr val="1C2320"/>
                </a:solidFill>
                <a:latin typeface="Meiryo" pitchFamily="34" charset="0"/>
                <a:ea typeface="Meiryo" pitchFamily="34" charset="-122"/>
                <a:cs typeface="Meiryo" pitchFamily="34" charset="-120"/>
              </a:rPr>
              <a:t>年間の研修を洗い出し、「明日の授業が変わるか」で仕分ける。変わらないものは思い切ってやめる。</a:t>
            </a:r>
            <a:endParaRPr lang="en-US" sz="1400" dirty="0"/>
          </a:p>
        </p:txBody>
      </p:sp>
      <p:sp>
        <p:nvSpPr>
          <p:cNvPr id="10" name="Shape 8"/>
          <p:cNvSpPr/>
          <p:nvPr/>
        </p:nvSpPr>
        <p:spPr>
          <a:xfrm>
            <a:off x="1847088" y="2779776"/>
            <a:ext cx="5852160" cy="384048"/>
          </a:xfrm>
          <a:prstGeom prst="roundRect">
            <a:avLst>
              <a:gd name="adj" fmla="val 14286"/>
            </a:avLst>
          </a:prstGeom>
          <a:solidFill>
            <a:srgbClr val="E4EDE6"/>
          </a:solidFill>
          <a:ln/>
        </p:spPr>
      </p:sp>
      <p:sp>
        <p:nvSpPr>
          <p:cNvPr id="11" name="Text 9"/>
          <p:cNvSpPr txBox="1"/>
          <p:nvPr/>
        </p:nvSpPr>
        <p:spPr>
          <a:xfrm>
            <a:off x="2029968" y="2852928"/>
            <a:ext cx="5577840" cy="274320"/>
          </a:xfrm>
          <a:prstGeom prst="rect">
            <a:avLst/>
          </a:prstGeom>
          <a:noFill/>
          <a:ln/>
        </p:spPr>
        <p:txBody>
          <a:bodyPr wrap="square" lIns="0" tIns="0" rIns="0" bIns="0" rtlCol="0" anchor="ctr"/>
          <a:lstStyle/>
          <a:p>
            <a:pPr indent="0" marL="0">
              <a:buNone/>
            </a:pPr>
            <a:r>
              <a:rPr lang="en-US" sz="1250" b="1" dirty="0">
                <a:solidFill>
                  <a:srgbClr val="1F5D4C"/>
                </a:solidFill>
                <a:latin typeface="Meiryo" pitchFamily="34" charset="0"/>
                <a:ea typeface="Meiryo" pitchFamily="34" charset="-122"/>
                <a:cs typeface="Meiryo" pitchFamily="34" charset="-120"/>
              </a:rPr>
              <a:t>素案の「裁量的な時間」に接続します</a:t>
            </a:r>
            <a:endParaRPr lang="en-US" sz="1250" dirty="0"/>
          </a:p>
        </p:txBody>
      </p:sp>
      <p:sp>
        <p:nvSpPr>
          <p:cNvPr id="12" name="Shape 10"/>
          <p:cNvSpPr/>
          <p:nvPr/>
        </p:nvSpPr>
        <p:spPr>
          <a:xfrm>
            <a:off x="640080" y="3438144"/>
            <a:ext cx="10911535" cy="1755648"/>
          </a:xfrm>
          <a:prstGeom prst="roundRect">
            <a:avLst>
              <a:gd name="adj" fmla="val 3125"/>
            </a:avLst>
          </a:prstGeom>
          <a:solidFill>
            <a:srgbClr val="F1F5F2"/>
          </a:solidFill>
          <a:ln/>
        </p:spPr>
      </p:sp>
      <p:sp>
        <p:nvSpPr>
          <p:cNvPr id="13" name="Shape 11"/>
          <p:cNvSpPr/>
          <p:nvPr/>
        </p:nvSpPr>
        <p:spPr>
          <a:xfrm>
            <a:off x="1005840" y="3822192"/>
            <a:ext cx="658368" cy="658368"/>
          </a:xfrm>
          <a:prstGeom prst="ellipse">
            <a:avLst/>
          </a:prstGeom>
          <a:solidFill>
            <a:srgbClr val="1F5D4C"/>
          </a:solidFill>
          <a:ln/>
        </p:spPr>
      </p:sp>
      <p:sp>
        <p:nvSpPr>
          <p:cNvPr id="14" name="Text 12"/>
          <p:cNvSpPr txBox="1"/>
          <p:nvPr/>
        </p:nvSpPr>
        <p:spPr>
          <a:xfrm>
            <a:off x="1005840" y="3986784"/>
            <a:ext cx="658368" cy="329184"/>
          </a:xfrm>
          <a:prstGeom prst="rect">
            <a:avLst/>
          </a:prstGeom>
          <a:noFill/>
          <a:ln/>
        </p:spPr>
        <p:txBody>
          <a:bodyPr wrap="square" lIns="0" tIns="0" rIns="0" bIns="0" rtlCol="0" anchor="ctr"/>
          <a:lstStyle/>
          <a:p>
            <a:pPr algn="ctr" indent="0" marL="0">
              <a:buNone/>
            </a:pPr>
            <a:r>
              <a:rPr lang="en-US" sz="2300" b="1" dirty="0">
                <a:solidFill>
                  <a:srgbClr val="FFFFFF"/>
                </a:solidFill>
                <a:latin typeface="Meiryo" pitchFamily="34" charset="0"/>
                <a:ea typeface="Meiryo" pitchFamily="34" charset="-122"/>
                <a:cs typeface="Meiryo" pitchFamily="34" charset="-120"/>
              </a:rPr>
              <a:t>⑨</a:t>
            </a:r>
            <a:endParaRPr lang="en-US" sz="2300" dirty="0"/>
          </a:p>
        </p:txBody>
      </p:sp>
      <p:sp>
        <p:nvSpPr>
          <p:cNvPr id="15" name="Text 13"/>
          <p:cNvSpPr txBox="1"/>
          <p:nvPr/>
        </p:nvSpPr>
        <p:spPr>
          <a:xfrm>
            <a:off x="1847088" y="3657600"/>
            <a:ext cx="9265615" cy="420624"/>
          </a:xfrm>
          <a:prstGeom prst="rect">
            <a:avLst/>
          </a:prstGeom>
          <a:noFill/>
          <a:ln/>
        </p:spPr>
        <p:txBody>
          <a:bodyPr wrap="square" lIns="0" tIns="0" rIns="0" bIns="0" rtlCol="0" anchor="ctr"/>
          <a:lstStyle/>
          <a:p>
            <a:pPr indent="0" marL="0">
              <a:buNone/>
            </a:pPr>
            <a:r>
              <a:rPr lang="en-US" sz="1900" b="1" dirty="0">
                <a:solidFill>
                  <a:srgbClr val="14312A"/>
                </a:solidFill>
                <a:latin typeface="Meiryo" pitchFamily="34" charset="0"/>
                <a:ea typeface="Meiryo" pitchFamily="34" charset="-122"/>
                <a:cs typeface="Meiryo" pitchFamily="34" charset="-120"/>
              </a:rPr>
              <a:t>会議の精選</a:t>
            </a:r>
            <a:endParaRPr lang="en-US" sz="1900" dirty="0"/>
          </a:p>
        </p:txBody>
      </p:sp>
      <p:sp>
        <p:nvSpPr>
          <p:cNvPr id="16" name="Text 14"/>
          <p:cNvSpPr txBox="1"/>
          <p:nvPr/>
        </p:nvSpPr>
        <p:spPr>
          <a:xfrm>
            <a:off x="1847088" y="4151376"/>
            <a:ext cx="9265615" cy="502920"/>
          </a:xfrm>
          <a:prstGeom prst="rect">
            <a:avLst/>
          </a:prstGeom>
          <a:noFill/>
          <a:ln/>
        </p:spPr>
        <p:txBody>
          <a:bodyPr wrap="square" lIns="0" tIns="0" rIns="0" bIns="0" rtlCol="0" anchor="ctr"/>
          <a:lstStyle/>
          <a:p>
            <a:pPr indent="0" marL="0">
              <a:buNone/>
            </a:pPr>
            <a:r>
              <a:rPr lang="en-US" sz="1400" dirty="0">
                <a:solidFill>
                  <a:srgbClr val="1C2320"/>
                </a:solidFill>
                <a:latin typeface="Meiryo" pitchFamily="34" charset="0"/>
                <a:ea typeface="Meiryo" pitchFamily="34" charset="-122"/>
                <a:cs typeface="Meiryo" pitchFamily="34" charset="-120"/>
              </a:rPr>
              <a:t>職員会議・打合せ・委員会の回数と時間、参加者を見直す。文書共有で足りるものは会議にしない。</a:t>
            </a:r>
            <a:endParaRPr lang="en-US" sz="1400" dirty="0"/>
          </a:p>
        </p:txBody>
      </p:sp>
      <p:sp>
        <p:nvSpPr>
          <p:cNvPr id="17" name="Shape 15"/>
          <p:cNvSpPr/>
          <p:nvPr/>
        </p:nvSpPr>
        <p:spPr>
          <a:xfrm>
            <a:off x="1847088" y="4681728"/>
            <a:ext cx="5852160" cy="384048"/>
          </a:xfrm>
          <a:prstGeom prst="roundRect">
            <a:avLst>
              <a:gd name="adj" fmla="val 14286"/>
            </a:avLst>
          </a:prstGeom>
          <a:solidFill>
            <a:srgbClr val="E4EDE6"/>
          </a:solidFill>
          <a:ln/>
        </p:spPr>
      </p:sp>
      <p:sp>
        <p:nvSpPr>
          <p:cNvPr id="18" name="Text 16"/>
          <p:cNvSpPr txBox="1"/>
          <p:nvPr/>
        </p:nvSpPr>
        <p:spPr>
          <a:xfrm>
            <a:off x="2029968" y="4754880"/>
            <a:ext cx="5577840" cy="274320"/>
          </a:xfrm>
          <a:prstGeom prst="rect">
            <a:avLst/>
          </a:prstGeom>
          <a:noFill/>
          <a:ln/>
        </p:spPr>
        <p:txBody>
          <a:bodyPr wrap="square" lIns="0" tIns="0" rIns="0" bIns="0" rtlCol="0" anchor="ctr"/>
          <a:lstStyle/>
          <a:p>
            <a:pPr indent="0" marL="0">
              <a:buNone/>
            </a:pPr>
            <a:r>
              <a:rPr lang="en-US" sz="1250" b="1" dirty="0">
                <a:solidFill>
                  <a:srgbClr val="1F5D4C"/>
                </a:solidFill>
                <a:latin typeface="Meiryo" pitchFamily="34" charset="0"/>
                <a:ea typeface="Meiryo" pitchFamily="34" charset="-122"/>
                <a:cs typeface="Meiryo" pitchFamily="34" charset="-120"/>
              </a:rPr>
              <a:t>生み出した時間を教材研究に回します</a:t>
            </a:r>
            <a:endParaRPr lang="en-US" sz="1250" dirty="0"/>
          </a:p>
        </p:txBody>
      </p:sp>
      <p:sp>
        <p:nvSpPr>
          <p:cNvPr id="19" name="Shape 17"/>
          <p:cNvSpPr/>
          <p:nvPr/>
        </p:nvSpPr>
        <p:spPr>
          <a:xfrm>
            <a:off x="640080" y="5449824"/>
            <a:ext cx="10911535" cy="777240"/>
          </a:xfrm>
          <a:prstGeom prst="roundRect">
            <a:avLst>
              <a:gd name="adj" fmla="val 7059"/>
            </a:avLst>
          </a:prstGeom>
          <a:solidFill>
            <a:srgbClr val="14312A"/>
          </a:solidFill>
          <a:ln/>
        </p:spPr>
      </p:sp>
      <p:sp>
        <p:nvSpPr>
          <p:cNvPr id="20" name="Text 18"/>
          <p:cNvSpPr txBox="1"/>
          <p:nvPr/>
        </p:nvSpPr>
        <p:spPr>
          <a:xfrm>
            <a:off x="1097280" y="5650992"/>
            <a:ext cx="9997135" cy="402336"/>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職員が「校長は本気で時間をつくろうとしている」と感じると、他の話が通りやすくなります。</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44</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Ⅳ－9</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打ち手⑩ ― 評価を校内研修の題材にする</a:t>
            </a:r>
            <a:endParaRPr lang="en-US" sz="2800" dirty="0"/>
          </a:p>
        </p:txBody>
      </p:sp>
      <p:sp>
        <p:nvSpPr>
          <p:cNvPr id="5" name="Shape 3"/>
          <p:cNvSpPr/>
          <p:nvPr/>
        </p:nvSpPr>
        <p:spPr>
          <a:xfrm>
            <a:off x="640080" y="1536192"/>
            <a:ext cx="10911535" cy="914400"/>
          </a:xfrm>
          <a:prstGeom prst="roundRect">
            <a:avLst>
              <a:gd name="adj" fmla="val 6000"/>
            </a:avLst>
          </a:prstGeom>
          <a:solidFill>
            <a:srgbClr val="1F5D4C"/>
          </a:solidFill>
          <a:ln/>
        </p:spPr>
      </p:sp>
      <p:sp>
        <p:nvSpPr>
          <p:cNvPr id="6" name="Text 4"/>
          <p:cNvSpPr txBox="1"/>
          <p:nvPr/>
        </p:nvSpPr>
        <p:spPr>
          <a:xfrm>
            <a:off x="1097280" y="1773936"/>
            <a:ext cx="9997135" cy="438912"/>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評価の見直しは、素案の中で最も授業に近いところにあります</a:t>
            </a:r>
            <a:endParaRPr lang="en-US" sz="1800" dirty="0"/>
          </a:p>
        </p:txBody>
      </p:sp>
      <p:sp>
        <p:nvSpPr>
          <p:cNvPr id="7" name="Text 5"/>
          <p:cNvSpPr txBox="1"/>
          <p:nvPr/>
        </p:nvSpPr>
        <p:spPr>
          <a:xfrm>
            <a:off x="640080" y="2596896"/>
            <a:ext cx="10911535" cy="347472"/>
          </a:xfrm>
          <a:prstGeom prst="rect">
            <a:avLst/>
          </a:prstGeom>
          <a:noFill/>
          <a:ln/>
        </p:spPr>
        <p:txBody>
          <a:bodyPr wrap="square" lIns="0" tIns="0" rIns="0" bIns="0" rtlCol="0" anchor="ctr"/>
          <a:lstStyle/>
          <a:p>
            <a:pPr indent="0" marL="0">
              <a:buNone/>
            </a:pPr>
            <a:r>
              <a:rPr lang="en-US" sz="1500" b="1" dirty="0">
                <a:solidFill>
                  <a:srgbClr val="5B6660"/>
                </a:solidFill>
                <a:latin typeface="Meiryo" pitchFamily="34" charset="0"/>
                <a:ea typeface="Meiryo" pitchFamily="34" charset="-122"/>
                <a:cs typeface="Meiryo" pitchFamily="34" charset="-120"/>
              </a:rPr>
              <a:t>校内研修で、この4つを問いにしてみてください</a:t>
            </a:r>
            <a:endParaRPr lang="en-US" sz="1500" dirty="0"/>
          </a:p>
        </p:txBody>
      </p:sp>
      <p:sp>
        <p:nvSpPr>
          <p:cNvPr id="8" name="Shape 6"/>
          <p:cNvSpPr/>
          <p:nvPr/>
        </p:nvSpPr>
        <p:spPr>
          <a:xfrm>
            <a:off x="640080" y="2926080"/>
            <a:ext cx="10911535" cy="603504"/>
          </a:xfrm>
          <a:prstGeom prst="roundRect">
            <a:avLst>
              <a:gd name="adj" fmla="val 9091"/>
            </a:avLst>
          </a:prstGeom>
          <a:solidFill>
            <a:srgbClr val="F1F5F2"/>
          </a:solidFill>
          <a:ln/>
        </p:spPr>
      </p:sp>
      <p:sp>
        <p:nvSpPr>
          <p:cNvPr id="9" name="Shape 7"/>
          <p:cNvSpPr/>
          <p:nvPr/>
        </p:nvSpPr>
        <p:spPr>
          <a:xfrm>
            <a:off x="932688" y="3044952"/>
            <a:ext cx="365760" cy="365760"/>
          </a:xfrm>
          <a:prstGeom prst="ellipse">
            <a:avLst/>
          </a:prstGeom>
          <a:solidFill>
            <a:srgbClr val="5C8A4A"/>
          </a:solidFill>
          <a:ln/>
        </p:spPr>
      </p:sp>
      <p:sp>
        <p:nvSpPr>
          <p:cNvPr id="10" name="Text 8"/>
          <p:cNvSpPr txBox="1"/>
          <p:nvPr/>
        </p:nvSpPr>
        <p:spPr>
          <a:xfrm>
            <a:off x="932688" y="3063240"/>
            <a:ext cx="3657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a:t>
            </a:r>
            <a:endParaRPr lang="en-US" sz="1100" dirty="0"/>
          </a:p>
        </p:txBody>
      </p:sp>
      <p:sp>
        <p:nvSpPr>
          <p:cNvPr id="11" name="Text 9"/>
          <p:cNvSpPr txBox="1"/>
          <p:nvPr/>
        </p:nvSpPr>
        <p:spPr>
          <a:xfrm>
            <a:off x="1463040" y="3063240"/>
            <a:ext cx="9722815" cy="347472"/>
          </a:xfrm>
          <a:prstGeom prst="rect">
            <a:avLst/>
          </a:prstGeom>
          <a:noFill/>
          <a:ln/>
        </p:spPr>
        <p:txBody>
          <a:bodyPr wrap="square" lIns="0" tIns="0" rIns="0" bIns="0" rtlCol="0" anchor="ctr"/>
          <a:lstStyle/>
          <a:p>
            <a:pPr indent="0" marL="0">
              <a:buNone/>
            </a:pPr>
            <a:r>
              <a:rPr lang="en-US" sz="1450" dirty="0">
                <a:solidFill>
                  <a:srgbClr val="1C2320"/>
                </a:solidFill>
                <a:latin typeface="Meiryo" pitchFamily="34" charset="0"/>
                <a:ea typeface="Meiryo" pitchFamily="34" charset="-122"/>
                <a:cs typeface="Meiryo" pitchFamily="34" charset="-120"/>
              </a:rPr>
              <a:t>「主体的に学習に取り組む態度」を、自校ではどう見取っているか</a:t>
            </a:r>
            <a:endParaRPr lang="en-US" sz="1450" dirty="0"/>
          </a:p>
        </p:txBody>
      </p:sp>
      <p:sp>
        <p:nvSpPr>
          <p:cNvPr id="12" name="Shape 10"/>
          <p:cNvSpPr/>
          <p:nvPr/>
        </p:nvSpPr>
        <p:spPr>
          <a:xfrm>
            <a:off x="640080" y="3584448"/>
            <a:ext cx="10911535" cy="603504"/>
          </a:xfrm>
          <a:prstGeom prst="roundRect">
            <a:avLst>
              <a:gd name="adj" fmla="val 9091"/>
            </a:avLst>
          </a:prstGeom>
          <a:solidFill>
            <a:srgbClr val="E4EDE6"/>
          </a:solidFill>
          <a:ln/>
        </p:spPr>
      </p:sp>
      <p:sp>
        <p:nvSpPr>
          <p:cNvPr id="13" name="Shape 11"/>
          <p:cNvSpPr/>
          <p:nvPr/>
        </p:nvSpPr>
        <p:spPr>
          <a:xfrm>
            <a:off x="932688" y="3703320"/>
            <a:ext cx="365760" cy="365760"/>
          </a:xfrm>
          <a:prstGeom prst="ellipse">
            <a:avLst/>
          </a:prstGeom>
          <a:solidFill>
            <a:srgbClr val="5C8A4A"/>
          </a:solidFill>
          <a:ln/>
        </p:spPr>
      </p:sp>
      <p:sp>
        <p:nvSpPr>
          <p:cNvPr id="14" name="Text 12"/>
          <p:cNvSpPr txBox="1"/>
          <p:nvPr/>
        </p:nvSpPr>
        <p:spPr>
          <a:xfrm>
            <a:off x="932688" y="3721608"/>
            <a:ext cx="3657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a:t>
            </a:r>
            <a:endParaRPr lang="en-US" sz="1100" dirty="0"/>
          </a:p>
        </p:txBody>
      </p:sp>
      <p:sp>
        <p:nvSpPr>
          <p:cNvPr id="15" name="Text 13"/>
          <p:cNvSpPr txBox="1"/>
          <p:nvPr/>
        </p:nvSpPr>
        <p:spPr>
          <a:xfrm>
            <a:off x="1463040" y="3721608"/>
            <a:ext cx="9722815" cy="347472"/>
          </a:xfrm>
          <a:prstGeom prst="rect">
            <a:avLst/>
          </a:prstGeom>
          <a:noFill/>
          <a:ln/>
        </p:spPr>
        <p:txBody>
          <a:bodyPr wrap="square" lIns="0" tIns="0" rIns="0" bIns="0" rtlCol="0" anchor="ctr"/>
          <a:lstStyle/>
          <a:p>
            <a:pPr indent="0" marL="0">
              <a:buNone/>
            </a:pPr>
            <a:r>
              <a:rPr lang="en-US" sz="1450" dirty="0">
                <a:solidFill>
                  <a:srgbClr val="1C2320"/>
                </a:solidFill>
                <a:latin typeface="Meiryo" pitchFamily="34" charset="0"/>
                <a:ea typeface="Meiryo" pitchFamily="34" charset="-122"/>
                <a:cs typeface="Meiryo" pitchFamily="34" charset="-120"/>
              </a:rPr>
              <a:t>その見取り方は、子供にどう伝わっているか</a:t>
            </a:r>
            <a:endParaRPr lang="en-US" sz="1450" dirty="0"/>
          </a:p>
        </p:txBody>
      </p:sp>
      <p:sp>
        <p:nvSpPr>
          <p:cNvPr id="16" name="Shape 14"/>
          <p:cNvSpPr/>
          <p:nvPr/>
        </p:nvSpPr>
        <p:spPr>
          <a:xfrm>
            <a:off x="640080" y="4242816"/>
            <a:ext cx="10911535" cy="603504"/>
          </a:xfrm>
          <a:prstGeom prst="roundRect">
            <a:avLst>
              <a:gd name="adj" fmla="val 9091"/>
            </a:avLst>
          </a:prstGeom>
          <a:solidFill>
            <a:srgbClr val="F1F5F2"/>
          </a:solidFill>
          <a:ln/>
        </p:spPr>
      </p:sp>
      <p:sp>
        <p:nvSpPr>
          <p:cNvPr id="17" name="Shape 15"/>
          <p:cNvSpPr/>
          <p:nvPr/>
        </p:nvSpPr>
        <p:spPr>
          <a:xfrm>
            <a:off x="932688" y="4361688"/>
            <a:ext cx="365760" cy="365760"/>
          </a:xfrm>
          <a:prstGeom prst="ellipse">
            <a:avLst/>
          </a:prstGeom>
          <a:solidFill>
            <a:srgbClr val="5C8A4A"/>
          </a:solidFill>
          <a:ln/>
        </p:spPr>
      </p:sp>
      <p:sp>
        <p:nvSpPr>
          <p:cNvPr id="18" name="Text 16"/>
          <p:cNvSpPr txBox="1"/>
          <p:nvPr/>
        </p:nvSpPr>
        <p:spPr>
          <a:xfrm>
            <a:off x="932688" y="4379976"/>
            <a:ext cx="3657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a:t>
            </a:r>
            <a:endParaRPr lang="en-US" sz="1100" dirty="0"/>
          </a:p>
        </p:txBody>
      </p:sp>
      <p:sp>
        <p:nvSpPr>
          <p:cNvPr id="19" name="Text 17"/>
          <p:cNvSpPr txBox="1"/>
          <p:nvPr/>
        </p:nvSpPr>
        <p:spPr>
          <a:xfrm>
            <a:off x="1463040" y="4379976"/>
            <a:ext cx="9722815" cy="347472"/>
          </a:xfrm>
          <a:prstGeom prst="rect">
            <a:avLst/>
          </a:prstGeom>
          <a:noFill/>
          <a:ln/>
        </p:spPr>
        <p:txBody>
          <a:bodyPr wrap="square" lIns="0" tIns="0" rIns="0" bIns="0" rtlCol="0" anchor="ctr"/>
          <a:lstStyle/>
          <a:p>
            <a:pPr indent="0" marL="0">
              <a:buNone/>
            </a:pPr>
            <a:r>
              <a:rPr lang="en-US" sz="1450" dirty="0">
                <a:solidFill>
                  <a:srgbClr val="1C2320"/>
                </a:solidFill>
                <a:latin typeface="Meiryo" pitchFamily="34" charset="0"/>
                <a:ea typeface="Meiryo" pitchFamily="34" charset="-122"/>
                <a:cs typeface="Meiryo" pitchFamily="34" charset="-120"/>
              </a:rPr>
              <a:t>所見は、その子に向けた言葉になっているか</a:t>
            </a:r>
            <a:endParaRPr lang="en-US" sz="1450" dirty="0"/>
          </a:p>
        </p:txBody>
      </p:sp>
      <p:sp>
        <p:nvSpPr>
          <p:cNvPr id="20" name="Shape 18"/>
          <p:cNvSpPr/>
          <p:nvPr/>
        </p:nvSpPr>
        <p:spPr>
          <a:xfrm>
            <a:off x="640080" y="4901184"/>
            <a:ext cx="10911535" cy="603504"/>
          </a:xfrm>
          <a:prstGeom prst="roundRect">
            <a:avLst>
              <a:gd name="adj" fmla="val 9091"/>
            </a:avLst>
          </a:prstGeom>
          <a:solidFill>
            <a:srgbClr val="E4EDE6"/>
          </a:solidFill>
          <a:ln/>
        </p:spPr>
      </p:sp>
      <p:sp>
        <p:nvSpPr>
          <p:cNvPr id="21" name="Shape 19"/>
          <p:cNvSpPr/>
          <p:nvPr/>
        </p:nvSpPr>
        <p:spPr>
          <a:xfrm>
            <a:off x="932688" y="5020056"/>
            <a:ext cx="365760" cy="365760"/>
          </a:xfrm>
          <a:prstGeom prst="ellipse">
            <a:avLst/>
          </a:prstGeom>
          <a:solidFill>
            <a:srgbClr val="5C8A4A"/>
          </a:solidFill>
          <a:ln/>
        </p:spPr>
      </p:sp>
      <p:sp>
        <p:nvSpPr>
          <p:cNvPr id="22" name="Text 20"/>
          <p:cNvSpPr txBox="1"/>
          <p:nvPr/>
        </p:nvSpPr>
        <p:spPr>
          <a:xfrm>
            <a:off x="932688" y="5038344"/>
            <a:ext cx="3657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a:t>
            </a:r>
            <a:endParaRPr lang="en-US" sz="1100" dirty="0"/>
          </a:p>
        </p:txBody>
      </p:sp>
      <p:sp>
        <p:nvSpPr>
          <p:cNvPr id="23" name="Text 21"/>
          <p:cNvSpPr txBox="1"/>
          <p:nvPr/>
        </p:nvSpPr>
        <p:spPr>
          <a:xfrm>
            <a:off x="1463040" y="5038344"/>
            <a:ext cx="9722815" cy="347472"/>
          </a:xfrm>
          <a:prstGeom prst="rect">
            <a:avLst/>
          </a:prstGeom>
          <a:noFill/>
          <a:ln/>
        </p:spPr>
        <p:txBody>
          <a:bodyPr wrap="square" lIns="0" tIns="0" rIns="0" bIns="0" rtlCol="0" anchor="ctr"/>
          <a:lstStyle/>
          <a:p>
            <a:pPr indent="0" marL="0">
              <a:buNone/>
            </a:pPr>
            <a:r>
              <a:rPr lang="en-US" sz="1450" dirty="0">
                <a:solidFill>
                  <a:srgbClr val="1C2320"/>
                </a:solidFill>
                <a:latin typeface="Meiryo" pitchFamily="34" charset="0"/>
                <a:ea typeface="Meiryo" pitchFamily="34" charset="-122"/>
                <a:cs typeface="Meiryo" pitchFamily="34" charset="-120"/>
              </a:rPr>
              <a:t>テスト以外に、どんな評価の手立てを持っているか</a:t>
            </a:r>
            <a:endParaRPr lang="en-US" sz="1450" dirty="0"/>
          </a:p>
        </p:txBody>
      </p:sp>
      <p:sp>
        <p:nvSpPr>
          <p:cNvPr id="24" name="Shape 22"/>
          <p:cNvSpPr/>
          <p:nvPr/>
        </p:nvSpPr>
        <p:spPr>
          <a:xfrm>
            <a:off x="640080" y="5614416"/>
            <a:ext cx="10911535" cy="640080"/>
          </a:xfrm>
          <a:prstGeom prst="roundRect">
            <a:avLst>
              <a:gd name="adj" fmla="val 8571"/>
            </a:avLst>
          </a:prstGeom>
          <a:solidFill>
            <a:srgbClr val="F1F5F2"/>
          </a:solidFill>
          <a:ln/>
        </p:spPr>
      </p:sp>
      <p:sp>
        <p:nvSpPr>
          <p:cNvPr id="25" name="Text 23"/>
          <p:cNvSpPr txBox="1"/>
          <p:nvPr/>
        </p:nvSpPr>
        <p:spPr>
          <a:xfrm>
            <a:off x="1097280" y="5769864"/>
            <a:ext cx="9997135" cy="365760"/>
          </a:xfrm>
          <a:prstGeom prst="rect">
            <a:avLst/>
          </a:prstGeom>
          <a:noFill/>
          <a:ln/>
        </p:spPr>
        <p:txBody>
          <a:bodyPr wrap="square" lIns="0" tIns="0" rIns="0" bIns="0" rtlCol="0" anchor="ctr"/>
          <a:lstStyle/>
          <a:p>
            <a:pPr indent="0" marL="0">
              <a:buNone/>
            </a:pPr>
            <a:r>
              <a:rPr lang="en-US" sz="1500" b="1" dirty="0">
                <a:solidFill>
                  <a:srgbClr val="1F5D4C"/>
                </a:solidFill>
                <a:latin typeface="Meiryo" pitchFamily="34" charset="0"/>
                <a:ea typeface="Meiryo" pitchFamily="34" charset="-122"/>
                <a:cs typeface="Meiryo" pitchFamily="34" charset="-120"/>
              </a:rPr>
              <a:t>制度が固まる前でも、この問いは今すぐ立てられます。答えが出なくても構いません。</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45</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Ⅳ－10</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職員をどう巻き込むか</a:t>
            </a:r>
            <a:endParaRPr lang="en-US" sz="2800" dirty="0"/>
          </a:p>
        </p:txBody>
      </p:sp>
      <p:sp>
        <p:nvSpPr>
          <p:cNvPr id="5" name="Shape 3"/>
          <p:cNvSpPr/>
          <p:nvPr/>
        </p:nvSpPr>
        <p:spPr>
          <a:xfrm>
            <a:off x="640080" y="1536192"/>
            <a:ext cx="10911535" cy="1207008"/>
          </a:xfrm>
          <a:prstGeom prst="roundRect">
            <a:avLst>
              <a:gd name="adj" fmla="val 4545"/>
            </a:avLst>
          </a:prstGeom>
          <a:solidFill>
            <a:srgbClr val="F1F5F2"/>
          </a:solidFill>
          <a:ln/>
        </p:spPr>
      </p:sp>
      <p:sp>
        <p:nvSpPr>
          <p:cNvPr id="6" name="Shape 4"/>
          <p:cNvSpPr/>
          <p:nvPr/>
        </p:nvSpPr>
        <p:spPr>
          <a:xfrm>
            <a:off x="640080" y="1536192"/>
            <a:ext cx="1737360" cy="1207008"/>
          </a:xfrm>
          <a:prstGeom prst="roundRect">
            <a:avLst>
              <a:gd name="adj" fmla="val 4545"/>
            </a:avLst>
          </a:prstGeom>
          <a:solidFill>
            <a:srgbClr val="1F5D4C"/>
          </a:solidFill>
          <a:ln/>
        </p:spPr>
      </p:sp>
      <p:sp>
        <p:nvSpPr>
          <p:cNvPr id="7" name="Text 5"/>
          <p:cNvSpPr txBox="1"/>
          <p:nvPr/>
        </p:nvSpPr>
        <p:spPr>
          <a:xfrm>
            <a:off x="640080" y="1975104"/>
            <a:ext cx="173736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STEP 1</a:t>
            </a:r>
            <a:endParaRPr lang="en-US" sz="1500" dirty="0"/>
          </a:p>
        </p:txBody>
      </p:sp>
      <p:sp>
        <p:nvSpPr>
          <p:cNvPr id="8" name="Text 6"/>
          <p:cNvSpPr txBox="1"/>
          <p:nvPr/>
        </p:nvSpPr>
        <p:spPr>
          <a:xfrm>
            <a:off x="2651760" y="1773936"/>
            <a:ext cx="8534095" cy="384048"/>
          </a:xfrm>
          <a:prstGeom prst="rect">
            <a:avLst/>
          </a:prstGeom>
          <a:noFill/>
          <a:ln/>
        </p:spPr>
        <p:txBody>
          <a:bodyPr wrap="square" lIns="0" tIns="0" rIns="0" bIns="0" rtlCol="0" anchor="ctr"/>
          <a:lstStyle/>
          <a:p>
            <a:pPr indent="0" marL="0">
              <a:buNone/>
            </a:pPr>
            <a:r>
              <a:rPr lang="en-US" sz="1900" b="1" dirty="0">
                <a:solidFill>
                  <a:srgbClr val="14312A"/>
                </a:solidFill>
                <a:latin typeface="Meiryo" pitchFamily="34" charset="0"/>
                <a:ea typeface="Meiryo" pitchFamily="34" charset="-122"/>
                <a:cs typeface="Meiryo" pitchFamily="34" charset="-120"/>
              </a:rPr>
              <a:t>事実を共有する</a:t>
            </a:r>
            <a:endParaRPr lang="en-US" sz="1900" dirty="0"/>
          </a:p>
        </p:txBody>
      </p:sp>
      <p:sp>
        <p:nvSpPr>
          <p:cNvPr id="9" name="Text 7"/>
          <p:cNvSpPr txBox="1"/>
          <p:nvPr/>
        </p:nvSpPr>
        <p:spPr>
          <a:xfrm>
            <a:off x="2651760" y="2212848"/>
            <a:ext cx="8534095" cy="402336"/>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制度の説明ではなく、自校の現状の数字（行事の時数、会議の時間）から始める。</a:t>
            </a:r>
            <a:endParaRPr lang="en-US" sz="1350" dirty="0"/>
          </a:p>
        </p:txBody>
      </p:sp>
      <p:sp>
        <p:nvSpPr>
          <p:cNvPr id="10" name="Shape 8"/>
          <p:cNvSpPr/>
          <p:nvPr/>
        </p:nvSpPr>
        <p:spPr>
          <a:xfrm>
            <a:off x="640080" y="2871216"/>
            <a:ext cx="10911535" cy="1207008"/>
          </a:xfrm>
          <a:prstGeom prst="roundRect">
            <a:avLst>
              <a:gd name="adj" fmla="val 4545"/>
            </a:avLst>
          </a:prstGeom>
          <a:solidFill>
            <a:srgbClr val="F1F5F2"/>
          </a:solidFill>
          <a:ln/>
        </p:spPr>
      </p:sp>
      <p:sp>
        <p:nvSpPr>
          <p:cNvPr id="11" name="Shape 9"/>
          <p:cNvSpPr/>
          <p:nvPr/>
        </p:nvSpPr>
        <p:spPr>
          <a:xfrm>
            <a:off x="640080" y="2871216"/>
            <a:ext cx="1737360" cy="1207008"/>
          </a:xfrm>
          <a:prstGeom prst="roundRect">
            <a:avLst>
              <a:gd name="adj" fmla="val 4545"/>
            </a:avLst>
          </a:prstGeom>
          <a:solidFill>
            <a:srgbClr val="5C8A4A"/>
          </a:solidFill>
          <a:ln/>
        </p:spPr>
      </p:sp>
      <p:sp>
        <p:nvSpPr>
          <p:cNvPr id="12" name="Text 10"/>
          <p:cNvSpPr txBox="1"/>
          <p:nvPr/>
        </p:nvSpPr>
        <p:spPr>
          <a:xfrm>
            <a:off x="640080" y="3310128"/>
            <a:ext cx="173736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STEP 2</a:t>
            </a:r>
            <a:endParaRPr lang="en-US" sz="1500" dirty="0"/>
          </a:p>
        </p:txBody>
      </p:sp>
      <p:sp>
        <p:nvSpPr>
          <p:cNvPr id="13" name="Text 11"/>
          <p:cNvSpPr txBox="1"/>
          <p:nvPr/>
        </p:nvSpPr>
        <p:spPr>
          <a:xfrm>
            <a:off x="2651760" y="3108960"/>
            <a:ext cx="8534095" cy="384048"/>
          </a:xfrm>
          <a:prstGeom prst="rect">
            <a:avLst/>
          </a:prstGeom>
          <a:noFill/>
          <a:ln/>
        </p:spPr>
        <p:txBody>
          <a:bodyPr wrap="square" lIns="0" tIns="0" rIns="0" bIns="0" rtlCol="0" anchor="ctr"/>
          <a:lstStyle/>
          <a:p>
            <a:pPr indent="0" marL="0">
              <a:buNone/>
            </a:pPr>
            <a:r>
              <a:rPr lang="en-US" sz="1900" b="1" dirty="0">
                <a:solidFill>
                  <a:srgbClr val="14312A"/>
                </a:solidFill>
                <a:latin typeface="Meiryo" pitchFamily="34" charset="0"/>
                <a:ea typeface="Meiryo" pitchFamily="34" charset="-122"/>
                <a:cs typeface="Meiryo" pitchFamily="34" charset="-120"/>
              </a:rPr>
              <a:t>問いを渡す</a:t>
            </a:r>
            <a:endParaRPr lang="en-US" sz="1900" dirty="0"/>
          </a:p>
        </p:txBody>
      </p:sp>
      <p:sp>
        <p:nvSpPr>
          <p:cNvPr id="14" name="Text 12"/>
          <p:cNvSpPr txBox="1"/>
          <p:nvPr/>
        </p:nvSpPr>
        <p:spPr>
          <a:xfrm>
            <a:off x="2651760" y="3547872"/>
            <a:ext cx="8534095" cy="402336"/>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「どうすべきか」ではなく「何に時間を使いたいか」を問う。答えを先に用意しない。</a:t>
            </a:r>
            <a:endParaRPr lang="en-US" sz="1350" dirty="0"/>
          </a:p>
        </p:txBody>
      </p:sp>
      <p:sp>
        <p:nvSpPr>
          <p:cNvPr id="15" name="Shape 13"/>
          <p:cNvSpPr/>
          <p:nvPr/>
        </p:nvSpPr>
        <p:spPr>
          <a:xfrm>
            <a:off x="640080" y="4206240"/>
            <a:ext cx="10911535" cy="1207008"/>
          </a:xfrm>
          <a:prstGeom prst="roundRect">
            <a:avLst>
              <a:gd name="adj" fmla="val 4545"/>
            </a:avLst>
          </a:prstGeom>
          <a:solidFill>
            <a:srgbClr val="F1F5F2"/>
          </a:solidFill>
          <a:ln/>
        </p:spPr>
      </p:sp>
      <p:sp>
        <p:nvSpPr>
          <p:cNvPr id="16" name="Shape 14"/>
          <p:cNvSpPr/>
          <p:nvPr/>
        </p:nvSpPr>
        <p:spPr>
          <a:xfrm>
            <a:off x="640080" y="4206240"/>
            <a:ext cx="1737360" cy="1207008"/>
          </a:xfrm>
          <a:prstGeom prst="roundRect">
            <a:avLst>
              <a:gd name="adj" fmla="val 4545"/>
            </a:avLst>
          </a:prstGeom>
          <a:solidFill>
            <a:srgbClr val="B26B1B"/>
          </a:solidFill>
          <a:ln/>
        </p:spPr>
      </p:sp>
      <p:sp>
        <p:nvSpPr>
          <p:cNvPr id="17" name="Text 15"/>
          <p:cNvSpPr txBox="1"/>
          <p:nvPr/>
        </p:nvSpPr>
        <p:spPr>
          <a:xfrm>
            <a:off x="640080" y="4645152"/>
            <a:ext cx="173736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STEP 3</a:t>
            </a:r>
            <a:endParaRPr lang="en-US" sz="1500" dirty="0"/>
          </a:p>
        </p:txBody>
      </p:sp>
      <p:sp>
        <p:nvSpPr>
          <p:cNvPr id="18" name="Text 16"/>
          <p:cNvSpPr txBox="1"/>
          <p:nvPr/>
        </p:nvSpPr>
        <p:spPr>
          <a:xfrm>
            <a:off x="2651760" y="4443984"/>
            <a:ext cx="8534095" cy="384048"/>
          </a:xfrm>
          <a:prstGeom prst="rect">
            <a:avLst/>
          </a:prstGeom>
          <a:noFill/>
          <a:ln/>
        </p:spPr>
        <p:txBody>
          <a:bodyPr wrap="square" lIns="0" tIns="0" rIns="0" bIns="0" rtlCol="0" anchor="ctr"/>
          <a:lstStyle/>
          <a:p>
            <a:pPr indent="0" marL="0">
              <a:buNone/>
            </a:pPr>
            <a:r>
              <a:rPr lang="en-US" sz="1900" b="1" dirty="0">
                <a:solidFill>
                  <a:srgbClr val="14312A"/>
                </a:solidFill>
                <a:latin typeface="Meiryo" pitchFamily="34" charset="0"/>
                <a:ea typeface="Meiryo" pitchFamily="34" charset="-122"/>
                <a:cs typeface="Meiryo" pitchFamily="34" charset="-120"/>
              </a:rPr>
              <a:t>決めて、引き受ける</a:t>
            </a:r>
            <a:endParaRPr lang="en-US" sz="1900" dirty="0"/>
          </a:p>
        </p:txBody>
      </p:sp>
      <p:sp>
        <p:nvSpPr>
          <p:cNvPr id="19" name="Text 17"/>
          <p:cNvSpPr txBox="1"/>
          <p:nvPr/>
        </p:nvSpPr>
        <p:spPr>
          <a:xfrm>
            <a:off x="2651760" y="4882896"/>
            <a:ext cx="8534095" cy="402336"/>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議論は開く。決定は校長がする。反発の矢面には校長が立つ。</a:t>
            </a:r>
            <a:endParaRPr lang="en-US" sz="1350" dirty="0"/>
          </a:p>
        </p:txBody>
      </p:sp>
      <p:sp>
        <p:nvSpPr>
          <p:cNvPr id="20" name="Shape 18"/>
          <p:cNvSpPr/>
          <p:nvPr/>
        </p:nvSpPr>
        <p:spPr>
          <a:xfrm>
            <a:off x="640080" y="5541264"/>
            <a:ext cx="10911535" cy="749808"/>
          </a:xfrm>
          <a:prstGeom prst="roundRect">
            <a:avLst>
              <a:gd name="adj" fmla="val 7317"/>
            </a:avLst>
          </a:prstGeom>
          <a:solidFill>
            <a:srgbClr val="14312A"/>
          </a:solidFill>
          <a:ln/>
        </p:spPr>
      </p:sp>
      <p:sp>
        <p:nvSpPr>
          <p:cNvPr id="21" name="Text 19"/>
          <p:cNvSpPr txBox="1"/>
          <p:nvPr/>
        </p:nvSpPr>
        <p:spPr>
          <a:xfrm>
            <a:off x="1097280" y="5724144"/>
            <a:ext cx="9997135" cy="402336"/>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議論は開き、決定は引き受ける。これが校長の巻き込み方だと考えます。</a:t>
            </a:r>
            <a:endParaRPr lang="en-US" sz="1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46</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Ⅳ－11</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よくある反対と、その返し方</a:t>
            </a:r>
            <a:endParaRPr lang="en-US" sz="2800" dirty="0"/>
          </a:p>
        </p:txBody>
      </p:sp>
      <p:sp>
        <p:nvSpPr>
          <p:cNvPr id="5" name="Shape 3"/>
          <p:cNvSpPr/>
          <p:nvPr/>
        </p:nvSpPr>
        <p:spPr>
          <a:xfrm>
            <a:off x="640080" y="1481328"/>
            <a:ext cx="10911535" cy="1097280"/>
          </a:xfrm>
          <a:prstGeom prst="roundRect">
            <a:avLst>
              <a:gd name="adj" fmla="val 5000"/>
            </a:avLst>
          </a:prstGeom>
          <a:solidFill>
            <a:srgbClr val="F1F5F2"/>
          </a:solidFill>
          <a:ln/>
        </p:spPr>
      </p:sp>
      <p:sp>
        <p:nvSpPr>
          <p:cNvPr id="6" name="Shape 4"/>
          <p:cNvSpPr/>
          <p:nvPr/>
        </p:nvSpPr>
        <p:spPr>
          <a:xfrm>
            <a:off x="932688" y="1627632"/>
            <a:ext cx="402336" cy="402336"/>
          </a:xfrm>
          <a:prstGeom prst="ellipse">
            <a:avLst/>
          </a:prstGeom>
          <a:solidFill>
            <a:srgbClr val="5B6660"/>
          </a:solidFill>
          <a:ln/>
        </p:spPr>
      </p:sp>
      <p:sp>
        <p:nvSpPr>
          <p:cNvPr id="7" name="Text 5"/>
          <p:cNvSpPr txBox="1"/>
          <p:nvPr/>
        </p:nvSpPr>
        <p:spPr>
          <a:xfrm>
            <a:off x="932688" y="1664208"/>
            <a:ext cx="40233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Q</a:t>
            </a:r>
            <a:endParaRPr lang="en-US" sz="1300" dirty="0"/>
          </a:p>
        </p:txBody>
      </p:sp>
      <p:sp>
        <p:nvSpPr>
          <p:cNvPr id="8" name="Text 6"/>
          <p:cNvSpPr txBox="1"/>
          <p:nvPr/>
        </p:nvSpPr>
        <p:spPr>
          <a:xfrm>
            <a:off x="1481328" y="1636776"/>
            <a:ext cx="9722815" cy="347472"/>
          </a:xfrm>
          <a:prstGeom prst="rect">
            <a:avLst/>
          </a:prstGeom>
          <a:noFill/>
          <a:ln/>
        </p:spPr>
        <p:txBody>
          <a:bodyPr wrap="square" lIns="0" tIns="0" rIns="0" bIns="0" rtlCol="0" anchor="ctr"/>
          <a:lstStyle/>
          <a:p>
            <a:pPr indent="0" marL="0">
              <a:buNone/>
            </a:pPr>
            <a:r>
              <a:rPr lang="en-US" sz="1500" b="1" dirty="0">
                <a:solidFill>
                  <a:srgbClr val="5B6660"/>
                </a:solidFill>
                <a:latin typeface="Meiryo" pitchFamily="34" charset="0"/>
                <a:ea typeface="Meiryo" pitchFamily="34" charset="-122"/>
                <a:cs typeface="Meiryo" pitchFamily="34" charset="-120"/>
              </a:rPr>
              <a:t>まだ素案でしょう。確定してから動けばいい。</a:t>
            </a:r>
            <a:endParaRPr lang="en-US" sz="1500" dirty="0"/>
          </a:p>
        </p:txBody>
      </p:sp>
      <p:sp>
        <p:nvSpPr>
          <p:cNvPr id="9" name="Shape 7"/>
          <p:cNvSpPr/>
          <p:nvPr/>
        </p:nvSpPr>
        <p:spPr>
          <a:xfrm>
            <a:off x="932688" y="2066544"/>
            <a:ext cx="402336" cy="402336"/>
          </a:xfrm>
          <a:prstGeom prst="ellipse">
            <a:avLst/>
          </a:prstGeom>
          <a:solidFill>
            <a:srgbClr val="1F5D4C"/>
          </a:solidFill>
          <a:ln/>
        </p:spPr>
      </p:sp>
      <p:sp>
        <p:nvSpPr>
          <p:cNvPr id="10" name="Text 8"/>
          <p:cNvSpPr txBox="1"/>
          <p:nvPr/>
        </p:nvSpPr>
        <p:spPr>
          <a:xfrm>
            <a:off x="932688" y="2103120"/>
            <a:ext cx="40233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a:t>
            </a:r>
            <a:endParaRPr lang="en-US" sz="1300" dirty="0"/>
          </a:p>
        </p:txBody>
      </p:sp>
      <p:sp>
        <p:nvSpPr>
          <p:cNvPr id="11" name="Text 9"/>
          <p:cNvSpPr txBox="1"/>
          <p:nvPr/>
        </p:nvSpPr>
        <p:spPr>
          <a:xfrm>
            <a:off x="1481328" y="2057400"/>
            <a:ext cx="9722815" cy="402336"/>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確定を待つと設計期間が1年を切ります。今やるのは「決める準備」であって、決定ではありません。</a:t>
            </a:r>
            <a:endParaRPr lang="en-US" sz="1350" dirty="0"/>
          </a:p>
        </p:txBody>
      </p:sp>
      <p:sp>
        <p:nvSpPr>
          <p:cNvPr id="12" name="Shape 10"/>
          <p:cNvSpPr/>
          <p:nvPr/>
        </p:nvSpPr>
        <p:spPr>
          <a:xfrm>
            <a:off x="640080" y="2688336"/>
            <a:ext cx="10911535" cy="1097280"/>
          </a:xfrm>
          <a:prstGeom prst="roundRect">
            <a:avLst>
              <a:gd name="adj" fmla="val 5000"/>
            </a:avLst>
          </a:prstGeom>
          <a:solidFill>
            <a:srgbClr val="F1F5F2"/>
          </a:solidFill>
          <a:ln/>
        </p:spPr>
      </p:sp>
      <p:sp>
        <p:nvSpPr>
          <p:cNvPr id="13" name="Shape 11"/>
          <p:cNvSpPr/>
          <p:nvPr/>
        </p:nvSpPr>
        <p:spPr>
          <a:xfrm>
            <a:off x="932688" y="2834640"/>
            <a:ext cx="402336" cy="402336"/>
          </a:xfrm>
          <a:prstGeom prst="ellipse">
            <a:avLst/>
          </a:prstGeom>
          <a:solidFill>
            <a:srgbClr val="5B6660"/>
          </a:solidFill>
          <a:ln/>
        </p:spPr>
      </p:sp>
      <p:sp>
        <p:nvSpPr>
          <p:cNvPr id="14" name="Text 12"/>
          <p:cNvSpPr txBox="1"/>
          <p:nvPr/>
        </p:nvSpPr>
        <p:spPr>
          <a:xfrm>
            <a:off x="932688" y="2871216"/>
            <a:ext cx="40233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Q</a:t>
            </a:r>
            <a:endParaRPr lang="en-US" sz="1300" dirty="0"/>
          </a:p>
        </p:txBody>
      </p:sp>
      <p:sp>
        <p:nvSpPr>
          <p:cNvPr id="15" name="Text 13"/>
          <p:cNvSpPr txBox="1"/>
          <p:nvPr/>
        </p:nvSpPr>
        <p:spPr>
          <a:xfrm>
            <a:off x="1481328" y="2843784"/>
            <a:ext cx="9722815" cy="347472"/>
          </a:xfrm>
          <a:prstGeom prst="rect">
            <a:avLst/>
          </a:prstGeom>
          <a:noFill/>
          <a:ln/>
        </p:spPr>
        <p:txBody>
          <a:bodyPr wrap="square" lIns="0" tIns="0" rIns="0" bIns="0" rtlCol="0" anchor="ctr"/>
          <a:lstStyle/>
          <a:p>
            <a:pPr indent="0" marL="0">
              <a:buNone/>
            </a:pPr>
            <a:r>
              <a:rPr lang="en-US" sz="1500" b="1" dirty="0">
                <a:solidFill>
                  <a:srgbClr val="5B6660"/>
                </a:solidFill>
                <a:latin typeface="Meiryo" pitchFamily="34" charset="0"/>
                <a:ea typeface="Meiryo" pitchFamily="34" charset="-122"/>
                <a:cs typeface="Meiryo" pitchFamily="34" charset="-120"/>
              </a:rPr>
              <a:t>行事を減らすと、保護者から苦情が来る。</a:t>
            </a:r>
            <a:endParaRPr lang="en-US" sz="1500" dirty="0"/>
          </a:p>
        </p:txBody>
      </p:sp>
      <p:sp>
        <p:nvSpPr>
          <p:cNvPr id="16" name="Shape 14"/>
          <p:cNvSpPr/>
          <p:nvPr/>
        </p:nvSpPr>
        <p:spPr>
          <a:xfrm>
            <a:off x="932688" y="3273552"/>
            <a:ext cx="402336" cy="402336"/>
          </a:xfrm>
          <a:prstGeom prst="ellipse">
            <a:avLst/>
          </a:prstGeom>
          <a:solidFill>
            <a:srgbClr val="1F5D4C"/>
          </a:solidFill>
          <a:ln/>
        </p:spPr>
      </p:sp>
      <p:sp>
        <p:nvSpPr>
          <p:cNvPr id="17" name="Text 15"/>
          <p:cNvSpPr txBox="1"/>
          <p:nvPr/>
        </p:nvSpPr>
        <p:spPr>
          <a:xfrm>
            <a:off x="932688" y="3310128"/>
            <a:ext cx="40233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a:t>
            </a:r>
            <a:endParaRPr lang="en-US" sz="1300" dirty="0"/>
          </a:p>
        </p:txBody>
      </p:sp>
      <p:sp>
        <p:nvSpPr>
          <p:cNvPr id="18" name="Text 16"/>
          <p:cNvSpPr txBox="1"/>
          <p:nvPr/>
        </p:nvSpPr>
        <p:spPr>
          <a:xfrm>
            <a:off x="1481328" y="3264408"/>
            <a:ext cx="9722815" cy="402336"/>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減らす前に「何のための行事か」を説明できるようにします。目的とねらいを示せれば、大半は納得されます。</a:t>
            </a:r>
            <a:endParaRPr lang="en-US" sz="1350" dirty="0"/>
          </a:p>
        </p:txBody>
      </p:sp>
      <p:sp>
        <p:nvSpPr>
          <p:cNvPr id="19" name="Shape 17"/>
          <p:cNvSpPr/>
          <p:nvPr/>
        </p:nvSpPr>
        <p:spPr>
          <a:xfrm>
            <a:off x="640080" y="3895344"/>
            <a:ext cx="10911535" cy="1097280"/>
          </a:xfrm>
          <a:prstGeom prst="roundRect">
            <a:avLst>
              <a:gd name="adj" fmla="val 5000"/>
            </a:avLst>
          </a:prstGeom>
          <a:solidFill>
            <a:srgbClr val="F1F5F2"/>
          </a:solidFill>
          <a:ln/>
        </p:spPr>
      </p:sp>
      <p:sp>
        <p:nvSpPr>
          <p:cNvPr id="20" name="Shape 18"/>
          <p:cNvSpPr/>
          <p:nvPr/>
        </p:nvSpPr>
        <p:spPr>
          <a:xfrm>
            <a:off x="932688" y="4041648"/>
            <a:ext cx="402336" cy="402336"/>
          </a:xfrm>
          <a:prstGeom prst="ellipse">
            <a:avLst/>
          </a:prstGeom>
          <a:solidFill>
            <a:srgbClr val="5B6660"/>
          </a:solidFill>
          <a:ln/>
        </p:spPr>
      </p:sp>
      <p:sp>
        <p:nvSpPr>
          <p:cNvPr id="21" name="Text 19"/>
          <p:cNvSpPr txBox="1"/>
          <p:nvPr/>
        </p:nvSpPr>
        <p:spPr>
          <a:xfrm>
            <a:off x="932688" y="4078224"/>
            <a:ext cx="40233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Q</a:t>
            </a:r>
            <a:endParaRPr lang="en-US" sz="1300" dirty="0"/>
          </a:p>
        </p:txBody>
      </p:sp>
      <p:sp>
        <p:nvSpPr>
          <p:cNvPr id="22" name="Text 20"/>
          <p:cNvSpPr txBox="1"/>
          <p:nvPr/>
        </p:nvSpPr>
        <p:spPr>
          <a:xfrm>
            <a:off x="1481328" y="4050792"/>
            <a:ext cx="9722815" cy="347472"/>
          </a:xfrm>
          <a:prstGeom prst="rect">
            <a:avLst/>
          </a:prstGeom>
          <a:noFill/>
          <a:ln/>
        </p:spPr>
        <p:txBody>
          <a:bodyPr wrap="square" lIns="0" tIns="0" rIns="0" bIns="0" rtlCol="0" anchor="ctr"/>
          <a:lstStyle/>
          <a:p>
            <a:pPr indent="0" marL="0">
              <a:buNone/>
            </a:pPr>
            <a:r>
              <a:rPr lang="en-US" sz="1500" b="1" dirty="0">
                <a:solidFill>
                  <a:srgbClr val="5B6660"/>
                </a:solidFill>
                <a:latin typeface="Meiryo" pitchFamily="34" charset="0"/>
                <a:ea typeface="Meiryo" pitchFamily="34" charset="-122"/>
                <a:cs typeface="Meiryo" pitchFamily="34" charset="-120"/>
              </a:rPr>
              <a:t>削った時間で、結局新しい仕事が増えるのでは。</a:t>
            </a:r>
            <a:endParaRPr lang="en-US" sz="1500" dirty="0"/>
          </a:p>
        </p:txBody>
      </p:sp>
      <p:sp>
        <p:nvSpPr>
          <p:cNvPr id="23" name="Shape 21"/>
          <p:cNvSpPr/>
          <p:nvPr/>
        </p:nvSpPr>
        <p:spPr>
          <a:xfrm>
            <a:off x="932688" y="4480560"/>
            <a:ext cx="402336" cy="402336"/>
          </a:xfrm>
          <a:prstGeom prst="ellipse">
            <a:avLst/>
          </a:prstGeom>
          <a:solidFill>
            <a:srgbClr val="1F5D4C"/>
          </a:solidFill>
          <a:ln/>
        </p:spPr>
      </p:sp>
      <p:sp>
        <p:nvSpPr>
          <p:cNvPr id="24" name="Text 22"/>
          <p:cNvSpPr txBox="1"/>
          <p:nvPr/>
        </p:nvSpPr>
        <p:spPr>
          <a:xfrm>
            <a:off x="932688" y="4517136"/>
            <a:ext cx="40233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a:t>
            </a:r>
            <a:endParaRPr lang="en-US" sz="1300" dirty="0"/>
          </a:p>
        </p:txBody>
      </p:sp>
      <p:sp>
        <p:nvSpPr>
          <p:cNvPr id="25" name="Text 23"/>
          <p:cNvSpPr txBox="1"/>
          <p:nvPr/>
        </p:nvSpPr>
        <p:spPr>
          <a:xfrm>
            <a:off x="1481328" y="4471416"/>
            <a:ext cx="9722815" cy="402336"/>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だから、何に使うかを先に決めます。使い道を決めずに削ると、必ず別の何かで埋まります。</a:t>
            </a:r>
            <a:endParaRPr lang="en-US" sz="1350" dirty="0"/>
          </a:p>
        </p:txBody>
      </p:sp>
      <p:sp>
        <p:nvSpPr>
          <p:cNvPr id="26" name="Shape 24"/>
          <p:cNvSpPr/>
          <p:nvPr/>
        </p:nvSpPr>
        <p:spPr>
          <a:xfrm>
            <a:off x="640080" y="5102352"/>
            <a:ext cx="10911535" cy="1097280"/>
          </a:xfrm>
          <a:prstGeom prst="roundRect">
            <a:avLst>
              <a:gd name="adj" fmla="val 5000"/>
            </a:avLst>
          </a:prstGeom>
          <a:solidFill>
            <a:srgbClr val="F1F5F2"/>
          </a:solidFill>
          <a:ln/>
        </p:spPr>
      </p:sp>
      <p:sp>
        <p:nvSpPr>
          <p:cNvPr id="27" name="Shape 25"/>
          <p:cNvSpPr/>
          <p:nvPr/>
        </p:nvSpPr>
        <p:spPr>
          <a:xfrm>
            <a:off x="932688" y="5248656"/>
            <a:ext cx="402336" cy="402336"/>
          </a:xfrm>
          <a:prstGeom prst="ellipse">
            <a:avLst/>
          </a:prstGeom>
          <a:solidFill>
            <a:srgbClr val="5B6660"/>
          </a:solidFill>
          <a:ln/>
        </p:spPr>
      </p:sp>
      <p:sp>
        <p:nvSpPr>
          <p:cNvPr id="28" name="Text 26"/>
          <p:cNvSpPr txBox="1"/>
          <p:nvPr/>
        </p:nvSpPr>
        <p:spPr>
          <a:xfrm>
            <a:off x="932688" y="5285232"/>
            <a:ext cx="40233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Q</a:t>
            </a:r>
            <a:endParaRPr lang="en-US" sz="1300" dirty="0"/>
          </a:p>
        </p:txBody>
      </p:sp>
      <p:sp>
        <p:nvSpPr>
          <p:cNvPr id="29" name="Text 27"/>
          <p:cNvSpPr txBox="1"/>
          <p:nvPr/>
        </p:nvSpPr>
        <p:spPr>
          <a:xfrm>
            <a:off x="1481328" y="5257800"/>
            <a:ext cx="9722815" cy="347472"/>
          </a:xfrm>
          <a:prstGeom prst="rect">
            <a:avLst/>
          </a:prstGeom>
          <a:noFill/>
          <a:ln/>
        </p:spPr>
        <p:txBody>
          <a:bodyPr wrap="square" lIns="0" tIns="0" rIns="0" bIns="0" rtlCol="0" anchor="ctr"/>
          <a:lstStyle/>
          <a:p>
            <a:pPr indent="0" marL="0">
              <a:buNone/>
            </a:pPr>
            <a:r>
              <a:rPr lang="en-US" sz="1500" b="1" dirty="0">
                <a:solidFill>
                  <a:srgbClr val="5B6660"/>
                </a:solidFill>
                <a:latin typeface="Meiryo" pitchFamily="34" charset="0"/>
                <a:ea typeface="Meiryo" pitchFamily="34" charset="-122"/>
                <a:cs typeface="Meiryo" pitchFamily="34" charset="-120"/>
              </a:rPr>
              <a:t>うちの学校には余裕がない。</a:t>
            </a:r>
            <a:endParaRPr lang="en-US" sz="1500" dirty="0"/>
          </a:p>
        </p:txBody>
      </p:sp>
      <p:sp>
        <p:nvSpPr>
          <p:cNvPr id="30" name="Shape 28"/>
          <p:cNvSpPr/>
          <p:nvPr/>
        </p:nvSpPr>
        <p:spPr>
          <a:xfrm>
            <a:off x="932688" y="5687568"/>
            <a:ext cx="402336" cy="402336"/>
          </a:xfrm>
          <a:prstGeom prst="ellipse">
            <a:avLst/>
          </a:prstGeom>
          <a:solidFill>
            <a:srgbClr val="1F5D4C"/>
          </a:solidFill>
          <a:ln/>
        </p:spPr>
      </p:sp>
      <p:sp>
        <p:nvSpPr>
          <p:cNvPr id="31" name="Text 29"/>
          <p:cNvSpPr txBox="1"/>
          <p:nvPr/>
        </p:nvSpPr>
        <p:spPr>
          <a:xfrm>
            <a:off x="932688" y="5724144"/>
            <a:ext cx="40233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a:t>
            </a:r>
            <a:endParaRPr lang="en-US" sz="1300" dirty="0"/>
          </a:p>
        </p:txBody>
      </p:sp>
      <p:sp>
        <p:nvSpPr>
          <p:cNvPr id="32" name="Text 30"/>
          <p:cNvSpPr txBox="1"/>
          <p:nvPr/>
        </p:nvSpPr>
        <p:spPr>
          <a:xfrm>
            <a:off x="1481328" y="5678424"/>
            <a:ext cx="9722815" cy="402336"/>
          </a:xfrm>
          <a:prstGeom prst="rect">
            <a:avLst/>
          </a:prstGeom>
          <a:noFill/>
          <a:ln/>
        </p:spPr>
        <p:txBody>
          <a:bodyPr wrap="square" lIns="0" tIns="0" rIns="0" bIns="0" rtlCol="0" anchor="ctr"/>
          <a:lstStyle/>
          <a:p>
            <a:pPr indent="0" marL="0">
              <a:buNone/>
            </a:pPr>
            <a:r>
              <a:rPr lang="en-US" sz="1350" dirty="0">
                <a:solidFill>
                  <a:srgbClr val="1C2320"/>
                </a:solidFill>
                <a:latin typeface="Meiryo" pitchFamily="34" charset="0"/>
                <a:ea typeface="Meiryo" pitchFamily="34" charset="-122"/>
                <a:cs typeface="Meiryo" pitchFamily="34" charset="-120"/>
              </a:rPr>
              <a:t>余裕がないからこそ着手します。今のまま2028年を迎えるのが、いちばん負担が大きい選択です。</a:t>
            </a:r>
            <a:endParaRPr lang="en-US" sz="1350" dirty="0"/>
          </a:p>
        </p:txBody>
      </p:sp>
      <p:sp>
        <p:nvSpPr>
          <p:cNvPr id="33" name="Text 31"/>
          <p:cNvSpPr txBox="1"/>
          <p:nvPr/>
        </p:nvSpPr>
        <p:spPr>
          <a:xfrm>
            <a:off x="640080" y="6327648"/>
            <a:ext cx="10911535" cy="347472"/>
          </a:xfrm>
          <a:prstGeom prst="rect">
            <a:avLst/>
          </a:prstGeom>
          <a:noFill/>
          <a:ln/>
        </p:spPr>
        <p:txBody>
          <a:bodyPr wrap="square" lIns="0" tIns="0" rIns="0" bIns="0" rtlCol="0" anchor="ctr"/>
          <a:lstStyle/>
          <a:p>
            <a:pPr indent="0" marL="0">
              <a:buNone/>
            </a:pPr>
            <a:r>
              <a:rPr lang="en-US" sz="1400" b="1" dirty="0">
                <a:solidFill>
                  <a:srgbClr val="1F5D4C"/>
                </a:solidFill>
                <a:latin typeface="Meiryo" pitchFamily="34" charset="0"/>
                <a:ea typeface="Meiryo" pitchFamily="34" charset="-122"/>
                <a:cs typeface="Meiryo" pitchFamily="34" charset="-120"/>
              </a:rPr>
              <a:t>反対意見は、設計を鍛えてくれます。潰すのではなく、拾って使ってください。</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47</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Ⅴ－1</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学校経営計画に、こう書けます</a:t>
            </a:r>
            <a:endParaRPr lang="en-US" sz="2800" dirty="0"/>
          </a:p>
        </p:txBody>
      </p:sp>
      <p:sp>
        <p:nvSpPr>
          <p:cNvPr id="5" name="Shape 3"/>
          <p:cNvSpPr/>
          <p:nvPr/>
        </p:nvSpPr>
        <p:spPr>
          <a:xfrm>
            <a:off x="640080" y="1517904"/>
            <a:ext cx="5272888" cy="3703320"/>
          </a:xfrm>
          <a:prstGeom prst="roundRect">
            <a:avLst>
              <a:gd name="adj" fmla="val 1481"/>
            </a:avLst>
          </a:prstGeom>
          <a:solidFill>
            <a:srgbClr val="F1F5F2"/>
          </a:solidFill>
          <a:ln/>
        </p:spPr>
      </p:sp>
      <p:sp>
        <p:nvSpPr>
          <p:cNvPr id="6" name="Text 4"/>
          <p:cNvSpPr txBox="1"/>
          <p:nvPr/>
        </p:nvSpPr>
        <p:spPr>
          <a:xfrm>
            <a:off x="987552" y="1755648"/>
            <a:ext cx="4577944" cy="402336"/>
          </a:xfrm>
          <a:prstGeom prst="rect">
            <a:avLst/>
          </a:prstGeom>
          <a:noFill/>
          <a:ln/>
        </p:spPr>
        <p:txBody>
          <a:bodyPr wrap="square" lIns="0" tIns="0" rIns="0" bIns="0" rtlCol="0" anchor="ctr"/>
          <a:lstStyle/>
          <a:p>
            <a:pPr indent="0" marL="0">
              <a:buNone/>
            </a:pPr>
            <a:r>
              <a:rPr lang="en-US" sz="1900" b="1" dirty="0">
                <a:solidFill>
                  <a:srgbClr val="5B6660"/>
                </a:solidFill>
                <a:latin typeface="Meiryo" pitchFamily="34" charset="0"/>
                <a:ea typeface="Meiryo" pitchFamily="34" charset="-122"/>
                <a:cs typeface="Meiryo" pitchFamily="34" charset="-120"/>
              </a:rPr>
              <a:t>これまでの書き方</a:t>
            </a:r>
            <a:endParaRPr lang="en-US" sz="1900" dirty="0"/>
          </a:p>
        </p:txBody>
      </p:sp>
      <p:sp>
        <p:nvSpPr>
          <p:cNvPr id="7" name="Shape 5"/>
          <p:cNvSpPr/>
          <p:nvPr/>
        </p:nvSpPr>
        <p:spPr>
          <a:xfrm>
            <a:off x="950976" y="2359152"/>
            <a:ext cx="4651096" cy="749808"/>
          </a:xfrm>
          <a:prstGeom prst="roundRect">
            <a:avLst>
              <a:gd name="adj" fmla="val 7317"/>
            </a:avLst>
          </a:prstGeom>
          <a:solidFill>
            <a:srgbClr val="FFFFFF"/>
          </a:solidFill>
          <a:ln/>
        </p:spPr>
      </p:sp>
      <p:sp>
        <p:nvSpPr>
          <p:cNvPr id="8" name="Text 6"/>
          <p:cNvSpPr txBox="1"/>
          <p:nvPr/>
        </p:nvSpPr>
        <p:spPr>
          <a:xfrm>
            <a:off x="1133856" y="2478024"/>
            <a:ext cx="4285336" cy="530352"/>
          </a:xfrm>
          <a:prstGeom prst="rect">
            <a:avLst/>
          </a:prstGeom>
          <a:noFill/>
          <a:ln/>
        </p:spPr>
        <p:txBody>
          <a:bodyPr wrap="square" lIns="0" tIns="0" rIns="0" bIns="0" rtlCol="0" anchor="ctr"/>
          <a:lstStyle/>
          <a:p>
            <a:pPr indent="0" marL="0">
              <a:lnSpc>
                <a:spcPts val="1800"/>
              </a:lnSpc>
              <a:buNone/>
            </a:pPr>
            <a:r>
              <a:rPr lang="en-US" sz="1250" dirty="0">
                <a:solidFill>
                  <a:srgbClr val="5B6660"/>
                </a:solidFill>
                <a:latin typeface="Meiryo" pitchFamily="34" charset="0"/>
                <a:ea typeface="Meiryo" pitchFamily="34" charset="-122"/>
                <a:cs typeface="Meiryo" pitchFamily="34" charset="-120"/>
              </a:rPr>
              <a:t>「主体的・対話的で深い学びを推進する」</a:t>
            </a:r>
            <a:endParaRPr lang="en-US" sz="1250" dirty="0"/>
          </a:p>
        </p:txBody>
      </p:sp>
      <p:sp>
        <p:nvSpPr>
          <p:cNvPr id="9" name="Shape 7"/>
          <p:cNvSpPr/>
          <p:nvPr/>
        </p:nvSpPr>
        <p:spPr>
          <a:xfrm>
            <a:off x="950976" y="3218688"/>
            <a:ext cx="4651096" cy="749808"/>
          </a:xfrm>
          <a:prstGeom prst="roundRect">
            <a:avLst>
              <a:gd name="adj" fmla="val 7317"/>
            </a:avLst>
          </a:prstGeom>
          <a:solidFill>
            <a:srgbClr val="FFFFFF"/>
          </a:solidFill>
          <a:ln/>
        </p:spPr>
      </p:sp>
      <p:sp>
        <p:nvSpPr>
          <p:cNvPr id="10" name="Text 8"/>
          <p:cNvSpPr txBox="1"/>
          <p:nvPr/>
        </p:nvSpPr>
        <p:spPr>
          <a:xfrm>
            <a:off x="1133856" y="3337560"/>
            <a:ext cx="4285336" cy="530352"/>
          </a:xfrm>
          <a:prstGeom prst="rect">
            <a:avLst/>
          </a:prstGeom>
          <a:noFill/>
          <a:ln/>
        </p:spPr>
        <p:txBody>
          <a:bodyPr wrap="square" lIns="0" tIns="0" rIns="0" bIns="0" rtlCol="0" anchor="ctr"/>
          <a:lstStyle/>
          <a:p>
            <a:pPr indent="0" marL="0">
              <a:lnSpc>
                <a:spcPts val="1800"/>
              </a:lnSpc>
              <a:buNone/>
            </a:pPr>
            <a:r>
              <a:rPr lang="en-US" sz="1250" dirty="0">
                <a:solidFill>
                  <a:srgbClr val="5B6660"/>
                </a:solidFill>
                <a:latin typeface="Meiryo" pitchFamily="34" charset="0"/>
                <a:ea typeface="Meiryo" pitchFamily="34" charset="-122"/>
                <a:cs typeface="Meiryo" pitchFamily="34" charset="-120"/>
              </a:rPr>
              <a:t>「ICTを効果的に活用する」</a:t>
            </a:r>
            <a:endParaRPr lang="en-US" sz="1250" dirty="0"/>
          </a:p>
        </p:txBody>
      </p:sp>
      <p:sp>
        <p:nvSpPr>
          <p:cNvPr id="11" name="Shape 9"/>
          <p:cNvSpPr/>
          <p:nvPr/>
        </p:nvSpPr>
        <p:spPr>
          <a:xfrm>
            <a:off x="950976" y="4078224"/>
            <a:ext cx="4651096" cy="749808"/>
          </a:xfrm>
          <a:prstGeom prst="roundRect">
            <a:avLst>
              <a:gd name="adj" fmla="val 7317"/>
            </a:avLst>
          </a:prstGeom>
          <a:solidFill>
            <a:srgbClr val="FFFFFF"/>
          </a:solidFill>
          <a:ln/>
        </p:spPr>
      </p:sp>
      <p:sp>
        <p:nvSpPr>
          <p:cNvPr id="12" name="Text 10"/>
          <p:cNvSpPr txBox="1"/>
          <p:nvPr/>
        </p:nvSpPr>
        <p:spPr>
          <a:xfrm>
            <a:off x="1133856" y="4197096"/>
            <a:ext cx="4285336" cy="530352"/>
          </a:xfrm>
          <a:prstGeom prst="rect">
            <a:avLst/>
          </a:prstGeom>
          <a:noFill/>
          <a:ln/>
        </p:spPr>
        <p:txBody>
          <a:bodyPr wrap="square" lIns="0" tIns="0" rIns="0" bIns="0" rtlCol="0" anchor="ctr"/>
          <a:lstStyle/>
          <a:p>
            <a:pPr indent="0" marL="0">
              <a:lnSpc>
                <a:spcPts val="1800"/>
              </a:lnSpc>
              <a:buNone/>
            </a:pPr>
            <a:r>
              <a:rPr lang="en-US" sz="1250" dirty="0">
                <a:solidFill>
                  <a:srgbClr val="5B6660"/>
                </a:solidFill>
                <a:latin typeface="Meiryo" pitchFamily="34" charset="0"/>
                <a:ea typeface="Meiryo" pitchFamily="34" charset="-122"/>
                <a:cs typeface="Meiryo" pitchFamily="34" charset="-120"/>
              </a:rPr>
              <a:t>「働き方改革を進める」</a:t>
            </a:r>
            <a:endParaRPr lang="en-US" sz="1250" dirty="0"/>
          </a:p>
        </p:txBody>
      </p:sp>
      <p:sp>
        <p:nvSpPr>
          <p:cNvPr id="13" name="Text 11"/>
          <p:cNvSpPr txBox="1"/>
          <p:nvPr/>
        </p:nvSpPr>
        <p:spPr>
          <a:xfrm>
            <a:off x="987552" y="4864608"/>
            <a:ext cx="4577944" cy="310896"/>
          </a:xfrm>
          <a:prstGeom prst="rect">
            <a:avLst/>
          </a:prstGeom>
          <a:noFill/>
          <a:ln/>
        </p:spPr>
        <p:txBody>
          <a:bodyPr wrap="square" lIns="0" tIns="0" rIns="0" bIns="0" rtlCol="0" anchor="ctr"/>
          <a:lstStyle/>
          <a:p>
            <a:pPr indent="0" marL="0">
              <a:buNone/>
            </a:pPr>
            <a:r>
              <a:rPr lang="en-US" sz="1250" b="1" dirty="0">
                <a:solidFill>
                  <a:srgbClr val="5B6660"/>
                </a:solidFill>
                <a:latin typeface="Meiryo" pitchFamily="34" charset="0"/>
                <a:ea typeface="Meiryo" pitchFamily="34" charset="-122"/>
                <a:cs typeface="Meiryo" pitchFamily="34" charset="-120"/>
              </a:rPr>
              <a:t>何をするかが書かれていないため、日常業務に流されます。</a:t>
            </a:r>
            <a:endParaRPr lang="en-US" sz="1250" dirty="0"/>
          </a:p>
        </p:txBody>
      </p:sp>
      <p:sp>
        <p:nvSpPr>
          <p:cNvPr id="14" name="Shape 12"/>
          <p:cNvSpPr/>
          <p:nvPr/>
        </p:nvSpPr>
        <p:spPr>
          <a:xfrm>
            <a:off x="6278728" y="1517904"/>
            <a:ext cx="5272888" cy="3703320"/>
          </a:xfrm>
          <a:prstGeom prst="roundRect">
            <a:avLst>
              <a:gd name="adj" fmla="val 1481"/>
            </a:avLst>
          </a:prstGeom>
          <a:solidFill>
            <a:srgbClr val="E4EDE6"/>
          </a:solidFill>
          <a:ln/>
        </p:spPr>
      </p:sp>
      <p:sp>
        <p:nvSpPr>
          <p:cNvPr id="15" name="Text 13"/>
          <p:cNvSpPr txBox="1"/>
          <p:nvPr/>
        </p:nvSpPr>
        <p:spPr>
          <a:xfrm>
            <a:off x="6626200" y="1755648"/>
            <a:ext cx="4577944" cy="402336"/>
          </a:xfrm>
          <a:prstGeom prst="rect">
            <a:avLst/>
          </a:prstGeom>
          <a:noFill/>
          <a:ln/>
        </p:spPr>
        <p:txBody>
          <a:bodyPr wrap="square" lIns="0" tIns="0" rIns="0" bIns="0" rtlCol="0" anchor="ctr"/>
          <a:lstStyle/>
          <a:p>
            <a:pPr indent="0" marL="0">
              <a:buNone/>
            </a:pPr>
            <a:r>
              <a:rPr lang="en-US" sz="1900" b="1" dirty="0">
                <a:solidFill>
                  <a:srgbClr val="1F5D4C"/>
                </a:solidFill>
                <a:latin typeface="Meiryo" pitchFamily="34" charset="0"/>
                <a:ea typeface="Meiryo" pitchFamily="34" charset="-122"/>
                <a:cs typeface="Meiryo" pitchFamily="34" charset="-120"/>
              </a:rPr>
              <a:t>令和9年度の書き方</a:t>
            </a:r>
            <a:endParaRPr lang="en-US" sz="1900" dirty="0"/>
          </a:p>
        </p:txBody>
      </p:sp>
      <p:sp>
        <p:nvSpPr>
          <p:cNvPr id="16" name="Shape 14"/>
          <p:cNvSpPr/>
          <p:nvPr/>
        </p:nvSpPr>
        <p:spPr>
          <a:xfrm>
            <a:off x="6589624" y="2359152"/>
            <a:ext cx="4651096" cy="749808"/>
          </a:xfrm>
          <a:prstGeom prst="roundRect">
            <a:avLst>
              <a:gd name="adj" fmla="val 7317"/>
            </a:avLst>
          </a:prstGeom>
          <a:solidFill>
            <a:srgbClr val="FFFFFF"/>
          </a:solidFill>
          <a:ln/>
        </p:spPr>
      </p:sp>
      <p:sp>
        <p:nvSpPr>
          <p:cNvPr id="17" name="Text 15"/>
          <p:cNvSpPr txBox="1"/>
          <p:nvPr/>
        </p:nvSpPr>
        <p:spPr>
          <a:xfrm>
            <a:off x="6772504" y="2478024"/>
            <a:ext cx="4285336" cy="530352"/>
          </a:xfrm>
          <a:prstGeom prst="rect">
            <a:avLst/>
          </a:prstGeom>
          <a:noFill/>
          <a:ln/>
        </p:spPr>
        <p:txBody>
          <a:bodyPr wrap="square" lIns="0" tIns="0" rIns="0" bIns="0" rtlCol="0" anchor="ctr"/>
          <a:lstStyle/>
          <a:p>
            <a:pPr indent="0" marL="0">
              <a:lnSpc>
                <a:spcPts val="1800"/>
              </a:lnSpc>
              <a:buNone/>
            </a:pPr>
            <a:r>
              <a:rPr lang="en-US" sz="1250" dirty="0">
                <a:solidFill>
                  <a:srgbClr val="14312A"/>
                </a:solidFill>
                <a:latin typeface="Meiryo" pitchFamily="34" charset="0"/>
                <a:ea typeface="Meiryo" pitchFamily="34" charset="-122"/>
                <a:cs typeface="Meiryo" pitchFamily="34" charset="-120"/>
              </a:rPr>
              <a:t>「学校行事を棚卸しし、12月までに統合案を決定する」</a:t>
            </a:r>
            <a:endParaRPr lang="en-US" sz="1250" dirty="0"/>
          </a:p>
        </p:txBody>
      </p:sp>
      <p:sp>
        <p:nvSpPr>
          <p:cNvPr id="18" name="Shape 16"/>
          <p:cNvSpPr/>
          <p:nvPr/>
        </p:nvSpPr>
        <p:spPr>
          <a:xfrm>
            <a:off x="6589624" y="3218688"/>
            <a:ext cx="4651096" cy="749808"/>
          </a:xfrm>
          <a:prstGeom prst="roundRect">
            <a:avLst>
              <a:gd name="adj" fmla="val 7317"/>
            </a:avLst>
          </a:prstGeom>
          <a:solidFill>
            <a:srgbClr val="FFFFFF"/>
          </a:solidFill>
          <a:ln/>
        </p:spPr>
      </p:sp>
      <p:sp>
        <p:nvSpPr>
          <p:cNvPr id="19" name="Text 17"/>
          <p:cNvSpPr txBox="1"/>
          <p:nvPr/>
        </p:nvSpPr>
        <p:spPr>
          <a:xfrm>
            <a:off x="6772504" y="3337560"/>
            <a:ext cx="4285336" cy="530352"/>
          </a:xfrm>
          <a:prstGeom prst="rect">
            <a:avLst/>
          </a:prstGeom>
          <a:noFill/>
          <a:ln/>
        </p:spPr>
        <p:txBody>
          <a:bodyPr wrap="square" lIns="0" tIns="0" rIns="0" bIns="0" rtlCol="0" anchor="ctr"/>
          <a:lstStyle/>
          <a:p>
            <a:pPr indent="0" marL="0">
              <a:lnSpc>
                <a:spcPts val="1800"/>
              </a:lnSpc>
              <a:buNone/>
            </a:pPr>
            <a:r>
              <a:rPr lang="en-US" sz="1250" dirty="0">
                <a:solidFill>
                  <a:srgbClr val="14312A"/>
                </a:solidFill>
                <a:latin typeface="Meiryo" pitchFamily="34" charset="0"/>
                <a:ea typeface="Meiryo" pitchFamily="34" charset="-122"/>
                <a:cs typeface="Meiryo" pitchFamily="34" charset="-120"/>
              </a:rPr>
              <a:t>「情報活用能力の自校系統表を3月までに作成する」</a:t>
            </a:r>
            <a:endParaRPr lang="en-US" sz="1250" dirty="0"/>
          </a:p>
        </p:txBody>
      </p:sp>
      <p:sp>
        <p:nvSpPr>
          <p:cNvPr id="20" name="Shape 18"/>
          <p:cNvSpPr/>
          <p:nvPr/>
        </p:nvSpPr>
        <p:spPr>
          <a:xfrm>
            <a:off x="6589624" y="4078224"/>
            <a:ext cx="4651096" cy="749808"/>
          </a:xfrm>
          <a:prstGeom prst="roundRect">
            <a:avLst>
              <a:gd name="adj" fmla="val 7317"/>
            </a:avLst>
          </a:prstGeom>
          <a:solidFill>
            <a:srgbClr val="FFFFFF"/>
          </a:solidFill>
          <a:ln/>
        </p:spPr>
      </p:sp>
      <p:sp>
        <p:nvSpPr>
          <p:cNvPr id="21" name="Text 19"/>
          <p:cNvSpPr txBox="1"/>
          <p:nvPr/>
        </p:nvSpPr>
        <p:spPr>
          <a:xfrm>
            <a:off x="6772504" y="4197096"/>
            <a:ext cx="4285336" cy="530352"/>
          </a:xfrm>
          <a:prstGeom prst="rect">
            <a:avLst/>
          </a:prstGeom>
          <a:noFill/>
          <a:ln/>
        </p:spPr>
        <p:txBody>
          <a:bodyPr wrap="square" lIns="0" tIns="0" rIns="0" bIns="0" rtlCol="0" anchor="ctr"/>
          <a:lstStyle/>
          <a:p>
            <a:pPr indent="0" marL="0">
              <a:lnSpc>
                <a:spcPts val="1800"/>
              </a:lnSpc>
              <a:buNone/>
            </a:pPr>
            <a:r>
              <a:rPr lang="en-US" sz="1250" dirty="0">
                <a:solidFill>
                  <a:srgbClr val="14312A"/>
                </a:solidFill>
                <a:latin typeface="Meiryo" pitchFamily="34" charset="0"/>
                <a:ea typeface="Meiryo" pitchFamily="34" charset="-122"/>
                <a:cs typeface="Meiryo" pitchFamily="34" charset="-120"/>
              </a:rPr>
              <a:t>「校内研修を年間◯回に絞り、授業改善に直結する内容とする」</a:t>
            </a:r>
            <a:endParaRPr lang="en-US" sz="1250" dirty="0"/>
          </a:p>
        </p:txBody>
      </p:sp>
      <p:sp>
        <p:nvSpPr>
          <p:cNvPr id="22" name="Text 20"/>
          <p:cNvSpPr txBox="1"/>
          <p:nvPr/>
        </p:nvSpPr>
        <p:spPr>
          <a:xfrm>
            <a:off x="6626200" y="4864608"/>
            <a:ext cx="4577944" cy="310896"/>
          </a:xfrm>
          <a:prstGeom prst="rect">
            <a:avLst/>
          </a:prstGeom>
          <a:noFill/>
          <a:ln/>
        </p:spPr>
        <p:txBody>
          <a:bodyPr wrap="square" lIns="0" tIns="0" rIns="0" bIns="0" rtlCol="0" anchor="ctr"/>
          <a:lstStyle/>
          <a:p>
            <a:pPr indent="0" marL="0">
              <a:buNone/>
            </a:pPr>
            <a:r>
              <a:rPr lang="en-US" sz="1250" b="1" dirty="0">
                <a:solidFill>
                  <a:srgbClr val="1F5D4C"/>
                </a:solidFill>
                <a:latin typeface="Meiryo" pitchFamily="34" charset="0"/>
                <a:ea typeface="Meiryo" pitchFamily="34" charset="-122"/>
                <a:cs typeface="Meiryo" pitchFamily="34" charset="-120"/>
              </a:rPr>
              <a:t>主語・期限・成果物が入ると、動き出します。</a:t>
            </a:r>
            <a:endParaRPr lang="en-US" sz="1250" dirty="0"/>
          </a:p>
        </p:txBody>
      </p:sp>
      <p:sp>
        <p:nvSpPr>
          <p:cNvPr id="23" name="Shape 21"/>
          <p:cNvSpPr/>
          <p:nvPr/>
        </p:nvSpPr>
        <p:spPr>
          <a:xfrm>
            <a:off x="640080" y="5413248"/>
            <a:ext cx="10911535" cy="804672"/>
          </a:xfrm>
          <a:prstGeom prst="roundRect">
            <a:avLst>
              <a:gd name="adj" fmla="val 6818"/>
            </a:avLst>
          </a:prstGeom>
          <a:solidFill>
            <a:srgbClr val="14312A"/>
          </a:solidFill>
          <a:ln/>
        </p:spPr>
      </p:sp>
      <p:sp>
        <p:nvSpPr>
          <p:cNvPr id="24" name="Text 22"/>
          <p:cNvSpPr txBox="1"/>
          <p:nvPr/>
        </p:nvSpPr>
        <p:spPr>
          <a:xfrm>
            <a:off x="1097280" y="5614416"/>
            <a:ext cx="9997135" cy="420624"/>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「主語・期限・成果物」。この3つが入っているかだけ、確認してください。</a:t>
            </a:r>
            <a:endParaRPr lang="en-US" sz="17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48</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Ⅴ－2</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令和9年度 マイルストーン</a:t>
            </a:r>
            <a:endParaRPr lang="en-US" sz="2800" dirty="0"/>
          </a:p>
        </p:txBody>
      </p:sp>
      <p:sp>
        <p:nvSpPr>
          <p:cNvPr id="5" name="Shape 3"/>
          <p:cNvSpPr/>
          <p:nvPr/>
        </p:nvSpPr>
        <p:spPr>
          <a:xfrm>
            <a:off x="640080" y="1536192"/>
            <a:ext cx="2556434" cy="3794760"/>
          </a:xfrm>
          <a:prstGeom prst="roundRect">
            <a:avLst>
              <a:gd name="adj" fmla="val 2146"/>
            </a:avLst>
          </a:prstGeom>
          <a:solidFill>
            <a:srgbClr val="F1F5F2"/>
          </a:solidFill>
          <a:ln/>
        </p:spPr>
      </p:sp>
      <p:sp>
        <p:nvSpPr>
          <p:cNvPr id="6" name="Shape 4"/>
          <p:cNvSpPr/>
          <p:nvPr/>
        </p:nvSpPr>
        <p:spPr>
          <a:xfrm>
            <a:off x="640080" y="1536192"/>
            <a:ext cx="2556434" cy="960120"/>
          </a:xfrm>
          <a:prstGeom prst="roundRect">
            <a:avLst>
              <a:gd name="adj" fmla="val 5714"/>
            </a:avLst>
          </a:prstGeom>
          <a:solidFill>
            <a:srgbClr val="1F5D4C"/>
          </a:solidFill>
          <a:ln/>
        </p:spPr>
      </p:sp>
      <p:sp>
        <p:nvSpPr>
          <p:cNvPr id="7" name="Text 5"/>
          <p:cNvSpPr txBox="1"/>
          <p:nvPr/>
        </p:nvSpPr>
        <p:spPr>
          <a:xfrm>
            <a:off x="640080" y="1664208"/>
            <a:ext cx="2556434"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4月</a:t>
            </a:r>
            <a:endParaRPr lang="en-US" sz="2200" dirty="0"/>
          </a:p>
        </p:txBody>
      </p:sp>
      <p:sp>
        <p:nvSpPr>
          <p:cNvPr id="8" name="Text 6"/>
          <p:cNvSpPr txBox="1"/>
          <p:nvPr/>
        </p:nvSpPr>
        <p:spPr>
          <a:xfrm>
            <a:off x="640080" y="2084832"/>
            <a:ext cx="2556434" cy="292608"/>
          </a:xfrm>
          <a:prstGeom prst="rect">
            <a:avLst/>
          </a:prstGeom>
          <a:noFill/>
          <a:ln/>
        </p:spPr>
        <p:txBody>
          <a:bodyPr wrap="square" lIns="0" tIns="0" rIns="0" bIns="0" rtlCol="0" anchor="ctr"/>
          <a:lstStyle/>
          <a:p>
            <a:pPr algn="ctr" indent="0" marL="0">
              <a:buNone/>
            </a:pPr>
            <a:r>
              <a:rPr lang="en-US" sz="1300" dirty="0">
                <a:solidFill>
                  <a:srgbClr val="D6E4D8"/>
                </a:solidFill>
                <a:latin typeface="Meiryo" pitchFamily="34" charset="0"/>
                <a:ea typeface="Meiryo" pitchFamily="34" charset="-122"/>
                <a:cs typeface="Meiryo" pitchFamily="34" charset="-120"/>
              </a:rPr>
              <a:t>共有する</a:t>
            </a:r>
            <a:endParaRPr lang="en-US" sz="1300" dirty="0"/>
          </a:p>
        </p:txBody>
      </p:sp>
      <p:sp>
        <p:nvSpPr>
          <p:cNvPr id="9" name="Text 7"/>
          <p:cNvSpPr txBox="1"/>
          <p:nvPr/>
        </p:nvSpPr>
        <p:spPr>
          <a:xfrm>
            <a:off x="859536" y="2724912"/>
            <a:ext cx="2117522"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職員会議で素案の要点を共有</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「何に時間を使いたいか」を問う</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担当を決める</a:t>
            </a:r>
            <a:endParaRPr lang="en-US" sz="1250" dirty="0"/>
          </a:p>
        </p:txBody>
      </p:sp>
      <p:sp>
        <p:nvSpPr>
          <p:cNvPr id="10" name="Shape 8"/>
          <p:cNvSpPr/>
          <p:nvPr/>
        </p:nvSpPr>
        <p:spPr>
          <a:xfrm>
            <a:off x="3425114" y="1536192"/>
            <a:ext cx="2556434" cy="3794760"/>
          </a:xfrm>
          <a:prstGeom prst="roundRect">
            <a:avLst>
              <a:gd name="adj" fmla="val 2146"/>
            </a:avLst>
          </a:prstGeom>
          <a:solidFill>
            <a:srgbClr val="F1F5F2"/>
          </a:solidFill>
          <a:ln/>
        </p:spPr>
      </p:sp>
      <p:sp>
        <p:nvSpPr>
          <p:cNvPr id="11" name="Shape 9"/>
          <p:cNvSpPr/>
          <p:nvPr/>
        </p:nvSpPr>
        <p:spPr>
          <a:xfrm>
            <a:off x="3425114" y="1536192"/>
            <a:ext cx="2556434" cy="960120"/>
          </a:xfrm>
          <a:prstGeom prst="roundRect">
            <a:avLst>
              <a:gd name="adj" fmla="val 5714"/>
            </a:avLst>
          </a:prstGeom>
          <a:solidFill>
            <a:srgbClr val="5C8A4A"/>
          </a:solidFill>
          <a:ln/>
        </p:spPr>
      </p:sp>
      <p:sp>
        <p:nvSpPr>
          <p:cNvPr id="12" name="Text 10"/>
          <p:cNvSpPr txBox="1"/>
          <p:nvPr/>
        </p:nvSpPr>
        <p:spPr>
          <a:xfrm>
            <a:off x="3425114" y="1664208"/>
            <a:ext cx="2556434"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7月</a:t>
            </a:r>
            <a:endParaRPr lang="en-US" sz="2200" dirty="0"/>
          </a:p>
        </p:txBody>
      </p:sp>
      <p:sp>
        <p:nvSpPr>
          <p:cNvPr id="13" name="Text 11"/>
          <p:cNvSpPr txBox="1"/>
          <p:nvPr/>
        </p:nvSpPr>
        <p:spPr>
          <a:xfrm>
            <a:off x="3425114" y="2084832"/>
            <a:ext cx="2556434" cy="292608"/>
          </a:xfrm>
          <a:prstGeom prst="rect">
            <a:avLst/>
          </a:prstGeom>
          <a:noFill/>
          <a:ln/>
        </p:spPr>
        <p:txBody>
          <a:bodyPr wrap="square" lIns="0" tIns="0" rIns="0" bIns="0" rtlCol="0" anchor="ctr"/>
          <a:lstStyle/>
          <a:p>
            <a:pPr algn="ctr" indent="0" marL="0">
              <a:buNone/>
            </a:pPr>
            <a:r>
              <a:rPr lang="en-US" sz="1300" dirty="0">
                <a:solidFill>
                  <a:srgbClr val="D6E4D8"/>
                </a:solidFill>
                <a:latin typeface="Meiryo" pitchFamily="34" charset="0"/>
                <a:ea typeface="Meiryo" pitchFamily="34" charset="-122"/>
                <a:cs typeface="Meiryo" pitchFamily="34" charset="-120"/>
              </a:rPr>
              <a:t>棚卸す</a:t>
            </a:r>
            <a:endParaRPr lang="en-US" sz="1300" dirty="0"/>
          </a:p>
        </p:txBody>
      </p:sp>
      <p:sp>
        <p:nvSpPr>
          <p:cNvPr id="14" name="Text 12"/>
          <p:cNvSpPr txBox="1"/>
          <p:nvPr/>
        </p:nvSpPr>
        <p:spPr>
          <a:xfrm>
            <a:off x="3644570" y="2724912"/>
            <a:ext cx="2117522"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行事・会議・研修を一覧化</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時数と負担を数字にする</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1学期の実態を記録</a:t>
            </a:r>
            <a:endParaRPr lang="en-US" sz="1250" dirty="0"/>
          </a:p>
        </p:txBody>
      </p:sp>
      <p:sp>
        <p:nvSpPr>
          <p:cNvPr id="15" name="Shape 13"/>
          <p:cNvSpPr/>
          <p:nvPr/>
        </p:nvSpPr>
        <p:spPr>
          <a:xfrm>
            <a:off x="6210148" y="1536192"/>
            <a:ext cx="2556434" cy="3794760"/>
          </a:xfrm>
          <a:prstGeom prst="roundRect">
            <a:avLst>
              <a:gd name="adj" fmla="val 2146"/>
            </a:avLst>
          </a:prstGeom>
          <a:solidFill>
            <a:srgbClr val="F1F5F2"/>
          </a:solidFill>
          <a:ln/>
        </p:spPr>
      </p:sp>
      <p:sp>
        <p:nvSpPr>
          <p:cNvPr id="16" name="Shape 14"/>
          <p:cNvSpPr/>
          <p:nvPr/>
        </p:nvSpPr>
        <p:spPr>
          <a:xfrm>
            <a:off x="6210148" y="1536192"/>
            <a:ext cx="2556434" cy="960120"/>
          </a:xfrm>
          <a:prstGeom prst="roundRect">
            <a:avLst>
              <a:gd name="adj" fmla="val 5714"/>
            </a:avLst>
          </a:prstGeom>
          <a:solidFill>
            <a:srgbClr val="B26B1B"/>
          </a:solidFill>
          <a:ln/>
        </p:spPr>
      </p:sp>
      <p:sp>
        <p:nvSpPr>
          <p:cNvPr id="17" name="Text 15"/>
          <p:cNvSpPr txBox="1"/>
          <p:nvPr/>
        </p:nvSpPr>
        <p:spPr>
          <a:xfrm>
            <a:off x="6210148" y="1664208"/>
            <a:ext cx="2556434"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12月</a:t>
            </a:r>
            <a:endParaRPr lang="en-US" sz="2200" dirty="0"/>
          </a:p>
        </p:txBody>
      </p:sp>
      <p:sp>
        <p:nvSpPr>
          <p:cNvPr id="18" name="Text 16"/>
          <p:cNvSpPr txBox="1"/>
          <p:nvPr/>
        </p:nvSpPr>
        <p:spPr>
          <a:xfrm>
            <a:off x="6210148" y="2084832"/>
            <a:ext cx="2556434" cy="292608"/>
          </a:xfrm>
          <a:prstGeom prst="rect">
            <a:avLst/>
          </a:prstGeom>
          <a:noFill/>
          <a:ln/>
        </p:spPr>
        <p:txBody>
          <a:bodyPr wrap="square" lIns="0" tIns="0" rIns="0" bIns="0" rtlCol="0" anchor="ctr"/>
          <a:lstStyle/>
          <a:p>
            <a:pPr algn="ctr" indent="0" marL="0">
              <a:buNone/>
            </a:pPr>
            <a:r>
              <a:rPr lang="en-US" sz="1300" dirty="0">
                <a:solidFill>
                  <a:srgbClr val="D6E4D8"/>
                </a:solidFill>
                <a:latin typeface="Meiryo" pitchFamily="34" charset="0"/>
                <a:ea typeface="Meiryo" pitchFamily="34" charset="-122"/>
                <a:cs typeface="Meiryo" pitchFamily="34" charset="-120"/>
              </a:rPr>
              <a:t>決める</a:t>
            </a:r>
            <a:endParaRPr lang="en-US" sz="1300" dirty="0"/>
          </a:p>
        </p:txBody>
      </p:sp>
      <p:sp>
        <p:nvSpPr>
          <p:cNvPr id="19" name="Text 17"/>
          <p:cNvSpPr txBox="1"/>
          <p:nvPr/>
        </p:nvSpPr>
        <p:spPr>
          <a:xfrm>
            <a:off x="6429604" y="2724912"/>
            <a:ext cx="2117522"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統合・縮減の結論を出す</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令和10年度の時間割方針を決定</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保護者・地域へ説明</a:t>
            </a:r>
            <a:endParaRPr lang="en-US" sz="1250" dirty="0"/>
          </a:p>
        </p:txBody>
      </p:sp>
      <p:sp>
        <p:nvSpPr>
          <p:cNvPr id="20" name="Shape 18"/>
          <p:cNvSpPr/>
          <p:nvPr/>
        </p:nvSpPr>
        <p:spPr>
          <a:xfrm>
            <a:off x="8995181" y="1536192"/>
            <a:ext cx="2556434" cy="3794760"/>
          </a:xfrm>
          <a:prstGeom prst="roundRect">
            <a:avLst>
              <a:gd name="adj" fmla="val 2146"/>
            </a:avLst>
          </a:prstGeom>
          <a:solidFill>
            <a:srgbClr val="F1F5F2"/>
          </a:solidFill>
          <a:ln/>
        </p:spPr>
      </p:sp>
      <p:sp>
        <p:nvSpPr>
          <p:cNvPr id="21" name="Shape 19"/>
          <p:cNvSpPr/>
          <p:nvPr/>
        </p:nvSpPr>
        <p:spPr>
          <a:xfrm>
            <a:off x="8995181" y="1536192"/>
            <a:ext cx="2556434" cy="960120"/>
          </a:xfrm>
          <a:prstGeom prst="roundRect">
            <a:avLst>
              <a:gd name="adj" fmla="val 5714"/>
            </a:avLst>
          </a:prstGeom>
          <a:solidFill>
            <a:srgbClr val="1F5D4C"/>
          </a:solidFill>
          <a:ln/>
        </p:spPr>
      </p:sp>
      <p:sp>
        <p:nvSpPr>
          <p:cNvPr id="22" name="Text 20"/>
          <p:cNvSpPr txBox="1"/>
          <p:nvPr/>
        </p:nvSpPr>
        <p:spPr>
          <a:xfrm>
            <a:off x="8995181" y="1664208"/>
            <a:ext cx="2556434"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3月</a:t>
            </a:r>
            <a:endParaRPr lang="en-US" sz="2200" dirty="0"/>
          </a:p>
        </p:txBody>
      </p:sp>
      <p:sp>
        <p:nvSpPr>
          <p:cNvPr id="23" name="Text 21"/>
          <p:cNvSpPr txBox="1"/>
          <p:nvPr/>
        </p:nvSpPr>
        <p:spPr>
          <a:xfrm>
            <a:off x="8995181" y="2084832"/>
            <a:ext cx="2556434" cy="292608"/>
          </a:xfrm>
          <a:prstGeom prst="rect">
            <a:avLst/>
          </a:prstGeom>
          <a:noFill/>
          <a:ln/>
        </p:spPr>
        <p:txBody>
          <a:bodyPr wrap="square" lIns="0" tIns="0" rIns="0" bIns="0" rtlCol="0" anchor="ctr"/>
          <a:lstStyle/>
          <a:p>
            <a:pPr algn="ctr" indent="0" marL="0">
              <a:buNone/>
            </a:pPr>
            <a:r>
              <a:rPr lang="en-US" sz="1300" dirty="0">
                <a:solidFill>
                  <a:srgbClr val="D6E4D8"/>
                </a:solidFill>
                <a:latin typeface="Meiryo" pitchFamily="34" charset="0"/>
                <a:ea typeface="Meiryo" pitchFamily="34" charset="-122"/>
                <a:cs typeface="Meiryo" pitchFamily="34" charset="-120"/>
              </a:rPr>
              <a:t>書く</a:t>
            </a:r>
            <a:endParaRPr lang="en-US" sz="1300" dirty="0"/>
          </a:p>
        </p:txBody>
      </p:sp>
      <p:sp>
        <p:nvSpPr>
          <p:cNvPr id="24" name="Text 22"/>
          <p:cNvSpPr txBox="1"/>
          <p:nvPr/>
        </p:nvSpPr>
        <p:spPr>
          <a:xfrm>
            <a:off x="9214637" y="2724912"/>
            <a:ext cx="2117522"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令和10年度教育課程に反映</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経営計画に成果と次の目標</a:t>
            </a:r>
            <a:endParaRPr lang="en-US" sz="1250" dirty="0"/>
          </a:p>
          <a:p>
            <a:pPr marL="342900" indent="-342900">
              <a:spcAft>
                <a:spcPts val="800"/>
              </a:spcAft>
              <a:buSzPct val="100000"/>
              <a:buChar char="•"/>
            </a:pPr>
            <a:r>
              <a:rPr lang="en-US" sz="1250" dirty="0">
                <a:solidFill>
                  <a:srgbClr val="1C2320"/>
                </a:solidFill>
                <a:latin typeface="Meiryo" pitchFamily="34" charset="0"/>
                <a:ea typeface="Meiryo" pitchFamily="34" charset="-122"/>
                <a:cs typeface="Meiryo" pitchFamily="34" charset="-120"/>
              </a:rPr>
              <a:t>振り返りを記録に残す</a:t>
            </a:r>
            <a:endParaRPr lang="en-US" sz="1250" dirty="0"/>
          </a:p>
        </p:txBody>
      </p:sp>
      <p:sp>
        <p:nvSpPr>
          <p:cNvPr id="25" name="Shape 23"/>
          <p:cNvSpPr/>
          <p:nvPr/>
        </p:nvSpPr>
        <p:spPr>
          <a:xfrm>
            <a:off x="640080" y="5532120"/>
            <a:ext cx="10911535" cy="749808"/>
          </a:xfrm>
          <a:prstGeom prst="roundRect">
            <a:avLst>
              <a:gd name="adj" fmla="val 7317"/>
            </a:avLst>
          </a:prstGeom>
          <a:solidFill>
            <a:srgbClr val="E4EDE6"/>
          </a:solidFill>
          <a:ln/>
        </p:spPr>
      </p:sp>
      <p:sp>
        <p:nvSpPr>
          <p:cNvPr id="26" name="Text 24"/>
          <p:cNvSpPr txBox="1"/>
          <p:nvPr/>
        </p:nvSpPr>
        <p:spPr>
          <a:xfrm>
            <a:off x="1097280" y="5724144"/>
            <a:ext cx="9997135" cy="402336"/>
          </a:xfrm>
          <a:prstGeom prst="rect">
            <a:avLst/>
          </a:prstGeom>
          <a:noFill/>
          <a:ln/>
        </p:spPr>
        <p:txBody>
          <a:bodyPr wrap="square" lIns="0" tIns="0" rIns="0" bIns="0" rtlCol="0" anchor="ctr"/>
          <a:lstStyle/>
          <a:p>
            <a:pPr indent="0" marL="0">
              <a:buNone/>
            </a:pPr>
            <a:r>
              <a:rPr lang="en-US" sz="1600" b="1" dirty="0">
                <a:solidFill>
                  <a:srgbClr val="14312A"/>
                </a:solidFill>
                <a:latin typeface="Meiryo" pitchFamily="34" charset="0"/>
                <a:ea typeface="Meiryo" pitchFamily="34" charset="-122"/>
                <a:cs typeface="Meiryo" pitchFamily="34" charset="-120"/>
              </a:rPr>
              <a:t>12月が山場です。ここで決めておかないと、令和10年度の教育課程に間に合いません。</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49</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Ⅴ－3</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無理のない3段階と、確認リスト</a:t>
            </a:r>
            <a:endParaRPr lang="en-US" sz="2800" dirty="0"/>
          </a:p>
        </p:txBody>
      </p:sp>
      <p:sp>
        <p:nvSpPr>
          <p:cNvPr id="5" name="Shape 3"/>
          <p:cNvSpPr/>
          <p:nvPr/>
        </p:nvSpPr>
        <p:spPr>
          <a:xfrm>
            <a:off x="640080" y="1517904"/>
            <a:ext cx="3484778" cy="1965960"/>
          </a:xfrm>
          <a:prstGeom prst="roundRect">
            <a:avLst>
              <a:gd name="adj" fmla="val 2791"/>
            </a:avLst>
          </a:prstGeom>
          <a:solidFill>
            <a:srgbClr val="F1F5F2"/>
          </a:solidFill>
          <a:ln/>
        </p:spPr>
      </p:sp>
      <p:sp>
        <p:nvSpPr>
          <p:cNvPr id="6" name="Shape 4"/>
          <p:cNvSpPr/>
          <p:nvPr/>
        </p:nvSpPr>
        <p:spPr>
          <a:xfrm>
            <a:off x="877824" y="1737360"/>
            <a:ext cx="512064" cy="512064"/>
          </a:xfrm>
          <a:prstGeom prst="ellipse">
            <a:avLst/>
          </a:prstGeom>
          <a:solidFill>
            <a:srgbClr val="5B6660"/>
          </a:solidFill>
          <a:ln/>
        </p:spPr>
      </p:sp>
      <p:sp>
        <p:nvSpPr>
          <p:cNvPr id="7" name="Text 5"/>
          <p:cNvSpPr txBox="1"/>
          <p:nvPr/>
        </p:nvSpPr>
        <p:spPr>
          <a:xfrm>
            <a:off x="877824" y="1828800"/>
            <a:ext cx="51206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最小</a:t>
            </a:r>
            <a:endParaRPr lang="en-US" sz="1300" dirty="0"/>
          </a:p>
        </p:txBody>
      </p:sp>
      <p:sp>
        <p:nvSpPr>
          <p:cNvPr id="8" name="Text 6"/>
          <p:cNvSpPr txBox="1"/>
          <p:nvPr/>
        </p:nvSpPr>
        <p:spPr>
          <a:xfrm>
            <a:off x="877824" y="2377440"/>
            <a:ext cx="3009290" cy="384048"/>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まず1つだけ</a:t>
            </a:r>
            <a:endParaRPr lang="en-US" sz="1700" dirty="0"/>
          </a:p>
        </p:txBody>
      </p:sp>
      <p:sp>
        <p:nvSpPr>
          <p:cNvPr id="9" name="Text 7"/>
          <p:cNvSpPr txBox="1"/>
          <p:nvPr/>
        </p:nvSpPr>
        <p:spPr>
          <a:xfrm>
            <a:off x="877824" y="2779776"/>
            <a:ext cx="3009290" cy="621792"/>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行事の棚卸しか、会議の精選。どちらか一方だけで十分です。</a:t>
            </a:r>
            <a:endParaRPr lang="en-US" sz="1250" dirty="0"/>
          </a:p>
        </p:txBody>
      </p:sp>
      <p:sp>
        <p:nvSpPr>
          <p:cNvPr id="10" name="Shape 8"/>
          <p:cNvSpPr/>
          <p:nvPr/>
        </p:nvSpPr>
        <p:spPr>
          <a:xfrm>
            <a:off x="4353458" y="1517904"/>
            <a:ext cx="3484778" cy="1965960"/>
          </a:xfrm>
          <a:prstGeom prst="roundRect">
            <a:avLst>
              <a:gd name="adj" fmla="val 2791"/>
            </a:avLst>
          </a:prstGeom>
          <a:solidFill>
            <a:srgbClr val="F1F5F2"/>
          </a:solidFill>
          <a:ln/>
        </p:spPr>
      </p:sp>
      <p:sp>
        <p:nvSpPr>
          <p:cNvPr id="11" name="Shape 9"/>
          <p:cNvSpPr/>
          <p:nvPr/>
        </p:nvSpPr>
        <p:spPr>
          <a:xfrm>
            <a:off x="4591202" y="1737360"/>
            <a:ext cx="512064" cy="512064"/>
          </a:xfrm>
          <a:prstGeom prst="ellipse">
            <a:avLst/>
          </a:prstGeom>
          <a:solidFill>
            <a:srgbClr val="5C8A4A"/>
          </a:solidFill>
          <a:ln/>
        </p:spPr>
      </p:sp>
      <p:sp>
        <p:nvSpPr>
          <p:cNvPr id="12" name="Text 10"/>
          <p:cNvSpPr txBox="1"/>
          <p:nvPr/>
        </p:nvSpPr>
        <p:spPr>
          <a:xfrm>
            <a:off x="4591202" y="1828800"/>
            <a:ext cx="51206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標準</a:t>
            </a:r>
            <a:endParaRPr lang="en-US" sz="1300" dirty="0"/>
          </a:p>
        </p:txBody>
      </p:sp>
      <p:sp>
        <p:nvSpPr>
          <p:cNvPr id="13" name="Text 11"/>
          <p:cNvSpPr txBox="1"/>
          <p:nvPr/>
        </p:nvSpPr>
        <p:spPr>
          <a:xfrm>
            <a:off x="4591202" y="2377440"/>
            <a:ext cx="3009290" cy="384048"/>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3つを組み合わせる</a:t>
            </a:r>
            <a:endParaRPr lang="en-US" sz="1700" dirty="0"/>
          </a:p>
        </p:txBody>
      </p:sp>
      <p:sp>
        <p:nvSpPr>
          <p:cNvPr id="14" name="Text 12"/>
          <p:cNvSpPr txBox="1"/>
          <p:nvPr/>
        </p:nvSpPr>
        <p:spPr>
          <a:xfrm>
            <a:off x="4591202" y="2779776"/>
            <a:ext cx="3009290" cy="621792"/>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棚卸し＋研修の絞り込み＋総合の点検。ここまでで令和10年度に接続できます。</a:t>
            </a:r>
            <a:endParaRPr lang="en-US" sz="1250" dirty="0"/>
          </a:p>
        </p:txBody>
      </p:sp>
      <p:sp>
        <p:nvSpPr>
          <p:cNvPr id="15" name="Shape 13"/>
          <p:cNvSpPr/>
          <p:nvPr/>
        </p:nvSpPr>
        <p:spPr>
          <a:xfrm>
            <a:off x="8066837" y="1517904"/>
            <a:ext cx="3484778" cy="1965960"/>
          </a:xfrm>
          <a:prstGeom prst="roundRect">
            <a:avLst>
              <a:gd name="adj" fmla="val 2791"/>
            </a:avLst>
          </a:prstGeom>
          <a:solidFill>
            <a:srgbClr val="F1F5F2"/>
          </a:solidFill>
          <a:ln/>
        </p:spPr>
      </p:sp>
      <p:sp>
        <p:nvSpPr>
          <p:cNvPr id="16" name="Shape 14"/>
          <p:cNvSpPr/>
          <p:nvPr/>
        </p:nvSpPr>
        <p:spPr>
          <a:xfrm>
            <a:off x="8304581" y="1737360"/>
            <a:ext cx="512064" cy="512064"/>
          </a:xfrm>
          <a:prstGeom prst="ellipse">
            <a:avLst/>
          </a:prstGeom>
          <a:solidFill>
            <a:srgbClr val="1F5D4C"/>
          </a:solidFill>
          <a:ln/>
        </p:spPr>
      </p:sp>
      <p:sp>
        <p:nvSpPr>
          <p:cNvPr id="17" name="Text 15"/>
          <p:cNvSpPr txBox="1"/>
          <p:nvPr/>
        </p:nvSpPr>
        <p:spPr>
          <a:xfrm>
            <a:off x="8304581" y="1828800"/>
            <a:ext cx="51206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挑戦</a:t>
            </a:r>
            <a:endParaRPr lang="en-US" sz="1300" dirty="0"/>
          </a:p>
        </p:txBody>
      </p:sp>
      <p:sp>
        <p:nvSpPr>
          <p:cNvPr id="18" name="Text 16"/>
          <p:cNvSpPr txBox="1"/>
          <p:nvPr/>
        </p:nvSpPr>
        <p:spPr>
          <a:xfrm>
            <a:off x="8304581" y="2377440"/>
            <a:ext cx="3009290" cy="384048"/>
          </a:xfrm>
          <a:prstGeom prst="rect">
            <a:avLst/>
          </a:prstGeom>
          <a:noFill/>
          <a:ln/>
        </p:spPr>
        <p:txBody>
          <a:bodyPr wrap="square" lIns="0" tIns="0" rIns="0" bIns="0" rtlCol="0" anchor="ctr"/>
          <a:lstStyle/>
          <a:p>
            <a:pPr indent="0" marL="0">
              <a:buNone/>
            </a:pPr>
            <a:r>
              <a:rPr lang="en-US" sz="1700" b="1" dirty="0">
                <a:solidFill>
                  <a:srgbClr val="14312A"/>
                </a:solidFill>
                <a:latin typeface="Meiryo" pitchFamily="34" charset="0"/>
                <a:ea typeface="Meiryo" pitchFamily="34" charset="-122"/>
                <a:cs typeface="Meiryo" pitchFamily="34" charset="-120"/>
              </a:rPr>
              <a:t>時間割から変える</a:t>
            </a:r>
            <a:endParaRPr lang="en-US" sz="1700" dirty="0"/>
          </a:p>
        </p:txBody>
      </p:sp>
      <p:sp>
        <p:nvSpPr>
          <p:cNvPr id="19" name="Text 17"/>
          <p:cNvSpPr txBox="1"/>
          <p:nvPr/>
        </p:nvSpPr>
        <p:spPr>
          <a:xfrm>
            <a:off x="8304581" y="2779776"/>
            <a:ext cx="3009290" cy="621792"/>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単位時間・週時程の組み替えまで踏み込む。区教委との協議が前提です。</a:t>
            </a:r>
            <a:endParaRPr lang="en-US" sz="1250" dirty="0"/>
          </a:p>
        </p:txBody>
      </p:sp>
      <p:sp>
        <p:nvSpPr>
          <p:cNvPr id="20" name="Shape 18"/>
          <p:cNvSpPr/>
          <p:nvPr/>
        </p:nvSpPr>
        <p:spPr>
          <a:xfrm>
            <a:off x="640080" y="3712464"/>
            <a:ext cx="10911535" cy="2423160"/>
          </a:xfrm>
          <a:prstGeom prst="roundRect">
            <a:avLst>
              <a:gd name="adj" fmla="val 2264"/>
            </a:avLst>
          </a:prstGeom>
          <a:solidFill>
            <a:srgbClr val="14312A"/>
          </a:solidFill>
          <a:ln/>
        </p:spPr>
      </p:sp>
      <p:sp>
        <p:nvSpPr>
          <p:cNvPr id="21" name="Text 19"/>
          <p:cNvSpPr txBox="1"/>
          <p:nvPr/>
        </p:nvSpPr>
        <p:spPr>
          <a:xfrm>
            <a:off x="1097280" y="3931920"/>
            <a:ext cx="9997135" cy="384048"/>
          </a:xfrm>
          <a:prstGeom prst="rect">
            <a:avLst/>
          </a:prstGeom>
          <a:noFill/>
          <a:ln/>
        </p:spPr>
        <p:txBody>
          <a:bodyPr wrap="square" lIns="0" tIns="0" rIns="0" bIns="0" rtlCol="0" anchor="ctr"/>
          <a:lstStyle/>
          <a:p>
            <a:pPr indent="0" marL="0">
              <a:buNone/>
            </a:pPr>
            <a:r>
              <a:rPr lang="en-US" sz="1800" b="1" dirty="0">
                <a:solidFill>
                  <a:srgbClr val="7FA86B"/>
                </a:solidFill>
                <a:latin typeface="Meiryo" pitchFamily="34" charset="0"/>
                <a:ea typeface="Meiryo" pitchFamily="34" charset="-122"/>
                <a:cs typeface="Meiryo" pitchFamily="34" charset="-120"/>
              </a:rPr>
              <a:t>年度末に、この4つを確認してください</a:t>
            </a:r>
            <a:endParaRPr lang="en-US" sz="1800" dirty="0"/>
          </a:p>
        </p:txBody>
      </p:sp>
      <p:sp>
        <p:nvSpPr>
          <p:cNvPr id="22" name="Shape 20"/>
          <p:cNvSpPr/>
          <p:nvPr/>
        </p:nvSpPr>
        <p:spPr>
          <a:xfrm>
            <a:off x="1143000" y="4480560"/>
            <a:ext cx="292608" cy="292608"/>
          </a:xfrm>
          <a:prstGeom prst="roundRect">
            <a:avLst>
              <a:gd name="adj" fmla="val 12500"/>
            </a:avLst>
          </a:prstGeom>
          <a:solidFill>
            <a:srgbClr val="1B3F35"/>
          </a:solidFill>
          <a:ln w="15875">
            <a:solidFill>
              <a:srgbClr val="7FA86B"/>
            </a:solidFill>
            <a:prstDash val="solid"/>
          </a:ln>
        </p:spPr>
      </p:sp>
      <p:sp>
        <p:nvSpPr>
          <p:cNvPr id="23" name="Text 21"/>
          <p:cNvSpPr txBox="1"/>
          <p:nvPr/>
        </p:nvSpPr>
        <p:spPr>
          <a:xfrm>
            <a:off x="1600200" y="4462272"/>
            <a:ext cx="9448495" cy="329184"/>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自校の「何に時間を使いたいか」を、言葉にできたか</a:t>
            </a:r>
            <a:endParaRPr lang="en-US" sz="1450" dirty="0"/>
          </a:p>
        </p:txBody>
      </p:sp>
      <p:sp>
        <p:nvSpPr>
          <p:cNvPr id="24" name="Shape 22"/>
          <p:cNvSpPr/>
          <p:nvPr/>
        </p:nvSpPr>
        <p:spPr>
          <a:xfrm>
            <a:off x="1143000" y="4882896"/>
            <a:ext cx="292608" cy="292608"/>
          </a:xfrm>
          <a:prstGeom prst="roundRect">
            <a:avLst>
              <a:gd name="adj" fmla="val 12500"/>
            </a:avLst>
          </a:prstGeom>
          <a:solidFill>
            <a:srgbClr val="1B3F35"/>
          </a:solidFill>
          <a:ln w="15875">
            <a:solidFill>
              <a:srgbClr val="7FA86B"/>
            </a:solidFill>
            <a:prstDash val="solid"/>
          </a:ln>
        </p:spPr>
      </p:sp>
      <p:sp>
        <p:nvSpPr>
          <p:cNvPr id="25" name="Text 23"/>
          <p:cNvSpPr txBox="1"/>
          <p:nvPr/>
        </p:nvSpPr>
        <p:spPr>
          <a:xfrm>
            <a:off x="1600200" y="4864608"/>
            <a:ext cx="9448495" cy="329184"/>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減らすと決めたものが、1つ以上あるか</a:t>
            </a:r>
            <a:endParaRPr lang="en-US" sz="1450" dirty="0"/>
          </a:p>
        </p:txBody>
      </p:sp>
      <p:sp>
        <p:nvSpPr>
          <p:cNvPr id="26" name="Shape 24"/>
          <p:cNvSpPr/>
          <p:nvPr/>
        </p:nvSpPr>
        <p:spPr>
          <a:xfrm>
            <a:off x="1143000" y="5285232"/>
            <a:ext cx="292608" cy="292608"/>
          </a:xfrm>
          <a:prstGeom prst="roundRect">
            <a:avLst>
              <a:gd name="adj" fmla="val 12500"/>
            </a:avLst>
          </a:prstGeom>
          <a:solidFill>
            <a:srgbClr val="1B3F35"/>
          </a:solidFill>
          <a:ln w="15875">
            <a:solidFill>
              <a:srgbClr val="7FA86B"/>
            </a:solidFill>
            <a:prstDash val="solid"/>
          </a:ln>
        </p:spPr>
      </p:sp>
      <p:sp>
        <p:nvSpPr>
          <p:cNvPr id="27" name="Text 25"/>
          <p:cNvSpPr txBox="1"/>
          <p:nvPr/>
        </p:nvSpPr>
        <p:spPr>
          <a:xfrm>
            <a:off x="1600200" y="5266944"/>
            <a:ext cx="9448495" cy="329184"/>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生み出した時間の使い道を、先に決めたか</a:t>
            </a:r>
            <a:endParaRPr lang="en-US" sz="1450" dirty="0"/>
          </a:p>
        </p:txBody>
      </p:sp>
      <p:sp>
        <p:nvSpPr>
          <p:cNvPr id="28" name="Shape 26"/>
          <p:cNvSpPr/>
          <p:nvPr/>
        </p:nvSpPr>
        <p:spPr>
          <a:xfrm>
            <a:off x="1143000" y="5687568"/>
            <a:ext cx="292608" cy="292608"/>
          </a:xfrm>
          <a:prstGeom prst="roundRect">
            <a:avLst>
              <a:gd name="adj" fmla="val 12500"/>
            </a:avLst>
          </a:prstGeom>
          <a:solidFill>
            <a:srgbClr val="1B3F35"/>
          </a:solidFill>
          <a:ln w="15875">
            <a:solidFill>
              <a:srgbClr val="7FA86B"/>
            </a:solidFill>
            <a:prstDash val="solid"/>
          </a:ln>
        </p:spPr>
      </p:sp>
      <p:sp>
        <p:nvSpPr>
          <p:cNvPr id="29" name="Text 27"/>
          <p:cNvSpPr txBox="1"/>
          <p:nvPr/>
        </p:nvSpPr>
        <p:spPr>
          <a:xfrm>
            <a:off x="1600200" y="5669280"/>
            <a:ext cx="9448495" cy="329184"/>
          </a:xfrm>
          <a:prstGeom prst="rect">
            <a:avLst/>
          </a:prstGeom>
          <a:noFill/>
          <a:ln/>
        </p:spPr>
        <p:txBody>
          <a:bodyPr wrap="square" lIns="0" tIns="0" rIns="0" bIns="0" rtlCol="0" anchor="ctr"/>
          <a:lstStyle/>
          <a:p>
            <a:pPr indent="0" marL="0">
              <a:buNone/>
            </a:pPr>
            <a:r>
              <a:rPr lang="en-US" sz="1450" dirty="0">
                <a:solidFill>
                  <a:srgbClr val="D6E4D8"/>
                </a:solidFill>
                <a:latin typeface="Meiryo" pitchFamily="34" charset="0"/>
                <a:ea typeface="Meiryo" pitchFamily="34" charset="-122"/>
                <a:cs typeface="Meiryo" pitchFamily="34" charset="-120"/>
              </a:rPr>
              <a:t>令和10年度の教育課程に、その結果が入っているか</a:t>
            </a:r>
            <a:endParaRPr lang="en-US" sz="14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4312A"/>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6E8A7E"/>
                </a:solidFill>
                <a:latin typeface="Meiryo" pitchFamily="34" charset="0"/>
                <a:ea typeface="Meiryo" pitchFamily="34" charset="-122"/>
                <a:cs typeface="Meiryo" pitchFamily="34" charset="-120"/>
              </a:rPr>
              <a:t>50</a:t>
            </a:r>
            <a:endParaRPr lang="en-US" sz="900" dirty="0"/>
          </a:p>
        </p:txBody>
      </p:sp>
      <p:sp>
        <p:nvSpPr>
          <p:cNvPr id="3" name="Shape 1"/>
          <p:cNvSpPr/>
          <p:nvPr/>
        </p:nvSpPr>
        <p:spPr>
          <a:xfrm>
            <a:off x="9235440" y="-1371600"/>
            <a:ext cx="4389120" cy="4389120"/>
          </a:xfrm>
          <a:prstGeom prst="ellipse">
            <a:avLst/>
          </a:prstGeom>
          <a:solidFill>
            <a:srgbClr val="1F5D4C"/>
          </a:solidFill>
          <a:ln/>
        </p:spPr>
      </p:sp>
      <p:sp>
        <p:nvSpPr>
          <p:cNvPr id="4" name="Text 2"/>
          <p:cNvSpPr txBox="1"/>
          <p:nvPr/>
        </p:nvSpPr>
        <p:spPr>
          <a:xfrm>
            <a:off x="640080" y="1188720"/>
            <a:ext cx="10911535" cy="310896"/>
          </a:xfrm>
          <a:prstGeom prst="rect">
            <a:avLst/>
          </a:prstGeom>
          <a:noFill/>
          <a:ln/>
        </p:spPr>
        <p:txBody>
          <a:bodyPr wrap="square" lIns="0" tIns="0" rIns="0" bIns="0" rtlCol="0" anchor="ctr"/>
          <a:lstStyle/>
          <a:p>
            <a:pPr indent="0" marL="0">
              <a:buNone/>
            </a:pPr>
            <a:r>
              <a:rPr lang="en-US" sz="1300" b="1" spc="150" kern="0" dirty="0">
                <a:solidFill>
                  <a:srgbClr val="7FA86B"/>
                </a:solidFill>
                <a:latin typeface="Meiryo" pitchFamily="34" charset="0"/>
                <a:ea typeface="Meiryo" pitchFamily="34" charset="-122"/>
                <a:cs typeface="Meiryo" pitchFamily="34" charset="-120"/>
              </a:rPr>
              <a:t>むすびに</a:t>
            </a:r>
            <a:endParaRPr lang="en-US" sz="1300" dirty="0"/>
          </a:p>
        </p:txBody>
      </p:sp>
      <p:sp>
        <p:nvSpPr>
          <p:cNvPr id="5" name="Text 3"/>
          <p:cNvSpPr txBox="1"/>
          <p:nvPr/>
        </p:nvSpPr>
        <p:spPr>
          <a:xfrm>
            <a:off x="640080" y="1627632"/>
            <a:ext cx="8595360" cy="1371600"/>
          </a:xfrm>
          <a:prstGeom prst="rect">
            <a:avLst/>
          </a:prstGeom>
          <a:noFill/>
          <a:ln/>
        </p:spPr>
        <p:txBody>
          <a:bodyPr wrap="square" lIns="0" tIns="0" rIns="0" bIns="0" rtlCol="0" anchor="ctr"/>
          <a:lstStyle/>
          <a:p>
            <a:pPr indent="0" marL="0">
              <a:lnSpc>
                <a:spcPts val="4700"/>
              </a:lnSpc>
              <a:buNone/>
            </a:pPr>
            <a:r>
              <a:rPr lang="en-US" sz="3400" b="1" dirty="0">
                <a:solidFill>
                  <a:srgbClr val="FFFFFF"/>
                </a:solidFill>
                <a:latin typeface="Meiryo" pitchFamily="34" charset="0"/>
                <a:ea typeface="Meiryo" pitchFamily="34" charset="-122"/>
                <a:cs typeface="Meiryo" pitchFamily="34" charset="-120"/>
              </a:rPr>
              <a:t>学校は「与えられるもの」から</a:t>
            </a:r>
            <a:endParaRPr lang="en-US" sz="3400" dirty="0"/>
          </a:p>
          <a:p>
            <a:pPr indent="0" marL="0">
              <a:lnSpc>
                <a:spcPts val="4700"/>
              </a:lnSpc>
              <a:buNone/>
            </a:pPr>
            <a:r>
              <a:rPr lang="en-US" sz="3400" b="1" dirty="0">
                <a:solidFill>
                  <a:srgbClr val="FFFFFF"/>
                </a:solidFill>
                <a:latin typeface="Meiryo" pitchFamily="34" charset="0"/>
                <a:ea typeface="Meiryo" pitchFamily="34" charset="-122"/>
                <a:cs typeface="Meiryo" pitchFamily="34" charset="-120"/>
              </a:rPr>
              <a:t>「つくるもの」へ。</a:t>
            </a:r>
            <a:endParaRPr lang="en-US" sz="3400" dirty="0"/>
          </a:p>
        </p:txBody>
      </p:sp>
      <p:sp>
        <p:nvSpPr>
          <p:cNvPr id="6" name="Text 4"/>
          <p:cNvSpPr txBox="1"/>
          <p:nvPr/>
        </p:nvSpPr>
        <p:spPr>
          <a:xfrm>
            <a:off x="640080" y="3200400"/>
            <a:ext cx="9692640" cy="1234440"/>
          </a:xfrm>
          <a:prstGeom prst="rect">
            <a:avLst/>
          </a:prstGeom>
          <a:noFill/>
          <a:ln/>
        </p:spPr>
        <p:txBody>
          <a:bodyPr wrap="square" lIns="0" tIns="0" rIns="0" bIns="0" rtlCol="0" anchor="ctr"/>
          <a:lstStyle/>
          <a:p>
            <a:pPr indent="0" marL="0">
              <a:lnSpc>
                <a:spcPts val="2700"/>
              </a:lnSpc>
              <a:buNone/>
            </a:pPr>
            <a:r>
              <a:rPr lang="en-US" sz="1500" dirty="0">
                <a:solidFill>
                  <a:srgbClr val="C9DACD"/>
                </a:solidFill>
                <a:latin typeface="Meiryo" pitchFamily="34" charset="0"/>
                <a:ea typeface="Meiryo" pitchFamily="34" charset="-122"/>
                <a:cs typeface="Meiryo" pitchFamily="34" charset="-120"/>
              </a:rPr>
              <a:t>今回の改訂は、時間の配分という最も基本的な資源を、学校に返す改訂です。</a:t>
            </a:r>
            <a:endParaRPr lang="en-US" sz="1500" dirty="0"/>
          </a:p>
          <a:p>
            <a:pPr indent="0" marL="0">
              <a:lnSpc>
                <a:spcPts val="2700"/>
              </a:lnSpc>
              <a:buNone/>
            </a:pPr>
            <a:r>
              <a:rPr lang="en-US" sz="1500" dirty="0">
                <a:solidFill>
                  <a:srgbClr val="C9DACD"/>
                </a:solidFill>
                <a:latin typeface="Meiryo" pitchFamily="34" charset="0"/>
                <a:ea typeface="Meiryo" pitchFamily="34" charset="-122"/>
                <a:cs typeface="Meiryo" pitchFamily="34" charset="-120"/>
              </a:rPr>
              <a:t>返されたものをどう使うかは、それぞれの学校が決めます。</a:t>
            </a:r>
            <a:endParaRPr lang="en-US" sz="1500" dirty="0"/>
          </a:p>
          <a:p>
            <a:pPr indent="0" marL="0">
              <a:lnSpc>
                <a:spcPts val="2700"/>
              </a:lnSpc>
              <a:buNone/>
            </a:pPr>
            <a:r>
              <a:rPr lang="en-US" sz="1500" dirty="0">
                <a:solidFill>
                  <a:srgbClr val="C9DACD"/>
                </a:solidFill>
                <a:latin typeface="Meiryo" pitchFamily="34" charset="0"/>
                <a:ea typeface="Meiryo" pitchFamily="34" charset="-122"/>
                <a:cs typeface="Meiryo" pitchFamily="34" charset="-120"/>
              </a:rPr>
              <a:t>先生方が令和9年度に何を選ばれるか、その積み重ねが、2030年の子供たちの学びになります。</a:t>
            </a:r>
            <a:endParaRPr lang="en-US" sz="1500" dirty="0"/>
          </a:p>
        </p:txBody>
      </p:sp>
      <p:sp>
        <p:nvSpPr>
          <p:cNvPr id="7" name="Shape 5"/>
          <p:cNvSpPr/>
          <p:nvPr/>
        </p:nvSpPr>
        <p:spPr>
          <a:xfrm>
            <a:off x="640080" y="4709160"/>
            <a:ext cx="10911535" cy="1325880"/>
          </a:xfrm>
          <a:prstGeom prst="roundRect">
            <a:avLst>
              <a:gd name="adj" fmla="val 4138"/>
            </a:avLst>
          </a:prstGeom>
          <a:solidFill>
            <a:srgbClr val="1B3F35"/>
          </a:solidFill>
          <a:ln/>
        </p:spPr>
      </p:sp>
      <p:sp>
        <p:nvSpPr>
          <p:cNvPr id="8" name="Text 6"/>
          <p:cNvSpPr txBox="1"/>
          <p:nvPr/>
        </p:nvSpPr>
        <p:spPr>
          <a:xfrm>
            <a:off x="1051560" y="4864608"/>
            <a:ext cx="1828800" cy="274320"/>
          </a:xfrm>
          <a:prstGeom prst="rect">
            <a:avLst/>
          </a:prstGeom>
          <a:noFill/>
          <a:ln/>
        </p:spPr>
        <p:txBody>
          <a:bodyPr wrap="square" lIns="0" tIns="0" rIns="0" bIns="0" rtlCol="0" anchor="ctr"/>
          <a:lstStyle/>
          <a:p>
            <a:pPr indent="0" marL="0">
              <a:buNone/>
            </a:pPr>
            <a:r>
              <a:rPr lang="en-US" sz="1100" b="1" dirty="0">
                <a:solidFill>
                  <a:srgbClr val="7FA86B"/>
                </a:solidFill>
                <a:latin typeface="Meiryo" pitchFamily="34" charset="0"/>
                <a:ea typeface="Meiryo" pitchFamily="34" charset="-122"/>
                <a:cs typeface="Meiryo" pitchFamily="34" charset="-120"/>
              </a:rPr>
              <a:t>出典</a:t>
            </a:r>
            <a:endParaRPr lang="en-US" sz="1100" dirty="0"/>
          </a:p>
        </p:txBody>
      </p:sp>
      <p:sp>
        <p:nvSpPr>
          <p:cNvPr id="9" name="Text 7"/>
          <p:cNvSpPr txBox="1"/>
          <p:nvPr/>
        </p:nvSpPr>
        <p:spPr>
          <a:xfrm>
            <a:off x="1051560" y="5138928"/>
            <a:ext cx="10088575" cy="777240"/>
          </a:xfrm>
          <a:prstGeom prst="rect">
            <a:avLst/>
          </a:prstGeom>
          <a:noFill/>
          <a:ln/>
        </p:spPr>
        <p:txBody>
          <a:bodyPr wrap="square" lIns="0" tIns="0" rIns="0" bIns="0" rtlCol="0" anchor="ctr"/>
          <a:lstStyle/>
          <a:p>
            <a:pPr indent="0" marL="0">
              <a:lnSpc>
                <a:spcPts val="1700"/>
              </a:lnSpc>
              <a:buNone/>
            </a:pPr>
            <a:r>
              <a:rPr lang="en-US" sz="1150" dirty="0">
                <a:solidFill>
                  <a:srgbClr val="AFC5B6"/>
                </a:solidFill>
                <a:latin typeface="Meiryo" pitchFamily="34" charset="0"/>
                <a:ea typeface="Meiryo" pitchFamily="34" charset="-122"/>
                <a:cs typeface="Meiryo" pitchFamily="34" charset="-120"/>
              </a:rPr>
              <a:t>中央教育審議会 初等中等教育分科会 教育課程部会 教育課程企画特別部会（第17回）令和8年8月31日 資料1</a:t>
            </a:r>
            <a:endParaRPr lang="en-US" sz="1150" dirty="0"/>
          </a:p>
          <a:p>
            <a:pPr indent="0" marL="0">
              <a:lnSpc>
                <a:spcPts val="1700"/>
              </a:lnSpc>
              <a:buNone/>
            </a:pPr>
            <a:r>
              <a:rPr lang="en-US" sz="1150" dirty="0">
                <a:solidFill>
                  <a:srgbClr val="AFC5B6"/>
                </a:solidFill>
                <a:latin typeface="Meiryo" pitchFamily="34" charset="0"/>
                <a:ea typeface="Meiryo" pitchFamily="34" charset="-122"/>
                <a:cs typeface="Meiryo" pitchFamily="34" charset="-120"/>
              </a:rPr>
              <a:t>「次期学習指導要領等に向けた審議まとめ（素案）」（文部科学省）</a:t>
            </a:r>
            <a:endParaRPr lang="en-US" sz="1150" dirty="0"/>
          </a:p>
          <a:p>
            <a:pPr indent="0" marL="0">
              <a:lnSpc>
                <a:spcPts val="1700"/>
              </a:lnSpc>
              <a:buNone/>
            </a:pPr>
            <a:r>
              <a:rPr lang="en-US" sz="1150" dirty="0">
                <a:solidFill>
                  <a:srgbClr val="AFC5B6"/>
                </a:solidFill>
                <a:latin typeface="Meiryo" pitchFamily="34" charset="0"/>
                <a:ea typeface="Meiryo" pitchFamily="34" charset="-122"/>
                <a:cs typeface="Meiryo" pitchFamily="34" charset="-120"/>
              </a:rPr>
              <a:t>ならびに同部会の審議経過に関する各種報道・解説記事</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4312A"/>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6E8A7E"/>
                </a:solidFill>
                <a:latin typeface="Meiryo" pitchFamily="34" charset="0"/>
                <a:ea typeface="Meiryo" pitchFamily="34" charset="-122"/>
                <a:cs typeface="Meiryo" pitchFamily="34" charset="-120"/>
              </a:rPr>
              <a:t>51</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7FA86B"/>
                </a:solidFill>
                <a:latin typeface="Meiryo" pitchFamily="34" charset="0"/>
                <a:ea typeface="Meiryo" pitchFamily="34" charset="-122"/>
                <a:cs typeface="Meiryo" pitchFamily="34" charset="-120"/>
              </a:rPr>
              <a:t>巻末資料</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反発への向き合い方 ― そして想定質問 20</a:t>
            </a:r>
            <a:endParaRPr lang="en-US" sz="2800" dirty="0"/>
          </a:p>
        </p:txBody>
      </p:sp>
      <p:sp>
        <p:nvSpPr>
          <p:cNvPr id="5" name="Shape 3"/>
          <p:cNvSpPr/>
          <p:nvPr/>
        </p:nvSpPr>
        <p:spPr>
          <a:xfrm>
            <a:off x="640080" y="1481328"/>
            <a:ext cx="10911535" cy="960120"/>
          </a:xfrm>
          <a:prstGeom prst="roundRect">
            <a:avLst>
              <a:gd name="adj" fmla="val 5714"/>
            </a:avLst>
          </a:prstGeom>
          <a:solidFill>
            <a:srgbClr val="1B3F35"/>
          </a:solidFill>
          <a:ln/>
        </p:spPr>
      </p:sp>
      <p:sp>
        <p:nvSpPr>
          <p:cNvPr id="6" name="Text 4"/>
          <p:cNvSpPr txBox="1"/>
          <p:nvPr/>
        </p:nvSpPr>
        <p:spPr>
          <a:xfrm>
            <a:off x="1097280" y="1719072"/>
            <a:ext cx="9997135" cy="45720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新しいことを始めるとき、反発は必ず出ます。出ないほうが危険です。</a:t>
            </a:r>
            <a:endParaRPr lang="en-US" sz="1900" dirty="0"/>
          </a:p>
        </p:txBody>
      </p:sp>
      <p:sp>
        <p:nvSpPr>
          <p:cNvPr id="7" name="Shape 5"/>
          <p:cNvSpPr/>
          <p:nvPr/>
        </p:nvSpPr>
        <p:spPr>
          <a:xfrm>
            <a:off x="640080" y="2670048"/>
            <a:ext cx="10911535" cy="1170432"/>
          </a:xfrm>
          <a:prstGeom prst="roundRect">
            <a:avLst>
              <a:gd name="adj" fmla="val 4688"/>
            </a:avLst>
          </a:prstGeom>
          <a:solidFill>
            <a:srgbClr val="1B3F35"/>
          </a:solidFill>
          <a:ln/>
        </p:spPr>
      </p:sp>
      <p:sp>
        <p:nvSpPr>
          <p:cNvPr id="8" name="Shape 6"/>
          <p:cNvSpPr/>
          <p:nvPr/>
        </p:nvSpPr>
        <p:spPr>
          <a:xfrm>
            <a:off x="969264" y="2980944"/>
            <a:ext cx="548640" cy="548640"/>
          </a:xfrm>
          <a:prstGeom prst="ellipse">
            <a:avLst/>
          </a:prstGeom>
          <a:solidFill>
            <a:srgbClr val="7FA86B"/>
          </a:solidFill>
          <a:ln/>
        </p:spPr>
      </p:sp>
      <p:sp>
        <p:nvSpPr>
          <p:cNvPr id="9" name="Text 7"/>
          <p:cNvSpPr txBox="1"/>
          <p:nvPr/>
        </p:nvSpPr>
        <p:spPr>
          <a:xfrm>
            <a:off x="969264" y="3090672"/>
            <a:ext cx="548640" cy="329184"/>
          </a:xfrm>
          <a:prstGeom prst="rect">
            <a:avLst/>
          </a:prstGeom>
          <a:noFill/>
          <a:ln/>
        </p:spPr>
        <p:txBody>
          <a:bodyPr wrap="square" lIns="0" tIns="0" rIns="0" bIns="0" rtlCol="0" anchor="ctr"/>
          <a:lstStyle/>
          <a:p>
            <a:pPr algn="ctr" indent="0" marL="0">
              <a:buNone/>
            </a:pPr>
            <a:r>
              <a:rPr lang="en-US" sz="2000" b="1" dirty="0">
                <a:solidFill>
                  <a:srgbClr val="14312A"/>
                </a:solidFill>
                <a:latin typeface="Meiryo" pitchFamily="34" charset="0"/>
                <a:ea typeface="Meiryo" pitchFamily="34" charset="-122"/>
                <a:cs typeface="Meiryo" pitchFamily="34" charset="-120"/>
              </a:rPr>
              <a:t>1</a:t>
            </a:r>
            <a:endParaRPr lang="en-US" sz="2000" dirty="0"/>
          </a:p>
        </p:txBody>
      </p:sp>
      <p:sp>
        <p:nvSpPr>
          <p:cNvPr id="10" name="Text 8"/>
          <p:cNvSpPr txBox="1"/>
          <p:nvPr/>
        </p:nvSpPr>
        <p:spPr>
          <a:xfrm>
            <a:off x="1691640" y="2871216"/>
            <a:ext cx="9448495"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反発は「抵抗」ではなく「情報」</a:t>
            </a:r>
            <a:endParaRPr lang="en-US" sz="1800" dirty="0"/>
          </a:p>
        </p:txBody>
      </p:sp>
      <p:sp>
        <p:nvSpPr>
          <p:cNvPr id="11" name="Text 9"/>
          <p:cNvSpPr txBox="1"/>
          <p:nvPr/>
        </p:nvSpPr>
        <p:spPr>
          <a:xfrm>
            <a:off x="1691640" y="3291840"/>
            <a:ext cx="9448495" cy="438912"/>
          </a:xfrm>
          <a:prstGeom prst="rect">
            <a:avLst/>
          </a:prstGeom>
          <a:noFill/>
          <a:ln/>
        </p:spPr>
        <p:txBody>
          <a:bodyPr wrap="square" lIns="0" tIns="0" rIns="0" bIns="0" rtlCol="0" anchor="ctr"/>
          <a:lstStyle/>
          <a:p>
            <a:pPr indent="0" marL="0">
              <a:buNone/>
            </a:pPr>
            <a:r>
              <a:rPr lang="en-US" sz="1250" dirty="0">
                <a:solidFill>
                  <a:srgbClr val="AFC5B6"/>
                </a:solidFill>
                <a:latin typeface="Meiryo" pitchFamily="34" charset="0"/>
                <a:ea typeface="Meiryo" pitchFamily="34" charset="-122"/>
                <a:cs typeface="Meiryo" pitchFamily="34" charset="-120"/>
              </a:rPr>
              <a:t>何が不安なのかを教えてくれます。潰すのではなく、聞いて設計に反映させます。反対した人ほど、決まった後は丁寧に動いてくださることが多いものです。</a:t>
            </a:r>
            <a:endParaRPr lang="en-US" sz="1250" dirty="0"/>
          </a:p>
        </p:txBody>
      </p:sp>
      <p:sp>
        <p:nvSpPr>
          <p:cNvPr id="12" name="Shape 10"/>
          <p:cNvSpPr/>
          <p:nvPr/>
        </p:nvSpPr>
        <p:spPr>
          <a:xfrm>
            <a:off x="640080" y="3968496"/>
            <a:ext cx="10911535" cy="1170432"/>
          </a:xfrm>
          <a:prstGeom prst="roundRect">
            <a:avLst>
              <a:gd name="adj" fmla="val 4688"/>
            </a:avLst>
          </a:prstGeom>
          <a:solidFill>
            <a:srgbClr val="1B3F35"/>
          </a:solidFill>
          <a:ln/>
        </p:spPr>
      </p:sp>
      <p:sp>
        <p:nvSpPr>
          <p:cNvPr id="13" name="Shape 11"/>
          <p:cNvSpPr/>
          <p:nvPr/>
        </p:nvSpPr>
        <p:spPr>
          <a:xfrm>
            <a:off x="969264" y="4279392"/>
            <a:ext cx="548640" cy="548640"/>
          </a:xfrm>
          <a:prstGeom prst="ellipse">
            <a:avLst/>
          </a:prstGeom>
          <a:solidFill>
            <a:srgbClr val="7FA86B"/>
          </a:solidFill>
          <a:ln/>
        </p:spPr>
      </p:sp>
      <p:sp>
        <p:nvSpPr>
          <p:cNvPr id="14" name="Text 12"/>
          <p:cNvSpPr txBox="1"/>
          <p:nvPr/>
        </p:nvSpPr>
        <p:spPr>
          <a:xfrm>
            <a:off x="969264" y="4389120"/>
            <a:ext cx="548640" cy="329184"/>
          </a:xfrm>
          <a:prstGeom prst="rect">
            <a:avLst/>
          </a:prstGeom>
          <a:noFill/>
          <a:ln/>
        </p:spPr>
        <p:txBody>
          <a:bodyPr wrap="square" lIns="0" tIns="0" rIns="0" bIns="0" rtlCol="0" anchor="ctr"/>
          <a:lstStyle/>
          <a:p>
            <a:pPr algn="ctr" indent="0" marL="0">
              <a:buNone/>
            </a:pPr>
            <a:r>
              <a:rPr lang="en-US" sz="2000" b="1" dirty="0">
                <a:solidFill>
                  <a:srgbClr val="14312A"/>
                </a:solidFill>
                <a:latin typeface="Meiryo" pitchFamily="34" charset="0"/>
                <a:ea typeface="Meiryo" pitchFamily="34" charset="-122"/>
                <a:cs typeface="Meiryo" pitchFamily="34" charset="-120"/>
              </a:rPr>
              <a:t>2</a:t>
            </a:r>
            <a:endParaRPr lang="en-US" sz="2000" dirty="0"/>
          </a:p>
        </p:txBody>
      </p:sp>
      <p:sp>
        <p:nvSpPr>
          <p:cNvPr id="15" name="Text 13"/>
          <p:cNvSpPr txBox="1"/>
          <p:nvPr/>
        </p:nvSpPr>
        <p:spPr>
          <a:xfrm>
            <a:off x="1691640" y="4169664"/>
            <a:ext cx="9448495"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「やめる」提案の前に、「減らした」実績を</a:t>
            </a:r>
            <a:endParaRPr lang="en-US" sz="1800" dirty="0"/>
          </a:p>
        </p:txBody>
      </p:sp>
      <p:sp>
        <p:nvSpPr>
          <p:cNvPr id="16" name="Text 14"/>
          <p:cNvSpPr txBox="1"/>
          <p:nvPr/>
        </p:nvSpPr>
        <p:spPr>
          <a:xfrm>
            <a:off x="1691640" y="4590288"/>
            <a:ext cx="9448495" cy="438912"/>
          </a:xfrm>
          <a:prstGeom prst="rect">
            <a:avLst/>
          </a:prstGeom>
          <a:noFill/>
          <a:ln/>
        </p:spPr>
        <p:txBody>
          <a:bodyPr wrap="square" lIns="0" tIns="0" rIns="0" bIns="0" rtlCol="0" anchor="ctr"/>
          <a:lstStyle/>
          <a:p>
            <a:pPr indent="0" marL="0">
              <a:buNone/>
            </a:pPr>
            <a:r>
              <a:rPr lang="en-US" sz="1250" dirty="0">
                <a:solidFill>
                  <a:srgbClr val="AFC5B6"/>
                </a:solidFill>
                <a:latin typeface="Meiryo" pitchFamily="34" charset="0"/>
                <a:ea typeface="Meiryo" pitchFamily="34" charset="-122"/>
                <a:cs typeface="Meiryo" pitchFamily="34" charset="-120"/>
              </a:rPr>
              <a:t>先に会議や研修を減らして、時間を返します。校長が本気だと伝わってから、行事の話に入ります。順番を逆にすると、まず通りません。</a:t>
            </a:r>
            <a:endParaRPr lang="en-US" sz="1250" dirty="0"/>
          </a:p>
        </p:txBody>
      </p:sp>
      <p:sp>
        <p:nvSpPr>
          <p:cNvPr id="17" name="Shape 15"/>
          <p:cNvSpPr/>
          <p:nvPr/>
        </p:nvSpPr>
        <p:spPr>
          <a:xfrm>
            <a:off x="640080" y="5266944"/>
            <a:ext cx="10911535" cy="1170432"/>
          </a:xfrm>
          <a:prstGeom prst="roundRect">
            <a:avLst>
              <a:gd name="adj" fmla="val 4688"/>
            </a:avLst>
          </a:prstGeom>
          <a:solidFill>
            <a:srgbClr val="1B3F35"/>
          </a:solidFill>
          <a:ln/>
        </p:spPr>
      </p:sp>
      <p:sp>
        <p:nvSpPr>
          <p:cNvPr id="18" name="Shape 16"/>
          <p:cNvSpPr/>
          <p:nvPr/>
        </p:nvSpPr>
        <p:spPr>
          <a:xfrm>
            <a:off x="969264" y="5577840"/>
            <a:ext cx="548640" cy="548640"/>
          </a:xfrm>
          <a:prstGeom prst="ellipse">
            <a:avLst/>
          </a:prstGeom>
          <a:solidFill>
            <a:srgbClr val="7FA86B"/>
          </a:solidFill>
          <a:ln/>
        </p:spPr>
      </p:sp>
      <p:sp>
        <p:nvSpPr>
          <p:cNvPr id="19" name="Text 17"/>
          <p:cNvSpPr txBox="1"/>
          <p:nvPr/>
        </p:nvSpPr>
        <p:spPr>
          <a:xfrm>
            <a:off x="969264" y="5687568"/>
            <a:ext cx="548640" cy="329184"/>
          </a:xfrm>
          <a:prstGeom prst="rect">
            <a:avLst/>
          </a:prstGeom>
          <a:noFill/>
          <a:ln/>
        </p:spPr>
        <p:txBody>
          <a:bodyPr wrap="square" lIns="0" tIns="0" rIns="0" bIns="0" rtlCol="0" anchor="ctr"/>
          <a:lstStyle/>
          <a:p>
            <a:pPr algn="ctr" indent="0" marL="0">
              <a:buNone/>
            </a:pPr>
            <a:r>
              <a:rPr lang="en-US" sz="2000" b="1" dirty="0">
                <a:solidFill>
                  <a:srgbClr val="14312A"/>
                </a:solidFill>
                <a:latin typeface="Meiryo" pitchFamily="34" charset="0"/>
                <a:ea typeface="Meiryo" pitchFamily="34" charset="-122"/>
                <a:cs typeface="Meiryo" pitchFamily="34" charset="-120"/>
              </a:rPr>
              <a:t>3</a:t>
            </a:r>
            <a:endParaRPr lang="en-US" sz="2000" dirty="0"/>
          </a:p>
        </p:txBody>
      </p:sp>
      <p:sp>
        <p:nvSpPr>
          <p:cNvPr id="20" name="Text 18"/>
          <p:cNvSpPr txBox="1"/>
          <p:nvPr/>
        </p:nvSpPr>
        <p:spPr>
          <a:xfrm>
            <a:off x="1691640" y="5468112"/>
            <a:ext cx="9448495"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議論は開く。決定と責任は校長が引き受ける</a:t>
            </a:r>
            <a:endParaRPr lang="en-US" sz="1800" dirty="0"/>
          </a:p>
        </p:txBody>
      </p:sp>
      <p:sp>
        <p:nvSpPr>
          <p:cNvPr id="21" name="Text 19"/>
          <p:cNvSpPr txBox="1"/>
          <p:nvPr/>
        </p:nvSpPr>
        <p:spPr>
          <a:xfrm>
            <a:off x="1691640" y="5888736"/>
            <a:ext cx="9448495" cy="438912"/>
          </a:xfrm>
          <a:prstGeom prst="rect">
            <a:avLst/>
          </a:prstGeom>
          <a:noFill/>
          <a:ln/>
        </p:spPr>
        <p:txBody>
          <a:bodyPr wrap="square" lIns="0" tIns="0" rIns="0" bIns="0" rtlCol="0" anchor="ctr"/>
          <a:lstStyle/>
          <a:p>
            <a:pPr indent="0" marL="0">
              <a:buNone/>
            </a:pPr>
            <a:r>
              <a:rPr lang="en-US" sz="1250" dirty="0">
                <a:solidFill>
                  <a:srgbClr val="AFC5B6"/>
                </a:solidFill>
                <a:latin typeface="Meiryo" pitchFamily="34" charset="0"/>
                <a:ea typeface="Meiryo" pitchFamily="34" charset="-122"/>
                <a:cs typeface="Meiryo" pitchFamily="34" charset="-120"/>
              </a:rPr>
              <a:t>「みんなで決めましょう」は、一見民主的ですが、反対する人に責任を負わせる形になります。決めるのは校長、と最初に宣言します。</a:t>
            </a:r>
            <a:endParaRPr lang="en-US" sz="12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52</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巻末資料　想定質問集</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A．制度とスケジュールについて</a:t>
            </a:r>
            <a:endParaRPr lang="en-US" sz="2800" dirty="0"/>
          </a:p>
        </p:txBody>
      </p:sp>
      <p:sp>
        <p:nvSpPr>
          <p:cNvPr id="5" name="Shape 3"/>
          <p:cNvSpPr/>
          <p:nvPr/>
        </p:nvSpPr>
        <p:spPr>
          <a:xfrm>
            <a:off x="640080" y="1517904"/>
            <a:ext cx="10911535" cy="1097280"/>
          </a:xfrm>
          <a:prstGeom prst="roundRect">
            <a:avLst>
              <a:gd name="adj" fmla="val 5000"/>
            </a:avLst>
          </a:prstGeom>
          <a:solidFill>
            <a:srgbClr val="F1F5F2"/>
          </a:solidFill>
          <a:ln/>
        </p:spPr>
      </p:sp>
      <p:sp>
        <p:nvSpPr>
          <p:cNvPr id="6" name="Shape 4"/>
          <p:cNvSpPr/>
          <p:nvPr/>
        </p:nvSpPr>
        <p:spPr>
          <a:xfrm>
            <a:off x="914400" y="1645920"/>
            <a:ext cx="402336" cy="402336"/>
          </a:xfrm>
          <a:prstGeom prst="ellipse">
            <a:avLst/>
          </a:prstGeom>
          <a:solidFill>
            <a:srgbClr val="5B6660"/>
          </a:solidFill>
          <a:ln/>
        </p:spPr>
      </p:sp>
      <p:sp>
        <p:nvSpPr>
          <p:cNvPr id="7" name="Text 5"/>
          <p:cNvSpPr txBox="1"/>
          <p:nvPr/>
        </p:nvSpPr>
        <p:spPr>
          <a:xfrm>
            <a:off x="914400" y="1682496"/>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Q1</a:t>
            </a:r>
            <a:endParaRPr lang="en-US" sz="1000" dirty="0"/>
          </a:p>
        </p:txBody>
      </p:sp>
      <p:sp>
        <p:nvSpPr>
          <p:cNvPr id="8" name="Text 6"/>
          <p:cNvSpPr txBox="1"/>
          <p:nvPr/>
        </p:nvSpPr>
        <p:spPr>
          <a:xfrm>
            <a:off x="1463040" y="1664208"/>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まだ素案でしょう。確定してから動けばいいのでは。</a:t>
            </a:r>
            <a:endParaRPr lang="en-US" sz="1500" dirty="0"/>
          </a:p>
        </p:txBody>
      </p:sp>
      <p:sp>
        <p:nvSpPr>
          <p:cNvPr id="9" name="Shape 7"/>
          <p:cNvSpPr/>
          <p:nvPr/>
        </p:nvSpPr>
        <p:spPr>
          <a:xfrm>
            <a:off x="914400" y="2103120"/>
            <a:ext cx="402336" cy="402336"/>
          </a:xfrm>
          <a:prstGeom prst="ellipse">
            <a:avLst/>
          </a:prstGeom>
          <a:solidFill>
            <a:srgbClr val="1F5D4C"/>
          </a:solidFill>
          <a:ln/>
        </p:spPr>
      </p:sp>
      <p:sp>
        <p:nvSpPr>
          <p:cNvPr id="10" name="Text 8"/>
          <p:cNvSpPr txBox="1"/>
          <p:nvPr/>
        </p:nvSpPr>
        <p:spPr>
          <a:xfrm>
            <a:off x="914400" y="2139696"/>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11" name="Text 9"/>
          <p:cNvSpPr txBox="1"/>
          <p:nvPr/>
        </p:nvSpPr>
        <p:spPr>
          <a:xfrm>
            <a:off x="1463040" y="2084832"/>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今やるのは「決定」ではなく「決める準備」です。確定を待つと設計期間が1年を切ります。準備そのものは無駄になりません。</a:t>
            </a:r>
            <a:endParaRPr lang="en-US" sz="1250" dirty="0"/>
          </a:p>
        </p:txBody>
      </p:sp>
      <p:sp>
        <p:nvSpPr>
          <p:cNvPr id="12" name="Shape 10"/>
          <p:cNvSpPr/>
          <p:nvPr/>
        </p:nvSpPr>
        <p:spPr>
          <a:xfrm>
            <a:off x="640080" y="2670048"/>
            <a:ext cx="10911535" cy="1097280"/>
          </a:xfrm>
          <a:prstGeom prst="roundRect">
            <a:avLst>
              <a:gd name="adj" fmla="val 5000"/>
            </a:avLst>
          </a:prstGeom>
          <a:solidFill>
            <a:srgbClr val="E4EDE6"/>
          </a:solidFill>
          <a:ln/>
        </p:spPr>
      </p:sp>
      <p:sp>
        <p:nvSpPr>
          <p:cNvPr id="13" name="Shape 11"/>
          <p:cNvSpPr/>
          <p:nvPr/>
        </p:nvSpPr>
        <p:spPr>
          <a:xfrm>
            <a:off x="914400" y="2798064"/>
            <a:ext cx="402336" cy="402336"/>
          </a:xfrm>
          <a:prstGeom prst="ellipse">
            <a:avLst/>
          </a:prstGeom>
          <a:solidFill>
            <a:srgbClr val="5B6660"/>
          </a:solidFill>
          <a:ln/>
        </p:spPr>
      </p:sp>
      <p:sp>
        <p:nvSpPr>
          <p:cNvPr id="14" name="Text 12"/>
          <p:cNvSpPr txBox="1"/>
          <p:nvPr/>
        </p:nvSpPr>
        <p:spPr>
          <a:xfrm>
            <a:off x="914400" y="2834640"/>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Q2</a:t>
            </a:r>
            <a:endParaRPr lang="en-US" sz="1000" dirty="0"/>
          </a:p>
        </p:txBody>
      </p:sp>
      <p:sp>
        <p:nvSpPr>
          <p:cNvPr id="15" name="Text 13"/>
          <p:cNvSpPr txBox="1"/>
          <p:nvPr/>
        </p:nvSpPr>
        <p:spPr>
          <a:xfrm>
            <a:off x="1463040" y="2816352"/>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告示されたら、結局やり直しになるのでは。</a:t>
            </a:r>
            <a:endParaRPr lang="en-US" sz="1500" dirty="0"/>
          </a:p>
        </p:txBody>
      </p:sp>
      <p:sp>
        <p:nvSpPr>
          <p:cNvPr id="16" name="Shape 14"/>
          <p:cNvSpPr/>
          <p:nvPr/>
        </p:nvSpPr>
        <p:spPr>
          <a:xfrm>
            <a:off x="914400" y="3255264"/>
            <a:ext cx="402336" cy="402336"/>
          </a:xfrm>
          <a:prstGeom prst="ellipse">
            <a:avLst/>
          </a:prstGeom>
          <a:solidFill>
            <a:srgbClr val="1F5D4C"/>
          </a:solidFill>
          <a:ln/>
        </p:spPr>
      </p:sp>
      <p:sp>
        <p:nvSpPr>
          <p:cNvPr id="17" name="Text 15"/>
          <p:cNvSpPr txBox="1"/>
          <p:nvPr/>
        </p:nvSpPr>
        <p:spPr>
          <a:xfrm>
            <a:off x="914400" y="3291840"/>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18" name="Text 16"/>
          <p:cNvSpPr txBox="1"/>
          <p:nvPr/>
        </p:nvSpPr>
        <p:spPr>
          <a:xfrm>
            <a:off x="1463040" y="3236976"/>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やり直しになるのは数字の部分だけです。自校の重点を決める作業と行事の棚卸しは、告示の中身に関係なく残ります。</a:t>
            </a:r>
            <a:endParaRPr lang="en-US" sz="1250" dirty="0"/>
          </a:p>
        </p:txBody>
      </p:sp>
      <p:sp>
        <p:nvSpPr>
          <p:cNvPr id="19" name="Shape 17"/>
          <p:cNvSpPr/>
          <p:nvPr/>
        </p:nvSpPr>
        <p:spPr>
          <a:xfrm>
            <a:off x="640080" y="3822192"/>
            <a:ext cx="10911535" cy="1097280"/>
          </a:xfrm>
          <a:prstGeom prst="roundRect">
            <a:avLst>
              <a:gd name="adj" fmla="val 5000"/>
            </a:avLst>
          </a:prstGeom>
          <a:solidFill>
            <a:srgbClr val="F1F5F2"/>
          </a:solidFill>
          <a:ln/>
        </p:spPr>
      </p:sp>
      <p:sp>
        <p:nvSpPr>
          <p:cNvPr id="20" name="Shape 18"/>
          <p:cNvSpPr/>
          <p:nvPr/>
        </p:nvSpPr>
        <p:spPr>
          <a:xfrm>
            <a:off x="914400" y="3950208"/>
            <a:ext cx="402336" cy="402336"/>
          </a:xfrm>
          <a:prstGeom prst="ellipse">
            <a:avLst/>
          </a:prstGeom>
          <a:solidFill>
            <a:srgbClr val="5B6660"/>
          </a:solidFill>
          <a:ln/>
        </p:spPr>
      </p:sp>
      <p:sp>
        <p:nvSpPr>
          <p:cNvPr id="21" name="Text 19"/>
          <p:cNvSpPr txBox="1"/>
          <p:nvPr/>
        </p:nvSpPr>
        <p:spPr>
          <a:xfrm>
            <a:off x="914400" y="3986784"/>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Q3</a:t>
            </a:r>
            <a:endParaRPr lang="en-US" sz="1000" dirty="0"/>
          </a:p>
        </p:txBody>
      </p:sp>
      <p:sp>
        <p:nvSpPr>
          <p:cNvPr id="22" name="Text 20"/>
          <p:cNvSpPr txBox="1"/>
          <p:nvPr/>
        </p:nvSpPr>
        <p:spPr>
          <a:xfrm>
            <a:off x="1463040" y="3968496"/>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指導要領はまた10年で変わる。いずれ元に戻るのでは。</a:t>
            </a:r>
            <a:endParaRPr lang="en-US" sz="1500" dirty="0"/>
          </a:p>
        </p:txBody>
      </p:sp>
      <p:sp>
        <p:nvSpPr>
          <p:cNvPr id="23" name="Shape 21"/>
          <p:cNvSpPr/>
          <p:nvPr/>
        </p:nvSpPr>
        <p:spPr>
          <a:xfrm>
            <a:off x="914400" y="4407408"/>
            <a:ext cx="402336" cy="402336"/>
          </a:xfrm>
          <a:prstGeom prst="ellipse">
            <a:avLst/>
          </a:prstGeom>
          <a:solidFill>
            <a:srgbClr val="1F5D4C"/>
          </a:solidFill>
          <a:ln/>
        </p:spPr>
      </p:sp>
      <p:sp>
        <p:nvSpPr>
          <p:cNvPr id="24" name="Text 22"/>
          <p:cNvSpPr txBox="1"/>
          <p:nvPr/>
        </p:nvSpPr>
        <p:spPr>
          <a:xfrm>
            <a:off x="914400" y="4443984"/>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25" name="Text 23"/>
          <p:cNvSpPr txBox="1"/>
          <p:nvPr/>
        </p:nvSpPr>
        <p:spPr>
          <a:xfrm>
            <a:off x="1463040" y="4389120"/>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戻る可能性は否定できません。ただ、学校の裁量を広げる方向は20年続いている流れです。逆に狭まった改訂はありません。</a:t>
            </a:r>
            <a:endParaRPr lang="en-US" sz="1250" dirty="0"/>
          </a:p>
        </p:txBody>
      </p:sp>
      <p:sp>
        <p:nvSpPr>
          <p:cNvPr id="26" name="Shape 24"/>
          <p:cNvSpPr/>
          <p:nvPr/>
        </p:nvSpPr>
        <p:spPr>
          <a:xfrm>
            <a:off x="640080" y="4974336"/>
            <a:ext cx="10911535" cy="1097280"/>
          </a:xfrm>
          <a:prstGeom prst="roundRect">
            <a:avLst>
              <a:gd name="adj" fmla="val 5000"/>
            </a:avLst>
          </a:prstGeom>
          <a:solidFill>
            <a:srgbClr val="E4EDE6"/>
          </a:solidFill>
          <a:ln/>
        </p:spPr>
      </p:sp>
      <p:sp>
        <p:nvSpPr>
          <p:cNvPr id="27" name="Shape 25"/>
          <p:cNvSpPr/>
          <p:nvPr/>
        </p:nvSpPr>
        <p:spPr>
          <a:xfrm>
            <a:off x="914400" y="5102352"/>
            <a:ext cx="402336" cy="402336"/>
          </a:xfrm>
          <a:prstGeom prst="ellipse">
            <a:avLst/>
          </a:prstGeom>
          <a:solidFill>
            <a:srgbClr val="5B6660"/>
          </a:solidFill>
          <a:ln/>
        </p:spPr>
      </p:sp>
      <p:sp>
        <p:nvSpPr>
          <p:cNvPr id="28" name="Text 26"/>
          <p:cNvSpPr txBox="1"/>
          <p:nvPr/>
        </p:nvSpPr>
        <p:spPr>
          <a:xfrm>
            <a:off x="914400" y="5138928"/>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Q4</a:t>
            </a:r>
            <a:endParaRPr lang="en-US" sz="1000" dirty="0"/>
          </a:p>
        </p:txBody>
      </p:sp>
      <p:sp>
        <p:nvSpPr>
          <p:cNvPr id="29" name="Text 27"/>
          <p:cNvSpPr txBox="1"/>
          <p:nvPr/>
        </p:nvSpPr>
        <p:spPr>
          <a:xfrm>
            <a:off x="1463040" y="5120640"/>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区教委から何も言われていない。先走らなくてよいのでは。</a:t>
            </a:r>
            <a:endParaRPr lang="en-US" sz="1500" dirty="0"/>
          </a:p>
        </p:txBody>
      </p:sp>
      <p:sp>
        <p:nvSpPr>
          <p:cNvPr id="30" name="Shape 28"/>
          <p:cNvSpPr/>
          <p:nvPr/>
        </p:nvSpPr>
        <p:spPr>
          <a:xfrm>
            <a:off x="914400" y="5559552"/>
            <a:ext cx="402336" cy="402336"/>
          </a:xfrm>
          <a:prstGeom prst="ellipse">
            <a:avLst/>
          </a:prstGeom>
          <a:solidFill>
            <a:srgbClr val="1F5D4C"/>
          </a:solidFill>
          <a:ln/>
        </p:spPr>
      </p:sp>
      <p:sp>
        <p:nvSpPr>
          <p:cNvPr id="31" name="Text 29"/>
          <p:cNvSpPr txBox="1"/>
          <p:nvPr/>
        </p:nvSpPr>
        <p:spPr>
          <a:xfrm>
            <a:off x="914400" y="5596128"/>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32" name="Text 30"/>
          <p:cNvSpPr txBox="1"/>
          <p:nvPr/>
        </p:nvSpPr>
        <p:spPr>
          <a:xfrm>
            <a:off x="1463040" y="5541264"/>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通知が来てから動くと、全区の学校が同時に動きます。相談も研修も取り合いになります。先に考えておく分には損がありません。</a:t>
            </a:r>
            <a:endParaRPr lang="en-US" sz="12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53</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巻末資料　想定質問集</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B．「今のままでよい」というご意見に</a:t>
            </a:r>
            <a:endParaRPr lang="en-US" sz="2800" dirty="0"/>
          </a:p>
        </p:txBody>
      </p:sp>
      <p:sp>
        <p:nvSpPr>
          <p:cNvPr id="5" name="Shape 3"/>
          <p:cNvSpPr/>
          <p:nvPr/>
        </p:nvSpPr>
        <p:spPr>
          <a:xfrm>
            <a:off x="640080" y="1517904"/>
            <a:ext cx="10911535" cy="1097280"/>
          </a:xfrm>
          <a:prstGeom prst="roundRect">
            <a:avLst>
              <a:gd name="adj" fmla="val 5000"/>
            </a:avLst>
          </a:prstGeom>
          <a:solidFill>
            <a:srgbClr val="F1F5F2"/>
          </a:solidFill>
          <a:ln/>
        </p:spPr>
      </p:sp>
      <p:sp>
        <p:nvSpPr>
          <p:cNvPr id="6" name="Shape 4"/>
          <p:cNvSpPr/>
          <p:nvPr/>
        </p:nvSpPr>
        <p:spPr>
          <a:xfrm>
            <a:off x="914400" y="1645920"/>
            <a:ext cx="402336" cy="402336"/>
          </a:xfrm>
          <a:prstGeom prst="ellipse">
            <a:avLst/>
          </a:prstGeom>
          <a:solidFill>
            <a:srgbClr val="5B6660"/>
          </a:solidFill>
          <a:ln/>
        </p:spPr>
      </p:sp>
      <p:sp>
        <p:nvSpPr>
          <p:cNvPr id="7" name="Text 5"/>
          <p:cNvSpPr txBox="1"/>
          <p:nvPr/>
        </p:nvSpPr>
        <p:spPr>
          <a:xfrm>
            <a:off x="914400" y="1682496"/>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Q5</a:t>
            </a:r>
            <a:endParaRPr lang="en-US" sz="1000" dirty="0"/>
          </a:p>
        </p:txBody>
      </p:sp>
      <p:sp>
        <p:nvSpPr>
          <p:cNvPr id="8" name="Text 6"/>
          <p:cNvSpPr txBox="1"/>
          <p:nvPr/>
        </p:nvSpPr>
        <p:spPr>
          <a:xfrm>
            <a:off x="1463040" y="1664208"/>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今の教育課程で結果が出ている。変える必要があるのか。</a:t>
            </a:r>
            <a:endParaRPr lang="en-US" sz="1500" dirty="0"/>
          </a:p>
        </p:txBody>
      </p:sp>
      <p:sp>
        <p:nvSpPr>
          <p:cNvPr id="9" name="Shape 7"/>
          <p:cNvSpPr/>
          <p:nvPr/>
        </p:nvSpPr>
        <p:spPr>
          <a:xfrm>
            <a:off x="914400" y="2103120"/>
            <a:ext cx="402336" cy="402336"/>
          </a:xfrm>
          <a:prstGeom prst="ellipse">
            <a:avLst/>
          </a:prstGeom>
          <a:solidFill>
            <a:srgbClr val="1F5D4C"/>
          </a:solidFill>
          <a:ln/>
        </p:spPr>
      </p:sp>
      <p:sp>
        <p:nvSpPr>
          <p:cNvPr id="10" name="Text 8"/>
          <p:cNvSpPr txBox="1"/>
          <p:nvPr/>
        </p:nvSpPr>
        <p:spPr>
          <a:xfrm>
            <a:off x="914400" y="2139696"/>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11" name="Text 9"/>
          <p:cNvSpPr txBox="1"/>
          <p:nvPr/>
        </p:nvSpPr>
        <p:spPr>
          <a:xfrm>
            <a:off x="1463040" y="2084832"/>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結果が出ている学校ほど、何が効いているかを言語化する価値があります。棚卸しは、やめるためではなく、残すものを選ぶ作業です。</a:t>
            </a:r>
            <a:endParaRPr lang="en-US" sz="1250" dirty="0"/>
          </a:p>
        </p:txBody>
      </p:sp>
      <p:sp>
        <p:nvSpPr>
          <p:cNvPr id="12" name="Shape 10"/>
          <p:cNvSpPr/>
          <p:nvPr/>
        </p:nvSpPr>
        <p:spPr>
          <a:xfrm>
            <a:off x="640080" y="2670048"/>
            <a:ext cx="10911535" cy="1097280"/>
          </a:xfrm>
          <a:prstGeom prst="roundRect">
            <a:avLst>
              <a:gd name="adj" fmla="val 5000"/>
            </a:avLst>
          </a:prstGeom>
          <a:solidFill>
            <a:srgbClr val="E4EDE6"/>
          </a:solidFill>
          <a:ln/>
        </p:spPr>
      </p:sp>
      <p:sp>
        <p:nvSpPr>
          <p:cNvPr id="13" name="Shape 11"/>
          <p:cNvSpPr/>
          <p:nvPr/>
        </p:nvSpPr>
        <p:spPr>
          <a:xfrm>
            <a:off x="914400" y="2798064"/>
            <a:ext cx="402336" cy="402336"/>
          </a:xfrm>
          <a:prstGeom prst="ellipse">
            <a:avLst/>
          </a:prstGeom>
          <a:solidFill>
            <a:srgbClr val="5B6660"/>
          </a:solidFill>
          <a:ln/>
        </p:spPr>
      </p:sp>
      <p:sp>
        <p:nvSpPr>
          <p:cNvPr id="14" name="Text 12"/>
          <p:cNvSpPr txBox="1"/>
          <p:nvPr/>
        </p:nvSpPr>
        <p:spPr>
          <a:xfrm>
            <a:off x="914400" y="2834640"/>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Q6</a:t>
            </a:r>
            <a:endParaRPr lang="en-US" sz="1000" dirty="0"/>
          </a:p>
        </p:txBody>
      </p:sp>
      <p:sp>
        <p:nvSpPr>
          <p:cNvPr id="15" name="Text 13"/>
          <p:cNvSpPr txBox="1"/>
          <p:nvPr/>
        </p:nvSpPr>
        <p:spPr>
          <a:xfrm>
            <a:off x="1463040" y="2816352"/>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うちの子供たちには、今のやり方が合っている。</a:t>
            </a:r>
            <a:endParaRPr lang="en-US" sz="1500" dirty="0"/>
          </a:p>
        </p:txBody>
      </p:sp>
      <p:sp>
        <p:nvSpPr>
          <p:cNvPr id="16" name="Shape 14"/>
          <p:cNvSpPr/>
          <p:nvPr/>
        </p:nvSpPr>
        <p:spPr>
          <a:xfrm>
            <a:off x="914400" y="3255264"/>
            <a:ext cx="402336" cy="402336"/>
          </a:xfrm>
          <a:prstGeom prst="ellipse">
            <a:avLst/>
          </a:prstGeom>
          <a:solidFill>
            <a:srgbClr val="1F5D4C"/>
          </a:solidFill>
          <a:ln/>
        </p:spPr>
      </p:sp>
      <p:sp>
        <p:nvSpPr>
          <p:cNvPr id="17" name="Text 15"/>
          <p:cNvSpPr txBox="1"/>
          <p:nvPr/>
        </p:nvSpPr>
        <p:spPr>
          <a:xfrm>
            <a:off x="914400" y="3291840"/>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18" name="Text 16"/>
          <p:cNvSpPr txBox="1"/>
          <p:nvPr/>
        </p:nvSpPr>
        <p:spPr>
          <a:xfrm>
            <a:off x="1463040" y="3236976"/>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でしたら、それを残す判断をしてください。この制度は減らすことを求めていません。配分を自分で決められるようになるだけです。</a:t>
            </a:r>
            <a:endParaRPr lang="en-US" sz="1250" dirty="0"/>
          </a:p>
        </p:txBody>
      </p:sp>
      <p:sp>
        <p:nvSpPr>
          <p:cNvPr id="19" name="Shape 17"/>
          <p:cNvSpPr/>
          <p:nvPr/>
        </p:nvSpPr>
        <p:spPr>
          <a:xfrm>
            <a:off x="640080" y="3822192"/>
            <a:ext cx="10911535" cy="1097280"/>
          </a:xfrm>
          <a:prstGeom prst="roundRect">
            <a:avLst>
              <a:gd name="adj" fmla="val 5000"/>
            </a:avLst>
          </a:prstGeom>
          <a:solidFill>
            <a:srgbClr val="F1F5F2"/>
          </a:solidFill>
          <a:ln/>
        </p:spPr>
      </p:sp>
      <p:sp>
        <p:nvSpPr>
          <p:cNvPr id="20" name="Shape 18"/>
          <p:cNvSpPr/>
          <p:nvPr/>
        </p:nvSpPr>
        <p:spPr>
          <a:xfrm>
            <a:off x="914400" y="3950208"/>
            <a:ext cx="402336" cy="402336"/>
          </a:xfrm>
          <a:prstGeom prst="ellipse">
            <a:avLst/>
          </a:prstGeom>
          <a:solidFill>
            <a:srgbClr val="5B6660"/>
          </a:solidFill>
          <a:ln/>
        </p:spPr>
      </p:sp>
      <p:sp>
        <p:nvSpPr>
          <p:cNvPr id="21" name="Text 19"/>
          <p:cNvSpPr txBox="1"/>
          <p:nvPr/>
        </p:nvSpPr>
        <p:spPr>
          <a:xfrm>
            <a:off x="914400" y="3986784"/>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Q7</a:t>
            </a:r>
            <a:endParaRPr lang="en-US" sz="1000" dirty="0"/>
          </a:p>
        </p:txBody>
      </p:sp>
      <p:sp>
        <p:nvSpPr>
          <p:cNvPr id="22" name="Text 20"/>
          <p:cNvSpPr txBox="1"/>
          <p:nvPr/>
        </p:nvSpPr>
        <p:spPr>
          <a:xfrm>
            <a:off x="1463040" y="3968496"/>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前任校でうまくいった方法を、変えたくない。</a:t>
            </a:r>
            <a:endParaRPr lang="en-US" sz="1500" dirty="0"/>
          </a:p>
        </p:txBody>
      </p:sp>
      <p:sp>
        <p:nvSpPr>
          <p:cNvPr id="23" name="Shape 21"/>
          <p:cNvSpPr/>
          <p:nvPr/>
        </p:nvSpPr>
        <p:spPr>
          <a:xfrm>
            <a:off x="914400" y="4407408"/>
            <a:ext cx="402336" cy="402336"/>
          </a:xfrm>
          <a:prstGeom prst="ellipse">
            <a:avLst/>
          </a:prstGeom>
          <a:solidFill>
            <a:srgbClr val="1F5D4C"/>
          </a:solidFill>
          <a:ln/>
        </p:spPr>
      </p:sp>
      <p:sp>
        <p:nvSpPr>
          <p:cNvPr id="24" name="Text 22"/>
          <p:cNvSpPr txBox="1"/>
          <p:nvPr/>
        </p:nvSpPr>
        <p:spPr>
          <a:xfrm>
            <a:off x="914400" y="4443984"/>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25" name="Text 23"/>
          <p:cNvSpPr txBox="1"/>
          <p:nvPr/>
        </p:nvSpPr>
        <p:spPr>
          <a:xfrm>
            <a:off x="1463040" y="4389120"/>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変えろとは申しません。ただ、それが「この学校の子」に合っているかどうかは、一度確かめる価値があると思います。</a:t>
            </a:r>
            <a:endParaRPr lang="en-US" sz="1250" dirty="0"/>
          </a:p>
        </p:txBody>
      </p:sp>
      <p:sp>
        <p:nvSpPr>
          <p:cNvPr id="26" name="Shape 24"/>
          <p:cNvSpPr/>
          <p:nvPr/>
        </p:nvSpPr>
        <p:spPr>
          <a:xfrm>
            <a:off x="640080" y="4974336"/>
            <a:ext cx="10911535" cy="1097280"/>
          </a:xfrm>
          <a:prstGeom prst="roundRect">
            <a:avLst>
              <a:gd name="adj" fmla="val 5000"/>
            </a:avLst>
          </a:prstGeom>
          <a:solidFill>
            <a:srgbClr val="E4EDE6"/>
          </a:solidFill>
          <a:ln/>
        </p:spPr>
      </p:sp>
      <p:sp>
        <p:nvSpPr>
          <p:cNvPr id="27" name="Shape 25"/>
          <p:cNvSpPr/>
          <p:nvPr/>
        </p:nvSpPr>
        <p:spPr>
          <a:xfrm>
            <a:off x="914400" y="5102352"/>
            <a:ext cx="402336" cy="402336"/>
          </a:xfrm>
          <a:prstGeom prst="ellipse">
            <a:avLst/>
          </a:prstGeom>
          <a:solidFill>
            <a:srgbClr val="5B6660"/>
          </a:solidFill>
          <a:ln/>
        </p:spPr>
      </p:sp>
      <p:sp>
        <p:nvSpPr>
          <p:cNvPr id="28" name="Text 26"/>
          <p:cNvSpPr txBox="1"/>
          <p:nvPr/>
        </p:nvSpPr>
        <p:spPr>
          <a:xfrm>
            <a:off x="914400" y="5138928"/>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Q8</a:t>
            </a:r>
            <a:endParaRPr lang="en-US" sz="1000" dirty="0"/>
          </a:p>
        </p:txBody>
      </p:sp>
      <p:sp>
        <p:nvSpPr>
          <p:cNvPr id="29" name="Text 27"/>
          <p:cNvSpPr txBox="1"/>
          <p:nvPr/>
        </p:nvSpPr>
        <p:spPr>
          <a:xfrm>
            <a:off x="1463040" y="5120640"/>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行事は本校の伝統だ。減らすのは学校の文化を壊すことになる。</a:t>
            </a:r>
            <a:endParaRPr lang="en-US" sz="1500" dirty="0"/>
          </a:p>
        </p:txBody>
      </p:sp>
      <p:sp>
        <p:nvSpPr>
          <p:cNvPr id="30" name="Shape 28"/>
          <p:cNvSpPr/>
          <p:nvPr/>
        </p:nvSpPr>
        <p:spPr>
          <a:xfrm>
            <a:off x="914400" y="5559552"/>
            <a:ext cx="402336" cy="402336"/>
          </a:xfrm>
          <a:prstGeom prst="ellipse">
            <a:avLst/>
          </a:prstGeom>
          <a:solidFill>
            <a:srgbClr val="1F5D4C"/>
          </a:solidFill>
          <a:ln/>
        </p:spPr>
      </p:sp>
      <p:sp>
        <p:nvSpPr>
          <p:cNvPr id="31" name="Text 29"/>
          <p:cNvSpPr txBox="1"/>
          <p:nvPr/>
        </p:nvSpPr>
        <p:spPr>
          <a:xfrm>
            <a:off x="914400" y="5596128"/>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32" name="Text 30"/>
          <p:cNvSpPr txBox="1"/>
          <p:nvPr/>
        </p:nvSpPr>
        <p:spPr>
          <a:xfrm>
            <a:off x="1463040" y="5541264"/>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伝統だからこそ、ねらいを言葉にして残しましょう。説明できない伝統は、次の代で理由もわからないまま消えていきます。</a:t>
            </a:r>
            <a:endParaRPr lang="en-US" sz="12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54</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巻末資料　想定質問集</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C．負担と現実論について</a:t>
            </a:r>
            <a:endParaRPr lang="en-US" sz="2800" dirty="0"/>
          </a:p>
        </p:txBody>
      </p:sp>
      <p:sp>
        <p:nvSpPr>
          <p:cNvPr id="5" name="Shape 3"/>
          <p:cNvSpPr/>
          <p:nvPr/>
        </p:nvSpPr>
        <p:spPr>
          <a:xfrm>
            <a:off x="640080" y="1517904"/>
            <a:ext cx="10911535" cy="1097280"/>
          </a:xfrm>
          <a:prstGeom prst="roundRect">
            <a:avLst>
              <a:gd name="adj" fmla="val 5000"/>
            </a:avLst>
          </a:prstGeom>
          <a:solidFill>
            <a:srgbClr val="F1F5F2"/>
          </a:solidFill>
          <a:ln/>
        </p:spPr>
      </p:sp>
      <p:sp>
        <p:nvSpPr>
          <p:cNvPr id="6" name="Shape 4"/>
          <p:cNvSpPr/>
          <p:nvPr/>
        </p:nvSpPr>
        <p:spPr>
          <a:xfrm>
            <a:off x="914400" y="1645920"/>
            <a:ext cx="402336" cy="402336"/>
          </a:xfrm>
          <a:prstGeom prst="ellipse">
            <a:avLst/>
          </a:prstGeom>
          <a:solidFill>
            <a:srgbClr val="5B6660"/>
          </a:solidFill>
          <a:ln/>
        </p:spPr>
      </p:sp>
      <p:sp>
        <p:nvSpPr>
          <p:cNvPr id="7" name="Text 5"/>
          <p:cNvSpPr txBox="1"/>
          <p:nvPr/>
        </p:nvSpPr>
        <p:spPr>
          <a:xfrm>
            <a:off x="914400" y="1682496"/>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Q9</a:t>
            </a:r>
            <a:endParaRPr lang="en-US" sz="1000" dirty="0"/>
          </a:p>
        </p:txBody>
      </p:sp>
      <p:sp>
        <p:nvSpPr>
          <p:cNvPr id="8" name="Text 6"/>
          <p:cNvSpPr txBox="1"/>
          <p:nvPr/>
        </p:nvSpPr>
        <p:spPr>
          <a:xfrm>
            <a:off x="1463040" y="1664208"/>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ただでさえ忙しい。これ以上仕事を増やさないでほしい。</a:t>
            </a:r>
            <a:endParaRPr lang="en-US" sz="1500" dirty="0"/>
          </a:p>
        </p:txBody>
      </p:sp>
      <p:sp>
        <p:nvSpPr>
          <p:cNvPr id="9" name="Shape 7"/>
          <p:cNvSpPr/>
          <p:nvPr/>
        </p:nvSpPr>
        <p:spPr>
          <a:xfrm>
            <a:off x="914400" y="2103120"/>
            <a:ext cx="402336" cy="402336"/>
          </a:xfrm>
          <a:prstGeom prst="ellipse">
            <a:avLst/>
          </a:prstGeom>
          <a:solidFill>
            <a:srgbClr val="1F5D4C"/>
          </a:solidFill>
          <a:ln/>
        </p:spPr>
      </p:sp>
      <p:sp>
        <p:nvSpPr>
          <p:cNvPr id="10" name="Text 8"/>
          <p:cNvSpPr txBox="1"/>
          <p:nvPr/>
        </p:nvSpPr>
        <p:spPr>
          <a:xfrm>
            <a:off x="914400" y="2139696"/>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11" name="Text 9"/>
          <p:cNvSpPr txBox="1"/>
          <p:nvPr/>
        </p:nvSpPr>
        <p:spPr>
          <a:xfrm>
            <a:off x="1463040" y="2084832"/>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もっともです。ですから最初の打ち手は「会議の精選」にします。増やす話の前に、減らす話から始めます。</a:t>
            </a:r>
            <a:endParaRPr lang="en-US" sz="1250" dirty="0"/>
          </a:p>
        </p:txBody>
      </p:sp>
      <p:sp>
        <p:nvSpPr>
          <p:cNvPr id="12" name="Shape 10"/>
          <p:cNvSpPr/>
          <p:nvPr/>
        </p:nvSpPr>
        <p:spPr>
          <a:xfrm>
            <a:off x="640080" y="2670048"/>
            <a:ext cx="10911535" cy="1097280"/>
          </a:xfrm>
          <a:prstGeom prst="roundRect">
            <a:avLst>
              <a:gd name="adj" fmla="val 5000"/>
            </a:avLst>
          </a:prstGeom>
          <a:solidFill>
            <a:srgbClr val="E4EDE6"/>
          </a:solidFill>
          <a:ln/>
        </p:spPr>
      </p:sp>
      <p:sp>
        <p:nvSpPr>
          <p:cNvPr id="13" name="Shape 11"/>
          <p:cNvSpPr/>
          <p:nvPr/>
        </p:nvSpPr>
        <p:spPr>
          <a:xfrm>
            <a:off x="914400" y="2798064"/>
            <a:ext cx="402336" cy="402336"/>
          </a:xfrm>
          <a:prstGeom prst="ellipse">
            <a:avLst/>
          </a:prstGeom>
          <a:solidFill>
            <a:srgbClr val="5B6660"/>
          </a:solidFill>
          <a:ln/>
        </p:spPr>
      </p:sp>
      <p:sp>
        <p:nvSpPr>
          <p:cNvPr id="14" name="Text 12"/>
          <p:cNvSpPr txBox="1"/>
          <p:nvPr/>
        </p:nvSpPr>
        <p:spPr>
          <a:xfrm>
            <a:off x="914400" y="2834640"/>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Q10</a:t>
            </a:r>
            <a:endParaRPr lang="en-US" sz="1000" dirty="0"/>
          </a:p>
        </p:txBody>
      </p:sp>
      <p:sp>
        <p:nvSpPr>
          <p:cNvPr id="15" name="Text 13"/>
          <p:cNvSpPr txBox="1"/>
          <p:nvPr/>
        </p:nvSpPr>
        <p:spPr>
          <a:xfrm>
            <a:off x="1463040" y="2816352"/>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削った時間で、結局新しい仕事が増えるのでは。</a:t>
            </a:r>
            <a:endParaRPr lang="en-US" sz="1500" dirty="0"/>
          </a:p>
        </p:txBody>
      </p:sp>
      <p:sp>
        <p:nvSpPr>
          <p:cNvPr id="16" name="Shape 14"/>
          <p:cNvSpPr/>
          <p:nvPr/>
        </p:nvSpPr>
        <p:spPr>
          <a:xfrm>
            <a:off x="914400" y="3255264"/>
            <a:ext cx="402336" cy="402336"/>
          </a:xfrm>
          <a:prstGeom prst="ellipse">
            <a:avLst/>
          </a:prstGeom>
          <a:solidFill>
            <a:srgbClr val="1F5D4C"/>
          </a:solidFill>
          <a:ln/>
        </p:spPr>
      </p:sp>
      <p:sp>
        <p:nvSpPr>
          <p:cNvPr id="17" name="Text 15"/>
          <p:cNvSpPr txBox="1"/>
          <p:nvPr/>
        </p:nvSpPr>
        <p:spPr>
          <a:xfrm>
            <a:off x="914400" y="3291840"/>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18" name="Text 16"/>
          <p:cNvSpPr txBox="1"/>
          <p:nvPr/>
        </p:nvSpPr>
        <p:spPr>
          <a:xfrm>
            <a:off x="1463040" y="3236976"/>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使い道を先に決めます。決めずに削ると、必ず別の何かで埋まります。ここは校長の責任として明示します。</a:t>
            </a:r>
            <a:endParaRPr lang="en-US" sz="1250" dirty="0"/>
          </a:p>
        </p:txBody>
      </p:sp>
      <p:sp>
        <p:nvSpPr>
          <p:cNvPr id="19" name="Shape 17"/>
          <p:cNvSpPr/>
          <p:nvPr/>
        </p:nvSpPr>
        <p:spPr>
          <a:xfrm>
            <a:off x="640080" y="3822192"/>
            <a:ext cx="10911535" cy="1097280"/>
          </a:xfrm>
          <a:prstGeom prst="roundRect">
            <a:avLst>
              <a:gd name="adj" fmla="val 5000"/>
            </a:avLst>
          </a:prstGeom>
          <a:solidFill>
            <a:srgbClr val="F1F5F2"/>
          </a:solidFill>
          <a:ln/>
        </p:spPr>
      </p:sp>
      <p:sp>
        <p:nvSpPr>
          <p:cNvPr id="20" name="Shape 18"/>
          <p:cNvSpPr/>
          <p:nvPr/>
        </p:nvSpPr>
        <p:spPr>
          <a:xfrm>
            <a:off x="914400" y="3950208"/>
            <a:ext cx="402336" cy="402336"/>
          </a:xfrm>
          <a:prstGeom prst="ellipse">
            <a:avLst/>
          </a:prstGeom>
          <a:solidFill>
            <a:srgbClr val="5B6660"/>
          </a:solidFill>
          <a:ln/>
        </p:spPr>
      </p:sp>
      <p:sp>
        <p:nvSpPr>
          <p:cNvPr id="21" name="Text 19"/>
          <p:cNvSpPr txBox="1"/>
          <p:nvPr/>
        </p:nvSpPr>
        <p:spPr>
          <a:xfrm>
            <a:off x="914400" y="3986784"/>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Q11</a:t>
            </a:r>
            <a:endParaRPr lang="en-US" sz="1000" dirty="0"/>
          </a:p>
        </p:txBody>
      </p:sp>
      <p:sp>
        <p:nvSpPr>
          <p:cNvPr id="22" name="Text 20"/>
          <p:cNvSpPr txBox="1"/>
          <p:nvPr/>
        </p:nvSpPr>
        <p:spPr>
          <a:xfrm>
            <a:off x="1463040" y="3968496"/>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検討する時間が、どこにあるのか。</a:t>
            </a:r>
            <a:endParaRPr lang="en-US" sz="1500" dirty="0"/>
          </a:p>
        </p:txBody>
      </p:sp>
      <p:sp>
        <p:nvSpPr>
          <p:cNvPr id="23" name="Shape 21"/>
          <p:cNvSpPr/>
          <p:nvPr/>
        </p:nvSpPr>
        <p:spPr>
          <a:xfrm>
            <a:off x="914400" y="4407408"/>
            <a:ext cx="402336" cy="402336"/>
          </a:xfrm>
          <a:prstGeom prst="ellipse">
            <a:avLst/>
          </a:prstGeom>
          <a:solidFill>
            <a:srgbClr val="1F5D4C"/>
          </a:solidFill>
          <a:ln/>
        </p:spPr>
      </p:sp>
      <p:sp>
        <p:nvSpPr>
          <p:cNvPr id="24" name="Text 22"/>
          <p:cNvSpPr txBox="1"/>
          <p:nvPr/>
        </p:nvSpPr>
        <p:spPr>
          <a:xfrm>
            <a:off x="914400" y="4443984"/>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25" name="Text 23"/>
          <p:cNvSpPr txBox="1"/>
          <p:nvPr/>
        </p:nvSpPr>
        <p:spPr>
          <a:xfrm>
            <a:off x="1463040" y="4389120"/>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新しい会議は作りません。既存の職員会議と分掌会議の中で扱います。それで足りない分は、私が引き取ります。</a:t>
            </a:r>
            <a:endParaRPr lang="en-US" sz="1250" dirty="0"/>
          </a:p>
        </p:txBody>
      </p:sp>
      <p:sp>
        <p:nvSpPr>
          <p:cNvPr id="26" name="Shape 24"/>
          <p:cNvSpPr/>
          <p:nvPr/>
        </p:nvSpPr>
        <p:spPr>
          <a:xfrm>
            <a:off x="640080" y="4974336"/>
            <a:ext cx="10911535" cy="1097280"/>
          </a:xfrm>
          <a:prstGeom prst="roundRect">
            <a:avLst>
              <a:gd name="adj" fmla="val 5000"/>
            </a:avLst>
          </a:prstGeom>
          <a:solidFill>
            <a:srgbClr val="E4EDE6"/>
          </a:solidFill>
          <a:ln/>
        </p:spPr>
      </p:sp>
      <p:sp>
        <p:nvSpPr>
          <p:cNvPr id="27" name="Shape 25"/>
          <p:cNvSpPr/>
          <p:nvPr/>
        </p:nvSpPr>
        <p:spPr>
          <a:xfrm>
            <a:off x="914400" y="5102352"/>
            <a:ext cx="402336" cy="402336"/>
          </a:xfrm>
          <a:prstGeom prst="ellipse">
            <a:avLst/>
          </a:prstGeom>
          <a:solidFill>
            <a:srgbClr val="5B6660"/>
          </a:solidFill>
          <a:ln/>
        </p:spPr>
      </p:sp>
      <p:sp>
        <p:nvSpPr>
          <p:cNvPr id="28" name="Text 26"/>
          <p:cNvSpPr txBox="1"/>
          <p:nvPr/>
        </p:nvSpPr>
        <p:spPr>
          <a:xfrm>
            <a:off x="914400" y="5138928"/>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Q12</a:t>
            </a:r>
            <a:endParaRPr lang="en-US" sz="1000" dirty="0"/>
          </a:p>
        </p:txBody>
      </p:sp>
      <p:sp>
        <p:nvSpPr>
          <p:cNvPr id="29" name="Text 27"/>
          <p:cNvSpPr txBox="1"/>
          <p:nvPr/>
        </p:nvSpPr>
        <p:spPr>
          <a:xfrm>
            <a:off x="1463040" y="5120640"/>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人が足りない。制度より人を増やしてほしい。</a:t>
            </a:r>
            <a:endParaRPr lang="en-US" sz="1500" dirty="0"/>
          </a:p>
        </p:txBody>
      </p:sp>
      <p:sp>
        <p:nvSpPr>
          <p:cNvPr id="30" name="Shape 28"/>
          <p:cNvSpPr/>
          <p:nvPr/>
        </p:nvSpPr>
        <p:spPr>
          <a:xfrm>
            <a:off x="914400" y="5559552"/>
            <a:ext cx="402336" cy="402336"/>
          </a:xfrm>
          <a:prstGeom prst="ellipse">
            <a:avLst/>
          </a:prstGeom>
          <a:solidFill>
            <a:srgbClr val="1F5D4C"/>
          </a:solidFill>
          <a:ln/>
        </p:spPr>
      </p:sp>
      <p:sp>
        <p:nvSpPr>
          <p:cNvPr id="31" name="Text 29"/>
          <p:cNvSpPr txBox="1"/>
          <p:nvPr/>
        </p:nvSpPr>
        <p:spPr>
          <a:xfrm>
            <a:off x="914400" y="5596128"/>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32" name="Text 30"/>
          <p:cNvSpPr txBox="1"/>
          <p:nvPr/>
        </p:nvSpPr>
        <p:spPr>
          <a:xfrm>
            <a:off x="1463040" y="5541264"/>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同感です。人員は区に要望し続けます。同時に、今ある時間の配分は今の人数でも変えられます。両方やります。</a:t>
            </a:r>
            <a:endParaRPr lang="en-US" sz="12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55</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巻末資料　想定質問集</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D．保護者・地域・子供への影響</a:t>
            </a:r>
            <a:endParaRPr lang="en-US" sz="2800" dirty="0"/>
          </a:p>
        </p:txBody>
      </p:sp>
      <p:sp>
        <p:nvSpPr>
          <p:cNvPr id="5" name="Shape 3"/>
          <p:cNvSpPr/>
          <p:nvPr/>
        </p:nvSpPr>
        <p:spPr>
          <a:xfrm>
            <a:off x="640080" y="1517904"/>
            <a:ext cx="10911535" cy="1097280"/>
          </a:xfrm>
          <a:prstGeom prst="roundRect">
            <a:avLst>
              <a:gd name="adj" fmla="val 5000"/>
            </a:avLst>
          </a:prstGeom>
          <a:solidFill>
            <a:srgbClr val="F1F5F2"/>
          </a:solidFill>
          <a:ln/>
        </p:spPr>
      </p:sp>
      <p:sp>
        <p:nvSpPr>
          <p:cNvPr id="6" name="Shape 4"/>
          <p:cNvSpPr/>
          <p:nvPr/>
        </p:nvSpPr>
        <p:spPr>
          <a:xfrm>
            <a:off x="914400" y="1645920"/>
            <a:ext cx="402336" cy="402336"/>
          </a:xfrm>
          <a:prstGeom prst="ellipse">
            <a:avLst/>
          </a:prstGeom>
          <a:solidFill>
            <a:srgbClr val="5B6660"/>
          </a:solidFill>
          <a:ln/>
        </p:spPr>
      </p:sp>
      <p:sp>
        <p:nvSpPr>
          <p:cNvPr id="7" name="Text 5"/>
          <p:cNvSpPr txBox="1"/>
          <p:nvPr/>
        </p:nvSpPr>
        <p:spPr>
          <a:xfrm>
            <a:off x="914400" y="1682496"/>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Q13</a:t>
            </a:r>
            <a:endParaRPr lang="en-US" sz="1000" dirty="0"/>
          </a:p>
        </p:txBody>
      </p:sp>
      <p:sp>
        <p:nvSpPr>
          <p:cNvPr id="8" name="Text 6"/>
          <p:cNvSpPr txBox="1"/>
          <p:nvPr/>
        </p:nvSpPr>
        <p:spPr>
          <a:xfrm>
            <a:off x="1463040" y="1664208"/>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行事を減らすと、保護者から苦情が来る。</a:t>
            </a:r>
            <a:endParaRPr lang="en-US" sz="1500" dirty="0"/>
          </a:p>
        </p:txBody>
      </p:sp>
      <p:sp>
        <p:nvSpPr>
          <p:cNvPr id="9" name="Shape 7"/>
          <p:cNvSpPr/>
          <p:nvPr/>
        </p:nvSpPr>
        <p:spPr>
          <a:xfrm>
            <a:off x="914400" y="2103120"/>
            <a:ext cx="402336" cy="402336"/>
          </a:xfrm>
          <a:prstGeom prst="ellipse">
            <a:avLst/>
          </a:prstGeom>
          <a:solidFill>
            <a:srgbClr val="1F5D4C"/>
          </a:solidFill>
          <a:ln/>
        </p:spPr>
      </p:sp>
      <p:sp>
        <p:nvSpPr>
          <p:cNvPr id="10" name="Text 8"/>
          <p:cNvSpPr txBox="1"/>
          <p:nvPr/>
        </p:nvSpPr>
        <p:spPr>
          <a:xfrm>
            <a:off x="914400" y="2139696"/>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11" name="Text 9"/>
          <p:cNvSpPr txBox="1"/>
          <p:nvPr/>
        </p:nvSpPr>
        <p:spPr>
          <a:xfrm>
            <a:off x="1463040" y="2084832"/>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減らす前に「何のための行事か」を示します。目的とねらいを説明できれば、大半は納得されます。矢面には私が立ちます。</a:t>
            </a:r>
            <a:endParaRPr lang="en-US" sz="1250" dirty="0"/>
          </a:p>
        </p:txBody>
      </p:sp>
      <p:sp>
        <p:nvSpPr>
          <p:cNvPr id="12" name="Shape 10"/>
          <p:cNvSpPr/>
          <p:nvPr/>
        </p:nvSpPr>
        <p:spPr>
          <a:xfrm>
            <a:off x="640080" y="2670048"/>
            <a:ext cx="10911535" cy="1097280"/>
          </a:xfrm>
          <a:prstGeom prst="roundRect">
            <a:avLst>
              <a:gd name="adj" fmla="val 5000"/>
            </a:avLst>
          </a:prstGeom>
          <a:solidFill>
            <a:srgbClr val="E4EDE6"/>
          </a:solidFill>
          <a:ln/>
        </p:spPr>
      </p:sp>
      <p:sp>
        <p:nvSpPr>
          <p:cNvPr id="13" name="Shape 11"/>
          <p:cNvSpPr/>
          <p:nvPr/>
        </p:nvSpPr>
        <p:spPr>
          <a:xfrm>
            <a:off x="914400" y="2798064"/>
            <a:ext cx="402336" cy="402336"/>
          </a:xfrm>
          <a:prstGeom prst="ellipse">
            <a:avLst/>
          </a:prstGeom>
          <a:solidFill>
            <a:srgbClr val="5B6660"/>
          </a:solidFill>
          <a:ln/>
        </p:spPr>
      </p:sp>
      <p:sp>
        <p:nvSpPr>
          <p:cNvPr id="14" name="Text 12"/>
          <p:cNvSpPr txBox="1"/>
          <p:nvPr/>
        </p:nvSpPr>
        <p:spPr>
          <a:xfrm>
            <a:off x="914400" y="2834640"/>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Q14</a:t>
            </a:r>
            <a:endParaRPr lang="en-US" sz="1000" dirty="0"/>
          </a:p>
        </p:txBody>
      </p:sp>
      <p:sp>
        <p:nvSpPr>
          <p:cNvPr id="15" name="Text 13"/>
          <p:cNvSpPr txBox="1"/>
          <p:nvPr/>
        </p:nvSpPr>
        <p:spPr>
          <a:xfrm>
            <a:off x="1463040" y="2816352"/>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地域行事との関係はどうするのか。</a:t>
            </a:r>
            <a:endParaRPr lang="en-US" sz="1500" dirty="0"/>
          </a:p>
        </p:txBody>
      </p:sp>
      <p:sp>
        <p:nvSpPr>
          <p:cNvPr id="16" name="Shape 14"/>
          <p:cNvSpPr/>
          <p:nvPr/>
        </p:nvSpPr>
        <p:spPr>
          <a:xfrm>
            <a:off x="914400" y="3255264"/>
            <a:ext cx="402336" cy="402336"/>
          </a:xfrm>
          <a:prstGeom prst="ellipse">
            <a:avLst/>
          </a:prstGeom>
          <a:solidFill>
            <a:srgbClr val="1F5D4C"/>
          </a:solidFill>
          <a:ln/>
        </p:spPr>
      </p:sp>
      <p:sp>
        <p:nvSpPr>
          <p:cNvPr id="17" name="Text 15"/>
          <p:cNvSpPr txBox="1"/>
          <p:nvPr/>
        </p:nvSpPr>
        <p:spPr>
          <a:xfrm>
            <a:off x="914400" y="3291840"/>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18" name="Text 16"/>
          <p:cNvSpPr txBox="1"/>
          <p:nvPr/>
        </p:nvSpPr>
        <p:spPr>
          <a:xfrm>
            <a:off x="1463040" y="3236976"/>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地域には、決定前の段階で早めに相談します。事後報告が一番こじれます。学校運営協議会を活用します。</a:t>
            </a:r>
            <a:endParaRPr lang="en-US" sz="1250" dirty="0"/>
          </a:p>
        </p:txBody>
      </p:sp>
      <p:sp>
        <p:nvSpPr>
          <p:cNvPr id="19" name="Shape 17"/>
          <p:cNvSpPr/>
          <p:nvPr/>
        </p:nvSpPr>
        <p:spPr>
          <a:xfrm>
            <a:off x="640080" y="3822192"/>
            <a:ext cx="10911535" cy="1097280"/>
          </a:xfrm>
          <a:prstGeom prst="roundRect">
            <a:avLst>
              <a:gd name="adj" fmla="val 5000"/>
            </a:avLst>
          </a:prstGeom>
          <a:solidFill>
            <a:srgbClr val="F1F5F2"/>
          </a:solidFill>
          <a:ln/>
        </p:spPr>
      </p:sp>
      <p:sp>
        <p:nvSpPr>
          <p:cNvPr id="20" name="Shape 18"/>
          <p:cNvSpPr/>
          <p:nvPr/>
        </p:nvSpPr>
        <p:spPr>
          <a:xfrm>
            <a:off x="914400" y="3950208"/>
            <a:ext cx="402336" cy="402336"/>
          </a:xfrm>
          <a:prstGeom prst="ellipse">
            <a:avLst/>
          </a:prstGeom>
          <a:solidFill>
            <a:srgbClr val="5B6660"/>
          </a:solidFill>
          <a:ln/>
        </p:spPr>
      </p:sp>
      <p:sp>
        <p:nvSpPr>
          <p:cNvPr id="21" name="Text 19"/>
          <p:cNvSpPr txBox="1"/>
          <p:nvPr/>
        </p:nvSpPr>
        <p:spPr>
          <a:xfrm>
            <a:off x="914400" y="3986784"/>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Q15</a:t>
            </a:r>
            <a:endParaRPr lang="en-US" sz="1000" dirty="0"/>
          </a:p>
        </p:txBody>
      </p:sp>
      <p:sp>
        <p:nvSpPr>
          <p:cNvPr id="22" name="Text 20"/>
          <p:cNvSpPr txBox="1"/>
          <p:nvPr/>
        </p:nvSpPr>
        <p:spPr>
          <a:xfrm>
            <a:off x="1463040" y="3968496"/>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学力が下がったら、誰が責任を取るのか。</a:t>
            </a:r>
            <a:endParaRPr lang="en-US" sz="1500" dirty="0"/>
          </a:p>
        </p:txBody>
      </p:sp>
      <p:sp>
        <p:nvSpPr>
          <p:cNvPr id="23" name="Shape 21"/>
          <p:cNvSpPr/>
          <p:nvPr/>
        </p:nvSpPr>
        <p:spPr>
          <a:xfrm>
            <a:off x="914400" y="4407408"/>
            <a:ext cx="402336" cy="402336"/>
          </a:xfrm>
          <a:prstGeom prst="ellipse">
            <a:avLst/>
          </a:prstGeom>
          <a:solidFill>
            <a:srgbClr val="1F5D4C"/>
          </a:solidFill>
          <a:ln/>
        </p:spPr>
      </p:sp>
      <p:sp>
        <p:nvSpPr>
          <p:cNvPr id="24" name="Text 22"/>
          <p:cNvSpPr txBox="1"/>
          <p:nvPr/>
        </p:nvSpPr>
        <p:spPr>
          <a:xfrm>
            <a:off x="914400" y="4443984"/>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25" name="Text 23"/>
          <p:cNvSpPr txBox="1"/>
          <p:nvPr/>
        </p:nvSpPr>
        <p:spPr>
          <a:xfrm>
            <a:off x="1463040" y="4389120"/>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私が取ります。そのうえで、下がっていないことを確かめる指標を、着手前に決めておきます。</a:t>
            </a:r>
            <a:endParaRPr lang="en-US" sz="1250" dirty="0"/>
          </a:p>
        </p:txBody>
      </p:sp>
      <p:sp>
        <p:nvSpPr>
          <p:cNvPr id="26" name="Shape 24"/>
          <p:cNvSpPr/>
          <p:nvPr/>
        </p:nvSpPr>
        <p:spPr>
          <a:xfrm>
            <a:off x="640080" y="4974336"/>
            <a:ext cx="10911535" cy="1097280"/>
          </a:xfrm>
          <a:prstGeom prst="roundRect">
            <a:avLst>
              <a:gd name="adj" fmla="val 5000"/>
            </a:avLst>
          </a:prstGeom>
          <a:solidFill>
            <a:srgbClr val="E4EDE6"/>
          </a:solidFill>
          <a:ln/>
        </p:spPr>
      </p:sp>
      <p:sp>
        <p:nvSpPr>
          <p:cNvPr id="27" name="Shape 25"/>
          <p:cNvSpPr/>
          <p:nvPr/>
        </p:nvSpPr>
        <p:spPr>
          <a:xfrm>
            <a:off x="914400" y="5102352"/>
            <a:ext cx="402336" cy="402336"/>
          </a:xfrm>
          <a:prstGeom prst="ellipse">
            <a:avLst/>
          </a:prstGeom>
          <a:solidFill>
            <a:srgbClr val="5B6660"/>
          </a:solidFill>
          <a:ln/>
        </p:spPr>
      </p:sp>
      <p:sp>
        <p:nvSpPr>
          <p:cNvPr id="28" name="Text 26"/>
          <p:cNvSpPr txBox="1"/>
          <p:nvPr/>
        </p:nvSpPr>
        <p:spPr>
          <a:xfrm>
            <a:off x="914400" y="5138928"/>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Q16</a:t>
            </a:r>
            <a:endParaRPr lang="en-US" sz="1000" dirty="0"/>
          </a:p>
        </p:txBody>
      </p:sp>
      <p:sp>
        <p:nvSpPr>
          <p:cNvPr id="29" name="Text 27"/>
          <p:cNvSpPr txBox="1"/>
          <p:nvPr/>
        </p:nvSpPr>
        <p:spPr>
          <a:xfrm>
            <a:off x="1463040" y="5120640"/>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受験に不利になるのではないか。</a:t>
            </a:r>
            <a:endParaRPr lang="en-US" sz="1500" dirty="0"/>
          </a:p>
        </p:txBody>
      </p:sp>
      <p:sp>
        <p:nvSpPr>
          <p:cNvPr id="30" name="Shape 28"/>
          <p:cNvSpPr/>
          <p:nvPr/>
        </p:nvSpPr>
        <p:spPr>
          <a:xfrm>
            <a:off x="914400" y="5559552"/>
            <a:ext cx="402336" cy="402336"/>
          </a:xfrm>
          <a:prstGeom prst="ellipse">
            <a:avLst/>
          </a:prstGeom>
          <a:solidFill>
            <a:srgbClr val="1F5D4C"/>
          </a:solidFill>
          <a:ln/>
        </p:spPr>
      </p:sp>
      <p:sp>
        <p:nvSpPr>
          <p:cNvPr id="31" name="Text 29"/>
          <p:cNvSpPr txBox="1"/>
          <p:nvPr/>
        </p:nvSpPr>
        <p:spPr>
          <a:xfrm>
            <a:off x="914400" y="5596128"/>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32" name="Text 30"/>
          <p:cNvSpPr txBox="1"/>
          <p:nvPr/>
        </p:nvSpPr>
        <p:spPr>
          <a:xfrm>
            <a:off x="1463040" y="5541264"/>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総時数は減りません。減るのは特定教科の一部で、上乗せ先も学校が選べます。むしろ自校の課題に時間を寄せられます。</a:t>
            </a:r>
            <a:endParaRPr lang="en-US" sz="12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900" dirty="0">
                <a:solidFill>
                  <a:srgbClr val="9AA8A0"/>
                </a:solidFill>
                <a:latin typeface="Meiryo" pitchFamily="34" charset="0"/>
                <a:ea typeface="Meiryo" pitchFamily="34" charset="-122"/>
                <a:cs typeface="Meiryo" pitchFamily="34" charset="-120"/>
              </a:rPr>
              <a:t>56</a:t>
            </a:r>
            <a:endParaRPr lang="en-US" sz="900" dirty="0"/>
          </a:p>
        </p:txBody>
      </p:sp>
      <p:sp>
        <p:nvSpPr>
          <p:cNvPr id="3" name="Text 1"/>
          <p:cNvSpPr txBox="1"/>
          <p:nvPr/>
        </p:nvSpPr>
        <p:spPr>
          <a:xfrm>
            <a:off x="640080" y="365760"/>
            <a:ext cx="10911535" cy="237744"/>
          </a:xfrm>
          <a:prstGeom prst="rect">
            <a:avLst/>
          </a:prstGeom>
          <a:noFill/>
          <a:ln/>
        </p:spPr>
        <p:txBody>
          <a:bodyPr wrap="square" lIns="0" tIns="0" rIns="0" bIns="0" rtlCol="0" anchor="ctr"/>
          <a:lstStyle/>
          <a:p>
            <a:pPr indent="0" marL="0">
              <a:buNone/>
            </a:pPr>
            <a:r>
              <a:rPr lang="en-US" sz="1100" b="1" spc="150" kern="0" dirty="0">
                <a:solidFill>
                  <a:srgbClr val="5C8A4A"/>
                </a:solidFill>
                <a:latin typeface="Meiryo" pitchFamily="34" charset="0"/>
                <a:ea typeface="Meiryo" pitchFamily="34" charset="-122"/>
                <a:cs typeface="Meiryo" pitchFamily="34" charset="-120"/>
              </a:rPr>
              <a:t>巻末資料　想定質問集</a:t>
            </a:r>
            <a:endParaRPr lang="en-US" sz="1100" dirty="0"/>
          </a:p>
        </p:txBody>
      </p:sp>
      <p:sp>
        <p:nvSpPr>
          <p:cNvPr id="4" name="Text 2"/>
          <p:cNvSpPr txBox="1"/>
          <p:nvPr/>
        </p:nvSpPr>
        <p:spPr>
          <a:xfrm>
            <a:off x="640080" y="621792"/>
            <a:ext cx="10911535" cy="566928"/>
          </a:xfrm>
          <a:prstGeom prst="rect">
            <a:avLst/>
          </a:prstGeom>
          <a:noFill/>
          <a:ln/>
        </p:spPr>
        <p:txBody>
          <a:bodyPr wrap="square" lIns="0" tIns="0" rIns="0" bIns="0" rtlCol="0" anchor="ctr"/>
          <a:lstStyle/>
          <a:p>
            <a:pPr indent="0" marL="0">
              <a:buNone/>
            </a:pPr>
            <a:r>
              <a:rPr lang="en-US" sz="2800" b="1" dirty="0">
                <a:solidFill>
                  <a:srgbClr val="14312A"/>
                </a:solidFill>
                <a:latin typeface="Meiryo" pitchFamily="34" charset="0"/>
                <a:ea typeface="Meiryo" pitchFamily="34" charset="-122"/>
                <a:cs typeface="Meiryo" pitchFamily="34" charset="-120"/>
              </a:rPr>
              <a:t>E．校内の合意形成と公平性</a:t>
            </a:r>
            <a:endParaRPr lang="en-US" sz="2800" dirty="0"/>
          </a:p>
        </p:txBody>
      </p:sp>
      <p:sp>
        <p:nvSpPr>
          <p:cNvPr id="5" name="Shape 3"/>
          <p:cNvSpPr/>
          <p:nvPr/>
        </p:nvSpPr>
        <p:spPr>
          <a:xfrm>
            <a:off x="640080" y="1517904"/>
            <a:ext cx="10911535" cy="1097280"/>
          </a:xfrm>
          <a:prstGeom prst="roundRect">
            <a:avLst>
              <a:gd name="adj" fmla="val 5000"/>
            </a:avLst>
          </a:prstGeom>
          <a:solidFill>
            <a:srgbClr val="F1F5F2"/>
          </a:solidFill>
          <a:ln/>
        </p:spPr>
      </p:sp>
      <p:sp>
        <p:nvSpPr>
          <p:cNvPr id="6" name="Shape 4"/>
          <p:cNvSpPr/>
          <p:nvPr/>
        </p:nvSpPr>
        <p:spPr>
          <a:xfrm>
            <a:off x="914400" y="1645920"/>
            <a:ext cx="402336" cy="402336"/>
          </a:xfrm>
          <a:prstGeom prst="ellipse">
            <a:avLst/>
          </a:prstGeom>
          <a:solidFill>
            <a:srgbClr val="5B6660"/>
          </a:solidFill>
          <a:ln/>
        </p:spPr>
      </p:sp>
      <p:sp>
        <p:nvSpPr>
          <p:cNvPr id="7" name="Text 5"/>
          <p:cNvSpPr txBox="1"/>
          <p:nvPr/>
        </p:nvSpPr>
        <p:spPr>
          <a:xfrm>
            <a:off x="914400" y="1682496"/>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Q17</a:t>
            </a:r>
            <a:endParaRPr lang="en-US" sz="1000" dirty="0"/>
          </a:p>
        </p:txBody>
      </p:sp>
      <p:sp>
        <p:nvSpPr>
          <p:cNvPr id="8" name="Text 6"/>
          <p:cNvSpPr txBox="1"/>
          <p:nvPr/>
        </p:nvSpPr>
        <p:spPr>
          <a:xfrm>
            <a:off x="1463040" y="1664208"/>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自分の教科が削られるのは困る。</a:t>
            </a:r>
            <a:endParaRPr lang="en-US" sz="1500" dirty="0"/>
          </a:p>
        </p:txBody>
      </p:sp>
      <p:sp>
        <p:nvSpPr>
          <p:cNvPr id="9" name="Shape 7"/>
          <p:cNvSpPr/>
          <p:nvPr/>
        </p:nvSpPr>
        <p:spPr>
          <a:xfrm>
            <a:off x="914400" y="2103120"/>
            <a:ext cx="402336" cy="402336"/>
          </a:xfrm>
          <a:prstGeom prst="ellipse">
            <a:avLst/>
          </a:prstGeom>
          <a:solidFill>
            <a:srgbClr val="1F5D4C"/>
          </a:solidFill>
          <a:ln/>
        </p:spPr>
      </p:sp>
      <p:sp>
        <p:nvSpPr>
          <p:cNvPr id="10" name="Text 8"/>
          <p:cNvSpPr txBox="1"/>
          <p:nvPr/>
        </p:nvSpPr>
        <p:spPr>
          <a:xfrm>
            <a:off x="914400" y="2139696"/>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11" name="Text 9"/>
          <p:cNvSpPr txBox="1"/>
          <p:nvPr/>
        </p:nvSpPr>
        <p:spPr>
          <a:xfrm>
            <a:off x="1463040" y="2084832"/>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どの教科を削るかは、私が一人で決めません。判断基準を先に共有し、全教科に同じものさしを使います。</a:t>
            </a:r>
            <a:endParaRPr lang="en-US" sz="1250" dirty="0"/>
          </a:p>
        </p:txBody>
      </p:sp>
      <p:sp>
        <p:nvSpPr>
          <p:cNvPr id="12" name="Shape 10"/>
          <p:cNvSpPr/>
          <p:nvPr/>
        </p:nvSpPr>
        <p:spPr>
          <a:xfrm>
            <a:off x="640080" y="2670048"/>
            <a:ext cx="10911535" cy="1097280"/>
          </a:xfrm>
          <a:prstGeom prst="roundRect">
            <a:avLst>
              <a:gd name="adj" fmla="val 5000"/>
            </a:avLst>
          </a:prstGeom>
          <a:solidFill>
            <a:srgbClr val="E4EDE6"/>
          </a:solidFill>
          <a:ln/>
        </p:spPr>
      </p:sp>
      <p:sp>
        <p:nvSpPr>
          <p:cNvPr id="13" name="Shape 11"/>
          <p:cNvSpPr/>
          <p:nvPr/>
        </p:nvSpPr>
        <p:spPr>
          <a:xfrm>
            <a:off x="914400" y="2798064"/>
            <a:ext cx="402336" cy="402336"/>
          </a:xfrm>
          <a:prstGeom prst="ellipse">
            <a:avLst/>
          </a:prstGeom>
          <a:solidFill>
            <a:srgbClr val="5B6660"/>
          </a:solidFill>
          <a:ln/>
        </p:spPr>
      </p:sp>
      <p:sp>
        <p:nvSpPr>
          <p:cNvPr id="14" name="Text 12"/>
          <p:cNvSpPr txBox="1"/>
          <p:nvPr/>
        </p:nvSpPr>
        <p:spPr>
          <a:xfrm>
            <a:off x="914400" y="2834640"/>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Q18</a:t>
            </a:r>
            <a:endParaRPr lang="en-US" sz="1000" dirty="0"/>
          </a:p>
        </p:txBody>
      </p:sp>
      <p:sp>
        <p:nvSpPr>
          <p:cNvPr id="15" name="Text 13"/>
          <p:cNvSpPr txBox="1"/>
          <p:nvPr/>
        </p:nvSpPr>
        <p:spPr>
          <a:xfrm>
            <a:off x="1463040" y="2816352"/>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学年によって差が出るのは、不公平ではないか。</a:t>
            </a:r>
            <a:endParaRPr lang="en-US" sz="1500" dirty="0"/>
          </a:p>
        </p:txBody>
      </p:sp>
      <p:sp>
        <p:nvSpPr>
          <p:cNvPr id="16" name="Shape 14"/>
          <p:cNvSpPr/>
          <p:nvPr/>
        </p:nvSpPr>
        <p:spPr>
          <a:xfrm>
            <a:off x="914400" y="3255264"/>
            <a:ext cx="402336" cy="402336"/>
          </a:xfrm>
          <a:prstGeom prst="ellipse">
            <a:avLst/>
          </a:prstGeom>
          <a:solidFill>
            <a:srgbClr val="1F5D4C"/>
          </a:solidFill>
          <a:ln/>
        </p:spPr>
      </p:sp>
      <p:sp>
        <p:nvSpPr>
          <p:cNvPr id="17" name="Text 15"/>
          <p:cNvSpPr txBox="1"/>
          <p:nvPr/>
        </p:nvSpPr>
        <p:spPr>
          <a:xfrm>
            <a:off x="914400" y="3291840"/>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18" name="Text 16"/>
          <p:cNvSpPr txBox="1"/>
          <p:nvPr/>
        </p:nvSpPr>
        <p:spPr>
          <a:xfrm>
            <a:off x="1463040" y="3236976"/>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学年の実態が違うのに同じにするほうが、不公平になることもあります。差をつける理由を説明できるかどうかで判断します。</a:t>
            </a:r>
            <a:endParaRPr lang="en-US" sz="1250" dirty="0"/>
          </a:p>
        </p:txBody>
      </p:sp>
      <p:sp>
        <p:nvSpPr>
          <p:cNvPr id="19" name="Shape 17"/>
          <p:cNvSpPr/>
          <p:nvPr/>
        </p:nvSpPr>
        <p:spPr>
          <a:xfrm>
            <a:off x="640080" y="3822192"/>
            <a:ext cx="10911535" cy="1097280"/>
          </a:xfrm>
          <a:prstGeom prst="roundRect">
            <a:avLst>
              <a:gd name="adj" fmla="val 5000"/>
            </a:avLst>
          </a:prstGeom>
          <a:solidFill>
            <a:srgbClr val="F1F5F2"/>
          </a:solidFill>
          <a:ln/>
        </p:spPr>
      </p:sp>
      <p:sp>
        <p:nvSpPr>
          <p:cNvPr id="20" name="Shape 18"/>
          <p:cNvSpPr/>
          <p:nvPr/>
        </p:nvSpPr>
        <p:spPr>
          <a:xfrm>
            <a:off x="914400" y="3950208"/>
            <a:ext cx="402336" cy="402336"/>
          </a:xfrm>
          <a:prstGeom prst="ellipse">
            <a:avLst/>
          </a:prstGeom>
          <a:solidFill>
            <a:srgbClr val="5B6660"/>
          </a:solidFill>
          <a:ln/>
        </p:spPr>
      </p:sp>
      <p:sp>
        <p:nvSpPr>
          <p:cNvPr id="21" name="Text 19"/>
          <p:cNvSpPr txBox="1"/>
          <p:nvPr/>
        </p:nvSpPr>
        <p:spPr>
          <a:xfrm>
            <a:off x="914400" y="3986784"/>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Q19</a:t>
            </a:r>
            <a:endParaRPr lang="en-US" sz="1000" dirty="0"/>
          </a:p>
        </p:txBody>
      </p:sp>
      <p:sp>
        <p:nvSpPr>
          <p:cNvPr id="22" name="Text 20"/>
          <p:cNvSpPr txBox="1"/>
          <p:nvPr/>
        </p:nvSpPr>
        <p:spPr>
          <a:xfrm>
            <a:off x="1463040" y="3968496"/>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若手に任せると、質が落ちるのでは。</a:t>
            </a:r>
            <a:endParaRPr lang="en-US" sz="1500" dirty="0"/>
          </a:p>
        </p:txBody>
      </p:sp>
      <p:sp>
        <p:nvSpPr>
          <p:cNvPr id="23" name="Shape 21"/>
          <p:cNvSpPr/>
          <p:nvPr/>
        </p:nvSpPr>
        <p:spPr>
          <a:xfrm>
            <a:off x="914400" y="4407408"/>
            <a:ext cx="402336" cy="402336"/>
          </a:xfrm>
          <a:prstGeom prst="ellipse">
            <a:avLst/>
          </a:prstGeom>
          <a:solidFill>
            <a:srgbClr val="1F5D4C"/>
          </a:solidFill>
          <a:ln/>
        </p:spPr>
      </p:sp>
      <p:sp>
        <p:nvSpPr>
          <p:cNvPr id="24" name="Text 22"/>
          <p:cNvSpPr txBox="1"/>
          <p:nvPr/>
        </p:nvSpPr>
        <p:spPr>
          <a:xfrm>
            <a:off x="914400" y="4443984"/>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25" name="Text 23"/>
          <p:cNvSpPr txBox="1"/>
          <p:nvPr/>
        </p:nvSpPr>
        <p:spPr>
          <a:xfrm>
            <a:off x="1463040" y="4389120"/>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任せきりにはしません。主任層が伴走します。2030年に中心になる層を、今から育てておく必要があります。</a:t>
            </a:r>
            <a:endParaRPr lang="en-US" sz="1250" dirty="0"/>
          </a:p>
        </p:txBody>
      </p:sp>
      <p:sp>
        <p:nvSpPr>
          <p:cNvPr id="26" name="Shape 24"/>
          <p:cNvSpPr/>
          <p:nvPr/>
        </p:nvSpPr>
        <p:spPr>
          <a:xfrm>
            <a:off x="640080" y="4974336"/>
            <a:ext cx="10911535" cy="1097280"/>
          </a:xfrm>
          <a:prstGeom prst="roundRect">
            <a:avLst>
              <a:gd name="adj" fmla="val 5000"/>
            </a:avLst>
          </a:prstGeom>
          <a:solidFill>
            <a:srgbClr val="E4EDE6"/>
          </a:solidFill>
          <a:ln/>
        </p:spPr>
      </p:sp>
      <p:sp>
        <p:nvSpPr>
          <p:cNvPr id="27" name="Shape 25"/>
          <p:cNvSpPr/>
          <p:nvPr/>
        </p:nvSpPr>
        <p:spPr>
          <a:xfrm>
            <a:off x="914400" y="5102352"/>
            <a:ext cx="402336" cy="402336"/>
          </a:xfrm>
          <a:prstGeom prst="ellipse">
            <a:avLst/>
          </a:prstGeom>
          <a:solidFill>
            <a:srgbClr val="5B6660"/>
          </a:solidFill>
          <a:ln/>
        </p:spPr>
      </p:sp>
      <p:sp>
        <p:nvSpPr>
          <p:cNvPr id="28" name="Text 26"/>
          <p:cNvSpPr txBox="1"/>
          <p:nvPr/>
        </p:nvSpPr>
        <p:spPr>
          <a:xfrm>
            <a:off x="914400" y="5138928"/>
            <a:ext cx="402336"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Q20</a:t>
            </a:r>
            <a:endParaRPr lang="en-US" sz="1000" dirty="0"/>
          </a:p>
        </p:txBody>
      </p:sp>
      <p:sp>
        <p:nvSpPr>
          <p:cNvPr id="29" name="Text 27"/>
          <p:cNvSpPr txBox="1"/>
          <p:nvPr/>
        </p:nvSpPr>
        <p:spPr>
          <a:xfrm>
            <a:off x="1463040" y="5120640"/>
            <a:ext cx="9722815" cy="329184"/>
          </a:xfrm>
          <a:prstGeom prst="rect">
            <a:avLst/>
          </a:prstGeom>
          <a:noFill/>
          <a:ln/>
        </p:spPr>
        <p:txBody>
          <a:bodyPr wrap="square" lIns="0" tIns="0" rIns="0" bIns="0" rtlCol="0" anchor="ctr"/>
          <a:lstStyle/>
          <a:p>
            <a:pPr indent="0" marL="0">
              <a:buNone/>
            </a:pPr>
            <a:r>
              <a:rPr lang="en-US" sz="1500" b="1" dirty="0">
                <a:solidFill>
                  <a:srgbClr val="14312A"/>
                </a:solidFill>
                <a:latin typeface="Meiryo" pitchFamily="34" charset="0"/>
                <a:ea typeface="Meiryo" pitchFamily="34" charset="-122"/>
                <a:cs typeface="Meiryo" pitchFamily="34" charset="-120"/>
              </a:rPr>
              <a:t>校長が代わったら、元に戻るのでは。</a:t>
            </a:r>
            <a:endParaRPr lang="en-US" sz="1500" dirty="0"/>
          </a:p>
        </p:txBody>
      </p:sp>
      <p:sp>
        <p:nvSpPr>
          <p:cNvPr id="30" name="Shape 28"/>
          <p:cNvSpPr/>
          <p:nvPr/>
        </p:nvSpPr>
        <p:spPr>
          <a:xfrm>
            <a:off x="914400" y="5559552"/>
            <a:ext cx="402336" cy="402336"/>
          </a:xfrm>
          <a:prstGeom prst="ellipse">
            <a:avLst/>
          </a:prstGeom>
          <a:solidFill>
            <a:srgbClr val="1F5D4C"/>
          </a:solidFill>
          <a:ln/>
        </p:spPr>
      </p:sp>
      <p:sp>
        <p:nvSpPr>
          <p:cNvPr id="31" name="Text 29"/>
          <p:cNvSpPr txBox="1"/>
          <p:nvPr/>
        </p:nvSpPr>
        <p:spPr>
          <a:xfrm>
            <a:off x="914400" y="5596128"/>
            <a:ext cx="40233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p>
        </p:txBody>
      </p:sp>
      <p:sp>
        <p:nvSpPr>
          <p:cNvPr id="32" name="Text 30"/>
          <p:cNvSpPr txBox="1"/>
          <p:nvPr/>
        </p:nvSpPr>
        <p:spPr>
          <a:xfrm>
            <a:off x="1463040" y="5541264"/>
            <a:ext cx="9722815" cy="475488"/>
          </a:xfrm>
          <a:prstGeom prst="rect">
            <a:avLst/>
          </a:prstGeom>
          <a:noFill/>
          <a:ln/>
        </p:spPr>
        <p:txBody>
          <a:bodyPr wrap="square" lIns="0" tIns="0" rIns="0" bIns="0" rtlCol="0" anchor="ctr"/>
          <a:lstStyle/>
          <a:p>
            <a:pPr indent="0" marL="0">
              <a:lnSpc>
                <a:spcPts val="1800"/>
              </a:lnSpc>
              <a:buNone/>
            </a:pPr>
            <a:r>
              <a:rPr lang="en-US" sz="1250" dirty="0">
                <a:solidFill>
                  <a:srgbClr val="1C2320"/>
                </a:solidFill>
                <a:latin typeface="Meiryo" pitchFamily="34" charset="0"/>
                <a:ea typeface="Meiryo" pitchFamily="34" charset="-122"/>
                <a:cs typeface="Meiryo" pitchFamily="34" charset="-120"/>
              </a:rPr>
              <a:t>だから記録に残します。決めた理由と経緯を文書にしておけば、次の校長は判断のやり直しから始めずに済みます。</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校長権限でつくる令和9年度の学校づくり</dc:title>
  <dc:subject>PptxGenJS Presentation</dc:subject>
  <dc:creator>教育委員会事務局</dc:creator>
  <cp:lastModifiedBy>教育委員会事務局</cp:lastModifiedBy>
  <cp:revision>1</cp:revision>
  <dcterms:created xsi:type="dcterms:W3CDTF">2026-09-16T13:28:40Z</dcterms:created>
  <dcterms:modified xsi:type="dcterms:W3CDTF">2026-09-16T13:28:40Z</dcterms:modified>
</cp:coreProperties>
</file>