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校長先生、副校長先生、そして現場で子どもたちと向き合う先生方、本日もお疲れ様です。本日は講評を一方的にお聞きいただくのではなく、管理職と教諭が対等に語り合う45分間として設計しました。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講評を聞くだけの受動的な時間ではありません。前半で視点を共有し、後半は管理職も教諭も同じ輪に入って自校の実践を語り合います。学校経営と授業改善を一体化させる45分間です。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はペアで、10年後の子どもの姿を思い描いてみましょう。AIが答えを出してくれる時代に、それでも学校に来てよかったと子どもが歓喜する瞬間とはどんな場面でしょうか。お一人1分半ずつ語ってください。管理職も教諭も、立場を超えてワクワクを共有する時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講評の根拠となる文部科学省・中央教育審議会の資料を確認しておきます。令和6年12月25日に文部科学大臣から中央教育審議会へ諮問が行われ、令和7年9月25日に教育課程企画特別部会の論点整理、そして令和8年8月31日に審議まとめの素案が示されました。本日お話しする「舵取り」「主体的な学びの調整」「余白」といった考え方は、いずれもこの審議の流れの中で示されているものです。（各項目は資料の要旨です。原文は文部科学省ウェブサイトでご確認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期学習指導要領の素案を紐解くと、そこに流れているのは『教員の負担を増やす細かなルール』ではなく、『10年後の不確実な社会を生きる子どもたちが、自らの人生を誇りを持って舵取りしていくための道しるべ』です。AIが答えを即座に出してくれる時代だからこそ、学校は『答えを覚える場所』から、『自ら問いを立て、自分のペースで学びを深め、多様な他者と対話しながら新たな価値を創り出す場所』へとアップデートする必要があります。【根拠】令和7年9月25日の教育課程企画特別部会「論点整理」では、目指す子供像として「生涯にわたって主体的に学び続け、多様な他者と協働しながら、自らの人生を舵取りすることができる、民主的で持続可能な社会の創り手」が掲げら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由進度学習は、決して先生方の指導を放棄することではありません。単元のゴールを見通させ、子ども自身が学びを調整する自己調整学習と、それを見守り適時適切に介入する教師の指導性。この往還こそが本質です。先生方の温かい見取りと適切な投げかけがあってこそ、子どもは安心して試行錯誤できます。【根拠】令和3年1月の中教審答申「『令和の日本型学校教育』の構築を目指して」は、「個別最適な学び」が「孤立した学び」に陥らないよう、「協働的な学び」を充実することの重要性を示しています。また令和7年9月の「論点整理」は、子供自らが自己の学習を主体的に調整することを促すことにより、資質・能力の育成に資するとともに、一人一人の多様性に応じていくという視点を示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教師主導のテーマ探究から、個人の好き・得意を起点とするマイ探究への発展を評価したいと思います。試行錯誤の過程で素朴な問いが解像度の高い課題へと深まる変化を捉え、自己や他者にとっての新たな意味や理解の構築、すなわち自己変容そのものを成果として価値付けてください。【根拠】総合的な学習・探究の時間は、「課題の設定」「情報の収集」「整理・分析」「まとめ・表現」の探究の過程を通して、よりよく課題を解決し、自己の（在り方）生き方を考えていくための資質・能力の育成を目指すものです。生活、総合的な学習・探究の時間ワーキンググループでは、AI時代だからこそ子供の好奇心や思考を大切にし、対話・協働や自己調整を通じた質の高い探究を実現する方向で議論が進められています。なお「マイ探究」は本講評での呼称であり、文部科学省の用語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リア教育を単なる進路指導に閉じ込めてはいけません。各教科で好き・得意と出会い、総合のマイ探究で育て、特別活動でキャリア・パスポート等を用いて見通しと振り返りを行う。この三つが相互に連携する構造として教育課程を整理していきましょう。【根拠】現行の学習指導要領総則は、児童生徒が学ぶことと自己の将来とのつながりを見通しながら社会的・職業的自立に向けて必要な基盤となる資質・能力を身に付けていくことができるよう、「特別活動を要としつつ各教科等の特質に応じて、キャリア教育の充実を図ること」と定めています。キャリア・パスポートはこの特別活動を要とした取組の中で活用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高精度な自動翻訳が存在する時代にあえて外国語を学ぶ意義は、異文化への理解と包摂性、母語や自国文化のメタ認知、そして生身の人間同士のリアルなコミュニケーション意欲にあります。コミュニケーション活動と、それを支える知識・技能の活動を往還させ、身近な話題から社会的な話題へと発展させながら、小中高を滑らかに接続していきましょう。【根拠】外国語ワーキンググループでは「AI時代に外国語を学ぶ本質的意義」（令和7年10月30日 資料1）を議題として、言語を通じて伝え合う喜びや多様な他者との信頼関係の構築、外国の文化との比較を通じた自国の文化への理解の深まりなどが議論されています。また審議まとめ（素案）では、外国語科において自分の意見を形成・発信する活動や身近な地域のことを発信する活動等を充実させる方向が示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後、管理職の先生方も若手の先生方も同じ輪に入り、『我が校なら明日からどんな小さなワクワク（出島）を創れるか』をぜひ語り合ってください。（協議後）学習指導要領は現場を縛る制限ではなく、学校と子どもたちが未来を自分たちの手で創るための自由な出島です。皆様の実践こそが、10年後の教育界の希望です。【根拠】論点整理では、学習指導要領の構造化・精選や標準授業時数の柔軟化等を通じて教師と子供の「余白」を生み出すこと、調整授業時数制度の下で裁量的な時間を設け、学校や子供の実態に応じた教育活動を行えるようにすることが検討されています。「出島」はこうした学校裁量の広がりを表す本講評での比喩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講評で根拠とした文部科学省・中央教育審議会の資料一覧です。スライド中の引用のうち「」で示したものは原文、「要旨」と記したものは資料の趣旨を要約したものです。研修後に原文をご確認いただく際にご活用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mext.go.jp/b_menu/shingi/chukyo/chukyo0/toushin/mext_00003.html" TargetMode="External"/><Relationship Id="rId2" Type="http://schemas.openxmlformats.org/officeDocument/2006/relationships/hyperlink" Target="https://www.mext.go.jp/b_menu/shingi/chukyo/chukyo3/004/gaiyou/mext_00010.html" TargetMode="External"/><Relationship Id="rId3" Type="http://schemas.openxmlformats.org/officeDocument/2006/relationships/hyperlink" Target="https://www.mext.go.jp/b_menu/shingi/chukyo/chukyo3/101/siryo/mext_00056.html" TargetMode="External"/><Relationship Id="rId4" Type="http://schemas.openxmlformats.org/officeDocument/2006/relationships/hyperlink" Target="https://www.mext.go.jp/content/20210126-mxt_syoto02-000012321_1-4.pdf" TargetMode="External"/><Relationship Id="rId5" Type="http://schemas.openxmlformats.org/officeDocument/2006/relationships/hyperlink" Target="https://www.mext.go.jp/content/20251030-mxt_kyoiku01-000045617_003.pdf" TargetMode="External"/><Relationship Id="rId6" Type="http://schemas.openxmlformats.org/officeDocument/2006/relationships/hyperlink" Target="https://www.mext.go.jp/content/20251015-mxt_kyoiku02-000045235_4.pdf" TargetMode="External"/><Relationship Id="rId7" Type="http://schemas.openxmlformats.org/officeDocument/2006/relationships/hyperlink" Target="https://www.mext.go.jp/a_menu/shotou/new-cs/" TargetMode="External"/><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5C"/>
        </a:solidFill>
      </p:bgPr>
    </p:bg>
    <p:spTree>
      <p:nvGrpSpPr>
        <p:cNvPr id="1" name=""/>
        <p:cNvGrpSpPr/>
        <p:nvPr/>
      </p:nvGrpSpPr>
      <p:grpSpPr>
        <a:xfrm>
          <a:off x="0" y="0"/>
          <a:ext cx="0" cy="0"/>
          <a:chOff x="0" y="0"/>
          <a:chExt cx="0" cy="0"/>
        </a:xfrm>
      </p:grpSpPr>
      <p:sp>
        <p:nvSpPr>
          <p:cNvPr id="2" name="Shape 0"/>
          <p:cNvSpPr/>
          <p:nvPr/>
        </p:nvSpPr>
        <p:spPr>
          <a:xfrm>
            <a:off x="8138160" y="-1463040"/>
            <a:ext cx="5669280" cy="5669280"/>
          </a:xfrm>
          <a:prstGeom prst="ellipse">
            <a:avLst/>
          </a:prstGeom>
          <a:solidFill>
            <a:srgbClr val="1B7F8C">
              <a:alpha val="45000"/>
            </a:srgbClr>
          </a:solidFill>
          <a:ln w="12700">
            <a:solidFill>
              <a:srgbClr val="1B7F8C">
                <a:alpha val="45000"/>
              </a:srgbClr>
            </a:solidFill>
            <a:prstDash val="solid"/>
          </a:ln>
        </p:spPr>
      </p:sp>
      <p:sp>
        <p:nvSpPr>
          <p:cNvPr id="3" name="Shape 1"/>
          <p:cNvSpPr/>
          <p:nvPr/>
        </p:nvSpPr>
        <p:spPr>
          <a:xfrm>
            <a:off x="9509760" y="3566160"/>
            <a:ext cx="3840480" cy="3840480"/>
          </a:xfrm>
          <a:prstGeom prst="ellipse">
            <a:avLst/>
          </a:prstGeom>
          <a:solidFill>
            <a:srgbClr val="F2A541">
              <a:alpha val="30000"/>
            </a:srgbClr>
          </a:solidFill>
          <a:ln w="12700">
            <a:solidFill>
              <a:srgbClr val="F2A541">
                <a:alpha val="30000"/>
              </a:srgbClr>
            </a:solidFill>
            <a:prstDash val="solid"/>
          </a:ln>
        </p:spPr>
      </p:sp>
      <p:sp>
        <p:nvSpPr>
          <p:cNvPr id="4" name="Shape 2"/>
          <p:cNvSpPr/>
          <p:nvPr/>
        </p:nvSpPr>
        <p:spPr>
          <a:xfrm>
            <a:off x="731520" y="822960"/>
            <a:ext cx="1005840" cy="100584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993038" y="1084478"/>
            <a:ext cx="482803" cy="482803"/>
          </a:xfrm>
          <a:prstGeom prst="rect">
            <a:avLst/>
          </a:prstGeom>
        </p:spPr>
      </p:pic>
      <p:sp>
        <p:nvSpPr>
          <p:cNvPr id="6" name="Text 3"/>
          <p:cNvSpPr txBox="1"/>
          <p:nvPr/>
        </p:nvSpPr>
        <p:spPr>
          <a:xfrm>
            <a:off x="731520" y="2057400"/>
            <a:ext cx="8229600" cy="411480"/>
          </a:xfrm>
          <a:prstGeom prst="rect">
            <a:avLst/>
          </a:prstGeom>
          <a:noFill/>
          <a:ln/>
        </p:spPr>
        <p:txBody>
          <a:bodyPr wrap="square" lIns="0" tIns="0" rIns="0" bIns="0" rtlCol="0" anchor="ctr"/>
          <a:lstStyle/>
          <a:p>
            <a:pPr indent="0" marL="0">
              <a:buNone/>
            </a:pPr>
            <a:r>
              <a:rPr lang="en-US" sz="1600" b="1" dirty="0">
                <a:solidFill>
                  <a:srgbClr val="F2A541"/>
                </a:solidFill>
                <a:latin typeface="Meiryo" pitchFamily="34" charset="0"/>
                <a:ea typeface="Meiryo" pitchFamily="34" charset="-122"/>
                <a:cs typeface="Meiryo" pitchFamily="34" charset="-120"/>
              </a:rPr>
              <a:t>指導講評・研修プログラム（45分）</a:t>
            </a:r>
            <a:endParaRPr lang="en-US" sz="1600" dirty="0"/>
          </a:p>
        </p:txBody>
      </p:sp>
      <p:sp>
        <p:nvSpPr>
          <p:cNvPr id="7" name="Text 4"/>
          <p:cNvSpPr txBox="1"/>
          <p:nvPr/>
        </p:nvSpPr>
        <p:spPr>
          <a:xfrm>
            <a:off x="731520" y="2560320"/>
            <a:ext cx="10058400" cy="109728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10年後の教育界を拓く視点と学校経営</a:t>
            </a:r>
            <a:endParaRPr lang="en-US" sz="4000" dirty="0"/>
          </a:p>
        </p:txBody>
      </p:sp>
      <p:sp>
        <p:nvSpPr>
          <p:cNvPr id="8" name="Text 5"/>
          <p:cNvSpPr txBox="1"/>
          <p:nvPr/>
        </p:nvSpPr>
        <p:spPr>
          <a:xfrm>
            <a:off x="731520" y="3749040"/>
            <a:ext cx="10058400" cy="548640"/>
          </a:xfrm>
          <a:prstGeom prst="rect">
            <a:avLst/>
          </a:prstGeom>
          <a:noFill/>
          <a:ln/>
        </p:spPr>
        <p:txBody>
          <a:bodyPr wrap="square" lIns="0" tIns="0" rIns="0" bIns="0" rtlCol="0" anchor="ctr"/>
          <a:lstStyle/>
          <a:p>
            <a:pPr indent="0" marL="0">
              <a:buNone/>
            </a:pPr>
            <a:r>
              <a:rPr lang="en-US" sz="1800" dirty="0">
                <a:solidFill>
                  <a:srgbClr val="DCEFEF"/>
                </a:solidFill>
                <a:latin typeface="Meiryo" pitchFamily="34" charset="0"/>
                <a:ea typeface="Meiryo" pitchFamily="34" charset="-122"/>
                <a:cs typeface="Meiryo" pitchFamily="34" charset="-120"/>
              </a:rPr>
              <a:t>〜次期学習指導要領素案が描く「自律的学び」「マイ探究」「キャリア教育」への挑戦〜</a:t>
            </a:r>
            <a:endParaRPr lang="en-US" sz="1800" dirty="0"/>
          </a:p>
        </p:txBody>
      </p:sp>
      <p:sp>
        <p:nvSpPr>
          <p:cNvPr id="9" name="Text 6"/>
          <p:cNvSpPr txBox="1"/>
          <p:nvPr/>
        </p:nvSpPr>
        <p:spPr>
          <a:xfrm>
            <a:off x="731520" y="5760720"/>
            <a:ext cx="5486400" cy="365760"/>
          </a:xfrm>
          <a:prstGeom prst="rect">
            <a:avLst/>
          </a:prstGeom>
          <a:noFill/>
          <a:ln/>
        </p:spPr>
        <p:txBody>
          <a:bodyPr wrap="square" lIns="0" tIns="0" rIns="0" bIns="0" rtlCol="0" anchor="ctr"/>
          <a:lstStyle/>
          <a:p>
            <a:pPr indent="0" marL="0">
              <a:buNone/>
            </a:pPr>
            <a:r>
              <a:rPr lang="en-US" sz="1400" dirty="0">
                <a:solidFill>
                  <a:srgbClr val="DCEFEF"/>
                </a:solidFill>
                <a:latin typeface="Meiryo" pitchFamily="34" charset="0"/>
                <a:ea typeface="Meiryo" pitchFamily="34" charset="-122"/>
                <a:cs typeface="Meiryo" pitchFamily="34" charset="-120"/>
              </a:rPr>
              <a:t>指導主事 講評</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8"/>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本日のプログラム（対話型講評の設計）</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学校経営と授業改善を一体化させる45分間</a:t>
            </a:r>
            <a:endParaRPr lang="en-US" sz="1600" dirty="0"/>
          </a:p>
        </p:txBody>
      </p:sp>
      <p:sp>
        <p:nvSpPr>
          <p:cNvPr id="4" name="Shape 2"/>
          <p:cNvSpPr/>
          <p:nvPr/>
        </p:nvSpPr>
        <p:spPr>
          <a:xfrm>
            <a:off x="548640" y="1828800"/>
            <a:ext cx="1204976" cy="502920"/>
          </a:xfrm>
          <a:prstGeom prst="rect">
            <a:avLst/>
          </a:prstGeom>
          <a:solidFill>
            <a:srgbClr val="F2A541"/>
          </a:solidFill>
          <a:ln w="12700">
            <a:solidFill>
              <a:srgbClr val="F2A541"/>
            </a:solidFill>
            <a:prstDash val="solid"/>
          </a:ln>
        </p:spPr>
      </p:sp>
      <p:sp>
        <p:nvSpPr>
          <p:cNvPr id="5" name="Text 3"/>
          <p:cNvSpPr txBox="1"/>
          <p:nvPr/>
        </p:nvSpPr>
        <p:spPr>
          <a:xfrm>
            <a:off x="548640" y="1828800"/>
            <a:ext cx="1204976" cy="502920"/>
          </a:xfrm>
          <a:prstGeom prst="rect">
            <a:avLst/>
          </a:prstGeom>
          <a:noFill/>
          <a:ln/>
        </p:spPr>
        <p:txBody>
          <a:bodyPr wrap="square" lIns="0" tIns="0" rIns="0" bIns="0" rtlCol="0" anchor="ctr"/>
          <a:lstStyle/>
          <a:p>
            <a:pPr algn="ctr" indent="0" marL="0">
              <a:buNone/>
            </a:pPr>
            <a:r>
              <a:rPr lang="en-US" sz="1400" b="1" dirty="0">
                <a:solidFill>
                  <a:srgbClr val="1E2B2F"/>
                </a:solidFill>
                <a:latin typeface="Meiryo" pitchFamily="34" charset="0"/>
                <a:ea typeface="Meiryo" pitchFamily="34" charset="-122"/>
                <a:cs typeface="Meiryo" pitchFamily="34" charset="-120"/>
              </a:rPr>
              <a:t>5分</a:t>
            </a:r>
            <a:endParaRPr lang="en-US" sz="1400" dirty="0"/>
          </a:p>
        </p:txBody>
      </p:sp>
      <p:sp>
        <p:nvSpPr>
          <p:cNvPr id="6" name="Shape 4"/>
          <p:cNvSpPr/>
          <p:nvPr/>
        </p:nvSpPr>
        <p:spPr>
          <a:xfrm>
            <a:off x="1826768" y="1828800"/>
            <a:ext cx="4819904" cy="502920"/>
          </a:xfrm>
          <a:prstGeom prst="rect">
            <a:avLst/>
          </a:prstGeom>
          <a:solidFill>
            <a:srgbClr val="0B4F5C"/>
          </a:solidFill>
          <a:ln w="12700">
            <a:solidFill>
              <a:srgbClr val="0B4F5C"/>
            </a:solidFill>
            <a:prstDash val="solid"/>
          </a:ln>
        </p:spPr>
      </p:sp>
      <p:sp>
        <p:nvSpPr>
          <p:cNvPr id="7" name="Text 5"/>
          <p:cNvSpPr txBox="1"/>
          <p:nvPr/>
        </p:nvSpPr>
        <p:spPr>
          <a:xfrm>
            <a:off x="1826768" y="1828800"/>
            <a:ext cx="4819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20分</a:t>
            </a:r>
            <a:endParaRPr lang="en-US" sz="1400" dirty="0"/>
          </a:p>
        </p:txBody>
      </p:sp>
      <p:sp>
        <p:nvSpPr>
          <p:cNvPr id="8" name="Shape 6"/>
          <p:cNvSpPr/>
          <p:nvPr/>
        </p:nvSpPr>
        <p:spPr>
          <a:xfrm>
            <a:off x="6719824" y="1828800"/>
            <a:ext cx="3614928" cy="502920"/>
          </a:xfrm>
          <a:prstGeom prst="rect">
            <a:avLst/>
          </a:prstGeom>
          <a:solidFill>
            <a:srgbClr val="1B7F8C"/>
          </a:solidFill>
          <a:ln w="12700">
            <a:solidFill>
              <a:srgbClr val="1B7F8C"/>
            </a:solidFill>
            <a:prstDash val="solid"/>
          </a:ln>
        </p:spPr>
      </p:sp>
      <p:sp>
        <p:nvSpPr>
          <p:cNvPr id="9" name="Text 7"/>
          <p:cNvSpPr txBox="1"/>
          <p:nvPr/>
        </p:nvSpPr>
        <p:spPr>
          <a:xfrm>
            <a:off x="6719824" y="1828800"/>
            <a:ext cx="3614928"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15分</a:t>
            </a:r>
            <a:endParaRPr lang="en-US" sz="1400" dirty="0"/>
          </a:p>
        </p:txBody>
      </p:sp>
      <p:sp>
        <p:nvSpPr>
          <p:cNvPr id="10" name="Shape 8"/>
          <p:cNvSpPr/>
          <p:nvPr/>
        </p:nvSpPr>
        <p:spPr>
          <a:xfrm>
            <a:off x="10407904" y="1828800"/>
            <a:ext cx="1204976" cy="502920"/>
          </a:xfrm>
          <a:prstGeom prst="rect">
            <a:avLst/>
          </a:prstGeom>
          <a:solidFill>
            <a:srgbClr val="D9583B"/>
          </a:solidFill>
          <a:ln w="12700">
            <a:solidFill>
              <a:srgbClr val="D9583B"/>
            </a:solidFill>
            <a:prstDash val="solid"/>
          </a:ln>
        </p:spPr>
      </p:sp>
      <p:sp>
        <p:nvSpPr>
          <p:cNvPr id="11" name="Text 9"/>
          <p:cNvSpPr txBox="1"/>
          <p:nvPr/>
        </p:nvSpPr>
        <p:spPr>
          <a:xfrm>
            <a:off x="10407904" y="1828800"/>
            <a:ext cx="120497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5分</a:t>
            </a:r>
            <a:endParaRPr lang="en-US" sz="1400" dirty="0"/>
          </a:p>
        </p:txBody>
      </p:sp>
      <p:sp>
        <p:nvSpPr>
          <p:cNvPr id="12" name="Shape 10"/>
          <p:cNvSpPr/>
          <p:nvPr/>
        </p:nvSpPr>
        <p:spPr>
          <a:xfrm>
            <a:off x="548640" y="2743200"/>
            <a:ext cx="2560320" cy="31089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Shape 11"/>
          <p:cNvSpPr/>
          <p:nvPr/>
        </p:nvSpPr>
        <p:spPr>
          <a:xfrm>
            <a:off x="822960" y="3017520"/>
            <a:ext cx="731520" cy="731520"/>
          </a:xfrm>
          <a:prstGeom prst="ellipse">
            <a:avLst/>
          </a:prstGeom>
          <a:solidFill>
            <a:srgbClr val="F2A541"/>
          </a:solidFill>
          <a:ln w="12700">
            <a:solidFill>
              <a:srgbClr val="F2A541"/>
            </a:solidFill>
            <a:prstDash val="solid"/>
          </a:ln>
        </p:spPr>
      </p:sp>
      <p:pic>
        <p:nvPicPr>
          <p:cNvPr id="14" name="Image 0" descr="preencoded.png">    </p:cNvPr>
          <p:cNvPicPr>
            <a:picLocks noChangeAspect="1"/>
          </p:cNvPicPr>
          <p:nvPr/>
        </p:nvPicPr>
        <p:blipFill>
          <a:blip r:embed="rId1"/>
          <a:stretch>
            <a:fillRect/>
          </a:stretch>
        </p:blipFill>
        <p:spPr>
          <a:xfrm>
            <a:off x="1013155" y="3207715"/>
            <a:ext cx="351130" cy="351130"/>
          </a:xfrm>
          <a:prstGeom prst="rect">
            <a:avLst/>
          </a:prstGeom>
        </p:spPr>
      </p:pic>
      <p:sp>
        <p:nvSpPr>
          <p:cNvPr id="15" name="Text 12"/>
          <p:cNvSpPr txBox="1"/>
          <p:nvPr/>
        </p:nvSpPr>
        <p:spPr>
          <a:xfrm>
            <a:off x="1691640" y="3154680"/>
            <a:ext cx="1280160" cy="457200"/>
          </a:xfrm>
          <a:prstGeom prst="rect">
            <a:avLst/>
          </a:prstGeom>
          <a:noFill/>
          <a:ln/>
        </p:spPr>
        <p:txBody>
          <a:bodyPr wrap="square" lIns="0" tIns="0" rIns="0" bIns="0" rtlCol="0" anchor="ctr"/>
          <a:lstStyle/>
          <a:p>
            <a:pPr indent="0" marL="0">
              <a:buNone/>
            </a:pPr>
            <a:r>
              <a:rPr lang="en-US" sz="1400" b="1" dirty="0">
                <a:solidFill>
                  <a:srgbClr val="5B6B70"/>
                </a:solidFill>
                <a:latin typeface="Meiryo" pitchFamily="34" charset="0"/>
                <a:ea typeface="Meiryo" pitchFamily="34" charset="-122"/>
                <a:cs typeface="Meiryo" pitchFamily="34" charset="-120"/>
              </a:rPr>
              <a:t>00-05分</a:t>
            </a:r>
            <a:endParaRPr lang="en-US" sz="1400" dirty="0"/>
          </a:p>
        </p:txBody>
      </p:sp>
      <p:sp>
        <p:nvSpPr>
          <p:cNvPr id="16" name="Text 13"/>
          <p:cNvSpPr txBox="1"/>
          <p:nvPr/>
        </p:nvSpPr>
        <p:spPr>
          <a:xfrm>
            <a:off x="822960" y="3931920"/>
            <a:ext cx="2011680" cy="457200"/>
          </a:xfrm>
          <a:prstGeom prst="rect">
            <a:avLst/>
          </a:prstGeom>
          <a:noFill/>
          <a:ln/>
        </p:spPr>
        <p:txBody>
          <a:bodyPr wrap="square" lIns="0" tIns="0" rIns="0" bIns="0" rtlCol="0" anchor="ctr"/>
          <a:lstStyle/>
          <a:p>
            <a:pPr indent="0" marL="0">
              <a:buNone/>
            </a:pPr>
            <a:r>
              <a:rPr lang="en-US" sz="1500" b="1" dirty="0">
                <a:solidFill>
                  <a:srgbClr val="1E2B2F"/>
                </a:solidFill>
                <a:latin typeface="Meiryo" pitchFamily="34" charset="0"/>
                <a:ea typeface="Meiryo" pitchFamily="34" charset="-122"/>
                <a:cs typeface="Meiryo" pitchFamily="34" charset="-120"/>
              </a:rPr>
              <a:t>導入・アイスブレイク</a:t>
            </a:r>
            <a:endParaRPr lang="en-US" sz="1500" dirty="0"/>
          </a:p>
        </p:txBody>
      </p:sp>
      <p:sp>
        <p:nvSpPr>
          <p:cNvPr id="17" name="Text 14"/>
          <p:cNvSpPr txBox="1"/>
          <p:nvPr/>
        </p:nvSpPr>
        <p:spPr>
          <a:xfrm>
            <a:off x="822960" y="4480560"/>
            <a:ext cx="2011680" cy="1463040"/>
          </a:xfrm>
          <a:prstGeom prst="rect">
            <a:avLst/>
          </a:prstGeom>
          <a:noFill/>
          <a:ln/>
        </p:spPr>
        <p:txBody>
          <a:bodyPr wrap="square" lIns="0" tIns="0" rIns="0" bIns="0" rtlCol="0" anchor="t"/>
          <a:lstStyle/>
          <a:p>
            <a:pPr indent="0" marL="0">
              <a:lnSpc>
                <a:spcPct val="120000"/>
              </a:lnSpc>
              <a:buNone/>
            </a:pPr>
            <a:r>
              <a:rPr lang="en-US" sz="1300" dirty="0">
                <a:solidFill>
                  <a:srgbClr val="1E2B2F"/>
                </a:solidFill>
                <a:latin typeface="Meiryo" pitchFamily="34" charset="0"/>
                <a:ea typeface="Meiryo" pitchFamily="34" charset="-122"/>
                <a:cs typeface="Meiryo" pitchFamily="34" charset="-120"/>
              </a:rPr>
              <a:t>10年後の学校で子どもが歓喜する瞬間をペアで共有</a:t>
            </a:r>
            <a:endParaRPr lang="en-US" sz="1300" dirty="0"/>
          </a:p>
        </p:txBody>
      </p:sp>
      <p:sp>
        <p:nvSpPr>
          <p:cNvPr id="18" name="Shape 15"/>
          <p:cNvSpPr/>
          <p:nvPr/>
        </p:nvSpPr>
        <p:spPr>
          <a:xfrm>
            <a:off x="3383280" y="2743200"/>
            <a:ext cx="2560320" cy="31089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3657600" y="3017520"/>
            <a:ext cx="731520" cy="731520"/>
          </a:xfrm>
          <a:prstGeom prst="ellipse">
            <a:avLst/>
          </a:prstGeom>
          <a:solidFill>
            <a:srgbClr val="0B4F5C"/>
          </a:solidFill>
          <a:ln w="12700">
            <a:solidFill>
              <a:srgbClr val="0B4F5C"/>
            </a:solidFill>
            <a:prstDash val="solid"/>
          </a:ln>
        </p:spPr>
      </p:sp>
      <p:pic>
        <p:nvPicPr>
          <p:cNvPr id="20" name="Image 1" descr="preencoded.png">    </p:cNvPr>
          <p:cNvPicPr>
            <a:picLocks noChangeAspect="1"/>
          </p:cNvPicPr>
          <p:nvPr/>
        </p:nvPicPr>
        <p:blipFill>
          <a:blip r:embed="rId2"/>
          <a:stretch>
            <a:fillRect/>
          </a:stretch>
        </p:blipFill>
        <p:spPr>
          <a:xfrm>
            <a:off x="3847795" y="3207715"/>
            <a:ext cx="351130" cy="351130"/>
          </a:xfrm>
          <a:prstGeom prst="rect">
            <a:avLst/>
          </a:prstGeom>
        </p:spPr>
      </p:pic>
      <p:sp>
        <p:nvSpPr>
          <p:cNvPr id="21" name="Text 17"/>
          <p:cNvSpPr txBox="1"/>
          <p:nvPr/>
        </p:nvSpPr>
        <p:spPr>
          <a:xfrm>
            <a:off x="4526280" y="3154680"/>
            <a:ext cx="1280160" cy="457200"/>
          </a:xfrm>
          <a:prstGeom prst="rect">
            <a:avLst/>
          </a:prstGeom>
          <a:noFill/>
          <a:ln/>
        </p:spPr>
        <p:txBody>
          <a:bodyPr wrap="square" lIns="0" tIns="0" rIns="0" bIns="0" rtlCol="0" anchor="ctr"/>
          <a:lstStyle/>
          <a:p>
            <a:pPr indent="0" marL="0">
              <a:buNone/>
            </a:pPr>
            <a:r>
              <a:rPr lang="en-US" sz="1400" b="1" dirty="0">
                <a:solidFill>
                  <a:srgbClr val="5B6B70"/>
                </a:solidFill>
                <a:latin typeface="Meiryo" pitchFamily="34" charset="0"/>
                <a:ea typeface="Meiryo" pitchFamily="34" charset="-122"/>
                <a:cs typeface="Meiryo" pitchFamily="34" charset="-120"/>
              </a:rPr>
              <a:t>05-25分</a:t>
            </a:r>
            <a:endParaRPr lang="en-US" sz="1400" dirty="0"/>
          </a:p>
        </p:txBody>
      </p:sp>
      <p:sp>
        <p:nvSpPr>
          <p:cNvPr id="22" name="Text 18"/>
          <p:cNvSpPr txBox="1"/>
          <p:nvPr/>
        </p:nvSpPr>
        <p:spPr>
          <a:xfrm>
            <a:off x="3657600" y="3931920"/>
            <a:ext cx="2011680" cy="457200"/>
          </a:xfrm>
          <a:prstGeom prst="rect">
            <a:avLst/>
          </a:prstGeom>
          <a:noFill/>
          <a:ln/>
        </p:spPr>
        <p:txBody>
          <a:bodyPr wrap="square" lIns="0" tIns="0" rIns="0" bIns="0" rtlCol="0" anchor="ctr"/>
          <a:lstStyle/>
          <a:p>
            <a:pPr indent="0" marL="0">
              <a:buNone/>
            </a:pPr>
            <a:r>
              <a:rPr lang="en-US" sz="1500" b="1" dirty="0">
                <a:solidFill>
                  <a:srgbClr val="1E2B2F"/>
                </a:solidFill>
                <a:latin typeface="Meiryo" pitchFamily="34" charset="0"/>
                <a:ea typeface="Meiryo" pitchFamily="34" charset="-122"/>
                <a:cs typeface="Meiryo" pitchFamily="34" charset="-120"/>
              </a:rPr>
              <a:t>指導主事講評・提案</a:t>
            </a:r>
            <a:endParaRPr lang="en-US" sz="1500" dirty="0"/>
          </a:p>
        </p:txBody>
      </p:sp>
      <p:sp>
        <p:nvSpPr>
          <p:cNvPr id="23" name="Text 19"/>
          <p:cNvSpPr txBox="1"/>
          <p:nvPr/>
        </p:nvSpPr>
        <p:spPr>
          <a:xfrm>
            <a:off x="3657600" y="4480560"/>
            <a:ext cx="2011680" cy="1463040"/>
          </a:xfrm>
          <a:prstGeom prst="rect">
            <a:avLst/>
          </a:prstGeom>
          <a:noFill/>
          <a:ln/>
        </p:spPr>
        <p:txBody>
          <a:bodyPr wrap="square" lIns="0" tIns="0" rIns="0" bIns="0" rtlCol="0" anchor="t"/>
          <a:lstStyle/>
          <a:p>
            <a:pPr indent="0" marL="0">
              <a:lnSpc>
                <a:spcPct val="120000"/>
              </a:lnSpc>
              <a:buNone/>
            </a:pPr>
            <a:r>
              <a:rPr lang="en-US" sz="1300" dirty="0">
                <a:solidFill>
                  <a:srgbClr val="1E2B2F"/>
                </a:solidFill>
                <a:latin typeface="Meiryo" pitchFamily="34" charset="0"/>
                <a:ea typeface="Meiryo" pitchFamily="34" charset="-122"/>
                <a:cs typeface="Meiryo" pitchFamily="34" charset="-120"/>
              </a:rPr>
              <a:t>次期学習指導要領素案が描く10年後の未来</a:t>
            </a:r>
            <a:endParaRPr lang="en-US" sz="1300" dirty="0"/>
          </a:p>
          <a:p>
            <a:pPr indent="0" marL="0">
              <a:lnSpc>
                <a:spcPct val="120000"/>
              </a:lnSpc>
              <a:buNone/>
            </a:pPr>
            <a:r>
              <a:rPr lang="en-US" sz="1300" dirty="0">
                <a:solidFill>
                  <a:srgbClr val="1E2B2F"/>
                </a:solidFill>
                <a:latin typeface="Meiryo" pitchFamily="34" charset="0"/>
                <a:ea typeface="Meiryo" pitchFamily="34" charset="-122"/>
                <a:cs typeface="Meiryo" pitchFamily="34" charset="-120"/>
              </a:rPr>
              <a:t>自律的学び／マイ探究／キャリア教育／外国語教育</a:t>
            </a:r>
            <a:endParaRPr lang="en-US" sz="1300" dirty="0"/>
          </a:p>
        </p:txBody>
      </p:sp>
      <p:sp>
        <p:nvSpPr>
          <p:cNvPr id="24" name="Shape 20"/>
          <p:cNvSpPr/>
          <p:nvPr/>
        </p:nvSpPr>
        <p:spPr>
          <a:xfrm>
            <a:off x="6217920" y="2743200"/>
            <a:ext cx="2560320" cy="31089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5" name="Shape 21"/>
          <p:cNvSpPr/>
          <p:nvPr/>
        </p:nvSpPr>
        <p:spPr>
          <a:xfrm>
            <a:off x="6492240" y="3017520"/>
            <a:ext cx="731520" cy="731520"/>
          </a:xfrm>
          <a:prstGeom prst="ellipse">
            <a:avLst/>
          </a:prstGeom>
          <a:solidFill>
            <a:srgbClr val="1B7F8C"/>
          </a:solidFill>
          <a:ln w="12700">
            <a:solidFill>
              <a:srgbClr val="1B7F8C"/>
            </a:solidFill>
            <a:prstDash val="solid"/>
          </a:ln>
        </p:spPr>
      </p:sp>
      <p:pic>
        <p:nvPicPr>
          <p:cNvPr id="26" name="Image 2" descr="preencoded.png">    </p:cNvPr>
          <p:cNvPicPr>
            <a:picLocks noChangeAspect="1"/>
          </p:cNvPicPr>
          <p:nvPr/>
        </p:nvPicPr>
        <p:blipFill>
          <a:blip r:embed="rId3"/>
          <a:stretch>
            <a:fillRect/>
          </a:stretch>
        </p:blipFill>
        <p:spPr>
          <a:xfrm>
            <a:off x="6682435" y="3207715"/>
            <a:ext cx="351130" cy="351130"/>
          </a:xfrm>
          <a:prstGeom prst="rect">
            <a:avLst/>
          </a:prstGeom>
        </p:spPr>
      </p:pic>
      <p:sp>
        <p:nvSpPr>
          <p:cNvPr id="27" name="Text 22"/>
          <p:cNvSpPr txBox="1"/>
          <p:nvPr/>
        </p:nvSpPr>
        <p:spPr>
          <a:xfrm>
            <a:off x="7360920" y="3154680"/>
            <a:ext cx="1280160" cy="457200"/>
          </a:xfrm>
          <a:prstGeom prst="rect">
            <a:avLst/>
          </a:prstGeom>
          <a:noFill/>
          <a:ln/>
        </p:spPr>
        <p:txBody>
          <a:bodyPr wrap="square" lIns="0" tIns="0" rIns="0" bIns="0" rtlCol="0" anchor="ctr"/>
          <a:lstStyle/>
          <a:p>
            <a:pPr indent="0" marL="0">
              <a:buNone/>
            </a:pPr>
            <a:r>
              <a:rPr lang="en-US" sz="1400" b="1" dirty="0">
                <a:solidFill>
                  <a:srgbClr val="5B6B70"/>
                </a:solidFill>
                <a:latin typeface="Meiryo" pitchFamily="34" charset="0"/>
                <a:ea typeface="Meiryo" pitchFamily="34" charset="-122"/>
                <a:cs typeface="Meiryo" pitchFamily="34" charset="-120"/>
              </a:rPr>
              <a:t>25-40分</a:t>
            </a:r>
            <a:endParaRPr lang="en-US" sz="1400" dirty="0"/>
          </a:p>
        </p:txBody>
      </p:sp>
      <p:sp>
        <p:nvSpPr>
          <p:cNvPr id="28" name="Text 23"/>
          <p:cNvSpPr txBox="1"/>
          <p:nvPr/>
        </p:nvSpPr>
        <p:spPr>
          <a:xfrm>
            <a:off x="6492240" y="3931920"/>
            <a:ext cx="2011680" cy="457200"/>
          </a:xfrm>
          <a:prstGeom prst="rect">
            <a:avLst/>
          </a:prstGeom>
          <a:noFill/>
          <a:ln/>
        </p:spPr>
        <p:txBody>
          <a:bodyPr wrap="square" lIns="0" tIns="0" rIns="0" bIns="0" rtlCol="0" anchor="ctr"/>
          <a:lstStyle/>
          <a:p>
            <a:pPr indent="0" marL="0">
              <a:buNone/>
            </a:pPr>
            <a:r>
              <a:rPr lang="en-US" sz="1500" b="1" dirty="0">
                <a:solidFill>
                  <a:srgbClr val="1E2B2F"/>
                </a:solidFill>
                <a:latin typeface="Meiryo" pitchFamily="34" charset="0"/>
                <a:ea typeface="Meiryo" pitchFamily="34" charset="-122"/>
                <a:cs typeface="Meiryo" pitchFamily="34" charset="-120"/>
              </a:rPr>
              <a:t>グループ協議・熟議</a:t>
            </a:r>
            <a:endParaRPr lang="en-US" sz="1500" dirty="0"/>
          </a:p>
        </p:txBody>
      </p:sp>
      <p:sp>
        <p:nvSpPr>
          <p:cNvPr id="29" name="Text 24"/>
          <p:cNvSpPr txBox="1"/>
          <p:nvPr/>
        </p:nvSpPr>
        <p:spPr>
          <a:xfrm>
            <a:off x="6492240" y="4480560"/>
            <a:ext cx="2011680" cy="1463040"/>
          </a:xfrm>
          <a:prstGeom prst="rect">
            <a:avLst/>
          </a:prstGeom>
          <a:noFill/>
          <a:ln/>
        </p:spPr>
        <p:txBody>
          <a:bodyPr wrap="square" lIns="0" tIns="0" rIns="0" bIns="0" rtlCol="0" anchor="t"/>
          <a:lstStyle/>
          <a:p>
            <a:pPr indent="0" marL="0">
              <a:lnSpc>
                <a:spcPct val="120000"/>
              </a:lnSpc>
              <a:buNone/>
            </a:pPr>
            <a:r>
              <a:rPr lang="en-US" sz="1300" dirty="0">
                <a:solidFill>
                  <a:srgbClr val="1E2B2F"/>
                </a:solidFill>
                <a:latin typeface="Meiryo" pitchFamily="34" charset="0"/>
                <a:ea typeface="Meiryo" pitchFamily="34" charset="-122"/>
                <a:cs typeface="Meiryo" pitchFamily="34" charset="-120"/>
              </a:rPr>
              <a:t>校長・副校長・教諭のミックスグループで</a:t>
            </a:r>
            <a:endParaRPr lang="en-US" sz="1300" dirty="0"/>
          </a:p>
          <a:p>
            <a:pPr indent="0" marL="0">
              <a:lnSpc>
                <a:spcPct val="120000"/>
              </a:lnSpc>
              <a:buNone/>
            </a:pPr>
            <a:r>
              <a:rPr lang="en-US" sz="1300" dirty="0">
                <a:solidFill>
                  <a:srgbClr val="1E2B2F"/>
                </a:solidFill>
                <a:latin typeface="Meiryo" pitchFamily="34" charset="0"/>
                <a:ea typeface="Meiryo" pitchFamily="34" charset="-122"/>
                <a:cs typeface="Meiryo" pitchFamily="34" charset="-120"/>
              </a:rPr>
              <a:t>「我が校の明日への小さな一歩（出島づくり）」</a:t>
            </a:r>
            <a:endParaRPr lang="en-US" sz="1300" dirty="0"/>
          </a:p>
        </p:txBody>
      </p:sp>
      <p:sp>
        <p:nvSpPr>
          <p:cNvPr id="30" name="Shape 25"/>
          <p:cNvSpPr/>
          <p:nvPr/>
        </p:nvSpPr>
        <p:spPr>
          <a:xfrm>
            <a:off x="9052560" y="2743200"/>
            <a:ext cx="2560320" cy="31089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1" name="Shape 26"/>
          <p:cNvSpPr/>
          <p:nvPr/>
        </p:nvSpPr>
        <p:spPr>
          <a:xfrm>
            <a:off x="9326880" y="3017520"/>
            <a:ext cx="731520" cy="731520"/>
          </a:xfrm>
          <a:prstGeom prst="ellipse">
            <a:avLst/>
          </a:prstGeom>
          <a:solidFill>
            <a:srgbClr val="D9583B"/>
          </a:solidFill>
          <a:ln w="12700">
            <a:solidFill>
              <a:srgbClr val="D9583B"/>
            </a:solidFill>
            <a:prstDash val="solid"/>
          </a:ln>
        </p:spPr>
      </p:sp>
      <p:pic>
        <p:nvPicPr>
          <p:cNvPr id="32" name="Image 3" descr="preencoded.png">    </p:cNvPr>
          <p:cNvPicPr>
            <a:picLocks noChangeAspect="1"/>
          </p:cNvPicPr>
          <p:nvPr/>
        </p:nvPicPr>
        <p:blipFill>
          <a:blip r:embed="rId4"/>
          <a:stretch>
            <a:fillRect/>
          </a:stretch>
        </p:blipFill>
        <p:spPr>
          <a:xfrm>
            <a:off x="9517075" y="3207715"/>
            <a:ext cx="351130" cy="351130"/>
          </a:xfrm>
          <a:prstGeom prst="rect">
            <a:avLst/>
          </a:prstGeom>
        </p:spPr>
      </p:pic>
      <p:sp>
        <p:nvSpPr>
          <p:cNvPr id="33" name="Text 27"/>
          <p:cNvSpPr txBox="1"/>
          <p:nvPr/>
        </p:nvSpPr>
        <p:spPr>
          <a:xfrm>
            <a:off x="10195560" y="3154680"/>
            <a:ext cx="1280160" cy="457200"/>
          </a:xfrm>
          <a:prstGeom prst="rect">
            <a:avLst/>
          </a:prstGeom>
          <a:noFill/>
          <a:ln/>
        </p:spPr>
        <p:txBody>
          <a:bodyPr wrap="square" lIns="0" tIns="0" rIns="0" bIns="0" rtlCol="0" anchor="ctr"/>
          <a:lstStyle/>
          <a:p>
            <a:pPr indent="0" marL="0">
              <a:buNone/>
            </a:pPr>
            <a:r>
              <a:rPr lang="en-US" sz="1400" b="1" dirty="0">
                <a:solidFill>
                  <a:srgbClr val="5B6B70"/>
                </a:solidFill>
                <a:latin typeface="Meiryo" pitchFamily="34" charset="0"/>
                <a:ea typeface="Meiryo" pitchFamily="34" charset="-122"/>
                <a:cs typeface="Meiryo" pitchFamily="34" charset="-120"/>
              </a:rPr>
              <a:t>40-45分</a:t>
            </a:r>
            <a:endParaRPr lang="en-US" sz="1400" dirty="0"/>
          </a:p>
        </p:txBody>
      </p:sp>
      <p:sp>
        <p:nvSpPr>
          <p:cNvPr id="34" name="Text 28"/>
          <p:cNvSpPr txBox="1"/>
          <p:nvPr/>
        </p:nvSpPr>
        <p:spPr>
          <a:xfrm>
            <a:off x="9326880" y="3931920"/>
            <a:ext cx="2011680" cy="457200"/>
          </a:xfrm>
          <a:prstGeom prst="rect">
            <a:avLst/>
          </a:prstGeom>
          <a:noFill/>
          <a:ln/>
        </p:spPr>
        <p:txBody>
          <a:bodyPr wrap="square" lIns="0" tIns="0" rIns="0" bIns="0" rtlCol="0" anchor="ctr"/>
          <a:lstStyle/>
          <a:p>
            <a:pPr indent="0" marL="0">
              <a:buNone/>
            </a:pPr>
            <a:r>
              <a:rPr lang="en-US" sz="1500" b="1" dirty="0">
                <a:solidFill>
                  <a:srgbClr val="1E2B2F"/>
                </a:solidFill>
                <a:latin typeface="Meiryo" pitchFamily="34" charset="0"/>
                <a:ea typeface="Meiryo" pitchFamily="34" charset="-122"/>
                <a:cs typeface="Meiryo" pitchFamily="34" charset="-120"/>
              </a:rPr>
              <a:t>まとめ・メッセージ</a:t>
            </a:r>
            <a:endParaRPr lang="en-US" sz="1500" dirty="0"/>
          </a:p>
        </p:txBody>
      </p:sp>
      <p:sp>
        <p:nvSpPr>
          <p:cNvPr id="35" name="Text 29"/>
          <p:cNvSpPr txBox="1"/>
          <p:nvPr/>
        </p:nvSpPr>
        <p:spPr>
          <a:xfrm>
            <a:off x="9326880" y="4480560"/>
            <a:ext cx="2011680" cy="1463040"/>
          </a:xfrm>
          <a:prstGeom prst="rect">
            <a:avLst/>
          </a:prstGeom>
          <a:noFill/>
          <a:ln/>
        </p:spPr>
        <p:txBody>
          <a:bodyPr wrap="square" lIns="0" tIns="0" rIns="0" bIns="0" rtlCol="0" anchor="t"/>
          <a:lstStyle/>
          <a:p>
            <a:pPr indent="0" marL="0">
              <a:lnSpc>
                <a:spcPct val="120000"/>
              </a:lnSpc>
              <a:buNone/>
            </a:pPr>
            <a:r>
              <a:rPr lang="en-US" sz="1300" dirty="0">
                <a:solidFill>
                  <a:srgbClr val="1E2B2F"/>
                </a:solidFill>
                <a:latin typeface="Meiryo" pitchFamily="34" charset="0"/>
                <a:ea typeface="Meiryo" pitchFamily="34" charset="-122"/>
                <a:cs typeface="Meiryo" pitchFamily="34" charset="-120"/>
              </a:rPr>
              <a:t>教育課程は制限ではなく、未来を拓く出島</a:t>
            </a:r>
            <a:endParaRPr lang="en-US" sz="1300" dirty="0"/>
          </a:p>
        </p:txBody>
      </p:sp>
      <p:sp>
        <p:nvSpPr>
          <p:cNvPr id="36" name="Text 30"/>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【導入】10年後の学校を想像する</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5分ワーク ／ ペアで1分半ずつ共有</a:t>
            </a:r>
            <a:endParaRPr lang="en-US" sz="1600" dirty="0"/>
          </a:p>
        </p:txBody>
      </p:sp>
      <p:sp>
        <p:nvSpPr>
          <p:cNvPr id="4" name="Shape 2"/>
          <p:cNvSpPr/>
          <p:nvPr/>
        </p:nvSpPr>
        <p:spPr>
          <a:xfrm>
            <a:off x="548640" y="1783080"/>
            <a:ext cx="7223760" cy="4389120"/>
          </a:xfrm>
          <a:prstGeom prst="roundRect">
            <a:avLst>
              <a:gd name="adj" fmla="val 2500"/>
            </a:avLst>
          </a:prstGeom>
          <a:solidFill>
            <a:srgbClr val="DCEFEF"/>
          </a:solidFill>
          <a:ln w="12700">
            <a:solidFill>
              <a:srgbClr val="DCEFE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68680" y="2103120"/>
            <a:ext cx="822960" cy="822960"/>
          </a:xfrm>
          <a:prstGeom prst="ellipse">
            <a:avLst/>
          </a:prstGeom>
          <a:solidFill>
            <a:srgbClr val="0B4F5C"/>
          </a:solidFill>
          <a:ln w="12700">
            <a:solidFill>
              <a:srgbClr val="0B4F5C"/>
            </a:solidFill>
            <a:prstDash val="solid"/>
          </a:ln>
        </p:spPr>
      </p:sp>
      <p:pic>
        <p:nvPicPr>
          <p:cNvPr id="6" name="Image 0" descr="preencoded.png">    </p:cNvPr>
          <p:cNvPicPr>
            <a:picLocks noChangeAspect="1"/>
          </p:cNvPicPr>
          <p:nvPr/>
        </p:nvPicPr>
        <p:blipFill>
          <a:blip r:embed="rId1"/>
          <a:stretch>
            <a:fillRect/>
          </a:stretch>
        </p:blipFill>
        <p:spPr>
          <a:xfrm>
            <a:off x="1082650" y="2317090"/>
            <a:ext cx="395021" cy="395021"/>
          </a:xfrm>
          <a:prstGeom prst="rect">
            <a:avLst/>
          </a:prstGeom>
        </p:spPr>
      </p:pic>
      <p:sp>
        <p:nvSpPr>
          <p:cNvPr id="7" name="Text 4"/>
          <p:cNvSpPr txBox="1"/>
          <p:nvPr/>
        </p:nvSpPr>
        <p:spPr>
          <a:xfrm>
            <a:off x="1874520" y="2103120"/>
            <a:ext cx="2743200" cy="822960"/>
          </a:xfrm>
          <a:prstGeom prst="rect">
            <a:avLst/>
          </a:prstGeom>
          <a:noFill/>
          <a:ln/>
        </p:spPr>
        <p:txBody>
          <a:bodyPr wrap="square" lIns="0" tIns="0" rIns="0" bIns="0" rtlCol="0" anchor="ctr"/>
          <a:lstStyle/>
          <a:p>
            <a:pPr indent="0" marL="0">
              <a:buNone/>
            </a:pPr>
            <a:r>
              <a:rPr lang="en-US" sz="2000" b="1" dirty="0">
                <a:solidFill>
                  <a:srgbClr val="0B4F5C"/>
                </a:solidFill>
                <a:latin typeface="Meiryo" pitchFamily="34" charset="0"/>
                <a:ea typeface="Meiryo" pitchFamily="34" charset="-122"/>
                <a:cs typeface="Meiryo" pitchFamily="34" charset="-120"/>
              </a:rPr>
              <a:t>問い</a:t>
            </a:r>
            <a:endParaRPr lang="en-US" sz="2000" dirty="0"/>
          </a:p>
        </p:txBody>
      </p:sp>
      <p:sp>
        <p:nvSpPr>
          <p:cNvPr id="8" name="Text 5"/>
          <p:cNvSpPr txBox="1"/>
          <p:nvPr/>
        </p:nvSpPr>
        <p:spPr>
          <a:xfrm>
            <a:off x="868680" y="3154680"/>
            <a:ext cx="6583680" cy="2651760"/>
          </a:xfrm>
          <a:prstGeom prst="rect">
            <a:avLst/>
          </a:prstGeom>
          <a:noFill/>
          <a:ln/>
        </p:spPr>
        <p:txBody>
          <a:bodyPr wrap="square" lIns="0" tIns="0" rIns="0" bIns="0" rtlCol="0" anchor="t"/>
          <a:lstStyle/>
          <a:p>
            <a:pPr indent="0" marL="0">
              <a:lnSpc>
                <a:spcPct val="140000"/>
              </a:lnSpc>
              <a:buNone/>
            </a:pPr>
            <a:r>
              <a:rPr lang="en-US" sz="1900" dirty="0">
                <a:solidFill>
                  <a:srgbClr val="1E2B2F"/>
                </a:solidFill>
                <a:latin typeface="Meiryo" pitchFamily="34" charset="0"/>
                <a:ea typeface="Meiryo" pitchFamily="34" charset="-122"/>
                <a:cs typeface="Meiryo" pitchFamily="34" charset="-120"/>
              </a:rPr>
              <a:t>生成AIや自動翻訳が日常となった</a:t>
            </a:r>
            <a:endParaRPr lang="en-US" sz="1900" dirty="0"/>
          </a:p>
          <a:p>
            <a:pPr indent="0" marL="0">
              <a:lnSpc>
                <a:spcPct val="140000"/>
              </a:lnSpc>
              <a:buNone/>
            </a:pPr>
            <a:r>
              <a:rPr lang="en-US" sz="1900" dirty="0">
                <a:solidFill>
                  <a:srgbClr val="1E2B2F"/>
                </a:solidFill>
                <a:latin typeface="Meiryo" pitchFamily="34" charset="0"/>
                <a:ea typeface="Meiryo" pitchFamily="34" charset="-122"/>
                <a:cs typeface="Meiryo" pitchFamily="34" charset="-120"/>
              </a:rPr>
              <a:t>10年後（2035〜2040年）、</a:t>
            </a:r>
            <a:endParaRPr lang="en-US" sz="1900" dirty="0"/>
          </a:p>
          <a:p>
            <a:pPr indent="0" marL="0">
              <a:lnSpc>
                <a:spcPct val="140000"/>
              </a:lnSpc>
              <a:buNone/>
            </a:pPr>
            <a:r>
              <a:rPr lang="en-US" sz="1900" b="1" dirty="0">
                <a:solidFill>
                  <a:srgbClr val="D9583B"/>
                </a:solidFill>
                <a:latin typeface="Meiryo" pitchFamily="34" charset="0"/>
                <a:ea typeface="Meiryo" pitchFamily="34" charset="-122"/>
                <a:cs typeface="Meiryo" pitchFamily="34" charset="-120"/>
              </a:rPr>
              <a:t>「それでも学校に来て仲間や先生と学んでよかった！」</a:t>
            </a:r>
            <a:endParaRPr lang="en-US" sz="1900" dirty="0"/>
          </a:p>
          <a:p>
            <a:pPr indent="0" marL="0">
              <a:lnSpc>
                <a:spcPct val="140000"/>
              </a:lnSpc>
              <a:buNone/>
            </a:pPr>
            <a:r>
              <a:rPr lang="en-US" sz="1900" dirty="0">
                <a:solidFill>
                  <a:srgbClr val="1E2B2F"/>
                </a:solidFill>
                <a:latin typeface="Meiryo" pitchFamily="34" charset="0"/>
                <a:ea typeface="Meiryo" pitchFamily="34" charset="-122"/>
                <a:cs typeface="Meiryo" pitchFamily="34" charset="-120"/>
              </a:rPr>
              <a:t>と子どもが歓喜する瞬間とは？</a:t>
            </a:r>
            <a:endParaRPr lang="en-US" sz="1900" dirty="0"/>
          </a:p>
        </p:txBody>
      </p:sp>
      <p:sp>
        <p:nvSpPr>
          <p:cNvPr id="9" name="Text 6"/>
          <p:cNvSpPr txBox="1"/>
          <p:nvPr/>
        </p:nvSpPr>
        <p:spPr>
          <a:xfrm>
            <a:off x="8229600" y="1783080"/>
            <a:ext cx="3383280" cy="457200"/>
          </a:xfrm>
          <a:prstGeom prst="rect">
            <a:avLst/>
          </a:prstGeom>
          <a:noFill/>
          <a:ln/>
        </p:spPr>
        <p:txBody>
          <a:bodyPr wrap="square" lIns="0" tIns="0" rIns="0" bIns="0" rtlCol="0" anchor="ctr"/>
          <a:lstStyle/>
          <a:p>
            <a:pPr indent="0" marL="0">
              <a:buNone/>
            </a:pPr>
            <a:r>
              <a:rPr lang="en-US" sz="1800" b="1" dirty="0">
                <a:solidFill>
                  <a:srgbClr val="0B4F5C"/>
                </a:solidFill>
                <a:latin typeface="Meiryo" pitchFamily="34" charset="0"/>
                <a:ea typeface="Meiryo" pitchFamily="34" charset="-122"/>
                <a:cs typeface="Meiryo" pitchFamily="34" charset="-120"/>
              </a:rPr>
              <a:t>進め方</a:t>
            </a:r>
            <a:endParaRPr lang="en-US" sz="1800" dirty="0"/>
          </a:p>
        </p:txBody>
      </p:sp>
      <p:sp>
        <p:nvSpPr>
          <p:cNvPr id="10" name="Shape 7"/>
          <p:cNvSpPr/>
          <p:nvPr/>
        </p:nvSpPr>
        <p:spPr>
          <a:xfrm>
            <a:off x="8229600" y="2377440"/>
            <a:ext cx="1143000" cy="566928"/>
          </a:xfrm>
          <a:prstGeom prst="roundRect">
            <a:avLst>
              <a:gd name="adj" fmla="val 16129"/>
            </a:avLst>
          </a:prstGeom>
          <a:solidFill>
            <a:srgbClr val="F2A541"/>
          </a:solidFill>
          <a:ln w="12700">
            <a:solidFill>
              <a:srgbClr val="F2A541"/>
            </a:solidFill>
            <a:prstDash val="solid"/>
          </a:ln>
        </p:spPr>
      </p:sp>
      <p:sp>
        <p:nvSpPr>
          <p:cNvPr id="11" name="Text 8"/>
          <p:cNvSpPr txBox="1"/>
          <p:nvPr/>
        </p:nvSpPr>
        <p:spPr>
          <a:xfrm>
            <a:off x="8229600" y="2377440"/>
            <a:ext cx="1143000" cy="566928"/>
          </a:xfrm>
          <a:prstGeom prst="rect">
            <a:avLst/>
          </a:prstGeom>
          <a:noFill/>
          <a:ln/>
        </p:spPr>
        <p:txBody>
          <a:bodyPr wrap="square" lIns="0" tIns="0" rIns="0" bIns="0" rtlCol="0" anchor="ctr"/>
          <a:lstStyle/>
          <a:p>
            <a:pPr algn="ctr" indent="0" marL="0">
              <a:buNone/>
            </a:pPr>
            <a:r>
              <a:rPr lang="en-US" sz="1400" b="1" dirty="0">
                <a:solidFill>
                  <a:srgbClr val="1E2B2F"/>
                </a:solidFill>
                <a:latin typeface="Meiryo" pitchFamily="34" charset="0"/>
                <a:ea typeface="Meiryo" pitchFamily="34" charset="-122"/>
                <a:cs typeface="Meiryo" pitchFamily="34" charset="-120"/>
              </a:rPr>
              <a:t>1分</a:t>
            </a:r>
            <a:endParaRPr lang="en-US" sz="1400" dirty="0"/>
          </a:p>
        </p:txBody>
      </p:sp>
      <p:sp>
        <p:nvSpPr>
          <p:cNvPr id="12" name="Text 9"/>
          <p:cNvSpPr txBox="1"/>
          <p:nvPr/>
        </p:nvSpPr>
        <p:spPr>
          <a:xfrm>
            <a:off x="9509760" y="2377440"/>
            <a:ext cx="2194560" cy="566928"/>
          </a:xfrm>
          <a:prstGeom prst="rect">
            <a:avLst/>
          </a:prstGeom>
          <a:noFill/>
          <a:ln/>
        </p:spPr>
        <p:txBody>
          <a:bodyPr wrap="square" lIns="0" tIns="0" rIns="0" bIns="0" rtlCol="0" anchor="ctr"/>
          <a:lstStyle/>
          <a:p>
            <a:pPr indent="0" marL="0">
              <a:buNone/>
            </a:pPr>
            <a:r>
              <a:rPr lang="en-US" sz="1500" dirty="0">
                <a:solidFill>
                  <a:srgbClr val="1E2B2F"/>
                </a:solidFill>
                <a:latin typeface="Meiryo" pitchFamily="34" charset="0"/>
                <a:ea typeface="Meiryo" pitchFamily="34" charset="-122"/>
                <a:cs typeface="Meiryo" pitchFamily="34" charset="-120"/>
              </a:rPr>
              <a:t>一人で思い浮かべる</a:t>
            </a:r>
            <a:endParaRPr lang="en-US" sz="1500" dirty="0"/>
          </a:p>
        </p:txBody>
      </p:sp>
      <p:sp>
        <p:nvSpPr>
          <p:cNvPr id="13" name="Shape 10"/>
          <p:cNvSpPr/>
          <p:nvPr/>
        </p:nvSpPr>
        <p:spPr>
          <a:xfrm>
            <a:off x="8229600" y="3154680"/>
            <a:ext cx="1143000" cy="566928"/>
          </a:xfrm>
          <a:prstGeom prst="roundRect">
            <a:avLst>
              <a:gd name="adj" fmla="val 16129"/>
            </a:avLst>
          </a:prstGeom>
          <a:solidFill>
            <a:srgbClr val="1B7F8C"/>
          </a:solidFill>
          <a:ln w="12700">
            <a:solidFill>
              <a:srgbClr val="1B7F8C"/>
            </a:solidFill>
            <a:prstDash val="solid"/>
          </a:ln>
        </p:spPr>
      </p:sp>
      <p:sp>
        <p:nvSpPr>
          <p:cNvPr id="14" name="Text 11"/>
          <p:cNvSpPr txBox="1"/>
          <p:nvPr/>
        </p:nvSpPr>
        <p:spPr>
          <a:xfrm>
            <a:off x="8229600" y="3154680"/>
            <a:ext cx="114300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1分半</a:t>
            </a:r>
            <a:endParaRPr lang="en-US" sz="1400" dirty="0"/>
          </a:p>
        </p:txBody>
      </p:sp>
      <p:sp>
        <p:nvSpPr>
          <p:cNvPr id="15" name="Text 12"/>
          <p:cNvSpPr txBox="1"/>
          <p:nvPr/>
        </p:nvSpPr>
        <p:spPr>
          <a:xfrm>
            <a:off x="9509760" y="3154680"/>
            <a:ext cx="2194560" cy="566928"/>
          </a:xfrm>
          <a:prstGeom prst="rect">
            <a:avLst/>
          </a:prstGeom>
          <a:noFill/>
          <a:ln/>
        </p:spPr>
        <p:txBody>
          <a:bodyPr wrap="square" lIns="0" tIns="0" rIns="0" bIns="0" rtlCol="0" anchor="ctr"/>
          <a:lstStyle/>
          <a:p>
            <a:pPr indent="0" marL="0">
              <a:buNone/>
            </a:pPr>
            <a:r>
              <a:rPr lang="en-US" sz="1500" dirty="0">
                <a:solidFill>
                  <a:srgbClr val="1E2B2F"/>
                </a:solidFill>
                <a:latin typeface="Meiryo" pitchFamily="34" charset="0"/>
                <a:ea typeface="Meiryo" pitchFamily="34" charset="-122"/>
                <a:cs typeface="Meiryo" pitchFamily="34" charset="-120"/>
              </a:rPr>
              <a:t>Aさんが語る</a:t>
            </a:r>
            <a:endParaRPr lang="en-US" sz="1500" dirty="0"/>
          </a:p>
        </p:txBody>
      </p:sp>
      <p:sp>
        <p:nvSpPr>
          <p:cNvPr id="16" name="Shape 13"/>
          <p:cNvSpPr/>
          <p:nvPr/>
        </p:nvSpPr>
        <p:spPr>
          <a:xfrm>
            <a:off x="8229600" y="3931920"/>
            <a:ext cx="1143000" cy="566928"/>
          </a:xfrm>
          <a:prstGeom prst="roundRect">
            <a:avLst>
              <a:gd name="adj" fmla="val 16129"/>
            </a:avLst>
          </a:prstGeom>
          <a:solidFill>
            <a:srgbClr val="1B7F8C"/>
          </a:solidFill>
          <a:ln w="12700">
            <a:solidFill>
              <a:srgbClr val="1B7F8C"/>
            </a:solidFill>
            <a:prstDash val="solid"/>
          </a:ln>
        </p:spPr>
      </p:sp>
      <p:sp>
        <p:nvSpPr>
          <p:cNvPr id="17" name="Text 14"/>
          <p:cNvSpPr txBox="1"/>
          <p:nvPr/>
        </p:nvSpPr>
        <p:spPr>
          <a:xfrm>
            <a:off x="8229600" y="3931920"/>
            <a:ext cx="114300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1分半</a:t>
            </a:r>
            <a:endParaRPr lang="en-US" sz="1400" dirty="0"/>
          </a:p>
        </p:txBody>
      </p:sp>
      <p:sp>
        <p:nvSpPr>
          <p:cNvPr id="18" name="Text 15"/>
          <p:cNvSpPr txBox="1"/>
          <p:nvPr/>
        </p:nvSpPr>
        <p:spPr>
          <a:xfrm>
            <a:off x="9509760" y="3931920"/>
            <a:ext cx="2194560" cy="566928"/>
          </a:xfrm>
          <a:prstGeom prst="rect">
            <a:avLst/>
          </a:prstGeom>
          <a:noFill/>
          <a:ln/>
        </p:spPr>
        <p:txBody>
          <a:bodyPr wrap="square" lIns="0" tIns="0" rIns="0" bIns="0" rtlCol="0" anchor="ctr"/>
          <a:lstStyle/>
          <a:p>
            <a:pPr indent="0" marL="0">
              <a:buNone/>
            </a:pPr>
            <a:r>
              <a:rPr lang="en-US" sz="1500" dirty="0">
                <a:solidFill>
                  <a:srgbClr val="1E2B2F"/>
                </a:solidFill>
                <a:latin typeface="Meiryo" pitchFamily="34" charset="0"/>
                <a:ea typeface="Meiryo" pitchFamily="34" charset="-122"/>
                <a:cs typeface="Meiryo" pitchFamily="34" charset="-120"/>
              </a:rPr>
              <a:t>Bさんが語る</a:t>
            </a:r>
            <a:endParaRPr lang="en-US" sz="1500" dirty="0"/>
          </a:p>
        </p:txBody>
      </p:sp>
      <p:sp>
        <p:nvSpPr>
          <p:cNvPr id="19" name="Shape 16"/>
          <p:cNvSpPr/>
          <p:nvPr/>
        </p:nvSpPr>
        <p:spPr>
          <a:xfrm>
            <a:off x="8229600" y="4709160"/>
            <a:ext cx="1143000" cy="566928"/>
          </a:xfrm>
          <a:prstGeom prst="roundRect">
            <a:avLst>
              <a:gd name="adj" fmla="val 16129"/>
            </a:avLst>
          </a:prstGeom>
          <a:solidFill>
            <a:srgbClr val="F2A541"/>
          </a:solidFill>
          <a:ln w="12700">
            <a:solidFill>
              <a:srgbClr val="F2A541"/>
            </a:solidFill>
            <a:prstDash val="solid"/>
          </a:ln>
        </p:spPr>
      </p:sp>
      <p:sp>
        <p:nvSpPr>
          <p:cNvPr id="20" name="Text 17"/>
          <p:cNvSpPr txBox="1"/>
          <p:nvPr/>
        </p:nvSpPr>
        <p:spPr>
          <a:xfrm>
            <a:off x="8229600" y="4709160"/>
            <a:ext cx="1143000" cy="566928"/>
          </a:xfrm>
          <a:prstGeom prst="rect">
            <a:avLst/>
          </a:prstGeom>
          <a:noFill/>
          <a:ln/>
        </p:spPr>
        <p:txBody>
          <a:bodyPr wrap="square" lIns="0" tIns="0" rIns="0" bIns="0" rtlCol="0" anchor="ctr"/>
          <a:lstStyle/>
          <a:p>
            <a:pPr algn="ctr" indent="0" marL="0">
              <a:buNone/>
            </a:pPr>
            <a:r>
              <a:rPr lang="en-US" sz="1400" b="1" dirty="0">
                <a:solidFill>
                  <a:srgbClr val="1E2B2F"/>
                </a:solidFill>
                <a:latin typeface="Meiryo" pitchFamily="34" charset="0"/>
                <a:ea typeface="Meiryo" pitchFamily="34" charset="-122"/>
                <a:cs typeface="Meiryo" pitchFamily="34" charset="-120"/>
              </a:rPr>
              <a:t>1分</a:t>
            </a:r>
            <a:endParaRPr lang="en-US" sz="1400" dirty="0"/>
          </a:p>
        </p:txBody>
      </p:sp>
      <p:sp>
        <p:nvSpPr>
          <p:cNvPr id="21" name="Text 18"/>
          <p:cNvSpPr txBox="1"/>
          <p:nvPr/>
        </p:nvSpPr>
        <p:spPr>
          <a:xfrm>
            <a:off x="9509760" y="4709160"/>
            <a:ext cx="2194560" cy="566928"/>
          </a:xfrm>
          <a:prstGeom prst="rect">
            <a:avLst/>
          </a:prstGeom>
          <a:noFill/>
          <a:ln/>
        </p:spPr>
        <p:txBody>
          <a:bodyPr wrap="square" lIns="0" tIns="0" rIns="0" bIns="0" rtlCol="0" anchor="ctr"/>
          <a:lstStyle/>
          <a:p>
            <a:pPr indent="0" marL="0">
              <a:buNone/>
            </a:pPr>
            <a:r>
              <a:rPr lang="en-US" sz="1500" dirty="0">
                <a:solidFill>
                  <a:srgbClr val="1E2B2F"/>
                </a:solidFill>
                <a:latin typeface="Meiryo" pitchFamily="34" charset="0"/>
                <a:ea typeface="Meiryo" pitchFamily="34" charset="-122"/>
                <a:cs typeface="Meiryo" pitchFamily="34" charset="-120"/>
              </a:rPr>
              <a:t>共通点を見つける</a:t>
            </a:r>
            <a:endParaRPr lang="en-US" sz="1500" dirty="0"/>
          </a:p>
        </p:txBody>
      </p:sp>
      <p:sp>
        <p:nvSpPr>
          <p:cNvPr id="22" name="Text 19"/>
          <p:cNvSpPr txBox="1"/>
          <p:nvPr/>
        </p:nvSpPr>
        <p:spPr>
          <a:xfrm>
            <a:off x="8229600" y="5577840"/>
            <a:ext cx="3474720" cy="594360"/>
          </a:xfrm>
          <a:prstGeom prst="rect">
            <a:avLst/>
          </a:prstGeom>
          <a:noFill/>
          <a:ln/>
        </p:spPr>
        <p:txBody>
          <a:bodyPr wrap="square" lIns="0" tIns="0" rIns="0" bIns="0" rtlCol="0" anchor="ctr"/>
          <a:lstStyle/>
          <a:p>
            <a:pPr indent="0" marL="0">
              <a:buNone/>
            </a:pPr>
            <a:r>
              <a:rPr lang="en-US" sz="1200" i="1" dirty="0">
                <a:solidFill>
                  <a:srgbClr val="5B6B70"/>
                </a:solidFill>
                <a:latin typeface="Meiryo" pitchFamily="34" charset="0"/>
                <a:ea typeface="Meiryo" pitchFamily="34" charset="-122"/>
                <a:cs typeface="Meiryo" pitchFamily="34" charset="-120"/>
              </a:rPr>
              <a:t>ねらい：立場を超えて「教育のワクワク」を共有し、場をやわらかくほぐす</a:t>
            </a:r>
            <a:endParaRPr lang="en-US" sz="1200" dirty="0"/>
          </a:p>
        </p:txBody>
      </p:sp>
      <p:sp>
        <p:nvSpPr>
          <p:cNvPr id="23" name="Text 20"/>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次期学習指導要領の検討経過</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中央教育審議会における審議の流れ（文部科学省公表資料より）</a:t>
            </a:r>
            <a:endParaRPr lang="en-US" sz="1600" dirty="0"/>
          </a:p>
        </p:txBody>
      </p:sp>
      <p:sp>
        <p:nvSpPr>
          <p:cNvPr id="4" name="Shape 2"/>
          <p:cNvSpPr/>
          <p:nvPr/>
        </p:nvSpPr>
        <p:spPr>
          <a:xfrm>
            <a:off x="548640" y="1783080"/>
            <a:ext cx="3429000" cy="4251960"/>
          </a:xfrm>
          <a:prstGeom prst="roundRect">
            <a:avLst>
              <a:gd name="adj" fmla="val 3200"/>
            </a:avLst>
          </a:prstGeom>
          <a:solidFill>
            <a:srgbClr val="F3F8F8"/>
          </a:solidFill>
          <a:ln w="12700">
            <a:solidFill>
              <a:srgbClr val="F3F8F8"/>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965960"/>
            <a:ext cx="685800" cy="685800"/>
          </a:xfrm>
          <a:prstGeom prst="ellipse">
            <a:avLst/>
          </a:prstGeom>
          <a:solidFill>
            <a:srgbClr val="1B7F8C"/>
          </a:solidFill>
          <a:ln w="12700">
            <a:solidFill>
              <a:srgbClr val="1B7F8C"/>
            </a:solidFill>
            <a:prstDash val="solid"/>
          </a:ln>
        </p:spPr>
      </p:sp>
      <p:pic>
        <p:nvPicPr>
          <p:cNvPr id="6" name="Image 0" descr="preencoded.png">    </p:cNvPr>
          <p:cNvPicPr>
            <a:picLocks noChangeAspect="1"/>
          </p:cNvPicPr>
          <p:nvPr/>
        </p:nvPicPr>
        <p:blipFill>
          <a:blip r:embed="rId1"/>
          <a:stretch>
            <a:fillRect/>
          </a:stretch>
        </p:blipFill>
        <p:spPr>
          <a:xfrm>
            <a:off x="955548" y="2144268"/>
            <a:ext cx="329184" cy="329184"/>
          </a:xfrm>
          <a:prstGeom prst="rect">
            <a:avLst/>
          </a:prstGeom>
        </p:spPr>
      </p:pic>
      <p:sp>
        <p:nvSpPr>
          <p:cNvPr id="7" name="Text 4"/>
          <p:cNvSpPr txBox="1"/>
          <p:nvPr/>
        </p:nvSpPr>
        <p:spPr>
          <a:xfrm>
            <a:off x="1600200" y="1965960"/>
            <a:ext cx="2240280" cy="320040"/>
          </a:xfrm>
          <a:prstGeom prst="rect">
            <a:avLst/>
          </a:prstGeom>
          <a:noFill/>
          <a:ln/>
        </p:spPr>
        <p:txBody>
          <a:bodyPr wrap="square" lIns="0" tIns="0" rIns="0" bIns="0" rtlCol="0" anchor="ctr"/>
          <a:lstStyle/>
          <a:p>
            <a:pPr indent="0" marL="0">
              <a:buNone/>
            </a:pPr>
            <a:r>
              <a:rPr lang="en-US" sz="1200" b="1" dirty="0">
                <a:solidFill>
                  <a:srgbClr val="1B7F8C"/>
                </a:solidFill>
                <a:latin typeface="Meiryo" pitchFamily="34" charset="0"/>
                <a:ea typeface="Meiryo" pitchFamily="34" charset="-122"/>
                <a:cs typeface="Meiryo" pitchFamily="34" charset="-120"/>
              </a:rPr>
              <a:t>令和6年12月25日</a:t>
            </a:r>
            <a:endParaRPr lang="en-US" sz="1200" dirty="0"/>
          </a:p>
        </p:txBody>
      </p:sp>
      <p:sp>
        <p:nvSpPr>
          <p:cNvPr id="8" name="Text 5"/>
          <p:cNvSpPr txBox="1"/>
          <p:nvPr/>
        </p:nvSpPr>
        <p:spPr>
          <a:xfrm>
            <a:off x="1600200" y="2286000"/>
            <a:ext cx="2240280" cy="411480"/>
          </a:xfrm>
          <a:prstGeom prst="rect">
            <a:avLst/>
          </a:prstGeom>
          <a:noFill/>
          <a:ln/>
        </p:spPr>
        <p:txBody>
          <a:bodyPr wrap="square" lIns="0" tIns="0" rIns="0" bIns="0" rtlCol="0" anchor="ctr"/>
          <a:lstStyle/>
          <a:p>
            <a:pPr indent="0" marL="0">
              <a:buNone/>
            </a:pPr>
            <a:r>
              <a:rPr lang="en-US" sz="1400" b="1" dirty="0">
                <a:solidFill>
                  <a:srgbClr val="1E2B2F"/>
                </a:solidFill>
                <a:latin typeface="Meiryo" pitchFamily="34" charset="0"/>
                <a:ea typeface="Meiryo" pitchFamily="34" charset="-122"/>
                <a:cs typeface="Meiryo" pitchFamily="34" charset="-120"/>
              </a:rPr>
              <a:t>文部科学大臣 諮問</a:t>
            </a:r>
            <a:endParaRPr lang="en-US" sz="1400" dirty="0"/>
          </a:p>
        </p:txBody>
      </p:sp>
      <p:sp>
        <p:nvSpPr>
          <p:cNvPr id="9" name="Text 6"/>
          <p:cNvSpPr txBox="1"/>
          <p:nvPr/>
        </p:nvSpPr>
        <p:spPr>
          <a:xfrm>
            <a:off x="777240" y="2834640"/>
            <a:ext cx="2971800" cy="685800"/>
          </a:xfrm>
          <a:prstGeom prst="rect">
            <a:avLst/>
          </a:prstGeom>
          <a:noFill/>
          <a:ln/>
        </p:spPr>
        <p:txBody>
          <a:bodyPr wrap="square" lIns="0" tIns="0" rIns="0" bIns="0" rtlCol="0" anchor="t"/>
          <a:lstStyle/>
          <a:p>
            <a:pPr indent="0" marL="0">
              <a:buNone/>
            </a:pPr>
            <a:r>
              <a:rPr lang="en-US" sz="1250" dirty="0">
                <a:solidFill>
                  <a:srgbClr val="1E2B2F"/>
                </a:solidFill>
                <a:latin typeface="Meiryo" pitchFamily="34" charset="0"/>
                <a:ea typeface="Meiryo" pitchFamily="34" charset="-122"/>
                <a:cs typeface="Meiryo" pitchFamily="34" charset="-120"/>
              </a:rPr>
              <a:t>「初等中等教育における教育課程の基準等の在り方について」</a:t>
            </a:r>
            <a:endParaRPr lang="en-US" sz="1250" dirty="0"/>
          </a:p>
        </p:txBody>
      </p:sp>
      <p:sp>
        <p:nvSpPr>
          <p:cNvPr id="10" name="Text 7"/>
          <p:cNvSpPr txBox="1"/>
          <p:nvPr/>
        </p:nvSpPr>
        <p:spPr>
          <a:xfrm>
            <a:off x="777240" y="3611880"/>
            <a:ext cx="2971800" cy="22860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質の高い、深い学びの実現と分かりやすい学習指導要領</a:t>
            </a:r>
            <a:endParaRPr lang="en-US" sz="1300" dirty="0"/>
          </a:p>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多様な子供たちを包摂する柔軟な教育課程</a:t>
            </a:r>
            <a:endParaRPr lang="en-US" sz="1300" dirty="0"/>
          </a:p>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これからの時代に求められる資質・能力を踏まえた教科等の在り方</a:t>
            </a:r>
            <a:endParaRPr lang="en-US" sz="1300" dirty="0"/>
          </a:p>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教育課程の実施に伴う負担への対応</a:t>
            </a:r>
            <a:endParaRPr lang="en-US" sz="1300" dirty="0"/>
          </a:p>
        </p:txBody>
      </p:sp>
      <p:sp>
        <p:nvSpPr>
          <p:cNvPr id="11" name="Shape 8"/>
          <p:cNvSpPr/>
          <p:nvPr/>
        </p:nvSpPr>
        <p:spPr>
          <a:xfrm>
            <a:off x="4041648" y="2148840"/>
            <a:ext cx="274320" cy="329184"/>
          </a:xfrm>
          <a:prstGeom prst="rightArrow">
            <a:avLst/>
          </a:prstGeom>
          <a:solidFill>
            <a:srgbClr val="F2A541"/>
          </a:solidFill>
          <a:ln w="12700">
            <a:solidFill>
              <a:srgbClr val="F2A541"/>
            </a:solidFill>
            <a:prstDash val="solid"/>
          </a:ln>
        </p:spPr>
      </p:sp>
      <p:sp>
        <p:nvSpPr>
          <p:cNvPr id="12" name="Shape 9"/>
          <p:cNvSpPr/>
          <p:nvPr/>
        </p:nvSpPr>
        <p:spPr>
          <a:xfrm>
            <a:off x="4366260" y="1783080"/>
            <a:ext cx="3429000" cy="4251960"/>
          </a:xfrm>
          <a:prstGeom prst="roundRect">
            <a:avLst>
              <a:gd name="adj" fmla="val 3200"/>
            </a:avLst>
          </a:prstGeom>
          <a:solidFill>
            <a:srgbClr val="F3F8F8"/>
          </a:solidFill>
          <a:ln w="12700">
            <a:solidFill>
              <a:srgbClr val="F3F8F8"/>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4594860" y="1965960"/>
            <a:ext cx="685800" cy="685800"/>
          </a:xfrm>
          <a:prstGeom prst="ellipse">
            <a:avLst/>
          </a:prstGeom>
          <a:solidFill>
            <a:srgbClr val="0B4F5C"/>
          </a:solidFill>
          <a:ln w="12700">
            <a:solidFill>
              <a:srgbClr val="0B4F5C"/>
            </a:solidFill>
            <a:prstDash val="solid"/>
          </a:ln>
        </p:spPr>
      </p:sp>
      <p:pic>
        <p:nvPicPr>
          <p:cNvPr id="14" name="Image 1" descr="preencoded.png">    </p:cNvPr>
          <p:cNvPicPr>
            <a:picLocks noChangeAspect="1"/>
          </p:cNvPicPr>
          <p:nvPr/>
        </p:nvPicPr>
        <p:blipFill>
          <a:blip r:embed="rId2"/>
          <a:stretch>
            <a:fillRect/>
          </a:stretch>
        </p:blipFill>
        <p:spPr>
          <a:xfrm>
            <a:off x="4773168" y="2144268"/>
            <a:ext cx="329184" cy="329184"/>
          </a:xfrm>
          <a:prstGeom prst="rect">
            <a:avLst/>
          </a:prstGeom>
        </p:spPr>
      </p:pic>
      <p:sp>
        <p:nvSpPr>
          <p:cNvPr id="15" name="Text 11"/>
          <p:cNvSpPr txBox="1"/>
          <p:nvPr/>
        </p:nvSpPr>
        <p:spPr>
          <a:xfrm>
            <a:off x="5417820" y="1965960"/>
            <a:ext cx="2240280" cy="320040"/>
          </a:xfrm>
          <a:prstGeom prst="rect">
            <a:avLst/>
          </a:prstGeom>
          <a:noFill/>
          <a:ln/>
        </p:spPr>
        <p:txBody>
          <a:bodyPr wrap="square" lIns="0" tIns="0" rIns="0" bIns="0" rtlCol="0" anchor="ctr"/>
          <a:lstStyle/>
          <a:p>
            <a:pPr indent="0" marL="0">
              <a:buNone/>
            </a:pPr>
            <a:r>
              <a:rPr lang="en-US" sz="1200" b="1" dirty="0">
                <a:solidFill>
                  <a:srgbClr val="0B4F5C"/>
                </a:solidFill>
                <a:latin typeface="Meiryo" pitchFamily="34" charset="0"/>
                <a:ea typeface="Meiryo" pitchFamily="34" charset="-122"/>
                <a:cs typeface="Meiryo" pitchFamily="34" charset="-120"/>
              </a:rPr>
              <a:t>令和7年9月25日</a:t>
            </a:r>
            <a:endParaRPr lang="en-US" sz="1200" dirty="0"/>
          </a:p>
        </p:txBody>
      </p:sp>
      <p:sp>
        <p:nvSpPr>
          <p:cNvPr id="16" name="Text 12"/>
          <p:cNvSpPr txBox="1"/>
          <p:nvPr/>
        </p:nvSpPr>
        <p:spPr>
          <a:xfrm>
            <a:off x="5417820" y="2286000"/>
            <a:ext cx="2240280" cy="411480"/>
          </a:xfrm>
          <a:prstGeom prst="rect">
            <a:avLst/>
          </a:prstGeom>
          <a:noFill/>
          <a:ln/>
        </p:spPr>
        <p:txBody>
          <a:bodyPr wrap="square" lIns="0" tIns="0" rIns="0" bIns="0" rtlCol="0" anchor="ctr"/>
          <a:lstStyle/>
          <a:p>
            <a:pPr indent="0" marL="0">
              <a:buNone/>
            </a:pPr>
            <a:r>
              <a:rPr lang="en-US" sz="1400" b="1" dirty="0">
                <a:solidFill>
                  <a:srgbClr val="1E2B2F"/>
                </a:solidFill>
                <a:latin typeface="Meiryo" pitchFamily="34" charset="0"/>
                <a:ea typeface="Meiryo" pitchFamily="34" charset="-122"/>
                <a:cs typeface="Meiryo" pitchFamily="34" charset="-120"/>
              </a:rPr>
              <a:t>教育課程企画特別部会 論点整理</a:t>
            </a:r>
            <a:endParaRPr lang="en-US" sz="1400" dirty="0"/>
          </a:p>
        </p:txBody>
      </p:sp>
      <p:sp>
        <p:nvSpPr>
          <p:cNvPr id="17" name="Text 13"/>
          <p:cNvSpPr txBox="1"/>
          <p:nvPr/>
        </p:nvSpPr>
        <p:spPr>
          <a:xfrm>
            <a:off x="4594860" y="2834640"/>
            <a:ext cx="2971800" cy="685800"/>
          </a:xfrm>
          <a:prstGeom prst="rect">
            <a:avLst/>
          </a:prstGeom>
          <a:noFill/>
          <a:ln/>
        </p:spPr>
        <p:txBody>
          <a:bodyPr wrap="square" lIns="0" tIns="0" rIns="0" bIns="0" rtlCol="0" anchor="t"/>
          <a:lstStyle/>
          <a:p>
            <a:pPr indent="0" marL="0">
              <a:buNone/>
            </a:pPr>
            <a:r>
              <a:rPr lang="en-US" sz="1250" dirty="0">
                <a:solidFill>
                  <a:srgbClr val="1E2B2F"/>
                </a:solidFill>
                <a:latin typeface="Meiryo" pitchFamily="34" charset="0"/>
                <a:ea typeface="Meiryo" pitchFamily="34" charset="-122"/>
                <a:cs typeface="Meiryo" pitchFamily="34" charset="-120"/>
              </a:rPr>
              <a:t>目指す子供像と改訂の方向性を整理</a:t>
            </a:r>
            <a:endParaRPr lang="en-US" sz="1250" dirty="0"/>
          </a:p>
        </p:txBody>
      </p:sp>
      <p:sp>
        <p:nvSpPr>
          <p:cNvPr id="18" name="Text 14"/>
          <p:cNvSpPr txBox="1"/>
          <p:nvPr/>
        </p:nvSpPr>
        <p:spPr>
          <a:xfrm>
            <a:off x="4594860" y="3611880"/>
            <a:ext cx="2971800" cy="22860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「自らの人生を舵取りすることができる」子供の育成</a:t>
            </a:r>
            <a:endParaRPr lang="en-US" sz="1300" dirty="0"/>
          </a:p>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子供が学びを主体的に調整することを促す</a:t>
            </a:r>
            <a:endParaRPr lang="en-US" sz="1300" dirty="0"/>
          </a:p>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構造化・精選による「余白」の創出</a:t>
            </a:r>
            <a:endParaRPr lang="en-US" sz="1300" dirty="0"/>
          </a:p>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調整授業時数制度・裁量的な時間の検討</a:t>
            </a:r>
            <a:endParaRPr lang="en-US" sz="1300" dirty="0"/>
          </a:p>
        </p:txBody>
      </p:sp>
      <p:sp>
        <p:nvSpPr>
          <p:cNvPr id="19" name="Shape 15"/>
          <p:cNvSpPr/>
          <p:nvPr/>
        </p:nvSpPr>
        <p:spPr>
          <a:xfrm>
            <a:off x="7859268" y="2148840"/>
            <a:ext cx="274320" cy="329184"/>
          </a:xfrm>
          <a:prstGeom prst="rightArrow">
            <a:avLst/>
          </a:prstGeom>
          <a:solidFill>
            <a:srgbClr val="F2A541"/>
          </a:solidFill>
          <a:ln w="12700">
            <a:solidFill>
              <a:srgbClr val="F2A541"/>
            </a:solidFill>
            <a:prstDash val="solid"/>
          </a:ln>
        </p:spPr>
      </p:sp>
      <p:sp>
        <p:nvSpPr>
          <p:cNvPr id="20" name="Shape 16"/>
          <p:cNvSpPr/>
          <p:nvPr/>
        </p:nvSpPr>
        <p:spPr>
          <a:xfrm>
            <a:off x="8183880" y="1783080"/>
            <a:ext cx="3429000" cy="4251960"/>
          </a:xfrm>
          <a:prstGeom prst="roundRect">
            <a:avLst>
              <a:gd name="adj" fmla="val 3200"/>
            </a:avLst>
          </a:prstGeom>
          <a:solidFill>
            <a:srgbClr val="F3F8F8"/>
          </a:solidFill>
          <a:ln w="12700">
            <a:solidFill>
              <a:srgbClr val="F3F8F8"/>
            </a:solidFill>
            <a:prstDash val="solid"/>
          </a:ln>
          <a:effectLst>
            <a:outerShdw sx="100000" sy="100000" kx="0" ky="0" algn="bl" rotWithShape="0" blurRad="101600" dist="25400" dir="5400000">
              <a:srgbClr val="000000">
                <a:alpha val="12000"/>
              </a:srgbClr>
            </a:outerShdw>
          </a:effectLst>
        </p:spPr>
      </p:sp>
      <p:sp>
        <p:nvSpPr>
          <p:cNvPr id="21" name="Shape 17"/>
          <p:cNvSpPr/>
          <p:nvPr/>
        </p:nvSpPr>
        <p:spPr>
          <a:xfrm>
            <a:off x="8412480" y="1965960"/>
            <a:ext cx="685800" cy="685800"/>
          </a:xfrm>
          <a:prstGeom prst="ellipse">
            <a:avLst/>
          </a:prstGeom>
          <a:solidFill>
            <a:srgbClr val="D9583B"/>
          </a:solidFill>
          <a:ln w="12700">
            <a:solidFill>
              <a:srgbClr val="D9583B"/>
            </a:solidFill>
            <a:prstDash val="solid"/>
          </a:ln>
        </p:spPr>
      </p:sp>
      <p:pic>
        <p:nvPicPr>
          <p:cNvPr id="22" name="Image 2" descr="preencoded.png">    </p:cNvPr>
          <p:cNvPicPr>
            <a:picLocks noChangeAspect="1"/>
          </p:cNvPicPr>
          <p:nvPr/>
        </p:nvPicPr>
        <p:blipFill>
          <a:blip r:embed="rId3"/>
          <a:stretch>
            <a:fillRect/>
          </a:stretch>
        </p:blipFill>
        <p:spPr>
          <a:xfrm>
            <a:off x="8590788" y="2144268"/>
            <a:ext cx="329184" cy="329184"/>
          </a:xfrm>
          <a:prstGeom prst="rect">
            <a:avLst/>
          </a:prstGeom>
        </p:spPr>
      </p:pic>
      <p:sp>
        <p:nvSpPr>
          <p:cNvPr id="23" name="Text 18"/>
          <p:cNvSpPr txBox="1"/>
          <p:nvPr/>
        </p:nvSpPr>
        <p:spPr>
          <a:xfrm>
            <a:off x="9235440" y="1965960"/>
            <a:ext cx="2240280" cy="320040"/>
          </a:xfrm>
          <a:prstGeom prst="rect">
            <a:avLst/>
          </a:prstGeom>
          <a:noFill/>
          <a:ln/>
        </p:spPr>
        <p:txBody>
          <a:bodyPr wrap="square" lIns="0" tIns="0" rIns="0" bIns="0" rtlCol="0" anchor="ctr"/>
          <a:lstStyle/>
          <a:p>
            <a:pPr indent="0" marL="0">
              <a:buNone/>
            </a:pPr>
            <a:r>
              <a:rPr lang="en-US" sz="1200" b="1" dirty="0">
                <a:solidFill>
                  <a:srgbClr val="D9583B"/>
                </a:solidFill>
                <a:latin typeface="Meiryo" pitchFamily="34" charset="0"/>
                <a:ea typeface="Meiryo" pitchFamily="34" charset="-122"/>
                <a:cs typeface="Meiryo" pitchFamily="34" charset="-120"/>
              </a:rPr>
              <a:t>令和8年8月31日</a:t>
            </a:r>
            <a:endParaRPr lang="en-US" sz="1200" dirty="0"/>
          </a:p>
        </p:txBody>
      </p:sp>
      <p:sp>
        <p:nvSpPr>
          <p:cNvPr id="24" name="Text 19"/>
          <p:cNvSpPr txBox="1"/>
          <p:nvPr/>
        </p:nvSpPr>
        <p:spPr>
          <a:xfrm>
            <a:off x="9235440" y="2286000"/>
            <a:ext cx="2240280" cy="411480"/>
          </a:xfrm>
          <a:prstGeom prst="rect">
            <a:avLst/>
          </a:prstGeom>
          <a:noFill/>
          <a:ln/>
        </p:spPr>
        <p:txBody>
          <a:bodyPr wrap="square" lIns="0" tIns="0" rIns="0" bIns="0" rtlCol="0" anchor="ctr"/>
          <a:lstStyle/>
          <a:p>
            <a:pPr indent="0" marL="0">
              <a:buNone/>
            </a:pPr>
            <a:r>
              <a:rPr lang="en-US" sz="1400" b="1" dirty="0">
                <a:solidFill>
                  <a:srgbClr val="1E2B2F"/>
                </a:solidFill>
                <a:latin typeface="Meiryo" pitchFamily="34" charset="0"/>
                <a:ea typeface="Meiryo" pitchFamily="34" charset="-122"/>
                <a:cs typeface="Meiryo" pitchFamily="34" charset="-120"/>
              </a:rPr>
              <a:t>審議まとめ（素案）</a:t>
            </a:r>
            <a:endParaRPr lang="en-US" sz="1400" dirty="0"/>
          </a:p>
        </p:txBody>
      </p:sp>
      <p:sp>
        <p:nvSpPr>
          <p:cNvPr id="25" name="Text 20"/>
          <p:cNvSpPr txBox="1"/>
          <p:nvPr/>
        </p:nvSpPr>
        <p:spPr>
          <a:xfrm>
            <a:off x="8412480" y="2834640"/>
            <a:ext cx="2971800" cy="685800"/>
          </a:xfrm>
          <a:prstGeom prst="rect">
            <a:avLst/>
          </a:prstGeom>
          <a:noFill/>
          <a:ln/>
        </p:spPr>
        <p:txBody>
          <a:bodyPr wrap="square" lIns="0" tIns="0" rIns="0" bIns="0" rtlCol="0" anchor="t"/>
          <a:lstStyle/>
          <a:p>
            <a:pPr indent="0" marL="0">
              <a:buNone/>
            </a:pPr>
            <a:r>
              <a:rPr lang="en-US" sz="1250" dirty="0">
                <a:solidFill>
                  <a:srgbClr val="1E2B2F"/>
                </a:solidFill>
                <a:latin typeface="Meiryo" pitchFamily="34" charset="0"/>
                <a:ea typeface="Meiryo" pitchFamily="34" charset="-122"/>
                <a:cs typeface="Meiryo" pitchFamily="34" charset="-120"/>
              </a:rPr>
              <a:t>「次期学習指導要領等に向けた審議まとめ（素案）」（第17回特別部会 資料1）</a:t>
            </a:r>
            <a:endParaRPr lang="en-US" sz="1250" dirty="0"/>
          </a:p>
        </p:txBody>
      </p:sp>
      <p:sp>
        <p:nvSpPr>
          <p:cNvPr id="26" name="Text 21"/>
          <p:cNvSpPr txBox="1"/>
          <p:nvPr/>
        </p:nvSpPr>
        <p:spPr>
          <a:xfrm>
            <a:off x="8412480" y="3611880"/>
            <a:ext cx="2971800" cy="22860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各ワーキンググループの取りまとめを反映</a:t>
            </a:r>
            <a:endParaRPr lang="en-US" sz="1300" dirty="0"/>
          </a:p>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「主体的・対話的で深い学び」の一層の実現</a:t>
            </a:r>
            <a:endParaRPr lang="en-US" sz="1300" dirty="0"/>
          </a:p>
          <a:p>
            <a:pPr marL="342900" indent="-342900">
              <a:spcAft>
                <a:spcPts val="1000"/>
              </a:spcAft>
              <a:buSzPct val="100000"/>
              <a:buChar char="•"/>
            </a:pPr>
            <a:r>
              <a:rPr lang="en-US" sz="1300" dirty="0">
                <a:solidFill>
                  <a:srgbClr val="1E2B2F"/>
                </a:solidFill>
                <a:latin typeface="Meiryo" pitchFamily="34" charset="0"/>
                <a:ea typeface="Meiryo" pitchFamily="34" charset="-122"/>
                <a:cs typeface="Meiryo" pitchFamily="34" charset="-120"/>
              </a:rPr>
              <a:t>学びと実生活・実社会とのつながり</a:t>
            </a:r>
            <a:endParaRPr lang="en-US" sz="1300" dirty="0"/>
          </a:p>
        </p:txBody>
      </p:sp>
      <p:sp>
        <p:nvSpPr>
          <p:cNvPr id="27" name="Shape 22"/>
          <p:cNvSpPr/>
          <p:nvPr/>
        </p:nvSpPr>
        <p:spPr>
          <a:xfrm>
            <a:off x="548640" y="6272784"/>
            <a:ext cx="566928" cy="274320"/>
          </a:xfrm>
          <a:prstGeom prst="roundRect">
            <a:avLst>
              <a:gd name="adj" fmla="val 16667"/>
            </a:avLst>
          </a:prstGeom>
          <a:solidFill>
            <a:srgbClr val="0B4F5C"/>
          </a:solidFill>
          <a:ln w="12700">
            <a:solidFill>
              <a:srgbClr val="0B4F5C"/>
            </a:solidFill>
            <a:prstDash val="solid"/>
          </a:ln>
        </p:spPr>
      </p:sp>
      <p:sp>
        <p:nvSpPr>
          <p:cNvPr id="28" name="Text 23"/>
          <p:cNvSpPr txBox="1"/>
          <p:nvPr/>
        </p:nvSpPr>
        <p:spPr>
          <a:xfrm>
            <a:off x="548640" y="6272784"/>
            <a:ext cx="5669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根拠</a:t>
            </a:r>
            <a:endParaRPr lang="en-US" sz="1000" dirty="0"/>
          </a:p>
        </p:txBody>
      </p:sp>
      <p:sp>
        <p:nvSpPr>
          <p:cNvPr id="29" name="Text 24"/>
          <p:cNvSpPr txBox="1"/>
          <p:nvPr/>
        </p:nvSpPr>
        <p:spPr>
          <a:xfrm>
            <a:off x="1207008" y="6217920"/>
            <a:ext cx="9966960" cy="384048"/>
          </a:xfrm>
          <a:prstGeom prst="rect">
            <a:avLst/>
          </a:prstGeom>
          <a:noFill/>
          <a:ln/>
        </p:spPr>
        <p:txBody>
          <a:bodyPr wrap="square" lIns="0" tIns="0" rIns="0" bIns="0" rtlCol="0" anchor="ctr"/>
          <a:lstStyle/>
          <a:p>
            <a:pPr indent="0" marL="0">
              <a:buNone/>
            </a:pPr>
            <a:r>
              <a:rPr lang="en-US" sz="950" dirty="0">
                <a:solidFill>
                  <a:srgbClr val="5B6B70"/>
                </a:solidFill>
                <a:latin typeface="Meiryo" pitchFamily="34" charset="0"/>
                <a:ea typeface="Meiryo" pitchFamily="34" charset="-122"/>
                <a:cs typeface="Meiryo" pitchFamily="34" charset="-120"/>
              </a:rPr>
              <a:t>文部科学省「初等中等教育における教育課程の基準等の在り方について（諮問）」（令和6年12月25日）／中央教育審議会 教育課程企画特別部会「論点整理」（令和7年9月25日）／同「次期学習指導要領等に向けた審議まとめ（素案）」（令和8年8月31日）※箇条は要旨</a:t>
            </a:r>
            <a:endParaRPr lang="en-US" sz="950" dirty="0"/>
          </a:p>
        </p:txBody>
      </p:sp>
      <p:sp>
        <p:nvSpPr>
          <p:cNvPr id="30" name="Text 25"/>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8"/>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10年後の教育界が目指す姿</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自らの人生を「舵取り」する子の育成</a:t>
            </a:r>
            <a:endParaRPr lang="en-US" sz="1600" dirty="0"/>
          </a:p>
        </p:txBody>
      </p:sp>
      <p:sp>
        <p:nvSpPr>
          <p:cNvPr id="4" name="Shape 2"/>
          <p:cNvSpPr/>
          <p:nvPr/>
        </p:nvSpPr>
        <p:spPr>
          <a:xfrm>
            <a:off x="822960" y="1828800"/>
            <a:ext cx="4114800" cy="4114800"/>
          </a:xfrm>
          <a:prstGeom prst="ellipse">
            <a:avLst/>
          </a:prstGeom>
          <a:solidFill>
            <a:srgbClr val="0B4F5C"/>
          </a:solidFill>
          <a:ln w="12700">
            <a:solidFill>
              <a:srgbClr val="0B4F5C"/>
            </a:solidFill>
            <a:prstDash val="solid"/>
          </a:ln>
        </p:spPr>
      </p:sp>
      <p:pic>
        <p:nvPicPr>
          <p:cNvPr id="5" name="Image 0" descr="preencoded.png">    </p:cNvPr>
          <p:cNvPicPr>
            <a:picLocks noChangeAspect="1"/>
          </p:cNvPicPr>
          <p:nvPr/>
        </p:nvPicPr>
        <p:blipFill>
          <a:blip r:embed="rId1"/>
          <a:stretch>
            <a:fillRect/>
          </a:stretch>
        </p:blipFill>
        <p:spPr>
          <a:xfrm>
            <a:off x="2377440" y="2240280"/>
            <a:ext cx="1005840" cy="1005840"/>
          </a:xfrm>
          <a:prstGeom prst="rect">
            <a:avLst/>
          </a:prstGeom>
        </p:spPr>
      </p:pic>
      <p:sp>
        <p:nvSpPr>
          <p:cNvPr id="6" name="Text 3"/>
          <p:cNvSpPr txBox="1"/>
          <p:nvPr/>
        </p:nvSpPr>
        <p:spPr>
          <a:xfrm>
            <a:off x="822960" y="3383280"/>
            <a:ext cx="41148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エージェンシー</a:t>
            </a:r>
            <a:endParaRPr lang="en-US" sz="2600" dirty="0"/>
          </a:p>
        </p:txBody>
      </p:sp>
      <p:sp>
        <p:nvSpPr>
          <p:cNvPr id="7" name="Text 4"/>
          <p:cNvSpPr txBox="1"/>
          <p:nvPr/>
        </p:nvSpPr>
        <p:spPr>
          <a:xfrm>
            <a:off x="822960" y="4023360"/>
            <a:ext cx="4114800" cy="457200"/>
          </a:xfrm>
          <a:prstGeom prst="rect">
            <a:avLst/>
          </a:prstGeom>
          <a:noFill/>
          <a:ln/>
        </p:spPr>
        <p:txBody>
          <a:bodyPr wrap="square" lIns="0" tIns="0" rIns="0" bIns="0" rtlCol="0" anchor="ctr"/>
          <a:lstStyle/>
          <a:p>
            <a:pPr algn="ctr" indent="0" marL="0">
              <a:buNone/>
            </a:pPr>
            <a:r>
              <a:rPr lang="en-US" sz="1600" dirty="0">
                <a:solidFill>
                  <a:srgbClr val="DCEFEF"/>
                </a:solidFill>
                <a:latin typeface="Meiryo" pitchFamily="34" charset="0"/>
                <a:ea typeface="Meiryo" pitchFamily="34" charset="-122"/>
                <a:cs typeface="Meiryo" pitchFamily="34" charset="-120"/>
              </a:rPr>
              <a:t>（舵取りする力）</a:t>
            </a:r>
            <a:endParaRPr lang="en-US" sz="1600" dirty="0"/>
          </a:p>
        </p:txBody>
      </p:sp>
      <p:sp>
        <p:nvSpPr>
          <p:cNvPr id="8" name="Text 5"/>
          <p:cNvSpPr txBox="1"/>
          <p:nvPr/>
        </p:nvSpPr>
        <p:spPr>
          <a:xfrm>
            <a:off x="822960" y="4617720"/>
            <a:ext cx="4114800" cy="411480"/>
          </a:xfrm>
          <a:prstGeom prst="rect">
            <a:avLst/>
          </a:prstGeom>
          <a:noFill/>
          <a:ln/>
        </p:spPr>
        <p:txBody>
          <a:bodyPr wrap="square" lIns="0" tIns="0" rIns="0" bIns="0" rtlCol="0" anchor="ctr"/>
          <a:lstStyle/>
          <a:p>
            <a:pPr algn="ctr" indent="0" marL="0">
              <a:buNone/>
            </a:pPr>
            <a:r>
              <a:rPr lang="en-US" sz="1300" dirty="0">
                <a:solidFill>
                  <a:srgbClr val="F2A541"/>
                </a:solidFill>
                <a:latin typeface="Meiryo" pitchFamily="34" charset="0"/>
                <a:ea typeface="Meiryo" pitchFamily="34" charset="-122"/>
                <a:cs typeface="Meiryo" pitchFamily="34" charset="-120"/>
              </a:rPr>
              <a:t>→ 人間の強みの再定義</a:t>
            </a:r>
            <a:endParaRPr lang="en-US" sz="1300" dirty="0"/>
          </a:p>
        </p:txBody>
      </p:sp>
      <p:sp>
        <p:nvSpPr>
          <p:cNvPr id="9" name="Shape 6"/>
          <p:cNvSpPr/>
          <p:nvPr/>
        </p:nvSpPr>
        <p:spPr>
          <a:xfrm>
            <a:off x="5486400" y="1783080"/>
            <a:ext cx="6126480" cy="822960"/>
          </a:xfrm>
          <a:prstGeom prst="roundRect">
            <a:avLst>
              <a:gd name="adj" fmla="val 1333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5669280" y="1901952"/>
            <a:ext cx="585216" cy="585216"/>
          </a:xfrm>
          <a:prstGeom prst="ellipse">
            <a:avLst/>
          </a:prstGeom>
          <a:solidFill>
            <a:srgbClr val="1B7F8C"/>
          </a:solidFill>
          <a:ln w="12700">
            <a:solidFill>
              <a:srgbClr val="1B7F8C"/>
            </a:solidFill>
            <a:prstDash val="solid"/>
          </a:ln>
        </p:spPr>
      </p:sp>
      <p:pic>
        <p:nvPicPr>
          <p:cNvPr id="11" name="Image 1" descr="preencoded.png">    </p:cNvPr>
          <p:cNvPicPr>
            <a:picLocks noChangeAspect="1"/>
          </p:cNvPicPr>
          <p:nvPr/>
        </p:nvPicPr>
        <p:blipFill>
          <a:blip r:embed="rId2"/>
          <a:stretch>
            <a:fillRect/>
          </a:stretch>
        </p:blipFill>
        <p:spPr>
          <a:xfrm>
            <a:off x="5821436" y="2054108"/>
            <a:ext cx="280904" cy="280904"/>
          </a:xfrm>
          <a:prstGeom prst="rect">
            <a:avLst/>
          </a:prstGeom>
        </p:spPr>
      </p:pic>
      <p:sp>
        <p:nvSpPr>
          <p:cNvPr id="12" name="Text 8"/>
          <p:cNvSpPr txBox="1"/>
          <p:nvPr/>
        </p:nvSpPr>
        <p:spPr>
          <a:xfrm>
            <a:off x="6446520" y="1856232"/>
            <a:ext cx="5029200" cy="384048"/>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自らの興味・問いを起点に</a:t>
            </a:r>
            <a:endParaRPr lang="en-US" sz="1600" dirty="0"/>
          </a:p>
        </p:txBody>
      </p:sp>
      <p:sp>
        <p:nvSpPr>
          <p:cNvPr id="13" name="Text 9"/>
          <p:cNvSpPr txBox="1"/>
          <p:nvPr/>
        </p:nvSpPr>
        <p:spPr>
          <a:xfrm>
            <a:off x="6446520" y="2221992"/>
            <a:ext cx="5029200" cy="329184"/>
          </a:xfrm>
          <a:prstGeom prst="rect">
            <a:avLst/>
          </a:prstGeom>
          <a:noFill/>
          <a:ln/>
        </p:spPr>
        <p:txBody>
          <a:bodyPr wrap="square" lIns="0" tIns="0" rIns="0" bIns="0" rtlCol="0" anchor="ctr"/>
          <a:lstStyle/>
          <a:p>
            <a:pPr indent="0" marL="0">
              <a:buNone/>
            </a:pPr>
            <a:r>
              <a:rPr lang="en-US" sz="1300" dirty="0">
                <a:solidFill>
                  <a:srgbClr val="5B6B70"/>
                </a:solidFill>
                <a:latin typeface="Meiryo" pitchFamily="34" charset="0"/>
                <a:ea typeface="Meiryo" pitchFamily="34" charset="-122"/>
                <a:cs typeface="Meiryo" pitchFamily="34" charset="-120"/>
              </a:rPr>
              <a:t>学びと人生を主体的に進める</a:t>
            </a:r>
            <a:endParaRPr lang="en-US" sz="1300" dirty="0"/>
          </a:p>
        </p:txBody>
      </p:sp>
      <p:sp>
        <p:nvSpPr>
          <p:cNvPr id="14" name="Shape 10"/>
          <p:cNvSpPr/>
          <p:nvPr/>
        </p:nvSpPr>
        <p:spPr>
          <a:xfrm>
            <a:off x="5486400" y="2743200"/>
            <a:ext cx="6126480" cy="822960"/>
          </a:xfrm>
          <a:prstGeom prst="roundRect">
            <a:avLst>
              <a:gd name="adj" fmla="val 1333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5669280" y="2862072"/>
            <a:ext cx="585216" cy="585216"/>
          </a:xfrm>
          <a:prstGeom prst="ellipse">
            <a:avLst/>
          </a:prstGeom>
          <a:solidFill>
            <a:srgbClr val="1B7F8C"/>
          </a:solidFill>
          <a:ln w="12700">
            <a:solidFill>
              <a:srgbClr val="1B7F8C"/>
            </a:solidFill>
            <a:prstDash val="solid"/>
          </a:ln>
        </p:spPr>
      </p:sp>
      <p:pic>
        <p:nvPicPr>
          <p:cNvPr id="16" name="Image 2" descr="preencoded.png">    </p:cNvPr>
          <p:cNvPicPr>
            <a:picLocks noChangeAspect="1"/>
          </p:cNvPicPr>
          <p:nvPr/>
        </p:nvPicPr>
        <p:blipFill>
          <a:blip r:embed="rId3"/>
          <a:stretch>
            <a:fillRect/>
          </a:stretch>
        </p:blipFill>
        <p:spPr>
          <a:xfrm>
            <a:off x="5821436" y="3014228"/>
            <a:ext cx="280904" cy="280904"/>
          </a:xfrm>
          <a:prstGeom prst="rect">
            <a:avLst/>
          </a:prstGeom>
        </p:spPr>
      </p:pic>
      <p:sp>
        <p:nvSpPr>
          <p:cNvPr id="17" name="Text 12"/>
          <p:cNvSpPr txBox="1"/>
          <p:nvPr/>
        </p:nvSpPr>
        <p:spPr>
          <a:xfrm>
            <a:off x="6446520" y="2816352"/>
            <a:ext cx="5029200" cy="384048"/>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身体性を伴う体験</a:t>
            </a:r>
            <a:endParaRPr lang="en-US" sz="1600" dirty="0"/>
          </a:p>
        </p:txBody>
      </p:sp>
      <p:sp>
        <p:nvSpPr>
          <p:cNvPr id="18" name="Text 13"/>
          <p:cNvSpPr txBox="1"/>
          <p:nvPr/>
        </p:nvSpPr>
        <p:spPr>
          <a:xfrm>
            <a:off x="6446520" y="3182112"/>
            <a:ext cx="5029200" cy="329184"/>
          </a:xfrm>
          <a:prstGeom prst="rect">
            <a:avLst/>
          </a:prstGeom>
          <a:noFill/>
          <a:ln/>
        </p:spPr>
        <p:txBody>
          <a:bodyPr wrap="square" lIns="0" tIns="0" rIns="0" bIns="0" rtlCol="0" anchor="ctr"/>
          <a:lstStyle/>
          <a:p>
            <a:pPr indent="0" marL="0">
              <a:buNone/>
            </a:pPr>
            <a:r>
              <a:rPr lang="en-US" sz="1300" dirty="0">
                <a:solidFill>
                  <a:srgbClr val="5B6B70"/>
                </a:solidFill>
                <a:latin typeface="Meiryo" pitchFamily="34" charset="0"/>
                <a:ea typeface="Meiryo" pitchFamily="34" charset="-122"/>
                <a:cs typeface="Meiryo" pitchFamily="34" charset="-120"/>
              </a:rPr>
              <a:t>受動的な知識受容を超え、五感で学ぶ</a:t>
            </a:r>
            <a:endParaRPr lang="en-US" sz="1300" dirty="0"/>
          </a:p>
        </p:txBody>
      </p:sp>
      <p:sp>
        <p:nvSpPr>
          <p:cNvPr id="19" name="Shape 14"/>
          <p:cNvSpPr/>
          <p:nvPr/>
        </p:nvSpPr>
        <p:spPr>
          <a:xfrm>
            <a:off x="5486400" y="3703320"/>
            <a:ext cx="6126480" cy="822960"/>
          </a:xfrm>
          <a:prstGeom prst="roundRect">
            <a:avLst>
              <a:gd name="adj" fmla="val 1333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5669280" y="3822192"/>
            <a:ext cx="585216" cy="585216"/>
          </a:xfrm>
          <a:prstGeom prst="ellipse">
            <a:avLst/>
          </a:prstGeom>
          <a:solidFill>
            <a:srgbClr val="1B7F8C"/>
          </a:solidFill>
          <a:ln w="12700">
            <a:solidFill>
              <a:srgbClr val="1B7F8C"/>
            </a:solidFill>
            <a:prstDash val="solid"/>
          </a:ln>
        </p:spPr>
      </p:sp>
      <p:pic>
        <p:nvPicPr>
          <p:cNvPr id="21" name="Image 3" descr="preencoded.png">    </p:cNvPr>
          <p:cNvPicPr>
            <a:picLocks noChangeAspect="1"/>
          </p:cNvPicPr>
          <p:nvPr/>
        </p:nvPicPr>
        <p:blipFill>
          <a:blip r:embed="rId4"/>
          <a:stretch>
            <a:fillRect/>
          </a:stretch>
        </p:blipFill>
        <p:spPr>
          <a:xfrm>
            <a:off x="5821436" y="3974348"/>
            <a:ext cx="280904" cy="280904"/>
          </a:xfrm>
          <a:prstGeom prst="rect">
            <a:avLst/>
          </a:prstGeom>
        </p:spPr>
      </p:pic>
      <p:sp>
        <p:nvSpPr>
          <p:cNvPr id="22" name="Text 16"/>
          <p:cNvSpPr txBox="1"/>
          <p:nvPr/>
        </p:nvSpPr>
        <p:spPr>
          <a:xfrm>
            <a:off x="6446520" y="3776472"/>
            <a:ext cx="5029200" cy="384048"/>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他者との共創</a:t>
            </a:r>
            <a:endParaRPr lang="en-US" sz="1600" dirty="0"/>
          </a:p>
        </p:txBody>
      </p:sp>
      <p:sp>
        <p:nvSpPr>
          <p:cNvPr id="23" name="Text 17"/>
          <p:cNvSpPr txBox="1"/>
          <p:nvPr/>
        </p:nvSpPr>
        <p:spPr>
          <a:xfrm>
            <a:off x="6446520" y="4142232"/>
            <a:ext cx="5029200" cy="329184"/>
          </a:xfrm>
          <a:prstGeom prst="rect">
            <a:avLst/>
          </a:prstGeom>
          <a:noFill/>
          <a:ln/>
        </p:spPr>
        <p:txBody>
          <a:bodyPr wrap="square" lIns="0" tIns="0" rIns="0" bIns="0" rtlCol="0" anchor="ctr"/>
          <a:lstStyle/>
          <a:p>
            <a:pPr indent="0" marL="0">
              <a:buNone/>
            </a:pPr>
            <a:r>
              <a:rPr lang="en-US" sz="1300" dirty="0">
                <a:solidFill>
                  <a:srgbClr val="5B6B70"/>
                </a:solidFill>
                <a:latin typeface="Meiryo" pitchFamily="34" charset="0"/>
                <a:ea typeface="Meiryo" pitchFamily="34" charset="-122"/>
                <a:cs typeface="Meiryo" pitchFamily="34" charset="-120"/>
              </a:rPr>
              <a:t>多様な仲間と対話し、新たな価値を創る</a:t>
            </a:r>
            <a:endParaRPr lang="en-US" sz="1300" dirty="0"/>
          </a:p>
        </p:txBody>
      </p:sp>
      <p:sp>
        <p:nvSpPr>
          <p:cNvPr id="24" name="Shape 18"/>
          <p:cNvSpPr/>
          <p:nvPr/>
        </p:nvSpPr>
        <p:spPr>
          <a:xfrm>
            <a:off x="5486400" y="4663440"/>
            <a:ext cx="6126480" cy="1371600"/>
          </a:xfrm>
          <a:prstGeom prst="roundRect">
            <a:avLst>
              <a:gd name="adj" fmla="val 6667"/>
            </a:avLst>
          </a:prstGeom>
          <a:solidFill>
            <a:srgbClr val="F2A541"/>
          </a:solidFill>
          <a:ln w="12700">
            <a:solidFill>
              <a:srgbClr val="F2A541"/>
            </a:solidFill>
            <a:prstDash val="solid"/>
          </a:ln>
        </p:spPr>
      </p:sp>
      <p:sp>
        <p:nvSpPr>
          <p:cNvPr id="25" name="Text 19"/>
          <p:cNvSpPr txBox="1"/>
          <p:nvPr/>
        </p:nvSpPr>
        <p:spPr>
          <a:xfrm>
            <a:off x="5715000" y="4709160"/>
            <a:ext cx="5715000" cy="1280160"/>
          </a:xfrm>
          <a:prstGeom prst="rect">
            <a:avLst/>
          </a:prstGeom>
          <a:noFill/>
          <a:ln/>
        </p:spPr>
        <p:txBody>
          <a:bodyPr wrap="square" lIns="0" tIns="0" rIns="0" bIns="0" rtlCol="0" anchor="ctr"/>
          <a:lstStyle/>
          <a:p>
            <a:pPr indent="0" marL="0">
              <a:spcAft>
                <a:spcPts val="400"/>
              </a:spcAft>
              <a:buNone/>
            </a:pPr>
            <a:r>
              <a:rPr lang="en-US" sz="1200" b="1" dirty="0">
                <a:solidFill>
                  <a:srgbClr val="0B4F5C"/>
                </a:solidFill>
                <a:latin typeface="Meiryo" pitchFamily="34" charset="0"/>
                <a:ea typeface="Meiryo" pitchFamily="34" charset="-122"/>
                <a:cs typeface="Meiryo" pitchFamily="34" charset="-120"/>
              </a:rPr>
              <a:t>論点整理が示す目指す子供像</a:t>
            </a:r>
            <a:endParaRPr lang="en-US" sz="1200" dirty="0"/>
          </a:p>
          <a:p>
            <a:pPr indent="0" marL="0">
              <a:spcAft>
                <a:spcPts val="400"/>
              </a:spcAft>
              <a:buNone/>
            </a:pPr>
            <a:r>
              <a:rPr lang="en-US" sz="1400" b="1" dirty="0">
                <a:solidFill>
                  <a:srgbClr val="1E2B2F"/>
                </a:solidFill>
                <a:latin typeface="Meiryo" pitchFamily="34" charset="0"/>
                <a:ea typeface="Meiryo" pitchFamily="34" charset="-122"/>
                <a:cs typeface="Meiryo" pitchFamily="34" charset="-120"/>
              </a:rPr>
              <a:t>「生涯にわたって主体的に学び続け、多様な他者と協働しながら、自らの人生を舵取りすることができる、民主的で持続可能な社会の創り手」</a:t>
            </a:r>
            <a:endParaRPr lang="en-US" sz="1200" dirty="0"/>
          </a:p>
        </p:txBody>
      </p:sp>
      <p:sp>
        <p:nvSpPr>
          <p:cNvPr id="26" name="Shape 20"/>
          <p:cNvSpPr/>
          <p:nvPr/>
        </p:nvSpPr>
        <p:spPr>
          <a:xfrm>
            <a:off x="548640" y="6272784"/>
            <a:ext cx="566928" cy="274320"/>
          </a:xfrm>
          <a:prstGeom prst="roundRect">
            <a:avLst>
              <a:gd name="adj" fmla="val 16667"/>
            </a:avLst>
          </a:prstGeom>
          <a:solidFill>
            <a:srgbClr val="0B4F5C"/>
          </a:solidFill>
          <a:ln w="12700">
            <a:solidFill>
              <a:srgbClr val="0B4F5C"/>
            </a:solidFill>
            <a:prstDash val="solid"/>
          </a:ln>
        </p:spPr>
      </p:sp>
      <p:sp>
        <p:nvSpPr>
          <p:cNvPr id="27" name="Text 21"/>
          <p:cNvSpPr txBox="1"/>
          <p:nvPr/>
        </p:nvSpPr>
        <p:spPr>
          <a:xfrm>
            <a:off x="548640" y="6272784"/>
            <a:ext cx="5669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根拠</a:t>
            </a:r>
            <a:endParaRPr lang="en-US" sz="1000" dirty="0"/>
          </a:p>
        </p:txBody>
      </p:sp>
      <p:sp>
        <p:nvSpPr>
          <p:cNvPr id="28" name="Text 22"/>
          <p:cNvSpPr txBox="1"/>
          <p:nvPr/>
        </p:nvSpPr>
        <p:spPr>
          <a:xfrm>
            <a:off x="1207008" y="6217920"/>
            <a:ext cx="9966960" cy="384048"/>
          </a:xfrm>
          <a:prstGeom prst="rect">
            <a:avLst/>
          </a:prstGeom>
          <a:noFill/>
          <a:ln/>
        </p:spPr>
        <p:txBody>
          <a:bodyPr wrap="square" lIns="0" tIns="0" rIns="0" bIns="0" rtlCol="0" anchor="ctr"/>
          <a:lstStyle/>
          <a:p>
            <a:pPr indent="0" marL="0">
              <a:buNone/>
            </a:pPr>
            <a:r>
              <a:rPr lang="en-US" sz="950" dirty="0">
                <a:solidFill>
                  <a:srgbClr val="5B6B70"/>
                </a:solidFill>
                <a:latin typeface="Meiryo" pitchFamily="34" charset="0"/>
                <a:ea typeface="Meiryo" pitchFamily="34" charset="-122"/>
                <a:cs typeface="Meiryo" pitchFamily="34" charset="-120"/>
              </a:rPr>
              <a:t>中央教育審議会 教育課程企画特別部会「論点整理」（令和7年9月25日）</a:t>
            </a:r>
            <a:endParaRPr lang="en-US" sz="950" dirty="0"/>
          </a:p>
        </p:txBody>
      </p:sp>
      <p:sp>
        <p:nvSpPr>
          <p:cNvPr id="29" name="Text 23"/>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【自由進度学習の在り方】</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「放任」から「指導性と自律の往還」へ</a:t>
            </a:r>
            <a:endParaRPr lang="en-US" sz="1600" dirty="0"/>
          </a:p>
        </p:txBody>
      </p:sp>
      <p:sp>
        <p:nvSpPr>
          <p:cNvPr id="4" name="Shape 2"/>
          <p:cNvSpPr/>
          <p:nvPr/>
        </p:nvSpPr>
        <p:spPr>
          <a:xfrm>
            <a:off x="548640" y="1828800"/>
            <a:ext cx="3931920" cy="3383280"/>
          </a:xfrm>
          <a:prstGeom prst="roundRect">
            <a:avLst>
              <a:gd name="adj" fmla="val 3243"/>
            </a:avLst>
          </a:prstGeom>
          <a:solidFill>
            <a:srgbClr val="FBEDE9"/>
          </a:solidFill>
          <a:ln w="12700">
            <a:solidFill>
              <a:srgbClr val="FBEDE9"/>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2103120"/>
            <a:ext cx="685800" cy="685800"/>
          </a:xfrm>
          <a:prstGeom prst="ellipse">
            <a:avLst/>
          </a:prstGeom>
          <a:solidFill>
            <a:srgbClr val="D9583B"/>
          </a:solidFill>
          <a:ln w="12700">
            <a:solidFill>
              <a:srgbClr val="D9583B"/>
            </a:solidFill>
            <a:prstDash val="solid"/>
          </a:ln>
        </p:spPr>
      </p:sp>
      <p:pic>
        <p:nvPicPr>
          <p:cNvPr id="6" name="Image 0" descr="preencoded.png">    </p:cNvPr>
          <p:cNvPicPr>
            <a:picLocks noChangeAspect="1"/>
          </p:cNvPicPr>
          <p:nvPr/>
        </p:nvPicPr>
        <p:blipFill>
          <a:blip r:embed="rId1"/>
          <a:stretch>
            <a:fillRect/>
          </a:stretch>
        </p:blipFill>
        <p:spPr>
          <a:xfrm>
            <a:off x="1001268" y="2281428"/>
            <a:ext cx="329184" cy="329184"/>
          </a:xfrm>
          <a:prstGeom prst="rect">
            <a:avLst/>
          </a:prstGeom>
        </p:spPr>
      </p:pic>
      <p:sp>
        <p:nvSpPr>
          <p:cNvPr id="7" name="Text 4"/>
          <p:cNvSpPr txBox="1"/>
          <p:nvPr/>
        </p:nvSpPr>
        <p:spPr>
          <a:xfrm>
            <a:off x="1691640" y="2103120"/>
            <a:ext cx="2651760" cy="685800"/>
          </a:xfrm>
          <a:prstGeom prst="rect">
            <a:avLst/>
          </a:prstGeom>
          <a:noFill/>
          <a:ln/>
        </p:spPr>
        <p:txBody>
          <a:bodyPr wrap="square" lIns="0" tIns="0" rIns="0" bIns="0" rtlCol="0" anchor="ctr"/>
          <a:lstStyle/>
          <a:p>
            <a:pPr indent="0" marL="0">
              <a:buNone/>
            </a:pPr>
            <a:r>
              <a:rPr lang="en-US" sz="1700" b="1" dirty="0">
                <a:solidFill>
                  <a:srgbClr val="D9583B"/>
                </a:solidFill>
                <a:latin typeface="Meiryo" pitchFamily="34" charset="0"/>
                <a:ea typeface="Meiryo" pitchFamily="34" charset="-122"/>
                <a:cs typeface="Meiryo" pitchFamily="34" charset="-120"/>
              </a:rPr>
              <a:t>陥ってはならない姿</a:t>
            </a:r>
            <a:endParaRPr lang="en-US" sz="1700" dirty="0"/>
          </a:p>
        </p:txBody>
      </p:sp>
      <p:sp>
        <p:nvSpPr>
          <p:cNvPr id="8" name="Text 5"/>
          <p:cNvSpPr txBox="1"/>
          <p:nvPr/>
        </p:nvSpPr>
        <p:spPr>
          <a:xfrm>
            <a:off x="822960" y="3017520"/>
            <a:ext cx="3474720" cy="1325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B2F"/>
                </a:solidFill>
                <a:latin typeface="Meiryo" pitchFamily="34" charset="0"/>
                <a:ea typeface="Meiryo" pitchFamily="34" charset="-122"/>
                <a:cs typeface="Meiryo" pitchFamily="34" charset="-120"/>
              </a:rPr>
              <a:t>プリントやドリル任せの「放任」</a:t>
            </a:r>
            <a:endParaRPr lang="en-US" sz="1400" dirty="0"/>
          </a:p>
          <a:p>
            <a:pPr marL="342900" indent="-342900">
              <a:spcAft>
                <a:spcPts val="800"/>
              </a:spcAft>
              <a:buSzPct val="100000"/>
              <a:buChar char="•"/>
            </a:pPr>
            <a:r>
              <a:rPr lang="en-US" sz="1400" dirty="0">
                <a:solidFill>
                  <a:srgbClr val="1E2B2F"/>
                </a:solidFill>
                <a:latin typeface="Meiryo" pitchFamily="34" charset="0"/>
                <a:ea typeface="Meiryo" pitchFamily="34" charset="-122"/>
                <a:cs typeface="Meiryo" pitchFamily="34" charset="-120"/>
              </a:rPr>
              <a:t>できない子の「自己責任化」</a:t>
            </a:r>
            <a:endParaRPr lang="en-US" sz="1400" dirty="0"/>
          </a:p>
          <a:p>
            <a:pPr marL="342900" indent="-342900">
              <a:spcAft>
                <a:spcPts val="800"/>
              </a:spcAft>
              <a:buSzPct val="100000"/>
              <a:buChar char="•"/>
            </a:pPr>
            <a:r>
              <a:rPr lang="en-US" sz="1400" dirty="0">
                <a:solidFill>
                  <a:srgbClr val="1E2B2F"/>
                </a:solidFill>
                <a:latin typeface="Meiryo" pitchFamily="34" charset="0"/>
                <a:ea typeface="Meiryo" pitchFamily="34" charset="-122"/>
                <a:cs typeface="Meiryo" pitchFamily="34" charset="-120"/>
              </a:rPr>
              <a:t>ゴールが見えないまま進む学習</a:t>
            </a:r>
            <a:endParaRPr lang="en-US" sz="1400" dirty="0"/>
          </a:p>
        </p:txBody>
      </p:sp>
      <p:sp>
        <p:nvSpPr>
          <p:cNvPr id="9" name="Text 6"/>
          <p:cNvSpPr txBox="1"/>
          <p:nvPr/>
        </p:nvSpPr>
        <p:spPr>
          <a:xfrm>
            <a:off x="822960" y="4389120"/>
            <a:ext cx="3474720" cy="731520"/>
          </a:xfrm>
          <a:prstGeom prst="rect">
            <a:avLst/>
          </a:prstGeom>
          <a:noFill/>
          <a:ln/>
        </p:spPr>
        <p:txBody>
          <a:bodyPr wrap="square" lIns="0" tIns="0" rIns="0" bIns="0" rtlCol="0" anchor="t"/>
          <a:lstStyle/>
          <a:p>
            <a:pPr indent="0" marL="0">
              <a:buNone/>
            </a:pPr>
            <a:r>
              <a:rPr lang="en-US" sz="1100" b="1" dirty="0">
                <a:solidFill>
                  <a:srgbClr val="D9583B"/>
                </a:solidFill>
                <a:latin typeface="Meiryo" pitchFamily="34" charset="0"/>
                <a:ea typeface="Meiryo" pitchFamily="34" charset="-122"/>
                <a:cs typeface="Meiryo" pitchFamily="34" charset="-120"/>
              </a:rPr>
              <a:t>令和3年答申</a:t>
            </a:r>
            <a:endParaRPr lang="en-US" sz="1100" dirty="0"/>
          </a:p>
          <a:p>
            <a:pPr indent="0" marL="0">
              <a:buNone/>
            </a:pPr>
            <a:r>
              <a:rPr lang="en-US" sz="1200" dirty="0">
                <a:solidFill>
                  <a:srgbClr val="1E2B2F"/>
                </a:solidFill>
                <a:latin typeface="Meiryo" pitchFamily="34" charset="0"/>
                <a:ea typeface="Meiryo" pitchFamily="34" charset="-122"/>
                <a:cs typeface="Meiryo" pitchFamily="34" charset="-120"/>
              </a:rPr>
              <a:t>「個別最適な学び」が「孤立した学び」に陥らないよう…「協働的な学び」を充実</a:t>
            </a:r>
            <a:endParaRPr lang="en-US" sz="1100" dirty="0"/>
          </a:p>
        </p:txBody>
      </p:sp>
      <p:sp>
        <p:nvSpPr>
          <p:cNvPr id="10" name="Text 7"/>
          <p:cNvSpPr txBox="1"/>
          <p:nvPr/>
        </p:nvSpPr>
        <p:spPr>
          <a:xfrm>
            <a:off x="4937760" y="1828800"/>
            <a:ext cx="6675120" cy="457200"/>
          </a:xfrm>
          <a:prstGeom prst="rect">
            <a:avLst/>
          </a:prstGeom>
          <a:noFill/>
          <a:ln/>
        </p:spPr>
        <p:txBody>
          <a:bodyPr wrap="square" lIns="0" tIns="0" rIns="0" bIns="0" rtlCol="0" anchor="ctr"/>
          <a:lstStyle/>
          <a:p>
            <a:pPr indent="0" marL="0">
              <a:buNone/>
            </a:pPr>
            <a:r>
              <a:rPr lang="en-US" sz="2000" b="1" dirty="0">
                <a:solidFill>
                  <a:srgbClr val="0B4F5C"/>
                </a:solidFill>
                <a:latin typeface="Meiryo" pitchFamily="34" charset="0"/>
                <a:ea typeface="Meiryo" pitchFamily="34" charset="-122"/>
                <a:cs typeface="Meiryo" pitchFamily="34" charset="-120"/>
              </a:rPr>
              <a:t>本質は「往還」</a:t>
            </a:r>
            <a:endParaRPr lang="en-US" sz="2000" dirty="0"/>
          </a:p>
        </p:txBody>
      </p:sp>
      <p:sp>
        <p:nvSpPr>
          <p:cNvPr id="11" name="Shape 8"/>
          <p:cNvSpPr/>
          <p:nvPr/>
        </p:nvSpPr>
        <p:spPr>
          <a:xfrm>
            <a:off x="4937760" y="2560320"/>
            <a:ext cx="2834640" cy="2651760"/>
          </a:xfrm>
          <a:prstGeom prst="roundRect">
            <a:avLst>
              <a:gd name="adj" fmla="val 4138"/>
            </a:avLst>
          </a:prstGeom>
          <a:solidFill>
            <a:srgbClr val="DCEFEF"/>
          </a:solidFill>
          <a:ln w="12700">
            <a:solidFill>
              <a:srgbClr val="DCEFE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8778240" y="2560320"/>
            <a:ext cx="2834640" cy="2651760"/>
          </a:xfrm>
          <a:prstGeom prst="roundRect">
            <a:avLst>
              <a:gd name="adj" fmla="val 4138"/>
            </a:avLst>
          </a:prstGeom>
          <a:solidFill>
            <a:srgbClr val="DCEFEF"/>
          </a:solidFill>
          <a:ln w="12700">
            <a:solidFill>
              <a:srgbClr val="DCEFEF"/>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5943600" y="2788920"/>
            <a:ext cx="822960" cy="822960"/>
          </a:xfrm>
          <a:prstGeom prst="ellipse">
            <a:avLst/>
          </a:prstGeom>
          <a:solidFill>
            <a:srgbClr val="1B7F8C"/>
          </a:solidFill>
          <a:ln w="12700">
            <a:solidFill>
              <a:srgbClr val="1B7F8C"/>
            </a:solidFill>
            <a:prstDash val="solid"/>
          </a:ln>
        </p:spPr>
      </p:sp>
      <p:pic>
        <p:nvPicPr>
          <p:cNvPr id="14" name="Image 1" descr="preencoded.png">    </p:cNvPr>
          <p:cNvPicPr>
            <a:picLocks noChangeAspect="1"/>
          </p:cNvPicPr>
          <p:nvPr/>
        </p:nvPicPr>
        <p:blipFill>
          <a:blip r:embed="rId2"/>
          <a:stretch>
            <a:fillRect/>
          </a:stretch>
        </p:blipFill>
        <p:spPr>
          <a:xfrm>
            <a:off x="6157570" y="3002890"/>
            <a:ext cx="395021" cy="395021"/>
          </a:xfrm>
          <a:prstGeom prst="rect">
            <a:avLst/>
          </a:prstGeom>
        </p:spPr>
      </p:pic>
      <p:sp>
        <p:nvSpPr>
          <p:cNvPr id="15" name="Shape 11"/>
          <p:cNvSpPr/>
          <p:nvPr/>
        </p:nvSpPr>
        <p:spPr>
          <a:xfrm>
            <a:off x="9784080" y="2788920"/>
            <a:ext cx="822960" cy="822960"/>
          </a:xfrm>
          <a:prstGeom prst="ellipse">
            <a:avLst/>
          </a:prstGeom>
          <a:solidFill>
            <a:srgbClr val="0B4F5C"/>
          </a:solidFill>
          <a:ln w="12700">
            <a:solidFill>
              <a:srgbClr val="0B4F5C"/>
            </a:solidFill>
            <a:prstDash val="solid"/>
          </a:ln>
        </p:spPr>
      </p:sp>
      <p:pic>
        <p:nvPicPr>
          <p:cNvPr id="16" name="Image 2" descr="preencoded.png">    </p:cNvPr>
          <p:cNvPicPr>
            <a:picLocks noChangeAspect="1"/>
          </p:cNvPicPr>
          <p:nvPr/>
        </p:nvPicPr>
        <p:blipFill>
          <a:blip r:embed="rId3"/>
          <a:stretch>
            <a:fillRect/>
          </a:stretch>
        </p:blipFill>
        <p:spPr>
          <a:xfrm>
            <a:off x="9998050" y="3002890"/>
            <a:ext cx="395021" cy="395021"/>
          </a:xfrm>
          <a:prstGeom prst="rect">
            <a:avLst/>
          </a:prstGeom>
        </p:spPr>
      </p:pic>
      <p:sp>
        <p:nvSpPr>
          <p:cNvPr id="17" name="Text 12"/>
          <p:cNvSpPr txBox="1"/>
          <p:nvPr/>
        </p:nvSpPr>
        <p:spPr>
          <a:xfrm>
            <a:off x="4937760" y="3703320"/>
            <a:ext cx="2834640" cy="365760"/>
          </a:xfrm>
          <a:prstGeom prst="rect">
            <a:avLst/>
          </a:prstGeom>
          <a:noFill/>
          <a:ln/>
        </p:spPr>
        <p:txBody>
          <a:bodyPr wrap="square" lIns="0" tIns="0" rIns="0" bIns="0" rtlCol="0" anchor="ctr"/>
          <a:lstStyle/>
          <a:p>
            <a:pPr algn="ctr" indent="0" marL="0">
              <a:buNone/>
            </a:pPr>
            <a:r>
              <a:rPr lang="en-US" sz="1300" dirty="0">
                <a:solidFill>
                  <a:srgbClr val="5B6B70"/>
                </a:solidFill>
                <a:latin typeface="Meiryo" pitchFamily="34" charset="0"/>
                <a:ea typeface="Meiryo" pitchFamily="34" charset="-122"/>
                <a:cs typeface="Meiryo" pitchFamily="34" charset="-120"/>
              </a:rPr>
              <a:t>子ども</a:t>
            </a:r>
            <a:endParaRPr lang="en-US" sz="1300" dirty="0"/>
          </a:p>
        </p:txBody>
      </p:sp>
      <p:sp>
        <p:nvSpPr>
          <p:cNvPr id="18" name="Text 13"/>
          <p:cNvSpPr txBox="1"/>
          <p:nvPr/>
        </p:nvSpPr>
        <p:spPr>
          <a:xfrm>
            <a:off x="5120640" y="4069080"/>
            <a:ext cx="2468880" cy="914400"/>
          </a:xfrm>
          <a:prstGeom prst="rect">
            <a:avLst/>
          </a:prstGeom>
          <a:noFill/>
          <a:ln/>
        </p:spPr>
        <p:txBody>
          <a:bodyPr wrap="square" lIns="0" tIns="0" rIns="0" bIns="0" rtlCol="0" anchor="ctr"/>
          <a:lstStyle/>
          <a:p>
            <a:pPr algn="ctr" indent="0" marL="0">
              <a:buNone/>
            </a:pPr>
            <a:r>
              <a:rPr lang="en-US" sz="1700" b="1" dirty="0">
                <a:solidFill>
                  <a:srgbClr val="1E2B2F"/>
                </a:solidFill>
                <a:latin typeface="Meiryo" pitchFamily="34" charset="0"/>
                <a:ea typeface="Meiryo" pitchFamily="34" charset="-122"/>
                <a:cs typeface="Meiryo" pitchFamily="34" charset="-120"/>
              </a:rPr>
              <a:t>自己調整学習</a:t>
            </a:r>
            <a:endParaRPr lang="en-US" sz="1700" dirty="0"/>
          </a:p>
          <a:p>
            <a:pPr algn="ctr" indent="0" marL="0">
              <a:buNone/>
            </a:pPr>
            <a:r>
              <a:rPr lang="en-US" sz="1700" b="1" dirty="0">
                <a:solidFill>
                  <a:srgbClr val="1E2B2F"/>
                </a:solidFill>
                <a:latin typeface="Meiryo" pitchFamily="34" charset="0"/>
                <a:ea typeface="Meiryo" pitchFamily="34" charset="-122"/>
                <a:cs typeface="Meiryo" pitchFamily="34" charset="-120"/>
              </a:rPr>
              <a:t>（メタ認知）</a:t>
            </a:r>
            <a:endParaRPr lang="en-US" sz="1700" dirty="0"/>
          </a:p>
        </p:txBody>
      </p:sp>
      <p:sp>
        <p:nvSpPr>
          <p:cNvPr id="19" name="Text 14"/>
          <p:cNvSpPr txBox="1"/>
          <p:nvPr/>
        </p:nvSpPr>
        <p:spPr>
          <a:xfrm>
            <a:off x="8778240" y="3703320"/>
            <a:ext cx="2834640" cy="365760"/>
          </a:xfrm>
          <a:prstGeom prst="rect">
            <a:avLst/>
          </a:prstGeom>
          <a:noFill/>
          <a:ln/>
        </p:spPr>
        <p:txBody>
          <a:bodyPr wrap="square" lIns="0" tIns="0" rIns="0" bIns="0" rtlCol="0" anchor="ctr"/>
          <a:lstStyle/>
          <a:p>
            <a:pPr algn="ctr" indent="0" marL="0">
              <a:buNone/>
            </a:pPr>
            <a:r>
              <a:rPr lang="en-US" sz="1300" dirty="0">
                <a:solidFill>
                  <a:srgbClr val="5B6B70"/>
                </a:solidFill>
                <a:latin typeface="Meiryo" pitchFamily="34" charset="0"/>
                <a:ea typeface="Meiryo" pitchFamily="34" charset="-122"/>
                <a:cs typeface="Meiryo" pitchFamily="34" charset="-120"/>
              </a:rPr>
              <a:t>教師</a:t>
            </a:r>
            <a:endParaRPr lang="en-US" sz="1300" dirty="0"/>
          </a:p>
        </p:txBody>
      </p:sp>
      <p:sp>
        <p:nvSpPr>
          <p:cNvPr id="20" name="Text 15"/>
          <p:cNvSpPr txBox="1"/>
          <p:nvPr/>
        </p:nvSpPr>
        <p:spPr>
          <a:xfrm>
            <a:off x="8961120" y="4069080"/>
            <a:ext cx="2468880" cy="914400"/>
          </a:xfrm>
          <a:prstGeom prst="rect">
            <a:avLst/>
          </a:prstGeom>
          <a:noFill/>
          <a:ln/>
        </p:spPr>
        <p:txBody>
          <a:bodyPr wrap="square" lIns="0" tIns="0" rIns="0" bIns="0" rtlCol="0" anchor="ctr"/>
          <a:lstStyle/>
          <a:p>
            <a:pPr algn="ctr" indent="0" marL="0">
              <a:buNone/>
            </a:pPr>
            <a:r>
              <a:rPr lang="en-US" sz="1700" b="1" dirty="0">
                <a:solidFill>
                  <a:srgbClr val="1E2B2F"/>
                </a:solidFill>
                <a:latin typeface="Meiryo" pitchFamily="34" charset="0"/>
                <a:ea typeface="Meiryo" pitchFamily="34" charset="-122"/>
                <a:cs typeface="Meiryo" pitchFamily="34" charset="-120"/>
              </a:rPr>
              <a:t>適切な指導性の発揮</a:t>
            </a:r>
            <a:endParaRPr lang="en-US" sz="1700" dirty="0"/>
          </a:p>
          <a:p>
            <a:pPr algn="ctr" indent="0" marL="0">
              <a:buNone/>
            </a:pPr>
            <a:r>
              <a:rPr lang="en-US" sz="1700" b="1" dirty="0">
                <a:solidFill>
                  <a:srgbClr val="1E2B2F"/>
                </a:solidFill>
                <a:latin typeface="Meiryo" pitchFamily="34" charset="0"/>
                <a:ea typeface="Meiryo" pitchFamily="34" charset="-122"/>
                <a:cs typeface="Meiryo" pitchFamily="34" charset="-120"/>
              </a:rPr>
              <a:t>（見守り・適時介入）</a:t>
            </a:r>
            <a:endParaRPr lang="en-US" sz="1700" dirty="0"/>
          </a:p>
        </p:txBody>
      </p:sp>
      <p:sp>
        <p:nvSpPr>
          <p:cNvPr id="21" name="Shape 16"/>
          <p:cNvSpPr/>
          <p:nvPr/>
        </p:nvSpPr>
        <p:spPr>
          <a:xfrm>
            <a:off x="7909560" y="3200400"/>
            <a:ext cx="731520" cy="457200"/>
          </a:xfrm>
          <a:prstGeom prst="rightArrow">
            <a:avLst/>
          </a:prstGeom>
          <a:solidFill>
            <a:srgbClr val="F2A541"/>
          </a:solidFill>
          <a:ln w="12700">
            <a:solidFill>
              <a:srgbClr val="F2A541"/>
            </a:solidFill>
            <a:prstDash val="solid"/>
          </a:ln>
        </p:spPr>
      </p:sp>
      <p:sp>
        <p:nvSpPr>
          <p:cNvPr id="22" name="Shape 17"/>
          <p:cNvSpPr/>
          <p:nvPr/>
        </p:nvSpPr>
        <p:spPr>
          <a:xfrm>
            <a:off x="7909560" y="3977640"/>
            <a:ext cx="731520" cy="457200"/>
          </a:xfrm>
          <a:prstGeom prst="leftArrow">
            <a:avLst/>
          </a:prstGeom>
          <a:solidFill>
            <a:srgbClr val="F2A541"/>
          </a:solidFill>
          <a:ln w="12700">
            <a:solidFill>
              <a:srgbClr val="F2A541"/>
            </a:solidFill>
            <a:prstDash val="solid"/>
          </a:ln>
        </p:spPr>
      </p:sp>
      <p:sp>
        <p:nvSpPr>
          <p:cNvPr id="23" name="Text 18"/>
          <p:cNvSpPr txBox="1"/>
          <p:nvPr/>
        </p:nvSpPr>
        <p:spPr>
          <a:xfrm>
            <a:off x="4937760" y="5486400"/>
            <a:ext cx="6675120" cy="548640"/>
          </a:xfrm>
          <a:prstGeom prst="rect">
            <a:avLst/>
          </a:prstGeom>
          <a:noFill/>
          <a:ln/>
        </p:spPr>
        <p:txBody>
          <a:bodyPr wrap="square" lIns="0" tIns="0" rIns="0" bIns="0" rtlCol="0" anchor="ctr"/>
          <a:lstStyle/>
          <a:p>
            <a:pPr indent="0" marL="0">
              <a:buNone/>
            </a:pPr>
            <a:r>
              <a:rPr lang="en-US" sz="1400" b="1" dirty="0">
                <a:solidFill>
                  <a:srgbClr val="0B4F5C"/>
                </a:solidFill>
                <a:latin typeface="Meiryo" pitchFamily="34" charset="0"/>
                <a:ea typeface="Meiryo" pitchFamily="34" charset="-122"/>
                <a:cs typeface="Meiryo" pitchFamily="34" charset="-120"/>
              </a:rPr>
              <a:t>論点整理：「子供自らが自己の学習を主体的に調整することを促す」</a:t>
            </a:r>
            <a:endParaRPr lang="en-US" sz="1400" dirty="0"/>
          </a:p>
        </p:txBody>
      </p:sp>
      <p:sp>
        <p:nvSpPr>
          <p:cNvPr id="24" name="Shape 19"/>
          <p:cNvSpPr/>
          <p:nvPr/>
        </p:nvSpPr>
        <p:spPr>
          <a:xfrm>
            <a:off x="548640" y="6272784"/>
            <a:ext cx="566928" cy="274320"/>
          </a:xfrm>
          <a:prstGeom prst="roundRect">
            <a:avLst>
              <a:gd name="adj" fmla="val 16667"/>
            </a:avLst>
          </a:prstGeom>
          <a:solidFill>
            <a:srgbClr val="0B4F5C"/>
          </a:solidFill>
          <a:ln w="12700">
            <a:solidFill>
              <a:srgbClr val="0B4F5C"/>
            </a:solidFill>
            <a:prstDash val="solid"/>
          </a:ln>
        </p:spPr>
      </p:sp>
      <p:sp>
        <p:nvSpPr>
          <p:cNvPr id="25" name="Text 20"/>
          <p:cNvSpPr txBox="1"/>
          <p:nvPr/>
        </p:nvSpPr>
        <p:spPr>
          <a:xfrm>
            <a:off x="548640" y="6272784"/>
            <a:ext cx="5669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根拠</a:t>
            </a:r>
            <a:endParaRPr lang="en-US" sz="1000" dirty="0"/>
          </a:p>
        </p:txBody>
      </p:sp>
      <p:sp>
        <p:nvSpPr>
          <p:cNvPr id="26" name="Text 21"/>
          <p:cNvSpPr txBox="1"/>
          <p:nvPr/>
        </p:nvSpPr>
        <p:spPr>
          <a:xfrm>
            <a:off x="1207008" y="6217920"/>
            <a:ext cx="9966960" cy="384048"/>
          </a:xfrm>
          <a:prstGeom prst="rect">
            <a:avLst/>
          </a:prstGeom>
          <a:noFill/>
          <a:ln/>
        </p:spPr>
        <p:txBody>
          <a:bodyPr wrap="square" lIns="0" tIns="0" rIns="0" bIns="0" rtlCol="0" anchor="ctr"/>
          <a:lstStyle/>
          <a:p>
            <a:pPr indent="0" marL="0">
              <a:buNone/>
            </a:pPr>
            <a:r>
              <a:rPr lang="en-US" sz="950" dirty="0">
                <a:solidFill>
                  <a:srgbClr val="5B6B70"/>
                </a:solidFill>
                <a:latin typeface="Meiryo" pitchFamily="34" charset="0"/>
                <a:ea typeface="Meiryo" pitchFamily="34" charset="-122"/>
                <a:cs typeface="Meiryo" pitchFamily="34" charset="-120"/>
              </a:rPr>
              <a:t>中央教育審議会答申「『令和の日本型学校教育』の構築を目指して」（令和3年1月26日）／教育課程企画特別部会「論点整理」（令和7年9月25日）</a:t>
            </a:r>
            <a:endParaRPr lang="en-US" sz="950" dirty="0"/>
          </a:p>
        </p:txBody>
      </p:sp>
      <p:sp>
        <p:nvSpPr>
          <p:cNvPr id="27" name="Text 22"/>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8"/>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【探究】「テーマ探究」から「マイ探究」への進化</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個人の「好き・得意」を起点とする探究へ</a:t>
            </a:r>
            <a:endParaRPr lang="en-US" sz="1600" dirty="0"/>
          </a:p>
        </p:txBody>
      </p:sp>
      <p:sp>
        <p:nvSpPr>
          <p:cNvPr id="4" name="Shape 2"/>
          <p:cNvSpPr/>
          <p:nvPr/>
        </p:nvSpPr>
        <p:spPr>
          <a:xfrm>
            <a:off x="548640" y="1828800"/>
            <a:ext cx="475488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22960" y="1828800"/>
            <a:ext cx="4389120" cy="1188720"/>
          </a:xfrm>
          <a:prstGeom prst="rect">
            <a:avLst/>
          </a:prstGeom>
          <a:noFill/>
          <a:ln/>
        </p:spPr>
        <p:txBody>
          <a:bodyPr wrap="square" lIns="0" tIns="0" rIns="0" bIns="0" rtlCol="0" anchor="ctr"/>
          <a:lstStyle/>
          <a:p>
            <a:pPr indent="0" marL="0">
              <a:buNone/>
            </a:pPr>
            <a:r>
              <a:rPr lang="en-US" sz="2000" b="1" dirty="0">
                <a:solidFill>
                  <a:srgbClr val="1E2B2F"/>
                </a:solidFill>
                <a:latin typeface="Meiryo" pitchFamily="34" charset="0"/>
                <a:ea typeface="Meiryo" pitchFamily="34" charset="-122"/>
                <a:cs typeface="Meiryo" pitchFamily="34" charset="-120"/>
              </a:rPr>
              <a:t>テーマ探究</a:t>
            </a:r>
            <a:endParaRPr lang="en-US" sz="2000" dirty="0"/>
          </a:p>
          <a:p>
            <a:pPr indent="0" marL="0">
              <a:buNone/>
            </a:pPr>
            <a:r>
              <a:rPr lang="en-US" sz="1300" dirty="0">
                <a:solidFill>
                  <a:srgbClr val="5B6B70"/>
                </a:solidFill>
                <a:latin typeface="Meiryo" pitchFamily="34" charset="0"/>
                <a:ea typeface="Meiryo" pitchFamily="34" charset="-122"/>
                <a:cs typeface="Meiryo" pitchFamily="34" charset="-120"/>
              </a:rPr>
              <a:t>教師が設定したテーマに沿って探究</a:t>
            </a:r>
            <a:endParaRPr lang="en-US" sz="2000" dirty="0"/>
          </a:p>
        </p:txBody>
      </p:sp>
      <p:sp>
        <p:nvSpPr>
          <p:cNvPr id="6" name="Shape 4"/>
          <p:cNvSpPr/>
          <p:nvPr/>
        </p:nvSpPr>
        <p:spPr>
          <a:xfrm>
            <a:off x="5532120" y="2194560"/>
            <a:ext cx="1097280" cy="457200"/>
          </a:xfrm>
          <a:prstGeom prst="rightArrow">
            <a:avLst/>
          </a:prstGeom>
          <a:solidFill>
            <a:srgbClr val="F2A541"/>
          </a:solidFill>
          <a:ln w="12700">
            <a:solidFill>
              <a:srgbClr val="F2A541"/>
            </a:solidFill>
            <a:prstDash val="solid"/>
          </a:ln>
        </p:spPr>
      </p:sp>
      <p:sp>
        <p:nvSpPr>
          <p:cNvPr id="7" name="Shape 5"/>
          <p:cNvSpPr/>
          <p:nvPr/>
        </p:nvSpPr>
        <p:spPr>
          <a:xfrm>
            <a:off x="6858000" y="1828800"/>
            <a:ext cx="4754880" cy="1188720"/>
          </a:xfrm>
          <a:prstGeom prst="roundRect">
            <a:avLst>
              <a:gd name="adj" fmla="val 9231"/>
            </a:avLst>
          </a:prstGeom>
          <a:solidFill>
            <a:srgbClr val="0B4F5C"/>
          </a:solidFill>
          <a:ln w="12700">
            <a:solidFill>
              <a:srgbClr val="0B4F5C"/>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7132320" y="1828800"/>
            <a:ext cx="4389120" cy="118872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マイ探究</a:t>
            </a:r>
            <a:endParaRPr lang="en-US" sz="2000" dirty="0"/>
          </a:p>
          <a:p>
            <a:pPr indent="0" marL="0">
              <a:buNone/>
            </a:pPr>
            <a:r>
              <a:rPr lang="en-US" sz="1300" dirty="0">
                <a:solidFill>
                  <a:srgbClr val="DCEFEF"/>
                </a:solidFill>
                <a:latin typeface="Meiryo" pitchFamily="34" charset="0"/>
                <a:ea typeface="Meiryo" pitchFamily="34" charset="-122"/>
                <a:cs typeface="Meiryo" pitchFamily="34" charset="-120"/>
              </a:rPr>
              <a:t>自分の「好き・得意」から問いを立てる</a:t>
            </a:r>
            <a:endParaRPr lang="en-US" sz="2000" dirty="0"/>
          </a:p>
        </p:txBody>
      </p:sp>
      <p:sp>
        <p:nvSpPr>
          <p:cNvPr id="9" name="Text 7"/>
          <p:cNvSpPr txBox="1"/>
          <p:nvPr/>
        </p:nvSpPr>
        <p:spPr>
          <a:xfrm>
            <a:off x="548640" y="3337560"/>
            <a:ext cx="11064240" cy="457200"/>
          </a:xfrm>
          <a:prstGeom prst="rect">
            <a:avLst/>
          </a:prstGeom>
          <a:noFill/>
          <a:ln/>
        </p:spPr>
        <p:txBody>
          <a:bodyPr wrap="square" lIns="0" tIns="0" rIns="0" bIns="0" rtlCol="0" anchor="ctr"/>
          <a:lstStyle/>
          <a:p>
            <a:pPr indent="0" marL="0">
              <a:buNone/>
            </a:pPr>
            <a:r>
              <a:rPr lang="en-US" sz="1800" b="1" dirty="0">
                <a:solidFill>
                  <a:srgbClr val="0B4F5C"/>
                </a:solidFill>
                <a:latin typeface="Meiryo" pitchFamily="34" charset="0"/>
                <a:ea typeface="Meiryo" pitchFamily="34" charset="-122"/>
                <a:cs typeface="Meiryo" pitchFamily="34" charset="-120"/>
              </a:rPr>
              <a:t>評価の視点：課題の質の洗練と自己変容</a:t>
            </a:r>
            <a:endParaRPr lang="en-US" sz="1800" dirty="0"/>
          </a:p>
        </p:txBody>
      </p:sp>
      <p:sp>
        <p:nvSpPr>
          <p:cNvPr id="10" name="Shape 8"/>
          <p:cNvSpPr/>
          <p:nvPr/>
        </p:nvSpPr>
        <p:spPr>
          <a:xfrm>
            <a:off x="548640" y="3977640"/>
            <a:ext cx="2560320"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Shape 9"/>
          <p:cNvSpPr/>
          <p:nvPr/>
        </p:nvSpPr>
        <p:spPr>
          <a:xfrm>
            <a:off x="777240" y="4206240"/>
            <a:ext cx="640080" cy="640080"/>
          </a:xfrm>
          <a:prstGeom prst="ellipse">
            <a:avLst/>
          </a:prstGeom>
          <a:solidFill>
            <a:srgbClr val="1B7F8C"/>
          </a:solidFill>
          <a:ln w="12700">
            <a:solidFill>
              <a:srgbClr val="1B7F8C"/>
            </a:solidFill>
            <a:prstDash val="solid"/>
          </a:ln>
        </p:spPr>
      </p:sp>
      <p:pic>
        <p:nvPicPr>
          <p:cNvPr id="12" name="Image 0" descr="preencoded.png">    </p:cNvPr>
          <p:cNvPicPr>
            <a:picLocks noChangeAspect="1"/>
          </p:cNvPicPr>
          <p:nvPr/>
        </p:nvPicPr>
        <p:blipFill>
          <a:blip r:embed="rId1"/>
          <a:stretch>
            <a:fillRect/>
          </a:stretch>
        </p:blipFill>
        <p:spPr>
          <a:xfrm>
            <a:off x="943661" y="4372661"/>
            <a:ext cx="307238" cy="307238"/>
          </a:xfrm>
          <a:prstGeom prst="rect">
            <a:avLst/>
          </a:prstGeom>
        </p:spPr>
      </p:pic>
      <p:sp>
        <p:nvSpPr>
          <p:cNvPr id="13" name="Text 10"/>
          <p:cNvSpPr txBox="1"/>
          <p:nvPr/>
        </p:nvSpPr>
        <p:spPr>
          <a:xfrm>
            <a:off x="2423160" y="4206240"/>
            <a:ext cx="457200" cy="640080"/>
          </a:xfrm>
          <a:prstGeom prst="rect">
            <a:avLst/>
          </a:prstGeom>
          <a:noFill/>
          <a:ln/>
        </p:spPr>
        <p:txBody>
          <a:bodyPr wrap="square" lIns="0" tIns="0" rIns="0" bIns="0" rtlCol="0" anchor="ctr"/>
          <a:lstStyle/>
          <a:p>
            <a:pPr algn="r" indent="0" marL="0">
              <a:buNone/>
            </a:pPr>
            <a:r>
              <a:rPr lang="en-US" sz="2400" b="1" dirty="0">
                <a:solidFill>
                  <a:srgbClr val="DCEFEF"/>
                </a:solidFill>
                <a:latin typeface="Meiryo" pitchFamily="34" charset="0"/>
                <a:ea typeface="Meiryo" pitchFamily="34" charset="-122"/>
                <a:cs typeface="Meiryo" pitchFamily="34" charset="-120"/>
              </a:rPr>
              <a:t>1</a:t>
            </a:r>
            <a:endParaRPr lang="en-US" sz="2400" dirty="0"/>
          </a:p>
        </p:txBody>
      </p:sp>
      <p:sp>
        <p:nvSpPr>
          <p:cNvPr id="14" name="Text 11"/>
          <p:cNvSpPr txBox="1"/>
          <p:nvPr/>
        </p:nvSpPr>
        <p:spPr>
          <a:xfrm>
            <a:off x="777240" y="4983480"/>
            <a:ext cx="2103120" cy="411480"/>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素朴な問い</a:t>
            </a:r>
            <a:endParaRPr lang="en-US" sz="1600" dirty="0"/>
          </a:p>
        </p:txBody>
      </p:sp>
      <p:sp>
        <p:nvSpPr>
          <p:cNvPr id="15" name="Text 12"/>
          <p:cNvSpPr txBox="1"/>
          <p:nvPr/>
        </p:nvSpPr>
        <p:spPr>
          <a:xfrm>
            <a:off x="777240" y="5394960"/>
            <a:ext cx="2103120" cy="640080"/>
          </a:xfrm>
          <a:prstGeom prst="rect">
            <a:avLst/>
          </a:prstGeom>
          <a:noFill/>
          <a:ln/>
        </p:spPr>
        <p:txBody>
          <a:bodyPr wrap="square" lIns="0" tIns="0" rIns="0" bIns="0" rtlCol="0" anchor="t"/>
          <a:lstStyle/>
          <a:p>
            <a:pPr indent="0" marL="0">
              <a:buNone/>
            </a:pPr>
            <a:r>
              <a:rPr lang="en-US" sz="1200" dirty="0">
                <a:solidFill>
                  <a:srgbClr val="1E2B2F"/>
                </a:solidFill>
                <a:latin typeface="Meiryo" pitchFamily="34" charset="0"/>
                <a:ea typeface="Meiryo" pitchFamily="34" charset="-122"/>
                <a:cs typeface="Meiryo" pitchFamily="34" charset="-120"/>
              </a:rPr>
              <a:t>「なぜ？」「好き」から出発</a:t>
            </a:r>
            <a:endParaRPr lang="en-US" sz="1200" dirty="0"/>
          </a:p>
        </p:txBody>
      </p:sp>
      <p:sp>
        <p:nvSpPr>
          <p:cNvPr id="16" name="Shape 13"/>
          <p:cNvSpPr/>
          <p:nvPr/>
        </p:nvSpPr>
        <p:spPr>
          <a:xfrm>
            <a:off x="3383280" y="3977640"/>
            <a:ext cx="2560320"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3611880" y="4206240"/>
            <a:ext cx="640080" cy="640080"/>
          </a:xfrm>
          <a:prstGeom prst="ellipse">
            <a:avLst/>
          </a:prstGeom>
          <a:solidFill>
            <a:srgbClr val="1B7F8C"/>
          </a:solidFill>
          <a:ln w="12700">
            <a:solidFill>
              <a:srgbClr val="1B7F8C"/>
            </a:solidFill>
            <a:prstDash val="solid"/>
          </a:ln>
        </p:spPr>
      </p:sp>
      <p:pic>
        <p:nvPicPr>
          <p:cNvPr id="18" name="Image 1" descr="preencoded.png">    </p:cNvPr>
          <p:cNvPicPr>
            <a:picLocks noChangeAspect="1"/>
          </p:cNvPicPr>
          <p:nvPr/>
        </p:nvPicPr>
        <p:blipFill>
          <a:blip r:embed="rId2"/>
          <a:stretch>
            <a:fillRect/>
          </a:stretch>
        </p:blipFill>
        <p:spPr>
          <a:xfrm>
            <a:off x="3778301" y="4372661"/>
            <a:ext cx="307238" cy="307238"/>
          </a:xfrm>
          <a:prstGeom prst="rect">
            <a:avLst/>
          </a:prstGeom>
        </p:spPr>
      </p:pic>
      <p:sp>
        <p:nvSpPr>
          <p:cNvPr id="19" name="Text 15"/>
          <p:cNvSpPr txBox="1"/>
          <p:nvPr/>
        </p:nvSpPr>
        <p:spPr>
          <a:xfrm>
            <a:off x="5257800" y="4206240"/>
            <a:ext cx="457200" cy="640080"/>
          </a:xfrm>
          <a:prstGeom prst="rect">
            <a:avLst/>
          </a:prstGeom>
          <a:noFill/>
          <a:ln/>
        </p:spPr>
        <p:txBody>
          <a:bodyPr wrap="square" lIns="0" tIns="0" rIns="0" bIns="0" rtlCol="0" anchor="ctr"/>
          <a:lstStyle/>
          <a:p>
            <a:pPr algn="r" indent="0" marL="0">
              <a:buNone/>
            </a:pPr>
            <a:r>
              <a:rPr lang="en-US" sz="2400" b="1" dirty="0">
                <a:solidFill>
                  <a:srgbClr val="DCEFEF"/>
                </a:solidFill>
                <a:latin typeface="Meiryo" pitchFamily="34" charset="0"/>
                <a:ea typeface="Meiryo" pitchFamily="34" charset="-122"/>
                <a:cs typeface="Meiryo" pitchFamily="34" charset="-120"/>
              </a:rPr>
              <a:t>2</a:t>
            </a:r>
            <a:endParaRPr lang="en-US" sz="2400" dirty="0"/>
          </a:p>
        </p:txBody>
      </p:sp>
      <p:sp>
        <p:nvSpPr>
          <p:cNvPr id="20" name="Text 16"/>
          <p:cNvSpPr txBox="1"/>
          <p:nvPr/>
        </p:nvSpPr>
        <p:spPr>
          <a:xfrm>
            <a:off x="3611880" y="4983480"/>
            <a:ext cx="2103120" cy="411480"/>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試行錯誤</a:t>
            </a:r>
            <a:endParaRPr lang="en-US" sz="1600" dirty="0"/>
          </a:p>
        </p:txBody>
      </p:sp>
      <p:sp>
        <p:nvSpPr>
          <p:cNvPr id="21" name="Text 17"/>
          <p:cNvSpPr txBox="1"/>
          <p:nvPr/>
        </p:nvSpPr>
        <p:spPr>
          <a:xfrm>
            <a:off x="3611880" y="5394960"/>
            <a:ext cx="2103120" cy="640080"/>
          </a:xfrm>
          <a:prstGeom prst="rect">
            <a:avLst/>
          </a:prstGeom>
          <a:noFill/>
          <a:ln/>
        </p:spPr>
        <p:txBody>
          <a:bodyPr wrap="square" lIns="0" tIns="0" rIns="0" bIns="0" rtlCol="0" anchor="t"/>
          <a:lstStyle/>
          <a:p>
            <a:pPr indent="0" marL="0">
              <a:buNone/>
            </a:pPr>
            <a:r>
              <a:rPr lang="en-US" sz="1200" dirty="0">
                <a:solidFill>
                  <a:srgbClr val="1E2B2F"/>
                </a:solidFill>
                <a:latin typeface="Meiryo" pitchFamily="34" charset="0"/>
                <a:ea typeface="Meiryo" pitchFamily="34" charset="-122"/>
                <a:cs typeface="Meiryo" pitchFamily="34" charset="-120"/>
              </a:rPr>
              <a:t>調べ・つくり・語り合う</a:t>
            </a:r>
            <a:endParaRPr lang="en-US" sz="1200" dirty="0"/>
          </a:p>
        </p:txBody>
      </p:sp>
      <p:sp>
        <p:nvSpPr>
          <p:cNvPr id="22" name="Shape 18"/>
          <p:cNvSpPr/>
          <p:nvPr/>
        </p:nvSpPr>
        <p:spPr>
          <a:xfrm>
            <a:off x="6217920" y="3977640"/>
            <a:ext cx="2560320"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3" name="Shape 19"/>
          <p:cNvSpPr/>
          <p:nvPr/>
        </p:nvSpPr>
        <p:spPr>
          <a:xfrm>
            <a:off x="6446520" y="4206240"/>
            <a:ext cx="640080" cy="640080"/>
          </a:xfrm>
          <a:prstGeom prst="ellipse">
            <a:avLst/>
          </a:prstGeom>
          <a:solidFill>
            <a:srgbClr val="1B7F8C"/>
          </a:solidFill>
          <a:ln w="12700">
            <a:solidFill>
              <a:srgbClr val="1B7F8C"/>
            </a:solidFill>
            <a:prstDash val="solid"/>
          </a:ln>
        </p:spPr>
      </p:sp>
      <p:pic>
        <p:nvPicPr>
          <p:cNvPr id="24" name="Image 2" descr="preencoded.png">    </p:cNvPr>
          <p:cNvPicPr>
            <a:picLocks noChangeAspect="1"/>
          </p:cNvPicPr>
          <p:nvPr/>
        </p:nvPicPr>
        <p:blipFill>
          <a:blip r:embed="rId3"/>
          <a:stretch>
            <a:fillRect/>
          </a:stretch>
        </p:blipFill>
        <p:spPr>
          <a:xfrm>
            <a:off x="6612941" y="4372661"/>
            <a:ext cx="307238" cy="307238"/>
          </a:xfrm>
          <a:prstGeom prst="rect">
            <a:avLst/>
          </a:prstGeom>
        </p:spPr>
      </p:pic>
      <p:sp>
        <p:nvSpPr>
          <p:cNvPr id="25" name="Text 20"/>
          <p:cNvSpPr txBox="1"/>
          <p:nvPr/>
        </p:nvSpPr>
        <p:spPr>
          <a:xfrm>
            <a:off x="8092440" y="4206240"/>
            <a:ext cx="457200" cy="640080"/>
          </a:xfrm>
          <a:prstGeom prst="rect">
            <a:avLst/>
          </a:prstGeom>
          <a:noFill/>
          <a:ln/>
        </p:spPr>
        <p:txBody>
          <a:bodyPr wrap="square" lIns="0" tIns="0" rIns="0" bIns="0" rtlCol="0" anchor="ctr"/>
          <a:lstStyle/>
          <a:p>
            <a:pPr algn="r" indent="0" marL="0">
              <a:buNone/>
            </a:pPr>
            <a:r>
              <a:rPr lang="en-US" sz="2400" b="1" dirty="0">
                <a:solidFill>
                  <a:srgbClr val="DCEFEF"/>
                </a:solidFill>
                <a:latin typeface="Meiryo" pitchFamily="34" charset="0"/>
                <a:ea typeface="Meiryo" pitchFamily="34" charset="-122"/>
                <a:cs typeface="Meiryo" pitchFamily="34" charset="-120"/>
              </a:rPr>
              <a:t>3</a:t>
            </a:r>
            <a:endParaRPr lang="en-US" sz="2400" dirty="0"/>
          </a:p>
        </p:txBody>
      </p:sp>
      <p:sp>
        <p:nvSpPr>
          <p:cNvPr id="26" name="Text 21"/>
          <p:cNvSpPr txBox="1"/>
          <p:nvPr/>
        </p:nvSpPr>
        <p:spPr>
          <a:xfrm>
            <a:off x="6446520" y="4983480"/>
            <a:ext cx="2103120" cy="411480"/>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解像度の高い課題</a:t>
            </a:r>
            <a:endParaRPr lang="en-US" sz="1600" dirty="0"/>
          </a:p>
        </p:txBody>
      </p:sp>
      <p:sp>
        <p:nvSpPr>
          <p:cNvPr id="27" name="Text 22"/>
          <p:cNvSpPr txBox="1"/>
          <p:nvPr/>
        </p:nvSpPr>
        <p:spPr>
          <a:xfrm>
            <a:off x="6446520" y="5394960"/>
            <a:ext cx="2103120" cy="640080"/>
          </a:xfrm>
          <a:prstGeom prst="rect">
            <a:avLst/>
          </a:prstGeom>
          <a:noFill/>
          <a:ln/>
        </p:spPr>
        <p:txBody>
          <a:bodyPr wrap="square" lIns="0" tIns="0" rIns="0" bIns="0" rtlCol="0" anchor="t"/>
          <a:lstStyle/>
          <a:p>
            <a:pPr indent="0" marL="0">
              <a:buNone/>
            </a:pPr>
            <a:r>
              <a:rPr lang="en-US" sz="1200" dirty="0">
                <a:solidFill>
                  <a:srgbClr val="1E2B2F"/>
                </a:solidFill>
                <a:latin typeface="Meiryo" pitchFamily="34" charset="0"/>
                <a:ea typeface="Meiryo" pitchFamily="34" charset="-122"/>
                <a:cs typeface="Meiryo" pitchFamily="34" charset="-120"/>
              </a:rPr>
              <a:t>問いが深まり、焦点化する</a:t>
            </a:r>
            <a:endParaRPr lang="en-US" sz="1200" dirty="0"/>
          </a:p>
        </p:txBody>
      </p:sp>
      <p:sp>
        <p:nvSpPr>
          <p:cNvPr id="28" name="Shape 23"/>
          <p:cNvSpPr/>
          <p:nvPr/>
        </p:nvSpPr>
        <p:spPr>
          <a:xfrm>
            <a:off x="9052560" y="3977640"/>
            <a:ext cx="2560320" cy="2011680"/>
          </a:xfrm>
          <a:prstGeom prst="roundRect">
            <a:avLst>
              <a:gd name="adj" fmla="val 5455"/>
            </a:avLst>
          </a:prstGeom>
          <a:solidFill>
            <a:srgbClr val="F2A541"/>
          </a:solidFill>
          <a:ln w="12700">
            <a:solidFill>
              <a:srgbClr val="F2A541"/>
            </a:solidFill>
            <a:prstDash val="solid"/>
          </a:ln>
          <a:effectLst>
            <a:outerShdw sx="100000" sy="100000" kx="0" ky="0" algn="bl" rotWithShape="0" blurRad="101600" dist="25400" dir="5400000">
              <a:srgbClr val="000000">
                <a:alpha val="12000"/>
              </a:srgbClr>
            </a:outerShdw>
          </a:effectLst>
        </p:spPr>
      </p:sp>
      <p:sp>
        <p:nvSpPr>
          <p:cNvPr id="29" name="Shape 24"/>
          <p:cNvSpPr/>
          <p:nvPr/>
        </p:nvSpPr>
        <p:spPr>
          <a:xfrm>
            <a:off x="9281160" y="4206240"/>
            <a:ext cx="640080" cy="640080"/>
          </a:xfrm>
          <a:prstGeom prst="ellipse">
            <a:avLst/>
          </a:prstGeom>
          <a:solidFill>
            <a:srgbClr val="0B4F5C"/>
          </a:solidFill>
          <a:ln w="12700">
            <a:solidFill>
              <a:srgbClr val="0B4F5C"/>
            </a:solidFill>
            <a:prstDash val="solid"/>
          </a:ln>
        </p:spPr>
      </p:sp>
      <p:pic>
        <p:nvPicPr>
          <p:cNvPr id="30" name="Image 3" descr="preencoded.png">    </p:cNvPr>
          <p:cNvPicPr>
            <a:picLocks noChangeAspect="1"/>
          </p:cNvPicPr>
          <p:nvPr/>
        </p:nvPicPr>
        <p:blipFill>
          <a:blip r:embed="rId4"/>
          <a:stretch>
            <a:fillRect/>
          </a:stretch>
        </p:blipFill>
        <p:spPr>
          <a:xfrm>
            <a:off x="9447581" y="4372661"/>
            <a:ext cx="307238" cy="307238"/>
          </a:xfrm>
          <a:prstGeom prst="rect">
            <a:avLst/>
          </a:prstGeom>
        </p:spPr>
      </p:pic>
      <p:sp>
        <p:nvSpPr>
          <p:cNvPr id="31" name="Text 25"/>
          <p:cNvSpPr txBox="1"/>
          <p:nvPr/>
        </p:nvSpPr>
        <p:spPr>
          <a:xfrm>
            <a:off x="10927080" y="4206240"/>
            <a:ext cx="457200" cy="640080"/>
          </a:xfrm>
          <a:prstGeom prst="rect">
            <a:avLst/>
          </a:prstGeom>
          <a:noFill/>
          <a:ln/>
        </p:spPr>
        <p:txBody>
          <a:bodyPr wrap="square" lIns="0" tIns="0" rIns="0" bIns="0" rtlCol="0" anchor="ctr"/>
          <a:lstStyle/>
          <a:p>
            <a:pPr algn="r" indent="0" marL="0">
              <a:buNone/>
            </a:pPr>
            <a:r>
              <a:rPr lang="en-US" sz="2400" b="1" dirty="0">
                <a:solidFill>
                  <a:srgbClr val="0B4F5C"/>
                </a:solidFill>
                <a:latin typeface="Meiryo" pitchFamily="34" charset="0"/>
                <a:ea typeface="Meiryo" pitchFamily="34" charset="-122"/>
                <a:cs typeface="Meiryo" pitchFamily="34" charset="-120"/>
              </a:rPr>
              <a:t>4</a:t>
            </a:r>
            <a:endParaRPr lang="en-US" sz="2400" dirty="0"/>
          </a:p>
        </p:txBody>
      </p:sp>
      <p:sp>
        <p:nvSpPr>
          <p:cNvPr id="32" name="Text 26"/>
          <p:cNvSpPr txBox="1"/>
          <p:nvPr/>
        </p:nvSpPr>
        <p:spPr>
          <a:xfrm>
            <a:off x="9281160" y="4983480"/>
            <a:ext cx="2103120" cy="411480"/>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自己変容</a:t>
            </a:r>
            <a:endParaRPr lang="en-US" sz="1600" dirty="0"/>
          </a:p>
        </p:txBody>
      </p:sp>
      <p:sp>
        <p:nvSpPr>
          <p:cNvPr id="33" name="Text 27"/>
          <p:cNvSpPr txBox="1"/>
          <p:nvPr/>
        </p:nvSpPr>
        <p:spPr>
          <a:xfrm>
            <a:off x="9281160" y="5394960"/>
            <a:ext cx="2103120" cy="640080"/>
          </a:xfrm>
          <a:prstGeom prst="rect">
            <a:avLst/>
          </a:prstGeom>
          <a:noFill/>
          <a:ln/>
        </p:spPr>
        <p:txBody>
          <a:bodyPr wrap="square" lIns="0" tIns="0" rIns="0" bIns="0" rtlCol="0" anchor="t"/>
          <a:lstStyle/>
          <a:p>
            <a:pPr indent="0" marL="0">
              <a:buNone/>
            </a:pPr>
            <a:r>
              <a:rPr lang="en-US" sz="1200" dirty="0">
                <a:solidFill>
                  <a:srgbClr val="1E2B2F"/>
                </a:solidFill>
                <a:latin typeface="Meiryo" pitchFamily="34" charset="0"/>
                <a:ea typeface="Meiryo" pitchFamily="34" charset="-122"/>
                <a:cs typeface="Meiryo" pitchFamily="34" charset="-120"/>
              </a:rPr>
              <a:t>自己や他者にとっての新たな意味・理解の構築</a:t>
            </a:r>
            <a:endParaRPr lang="en-US" sz="1200" dirty="0"/>
          </a:p>
        </p:txBody>
      </p:sp>
      <p:sp>
        <p:nvSpPr>
          <p:cNvPr id="34" name="Shape 28"/>
          <p:cNvSpPr/>
          <p:nvPr/>
        </p:nvSpPr>
        <p:spPr>
          <a:xfrm>
            <a:off x="548640" y="6272784"/>
            <a:ext cx="566928" cy="274320"/>
          </a:xfrm>
          <a:prstGeom prst="roundRect">
            <a:avLst>
              <a:gd name="adj" fmla="val 16667"/>
            </a:avLst>
          </a:prstGeom>
          <a:solidFill>
            <a:srgbClr val="0B4F5C"/>
          </a:solidFill>
          <a:ln w="12700">
            <a:solidFill>
              <a:srgbClr val="0B4F5C"/>
            </a:solidFill>
            <a:prstDash val="solid"/>
          </a:ln>
        </p:spPr>
      </p:sp>
      <p:sp>
        <p:nvSpPr>
          <p:cNvPr id="35" name="Text 29"/>
          <p:cNvSpPr txBox="1"/>
          <p:nvPr/>
        </p:nvSpPr>
        <p:spPr>
          <a:xfrm>
            <a:off x="548640" y="6272784"/>
            <a:ext cx="5669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根拠</a:t>
            </a:r>
            <a:endParaRPr lang="en-US" sz="1000" dirty="0"/>
          </a:p>
        </p:txBody>
      </p:sp>
      <p:sp>
        <p:nvSpPr>
          <p:cNvPr id="36" name="Text 30"/>
          <p:cNvSpPr txBox="1"/>
          <p:nvPr/>
        </p:nvSpPr>
        <p:spPr>
          <a:xfrm>
            <a:off x="1207008" y="6217920"/>
            <a:ext cx="9966960" cy="384048"/>
          </a:xfrm>
          <a:prstGeom prst="rect">
            <a:avLst/>
          </a:prstGeom>
          <a:noFill/>
          <a:ln/>
        </p:spPr>
        <p:txBody>
          <a:bodyPr wrap="square" lIns="0" tIns="0" rIns="0" bIns="0" rtlCol="0" anchor="ctr"/>
          <a:lstStyle/>
          <a:p>
            <a:pPr indent="0" marL="0">
              <a:buNone/>
            </a:pPr>
            <a:r>
              <a:rPr lang="en-US" sz="950" dirty="0">
                <a:solidFill>
                  <a:srgbClr val="5B6B70"/>
                </a:solidFill>
                <a:latin typeface="Meiryo" pitchFamily="34" charset="0"/>
                <a:ea typeface="Meiryo" pitchFamily="34" charset="-122"/>
                <a:cs typeface="Meiryo" pitchFamily="34" charset="-120"/>
              </a:rPr>
              <a:t>教育課程部会 生活、総合的な学習・探究の時間WG「総合的な学習・探究の時間に関する現状・課題と検討事項」（令和7年10月15日）／同WG取りまとめ関連資料（令和8年7月）　※「マイ探究」は本講評での呼称</a:t>
            </a:r>
            <a:endParaRPr lang="en-US" sz="950" dirty="0"/>
          </a:p>
        </p:txBody>
      </p:sp>
      <p:sp>
        <p:nvSpPr>
          <p:cNvPr id="37" name="Text 3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【キャリア教育】「好き」を育み「得意」を伸ばす</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進路指導に閉じない、教育課程全体での構造化</a:t>
            </a:r>
            <a:endParaRPr lang="en-US" sz="1600" dirty="0"/>
          </a:p>
        </p:txBody>
      </p:sp>
      <p:sp>
        <p:nvSpPr>
          <p:cNvPr id="4" name="Shape 2"/>
          <p:cNvSpPr/>
          <p:nvPr/>
        </p:nvSpPr>
        <p:spPr>
          <a:xfrm>
            <a:off x="548640" y="1828800"/>
            <a:ext cx="3474720" cy="3200400"/>
          </a:xfrm>
          <a:prstGeom prst="roundRect">
            <a:avLst>
              <a:gd name="adj" fmla="val 3429"/>
            </a:avLst>
          </a:prstGeom>
          <a:solidFill>
            <a:srgbClr val="F3F8F8"/>
          </a:solidFill>
          <a:ln w="12700">
            <a:solidFill>
              <a:srgbClr val="F3F8F8"/>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1828800" y="2057400"/>
            <a:ext cx="914400" cy="914400"/>
          </a:xfrm>
          <a:prstGeom prst="ellipse">
            <a:avLst/>
          </a:prstGeom>
          <a:solidFill>
            <a:srgbClr val="1B7F8C"/>
          </a:solidFill>
          <a:ln w="12700">
            <a:solidFill>
              <a:srgbClr val="1B7F8C"/>
            </a:solidFill>
            <a:prstDash val="solid"/>
          </a:ln>
        </p:spPr>
      </p:sp>
      <p:pic>
        <p:nvPicPr>
          <p:cNvPr id="6" name="Image 0" descr="preencoded.png">    </p:cNvPr>
          <p:cNvPicPr>
            <a:picLocks noChangeAspect="1"/>
          </p:cNvPicPr>
          <p:nvPr/>
        </p:nvPicPr>
        <p:blipFill>
          <a:blip r:embed="rId1"/>
          <a:stretch>
            <a:fillRect/>
          </a:stretch>
        </p:blipFill>
        <p:spPr>
          <a:xfrm>
            <a:off x="2066544" y="2295144"/>
            <a:ext cx="438912" cy="438912"/>
          </a:xfrm>
          <a:prstGeom prst="rect">
            <a:avLst/>
          </a:prstGeom>
        </p:spPr>
      </p:pic>
      <p:sp>
        <p:nvSpPr>
          <p:cNvPr id="7" name="Text 4"/>
          <p:cNvSpPr txBox="1"/>
          <p:nvPr/>
        </p:nvSpPr>
        <p:spPr>
          <a:xfrm>
            <a:off x="731520" y="3108960"/>
            <a:ext cx="3108960" cy="457200"/>
          </a:xfrm>
          <a:prstGeom prst="rect">
            <a:avLst/>
          </a:prstGeom>
          <a:noFill/>
          <a:ln/>
        </p:spPr>
        <p:txBody>
          <a:bodyPr wrap="square" lIns="0" tIns="0" rIns="0" bIns="0" rtlCol="0" anchor="ctr"/>
          <a:lstStyle/>
          <a:p>
            <a:pPr algn="ctr" indent="0" marL="0">
              <a:buNone/>
            </a:pPr>
            <a:r>
              <a:rPr lang="en-US" sz="1700" b="1" dirty="0">
                <a:solidFill>
                  <a:srgbClr val="1E2B2F"/>
                </a:solidFill>
                <a:latin typeface="Meiryo" pitchFamily="34" charset="0"/>
                <a:ea typeface="Meiryo" pitchFamily="34" charset="-122"/>
                <a:cs typeface="Meiryo" pitchFamily="34" charset="-120"/>
              </a:rPr>
              <a:t>各教科</a:t>
            </a:r>
            <a:endParaRPr lang="en-US" sz="1700" dirty="0"/>
          </a:p>
        </p:txBody>
      </p:sp>
      <p:sp>
        <p:nvSpPr>
          <p:cNvPr id="8" name="Text 5"/>
          <p:cNvSpPr txBox="1"/>
          <p:nvPr/>
        </p:nvSpPr>
        <p:spPr>
          <a:xfrm>
            <a:off x="731520" y="3566160"/>
            <a:ext cx="3108960" cy="411480"/>
          </a:xfrm>
          <a:prstGeom prst="rect">
            <a:avLst/>
          </a:prstGeom>
          <a:noFill/>
          <a:ln/>
        </p:spPr>
        <p:txBody>
          <a:bodyPr wrap="square" lIns="0" tIns="0" rIns="0" bIns="0" rtlCol="0" anchor="ctr"/>
          <a:lstStyle/>
          <a:p>
            <a:pPr algn="ctr" indent="0" marL="0">
              <a:buNone/>
            </a:pPr>
            <a:r>
              <a:rPr lang="en-US" sz="1500" b="1" dirty="0">
                <a:solidFill>
                  <a:srgbClr val="1B7F8C"/>
                </a:solidFill>
                <a:latin typeface="Meiryo" pitchFamily="34" charset="0"/>
                <a:ea typeface="Meiryo" pitchFamily="34" charset="-122"/>
                <a:cs typeface="Meiryo" pitchFamily="34" charset="-120"/>
              </a:rPr>
              <a:t>好き・得意との出会い</a:t>
            </a:r>
            <a:endParaRPr lang="en-US" sz="1500" dirty="0"/>
          </a:p>
        </p:txBody>
      </p:sp>
      <p:sp>
        <p:nvSpPr>
          <p:cNvPr id="9" name="Text 6"/>
          <p:cNvSpPr txBox="1"/>
          <p:nvPr/>
        </p:nvSpPr>
        <p:spPr>
          <a:xfrm>
            <a:off x="822960" y="4069080"/>
            <a:ext cx="2926080" cy="914400"/>
          </a:xfrm>
          <a:prstGeom prst="rect">
            <a:avLst/>
          </a:prstGeom>
          <a:noFill/>
          <a:ln/>
        </p:spPr>
        <p:txBody>
          <a:bodyPr wrap="square" lIns="0" tIns="0" rIns="0" bIns="0" rtlCol="0" anchor="t"/>
          <a:lstStyle/>
          <a:p>
            <a:pPr indent="0" marL="0">
              <a:buNone/>
            </a:pPr>
            <a:r>
              <a:rPr lang="en-US" sz="1300" dirty="0">
                <a:solidFill>
                  <a:srgbClr val="1E2B2F"/>
                </a:solidFill>
                <a:latin typeface="Meiryo" pitchFamily="34" charset="0"/>
                <a:ea typeface="Meiryo" pitchFamily="34" charset="-122"/>
                <a:cs typeface="Meiryo" pitchFamily="34" charset="-120"/>
              </a:rPr>
              <a:t>教科の学びの中で、自分の興味や強みに気づくきっかけをつくる</a:t>
            </a:r>
            <a:endParaRPr lang="en-US" sz="1300" dirty="0"/>
          </a:p>
        </p:txBody>
      </p:sp>
      <p:sp>
        <p:nvSpPr>
          <p:cNvPr id="10" name="Shape 7"/>
          <p:cNvSpPr/>
          <p:nvPr/>
        </p:nvSpPr>
        <p:spPr>
          <a:xfrm>
            <a:off x="4343400" y="1828800"/>
            <a:ext cx="3474720" cy="3200400"/>
          </a:xfrm>
          <a:prstGeom prst="roundRect">
            <a:avLst>
              <a:gd name="adj" fmla="val 3429"/>
            </a:avLst>
          </a:prstGeom>
          <a:solidFill>
            <a:srgbClr val="F3F8F8"/>
          </a:solidFill>
          <a:ln w="12700">
            <a:solidFill>
              <a:srgbClr val="F3F8F8"/>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5623560" y="2057400"/>
            <a:ext cx="914400" cy="914400"/>
          </a:xfrm>
          <a:prstGeom prst="ellipse">
            <a:avLst/>
          </a:prstGeom>
          <a:solidFill>
            <a:srgbClr val="0B4F5C"/>
          </a:solidFill>
          <a:ln w="12700">
            <a:solidFill>
              <a:srgbClr val="0B4F5C"/>
            </a:solidFill>
            <a:prstDash val="solid"/>
          </a:ln>
        </p:spPr>
      </p:sp>
      <p:pic>
        <p:nvPicPr>
          <p:cNvPr id="12" name="Image 1" descr="preencoded.png">    </p:cNvPr>
          <p:cNvPicPr>
            <a:picLocks noChangeAspect="1"/>
          </p:cNvPicPr>
          <p:nvPr/>
        </p:nvPicPr>
        <p:blipFill>
          <a:blip r:embed="rId2"/>
          <a:stretch>
            <a:fillRect/>
          </a:stretch>
        </p:blipFill>
        <p:spPr>
          <a:xfrm>
            <a:off x="5861304" y="2295144"/>
            <a:ext cx="438912" cy="438912"/>
          </a:xfrm>
          <a:prstGeom prst="rect">
            <a:avLst/>
          </a:prstGeom>
        </p:spPr>
      </p:pic>
      <p:sp>
        <p:nvSpPr>
          <p:cNvPr id="13" name="Text 9"/>
          <p:cNvSpPr txBox="1"/>
          <p:nvPr/>
        </p:nvSpPr>
        <p:spPr>
          <a:xfrm>
            <a:off x="4526280" y="3108960"/>
            <a:ext cx="3108960" cy="457200"/>
          </a:xfrm>
          <a:prstGeom prst="rect">
            <a:avLst/>
          </a:prstGeom>
          <a:noFill/>
          <a:ln/>
        </p:spPr>
        <p:txBody>
          <a:bodyPr wrap="square" lIns="0" tIns="0" rIns="0" bIns="0" rtlCol="0" anchor="ctr"/>
          <a:lstStyle/>
          <a:p>
            <a:pPr algn="ctr" indent="0" marL="0">
              <a:buNone/>
            </a:pPr>
            <a:r>
              <a:rPr lang="en-US" sz="1700" b="1" dirty="0">
                <a:solidFill>
                  <a:srgbClr val="1E2B2F"/>
                </a:solidFill>
                <a:latin typeface="Meiryo" pitchFamily="34" charset="0"/>
                <a:ea typeface="Meiryo" pitchFamily="34" charset="-122"/>
                <a:cs typeface="Meiryo" pitchFamily="34" charset="-120"/>
              </a:rPr>
              <a:t>総合的な学習（探究）の時間</a:t>
            </a:r>
            <a:endParaRPr lang="en-US" sz="1700" dirty="0"/>
          </a:p>
        </p:txBody>
      </p:sp>
      <p:sp>
        <p:nvSpPr>
          <p:cNvPr id="14" name="Text 10"/>
          <p:cNvSpPr txBox="1"/>
          <p:nvPr/>
        </p:nvSpPr>
        <p:spPr>
          <a:xfrm>
            <a:off x="4526280" y="3566160"/>
            <a:ext cx="3108960" cy="411480"/>
          </a:xfrm>
          <a:prstGeom prst="rect">
            <a:avLst/>
          </a:prstGeom>
          <a:noFill/>
          <a:ln/>
        </p:spPr>
        <p:txBody>
          <a:bodyPr wrap="square" lIns="0" tIns="0" rIns="0" bIns="0" rtlCol="0" anchor="ctr"/>
          <a:lstStyle/>
          <a:p>
            <a:pPr algn="ctr" indent="0" marL="0">
              <a:buNone/>
            </a:pPr>
            <a:r>
              <a:rPr lang="en-US" sz="1500" b="1" dirty="0">
                <a:solidFill>
                  <a:srgbClr val="0B4F5C"/>
                </a:solidFill>
                <a:latin typeface="Meiryo" pitchFamily="34" charset="0"/>
                <a:ea typeface="Meiryo" pitchFamily="34" charset="-122"/>
                <a:cs typeface="Meiryo" pitchFamily="34" charset="-120"/>
              </a:rPr>
              <a:t>マイ探究での育成</a:t>
            </a:r>
            <a:endParaRPr lang="en-US" sz="1500" dirty="0"/>
          </a:p>
        </p:txBody>
      </p:sp>
      <p:sp>
        <p:nvSpPr>
          <p:cNvPr id="15" name="Text 11"/>
          <p:cNvSpPr txBox="1"/>
          <p:nvPr/>
        </p:nvSpPr>
        <p:spPr>
          <a:xfrm>
            <a:off x="4617720" y="4069080"/>
            <a:ext cx="2926080" cy="914400"/>
          </a:xfrm>
          <a:prstGeom prst="rect">
            <a:avLst/>
          </a:prstGeom>
          <a:noFill/>
          <a:ln/>
        </p:spPr>
        <p:txBody>
          <a:bodyPr wrap="square" lIns="0" tIns="0" rIns="0" bIns="0" rtlCol="0" anchor="t"/>
          <a:lstStyle/>
          <a:p>
            <a:pPr indent="0" marL="0">
              <a:buNone/>
            </a:pPr>
            <a:r>
              <a:rPr lang="en-US" sz="1300" dirty="0">
                <a:solidFill>
                  <a:srgbClr val="1E2B2F"/>
                </a:solidFill>
                <a:latin typeface="Meiryo" pitchFamily="34" charset="0"/>
                <a:ea typeface="Meiryo" pitchFamily="34" charset="-122"/>
                <a:cs typeface="Meiryo" pitchFamily="34" charset="-120"/>
              </a:rPr>
              <a:t>好き・得意を起点に問いを深め、自分らしさを育てる</a:t>
            </a:r>
            <a:endParaRPr lang="en-US" sz="1300" dirty="0"/>
          </a:p>
        </p:txBody>
      </p:sp>
      <p:sp>
        <p:nvSpPr>
          <p:cNvPr id="16" name="Shape 12"/>
          <p:cNvSpPr/>
          <p:nvPr/>
        </p:nvSpPr>
        <p:spPr>
          <a:xfrm>
            <a:off x="8138160" y="1828800"/>
            <a:ext cx="3474720" cy="3200400"/>
          </a:xfrm>
          <a:prstGeom prst="roundRect">
            <a:avLst>
              <a:gd name="adj" fmla="val 3429"/>
            </a:avLst>
          </a:prstGeom>
          <a:solidFill>
            <a:srgbClr val="F3F8F8"/>
          </a:solidFill>
          <a:ln w="12700">
            <a:solidFill>
              <a:srgbClr val="F3F8F8"/>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9418320" y="2057400"/>
            <a:ext cx="914400" cy="914400"/>
          </a:xfrm>
          <a:prstGeom prst="ellipse">
            <a:avLst/>
          </a:prstGeom>
          <a:solidFill>
            <a:srgbClr val="D9583B"/>
          </a:solidFill>
          <a:ln w="12700">
            <a:solidFill>
              <a:srgbClr val="D9583B"/>
            </a:solidFill>
            <a:prstDash val="solid"/>
          </a:ln>
        </p:spPr>
      </p:sp>
      <p:pic>
        <p:nvPicPr>
          <p:cNvPr id="18" name="Image 2" descr="preencoded.png">    </p:cNvPr>
          <p:cNvPicPr>
            <a:picLocks noChangeAspect="1"/>
          </p:cNvPicPr>
          <p:nvPr/>
        </p:nvPicPr>
        <p:blipFill>
          <a:blip r:embed="rId3"/>
          <a:stretch>
            <a:fillRect/>
          </a:stretch>
        </p:blipFill>
        <p:spPr>
          <a:xfrm>
            <a:off x="9656064" y="2295144"/>
            <a:ext cx="438912" cy="438912"/>
          </a:xfrm>
          <a:prstGeom prst="rect">
            <a:avLst/>
          </a:prstGeom>
        </p:spPr>
      </p:pic>
      <p:sp>
        <p:nvSpPr>
          <p:cNvPr id="19" name="Text 14"/>
          <p:cNvSpPr txBox="1"/>
          <p:nvPr/>
        </p:nvSpPr>
        <p:spPr>
          <a:xfrm>
            <a:off x="8321040" y="3108960"/>
            <a:ext cx="3108960" cy="457200"/>
          </a:xfrm>
          <a:prstGeom prst="rect">
            <a:avLst/>
          </a:prstGeom>
          <a:noFill/>
          <a:ln/>
        </p:spPr>
        <p:txBody>
          <a:bodyPr wrap="square" lIns="0" tIns="0" rIns="0" bIns="0" rtlCol="0" anchor="ctr"/>
          <a:lstStyle/>
          <a:p>
            <a:pPr algn="ctr" indent="0" marL="0">
              <a:buNone/>
            </a:pPr>
            <a:r>
              <a:rPr lang="en-US" sz="1700" b="1" dirty="0">
                <a:solidFill>
                  <a:srgbClr val="1E2B2F"/>
                </a:solidFill>
                <a:latin typeface="Meiryo" pitchFamily="34" charset="0"/>
                <a:ea typeface="Meiryo" pitchFamily="34" charset="-122"/>
                <a:cs typeface="Meiryo" pitchFamily="34" charset="-120"/>
              </a:rPr>
              <a:t>特別活動</a:t>
            </a:r>
            <a:endParaRPr lang="en-US" sz="1700" dirty="0"/>
          </a:p>
        </p:txBody>
      </p:sp>
      <p:sp>
        <p:nvSpPr>
          <p:cNvPr id="20" name="Text 15"/>
          <p:cNvSpPr txBox="1"/>
          <p:nvPr/>
        </p:nvSpPr>
        <p:spPr>
          <a:xfrm>
            <a:off x="8321040" y="3566160"/>
            <a:ext cx="3108960" cy="411480"/>
          </a:xfrm>
          <a:prstGeom prst="rect">
            <a:avLst/>
          </a:prstGeom>
          <a:noFill/>
          <a:ln/>
        </p:spPr>
        <p:txBody>
          <a:bodyPr wrap="square" lIns="0" tIns="0" rIns="0" bIns="0" rtlCol="0" anchor="ctr"/>
          <a:lstStyle/>
          <a:p>
            <a:pPr algn="ctr" indent="0" marL="0">
              <a:buNone/>
            </a:pPr>
            <a:r>
              <a:rPr lang="en-US" sz="1500" b="1" dirty="0">
                <a:solidFill>
                  <a:srgbClr val="D9583B"/>
                </a:solidFill>
                <a:latin typeface="Meiryo" pitchFamily="34" charset="0"/>
                <a:ea typeface="Meiryo" pitchFamily="34" charset="-122"/>
                <a:cs typeface="Meiryo" pitchFamily="34" charset="-120"/>
              </a:rPr>
              <a:t>実践・見通しと振り返り</a:t>
            </a:r>
            <a:endParaRPr lang="en-US" sz="1500" dirty="0"/>
          </a:p>
        </p:txBody>
      </p:sp>
      <p:sp>
        <p:nvSpPr>
          <p:cNvPr id="21" name="Text 16"/>
          <p:cNvSpPr txBox="1"/>
          <p:nvPr/>
        </p:nvSpPr>
        <p:spPr>
          <a:xfrm>
            <a:off x="8412480" y="4069080"/>
            <a:ext cx="2926080" cy="914400"/>
          </a:xfrm>
          <a:prstGeom prst="rect">
            <a:avLst/>
          </a:prstGeom>
          <a:noFill/>
          <a:ln/>
        </p:spPr>
        <p:txBody>
          <a:bodyPr wrap="square" lIns="0" tIns="0" rIns="0" bIns="0" rtlCol="0" anchor="t"/>
          <a:lstStyle/>
          <a:p>
            <a:pPr indent="0" marL="0">
              <a:buNone/>
            </a:pPr>
            <a:r>
              <a:rPr lang="en-US" sz="1300" dirty="0">
                <a:solidFill>
                  <a:srgbClr val="1E2B2F"/>
                </a:solidFill>
                <a:latin typeface="Meiryo" pitchFamily="34" charset="0"/>
                <a:ea typeface="Meiryo" pitchFamily="34" charset="-122"/>
                <a:cs typeface="Meiryo" pitchFamily="34" charset="-120"/>
              </a:rPr>
              <a:t>キャリア・パスポート等で学びをつなぎ、将来を見通す</a:t>
            </a:r>
            <a:endParaRPr lang="en-US" sz="1300" dirty="0"/>
          </a:p>
        </p:txBody>
      </p:sp>
      <p:sp>
        <p:nvSpPr>
          <p:cNvPr id="22" name="Shape 17"/>
          <p:cNvSpPr/>
          <p:nvPr/>
        </p:nvSpPr>
        <p:spPr>
          <a:xfrm>
            <a:off x="548640" y="5257800"/>
            <a:ext cx="11064240" cy="822960"/>
          </a:xfrm>
          <a:prstGeom prst="roundRect">
            <a:avLst>
              <a:gd name="adj" fmla="val 11111"/>
            </a:avLst>
          </a:prstGeom>
          <a:solidFill>
            <a:srgbClr val="0B4F5C"/>
          </a:solidFill>
          <a:ln w="12700">
            <a:solidFill>
              <a:srgbClr val="0B4F5C"/>
            </a:solidFill>
            <a:prstDash val="solid"/>
          </a:ln>
        </p:spPr>
      </p:sp>
      <p:pic>
        <p:nvPicPr>
          <p:cNvPr id="23" name="Image 3" descr="preencoded.png">    </p:cNvPr>
          <p:cNvPicPr>
            <a:picLocks noChangeAspect="1"/>
          </p:cNvPicPr>
          <p:nvPr/>
        </p:nvPicPr>
        <p:blipFill>
          <a:blip r:embed="rId4"/>
          <a:stretch>
            <a:fillRect/>
          </a:stretch>
        </p:blipFill>
        <p:spPr>
          <a:xfrm>
            <a:off x="868680" y="5458968"/>
            <a:ext cx="411480" cy="411480"/>
          </a:xfrm>
          <a:prstGeom prst="rect">
            <a:avLst/>
          </a:prstGeom>
        </p:spPr>
      </p:pic>
      <p:sp>
        <p:nvSpPr>
          <p:cNvPr id="24" name="Text 18"/>
          <p:cNvSpPr txBox="1"/>
          <p:nvPr/>
        </p:nvSpPr>
        <p:spPr>
          <a:xfrm>
            <a:off x="1463040" y="5257800"/>
            <a:ext cx="9966960" cy="822960"/>
          </a:xfrm>
          <a:prstGeom prst="rect">
            <a:avLst/>
          </a:prstGeom>
          <a:noFill/>
          <a:ln/>
        </p:spPr>
        <p:txBody>
          <a:bodyPr wrap="square" lIns="0" tIns="0" rIns="0" bIns="0" rtlCol="0" anchor="ctr"/>
          <a:lstStyle/>
          <a:p>
            <a:pPr indent="0" marL="0">
              <a:buNone/>
            </a:pPr>
            <a:r>
              <a:rPr lang="en-US" sz="1200" b="1" dirty="0">
                <a:solidFill>
                  <a:srgbClr val="F2A541"/>
                </a:solidFill>
                <a:latin typeface="Meiryo" pitchFamily="34" charset="0"/>
                <a:ea typeface="Meiryo" pitchFamily="34" charset="-122"/>
                <a:cs typeface="Meiryo" pitchFamily="34" charset="-120"/>
              </a:rPr>
              <a:t>学習指導要領 総則：</a:t>
            </a:r>
            <a:endParaRPr lang="en-US" sz="1200" dirty="0"/>
          </a:p>
          <a:p>
            <a:pPr indent="0" marL="0">
              <a:buNone/>
            </a:pPr>
            <a:r>
              <a:rPr lang="en-US" sz="1500" b="1" dirty="0">
                <a:solidFill>
                  <a:srgbClr val="FFFFFF"/>
                </a:solidFill>
                <a:latin typeface="Meiryo" pitchFamily="34" charset="0"/>
                <a:ea typeface="Meiryo" pitchFamily="34" charset="-122"/>
                <a:cs typeface="Meiryo" pitchFamily="34" charset="-120"/>
              </a:rPr>
              <a:t>「特別活動を要としつつ各教科等の特質に応じて、キャリア教育の充実を図ること」</a:t>
            </a:r>
            <a:endParaRPr lang="en-US" sz="1200" dirty="0"/>
          </a:p>
        </p:txBody>
      </p:sp>
      <p:sp>
        <p:nvSpPr>
          <p:cNvPr id="25" name="Shape 19"/>
          <p:cNvSpPr/>
          <p:nvPr/>
        </p:nvSpPr>
        <p:spPr>
          <a:xfrm>
            <a:off x="548640" y="6272784"/>
            <a:ext cx="566928" cy="274320"/>
          </a:xfrm>
          <a:prstGeom prst="roundRect">
            <a:avLst>
              <a:gd name="adj" fmla="val 16667"/>
            </a:avLst>
          </a:prstGeom>
          <a:solidFill>
            <a:srgbClr val="0B4F5C"/>
          </a:solidFill>
          <a:ln w="12700">
            <a:solidFill>
              <a:srgbClr val="0B4F5C"/>
            </a:solidFill>
            <a:prstDash val="solid"/>
          </a:ln>
        </p:spPr>
      </p:sp>
      <p:sp>
        <p:nvSpPr>
          <p:cNvPr id="26" name="Text 20"/>
          <p:cNvSpPr txBox="1"/>
          <p:nvPr/>
        </p:nvSpPr>
        <p:spPr>
          <a:xfrm>
            <a:off x="548640" y="6272784"/>
            <a:ext cx="5669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根拠</a:t>
            </a:r>
            <a:endParaRPr lang="en-US" sz="1000" dirty="0"/>
          </a:p>
        </p:txBody>
      </p:sp>
      <p:sp>
        <p:nvSpPr>
          <p:cNvPr id="27" name="Text 21"/>
          <p:cNvSpPr txBox="1"/>
          <p:nvPr/>
        </p:nvSpPr>
        <p:spPr>
          <a:xfrm>
            <a:off x="1207008" y="6217920"/>
            <a:ext cx="9966960" cy="384048"/>
          </a:xfrm>
          <a:prstGeom prst="rect">
            <a:avLst/>
          </a:prstGeom>
          <a:noFill/>
          <a:ln/>
        </p:spPr>
        <p:txBody>
          <a:bodyPr wrap="square" lIns="0" tIns="0" rIns="0" bIns="0" rtlCol="0" anchor="ctr"/>
          <a:lstStyle/>
          <a:p>
            <a:pPr indent="0" marL="0">
              <a:buNone/>
            </a:pPr>
            <a:r>
              <a:rPr lang="en-US" sz="950" dirty="0">
                <a:solidFill>
                  <a:srgbClr val="5B6B70"/>
                </a:solidFill>
                <a:latin typeface="Meiryo" pitchFamily="34" charset="0"/>
                <a:ea typeface="Meiryo" pitchFamily="34" charset="-122"/>
                <a:cs typeface="Meiryo" pitchFamily="34" charset="-120"/>
              </a:rPr>
              <a:t>小学校・中学校学習指導要領（平成29年告示）第1章 総則／教育課程企画特別部会「論点整理」（令和7年9月25日）</a:t>
            </a:r>
            <a:endParaRPr lang="en-US" sz="950" dirty="0"/>
          </a:p>
        </p:txBody>
      </p:sp>
      <p:sp>
        <p:nvSpPr>
          <p:cNvPr id="28" name="Text 22"/>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8"/>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【外国語教育】AI時代に外国語を学ぶ本質的意義</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高精度な自動翻訳がある時代に、あえて学ぶ理由</a:t>
            </a:r>
            <a:endParaRPr lang="en-US" sz="1600" dirty="0"/>
          </a:p>
        </p:txBody>
      </p:sp>
      <p:sp>
        <p:nvSpPr>
          <p:cNvPr id="4" name="Shape 2"/>
          <p:cNvSpPr/>
          <p:nvPr/>
        </p:nvSpPr>
        <p:spPr>
          <a:xfrm>
            <a:off x="548640" y="1783080"/>
            <a:ext cx="3474720"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965960"/>
            <a:ext cx="640080" cy="640080"/>
          </a:xfrm>
          <a:prstGeom prst="ellipse">
            <a:avLst/>
          </a:prstGeom>
          <a:solidFill>
            <a:srgbClr val="1B7F8C"/>
          </a:solidFill>
          <a:ln w="12700">
            <a:solidFill>
              <a:srgbClr val="1B7F8C"/>
            </a:solidFill>
            <a:prstDash val="solid"/>
          </a:ln>
        </p:spPr>
      </p:sp>
      <p:pic>
        <p:nvPicPr>
          <p:cNvPr id="6" name="Image 0" descr="preencoded.png">    </p:cNvPr>
          <p:cNvPicPr>
            <a:picLocks noChangeAspect="1"/>
          </p:cNvPicPr>
          <p:nvPr/>
        </p:nvPicPr>
        <p:blipFill>
          <a:blip r:embed="rId1"/>
          <a:stretch>
            <a:fillRect/>
          </a:stretch>
        </p:blipFill>
        <p:spPr>
          <a:xfrm>
            <a:off x="943661" y="2132381"/>
            <a:ext cx="307238" cy="307238"/>
          </a:xfrm>
          <a:prstGeom prst="rect">
            <a:avLst/>
          </a:prstGeom>
        </p:spPr>
      </p:pic>
      <p:sp>
        <p:nvSpPr>
          <p:cNvPr id="7" name="Text 4"/>
          <p:cNvSpPr txBox="1"/>
          <p:nvPr/>
        </p:nvSpPr>
        <p:spPr>
          <a:xfrm>
            <a:off x="777240" y="2724912"/>
            <a:ext cx="3017520" cy="411480"/>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異文化への理解・包摂性</a:t>
            </a:r>
            <a:endParaRPr lang="en-US" sz="1600" dirty="0"/>
          </a:p>
        </p:txBody>
      </p:sp>
      <p:sp>
        <p:nvSpPr>
          <p:cNvPr id="8" name="Text 5"/>
          <p:cNvSpPr txBox="1"/>
          <p:nvPr/>
        </p:nvSpPr>
        <p:spPr>
          <a:xfrm>
            <a:off x="777240" y="3182112"/>
            <a:ext cx="3017520" cy="640080"/>
          </a:xfrm>
          <a:prstGeom prst="rect">
            <a:avLst/>
          </a:prstGeom>
          <a:noFill/>
          <a:ln/>
        </p:spPr>
        <p:txBody>
          <a:bodyPr wrap="square" lIns="0" tIns="0" rIns="0" bIns="0" rtlCol="0" anchor="t"/>
          <a:lstStyle/>
          <a:p>
            <a:pPr indent="0" marL="0">
              <a:buNone/>
            </a:pPr>
            <a:r>
              <a:rPr lang="en-US" sz="1300" dirty="0">
                <a:solidFill>
                  <a:srgbClr val="5B6B70"/>
                </a:solidFill>
                <a:latin typeface="Meiryo" pitchFamily="34" charset="0"/>
                <a:ea typeface="Meiryo" pitchFamily="34" charset="-122"/>
                <a:cs typeface="Meiryo" pitchFamily="34" charset="-120"/>
              </a:rPr>
              <a:t>多様な価値観を受け止め、共に生きる力</a:t>
            </a:r>
            <a:endParaRPr lang="en-US" sz="1300" dirty="0"/>
          </a:p>
        </p:txBody>
      </p:sp>
      <p:sp>
        <p:nvSpPr>
          <p:cNvPr id="9" name="Shape 6"/>
          <p:cNvSpPr/>
          <p:nvPr/>
        </p:nvSpPr>
        <p:spPr>
          <a:xfrm>
            <a:off x="4343400" y="1783080"/>
            <a:ext cx="3474720"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4572000" y="1965960"/>
            <a:ext cx="640080" cy="640080"/>
          </a:xfrm>
          <a:prstGeom prst="ellipse">
            <a:avLst/>
          </a:prstGeom>
          <a:solidFill>
            <a:srgbClr val="1B7F8C"/>
          </a:solidFill>
          <a:ln w="12700">
            <a:solidFill>
              <a:srgbClr val="1B7F8C"/>
            </a:solidFill>
            <a:prstDash val="solid"/>
          </a:ln>
        </p:spPr>
      </p:sp>
      <p:pic>
        <p:nvPicPr>
          <p:cNvPr id="11" name="Image 1" descr="preencoded.png">    </p:cNvPr>
          <p:cNvPicPr>
            <a:picLocks noChangeAspect="1"/>
          </p:cNvPicPr>
          <p:nvPr/>
        </p:nvPicPr>
        <p:blipFill>
          <a:blip r:embed="rId2"/>
          <a:stretch>
            <a:fillRect/>
          </a:stretch>
        </p:blipFill>
        <p:spPr>
          <a:xfrm>
            <a:off x="4738421" y="2132381"/>
            <a:ext cx="307238" cy="307238"/>
          </a:xfrm>
          <a:prstGeom prst="rect">
            <a:avLst/>
          </a:prstGeom>
        </p:spPr>
      </p:pic>
      <p:sp>
        <p:nvSpPr>
          <p:cNvPr id="12" name="Text 8"/>
          <p:cNvSpPr txBox="1"/>
          <p:nvPr/>
        </p:nvSpPr>
        <p:spPr>
          <a:xfrm>
            <a:off x="4572000" y="2724912"/>
            <a:ext cx="3017520" cy="411480"/>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母語・自国文化のメタ認知</a:t>
            </a:r>
            <a:endParaRPr lang="en-US" sz="1600" dirty="0"/>
          </a:p>
        </p:txBody>
      </p:sp>
      <p:sp>
        <p:nvSpPr>
          <p:cNvPr id="13" name="Text 9"/>
          <p:cNvSpPr txBox="1"/>
          <p:nvPr/>
        </p:nvSpPr>
        <p:spPr>
          <a:xfrm>
            <a:off x="4572000" y="3182112"/>
            <a:ext cx="3017520" cy="640080"/>
          </a:xfrm>
          <a:prstGeom prst="rect">
            <a:avLst/>
          </a:prstGeom>
          <a:noFill/>
          <a:ln/>
        </p:spPr>
        <p:txBody>
          <a:bodyPr wrap="square" lIns="0" tIns="0" rIns="0" bIns="0" rtlCol="0" anchor="t"/>
          <a:lstStyle/>
          <a:p>
            <a:pPr indent="0" marL="0">
              <a:buNone/>
            </a:pPr>
            <a:r>
              <a:rPr lang="en-US" sz="1300" dirty="0">
                <a:solidFill>
                  <a:srgbClr val="5B6B70"/>
                </a:solidFill>
                <a:latin typeface="Meiryo" pitchFamily="34" charset="0"/>
                <a:ea typeface="Meiryo" pitchFamily="34" charset="-122"/>
                <a:cs typeface="Meiryo" pitchFamily="34" charset="-120"/>
              </a:rPr>
              <a:t>他言語を通して自らの言葉と文化を見つめ直す</a:t>
            </a:r>
            <a:endParaRPr lang="en-US" sz="1300" dirty="0"/>
          </a:p>
        </p:txBody>
      </p:sp>
      <p:sp>
        <p:nvSpPr>
          <p:cNvPr id="14" name="Shape 10"/>
          <p:cNvSpPr/>
          <p:nvPr/>
        </p:nvSpPr>
        <p:spPr>
          <a:xfrm>
            <a:off x="8138160" y="1783080"/>
            <a:ext cx="3474720"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8366760" y="1965960"/>
            <a:ext cx="640080" cy="640080"/>
          </a:xfrm>
          <a:prstGeom prst="ellipse">
            <a:avLst/>
          </a:prstGeom>
          <a:solidFill>
            <a:srgbClr val="1B7F8C"/>
          </a:solidFill>
          <a:ln w="12700">
            <a:solidFill>
              <a:srgbClr val="1B7F8C"/>
            </a:solidFill>
            <a:prstDash val="solid"/>
          </a:ln>
        </p:spPr>
      </p:sp>
      <p:pic>
        <p:nvPicPr>
          <p:cNvPr id="16" name="Image 2" descr="preencoded.png">    </p:cNvPr>
          <p:cNvPicPr>
            <a:picLocks noChangeAspect="1"/>
          </p:cNvPicPr>
          <p:nvPr/>
        </p:nvPicPr>
        <p:blipFill>
          <a:blip r:embed="rId3"/>
          <a:stretch>
            <a:fillRect/>
          </a:stretch>
        </p:blipFill>
        <p:spPr>
          <a:xfrm>
            <a:off x="8533181" y="2132381"/>
            <a:ext cx="307238" cy="307238"/>
          </a:xfrm>
          <a:prstGeom prst="rect">
            <a:avLst/>
          </a:prstGeom>
        </p:spPr>
      </p:pic>
      <p:sp>
        <p:nvSpPr>
          <p:cNvPr id="17" name="Text 12"/>
          <p:cNvSpPr txBox="1"/>
          <p:nvPr/>
        </p:nvSpPr>
        <p:spPr>
          <a:xfrm>
            <a:off x="8366760" y="2724912"/>
            <a:ext cx="3017520" cy="411480"/>
          </a:xfrm>
          <a:prstGeom prst="rect">
            <a:avLst/>
          </a:prstGeom>
          <a:noFill/>
          <a:ln/>
        </p:spPr>
        <p:txBody>
          <a:bodyPr wrap="square" lIns="0" tIns="0" rIns="0" bIns="0" rtlCol="0" anchor="ctr"/>
          <a:lstStyle/>
          <a:p>
            <a:pPr indent="0" marL="0">
              <a:buNone/>
            </a:pPr>
            <a:r>
              <a:rPr lang="en-US" sz="1600" b="1" dirty="0">
                <a:solidFill>
                  <a:srgbClr val="1E2B2F"/>
                </a:solidFill>
                <a:latin typeface="Meiryo" pitchFamily="34" charset="0"/>
                <a:ea typeface="Meiryo" pitchFamily="34" charset="-122"/>
                <a:cs typeface="Meiryo" pitchFamily="34" charset="-120"/>
              </a:rPr>
              <a:t>生身のコミュニケーション意欲</a:t>
            </a:r>
            <a:endParaRPr lang="en-US" sz="1600" dirty="0"/>
          </a:p>
        </p:txBody>
      </p:sp>
      <p:sp>
        <p:nvSpPr>
          <p:cNvPr id="18" name="Text 13"/>
          <p:cNvSpPr txBox="1"/>
          <p:nvPr/>
        </p:nvSpPr>
        <p:spPr>
          <a:xfrm>
            <a:off x="8366760" y="3182112"/>
            <a:ext cx="3017520" cy="640080"/>
          </a:xfrm>
          <a:prstGeom prst="rect">
            <a:avLst/>
          </a:prstGeom>
          <a:noFill/>
          <a:ln/>
        </p:spPr>
        <p:txBody>
          <a:bodyPr wrap="square" lIns="0" tIns="0" rIns="0" bIns="0" rtlCol="0" anchor="t"/>
          <a:lstStyle/>
          <a:p>
            <a:pPr indent="0" marL="0">
              <a:buNone/>
            </a:pPr>
            <a:r>
              <a:rPr lang="en-US" sz="1300" dirty="0">
                <a:solidFill>
                  <a:srgbClr val="5B6B70"/>
                </a:solidFill>
                <a:latin typeface="Meiryo" pitchFamily="34" charset="0"/>
                <a:ea typeface="Meiryo" pitchFamily="34" charset="-122"/>
                <a:cs typeface="Meiryo" pitchFamily="34" charset="-120"/>
              </a:rPr>
              <a:t>人と人とが直接つながりたいという思い</a:t>
            </a:r>
            <a:endParaRPr lang="en-US" sz="1300" dirty="0"/>
          </a:p>
        </p:txBody>
      </p:sp>
      <p:sp>
        <p:nvSpPr>
          <p:cNvPr id="19" name="Text 14"/>
          <p:cNvSpPr txBox="1"/>
          <p:nvPr/>
        </p:nvSpPr>
        <p:spPr>
          <a:xfrm>
            <a:off x="548640" y="4206240"/>
            <a:ext cx="5486400" cy="411480"/>
          </a:xfrm>
          <a:prstGeom prst="rect">
            <a:avLst/>
          </a:prstGeom>
          <a:noFill/>
          <a:ln/>
        </p:spPr>
        <p:txBody>
          <a:bodyPr wrap="square" lIns="0" tIns="0" rIns="0" bIns="0" rtlCol="0" anchor="ctr"/>
          <a:lstStyle/>
          <a:p>
            <a:pPr indent="0" marL="0">
              <a:buNone/>
            </a:pPr>
            <a:r>
              <a:rPr lang="en-US" sz="1700" b="1" dirty="0">
                <a:solidFill>
                  <a:srgbClr val="0B4F5C"/>
                </a:solidFill>
                <a:latin typeface="Meiryo" pitchFamily="34" charset="0"/>
                <a:ea typeface="Meiryo" pitchFamily="34" charset="-122"/>
                <a:cs typeface="Meiryo" pitchFamily="34" charset="-120"/>
              </a:rPr>
              <a:t>授業改善の方向</a:t>
            </a:r>
            <a:endParaRPr lang="en-US" sz="1700" dirty="0"/>
          </a:p>
        </p:txBody>
      </p:sp>
      <p:sp>
        <p:nvSpPr>
          <p:cNvPr id="20" name="Shape 15"/>
          <p:cNvSpPr/>
          <p:nvPr/>
        </p:nvSpPr>
        <p:spPr>
          <a:xfrm>
            <a:off x="548640" y="4754880"/>
            <a:ext cx="3291840" cy="1005840"/>
          </a:xfrm>
          <a:prstGeom prst="roundRect">
            <a:avLst>
              <a:gd name="adj" fmla="val 9091"/>
            </a:avLst>
          </a:prstGeom>
          <a:solidFill>
            <a:srgbClr val="0B4F5C"/>
          </a:solidFill>
          <a:ln w="12700">
            <a:solidFill>
              <a:srgbClr val="0B4F5C"/>
            </a:solidFill>
            <a:prstDash val="solid"/>
          </a:ln>
        </p:spPr>
      </p:sp>
      <p:sp>
        <p:nvSpPr>
          <p:cNvPr id="21" name="Text 16"/>
          <p:cNvSpPr txBox="1"/>
          <p:nvPr/>
        </p:nvSpPr>
        <p:spPr>
          <a:xfrm>
            <a:off x="548640" y="4754880"/>
            <a:ext cx="329184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コミュニケーション活動</a:t>
            </a:r>
            <a:endParaRPr lang="en-US" sz="1500" dirty="0"/>
          </a:p>
          <a:p>
            <a:pPr algn="ctr" indent="0" marL="0">
              <a:buNone/>
            </a:pPr>
            <a:r>
              <a:rPr lang="en-US" sz="1200" dirty="0">
                <a:solidFill>
                  <a:srgbClr val="DCEFEF"/>
                </a:solidFill>
                <a:latin typeface="Meiryo" pitchFamily="34" charset="0"/>
                <a:ea typeface="Meiryo" pitchFamily="34" charset="-122"/>
                <a:cs typeface="Meiryo" pitchFamily="34" charset="-120"/>
              </a:rPr>
              <a:t>思考力・判断力・表現力</a:t>
            </a:r>
            <a:endParaRPr lang="en-US" sz="1500" dirty="0"/>
          </a:p>
        </p:txBody>
      </p:sp>
      <p:sp>
        <p:nvSpPr>
          <p:cNvPr id="22" name="Shape 17"/>
          <p:cNvSpPr/>
          <p:nvPr/>
        </p:nvSpPr>
        <p:spPr>
          <a:xfrm>
            <a:off x="3931920" y="5029200"/>
            <a:ext cx="822960" cy="457200"/>
          </a:xfrm>
          <a:prstGeom prst="leftRightArrow">
            <a:avLst/>
          </a:prstGeom>
          <a:solidFill>
            <a:srgbClr val="F2A541"/>
          </a:solidFill>
          <a:ln w="12700">
            <a:solidFill>
              <a:srgbClr val="F2A541"/>
            </a:solidFill>
            <a:prstDash val="solid"/>
          </a:ln>
        </p:spPr>
      </p:sp>
      <p:sp>
        <p:nvSpPr>
          <p:cNvPr id="23" name="Shape 18"/>
          <p:cNvSpPr/>
          <p:nvPr/>
        </p:nvSpPr>
        <p:spPr>
          <a:xfrm>
            <a:off x="4846320" y="4754880"/>
            <a:ext cx="2743200" cy="1005840"/>
          </a:xfrm>
          <a:prstGeom prst="roundRect">
            <a:avLst>
              <a:gd name="adj" fmla="val 9091"/>
            </a:avLst>
          </a:prstGeom>
          <a:solidFill>
            <a:srgbClr val="1B7F8C"/>
          </a:solidFill>
          <a:ln w="12700">
            <a:solidFill>
              <a:srgbClr val="1B7F8C"/>
            </a:solidFill>
            <a:prstDash val="solid"/>
          </a:ln>
        </p:spPr>
      </p:sp>
      <p:sp>
        <p:nvSpPr>
          <p:cNvPr id="24" name="Text 19"/>
          <p:cNvSpPr txBox="1"/>
          <p:nvPr/>
        </p:nvSpPr>
        <p:spPr>
          <a:xfrm>
            <a:off x="4846320" y="4754880"/>
            <a:ext cx="274320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支える活動</a:t>
            </a:r>
            <a:endParaRPr lang="en-US" sz="1500" dirty="0"/>
          </a:p>
          <a:p>
            <a:pPr algn="ctr" indent="0" marL="0">
              <a:buNone/>
            </a:pPr>
            <a:r>
              <a:rPr lang="en-US" sz="1200" dirty="0">
                <a:solidFill>
                  <a:srgbClr val="DCEFEF"/>
                </a:solidFill>
                <a:latin typeface="Meiryo" pitchFamily="34" charset="0"/>
                <a:ea typeface="Meiryo" pitchFamily="34" charset="-122"/>
                <a:cs typeface="Meiryo" pitchFamily="34" charset="-120"/>
              </a:rPr>
              <a:t>知識・技能</a:t>
            </a:r>
            <a:endParaRPr lang="en-US" sz="1500" dirty="0"/>
          </a:p>
        </p:txBody>
      </p:sp>
      <p:sp>
        <p:nvSpPr>
          <p:cNvPr id="25" name="Text 20"/>
          <p:cNvSpPr txBox="1"/>
          <p:nvPr/>
        </p:nvSpPr>
        <p:spPr>
          <a:xfrm>
            <a:off x="8046720" y="4206240"/>
            <a:ext cx="3566160" cy="411480"/>
          </a:xfrm>
          <a:prstGeom prst="rect">
            <a:avLst/>
          </a:prstGeom>
          <a:noFill/>
          <a:ln/>
        </p:spPr>
        <p:txBody>
          <a:bodyPr wrap="square" lIns="0" tIns="0" rIns="0" bIns="0" rtlCol="0" anchor="ctr"/>
          <a:lstStyle/>
          <a:p>
            <a:pPr indent="0" marL="0">
              <a:buNone/>
            </a:pPr>
            <a:r>
              <a:rPr lang="en-US" sz="1700" b="1" dirty="0">
                <a:solidFill>
                  <a:srgbClr val="0B4F5C"/>
                </a:solidFill>
                <a:latin typeface="Meiryo" pitchFamily="34" charset="0"/>
                <a:ea typeface="Meiryo" pitchFamily="34" charset="-122"/>
                <a:cs typeface="Meiryo" pitchFamily="34" charset="-120"/>
              </a:rPr>
              <a:t>身近な話題 → 社会的な話題へ</a:t>
            </a:r>
            <a:endParaRPr lang="en-US" sz="1700" dirty="0"/>
          </a:p>
        </p:txBody>
      </p:sp>
      <p:sp>
        <p:nvSpPr>
          <p:cNvPr id="26" name="Shape 21"/>
          <p:cNvSpPr/>
          <p:nvPr/>
        </p:nvSpPr>
        <p:spPr>
          <a:xfrm>
            <a:off x="8046720" y="4754880"/>
            <a:ext cx="1005840" cy="1005840"/>
          </a:xfrm>
          <a:prstGeom prst="ellipse">
            <a:avLst/>
          </a:prstGeom>
          <a:solidFill>
            <a:srgbClr val="DCEFEF"/>
          </a:solidFill>
          <a:ln w="12700">
            <a:solidFill>
              <a:srgbClr val="DCEFEF"/>
            </a:solidFill>
            <a:prstDash val="solid"/>
          </a:ln>
        </p:spPr>
      </p:sp>
      <p:sp>
        <p:nvSpPr>
          <p:cNvPr id="27" name="Text 22"/>
          <p:cNvSpPr txBox="1"/>
          <p:nvPr/>
        </p:nvSpPr>
        <p:spPr>
          <a:xfrm>
            <a:off x="8046720" y="4754880"/>
            <a:ext cx="1005840" cy="1005840"/>
          </a:xfrm>
          <a:prstGeom prst="rect">
            <a:avLst/>
          </a:prstGeom>
          <a:noFill/>
          <a:ln/>
        </p:spPr>
        <p:txBody>
          <a:bodyPr wrap="square" lIns="0" tIns="0" rIns="0" bIns="0" rtlCol="0" anchor="ctr"/>
          <a:lstStyle/>
          <a:p>
            <a:pPr algn="ctr" indent="0" marL="0">
              <a:buNone/>
            </a:pPr>
            <a:r>
              <a:rPr lang="en-US" sz="2200" b="1" dirty="0">
                <a:solidFill>
                  <a:srgbClr val="0B4F5C"/>
                </a:solidFill>
                <a:latin typeface="Meiryo" pitchFamily="34" charset="0"/>
                <a:ea typeface="Meiryo" pitchFamily="34" charset="-122"/>
                <a:cs typeface="Meiryo" pitchFamily="34" charset="-120"/>
              </a:rPr>
              <a:t>小</a:t>
            </a:r>
            <a:endParaRPr lang="en-US" sz="2200" dirty="0"/>
          </a:p>
        </p:txBody>
      </p:sp>
      <p:sp>
        <p:nvSpPr>
          <p:cNvPr id="28" name="Shape 23"/>
          <p:cNvSpPr/>
          <p:nvPr/>
        </p:nvSpPr>
        <p:spPr>
          <a:xfrm>
            <a:off x="9281160" y="4754880"/>
            <a:ext cx="1005840" cy="1005840"/>
          </a:xfrm>
          <a:prstGeom prst="ellipse">
            <a:avLst/>
          </a:prstGeom>
          <a:solidFill>
            <a:srgbClr val="1B7F8C"/>
          </a:solidFill>
          <a:ln w="12700">
            <a:solidFill>
              <a:srgbClr val="1B7F8C"/>
            </a:solidFill>
            <a:prstDash val="solid"/>
          </a:ln>
        </p:spPr>
      </p:sp>
      <p:sp>
        <p:nvSpPr>
          <p:cNvPr id="29" name="Text 24"/>
          <p:cNvSpPr txBox="1"/>
          <p:nvPr/>
        </p:nvSpPr>
        <p:spPr>
          <a:xfrm>
            <a:off x="9281160" y="4754880"/>
            <a:ext cx="100584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中</a:t>
            </a:r>
            <a:endParaRPr lang="en-US" sz="2200" dirty="0"/>
          </a:p>
        </p:txBody>
      </p:sp>
      <p:sp>
        <p:nvSpPr>
          <p:cNvPr id="30" name="Shape 25"/>
          <p:cNvSpPr/>
          <p:nvPr/>
        </p:nvSpPr>
        <p:spPr>
          <a:xfrm>
            <a:off x="10515600" y="4754880"/>
            <a:ext cx="1005840" cy="1005840"/>
          </a:xfrm>
          <a:prstGeom prst="ellipse">
            <a:avLst/>
          </a:prstGeom>
          <a:solidFill>
            <a:srgbClr val="0B4F5C"/>
          </a:solidFill>
          <a:ln w="12700">
            <a:solidFill>
              <a:srgbClr val="0B4F5C"/>
            </a:solidFill>
            <a:prstDash val="solid"/>
          </a:ln>
        </p:spPr>
      </p:sp>
      <p:sp>
        <p:nvSpPr>
          <p:cNvPr id="31" name="Text 26"/>
          <p:cNvSpPr txBox="1"/>
          <p:nvPr/>
        </p:nvSpPr>
        <p:spPr>
          <a:xfrm>
            <a:off x="10515600" y="4754880"/>
            <a:ext cx="100584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高</a:t>
            </a:r>
            <a:endParaRPr lang="en-US" sz="2200" dirty="0"/>
          </a:p>
        </p:txBody>
      </p:sp>
      <p:sp>
        <p:nvSpPr>
          <p:cNvPr id="32" name="Text 27"/>
          <p:cNvSpPr txBox="1"/>
          <p:nvPr/>
        </p:nvSpPr>
        <p:spPr>
          <a:xfrm>
            <a:off x="8046720" y="5760720"/>
            <a:ext cx="3566160" cy="365760"/>
          </a:xfrm>
          <a:prstGeom prst="rect">
            <a:avLst/>
          </a:prstGeom>
          <a:noFill/>
          <a:ln/>
        </p:spPr>
        <p:txBody>
          <a:bodyPr wrap="square" lIns="0" tIns="0" rIns="0" bIns="0" rtlCol="0" anchor="ctr"/>
          <a:lstStyle/>
          <a:p>
            <a:pPr algn="ctr" indent="0" marL="0">
              <a:buNone/>
            </a:pPr>
            <a:r>
              <a:rPr lang="en-US" sz="1300" dirty="0">
                <a:solidFill>
                  <a:srgbClr val="5B6B70"/>
                </a:solidFill>
                <a:latin typeface="Meiryo" pitchFamily="34" charset="0"/>
                <a:ea typeface="Meiryo" pitchFamily="34" charset="-122"/>
                <a:cs typeface="Meiryo" pitchFamily="34" charset="-120"/>
              </a:rPr>
              <a:t>滑らかに接続</a:t>
            </a:r>
            <a:endParaRPr lang="en-US" sz="1300" dirty="0"/>
          </a:p>
        </p:txBody>
      </p:sp>
      <p:sp>
        <p:nvSpPr>
          <p:cNvPr id="33" name="Shape 28"/>
          <p:cNvSpPr/>
          <p:nvPr/>
        </p:nvSpPr>
        <p:spPr>
          <a:xfrm>
            <a:off x="548640" y="6272784"/>
            <a:ext cx="566928" cy="274320"/>
          </a:xfrm>
          <a:prstGeom prst="roundRect">
            <a:avLst>
              <a:gd name="adj" fmla="val 16667"/>
            </a:avLst>
          </a:prstGeom>
          <a:solidFill>
            <a:srgbClr val="0B4F5C"/>
          </a:solidFill>
          <a:ln w="12700">
            <a:solidFill>
              <a:srgbClr val="0B4F5C"/>
            </a:solidFill>
            <a:prstDash val="solid"/>
          </a:ln>
        </p:spPr>
      </p:sp>
      <p:sp>
        <p:nvSpPr>
          <p:cNvPr id="34" name="Text 29"/>
          <p:cNvSpPr txBox="1"/>
          <p:nvPr/>
        </p:nvSpPr>
        <p:spPr>
          <a:xfrm>
            <a:off x="548640" y="6272784"/>
            <a:ext cx="5669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根拠</a:t>
            </a:r>
            <a:endParaRPr lang="en-US" sz="1000" dirty="0"/>
          </a:p>
        </p:txBody>
      </p:sp>
      <p:sp>
        <p:nvSpPr>
          <p:cNvPr id="35" name="Text 30"/>
          <p:cNvSpPr txBox="1"/>
          <p:nvPr/>
        </p:nvSpPr>
        <p:spPr>
          <a:xfrm>
            <a:off x="1207008" y="6217920"/>
            <a:ext cx="9966960" cy="384048"/>
          </a:xfrm>
          <a:prstGeom prst="rect">
            <a:avLst/>
          </a:prstGeom>
          <a:noFill/>
          <a:ln/>
        </p:spPr>
        <p:txBody>
          <a:bodyPr wrap="square" lIns="0" tIns="0" rIns="0" bIns="0" rtlCol="0" anchor="ctr"/>
          <a:lstStyle/>
          <a:p>
            <a:pPr indent="0" marL="0">
              <a:buNone/>
            </a:pPr>
            <a:r>
              <a:rPr lang="en-US" sz="950" dirty="0">
                <a:solidFill>
                  <a:srgbClr val="5B6B70"/>
                </a:solidFill>
                <a:latin typeface="Meiryo" pitchFamily="34" charset="0"/>
                <a:ea typeface="Meiryo" pitchFamily="34" charset="-122"/>
                <a:cs typeface="Meiryo" pitchFamily="34" charset="-120"/>
              </a:rPr>
              <a:t>教育課程部会 外国語WG 資料1「AI時代に外国語を学ぶ本質的意義」（令和7年10月30日）／教育課程企画特別部会「次期学習指導要領等に向けた審議まとめ（素案）」（令和8年8月31日）</a:t>
            </a:r>
            <a:endParaRPr lang="en-US" sz="950" dirty="0"/>
          </a:p>
        </p:txBody>
      </p:sp>
      <p:sp>
        <p:nvSpPr>
          <p:cNvPr id="36" name="Text 3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4F5C"/>
        </a:solidFill>
      </p:bgPr>
    </p:bg>
    <p:spTree>
      <p:nvGrpSpPr>
        <p:cNvPr id="1" name=""/>
        <p:cNvGrpSpPr/>
        <p:nvPr/>
      </p:nvGrpSpPr>
      <p:grpSpPr>
        <a:xfrm>
          <a:off x="0" y="0"/>
          <a:ext cx="0" cy="0"/>
          <a:chOff x="0" y="0"/>
          <a:chExt cx="0" cy="0"/>
        </a:xfrm>
      </p:grpSpPr>
      <p:sp>
        <p:nvSpPr>
          <p:cNvPr id="2" name="Shape 0"/>
          <p:cNvSpPr/>
          <p:nvPr/>
        </p:nvSpPr>
        <p:spPr>
          <a:xfrm>
            <a:off x="9326880" y="4206240"/>
            <a:ext cx="4114800" cy="4114800"/>
          </a:xfrm>
          <a:prstGeom prst="ellipse">
            <a:avLst/>
          </a:prstGeom>
          <a:solidFill>
            <a:srgbClr val="1B7F8C">
              <a:alpha val="45000"/>
            </a:srgbClr>
          </a:solidFill>
          <a:ln w="12700">
            <a:solidFill>
              <a:srgbClr val="1B7F8C">
                <a:alpha val="45000"/>
              </a:srgbClr>
            </a:solidFill>
            <a:prstDash val="solid"/>
          </a:ln>
        </p:spPr>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【協議・まとめ】我が校の明日の一歩</a:t>
            </a:r>
            <a:endParaRPr lang="en-US" sz="3000" dirty="0"/>
          </a:p>
        </p:txBody>
      </p:sp>
      <p:sp>
        <p:nvSpPr>
          <p:cNvPr id="4" name="Text 2"/>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DCEFEF"/>
                </a:solidFill>
                <a:latin typeface="Meiryo" pitchFamily="34" charset="0"/>
                <a:ea typeface="Meiryo" pitchFamily="34" charset="-122"/>
                <a:cs typeface="Meiryo" pitchFamily="34" charset="-120"/>
              </a:rPr>
              <a:t>グループ協議 15分 ＋ 指導主事からのエール 5分</a:t>
            </a:r>
            <a:endParaRPr lang="en-US" sz="1600" dirty="0"/>
          </a:p>
        </p:txBody>
      </p:sp>
      <p:sp>
        <p:nvSpPr>
          <p:cNvPr id="5" name="Shape 3"/>
          <p:cNvSpPr/>
          <p:nvPr/>
        </p:nvSpPr>
        <p:spPr>
          <a:xfrm>
            <a:off x="548640" y="1783080"/>
            <a:ext cx="11064240" cy="1600200"/>
          </a:xfrm>
          <a:prstGeom prst="roundRect">
            <a:avLst>
              <a:gd name="adj" fmla="val 685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822960" y="2194560"/>
            <a:ext cx="777240" cy="77724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1025042" y="2396642"/>
            <a:ext cx="373075" cy="373075"/>
          </a:xfrm>
          <a:prstGeom prst="rect">
            <a:avLst/>
          </a:prstGeom>
        </p:spPr>
      </p:pic>
      <p:sp>
        <p:nvSpPr>
          <p:cNvPr id="8" name="Text 5"/>
          <p:cNvSpPr txBox="1"/>
          <p:nvPr/>
        </p:nvSpPr>
        <p:spPr>
          <a:xfrm>
            <a:off x="1828800" y="1874520"/>
            <a:ext cx="9509760" cy="1417320"/>
          </a:xfrm>
          <a:prstGeom prst="rect">
            <a:avLst/>
          </a:prstGeom>
          <a:noFill/>
          <a:ln/>
        </p:spPr>
        <p:txBody>
          <a:bodyPr wrap="square" lIns="0" tIns="0" rIns="0" bIns="0" rtlCol="0" anchor="ctr"/>
          <a:lstStyle/>
          <a:p>
            <a:pPr indent="0" marL="0">
              <a:buNone/>
            </a:pPr>
            <a:r>
              <a:rPr lang="en-US" sz="1800" b="1" dirty="0">
                <a:solidFill>
                  <a:srgbClr val="1E2B2F"/>
                </a:solidFill>
                <a:latin typeface="Meiryo" pitchFamily="34" charset="0"/>
                <a:ea typeface="Meiryo" pitchFamily="34" charset="-122"/>
                <a:cs typeface="Meiryo" pitchFamily="34" charset="-120"/>
              </a:rPr>
              <a:t>10年後の子どもたちに「舵取りする力」を育むために、自校で「自由進度」「マイ探究」「キャリア教育」のどれから小さな挑戦（出島）を創めますか？</a:t>
            </a:r>
            <a:endParaRPr lang="en-US" sz="1800" dirty="0"/>
          </a:p>
        </p:txBody>
      </p:sp>
      <p:sp>
        <p:nvSpPr>
          <p:cNvPr id="9" name="Shape 6"/>
          <p:cNvSpPr/>
          <p:nvPr/>
        </p:nvSpPr>
        <p:spPr>
          <a:xfrm>
            <a:off x="548640" y="3611880"/>
            <a:ext cx="2377440" cy="640080"/>
          </a:xfrm>
          <a:prstGeom prst="roundRect">
            <a:avLst>
              <a:gd name="adj" fmla="val 50000"/>
            </a:avLst>
          </a:prstGeom>
          <a:solidFill>
            <a:srgbClr val="1B7F8C"/>
          </a:solidFill>
          <a:ln w="12700">
            <a:solidFill>
              <a:srgbClr val="1B7F8C"/>
            </a:solidFill>
            <a:prstDash val="solid"/>
          </a:ln>
        </p:spPr>
      </p:sp>
      <p:pic>
        <p:nvPicPr>
          <p:cNvPr id="10" name="Image 1" descr="preencoded.png">    </p:cNvPr>
          <p:cNvPicPr>
            <a:picLocks noChangeAspect="1"/>
          </p:cNvPicPr>
          <p:nvPr/>
        </p:nvPicPr>
        <p:blipFill>
          <a:blip r:embed="rId2"/>
          <a:stretch>
            <a:fillRect/>
          </a:stretch>
        </p:blipFill>
        <p:spPr>
          <a:xfrm>
            <a:off x="822960" y="3749040"/>
            <a:ext cx="365760" cy="365760"/>
          </a:xfrm>
          <a:prstGeom prst="rect">
            <a:avLst/>
          </a:prstGeom>
        </p:spPr>
      </p:pic>
      <p:sp>
        <p:nvSpPr>
          <p:cNvPr id="11" name="Text 7"/>
          <p:cNvSpPr txBox="1"/>
          <p:nvPr/>
        </p:nvSpPr>
        <p:spPr>
          <a:xfrm>
            <a:off x="1280160" y="3611880"/>
            <a:ext cx="1554480" cy="64008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自由進度</a:t>
            </a:r>
            <a:endParaRPr lang="en-US" sz="1500" dirty="0"/>
          </a:p>
        </p:txBody>
      </p:sp>
      <p:sp>
        <p:nvSpPr>
          <p:cNvPr id="12" name="Shape 8"/>
          <p:cNvSpPr/>
          <p:nvPr/>
        </p:nvSpPr>
        <p:spPr>
          <a:xfrm>
            <a:off x="3200400" y="3611880"/>
            <a:ext cx="2377440" cy="640080"/>
          </a:xfrm>
          <a:prstGeom prst="roundRect">
            <a:avLst>
              <a:gd name="adj" fmla="val 50000"/>
            </a:avLst>
          </a:prstGeom>
          <a:solidFill>
            <a:srgbClr val="1B7F8C"/>
          </a:solidFill>
          <a:ln w="12700">
            <a:solidFill>
              <a:srgbClr val="1B7F8C"/>
            </a:solidFill>
            <a:prstDash val="solid"/>
          </a:ln>
        </p:spPr>
      </p:sp>
      <p:pic>
        <p:nvPicPr>
          <p:cNvPr id="13" name="Image 2" descr="preencoded.png">    </p:cNvPr>
          <p:cNvPicPr>
            <a:picLocks noChangeAspect="1"/>
          </p:cNvPicPr>
          <p:nvPr/>
        </p:nvPicPr>
        <p:blipFill>
          <a:blip r:embed="rId3"/>
          <a:stretch>
            <a:fillRect/>
          </a:stretch>
        </p:blipFill>
        <p:spPr>
          <a:xfrm>
            <a:off x="3474720" y="3749040"/>
            <a:ext cx="365760" cy="365760"/>
          </a:xfrm>
          <a:prstGeom prst="rect">
            <a:avLst/>
          </a:prstGeom>
        </p:spPr>
      </p:pic>
      <p:sp>
        <p:nvSpPr>
          <p:cNvPr id="14" name="Text 9"/>
          <p:cNvSpPr txBox="1"/>
          <p:nvPr/>
        </p:nvSpPr>
        <p:spPr>
          <a:xfrm>
            <a:off x="3931920" y="3611880"/>
            <a:ext cx="1554480" cy="64008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マイ探究</a:t>
            </a:r>
            <a:endParaRPr lang="en-US" sz="1500" dirty="0"/>
          </a:p>
        </p:txBody>
      </p:sp>
      <p:sp>
        <p:nvSpPr>
          <p:cNvPr id="15" name="Shape 10"/>
          <p:cNvSpPr/>
          <p:nvPr/>
        </p:nvSpPr>
        <p:spPr>
          <a:xfrm>
            <a:off x="5852160" y="3611880"/>
            <a:ext cx="2377440" cy="640080"/>
          </a:xfrm>
          <a:prstGeom prst="roundRect">
            <a:avLst>
              <a:gd name="adj" fmla="val 50000"/>
            </a:avLst>
          </a:prstGeom>
          <a:solidFill>
            <a:srgbClr val="1B7F8C"/>
          </a:solidFill>
          <a:ln w="12700">
            <a:solidFill>
              <a:srgbClr val="1B7F8C"/>
            </a:solidFill>
            <a:prstDash val="solid"/>
          </a:ln>
        </p:spPr>
      </p:sp>
      <p:pic>
        <p:nvPicPr>
          <p:cNvPr id="16" name="Image 3" descr="preencoded.png">    </p:cNvPr>
          <p:cNvPicPr>
            <a:picLocks noChangeAspect="1"/>
          </p:cNvPicPr>
          <p:nvPr/>
        </p:nvPicPr>
        <p:blipFill>
          <a:blip r:embed="rId4"/>
          <a:stretch>
            <a:fillRect/>
          </a:stretch>
        </p:blipFill>
        <p:spPr>
          <a:xfrm>
            <a:off x="6126480" y="3749040"/>
            <a:ext cx="365760" cy="365760"/>
          </a:xfrm>
          <a:prstGeom prst="rect">
            <a:avLst/>
          </a:prstGeom>
        </p:spPr>
      </p:pic>
      <p:sp>
        <p:nvSpPr>
          <p:cNvPr id="17" name="Text 11"/>
          <p:cNvSpPr txBox="1"/>
          <p:nvPr/>
        </p:nvSpPr>
        <p:spPr>
          <a:xfrm>
            <a:off x="6583680" y="3611880"/>
            <a:ext cx="1554480" cy="64008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キャリア教育</a:t>
            </a:r>
            <a:endParaRPr lang="en-US" sz="1500" dirty="0"/>
          </a:p>
        </p:txBody>
      </p:sp>
      <p:sp>
        <p:nvSpPr>
          <p:cNvPr id="18" name="Text 12"/>
          <p:cNvSpPr txBox="1"/>
          <p:nvPr/>
        </p:nvSpPr>
        <p:spPr>
          <a:xfrm>
            <a:off x="8503920" y="3611880"/>
            <a:ext cx="3108960" cy="640080"/>
          </a:xfrm>
          <a:prstGeom prst="rect">
            <a:avLst/>
          </a:prstGeom>
          <a:noFill/>
          <a:ln/>
        </p:spPr>
        <p:txBody>
          <a:bodyPr wrap="square" lIns="0" tIns="0" rIns="0" bIns="0" rtlCol="0" anchor="ctr"/>
          <a:lstStyle/>
          <a:p>
            <a:pPr indent="0" marL="0">
              <a:buNone/>
            </a:pPr>
            <a:r>
              <a:rPr lang="en-US" sz="1300" dirty="0">
                <a:solidFill>
                  <a:srgbClr val="DCEFEF"/>
                </a:solidFill>
                <a:latin typeface="Meiryo" pitchFamily="34" charset="0"/>
                <a:ea typeface="Meiryo" pitchFamily="34" charset="-122"/>
                <a:cs typeface="Meiryo" pitchFamily="34" charset="-120"/>
              </a:rPr>
              <a:t>校長・副校長・教諭の</a:t>
            </a:r>
            <a:endParaRPr lang="en-US" sz="1300" dirty="0"/>
          </a:p>
          <a:p>
            <a:pPr indent="0" marL="0">
              <a:buNone/>
            </a:pPr>
            <a:r>
              <a:rPr lang="en-US" sz="1300" dirty="0">
                <a:solidFill>
                  <a:srgbClr val="DCEFEF"/>
                </a:solidFill>
                <a:latin typeface="Meiryo" pitchFamily="34" charset="0"/>
                <a:ea typeface="Meiryo" pitchFamily="34" charset="-122"/>
                <a:cs typeface="Meiryo" pitchFamily="34" charset="-120"/>
              </a:rPr>
              <a:t>ミックスグループで</a:t>
            </a:r>
            <a:endParaRPr lang="en-US" sz="1300" dirty="0"/>
          </a:p>
        </p:txBody>
      </p:sp>
      <p:sp>
        <p:nvSpPr>
          <p:cNvPr id="19" name="Shape 13"/>
          <p:cNvSpPr/>
          <p:nvPr/>
        </p:nvSpPr>
        <p:spPr>
          <a:xfrm>
            <a:off x="548640" y="4663440"/>
            <a:ext cx="868680" cy="868680"/>
          </a:xfrm>
          <a:prstGeom prst="ellipse">
            <a:avLst/>
          </a:prstGeom>
          <a:solidFill>
            <a:srgbClr val="F2A541"/>
          </a:solidFill>
          <a:ln w="12700">
            <a:solidFill>
              <a:srgbClr val="F2A541"/>
            </a:solidFill>
            <a:prstDash val="solid"/>
          </a:ln>
        </p:spPr>
      </p:sp>
      <p:pic>
        <p:nvPicPr>
          <p:cNvPr id="20" name="Image 4" descr="preencoded.png">    </p:cNvPr>
          <p:cNvPicPr>
            <a:picLocks noChangeAspect="1"/>
          </p:cNvPicPr>
          <p:nvPr/>
        </p:nvPicPr>
        <p:blipFill>
          <a:blip r:embed="rId5"/>
          <a:stretch>
            <a:fillRect/>
          </a:stretch>
        </p:blipFill>
        <p:spPr>
          <a:xfrm>
            <a:off x="774497" y="4889297"/>
            <a:ext cx="416966" cy="416966"/>
          </a:xfrm>
          <a:prstGeom prst="rect">
            <a:avLst/>
          </a:prstGeom>
        </p:spPr>
      </p:pic>
      <p:sp>
        <p:nvSpPr>
          <p:cNvPr id="21" name="Text 14"/>
          <p:cNvSpPr txBox="1"/>
          <p:nvPr/>
        </p:nvSpPr>
        <p:spPr>
          <a:xfrm>
            <a:off x="1645920" y="4526280"/>
            <a:ext cx="8229600" cy="118872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学習指導要領は現場を縛る制限ではなく、学校と子どもたちが未来を自分たちの手で創るための「自由な出島」です。</a:t>
            </a:r>
            <a:endParaRPr lang="en-US" sz="1900" dirty="0"/>
          </a:p>
        </p:txBody>
      </p:sp>
      <p:sp>
        <p:nvSpPr>
          <p:cNvPr id="22" name="Text 15"/>
          <p:cNvSpPr txBox="1"/>
          <p:nvPr/>
        </p:nvSpPr>
        <p:spPr>
          <a:xfrm>
            <a:off x="1645920" y="5760720"/>
            <a:ext cx="8229600" cy="411480"/>
          </a:xfrm>
          <a:prstGeom prst="rect">
            <a:avLst/>
          </a:prstGeom>
          <a:noFill/>
          <a:ln/>
        </p:spPr>
        <p:txBody>
          <a:bodyPr wrap="square" lIns="0" tIns="0" rIns="0" bIns="0" rtlCol="0" anchor="ctr"/>
          <a:lstStyle/>
          <a:p>
            <a:pPr indent="0" marL="0">
              <a:buNone/>
            </a:pPr>
            <a:r>
              <a:rPr lang="en-US" sz="1500" dirty="0">
                <a:solidFill>
                  <a:srgbClr val="F2A541"/>
                </a:solidFill>
                <a:latin typeface="Meiryo" pitchFamily="34" charset="0"/>
                <a:ea typeface="Meiryo" pitchFamily="34" charset="-122"/>
                <a:cs typeface="Meiryo" pitchFamily="34" charset="-120"/>
              </a:rPr>
              <a:t>皆様の実践こそが、10年後の教育界の希望です。</a:t>
            </a:r>
            <a:endParaRPr lang="en-US" sz="1500" dirty="0"/>
          </a:p>
        </p:txBody>
      </p:sp>
      <p:sp>
        <p:nvSpPr>
          <p:cNvPr id="23" name="Shape 16"/>
          <p:cNvSpPr/>
          <p:nvPr/>
        </p:nvSpPr>
        <p:spPr>
          <a:xfrm>
            <a:off x="548640" y="6272784"/>
            <a:ext cx="566928" cy="274320"/>
          </a:xfrm>
          <a:prstGeom prst="roundRect">
            <a:avLst>
              <a:gd name="adj" fmla="val 16667"/>
            </a:avLst>
          </a:prstGeom>
          <a:solidFill>
            <a:srgbClr val="F2A541"/>
          </a:solidFill>
          <a:ln w="12700">
            <a:solidFill>
              <a:srgbClr val="F2A541"/>
            </a:solidFill>
            <a:prstDash val="solid"/>
          </a:ln>
        </p:spPr>
      </p:sp>
      <p:sp>
        <p:nvSpPr>
          <p:cNvPr id="24" name="Text 17"/>
          <p:cNvSpPr txBox="1"/>
          <p:nvPr/>
        </p:nvSpPr>
        <p:spPr>
          <a:xfrm>
            <a:off x="548640" y="6272784"/>
            <a:ext cx="566928" cy="274320"/>
          </a:xfrm>
          <a:prstGeom prst="rect">
            <a:avLst/>
          </a:prstGeom>
          <a:noFill/>
          <a:ln/>
        </p:spPr>
        <p:txBody>
          <a:bodyPr wrap="square" lIns="0" tIns="0" rIns="0" bIns="0" rtlCol="0" anchor="ctr"/>
          <a:lstStyle/>
          <a:p>
            <a:pPr algn="ctr" indent="0" marL="0">
              <a:buNone/>
            </a:pPr>
            <a:r>
              <a:rPr lang="en-US" sz="1000" b="1" dirty="0">
                <a:solidFill>
                  <a:srgbClr val="1E2B2F"/>
                </a:solidFill>
                <a:latin typeface="Meiryo" pitchFamily="34" charset="0"/>
                <a:ea typeface="Meiryo" pitchFamily="34" charset="-122"/>
                <a:cs typeface="Meiryo" pitchFamily="34" charset="-120"/>
              </a:rPr>
              <a:t>根拠</a:t>
            </a:r>
            <a:endParaRPr lang="en-US" sz="1000" dirty="0"/>
          </a:p>
        </p:txBody>
      </p:sp>
      <p:sp>
        <p:nvSpPr>
          <p:cNvPr id="25" name="Text 18"/>
          <p:cNvSpPr txBox="1"/>
          <p:nvPr/>
        </p:nvSpPr>
        <p:spPr>
          <a:xfrm>
            <a:off x="1207008" y="6217920"/>
            <a:ext cx="9966960" cy="384048"/>
          </a:xfrm>
          <a:prstGeom prst="rect">
            <a:avLst/>
          </a:prstGeom>
          <a:noFill/>
          <a:ln/>
        </p:spPr>
        <p:txBody>
          <a:bodyPr wrap="square" lIns="0" tIns="0" rIns="0" bIns="0" rtlCol="0" anchor="ctr"/>
          <a:lstStyle/>
          <a:p>
            <a:pPr indent="0" marL="0">
              <a:buNone/>
            </a:pPr>
            <a:r>
              <a:rPr lang="en-US" sz="950" dirty="0">
                <a:solidFill>
                  <a:srgbClr val="DCEFEF"/>
                </a:solidFill>
                <a:latin typeface="Meiryo" pitchFamily="34" charset="0"/>
                <a:ea typeface="Meiryo" pitchFamily="34" charset="-122"/>
                <a:cs typeface="Meiryo" pitchFamily="34" charset="-120"/>
              </a:rPr>
              <a:t>教育課程企画特別部会「論点整理」（令和7年9月25日）：構造化・精選等による「余白」の創出、調整授業時数制度・裁量的な時間の検討（要旨）</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B4F5C"/>
                </a:solidFill>
                <a:latin typeface="Meiryo" pitchFamily="34" charset="0"/>
                <a:ea typeface="Meiryo" pitchFamily="34" charset="-122"/>
                <a:cs typeface="Meiryo" pitchFamily="34" charset="-120"/>
              </a:rPr>
              <a:t>参考資料（文部科学省・中央教育審議会）</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B70"/>
                </a:solidFill>
                <a:latin typeface="Meiryo" pitchFamily="34" charset="0"/>
                <a:ea typeface="Meiryo" pitchFamily="34" charset="-122"/>
                <a:cs typeface="Meiryo" pitchFamily="34" charset="-120"/>
              </a:rPr>
              <a:t>本講評の根拠資料。原文は文部科学省ウェブサイトでご確認ください</a:t>
            </a:r>
            <a:endParaRPr lang="en-US" sz="1600" dirty="0"/>
          </a:p>
        </p:txBody>
      </p:sp>
      <p:sp>
        <p:nvSpPr>
          <p:cNvPr id="4" name="Shape 2"/>
          <p:cNvSpPr/>
          <p:nvPr/>
        </p:nvSpPr>
        <p:spPr>
          <a:xfrm>
            <a:off x="548640" y="1783080"/>
            <a:ext cx="11064240" cy="603504"/>
          </a:xfrm>
          <a:prstGeom prst="rect">
            <a:avLst/>
          </a:prstGeom>
          <a:solidFill>
            <a:srgbClr val="F3F8F8"/>
          </a:solidFill>
          <a:ln w="12700">
            <a:solidFill>
              <a:srgbClr val="F3F8F8"/>
            </a:solidFill>
            <a:prstDash val="solid"/>
          </a:ln>
        </p:spPr>
      </p:sp>
      <p:sp>
        <p:nvSpPr>
          <p:cNvPr id="5" name="Shape 3"/>
          <p:cNvSpPr/>
          <p:nvPr/>
        </p:nvSpPr>
        <p:spPr>
          <a:xfrm>
            <a:off x="685800" y="1920240"/>
            <a:ext cx="1143000" cy="329184"/>
          </a:xfrm>
          <a:prstGeom prst="roundRect">
            <a:avLst>
              <a:gd name="adj" fmla="val 16667"/>
            </a:avLst>
          </a:prstGeom>
          <a:solidFill>
            <a:srgbClr val="0B4F5C"/>
          </a:solidFill>
          <a:ln w="12700">
            <a:solidFill>
              <a:srgbClr val="0B4F5C"/>
            </a:solidFill>
            <a:prstDash val="solid"/>
          </a:ln>
        </p:spPr>
      </p:sp>
      <p:sp>
        <p:nvSpPr>
          <p:cNvPr id="6" name="Text 4"/>
          <p:cNvSpPr txBox="1"/>
          <p:nvPr/>
        </p:nvSpPr>
        <p:spPr>
          <a:xfrm>
            <a:off x="685800" y="1920240"/>
            <a:ext cx="1143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諮問</a:t>
            </a:r>
            <a:endParaRPr lang="en-US" sz="1100" dirty="0"/>
          </a:p>
        </p:txBody>
      </p:sp>
      <p:sp>
        <p:nvSpPr>
          <p:cNvPr id="7" name="Text 5"/>
          <p:cNvSpPr txBox="1"/>
          <p:nvPr/>
        </p:nvSpPr>
        <p:spPr>
          <a:xfrm>
            <a:off x="2011680" y="1828800"/>
            <a:ext cx="7223760" cy="292608"/>
          </a:xfrm>
          <a:prstGeom prst="rect">
            <a:avLst/>
          </a:prstGeom>
          <a:noFill/>
          <a:ln/>
        </p:spPr>
        <p:txBody>
          <a:bodyPr wrap="square" lIns="0" tIns="0" rIns="0" bIns="0" rtlCol="0" anchor="ctr"/>
          <a:lstStyle/>
          <a:p>
            <a:pPr indent="0" marL="0">
              <a:buNone/>
            </a:pPr>
            <a:r>
              <a:rPr lang="en-US" sz="1300" b="1" dirty="0">
                <a:solidFill>
                  <a:srgbClr val="1E2B2F"/>
                </a:solidFill>
                <a:latin typeface="Meiryo" pitchFamily="34" charset="0"/>
                <a:ea typeface="Meiryo" pitchFamily="34" charset="-122"/>
                <a:cs typeface="Meiryo" pitchFamily="34" charset="-120"/>
              </a:rPr>
              <a:t>初等中等教育における教育課程の基準等の在り方について（諮問）</a:t>
            </a:r>
            <a:endParaRPr lang="en-US" sz="1300" dirty="0"/>
          </a:p>
        </p:txBody>
      </p:sp>
      <p:sp>
        <p:nvSpPr>
          <p:cNvPr id="8" name="Text 6">
            <a:hlinkClick r:id="rId1" tooltip=""/>
          </p:cNvPr>
          <p:cNvSpPr txBox="1"/>
          <p:nvPr/>
        </p:nvSpPr>
        <p:spPr>
          <a:xfrm>
            <a:off x="2011680" y="2112264"/>
            <a:ext cx="7223760" cy="237744"/>
          </a:xfrm>
          <a:prstGeom prst="rect">
            <a:avLst/>
          </a:prstGeom>
          <a:noFill/>
          <a:ln/>
        </p:spPr>
        <p:txBody>
          <a:bodyPr wrap="square" lIns="0" tIns="0" rIns="0" bIns="0" rtlCol="0" anchor="ctr"/>
          <a:lstStyle/>
          <a:p>
            <a:pPr indent="0" marL="0">
              <a:buNone/>
            </a:pPr>
            <a:r>
              <a:rPr lang="en-US" sz="900" u="sng" dirty="0">
                <a:solidFill>
                  <a:srgbClr val="1B7F8C"/>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https://www.mext.go.jp/b_menu/shingi/chukyo/chukyo0/toushin/mext_00003.html</a:t>
            </a:r>
            <a:endParaRPr lang="en-US" sz="900" dirty="0"/>
          </a:p>
        </p:txBody>
      </p:sp>
      <p:sp>
        <p:nvSpPr>
          <p:cNvPr id="9" name="Text 7"/>
          <p:cNvSpPr txBox="1"/>
          <p:nvPr/>
        </p:nvSpPr>
        <p:spPr>
          <a:xfrm>
            <a:off x="9326880" y="1783080"/>
            <a:ext cx="2148840" cy="603504"/>
          </a:xfrm>
          <a:prstGeom prst="rect">
            <a:avLst/>
          </a:prstGeom>
          <a:noFill/>
          <a:ln/>
        </p:spPr>
        <p:txBody>
          <a:bodyPr wrap="square" lIns="0" tIns="0" rIns="0" bIns="0" rtlCol="0" anchor="ctr"/>
          <a:lstStyle/>
          <a:p>
            <a:pPr algn="r" indent="0" marL="0">
              <a:buNone/>
            </a:pPr>
            <a:r>
              <a:rPr lang="en-US" sz="1200" dirty="0">
                <a:solidFill>
                  <a:srgbClr val="5B6B70"/>
                </a:solidFill>
                <a:latin typeface="Meiryo" pitchFamily="34" charset="0"/>
                <a:ea typeface="Meiryo" pitchFamily="34" charset="-122"/>
                <a:cs typeface="Meiryo" pitchFamily="34" charset="-120"/>
              </a:rPr>
              <a:t>令和6年12月25日</a:t>
            </a:r>
            <a:endParaRPr lang="en-US" sz="1200" dirty="0"/>
          </a:p>
        </p:txBody>
      </p:sp>
      <p:sp>
        <p:nvSpPr>
          <p:cNvPr id="10" name="Shape 8"/>
          <p:cNvSpPr/>
          <p:nvPr/>
        </p:nvSpPr>
        <p:spPr>
          <a:xfrm>
            <a:off x="685800" y="2523744"/>
            <a:ext cx="1143000" cy="329184"/>
          </a:xfrm>
          <a:prstGeom prst="roundRect">
            <a:avLst>
              <a:gd name="adj" fmla="val 16667"/>
            </a:avLst>
          </a:prstGeom>
          <a:solidFill>
            <a:srgbClr val="0B4F5C"/>
          </a:solidFill>
          <a:ln w="12700">
            <a:solidFill>
              <a:srgbClr val="0B4F5C"/>
            </a:solidFill>
            <a:prstDash val="solid"/>
          </a:ln>
        </p:spPr>
      </p:sp>
      <p:sp>
        <p:nvSpPr>
          <p:cNvPr id="11" name="Text 9"/>
          <p:cNvSpPr txBox="1"/>
          <p:nvPr/>
        </p:nvSpPr>
        <p:spPr>
          <a:xfrm>
            <a:off x="685800" y="2523744"/>
            <a:ext cx="1143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論点整理</a:t>
            </a:r>
            <a:endParaRPr lang="en-US" sz="1100" dirty="0"/>
          </a:p>
        </p:txBody>
      </p:sp>
      <p:sp>
        <p:nvSpPr>
          <p:cNvPr id="12" name="Text 10"/>
          <p:cNvSpPr txBox="1"/>
          <p:nvPr/>
        </p:nvSpPr>
        <p:spPr>
          <a:xfrm>
            <a:off x="2011680" y="2432304"/>
            <a:ext cx="7223760" cy="292608"/>
          </a:xfrm>
          <a:prstGeom prst="rect">
            <a:avLst/>
          </a:prstGeom>
          <a:noFill/>
          <a:ln/>
        </p:spPr>
        <p:txBody>
          <a:bodyPr wrap="square" lIns="0" tIns="0" rIns="0" bIns="0" rtlCol="0" anchor="ctr"/>
          <a:lstStyle/>
          <a:p>
            <a:pPr indent="0" marL="0">
              <a:buNone/>
            </a:pPr>
            <a:r>
              <a:rPr lang="en-US" sz="1300" b="1" dirty="0">
                <a:solidFill>
                  <a:srgbClr val="1E2B2F"/>
                </a:solidFill>
                <a:latin typeface="Meiryo" pitchFamily="34" charset="0"/>
                <a:ea typeface="Meiryo" pitchFamily="34" charset="-122"/>
                <a:cs typeface="Meiryo" pitchFamily="34" charset="-120"/>
              </a:rPr>
              <a:t>教育課程企画特別部会 論点整理</a:t>
            </a:r>
            <a:endParaRPr lang="en-US" sz="1300" dirty="0"/>
          </a:p>
        </p:txBody>
      </p:sp>
      <p:sp>
        <p:nvSpPr>
          <p:cNvPr id="13" name="Text 11">
            <a:hlinkClick r:id="rId2" tooltip=""/>
          </p:cNvPr>
          <p:cNvSpPr txBox="1"/>
          <p:nvPr/>
        </p:nvSpPr>
        <p:spPr>
          <a:xfrm>
            <a:off x="2011680" y="2715768"/>
            <a:ext cx="7223760" cy="237744"/>
          </a:xfrm>
          <a:prstGeom prst="rect">
            <a:avLst/>
          </a:prstGeom>
          <a:noFill/>
          <a:ln/>
        </p:spPr>
        <p:txBody>
          <a:bodyPr wrap="square" lIns="0" tIns="0" rIns="0" bIns="0" rtlCol="0" anchor="ctr"/>
          <a:lstStyle/>
          <a:p>
            <a:pPr indent="0" marL="0">
              <a:buNone/>
            </a:pPr>
            <a:r>
              <a:rPr lang="en-US" sz="900" u="sng" dirty="0">
                <a:solidFill>
                  <a:srgbClr val="1B7F8C"/>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https://www.mext.go.jp/b_menu/shingi/chukyo/chukyo3/004/gaiyou/mext_00010.html</a:t>
            </a:r>
            <a:endParaRPr lang="en-US" sz="900" dirty="0"/>
          </a:p>
        </p:txBody>
      </p:sp>
      <p:sp>
        <p:nvSpPr>
          <p:cNvPr id="14" name="Text 12"/>
          <p:cNvSpPr txBox="1"/>
          <p:nvPr/>
        </p:nvSpPr>
        <p:spPr>
          <a:xfrm>
            <a:off x="9326880" y="2386584"/>
            <a:ext cx="2148840" cy="603504"/>
          </a:xfrm>
          <a:prstGeom prst="rect">
            <a:avLst/>
          </a:prstGeom>
          <a:noFill/>
          <a:ln/>
        </p:spPr>
        <p:txBody>
          <a:bodyPr wrap="square" lIns="0" tIns="0" rIns="0" bIns="0" rtlCol="0" anchor="ctr"/>
          <a:lstStyle/>
          <a:p>
            <a:pPr algn="r" indent="0" marL="0">
              <a:buNone/>
            </a:pPr>
            <a:r>
              <a:rPr lang="en-US" sz="1200" dirty="0">
                <a:solidFill>
                  <a:srgbClr val="5B6B70"/>
                </a:solidFill>
                <a:latin typeface="Meiryo" pitchFamily="34" charset="0"/>
                <a:ea typeface="Meiryo" pitchFamily="34" charset="-122"/>
                <a:cs typeface="Meiryo" pitchFamily="34" charset="-120"/>
              </a:rPr>
              <a:t>令和7年9月25日</a:t>
            </a:r>
            <a:endParaRPr lang="en-US" sz="1200" dirty="0"/>
          </a:p>
        </p:txBody>
      </p:sp>
      <p:sp>
        <p:nvSpPr>
          <p:cNvPr id="15" name="Shape 13"/>
          <p:cNvSpPr/>
          <p:nvPr/>
        </p:nvSpPr>
        <p:spPr>
          <a:xfrm>
            <a:off x="548640" y="2990088"/>
            <a:ext cx="11064240" cy="603504"/>
          </a:xfrm>
          <a:prstGeom prst="rect">
            <a:avLst/>
          </a:prstGeom>
          <a:solidFill>
            <a:srgbClr val="F3F8F8"/>
          </a:solidFill>
          <a:ln w="12700">
            <a:solidFill>
              <a:srgbClr val="F3F8F8"/>
            </a:solidFill>
            <a:prstDash val="solid"/>
          </a:ln>
        </p:spPr>
      </p:sp>
      <p:sp>
        <p:nvSpPr>
          <p:cNvPr id="16" name="Shape 14"/>
          <p:cNvSpPr/>
          <p:nvPr/>
        </p:nvSpPr>
        <p:spPr>
          <a:xfrm>
            <a:off x="685800" y="3127248"/>
            <a:ext cx="1143000" cy="329184"/>
          </a:xfrm>
          <a:prstGeom prst="roundRect">
            <a:avLst>
              <a:gd name="adj" fmla="val 16667"/>
            </a:avLst>
          </a:prstGeom>
          <a:solidFill>
            <a:srgbClr val="0B4F5C"/>
          </a:solidFill>
          <a:ln w="12700">
            <a:solidFill>
              <a:srgbClr val="0B4F5C"/>
            </a:solidFill>
            <a:prstDash val="solid"/>
          </a:ln>
        </p:spPr>
      </p:sp>
      <p:sp>
        <p:nvSpPr>
          <p:cNvPr id="17" name="Text 15"/>
          <p:cNvSpPr txBox="1"/>
          <p:nvPr/>
        </p:nvSpPr>
        <p:spPr>
          <a:xfrm>
            <a:off x="685800" y="3127248"/>
            <a:ext cx="1143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素案</a:t>
            </a:r>
            <a:endParaRPr lang="en-US" sz="1100" dirty="0"/>
          </a:p>
        </p:txBody>
      </p:sp>
      <p:sp>
        <p:nvSpPr>
          <p:cNvPr id="18" name="Text 16"/>
          <p:cNvSpPr txBox="1"/>
          <p:nvPr/>
        </p:nvSpPr>
        <p:spPr>
          <a:xfrm>
            <a:off x="2011680" y="3035808"/>
            <a:ext cx="7223760" cy="292608"/>
          </a:xfrm>
          <a:prstGeom prst="rect">
            <a:avLst/>
          </a:prstGeom>
          <a:noFill/>
          <a:ln/>
        </p:spPr>
        <p:txBody>
          <a:bodyPr wrap="square" lIns="0" tIns="0" rIns="0" bIns="0" rtlCol="0" anchor="ctr"/>
          <a:lstStyle/>
          <a:p>
            <a:pPr indent="0" marL="0">
              <a:buNone/>
            </a:pPr>
            <a:r>
              <a:rPr lang="en-US" sz="1300" b="1" dirty="0">
                <a:solidFill>
                  <a:srgbClr val="1E2B2F"/>
                </a:solidFill>
                <a:latin typeface="Meiryo" pitchFamily="34" charset="0"/>
                <a:ea typeface="Meiryo" pitchFamily="34" charset="-122"/>
                <a:cs typeface="Meiryo" pitchFamily="34" charset="-120"/>
              </a:rPr>
              <a:t>次期学習指導要領等に向けた審議まとめ（素案）（第17回 教育課程企画特別部会 資料1）</a:t>
            </a:r>
            <a:endParaRPr lang="en-US" sz="1300" dirty="0"/>
          </a:p>
        </p:txBody>
      </p:sp>
      <p:sp>
        <p:nvSpPr>
          <p:cNvPr id="19" name="Text 17">
            <a:hlinkClick r:id="rId3" tooltip=""/>
          </p:cNvPr>
          <p:cNvSpPr txBox="1"/>
          <p:nvPr/>
        </p:nvSpPr>
        <p:spPr>
          <a:xfrm>
            <a:off x="2011680" y="3319272"/>
            <a:ext cx="7223760" cy="237744"/>
          </a:xfrm>
          <a:prstGeom prst="rect">
            <a:avLst/>
          </a:prstGeom>
          <a:noFill/>
          <a:ln/>
        </p:spPr>
        <p:txBody>
          <a:bodyPr wrap="square" lIns="0" tIns="0" rIns="0" bIns="0" rtlCol="0" anchor="ctr"/>
          <a:lstStyle/>
          <a:p>
            <a:pPr indent="0" marL="0">
              <a:buNone/>
            </a:pPr>
            <a:r>
              <a:rPr lang="en-US" sz="900" u="sng" dirty="0">
                <a:solidFill>
                  <a:srgbClr val="1B7F8C"/>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https://www.mext.go.jp/b_menu/shingi/chukyo/chukyo3/101/siryo/mext_00056.html</a:t>
            </a:r>
            <a:endParaRPr lang="en-US" sz="900" dirty="0"/>
          </a:p>
        </p:txBody>
      </p:sp>
      <p:sp>
        <p:nvSpPr>
          <p:cNvPr id="20" name="Text 18"/>
          <p:cNvSpPr txBox="1"/>
          <p:nvPr/>
        </p:nvSpPr>
        <p:spPr>
          <a:xfrm>
            <a:off x="9326880" y="2990088"/>
            <a:ext cx="2148840" cy="603504"/>
          </a:xfrm>
          <a:prstGeom prst="rect">
            <a:avLst/>
          </a:prstGeom>
          <a:noFill/>
          <a:ln/>
        </p:spPr>
        <p:txBody>
          <a:bodyPr wrap="square" lIns="0" tIns="0" rIns="0" bIns="0" rtlCol="0" anchor="ctr"/>
          <a:lstStyle/>
          <a:p>
            <a:pPr algn="r" indent="0" marL="0">
              <a:buNone/>
            </a:pPr>
            <a:r>
              <a:rPr lang="en-US" sz="1200" dirty="0">
                <a:solidFill>
                  <a:srgbClr val="5B6B70"/>
                </a:solidFill>
                <a:latin typeface="Meiryo" pitchFamily="34" charset="0"/>
                <a:ea typeface="Meiryo" pitchFamily="34" charset="-122"/>
                <a:cs typeface="Meiryo" pitchFamily="34" charset="-120"/>
              </a:rPr>
              <a:t>令和8年8月31日</a:t>
            </a:r>
            <a:endParaRPr lang="en-US" sz="1200" dirty="0"/>
          </a:p>
        </p:txBody>
      </p:sp>
      <p:sp>
        <p:nvSpPr>
          <p:cNvPr id="21" name="Shape 19"/>
          <p:cNvSpPr/>
          <p:nvPr/>
        </p:nvSpPr>
        <p:spPr>
          <a:xfrm>
            <a:off x="685800" y="3730752"/>
            <a:ext cx="1143000" cy="329184"/>
          </a:xfrm>
          <a:prstGeom prst="roundRect">
            <a:avLst>
              <a:gd name="adj" fmla="val 16667"/>
            </a:avLst>
          </a:prstGeom>
          <a:solidFill>
            <a:srgbClr val="0B4F5C"/>
          </a:solidFill>
          <a:ln w="12700">
            <a:solidFill>
              <a:srgbClr val="0B4F5C"/>
            </a:solidFill>
            <a:prstDash val="solid"/>
          </a:ln>
        </p:spPr>
      </p:sp>
      <p:sp>
        <p:nvSpPr>
          <p:cNvPr id="22" name="Text 20"/>
          <p:cNvSpPr txBox="1"/>
          <p:nvPr/>
        </p:nvSpPr>
        <p:spPr>
          <a:xfrm>
            <a:off x="685800" y="3730752"/>
            <a:ext cx="1143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答申</a:t>
            </a:r>
            <a:endParaRPr lang="en-US" sz="1100" dirty="0"/>
          </a:p>
        </p:txBody>
      </p:sp>
      <p:sp>
        <p:nvSpPr>
          <p:cNvPr id="23" name="Text 21"/>
          <p:cNvSpPr txBox="1"/>
          <p:nvPr/>
        </p:nvSpPr>
        <p:spPr>
          <a:xfrm>
            <a:off x="2011680" y="3639312"/>
            <a:ext cx="7223760" cy="292608"/>
          </a:xfrm>
          <a:prstGeom prst="rect">
            <a:avLst/>
          </a:prstGeom>
          <a:noFill/>
          <a:ln/>
        </p:spPr>
        <p:txBody>
          <a:bodyPr wrap="square" lIns="0" tIns="0" rIns="0" bIns="0" rtlCol="0" anchor="ctr"/>
          <a:lstStyle/>
          <a:p>
            <a:pPr indent="0" marL="0">
              <a:buNone/>
            </a:pPr>
            <a:r>
              <a:rPr lang="en-US" sz="1300" b="1" dirty="0">
                <a:solidFill>
                  <a:srgbClr val="1E2B2F"/>
                </a:solidFill>
                <a:latin typeface="Meiryo" pitchFamily="34" charset="0"/>
                <a:ea typeface="Meiryo" pitchFamily="34" charset="-122"/>
                <a:cs typeface="Meiryo" pitchFamily="34" charset="-120"/>
              </a:rPr>
              <a:t>「令和の日本型学校教育」の構築を目指して（答申）【概要】</a:t>
            </a:r>
            <a:endParaRPr lang="en-US" sz="1300" dirty="0"/>
          </a:p>
        </p:txBody>
      </p:sp>
      <p:sp>
        <p:nvSpPr>
          <p:cNvPr id="24" name="Text 22">
            <a:hlinkClick r:id="rId4" tooltip=""/>
          </p:cNvPr>
          <p:cNvSpPr txBox="1"/>
          <p:nvPr/>
        </p:nvSpPr>
        <p:spPr>
          <a:xfrm>
            <a:off x="2011680" y="3922776"/>
            <a:ext cx="7223760" cy="237744"/>
          </a:xfrm>
          <a:prstGeom prst="rect">
            <a:avLst/>
          </a:prstGeom>
          <a:noFill/>
          <a:ln/>
        </p:spPr>
        <p:txBody>
          <a:bodyPr wrap="square" lIns="0" tIns="0" rIns="0" bIns="0" rtlCol="0" anchor="ctr"/>
          <a:lstStyle/>
          <a:p>
            <a:pPr indent="0" marL="0">
              <a:buNone/>
            </a:pPr>
            <a:r>
              <a:rPr lang="en-US" sz="900" u="sng" dirty="0">
                <a:solidFill>
                  <a:srgbClr val="1B7F8C"/>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https://www.mext.go.jp/content/20210126-mxt_syoto02-000012321_1-4.pdf</a:t>
            </a:r>
            <a:endParaRPr lang="en-US" sz="900" dirty="0"/>
          </a:p>
        </p:txBody>
      </p:sp>
      <p:sp>
        <p:nvSpPr>
          <p:cNvPr id="25" name="Text 23"/>
          <p:cNvSpPr txBox="1"/>
          <p:nvPr/>
        </p:nvSpPr>
        <p:spPr>
          <a:xfrm>
            <a:off x="9326880" y="3593592"/>
            <a:ext cx="2148840" cy="603504"/>
          </a:xfrm>
          <a:prstGeom prst="rect">
            <a:avLst/>
          </a:prstGeom>
          <a:noFill/>
          <a:ln/>
        </p:spPr>
        <p:txBody>
          <a:bodyPr wrap="square" lIns="0" tIns="0" rIns="0" bIns="0" rtlCol="0" anchor="ctr"/>
          <a:lstStyle/>
          <a:p>
            <a:pPr algn="r" indent="0" marL="0">
              <a:buNone/>
            </a:pPr>
            <a:r>
              <a:rPr lang="en-US" sz="1200" dirty="0">
                <a:solidFill>
                  <a:srgbClr val="5B6B70"/>
                </a:solidFill>
                <a:latin typeface="Meiryo" pitchFamily="34" charset="0"/>
                <a:ea typeface="Meiryo" pitchFamily="34" charset="-122"/>
                <a:cs typeface="Meiryo" pitchFamily="34" charset="-120"/>
              </a:rPr>
              <a:t>令和3年1月26日</a:t>
            </a:r>
            <a:endParaRPr lang="en-US" sz="1200" dirty="0"/>
          </a:p>
        </p:txBody>
      </p:sp>
      <p:sp>
        <p:nvSpPr>
          <p:cNvPr id="26" name="Shape 24"/>
          <p:cNvSpPr/>
          <p:nvPr/>
        </p:nvSpPr>
        <p:spPr>
          <a:xfrm>
            <a:off x="548640" y="4197096"/>
            <a:ext cx="11064240" cy="603504"/>
          </a:xfrm>
          <a:prstGeom prst="rect">
            <a:avLst/>
          </a:prstGeom>
          <a:solidFill>
            <a:srgbClr val="F3F8F8"/>
          </a:solidFill>
          <a:ln w="12700">
            <a:solidFill>
              <a:srgbClr val="F3F8F8"/>
            </a:solidFill>
            <a:prstDash val="solid"/>
          </a:ln>
        </p:spPr>
      </p:sp>
      <p:sp>
        <p:nvSpPr>
          <p:cNvPr id="27" name="Shape 25"/>
          <p:cNvSpPr/>
          <p:nvPr/>
        </p:nvSpPr>
        <p:spPr>
          <a:xfrm>
            <a:off x="685800" y="4334256"/>
            <a:ext cx="1143000" cy="329184"/>
          </a:xfrm>
          <a:prstGeom prst="roundRect">
            <a:avLst>
              <a:gd name="adj" fmla="val 16667"/>
            </a:avLst>
          </a:prstGeom>
          <a:solidFill>
            <a:srgbClr val="0B4F5C"/>
          </a:solidFill>
          <a:ln w="12700">
            <a:solidFill>
              <a:srgbClr val="0B4F5C"/>
            </a:solidFill>
            <a:prstDash val="solid"/>
          </a:ln>
        </p:spPr>
      </p:sp>
      <p:sp>
        <p:nvSpPr>
          <p:cNvPr id="28" name="Text 26"/>
          <p:cNvSpPr txBox="1"/>
          <p:nvPr/>
        </p:nvSpPr>
        <p:spPr>
          <a:xfrm>
            <a:off x="685800" y="4334256"/>
            <a:ext cx="1143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外国語WG</a:t>
            </a:r>
            <a:endParaRPr lang="en-US" sz="1100" dirty="0"/>
          </a:p>
        </p:txBody>
      </p:sp>
      <p:sp>
        <p:nvSpPr>
          <p:cNvPr id="29" name="Text 27"/>
          <p:cNvSpPr txBox="1"/>
          <p:nvPr/>
        </p:nvSpPr>
        <p:spPr>
          <a:xfrm>
            <a:off x="2011680" y="4242816"/>
            <a:ext cx="7223760" cy="292608"/>
          </a:xfrm>
          <a:prstGeom prst="rect">
            <a:avLst/>
          </a:prstGeom>
          <a:noFill/>
          <a:ln/>
        </p:spPr>
        <p:txBody>
          <a:bodyPr wrap="square" lIns="0" tIns="0" rIns="0" bIns="0" rtlCol="0" anchor="ctr"/>
          <a:lstStyle/>
          <a:p>
            <a:pPr indent="0" marL="0">
              <a:buNone/>
            </a:pPr>
            <a:r>
              <a:rPr lang="en-US" sz="1300" b="1" dirty="0">
                <a:solidFill>
                  <a:srgbClr val="1E2B2F"/>
                </a:solidFill>
                <a:latin typeface="Meiryo" pitchFamily="34" charset="0"/>
                <a:ea typeface="Meiryo" pitchFamily="34" charset="-122"/>
                <a:cs typeface="Meiryo" pitchFamily="34" charset="-120"/>
              </a:rPr>
              <a:t>「AI時代に外国語を学ぶ本質的意義」（外国語WG 資料1）</a:t>
            </a:r>
            <a:endParaRPr lang="en-US" sz="1300" dirty="0"/>
          </a:p>
        </p:txBody>
      </p:sp>
      <p:sp>
        <p:nvSpPr>
          <p:cNvPr id="30" name="Text 28">
            <a:hlinkClick r:id="rId5" tooltip=""/>
          </p:cNvPr>
          <p:cNvSpPr txBox="1"/>
          <p:nvPr/>
        </p:nvSpPr>
        <p:spPr>
          <a:xfrm>
            <a:off x="2011680" y="4526280"/>
            <a:ext cx="7223760" cy="237744"/>
          </a:xfrm>
          <a:prstGeom prst="rect">
            <a:avLst/>
          </a:prstGeom>
          <a:noFill/>
          <a:ln/>
        </p:spPr>
        <p:txBody>
          <a:bodyPr wrap="square" lIns="0" tIns="0" rIns="0" bIns="0" rtlCol="0" anchor="ctr"/>
          <a:lstStyle/>
          <a:p>
            <a:pPr indent="0" marL="0">
              <a:buNone/>
            </a:pPr>
            <a:r>
              <a:rPr lang="en-US" sz="900" u="sng" dirty="0">
                <a:solidFill>
                  <a:srgbClr val="1B7F8C"/>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https://www.mext.go.jp/content/20251030-mxt_kyoiku01-000045617_003.pdf</a:t>
            </a:r>
            <a:endParaRPr lang="en-US" sz="900" dirty="0"/>
          </a:p>
        </p:txBody>
      </p:sp>
      <p:sp>
        <p:nvSpPr>
          <p:cNvPr id="31" name="Text 29"/>
          <p:cNvSpPr txBox="1"/>
          <p:nvPr/>
        </p:nvSpPr>
        <p:spPr>
          <a:xfrm>
            <a:off x="9326880" y="4197096"/>
            <a:ext cx="2148840" cy="603504"/>
          </a:xfrm>
          <a:prstGeom prst="rect">
            <a:avLst/>
          </a:prstGeom>
          <a:noFill/>
          <a:ln/>
        </p:spPr>
        <p:txBody>
          <a:bodyPr wrap="square" lIns="0" tIns="0" rIns="0" bIns="0" rtlCol="0" anchor="ctr"/>
          <a:lstStyle/>
          <a:p>
            <a:pPr algn="r" indent="0" marL="0">
              <a:buNone/>
            </a:pPr>
            <a:r>
              <a:rPr lang="en-US" sz="1200" dirty="0">
                <a:solidFill>
                  <a:srgbClr val="5B6B70"/>
                </a:solidFill>
                <a:latin typeface="Meiryo" pitchFamily="34" charset="0"/>
                <a:ea typeface="Meiryo" pitchFamily="34" charset="-122"/>
                <a:cs typeface="Meiryo" pitchFamily="34" charset="-120"/>
              </a:rPr>
              <a:t>令和7年10月30日</a:t>
            </a:r>
            <a:endParaRPr lang="en-US" sz="1200" dirty="0"/>
          </a:p>
        </p:txBody>
      </p:sp>
      <p:sp>
        <p:nvSpPr>
          <p:cNvPr id="32" name="Shape 30"/>
          <p:cNvSpPr/>
          <p:nvPr/>
        </p:nvSpPr>
        <p:spPr>
          <a:xfrm>
            <a:off x="685800" y="4937760"/>
            <a:ext cx="1143000" cy="329184"/>
          </a:xfrm>
          <a:prstGeom prst="roundRect">
            <a:avLst>
              <a:gd name="adj" fmla="val 16667"/>
            </a:avLst>
          </a:prstGeom>
          <a:solidFill>
            <a:srgbClr val="0B4F5C"/>
          </a:solidFill>
          <a:ln w="12700">
            <a:solidFill>
              <a:srgbClr val="0B4F5C"/>
            </a:solidFill>
            <a:prstDash val="solid"/>
          </a:ln>
        </p:spPr>
      </p:sp>
      <p:sp>
        <p:nvSpPr>
          <p:cNvPr id="33" name="Text 31"/>
          <p:cNvSpPr txBox="1"/>
          <p:nvPr/>
        </p:nvSpPr>
        <p:spPr>
          <a:xfrm>
            <a:off x="685800" y="4937760"/>
            <a:ext cx="1143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探究WG</a:t>
            </a:r>
            <a:endParaRPr lang="en-US" sz="1100" dirty="0"/>
          </a:p>
        </p:txBody>
      </p:sp>
      <p:sp>
        <p:nvSpPr>
          <p:cNvPr id="34" name="Text 32"/>
          <p:cNvSpPr txBox="1"/>
          <p:nvPr/>
        </p:nvSpPr>
        <p:spPr>
          <a:xfrm>
            <a:off x="2011680" y="4846320"/>
            <a:ext cx="7223760" cy="292608"/>
          </a:xfrm>
          <a:prstGeom prst="rect">
            <a:avLst/>
          </a:prstGeom>
          <a:noFill/>
          <a:ln/>
        </p:spPr>
        <p:txBody>
          <a:bodyPr wrap="square" lIns="0" tIns="0" rIns="0" bIns="0" rtlCol="0" anchor="ctr"/>
          <a:lstStyle/>
          <a:p>
            <a:pPr indent="0" marL="0">
              <a:buNone/>
            </a:pPr>
            <a:r>
              <a:rPr lang="en-US" sz="1300" b="1" dirty="0">
                <a:solidFill>
                  <a:srgbClr val="1E2B2F"/>
                </a:solidFill>
                <a:latin typeface="Meiryo" pitchFamily="34" charset="0"/>
                <a:ea typeface="Meiryo" pitchFamily="34" charset="-122"/>
                <a:cs typeface="Meiryo" pitchFamily="34" charset="-120"/>
              </a:rPr>
              <a:t>総合的な学習・探究の時間に関する現状・課題と検討事項</a:t>
            </a:r>
            <a:endParaRPr lang="en-US" sz="1300" dirty="0"/>
          </a:p>
        </p:txBody>
      </p:sp>
      <p:sp>
        <p:nvSpPr>
          <p:cNvPr id="35" name="Text 33">
            <a:hlinkClick r:id="rId6" tooltip=""/>
          </p:cNvPr>
          <p:cNvSpPr txBox="1"/>
          <p:nvPr/>
        </p:nvSpPr>
        <p:spPr>
          <a:xfrm>
            <a:off x="2011680" y="5129784"/>
            <a:ext cx="7223760" cy="237744"/>
          </a:xfrm>
          <a:prstGeom prst="rect">
            <a:avLst/>
          </a:prstGeom>
          <a:noFill/>
          <a:ln/>
        </p:spPr>
        <p:txBody>
          <a:bodyPr wrap="square" lIns="0" tIns="0" rIns="0" bIns="0" rtlCol="0" anchor="ctr"/>
          <a:lstStyle/>
          <a:p>
            <a:pPr indent="0" marL="0">
              <a:buNone/>
            </a:pPr>
            <a:r>
              <a:rPr lang="en-US" sz="900" u="sng" dirty="0">
                <a:solidFill>
                  <a:srgbClr val="1B7F8C"/>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https://www.mext.go.jp/content/20251015-mxt_kyoiku02-000045235_4.pdf</a:t>
            </a:r>
            <a:endParaRPr lang="en-US" sz="900" dirty="0"/>
          </a:p>
        </p:txBody>
      </p:sp>
      <p:sp>
        <p:nvSpPr>
          <p:cNvPr id="36" name="Text 34"/>
          <p:cNvSpPr txBox="1"/>
          <p:nvPr/>
        </p:nvSpPr>
        <p:spPr>
          <a:xfrm>
            <a:off x="9326880" y="4800600"/>
            <a:ext cx="2148840" cy="603504"/>
          </a:xfrm>
          <a:prstGeom prst="rect">
            <a:avLst/>
          </a:prstGeom>
          <a:noFill/>
          <a:ln/>
        </p:spPr>
        <p:txBody>
          <a:bodyPr wrap="square" lIns="0" tIns="0" rIns="0" bIns="0" rtlCol="0" anchor="ctr"/>
          <a:lstStyle/>
          <a:p>
            <a:pPr algn="r" indent="0" marL="0">
              <a:buNone/>
            </a:pPr>
            <a:r>
              <a:rPr lang="en-US" sz="1200" dirty="0">
                <a:solidFill>
                  <a:srgbClr val="5B6B70"/>
                </a:solidFill>
                <a:latin typeface="Meiryo" pitchFamily="34" charset="0"/>
                <a:ea typeface="Meiryo" pitchFamily="34" charset="-122"/>
                <a:cs typeface="Meiryo" pitchFamily="34" charset="-120"/>
              </a:rPr>
              <a:t>令和7年10月15日</a:t>
            </a:r>
            <a:endParaRPr lang="en-US" sz="1200" dirty="0"/>
          </a:p>
        </p:txBody>
      </p:sp>
      <p:sp>
        <p:nvSpPr>
          <p:cNvPr id="37" name="Shape 35"/>
          <p:cNvSpPr/>
          <p:nvPr/>
        </p:nvSpPr>
        <p:spPr>
          <a:xfrm>
            <a:off x="548640" y="5404104"/>
            <a:ext cx="11064240" cy="603504"/>
          </a:xfrm>
          <a:prstGeom prst="rect">
            <a:avLst/>
          </a:prstGeom>
          <a:solidFill>
            <a:srgbClr val="F3F8F8"/>
          </a:solidFill>
          <a:ln w="12700">
            <a:solidFill>
              <a:srgbClr val="F3F8F8"/>
            </a:solidFill>
            <a:prstDash val="solid"/>
          </a:ln>
        </p:spPr>
      </p:sp>
      <p:sp>
        <p:nvSpPr>
          <p:cNvPr id="38" name="Shape 36"/>
          <p:cNvSpPr/>
          <p:nvPr/>
        </p:nvSpPr>
        <p:spPr>
          <a:xfrm>
            <a:off x="685800" y="5541264"/>
            <a:ext cx="1143000" cy="329184"/>
          </a:xfrm>
          <a:prstGeom prst="roundRect">
            <a:avLst>
              <a:gd name="adj" fmla="val 16667"/>
            </a:avLst>
          </a:prstGeom>
          <a:solidFill>
            <a:srgbClr val="0B4F5C"/>
          </a:solidFill>
          <a:ln w="12700">
            <a:solidFill>
              <a:srgbClr val="0B4F5C"/>
            </a:solidFill>
            <a:prstDash val="solid"/>
          </a:ln>
        </p:spPr>
      </p:sp>
      <p:sp>
        <p:nvSpPr>
          <p:cNvPr id="39" name="Text 37"/>
          <p:cNvSpPr txBox="1"/>
          <p:nvPr/>
        </p:nvSpPr>
        <p:spPr>
          <a:xfrm>
            <a:off x="685800" y="5541264"/>
            <a:ext cx="1143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告示</a:t>
            </a:r>
            <a:endParaRPr lang="en-US" sz="1100" dirty="0"/>
          </a:p>
        </p:txBody>
      </p:sp>
      <p:sp>
        <p:nvSpPr>
          <p:cNvPr id="40" name="Text 38"/>
          <p:cNvSpPr txBox="1"/>
          <p:nvPr/>
        </p:nvSpPr>
        <p:spPr>
          <a:xfrm>
            <a:off x="2011680" y="5449824"/>
            <a:ext cx="7223760" cy="292608"/>
          </a:xfrm>
          <a:prstGeom prst="rect">
            <a:avLst/>
          </a:prstGeom>
          <a:noFill/>
          <a:ln/>
        </p:spPr>
        <p:txBody>
          <a:bodyPr wrap="square" lIns="0" tIns="0" rIns="0" bIns="0" rtlCol="0" anchor="ctr"/>
          <a:lstStyle/>
          <a:p>
            <a:pPr indent="0" marL="0">
              <a:buNone/>
            </a:pPr>
            <a:r>
              <a:rPr lang="en-US" sz="1300" b="1" dirty="0">
                <a:solidFill>
                  <a:srgbClr val="1E2B2F"/>
                </a:solidFill>
                <a:latin typeface="Meiryo" pitchFamily="34" charset="0"/>
                <a:ea typeface="Meiryo" pitchFamily="34" charset="-122"/>
                <a:cs typeface="Meiryo" pitchFamily="34" charset="-120"/>
              </a:rPr>
              <a:t>小学校・中学校学習指導要領 第1章 総則（キャリア教育）</a:t>
            </a:r>
            <a:endParaRPr lang="en-US" sz="1300" dirty="0"/>
          </a:p>
        </p:txBody>
      </p:sp>
      <p:sp>
        <p:nvSpPr>
          <p:cNvPr id="41" name="Text 39">
            <a:hlinkClick r:id="rId7" tooltip=""/>
          </p:cNvPr>
          <p:cNvSpPr txBox="1"/>
          <p:nvPr/>
        </p:nvSpPr>
        <p:spPr>
          <a:xfrm>
            <a:off x="2011680" y="5733288"/>
            <a:ext cx="7223760" cy="237744"/>
          </a:xfrm>
          <a:prstGeom prst="rect">
            <a:avLst/>
          </a:prstGeom>
          <a:noFill/>
          <a:ln/>
        </p:spPr>
        <p:txBody>
          <a:bodyPr wrap="square" lIns="0" tIns="0" rIns="0" bIns="0" rtlCol="0" anchor="ctr"/>
          <a:lstStyle/>
          <a:p>
            <a:pPr indent="0" marL="0">
              <a:buNone/>
            </a:pPr>
            <a:r>
              <a:rPr lang="en-US" sz="900" u="sng" dirty="0">
                <a:solidFill>
                  <a:srgbClr val="1B7F8C"/>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https://www.mext.go.jp/a_menu/shotou/new-cs/</a:t>
            </a:r>
            <a:endParaRPr lang="en-US" sz="900" dirty="0"/>
          </a:p>
        </p:txBody>
      </p:sp>
      <p:sp>
        <p:nvSpPr>
          <p:cNvPr id="42" name="Text 40"/>
          <p:cNvSpPr txBox="1"/>
          <p:nvPr/>
        </p:nvSpPr>
        <p:spPr>
          <a:xfrm>
            <a:off x="9326880" y="5404104"/>
            <a:ext cx="2148840" cy="603504"/>
          </a:xfrm>
          <a:prstGeom prst="rect">
            <a:avLst/>
          </a:prstGeom>
          <a:noFill/>
          <a:ln/>
        </p:spPr>
        <p:txBody>
          <a:bodyPr wrap="square" lIns="0" tIns="0" rIns="0" bIns="0" rtlCol="0" anchor="ctr"/>
          <a:lstStyle/>
          <a:p>
            <a:pPr algn="r" indent="0" marL="0">
              <a:buNone/>
            </a:pPr>
            <a:r>
              <a:rPr lang="en-US" sz="1200" dirty="0">
                <a:solidFill>
                  <a:srgbClr val="5B6B70"/>
                </a:solidFill>
                <a:latin typeface="Meiryo" pitchFamily="34" charset="0"/>
                <a:ea typeface="Meiryo" pitchFamily="34" charset="-122"/>
                <a:cs typeface="Meiryo" pitchFamily="34" charset="-120"/>
              </a:rPr>
              <a:t>平成29年3月告示</a:t>
            </a:r>
            <a:endParaRPr lang="en-US" sz="1200" dirty="0"/>
          </a:p>
        </p:txBody>
      </p:sp>
      <p:sp>
        <p:nvSpPr>
          <p:cNvPr id="43" name="Text 4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1000" dirty="0">
                <a:solidFill>
                  <a:srgbClr val="5B6B70"/>
                </a:solidFill>
                <a:latin typeface="Meiryo" pitchFamily="34" charset="0"/>
                <a:ea typeface="Meiryo" pitchFamily="34" charset="-122"/>
                <a:cs typeface="Meiryo"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10年後の教育界を拓く視点と学校経営</dc:title>
  <dc:subject>PptxGenJS Presentation</dc:subject>
  <dc:creator>PptxGenJS</dc:creator>
  <cp:lastModifiedBy>PptxGenJS</cp:lastModifiedBy>
  <cp:revision>1</cp:revision>
  <dcterms:created xsi:type="dcterms:W3CDTF">2026-09-23T12:21:10Z</dcterms:created>
  <dcterms:modified xsi:type="dcterms:W3CDTF">2026-09-23T12:21:10Z</dcterms:modified>
</cp:coreProperties>
</file>