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1"/>
  </p:sldMasterIdLst>
  <p:notesMasterIdLst>
    <p:notesMasterId r:id="rId25"/>
  </p:notesMasterIdLst>
  <p:handoutMasterIdLst>
    <p:handoutMasterId r:id="rId26"/>
  </p:handoutMasterIdLst>
  <p:sldIdLst>
    <p:sldId id="256" r:id="rId2"/>
    <p:sldId id="282" r:id="rId3"/>
    <p:sldId id="319" r:id="rId4"/>
    <p:sldId id="647" r:id="rId5"/>
    <p:sldId id="650" r:id="rId31"/>
    <p:sldId id="261" r:id="rId6"/>
    <p:sldId id="262" r:id="rId7"/>
    <p:sldId id="648" r:id="rId8"/>
    <p:sldId id="264" r:id="rId9"/>
    <p:sldId id="265" r:id="rId10"/>
    <p:sldId id="266" r:id="rId11"/>
    <p:sldId id="321" r:id="rId12"/>
    <p:sldId id="303" r:id="rId13"/>
    <p:sldId id="305" r:id="rId14"/>
    <p:sldId id="651" r:id="rId32"/>
    <p:sldId id="291" r:id="rId15"/>
    <p:sldId id="284" r:id="rId16"/>
    <p:sldId id="306" r:id="rId17"/>
    <p:sldId id="307" r:id="rId18"/>
    <p:sldId id="308" r:id="rId19"/>
    <p:sldId id="327" r:id="rId20"/>
    <p:sldId id="326" r:id="rId21"/>
    <p:sldId id="649" r:id="rId22"/>
    <p:sldId id="280" r:id="rId23"/>
    <p:sldId id="281" r:id="rId24"/>
    <p:sldId id="652" r:id="rId33"/>
    <p:sldId id="653" r:id="rId34"/>
    <p:sldId id="655" r:id="rId36"/>
    <p:sldId id="656" r:id="rId37"/>
    <p:sldId id="654" r:id="rId35"/>
  </p:sldIdLst>
  <p:sldSz cx="12192000" cy="6858000"/>
  <p:notesSz cx="9869488" cy="673735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1A0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テーマ スタイル 1 - アクセント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8897" autoAdjust="0"/>
    <p:restoredTop sz="94660"/>
  </p:normalViewPr>
  <p:slideViewPr>
    <p:cSldViewPr snapToGrid="0">
      <p:cViewPr varScale="1">
        <p:scale>
          <a:sx n="103" d="100"/>
          <a:sy n="103" d="100"/>
        </p:scale>
        <p:origin x="114" y="27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6.xml"/><Relationship Id="rId16" Type="http://schemas.openxmlformats.org/officeDocument/2006/relationships/slide" Target="slides/slide17.xml"/><Relationship Id="rId17" Type="http://schemas.openxmlformats.org/officeDocument/2006/relationships/slide" Target="slides/slide18.xml"/><Relationship Id="rId18" Type="http://schemas.openxmlformats.org/officeDocument/2006/relationships/slide" Target="slides/slide19.xml"/><Relationship Id="rId19" Type="http://schemas.openxmlformats.org/officeDocument/2006/relationships/slide" Target="slides/slide20.xml"/><Relationship Id="rId20" Type="http://schemas.openxmlformats.org/officeDocument/2006/relationships/slide" Target="slides/slide21.xml"/><Relationship Id="rId21" Type="http://schemas.openxmlformats.org/officeDocument/2006/relationships/slide" Target="slides/slide22.xml"/><Relationship Id="rId22" Type="http://schemas.openxmlformats.org/officeDocument/2006/relationships/slide" Target="slides/slide23.xml"/><Relationship Id="rId23" Type="http://schemas.openxmlformats.org/officeDocument/2006/relationships/slide" Target="slides/slide24.xml"/><Relationship Id="rId24" Type="http://schemas.openxmlformats.org/officeDocument/2006/relationships/slide" Target="slides/slide25.xml"/><Relationship Id="rId25" Type="http://schemas.openxmlformats.org/officeDocument/2006/relationships/notesMaster" Target="notesMasters/notesMaster1.xml"/><Relationship Id="rId26" Type="http://schemas.openxmlformats.org/officeDocument/2006/relationships/handoutMaster" Target="handoutMasters/handout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openxmlformats.org/officeDocument/2006/relationships/slide" Target="slides/slide5.xml"/><Relationship Id="rId32" Type="http://schemas.openxmlformats.org/officeDocument/2006/relationships/slide" Target="slides/slide1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2" y="5"/>
            <a:ext cx="4276247" cy="337348"/>
          </a:xfrm>
          <a:prstGeom prst="rect">
            <a:avLst/>
          </a:prstGeom>
        </p:spPr>
        <p:txBody>
          <a:bodyPr vert="horz" lIns="89799" tIns="44899" rIns="89799" bIns="44899"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5590968" y="5"/>
            <a:ext cx="4276247" cy="337348"/>
          </a:xfrm>
          <a:prstGeom prst="rect">
            <a:avLst/>
          </a:prstGeom>
        </p:spPr>
        <p:txBody>
          <a:bodyPr vert="horz" lIns="89799" tIns="44899" rIns="89799" bIns="44899" rtlCol="0"/>
          <a:lstStyle>
            <a:lvl1pPr algn="r">
              <a:defRPr sz="1200"/>
            </a:lvl1pPr>
          </a:lstStyle>
          <a:p>
            <a:fld id="{01BEA04A-EA59-42D0-B1DE-684874E10CAA}" type="datetimeFigureOut">
              <a:rPr kumimoji="1" lang="ja-JP" altLang="en-US" smtClean="0"/>
              <a:t>2026/5/28</a:t>
            </a:fld>
            <a:endParaRPr kumimoji="1" lang="ja-JP" altLang="en-US"/>
          </a:p>
        </p:txBody>
      </p:sp>
      <p:sp>
        <p:nvSpPr>
          <p:cNvPr id="4" name="フッター プレースホルダー 3"/>
          <p:cNvSpPr>
            <a:spLocks noGrp="1"/>
          </p:cNvSpPr>
          <p:nvPr>
            <p:ph type="ftr" sz="quarter" idx="2"/>
          </p:nvPr>
        </p:nvSpPr>
        <p:spPr>
          <a:xfrm>
            <a:off x="2" y="6400006"/>
            <a:ext cx="4276247" cy="337348"/>
          </a:xfrm>
          <a:prstGeom prst="rect">
            <a:avLst/>
          </a:prstGeom>
        </p:spPr>
        <p:txBody>
          <a:bodyPr vert="horz" lIns="89799" tIns="44899" rIns="89799" bIns="44899"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5590968" y="6400006"/>
            <a:ext cx="4276247" cy="337348"/>
          </a:xfrm>
          <a:prstGeom prst="rect">
            <a:avLst/>
          </a:prstGeom>
        </p:spPr>
        <p:txBody>
          <a:bodyPr vert="horz" lIns="89799" tIns="44899" rIns="89799" bIns="44899" rtlCol="0" anchor="b"/>
          <a:lstStyle>
            <a:lvl1pPr algn="r">
              <a:defRPr sz="1200"/>
            </a:lvl1pPr>
          </a:lstStyle>
          <a:p>
            <a:fld id="{DB567FFB-CC10-44D5-A649-9C45EAD5B1E6}" type="slidenum">
              <a:rPr kumimoji="1" lang="ja-JP" altLang="en-US" smtClean="0"/>
              <a:t>‹#›</a:t>
            </a:fld>
            <a:endParaRPr kumimoji="1" lang="ja-JP" altLang="en-US"/>
          </a:p>
        </p:txBody>
      </p:sp>
    </p:spTree>
    <p:extLst>
      <p:ext uri="{BB962C8B-B14F-4D97-AF65-F5344CB8AC3E}">
        <p14:creationId xmlns:p14="http://schemas.microsoft.com/office/powerpoint/2010/main" val="3031950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4"/>
            <a:ext cx="4277144" cy="338498"/>
          </a:xfrm>
          <a:prstGeom prst="rect">
            <a:avLst/>
          </a:prstGeom>
        </p:spPr>
        <p:txBody>
          <a:bodyPr vert="horz" lIns="89799" tIns="44899" rIns="89799" bIns="44899" rtlCol="0"/>
          <a:lstStyle>
            <a:lvl1pPr algn="l">
              <a:defRPr sz="1200"/>
            </a:lvl1pPr>
          </a:lstStyle>
          <a:p>
            <a:endParaRPr kumimoji="1" lang="ja-JP" altLang="en-US"/>
          </a:p>
        </p:txBody>
      </p:sp>
      <p:sp>
        <p:nvSpPr>
          <p:cNvPr id="3" name="日付プレースホルダー 2"/>
          <p:cNvSpPr>
            <a:spLocks noGrp="1"/>
          </p:cNvSpPr>
          <p:nvPr>
            <p:ph type="dt" idx="1"/>
          </p:nvPr>
        </p:nvSpPr>
        <p:spPr>
          <a:xfrm>
            <a:off x="5590782" y="4"/>
            <a:ext cx="4277142" cy="338498"/>
          </a:xfrm>
          <a:prstGeom prst="rect">
            <a:avLst/>
          </a:prstGeom>
        </p:spPr>
        <p:txBody>
          <a:bodyPr vert="horz" lIns="89799" tIns="44899" rIns="89799" bIns="44899" rtlCol="0"/>
          <a:lstStyle>
            <a:lvl1pPr algn="r">
              <a:defRPr sz="1200"/>
            </a:lvl1pPr>
          </a:lstStyle>
          <a:p>
            <a:fld id="{627F1449-63F1-4F02-A15F-3E2FE5019972}" type="datetimeFigureOut">
              <a:rPr kumimoji="1" lang="ja-JP" altLang="en-US" smtClean="0"/>
              <a:t>2026/5/28</a:t>
            </a:fld>
            <a:endParaRPr kumimoji="1" lang="ja-JP" altLang="en-US"/>
          </a:p>
        </p:txBody>
      </p:sp>
      <p:sp>
        <p:nvSpPr>
          <p:cNvPr id="4" name="スライド イメージ プレースホルダー 3"/>
          <p:cNvSpPr>
            <a:spLocks noGrp="1" noRot="1" noChangeAspect="1"/>
          </p:cNvSpPr>
          <p:nvPr>
            <p:ph type="sldImg" idx="2"/>
          </p:nvPr>
        </p:nvSpPr>
        <p:spPr>
          <a:xfrm>
            <a:off x="2913063" y="841375"/>
            <a:ext cx="4043362" cy="2274888"/>
          </a:xfrm>
          <a:prstGeom prst="rect">
            <a:avLst/>
          </a:prstGeom>
          <a:noFill/>
          <a:ln w="12700">
            <a:solidFill>
              <a:prstClr val="black"/>
            </a:solidFill>
          </a:ln>
        </p:spPr>
        <p:txBody>
          <a:bodyPr vert="horz" lIns="89799" tIns="44899" rIns="89799" bIns="44899" rtlCol="0" anchor="ctr"/>
          <a:lstStyle/>
          <a:p>
            <a:endParaRPr lang="ja-JP" altLang="en-US"/>
          </a:p>
        </p:txBody>
      </p:sp>
      <p:sp>
        <p:nvSpPr>
          <p:cNvPr id="5" name="ノート プレースホルダー 4"/>
          <p:cNvSpPr>
            <a:spLocks noGrp="1"/>
          </p:cNvSpPr>
          <p:nvPr>
            <p:ph type="body" sz="quarter" idx="3"/>
          </p:nvPr>
        </p:nvSpPr>
        <p:spPr>
          <a:xfrm>
            <a:off x="986796" y="3242127"/>
            <a:ext cx="7895902" cy="2653637"/>
          </a:xfrm>
          <a:prstGeom prst="rect">
            <a:avLst/>
          </a:prstGeom>
        </p:spPr>
        <p:txBody>
          <a:bodyPr vert="horz" lIns="89799" tIns="44899" rIns="89799" bIns="44899"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6398855"/>
            <a:ext cx="4277144" cy="338498"/>
          </a:xfrm>
          <a:prstGeom prst="rect">
            <a:avLst/>
          </a:prstGeom>
        </p:spPr>
        <p:txBody>
          <a:bodyPr vert="horz" lIns="89799" tIns="44899" rIns="89799" bIns="44899"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5590782" y="6398855"/>
            <a:ext cx="4277142" cy="338498"/>
          </a:xfrm>
          <a:prstGeom prst="rect">
            <a:avLst/>
          </a:prstGeom>
        </p:spPr>
        <p:txBody>
          <a:bodyPr vert="horz" lIns="89799" tIns="44899" rIns="89799" bIns="44899" rtlCol="0" anchor="b"/>
          <a:lstStyle>
            <a:lvl1pPr algn="r">
              <a:defRPr sz="1200"/>
            </a:lvl1pPr>
          </a:lstStyle>
          <a:p>
            <a:fld id="{2851C5CF-25F5-474F-B99C-E03B7932DF76}" type="slidenum">
              <a:rPr kumimoji="1" lang="ja-JP" altLang="en-US" smtClean="0"/>
              <a:t>‹#›</a:t>
            </a:fld>
            <a:endParaRPr kumimoji="1" lang="ja-JP" altLang="en-US"/>
          </a:p>
        </p:txBody>
      </p:sp>
    </p:spTree>
    <p:extLst>
      <p:ext uri="{BB962C8B-B14F-4D97-AF65-F5344CB8AC3E}">
        <p14:creationId xmlns:p14="http://schemas.microsoft.com/office/powerpoint/2010/main" val="359850803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2689225" y="504825"/>
            <a:ext cx="4491038" cy="2525713"/>
          </a:xfrm>
        </p:spPr>
      </p:sp>
      <p:sp>
        <p:nvSpPr>
          <p:cNvPr id="3" name="ノート プレースホルダー 2"/>
          <p:cNvSpPr>
            <a:spLocks noGrp="1"/>
          </p:cNvSpPr>
          <p:nvPr>
            <p:ph type="body" idx="1"/>
          </p:nvPr>
        </p:nvSpPr>
        <p:spPr/>
        <p:txBody>
          <a:bodyPr/>
          <a:lstStyle/>
          <a:p>
            <a:r>
              <a:t>【ウォームアップ】 ─ 目安3分</a:t>
            </a:r>
          </a:p>
          <a:p/>
          <a:p>
            <a:r>
              <a:t>まず、ちょっとしたクイズから入ります。スライドの数字は、ある共通の意味を持っています。なんだか分かりますでしょうか。</a:t>
            </a:r>
          </a:p>
          <a:p/>
          <a:p>
            <a:r>
              <a:t>※ 数秒間を置く。会場が反応しなければ「ヒントは社会科です」と一言添える。</a:t>
            </a:r>
          </a:p>
          <a:p/>
          <a:p>
            <a:r>
              <a:t>答えは「区内3校の社会科の評定割合」です。同じ教科でも、学校間でこれだけ違うのですね。</a:t>
            </a:r>
          </a:p>
          <a:p/>
          <a:p>
            <a:r>
              <a:t>私はどの学校が良い悪いと申し上げているのではありません。「同じ教科であっても、評価は揺れる」という事実をまず共有したい、ということです。</a:t>
            </a:r>
          </a:p>
          <a:p/>
          <a:p>
            <a:r>
              <a:t>木原校長から「ばらつきが出ないようにしたい」というお話があったのも、まさにここに直結する課題意識だと受け止めています。</a:t>
            </a:r>
          </a:p>
        </p:txBody>
      </p:sp>
      <p:sp>
        <p:nvSpPr>
          <p:cNvPr id="4" name="スライド番号プレースホルダー 3"/>
          <p:cNvSpPr>
            <a:spLocks noGrp="1"/>
          </p:cNvSpPr>
          <p:nvPr>
            <p:ph type="sldNum" sz="quarter" idx="10"/>
          </p:nvPr>
        </p:nvSpPr>
        <p:spPr/>
        <p:txBody>
          <a:bodyPr/>
          <a:lstStyle/>
          <a:p>
            <a:fld id="{BD236342-BA52-47EB-BD3F-1A7CCAFE6BE5}" type="slidenum">
              <a:rPr kumimoji="1" lang="ja-JP" altLang="en-US" smtClean="0"/>
              <a:t>4</a:t>
            </a:fld>
            <a:endParaRPr kumimoji="1" lang="ja-JP" altLang="en-US"/>
          </a:p>
        </p:txBody>
      </p:sp>
    </p:spTree>
    <p:extLst>
      <p:ext uri="{BB962C8B-B14F-4D97-AF65-F5344CB8AC3E}">
        <p14:creationId xmlns:p14="http://schemas.microsoft.com/office/powerpoint/2010/main" val="500222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t>【評価につながる発問の工夫】 ─ 目安1.5分</a:t>
            </a:r>
          </a:p>
          <a:p/>
          <a:p>
            <a:r>
              <a:t>評価につながる発問を3タイプ。</a:t>
            </a:r>
          </a:p>
          <a:p>
            <a:r>
              <a:t>　①「最初と比べて、考え方が変わったところは？」 ─ 振り返りを引き出す</a:t>
            </a:r>
          </a:p>
          <a:p>
            <a:r>
              <a:t>　②「友達の意見を聞いて、自分の考えを見直してみよう」 ─ 対話的自己調整</a:t>
            </a:r>
          </a:p>
          <a:p>
            <a:r>
              <a:t>　③「今日の学習の目標は達成できたかな？理由も書いてみよう」 ─ 自己評価</a:t>
            </a:r>
          </a:p>
          <a:p/>
          <a:p>
            <a:r>
              <a:t>③で「理由も」と添えるのが肝心です。理由が書けるかどうかが、AとBを分ける材料になります。</a:t>
            </a:r>
          </a:p>
        </p:txBody>
      </p:sp>
      <p:sp>
        <p:nvSpPr>
          <p:cNvPr id="4" name="日付プレースホルダー 3"/>
          <p:cNvSpPr>
            <a:spLocks noGrp="1"/>
          </p:cNvSpPr>
          <p:nvPr>
            <p:ph type="dt" idx="10"/>
          </p:nvPr>
        </p:nvSpPr>
        <p:spPr/>
        <p:txBody>
          <a:bodyPr/>
          <a:lstStyle/>
          <a:p>
            <a:pPr defTabSz="897990">
              <a:defRPr/>
            </a:pPr>
            <a:endParaRPr lang="ja-JP" altLang="en-US">
              <a:solidFill>
                <a:prstClr val="black"/>
              </a:solidFill>
              <a:latin typeface="游ゴシック" panose="020F0502020204030204"/>
              <a:ea typeface="游ゴシック" panose="020B0400000000000000" pitchFamily="50" charset="-128"/>
            </a:endParaRPr>
          </a:p>
        </p:txBody>
      </p:sp>
      <p:sp>
        <p:nvSpPr>
          <p:cNvPr id="5" name="スライド番号プレースホルダー 4"/>
          <p:cNvSpPr>
            <a:spLocks noGrp="1"/>
          </p:cNvSpPr>
          <p:nvPr>
            <p:ph type="sldNum" sz="quarter" idx="11"/>
          </p:nvPr>
        </p:nvSpPr>
        <p:spPr/>
        <p:txBody>
          <a:bodyPr/>
          <a:lstStyle/>
          <a:p>
            <a:pPr defTabSz="897990">
              <a:defRPr/>
            </a:pPr>
            <a:fld id="{EBF652ED-4E8E-4FA7-8EF4-2DDF6FB21FCE}" type="slidenum">
              <a:rPr lang="ja-JP" altLang="en-US">
                <a:solidFill>
                  <a:prstClr val="black"/>
                </a:solidFill>
                <a:latin typeface="游ゴシック" panose="020F0502020204030204"/>
                <a:ea typeface="游ゴシック" panose="020B0400000000000000" pitchFamily="50" charset="-128"/>
              </a:rPr>
              <a:pPr defTabSz="897990">
                <a:defRPr/>
              </a:pPr>
              <a:t>20</a:t>
            </a:fld>
            <a:endParaRPr lang="ja-JP" altLang="en-US">
              <a:solidFill>
                <a:prstClr val="black"/>
              </a:solidFill>
              <a:latin typeface="游ゴシック" panose="020F0502020204030204"/>
              <a:ea typeface="游ゴシック" panose="020B0400000000000000" pitchFamily="50" charset="-128"/>
            </a:endParaRPr>
          </a:p>
        </p:txBody>
      </p:sp>
    </p:spTree>
    <p:extLst>
      <p:ext uri="{BB962C8B-B14F-4D97-AF65-F5344CB8AC3E}">
        <p14:creationId xmlns:p14="http://schemas.microsoft.com/office/powerpoint/2010/main" val="110550054"/>
      </p:ext>
    </p:extLst>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【14:10 開会】 ─ 目安1分</a:t>
            </a:r>
          </a:p>
          <a:p/>
          <a:p>
            <a:r>
              <a:t>みなさん、こんにちは。練馬区教育委員会、指導主事の紺多と申します。本日はお忙しい中、お時間をいただきありがとうございます。</a:t>
            </a:r>
          </a:p>
          <a:p/>
          <a:p>
            <a:r>
              <a:t>本日のテーマは、スライドにありますとおり「指導と評価の一体化」、副題として「『主体的に学習に取り組む態度』の評価を中心に」とさせていただきました。</a:t>
            </a:r>
          </a:p>
          <a:p/>
          <a:p>
            <a:r>
              <a:t>木原校長からは「指導と評価の一体化について、特に主体的に学習に取り組む態度の評価のばらつきが出ないように」というお話をいただいておりますので、その依頼に沿ってお話を進めてまいります。</a:t>
            </a:r>
          </a:p>
          <a:p/>
          <a:p>
            <a:r>
              <a:t>40分ほどお話したあと、各教科の評価資料を持ち寄ってのグループ協議を予定されています。協議で扱える具体的な問いを最後にお示ししますので、講話を聞きながら「自分の教科ならどうか」を思い浮かべて聞いていただけますと幸いで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【全体の流れ】 ─ 目安1分</a:t>
            </a:r>
          </a:p>
          <a:p/>
          <a:p>
            <a:r>
              <a:t>本日は大きく2つの柱でお話しします。</a:t>
            </a:r>
          </a:p>
          <a:p>
            <a:r>
              <a:t>　１ 主体的・対話的で深い学びの実現に向けた授業改善</a:t>
            </a:r>
          </a:p>
          <a:p>
            <a:r>
              <a:t>　２ 「主体的に学習に取り組む態度」の学習評価</a:t>
            </a:r>
          </a:p>
          <a:p>
            <a:r>
              <a:t>そのあと、まとめと、グループ協議への橋渡しをして終わります。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【章扉】 ─ 目安20秒</a:t>
            </a:r>
          </a:p>
          <a:p/>
          <a:p>
            <a:r>
              <a:t>それでは、はじめに、ちょっとしたウォームアップから入らせてください。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【一体化サイクル】 ─ 目安3分 ★本日の土台</a:t>
            </a:r>
          </a:p>
          <a:p/>
          <a:p>
            <a:r>
              <a:t>本日の土台になる考え方が、このスライドの「指導と評価の一体化」です。</a:t>
            </a:r>
          </a:p>
          <a:p/>
          <a:p>
            <a:r>
              <a:t>①目標で「Ｂの姿」を描き、②指導で授業を行い、③評価で学びの姿をみとり、④改善で次の指導に生かす。この①〜④を、単元の中で何度も繰り返す。これが「指導と評価の一体化」です。</a:t>
            </a:r>
          </a:p>
          <a:p/>
          <a:p>
            <a:r>
              <a:t>これは私の解釈ではなく、中学校学習指導要領 解説 総則編、第3章第2節2「学習評価の充実」に明記されている考え方です。スライド下の出典をご覧ください。</a:t>
            </a:r>
          </a:p>
          <a:p/>
          <a:p>
            <a:r>
              <a:t>校長からは「正当な評価」「授業改善につながる評価」というキーワードもいただいています。授業と評価を一体で設計することが「正当な評価」につながり、評価を次の指導に生かすことが「授業改善につながる評価」になる、と整理させてください。</a:t>
            </a:r>
          </a:p>
          <a:p/>
          <a:p>
            <a:r>
              <a:t>そして本研修は、3観点すべてを対象としますが、特に見取りが難しい「主体的に学習に取り組む態度」を重点的に扱います。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【資質・能力の3つの柱】 ─ 目安1.5分</a:t>
            </a:r>
          </a:p>
          <a:p/>
          <a:p>
            <a:r>
              <a:t>授業と評価を考える前提として、私たちが目指す資質・能力を確認します。①知識・技能、②思考力・判断力・表現力等、③学びに向かう力・人間性等。この3つの柱です。</a:t>
            </a:r>
          </a:p>
          <a:p/>
          <a:p>
            <a:r>
              <a:t>③の「学びに向かう力・人間性等」のうち、観点別評価で見えるものが「主体的に学習に取り組む態度」、見えにくいものが「感性・思いやり」など個人内評価で見るもの、というふうに整理されています。後ほど詳しく図示し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【主体的・対話的で深い学び】 ─ 目安1.5分</a:t>
            </a:r>
          </a:p>
          <a:p/>
          <a:p>
            <a:r>
              <a:t>資質・能力を育てるための「学び方」が、主体的な学び・対話的な学び・深い学びの3つです。</a:t>
            </a:r>
          </a:p>
          <a:p/>
          <a:p>
            <a:r>
              <a:t>「授業改善の視点」は、同時に「目指す生徒の学びの姿」でもあります。私たちが授業で実現したい姿が、評価の対象になる、ということです。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【主体的な学びのイメージ】 ─ 目安1.5分</a:t>
            </a:r>
          </a:p>
          <a:p/>
          <a:p>
            <a:r>
              <a:t>「主体的な学び」のイメージです。興味を高める／見通しをもつ／粘り強く取り組む／自分と結び付ける／振り返って次へつなげる／学び続ける意志。</a:t>
            </a:r>
          </a:p>
          <a:p/>
          <a:p>
            <a:r>
              <a:t>大切なのは、これらが「単元の中で実際に見えるかどうか」を観る、ということ。授業改善で見せたい姿が、そのまま評価対象になります。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【対話的な学びのイメージ】 ─ 目安1.5分</a:t>
            </a:r>
          </a:p>
          <a:p/>
          <a:p>
            <a:r>
              <a:t>「対話的な学び」のイメージです。互いの考えを比べる／多様な手段で説明する／共に考えを創り上げる／多様な情報を収集する／協働して課題解決／先哲の考えを手がかりに。</a:t>
            </a:r>
          </a:p>
          <a:p/>
          <a:p>
            <a:r>
              <a:t>Input と Output の往復で、自分の考えを更新する姿を観てください。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【深い学びのイメージ】 ─ 目安1分</a:t>
            </a:r>
          </a:p>
          <a:p/>
          <a:p>
            <a:r>
              <a:t>「深い学び」のイメージです。知識・技能を習得／活用／概念化／自分の考えを形成／思考して問い続ける／新たなものを創り上げる。</a:t>
            </a:r>
          </a:p>
          <a:p/>
          <a:p>
            <a:r>
              <a:t>「分かった」を超えて、「使える・問い続ける」姿を観る、ということです。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【授業改善と評価は一体】 ─ 目安1分</a:t>
            </a:r>
          </a:p>
          <a:p/>
          <a:p>
            <a:r>
              <a:t>先ほどのサイクルの言い換えです。「主体的・対話的で深い学び」の視点で授業を改善し、教師が事前に「目指す生徒の姿」を描く。</a:t>
            </a:r>
          </a:p>
          <a:p/>
          <a:p>
            <a:r>
              <a:t>その「目指す姿」こそが、評価規準＝「Ｂと判断する姿」になります。」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【第２章 章扉】 ─ 目安20秒</a:t>
            </a:r>
          </a:p>
          <a:p/>
          <a:p>
            <a:r>
              <a:t>ここから第2章。評価論に入ります。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【学習評価の現状における課題】 ─ 目安2分</a:t>
            </a:r>
          </a:p>
          <a:p/>
          <a:p>
            <a:r>
              <a:t>現状の4つの課題です。</a:t>
            </a:r>
          </a:p>
          <a:p>
            <a:r>
              <a:t>　・学習改善への活用が弱い</a:t>
            </a:r>
          </a:p>
          <a:p>
            <a:r>
              <a:t>　・生徒や保護者からの誤解（挙手や忘れ物で決まるという声）</a:t>
            </a:r>
          </a:p>
          <a:p>
            <a:r>
              <a:t>　・教員の負担（記録が多すぎる）</a:t>
            </a:r>
          </a:p>
          <a:p>
            <a:r>
              <a:t>　・正しい理解が共有されていない</a:t>
            </a:r>
          </a:p>
          <a:p/>
          <a:p>
            <a:r>
              <a:t>「何のために学習評価を行うのか」を、私たち自身が改めて意識することが第一歩です。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【学習評価の改善の基本方針】 ─ 目安1.5分</a:t>
            </a:r>
          </a:p>
          <a:p/>
          <a:p>
            <a:r>
              <a:t>①生徒の学習改善につながるものに、②教師の指導改善につながるものに、③必要性・妥当性が認められないものは見直していく。</a:t>
            </a:r>
          </a:p>
          <a:p/>
          <a:p>
            <a:r>
              <a:t>これは平成31年1月の中教審報告で示された基本方針です。S5でお話した「一体化」の精神と完全に重なります。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【授業改善につながる評価】 ─ 目安3分 ★校長依頼の核心</a:t>
            </a:r>
          </a:p>
          <a:p/>
          <a:p>
            <a:r>
              <a:t>ここが、校長からいただいた「授業改善につながる評価」というキーワードに正面から答えるスライドです。</a:t>
            </a:r>
          </a:p>
          <a:p/>
          <a:p>
            <a:r>
              <a:t>評価には2つの役割があります。①記録・評定のため（総括的評価）と、②指導改善のため（形成的評価）です。校長が重視されているのは、明らかに②の方です。</a:t>
            </a:r>
          </a:p>
          <a:p/>
          <a:p>
            <a:r>
              <a:t>形成的評価のサイクルを4つに分解しました。①みとる→②気づく→③変える→④伸びる。</a:t>
            </a:r>
          </a:p>
          <a:p/>
          <a:p>
            <a:r>
              <a:t>例えば、振り返りシートで「見通しが弱い」生徒が多いと気づいた。だから次時の冒頭に「今日のゴールと手順」を確認する場面を加える。これで生徒の学びが伸びる。―― これが「評価を次の指導に生かす」ということです。</a:t>
            </a:r>
          </a:p>
          <a:p/>
          <a:p>
            <a:r>
              <a:t>評価は「つける」だけでなく「生かす」もの。これが本日の重要メッセージの1つです。</a:t>
            </a:r>
          </a:p>
          <a:p/>
          <a:p>
            <a:r>
              <a:t>※ ここはゆっくり、強調して話す。校長のキーワードに正対していることを意識させる。</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【各教科における評価の基本構造】 ─ 目安1.5分</a:t>
            </a:r>
          </a:p>
          <a:p/>
          <a:p>
            <a:r>
              <a:t>指導要領で示された目標・内容を、観点別評価では「知識・技能」「思考・判断・表現」「主体的に学習に取り組む態度」の3観点で見ます。3観点ともABCの3段階で評価し、それを評定（5段階）に総括します。</a:t>
            </a:r>
          </a:p>
          <a:p/>
          <a:p>
            <a:r>
              <a:t>「学びに向かう力・人間性等」のうち感性・思いやりなどは観点別評価では見ず、個人内評価で見る。―― この棲み分けが大事です。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【知識・技能の評価】 ─ 目安1分</a:t>
            </a:r>
          </a:p>
          <a:p/>
          <a:p>
            <a:r>
              <a:t>既有の知識・技能と関連付けて、概念として理解しているかを評価します。ペーパーテスト、実際に知識・技能を用いる場面の学習活動で見ます。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【思考・判断・表現の評価】 ─ 目安1分</a:t>
            </a:r>
          </a:p>
          <a:p/>
          <a:p>
            <a:r>
              <a:t>知識・技能を活用して課題解決するために必要な思考力・判断力・表現力等を見ます。論述・レポート・発表、グループでの話合い、作品制作、ポートフォリオなど多様な活動で見ます。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【主体的に学習に取り組む態度 ─ 2側面】 ─ 目安2分</a:t>
            </a:r>
          </a:p>
          <a:p/>
          <a:p>
            <a:r>
              <a:t>ここからが本日の重点です。「主体的に学習に取り組む態度」は2つの側面で見ます。</a:t>
            </a:r>
          </a:p>
          <a:p>
            <a:r>
              <a:t>　①粘り強い取組 ─ 学習に粘り強く取り組もうとしている姿</a:t>
            </a:r>
          </a:p>
          <a:p>
            <a:r>
              <a:t>　②自己調整 ─ 学習状況を把握し、調整しようとしている姿</a:t>
            </a:r>
          </a:p>
          <a:p/>
          <a:p>
            <a:r>
              <a:t>注意点です。①と②は別々ではなく、相互に関わり合います。「①がＡで②がＣ」というような生徒の姿は、一般的にはあり得ません。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【評価の工夫例】 ─ 目安1.5分</a:t>
            </a:r>
          </a:p>
          <a:p/>
          <a:p>
            <a:r>
              <a:t>評価の工夫例は4つです。ノート・レポートの記述、授業中の発言、教師の行動観察、生徒の自己評価・相互評価。</a:t>
            </a:r>
          </a:p>
          <a:p/>
          <a:p>
            <a:r>
              <a:t>単一の手段でなく、複数を組み合わせて見ます。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【行動観察の工夫】 ─ 目安2分</a:t>
            </a:r>
          </a:p>
          <a:p/>
          <a:p>
            <a:r>
              <a:t>数学の問題解決の場面を例に、行動観察のポイントです。</a:t>
            </a:r>
          </a:p>
          <a:p/>
          <a:p>
            <a:r>
              <a:t>粘り強く取り組んでいる姿：前時までのノートを見返す／別の方法での解決を試みる／友達への説明を念頭に着想を書き加える。</a:t>
            </a:r>
          </a:p>
          <a:p/>
          <a:p>
            <a:r>
              <a:t>自己調整している姿：解決方法を振り返り修正する／式に言葉や図の説明を書き加える／自己評価して更によいものを求める。</a:t>
            </a:r>
          </a:p>
          <a:p/>
          <a:p>
            <a:r>
              <a:t>どの教科でも応用できる視点です。鍵は「生徒の学びの姿をイメージした学習活動をつくる」ことです。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【Bの姿を具体化 ─ 数学の例】 ─ 目安2分</a:t>
            </a:r>
          </a:p>
          <a:p/>
          <a:p>
            <a:r>
              <a:t>学習シートに「気を付けるポイント」を記述させる課題です。</a:t>
            </a:r>
          </a:p>
          <a:p/>
          <a:p>
            <a:r>
              <a:t>Ｂ（おおむね満足）：ポイントが書かれている。例「別の文字に置き換えて解く方法を使えるようにする」。</a:t>
            </a:r>
          </a:p>
          <a:p/>
          <a:p>
            <a:r>
              <a:t>Ａ（十分満足）：ポイント＋理由が書かれている。例「式を見ずに展開すると時間も間違いも増えるから、置き換えを使えるようにする」。</a:t>
            </a:r>
          </a:p>
          <a:p/>
          <a:p>
            <a:r>
              <a:t>同じ気付きでも「理由まで書けるか」でA／Bが分かれる。これがどの教科でも応用できる発想です。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【評価のばらつきを防ぐ】 ─ 目安2分 ★校長依頼「ばらつき防止」</a:t>
            </a:r>
          </a:p>
          <a:p/>
          <a:p>
            <a:r>
              <a:t>「妥当性」とは、資質・能力を適切に反映していること。「測りたい力」と「方法」が一致していることです。</a:t>
            </a:r>
          </a:p>
          <a:p/>
          <a:p>
            <a:r>
              <a:t>「信頼性」とは、誰が評価しても同じ結果になること。教師の主観だけに流されないことです。</a:t>
            </a:r>
          </a:p>
          <a:p/>
          <a:p>
            <a:r>
              <a:t>そして大事なメッセージは ── 「妥当性は個人の授業設計で、信頼性は組織で揃える」。「妥当性」は授業を作る各先生の力量、「信頼性」は教科会で揃えていただく仕事です。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【教科会で揃える3つ】 ─ 目安2.5分</a:t>
            </a:r>
          </a:p>
          <a:p/>
          <a:p>
            <a:r>
              <a:t>教科会で揃えていただきたい3つは ── ①Ｂの姿／②評価場面・方法／③総括の方法。</a:t>
            </a:r>
          </a:p>
          <a:p/>
          <a:p>
            <a:r>
              <a:t>特に③について、具体例をスライドに入れました。観点別評価ABCから評定への総括例として ── AAA→A、ABB→B、BBC→B、CCC→C などです。これは一例ですが、こうしたルールを教科会で文書化していただくと、教員が代わっても評価が揺れません。</a:t>
            </a:r>
          </a:p>
          <a:p/>
          <a:p>
            <a:r>
              <a:t>この3点を文書として持っておく、というのが、ばらつき対策の最も実践的な答えになります。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【まとめ ─ 明日からできること】 ─ 目安2分</a:t>
            </a:r>
          </a:p>
          <a:p/>
          <a:p>
            <a:r>
              <a:t>「指導と評価の一体化」とは、目標→指導→評価→改善 をくり返し、評価を授業改善に生かすこと。これに尽きます。</a:t>
            </a:r>
          </a:p>
          <a:p/>
          <a:p>
            <a:r>
              <a:t>明日からできることを4つ並べました。1つだけ選んでください。</a:t>
            </a:r>
          </a:p>
          <a:p>
            <a:r>
              <a:t>　□ 次の単元で「Ｂの姿」を1つ言語化し、教科会で揃える</a:t>
            </a:r>
          </a:p>
          <a:p>
            <a:r>
              <a:t>　□ 評価の工夫から1つ授業に入れる</a:t>
            </a:r>
          </a:p>
          <a:p>
            <a:r>
              <a:t>　□ 振り返り／自己評価の機会を1回入れる</a:t>
            </a:r>
          </a:p>
          <a:p>
            <a:r>
              <a:t>　□ 評価結果を、次の授業改善に1つ生かす</a:t>
            </a:r>
          </a:p>
          <a:p/>
          <a:p>
            <a:r>
              <a:t>やることを「絞る」から、続きます。1つだけ。</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【グループ協議への橋渡し】 ─ 目安1.5分</a:t>
            </a:r>
          </a:p>
          <a:p/>
          <a:p>
            <a:r>
              <a:t>このあと、各教科の評価資料を持ち寄って検討していただきます。協議テーマは「各教科で評価方法のばらつきを減らす」です。</a:t>
            </a:r>
          </a:p>
          <a:p/>
          <a:p>
            <a:r>
              <a:t>3つの問いを置きました。</a:t>
            </a:r>
          </a:p>
          <a:p>
            <a:r>
              <a:t>　①あなたの教科で「Ｂと判断する姿」は、具体的にどんな姿か？</a:t>
            </a:r>
          </a:p>
          <a:p>
            <a:r>
              <a:t>　②単元のどの場面で、どんな方法でみとるか？</a:t>
            </a:r>
          </a:p>
          <a:p>
            <a:r>
              <a:t>　③その評価を、次の授業改善にどう生かすか？</a:t>
            </a:r>
          </a:p>
          <a:p/>
          <a:p>
            <a:r>
              <a:t>③が、本日繰り返しお伝えした「評価を生かす」の問いです。教科会で文書化することを目指して話し合っていただければと思います。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【参考文献】 ─ 目安0.5分</a:t>
            </a:r>
          </a:p>
          <a:p/>
          <a:p>
            <a:r>
              <a:t>お示しした内容は、すべて指導要領 解説 総則編、国研の参考資料、東京都教育委員会の資料、および学習評価の実践書に依拠しています。詳しくはお手元の資料をご参照ください。</a:t>
            </a:r>
          </a:p>
          <a:p/>
          <a:p>
            <a:r>
              <a:t>【閉会 14:50】 それでは、ここからは皆様の教科ごとのグループ協議に入っていただきます。私もお邪魔して伺いますので、よろしくお願いいたします。ご清聴ありがとうございました。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【今後に向けて(1) ─ 次期学習指導要領の方向性】 ─ 目安1.5分</a:t>
            </a:r>
          </a:p>
          <a:p/>
          <a:p>
            <a:r>
              <a:t>ここからは、研修の補足として、文部科学省の最新の動きをお伝えします。</a:t>
            </a:r>
          </a:p>
          <a:p/>
          <a:p>
            <a:r>
              <a:t>令和7年9月25日、中央教育審議会の教育課程企画特別部会から「論点整理」が出されました。次期学習指導要領の方向性が示されています。</a:t>
            </a:r>
          </a:p>
          <a:p/>
          <a:p>
            <a:r>
              <a:t>まず最初にお伝えしておきたいのは ── ここから話す内容は「方向性」です。現時点（令和8年6月）での皆様の評価運用は、これまでお話してきた現行の3観点ABCのままで結構です。</a:t>
            </a:r>
          </a:p>
          <a:p/>
          <a:p>
            <a:r>
              <a:t>その上で、次期で示された大きな方向は3つです。</a:t>
            </a:r>
          </a:p>
          <a:p/>
          <a:p>
            <a:r>
              <a:t>① 「主体的に学習に取り組む態度」を、A・B・Cの目標準拠評価から外し、個人内評価へ転換する方向。</a:t>
            </a:r>
          </a:p>
          <a:p>
            <a:r>
              <a:t>② 「学びに向かう力」を、総合所見欄での個人内評価＋「思考・判断・表現」の観点に「○」を付記する組み合わせで見る方向。</a:t>
            </a:r>
          </a:p>
          <a:p>
            <a:r>
              <a:t>③ ノート提出頻度や挙手回数など「勤勉さ」での評価から脱却し、「学びの過程」そのものを見る方向。</a:t>
            </a:r>
          </a:p>
          <a:p/>
          <a:p>
            <a:r>
              <a:t>特に③は、今日繰り返しお話してきた「形成的評価」「学びの姿を見取る」という発想と完全に一致しています。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【今後に向けて(2) ─ 今日の取り組みは次期でこそ生きる】 ─ 目安1.5分</a:t>
            </a:r>
          </a:p>
          <a:p/>
          <a:p>
            <a:r>
              <a:t>「今日聞いた内容、次期で評価方法が変わるなら、無駄になるんじゃないの？」</a:t>
            </a:r>
          </a:p>
          <a:p/>
          <a:p>
            <a:r>
              <a:t>そう思われる先生もいらっしゃるかもしれません。私自身もそこは大事な論点だと思います。結論から言うと、無駄になるどころか、むしろ「次期でこそ生きる」内容です。</a:t>
            </a:r>
          </a:p>
          <a:p/>
          <a:p>
            <a:r>
              <a:t>具体に3点。</a:t>
            </a:r>
          </a:p>
          <a:p/>
          <a:p>
            <a:r>
              <a:t>1点目、「Ｂの姿の言語化」。これは次期では「個人内評価の根拠記述」にそのまま使えます。所見欄に質の高い記述を書くには、まず「何を見ているか」を言語化できていることが必須です。</a:t>
            </a:r>
          </a:p>
          <a:p/>
          <a:p>
            <a:r>
              <a:t>2点目、形成的評価のサイクル ── みとる→気づく→変える→伸びる。これは次期学習評価が最も重視する「学びの過程を見る目」そのものです。</a:t>
            </a:r>
          </a:p>
          <a:p/>
          <a:p>
            <a:r>
              <a:t>3点目、教科会で揃える力。観点が減って個人内評価になっても、「教科として何を見るか」を揃える教科会の力は、同じく ── あるいは今以上に ── 必要になります。</a:t>
            </a:r>
          </a:p>
          <a:p/>
          <a:p>
            <a:r>
              <a:t>方向性は変わっても、「学びの過程を見る目」は変わらない。今日身につけていただいたものは、必ず次期で生きます。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155" indent="0" algn="ctr">
              <a:buNone/>
              <a:defRPr sz="2000"/>
            </a:lvl2pPr>
            <a:lvl3pPr marL="914309" indent="0" algn="ctr">
              <a:buNone/>
              <a:defRPr sz="1800"/>
            </a:lvl3pPr>
            <a:lvl4pPr marL="1371464" indent="0" algn="ctr">
              <a:buNone/>
              <a:defRPr sz="1600"/>
            </a:lvl4pPr>
            <a:lvl5pPr marL="1828618" indent="0" algn="ctr">
              <a:buNone/>
              <a:defRPr sz="1600"/>
            </a:lvl5pPr>
            <a:lvl6pPr marL="2285774" indent="0" algn="ctr">
              <a:buNone/>
              <a:defRPr sz="1600"/>
            </a:lvl6pPr>
            <a:lvl7pPr marL="2742926" indent="0" algn="ctr">
              <a:buNone/>
              <a:defRPr sz="1600"/>
            </a:lvl7pPr>
            <a:lvl8pPr marL="3200080" indent="0" algn="ctr">
              <a:buNone/>
              <a:defRPr sz="1600"/>
            </a:lvl8pPr>
            <a:lvl9pPr marL="3657235"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13632747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39107018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1" y="170974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831851" y="4589473"/>
            <a:ext cx="10515600" cy="1500187"/>
          </a:xfrm>
        </p:spPr>
        <p:txBody>
          <a:bodyPr/>
          <a:lstStyle>
            <a:lvl1pPr marL="0" indent="0">
              <a:buNone/>
              <a:defRPr sz="2400">
                <a:solidFill>
                  <a:schemeClr val="tx1">
                    <a:tint val="75000"/>
                  </a:schemeClr>
                </a:solidFill>
              </a:defRPr>
            </a:lvl1pPr>
            <a:lvl2pPr marL="457155" indent="0">
              <a:buNone/>
              <a:defRPr sz="2000">
                <a:solidFill>
                  <a:schemeClr val="tx1">
                    <a:tint val="75000"/>
                  </a:schemeClr>
                </a:solidFill>
              </a:defRPr>
            </a:lvl2pPr>
            <a:lvl3pPr marL="914309" indent="0">
              <a:buNone/>
              <a:defRPr sz="1800">
                <a:solidFill>
                  <a:schemeClr val="tx1">
                    <a:tint val="75000"/>
                  </a:schemeClr>
                </a:solidFill>
              </a:defRPr>
            </a:lvl3pPr>
            <a:lvl4pPr marL="1371464" indent="0">
              <a:buNone/>
              <a:defRPr sz="1600">
                <a:solidFill>
                  <a:schemeClr val="tx1">
                    <a:tint val="75000"/>
                  </a:schemeClr>
                </a:solidFill>
              </a:defRPr>
            </a:lvl4pPr>
            <a:lvl5pPr marL="1828618" indent="0">
              <a:buNone/>
              <a:defRPr sz="1600">
                <a:solidFill>
                  <a:schemeClr val="tx1">
                    <a:tint val="75000"/>
                  </a:schemeClr>
                </a:solidFill>
              </a:defRPr>
            </a:lvl5pPr>
            <a:lvl6pPr marL="2285774" indent="0">
              <a:buNone/>
              <a:defRPr sz="1600">
                <a:solidFill>
                  <a:schemeClr val="tx1">
                    <a:tint val="75000"/>
                  </a:schemeClr>
                </a:solidFill>
              </a:defRPr>
            </a:lvl6pPr>
            <a:lvl7pPr marL="2742926" indent="0">
              <a:buNone/>
              <a:defRPr sz="1600">
                <a:solidFill>
                  <a:schemeClr val="tx1">
                    <a:tint val="75000"/>
                  </a:schemeClr>
                </a:solidFill>
              </a:defRPr>
            </a:lvl7pPr>
            <a:lvl8pPr marL="3200080" indent="0">
              <a:buNone/>
              <a:defRPr sz="1600">
                <a:solidFill>
                  <a:schemeClr val="tx1">
                    <a:tint val="75000"/>
                  </a:schemeClr>
                </a:solidFill>
              </a:defRPr>
            </a:lvl8pPr>
            <a:lvl9pPr marL="3657235"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13671114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3976726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9"/>
            <a:ext cx="10515600" cy="1325563"/>
          </a:xfrm>
        </p:spPr>
        <p:txBody>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9789" y="1681163"/>
            <a:ext cx="5157787" cy="823912"/>
          </a:xfrm>
        </p:spPr>
        <p:txBody>
          <a:bodyPr anchor="b"/>
          <a:lstStyle>
            <a:lvl1pPr marL="0" indent="0">
              <a:buNone/>
              <a:defRPr sz="2400" b="1"/>
            </a:lvl1pPr>
            <a:lvl2pPr marL="457155" indent="0">
              <a:buNone/>
              <a:defRPr sz="2000" b="1"/>
            </a:lvl2pPr>
            <a:lvl3pPr marL="914309" indent="0">
              <a:buNone/>
              <a:defRPr sz="1800" b="1"/>
            </a:lvl3pPr>
            <a:lvl4pPr marL="1371464" indent="0">
              <a:buNone/>
              <a:defRPr sz="1600" b="1"/>
            </a:lvl4pPr>
            <a:lvl5pPr marL="1828618" indent="0">
              <a:buNone/>
              <a:defRPr sz="1600" b="1"/>
            </a:lvl5pPr>
            <a:lvl6pPr marL="2285774" indent="0">
              <a:buNone/>
              <a:defRPr sz="1600" b="1"/>
            </a:lvl6pPr>
            <a:lvl7pPr marL="2742926" indent="0">
              <a:buNone/>
              <a:defRPr sz="1600" b="1"/>
            </a:lvl7pPr>
            <a:lvl8pPr marL="3200080" indent="0">
              <a:buNone/>
              <a:defRPr sz="1600" b="1"/>
            </a:lvl8pPr>
            <a:lvl9pPr marL="3657235"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839789"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6172203" y="1681163"/>
            <a:ext cx="5183188" cy="823912"/>
          </a:xfrm>
        </p:spPr>
        <p:txBody>
          <a:bodyPr anchor="b"/>
          <a:lstStyle>
            <a:lvl1pPr marL="0" indent="0">
              <a:buNone/>
              <a:defRPr sz="2400" b="1"/>
            </a:lvl1pPr>
            <a:lvl2pPr marL="457155" indent="0">
              <a:buNone/>
              <a:defRPr sz="2000" b="1"/>
            </a:lvl2pPr>
            <a:lvl3pPr marL="914309" indent="0">
              <a:buNone/>
              <a:defRPr sz="1800" b="1"/>
            </a:lvl3pPr>
            <a:lvl4pPr marL="1371464" indent="0">
              <a:buNone/>
              <a:defRPr sz="1600" b="1"/>
            </a:lvl4pPr>
            <a:lvl5pPr marL="1828618" indent="0">
              <a:buNone/>
              <a:defRPr sz="1600" b="1"/>
            </a:lvl5pPr>
            <a:lvl6pPr marL="2285774" indent="0">
              <a:buNone/>
              <a:defRPr sz="1600" b="1"/>
            </a:lvl6pPr>
            <a:lvl7pPr marL="2742926" indent="0">
              <a:buNone/>
              <a:defRPr sz="1600" b="1"/>
            </a:lvl7pPr>
            <a:lvl8pPr marL="3200080" indent="0">
              <a:buNone/>
              <a:defRPr sz="1600" b="1"/>
            </a:lvl8pPr>
            <a:lvl9pPr marL="3657235"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6172203"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7441713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11602081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18525350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p:cNvSpPr>
            <a:spLocks noGrp="1"/>
          </p:cNvSpPr>
          <p:nvPr>
            <p:ph idx="1"/>
          </p:nvPr>
        </p:nvSpPr>
        <p:spPr>
          <a:xfrm>
            <a:off x="5183188" y="98743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155" indent="0">
              <a:buNone/>
              <a:defRPr sz="1400"/>
            </a:lvl2pPr>
            <a:lvl3pPr marL="914309" indent="0">
              <a:buNone/>
              <a:defRPr sz="1200"/>
            </a:lvl3pPr>
            <a:lvl4pPr marL="1371464" indent="0">
              <a:buNone/>
              <a:defRPr sz="1000"/>
            </a:lvl4pPr>
            <a:lvl5pPr marL="1828618" indent="0">
              <a:buNone/>
              <a:defRPr sz="1000"/>
            </a:lvl5pPr>
            <a:lvl6pPr marL="2285774" indent="0">
              <a:buNone/>
              <a:defRPr sz="1000"/>
            </a:lvl6pPr>
            <a:lvl7pPr marL="2742926" indent="0">
              <a:buNone/>
              <a:defRPr sz="1000"/>
            </a:lvl7pPr>
            <a:lvl8pPr marL="3200080" indent="0">
              <a:buNone/>
              <a:defRPr sz="1000"/>
            </a:lvl8pPr>
            <a:lvl9pPr marL="3657235"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33727477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p:cNvSpPr>
            <a:spLocks noGrp="1"/>
          </p:cNvSpPr>
          <p:nvPr>
            <p:ph type="pic" idx="1"/>
          </p:nvPr>
        </p:nvSpPr>
        <p:spPr>
          <a:xfrm>
            <a:off x="5183188" y="987435"/>
            <a:ext cx="6172200" cy="4873625"/>
          </a:xfrm>
        </p:spPr>
        <p:txBody>
          <a:bodyPr/>
          <a:lstStyle>
            <a:lvl1pPr marL="0" indent="0">
              <a:buNone/>
              <a:defRPr sz="3200"/>
            </a:lvl1pPr>
            <a:lvl2pPr marL="457155" indent="0">
              <a:buNone/>
              <a:defRPr sz="2800"/>
            </a:lvl2pPr>
            <a:lvl3pPr marL="914309" indent="0">
              <a:buNone/>
              <a:defRPr sz="2400"/>
            </a:lvl3pPr>
            <a:lvl4pPr marL="1371464" indent="0">
              <a:buNone/>
              <a:defRPr sz="2000"/>
            </a:lvl4pPr>
            <a:lvl5pPr marL="1828618" indent="0">
              <a:buNone/>
              <a:defRPr sz="2000"/>
            </a:lvl5pPr>
            <a:lvl6pPr marL="2285774" indent="0">
              <a:buNone/>
              <a:defRPr sz="2000"/>
            </a:lvl6pPr>
            <a:lvl7pPr marL="2742926" indent="0">
              <a:buNone/>
              <a:defRPr sz="2000"/>
            </a:lvl7pPr>
            <a:lvl8pPr marL="3200080" indent="0">
              <a:buNone/>
              <a:defRPr sz="2000"/>
            </a:lvl8pPr>
            <a:lvl9pPr marL="3657235"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155" indent="0">
              <a:buNone/>
              <a:defRPr sz="1400"/>
            </a:lvl2pPr>
            <a:lvl3pPr marL="914309" indent="0">
              <a:buNone/>
              <a:defRPr sz="1200"/>
            </a:lvl3pPr>
            <a:lvl4pPr marL="1371464" indent="0">
              <a:buNone/>
              <a:defRPr sz="1000"/>
            </a:lvl4pPr>
            <a:lvl5pPr marL="1828618" indent="0">
              <a:buNone/>
              <a:defRPr sz="1000"/>
            </a:lvl5pPr>
            <a:lvl6pPr marL="2285774" indent="0">
              <a:buNone/>
              <a:defRPr sz="1000"/>
            </a:lvl6pPr>
            <a:lvl7pPr marL="2742926" indent="0">
              <a:buNone/>
              <a:defRPr sz="1000"/>
            </a:lvl7pPr>
            <a:lvl8pPr marL="3200080" indent="0">
              <a:buNone/>
              <a:defRPr sz="1000"/>
            </a:lvl8pPr>
            <a:lvl9pPr marL="3657235"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36844561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38148883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2" y="365125"/>
            <a:ext cx="2628900" cy="5811838"/>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838203"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170798182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9"/>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838200" y="635636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768FEB-7BC5-413F-839E-D1D3EA6655D0}" type="datetimeFigureOut">
              <a:rPr kumimoji="1" lang="ja-JP" altLang="en-US" smtClean="0"/>
              <a:t>2026/5/28</a:t>
            </a:fld>
            <a:endParaRPr kumimoji="1" lang="ja-JP" altLang="en-US"/>
          </a:p>
        </p:txBody>
      </p:sp>
      <p:sp>
        <p:nvSpPr>
          <p:cNvPr id="5" name="フッター プレースホルダー 4"/>
          <p:cNvSpPr>
            <a:spLocks noGrp="1"/>
          </p:cNvSpPr>
          <p:nvPr>
            <p:ph type="ftr" sz="quarter" idx="3"/>
          </p:nvPr>
        </p:nvSpPr>
        <p:spPr>
          <a:xfrm>
            <a:off x="4038600" y="635636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6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1375906915"/>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Lst>
  <p:txStyles>
    <p:titleStyle>
      <a:lvl1pPr algn="l" defTabSz="914309"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578" indent="-228578" algn="l" defTabSz="914309"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34" indent="-228578" algn="l" defTabSz="914309"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886" indent="-228578" algn="l" defTabSz="914309"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40" indent="-228578" algn="l" defTabSz="914309"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195" indent="-228578" algn="l" defTabSz="914309"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49" indent="-228578" algn="l" defTabSz="914309"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04" indent="-228578" algn="l" defTabSz="914309"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658" indent="-228578" algn="l" defTabSz="914309"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14" indent="-228578" algn="l" defTabSz="914309"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309" rtl="0" eaLnBrk="1" latinLnBrk="0" hangingPunct="1">
        <a:defRPr kumimoji="1" sz="1800" kern="1200">
          <a:solidFill>
            <a:schemeClr val="tx1"/>
          </a:solidFill>
          <a:latin typeface="+mn-lt"/>
          <a:ea typeface="+mn-ea"/>
          <a:cs typeface="+mn-cs"/>
        </a:defRPr>
      </a:lvl1pPr>
      <a:lvl2pPr marL="457155" algn="l" defTabSz="914309" rtl="0" eaLnBrk="1" latinLnBrk="0" hangingPunct="1">
        <a:defRPr kumimoji="1" sz="1800" kern="1200">
          <a:solidFill>
            <a:schemeClr val="tx1"/>
          </a:solidFill>
          <a:latin typeface="+mn-lt"/>
          <a:ea typeface="+mn-ea"/>
          <a:cs typeface="+mn-cs"/>
        </a:defRPr>
      </a:lvl2pPr>
      <a:lvl3pPr marL="914309" algn="l" defTabSz="914309" rtl="0" eaLnBrk="1" latinLnBrk="0" hangingPunct="1">
        <a:defRPr kumimoji="1" sz="1800" kern="1200">
          <a:solidFill>
            <a:schemeClr val="tx1"/>
          </a:solidFill>
          <a:latin typeface="+mn-lt"/>
          <a:ea typeface="+mn-ea"/>
          <a:cs typeface="+mn-cs"/>
        </a:defRPr>
      </a:lvl3pPr>
      <a:lvl4pPr marL="1371464" algn="l" defTabSz="914309" rtl="0" eaLnBrk="1" latinLnBrk="0" hangingPunct="1">
        <a:defRPr kumimoji="1" sz="1800" kern="1200">
          <a:solidFill>
            <a:schemeClr val="tx1"/>
          </a:solidFill>
          <a:latin typeface="+mn-lt"/>
          <a:ea typeface="+mn-ea"/>
          <a:cs typeface="+mn-cs"/>
        </a:defRPr>
      </a:lvl4pPr>
      <a:lvl5pPr marL="1828618" algn="l" defTabSz="914309" rtl="0" eaLnBrk="1" latinLnBrk="0" hangingPunct="1">
        <a:defRPr kumimoji="1" sz="1800" kern="1200">
          <a:solidFill>
            <a:schemeClr val="tx1"/>
          </a:solidFill>
          <a:latin typeface="+mn-lt"/>
          <a:ea typeface="+mn-ea"/>
          <a:cs typeface="+mn-cs"/>
        </a:defRPr>
      </a:lvl5pPr>
      <a:lvl6pPr marL="2285774" algn="l" defTabSz="914309" rtl="0" eaLnBrk="1" latinLnBrk="0" hangingPunct="1">
        <a:defRPr kumimoji="1" sz="1800" kern="1200">
          <a:solidFill>
            <a:schemeClr val="tx1"/>
          </a:solidFill>
          <a:latin typeface="+mn-lt"/>
          <a:ea typeface="+mn-ea"/>
          <a:cs typeface="+mn-cs"/>
        </a:defRPr>
      </a:lvl6pPr>
      <a:lvl7pPr marL="2742926" algn="l" defTabSz="914309" rtl="0" eaLnBrk="1" latinLnBrk="0" hangingPunct="1">
        <a:defRPr kumimoji="1" sz="1800" kern="1200">
          <a:solidFill>
            <a:schemeClr val="tx1"/>
          </a:solidFill>
          <a:latin typeface="+mn-lt"/>
          <a:ea typeface="+mn-ea"/>
          <a:cs typeface="+mn-cs"/>
        </a:defRPr>
      </a:lvl7pPr>
      <a:lvl8pPr marL="3200080" algn="l" defTabSz="914309" rtl="0" eaLnBrk="1" latinLnBrk="0" hangingPunct="1">
        <a:defRPr kumimoji="1" sz="1800" kern="1200">
          <a:solidFill>
            <a:schemeClr val="tx1"/>
          </a:solidFill>
          <a:latin typeface="+mn-lt"/>
          <a:ea typeface="+mn-ea"/>
          <a:cs typeface="+mn-cs"/>
        </a:defRPr>
      </a:lvl8pPr>
      <a:lvl9pPr marL="3657235" algn="l" defTabSz="914309"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 Id="rId4" Type="http://schemas.microsoft.com/office/2007/relationships/hdphoto" Target="../media/hdphoto1.wdp"/></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790708" y="2004488"/>
            <a:ext cx="10610581" cy="1275009"/>
          </a:xfrm>
        </p:spPr>
        <p:txBody>
          <a:bodyPr>
            <a:noAutofit/>
          </a:bodyPr>
          <a:lstStyle/>
          <a:p>
            <a:r>
              <a:rPr lang="en-US" altLang="ja-JP" sz="4400" b="1" dirty="0">
                <a:latin typeface="メイリオ"/>
                <a:ea typeface="メイリオ"/>
                <a:cs typeface="メイリオ"/>
              </a:rPr>
              <a:t>「指導と評価の一体化」</a:t>
            </a:r>
            <a:r>
              <a:rPr lang="ja-JP" altLang="en-US" sz="4400" b="1" dirty="0">
                <a:latin typeface="メイリオ"/>
                <a:ea typeface="メイリオ"/>
                <a:cs typeface="メイリオ"/>
              </a:rPr>
              <a:t/>
            </a:r>
            <a:r>
              <a:rPr lang="en-US" altLang="ja-JP" sz="4400" b="1" dirty="0">
                <a:latin typeface="メイリオ"/>
                <a:ea typeface="メイリオ"/>
                <a:cs typeface="メイリオ"/>
              </a:rPr>
              <a:t/>
            </a:r>
            <a:r>
              <a:rPr lang="ja-JP" altLang="en-US" sz="4400" b="1" dirty="0">
                <a:latin typeface="メイリオ"/>
                <a:ea typeface="メイリオ"/>
                <a:cs typeface="メイリオ"/>
              </a:rPr>
              <a:t/>
            </a:r>
          </a:p>
        </p:txBody>
      </p:sp>
      <p:sp>
        <p:nvSpPr>
          <p:cNvPr id="3" name="サブタイトル 2"/>
          <p:cNvSpPr>
            <a:spLocks noGrp="1"/>
          </p:cNvSpPr>
          <p:nvPr>
            <p:ph type="subTitle" idx="1"/>
          </p:nvPr>
        </p:nvSpPr>
        <p:spPr>
          <a:xfrm>
            <a:off x="790708" y="3638214"/>
            <a:ext cx="11016343" cy="605308"/>
          </a:xfrm>
        </p:spPr>
        <p:txBody>
          <a:bodyPr>
            <a:noAutofit/>
          </a:bodyPr>
          <a:lstStyle/>
          <a:p>
            <a:r>
              <a:rPr lang="ja-JP" altLang="en-US" sz="3200" b="1" dirty="0">
                <a:latin typeface="メイリオ"/>
                <a:ea typeface="メイリオ"/>
                <a:cs typeface="メイリオ"/>
              </a:rPr>
              <a:t>〜「主体的に学習に取り組む態度」の評価を中心に〜</a:t>
            </a:r>
          </a:p>
        </p:txBody>
      </p:sp>
      <p:sp>
        <p:nvSpPr>
          <p:cNvPr id="4" name="サブタイトル 2"/>
          <p:cNvSpPr txBox="1">
            <a:spLocks/>
          </p:cNvSpPr>
          <p:nvPr/>
        </p:nvSpPr>
        <p:spPr>
          <a:xfrm>
            <a:off x="7816404" y="4868215"/>
            <a:ext cx="3086637" cy="1004552"/>
          </a:xfrm>
          <a:prstGeom prst="rect">
            <a:avLst/>
          </a:prstGeom>
        </p:spPr>
        <p:txBody>
          <a:bodyPr vert="horz" lIns="91440" tIns="45720" rIns="91440" bIns="45720" rtlCol="0">
            <a:normAutofit fontScale="6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ja-JP" altLang="en-US" sz="3200" b="1" dirty="0">
                <a:latin typeface="メイリオ"/>
                <a:ea typeface="メイリオ"/>
                <a:cs typeface="メイリオ"/>
              </a:rPr>
              <a:t>令和８年６月３日（水）</a:t>
            </a:r>
            <a:endParaRPr lang="en-US" altLang="ja-JP" sz="3200" b="1" dirty="0"/>
          </a:p>
          <a:p>
            <a:pPr algn="l"/>
            <a:r>
              <a:rPr lang="ja-JP" altLang="en-US" sz="3200" b="1" dirty="0">
                <a:latin typeface="メイリオ"/>
                <a:ea typeface="メイリオ"/>
                <a:cs typeface="メイリオ"/>
              </a:rPr>
              <a:t>練馬区教育委員会</a:t>
            </a:r>
            <a:endParaRPr lang="en-US" altLang="ja-JP" sz="3200" b="1" dirty="0"/>
          </a:p>
          <a:p>
            <a:pPr algn="l"/>
            <a:r>
              <a:rPr lang="ja-JP" altLang="en-US" sz="3200" b="1" dirty="0">
                <a:latin typeface="メイリオ"/>
                <a:ea typeface="メイリオ"/>
                <a:cs typeface="メイリオ"/>
              </a:rPr>
              <a:t>指導主事　紺多　章一郎</a:t>
            </a:r>
          </a:p>
        </p:txBody>
      </p:sp>
      <p:sp>
        <p:nvSpPr>
          <p:cNvPr id="5" name="サブタイトル 2"/>
          <p:cNvSpPr txBox="1">
            <a:spLocks/>
          </p:cNvSpPr>
          <p:nvPr/>
        </p:nvSpPr>
        <p:spPr>
          <a:xfrm>
            <a:off x="2094964" y="1040463"/>
            <a:ext cx="8002073" cy="60530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r>
              <a:rPr lang="ja-JP" altLang="en-US" sz="3200" b="1" dirty="0">
                <a:latin typeface="メイリオ"/>
                <a:ea typeface="メイリオ"/>
                <a:cs typeface="メイリオ"/>
              </a:rPr>
              <a:t>令和８年度　石神井南中学校　校内研修</a:t>
            </a:r>
          </a:p>
        </p:txBody>
      </p:sp>
    </p:spTree>
    <p:extLst>
      <p:ext uri="{BB962C8B-B14F-4D97-AF65-F5344CB8AC3E}">
        <p14:creationId xmlns:p14="http://schemas.microsoft.com/office/powerpoint/2010/main" val="2377379582"/>
      </p:ext>
    </p:extLst>
  </p:cSld>
  <p:clrMapOvr>
    <a:masterClrMapping/>
  </p:clrMapOvr>
  <p:transition spd="slow">
    <p:cove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p:cNvSpPr>
            <a:spLocks noGrp="1"/>
          </p:cNvSpPr>
          <p:nvPr>
            <p:ph idx="1"/>
          </p:nvPr>
        </p:nvSpPr>
        <p:spPr>
          <a:xfrm>
            <a:off x="1235485" y="2017488"/>
            <a:ext cx="10515600" cy="3446610"/>
          </a:xfrm>
        </p:spPr>
        <p:txBody>
          <a:bodyPr>
            <a:normAutofit/>
          </a:bodyPr>
          <a:lstStyle/>
          <a:p>
            <a:pPr marL="0" indent="0">
              <a:buNone/>
            </a:pPr>
            <a:r>
              <a:rPr lang="ja-JP" altLang="en-US" sz="3600" b="1" dirty="0">
                <a:latin typeface="メイリオ"/>
                <a:ea typeface="メイリオ"/>
                <a:cs typeface="メイリオ"/>
              </a:rPr>
              <a:t>１　主体的・対話的で深い学びの実現に向けた</a:t>
            </a:r>
            <a:endParaRPr lang="en-US" altLang="ja-JP" sz="3600" b="1" dirty="0"/>
          </a:p>
          <a:p>
            <a:pPr marL="0" indent="0">
              <a:buNone/>
            </a:pPr>
            <a:r>
              <a:rPr lang="ja-JP" altLang="en-US" sz="3600" b="1" dirty="0">
                <a:latin typeface="メイリオ"/>
                <a:ea typeface="メイリオ"/>
                <a:cs typeface="メイリオ"/>
              </a:rPr>
              <a:t>　　授業改善</a:t>
            </a:r>
            <a:endParaRPr lang="en-US" altLang="ja-JP" sz="3600" b="1" dirty="0"/>
          </a:p>
          <a:p>
            <a:pPr marL="0" indent="0">
              <a:buNone/>
            </a:pPr>
            <a:endParaRPr lang="en-US" altLang="ja-JP" sz="3600" b="1" dirty="0"/>
          </a:p>
          <a:p>
            <a:pPr marL="0" indent="0">
              <a:buNone/>
            </a:pPr>
            <a:r>
              <a:rPr lang="ja-JP" altLang="en-US" sz="3600" b="1" dirty="0">
                <a:latin typeface="メイリオ"/>
                <a:ea typeface="メイリオ"/>
                <a:cs typeface="メイリオ"/>
              </a:rPr>
              <a:t>２ </a:t>
            </a:r>
            <a:r>
              <a:rPr lang="en-US" altLang="ja-JP" sz="3600" b="1" dirty="0">
                <a:latin typeface="メイリオ"/>
                <a:ea typeface="メイリオ"/>
                <a:cs typeface="メイリオ"/>
              </a:rPr>
              <a:t>『</a:t>
            </a:r>
            <a:r>
              <a:rPr lang="ja-JP" altLang="en-US" sz="3600" b="1" dirty="0">
                <a:latin typeface="メイリオ"/>
                <a:ea typeface="メイリオ"/>
                <a:cs typeface="メイリオ"/>
              </a:rPr>
              <a:t>主体的に学習に取り組む態度</a:t>
            </a:r>
            <a:r>
              <a:rPr lang="en-US" altLang="ja-JP" sz="3600" b="1" dirty="0">
                <a:latin typeface="メイリオ"/>
                <a:ea typeface="メイリオ"/>
                <a:cs typeface="メイリオ"/>
              </a:rPr>
              <a:t>』</a:t>
            </a:r>
            <a:r>
              <a:rPr lang="ja-JP" altLang="en-US" sz="3600" b="1" dirty="0">
                <a:latin typeface="メイリオ"/>
                <a:ea typeface="メイリオ"/>
                <a:cs typeface="メイリオ"/>
              </a:rPr>
              <a:t>の学習評価</a:t>
            </a:r>
            <a:endParaRPr lang="en-US" altLang="ja-JP" sz="3600" b="1" dirty="0"/>
          </a:p>
          <a:p>
            <a:pPr marL="0" indent="0">
              <a:buNone/>
            </a:pPr>
            <a:endParaRPr lang="ja-JP" altLang="en-US" b="1" dirty="0"/>
          </a:p>
        </p:txBody>
      </p:sp>
      <p:sp>
        <p:nvSpPr>
          <p:cNvPr id="4" name="Rectangle 1">
            <a:extLst>
              <a:ext uri="{FF2B5EF4-FFF2-40B4-BE49-F238E27FC236}">
                <a16:creationId xmlns:a16="http://schemas.microsoft.com/office/drawing/2014/main" id="{7E8F890B-B36A-F960-C23B-F5844E28D7BE}"/>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　本日の内容</a:t>
            </a:r>
            <a:endParaRPr lang="en-US" altLang="ja-JP" sz="2800" b="1" dirty="0"/>
          </a:p>
        </p:txBody>
      </p:sp>
    </p:spTree>
    <p:extLst>
      <p:ext uri="{BB962C8B-B14F-4D97-AF65-F5344CB8AC3E}">
        <p14:creationId xmlns:p14="http://schemas.microsoft.com/office/powerpoint/2010/main" val="1816358613"/>
      </p:ext>
    </p:extLst>
  </p:cSld>
  <p:clrMapOvr>
    <a:masterClrMapping/>
  </p:clrMapOvr>
  <p:transition spd="slow">
    <p:cove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587499" y="2966017"/>
            <a:ext cx="9428844" cy="909299"/>
          </a:xfrm>
        </p:spPr>
        <p:txBody>
          <a:bodyPr>
            <a:noAutofit/>
          </a:bodyPr>
          <a:lstStyle/>
          <a:p>
            <a:r>
              <a:rPr lang="ja-JP" altLang="en-US" sz="4800" b="1" dirty="0">
                <a:latin typeface="メイリオ"/>
                <a:ea typeface="メイリオ"/>
                <a:cs typeface="メイリオ"/>
              </a:rPr>
              <a:t>　はじめに</a:t>
            </a:r>
            <a:endParaRPr lang="ja-JP" altLang="en-US" sz="4800" dirty="0">
              <a:latin typeface="+mn-ea"/>
              <a:ea typeface="+mn-ea"/>
            </a:endParaRPr>
          </a:p>
        </p:txBody>
      </p:sp>
    </p:spTree>
    <p:extLst>
      <p:ext uri="{BB962C8B-B14F-4D97-AF65-F5344CB8AC3E}">
        <p14:creationId xmlns:p14="http://schemas.microsoft.com/office/powerpoint/2010/main" val="23728982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 2">
            <a:extLst>
              <a:ext uri="{FF2B5EF4-FFF2-40B4-BE49-F238E27FC236}">
                <a16:creationId xmlns:a16="http://schemas.microsoft.com/office/drawing/2014/main" id="{BA09C680-3B03-0007-2E08-39FE4CA699AF}"/>
              </a:ext>
            </a:extLst>
          </p:cNvPr>
          <p:cNvGraphicFramePr>
            <a:graphicFrameLocks noGrp="1"/>
          </p:cNvGraphicFramePr>
          <p:nvPr>
            <p:extLst>
              <p:ext uri="{D42A27DB-BD31-4B8C-83A1-F6EECF244321}">
                <p14:modId xmlns:p14="http://schemas.microsoft.com/office/powerpoint/2010/main" val="1734985214"/>
              </p:ext>
            </p:extLst>
          </p:nvPr>
        </p:nvGraphicFramePr>
        <p:xfrm>
          <a:off x="888647" y="1705704"/>
          <a:ext cx="8028000" cy="3644162"/>
        </p:xfrm>
        <a:graphic>
          <a:graphicData uri="http://schemas.openxmlformats.org/drawingml/2006/table">
            <a:tbl>
              <a:tblPr firstRow="1" bandRow="1">
                <a:tableStyleId>{616DA210-FB5B-4158-B5E0-FEB733F419BA}</a:tableStyleId>
              </a:tblPr>
              <a:tblGrid>
                <a:gridCol w="614550">
                  <a:extLst>
                    <a:ext uri="{9D8B030D-6E8A-4147-A177-3AD203B41FA5}">
                      <a16:colId xmlns:a16="http://schemas.microsoft.com/office/drawing/2014/main" val="1889472123"/>
                    </a:ext>
                  </a:extLst>
                </a:gridCol>
                <a:gridCol w="1482690">
                  <a:extLst>
                    <a:ext uri="{9D8B030D-6E8A-4147-A177-3AD203B41FA5}">
                      <a16:colId xmlns:a16="http://schemas.microsoft.com/office/drawing/2014/main" val="980164369"/>
                    </a:ext>
                  </a:extLst>
                </a:gridCol>
                <a:gridCol w="1482690">
                  <a:extLst>
                    <a:ext uri="{9D8B030D-6E8A-4147-A177-3AD203B41FA5}">
                      <a16:colId xmlns:a16="http://schemas.microsoft.com/office/drawing/2014/main" val="4100679345"/>
                    </a:ext>
                  </a:extLst>
                </a:gridCol>
                <a:gridCol w="1482690">
                  <a:extLst>
                    <a:ext uri="{9D8B030D-6E8A-4147-A177-3AD203B41FA5}">
                      <a16:colId xmlns:a16="http://schemas.microsoft.com/office/drawing/2014/main" val="391346200"/>
                    </a:ext>
                  </a:extLst>
                </a:gridCol>
                <a:gridCol w="1482690">
                  <a:extLst>
                    <a:ext uri="{9D8B030D-6E8A-4147-A177-3AD203B41FA5}">
                      <a16:colId xmlns:a16="http://schemas.microsoft.com/office/drawing/2014/main" val="1997047567"/>
                    </a:ext>
                  </a:extLst>
                </a:gridCol>
                <a:gridCol w="1482690">
                  <a:extLst>
                    <a:ext uri="{9D8B030D-6E8A-4147-A177-3AD203B41FA5}">
                      <a16:colId xmlns:a16="http://schemas.microsoft.com/office/drawing/2014/main" val="365566380"/>
                    </a:ext>
                  </a:extLst>
                </a:gridCol>
              </a:tblGrid>
              <a:tr h="993325">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4800" b="1" dirty="0">
                          <a:solidFill>
                            <a:schemeClr val="tx1"/>
                          </a:solidFill>
                          <a:latin typeface="メイリオ"/>
                          <a:ea typeface="メイリオ"/>
                          <a:cs typeface="メイリオ"/>
                        </a:rPr>
                        <a:t>A</a:t>
                      </a:r>
                      <a:endParaRPr kumimoji="1" lang="ja-JP" altLang="en-US" sz="4800" b="1" dirty="0">
                        <a:solidFill>
                          <a:schemeClr val="tx1"/>
                        </a:solidFill>
                        <a:latin typeface="+mn-ea"/>
                        <a:ea typeface="+mn-ea"/>
                      </a:endParaRPr>
                    </a:p>
                  </a:txBody>
                  <a:tcPr marL="121920" marR="121920" marT="60960" marB="6096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4800" b="1" dirty="0">
                          <a:solidFill>
                            <a:schemeClr val="tx1"/>
                          </a:solidFill>
                          <a:latin typeface="メイリオ"/>
                          <a:ea typeface="メイリオ"/>
                          <a:cs typeface="メイリオ"/>
                        </a:rPr>
                        <a:t>30.3</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4800" b="1" dirty="0">
                          <a:solidFill>
                            <a:schemeClr val="tx1"/>
                          </a:solidFill>
                          <a:latin typeface="メイリオ"/>
                          <a:ea typeface="メイリオ"/>
                          <a:cs typeface="メイリオ"/>
                        </a:rPr>
                        <a:t>22.5</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33.8</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11.3</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2.1</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492385"/>
                  </a:ext>
                </a:extLst>
              </a:tr>
              <a:tr h="337143">
                <a:tc>
                  <a:txBody>
                    <a:bodyPr/>
                    <a:lstStyle/>
                    <a:p>
                      <a:pPr algn="ctr"/>
                      <a:endParaRPr kumimoji="1" lang="ja-JP" altLang="en-US" sz="1400" b="1" dirty="0">
                        <a:solidFill>
                          <a:schemeClr val="tx1"/>
                        </a:solidFill>
                        <a:latin typeface="+mn-ea"/>
                        <a:ea typeface="+mn-ea"/>
                      </a:endParaRPr>
                    </a:p>
                  </a:txBody>
                  <a:tcPr marL="121920" marR="121920" marT="60960" marB="6096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gridSpan="5">
                  <a:txBody>
                    <a:bodyPr/>
                    <a:lstStyle/>
                    <a:p>
                      <a:pPr algn="ctr"/>
                      <a:endParaRPr kumimoji="1" lang="ja-JP" altLang="en-US" sz="1400" b="1" dirty="0">
                        <a:solidFill>
                          <a:schemeClr val="tx1"/>
                        </a:solidFill>
                        <a:latin typeface="+mn-ea"/>
                        <a:ea typeface="+mn-ea"/>
                      </a:endParaRPr>
                    </a:p>
                  </a:txBody>
                  <a:tcPr marL="121920" marR="121920" marT="60960" marB="6096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4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4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4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4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67334502"/>
                  </a:ext>
                </a:extLst>
              </a:tr>
              <a:tr h="938384">
                <a:tc>
                  <a:txBody>
                    <a:bodyPr/>
                    <a:lstStyle/>
                    <a:p>
                      <a:pPr algn="ctr"/>
                      <a:r>
                        <a:rPr kumimoji="1" lang="en-US" altLang="ja-JP" sz="4800" b="1" dirty="0">
                          <a:solidFill>
                            <a:schemeClr val="tx1"/>
                          </a:solidFill>
                          <a:latin typeface="メイリオ"/>
                          <a:ea typeface="メイリオ"/>
                          <a:cs typeface="メイリオ"/>
                        </a:rPr>
                        <a:t>B</a:t>
                      </a:r>
                      <a:endParaRPr kumimoji="1" lang="ja-JP" altLang="en-US" sz="4800" b="1" dirty="0">
                        <a:solidFill>
                          <a:schemeClr val="tx1"/>
                        </a:solidFill>
                        <a:latin typeface="+mn-ea"/>
                        <a:ea typeface="+mn-ea"/>
                      </a:endParaRPr>
                    </a:p>
                  </a:txBody>
                  <a:tcPr marL="121920" marR="121920" marT="60960" marB="6096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2.1</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10.7</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61.4</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24.3</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1.4</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1790109"/>
                  </a:ext>
                </a:extLst>
              </a:tr>
              <a:tr h="396175">
                <a:tc>
                  <a:txBody>
                    <a:bodyPr/>
                    <a:lstStyle/>
                    <a:p>
                      <a:pPr algn="ctr"/>
                      <a:endParaRPr kumimoji="1" lang="ja-JP" altLang="en-US" sz="1600" b="1" dirty="0">
                        <a:solidFill>
                          <a:schemeClr val="tx1"/>
                        </a:solidFill>
                        <a:latin typeface="+mn-ea"/>
                        <a:ea typeface="+mn-ea"/>
                      </a:endParaRPr>
                    </a:p>
                  </a:txBody>
                  <a:tcPr marL="121920" marR="121920" marT="60960" marB="6096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gridSpan="5">
                  <a:txBody>
                    <a:bodyPr/>
                    <a:lstStyle/>
                    <a:p>
                      <a:pPr algn="ctr"/>
                      <a:endParaRPr kumimoji="1" lang="ja-JP" altLang="en-US" sz="1600" b="1" dirty="0">
                        <a:solidFill>
                          <a:schemeClr val="tx1"/>
                        </a:solidFill>
                        <a:latin typeface="+mn-ea"/>
                        <a:ea typeface="+mn-ea"/>
                      </a:endParaRPr>
                    </a:p>
                  </a:txBody>
                  <a:tcPr marL="121920" marR="121920" marT="60960" marB="6096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6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6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6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6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497351"/>
                  </a:ext>
                </a:extLst>
              </a:tr>
              <a:tr h="979135">
                <a:tc>
                  <a:txBody>
                    <a:bodyPr/>
                    <a:lstStyle/>
                    <a:p>
                      <a:pPr algn="ctr"/>
                      <a:r>
                        <a:rPr kumimoji="1" lang="en-US" altLang="ja-JP" sz="4800" b="1" dirty="0">
                          <a:solidFill>
                            <a:schemeClr val="tx1"/>
                          </a:solidFill>
                          <a:latin typeface="メイリオ"/>
                          <a:ea typeface="メイリオ"/>
                          <a:cs typeface="メイリオ"/>
                        </a:rPr>
                        <a:t>C</a:t>
                      </a:r>
                      <a:endParaRPr kumimoji="1" lang="ja-JP" altLang="en-US" sz="4800" b="1" dirty="0">
                        <a:solidFill>
                          <a:schemeClr val="tx1"/>
                        </a:solidFill>
                        <a:latin typeface="+mn-ea"/>
                        <a:ea typeface="+mn-ea"/>
                      </a:endParaRPr>
                    </a:p>
                  </a:txBody>
                  <a:tcPr marL="121920" marR="121920" marT="60960" marB="6096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6.8</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16.9</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49.3</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20.3</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6.8</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49285134"/>
                  </a:ext>
                </a:extLst>
              </a:tr>
            </a:tbl>
          </a:graphicData>
        </a:graphic>
      </p:graphicFrame>
      <p:sp>
        <p:nvSpPr>
          <p:cNvPr id="7" name="テキスト ボックス 6">
            <a:extLst>
              <a:ext uri="{FF2B5EF4-FFF2-40B4-BE49-F238E27FC236}">
                <a16:creationId xmlns:a16="http://schemas.microsoft.com/office/drawing/2014/main" id="{1457E505-E119-BE45-5410-F918BEED9C03}"/>
              </a:ext>
            </a:extLst>
          </p:cNvPr>
          <p:cNvSpPr txBox="1"/>
          <p:nvPr/>
        </p:nvSpPr>
        <p:spPr>
          <a:xfrm>
            <a:off x="729342" y="753551"/>
            <a:ext cx="8479971" cy="646331"/>
          </a:xfrm>
          <a:prstGeom prst="rect">
            <a:avLst/>
          </a:prstGeom>
          <a:noFill/>
        </p:spPr>
        <p:txBody>
          <a:bodyPr wrap="square">
            <a:spAutoFit/>
          </a:bodyPr>
          <a:lstStyle/>
          <a:p>
            <a:r>
              <a:rPr kumimoji="1" lang="ja-JP" altLang="en-US" sz="3600" dirty="0">
                <a:ea typeface="メイリオ" panose="02020700000000000000" pitchFamily="18" charset="-128"/>
                <a:latin typeface="メイリオ"/>
                <a:cs typeface="メイリオ"/>
              </a:rPr>
              <a:t>この数字は何を表しているでしょう？</a:t>
            </a:r>
            <a:endParaRPr kumimoji="1" lang="en-US" altLang="ja-JP" sz="3600" dirty="0">
              <a:ea typeface="UD デジタル 教科書体 NK-B" panose="02020700000000000000" pitchFamily="18" charset="-128"/>
            </a:endParaRPr>
          </a:p>
        </p:txBody>
      </p:sp>
      <p:sp>
        <p:nvSpPr>
          <p:cNvPr id="2" name="吹き出し: 角を丸めた四角形 1">
            <a:extLst>
              <a:ext uri="{FF2B5EF4-FFF2-40B4-BE49-F238E27FC236}">
                <a16:creationId xmlns:a16="http://schemas.microsoft.com/office/drawing/2014/main" id="{B7401CBC-689C-4789-A857-9ED62D80194E}"/>
              </a:ext>
            </a:extLst>
          </p:cNvPr>
          <p:cNvSpPr/>
          <p:nvPr/>
        </p:nvSpPr>
        <p:spPr>
          <a:xfrm>
            <a:off x="9355493" y="3230133"/>
            <a:ext cx="2644140" cy="1295977"/>
          </a:xfrm>
          <a:prstGeom prst="wedgeRoundRectCallout">
            <a:avLst>
              <a:gd name="adj1" fmla="val -71331"/>
              <a:gd name="adj2" fmla="val -266"/>
              <a:gd name="adj3" fmla="val 16667"/>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kumimoji="1" lang="ja-JP" altLang="en-US" sz="2400" b="1" dirty="0">
                <a:latin typeface="メイリオ"/>
                <a:ea typeface="メイリオ"/>
                <a:cs typeface="メイリオ"/>
              </a:rPr>
              <a:t>区内中学校３校の社会科の評定</a:t>
            </a:r>
          </a:p>
        </p:txBody>
      </p:sp>
      <p:sp>
        <p:nvSpPr>
          <p:cNvPr id="9" name="Rectangle 1">
            <a:extLst>
              <a:ext uri="{FF2B5EF4-FFF2-40B4-BE49-F238E27FC236}">
                <a16:creationId xmlns:a16="http://schemas.microsoft.com/office/drawing/2014/main" id="{4E17680C-0071-4B80-EB24-A6EAE0625A20}"/>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０　はじめに</a:t>
            </a:r>
            <a:endParaRPr lang="en-US" altLang="ja-JP" sz="2800" b="1" dirty="0"/>
          </a:p>
        </p:txBody>
      </p:sp>
    </p:spTree>
    <p:extLst>
      <p:ext uri="{BB962C8B-B14F-4D97-AF65-F5344CB8AC3E}">
        <p14:creationId xmlns:p14="http://schemas.microsoft.com/office/powerpoint/2010/main" val="3888532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100000" tIns="20000" bIns="20000">
            <a:normAutofit/>
          </a:bodyPr>
          <a:lstStyle/>
          <a:p>
            <a:pPr algn="l"/>
            <a:r>
              <a:rPr sz="2200" b="1">
                <a:solidFill>
                  <a:srgbClr val="FFFFFF"/>
                </a:solidFill>
                <a:latin typeface="メイリオ"/>
                <a:ea typeface="メイリオ"/>
                <a:cs typeface="メイリオ"/>
              </a:rPr>
              <a:t>０　はじめに</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200000" tIns="20000" bIns="20000">
            <a:normAutofit/>
          </a:bodyPr>
          <a:lstStyle/>
          <a:p>
            <a:pPr algn="l"/>
            <a:r>
              <a:rPr sz="2800" b="1">
                <a:solidFill>
                  <a:srgbClr val="1F3A6E"/>
                </a:solidFill>
                <a:latin typeface="メイリオ"/>
                <a:ea typeface="メイリオ"/>
                <a:cs typeface="メイリオ"/>
              </a:rPr>
              <a:t>「指導と評価の一体化」とは ─ 本研修の土台</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00000" y="2000000"/>
            <a:ext cx="2550000" cy="14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2400" b="1">
                <a:solidFill>
                  <a:srgbClr val="FFFFFF"/>
                </a:solidFill>
                <a:latin typeface="メイリオ"/>
                <a:ea typeface="メイリオ"/>
                <a:cs typeface="メイリオ"/>
              </a:rPr>
              <a:t>① 目標</a:t>
            </a:r>
          </a:p>
          <a:p>
            <a:pPr algn="ctr">
              <a:lnSpc>
                <a:spcPct val="115000"/>
              </a:lnSpc>
            </a:pPr>
            <a:r>
              <a:rPr sz="1600" b="1">
                <a:solidFill>
                  <a:srgbClr val="1F3A6E"/>
                </a:solidFill>
                <a:latin typeface="メイリオ"/>
                <a:ea typeface="メイリオ"/>
                <a:cs typeface="メイリオ"/>
              </a:rPr>
              <a:t>「Ｂの姿」を描く</a:t>
            </a:r>
          </a:p>
        </p:txBody>
      </p:sp>
      <p:sp>
        <p:nvSpPr>
          <p:cNvPr id="6" name="Rectangle 5"/>
          <p:cNvSpPr/>
          <p:nvPr/>
        </p:nvSpPr>
        <p:spPr>
          <a:xfrm>
            <a:off x="3350000" y="2000000"/>
            <a:ext cx="2550000" cy="14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2400" b="1">
                <a:solidFill>
                  <a:srgbClr val="FFFFFF"/>
                </a:solidFill>
                <a:latin typeface="メイリオ"/>
                <a:ea typeface="メイリオ"/>
                <a:cs typeface="メイリオ"/>
              </a:rPr>
              <a:t>② 指導</a:t>
            </a:r>
          </a:p>
          <a:p>
            <a:pPr algn="ctr">
              <a:lnSpc>
                <a:spcPct val="115000"/>
              </a:lnSpc>
            </a:pPr>
            <a:r>
              <a:rPr sz="1600" b="1">
                <a:solidFill>
                  <a:srgbClr val="1F3A6E"/>
                </a:solidFill>
                <a:latin typeface="メイリオ"/>
                <a:ea typeface="メイリオ"/>
                <a:cs typeface="メイリオ"/>
              </a:rPr>
              <a:t>授業を行う
（主体的・対話的で深い学び）</a:t>
            </a:r>
          </a:p>
        </p:txBody>
      </p:sp>
      <p:sp>
        <p:nvSpPr>
          <p:cNvPr id="7" name="Rectangle 6"/>
          <p:cNvSpPr/>
          <p:nvPr/>
        </p:nvSpPr>
        <p:spPr>
          <a:xfrm>
            <a:off x="6300000" y="2000000"/>
            <a:ext cx="2550000" cy="14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2400" b="1">
                <a:solidFill>
                  <a:srgbClr val="FFFFFF"/>
                </a:solidFill>
                <a:latin typeface="メイリオ"/>
                <a:ea typeface="メイリオ"/>
                <a:cs typeface="メイリオ"/>
              </a:rPr>
              <a:t>③ 評価</a:t>
            </a:r>
          </a:p>
          <a:p>
            <a:pPr algn="ctr">
              <a:lnSpc>
                <a:spcPct val="115000"/>
              </a:lnSpc>
            </a:pPr>
            <a:r>
              <a:rPr sz="1600" b="1">
                <a:solidFill>
                  <a:srgbClr val="1F3A6E"/>
                </a:solidFill>
                <a:latin typeface="メイリオ"/>
                <a:ea typeface="メイリオ"/>
                <a:cs typeface="メイリオ"/>
              </a:rPr>
              <a:t>学びの姿をみとる</a:t>
            </a:r>
          </a:p>
        </p:txBody>
      </p:sp>
      <p:sp>
        <p:nvSpPr>
          <p:cNvPr id="8" name="Rectangle 7"/>
          <p:cNvSpPr/>
          <p:nvPr/>
        </p:nvSpPr>
        <p:spPr>
          <a:xfrm>
            <a:off x="9250000" y="2000000"/>
            <a:ext cx="2550000" cy="14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2400" b="1">
                <a:solidFill>
                  <a:srgbClr val="FFFFFF"/>
                </a:solidFill>
                <a:latin typeface="メイリオ"/>
                <a:ea typeface="メイリオ"/>
                <a:cs typeface="メイリオ"/>
              </a:rPr>
              <a:t>④ 改善</a:t>
            </a:r>
          </a:p>
          <a:p>
            <a:pPr algn="ctr">
              <a:lnSpc>
                <a:spcPct val="115000"/>
              </a:lnSpc>
            </a:pPr>
            <a:r>
              <a:rPr sz="1600" b="1">
                <a:solidFill>
                  <a:srgbClr val="1F3A6E"/>
                </a:solidFill>
                <a:latin typeface="メイリオ"/>
                <a:ea typeface="メイリオ"/>
                <a:cs typeface="メイリオ"/>
              </a:rPr>
              <a:t>次の指導に生かす</a:t>
            </a:r>
          </a:p>
        </p:txBody>
      </p:sp>
      <p:sp>
        <p:nvSpPr>
          <p:cNvPr id="9" name="Right Arrow 8"/>
          <p:cNvSpPr/>
          <p:nvPr/>
        </p:nvSpPr>
        <p:spPr>
          <a:xfrm>
            <a:off x="2950000" y="2520000"/>
            <a:ext cx="400000" cy="420000"/>
          </a:xfrm>
          <a:prstGeom prst="right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ight Arrow 9"/>
          <p:cNvSpPr/>
          <p:nvPr/>
        </p:nvSpPr>
        <p:spPr>
          <a:xfrm>
            <a:off x="5900000" y="2520000"/>
            <a:ext cx="400000" cy="420000"/>
          </a:xfrm>
          <a:prstGeom prst="right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ight Arrow 10"/>
          <p:cNvSpPr/>
          <p:nvPr/>
        </p:nvSpPr>
        <p:spPr>
          <a:xfrm>
            <a:off x="8850000" y="2520000"/>
            <a:ext cx="400000" cy="420000"/>
          </a:xfrm>
          <a:prstGeom prst="right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00000" y="3650000"/>
            <a:ext cx="11400000" cy="62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000" b="1">
                <a:solidFill>
                  <a:srgbClr val="1F3A6E"/>
                </a:solidFill>
                <a:latin typeface="メイリオ"/>
                <a:ea typeface="メイリオ"/>
                <a:cs typeface="メイリオ"/>
              </a:rPr>
              <a:t>④の評価を ①②③ に生かして単元の中でくり返す</a:t>
            </a:r>
            <a:r>
              <a:rPr sz="2200" b="1">
                <a:solidFill>
                  <a:srgbClr val="EB6C15"/>
                </a:solidFill>
                <a:latin typeface="メイリオ"/>
                <a:ea typeface="メイリオ"/>
                <a:cs typeface="メイリオ"/>
              </a:rPr>
              <a:t>　＝　これが「指導と評価の一体化」</a:t>
            </a:r>
          </a:p>
        </p:txBody>
      </p:sp>
      <p:sp>
        <p:nvSpPr>
          <p:cNvPr id="13" name="Rectangle 12"/>
          <p:cNvSpPr/>
          <p:nvPr/>
        </p:nvSpPr>
        <p:spPr>
          <a:xfrm>
            <a:off x="400000" y="4420000"/>
            <a:ext cx="11400000" cy="1450000"/>
          </a:xfrm>
          <a:prstGeom prst="rect">
            <a:avLst/>
          </a:prstGeom>
          <a:solidFill>
            <a:srgbClr val="FFFFFF"/>
          </a:solidFill>
          <a:ln w="4445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5000"/>
              </a:lnSpc>
            </a:pPr>
            <a:r>
              <a:rPr sz="2200" b="1">
                <a:solidFill>
                  <a:srgbClr val="EB6C15"/>
                </a:solidFill>
                <a:latin typeface="メイリオ"/>
                <a:ea typeface="メイリオ"/>
                <a:cs typeface="メイリオ"/>
              </a:rPr>
              <a:t>「正当な評価」</a:t>
            </a:r>
            <a:r>
              <a:rPr sz="2000" b="1">
                <a:solidFill>
                  <a:srgbClr val="000000"/>
                </a:solidFill>
                <a:latin typeface="メイリオ"/>
                <a:ea typeface="メイリオ"/>
                <a:cs typeface="メイリオ"/>
              </a:rPr>
              <a:t>のために授業と評価を一体で設計し、</a:t>
            </a:r>
            <a:r>
              <a:rPr sz="2200" b="1">
                <a:solidFill>
                  <a:srgbClr val="EB6C15"/>
                </a:solidFill>
                <a:latin typeface="メイリオ"/>
                <a:ea typeface="メイリオ"/>
                <a:cs typeface="メイリオ"/>
              </a:rPr>
              <a:t>「授業改善につながる評価」</a:t>
            </a:r>
            <a:r>
              <a:rPr sz="2000" b="1">
                <a:solidFill>
                  <a:srgbClr val="000000"/>
                </a:solidFill>
                <a:latin typeface="メイリオ"/>
                <a:ea typeface="メイリオ"/>
                <a:cs typeface="メイリオ"/>
              </a:rPr>
              <a:t>にする</a:t>
            </a:r>
          </a:p>
          <a:p>
            <a:pPr algn="ctr">
              <a:lnSpc>
                <a:spcPct val="135000"/>
              </a:lnSpc>
            </a:pPr>
            <a:r>
              <a:rPr sz="1800" b="1">
                <a:solidFill>
                  <a:srgbClr val="000000"/>
                </a:solidFill>
                <a:latin typeface="メイリオ"/>
                <a:ea typeface="メイリオ"/>
                <a:cs typeface="メイリオ"/>
              </a:rPr>
              <a:t>本研修は</a:t>
            </a:r>
            <a:r>
              <a:rPr sz="2000" b="1">
                <a:solidFill>
                  <a:srgbClr val="1F3A6E"/>
                </a:solidFill>
                <a:latin typeface="メイリオ"/>
                <a:ea typeface="メイリオ"/>
                <a:cs typeface="メイリオ"/>
              </a:rPr>
              <a:t>3観点すべて</a:t>
            </a:r>
            <a:r>
              <a:rPr sz="1800" b="1">
                <a:solidFill>
                  <a:srgbClr val="000000"/>
                </a:solidFill>
                <a:latin typeface="メイリオ"/>
                <a:ea typeface="メイリオ"/>
                <a:cs typeface="メイリオ"/>
              </a:rPr>
              <a:t>を対象とし、特に見取りが難しい</a:t>
            </a:r>
            <a:r>
              <a:rPr sz="2000" b="1">
                <a:solidFill>
                  <a:srgbClr val="1F3A6E"/>
                </a:solidFill>
                <a:latin typeface="メイリオ"/>
                <a:ea typeface="メイリオ"/>
                <a:cs typeface="メイリオ"/>
              </a:rPr>
              <a:t>「主体的に学習に取り組む態度」を重点</a:t>
            </a:r>
            <a:r>
              <a:rPr sz="1800" b="1">
                <a:solidFill>
                  <a:srgbClr val="000000"/>
                </a:solidFill>
                <a:latin typeface="メイリオ"/>
                <a:ea typeface="メイリオ"/>
                <a:cs typeface="メイリオ"/>
              </a:rPr>
              <a:t>的に扱う</a:t>
            </a:r>
          </a:p>
        </p:txBody>
      </p:sp>
      <p:sp>
        <p:nvSpPr>
          <p:cNvPr id="14" name="TextBox 13"/>
          <p:cNvSpPr txBox="1"/>
          <p:nvPr/>
        </p:nvSpPr>
        <p:spPr>
          <a:xfrm>
            <a:off x="300000" y="5990000"/>
            <a:ext cx="11400000" cy="330000"/>
          </a:xfrm>
          <a:prstGeom prst="rect">
            <a:avLst/>
          </a:prstGeom>
          <a:noFill/>
        </p:spPr>
        <p:txBody>
          <a:bodyPr wrap="square" lIns="40000" rIns="40000" tIns="10000" bIns="10000" anchor="ctr">
            <a:normAutofit/>
          </a:bodyPr>
          <a:lstStyle/>
          <a:p>
            <a:pPr algn="l"/>
            <a:r>
              <a:rPr sz="1300">
                <a:solidFill>
                  <a:srgbClr val="404040"/>
                </a:solidFill>
                <a:latin typeface="メイリオ"/>
                <a:ea typeface="メイリオ"/>
                <a:cs typeface="メイリオ"/>
              </a:rPr>
              <a:t>出典：中学校学習指導要領 解説 総則編 第3章第2節2「学習評価の充実」／文部科学省</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１　主体的・対話的で深い学びの実現に向けた授業改善</a:t>
            </a:r>
            <a:endParaRPr lang="en-US" altLang="ja-JP" sz="2800" b="1" dirty="0"/>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何ができるようになるか ─ 資質・能力の3つの柱</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850000"/>
            <a:ext cx="900000" cy="11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4400" b="1">
                <a:solidFill>
                  <a:srgbClr val="FFFFFF"/>
                </a:solidFill>
                <a:latin typeface="メイリオ"/>
                <a:ea typeface="メイリオ"/>
                <a:cs typeface="メイリオ"/>
              </a:rPr>
              <a:t>①</a:t>
            </a:r>
          </a:p>
        </p:txBody>
      </p:sp>
      <p:sp>
        <p:nvSpPr>
          <p:cNvPr id="7" name="Rectangle 6"/>
          <p:cNvSpPr/>
          <p:nvPr/>
        </p:nvSpPr>
        <p:spPr>
          <a:xfrm>
            <a:off x="1400000" y="1850000"/>
            <a:ext cx="10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20000"/>
              </a:lnSpc>
            </a:pPr>
            <a:r>
              <a:rPr sz="2600" b="1">
                <a:solidFill>
                  <a:srgbClr val="EB6C15"/>
                </a:solidFill>
                <a:latin typeface="メイリオ"/>
                <a:ea typeface="メイリオ"/>
                <a:cs typeface="メイリオ"/>
              </a:rPr>
              <a:t>知識・技能</a:t>
            </a:r>
          </a:p>
          <a:p>
            <a:pPr algn="l">
              <a:lnSpc>
                <a:spcPct val="120000"/>
              </a:lnSpc>
            </a:pPr>
            <a:r>
              <a:rPr sz="2000" b="1">
                <a:solidFill>
                  <a:srgbClr val="1F3A6E"/>
                </a:solidFill>
                <a:latin typeface="メイリオ"/>
                <a:ea typeface="メイリオ"/>
                <a:cs typeface="メイリオ"/>
              </a:rPr>
              <a:t>何を理解しているか、何ができるか</a:t>
            </a:r>
          </a:p>
        </p:txBody>
      </p:sp>
      <p:sp>
        <p:nvSpPr>
          <p:cNvPr id="8" name="Rectangle 7"/>
          <p:cNvSpPr/>
          <p:nvPr/>
        </p:nvSpPr>
        <p:spPr>
          <a:xfrm>
            <a:off x="400000" y="3230000"/>
            <a:ext cx="900000" cy="11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4400" b="1">
                <a:solidFill>
                  <a:srgbClr val="FFFFFF"/>
                </a:solidFill>
                <a:latin typeface="メイリオ"/>
                <a:ea typeface="メイリオ"/>
                <a:cs typeface="メイリオ"/>
              </a:rPr>
              <a:t>②</a:t>
            </a:r>
          </a:p>
        </p:txBody>
      </p:sp>
      <p:sp>
        <p:nvSpPr>
          <p:cNvPr id="9" name="Rectangle 8"/>
          <p:cNvSpPr/>
          <p:nvPr/>
        </p:nvSpPr>
        <p:spPr>
          <a:xfrm>
            <a:off x="1400000" y="3230000"/>
            <a:ext cx="10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20000"/>
              </a:lnSpc>
            </a:pPr>
            <a:r>
              <a:rPr sz="2600" b="1">
                <a:solidFill>
                  <a:srgbClr val="EB6C15"/>
                </a:solidFill>
                <a:latin typeface="メイリオ"/>
                <a:ea typeface="メイリオ"/>
                <a:cs typeface="メイリオ"/>
              </a:rPr>
              <a:t>思考力・判断力・表現力等</a:t>
            </a:r>
          </a:p>
          <a:p>
            <a:pPr algn="l">
              <a:lnSpc>
                <a:spcPct val="120000"/>
              </a:lnSpc>
            </a:pPr>
            <a:r>
              <a:rPr sz="2000" b="1">
                <a:solidFill>
                  <a:srgbClr val="1F3A6E"/>
                </a:solidFill>
                <a:latin typeface="メイリオ"/>
                <a:ea typeface="メイリオ"/>
                <a:cs typeface="メイリオ"/>
              </a:rPr>
              <a:t>理解していること・できることをどう使うか</a:t>
            </a:r>
          </a:p>
        </p:txBody>
      </p:sp>
      <p:sp>
        <p:nvSpPr>
          <p:cNvPr id="10" name="Rectangle 9"/>
          <p:cNvSpPr/>
          <p:nvPr/>
        </p:nvSpPr>
        <p:spPr>
          <a:xfrm>
            <a:off x="400000" y="4610000"/>
            <a:ext cx="900000" cy="11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4400" b="1">
                <a:solidFill>
                  <a:srgbClr val="FFFFFF"/>
                </a:solidFill>
                <a:latin typeface="メイリオ"/>
                <a:ea typeface="メイリオ"/>
                <a:cs typeface="メイリオ"/>
              </a:rPr>
              <a:t>③</a:t>
            </a:r>
          </a:p>
        </p:txBody>
      </p:sp>
      <p:sp>
        <p:nvSpPr>
          <p:cNvPr id="11" name="Rectangle 10"/>
          <p:cNvSpPr/>
          <p:nvPr/>
        </p:nvSpPr>
        <p:spPr>
          <a:xfrm>
            <a:off x="1400000" y="4610000"/>
            <a:ext cx="10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20000"/>
              </a:lnSpc>
            </a:pPr>
            <a:r>
              <a:rPr sz="2600" b="1">
                <a:solidFill>
                  <a:srgbClr val="EB6C15"/>
                </a:solidFill>
                <a:latin typeface="メイリオ"/>
                <a:ea typeface="メイリオ"/>
                <a:cs typeface="メイリオ"/>
              </a:rPr>
              <a:t>学びに向かう力・人間性等</a:t>
            </a:r>
          </a:p>
          <a:p>
            <a:pPr algn="l">
              <a:lnSpc>
                <a:spcPct val="120000"/>
              </a:lnSpc>
            </a:pPr>
            <a:r>
              <a:rPr sz="2000" b="1">
                <a:solidFill>
                  <a:srgbClr val="1F3A6E"/>
                </a:solidFill>
                <a:latin typeface="メイリオ"/>
                <a:ea typeface="メイリオ"/>
                <a:cs typeface="メイリオ"/>
              </a:rPr>
              <a:t>どのように社会・世界と関わり、よりよい人生を送るか</a:t>
            </a:r>
          </a:p>
        </p:txBody>
      </p:sp>
      <p:sp>
        <p:nvSpPr>
          <p:cNvPr id="12" name="TextBox 11"/>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a:solidFill>
                  <a:srgbClr val="404040"/>
                </a:solidFill>
                <a:latin typeface="メイリオ"/>
                <a:ea typeface="メイリオ"/>
                <a:cs typeface="メイリオ"/>
              </a:rPr>
              <a:t>出典：中学校学習指導要領 解説　総則編／文部科学省</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１　主体的・対話的で深い学びの実現に向けた授業改善</a:t>
            </a:r>
            <a:endParaRPr lang="en-US" altLang="ja-JP" sz="2800" b="1" dirty="0"/>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どのように学ぶか ─ 主体的・対話的で深い学び</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3750000" cy="7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fontScale="92500" lnSpcReduction="10000"/>
          </a:bodyPr>
          <a:lstStyle/>
          <a:p>
            <a:pPr algn="ctr">
              <a:lnSpc>
                <a:spcPct val="140000"/>
              </a:lnSpc>
            </a:pPr>
            <a:r>
              <a:rPr sz="2800" b="1">
                <a:solidFill>
                  <a:srgbClr val="FFFFFF"/>
                </a:solidFill>
                <a:latin typeface="メイリオ"/>
                <a:ea typeface="メイリオ"/>
                <a:cs typeface="メイリオ"/>
              </a:rPr>
              <a:t>主体的な学び</a:t>
            </a:r>
          </a:p>
        </p:txBody>
      </p:sp>
      <p:sp>
        <p:nvSpPr>
          <p:cNvPr id="7" name="Rectangle 6"/>
          <p:cNvSpPr/>
          <p:nvPr/>
        </p:nvSpPr>
        <p:spPr>
          <a:xfrm>
            <a:off x="400000" y="2620000"/>
            <a:ext cx="3750000" cy="18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000" b="1">
                <a:solidFill>
                  <a:srgbClr val="1F3A6E"/>
                </a:solidFill>
                <a:latin typeface="メイリオ"/>
                <a:ea typeface="メイリオ"/>
                <a:cs typeface="メイリオ"/>
              </a:rPr>
              <a:t>見通しをもち、粘り強く取り組み、振り返る</a:t>
            </a:r>
          </a:p>
        </p:txBody>
      </p:sp>
      <p:sp>
        <p:nvSpPr>
          <p:cNvPr id="8" name="Rectangle 7"/>
          <p:cNvSpPr/>
          <p:nvPr/>
        </p:nvSpPr>
        <p:spPr>
          <a:xfrm>
            <a:off x="4230000" y="1900000"/>
            <a:ext cx="3750000" cy="7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fontScale="92500" lnSpcReduction="10000"/>
          </a:bodyPr>
          <a:lstStyle/>
          <a:p>
            <a:pPr algn="ctr">
              <a:lnSpc>
                <a:spcPct val="140000"/>
              </a:lnSpc>
            </a:pPr>
            <a:r>
              <a:rPr sz="2800" b="1">
                <a:solidFill>
                  <a:srgbClr val="FFFFFF"/>
                </a:solidFill>
                <a:latin typeface="メイリオ"/>
                <a:ea typeface="メイリオ"/>
                <a:cs typeface="メイリオ"/>
              </a:rPr>
              <a:t>対話的な学び</a:t>
            </a:r>
          </a:p>
        </p:txBody>
      </p:sp>
      <p:sp>
        <p:nvSpPr>
          <p:cNvPr id="9" name="Rectangle 8"/>
          <p:cNvSpPr/>
          <p:nvPr/>
        </p:nvSpPr>
        <p:spPr>
          <a:xfrm>
            <a:off x="4230000" y="2620000"/>
            <a:ext cx="3750000" cy="18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000" b="1">
                <a:solidFill>
                  <a:srgbClr val="1F3A6E"/>
                </a:solidFill>
                <a:latin typeface="メイリオ"/>
                <a:ea typeface="メイリオ"/>
                <a:cs typeface="メイリオ"/>
              </a:rPr>
              <a:t>互いの考えを比べ、共に考えを創り上げる</a:t>
            </a:r>
          </a:p>
        </p:txBody>
      </p:sp>
      <p:sp>
        <p:nvSpPr>
          <p:cNvPr id="10" name="Rectangle 9"/>
          <p:cNvSpPr/>
          <p:nvPr/>
        </p:nvSpPr>
        <p:spPr>
          <a:xfrm>
            <a:off x="8060000" y="1900000"/>
            <a:ext cx="3750000" cy="7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fontScale="92500" lnSpcReduction="10000"/>
          </a:bodyPr>
          <a:lstStyle/>
          <a:p>
            <a:pPr algn="ctr">
              <a:lnSpc>
                <a:spcPct val="140000"/>
              </a:lnSpc>
            </a:pPr>
            <a:r>
              <a:rPr sz="2800" b="1">
                <a:solidFill>
                  <a:srgbClr val="FFFFFF"/>
                </a:solidFill>
                <a:latin typeface="メイリオ"/>
                <a:ea typeface="メイリオ"/>
                <a:cs typeface="メイリオ"/>
              </a:rPr>
              <a:t>深い学び</a:t>
            </a:r>
          </a:p>
        </p:txBody>
      </p:sp>
      <p:sp>
        <p:nvSpPr>
          <p:cNvPr id="11" name="Rectangle 10"/>
          <p:cNvSpPr/>
          <p:nvPr/>
        </p:nvSpPr>
        <p:spPr>
          <a:xfrm>
            <a:off x="8060000" y="2620000"/>
            <a:ext cx="3750000" cy="18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000" b="1">
                <a:solidFill>
                  <a:srgbClr val="1F3A6E"/>
                </a:solidFill>
                <a:latin typeface="メイリオ"/>
                <a:ea typeface="メイリオ"/>
                <a:cs typeface="メイリオ"/>
              </a:rPr>
              <a:t>知識・技能を活用・概念化し、新たなものを創る</a:t>
            </a:r>
          </a:p>
        </p:txBody>
      </p:sp>
      <p:sp>
        <p:nvSpPr>
          <p:cNvPr id="12" name="Rectangle 11"/>
          <p:cNvSpPr/>
          <p:nvPr/>
        </p:nvSpPr>
        <p:spPr>
          <a:xfrm>
            <a:off x="400000" y="4600000"/>
            <a:ext cx="11400000" cy="16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200" b="1" dirty="0" err="1">
                <a:solidFill>
                  <a:srgbClr val="000000"/>
                </a:solidFill>
                <a:latin typeface="メイリオ"/>
                <a:ea typeface="メイリオ"/>
                <a:cs typeface="メイリオ"/>
              </a:rPr>
              <a:t>授業改善の視点</a:t>
            </a:r>
            <a:r>
              <a:rPr sz="2200" b="1" dirty="0">
                <a:solidFill>
                  <a:srgbClr val="000000"/>
                </a:solidFill>
                <a:latin typeface="メイリオ"/>
                <a:ea typeface="メイリオ"/>
                <a:cs typeface="メイリオ"/>
              </a:rPr>
              <a:t> → </a:t>
            </a:r>
            <a:r>
              <a:rPr lang="ja-JP" altLang="en-US" sz="2600" b="1" dirty="0">
                <a:solidFill>
                  <a:srgbClr val="EB6C15"/>
                </a:solidFill>
                <a:latin typeface="メイリオ"/>
                <a:ea typeface="メイリオ"/>
                <a:cs typeface="メイリオ"/>
              </a:rPr>
              <a:t>実現を目指す生徒の</a:t>
            </a:r>
            <a:r>
              <a:rPr sz="2600" b="1" dirty="0">
                <a:solidFill>
                  <a:srgbClr val="EB6C15"/>
                </a:solidFill>
                <a:latin typeface="メイリオ"/>
                <a:ea typeface="メイリオ"/>
                <a:cs typeface="メイリオ"/>
              </a:rPr>
              <a:t>「</a:t>
            </a:r>
            <a:r>
              <a:rPr sz="2600" b="1" dirty="0" err="1">
                <a:solidFill>
                  <a:srgbClr val="EB6C15"/>
                </a:solidFill>
                <a:latin typeface="メイリオ"/>
                <a:ea typeface="メイリオ"/>
                <a:cs typeface="メイリオ"/>
              </a:rPr>
              <a:t>学びの姿</a:t>
            </a:r>
            <a:r>
              <a:rPr sz="2600" b="1" dirty="0">
                <a:solidFill>
                  <a:srgbClr val="EB6C15"/>
                </a:solidFill>
                <a:latin typeface="メイリオ"/>
                <a:ea typeface="メイリオ"/>
                <a:cs typeface="メイリオ"/>
              </a:rPr>
              <a:t>」</a:t>
            </a:r>
          </a:p>
          <a:p>
            <a:pPr algn="l">
              <a:lnSpc>
                <a:spcPct val="140000"/>
              </a:lnSpc>
            </a:pPr>
            <a:r>
              <a:rPr sz="2200" b="1" dirty="0">
                <a:solidFill>
                  <a:srgbClr val="000000"/>
                </a:solidFill>
                <a:latin typeface="メイリオ"/>
                <a:ea typeface="メイリオ"/>
                <a:cs typeface="メイリオ"/>
              </a:rPr>
              <a:t>　 が </a:t>
            </a:r>
            <a:r>
              <a:rPr sz="2600" b="1" dirty="0" err="1">
                <a:solidFill>
                  <a:srgbClr val="EB6C15"/>
                </a:solidFill>
                <a:latin typeface="メイリオ"/>
                <a:ea typeface="メイリオ"/>
                <a:cs typeface="メイリオ"/>
              </a:rPr>
              <a:t>評価の対象</a:t>
            </a:r>
            <a:r>
              <a:rPr sz="2200" b="1" dirty="0" err="1">
                <a:solidFill>
                  <a:srgbClr val="000000"/>
                </a:solidFill>
                <a:latin typeface="メイリオ"/>
                <a:ea typeface="メイリオ"/>
                <a:cs typeface="メイリオ"/>
              </a:rPr>
              <a:t>（特に「主体的に取り組む態度</a:t>
            </a:r>
            <a:r>
              <a:rPr sz="2200" b="1" dirty="0">
                <a:solidFill>
                  <a:srgbClr val="000000"/>
                </a:solidFill>
                <a:latin typeface="メイリオ"/>
                <a:ea typeface="メイリオ"/>
                <a:cs typeface="メイリオ"/>
              </a:rPr>
              <a:t>」）</a:t>
            </a:r>
          </a:p>
        </p:txBody>
      </p:sp>
      <p:sp>
        <p:nvSpPr>
          <p:cNvPr id="13" name="TextBox 12"/>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出典：中学校学習指導要領</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解説</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総則編／文部科学省</a:t>
            </a:r>
            <a:endParaRPr sz="1300" dirty="0">
              <a:solidFill>
                <a:srgbClr val="404040"/>
              </a:solidFill>
              <a:latin typeface="メイリオ"/>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１　主体的・対話的で深い学びの実現に向けた授業改善</a:t>
            </a:r>
            <a:endParaRPr lang="en-US" altLang="ja-JP" sz="2800" b="1" dirty="0"/>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「主体的な学び」のイメージ</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興味や関心
を高める</a:t>
            </a:r>
          </a:p>
        </p:txBody>
      </p:sp>
      <p:sp>
        <p:nvSpPr>
          <p:cNvPr id="7" name="Rectangle 6"/>
          <p:cNvSpPr/>
          <p:nvPr/>
        </p:nvSpPr>
        <p:spPr>
          <a:xfrm>
            <a:off x="425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見通しを
もつ</a:t>
            </a:r>
          </a:p>
        </p:txBody>
      </p:sp>
      <p:sp>
        <p:nvSpPr>
          <p:cNvPr id="8" name="Rectangle 7"/>
          <p:cNvSpPr/>
          <p:nvPr/>
        </p:nvSpPr>
        <p:spPr>
          <a:xfrm>
            <a:off x="810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粘り強く
取り組む</a:t>
            </a:r>
          </a:p>
        </p:txBody>
      </p:sp>
      <p:sp>
        <p:nvSpPr>
          <p:cNvPr id="9" name="Rectangle 8"/>
          <p:cNvSpPr/>
          <p:nvPr/>
        </p:nvSpPr>
        <p:spPr>
          <a:xfrm>
            <a:off x="40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自分と結び
付ける</a:t>
            </a:r>
          </a:p>
        </p:txBody>
      </p:sp>
      <p:sp>
        <p:nvSpPr>
          <p:cNvPr id="10" name="Rectangle 9"/>
          <p:cNvSpPr/>
          <p:nvPr/>
        </p:nvSpPr>
        <p:spPr>
          <a:xfrm>
            <a:off x="425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振り返って
次へつなげる</a:t>
            </a:r>
          </a:p>
        </p:txBody>
      </p:sp>
      <p:sp>
        <p:nvSpPr>
          <p:cNvPr id="11" name="Rectangle 10"/>
          <p:cNvSpPr/>
          <p:nvPr/>
        </p:nvSpPr>
        <p:spPr>
          <a:xfrm>
            <a:off x="810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学び続ける
意志</a:t>
            </a:r>
          </a:p>
        </p:txBody>
      </p:sp>
      <p:sp>
        <p:nvSpPr>
          <p:cNvPr id="12" name="Rectangle 11"/>
          <p:cNvSpPr/>
          <p:nvPr/>
        </p:nvSpPr>
        <p:spPr>
          <a:xfrm>
            <a:off x="400000" y="5300000"/>
            <a:ext cx="11400000" cy="9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200" b="1">
                <a:solidFill>
                  <a:srgbClr val="000000"/>
                </a:solidFill>
                <a:latin typeface="メイリオ"/>
                <a:ea typeface="メイリオ"/>
                <a:cs typeface="メイリオ"/>
              </a:rPr>
              <a:t>これらが </a:t>
            </a:r>
            <a:r>
              <a:rPr sz="2400" b="1">
                <a:solidFill>
                  <a:srgbClr val="EB6C15"/>
                </a:solidFill>
                <a:latin typeface="メイリオ"/>
                <a:ea typeface="メイリオ"/>
                <a:cs typeface="メイリオ"/>
              </a:rPr>
              <a:t>単元の中で実際に見えるか</a:t>
            </a:r>
            <a:r>
              <a:rPr sz="2200" b="1">
                <a:solidFill>
                  <a:srgbClr val="000000"/>
                </a:solidFill>
                <a:latin typeface="メイリオ"/>
                <a:ea typeface="メイリオ"/>
                <a:cs typeface="メイリオ"/>
              </a:rPr>
              <a:t>を観る</a:t>
            </a:r>
          </a:p>
        </p:txBody>
      </p:sp>
      <p:sp>
        <p:nvSpPr>
          <p:cNvPr id="13" name="TextBox 12"/>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a:solidFill>
                  <a:srgbClr val="404040"/>
                </a:solidFill>
                <a:latin typeface="メイリオ"/>
                <a:ea typeface="メイリオ"/>
                <a:cs typeface="メイリオ"/>
              </a:rPr>
              <a:t>出典：中学校学習指導要領 解説　総則編／文部科学省</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１　主体的・対話的で深い学びの実現に向けた授業改善</a:t>
            </a:r>
            <a:endParaRPr lang="en-US" altLang="ja-JP" sz="2800" b="1" dirty="0"/>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「対話的な学び」のイメージ</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互いの考え
を比べる</a:t>
            </a:r>
          </a:p>
        </p:txBody>
      </p:sp>
      <p:sp>
        <p:nvSpPr>
          <p:cNvPr id="7" name="Rectangle 6"/>
          <p:cNvSpPr/>
          <p:nvPr/>
        </p:nvSpPr>
        <p:spPr>
          <a:xfrm>
            <a:off x="425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多様な手段
で説明する</a:t>
            </a:r>
          </a:p>
        </p:txBody>
      </p:sp>
      <p:sp>
        <p:nvSpPr>
          <p:cNvPr id="8" name="Rectangle 7"/>
          <p:cNvSpPr/>
          <p:nvPr/>
        </p:nvSpPr>
        <p:spPr>
          <a:xfrm>
            <a:off x="810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共に考えを
創り上げる</a:t>
            </a:r>
          </a:p>
        </p:txBody>
      </p:sp>
      <p:sp>
        <p:nvSpPr>
          <p:cNvPr id="9" name="Rectangle 8"/>
          <p:cNvSpPr/>
          <p:nvPr/>
        </p:nvSpPr>
        <p:spPr>
          <a:xfrm>
            <a:off x="40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多様な情報
を収集する</a:t>
            </a:r>
          </a:p>
        </p:txBody>
      </p:sp>
      <p:sp>
        <p:nvSpPr>
          <p:cNvPr id="10" name="Rectangle 9"/>
          <p:cNvSpPr/>
          <p:nvPr/>
        </p:nvSpPr>
        <p:spPr>
          <a:xfrm>
            <a:off x="425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協働して
課題を解決</a:t>
            </a:r>
          </a:p>
        </p:txBody>
      </p:sp>
      <p:sp>
        <p:nvSpPr>
          <p:cNvPr id="11" name="Rectangle 10"/>
          <p:cNvSpPr/>
          <p:nvPr/>
        </p:nvSpPr>
        <p:spPr>
          <a:xfrm>
            <a:off x="810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先哲の考え
を手掛かりに</a:t>
            </a:r>
          </a:p>
        </p:txBody>
      </p:sp>
      <p:sp>
        <p:nvSpPr>
          <p:cNvPr id="12" name="Rectangle 11"/>
          <p:cNvSpPr/>
          <p:nvPr/>
        </p:nvSpPr>
        <p:spPr>
          <a:xfrm>
            <a:off x="400000" y="5300000"/>
            <a:ext cx="11400000" cy="9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200" b="1">
                <a:solidFill>
                  <a:srgbClr val="000000"/>
                </a:solidFill>
                <a:latin typeface="メイリオ"/>
                <a:ea typeface="メイリオ"/>
                <a:cs typeface="メイリオ"/>
              </a:rPr>
              <a:t>Input ⇄ Output の往復で </a:t>
            </a:r>
            <a:r>
              <a:rPr sz="2400" b="1">
                <a:solidFill>
                  <a:srgbClr val="EB6C15"/>
                </a:solidFill>
                <a:latin typeface="メイリオ"/>
                <a:ea typeface="メイリオ"/>
                <a:cs typeface="メイリオ"/>
              </a:rPr>
              <a:t>自分の考えを更新する姿</a:t>
            </a:r>
            <a:r>
              <a:rPr sz="2200" b="1">
                <a:solidFill>
                  <a:srgbClr val="000000"/>
                </a:solidFill>
                <a:latin typeface="メイリオ"/>
                <a:ea typeface="メイリオ"/>
                <a:cs typeface="メイリオ"/>
              </a:rPr>
              <a:t>を観る</a:t>
            </a:r>
          </a:p>
        </p:txBody>
      </p:sp>
      <p:sp>
        <p:nvSpPr>
          <p:cNvPr id="13" name="TextBox 12"/>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出典：中学校学習指導要領</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解説</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総則編／文部科学省</a:t>
            </a:r>
            <a:endParaRPr sz="1300" dirty="0">
              <a:solidFill>
                <a:srgbClr val="404040"/>
              </a:solidFill>
              <a:latin typeface="メイリオ"/>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１　主体的・対話的で深い学びの実現に向けた授業改善</a:t>
            </a:r>
            <a:endParaRPr lang="en-US" altLang="ja-JP" sz="2800" b="1" dirty="0"/>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「深い学び」のイメージ</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知識・技能を
習得する</a:t>
            </a:r>
          </a:p>
        </p:txBody>
      </p:sp>
      <p:sp>
        <p:nvSpPr>
          <p:cNvPr id="7" name="Rectangle 6"/>
          <p:cNvSpPr/>
          <p:nvPr/>
        </p:nvSpPr>
        <p:spPr>
          <a:xfrm>
            <a:off x="425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知識・技能を
活用する</a:t>
            </a:r>
          </a:p>
        </p:txBody>
      </p:sp>
      <p:sp>
        <p:nvSpPr>
          <p:cNvPr id="8" name="Rectangle 7"/>
          <p:cNvSpPr/>
          <p:nvPr/>
        </p:nvSpPr>
        <p:spPr>
          <a:xfrm>
            <a:off x="810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知識・技能を
概念化する</a:t>
            </a:r>
          </a:p>
        </p:txBody>
      </p:sp>
      <p:sp>
        <p:nvSpPr>
          <p:cNvPr id="9" name="Rectangle 8"/>
          <p:cNvSpPr/>
          <p:nvPr/>
        </p:nvSpPr>
        <p:spPr>
          <a:xfrm>
            <a:off x="40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自分の考えを
形成する</a:t>
            </a:r>
          </a:p>
        </p:txBody>
      </p:sp>
      <p:sp>
        <p:nvSpPr>
          <p:cNvPr id="10" name="Rectangle 9"/>
          <p:cNvSpPr/>
          <p:nvPr/>
        </p:nvSpPr>
        <p:spPr>
          <a:xfrm>
            <a:off x="425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思考して
問い続ける</a:t>
            </a:r>
          </a:p>
        </p:txBody>
      </p:sp>
      <p:sp>
        <p:nvSpPr>
          <p:cNvPr id="11" name="Rectangle 10"/>
          <p:cNvSpPr/>
          <p:nvPr/>
        </p:nvSpPr>
        <p:spPr>
          <a:xfrm>
            <a:off x="810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新たなものを
創り上げる</a:t>
            </a:r>
          </a:p>
        </p:txBody>
      </p:sp>
      <p:sp>
        <p:nvSpPr>
          <p:cNvPr id="12" name="Rectangle 11"/>
          <p:cNvSpPr/>
          <p:nvPr/>
        </p:nvSpPr>
        <p:spPr>
          <a:xfrm>
            <a:off x="400000" y="5300000"/>
            <a:ext cx="11400000" cy="9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200" b="1" dirty="0">
                <a:solidFill>
                  <a:srgbClr val="000000"/>
                </a:solidFill>
                <a:latin typeface="メイリオ"/>
                <a:ea typeface="メイリオ"/>
                <a:cs typeface="メイリオ"/>
              </a:rPr>
              <a:t>「</a:t>
            </a:r>
            <a:r>
              <a:rPr sz="2200" b="1" dirty="0" err="1">
                <a:solidFill>
                  <a:srgbClr val="000000"/>
                </a:solidFill>
                <a:latin typeface="メイリオ"/>
                <a:ea typeface="メイリオ"/>
                <a:cs typeface="メイリオ"/>
              </a:rPr>
              <a:t>分かった」を超えて</a:t>
            </a:r>
            <a:r>
              <a:rPr sz="2200" b="1" dirty="0">
                <a:solidFill>
                  <a:srgbClr val="000000"/>
                </a:solidFill>
                <a:latin typeface="メイリオ"/>
                <a:ea typeface="メイリオ"/>
                <a:cs typeface="メイリオ"/>
              </a:rPr>
              <a:t> </a:t>
            </a:r>
            <a:r>
              <a:rPr sz="2400" b="1" dirty="0">
                <a:solidFill>
                  <a:srgbClr val="EB6C15"/>
                </a:solidFill>
                <a:latin typeface="メイリオ"/>
                <a:ea typeface="メイリオ"/>
                <a:cs typeface="メイリオ"/>
              </a:rPr>
              <a:t>「</a:t>
            </a:r>
            <a:r>
              <a:rPr sz="2400" b="1" dirty="0" err="1">
                <a:solidFill>
                  <a:srgbClr val="EB6C15"/>
                </a:solidFill>
                <a:latin typeface="メイリオ"/>
                <a:ea typeface="メイリオ"/>
                <a:cs typeface="メイリオ"/>
              </a:rPr>
              <a:t>使える・問い続ける」姿</a:t>
            </a:r>
            <a:r>
              <a:rPr sz="2200" b="1" dirty="0" err="1">
                <a:solidFill>
                  <a:srgbClr val="000000"/>
                </a:solidFill>
                <a:latin typeface="メイリオ"/>
                <a:ea typeface="メイリオ"/>
                <a:cs typeface="メイリオ"/>
              </a:rPr>
              <a:t>を観る</a:t>
            </a:r>
            <a:endParaRPr sz="2200" b="1" dirty="0">
              <a:solidFill>
                <a:srgbClr val="000000"/>
              </a:solidFill>
              <a:latin typeface="メイリオ"/>
            </a:endParaRPr>
          </a:p>
        </p:txBody>
      </p:sp>
      <p:sp>
        <p:nvSpPr>
          <p:cNvPr id="13" name="TextBox 12"/>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出典：中学校学習指導要領</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解説</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総則編／文部科学省</a:t>
            </a:r>
            <a:endParaRPr sz="1300" dirty="0">
              <a:solidFill>
                <a:srgbClr val="404040"/>
              </a:solidFill>
              <a:latin typeface="メイリオ"/>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１　主体的・対話的で深い学びの実現に向けた授業改善</a:t>
            </a:r>
            <a:endParaRPr lang="en-US" altLang="ja-JP" sz="2800" b="1" dirty="0"/>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授業改善 と 評価 は一体</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11400000" cy="9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600" b="1" dirty="0">
                <a:solidFill>
                  <a:srgbClr val="1F3A6E"/>
                </a:solidFill>
                <a:latin typeface="メイリオ"/>
                <a:ea typeface="メイリオ"/>
                <a:cs typeface="メイリオ"/>
              </a:rPr>
              <a:t>「</a:t>
            </a:r>
            <a:r>
              <a:rPr sz="2600" b="1" dirty="0" err="1">
                <a:solidFill>
                  <a:srgbClr val="1F3A6E"/>
                </a:solidFill>
                <a:latin typeface="メイリオ"/>
                <a:ea typeface="メイリオ"/>
                <a:cs typeface="メイリオ"/>
              </a:rPr>
              <a:t>主体的・対話的で深い学び」の視点で授業を改善する</a:t>
            </a:r>
            <a:endParaRPr sz="2600" b="1" dirty="0">
              <a:solidFill>
                <a:srgbClr val="1F3A6E"/>
              </a:solidFill>
              <a:latin typeface="メイリオ"/>
            </a:endParaRPr>
          </a:p>
        </p:txBody>
      </p:sp>
      <p:sp>
        <p:nvSpPr>
          <p:cNvPr id="7" name="Down Arrow 6"/>
          <p:cNvSpPr/>
          <p:nvPr/>
        </p:nvSpPr>
        <p:spPr>
          <a:xfrm>
            <a:off x="5596000" y="2900000"/>
            <a:ext cx="1000000" cy="500000"/>
          </a:xfrm>
          <a:prstGeom prst="down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00000" y="3500000"/>
            <a:ext cx="11400000" cy="9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600" b="1">
                <a:solidFill>
                  <a:srgbClr val="1F3A6E"/>
                </a:solidFill>
                <a:latin typeface="メイリオ"/>
                <a:ea typeface="メイリオ"/>
                <a:cs typeface="メイリオ"/>
              </a:rPr>
              <a:t>授業で「目指す生徒の姿」を、教師が事前に描く</a:t>
            </a:r>
          </a:p>
        </p:txBody>
      </p:sp>
      <p:sp>
        <p:nvSpPr>
          <p:cNvPr id="9" name="Down Arrow 8"/>
          <p:cNvSpPr/>
          <p:nvPr/>
        </p:nvSpPr>
        <p:spPr>
          <a:xfrm>
            <a:off x="5596000" y="4500000"/>
            <a:ext cx="1000000" cy="500000"/>
          </a:xfrm>
          <a:prstGeom prst="down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00000" y="5100000"/>
            <a:ext cx="11400000" cy="1100000"/>
          </a:xfrm>
          <a:prstGeom prst="rect">
            <a:avLst/>
          </a:prstGeom>
          <a:solidFill>
            <a:srgbClr val="FFFFFF"/>
          </a:solidFill>
          <a:ln w="508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400" b="1" dirty="0" err="1">
                <a:solidFill>
                  <a:srgbClr val="000000"/>
                </a:solidFill>
                <a:latin typeface="メイリオ"/>
                <a:ea typeface="メイリオ"/>
                <a:cs typeface="メイリオ"/>
              </a:rPr>
              <a:t>その「目指す姿」が</a:t>
            </a:r>
            <a:r>
              <a:rPr sz="2400" b="1" dirty="0">
                <a:solidFill>
                  <a:srgbClr val="000000"/>
                </a:solidFill>
                <a:latin typeface="メイリオ"/>
                <a:ea typeface="メイリオ"/>
                <a:cs typeface="メイリオ"/>
              </a:rPr>
              <a:t> </a:t>
            </a:r>
            <a:r>
              <a:rPr sz="2600" b="1" dirty="0" err="1">
                <a:solidFill>
                  <a:srgbClr val="EB6C15"/>
                </a:solidFill>
                <a:latin typeface="メイリオ"/>
                <a:ea typeface="メイリオ"/>
                <a:cs typeface="メイリオ"/>
              </a:rPr>
              <a:t>評価規準（Bと判断する姿</a:t>
            </a:r>
            <a:r>
              <a:rPr sz="2600" b="1" dirty="0">
                <a:solidFill>
                  <a:srgbClr val="EB6C15"/>
                </a:solidFill>
                <a:latin typeface="メイリオ"/>
                <a:ea typeface="メイリオ"/>
                <a:cs typeface="メイリオ"/>
              </a:rPr>
              <a:t>）</a:t>
            </a:r>
            <a:r>
              <a:rPr sz="2400" b="1" dirty="0">
                <a:solidFill>
                  <a:srgbClr val="000000"/>
                </a:solidFill>
                <a:latin typeface="メイリオ"/>
                <a:ea typeface="メイリオ"/>
                <a:cs typeface="メイリオ"/>
              </a:rPr>
              <a:t> </a:t>
            </a:r>
            <a:r>
              <a:rPr sz="2400" b="1" dirty="0" err="1">
                <a:solidFill>
                  <a:srgbClr val="000000"/>
                </a:solidFill>
                <a:latin typeface="メイリオ"/>
                <a:ea typeface="メイリオ"/>
                <a:cs typeface="メイリオ"/>
              </a:rPr>
              <a:t>になる</a:t>
            </a:r>
            <a:endParaRPr sz="2400" b="1" dirty="0">
              <a:solidFill>
                <a:srgbClr val="000000"/>
              </a:solidFill>
              <a:latin typeface="メイリオ"/>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427843" y="2661217"/>
            <a:ext cx="9428844" cy="1417299"/>
          </a:xfrm>
        </p:spPr>
        <p:txBody>
          <a:bodyPr>
            <a:noAutofit/>
          </a:bodyPr>
          <a:lstStyle/>
          <a:p>
            <a:r>
              <a:rPr lang="ja-JP" altLang="en-US" sz="4000" b="1" dirty="0">
                <a:latin typeface="メイリオ"/>
                <a:ea typeface="メイリオ"/>
                <a:cs typeface="メイリオ"/>
              </a:rPr>
              <a:t>２　</a:t>
            </a:r>
            <a:r>
              <a:rPr lang="en-US" altLang="ja-JP" sz="4000" b="1" dirty="0">
                <a:latin typeface="メイリオ"/>
                <a:ea typeface="メイリオ"/>
                <a:cs typeface="メイリオ"/>
              </a:rPr>
              <a:t>『</a:t>
            </a:r>
            <a:r>
              <a:rPr lang="ja-JP" altLang="en-US" sz="4000" b="1" dirty="0">
                <a:latin typeface="メイリオ"/>
                <a:ea typeface="メイリオ"/>
                <a:cs typeface="メイリオ"/>
              </a:rPr>
              <a:t>主体的に学習に取り組む態度</a:t>
            </a:r>
            <a:r>
              <a:rPr lang="en-US" altLang="ja-JP" sz="4000" b="1" dirty="0">
                <a:latin typeface="メイリオ"/>
                <a:ea typeface="メイリオ"/>
                <a:cs typeface="メイリオ"/>
              </a:rPr>
              <a:t>』</a:t>
            </a:r>
            <a:br>
              <a:rPr lang="en-US" altLang="ja-JP" sz="4000" b="1" dirty="0">
                <a:latin typeface="+mn-ea"/>
                <a:ea typeface="+mn-ea"/>
              </a:rPr>
            </a:br>
            <a:r>
              <a:rPr lang="ja-JP" altLang="en-US" sz="4000" b="1" dirty="0">
                <a:latin typeface="メイリオ"/>
                <a:ea typeface="メイリオ"/>
                <a:cs typeface="メイリオ"/>
              </a:rPr>
              <a:t>　　　　　　　　　　　　　の学習評価</a:t>
            </a:r>
            <a:endParaRPr lang="ja-JP" altLang="en-US" sz="4000" dirty="0">
              <a:latin typeface="+mn-ea"/>
              <a:ea typeface="+mn-ea"/>
            </a:endParaRPr>
          </a:p>
        </p:txBody>
      </p:sp>
    </p:spTree>
    <p:extLst>
      <p:ext uri="{BB962C8B-B14F-4D97-AF65-F5344CB8AC3E}">
        <p14:creationId xmlns:p14="http://schemas.microsoft.com/office/powerpoint/2010/main" val="24237765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コンテンツ プレースホルダー 2"/>
          <p:cNvSpPr txBox="1">
            <a:spLocks/>
          </p:cNvSpPr>
          <p:nvPr/>
        </p:nvSpPr>
        <p:spPr>
          <a:xfrm>
            <a:off x="888643" y="1930319"/>
            <a:ext cx="4971243" cy="271088"/>
          </a:xfrm>
          <a:prstGeom prst="rect">
            <a:avLst/>
          </a:prstGeom>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50000"/>
              </a:lnSpc>
              <a:buNone/>
            </a:pPr>
            <a:r>
              <a:rPr lang="ja-JP" altLang="en-US" sz="3600" b="1" dirty="0">
                <a:latin typeface="メイリオ"/>
                <a:ea typeface="メイリオ"/>
                <a:cs typeface="メイリオ"/>
              </a:rPr>
              <a:t>・学習改善への活用</a:t>
            </a:r>
          </a:p>
        </p:txBody>
      </p:sp>
      <p:sp>
        <p:nvSpPr>
          <p:cNvPr id="7" name="コンテンツ プレースホルダー 2"/>
          <p:cNvSpPr txBox="1">
            <a:spLocks/>
          </p:cNvSpPr>
          <p:nvPr/>
        </p:nvSpPr>
        <p:spPr>
          <a:xfrm>
            <a:off x="888644" y="2585405"/>
            <a:ext cx="6697012" cy="433838"/>
          </a:xfrm>
          <a:prstGeom prst="rect">
            <a:avLst/>
          </a:prstGeom>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70000"/>
              </a:lnSpc>
              <a:buNone/>
            </a:pPr>
            <a:r>
              <a:rPr lang="ja-JP" altLang="en-US" sz="3600" b="1" dirty="0">
                <a:latin typeface="メイリオ"/>
                <a:ea typeface="メイリオ"/>
                <a:cs typeface="メイリオ"/>
              </a:rPr>
              <a:t>・生徒や保護者からの誤解</a:t>
            </a:r>
            <a:endParaRPr lang="en-US" altLang="ja-JP" sz="3600" b="1" dirty="0"/>
          </a:p>
        </p:txBody>
      </p:sp>
      <p:sp>
        <p:nvSpPr>
          <p:cNvPr id="10" name="コンテンツ プレースホルダー 2"/>
          <p:cNvSpPr txBox="1">
            <a:spLocks/>
          </p:cNvSpPr>
          <p:nvPr/>
        </p:nvSpPr>
        <p:spPr>
          <a:xfrm>
            <a:off x="888642" y="3247125"/>
            <a:ext cx="6362164" cy="845671"/>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3600" b="1" dirty="0">
                <a:latin typeface="メイリオ"/>
                <a:ea typeface="メイリオ"/>
                <a:cs typeface="メイリオ"/>
              </a:rPr>
              <a:t>・教員への負担</a:t>
            </a:r>
          </a:p>
        </p:txBody>
      </p:sp>
      <p:sp>
        <p:nvSpPr>
          <p:cNvPr id="11" name="コンテンツ プレースホルダー 2"/>
          <p:cNvSpPr txBox="1">
            <a:spLocks/>
          </p:cNvSpPr>
          <p:nvPr/>
        </p:nvSpPr>
        <p:spPr>
          <a:xfrm>
            <a:off x="888642" y="4160812"/>
            <a:ext cx="8319749" cy="707007"/>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50000"/>
              </a:lnSpc>
              <a:buNone/>
            </a:pPr>
            <a:r>
              <a:rPr lang="ja-JP" altLang="en-US" sz="3600" b="1" dirty="0">
                <a:latin typeface="メイリオ"/>
                <a:ea typeface="メイリオ"/>
                <a:cs typeface="メイリオ"/>
              </a:rPr>
              <a:t>・正しい理解がされていない</a:t>
            </a:r>
          </a:p>
        </p:txBody>
      </p:sp>
      <p:sp>
        <p:nvSpPr>
          <p:cNvPr id="13" name="コンテンツ プレースホルダー 2"/>
          <p:cNvSpPr txBox="1">
            <a:spLocks/>
          </p:cNvSpPr>
          <p:nvPr/>
        </p:nvSpPr>
        <p:spPr>
          <a:xfrm>
            <a:off x="888642" y="4871654"/>
            <a:ext cx="10820755" cy="1033789"/>
          </a:xfrm>
          <a:prstGeom prst="rect">
            <a:avLst/>
          </a:prstGeom>
          <a:ln w="38100">
            <a:solidFill>
              <a:srgbClr val="C00000"/>
            </a:solidFill>
          </a:ln>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3600" b="1" dirty="0">
                <a:latin typeface="メイリオ"/>
                <a:ea typeface="メイリオ"/>
                <a:cs typeface="メイリオ"/>
              </a:rPr>
              <a:t>何のために「学習評価」を行うのか改めて意識することが重要</a:t>
            </a:r>
          </a:p>
        </p:txBody>
      </p:sp>
      <p:sp>
        <p:nvSpPr>
          <p:cNvPr id="2" name="Rectangle 1">
            <a:extLst>
              <a:ext uri="{FF2B5EF4-FFF2-40B4-BE49-F238E27FC236}">
                <a16:creationId xmlns:a16="http://schemas.microsoft.com/office/drawing/2014/main" id="{5E7DD3BE-F7B3-B8D0-AEA2-6C58CC9CBC74}"/>
              </a:ext>
            </a:extLst>
          </p:cNvPr>
          <p:cNvSpPr/>
          <p:nvPr/>
        </p:nvSpPr>
        <p:spPr>
          <a:xfrm>
            <a:off x="0" y="-59585"/>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4" name="Rectangle 2">
            <a:extLst>
              <a:ext uri="{FF2B5EF4-FFF2-40B4-BE49-F238E27FC236}">
                <a16:creationId xmlns:a16="http://schemas.microsoft.com/office/drawing/2014/main" id="{3C9C8EB6-E975-E555-C422-99E9829C80A5}"/>
              </a:ext>
            </a:extLst>
          </p:cNvPr>
          <p:cNvSpPr/>
          <p:nvPr/>
        </p:nvSpPr>
        <p:spPr>
          <a:xfrm>
            <a:off x="0" y="770415"/>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学習評価の現状における課題</a:t>
            </a:r>
          </a:p>
        </p:txBody>
      </p:sp>
    </p:spTree>
    <p:extLst>
      <p:ext uri="{BB962C8B-B14F-4D97-AF65-F5344CB8AC3E}">
        <p14:creationId xmlns:p14="http://schemas.microsoft.com/office/powerpoint/2010/main" val="2898441235"/>
      </p:ext>
    </p:extLst>
  </p:cSld>
  <p:clrMapOvr>
    <a:masterClrMapping/>
  </p:clrMapOvr>
  <p:transition spd="slow">
    <p:cove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コンテンツ プレースホルダー 2"/>
          <p:cNvSpPr txBox="1">
            <a:spLocks/>
          </p:cNvSpPr>
          <p:nvPr/>
        </p:nvSpPr>
        <p:spPr>
          <a:xfrm>
            <a:off x="888647" y="2232148"/>
            <a:ext cx="10400764" cy="627045"/>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3200" b="1" dirty="0">
                <a:latin typeface="メイリオ"/>
                <a:ea typeface="メイリオ"/>
                <a:cs typeface="メイリオ"/>
              </a:rPr>
              <a:t>①生徒の学習改善につながるものにしていくこと</a:t>
            </a:r>
          </a:p>
        </p:txBody>
      </p:sp>
      <p:sp>
        <p:nvSpPr>
          <p:cNvPr id="12" name="コンテンツ プレースホルダー 2"/>
          <p:cNvSpPr txBox="1">
            <a:spLocks/>
          </p:cNvSpPr>
          <p:nvPr/>
        </p:nvSpPr>
        <p:spPr>
          <a:xfrm>
            <a:off x="888647" y="3437409"/>
            <a:ext cx="10400764" cy="503123"/>
          </a:xfrm>
          <a:prstGeom prst="rect">
            <a:avLst/>
          </a:prstGeom>
        </p:spPr>
        <p:txBody>
          <a:bodyPr vert="horz" lIns="91440" tIns="45720" rIns="91440" bIns="45720" rtlCol="0">
            <a:normAutofit lnSpcReduction="10000"/>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3200" b="1" dirty="0">
                <a:latin typeface="メイリオ"/>
                <a:ea typeface="メイリオ"/>
                <a:cs typeface="メイリオ"/>
              </a:rPr>
              <a:t>②教師の指導改善につながるものにしていくこと</a:t>
            </a:r>
          </a:p>
        </p:txBody>
      </p:sp>
      <p:sp>
        <p:nvSpPr>
          <p:cNvPr id="13" name="コンテンツ プレースホルダー 2"/>
          <p:cNvSpPr txBox="1">
            <a:spLocks/>
          </p:cNvSpPr>
          <p:nvPr/>
        </p:nvSpPr>
        <p:spPr>
          <a:xfrm>
            <a:off x="888645" y="4518748"/>
            <a:ext cx="10782656" cy="1003413"/>
          </a:xfrm>
          <a:prstGeom prst="rect">
            <a:avLst/>
          </a:prstGeom>
          <a:noFill/>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b="1" dirty="0">
                <a:latin typeface="メイリオ"/>
                <a:ea typeface="メイリオ"/>
                <a:cs typeface="メイリオ"/>
              </a:rPr>
              <a:t>③</a:t>
            </a:r>
            <a:r>
              <a:rPr lang="ja-JP" altLang="en-US" sz="3200" b="1" dirty="0">
                <a:latin typeface="メイリオ"/>
                <a:ea typeface="メイリオ"/>
                <a:cs typeface="メイリオ"/>
              </a:rPr>
              <a:t>これまで慣行として行われてきたことでも、</a:t>
            </a:r>
            <a:endParaRPr lang="en-US" altLang="ja-JP" sz="3200" b="1" dirty="0"/>
          </a:p>
          <a:p>
            <a:pPr marL="0" indent="0">
              <a:buNone/>
            </a:pPr>
            <a:r>
              <a:rPr lang="ja-JP" altLang="en-US" sz="3200" b="1" dirty="0">
                <a:latin typeface="メイリオ"/>
                <a:ea typeface="メイリオ"/>
                <a:cs typeface="メイリオ"/>
              </a:rPr>
              <a:t>　必要性・妥当性が認められないものは見直していくこと</a:t>
            </a:r>
          </a:p>
        </p:txBody>
      </p:sp>
      <p:sp>
        <p:nvSpPr>
          <p:cNvPr id="2" name="Rectangle 1">
            <a:extLst>
              <a:ext uri="{FF2B5EF4-FFF2-40B4-BE49-F238E27FC236}">
                <a16:creationId xmlns:a16="http://schemas.microsoft.com/office/drawing/2014/main" id="{E9650E6E-0348-6C46-A97A-BE78213930C8}"/>
              </a:ext>
            </a:extLst>
          </p:cNvPr>
          <p:cNvSpPr/>
          <p:nvPr/>
        </p:nvSpPr>
        <p:spPr>
          <a:xfrm>
            <a:off x="0" y="-196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4" name="Rectangle 2">
            <a:extLst>
              <a:ext uri="{FF2B5EF4-FFF2-40B4-BE49-F238E27FC236}">
                <a16:creationId xmlns:a16="http://schemas.microsoft.com/office/drawing/2014/main" id="{BF337071-516D-9061-A429-4C4ECD1D91D6}"/>
              </a:ext>
            </a:extLst>
          </p:cNvPr>
          <p:cNvSpPr/>
          <p:nvPr/>
        </p:nvSpPr>
        <p:spPr>
          <a:xfrm>
            <a:off x="0" y="82804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学習評価の改善の基本方針</a:t>
            </a:r>
          </a:p>
        </p:txBody>
      </p:sp>
    </p:spTree>
    <p:extLst>
      <p:ext uri="{BB962C8B-B14F-4D97-AF65-F5344CB8AC3E}">
        <p14:creationId xmlns:p14="http://schemas.microsoft.com/office/powerpoint/2010/main" val="3235622663"/>
      </p:ext>
    </p:extLst>
  </p:cSld>
  <p:clrMapOvr>
    <a:masterClrMapping/>
  </p:clrMapOvr>
  <p:transition spd="slow">
    <p:cover/>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100000" tIns="20000" bIns="20000">
            <a:normAutofit/>
          </a:bodyPr>
          <a:lstStyle/>
          <a:p>
            <a:pPr algn="l"/>
            <a:r>
              <a:rPr sz="2200" b="1">
                <a:solidFill>
                  <a:srgbClr val="FFFFFF"/>
                </a:solidFill>
                <a:latin typeface="メイリオ"/>
                <a:ea typeface="メイリオ"/>
                <a:cs typeface="メイリオ"/>
              </a:rPr>
              <a:t>２　『主体的に学習に取り組む態度』の学習評価</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200000" tIns="20000" bIns="20000">
            <a:normAutofit/>
          </a:bodyPr>
          <a:lstStyle/>
          <a:p>
            <a:pPr algn="l"/>
            <a:r>
              <a:rPr sz="2800" b="1">
                <a:solidFill>
                  <a:srgbClr val="1F3A6E"/>
                </a:solidFill>
                <a:latin typeface="メイリオ"/>
                <a:ea typeface="メイリオ"/>
                <a:cs typeface="メイリオ"/>
              </a:rPr>
              <a:t>授業改善につながる評価 ─ 評価を次の指導に生かす</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00000" y="1850000"/>
            <a:ext cx="11400000" cy="72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000" b="1">
                <a:solidFill>
                  <a:srgbClr val="000000"/>
                </a:solidFill>
                <a:latin typeface="メイリオ"/>
                <a:ea typeface="メイリオ"/>
                <a:cs typeface="メイリオ"/>
              </a:rPr>
              <a:t>評価には2つの役割：</a:t>
            </a:r>
            <a:r>
              <a:rPr sz="1900" b="1">
                <a:solidFill>
                  <a:srgbClr val="404040"/>
                </a:solidFill>
                <a:latin typeface="メイリオ"/>
                <a:ea typeface="メイリオ"/>
                <a:cs typeface="メイリオ"/>
              </a:rPr>
              <a:t>①記録・評定のため（総括的）</a:t>
            </a:r>
            <a:r>
              <a:rPr sz="1900" b="1">
                <a:solidFill>
                  <a:srgbClr val="000000"/>
                </a:solidFill>
                <a:latin typeface="メイリオ"/>
                <a:ea typeface="メイリオ"/>
                <a:cs typeface="メイリオ"/>
              </a:rPr>
              <a:t>　／　</a:t>
            </a:r>
            <a:r>
              <a:rPr sz="2000" b="1">
                <a:solidFill>
                  <a:srgbClr val="EB6C15"/>
                </a:solidFill>
                <a:latin typeface="メイリオ"/>
                <a:ea typeface="メイリオ"/>
                <a:cs typeface="メイリオ"/>
              </a:rPr>
              <a:t>②指導改善のため（形成的）</a:t>
            </a:r>
            <a:r>
              <a:rPr sz="1900" b="1">
                <a:solidFill>
                  <a:srgbClr val="C04040"/>
                </a:solidFill>
                <a:latin typeface="メイリオ"/>
                <a:ea typeface="メイリオ"/>
                <a:cs typeface="メイリオ"/>
              </a:rPr>
              <a:t>　← 校長が重視</a:t>
            </a:r>
          </a:p>
        </p:txBody>
      </p:sp>
      <p:sp>
        <p:nvSpPr>
          <p:cNvPr id="6" name="Rectangle 5"/>
          <p:cNvSpPr/>
          <p:nvPr/>
        </p:nvSpPr>
        <p:spPr>
          <a:xfrm>
            <a:off x="400000" y="2750000"/>
            <a:ext cx="2550000" cy="12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2300" b="1">
                <a:solidFill>
                  <a:srgbClr val="FFFFFF"/>
                </a:solidFill>
                <a:latin typeface="メイリオ"/>
                <a:ea typeface="メイリオ"/>
                <a:cs typeface="メイリオ"/>
              </a:rPr>
              <a:t>① みとる</a:t>
            </a:r>
          </a:p>
          <a:p>
            <a:pPr algn="ctr">
              <a:lnSpc>
                <a:spcPct val="115000"/>
              </a:lnSpc>
            </a:pPr>
            <a:r>
              <a:rPr sz="1500" b="1">
                <a:solidFill>
                  <a:srgbClr val="1F3A6E"/>
                </a:solidFill>
                <a:latin typeface="メイリオ"/>
                <a:ea typeface="メイリオ"/>
                <a:cs typeface="メイリオ"/>
              </a:rPr>
              <a:t>評価で学習状況を把握</a:t>
            </a:r>
          </a:p>
        </p:txBody>
      </p:sp>
      <p:sp>
        <p:nvSpPr>
          <p:cNvPr id="7" name="Rectangle 6"/>
          <p:cNvSpPr/>
          <p:nvPr/>
        </p:nvSpPr>
        <p:spPr>
          <a:xfrm>
            <a:off x="3350000" y="2750000"/>
            <a:ext cx="2550000" cy="12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2300" b="1">
                <a:solidFill>
                  <a:srgbClr val="FFFFFF"/>
                </a:solidFill>
                <a:latin typeface="メイリオ"/>
                <a:ea typeface="メイリオ"/>
                <a:cs typeface="メイリオ"/>
              </a:rPr>
              <a:t>② 気づく</a:t>
            </a:r>
          </a:p>
          <a:p>
            <a:pPr algn="ctr">
              <a:lnSpc>
                <a:spcPct val="115000"/>
              </a:lnSpc>
            </a:pPr>
            <a:r>
              <a:rPr sz="1500" b="1">
                <a:solidFill>
                  <a:srgbClr val="1F3A6E"/>
                </a:solidFill>
                <a:latin typeface="メイリオ"/>
                <a:ea typeface="メイリオ"/>
                <a:cs typeface="メイリオ"/>
              </a:rPr>
              <a:t>つまずき・伸びを発見</a:t>
            </a:r>
          </a:p>
        </p:txBody>
      </p:sp>
      <p:sp>
        <p:nvSpPr>
          <p:cNvPr id="8" name="Rectangle 7"/>
          <p:cNvSpPr/>
          <p:nvPr/>
        </p:nvSpPr>
        <p:spPr>
          <a:xfrm>
            <a:off x="6300000" y="2750000"/>
            <a:ext cx="2550000" cy="12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2300" b="1">
                <a:solidFill>
                  <a:srgbClr val="FFFFFF"/>
                </a:solidFill>
                <a:latin typeface="メイリオ"/>
                <a:ea typeface="メイリオ"/>
                <a:cs typeface="メイリオ"/>
              </a:rPr>
              <a:t>③ 変える</a:t>
            </a:r>
          </a:p>
          <a:p>
            <a:pPr algn="ctr">
              <a:lnSpc>
                <a:spcPct val="115000"/>
              </a:lnSpc>
            </a:pPr>
            <a:r>
              <a:rPr sz="1500" b="1">
                <a:solidFill>
                  <a:srgbClr val="1F3A6E"/>
                </a:solidFill>
                <a:latin typeface="メイリオ"/>
                <a:ea typeface="メイリオ"/>
                <a:cs typeface="メイリオ"/>
              </a:rPr>
              <a:t>次時の指導を修正</a:t>
            </a:r>
          </a:p>
        </p:txBody>
      </p:sp>
      <p:sp>
        <p:nvSpPr>
          <p:cNvPr id="9" name="Rectangle 8"/>
          <p:cNvSpPr/>
          <p:nvPr/>
        </p:nvSpPr>
        <p:spPr>
          <a:xfrm>
            <a:off x="9250000" y="2750000"/>
            <a:ext cx="2550000" cy="12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2300" b="1">
                <a:solidFill>
                  <a:srgbClr val="FFFFFF"/>
                </a:solidFill>
                <a:latin typeface="メイリオ"/>
                <a:ea typeface="メイリオ"/>
                <a:cs typeface="メイリオ"/>
              </a:rPr>
              <a:t>④ 伸びる</a:t>
            </a:r>
          </a:p>
          <a:p>
            <a:pPr algn="ctr">
              <a:lnSpc>
                <a:spcPct val="115000"/>
              </a:lnSpc>
            </a:pPr>
            <a:r>
              <a:rPr sz="1500" b="1">
                <a:solidFill>
                  <a:srgbClr val="1F3A6E"/>
                </a:solidFill>
                <a:latin typeface="メイリオ"/>
                <a:ea typeface="メイリオ"/>
                <a:cs typeface="メイリオ"/>
              </a:rPr>
              <a:t>生徒の学習が改善</a:t>
            </a:r>
          </a:p>
        </p:txBody>
      </p:sp>
      <p:sp>
        <p:nvSpPr>
          <p:cNvPr id="10" name="Right Arrow 9"/>
          <p:cNvSpPr/>
          <p:nvPr/>
        </p:nvSpPr>
        <p:spPr>
          <a:xfrm>
            <a:off x="2950000" y="3230000"/>
            <a:ext cx="400000" cy="360000"/>
          </a:xfrm>
          <a:prstGeom prst="right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ight Arrow 10"/>
          <p:cNvSpPr/>
          <p:nvPr/>
        </p:nvSpPr>
        <p:spPr>
          <a:xfrm>
            <a:off x="5900000" y="3230000"/>
            <a:ext cx="400000" cy="360000"/>
          </a:xfrm>
          <a:prstGeom prst="right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8850000" y="3230000"/>
            <a:ext cx="400000" cy="360000"/>
          </a:xfrm>
          <a:prstGeom prst="right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00000" y="4180000"/>
            <a:ext cx="11400000" cy="108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30000"/>
              </a:lnSpc>
            </a:pPr>
            <a:r>
              <a:rPr sz="1800" b="1">
                <a:solidFill>
                  <a:srgbClr val="EB6C15"/>
                </a:solidFill>
                <a:latin typeface="メイリオ"/>
                <a:ea typeface="メイリオ"/>
                <a:cs typeface="メイリオ"/>
              </a:rPr>
              <a:t>＜例＞</a:t>
            </a:r>
          </a:p>
          <a:p>
            <a:pPr algn="l">
              <a:lnSpc>
                <a:spcPct val="130000"/>
              </a:lnSpc>
            </a:pPr>
            <a:r>
              <a:rPr sz="1900" b="1">
                <a:solidFill>
                  <a:srgbClr val="1F3A6E"/>
                </a:solidFill>
                <a:latin typeface="メイリオ"/>
                <a:ea typeface="メイリオ"/>
                <a:cs typeface="メイリオ"/>
              </a:rPr>
              <a:t>振り返りで「見通しが弱い」生徒が多い → 次時の冒頭に「今日のゴールと手順」を確認する場面を加える</a:t>
            </a:r>
          </a:p>
        </p:txBody>
      </p:sp>
      <p:sp>
        <p:nvSpPr>
          <p:cNvPr id="14" name="Rectangle 13"/>
          <p:cNvSpPr/>
          <p:nvPr/>
        </p:nvSpPr>
        <p:spPr>
          <a:xfrm>
            <a:off x="400000" y="5380000"/>
            <a:ext cx="11400000" cy="560000"/>
          </a:xfrm>
          <a:prstGeom prst="rect">
            <a:avLst/>
          </a:prstGeom>
          <a:solidFill>
            <a:srgbClr val="FFE066"/>
          </a:solidFill>
          <a:ln w="38100">
            <a:solidFill>
              <a:srgbClr val="EB6C15"/>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100" b="1">
                <a:solidFill>
                  <a:srgbClr val="000000"/>
                </a:solidFill>
                <a:latin typeface="メイリオ"/>
                <a:ea typeface="メイリオ"/>
                <a:cs typeface="メイリオ"/>
              </a:rPr>
              <a:t>評価は</a:t>
            </a:r>
            <a:r>
              <a:rPr sz="2300" b="1">
                <a:solidFill>
                  <a:srgbClr val="EB6C15"/>
                </a:solidFill>
                <a:latin typeface="メイリオ"/>
                <a:ea typeface="メイリオ"/>
                <a:cs typeface="メイリオ"/>
              </a:rPr>
              <a:t>“つける”だけでなく“生かす”</a:t>
            </a:r>
            <a:r>
              <a:rPr sz="2100" b="1">
                <a:solidFill>
                  <a:srgbClr val="000000"/>
                </a:solidFill>
                <a:latin typeface="メイリオ"/>
                <a:ea typeface="メイリオ"/>
                <a:cs typeface="メイリオ"/>
              </a:rPr>
              <a:t>。これが校長の言う「授業改善につながる評価」</a:t>
            </a:r>
          </a:p>
        </p:txBody>
      </p:sp>
      <p:sp>
        <p:nvSpPr>
          <p:cNvPr id="15" name="TextBox 14"/>
          <p:cNvSpPr txBox="1"/>
          <p:nvPr/>
        </p:nvSpPr>
        <p:spPr>
          <a:xfrm>
            <a:off x="300000" y="6080000"/>
            <a:ext cx="11400000" cy="310000"/>
          </a:xfrm>
          <a:prstGeom prst="rect">
            <a:avLst/>
          </a:prstGeom>
          <a:noFill/>
        </p:spPr>
        <p:txBody>
          <a:bodyPr wrap="square" lIns="40000" rIns="40000" tIns="10000" bIns="10000" anchor="ctr">
            <a:normAutofit/>
          </a:bodyPr>
          <a:lstStyle/>
          <a:p>
            <a:pPr algn="l"/>
            <a:r>
              <a:rPr sz="1300">
                <a:solidFill>
                  <a:srgbClr val="404040"/>
                </a:solidFill>
                <a:latin typeface="メイリオ"/>
                <a:ea typeface="メイリオ"/>
                <a:cs typeface="メイリオ"/>
              </a:rPr>
              <a:t>出典：中学校学習指導要領 解説 総則編 第3章第2節2(1)指導の評価と改善／学習評価Q&amp;A実践書 Q5「評価を事務作業にしないために」</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グループ化 2"/>
          <p:cNvGrpSpPr/>
          <p:nvPr/>
        </p:nvGrpSpPr>
        <p:grpSpPr>
          <a:xfrm>
            <a:off x="927116" y="1351079"/>
            <a:ext cx="10362293" cy="5306776"/>
            <a:chOff x="1118507" y="1427853"/>
            <a:chExt cx="7632700" cy="4006850"/>
          </a:xfrm>
        </p:grpSpPr>
        <p:grpSp>
          <p:nvGrpSpPr>
            <p:cNvPr id="23" name="グループ化 22"/>
            <p:cNvGrpSpPr>
              <a:grpSpLocks/>
            </p:cNvGrpSpPr>
            <p:nvPr/>
          </p:nvGrpSpPr>
          <p:grpSpPr bwMode="auto">
            <a:xfrm>
              <a:off x="1118507" y="1427853"/>
              <a:ext cx="7599363" cy="838200"/>
              <a:chOff x="755650" y="2159000"/>
              <a:chExt cx="7599363" cy="838200"/>
            </a:xfrm>
          </p:grpSpPr>
          <p:sp>
            <p:nvSpPr>
              <p:cNvPr id="24" name="正方形/長方形 23"/>
              <p:cNvSpPr/>
              <p:nvPr/>
            </p:nvSpPr>
            <p:spPr>
              <a:xfrm>
                <a:off x="755650" y="2159000"/>
                <a:ext cx="7599363" cy="83820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a:defRPr/>
                </a:pPr>
                <a:endParaRPr lang="ja-JP" altLang="en-US" b="1">
                  <a:latin typeface="+mn-ea"/>
                </a:endParaRPr>
              </a:p>
            </p:txBody>
          </p:sp>
          <p:sp>
            <p:nvSpPr>
              <p:cNvPr id="25" name="角丸四角形 24"/>
              <p:cNvSpPr/>
              <p:nvPr/>
            </p:nvSpPr>
            <p:spPr>
              <a:xfrm>
                <a:off x="909638" y="2268538"/>
                <a:ext cx="1862137" cy="623887"/>
              </a:xfrm>
              <a:prstGeom prst="round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anchor="ctr"/>
              <a:lstStyle/>
              <a:p>
                <a:pPr algn="ctr">
                  <a:defRPr/>
                </a:pPr>
                <a:r>
                  <a:rPr lang="ja-JP" altLang="en-US" b="1" dirty="0">
                    <a:latin typeface="メイリオ"/>
                    <a:ea typeface="メイリオ"/>
                    <a:cs typeface="メイリオ"/>
                  </a:rPr>
                  <a:t>学習指導要領に示す</a:t>
                </a:r>
                <a:endParaRPr lang="en-US" altLang="ja-JP" b="1" dirty="0">
                  <a:latin typeface="+mn-ea"/>
                </a:endParaRPr>
              </a:p>
              <a:p>
                <a:pPr algn="ctr">
                  <a:defRPr/>
                </a:pPr>
                <a:r>
                  <a:rPr lang="ja-JP" altLang="en-US" b="1" dirty="0">
                    <a:latin typeface="メイリオ"/>
                    <a:ea typeface="メイリオ"/>
                    <a:cs typeface="メイリオ"/>
                  </a:rPr>
                  <a:t>目標や内容</a:t>
                </a:r>
              </a:p>
            </p:txBody>
          </p:sp>
        </p:grpSp>
        <p:sp>
          <p:nvSpPr>
            <p:cNvPr id="26" name="角丸四角形 25"/>
            <p:cNvSpPr/>
            <p:nvPr/>
          </p:nvSpPr>
          <p:spPr>
            <a:xfrm>
              <a:off x="3282270" y="1537391"/>
              <a:ext cx="1655762" cy="623887"/>
            </a:xfrm>
            <a:prstGeom prst="roundRect">
              <a:avLst/>
            </a:prstGeom>
            <a:ln w="28575"/>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b="1" dirty="0">
                  <a:latin typeface="メイリオ"/>
                  <a:ea typeface="メイリオ"/>
                  <a:cs typeface="メイリオ"/>
                </a:rPr>
                <a:t>知識及び技能</a:t>
              </a:r>
            </a:p>
          </p:txBody>
        </p:sp>
        <p:sp>
          <p:nvSpPr>
            <p:cNvPr id="27" name="角丸四角形 26"/>
            <p:cNvSpPr/>
            <p:nvPr/>
          </p:nvSpPr>
          <p:spPr>
            <a:xfrm>
              <a:off x="5085670" y="1537391"/>
              <a:ext cx="1655762" cy="623887"/>
            </a:xfrm>
            <a:prstGeom prst="roundRect">
              <a:avLst/>
            </a:prstGeom>
            <a:ln w="28575"/>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sz="1351" b="1" dirty="0">
                  <a:latin typeface="メイリオ"/>
                  <a:ea typeface="メイリオ"/>
                  <a:cs typeface="メイリオ"/>
                </a:rPr>
                <a:t>思考力、判断力、</a:t>
              </a:r>
              <a:endParaRPr lang="en-US" altLang="ja-JP" sz="1351" b="1" dirty="0">
                <a:latin typeface="+mn-ea"/>
              </a:endParaRPr>
            </a:p>
            <a:p>
              <a:pPr algn="ctr">
                <a:defRPr/>
              </a:pPr>
              <a:r>
                <a:rPr lang="ja-JP" altLang="en-US" sz="1351" b="1" dirty="0">
                  <a:latin typeface="メイリオ"/>
                  <a:ea typeface="メイリオ"/>
                  <a:cs typeface="メイリオ"/>
                </a:rPr>
                <a:t>表現力等</a:t>
              </a:r>
            </a:p>
          </p:txBody>
        </p:sp>
        <p:sp>
          <p:nvSpPr>
            <p:cNvPr id="28" name="角丸四角形 27"/>
            <p:cNvSpPr/>
            <p:nvPr/>
          </p:nvSpPr>
          <p:spPr>
            <a:xfrm>
              <a:off x="6870020" y="1543741"/>
              <a:ext cx="1655762" cy="623887"/>
            </a:xfrm>
            <a:prstGeom prst="roundRect">
              <a:avLst/>
            </a:prstGeom>
            <a:ln w="28575"/>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b="1" dirty="0">
                  <a:latin typeface="メイリオ"/>
                  <a:ea typeface="メイリオ"/>
                  <a:cs typeface="メイリオ"/>
                </a:rPr>
                <a:t>学びに向かう力、</a:t>
              </a:r>
              <a:endParaRPr lang="en-US" altLang="ja-JP" b="1" dirty="0">
                <a:latin typeface="+mn-ea"/>
              </a:endParaRPr>
            </a:p>
            <a:p>
              <a:pPr algn="ctr">
                <a:defRPr/>
              </a:pPr>
              <a:r>
                <a:rPr lang="ja-JP" altLang="en-US" b="1" dirty="0">
                  <a:latin typeface="メイリオ"/>
                  <a:ea typeface="メイリオ"/>
                  <a:cs typeface="メイリオ"/>
                </a:rPr>
                <a:t>人間性等</a:t>
              </a:r>
            </a:p>
          </p:txBody>
        </p:sp>
        <p:grpSp>
          <p:nvGrpSpPr>
            <p:cNvPr id="29" name="グループ化 28"/>
            <p:cNvGrpSpPr>
              <a:grpSpLocks/>
            </p:cNvGrpSpPr>
            <p:nvPr/>
          </p:nvGrpSpPr>
          <p:grpSpPr bwMode="auto">
            <a:xfrm>
              <a:off x="1118507" y="2626416"/>
              <a:ext cx="7599363" cy="2016125"/>
              <a:chOff x="755650" y="3357563"/>
              <a:chExt cx="7599363" cy="2016125"/>
            </a:xfrm>
          </p:grpSpPr>
          <p:sp>
            <p:nvSpPr>
              <p:cNvPr id="30" name="正方形/長方形 29"/>
              <p:cNvSpPr/>
              <p:nvPr/>
            </p:nvSpPr>
            <p:spPr>
              <a:xfrm>
                <a:off x="5183188" y="4146550"/>
                <a:ext cx="3171825" cy="1223963"/>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b="1">
                  <a:latin typeface="+mn-ea"/>
                </a:endParaRPr>
              </a:p>
            </p:txBody>
          </p:sp>
          <p:grpSp>
            <p:nvGrpSpPr>
              <p:cNvPr id="31" name="グループ化 25"/>
              <p:cNvGrpSpPr>
                <a:grpSpLocks/>
              </p:cNvGrpSpPr>
              <p:nvPr/>
            </p:nvGrpSpPr>
            <p:grpSpPr bwMode="auto">
              <a:xfrm>
                <a:off x="755650" y="3357563"/>
                <a:ext cx="5688013" cy="2016125"/>
                <a:chOff x="755650" y="3357563"/>
                <a:chExt cx="5688013" cy="2016125"/>
              </a:xfrm>
            </p:grpSpPr>
            <p:sp>
              <p:nvSpPr>
                <p:cNvPr id="32" name="正方形/長方形 31"/>
                <p:cNvSpPr/>
                <p:nvPr/>
              </p:nvSpPr>
              <p:spPr>
                <a:xfrm>
                  <a:off x="755650" y="3357563"/>
                  <a:ext cx="5688013" cy="2016125"/>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b="1">
                    <a:latin typeface="+mn-ea"/>
                  </a:endParaRPr>
                </a:p>
              </p:txBody>
            </p:sp>
            <p:sp>
              <p:nvSpPr>
                <p:cNvPr id="33" name="角丸四角形 32"/>
                <p:cNvSpPr/>
                <p:nvPr/>
              </p:nvSpPr>
              <p:spPr>
                <a:xfrm>
                  <a:off x="909638" y="3452813"/>
                  <a:ext cx="1865312" cy="623887"/>
                </a:xfrm>
                <a:prstGeom prst="round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anchor="ctr"/>
                <a:lstStyle/>
                <a:p>
                  <a:pPr algn="ctr">
                    <a:defRPr/>
                  </a:pPr>
                  <a:r>
                    <a:rPr lang="ja-JP" altLang="en-US" b="1" dirty="0">
                      <a:latin typeface="メイリオ"/>
                      <a:ea typeface="メイリオ"/>
                      <a:cs typeface="メイリオ"/>
                    </a:rPr>
                    <a:t>観点別学習状況評価の各観点</a:t>
                  </a:r>
                </a:p>
              </p:txBody>
            </p:sp>
          </p:grpSp>
        </p:grpSp>
        <p:grpSp>
          <p:nvGrpSpPr>
            <p:cNvPr id="34" name="グループ化 33"/>
            <p:cNvGrpSpPr>
              <a:grpSpLocks/>
            </p:cNvGrpSpPr>
            <p:nvPr/>
          </p:nvGrpSpPr>
          <p:grpSpPr bwMode="auto">
            <a:xfrm>
              <a:off x="6901770" y="2626416"/>
              <a:ext cx="1816100" cy="720725"/>
              <a:chOff x="6538913" y="3357563"/>
              <a:chExt cx="1816100" cy="720725"/>
            </a:xfrm>
          </p:grpSpPr>
          <p:sp>
            <p:nvSpPr>
              <p:cNvPr id="35" name="正方形/長方形 34"/>
              <p:cNvSpPr/>
              <p:nvPr/>
            </p:nvSpPr>
            <p:spPr>
              <a:xfrm>
                <a:off x="6538913" y="3357563"/>
                <a:ext cx="1816100" cy="720725"/>
              </a:xfrm>
              <a:prstGeom prst="rect">
                <a:avLst/>
              </a:prstGeom>
              <a:ln/>
            </p:spPr>
            <p:style>
              <a:lnRef idx="1">
                <a:schemeClr val="accent5"/>
              </a:lnRef>
              <a:fillRef idx="2">
                <a:schemeClr val="accent5"/>
              </a:fillRef>
              <a:effectRef idx="1">
                <a:schemeClr val="accent5"/>
              </a:effectRef>
              <a:fontRef idx="minor">
                <a:schemeClr val="dk1"/>
              </a:fontRef>
            </p:style>
            <p:txBody>
              <a:bodyPr anchor="ctr"/>
              <a:lstStyle/>
              <a:p>
                <a:pPr algn="ctr">
                  <a:defRPr/>
                </a:pPr>
                <a:endParaRPr lang="ja-JP" altLang="en-US" sz="1100" b="1">
                  <a:latin typeface="+mn-ea"/>
                </a:endParaRPr>
              </a:p>
            </p:txBody>
          </p:sp>
          <p:sp>
            <p:nvSpPr>
              <p:cNvPr id="36" name="角丸四角形 35"/>
              <p:cNvSpPr/>
              <p:nvPr/>
            </p:nvSpPr>
            <p:spPr>
              <a:xfrm>
                <a:off x="6600825" y="3486150"/>
                <a:ext cx="1655763" cy="508000"/>
              </a:xfrm>
              <a:prstGeom prst="roundRect">
                <a:avLst/>
              </a:prstGeom>
              <a:ln w="28575">
                <a:solidFill>
                  <a:srgbClr val="0070C0"/>
                </a:solidFill>
              </a:ln>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sz="1600" b="1" dirty="0">
                    <a:latin typeface="メイリオ"/>
                    <a:ea typeface="メイリオ"/>
                    <a:cs typeface="メイリオ"/>
                  </a:rPr>
                  <a:t>感性、思いやりなど</a:t>
                </a:r>
                <a:endParaRPr lang="en-US" altLang="ja-JP" sz="1600" b="1" dirty="0">
                  <a:latin typeface="+mn-ea"/>
                </a:endParaRPr>
              </a:p>
            </p:txBody>
          </p:sp>
        </p:grpSp>
        <p:sp>
          <p:nvSpPr>
            <p:cNvPr id="37" name="正方形/長方形 36"/>
            <p:cNvSpPr/>
            <p:nvPr/>
          </p:nvSpPr>
          <p:spPr>
            <a:xfrm>
              <a:off x="1118507" y="5001316"/>
              <a:ext cx="5040313" cy="433387"/>
            </a:xfrm>
            <a:prstGeom prst="rect">
              <a:avLst/>
            </a:prstGeom>
            <a:ln w="38100">
              <a:solidFill>
                <a:srgbClr val="FF0000"/>
              </a:solidFill>
              <a:prstDash val="dash"/>
            </a:ln>
          </p:spPr>
          <p:style>
            <a:lnRef idx="2">
              <a:schemeClr val="accent6"/>
            </a:lnRef>
            <a:fillRef idx="1">
              <a:schemeClr val="lt1"/>
            </a:fillRef>
            <a:effectRef idx="0">
              <a:schemeClr val="accent6"/>
            </a:effectRef>
            <a:fontRef idx="minor">
              <a:schemeClr val="dk1"/>
            </a:fontRef>
          </p:style>
          <p:txBody>
            <a:bodyPr anchor="ctr"/>
            <a:lstStyle/>
            <a:p>
              <a:pPr algn="ctr">
                <a:defRPr/>
              </a:pPr>
              <a:r>
                <a:rPr lang="ja-JP" altLang="en-US" sz="2400" b="1" dirty="0">
                  <a:latin typeface="メイリオ"/>
                  <a:ea typeface="メイリオ"/>
                  <a:cs typeface="メイリオ"/>
                </a:rPr>
                <a:t>評定（５段階で評価）</a:t>
              </a:r>
            </a:p>
          </p:txBody>
        </p:sp>
        <p:sp>
          <p:nvSpPr>
            <p:cNvPr id="38" name="正方形/長方形 37"/>
            <p:cNvSpPr/>
            <p:nvPr/>
          </p:nvSpPr>
          <p:spPr>
            <a:xfrm>
              <a:off x="6341382" y="5001316"/>
              <a:ext cx="2409825" cy="433387"/>
            </a:xfrm>
            <a:prstGeom prst="rect">
              <a:avLst/>
            </a:prstGeom>
            <a:ln>
              <a:solidFill>
                <a:schemeClr val="tx1"/>
              </a:solidFill>
              <a:prstDash val="dash"/>
            </a:ln>
          </p:spPr>
          <p:style>
            <a:lnRef idx="2">
              <a:schemeClr val="accent6"/>
            </a:lnRef>
            <a:fillRef idx="1">
              <a:schemeClr val="lt1"/>
            </a:fillRef>
            <a:effectRef idx="0">
              <a:schemeClr val="accent6"/>
            </a:effectRef>
            <a:fontRef idx="minor">
              <a:schemeClr val="dk1"/>
            </a:fontRef>
          </p:style>
          <p:txBody>
            <a:bodyPr anchor="ctr"/>
            <a:lstStyle/>
            <a:p>
              <a:pPr algn="ctr">
                <a:defRPr/>
              </a:pPr>
              <a:r>
                <a:rPr lang="ja-JP" altLang="en-US" sz="2400" b="1" dirty="0">
                  <a:latin typeface="メイリオ"/>
                  <a:ea typeface="メイリオ"/>
                  <a:cs typeface="メイリオ"/>
                </a:rPr>
                <a:t>個人内評価</a:t>
              </a:r>
            </a:p>
          </p:txBody>
        </p:sp>
        <p:sp>
          <p:nvSpPr>
            <p:cNvPr id="39" name="二等辺三角形 38"/>
            <p:cNvSpPr/>
            <p:nvPr/>
          </p:nvSpPr>
          <p:spPr>
            <a:xfrm flipV="1">
              <a:off x="1639207" y="2353366"/>
              <a:ext cx="6480175" cy="215900"/>
            </a:xfrm>
            <a:prstGeom prst="triangle">
              <a:avLst/>
            </a:prstGeom>
            <a:ln>
              <a:solidFill>
                <a:schemeClr val="tx1"/>
              </a:solid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lang="ja-JP" altLang="en-US" b="1">
                <a:latin typeface="+mn-ea"/>
              </a:endParaRPr>
            </a:p>
          </p:txBody>
        </p:sp>
        <p:grpSp>
          <p:nvGrpSpPr>
            <p:cNvPr id="40" name="グループ化 39"/>
            <p:cNvGrpSpPr>
              <a:grpSpLocks/>
            </p:cNvGrpSpPr>
            <p:nvPr/>
          </p:nvGrpSpPr>
          <p:grpSpPr bwMode="auto">
            <a:xfrm>
              <a:off x="3936320" y="4282178"/>
              <a:ext cx="3924300" cy="706438"/>
              <a:chOff x="3573463" y="5013325"/>
              <a:chExt cx="3924300" cy="706438"/>
            </a:xfrm>
          </p:grpSpPr>
          <p:sp>
            <p:nvSpPr>
              <p:cNvPr id="41" name="下矢印 40"/>
              <p:cNvSpPr/>
              <p:nvPr/>
            </p:nvSpPr>
            <p:spPr>
              <a:xfrm>
                <a:off x="3573463" y="5013325"/>
                <a:ext cx="255587" cy="706438"/>
              </a:xfrm>
              <a:prstGeom prst="downArrow">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ja-JP" altLang="en-US" b="1">
                  <a:latin typeface="+mn-ea"/>
                </a:endParaRPr>
              </a:p>
            </p:txBody>
          </p:sp>
          <p:sp>
            <p:nvSpPr>
              <p:cNvPr id="42" name="正方形/長方形 41"/>
              <p:cNvSpPr/>
              <p:nvPr/>
            </p:nvSpPr>
            <p:spPr>
              <a:xfrm>
                <a:off x="3708400" y="5303838"/>
                <a:ext cx="3789363" cy="141287"/>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ja-JP" altLang="en-US" b="1">
                  <a:latin typeface="+mn-ea"/>
                </a:endParaRPr>
              </a:p>
            </p:txBody>
          </p:sp>
          <p:sp>
            <p:nvSpPr>
              <p:cNvPr id="43" name="正方形/長方形 42"/>
              <p:cNvSpPr/>
              <p:nvPr/>
            </p:nvSpPr>
            <p:spPr>
              <a:xfrm rot="16200000">
                <a:off x="5335588" y="5113337"/>
                <a:ext cx="344488" cy="144463"/>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ja-JP" altLang="en-US" b="1">
                  <a:latin typeface="+mn-ea"/>
                </a:endParaRPr>
              </a:p>
            </p:txBody>
          </p:sp>
          <p:sp>
            <p:nvSpPr>
              <p:cNvPr id="44" name="正方形/長方形 43"/>
              <p:cNvSpPr/>
              <p:nvPr/>
            </p:nvSpPr>
            <p:spPr>
              <a:xfrm rot="16200000">
                <a:off x="7243763" y="5113337"/>
                <a:ext cx="344488" cy="144463"/>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ja-JP" altLang="en-US" b="1">
                  <a:latin typeface="+mn-ea"/>
                </a:endParaRPr>
              </a:p>
            </p:txBody>
          </p:sp>
        </p:grpSp>
        <p:cxnSp>
          <p:nvCxnSpPr>
            <p:cNvPr id="45" name="カギ線コネクタ 44"/>
            <p:cNvCxnSpPr/>
            <p:nvPr/>
          </p:nvCxnSpPr>
          <p:spPr>
            <a:xfrm flipH="1">
              <a:off x="8055882" y="2986778"/>
              <a:ext cx="598488" cy="2014538"/>
            </a:xfrm>
            <a:prstGeom prst="bentConnector4">
              <a:avLst>
                <a:gd name="adj1" fmla="val -13630"/>
                <a:gd name="adj2" fmla="val 80802"/>
              </a:avLst>
            </a:prstGeom>
            <a:ln w="57150">
              <a:solidFill>
                <a:srgbClr val="0070C0"/>
              </a:solidFill>
              <a:tailEnd type="triangle"/>
            </a:ln>
          </p:spPr>
          <p:style>
            <a:lnRef idx="2">
              <a:schemeClr val="accent4"/>
            </a:lnRef>
            <a:fillRef idx="0">
              <a:schemeClr val="accent4"/>
            </a:fillRef>
            <a:effectRef idx="1">
              <a:schemeClr val="accent4"/>
            </a:effectRef>
            <a:fontRef idx="minor">
              <a:schemeClr val="tx1"/>
            </a:fontRef>
          </p:style>
        </p:cxnSp>
        <p:sp>
          <p:nvSpPr>
            <p:cNvPr id="46" name="角丸四角形 45"/>
            <p:cNvSpPr/>
            <p:nvPr/>
          </p:nvSpPr>
          <p:spPr>
            <a:xfrm>
              <a:off x="3264807" y="2697853"/>
              <a:ext cx="1655763" cy="1584325"/>
            </a:xfrm>
            <a:prstGeom prst="roundRect">
              <a:avLst/>
            </a:prstGeom>
            <a:ln w="38100">
              <a:solidFill>
                <a:schemeClr val="accent5"/>
              </a:solidFill>
            </a:ln>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sz="2400" b="1" dirty="0">
                  <a:latin typeface="メイリオ"/>
                  <a:ea typeface="メイリオ"/>
                  <a:cs typeface="メイリオ"/>
                </a:rPr>
                <a:t>知識・技能</a:t>
              </a:r>
            </a:p>
          </p:txBody>
        </p:sp>
        <p:sp>
          <p:nvSpPr>
            <p:cNvPr id="47" name="角丸四角形 46"/>
            <p:cNvSpPr/>
            <p:nvPr/>
          </p:nvSpPr>
          <p:spPr>
            <a:xfrm>
              <a:off x="5055507" y="2759766"/>
              <a:ext cx="1655763" cy="1522412"/>
            </a:xfrm>
            <a:prstGeom prst="roundRect">
              <a:avLst/>
            </a:prstGeom>
            <a:ln w="38100">
              <a:solidFill>
                <a:srgbClr val="FFC000"/>
              </a:solidFill>
            </a:ln>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sz="2400" b="1" dirty="0">
                  <a:latin typeface="メイリオ"/>
                  <a:ea typeface="メイリオ"/>
                  <a:cs typeface="メイリオ"/>
                </a:rPr>
                <a:t>思考・判断・</a:t>
              </a:r>
              <a:endParaRPr lang="en-US" altLang="ja-JP" sz="2400" b="1" dirty="0">
                <a:latin typeface="+mn-ea"/>
              </a:endParaRPr>
            </a:p>
            <a:p>
              <a:pPr algn="ctr">
                <a:defRPr/>
              </a:pPr>
              <a:r>
                <a:rPr lang="ja-JP" altLang="en-US" sz="2400" b="1" dirty="0">
                  <a:latin typeface="メイリオ"/>
                  <a:ea typeface="メイリオ"/>
                  <a:cs typeface="メイリオ"/>
                </a:rPr>
                <a:t>表現</a:t>
              </a:r>
            </a:p>
          </p:txBody>
        </p:sp>
        <p:sp>
          <p:nvSpPr>
            <p:cNvPr id="48" name="角丸四角形 47"/>
            <p:cNvSpPr/>
            <p:nvPr/>
          </p:nvSpPr>
          <p:spPr>
            <a:xfrm>
              <a:off x="6935107" y="3531291"/>
              <a:ext cx="1655763" cy="750887"/>
            </a:xfrm>
            <a:prstGeom prst="roundRect">
              <a:avLst/>
            </a:prstGeom>
            <a:ln w="28575">
              <a:solidFill>
                <a:schemeClr val="accent2"/>
              </a:solidFill>
            </a:ln>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b="1" dirty="0">
                  <a:latin typeface="メイリオ"/>
                  <a:ea typeface="メイリオ"/>
                  <a:cs typeface="メイリオ"/>
                </a:rPr>
                <a:t>主体的に学習に</a:t>
              </a:r>
              <a:endParaRPr lang="en-US" altLang="ja-JP" b="1" dirty="0">
                <a:latin typeface="+mn-ea"/>
              </a:endParaRPr>
            </a:p>
            <a:p>
              <a:pPr algn="ctr">
                <a:defRPr/>
              </a:pPr>
              <a:r>
                <a:rPr lang="ja-JP" altLang="en-US" b="1" dirty="0">
                  <a:latin typeface="メイリオ"/>
                  <a:ea typeface="メイリオ"/>
                  <a:cs typeface="メイリオ"/>
                </a:rPr>
                <a:t>取り組む態度</a:t>
              </a:r>
            </a:p>
          </p:txBody>
        </p:sp>
        <p:sp>
          <p:nvSpPr>
            <p:cNvPr id="49" name="角丸四角形 48"/>
            <p:cNvSpPr/>
            <p:nvPr/>
          </p:nvSpPr>
          <p:spPr>
            <a:xfrm>
              <a:off x="1118508" y="3363016"/>
              <a:ext cx="2267814" cy="1292225"/>
            </a:xfrm>
            <a:prstGeom prst="roundRect">
              <a:avLst/>
            </a:prstGeom>
            <a:noFill/>
            <a:ln>
              <a:noFill/>
            </a:ln>
          </p:spPr>
          <p:style>
            <a:lnRef idx="2">
              <a:schemeClr val="accent6"/>
            </a:lnRef>
            <a:fillRef idx="1">
              <a:schemeClr val="lt1"/>
            </a:fillRef>
            <a:effectRef idx="0">
              <a:schemeClr val="accent6"/>
            </a:effectRef>
            <a:fontRef idx="minor">
              <a:schemeClr val="dk1"/>
            </a:fontRef>
          </p:style>
          <p:txBody>
            <a:bodyPr anchor="ctr"/>
            <a:lstStyle/>
            <a:p>
              <a:pPr>
                <a:defRPr/>
              </a:pPr>
              <a:r>
                <a:rPr lang="ja-JP" altLang="en-US" sz="2000" b="1" dirty="0">
                  <a:latin typeface="メイリオ"/>
                  <a:ea typeface="メイリオ"/>
                  <a:cs typeface="メイリオ"/>
                </a:rPr>
                <a:t>●観点ごとに評価し、</a:t>
              </a:r>
              <a:endParaRPr lang="en-US" altLang="ja-JP" sz="2000" b="1" dirty="0">
                <a:latin typeface="+mn-ea"/>
              </a:endParaRPr>
            </a:p>
            <a:p>
              <a:pPr>
                <a:defRPr/>
              </a:pPr>
              <a:r>
                <a:rPr lang="ja-JP" altLang="en-US" sz="2000" b="1" dirty="0">
                  <a:latin typeface="メイリオ"/>
                  <a:ea typeface="メイリオ"/>
                  <a:cs typeface="メイリオ"/>
                </a:rPr>
                <a:t>　生徒の学習状況を</a:t>
              </a:r>
              <a:endParaRPr lang="en-US" altLang="ja-JP" sz="2000" b="1" dirty="0">
                <a:latin typeface="+mn-ea"/>
              </a:endParaRPr>
            </a:p>
            <a:p>
              <a:pPr>
                <a:defRPr/>
              </a:pPr>
              <a:r>
                <a:rPr lang="ja-JP" altLang="en-US" sz="2000" b="1" dirty="0">
                  <a:latin typeface="メイリオ"/>
                  <a:ea typeface="メイリオ"/>
                  <a:cs typeface="メイリオ"/>
                </a:rPr>
                <a:t>　分析的捉えるもの</a:t>
              </a:r>
              <a:endParaRPr lang="en-US" altLang="ja-JP" sz="2000" b="1" dirty="0">
                <a:latin typeface="+mn-ea"/>
              </a:endParaRPr>
            </a:p>
            <a:p>
              <a:pPr>
                <a:defRPr/>
              </a:pPr>
              <a:r>
                <a:rPr lang="ja-JP" altLang="en-US" sz="2000" b="1" dirty="0">
                  <a:latin typeface="メイリオ"/>
                  <a:ea typeface="メイリオ"/>
                  <a:cs typeface="メイリオ"/>
                </a:rPr>
                <a:t>●観点ごとにＡＢＣの</a:t>
              </a:r>
              <a:endParaRPr lang="en-US" altLang="ja-JP" sz="2000" b="1" dirty="0">
                <a:latin typeface="+mn-ea"/>
              </a:endParaRPr>
            </a:p>
            <a:p>
              <a:pPr>
                <a:defRPr/>
              </a:pPr>
              <a:r>
                <a:rPr lang="ja-JP" altLang="en-US" sz="2000" b="1" dirty="0">
                  <a:latin typeface="メイリオ"/>
                  <a:ea typeface="メイリオ"/>
                  <a:cs typeface="メイリオ"/>
                </a:rPr>
                <a:t>　３段階で評価</a:t>
              </a:r>
            </a:p>
          </p:txBody>
        </p:sp>
      </p:grpSp>
      <p:sp>
        <p:nvSpPr>
          <p:cNvPr id="5" name="Rectangle 1">
            <a:extLst>
              <a:ext uri="{FF2B5EF4-FFF2-40B4-BE49-F238E27FC236}">
                <a16:creationId xmlns:a16="http://schemas.microsoft.com/office/drawing/2014/main" id="{CC918D9F-967F-F960-44BF-BFFC1DB1C96E}"/>
              </a:ext>
            </a:extLst>
          </p:cNvPr>
          <p:cNvSpPr/>
          <p:nvPr/>
        </p:nvSpPr>
        <p:spPr>
          <a:xfrm>
            <a:off x="0" y="-9228"/>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7" name="Rectangle 2">
            <a:extLst>
              <a:ext uri="{FF2B5EF4-FFF2-40B4-BE49-F238E27FC236}">
                <a16:creationId xmlns:a16="http://schemas.microsoft.com/office/drawing/2014/main" id="{ABE622A9-BE55-F9D4-EDEF-6E7499AB6F3B}"/>
              </a:ext>
            </a:extLst>
          </p:cNvPr>
          <p:cNvSpPr/>
          <p:nvPr/>
        </p:nvSpPr>
        <p:spPr>
          <a:xfrm>
            <a:off x="0" y="820772"/>
            <a:ext cx="12192000" cy="365171"/>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fontScale="77500" lnSpcReduction="20000"/>
          </a:bodyPr>
          <a:lstStyle/>
          <a:p>
            <a:r>
              <a:rPr lang="ja-JP" altLang="en-US" sz="3200" b="1" dirty="0">
                <a:solidFill>
                  <a:schemeClr val="tx1"/>
                </a:solidFill>
                <a:latin typeface="メイリオ"/>
                <a:ea typeface="メイリオ"/>
                <a:cs typeface="メイリオ"/>
              </a:rPr>
              <a:t>各教科における評価の基本構造</a:t>
            </a:r>
          </a:p>
        </p:txBody>
      </p:sp>
    </p:spTree>
    <p:extLst>
      <p:ext uri="{BB962C8B-B14F-4D97-AF65-F5344CB8AC3E}">
        <p14:creationId xmlns:p14="http://schemas.microsoft.com/office/powerpoint/2010/main" val="3497813644"/>
      </p:ext>
    </p:extLst>
  </p:cSld>
  <p:clrMapOvr>
    <a:masterClrMapping/>
  </p:clrMapOvr>
  <p:transition spd="slow">
    <p:cove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コンテンツ プレースホルダー 2"/>
          <p:cNvSpPr txBox="1">
            <a:spLocks/>
          </p:cNvSpPr>
          <p:nvPr/>
        </p:nvSpPr>
        <p:spPr>
          <a:xfrm>
            <a:off x="888647" y="1826944"/>
            <a:ext cx="10400765" cy="1572423"/>
          </a:xfrm>
          <a:prstGeom prst="rect">
            <a:avLst/>
          </a:prstGeom>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3200" b="1" dirty="0">
                <a:latin typeface="メイリオ"/>
                <a:ea typeface="メイリオ"/>
                <a:cs typeface="メイリオ"/>
              </a:rPr>
              <a:t>○　既有の知識及び技能と関連づけたり活用したりする</a:t>
            </a:r>
            <a:endParaRPr lang="en-US" altLang="ja-JP" sz="3200" b="1" dirty="0"/>
          </a:p>
          <a:p>
            <a:pPr marL="0" indent="0">
              <a:buNone/>
            </a:pPr>
            <a:r>
              <a:rPr lang="ja-JP" altLang="en-US" sz="3200" b="1" dirty="0">
                <a:latin typeface="メイリオ"/>
                <a:ea typeface="メイリオ"/>
                <a:cs typeface="メイリオ"/>
              </a:rPr>
              <a:t>　　中で、概念等として理解したり、技能を習得したり</a:t>
            </a:r>
            <a:endParaRPr lang="en-US" altLang="ja-JP" sz="3200" b="1" dirty="0"/>
          </a:p>
          <a:p>
            <a:pPr marL="0" indent="0">
              <a:buNone/>
            </a:pPr>
            <a:r>
              <a:rPr lang="ja-JP" altLang="en-US" sz="3200" b="1" dirty="0">
                <a:latin typeface="メイリオ"/>
                <a:ea typeface="メイリオ"/>
                <a:cs typeface="メイリオ"/>
              </a:rPr>
              <a:t>　　しているかについて評価する。</a:t>
            </a:r>
          </a:p>
        </p:txBody>
      </p:sp>
      <p:sp>
        <p:nvSpPr>
          <p:cNvPr id="18" name="コンテンツ プレースホルダー 2"/>
          <p:cNvSpPr txBox="1">
            <a:spLocks/>
          </p:cNvSpPr>
          <p:nvPr/>
        </p:nvSpPr>
        <p:spPr>
          <a:xfrm>
            <a:off x="888647" y="3665125"/>
            <a:ext cx="10400765" cy="1962288"/>
          </a:xfrm>
          <a:prstGeom prst="rect">
            <a:avLst/>
          </a:prstGeom>
          <a:ln w="57150">
            <a:solidFill>
              <a:schemeClr val="accent5"/>
            </a:solidFill>
          </a:ln>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spcBef>
                <a:spcPts val="600"/>
              </a:spcBef>
              <a:buNone/>
            </a:pPr>
            <a:endParaRPr lang="en-US" altLang="ja-JP" sz="1300" b="1" dirty="0"/>
          </a:p>
          <a:p>
            <a:pPr marL="0" indent="0">
              <a:spcBef>
                <a:spcPts val="600"/>
              </a:spcBef>
              <a:buNone/>
            </a:pPr>
            <a:r>
              <a:rPr lang="ja-JP" altLang="en-US" sz="3000" b="1" dirty="0">
                <a:latin typeface="メイリオ"/>
                <a:ea typeface="メイリオ"/>
                <a:cs typeface="メイリオ"/>
              </a:rPr>
              <a:t>＜評価の工夫例＞</a:t>
            </a:r>
            <a:endParaRPr lang="en-US" altLang="ja-JP" sz="3000" b="1" dirty="0"/>
          </a:p>
          <a:p>
            <a:pPr marL="0" indent="0">
              <a:buNone/>
            </a:pPr>
            <a:r>
              <a:rPr lang="ja-JP" altLang="en-US" sz="3000" b="1" dirty="0">
                <a:latin typeface="メイリオ"/>
                <a:ea typeface="メイリオ"/>
                <a:cs typeface="メイリオ"/>
              </a:rPr>
              <a:t>○ペーパーテスト</a:t>
            </a:r>
            <a:endParaRPr lang="en-US" altLang="ja-JP" sz="3000" b="1" dirty="0"/>
          </a:p>
          <a:p>
            <a:pPr marL="0" indent="0">
              <a:buNone/>
            </a:pPr>
            <a:r>
              <a:rPr lang="ja-JP" altLang="en-US" sz="3000" b="1" dirty="0">
                <a:latin typeface="メイリオ"/>
                <a:ea typeface="メイリオ"/>
                <a:cs typeface="メイリオ"/>
              </a:rPr>
              <a:t>○実際に知識や技能を用いる場面を設けた学習活動</a:t>
            </a:r>
            <a:endParaRPr lang="en-US" altLang="ja-JP" sz="3000" b="1" dirty="0"/>
          </a:p>
        </p:txBody>
      </p:sp>
      <p:sp>
        <p:nvSpPr>
          <p:cNvPr id="2" name="Rectangle 1">
            <a:extLst>
              <a:ext uri="{FF2B5EF4-FFF2-40B4-BE49-F238E27FC236}">
                <a16:creationId xmlns:a16="http://schemas.microsoft.com/office/drawing/2014/main" id="{8E80A6CC-FE31-1773-749F-3294CC509BB8}"/>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3" name="Rectangle 2">
            <a:extLst>
              <a:ext uri="{FF2B5EF4-FFF2-40B4-BE49-F238E27FC236}">
                <a16:creationId xmlns:a16="http://schemas.microsoft.com/office/drawing/2014/main" id="{07B49455-C776-E5ED-D0C5-961C47995252}"/>
              </a:ext>
            </a:extLst>
          </p:cNvPr>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「知識・技能」の評価</a:t>
            </a:r>
          </a:p>
        </p:txBody>
      </p:sp>
      <p:sp>
        <p:nvSpPr>
          <p:cNvPr id="4" name="TextBox 8">
            <a:extLst>
              <a:ext uri="{FF2B5EF4-FFF2-40B4-BE49-F238E27FC236}">
                <a16:creationId xmlns:a16="http://schemas.microsoft.com/office/drawing/2014/main" id="{4AF4BAF8-0E6E-4ABD-4A0E-A7219D3808DF}"/>
              </a:ext>
            </a:extLst>
          </p:cNvPr>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出典：国立教育政策研究所「学習評価の在り方ハンドブック（中学校編</a:t>
            </a:r>
            <a:r>
              <a:rPr sz="1300" dirty="0">
                <a:solidFill>
                  <a:srgbClr val="404040"/>
                </a:solidFill>
                <a:latin typeface="メイリオ"/>
                <a:ea typeface="メイリオ"/>
                <a:cs typeface="メイリオ"/>
              </a:rPr>
              <a:t>）」</a:t>
            </a:r>
          </a:p>
        </p:txBody>
      </p:sp>
    </p:spTree>
    <p:extLst>
      <p:ext uri="{BB962C8B-B14F-4D97-AF65-F5344CB8AC3E}">
        <p14:creationId xmlns:p14="http://schemas.microsoft.com/office/powerpoint/2010/main" val="1292362610"/>
      </p:ext>
    </p:extLst>
  </p:cSld>
  <p:clrMapOvr>
    <a:masterClrMapping/>
  </p:clrMapOvr>
  <p:transition spd="slow">
    <p:cove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コンテンツ プレースホルダー 2"/>
          <p:cNvSpPr txBox="1">
            <a:spLocks/>
          </p:cNvSpPr>
          <p:nvPr/>
        </p:nvSpPr>
        <p:spPr>
          <a:xfrm>
            <a:off x="888644" y="1938908"/>
            <a:ext cx="10400765" cy="1276011"/>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b="1" dirty="0">
                <a:latin typeface="メイリオ"/>
                <a:ea typeface="メイリオ"/>
                <a:cs typeface="メイリオ"/>
              </a:rPr>
              <a:t>各教科等の知識及び技能を活用して課題を解決する等のために必要な思考力、判断力、表現力等を身に付けているかどうかを評価する。</a:t>
            </a:r>
          </a:p>
        </p:txBody>
      </p:sp>
      <p:sp>
        <p:nvSpPr>
          <p:cNvPr id="18" name="コンテンツ プレースホルダー 2"/>
          <p:cNvSpPr txBox="1">
            <a:spLocks/>
          </p:cNvSpPr>
          <p:nvPr/>
        </p:nvSpPr>
        <p:spPr>
          <a:xfrm>
            <a:off x="2966041" y="3536180"/>
            <a:ext cx="6230897" cy="2785495"/>
          </a:xfrm>
          <a:prstGeom prst="rect">
            <a:avLst/>
          </a:prstGeom>
          <a:ln w="38100">
            <a:solidFill>
              <a:srgbClr val="C00000"/>
            </a:solidFill>
          </a:ln>
        </p:spPr>
        <p:txBody>
          <a:bodyPr vert="horz" lIns="91440" tIns="45720" rIns="91440" bIns="45720" rtlCol="0">
            <a:normAutofit lnSpcReduction="10000"/>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endParaRPr lang="en-US" altLang="ja-JP" sz="1000" b="1" dirty="0"/>
          </a:p>
          <a:p>
            <a:pPr marL="0" indent="0">
              <a:buNone/>
            </a:pPr>
            <a:r>
              <a:rPr lang="ja-JP" altLang="en-US" b="1" dirty="0">
                <a:latin typeface="メイリオ"/>
                <a:ea typeface="メイリオ"/>
                <a:cs typeface="メイリオ"/>
              </a:rPr>
              <a:t>＜評価の工夫例＞</a:t>
            </a:r>
            <a:endParaRPr lang="en-US" altLang="ja-JP" b="1" dirty="0"/>
          </a:p>
          <a:p>
            <a:pPr marL="0" indent="0">
              <a:buNone/>
            </a:pPr>
            <a:r>
              <a:rPr lang="ja-JP" altLang="en-US" b="1" dirty="0">
                <a:latin typeface="メイリオ"/>
                <a:ea typeface="メイリオ"/>
                <a:cs typeface="メイリオ"/>
              </a:rPr>
              <a:t>○論述やレポートの作成、発表</a:t>
            </a:r>
            <a:endParaRPr lang="en-US" altLang="ja-JP" b="1" dirty="0"/>
          </a:p>
          <a:p>
            <a:pPr marL="0" indent="0">
              <a:buNone/>
            </a:pPr>
            <a:r>
              <a:rPr lang="ja-JP" altLang="en-US" b="1" dirty="0">
                <a:latin typeface="メイリオ"/>
                <a:ea typeface="メイリオ"/>
                <a:cs typeface="メイリオ"/>
              </a:rPr>
              <a:t>○グループでの話合い</a:t>
            </a:r>
            <a:endParaRPr lang="en-US" altLang="ja-JP" b="1" dirty="0"/>
          </a:p>
          <a:p>
            <a:pPr marL="0" indent="0">
              <a:buNone/>
            </a:pPr>
            <a:r>
              <a:rPr lang="ja-JP" altLang="en-US" b="1" dirty="0">
                <a:latin typeface="メイリオ"/>
                <a:ea typeface="メイリオ"/>
                <a:cs typeface="メイリオ"/>
              </a:rPr>
              <a:t>○作品の制作や表現等の多様な活動</a:t>
            </a:r>
            <a:endParaRPr lang="en-US" altLang="ja-JP" b="1" dirty="0"/>
          </a:p>
          <a:p>
            <a:pPr marL="0" indent="0">
              <a:buNone/>
            </a:pPr>
            <a:r>
              <a:rPr lang="ja-JP" altLang="en-US" b="1" dirty="0">
                <a:latin typeface="メイリオ"/>
                <a:ea typeface="メイリオ"/>
                <a:cs typeface="メイリオ"/>
              </a:rPr>
              <a:t>○ポートフォリオの活用</a:t>
            </a:r>
          </a:p>
        </p:txBody>
      </p:sp>
      <p:sp>
        <p:nvSpPr>
          <p:cNvPr id="4" name="Rectangle 1">
            <a:extLst>
              <a:ext uri="{FF2B5EF4-FFF2-40B4-BE49-F238E27FC236}">
                <a16:creationId xmlns:a16="http://schemas.microsoft.com/office/drawing/2014/main" id="{792DFF4A-273B-8E69-BF6C-2D3A37E5CDAB}"/>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5" name="Rectangle 2">
            <a:extLst>
              <a:ext uri="{FF2B5EF4-FFF2-40B4-BE49-F238E27FC236}">
                <a16:creationId xmlns:a16="http://schemas.microsoft.com/office/drawing/2014/main" id="{2EC89BC6-C1B3-B4E2-9CC9-6F25DBFA4C47}"/>
              </a:ext>
            </a:extLst>
          </p:cNvPr>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「思考・判断・表現」の評価</a:t>
            </a:r>
          </a:p>
        </p:txBody>
      </p:sp>
      <p:sp>
        <p:nvSpPr>
          <p:cNvPr id="6" name="TextBox 8">
            <a:extLst>
              <a:ext uri="{FF2B5EF4-FFF2-40B4-BE49-F238E27FC236}">
                <a16:creationId xmlns:a16="http://schemas.microsoft.com/office/drawing/2014/main" id="{C8EC3372-453D-37C1-3D67-95FBD6FE7BAB}"/>
              </a:ext>
            </a:extLst>
          </p:cNvPr>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出典：国立教育政策研究所「学習評価の在り方ハンドブック（中学校編</a:t>
            </a:r>
            <a:r>
              <a:rPr sz="1300" dirty="0">
                <a:solidFill>
                  <a:srgbClr val="404040"/>
                </a:solidFill>
                <a:latin typeface="メイリオ"/>
                <a:ea typeface="メイリオ"/>
                <a:cs typeface="メイリオ"/>
              </a:rPr>
              <a:t>）」</a:t>
            </a:r>
          </a:p>
        </p:txBody>
      </p:sp>
    </p:spTree>
    <p:extLst>
      <p:ext uri="{BB962C8B-B14F-4D97-AF65-F5344CB8AC3E}">
        <p14:creationId xmlns:p14="http://schemas.microsoft.com/office/powerpoint/2010/main" val="1313705403"/>
      </p:ext>
    </p:extLst>
  </p:cSld>
  <p:clrMapOvr>
    <a:masterClrMapping/>
  </p:clrMapOvr>
  <p:transition spd="slow">
    <p:cove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図 6"/>
          <p:cNvPicPr>
            <a:picLocks noChangeAspect="1"/>
          </p:cNvPicPr>
          <p:nvPr/>
        </p:nvPicPr>
        <p:blipFill rotWithShape="1">
          <a:blip r:embed="rId2"/>
          <a:srcRect l="38092" t="19270" r="25988" b="10937"/>
          <a:stretch/>
        </p:blipFill>
        <p:spPr>
          <a:xfrm>
            <a:off x="1285571" y="1690932"/>
            <a:ext cx="5217866" cy="4970314"/>
          </a:xfrm>
          <a:prstGeom prst="rect">
            <a:avLst/>
          </a:prstGeom>
          <a:ln w="28575">
            <a:solidFill>
              <a:schemeClr val="tx1"/>
            </a:solidFill>
          </a:ln>
        </p:spPr>
      </p:pic>
      <p:sp>
        <p:nvSpPr>
          <p:cNvPr id="9" name="角丸四角形吹き出し 8"/>
          <p:cNvSpPr/>
          <p:nvPr/>
        </p:nvSpPr>
        <p:spPr>
          <a:xfrm>
            <a:off x="7037359" y="3429000"/>
            <a:ext cx="4031449" cy="2002907"/>
          </a:xfrm>
          <a:prstGeom prst="wedgeRoundRectCallout">
            <a:avLst>
              <a:gd name="adj1" fmla="val -59962"/>
              <a:gd name="adj2" fmla="val -7948"/>
              <a:gd name="adj3" fmla="val 16667"/>
            </a:avLst>
          </a:prstGeom>
          <a:solidFill>
            <a:schemeClr val="bg1"/>
          </a:solidFill>
          <a:ln w="57150"/>
        </p:spPr>
        <p:style>
          <a:lnRef idx="2">
            <a:schemeClr val="accent6"/>
          </a:lnRef>
          <a:fillRef idx="1">
            <a:schemeClr val="lt1"/>
          </a:fillRef>
          <a:effectRef idx="0">
            <a:schemeClr val="accent6"/>
          </a:effectRef>
          <a:fontRef idx="minor">
            <a:schemeClr val="dk1"/>
          </a:fontRef>
        </p:style>
        <p:txBody>
          <a:bodyPr rtlCol="0" anchor="ctr"/>
          <a:lstStyle/>
          <a:p>
            <a:r>
              <a:rPr lang="ja-JP" altLang="en-US" sz="2400" b="1" dirty="0">
                <a:latin typeface="メイリオ" panose="020B0609070205080204" pitchFamily="49" charset="-128"/>
                <a:ea typeface="メイリオ" panose="020B0609070205080204" pitchFamily="49" charset="-128"/>
                <a:cs typeface="メイリオ"/>
              </a:rPr>
              <a:t>①と②は、別々ではなく相互に関わり合っている。①がＡで②がＣという生徒の姿は一般的ではない。</a:t>
            </a:r>
          </a:p>
        </p:txBody>
      </p:sp>
      <p:sp>
        <p:nvSpPr>
          <p:cNvPr id="2" name="Rectangle 1">
            <a:extLst>
              <a:ext uri="{FF2B5EF4-FFF2-40B4-BE49-F238E27FC236}">
                <a16:creationId xmlns:a16="http://schemas.microsoft.com/office/drawing/2014/main" id="{42D9CE4D-4F6F-4525-CFFE-4EFD7D76718E}"/>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3" name="Rectangle 2">
            <a:extLst>
              <a:ext uri="{FF2B5EF4-FFF2-40B4-BE49-F238E27FC236}">
                <a16:creationId xmlns:a16="http://schemas.microsoft.com/office/drawing/2014/main" id="{1E6A2D0E-0E2A-8069-4104-96E7246E0681}"/>
              </a:ext>
            </a:extLst>
          </p:cNvPr>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「主体的に学習に取り組む態度」の評価</a:t>
            </a:r>
          </a:p>
        </p:txBody>
      </p:sp>
    </p:spTree>
    <p:extLst>
      <p:ext uri="{BB962C8B-B14F-4D97-AF65-F5344CB8AC3E}">
        <p14:creationId xmlns:p14="http://schemas.microsoft.com/office/powerpoint/2010/main" val="2480890887"/>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コンテンツ プレースホルダー 2"/>
          <p:cNvSpPr txBox="1">
            <a:spLocks/>
          </p:cNvSpPr>
          <p:nvPr/>
        </p:nvSpPr>
        <p:spPr>
          <a:xfrm>
            <a:off x="1335384" y="2106014"/>
            <a:ext cx="9507291" cy="3620664"/>
          </a:xfrm>
          <a:prstGeom prst="rect">
            <a:avLst/>
          </a:prstGeom>
          <a:ln w="38100">
            <a:solidFill>
              <a:srgbClr val="FFC000"/>
            </a:solidFill>
          </a:ln>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endParaRPr lang="en-US" altLang="ja-JP" sz="300" b="1" dirty="0"/>
          </a:p>
          <a:p>
            <a:pPr marL="0" indent="0">
              <a:buNone/>
            </a:pPr>
            <a:r>
              <a:rPr lang="ja-JP" altLang="en-US" sz="4000" b="1" dirty="0">
                <a:latin typeface="メイリオ"/>
                <a:ea typeface="メイリオ"/>
                <a:cs typeface="メイリオ"/>
              </a:rPr>
              <a:t>＜評価の工夫例＞</a:t>
            </a:r>
            <a:endParaRPr lang="en-US" altLang="ja-JP" sz="4000" b="1" dirty="0"/>
          </a:p>
          <a:p>
            <a:pPr marL="0" indent="0">
              <a:buNone/>
            </a:pPr>
            <a:r>
              <a:rPr lang="ja-JP" altLang="en-US" sz="4000" b="1" dirty="0">
                <a:latin typeface="メイリオ"/>
                <a:ea typeface="メイリオ"/>
                <a:cs typeface="メイリオ"/>
              </a:rPr>
              <a:t>○ノートやレポート等における記述</a:t>
            </a:r>
            <a:endParaRPr lang="en-US" altLang="ja-JP" sz="4000" b="1" dirty="0"/>
          </a:p>
          <a:p>
            <a:pPr marL="0" indent="0">
              <a:buNone/>
            </a:pPr>
            <a:r>
              <a:rPr lang="ja-JP" altLang="en-US" sz="4000" b="1" dirty="0">
                <a:latin typeface="メイリオ"/>
                <a:ea typeface="メイリオ"/>
                <a:cs typeface="メイリオ"/>
              </a:rPr>
              <a:t>○授業中の発言</a:t>
            </a:r>
            <a:endParaRPr lang="en-US" altLang="ja-JP" sz="4000" b="1" dirty="0"/>
          </a:p>
          <a:p>
            <a:pPr marL="0" indent="0">
              <a:buNone/>
            </a:pPr>
            <a:r>
              <a:rPr lang="ja-JP" altLang="en-US" sz="4000" b="1" dirty="0">
                <a:latin typeface="メイリオ"/>
                <a:ea typeface="メイリオ"/>
                <a:cs typeface="メイリオ"/>
              </a:rPr>
              <a:t>○教師による行動観察</a:t>
            </a:r>
            <a:endParaRPr lang="en-US" altLang="ja-JP" sz="4000" b="1" dirty="0"/>
          </a:p>
          <a:p>
            <a:pPr marL="0" indent="0">
              <a:buNone/>
            </a:pPr>
            <a:r>
              <a:rPr lang="ja-JP" altLang="en-US" sz="4000" b="1" dirty="0">
                <a:latin typeface="メイリオ"/>
                <a:ea typeface="メイリオ"/>
                <a:cs typeface="メイリオ"/>
              </a:rPr>
              <a:t>○生徒による自己評価・相互評価等</a:t>
            </a:r>
          </a:p>
        </p:txBody>
      </p:sp>
      <p:sp>
        <p:nvSpPr>
          <p:cNvPr id="6" name="Rectangle 1">
            <a:extLst>
              <a:ext uri="{FF2B5EF4-FFF2-40B4-BE49-F238E27FC236}">
                <a16:creationId xmlns:a16="http://schemas.microsoft.com/office/drawing/2014/main" id="{8336BE88-6DA2-CABF-0D3A-2C7CFBB8A356}"/>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7" name="Rectangle 2">
            <a:extLst>
              <a:ext uri="{FF2B5EF4-FFF2-40B4-BE49-F238E27FC236}">
                <a16:creationId xmlns:a16="http://schemas.microsoft.com/office/drawing/2014/main" id="{B0320CFA-D114-BC86-C30F-76CEEA81CF68}"/>
              </a:ext>
            </a:extLst>
          </p:cNvPr>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「主体的に学習に取り組む態度」の評価</a:t>
            </a:r>
          </a:p>
        </p:txBody>
      </p:sp>
      <p:sp>
        <p:nvSpPr>
          <p:cNvPr id="9" name="TextBox 8">
            <a:extLst>
              <a:ext uri="{FF2B5EF4-FFF2-40B4-BE49-F238E27FC236}">
                <a16:creationId xmlns:a16="http://schemas.microsoft.com/office/drawing/2014/main" id="{765B1BC6-6930-328F-8CE1-F49D28DB4BEE}"/>
              </a:ext>
            </a:extLst>
          </p:cNvPr>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出典：国立教育政策研究所「学習評価の在り方ハンドブック（中学校編</a:t>
            </a:r>
            <a:r>
              <a:rPr sz="1300" dirty="0">
                <a:solidFill>
                  <a:srgbClr val="404040"/>
                </a:solidFill>
                <a:latin typeface="メイリオ"/>
                <a:ea typeface="メイリオ"/>
                <a:cs typeface="メイリオ"/>
              </a:rPr>
              <a:t>）」</a:t>
            </a:r>
          </a:p>
        </p:txBody>
      </p:sp>
    </p:spTree>
    <p:extLst>
      <p:ext uri="{BB962C8B-B14F-4D97-AF65-F5344CB8AC3E}">
        <p14:creationId xmlns:p14="http://schemas.microsoft.com/office/powerpoint/2010/main" val="379402200"/>
      </p:ext>
    </p:extLst>
  </p:cSld>
  <p:clrMapOvr>
    <a:masterClrMapping/>
  </p:clrMapOvr>
  <p:transition spd="slow">
    <p:cove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楕円 3"/>
          <p:cNvSpPr/>
          <p:nvPr/>
        </p:nvSpPr>
        <p:spPr>
          <a:xfrm>
            <a:off x="4595396" y="2830536"/>
            <a:ext cx="2942068" cy="2942068"/>
          </a:xfrm>
          <a:prstGeom prst="ellipse">
            <a:avLst/>
          </a:prstGeom>
          <a:ln w="76200"/>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5400" b="1" dirty="0">
                <a:latin typeface="メイリオ"/>
                <a:ea typeface="メイリオ"/>
                <a:cs typeface="メイリオ"/>
              </a:rPr>
              <a:t>行動観察</a:t>
            </a:r>
          </a:p>
        </p:txBody>
      </p:sp>
      <p:sp>
        <p:nvSpPr>
          <p:cNvPr id="2" name="角丸四角形 1"/>
          <p:cNvSpPr/>
          <p:nvPr/>
        </p:nvSpPr>
        <p:spPr>
          <a:xfrm>
            <a:off x="313897" y="1364365"/>
            <a:ext cx="5117911" cy="1009934"/>
          </a:xfrm>
          <a:prstGeom prst="roundRect">
            <a:avLst/>
          </a:prstGeom>
          <a:solidFill>
            <a:schemeClr val="accent4">
              <a:lumMod val="60000"/>
              <a:lumOff val="40000"/>
            </a:schemeClr>
          </a:solidFill>
          <a:ln w="57150">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800" b="1" dirty="0">
                <a:latin typeface="メイリオ"/>
                <a:ea typeface="メイリオ"/>
                <a:cs typeface="メイリオ"/>
              </a:rPr>
              <a:t>粘り強く取り組んでいる姿</a:t>
            </a:r>
          </a:p>
        </p:txBody>
      </p:sp>
      <p:sp>
        <p:nvSpPr>
          <p:cNvPr id="7" name="角丸四角形 6"/>
          <p:cNvSpPr/>
          <p:nvPr/>
        </p:nvSpPr>
        <p:spPr>
          <a:xfrm>
            <a:off x="6591869" y="1364365"/>
            <a:ext cx="5117911" cy="1009934"/>
          </a:xfrm>
          <a:prstGeom prst="roundRect">
            <a:avLst/>
          </a:prstGeom>
          <a:solidFill>
            <a:schemeClr val="accent1">
              <a:lumMod val="40000"/>
              <a:lumOff val="60000"/>
            </a:schemeClr>
          </a:solidFill>
          <a:ln w="571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800" b="1" dirty="0">
                <a:latin typeface="メイリオ"/>
                <a:ea typeface="メイリオ"/>
                <a:cs typeface="メイリオ"/>
              </a:rPr>
              <a:t>自己調整している姿</a:t>
            </a:r>
          </a:p>
        </p:txBody>
      </p:sp>
      <p:sp>
        <p:nvSpPr>
          <p:cNvPr id="8" name="角丸四角形 7"/>
          <p:cNvSpPr/>
          <p:nvPr/>
        </p:nvSpPr>
        <p:spPr>
          <a:xfrm>
            <a:off x="798286" y="2566194"/>
            <a:ext cx="4180113" cy="1009934"/>
          </a:xfrm>
          <a:prstGeom prst="roundRect">
            <a:avLst/>
          </a:prstGeom>
          <a:ln w="57150">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ja-JP" altLang="en-US" sz="2000" b="1" dirty="0">
                <a:latin typeface="メイリオ"/>
                <a:ea typeface="メイリオ"/>
                <a:cs typeface="メイリオ"/>
              </a:rPr>
              <a:t>前時までのノートを見返している</a:t>
            </a:r>
            <a:endParaRPr kumimoji="1" lang="ja-JP" altLang="en-US" sz="2000" b="1" dirty="0"/>
          </a:p>
        </p:txBody>
      </p:sp>
      <p:sp>
        <p:nvSpPr>
          <p:cNvPr id="9" name="角丸四角形 8"/>
          <p:cNvSpPr/>
          <p:nvPr/>
        </p:nvSpPr>
        <p:spPr>
          <a:xfrm>
            <a:off x="7186306" y="2566194"/>
            <a:ext cx="4243262" cy="1009934"/>
          </a:xfrm>
          <a:prstGeom prst="roundRect">
            <a:avLst/>
          </a:prstGeom>
          <a:solidFill>
            <a:schemeClr val="bg1"/>
          </a:solidFill>
          <a:ln w="571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000" b="1" dirty="0">
                <a:latin typeface="メイリオ"/>
                <a:ea typeface="メイリオ"/>
                <a:cs typeface="メイリオ"/>
              </a:rPr>
              <a:t>解決方法を振り返り、修正したり別の方法を考えたりする</a:t>
            </a:r>
          </a:p>
        </p:txBody>
      </p:sp>
      <p:sp>
        <p:nvSpPr>
          <p:cNvPr id="10" name="角丸四角形 9"/>
          <p:cNvSpPr/>
          <p:nvPr/>
        </p:nvSpPr>
        <p:spPr>
          <a:xfrm>
            <a:off x="798286" y="3746564"/>
            <a:ext cx="4180113" cy="1009934"/>
          </a:xfrm>
          <a:prstGeom prst="roundRect">
            <a:avLst/>
          </a:prstGeom>
          <a:ln w="57150">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000" b="1" dirty="0">
                <a:latin typeface="メイリオ"/>
                <a:ea typeface="メイリオ"/>
                <a:cs typeface="メイリオ"/>
              </a:rPr>
              <a:t>わかりやすくするために式に言葉や図での説明を書き加える</a:t>
            </a:r>
          </a:p>
        </p:txBody>
      </p:sp>
      <p:sp>
        <p:nvSpPr>
          <p:cNvPr id="11" name="角丸四角形 10"/>
          <p:cNvSpPr/>
          <p:nvPr/>
        </p:nvSpPr>
        <p:spPr>
          <a:xfrm>
            <a:off x="7179483" y="3746564"/>
            <a:ext cx="4243262" cy="1009934"/>
          </a:xfrm>
          <a:prstGeom prst="roundRect">
            <a:avLst/>
          </a:prstGeom>
          <a:solidFill>
            <a:schemeClr val="bg1"/>
          </a:solidFill>
          <a:ln w="571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000" b="1" dirty="0">
                <a:latin typeface="メイリオ"/>
                <a:ea typeface="メイリオ"/>
                <a:cs typeface="メイリオ"/>
              </a:rPr>
              <a:t>解決方法を自己評価し、更によいものを求めようとする</a:t>
            </a:r>
          </a:p>
        </p:txBody>
      </p:sp>
      <p:sp>
        <p:nvSpPr>
          <p:cNvPr id="12" name="角丸四角形 11"/>
          <p:cNvSpPr/>
          <p:nvPr/>
        </p:nvSpPr>
        <p:spPr>
          <a:xfrm>
            <a:off x="798286" y="4926934"/>
            <a:ext cx="4180113" cy="1009934"/>
          </a:xfrm>
          <a:prstGeom prst="roundRect">
            <a:avLst/>
          </a:prstGeom>
          <a:ln w="57150">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000" b="1" dirty="0">
                <a:latin typeface="メイリオ"/>
                <a:ea typeface="メイリオ"/>
                <a:cs typeface="メイリオ"/>
              </a:rPr>
              <a:t>別の方法での解決を試みる</a:t>
            </a:r>
          </a:p>
        </p:txBody>
      </p:sp>
      <p:sp>
        <p:nvSpPr>
          <p:cNvPr id="13" name="角丸四角形 12"/>
          <p:cNvSpPr/>
          <p:nvPr/>
        </p:nvSpPr>
        <p:spPr>
          <a:xfrm>
            <a:off x="7186306" y="4926934"/>
            <a:ext cx="4243262" cy="1009934"/>
          </a:xfrm>
          <a:prstGeom prst="roundRect">
            <a:avLst/>
          </a:prstGeom>
          <a:solidFill>
            <a:schemeClr val="bg1"/>
          </a:solidFill>
          <a:ln w="571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000" b="1" dirty="0">
                <a:latin typeface="メイリオ"/>
                <a:ea typeface="メイリオ"/>
                <a:cs typeface="メイリオ"/>
              </a:rPr>
              <a:t>友達に説明することを念頭に置いて、着想や説明を書き加えていく</a:t>
            </a:r>
          </a:p>
        </p:txBody>
      </p:sp>
      <p:sp>
        <p:nvSpPr>
          <p:cNvPr id="3" name="正方形/長方形 2"/>
          <p:cNvSpPr/>
          <p:nvPr/>
        </p:nvSpPr>
        <p:spPr>
          <a:xfrm>
            <a:off x="1414817" y="6035465"/>
            <a:ext cx="9362365" cy="723331"/>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ja-JP" altLang="en-US" sz="3200" b="1" dirty="0">
                <a:latin typeface="メイリオ"/>
                <a:ea typeface="メイリオ"/>
                <a:cs typeface="メイリオ"/>
              </a:rPr>
              <a:t>生徒の学びの姿をイメージした学習活動をつくる</a:t>
            </a:r>
          </a:p>
        </p:txBody>
      </p:sp>
      <p:sp>
        <p:nvSpPr>
          <p:cNvPr id="5" name="Rectangle 1">
            <a:extLst>
              <a:ext uri="{FF2B5EF4-FFF2-40B4-BE49-F238E27FC236}">
                <a16:creationId xmlns:a16="http://schemas.microsoft.com/office/drawing/2014/main" id="{1AEC97A5-720E-FEC4-03F9-5861B665EE2A}"/>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6" name="Rectangle 2">
            <a:extLst>
              <a:ext uri="{FF2B5EF4-FFF2-40B4-BE49-F238E27FC236}">
                <a16:creationId xmlns:a16="http://schemas.microsoft.com/office/drawing/2014/main" id="{22933B37-45EB-8E47-F8B4-523FFFC14BB4}"/>
              </a:ext>
            </a:extLst>
          </p:cNvPr>
          <p:cNvSpPr/>
          <p:nvPr/>
        </p:nvSpPr>
        <p:spPr>
          <a:xfrm>
            <a:off x="0" y="751591"/>
            <a:ext cx="12192000" cy="516984"/>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lvl="0">
              <a:defRPr/>
            </a:pPr>
            <a:r>
              <a:rPr lang="ja-JP" altLang="en-US" sz="2800" b="1" dirty="0">
                <a:solidFill>
                  <a:prstClr val="black"/>
                </a:solidFill>
                <a:latin typeface="メイリオ"/>
                <a:ea typeface="メイリオ"/>
                <a:cs typeface="メイリオ"/>
              </a:rPr>
              <a:t>「主体的に学習に取り組む態度」の評価の工夫</a:t>
            </a:r>
          </a:p>
        </p:txBody>
      </p:sp>
    </p:spTree>
    <p:extLst>
      <p:ext uri="{BB962C8B-B14F-4D97-AF65-F5344CB8AC3E}">
        <p14:creationId xmlns:p14="http://schemas.microsoft.com/office/powerpoint/2010/main" val="1285680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arn(inVertic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arn(inVertical)">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barn(inVertical)">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arn(inVertical)">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barn(inVertical)">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barn(inVertical)">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barn(inVertical)">
                                      <p:cBhvr>
                                        <p:cTn id="42" dur="5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grpId="0" nodeType="click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barn(inVertical)">
                                      <p:cBhvr>
                                        <p:cTn id="4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P spid="8" grpId="0" animBg="1"/>
      <p:bldP spid="9" grpId="0" animBg="1"/>
      <p:bldP spid="10" grpId="0" animBg="1"/>
      <p:bldP spid="11" grpId="0" animBg="1"/>
      <p:bldP spid="12" grpId="0" animBg="1"/>
      <p:bldP spid="13" grpId="0" animBg="1"/>
      <p:bldP spid="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角丸四角形 7"/>
          <p:cNvSpPr/>
          <p:nvPr/>
        </p:nvSpPr>
        <p:spPr>
          <a:xfrm>
            <a:off x="309349" y="1439492"/>
            <a:ext cx="11573302" cy="2016849"/>
          </a:xfrm>
          <a:prstGeom prst="roundRect">
            <a:avLst>
              <a:gd name="adj" fmla="val 11110"/>
            </a:avLst>
          </a:prstGeom>
          <a:ln w="571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評価に当たって</a:t>
            </a:r>
            <a:endParaRPr kumimoji="1" lang="en-US" altLang="ja-JP" sz="2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①</a:t>
            </a:r>
            <a:r>
              <a:rPr kumimoji="1" lang="ja-JP" altLang="en-US" sz="2800" b="1" i="0" u="none" strike="noStrike" kern="1200" cap="none" spc="0" normalizeH="0" baseline="0" noProof="0" dirty="0">
                <a:ln>
                  <a:noFill/>
                </a:ln>
                <a:solidFill>
                  <a:srgbClr val="00B050"/>
                </a:solidFill>
                <a:effectLst/>
                <a:uLnTx/>
                <a:uFillTx/>
                <a:latin typeface="メイリオ" panose="020F0502020204030204"/>
                <a:ea typeface="メイリオ" panose="020B0400000000000000" pitchFamily="50" charset="-128"/>
                <a:cs typeface="メイリオ"/>
              </a:rPr>
              <a:t>自らの理解の状況</a:t>
            </a: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を</a:t>
            </a:r>
            <a:r>
              <a:rPr kumimoji="1" lang="ja-JP" altLang="en-US" sz="2800" b="1" i="0" u="none" strike="noStrike" kern="1200" cap="none" spc="0" normalizeH="0" baseline="0" noProof="0" dirty="0">
                <a:ln>
                  <a:noFill/>
                </a:ln>
                <a:solidFill>
                  <a:srgbClr val="FF0000"/>
                </a:solidFill>
                <a:effectLst/>
                <a:uLnTx/>
                <a:uFillTx/>
                <a:latin typeface="メイリオ" panose="020F0502020204030204"/>
                <a:ea typeface="メイリオ" panose="020B0400000000000000" pitchFamily="50" charset="-128"/>
                <a:cs typeface="メイリオ"/>
              </a:rPr>
              <a:t>振り返る</a:t>
            </a: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ことができるような発問を工夫する</a:t>
            </a:r>
            <a:endParaRPr kumimoji="1" lang="en-US" altLang="ja-JP" sz="2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②</a:t>
            </a:r>
            <a:r>
              <a:rPr kumimoji="1" lang="ja-JP" altLang="en-US" sz="2800" b="1" i="0" u="none" strike="noStrike" kern="1200" cap="none" spc="0" normalizeH="0" baseline="0" noProof="0" dirty="0">
                <a:ln>
                  <a:noFill/>
                </a:ln>
                <a:solidFill>
                  <a:srgbClr val="00B050"/>
                </a:solidFill>
                <a:effectLst/>
                <a:uLnTx/>
                <a:uFillTx/>
                <a:latin typeface="メイリオ" panose="020F0502020204030204"/>
                <a:ea typeface="メイリオ" panose="020B0400000000000000" pitchFamily="50" charset="-128"/>
                <a:cs typeface="メイリオ"/>
              </a:rPr>
              <a:t>他者との協働を通じて</a:t>
            </a: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自らの考えを</a:t>
            </a:r>
            <a:r>
              <a:rPr kumimoji="1" lang="ja-JP" altLang="en-US" sz="2800" b="1" i="0" u="none" strike="noStrike" kern="1200" cap="none" spc="0" normalizeH="0" baseline="0" noProof="0" dirty="0">
                <a:ln>
                  <a:noFill/>
                </a:ln>
                <a:solidFill>
                  <a:srgbClr val="FF0000"/>
                </a:solidFill>
                <a:effectLst/>
                <a:uLnTx/>
                <a:uFillTx/>
                <a:latin typeface="メイリオ" panose="020F0502020204030204"/>
                <a:ea typeface="メイリオ" panose="020B0400000000000000" pitchFamily="50" charset="-128"/>
                <a:cs typeface="メイリオ"/>
              </a:rPr>
              <a:t>相対化する</a:t>
            </a: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場面を設定する</a:t>
            </a:r>
            <a:endParaRPr kumimoji="1" lang="en-US" altLang="ja-JP" sz="2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③学習のめあてや見通しをもたせたり、その</a:t>
            </a:r>
            <a:r>
              <a:rPr kumimoji="1" lang="ja-JP" altLang="en-US" sz="2800" b="1" i="0" u="none" strike="noStrike" kern="1200" cap="none" spc="0" normalizeH="0" baseline="0" noProof="0" dirty="0">
                <a:ln>
                  <a:noFill/>
                </a:ln>
                <a:solidFill>
                  <a:srgbClr val="00B050"/>
                </a:solidFill>
                <a:effectLst/>
                <a:uLnTx/>
                <a:uFillTx/>
                <a:latin typeface="メイリオ" panose="020F0502020204030204"/>
                <a:ea typeface="メイリオ" panose="020B0400000000000000" pitchFamily="50" charset="-128"/>
                <a:cs typeface="メイリオ"/>
              </a:rPr>
              <a:t>達成状況</a:t>
            </a: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を</a:t>
            </a:r>
            <a:r>
              <a:rPr kumimoji="1" lang="ja-JP" altLang="en-US" sz="2800" b="1" i="0" u="none" strike="noStrike" kern="1200" cap="none" spc="0" normalizeH="0" baseline="0" noProof="0" dirty="0">
                <a:ln>
                  <a:noFill/>
                </a:ln>
                <a:solidFill>
                  <a:srgbClr val="FF0000"/>
                </a:solidFill>
                <a:effectLst/>
                <a:uLnTx/>
                <a:uFillTx/>
                <a:latin typeface="メイリオ" panose="020F0502020204030204"/>
                <a:ea typeface="メイリオ" panose="020B0400000000000000" pitchFamily="50" charset="-128"/>
                <a:cs typeface="メイリオ"/>
              </a:rPr>
              <a:t>振り返らせる</a:t>
            </a:r>
          </a:p>
        </p:txBody>
      </p:sp>
      <p:pic>
        <p:nvPicPr>
          <p:cNvPr id="2" name="図 1"/>
          <p:cNvPicPr>
            <a:picLocks noChangeAspect="1"/>
          </p:cNvPicPr>
          <p:nvPr/>
        </p:nvPicPr>
        <p:blipFill>
          <a:blip r:embed="rId3">
            <a:extLst>
              <a:ext uri="{BEBA8EAE-BF5A-486C-A8C5-ECC9F3942E4B}">
                <a14:imgProps xmlns:a14="http://schemas.microsoft.com/office/drawing/2010/main">
                  <a14:imgLayer r:embed="rId4">
                    <a14:imgEffect>
                      <a14:backgroundRemoval t="625" b="100000" l="0" r="93651">
                        <a14:foregroundMark x1="44444" y1="11250" x2="48016" y2="26750"/>
                        <a14:foregroundMark x1="66270" y1="12500" x2="66270" y2="28000"/>
                        <a14:foregroundMark x1="45833" y1="92250" x2="45833" y2="97125"/>
                        <a14:foregroundMark x1="39286" y1="98250" x2="49008" y2="98500"/>
                        <a14:foregroundMark x1="59921" y1="98250" x2="69048" y2="98750"/>
                        <a14:foregroundMark x1="36508" y1="98750" x2="39881" y2="98375"/>
                        <a14:foregroundMark x1="68056" y1="98875" x2="71032" y2="98500"/>
                        <a14:foregroundMark x1="35516" y1="98875" x2="40476" y2="98375"/>
                      </a14:backgroundRemoval>
                    </a14:imgEffect>
                  </a14:imgLayer>
                </a14:imgProps>
              </a:ext>
            </a:extLst>
          </a:blip>
          <a:stretch>
            <a:fillRect/>
          </a:stretch>
        </p:blipFill>
        <p:spPr>
          <a:xfrm>
            <a:off x="4875313" y="3682564"/>
            <a:ext cx="2186565" cy="3145253"/>
          </a:xfrm>
          <a:prstGeom prst="rect">
            <a:avLst/>
          </a:prstGeom>
        </p:spPr>
      </p:pic>
      <p:sp>
        <p:nvSpPr>
          <p:cNvPr id="3" name="角丸四角形吹き出し 2"/>
          <p:cNvSpPr/>
          <p:nvPr/>
        </p:nvSpPr>
        <p:spPr>
          <a:xfrm>
            <a:off x="1001486" y="3682564"/>
            <a:ext cx="3443514" cy="1297917"/>
          </a:xfrm>
          <a:prstGeom prst="wedgeRoundRectCallout">
            <a:avLst>
              <a:gd name="adj1" fmla="val 74465"/>
              <a:gd name="adj2" fmla="val 25198"/>
              <a:gd name="adj3" fmla="val 16667"/>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kumimoji="1" lang="ja-JP" altLang="en-US" sz="2400" b="1" dirty="0">
                <a:latin typeface="メイリオ"/>
                <a:ea typeface="メイリオ"/>
                <a:cs typeface="メイリオ"/>
              </a:rPr>
              <a:t>①授業の最初と比べて</a:t>
            </a:r>
            <a:endParaRPr kumimoji="1" lang="en-US" altLang="ja-JP" sz="2400" b="1" dirty="0"/>
          </a:p>
          <a:p>
            <a:r>
              <a:rPr lang="ja-JP" altLang="en-US" sz="2400" b="1" dirty="0">
                <a:latin typeface="メイリオ"/>
                <a:ea typeface="メイリオ"/>
                <a:cs typeface="メイリオ"/>
              </a:rPr>
              <a:t>　</a:t>
            </a:r>
            <a:r>
              <a:rPr kumimoji="1" lang="ja-JP" altLang="en-US" sz="2400" b="1" dirty="0">
                <a:latin typeface="メイリオ"/>
                <a:ea typeface="メイリオ"/>
                <a:cs typeface="メイリオ"/>
              </a:rPr>
              <a:t>考え方が変わったと</a:t>
            </a:r>
            <a:endParaRPr kumimoji="1" lang="en-US" altLang="ja-JP" sz="2400" b="1" dirty="0"/>
          </a:p>
          <a:p>
            <a:r>
              <a:rPr lang="ja-JP" altLang="en-US" sz="2400" b="1" dirty="0">
                <a:latin typeface="メイリオ"/>
                <a:ea typeface="メイリオ"/>
                <a:cs typeface="メイリオ"/>
              </a:rPr>
              <a:t>　</a:t>
            </a:r>
            <a:r>
              <a:rPr kumimoji="1" lang="ja-JP" altLang="en-US" sz="2400" b="1" dirty="0">
                <a:latin typeface="メイリオ"/>
                <a:ea typeface="メイリオ"/>
                <a:cs typeface="メイリオ"/>
              </a:rPr>
              <a:t>ころは？</a:t>
            </a:r>
          </a:p>
        </p:txBody>
      </p:sp>
      <p:sp>
        <p:nvSpPr>
          <p:cNvPr id="9" name="角丸四角形吹き出し 8"/>
          <p:cNvSpPr/>
          <p:nvPr/>
        </p:nvSpPr>
        <p:spPr>
          <a:xfrm>
            <a:off x="7265078" y="3682564"/>
            <a:ext cx="4331837" cy="935060"/>
          </a:xfrm>
          <a:prstGeom prst="wedgeRoundRectCallout">
            <a:avLst>
              <a:gd name="adj1" fmla="val -62079"/>
              <a:gd name="adj2" fmla="val 43618"/>
              <a:gd name="adj3" fmla="val 16667"/>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lang="ja-JP" altLang="en-US" sz="2400" b="1" dirty="0">
                <a:latin typeface="メイリオ"/>
                <a:ea typeface="メイリオ"/>
                <a:cs typeface="メイリオ"/>
              </a:rPr>
              <a:t>②</a:t>
            </a:r>
            <a:r>
              <a:rPr kumimoji="1" lang="ja-JP" altLang="en-US" sz="2400" b="1" dirty="0">
                <a:latin typeface="メイリオ"/>
                <a:ea typeface="メイリオ"/>
                <a:cs typeface="メイリオ"/>
              </a:rPr>
              <a:t>友達の意見を聞いて、自分</a:t>
            </a:r>
            <a:endParaRPr kumimoji="1" lang="en-US" altLang="ja-JP" sz="2400" b="1" dirty="0"/>
          </a:p>
          <a:p>
            <a:r>
              <a:rPr lang="ja-JP" altLang="en-US" sz="2400" b="1" dirty="0">
                <a:latin typeface="メイリオ"/>
                <a:ea typeface="メイリオ"/>
                <a:cs typeface="メイリオ"/>
              </a:rPr>
              <a:t>　</a:t>
            </a:r>
            <a:r>
              <a:rPr kumimoji="1" lang="ja-JP" altLang="en-US" sz="2400" b="1" dirty="0">
                <a:latin typeface="メイリオ"/>
                <a:ea typeface="メイリオ"/>
                <a:cs typeface="メイリオ"/>
              </a:rPr>
              <a:t>の考えを見直してみよう。</a:t>
            </a:r>
            <a:endParaRPr kumimoji="1" lang="en-US" altLang="ja-JP" sz="2400" b="1" dirty="0"/>
          </a:p>
        </p:txBody>
      </p:sp>
      <p:sp>
        <p:nvSpPr>
          <p:cNvPr id="10" name="角丸四角形吹き出し 9"/>
          <p:cNvSpPr/>
          <p:nvPr/>
        </p:nvSpPr>
        <p:spPr>
          <a:xfrm>
            <a:off x="6934200" y="5194043"/>
            <a:ext cx="3806372" cy="986971"/>
          </a:xfrm>
          <a:prstGeom prst="wedgeRoundRectCallout">
            <a:avLst>
              <a:gd name="adj1" fmla="val -54290"/>
              <a:gd name="adj2" fmla="val -95570"/>
              <a:gd name="adj3" fmla="val 16667"/>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lang="ja-JP" altLang="en-US" sz="2400" b="1" dirty="0">
                <a:latin typeface="メイリオ"/>
                <a:ea typeface="メイリオ"/>
                <a:cs typeface="メイリオ"/>
              </a:rPr>
              <a:t>③今日の学習の目標は</a:t>
            </a:r>
            <a:endParaRPr lang="en-US" altLang="ja-JP" sz="2400" b="1" dirty="0"/>
          </a:p>
          <a:p>
            <a:r>
              <a:rPr lang="ja-JP" altLang="en-US" sz="2400" b="1" dirty="0">
                <a:latin typeface="メイリオ"/>
                <a:ea typeface="メイリオ"/>
                <a:cs typeface="メイリオ"/>
              </a:rPr>
              <a:t>　達成できたかな？</a:t>
            </a:r>
            <a:endParaRPr kumimoji="1" lang="ja-JP" altLang="en-US" sz="2400" b="1" dirty="0"/>
          </a:p>
        </p:txBody>
      </p:sp>
      <p:sp>
        <p:nvSpPr>
          <p:cNvPr id="4" name="Rectangle 1">
            <a:extLst>
              <a:ext uri="{FF2B5EF4-FFF2-40B4-BE49-F238E27FC236}">
                <a16:creationId xmlns:a16="http://schemas.microsoft.com/office/drawing/2014/main" id="{6C8891CF-80C2-3979-A709-7536A404940C}"/>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5" name="Rectangle 2">
            <a:extLst>
              <a:ext uri="{FF2B5EF4-FFF2-40B4-BE49-F238E27FC236}">
                <a16:creationId xmlns:a16="http://schemas.microsoft.com/office/drawing/2014/main" id="{481E611F-0310-18E5-14D7-530928A0F131}"/>
              </a:ext>
            </a:extLst>
          </p:cNvPr>
          <p:cNvSpPr/>
          <p:nvPr/>
        </p:nvSpPr>
        <p:spPr>
          <a:xfrm>
            <a:off x="0" y="751591"/>
            <a:ext cx="12192000" cy="516984"/>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lvl="0">
              <a:defRPr/>
            </a:pPr>
            <a:r>
              <a:rPr lang="ja-JP" altLang="en-US" sz="2800" b="1" dirty="0">
                <a:solidFill>
                  <a:prstClr val="black"/>
                </a:solidFill>
                <a:latin typeface="メイリオ"/>
                <a:ea typeface="メイリオ"/>
                <a:cs typeface="メイリオ"/>
              </a:rPr>
              <a:t>「主体的に学習に取り組む態度」の評価の工夫</a:t>
            </a:r>
          </a:p>
        </p:txBody>
      </p:sp>
    </p:spTree>
    <p:extLst>
      <p:ext uri="{BB962C8B-B14F-4D97-AF65-F5344CB8AC3E}">
        <p14:creationId xmlns:p14="http://schemas.microsoft.com/office/powerpoint/2010/main" val="1377656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arn(inVertic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arn(inVertical)">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animBg="1"/>
      <p:bldP spid="1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「Bの姿」を具体化する ─ 数学「二次方程式」の例</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11400000" cy="64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200" b="1">
                <a:solidFill>
                  <a:srgbClr val="FFFFFF"/>
                </a:solidFill>
                <a:latin typeface="メイリオ"/>
                <a:ea typeface="メイリオ"/>
                <a:cs typeface="メイリオ"/>
              </a:rPr>
              <a:t>学習シートに「気を付けるポイント」を記述</a:t>
            </a:r>
          </a:p>
        </p:txBody>
      </p:sp>
      <p:sp>
        <p:nvSpPr>
          <p:cNvPr id="7" name="Rectangle 6"/>
          <p:cNvSpPr/>
          <p:nvPr/>
        </p:nvSpPr>
        <p:spPr>
          <a:xfrm>
            <a:off x="400000" y="2600000"/>
            <a:ext cx="5600000" cy="640000"/>
          </a:xfrm>
          <a:prstGeom prst="rect">
            <a:avLst/>
          </a:prstGeom>
          <a:solidFill>
            <a:srgbClr val="5BC0DE"/>
          </a:solidFill>
          <a:ln w="254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fontScale="92500"/>
          </a:bodyPr>
          <a:lstStyle/>
          <a:p>
            <a:pPr algn="ctr">
              <a:lnSpc>
                <a:spcPct val="140000"/>
              </a:lnSpc>
            </a:pPr>
            <a:r>
              <a:rPr sz="2400" b="1">
                <a:solidFill>
                  <a:srgbClr val="FFFFFF"/>
                </a:solidFill>
                <a:latin typeface="メイリオ"/>
                <a:ea typeface="メイリオ"/>
                <a:cs typeface="メイリオ"/>
              </a:rPr>
              <a:t>▼ おおむね満足（B）</a:t>
            </a:r>
          </a:p>
        </p:txBody>
      </p:sp>
      <p:sp>
        <p:nvSpPr>
          <p:cNvPr id="8" name="Rectangle 7"/>
          <p:cNvSpPr/>
          <p:nvPr/>
        </p:nvSpPr>
        <p:spPr>
          <a:xfrm>
            <a:off x="400000" y="3240000"/>
            <a:ext cx="5600000" cy="215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t">
            <a:normAutofit/>
          </a:bodyPr>
          <a:lstStyle/>
          <a:p>
            <a:pPr algn="l">
              <a:lnSpc>
                <a:spcPct val="130000"/>
              </a:lnSpc>
            </a:pPr>
            <a:r>
              <a:rPr sz="2200" b="1" dirty="0" err="1">
                <a:solidFill>
                  <a:srgbClr val="000000"/>
                </a:solidFill>
                <a:latin typeface="メイリオ"/>
                <a:ea typeface="メイリオ"/>
                <a:cs typeface="メイリオ"/>
              </a:rPr>
              <a:t>ポイントが</a:t>
            </a:r>
            <a:r>
              <a:rPr sz="2400" b="1" dirty="0" err="1">
                <a:solidFill>
                  <a:srgbClr val="EB6C15"/>
                </a:solidFill>
                <a:latin typeface="メイリオ"/>
                <a:ea typeface="メイリオ"/>
                <a:cs typeface="メイリオ"/>
              </a:rPr>
              <a:t>書かれている</a:t>
            </a:r>
            <a:endParaRPr sz="2400" b="1" dirty="0">
              <a:solidFill>
                <a:srgbClr val="EB6C15"/>
              </a:solidFill>
              <a:latin typeface="メイリオ"/>
            </a:endParaRPr>
          </a:p>
          <a:p>
            <a:pPr algn="l">
              <a:lnSpc>
                <a:spcPct val="130000"/>
              </a:lnSpc>
            </a:pPr>
            <a:endParaRPr sz="2400" b="1" dirty="0">
              <a:solidFill>
                <a:srgbClr val="EB6C15"/>
              </a:solidFill>
              <a:latin typeface="メイリオ"/>
            </a:endParaRPr>
          </a:p>
          <a:p>
            <a:pPr algn="l">
              <a:lnSpc>
                <a:spcPct val="130000"/>
              </a:lnSpc>
            </a:pPr>
            <a:r>
              <a:rPr sz="1800" b="1" dirty="0" err="1">
                <a:solidFill>
                  <a:srgbClr val="404040"/>
                </a:solidFill>
                <a:latin typeface="メイリオ"/>
                <a:ea typeface="メイリオ"/>
                <a:cs typeface="メイリオ"/>
              </a:rPr>
              <a:t>例：別の文字に置き換えて</a:t>
            </a:r>
            <a:endParaRPr sz="1800" b="1" dirty="0">
              <a:solidFill>
                <a:srgbClr val="404040"/>
              </a:solidFill>
              <a:latin typeface="メイリオ"/>
            </a:endParaRPr>
          </a:p>
          <a:p>
            <a:pPr algn="l">
              <a:lnSpc>
                <a:spcPct val="130000"/>
              </a:lnSpc>
            </a:pPr>
            <a:r>
              <a:rPr sz="1800" b="1" dirty="0">
                <a:solidFill>
                  <a:srgbClr val="404040"/>
                </a:solidFill>
                <a:latin typeface="メイリオ"/>
                <a:ea typeface="メイリオ"/>
                <a:cs typeface="メイリオ"/>
              </a:rPr>
              <a:t>　 </a:t>
            </a:r>
            <a:r>
              <a:rPr sz="1800" b="1" dirty="0" err="1">
                <a:solidFill>
                  <a:srgbClr val="404040"/>
                </a:solidFill>
                <a:latin typeface="メイリオ"/>
                <a:ea typeface="メイリオ"/>
                <a:cs typeface="メイリオ"/>
              </a:rPr>
              <a:t>解く方法を使えるようにする</a:t>
            </a:r>
            <a:endParaRPr sz="1800" b="1" dirty="0">
              <a:solidFill>
                <a:srgbClr val="404040"/>
              </a:solidFill>
              <a:latin typeface="メイリオ"/>
            </a:endParaRPr>
          </a:p>
        </p:txBody>
      </p:sp>
      <p:sp>
        <p:nvSpPr>
          <p:cNvPr id="9" name="Rectangle 8"/>
          <p:cNvSpPr/>
          <p:nvPr/>
        </p:nvSpPr>
        <p:spPr>
          <a:xfrm>
            <a:off x="6200000" y="2600000"/>
            <a:ext cx="5600000" cy="64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fontScale="92500"/>
          </a:bodyPr>
          <a:lstStyle/>
          <a:p>
            <a:pPr algn="ctr">
              <a:lnSpc>
                <a:spcPct val="140000"/>
              </a:lnSpc>
            </a:pPr>
            <a:r>
              <a:rPr sz="2400" b="1">
                <a:solidFill>
                  <a:srgbClr val="FFFFFF"/>
                </a:solidFill>
                <a:latin typeface="メイリオ"/>
                <a:ea typeface="メイリオ"/>
                <a:cs typeface="メイリオ"/>
              </a:rPr>
              <a:t>▼ 十分満足（A）</a:t>
            </a:r>
          </a:p>
        </p:txBody>
      </p:sp>
      <p:sp>
        <p:nvSpPr>
          <p:cNvPr id="10" name="Rectangle 9"/>
          <p:cNvSpPr/>
          <p:nvPr/>
        </p:nvSpPr>
        <p:spPr>
          <a:xfrm>
            <a:off x="6200000" y="3240000"/>
            <a:ext cx="5600000" cy="215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t">
            <a:normAutofit lnSpcReduction="10000"/>
          </a:bodyPr>
          <a:lstStyle/>
          <a:p>
            <a:pPr algn="l">
              <a:lnSpc>
                <a:spcPct val="130000"/>
              </a:lnSpc>
            </a:pPr>
            <a:r>
              <a:rPr sz="2200" b="1">
                <a:solidFill>
                  <a:srgbClr val="000000"/>
                </a:solidFill>
                <a:latin typeface="メイリオ"/>
                <a:ea typeface="メイリオ"/>
                <a:cs typeface="メイリオ"/>
              </a:rPr>
              <a:t>ポイント＋</a:t>
            </a:r>
            <a:r>
              <a:rPr sz="2400" b="1">
                <a:solidFill>
                  <a:srgbClr val="EB6C15"/>
                </a:solidFill>
                <a:latin typeface="メイリオ"/>
                <a:ea typeface="メイリオ"/>
                <a:cs typeface="メイリオ"/>
              </a:rPr>
              <a:t>理由</a:t>
            </a:r>
            <a:r>
              <a:rPr sz="2200" b="1">
                <a:solidFill>
                  <a:srgbClr val="000000"/>
                </a:solidFill>
                <a:latin typeface="メイリオ"/>
                <a:ea typeface="メイリオ"/>
                <a:cs typeface="メイリオ"/>
              </a:rPr>
              <a:t>が書かれている</a:t>
            </a:r>
          </a:p>
          <a:p>
            <a:pPr algn="l">
              <a:lnSpc>
                <a:spcPct val="130000"/>
              </a:lnSpc>
            </a:pPr>
            <a:endParaRPr sz="2200" b="1">
              <a:solidFill>
                <a:srgbClr val="000000"/>
              </a:solidFill>
              <a:latin typeface="メイリオ"/>
            </a:endParaRPr>
          </a:p>
          <a:p>
            <a:pPr algn="l">
              <a:lnSpc>
                <a:spcPct val="130000"/>
              </a:lnSpc>
            </a:pPr>
            <a:r>
              <a:rPr sz="1800" b="1">
                <a:solidFill>
                  <a:srgbClr val="404040"/>
                </a:solidFill>
                <a:latin typeface="メイリオ"/>
                <a:ea typeface="メイリオ"/>
                <a:cs typeface="メイリオ"/>
              </a:rPr>
              <a:t>例：式を見ずに展開すると時間も</a:t>
            </a:r>
          </a:p>
          <a:p>
            <a:pPr algn="l">
              <a:lnSpc>
                <a:spcPct val="130000"/>
              </a:lnSpc>
            </a:pPr>
            <a:r>
              <a:rPr sz="1800" b="1">
                <a:solidFill>
                  <a:srgbClr val="404040"/>
                </a:solidFill>
                <a:latin typeface="メイリオ"/>
                <a:ea typeface="メイリオ"/>
                <a:cs typeface="メイリオ"/>
              </a:rPr>
              <a:t>　 間違いも増えるから、</a:t>
            </a:r>
          </a:p>
          <a:p>
            <a:pPr algn="l">
              <a:lnSpc>
                <a:spcPct val="130000"/>
              </a:lnSpc>
            </a:pPr>
            <a:r>
              <a:rPr sz="1800" b="1">
                <a:solidFill>
                  <a:srgbClr val="404040"/>
                </a:solidFill>
                <a:latin typeface="メイリオ"/>
                <a:ea typeface="メイリオ"/>
                <a:cs typeface="メイリオ"/>
              </a:rPr>
              <a:t>　 置き換えを使えるようにする</a:t>
            </a:r>
          </a:p>
        </p:txBody>
      </p:sp>
      <p:sp>
        <p:nvSpPr>
          <p:cNvPr id="11" name="Rectangle 10"/>
          <p:cNvSpPr/>
          <p:nvPr/>
        </p:nvSpPr>
        <p:spPr>
          <a:xfrm>
            <a:off x="400000" y="5500000"/>
            <a:ext cx="11400000" cy="700000"/>
          </a:xfrm>
          <a:prstGeom prst="rect">
            <a:avLst/>
          </a:prstGeom>
          <a:solidFill>
            <a:srgbClr val="D6EEFA"/>
          </a:solidFill>
          <a:ln w="508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200" b="1">
                <a:solidFill>
                  <a:srgbClr val="1F3A6E"/>
                </a:solidFill>
                <a:latin typeface="メイリオ"/>
                <a:ea typeface="メイリオ"/>
                <a:cs typeface="メイリオ"/>
              </a:rPr>
              <a:t>同じ気付きでも「理由まで書けるか」でA／Bが分かれる</a:t>
            </a:r>
          </a:p>
        </p:txBody>
      </p:sp>
      <p:sp>
        <p:nvSpPr>
          <p:cNvPr id="12" name="TextBox 11"/>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a:solidFill>
                  <a:srgbClr val="404040"/>
                </a:solidFill>
                <a:latin typeface="メイリオ"/>
                <a:ea typeface="メイリオ"/>
                <a:cs typeface="メイリオ"/>
              </a:rPr>
              <a:t>出典：国立教育政策研究所「指導と評価の一体化のための参考資料」（数学）</a:t>
            </a:r>
          </a:p>
        </p:txBody>
      </p:sp>
      <p:sp>
        <p:nvSpPr>
          <p:cNvPr id="13" name="Rectangle 1">
            <a:extLst>
              <a:ext uri="{FF2B5EF4-FFF2-40B4-BE49-F238E27FC236}">
                <a16:creationId xmlns:a16="http://schemas.microsoft.com/office/drawing/2014/main" id="{7E7CE34B-4441-01E5-C7FB-41574BA435D3}"/>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評価のばらつきを防ぐ ─ 妥当性 × 信頼性</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5600000" cy="7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lnSpcReduction="10000"/>
          </a:bodyPr>
          <a:lstStyle/>
          <a:p>
            <a:pPr algn="ctr">
              <a:lnSpc>
                <a:spcPct val="140000"/>
              </a:lnSpc>
            </a:pPr>
            <a:r>
              <a:rPr sz="2600" b="1">
                <a:solidFill>
                  <a:srgbClr val="FFFFFF"/>
                </a:solidFill>
                <a:latin typeface="メイリオ"/>
                <a:ea typeface="メイリオ"/>
                <a:cs typeface="メイリオ"/>
              </a:rPr>
              <a:t>妥当性</a:t>
            </a:r>
          </a:p>
        </p:txBody>
      </p:sp>
      <p:sp>
        <p:nvSpPr>
          <p:cNvPr id="7" name="Rectangle 6"/>
          <p:cNvSpPr/>
          <p:nvPr/>
        </p:nvSpPr>
        <p:spPr>
          <a:xfrm>
            <a:off x="400000" y="2600000"/>
            <a:ext cx="5600000" cy="24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t">
            <a:normAutofit/>
          </a:bodyPr>
          <a:lstStyle/>
          <a:p>
            <a:pPr algn="l">
              <a:lnSpc>
                <a:spcPct val="130000"/>
              </a:lnSpc>
            </a:pPr>
            <a:r>
              <a:rPr sz="2000" b="1" dirty="0" err="1">
                <a:solidFill>
                  <a:srgbClr val="000000"/>
                </a:solidFill>
                <a:latin typeface="メイリオ"/>
                <a:ea typeface="メイリオ"/>
                <a:cs typeface="メイリオ"/>
              </a:rPr>
              <a:t>資質・能力を</a:t>
            </a:r>
            <a:endParaRPr sz="2000" b="1" dirty="0">
              <a:solidFill>
                <a:srgbClr val="000000"/>
              </a:solidFill>
              <a:latin typeface="メイリオ"/>
            </a:endParaRPr>
          </a:p>
          <a:p>
            <a:pPr algn="l">
              <a:lnSpc>
                <a:spcPct val="130000"/>
              </a:lnSpc>
            </a:pPr>
            <a:r>
              <a:rPr sz="2000" b="1" dirty="0">
                <a:solidFill>
                  <a:srgbClr val="000000"/>
                </a:solidFill>
                <a:latin typeface="メイリオ"/>
                <a:ea typeface="メイリオ"/>
                <a:cs typeface="メイリオ"/>
              </a:rPr>
              <a:t>　</a:t>
            </a:r>
            <a:r>
              <a:rPr sz="2400" b="1" dirty="0" err="1">
                <a:solidFill>
                  <a:srgbClr val="EB6C15"/>
                </a:solidFill>
                <a:latin typeface="メイリオ"/>
                <a:ea typeface="メイリオ"/>
                <a:cs typeface="メイリオ"/>
              </a:rPr>
              <a:t>適切に反映</a:t>
            </a:r>
            <a:r>
              <a:rPr lang="ja-JP" altLang="en-US" sz="2400" b="1" dirty="0">
                <a:solidFill>
                  <a:srgbClr val="EB6C15"/>
                </a:solidFill>
                <a:latin typeface="メイリオ"/>
                <a:ea typeface="メイリオ"/>
                <a:cs typeface="メイリオ"/>
              </a:rPr>
              <a:t>　</a:t>
            </a:r>
            <a:r>
              <a:rPr sz="2000" b="1" dirty="0" err="1">
                <a:solidFill>
                  <a:srgbClr val="000000"/>
                </a:solidFill>
                <a:latin typeface="メイリオ"/>
                <a:ea typeface="メイリオ"/>
                <a:cs typeface="メイリオ"/>
              </a:rPr>
              <a:t>していること</a:t>
            </a:r>
            <a:endParaRPr sz="2000" b="1" dirty="0">
              <a:solidFill>
                <a:srgbClr val="000000"/>
              </a:solidFill>
              <a:latin typeface="メイリオ"/>
            </a:endParaRPr>
          </a:p>
          <a:p>
            <a:pPr algn="l">
              <a:lnSpc>
                <a:spcPct val="130000"/>
              </a:lnSpc>
            </a:pPr>
            <a:endParaRPr sz="2000" b="1" dirty="0">
              <a:solidFill>
                <a:srgbClr val="000000"/>
              </a:solidFill>
              <a:latin typeface="メイリオ"/>
            </a:endParaRPr>
          </a:p>
          <a:p>
            <a:pPr algn="l">
              <a:lnSpc>
                <a:spcPct val="130000"/>
              </a:lnSpc>
            </a:pPr>
            <a:r>
              <a:rPr sz="1800" b="1" dirty="0">
                <a:solidFill>
                  <a:srgbClr val="404040"/>
                </a:solidFill>
                <a:latin typeface="メイリオ"/>
                <a:ea typeface="メイリオ"/>
                <a:cs typeface="メイリオ"/>
              </a:rPr>
              <a:t>（「</a:t>
            </a:r>
            <a:r>
              <a:rPr sz="1800" b="1" dirty="0" err="1">
                <a:solidFill>
                  <a:srgbClr val="404040"/>
                </a:solidFill>
                <a:latin typeface="メイリオ"/>
                <a:ea typeface="メイリオ"/>
                <a:cs typeface="メイリオ"/>
              </a:rPr>
              <a:t>測りたい力」と「方法」が一致している</a:t>
            </a:r>
            <a:r>
              <a:rPr sz="1800" b="1" dirty="0">
                <a:solidFill>
                  <a:srgbClr val="404040"/>
                </a:solidFill>
                <a:latin typeface="メイリオ"/>
                <a:ea typeface="メイリオ"/>
                <a:cs typeface="メイリオ"/>
              </a:rPr>
              <a:t>）</a:t>
            </a:r>
          </a:p>
        </p:txBody>
      </p:sp>
      <p:sp>
        <p:nvSpPr>
          <p:cNvPr id="8" name="Rectangle 7"/>
          <p:cNvSpPr/>
          <p:nvPr/>
        </p:nvSpPr>
        <p:spPr>
          <a:xfrm>
            <a:off x="6200000" y="1900000"/>
            <a:ext cx="5600000" cy="700000"/>
          </a:xfrm>
          <a:prstGeom prst="rect">
            <a:avLst/>
          </a:prstGeom>
          <a:solidFill>
            <a:srgbClr val="5BC0DE"/>
          </a:solidFill>
          <a:ln w="254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lnSpcReduction="10000"/>
          </a:bodyPr>
          <a:lstStyle/>
          <a:p>
            <a:pPr algn="ctr">
              <a:lnSpc>
                <a:spcPct val="140000"/>
              </a:lnSpc>
            </a:pPr>
            <a:r>
              <a:rPr sz="2600" b="1">
                <a:solidFill>
                  <a:srgbClr val="FFFFFF"/>
                </a:solidFill>
                <a:latin typeface="メイリオ"/>
                <a:ea typeface="メイリオ"/>
                <a:cs typeface="メイリオ"/>
              </a:rPr>
              <a:t>信頼性</a:t>
            </a:r>
          </a:p>
        </p:txBody>
      </p:sp>
      <p:sp>
        <p:nvSpPr>
          <p:cNvPr id="9" name="Rectangle 8"/>
          <p:cNvSpPr/>
          <p:nvPr/>
        </p:nvSpPr>
        <p:spPr>
          <a:xfrm>
            <a:off x="6200000" y="2600000"/>
            <a:ext cx="5600000" cy="24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t">
            <a:normAutofit/>
          </a:bodyPr>
          <a:lstStyle/>
          <a:p>
            <a:pPr algn="l">
              <a:lnSpc>
                <a:spcPct val="130000"/>
              </a:lnSpc>
            </a:pPr>
            <a:r>
              <a:rPr sz="2000" b="1" dirty="0" err="1">
                <a:solidFill>
                  <a:srgbClr val="000000"/>
                </a:solidFill>
                <a:latin typeface="メイリオ"/>
                <a:ea typeface="メイリオ"/>
                <a:cs typeface="メイリオ"/>
              </a:rPr>
              <a:t>誰が評価しても</a:t>
            </a:r>
            <a:endParaRPr sz="2000" b="1" dirty="0">
              <a:solidFill>
                <a:srgbClr val="000000"/>
              </a:solidFill>
              <a:latin typeface="メイリオ"/>
            </a:endParaRPr>
          </a:p>
          <a:p>
            <a:pPr algn="l">
              <a:lnSpc>
                <a:spcPct val="130000"/>
              </a:lnSpc>
            </a:pPr>
            <a:r>
              <a:rPr sz="2000" b="1" dirty="0">
                <a:solidFill>
                  <a:srgbClr val="000000"/>
                </a:solidFill>
                <a:latin typeface="メイリオ"/>
                <a:ea typeface="メイリオ"/>
                <a:cs typeface="メイリオ"/>
              </a:rPr>
              <a:t>　</a:t>
            </a:r>
            <a:r>
              <a:rPr sz="2400" b="1" dirty="0" err="1">
                <a:solidFill>
                  <a:srgbClr val="EB6C15"/>
                </a:solidFill>
                <a:latin typeface="メイリオ"/>
                <a:ea typeface="メイリオ"/>
                <a:cs typeface="メイリオ"/>
              </a:rPr>
              <a:t>同じ結果になる</a:t>
            </a:r>
            <a:r>
              <a:rPr lang="ja-JP" altLang="en-US" sz="2400" b="1" dirty="0">
                <a:solidFill>
                  <a:srgbClr val="EB6C15"/>
                </a:solidFill>
                <a:latin typeface="メイリオ"/>
                <a:ea typeface="メイリオ"/>
                <a:cs typeface="メイリオ"/>
              </a:rPr>
              <a:t>　</a:t>
            </a:r>
            <a:r>
              <a:rPr sz="2000" b="1" dirty="0" err="1">
                <a:solidFill>
                  <a:srgbClr val="000000"/>
                </a:solidFill>
                <a:latin typeface="メイリオ"/>
                <a:ea typeface="メイリオ"/>
                <a:cs typeface="メイリオ"/>
              </a:rPr>
              <a:t>こと</a:t>
            </a:r>
            <a:endParaRPr sz="2000" b="1" dirty="0">
              <a:solidFill>
                <a:srgbClr val="000000"/>
              </a:solidFill>
              <a:latin typeface="メイリオ"/>
            </a:endParaRPr>
          </a:p>
          <a:p>
            <a:pPr algn="l">
              <a:lnSpc>
                <a:spcPct val="130000"/>
              </a:lnSpc>
            </a:pPr>
            <a:endParaRPr sz="2000" b="1" dirty="0">
              <a:solidFill>
                <a:srgbClr val="000000"/>
              </a:solidFill>
              <a:latin typeface="メイリオ"/>
            </a:endParaRPr>
          </a:p>
          <a:p>
            <a:pPr algn="l">
              <a:lnSpc>
                <a:spcPct val="130000"/>
              </a:lnSpc>
            </a:pPr>
            <a:r>
              <a:rPr sz="1800" b="1" dirty="0">
                <a:solidFill>
                  <a:srgbClr val="404040"/>
                </a:solidFill>
                <a:latin typeface="メイリオ"/>
                <a:ea typeface="メイリオ"/>
                <a:cs typeface="メイリオ"/>
              </a:rPr>
              <a:t>（</a:t>
            </a:r>
            <a:r>
              <a:rPr sz="1800" b="1" dirty="0" err="1">
                <a:solidFill>
                  <a:srgbClr val="404040"/>
                </a:solidFill>
                <a:latin typeface="メイリオ"/>
                <a:ea typeface="メイリオ"/>
                <a:cs typeface="メイリオ"/>
              </a:rPr>
              <a:t>教師の主観だけに流されない</a:t>
            </a:r>
            <a:r>
              <a:rPr sz="1800" b="1" dirty="0">
                <a:solidFill>
                  <a:srgbClr val="404040"/>
                </a:solidFill>
                <a:latin typeface="メイリオ"/>
                <a:ea typeface="メイリオ"/>
                <a:cs typeface="メイリオ"/>
              </a:rPr>
              <a:t>）</a:t>
            </a:r>
          </a:p>
        </p:txBody>
      </p:sp>
      <p:sp>
        <p:nvSpPr>
          <p:cNvPr id="10" name="Rectangle 9"/>
          <p:cNvSpPr/>
          <p:nvPr/>
        </p:nvSpPr>
        <p:spPr>
          <a:xfrm>
            <a:off x="400000" y="5200000"/>
            <a:ext cx="11400000" cy="1000000"/>
          </a:xfrm>
          <a:prstGeom prst="rect">
            <a:avLst/>
          </a:prstGeom>
          <a:solidFill>
            <a:srgbClr val="D6EEFA"/>
          </a:solidFill>
          <a:ln w="508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400" b="1">
                <a:solidFill>
                  <a:srgbClr val="000000"/>
                </a:solidFill>
                <a:latin typeface="メイリオ"/>
                <a:ea typeface="メイリオ"/>
                <a:cs typeface="メイリオ"/>
              </a:rPr>
              <a:t>妥当性は</a:t>
            </a:r>
            <a:r>
              <a:rPr sz="2600" b="1">
                <a:solidFill>
                  <a:srgbClr val="EB6C15"/>
                </a:solidFill>
                <a:latin typeface="メイリオ"/>
                <a:ea typeface="メイリオ"/>
                <a:cs typeface="メイリオ"/>
              </a:rPr>
              <a:t>個人の授業設計</a:t>
            </a:r>
            <a:r>
              <a:rPr sz="2400" b="1">
                <a:solidFill>
                  <a:srgbClr val="000000"/>
                </a:solidFill>
                <a:latin typeface="メイリオ"/>
                <a:ea typeface="メイリオ"/>
                <a:cs typeface="メイリオ"/>
              </a:rPr>
              <a:t>で、信頼性は</a:t>
            </a:r>
            <a:r>
              <a:rPr sz="2600" b="1">
                <a:solidFill>
                  <a:srgbClr val="EB6C15"/>
                </a:solidFill>
                <a:latin typeface="メイリオ"/>
                <a:ea typeface="メイリオ"/>
                <a:cs typeface="メイリオ"/>
              </a:rPr>
              <a:t>組織で揃える</a:t>
            </a:r>
          </a:p>
        </p:txBody>
      </p:sp>
      <p:sp>
        <p:nvSpPr>
          <p:cNvPr id="11" name="TextBox 10"/>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a:solidFill>
                  <a:srgbClr val="404040"/>
                </a:solidFill>
                <a:latin typeface="メイリオ"/>
                <a:ea typeface="メイリオ"/>
                <a:cs typeface="メイリオ"/>
              </a:rPr>
              <a:t>出典：令和２年９月 </a:t>
            </a:r>
            <a:r>
              <a:rPr sz="1300" dirty="0" err="1">
                <a:solidFill>
                  <a:srgbClr val="404040"/>
                </a:solidFill>
                <a:latin typeface="メイリオ"/>
                <a:ea typeface="メイリオ"/>
                <a:cs typeface="メイリオ"/>
              </a:rPr>
              <a:t>東京都教育委員会「指導と評価の一体化を目指して</a:t>
            </a:r>
            <a:r>
              <a:rPr sz="1300" dirty="0">
                <a:solidFill>
                  <a:srgbClr val="404040"/>
                </a:solidFill>
                <a:latin typeface="メイリオ"/>
                <a:ea typeface="メイリオ"/>
                <a:cs typeface="メイリオ"/>
              </a:rPr>
              <a:t>」</a:t>
            </a:r>
          </a:p>
        </p:txBody>
      </p:sp>
      <p:sp>
        <p:nvSpPr>
          <p:cNvPr id="12" name="Rectangle 1">
            <a:extLst>
              <a:ext uri="{FF2B5EF4-FFF2-40B4-BE49-F238E27FC236}">
                <a16:creationId xmlns:a16="http://schemas.microsoft.com/office/drawing/2014/main" id="{F286CEB8-3740-B9CD-989C-4C94119C5A92}"/>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lang="ja-JP" altLang="en-US" sz="3000" b="1" dirty="0">
                <a:solidFill>
                  <a:srgbClr val="1F3A6E"/>
                </a:solidFill>
                <a:latin typeface="メイリオ"/>
                <a:ea typeface="メイリオ"/>
                <a:cs typeface="メイリオ"/>
              </a:rPr>
              <a:t>各</a:t>
            </a:r>
            <a:r>
              <a:rPr sz="3000" b="1" dirty="0">
                <a:solidFill>
                  <a:srgbClr val="1F3A6E"/>
                </a:solidFill>
                <a:latin typeface="メイリオ"/>
                <a:ea typeface="メイリオ"/>
                <a:cs typeface="メイリオ"/>
              </a:rPr>
              <a:t>教科会で揃える</a:t>
            </a:r>
            <a:r>
              <a:rPr sz="3000" b="1" dirty="0">
                <a:solidFill>
                  <a:srgbClr val="1F3A6E"/>
                </a:solidFill>
                <a:latin typeface="メイリオ" panose="020B0604030504040204" pitchFamily="50" charset="-128"/>
                <a:ea typeface="メイリオ" panose="020B0604030504040204" pitchFamily="50" charset="-128"/>
                <a:cs typeface="メイリオ"/>
              </a:rPr>
              <a:t>3つ</a:t>
            </a:r>
            <a:r>
              <a:rPr lang="ja-JP" altLang="en-US" sz="3000" b="1" dirty="0">
                <a:solidFill>
                  <a:srgbClr val="1F3A6E"/>
                </a:solidFill>
                <a:latin typeface="メイリオ" panose="020B0604030504040204" pitchFamily="50" charset="-128"/>
                <a:ea typeface="メイリオ" panose="020B0604030504040204" pitchFamily="50" charset="-128"/>
                <a:cs typeface="メイリオ"/>
              </a:rPr>
              <a:t>のポイント</a:t>
            </a:r>
            <a:endParaRPr sz="3000" b="1" dirty="0">
              <a:solidFill>
                <a:srgbClr val="1F3A6E"/>
              </a:solidFill>
              <a:latin typeface="メイリオ" panose="020B0604030504040204" pitchFamily="50" charset="-128"/>
              <a:ea typeface="メイリオ" panose="020B0604030504040204" pitchFamily="50" charset="-128"/>
            </a:endParaRP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900000" cy="11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4400" b="1">
                <a:solidFill>
                  <a:srgbClr val="FFFFFF"/>
                </a:solidFill>
                <a:latin typeface="メイリオ"/>
                <a:ea typeface="メイリオ"/>
                <a:cs typeface="メイリオ"/>
              </a:rPr>
              <a:t>①</a:t>
            </a:r>
          </a:p>
        </p:txBody>
      </p:sp>
      <p:sp>
        <p:nvSpPr>
          <p:cNvPr id="7" name="Rectangle 6"/>
          <p:cNvSpPr/>
          <p:nvPr/>
        </p:nvSpPr>
        <p:spPr>
          <a:xfrm>
            <a:off x="1400000" y="1900000"/>
            <a:ext cx="10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20000"/>
              </a:lnSpc>
            </a:pPr>
            <a:r>
              <a:rPr sz="2600" b="1" dirty="0" err="1">
                <a:solidFill>
                  <a:srgbClr val="EB6C15"/>
                </a:solidFill>
                <a:latin typeface="メイリオ"/>
                <a:ea typeface="メイリオ"/>
                <a:cs typeface="メイリオ"/>
              </a:rPr>
              <a:t>Bの姿</a:t>
            </a:r>
            <a:endParaRPr sz="2600" b="1" dirty="0">
              <a:solidFill>
                <a:srgbClr val="EB6C15"/>
              </a:solidFill>
              <a:latin typeface="メイリオ"/>
            </a:endParaRPr>
          </a:p>
          <a:p>
            <a:pPr algn="l">
              <a:lnSpc>
                <a:spcPct val="120000"/>
              </a:lnSpc>
            </a:pPr>
            <a:r>
              <a:rPr sz="2000" b="1" dirty="0" err="1">
                <a:solidFill>
                  <a:srgbClr val="1F3A6E"/>
                </a:solidFill>
                <a:latin typeface="メイリオ"/>
                <a:ea typeface="メイリオ"/>
                <a:cs typeface="メイリオ"/>
              </a:rPr>
              <a:t>観点別評価で「B」と判断する具体的な姿</a:t>
            </a:r>
            <a:endParaRPr sz="2000" b="1" dirty="0">
              <a:solidFill>
                <a:srgbClr val="1F3A6E"/>
              </a:solidFill>
              <a:latin typeface="メイリオ"/>
            </a:endParaRPr>
          </a:p>
        </p:txBody>
      </p:sp>
      <p:sp>
        <p:nvSpPr>
          <p:cNvPr id="8" name="Rectangle 7"/>
          <p:cNvSpPr/>
          <p:nvPr/>
        </p:nvSpPr>
        <p:spPr>
          <a:xfrm>
            <a:off x="400000" y="3200000"/>
            <a:ext cx="900000" cy="11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4400" b="1">
                <a:solidFill>
                  <a:srgbClr val="FFFFFF"/>
                </a:solidFill>
                <a:latin typeface="メイリオ"/>
                <a:ea typeface="メイリオ"/>
                <a:cs typeface="メイリオ"/>
              </a:rPr>
              <a:t>②</a:t>
            </a:r>
          </a:p>
        </p:txBody>
      </p:sp>
      <p:sp>
        <p:nvSpPr>
          <p:cNvPr id="9" name="Rectangle 8"/>
          <p:cNvSpPr/>
          <p:nvPr/>
        </p:nvSpPr>
        <p:spPr>
          <a:xfrm>
            <a:off x="1400000" y="3200000"/>
            <a:ext cx="10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20000"/>
              </a:lnSpc>
            </a:pPr>
            <a:r>
              <a:rPr sz="2600" b="1">
                <a:solidFill>
                  <a:srgbClr val="EB6C15"/>
                </a:solidFill>
                <a:latin typeface="メイリオ"/>
                <a:ea typeface="メイリオ"/>
                <a:cs typeface="メイリオ"/>
              </a:rPr>
              <a:t>評価場面・方法</a:t>
            </a:r>
          </a:p>
          <a:p>
            <a:pPr algn="l">
              <a:lnSpc>
                <a:spcPct val="120000"/>
              </a:lnSpc>
            </a:pPr>
            <a:r>
              <a:rPr sz="2000" b="1">
                <a:solidFill>
                  <a:srgbClr val="1F3A6E"/>
                </a:solidFill>
                <a:latin typeface="メイリオ"/>
                <a:ea typeface="メイリオ"/>
                <a:cs typeface="メイリオ"/>
              </a:rPr>
              <a:t>いつ・どの活動で・どんな方法で見取るか</a:t>
            </a:r>
          </a:p>
        </p:txBody>
      </p:sp>
      <p:sp>
        <p:nvSpPr>
          <p:cNvPr id="10" name="Rectangle 9"/>
          <p:cNvSpPr/>
          <p:nvPr/>
        </p:nvSpPr>
        <p:spPr>
          <a:xfrm>
            <a:off x="400000" y="4500000"/>
            <a:ext cx="900000" cy="11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4400" b="1">
                <a:solidFill>
                  <a:srgbClr val="FFFFFF"/>
                </a:solidFill>
                <a:latin typeface="メイリオ"/>
                <a:ea typeface="メイリオ"/>
                <a:cs typeface="メイリオ"/>
              </a:rPr>
              <a:t>③</a:t>
            </a:r>
          </a:p>
        </p:txBody>
      </p:sp>
      <p:sp>
        <p:nvSpPr>
          <p:cNvPr id="11" name="Rectangle 10"/>
          <p:cNvSpPr/>
          <p:nvPr/>
        </p:nvSpPr>
        <p:spPr>
          <a:xfrm>
            <a:off x="1400000" y="4500000"/>
            <a:ext cx="10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20000"/>
              </a:lnSpc>
            </a:pPr>
            <a:r>
              <a:rPr sz="2600" b="1">
                <a:solidFill>
                  <a:srgbClr val="EB6C15"/>
                </a:solidFill>
                <a:latin typeface="メイリオ"/>
                <a:ea typeface="メイリオ"/>
                <a:cs typeface="メイリオ"/>
              </a:rPr>
              <a:t>総括の方法</a:t>
            </a:r>
          </a:p>
          <a:p>
            <a:pPr algn="l">
              <a:lnSpc>
                <a:spcPct val="120000"/>
              </a:lnSpc>
            </a:pPr>
            <a:r>
              <a:rPr sz="2000" b="1">
                <a:solidFill>
                  <a:srgbClr val="1F3A6E"/>
                </a:solidFill>
                <a:latin typeface="メイリオ"/>
                <a:ea typeface="メイリオ"/>
                <a:cs typeface="メイリオ"/>
              </a:rPr>
              <a:t>観点別評価から評定への総括ルール</a:t>
            </a:r>
          </a:p>
        </p:txBody>
      </p:sp>
      <p:sp>
        <p:nvSpPr>
          <p:cNvPr id="13" name="Rectangle 1">
            <a:extLst>
              <a:ext uri="{FF2B5EF4-FFF2-40B4-BE49-F238E27FC236}">
                <a16:creationId xmlns:a16="http://schemas.microsoft.com/office/drawing/2014/main" id="{2E9C9C79-21A3-3C1F-39DC-6769C9282415}"/>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14" name="Rectangle 13"/>
          <p:cNvSpPr/>
          <p:nvPr/>
        </p:nvSpPr>
        <p:spPr>
          <a:xfrm>
            <a:off x="1400000" y="5650000"/>
            <a:ext cx="10400000" cy="520000"/>
          </a:xfrm>
          <a:prstGeom prst="rect">
            <a:avLst/>
          </a:prstGeom>
          <a:solidFill>
            <a:srgbClr val="D6EEFA"/>
          </a:solidFill>
          <a:ln w="254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60000" bIns="60000">
            <a:normAutofit/>
          </a:bodyPr>
          <a:lstStyle/>
          <a:p>
            <a:pPr algn="l">
              <a:lnSpc>
                <a:spcPct val="110000"/>
              </a:lnSpc>
            </a:pPr>
            <a:r>
              <a:rPr sz="1600" b="1">
                <a:solidFill>
                  <a:srgbClr val="404040"/>
                </a:solidFill>
                <a:latin typeface="メイリオ"/>
                <a:ea typeface="メイリオ"/>
                <a:cs typeface="メイリオ"/>
              </a:rPr>
              <a:t>③の例：</a:t>
            </a:r>
            <a:r>
              <a:rPr sz="1700" b="1">
                <a:solidFill>
                  <a:srgbClr val="EB6C15"/>
                </a:solidFill>
                <a:latin typeface="メイリオ"/>
                <a:ea typeface="メイリオ"/>
                <a:cs typeface="メイリオ"/>
              </a:rPr>
              <a:t>AAA→A</a:t>
            </a:r>
            <a:r>
              <a:rPr sz="1700" b="1">
                <a:solidFill>
                  <a:srgbClr val="1F3A6E"/>
                </a:solidFill>
                <a:latin typeface="メイリオ"/>
                <a:ea typeface="メイリオ"/>
                <a:cs typeface="メイリオ"/>
              </a:rPr>
              <a:t>　／　ABB→B</a:t>
            </a:r>
            <a:r>
              <a:rPr sz="1700" b="1">
                <a:solidFill>
                  <a:srgbClr val="1F3A6E"/>
                </a:solidFill>
                <a:latin typeface="メイリオ"/>
                <a:ea typeface="メイリオ"/>
                <a:cs typeface="メイリオ"/>
              </a:rPr>
              <a:t>　／　BBC→B</a:t>
            </a:r>
            <a:r>
              <a:rPr sz="1700" b="1">
                <a:solidFill>
                  <a:srgbClr val="1F3A6E"/>
                </a:solidFill>
                <a:latin typeface="メイリオ"/>
                <a:ea typeface="メイリオ"/>
                <a:cs typeface="メイリオ"/>
              </a:rPr>
              <a:t>　／　CCC→C</a:t>
            </a:r>
            <a:r>
              <a:rPr sz="1400" b="1">
                <a:solidFill>
                  <a:srgbClr val="404040"/>
                </a:solidFill>
                <a:latin typeface="メイリオ"/>
                <a:ea typeface="メイリオ"/>
                <a:cs typeface="メイリオ"/>
              </a:rPr>
              <a:t>　（教科会で総括ルールを揃える）</a:t>
            </a:r>
          </a:p>
        </p:txBody>
      </p:sp>
      <p:sp>
        <p:nvSpPr>
          <p:cNvPr id="15" name="TextBox 14"/>
          <p:cNvSpPr txBox="1"/>
          <p:nvPr/>
        </p:nvSpPr>
        <p:spPr>
          <a:xfrm>
            <a:off x="300000" y="6230000"/>
            <a:ext cx="11400000" cy="540000"/>
          </a:xfrm>
          <a:prstGeom prst="rect">
            <a:avLst/>
          </a:prstGeom>
          <a:noFill/>
        </p:spPr>
        <p:txBody>
          <a:bodyPr wrap="square" lIns="40000" rIns="40000" tIns="10000" bIns="10000" anchor="ctr">
            <a:normAutofit/>
          </a:bodyPr>
          <a:lstStyle/>
          <a:p>
            <a:pPr algn="l"/>
            <a:r>
              <a:rPr sz="1300">
                <a:solidFill>
                  <a:srgbClr val="404040"/>
                </a:solidFill>
                <a:latin typeface="メイリオ"/>
                <a:ea typeface="メイリオ"/>
                <a:cs typeface="メイリオ"/>
              </a:rPr>
              <a:t>出典：東京都教育委員会「指導と評価の一体化を目指して」／学習評価Q&amp;A実践書 Q9「観点別評価から評定への総括」</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100000" tIns="20000" bIns="20000">
            <a:normAutofit/>
          </a:bodyPr>
          <a:lstStyle/>
          <a:p>
            <a:pPr algn="l"/>
            <a:r>
              <a:rPr sz="2200" b="1">
                <a:solidFill>
                  <a:srgbClr val="FFFFFF"/>
                </a:solidFill>
                <a:latin typeface="メイリオ"/>
                <a:ea typeface="メイリオ"/>
                <a:cs typeface="メイリオ"/>
              </a:rPr>
              <a:t>まとめ</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200000" tIns="20000" bIns="20000">
            <a:normAutofit/>
          </a:bodyPr>
          <a:lstStyle/>
          <a:p>
            <a:pPr algn="l"/>
            <a:r>
              <a:rPr sz="2800" b="1">
                <a:solidFill>
                  <a:srgbClr val="1F3A6E"/>
                </a:solidFill>
                <a:latin typeface="メイリオ"/>
                <a:ea typeface="メイリオ"/>
                <a:cs typeface="メイリオ"/>
              </a:rPr>
              <a:t>本日のまとめ ── 明日からできること</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00000" y="1820000"/>
            <a:ext cx="11400000" cy="72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000" b="1">
                <a:solidFill>
                  <a:srgbClr val="000000"/>
                </a:solidFill>
                <a:latin typeface="メイリオ"/>
                <a:ea typeface="メイリオ"/>
                <a:cs typeface="メイリオ"/>
              </a:rPr>
              <a:t>「指導と評価の一体化」＝ </a:t>
            </a:r>
            <a:r>
              <a:rPr sz="2100" b="1">
                <a:solidFill>
                  <a:srgbClr val="EB6C15"/>
                </a:solidFill>
                <a:latin typeface="メイリオ"/>
                <a:ea typeface="メイリオ"/>
                <a:cs typeface="メイリオ"/>
              </a:rPr>
              <a:t>目標→指導→評価→改善 をくり返し、評価を授業改善に生かす</a:t>
            </a:r>
          </a:p>
        </p:txBody>
      </p:sp>
      <p:sp>
        <p:nvSpPr>
          <p:cNvPr id="6" name="Rectangle 5"/>
          <p:cNvSpPr/>
          <p:nvPr/>
        </p:nvSpPr>
        <p:spPr>
          <a:xfrm>
            <a:off x="400000" y="2720000"/>
            <a:ext cx="11400000" cy="62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30000"/>
              </a:lnSpc>
            </a:pPr>
            <a:r>
              <a:rPr sz="2200" b="1">
                <a:solidFill>
                  <a:srgbClr val="1F3A6E"/>
                </a:solidFill>
                <a:latin typeface="メイリオ"/>
                <a:ea typeface="メイリオ"/>
                <a:cs typeface="メイリオ"/>
              </a:rPr>
              <a:t>□ 次の単元で「Ｂの姿」を1つ言語化し、教科会で揃える</a:t>
            </a:r>
          </a:p>
        </p:txBody>
      </p:sp>
      <p:sp>
        <p:nvSpPr>
          <p:cNvPr id="7" name="Rectangle 6"/>
          <p:cNvSpPr/>
          <p:nvPr/>
        </p:nvSpPr>
        <p:spPr>
          <a:xfrm>
            <a:off x="400000" y="3420000"/>
            <a:ext cx="11400000" cy="62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30000"/>
              </a:lnSpc>
            </a:pPr>
            <a:r>
              <a:rPr sz="2200" b="1">
                <a:solidFill>
                  <a:srgbClr val="1F3A6E"/>
                </a:solidFill>
                <a:latin typeface="メイリオ"/>
                <a:ea typeface="メイリオ"/>
                <a:cs typeface="メイリオ"/>
              </a:rPr>
              <a:t>□ 評価の工夫（行動観察・発問・自己評価）から1つ授業に入れる</a:t>
            </a:r>
          </a:p>
        </p:txBody>
      </p:sp>
      <p:sp>
        <p:nvSpPr>
          <p:cNvPr id="8" name="Rectangle 7"/>
          <p:cNvSpPr/>
          <p:nvPr/>
        </p:nvSpPr>
        <p:spPr>
          <a:xfrm>
            <a:off x="400000" y="4120000"/>
            <a:ext cx="11400000" cy="62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30000"/>
              </a:lnSpc>
            </a:pPr>
            <a:r>
              <a:rPr sz="2200" b="1">
                <a:solidFill>
                  <a:srgbClr val="1F3A6E"/>
                </a:solidFill>
                <a:latin typeface="メイリオ"/>
                <a:ea typeface="メイリオ"/>
                <a:cs typeface="メイリオ"/>
              </a:rPr>
              <a:t>□ 振り返り／自己評価の機会を1回入れる</a:t>
            </a:r>
          </a:p>
        </p:txBody>
      </p:sp>
      <p:sp>
        <p:nvSpPr>
          <p:cNvPr id="9" name="Rectangle 8"/>
          <p:cNvSpPr/>
          <p:nvPr/>
        </p:nvSpPr>
        <p:spPr>
          <a:xfrm>
            <a:off x="400000" y="4820000"/>
            <a:ext cx="11400000" cy="62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30000"/>
              </a:lnSpc>
            </a:pPr>
            <a:r>
              <a:rPr sz="2200" b="1">
                <a:solidFill>
                  <a:srgbClr val="1F3A6E"/>
                </a:solidFill>
                <a:latin typeface="メイリオ"/>
                <a:ea typeface="メイリオ"/>
                <a:cs typeface="メイリオ"/>
              </a:rPr>
              <a:t>□ 評価結果を、次の授業改善に1つ生かす</a:t>
            </a:r>
          </a:p>
        </p:txBody>
      </p:sp>
      <p:sp>
        <p:nvSpPr>
          <p:cNvPr id="10" name="Rectangle 9"/>
          <p:cNvSpPr/>
          <p:nvPr/>
        </p:nvSpPr>
        <p:spPr>
          <a:xfrm>
            <a:off x="400000" y="5620000"/>
            <a:ext cx="11400000" cy="560000"/>
          </a:xfrm>
          <a:prstGeom prst="rect">
            <a:avLst/>
          </a:prstGeom>
          <a:solidFill>
            <a:srgbClr val="FFE066"/>
          </a:solidFill>
          <a:ln w="38100">
            <a:solidFill>
              <a:srgbClr val="EB6C15"/>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200" b="1">
                <a:solidFill>
                  <a:srgbClr val="1F3A6E"/>
                </a:solidFill>
                <a:latin typeface="メイリオ"/>
                <a:ea typeface="メイリオ"/>
                <a:cs typeface="メイリオ"/>
              </a:rPr>
              <a:t>やることを「絞る」から、続く</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100000" tIns="20000" bIns="20000">
            <a:normAutofit/>
          </a:bodyPr>
          <a:lstStyle/>
          <a:p>
            <a:pPr algn="l"/>
            <a:r>
              <a:rPr sz="2200" b="1">
                <a:solidFill>
                  <a:srgbClr val="FFFFFF"/>
                </a:solidFill>
                <a:latin typeface="メイリオ"/>
                <a:ea typeface="メイリオ"/>
                <a:cs typeface="メイリオ"/>
              </a:rPr>
              <a:t>グループ協議へ</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200000" tIns="20000" bIns="20000">
            <a:normAutofit/>
          </a:bodyPr>
          <a:lstStyle/>
          <a:p>
            <a:pPr algn="l"/>
            <a:r>
              <a:rPr sz="2800" b="1">
                <a:solidFill>
                  <a:srgbClr val="1F3A6E"/>
                </a:solidFill>
                <a:latin typeface="メイリオ"/>
                <a:ea typeface="メイリオ"/>
                <a:cs typeface="メイリオ"/>
              </a:rPr>
              <a:t>このあと、各教科の評価資料を持ち寄って検討します</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00000" y="1820000"/>
            <a:ext cx="11400000" cy="72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000" b="1">
                <a:solidFill>
                  <a:srgbClr val="000000"/>
                </a:solidFill>
                <a:latin typeface="メイリオ"/>
                <a:ea typeface="メイリオ"/>
                <a:cs typeface="メイリオ"/>
              </a:rPr>
              <a:t>協議テーマ：</a:t>
            </a:r>
            <a:r>
              <a:rPr sz="2200" b="1">
                <a:solidFill>
                  <a:srgbClr val="EB6C15"/>
                </a:solidFill>
                <a:latin typeface="メイリオ"/>
                <a:ea typeface="メイリオ"/>
                <a:cs typeface="メイリオ"/>
              </a:rPr>
              <a:t>各教科で評価方法の「ばらつき」を減らす</a:t>
            </a:r>
          </a:p>
        </p:txBody>
      </p:sp>
      <p:sp>
        <p:nvSpPr>
          <p:cNvPr id="6" name="Rectangle 5"/>
          <p:cNvSpPr/>
          <p:nvPr/>
        </p:nvSpPr>
        <p:spPr>
          <a:xfrm>
            <a:off x="400000" y="2720000"/>
            <a:ext cx="1000000" cy="78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3600" b="1">
                <a:solidFill>
                  <a:srgbClr val="FFFFFF"/>
                </a:solidFill>
                <a:latin typeface="メイリオ"/>
                <a:ea typeface="メイリオ"/>
                <a:cs typeface="メイリオ"/>
              </a:rPr>
              <a:t>①</a:t>
            </a:r>
          </a:p>
        </p:txBody>
      </p:sp>
      <p:sp>
        <p:nvSpPr>
          <p:cNvPr id="7" name="Rectangle 6"/>
          <p:cNvSpPr/>
          <p:nvPr/>
        </p:nvSpPr>
        <p:spPr>
          <a:xfrm>
            <a:off x="1500000" y="2720000"/>
            <a:ext cx="10300000" cy="78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30000"/>
              </a:lnSpc>
            </a:pPr>
            <a:r>
              <a:rPr sz="2100" b="1">
                <a:solidFill>
                  <a:srgbClr val="1F3A6E"/>
                </a:solidFill>
                <a:latin typeface="メイリオ"/>
                <a:ea typeface="メイリオ"/>
                <a:cs typeface="メイリオ"/>
              </a:rPr>
              <a:t>あなたの教科で「Ｂと判断する姿」は、具体的にどんな姿か？</a:t>
            </a:r>
          </a:p>
        </p:txBody>
      </p:sp>
      <p:sp>
        <p:nvSpPr>
          <p:cNvPr id="8" name="Rectangle 7"/>
          <p:cNvSpPr/>
          <p:nvPr/>
        </p:nvSpPr>
        <p:spPr>
          <a:xfrm>
            <a:off x="400000" y="3620000"/>
            <a:ext cx="1000000" cy="78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3600" b="1">
                <a:solidFill>
                  <a:srgbClr val="FFFFFF"/>
                </a:solidFill>
                <a:latin typeface="メイリオ"/>
                <a:ea typeface="メイリオ"/>
                <a:cs typeface="メイリオ"/>
              </a:rPr>
              <a:t>②</a:t>
            </a:r>
          </a:p>
        </p:txBody>
      </p:sp>
      <p:sp>
        <p:nvSpPr>
          <p:cNvPr id="9" name="Rectangle 8"/>
          <p:cNvSpPr/>
          <p:nvPr/>
        </p:nvSpPr>
        <p:spPr>
          <a:xfrm>
            <a:off x="1500000" y="3620000"/>
            <a:ext cx="10300000" cy="78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30000"/>
              </a:lnSpc>
            </a:pPr>
            <a:r>
              <a:rPr sz="2100" b="1">
                <a:solidFill>
                  <a:srgbClr val="1F3A6E"/>
                </a:solidFill>
                <a:latin typeface="メイリオ"/>
                <a:ea typeface="メイリオ"/>
                <a:cs typeface="メイリオ"/>
              </a:rPr>
              <a:t>単元のどの場面で、どんな方法でみとるか？</a:t>
            </a:r>
          </a:p>
        </p:txBody>
      </p:sp>
      <p:sp>
        <p:nvSpPr>
          <p:cNvPr id="10" name="Rectangle 9"/>
          <p:cNvSpPr/>
          <p:nvPr/>
        </p:nvSpPr>
        <p:spPr>
          <a:xfrm>
            <a:off x="400000" y="4520000"/>
            <a:ext cx="1000000" cy="78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3600" b="1">
                <a:solidFill>
                  <a:srgbClr val="FFFFFF"/>
                </a:solidFill>
                <a:latin typeface="メイリオ"/>
                <a:ea typeface="メイリオ"/>
                <a:cs typeface="メイリオ"/>
              </a:rPr>
              <a:t>③</a:t>
            </a:r>
          </a:p>
        </p:txBody>
      </p:sp>
      <p:sp>
        <p:nvSpPr>
          <p:cNvPr id="11" name="Rectangle 10"/>
          <p:cNvSpPr/>
          <p:nvPr/>
        </p:nvSpPr>
        <p:spPr>
          <a:xfrm>
            <a:off x="1500000" y="4520000"/>
            <a:ext cx="10300000" cy="78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30000"/>
              </a:lnSpc>
            </a:pPr>
            <a:r>
              <a:rPr sz="2100" b="1">
                <a:solidFill>
                  <a:srgbClr val="1F3A6E"/>
                </a:solidFill>
                <a:latin typeface="メイリオ"/>
                <a:ea typeface="メイリオ"/>
                <a:cs typeface="メイリオ"/>
              </a:rPr>
              <a:t>その評価を、次の授業改善にどう生かすか？</a:t>
            </a:r>
          </a:p>
        </p:txBody>
      </p:sp>
      <p:sp>
        <p:nvSpPr>
          <p:cNvPr id="12" name="Rectangle 11"/>
          <p:cNvSpPr/>
          <p:nvPr/>
        </p:nvSpPr>
        <p:spPr>
          <a:xfrm>
            <a:off x="400000" y="5520000"/>
            <a:ext cx="11400000" cy="620000"/>
          </a:xfrm>
          <a:prstGeom prst="rect">
            <a:avLst/>
          </a:prstGeom>
          <a:solidFill>
            <a:srgbClr val="FFE066"/>
          </a:solidFill>
          <a:ln w="38100">
            <a:solidFill>
              <a:srgbClr val="EB6C15"/>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100" b="1">
                <a:solidFill>
                  <a:srgbClr val="1F3A6E"/>
                </a:solidFill>
                <a:latin typeface="メイリオ"/>
                <a:ea typeface="メイリオ"/>
                <a:cs typeface="メイリオ"/>
              </a:rPr>
              <a:t>持ち寄った評価資料をもとに話し合い、教科として評価方法をそろえる</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100000" tIns="20000" bIns="20000">
            <a:normAutofit/>
          </a:bodyPr>
          <a:lstStyle/>
          <a:p>
            <a:pPr algn="l"/>
            <a:r>
              <a:rPr sz="2200" b="1">
                <a:solidFill>
                  <a:srgbClr val="FFFFFF"/>
                </a:solidFill>
                <a:latin typeface="メイリオ"/>
                <a:ea typeface="メイリオ"/>
                <a:cs typeface="メイリオ"/>
              </a:rPr>
              <a:t>参考文献</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200000" tIns="20000" bIns="20000">
            <a:normAutofit/>
          </a:bodyPr>
          <a:lstStyle/>
          <a:p>
            <a:pPr algn="l"/>
            <a:r>
              <a:rPr sz="2800" b="1">
                <a:solidFill>
                  <a:srgbClr val="1F3A6E"/>
                </a:solidFill>
                <a:latin typeface="メイリオ"/>
                <a:ea typeface="メイリオ"/>
                <a:cs typeface="メイリオ"/>
              </a:rPr>
              <a:t>本研修の根拠資料</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00000" y="1850000"/>
            <a:ext cx="11400000" cy="42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60000" bIns="60000">
            <a:normAutofit/>
          </a:bodyPr>
          <a:lstStyle/>
          <a:p>
            <a:pPr algn="l">
              <a:lnSpc>
                <a:spcPct val="125000"/>
              </a:lnSpc>
            </a:pPr>
            <a:r>
              <a:rPr sz="1600" b="1">
                <a:solidFill>
                  <a:srgbClr val="EB6C15"/>
                </a:solidFill>
                <a:latin typeface="メイリオ"/>
                <a:ea typeface="メイリオ"/>
                <a:cs typeface="メイリオ"/>
              </a:rPr>
              <a:t>● 中央教育審議会 教育課程企画特別部会「論点整理」（令和7年9月25日）</a:t>
            </a:r>
          </a:p>
          <a:p>
            <a:pPr>
              <a:lnSpc>
                <a:spcPct val="125000"/>
              </a:lnSpc>
            </a:pPr>
            <a:r>
              <a:rPr sz="1300" b="0">
                <a:solidFill>
                  <a:srgbClr val="404040"/>
                </a:solidFill>
                <a:latin typeface="メイリオ"/>
                <a:ea typeface="メイリオ"/>
                <a:cs typeface="メイリオ"/>
              </a:rPr>
              <a:t>　 教育課程部会 総則・評価特別部会「学習評価の在り方について」</a:t>
            </a:r>
          </a:p>
          <a:p>
            <a:pPr>
              <a:lnSpc>
                <a:spcPct val="125000"/>
              </a:lnSpc>
            </a:pPr>
            <a:r>
              <a:rPr sz="1300" b="0">
                <a:solidFill>
                  <a:srgbClr val="404040"/>
                </a:solidFill>
                <a:latin typeface="メイリオ"/>
                <a:ea typeface="メイリオ"/>
                <a:cs typeface="メイリオ"/>
              </a:rPr>
              <a:t>　 検討資料⑧（令和8年3月30日）</a:t>
            </a:r>
          </a:p>
          <a:p>
            <a:pPr>
              <a:lnSpc>
                <a:spcPct val="125000"/>
              </a:lnSpc>
            </a:pPr>
            <a:r>
              <a:rPr sz="1600" b="1">
                <a:solidFill>
                  <a:srgbClr val="1F3A6E"/>
                </a:solidFill>
                <a:latin typeface="メイリオ"/>
                <a:ea typeface="メイリオ"/>
                <a:cs typeface="メイリオ"/>
              </a:rPr>
              <a:t>● 中学校学習指導要領 解説　総則編　文部科学省</a:t>
            </a:r>
          </a:p>
          <a:p>
            <a:pPr>
              <a:lnSpc>
                <a:spcPct val="125000"/>
              </a:lnSpc>
            </a:pPr>
            <a:r>
              <a:rPr sz="1300" b="0">
                <a:solidFill>
                  <a:srgbClr val="404040"/>
                </a:solidFill>
                <a:latin typeface="メイリオ"/>
                <a:ea typeface="メイリオ"/>
                <a:cs typeface="メイリオ"/>
              </a:rPr>
              <a:t>　 第3章第2節2「学習評価の充実」</a:t>
            </a:r>
          </a:p>
          <a:p>
            <a:pPr>
              <a:lnSpc>
                <a:spcPct val="125000"/>
              </a:lnSpc>
            </a:pPr>
            <a:r>
              <a:rPr sz="1600" b="1">
                <a:solidFill>
                  <a:srgbClr val="1F3A6E"/>
                </a:solidFill>
                <a:latin typeface="メイリオ"/>
                <a:ea typeface="メイリオ"/>
                <a:cs typeface="メイリオ"/>
              </a:rPr>
              <a:t>● 学習評価の在り方ハンドブック（中学校編）</a:t>
            </a:r>
          </a:p>
          <a:p>
            <a:pPr>
              <a:lnSpc>
                <a:spcPct val="125000"/>
              </a:lnSpc>
            </a:pPr>
            <a:r>
              <a:rPr sz="1300" b="0">
                <a:solidFill>
                  <a:srgbClr val="404040"/>
                </a:solidFill>
                <a:latin typeface="メイリオ"/>
                <a:ea typeface="メイリオ"/>
                <a:cs typeface="メイリオ"/>
              </a:rPr>
              <a:t>　 文部科学省 国立教育政策研究所教育課程研究センター</a:t>
            </a:r>
          </a:p>
          <a:p>
            <a:pPr>
              <a:lnSpc>
                <a:spcPct val="125000"/>
              </a:lnSpc>
            </a:pPr>
            <a:r>
              <a:rPr sz="1600" b="1">
                <a:solidFill>
                  <a:srgbClr val="1F3A6E"/>
                </a:solidFill>
                <a:latin typeface="メイリオ"/>
                <a:ea typeface="メイリオ"/>
                <a:cs typeface="メイリオ"/>
              </a:rPr>
              <a:t>● 「指導と評価の一体化」のための学習評価に関する参考資料</a:t>
            </a:r>
          </a:p>
          <a:p>
            <a:pPr>
              <a:lnSpc>
                <a:spcPct val="125000"/>
              </a:lnSpc>
            </a:pPr>
            <a:r>
              <a:rPr sz="1300" b="0">
                <a:solidFill>
                  <a:srgbClr val="404040"/>
                </a:solidFill>
                <a:latin typeface="メイリオ"/>
                <a:ea typeface="メイリオ"/>
                <a:cs typeface="メイリオ"/>
              </a:rPr>
              <a:t>　 文部科学省 国立教育政策研究所教育課程研究センター</a:t>
            </a:r>
          </a:p>
          <a:p>
            <a:pPr>
              <a:lnSpc>
                <a:spcPct val="125000"/>
              </a:lnSpc>
            </a:pPr>
            <a:r>
              <a:rPr sz="1600" b="1">
                <a:solidFill>
                  <a:srgbClr val="1F3A6E"/>
                </a:solidFill>
                <a:latin typeface="メイリオ"/>
                <a:ea typeface="メイリオ"/>
                <a:cs typeface="メイリオ"/>
              </a:rPr>
              <a:t>● 「指導と評価の一体化を目指して」 東京都教育委員会</a:t>
            </a:r>
          </a:p>
          <a:p>
            <a:pPr>
              <a:lnSpc>
                <a:spcPct val="125000"/>
              </a:lnSpc>
            </a:pPr>
            <a:r>
              <a:rPr sz="1600" b="1">
                <a:solidFill>
                  <a:srgbClr val="1F3A6E"/>
                </a:solidFill>
                <a:latin typeface="メイリオ"/>
                <a:ea typeface="メイリオ"/>
                <a:cs typeface="メイリオ"/>
              </a:rPr>
              <a:t>● 児童生徒の学習評価の在り方について（報告）</a:t>
            </a:r>
          </a:p>
          <a:p>
            <a:pPr>
              <a:lnSpc>
                <a:spcPct val="125000"/>
              </a:lnSpc>
            </a:pPr>
            <a:r>
              <a:rPr sz="1300" b="0">
                <a:solidFill>
                  <a:srgbClr val="404040"/>
                </a:solidFill>
                <a:latin typeface="メイリオ"/>
                <a:ea typeface="メイリオ"/>
                <a:cs typeface="メイリオ"/>
              </a:rPr>
              <a:t>　 中央教育審議会 平成31年1月21日</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100000" tIns="20000" bIns="20000">
            <a:normAutofit/>
          </a:bodyPr>
          <a:lstStyle/>
          <a:p>
            <a:pPr algn="l"/>
            <a:r>
              <a:rPr sz="2200" b="1">
                <a:solidFill>
                  <a:srgbClr val="FFFFFF"/>
                </a:solidFill>
                <a:latin typeface="メイリオ"/>
                <a:ea typeface="メイリオ"/>
                <a:cs typeface="メイリオ"/>
              </a:rPr>
              <a:t>今後に向けて</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200000" tIns="20000" bIns="20000">
            <a:normAutofit/>
          </a:bodyPr>
          <a:lstStyle/>
          <a:p>
            <a:pPr algn="l"/>
            <a:r>
              <a:rPr sz="2800" b="1">
                <a:solidFill>
                  <a:srgbClr val="1F3A6E"/>
                </a:solidFill>
                <a:latin typeface="メイリオ"/>
                <a:ea typeface="メイリオ"/>
                <a:cs typeface="メイリオ"/>
              </a:rPr>
              <a:t>次期学習指導要領の方向性 ─ 令和7年「論点整理」</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00000" y="1820000"/>
            <a:ext cx="11400000" cy="620000"/>
          </a:xfrm>
          <a:prstGeom prst="rect">
            <a:avLst/>
          </a:prstGeom>
          <a:solidFill>
            <a:srgbClr val="FFE066"/>
          </a:solidFill>
          <a:ln w="31750">
            <a:solidFill>
              <a:srgbClr val="EB6C15"/>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1800" b="1">
                <a:solidFill>
                  <a:srgbClr val="000000"/>
                </a:solidFill>
                <a:latin typeface="メイリオ"/>
                <a:ea typeface="メイリオ"/>
                <a:cs typeface="メイリオ"/>
              </a:rPr>
              <a:t>ここから先は</a:t>
            </a:r>
            <a:r>
              <a:rPr sz="2200" b="1">
                <a:solidFill>
                  <a:srgbClr val="EB6C15"/>
                </a:solidFill>
                <a:latin typeface="メイリオ"/>
                <a:ea typeface="メイリオ"/>
                <a:cs typeface="メイリオ"/>
              </a:rPr>
              <a:t>「方向性」</a:t>
            </a:r>
            <a:r>
              <a:rPr sz="1800" b="1">
                <a:solidFill>
                  <a:srgbClr val="000000"/>
                </a:solidFill>
                <a:latin typeface="メイリオ"/>
                <a:ea typeface="メイリオ"/>
                <a:cs typeface="メイリオ"/>
              </a:rPr>
              <a:t>です。現時点での運用は </a:t>
            </a:r>
            <a:r>
              <a:rPr sz="2200" b="1">
                <a:solidFill>
                  <a:srgbClr val="1F3A6E"/>
                </a:solidFill>
                <a:latin typeface="メイリオ"/>
                <a:ea typeface="メイリオ"/>
                <a:cs typeface="メイリオ"/>
              </a:rPr>
              <a:t>現行3観点ABC</a:t>
            </a:r>
            <a:r>
              <a:rPr sz="1800" b="1">
                <a:solidFill>
                  <a:srgbClr val="000000"/>
                </a:solidFill>
                <a:latin typeface="メイリオ"/>
                <a:ea typeface="メイリオ"/>
                <a:cs typeface="メイリオ"/>
              </a:rPr>
              <a:t> のままです</a:t>
            </a:r>
          </a:p>
        </p:txBody>
      </p:sp>
      <p:sp>
        <p:nvSpPr>
          <p:cNvPr id="6" name="Rectangle 5"/>
          <p:cNvSpPr/>
          <p:nvPr/>
        </p:nvSpPr>
        <p:spPr>
          <a:xfrm>
            <a:off x="400000" y="2550000"/>
            <a:ext cx="900000" cy="9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4200" b="1">
                <a:solidFill>
                  <a:srgbClr val="FFFFFF"/>
                </a:solidFill>
                <a:latin typeface="メイリオ"/>
                <a:ea typeface="メイリオ"/>
                <a:cs typeface="メイリオ"/>
              </a:rPr>
              <a:t>①</a:t>
            </a:r>
          </a:p>
        </p:txBody>
      </p:sp>
      <p:sp>
        <p:nvSpPr>
          <p:cNvPr id="7" name="Rectangle 6"/>
          <p:cNvSpPr/>
          <p:nvPr/>
        </p:nvSpPr>
        <p:spPr>
          <a:xfrm>
            <a:off x="1400000" y="2550000"/>
            <a:ext cx="10400000" cy="95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20000"/>
              </a:lnSpc>
            </a:pPr>
            <a:r>
              <a:rPr sz="2200" b="1">
                <a:solidFill>
                  <a:srgbClr val="EB6C15"/>
                </a:solidFill>
                <a:latin typeface="メイリオ"/>
                <a:ea typeface="メイリオ"/>
                <a:cs typeface="メイリオ"/>
              </a:rPr>
              <a:t>評定の対象外へ</a:t>
            </a:r>
          </a:p>
          <a:p>
            <a:pPr algn="l">
              <a:lnSpc>
                <a:spcPct val="120000"/>
              </a:lnSpc>
            </a:pPr>
            <a:r>
              <a:rPr sz="1600" b="1">
                <a:solidFill>
                  <a:srgbClr val="1F3A6E"/>
                </a:solidFill>
                <a:latin typeface="メイリオ"/>
                <a:ea typeface="メイリオ"/>
                <a:cs typeface="メイリオ"/>
              </a:rPr>
              <a:t>「主体的に学習に取り組む態度」を A・B・C の目標準拠評価から外し、
個人の成長や良さを記述する「個人内評価」へ転換</a:t>
            </a:r>
          </a:p>
        </p:txBody>
      </p:sp>
      <p:sp>
        <p:nvSpPr>
          <p:cNvPr id="8" name="Rectangle 7"/>
          <p:cNvSpPr/>
          <p:nvPr/>
        </p:nvSpPr>
        <p:spPr>
          <a:xfrm>
            <a:off x="400000" y="3650000"/>
            <a:ext cx="900000" cy="9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4200" b="1">
                <a:solidFill>
                  <a:srgbClr val="FFFFFF"/>
                </a:solidFill>
                <a:latin typeface="メイリオ"/>
                <a:ea typeface="メイリオ"/>
                <a:cs typeface="メイリオ"/>
              </a:rPr>
              <a:t>②</a:t>
            </a:r>
          </a:p>
        </p:txBody>
      </p:sp>
      <p:sp>
        <p:nvSpPr>
          <p:cNvPr id="9" name="Rectangle 8"/>
          <p:cNvSpPr/>
          <p:nvPr/>
        </p:nvSpPr>
        <p:spPr>
          <a:xfrm>
            <a:off x="1400000" y="3650000"/>
            <a:ext cx="10400000" cy="95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20000"/>
              </a:lnSpc>
            </a:pPr>
            <a:r>
              <a:rPr sz="2200" b="1">
                <a:solidFill>
                  <a:srgbClr val="EB6C15"/>
                </a:solidFill>
                <a:latin typeface="メイリオ"/>
                <a:ea typeface="メイリオ"/>
                <a:cs typeface="メイリオ"/>
              </a:rPr>
              <a:t>総合所見＋「○」付記</a:t>
            </a:r>
          </a:p>
          <a:p>
            <a:pPr algn="l">
              <a:lnSpc>
                <a:spcPct val="120000"/>
              </a:lnSpc>
            </a:pPr>
            <a:r>
              <a:rPr sz="1600" b="1">
                <a:solidFill>
                  <a:srgbClr val="1F3A6E"/>
                </a:solidFill>
                <a:latin typeface="メイリオ"/>
                <a:ea typeface="メイリオ"/>
                <a:cs typeface="メイリオ"/>
              </a:rPr>
              <a:t>「学びに向かう力」を総合所見欄での個人内評価と、
「思考・判断・表現」観点別評価への「○」付記の組合せで見る方向</a:t>
            </a:r>
          </a:p>
        </p:txBody>
      </p:sp>
      <p:sp>
        <p:nvSpPr>
          <p:cNvPr id="10" name="Rectangle 9"/>
          <p:cNvSpPr/>
          <p:nvPr/>
        </p:nvSpPr>
        <p:spPr>
          <a:xfrm>
            <a:off x="400000" y="4750000"/>
            <a:ext cx="900000" cy="9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4200" b="1">
                <a:solidFill>
                  <a:srgbClr val="FFFFFF"/>
                </a:solidFill>
                <a:latin typeface="メイリオ"/>
                <a:ea typeface="メイリオ"/>
                <a:cs typeface="メイリオ"/>
              </a:rPr>
              <a:t>③</a:t>
            </a:r>
          </a:p>
        </p:txBody>
      </p:sp>
      <p:sp>
        <p:nvSpPr>
          <p:cNvPr id="11" name="Rectangle 10"/>
          <p:cNvSpPr/>
          <p:nvPr/>
        </p:nvSpPr>
        <p:spPr>
          <a:xfrm>
            <a:off x="1400000" y="4750000"/>
            <a:ext cx="10400000" cy="95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20000"/>
              </a:lnSpc>
            </a:pPr>
            <a:r>
              <a:rPr sz="2200" b="1">
                <a:solidFill>
                  <a:srgbClr val="EB6C15"/>
                </a:solidFill>
                <a:latin typeface="メイリオ"/>
                <a:ea typeface="メイリオ"/>
                <a:cs typeface="メイリオ"/>
              </a:rPr>
              <a:t>形式的評価からの脱却</a:t>
            </a:r>
          </a:p>
          <a:p>
            <a:pPr algn="l">
              <a:lnSpc>
                <a:spcPct val="120000"/>
              </a:lnSpc>
            </a:pPr>
            <a:r>
              <a:rPr sz="1600" b="1">
                <a:solidFill>
                  <a:srgbClr val="1F3A6E"/>
                </a:solidFill>
                <a:latin typeface="メイリオ"/>
                <a:ea typeface="メイリオ"/>
                <a:cs typeface="メイリオ"/>
              </a:rPr>
              <a:t>ノート提出頻度・挙手回数など「勤勉さ」ではなく、
見通し・粘り強さ・振り返りの「学びの過程」そのものを評価</a:t>
            </a:r>
          </a:p>
        </p:txBody>
      </p:sp>
      <p:sp>
        <p:nvSpPr>
          <p:cNvPr id="12" name="TextBox 11"/>
          <p:cNvSpPr txBox="1"/>
          <p:nvPr/>
        </p:nvSpPr>
        <p:spPr>
          <a:xfrm>
            <a:off x="300000" y="6000000"/>
            <a:ext cx="11500000" cy="330000"/>
          </a:xfrm>
          <a:prstGeom prst="rect">
            <a:avLst/>
          </a:prstGeom>
          <a:noFill/>
        </p:spPr>
        <p:txBody>
          <a:bodyPr wrap="square" lIns="40000" rIns="40000" tIns="10000" bIns="10000" anchor="ctr">
            <a:spAutoFit/>
          </a:bodyPr>
          <a:lstStyle/>
          <a:p>
            <a:pPr algn="l"/>
            <a:r>
              <a:rPr sz="1300">
                <a:solidFill>
                  <a:srgbClr val="404040"/>
                </a:solidFill>
                <a:latin typeface="メイリオ"/>
                <a:ea typeface="メイリオ"/>
                <a:cs typeface="メイリオ"/>
              </a:rPr>
              <a:t>出典：中央教育審議会 教育課程企画特別部会「論点整理」令和7年9月25日／検討資料⑧令和8年3月30日</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100000" tIns="20000" bIns="20000">
            <a:normAutofit/>
          </a:bodyPr>
          <a:lstStyle/>
          <a:p>
            <a:pPr algn="l"/>
            <a:r>
              <a:rPr sz="2200" b="1">
                <a:solidFill>
                  <a:srgbClr val="FFFFFF"/>
                </a:solidFill>
                <a:latin typeface="メイリオ"/>
                <a:ea typeface="メイリオ"/>
                <a:cs typeface="メイリオ"/>
              </a:rPr>
              <a:t>今後に向けて</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200000" tIns="20000" bIns="20000">
            <a:normAutofit/>
          </a:bodyPr>
          <a:lstStyle/>
          <a:p>
            <a:pPr algn="l"/>
            <a:r>
              <a:rPr sz="2800" b="1">
                <a:solidFill>
                  <a:srgbClr val="1F3A6E"/>
                </a:solidFill>
                <a:latin typeface="メイリオ"/>
                <a:ea typeface="メイリオ"/>
                <a:cs typeface="メイリオ"/>
              </a:rPr>
              <a:t>今日の取り組みは「次期」でこそ生きる</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00000" y="1820000"/>
            <a:ext cx="11400000" cy="65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000" b="1">
                <a:solidFill>
                  <a:srgbClr val="404040"/>
                </a:solidFill>
                <a:latin typeface="メイリオ"/>
                <a:ea typeface="メイリオ"/>
                <a:cs typeface="メイリオ"/>
              </a:rPr>
              <a:t>「今日の研修が無駄になるのでは？」</a:t>
            </a:r>
            <a:r>
              <a:rPr sz="2000" b="1">
                <a:solidFill>
                  <a:srgbClr val="000000"/>
                </a:solidFill>
                <a:latin typeface="メイリオ"/>
                <a:ea typeface="メイリオ"/>
                <a:cs typeface="メイリオ"/>
              </a:rPr>
              <a:t>　─　いいえ、むしろ</a:t>
            </a:r>
            <a:r>
              <a:rPr sz="2200" b="1">
                <a:solidFill>
                  <a:srgbClr val="EB6C15"/>
                </a:solidFill>
                <a:latin typeface="メイリオ"/>
                <a:ea typeface="メイリオ"/>
                <a:cs typeface="メイリオ"/>
              </a:rPr>
              <a:t>強化されます</a:t>
            </a:r>
          </a:p>
        </p:txBody>
      </p:sp>
      <p:sp>
        <p:nvSpPr>
          <p:cNvPr id="6" name="Rectangle 5"/>
          <p:cNvSpPr/>
          <p:nvPr/>
        </p:nvSpPr>
        <p:spPr>
          <a:xfrm>
            <a:off x="400000" y="2570000"/>
            <a:ext cx="4200000" cy="88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1800" b="1">
                <a:solidFill>
                  <a:srgbClr val="FFFFFF"/>
                </a:solidFill>
                <a:latin typeface="メイリオ"/>
                <a:ea typeface="メイリオ"/>
                <a:cs typeface="メイリオ"/>
              </a:rPr>
              <a:t>Ｂの姿の言語化</a:t>
            </a:r>
          </a:p>
        </p:txBody>
      </p:sp>
      <p:sp>
        <p:nvSpPr>
          <p:cNvPr id="7" name="Rectangle 6"/>
          <p:cNvSpPr/>
          <p:nvPr/>
        </p:nvSpPr>
        <p:spPr>
          <a:xfrm>
            <a:off x="4700000" y="2570000"/>
            <a:ext cx="7100000" cy="88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20000"/>
              </a:lnSpc>
            </a:pPr>
            <a:r>
              <a:rPr sz="1800" b="1">
                <a:solidFill>
                  <a:srgbClr val="EB6C15"/>
                </a:solidFill>
                <a:latin typeface="メイリオ"/>
                <a:ea typeface="メイリオ"/>
                <a:cs typeface="メイリオ"/>
              </a:rPr>
              <a:t>→ 個人内評価の根拠記述に直結</a:t>
            </a:r>
          </a:p>
          <a:p>
            <a:pPr algn="l">
              <a:lnSpc>
                <a:spcPct val="120000"/>
              </a:lnSpc>
            </a:pPr>
            <a:r>
              <a:rPr sz="1500" b="1">
                <a:solidFill>
                  <a:srgbClr val="1F3A6E"/>
                </a:solidFill>
                <a:latin typeface="メイリオ"/>
                <a:ea typeface="メイリオ"/>
                <a:cs typeface="メイリオ"/>
              </a:rPr>
              <a:t>規準が言語化できていれば、所見欄での質の高い記述が書ける</a:t>
            </a:r>
          </a:p>
        </p:txBody>
      </p:sp>
      <p:sp>
        <p:nvSpPr>
          <p:cNvPr id="8" name="Rectangle 7"/>
          <p:cNvSpPr/>
          <p:nvPr/>
        </p:nvSpPr>
        <p:spPr>
          <a:xfrm>
            <a:off x="400000" y="3570000"/>
            <a:ext cx="4200000" cy="88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1800" b="1">
                <a:solidFill>
                  <a:srgbClr val="FFFFFF"/>
                </a:solidFill>
                <a:latin typeface="メイリオ"/>
                <a:ea typeface="メイリオ"/>
                <a:cs typeface="メイリオ"/>
              </a:rPr>
              <a:t>形成的評価
（みとる→気づく→変える→伸びる）</a:t>
            </a:r>
          </a:p>
        </p:txBody>
      </p:sp>
      <p:sp>
        <p:nvSpPr>
          <p:cNvPr id="9" name="Rectangle 8"/>
          <p:cNvSpPr/>
          <p:nvPr/>
        </p:nvSpPr>
        <p:spPr>
          <a:xfrm>
            <a:off x="4700000" y="3570000"/>
            <a:ext cx="7100000" cy="88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20000"/>
              </a:lnSpc>
            </a:pPr>
            <a:r>
              <a:rPr sz="1800" b="1">
                <a:solidFill>
                  <a:srgbClr val="EB6C15"/>
                </a:solidFill>
                <a:latin typeface="メイリオ"/>
                <a:ea typeface="メイリオ"/>
                <a:cs typeface="メイリオ"/>
              </a:rPr>
              <a:t>→ 次期の中心となる視点</a:t>
            </a:r>
          </a:p>
          <a:p>
            <a:pPr algn="l">
              <a:lnSpc>
                <a:spcPct val="120000"/>
              </a:lnSpc>
            </a:pPr>
            <a:r>
              <a:rPr sz="1500" b="1">
                <a:solidFill>
                  <a:srgbClr val="1F3A6E"/>
                </a:solidFill>
                <a:latin typeface="メイリオ"/>
                <a:ea typeface="メイリオ"/>
                <a:cs typeface="メイリオ"/>
              </a:rPr>
              <a:t>「学びの過程」を見る目こそ、次期で最も求められる教師の力</a:t>
            </a:r>
          </a:p>
        </p:txBody>
      </p:sp>
      <p:sp>
        <p:nvSpPr>
          <p:cNvPr id="10" name="Rectangle 9"/>
          <p:cNvSpPr/>
          <p:nvPr/>
        </p:nvSpPr>
        <p:spPr>
          <a:xfrm>
            <a:off x="400000" y="4570000"/>
            <a:ext cx="4200000" cy="88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1800" b="1">
                <a:solidFill>
                  <a:srgbClr val="FFFFFF"/>
                </a:solidFill>
                <a:latin typeface="メイリオ"/>
                <a:ea typeface="メイリオ"/>
                <a:cs typeface="メイリオ"/>
              </a:rPr>
              <a:t>教科会で揃える3つ</a:t>
            </a:r>
          </a:p>
        </p:txBody>
      </p:sp>
      <p:sp>
        <p:nvSpPr>
          <p:cNvPr id="11" name="Rectangle 10"/>
          <p:cNvSpPr/>
          <p:nvPr/>
        </p:nvSpPr>
        <p:spPr>
          <a:xfrm>
            <a:off x="4700000" y="4570000"/>
            <a:ext cx="7100000" cy="88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20000"/>
              </a:lnSpc>
            </a:pPr>
            <a:r>
              <a:rPr sz="1800" b="1">
                <a:solidFill>
                  <a:srgbClr val="EB6C15"/>
                </a:solidFill>
                <a:latin typeface="メイリオ"/>
                <a:ea typeface="メイリオ"/>
                <a:cs typeface="メイリオ"/>
              </a:rPr>
              <a:t>→ 観点が減っても価値は不変</a:t>
            </a:r>
          </a:p>
          <a:p>
            <a:pPr algn="l">
              <a:lnSpc>
                <a:spcPct val="120000"/>
              </a:lnSpc>
            </a:pPr>
            <a:r>
              <a:rPr sz="1500" b="1">
                <a:solidFill>
                  <a:srgbClr val="1F3A6E"/>
                </a:solidFill>
                <a:latin typeface="メイリオ"/>
                <a:ea typeface="メイリオ"/>
                <a:cs typeface="メイリオ"/>
              </a:rPr>
              <a:t>個人内評価でも「教科として何を見るか」を揃える力は同じく必要</a:t>
            </a:r>
          </a:p>
        </p:txBody>
      </p:sp>
      <p:sp>
        <p:nvSpPr>
          <p:cNvPr id="12" name="Rectangle 11"/>
          <p:cNvSpPr/>
          <p:nvPr/>
        </p:nvSpPr>
        <p:spPr>
          <a:xfrm>
            <a:off x="400000" y="5700000"/>
            <a:ext cx="11400000" cy="550000"/>
          </a:xfrm>
          <a:prstGeom prst="rect">
            <a:avLst/>
          </a:prstGeom>
          <a:solidFill>
            <a:srgbClr val="FFE066"/>
          </a:solidFill>
          <a:ln w="38100">
            <a:solidFill>
              <a:srgbClr val="EB6C15"/>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000" b="1">
                <a:solidFill>
                  <a:srgbClr val="000000"/>
                </a:solidFill>
                <a:latin typeface="メイリオ"/>
                <a:ea typeface="メイリオ"/>
                <a:cs typeface="メイリオ"/>
              </a:rPr>
              <a:t>方向性が変わっても、</a:t>
            </a:r>
            <a:r>
              <a:rPr sz="2200" b="1">
                <a:solidFill>
                  <a:srgbClr val="EB6C15"/>
                </a:solidFill>
                <a:latin typeface="メイリオ"/>
                <a:ea typeface="メイリオ"/>
                <a:cs typeface="メイリオ"/>
              </a:rPr>
              <a:t>「学びの過程を見る目」</a:t>
            </a:r>
            <a:r>
              <a:rPr sz="2000" b="1">
                <a:solidFill>
                  <a:srgbClr val="000000"/>
                </a:solidFill>
                <a:latin typeface="メイリオ"/>
                <a:ea typeface="メイリオ"/>
                <a:cs typeface="メイリオ"/>
              </a:rPr>
              <a:t>は変わらない</a:t>
            </a:r>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125</TotalTime>
  <Words>1365</Words>
  <Application>Microsoft Office PowerPoint</Application>
  <PresentationFormat>ワイド画面</PresentationFormat>
  <Paragraphs>229</Paragraphs>
  <Slides>23</Slides>
  <Notes>2</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23</vt:i4>
      </vt:variant>
    </vt:vector>
  </HeadingPairs>
  <TitlesOfParts>
    <vt:vector size="30" baseType="lpstr">
      <vt:lpstr>ＭＳ ゴシック</vt:lpstr>
      <vt:lpstr>UD デジタル 教科書体 NK-B</vt:lpstr>
      <vt:lpstr>メイリオ</vt:lpstr>
      <vt:lpstr>游ゴシック</vt:lpstr>
      <vt:lpstr>游ゴシック Light</vt:lpstr>
      <vt:lpstr>Arial</vt:lpstr>
      <vt:lpstr>Office テーマ</vt:lpstr>
      <vt:lpstr>『主体的に学習に取り組む態度』の評価</vt:lpstr>
      <vt:lpstr>PowerPoint プレゼンテーション</vt:lpstr>
      <vt:lpstr>　はじめに</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２　『主体的に学習に取り組む態度』 　　　　　　　　　　　　　の学習評価</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『主体的に学習に取り組む態度』の評価</dc:title>
  <dc:creator>髙橋　庸介</dc:creator>
  <cp:lastModifiedBy>紺多　章一郎</cp:lastModifiedBy>
  <cp:revision>19</cp:revision>
  <cp:lastPrinted>2026-05-28T02:11:29Z</cp:lastPrinted>
  <dcterms:modified xsi:type="dcterms:W3CDTF">2026-05-28T02:11:30Z</dcterms:modified>
</cp:coreProperties>
</file>