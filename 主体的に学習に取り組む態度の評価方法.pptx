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3440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2000" b="0">
                <a:solidFill>
                  <a:srgbClr val="D6E4F0"/>
                </a:solidFill>
                <a:latin typeface="IPAGothic"/>
                <a:eastAsia typeface="IPAGothic"/>
              </a:rPr>
              <a:t>学習評価の3観点の一つ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IPAGothic"/>
                <a:eastAsia typeface="IPAGothic"/>
              </a:rPr>
              <a:t>主体的に学習に取り組む態度の評価方法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0">
                <a:solidFill>
                  <a:srgbClr val="D6E4F0"/>
                </a:solidFill>
                <a:latin typeface="IPAGothic"/>
                <a:eastAsia typeface="IPAGothic"/>
              </a:rPr>
              <a:t>~ 観点別学習状況の評価における基本的な考え方と具体的方法 ~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5029200"/>
            <a:ext cx="75895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F3A5F"/>
                </a:solidFill>
                <a:latin typeface="IPAGothic"/>
                <a:eastAsia typeface="IPAGothic"/>
              </a:rPr>
              <a:t>新学習指導要領が示す3観点評価のうち</a:t>
            </a:r>
          </a:p>
          <a:p>
            <a:pPr algn="ctr"/>
            <a:r>
              <a:rPr sz="1600" b="0">
                <a:solidFill>
                  <a:srgbClr val="1F3A5F"/>
                </a:solidFill>
                <a:latin typeface="IPAGothic"/>
                <a:eastAsia typeface="IPAGothic"/>
              </a:rPr>
              <a:t>「主体的に学習に取り組む態度」を中心に整理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0">
                <a:solidFill>
                  <a:srgbClr val="D6E4F0"/>
                </a:solidFill>
                <a:latin typeface="IPAGothic"/>
                <a:eastAsia typeface="IPAGothic"/>
              </a:rP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PAGothic"/>
                <a:eastAsia typeface="IPAGothic"/>
              </a:rPr>
              <a:t>目次 /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9144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IPAGothic"/>
                <a:eastAsia typeface="IPAGothic"/>
              </a:rPr>
              <a:t>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主体的に学習に取り組む態度の評価方法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4572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05156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IPAGothic"/>
                <a:eastAsia typeface="IPAGothic"/>
              </a:rPr>
              <a:t>背景と趣旨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307592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学習指導要領改訂と3観点評価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51560"/>
            <a:ext cx="4572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05156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IPAGothic"/>
                <a:eastAsia typeface="IPAGothic"/>
              </a:rPr>
              <a:t>学習評価の3観点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307592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新しい学力観と評価の関係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554480"/>
            <a:ext cx="4572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55448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IPAGothic"/>
                <a:eastAsia typeface="IPAGothic"/>
              </a:rPr>
              <a:t>「主体的に学習に取り組む態度」とは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810512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対象となる学びの姿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554480"/>
            <a:ext cx="4572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55448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IPAGothic"/>
                <a:eastAsia typeface="IPAGothic"/>
              </a:rPr>
              <a:t>評価の2つの側面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810512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粘り強さ × 自己調整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057400"/>
            <a:ext cx="4572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05740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IPAGothic"/>
                <a:eastAsia typeface="IPAGothic"/>
              </a:rPr>
              <a:t>具体的な評価方法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313432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観察・記述・自己評価ほか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057400"/>
            <a:ext cx="4572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05740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IPAGothic"/>
                <a:eastAsia typeface="IPAGothic"/>
              </a:rPr>
              <a:t>評価場面の設計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313432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単元を通した評価計画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560320"/>
            <a:ext cx="4572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56032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IPAGothic"/>
                <a:eastAsia typeface="IPAGothic"/>
              </a:rPr>
              <a:t>ICTを活用した評価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2816352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ポートフォリオ・ログ分析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560320"/>
            <a:ext cx="4572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56032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IPAGothic"/>
                <a:eastAsia typeface="IPAGothic"/>
              </a:rPr>
              <a:t>評価の留意点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816352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落とし穴と公正性の確保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063240"/>
            <a:ext cx="4572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06324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IPAGothic"/>
                <a:eastAsia typeface="IPAGothic"/>
              </a:rPr>
              <a:t>事例:小・中・高での運用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3319272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実際の評価手順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063240"/>
            <a:ext cx="4572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06324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IPAGothic"/>
                <a:eastAsia typeface="IPAGothic"/>
              </a:rPr>
              <a:t>まとめ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319272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明日からの実践に向けて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PAGothic"/>
                <a:eastAsia typeface="IPAGothic"/>
              </a:rPr>
              <a:t>1. 背景と趣旨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9144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IPAGothic"/>
                <a:eastAsia typeface="IPAGothic"/>
              </a:rPr>
              <a:t>3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主体的に学習に取り組む態度の評価方法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IPAGothic"/>
                <a:eastAsia typeface="IPAGothic"/>
              </a:rPr>
              <a:t>平成29・30年改訂学習指導要領 — 「資質・能力の3つの柱」に基づく評価へ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知識及び技能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3657600" cy="118872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IPAGothic"/>
                <a:eastAsia typeface="IPAGothic"/>
              </a:rPr>
              <a:t>何を理解しているか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IPAGothic"/>
                <a:eastAsia typeface="IPAGothic"/>
              </a:rPr>
              <a:t>何ができるか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657600" cy="457200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思考力・判断力・表現力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286000"/>
            <a:ext cx="3657600" cy="118872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IPAGothic"/>
                <a:eastAsia typeface="IPAGothic"/>
              </a:rPr>
              <a:t>理解していること・できることをどう使うか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657600" cy="457200"/>
          </a:xfrm>
          <a:prstGeom prst="rect">
            <a:avLst/>
          </a:prstGeom>
          <a:solidFill>
            <a:srgbClr val="4E7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学びに向かう力・人間性等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286000"/>
            <a:ext cx="365760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IPAGothic"/>
                <a:eastAsia typeface="IPAGothic"/>
              </a:rPr>
              <a:t>どのように社会・世界と関わり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IPAGothic"/>
                <a:eastAsia typeface="IPAGothic"/>
              </a:rPr>
              <a:t>よりよい人生を送るか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1">
                <a:solidFill>
                  <a:srgbClr val="C45A11"/>
                </a:solidFill>
                <a:latin typeface="IPAGothic"/>
                <a:eastAsia typeface="IPAGothic"/>
              </a:rPr>
              <a:t>▼ 評価の観点として整理 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11247120" cy="2194560"/>
          </a:xfrm>
          <a:prstGeom prst="rect">
            <a:avLst/>
          </a:prstGeom>
          <a:solidFill>
            <a:srgbClr val="D6E4F0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22222"/>
                </a:solidFill>
                <a:latin typeface="IPAGothic"/>
                <a:eastAsia typeface="IPAGothic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10698480" cy="20116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IPAGothic"/>
                <a:eastAsia typeface="IPAGothic"/>
              </a:rPr>
              <a:t>改訂の趣旨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IPAGothic"/>
                <a:eastAsia typeface="IPAGothic"/>
              </a:rPr>
              <a:t>・「指導と評価の一体化」— 子どもの学習改善と教師の指導改善につなげる評価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IPAGothic"/>
                <a:eastAsia typeface="IPAGothic"/>
              </a:rPr>
              <a:t>・「学習評価の在り方ハンドブック」(国立教育政策研究所)に基づき3観点を明確化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IPAGothic"/>
                <a:eastAsia typeface="IPAGothic"/>
              </a:rPr>
              <a:t>・観点別評価は小・中・高すべての校種で実施(高校は令和4年度入学生から本格実施)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5216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IPAGothic"/>
                <a:eastAsia typeface="IPAGothic"/>
              </a:rPr>
              <a:t>・とりわけ「主体的に学習に取り組む態度」は、従来の「関心・意欲・態度」とは異なる枠組みで評価する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PAGothic"/>
                <a:eastAsia typeface="IPAGothic"/>
              </a:rPr>
              <a:t>2. 学習評価の3観点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9144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IPAGothic"/>
                <a:eastAsia typeface="IPAGothic"/>
              </a:rPr>
              <a:t>4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主体的に学習に取り組む態度の評価方法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  <a:eastAsia typeface="IPAGothic"/>
              </a:rPr>
              <a:t>観点別学習状況の評価 — 3観点を A / B / C の3段階で評価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21031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観点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783080"/>
            <a:ext cx="41148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評価する力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783080"/>
            <a:ext cx="50292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主な評価方法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2103120" cy="1188720"/>
          </a:xfrm>
          <a:prstGeom prst="rect">
            <a:avLst/>
          </a:prstGeom>
          <a:solidFill>
            <a:srgbClr val="D6E4F0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A5F"/>
                </a:solidFill>
                <a:latin typeface="IPAGothic"/>
                <a:eastAsia typeface="IPAGothic"/>
              </a:rPr>
              <a:t>知識・技能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28600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事実的知識・概念的理解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技能の習得と活用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286000"/>
            <a:ext cx="50292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ペーパーテスト・実技・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作品・発表・小テスト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2103120" cy="1188720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A5F"/>
                </a:solidFill>
                <a:latin typeface="IPAGothic"/>
                <a:eastAsia typeface="IPAGothic"/>
              </a:rPr>
              <a:t>思考・判断・表現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347472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獲得した知識・技能を活用して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課題を解決する力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3474720"/>
            <a:ext cx="50292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記述式問題・レポート・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論述・発表・ルーブリック評価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2103120" cy="1188720"/>
          </a:xfrm>
          <a:prstGeom prst="rect">
            <a:avLst/>
          </a:prstGeom>
          <a:solidFill>
            <a:srgbClr val="E2E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A5F"/>
                </a:solidFill>
                <a:latin typeface="IPAGothic"/>
                <a:eastAsia typeface="IPAGothic"/>
              </a:rPr>
              <a:t>主体的に学習に</a:t>
            </a:r>
          </a:p>
          <a:p>
            <a:pPr algn="ctr"/>
            <a:r>
              <a:rPr sz="1400" b="1">
                <a:solidFill>
                  <a:srgbClr val="1F3A5F"/>
                </a:solidFill>
                <a:latin typeface="IPAGothic"/>
                <a:eastAsia typeface="IPAGothic"/>
              </a:rPr>
              <a:t>取り組む態度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466344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学びに向かう力(粘り強さ)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自らの学習を調整する力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4663440"/>
            <a:ext cx="50292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観察・振り返り・自己評価・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相互評価・ポートフォリオ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solidFill>
            <a:srgbClr val="FFF2CC"/>
          </a:solidFill>
          <a:ln w="12700">
            <a:solidFill>
              <a:srgbClr val="C4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45A11"/>
                </a:solidFill>
                <a:latin typeface="IPAGothic"/>
                <a:eastAsia typeface="IPAGothic"/>
              </a:rPr>
              <a:t>本資料の対象 — 3観点のうち「主体的に学習に取り組む態度」(下段の緑)に焦点を当てる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PAGothic"/>
                <a:eastAsia typeface="IPAGothic"/>
              </a:rPr>
              <a:t>3. 「主体的に学習に取り組む態度」とは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9144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IPAGothic"/>
                <a:eastAsia typeface="IPAGothic"/>
              </a:rPr>
              <a:t>5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主体的に学習に取り組む態度の評価方法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IPAGothic"/>
                <a:eastAsia typeface="IPAGothic"/>
              </a:rPr>
              <a:t>知識・技能を獲得したり、思考力・判断力・表現力を身に付けたりするための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IPAGothic"/>
                <a:eastAsia typeface="IPAGothic"/>
              </a:rPr>
              <a:t>意思的な側面(=「学びに向かう力」の一部)を評価する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5486400" cy="457200"/>
          </a:xfrm>
          <a:prstGeom prst="rect">
            <a:avLst/>
          </a:prstGeom>
          <a:solidFill>
            <a:srgbClr val="4E7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○ 評価の対象になる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5486400" cy="3200400"/>
          </a:xfrm>
          <a:prstGeom prst="rect">
            <a:avLst/>
          </a:prstGeom>
          <a:solidFill>
            <a:srgbClr val="E2EFDA"/>
          </a:solidFill>
          <a:ln w="12700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22222"/>
                </a:solidFill>
                <a:latin typeface="IPAGothic"/>
                <a:eastAsia typeface="IPAGothic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・学習内容を「より深く理解しよう」とする意思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・粘り強く学習に取り組もうとする姿勢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・自分の学習方法を振り返り、改善しようとする姿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・課題に対して見通しを持ち、計画を立てる姿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・自己評価を踏まえて学習を調整しようとする姿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・教科の特質に応じた学びへの向かい方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874519"/>
            <a:ext cx="5486400" cy="457200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× 評価の対象にならない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331720"/>
            <a:ext cx="5486400" cy="3200400"/>
          </a:xfrm>
          <a:prstGeom prst="rect">
            <a:avLst/>
          </a:prstGeom>
          <a:solidFill>
            <a:srgbClr val="FBE5D6"/>
          </a:solidFill>
          <a:ln w="12700">
            <a:solidFill>
              <a:srgbClr val="C4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22222"/>
                </a:solidFill>
                <a:latin typeface="IPAGothic"/>
                <a:eastAsia typeface="IPAGothic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× 挙手の回数や発言頻度の単純カウント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× ノート提出の有無・忘れ物の回数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832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× 「真面目さ」「素直さ」など性格特性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404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× 興味・関心が表面に出やすい児童・生徒の優遇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976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× 学習の成果(知識量・技能習得)そのもの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548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× 教科の学びと関係のない生活態度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15000"/>
            <a:ext cx="11247120" cy="68580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F"/>
                </a:solidFill>
                <a:latin typeface="IPAGothic"/>
                <a:eastAsia typeface="IPAGothic"/>
              </a:rPr>
              <a:t>★ 「人間性等」のうち感性・思いやり等は観点別評価になじまないため、個人内評価(所見等)で見取る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PAGothic"/>
                <a:eastAsia typeface="IPAGothic"/>
              </a:rPr>
              <a:t>4. 評価の2つの側面 — 粘り強さ × 自己調整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9144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IPAGothic"/>
                <a:eastAsia typeface="IPAGothic"/>
              </a:rPr>
              <a:t>6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主体的に学習に取り組む態度の評価方法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  <a:eastAsia typeface="IPAGothic"/>
              </a:rPr>
              <a:t>「主体的に学習に取り組む態度」は、不可分な2つの側面から見取る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30352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  <a:eastAsia typeface="IPAGothic"/>
              </a:rPr>
              <a:t>① 粘り強い取組を行おうとする側面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5303520" cy="2834640"/>
          </a:xfrm>
          <a:prstGeom prst="rect">
            <a:avLst/>
          </a:prstGeom>
          <a:solidFill>
            <a:srgbClr val="D6E4F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知識・技能の獲得や思考・判断・表現に取り組む過程で、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粘り強さを発揮しようとしているか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IPAGothic"/>
                <a:eastAsia typeface="IPAGothic"/>
              </a:rPr>
              <a:t>〈見取りの観点〉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・困難な課題にも諦めず取り組む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・試行錯誤を繰り返す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・友達と協力して解決を目指す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・繰り返し見直し・修正する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5303520" cy="548640"/>
          </a:xfrm>
          <a:prstGeom prst="rect">
            <a:avLst/>
          </a:prstGeom>
          <a:solidFill>
            <a:srgbClr val="4E7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  <a:eastAsia typeface="IPAGothic"/>
              </a:rPr>
              <a:t>② 自らの学習を調整しようとする側面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77440"/>
            <a:ext cx="5303520" cy="2834640"/>
          </a:xfrm>
          <a:prstGeom prst="rect">
            <a:avLst/>
          </a:prstGeom>
          <a:solidFill>
            <a:srgbClr val="E2EFDA"/>
          </a:solidFill>
          <a:ln w="12700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5146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自らの学習状況を把握し、学習の進め方について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試行錯誤し、調整しようとしているか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4612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>
                <a:solidFill>
                  <a:srgbClr val="4E7A36"/>
                </a:solidFill>
                <a:latin typeface="IPAGothic"/>
                <a:eastAsia typeface="IPAGothic"/>
              </a:rPr>
              <a:t>〈見取りの観点〉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6118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・学習の見通しを立てる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9776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・学習方法を選択・工夫する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3434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・進捗を振り返り、計画を修正する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7091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・自分の理解度を自己評価する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40680"/>
            <a:ext cx="11247120" cy="960120"/>
          </a:xfrm>
          <a:prstGeom prst="rect">
            <a:avLst/>
          </a:prstGeom>
          <a:solidFill>
            <a:srgbClr val="FFF2CC"/>
          </a:solidFill>
          <a:ln w="12700">
            <a:solidFill>
              <a:srgbClr val="C4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1F3A5F"/>
                </a:solidFill>
                <a:latin typeface="IPAGothic"/>
                <a:eastAsia typeface="IPAGothic"/>
              </a:rPr>
              <a:t>★ 2つの側面は相互に関連 — 別々に評価するのではなく、一体的に見取る</a:t>
            </a:r>
          </a:p>
          <a:p>
            <a:pPr algn="l"/>
            <a:r>
              <a:rPr sz="1300" b="1">
                <a:solidFill>
                  <a:srgbClr val="1F3A5F"/>
                </a:solidFill>
                <a:latin typeface="IPAGothic"/>
                <a:eastAsia typeface="IPAGothic"/>
              </a:rPr>
              <a:t>   例:粘り強く取り組む中で、うまくいかない時に方法を変える=両側面が同時に現れる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PAGothic"/>
                <a:eastAsia typeface="IPAGothic"/>
              </a:rPr>
              <a:t>5. 具体的な評価方法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9144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IPAGothic"/>
                <a:eastAsia typeface="IPAGothic"/>
              </a:rPr>
              <a:t>7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主体的に学習に取り組む態度の評価方法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  <a:eastAsia typeface="IPAGothic"/>
              </a:rPr>
              <a:t>複数の評価方法を組み合わせ、「学習過程」を多角的に見取る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79476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IPAGothic"/>
                <a:eastAsia typeface="IPAGothic"/>
              </a:rPr>
              <a:t>①ノート・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IPAGothic"/>
                <a:eastAsia typeface="IPAGothic"/>
              </a:rPr>
              <a:t>ワークシート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3794760" cy="1051560"/>
          </a:xfrm>
          <a:prstGeom prst="rect">
            <a:avLst/>
          </a:prstGeom>
          <a:solidFill>
            <a:srgbClr val="D6E4F0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学習過程の試行錯誤、書き直し、追記、自分への問い直しを記述から見取る。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379476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IPAGothic"/>
                <a:eastAsia typeface="IPAGothic"/>
              </a:rPr>
              <a:t>②振り返り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IPAGothic"/>
                <a:eastAsia typeface="IPAGothic"/>
              </a:rPr>
              <a:t>シート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240280"/>
            <a:ext cx="3794760" cy="1051560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毎時/単元末で「分かったこと・分からないこと・次にしたいこと」を記述。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737360"/>
            <a:ext cx="379476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IPAGothic"/>
                <a:eastAsia typeface="IPAGothic"/>
              </a:rPr>
              <a:t>③行動観察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40280"/>
            <a:ext cx="3794760" cy="1051560"/>
          </a:xfrm>
          <a:prstGeom prst="rect">
            <a:avLst/>
          </a:prstGeom>
          <a:solidFill>
            <a:srgbClr val="E2EFD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課題への取り組み方・方法の選択・対話の様子をチェックリストで記録。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64992"/>
            <a:ext cx="379476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IPAGothic"/>
                <a:eastAsia typeface="IPAGothic"/>
              </a:rPr>
              <a:t>④自己評価・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IPAGothic"/>
                <a:eastAsia typeface="IPAGothic"/>
              </a:rPr>
              <a:t>相互評価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67912"/>
            <a:ext cx="3794760" cy="1051560"/>
          </a:xfrm>
          <a:prstGeom prst="rect">
            <a:avLst/>
          </a:prstGeom>
          <a:solidFill>
            <a:srgbClr val="FBE5D6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ルーブリックや到達目標に照らし、自身/仲間の学びを評価する。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3364992"/>
            <a:ext cx="379476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IPAGothic"/>
                <a:eastAsia typeface="IPAGothic"/>
              </a:rPr>
              <a:t>⑤ポートフォリオ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867912"/>
            <a:ext cx="3794760" cy="1051560"/>
          </a:xfrm>
          <a:prstGeom prst="rect">
            <a:avLst/>
          </a:prstGeom>
          <a:solidFill>
            <a:srgbClr val="D6E4F0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作品・記述・写真等を蓄積し、変容と自己調整の跡を継続的に見取る。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364992"/>
            <a:ext cx="379476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IPAGothic"/>
                <a:eastAsia typeface="IPAGothic"/>
              </a:rPr>
              <a:t>⑥パフォーマンス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IPAGothic"/>
                <a:eastAsia typeface="IPAGothic"/>
              </a:rPr>
              <a:t>課題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867912"/>
            <a:ext cx="3794760" cy="1051560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探究的な課題に取り組む姿(計画・実行・修正)を一連で評価する。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22222"/>
                </a:solidFill>
                <a:latin typeface="IPAGothic"/>
                <a:eastAsia typeface="IPAGothic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IPAGothic"/>
                <a:eastAsia typeface="IPAGothic"/>
              </a:rPr>
              <a:t>■ 組み合わせの原則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3212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・1つの方法で結論を出さない(=多角的・複数回の見取り)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2472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・「結果」だけでなく「過程」を見る — 学習開始時から変容までを記録する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11733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・他の2観点(知識・技能/思考・判断・表現)と整合的に評価する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PAGothic"/>
                <a:eastAsia typeface="IPAGothic"/>
              </a:rPr>
              <a:t>6. 評価場面の設計 — 単元を通した評価計画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9144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IPAGothic"/>
                <a:eastAsia typeface="IPAGothic"/>
              </a:rPr>
              <a:t>8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主体的に学習に取り組む態度の評価方法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  <a:eastAsia typeface="IPAGothic"/>
              </a:rPr>
              <a:t>単元単位で「いつ・何を・どう」評価するかを設計する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65176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導入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A5F"/>
                </a:solidFill>
                <a:latin typeface="IPAGothic"/>
                <a:eastAsia typeface="IPAGothic"/>
              </a:rPr>
              <a:t>見通しを</a:t>
            </a:r>
          </a:p>
          <a:p>
            <a:pPr algn="ctr"/>
            <a:r>
              <a:rPr sz="1200" b="1">
                <a:solidFill>
                  <a:srgbClr val="1F3A5F"/>
                </a:solidFill>
                <a:latin typeface="IPAGothic"/>
                <a:eastAsia typeface="IPAGothic"/>
              </a:rPr>
              <a:t>持つ場面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265176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・単元の見通し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・既習との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  つながり確認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17520" y="2651760"/>
            <a:ext cx="274320" cy="365760"/>
          </a:xfrm>
          <a:prstGeom prst="rightArrow">
            <a:avLst/>
          </a:prstGeom>
          <a:solidFill>
            <a:srgbClr val="C4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828800"/>
            <a:ext cx="2651760" cy="4572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展開①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28600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E5C8A"/>
                </a:solidFill>
                <a:latin typeface="IPAGothic"/>
                <a:eastAsia typeface="IPAGothic"/>
              </a:rPr>
              <a:t>粘り強く</a:t>
            </a:r>
          </a:p>
          <a:p>
            <a:pPr algn="ctr"/>
            <a:r>
              <a:rPr sz="1200" b="1">
                <a:solidFill>
                  <a:srgbClr val="2E5C8A"/>
                </a:solidFill>
                <a:latin typeface="IPAGothic"/>
                <a:eastAsia typeface="IPAGothic"/>
              </a:rPr>
              <a:t>取り組む場面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834640"/>
            <a:ext cx="265176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・課題追究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・試行錯誤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・友達との対話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52160" y="2651760"/>
            <a:ext cx="274320" cy="365760"/>
          </a:xfrm>
          <a:prstGeom prst="rightArrow">
            <a:avLst/>
          </a:prstGeom>
          <a:solidFill>
            <a:srgbClr val="C4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828800"/>
            <a:ext cx="2651760" cy="457200"/>
          </a:xfrm>
          <a:prstGeom prst="rect">
            <a:avLst/>
          </a:prstGeom>
          <a:solidFill>
            <a:srgbClr val="4E7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展開②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28600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E7A36"/>
                </a:solidFill>
                <a:latin typeface="IPAGothic"/>
                <a:eastAsia typeface="IPAGothic"/>
              </a:rPr>
              <a:t>学習を</a:t>
            </a:r>
          </a:p>
          <a:p>
            <a:pPr algn="ctr"/>
            <a:r>
              <a:rPr sz="1200" b="1">
                <a:solidFill>
                  <a:srgbClr val="4E7A36"/>
                </a:solidFill>
                <a:latin typeface="IPAGothic"/>
                <a:eastAsia typeface="IPAGothic"/>
              </a:rPr>
              <a:t>調整する場面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834640"/>
            <a:ext cx="265176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・中間振り返り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・方法の見直し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・計画の修正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86800" y="2651760"/>
            <a:ext cx="274320" cy="365760"/>
          </a:xfrm>
          <a:prstGeom prst="rightArrow">
            <a:avLst/>
          </a:prstGeom>
          <a:solidFill>
            <a:srgbClr val="C4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828800"/>
            <a:ext cx="2651760" cy="457200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まとめ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28600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45A11"/>
                </a:solidFill>
                <a:latin typeface="IPAGothic"/>
                <a:eastAsia typeface="IPAGothic"/>
              </a:rPr>
              <a:t>学びを</a:t>
            </a:r>
          </a:p>
          <a:p>
            <a:pPr algn="ctr"/>
            <a:r>
              <a:rPr sz="1200" b="1">
                <a:solidFill>
                  <a:srgbClr val="C45A11"/>
                </a:solidFill>
                <a:latin typeface="IPAGothic"/>
                <a:eastAsia typeface="IPAGothic"/>
              </a:rPr>
              <a:t>価値付ける場面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2834640"/>
            <a:ext cx="265176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・単元振り返り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・自己評価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IPAGothic"/>
                <a:eastAsia typeface="IPAGothic"/>
              </a:rPr>
              <a:t>・次の学びへ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51960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45A11"/>
                </a:solidFill>
                <a:latin typeface="IPAGothic"/>
                <a:eastAsia typeface="IPAGothic"/>
              </a:rPr>
              <a:t>▼ 評価ポイントの例 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09160"/>
            <a:ext cx="164592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  <a:eastAsia typeface="IPAGothic"/>
              </a:rPr>
              <a:t>導入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03120" y="4709160"/>
            <a:ext cx="960120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「これからの学習で何ができるようになりたい?」シート記述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93208"/>
            <a:ext cx="1645920" cy="36576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  <a:eastAsia typeface="IPAGothic"/>
              </a:rPr>
              <a:t>展開①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5093208"/>
            <a:ext cx="960120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課題への向き合い方を行動観察(チェックリスト)で記録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477256"/>
            <a:ext cx="1645920" cy="365760"/>
          </a:xfrm>
          <a:prstGeom prst="rect">
            <a:avLst/>
          </a:prstGeom>
          <a:solidFill>
            <a:srgbClr val="4E7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  <a:eastAsia typeface="IPAGothic"/>
              </a:rPr>
              <a:t>展開②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5477256"/>
            <a:ext cx="960120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中間振り返りで方法を修正した記述・対話を見取る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861304"/>
            <a:ext cx="1645920" cy="365760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  <a:eastAsia typeface="IPAGothic"/>
              </a:rPr>
              <a:t>まとめ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3120" y="5861304"/>
            <a:ext cx="960120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単元全体の振り返り記述 + 自己評価ルーブリックで総合判断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PAGothic"/>
                <a:eastAsia typeface="IPAGothic"/>
              </a:rPr>
              <a:t>7. ICTを活用した評価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9144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IPAGothic"/>
                <a:eastAsia typeface="IPAGothic"/>
              </a:rPr>
              <a:t>9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主体的に学習に取り組む態度の評価方法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IPAGothic"/>
                <a:eastAsia typeface="IPAGothic"/>
              </a:rPr>
              <a:t>GIGAスクール構想による1人1台端末を活かし、学習過程の見取りを効率化・可視化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デジタル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ポートフォリオ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548640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学習成果物・写真・音声・動画を蓄積。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単元・学期を超えた変容を可視化。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5486400" cy="64008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F3A5F"/>
                </a:solidFill>
                <a:latin typeface="IPAGothic"/>
                <a:eastAsia typeface="IPAGothic"/>
              </a:rPr>
              <a:t>[ツール例]</a:t>
            </a:r>
          </a:p>
          <a:p>
            <a:pPr algn="l"/>
            <a:r>
              <a:rPr sz="1000" b="0">
                <a:solidFill>
                  <a:srgbClr val="1F3A5F"/>
                </a:solidFill>
                <a:latin typeface="IPAGothic"/>
                <a:eastAsia typeface="IPAGothic"/>
              </a:rPr>
              <a:t>Google Classroom / Microsoft Teams /</a:t>
            </a:r>
          </a:p>
          <a:p>
            <a:pPr algn="l"/>
            <a:r>
              <a:rPr sz="1000" b="0">
                <a:solidFill>
                  <a:srgbClr val="1F3A5F"/>
                </a:solidFill>
                <a:latin typeface="IPAGothic"/>
                <a:eastAsia typeface="IPAGothic"/>
              </a:rPr>
              <a:t>ロイロノート / MetaMoJi ClassRoom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5486400" cy="4572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学習ログ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286000"/>
            <a:ext cx="548640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課題提出・閲覧時間・再提出回数等を分析。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粘り強さや自己調整の客観的指標に。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200400"/>
            <a:ext cx="5486400" cy="64008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F3A5F"/>
                </a:solidFill>
                <a:latin typeface="IPAGothic"/>
                <a:eastAsia typeface="IPAGothic"/>
              </a:rPr>
              <a:t>[ツール例]</a:t>
            </a:r>
          </a:p>
          <a:p>
            <a:pPr algn="l"/>
            <a:r>
              <a:rPr sz="1000" b="0">
                <a:solidFill>
                  <a:srgbClr val="1F3A5F"/>
                </a:solidFill>
                <a:latin typeface="IPAGothic"/>
                <a:eastAsia typeface="IPAGothic"/>
              </a:rPr>
              <a:t>Google Workspace の Activity Dashboard</a:t>
            </a:r>
          </a:p>
          <a:p>
            <a:pPr algn="l"/>
            <a:r>
              <a:rPr sz="1000" b="0">
                <a:solidFill>
                  <a:srgbClr val="1F3A5F"/>
                </a:solidFill>
                <a:latin typeface="IPAGothic"/>
                <a:eastAsia typeface="IPAGothic"/>
              </a:rPr>
              <a:t>LMSのレポート機能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5486400" cy="457200"/>
          </a:xfrm>
          <a:prstGeom prst="rect">
            <a:avLst/>
          </a:prstGeom>
          <a:solidFill>
            <a:srgbClr val="4E7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協働編集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ツール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548640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Jamboard / 共有スライドでの対話・修正履歴を見取る。誰がどう貢献したかを確認。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94960"/>
            <a:ext cx="5486400" cy="64008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F3A5F"/>
                </a:solidFill>
                <a:latin typeface="IPAGothic"/>
                <a:eastAsia typeface="IPAGothic"/>
              </a:rPr>
              <a:t>[ツール例]</a:t>
            </a:r>
          </a:p>
          <a:p>
            <a:pPr algn="l"/>
            <a:r>
              <a:rPr sz="1000" b="0">
                <a:solidFill>
                  <a:srgbClr val="1F3A5F"/>
                </a:solidFill>
                <a:latin typeface="IPAGothic"/>
                <a:eastAsia typeface="IPAGothic"/>
              </a:rPr>
              <a:t>Google Slides / Jamboard /</a:t>
            </a:r>
          </a:p>
          <a:p>
            <a:pPr algn="l"/>
            <a:r>
              <a:rPr sz="1000" b="0">
                <a:solidFill>
                  <a:srgbClr val="1F3A5F"/>
                </a:solidFill>
                <a:latin typeface="IPAGothic"/>
                <a:eastAsia typeface="IPAGothic"/>
              </a:rPr>
              <a:t>Microsoft Whiteboard / Padlet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23360"/>
            <a:ext cx="5486400" cy="457200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デジタル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振り返り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480560"/>
            <a:ext cx="548640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Formsで毎時の振り返りを集約。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テキストマイニングで傾向把握も可能。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5394960"/>
            <a:ext cx="5486400" cy="64008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F3A5F"/>
                </a:solidFill>
                <a:latin typeface="IPAGothic"/>
                <a:eastAsia typeface="IPAGothic"/>
              </a:rPr>
              <a:t>[ツール例]</a:t>
            </a:r>
          </a:p>
          <a:p>
            <a:pPr algn="l"/>
            <a:r>
              <a:rPr sz="1000" b="0">
                <a:solidFill>
                  <a:srgbClr val="1F3A5F"/>
                </a:solidFill>
                <a:latin typeface="IPAGothic"/>
                <a:eastAsia typeface="IPAGothic"/>
              </a:rPr>
              <a:t>Google Forms / Microsoft Forms /</a:t>
            </a:r>
          </a:p>
          <a:p>
            <a:pPr algn="l"/>
            <a:r>
              <a:rPr sz="1000" b="0">
                <a:solidFill>
                  <a:srgbClr val="1F3A5F"/>
                </a:solidFill>
                <a:latin typeface="IPAGothic"/>
                <a:eastAsia typeface="IPAGothic"/>
              </a:rPr>
              <a:t>Mentimeter / Slido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355080"/>
            <a:ext cx="1124712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C45A11"/>
                </a:solidFill>
                <a:latin typeface="IPAGothic"/>
                <a:eastAsia typeface="IPAGothic"/>
              </a:rPr>
              <a:t>※ ICTの記録はあくまで補助情報。教師の対面での見取りと組み合わせて総合的に判断する。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PAGothic"/>
                <a:eastAsia typeface="IPAGothic"/>
              </a:rPr>
              <a:t>8. 評価の留意点 — 落とし穴と公正性の確保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9144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IPAGothic"/>
                <a:eastAsia typeface="IPAGothic"/>
              </a:rPr>
              <a:t>10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主体的に学習に取り組む態度の評価方法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  <a:eastAsia typeface="IPAGothic"/>
              </a:rPr>
              <a:t>陥りがちな課題を理解し、評価の妥当性・信頼性を高める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5486400" cy="457200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陥りがちな落とし穴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5486400" cy="3200400"/>
          </a:xfrm>
          <a:prstGeom prst="rect">
            <a:avLst/>
          </a:prstGeom>
          <a:solidFill>
            <a:srgbClr val="FBE5D6"/>
          </a:solidFill>
          <a:ln w="12700">
            <a:solidFill>
              <a:srgbClr val="C4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△ 挙手・発言回数のカウントに頼る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△ 性格的な「真面目さ」を評価してしまう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△ 提出物の有無のみで機械的に判断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△ 「思考力」観点と区別せずに混同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△ 教師の印象論・経験則に依存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920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△ 評価規準が曖昧で説明責任が果たせない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783080"/>
            <a:ext cx="5486400" cy="457200"/>
          </a:xfrm>
          <a:prstGeom prst="rect">
            <a:avLst/>
          </a:prstGeom>
          <a:solidFill>
            <a:srgbClr val="4E7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公正性を高める工夫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240280"/>
            <a:ext cx="5486400" cy="3200400"/>
          </a:xfrm>
          <a:prstGeom prst="rect">
            <a:avLst/>
          </a:prstGeom>
          <a:solidFill>
            <a:srgbClr val="E2EFDA"/>
          </a:solidFill>
          <a:ln w="12700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○ ルーブリック(評価規準表)を事前に共有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88036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○ 複数教師でモデレーション(評価のすり合わせ)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8328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○ 評価場面・方法を年間計画に位置付け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8620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○ 子ども自身が評価規準を理解できる文言で示す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8912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○ 学習の前後で記録を残し変容を見取る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920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○ 児童・生徒・保護者への説明責任を意識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77840"/>
            <a:ext cx="11247120" cy="868680"/>
          </a:xfrm>
          <a:prstGeom prst="rect">
            <a:avLst/>
          </a:prstGeom>
          <a:solidFill>
            <a:srgbClr val="FFF2CC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1F3A5F"/>
                </a:solidFill>
                <a:latin typeface="IPAGothic"/>
                <a:eastAsia typeface="IPAGothic"/>
              </a:rPr>
              <a:t>【重要】評価は「学習者のため」のもの — 序列化のためではなく、学習改善・指導改善のために行う</a:t>
            </a:r>
          </a:p>
          <a:p>
            <a:pPr algn="l"/>
            <a:r>
              <a:rPr sz="1300" b="1">
                <a:solidFill>
                  <a:srgbClr val="1F3A5F"/>
                </a:solidFill>
                <a:latin typeface="IPAGothic"/>
                <a:eastAsia typeface="IPAGothic"/>
              </a:rPr>
              <a:t>           評価結果は次の指導に活かし、児童・生徒に適切にフィードバックする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PAGothic"/>
                <a:eastAsia typeface="IPAGothic"/>
              </a:rPr>
              <a:t>9. 事例 — 小・中・高での運用イメージ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9144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IPAGothic"/>
                <a:eastAsia typeface="IPAGothic"/>
              </a:rPr>
              <a:t>11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主体的に学習に取り組む態度の評価方法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  <a:eastAsia typeface="IPAGothic"/>
              </a:rPr>
              <a:t>校種・教科に応じた具体的な評価場面のイメージ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2194560" cy="1463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  <a:eastAsia typeface="IPAGothic"/>
              </a:rPr>
              <a:t>小学校 5年・算数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IPAGothic"/>
                <a:eastAsia typeface="IPAGothic"/>
              </a:rPr>
              <a:t/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IPAGothic"/>
                <a:eastAsia typeface="IPAGothic"/>
              </a:rPr>
              <a:t>【単元】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IPAGothic"/>
                <a:eastAsia typeface="IPAGothic"/>
              </a:rPr>
              <a:t>面積の単元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783080"/>
            <a:ext cx="6400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・公式が分からない時に、どう図を分けて考えるかを試行錯誤するノート記述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・「最初は難しかったが、〜の方法で解けた」という振り返り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783080"/>
            <a:ext cx="2468880" cy="1463040"/>
          </a:xfrm>
          <a:prstGeom prst="rect">
            <a:avLst/>
          </a:prstGeom>
          <a:solidFill>
            <a:srgbClr val="D6E4F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A5F"/>
                </a:solidFill>
                <a:latin typeface="IPAGothic"/>
                <a:eastAsia typeface="IPAGothic"/>
              </a:rPr>
              <a:t>ノート分析+</a:t>
            </a:r>
          </a:p>
          <a:p>
            <a:pPr algn="ctr"/>
            <a:r>
              <a:rPr sz="1200" b="1">
                <a:solidFill>
                  <a:srgbClr val="1F3A5F"/>
                </a:solidFill>
                <a:latin typeface="IPAGothic"/>
                <a:eastAsia typeface="IPAGothic"/>
              </a:rPr>
              <a:t>振り返りシート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2194560" cy="14630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  <a:eastAsia typeface="IPAGothic"/>
              </a:rPr>
              <a:t>中学校 2年・理科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IPAGothic"/>
                <a:eastAsia typeface="IPAGothic"/>
              </a:rPr>
              <a:t/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IPAGothic"/>
                <a:eastAsia typeface="IPAGothic"/>
              </a:rPr>
              <a:t>【単元】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IPAGothic"/>
                <a:eastAsia typeface="IPAGothic"/>
              </a:rPr>
              <a:t>化学変化と原子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383280"/>
            <a:ext cx="6400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・実験の予想 → 結果 → 考察の流れで、予想と違った時の修正過程を見取る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・班内の対話で他者の意見を取り入れて自分の考えを更新する姿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3383280"/>
            <a:ext cx="2468880" cy="1463040"/>
          </a:xfrm>
          <a:prstGeom prst="rect">
            <a:avLst/>
          </a:prstGeom>
          <a:solidFill>
            <a:srgbClr val="FFF2CC"/>
          </a:solidFill>
          <a:ln w="1270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E5C8A"/>
                </a:solidFill>
                <a:latin typeface="IPAGothic"/>
                <a:eastAsia typeface="IPAGothic"/>
              </a:rPr>
              <a:t>実験レポート+</a:t>
            </a:r>
          </a:p>
          <a:p>
            <a:pPr algn="ctr"/>
            <a:r>
              <a:rPr sz="1200" b="1">
                <a:solidFill>
                  <a:srgbClr val="2E5C8A"/>
                </a:solidFill>
                <a:latin typeface="IPAGothic"/>
                <a:eastAsia typeface="IPAGothic"/>
              </a:rPr>
              <a:t>行動観察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83480"/>
            <a:ext cx="2194560" cy="1463040"/>
          </a:xfrm>
          <a:prstGeom prst="rect">
            <a:avLst/>
          </a:prstGeom>
          <a:solidFill>
            <a:srgbClr val="4E7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  <a:eastAsia typeface="IPAGothic"/>
              </a:rPr>
              <a:t>高等学校 1年・国語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IPAGothic"/>
                <a:eastAsia typeface="IPAGothic"/>
              </a:rPr>
              <a:t/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IPAGothic"/>
                <a:eastAsia typeface="IPAGothic"/>
              </a:rPr>
              <a:t>【単元】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IPAGothic"/>
                <a:eastAsia typeface="IPAGothic"/>
              </a:rPr>
              <a:t>評論文読解と論述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4983480"/>
            <a:ext cx="6400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・段階的な下書き(初稿→修正稿→決定稿)に表れる思考の深まり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・自己評価で「論拠が弱い」と気づき、再度資料を読み直す姿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4983480"/>
            <a:ext cx="2468880" cy="1463040"/>
          </a:xfrm>
          <a:prstGeom prst="rect">
            <a:avLst/>
          </a:prstGeom>
          <a:solidFill>
            <a:srgbClr val="E2EFDA"/>
          </a:solidFill>
          <a:ln w="12700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E7A36"/>
                </a:solidFill>
                <a:latin typeface="IPAGothic"/>
                <a:eastAsia typeface="IPAGothic"/>
              </a:rPr>
              <a:t>ポートフォリオ+</a:t>
            </a:r>
          </a:p>
          <a:p>
            <a:pPr algn="ctr"/>
            <a:r>
              <a:rPr sz="1200" b="1">
                <a:solidFill>
                  <a:srgbClr val="4E7A36"/>
                </a:solidFill>
                <a:latin typeface="IPAGothic"/>
                <a:eastAsia typeface="IPAGothic"/>
              </a:rPr>
              <a:t>ルーブリック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45A11"/>
                </a:solidFill>
                <a:latin typeface="IPAGothic"/>
                <a:eastAsia typeface="IPAGothic"/>
              </a:rPr>
              <a:t>共通の視点 — 「結果」より「学習プロセスでの変容と調整」を見取る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PAGothic"/>
                <a:eastAsia typeface="IPAGothic"/>
              </a:rPr>
              <a:t>10. まとめ — 明日からの実践に向けて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9144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IPAGothic"/>
                <a:eastAsia typeface="IPAGothic"/>
              </a:rPr>
              <a:t>12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IPAGothic"/>
                <a:eastAsia typeface="IPAGothic"/>
              </a:rPr>
              <a:t>主体的に学習に取り組む態度の評価方法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IPAGothic"/>
                <a:eastAsia typeface="IPAGothic"/>
              </a:rPr>
              <a:t>「主体的に学習に取り組む態度」の評価 — 5つのポイント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783080"/>
            <a:ext cx="777240" cy="77724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IPAGothic"/>
                <a:eastAsia typeface="IPAGothic"/>
              </a:rPr>
              <a:t>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783080"/>
            <a:ext cx="2468880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  <a:eastAsia typeface="IPAGothic"/>
              </a:rPr>
              <a:t>対象を明確化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783080"/>
            <a:ext cx="777240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「粘り強く取り組む姿」と「自らの学習を調整する姿」の2側面を一体的に見取る。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挙手回数や性格的真面目さは評価しない。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651760"/>
            <a:ext cx="777240" cy="77724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IPAGothic"/>
                <a:eastAsia typeface="IPAGothic"/>
              </a:rPr>
              <a:t>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651760"/>
            <a:ext cx="2468880" cy="7772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  <a:eastAsia typeface="IPAGothic"/>
              </a:rPr>
              <a:t>多角的に見取る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651760"/>
            <a:ext cx="777240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ノート・振り返り・観察・自己評価・ポートフォリオ等、複数の方法を組み合わせる。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520440"/>
            <a:ext cx="777240" cy="777240"/>
          </a:xfrm>
          <a:prstGeom prst="ellipse">
            <a:avLst/>
          </a:prstGeom>
          <a:solidFill>
            <a:srgbClr val="4E7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IPAGothic"/>
                <a:eastAsia typeface="IPAGothic"/>
              </a:rPr>
              <a:t>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520440"/>
            <a:ext cx="2468880" cy="777240"/>
          </a:xfrm>
          <a:prstGeom prst="rect">
            <a:avLst/>
          </a:prstGeom>
          <a:solidFill>
            <a:srgbClr val="4E7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  <a:eastAsia typeface="IPAGothic"/>
              </a:rPr>
              <a:t>過程を重視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3520440"/>
            <a:ext cx="777240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4E7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結果(到達点)だけでなく、学習過程での試行錯誤・調整・変容を記録する。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389120"/>
            <a:ext cx="777240" cy="777240"/>
          </a:xfrm>
          <a:prstGeom prst="ellipse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IPAGothic"/>
                <a:eastAsia typeface="IPAGothic"/>
              </a:rPr>
              <a:t>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389120"/>
            <a:ext cx="2468880" cy="777240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  <a:eastAsia typeface="IPAGothic"/>
              </a:rPr>
              <a:t>規準を明示・共有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4389120"/>
            <a:ext cx="777240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C4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ルーブリックや評価規準を事前に児童生徒・保護者と共有し、説明責任を果たす。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5257800"/>
            <a:ext cx="777240" cy="77724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IPAGothic"/>
                <a:eastAsia typeface="IPAGothic"/>
              </a:rPr>
              <a:t>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5257800"/>
            <a:ext cx="2468880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  <a:eastAsia typeface="IPAGothic"/>
              </a:rPr>
              <a:t>指導と評価の一体化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5257800"/>
            <a:ext cx="777240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IPAGothic"/>
                <a:eastAsia typeface="IPAGothic"/>
              </a:rPr>
              <a:t>評価は序列化のためではなく、学習改善・指導改善のために行う。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solidFill>
            <a:srgbClr val="C4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  <a:eastAsia typeface="IPAGothic"/>
              </a:rPr>
              <a:t>評価は「子どもの学びを支えるツール」 — 一人ひとりの成長を見取り、次の学びにつなげよう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