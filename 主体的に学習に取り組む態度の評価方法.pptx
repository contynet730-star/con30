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663440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33272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ctr"/>
            <a:r>
              <a:rPr sz="2000" b="0">
                <a:solidFill>
                  <a:srgbClr val="D6E4F0"/>
                </a:solidFill>
                <a:latin typeface="IPAGothic"/>
                <a:eastAsia typeface="IPAGothic"/>
              </a:rPr>
              <a:t>学習評価の3観点の一つ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11247120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ctr"/>
            <a:r>
              <a:rPr sz="2200" b="0">
                <a:solidFill>
                  <a:srgbClr val="D6E4F0"/>
                </a:solidFill>
                <a:latin typeface="IPAGothic"/>
                <a:eastAsia typeface="IPAGothic"/>
              </a:rPr>
              <a:t>~ 観点別学習状況の評価における基本的な考え方と具体的方法 ~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5029200"/>
            <a:ext cx="75895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1F3A5F"/>
                </a:solidFill>
                <a:latin typeface="IPAGothic"/>
                <a:eastAsia typeface="IPAGothic"/>
              </a:rPr>
              <a:t>新学習指導要領が示す3観点評価のうち</a:t>
            </a:r>
          </a:p>
          <a:p>
            <a:pPr algn="ctr"/>
            <a:r>
              <a:rPr sz="1600" b="0">
                <a:solidFill>
                  <a:srgbClr val="1F3A5F"/>
                </a:solidFill>
                <a:latin typeface="IPAGothic"/>
                <a:eastAsia typeface="IPAGothic"/>
              </a:rPr>
              <a:t>「主体的に学習に取り組む態度」を中心に整理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ctr"/>
            <a:r>
              <a:rPr sz="1400" b="0">
                <a:solidFill>
                  <a:srgbClr val="D6E4F0"/>
                </a:solidFill>
                <a:latin typeface="IPAGothic"/>
                <a:eastAsia typeface="IPAGothic"/>
              </a:rPr>
              <a:t>2026年6月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目次 /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2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05156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背景と趣旨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30759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学習指導要領改訂と3観点評価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05156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05156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学習評価の3観点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0759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新しい学力観と評価の関係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5448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55448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「主体的に学習に取り組む態度」とは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81051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対象となる学びの姿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55448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55448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評価の2つの側面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181051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粘り強さ × 自己調整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05740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0574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具体的な評価方法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231343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観察・記述・自己評価ほか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05740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0574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評価場面の設計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31343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単元を通した評価計画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56032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5603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ICTを活用した評価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281635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ポートフォリオ・ログ分析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56032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25603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評価の留意点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81635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落とし穴と公正性の確保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06324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306324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事例:小・中・高での運用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331927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実際の評価手順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06324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06324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まとめ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31927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明日からの実践に向けて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1. 背景と趣旨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3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IPAGothic"/>
                <a:eastAsia typeface="IPAGothic"/>
              </a:rPr>
              <a:t>平成29・30年改訂学習指導要領 — 「資質・能力の3つの柱」に基づく評価へ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365760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知識及び技能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3657600" cy="118872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何を理解しているか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何ができるか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828800"/>
            <a:ext cx="365760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思考力・判断力・表現力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286000"/>
            <a:ext cx="365760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理解していること・できることをどう使うか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828800"/>
            <a:ext cx="3657600" cy="45720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学びに向かう力・人間性等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286000"/>
            <a:ext cx="365760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どのように社会・世界と関わり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よりよい人生を送るか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ctr"/>
            <a:r>
              <a:rPr sz="1400" b="1">
                <a:solidFill>
                  <a:srgbClr val="C45A11"/>
                </a:solidFill>
                <a:latin typeface="IPAGothic"/>
                <a:eastAsia typeface="IPAGothic"/>
              </a:rPr>
              <a:t>▼ 評価の観点として整理 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solidFill>
            <a:srgbClr val="D6E4F0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06240"/>
            <a:ext cx="10698480" cy="20116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IPAGothic"/>
                <a:eastAsia typeface="IPAGothic"/>
              </a:rPr>
              <a:t>改訂の趣旨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61772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・「指導と評価の一体化」— 子どもの学習改善と教師の指導改善につなげる評価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・「学習評価の在り方ハンドブック」(国立教育政策研究所)に基づき3観点を明確化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・観点別評価は小・中・高すべての校種で実施(高校は令和4年度入学生から本格実施)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5216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・とりわけ「主体的に学習に取り組む態度」は、従来の「関心・意欲・態度」とは異なる枠組みで評価する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2. 学習評価の3観点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4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観点別学習状況の評価 — 3観点を A / B / C の3段階で評価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21031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観点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783080"/>
            <a:ext cx="41148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評価する力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783080"/>
            <a:ext cx="5029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主な評価方法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2103120" cy="1188720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知識・技能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2286000"/>
            <a:ext cx="41148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事実的知識・概念的理解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技能の習得と活用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286000"/>
            <a:ext cx="5029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ペーパーテスト・実技・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作品・発表・小テスト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2103120" cy="1188720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思考・判断・表現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3474720"/>
            <a:ext cx="41148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獲得した知識・技能を活用して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課題を解決する力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3474720"/>
            <a:ext cx="5029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記述式問題・レポート・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論述・発表・ルーブリック評価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2103120" cy="118872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主体的に学習に</a:t>
            </a:r>
          </a:p>
          <a:p>
            <a:pPr algn="ctr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取り組む態度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4663440"/>
            <a:ext cx="41148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学びに向かう力(粘り強さ)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自らの学習を調整する力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4663440"/>
            <a:ext cx="5029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観察・振り返り・自己評価・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相互評価・ポートフォリオ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solidFill>
            <a:srgbClr val="FFF2CC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C45A11"/>
                </a:solidFill>
                <a:latin typeface="IPAGothic"/>
                <a:eastAsia typeface="IPAGothic"/>
              </a:rPr>
              <a:t>本資料の対象 — 3観点のうち「主体的に学習に取り組む態度」(下段の緑)に焦点を当てる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3. 「主体的に学習に取り組む態度」とは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5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IPAGothic"/>
                <a:eastAsia typeface="IPAGothic"/>
              </a:rPr>
              <a:t>知識・技能を獲得したり、思考力・判断力・表現力を身に付けたりするための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IPAGothic"/>
                <a:eastAsia typeface="IPAGothic"/>
              </a:rPr>
              <a:t>意思的な側面(=「学びに向かう力」の一部)を評価する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5486400" cy="45720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○ 評価の対象になる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31720"/>
            <a:ext cx="5486400" cy="3200400"/>
          </a:xfrm>
          <a:prstGeom prst="rect">
            <a:avLst/>
          </a:prstGeom>
          <a:solidFill>
            <a:srgbClr val="E2EFDA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・学習内容を「より深く理解しよう」とする意思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・粘り強く学習に取り組もうとする姿勢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・自分の学習方法を振り返り、改善しようとする姿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・課題に対して見通しを持ち、計画を立てる姿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・自己評価を踏まえて学習を調整しようとする姿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548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・教科の特質に応じた学びへの向かい方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874519"/>
            <a:ext cx="548640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× 評価の対象にならない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331720"/>
            <a:ext cx="5486400" cy="3200400"/>
          </a:xfrm>
          <a:prstGeom prst="rect">
            <a:avLst/>
          </a:prstGeom>
          <a:solidFill>
            <a:srgbClr val="FBE5D6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688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× 挙手の回数や発言頻度の単純カウント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260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× ノート提出の有無・忘れ物の回数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× 「真面目さ」「素直さ」など性格特性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404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× 興味・関心が表面に出やすい児童・生徒の優遇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2976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× 学習の成果(知識量・技能習得)そのもの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7548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× 教科の学びと関係のない生活態度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715000"/>
            <a:ext cx="11247120" cy="6858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A5F"/>
                </a:solidFill>
                <a:latin typeface="IPAGothic"/>
                <a:eastAsia typeface="IPAGothic"/>
              </a:rPr>
              <a:t>★ 「人間性等」のうち感性・思いやり等は観点別評価になじまないため、個人内評価(所見等)で見取る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4. 評価の2つの側面 — 粘り強さ × 自己調整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6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「主体的に学習に取り組む態度」は、不可分な2つの側面から見取る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5303520" cy="5486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① 粘り強い取組を行おうとする側面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5303520" cy="2834640"/>
          </a:xfrm>
          <a:prstGeom prst="rect">
            <a:avLst/>
          </a:prstGeom>
          <a:solidFill>
            <a:srgbClr val="D6E4F0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知識・技能の獲得や思考・判断・表現に取り組む過程で、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粘り強さを発揮しようとしているか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〈見取りの観点〉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118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・困難な課題にも諦めず取り組む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7764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・試行錯誤を繰り返す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434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・友達と協力して解決を目指す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91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・繰り返し見直し・修正する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828800"/>
            <a:ext cx="5303520" cy="54864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② 自らの学習を調整しようとする側面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377440"/>
            <a:ext cx="5303520" cy="2834640"/>
          </a:xfrm>
          <a:prstGeom prst="rect">
            <a:avLst/>
          </a:prstGeom>
          <a:solidFill>
            <a:srgbClr val="E2EFDA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1460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自らの学習状況を把握し、学習の進め方について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試行錯誤し、調整しようとしているか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24612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1">
                <a:solidFill>
                  <a:srgbClr val="4E7A36"/>
                </a:solidFill>
                <a:latin typeface="IPAGothic"/>
                <a:eastAsia typeface="IPAGothic"/>
              </a:rPr>
              <a:t>〈見取りの観点〉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6118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・学習の見通しを立てる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97764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・学習方法を選択・工夫する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3434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・進捗を振り返り、計画を修正する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7091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・自分の理解度を自己評価する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40680"/>
            <a:ext cx="11247120" cy="960120"/>
          </a:xfrm>
          <a:prstGeom prst="rect">
            <a:avLst/>
          </a:prstGeom>
          <a:solidFill>
            <a:srgbClr val="FFF2CC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1F3A5F"/>
                </a:solidFill>
                <a:latin typeface="IPAGothic"/>
                <a:eastAsia typeface="IPAGothic"/>
              </a:rPr>
              <a:t>★ 2つの側面は相互に関連 — 別々に評価するのではなく、一体的に見取る</a:t>
            </a:r>
          </a:p>
          <a:p>
            <a:pPr algn="l"/>
            <a:r>
              <a:rPr sz="1300" b="1">
                <a:solidFill>
                  <a:srgbClr val="1F3A5F"/>
                </a:solidFill>
                <a:latin typeface="IPAGothic"/>
                <a:eastAsia typeface="IPAGothic"/>
              </a:rPr>
              <a:t>   例:粘り強く取り組む中で、うまくいかない時に方法を変える=両側面が同時に現れる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5. 具体的な評価方法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7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複数の評価方法を組み合わせ、「学習過程」を多角的に見取る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37947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①ノート・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ワークシート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3794760" cy="1051560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学習過程の試行錯誤、書き直し、追記、自分への問い直しを記述から見取る。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37947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②振り返り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シート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240280"/>
            <a:ext cx="3794760" cy="1051560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毎時/単元末で「分かったこと・分からないこと・次にしたいこと」を記述。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737360"/>
            <a:ext cx="37947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③行動観察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240280"/>
            <a:ext cx="3794760" cy="105156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課題への取り組み方・方法の選択・対話の様子をチェックリストで記録。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64992"/>
            <a:ext cx="37947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④自己評価・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相互評価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67912"/>
            <a:ext cx="3794760" cy="1051560"/>
          </a:xfrm>
          <a:prstGeom prst="rect">
            <a:avLst/>
          </a:prstGeom>
          <a:solidFill>
            <a:srgbClr val="FBE5D6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ルーブリックや到達目標に照らし、自身/仲間の学びを評価する。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3364992"/>
            <a:ext cx="37947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⑤ポートフォリオ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867912"/>
            <a:ext cx="3794760" cy="1051560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作品・記述・写真等を蓄積し、変容と自己調整の跡を継続的に見取る。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3364992"/>
            <a:ext cx="37947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⑥パフォーマンス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課題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867912"/>
            <a:ext cx="3794760" cy="1051560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探究的な課題に取り組む姿(計画・実行・修正)を一連で評価する。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20640"/>
            <a:ext cx="11247120" cy="1280160"/>
          </a:xfrm>
          <a:prstGeom prst="rect">
            <a:avLst/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IPAGothic"/>
                <a:eastAsia typeface="IPAGothic"/>
              </a:rPr>
              <a:t>■ 組み合わせの原則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532120"/>
            <a:ext cx="10515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・1つの方法で結論を出さない(=多角的・複数回の見取り)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24728"/>
            <a:ext cx="10515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・「結果」だけでなく「過程」を見る — 学習開始時から変容までを記録する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117336"/>
            <a:ext cx="10515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・他の2観点(知識・技能/思考・判断・表現)と整合的に評価する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6. 評価場面の設計 — 単元を通した評価計画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8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単元単位で「いつ・何を・どう」評価するかを設計する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265176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導入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26517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見通しを</a:t>
            </a:r>
          </a:p>
          <a:p>
            <a:pPr algn="ctr"/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持つ場面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265176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・単元の見通し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・既習との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  つながり確認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17520" y="2651760"/>
            <a:ext cx="274320" cy="365760"/>
          </a:xfrm>
          <a:prstGeom prst="rightArrow">
            <a:avLst/>
          </a:prstGeom>
          <a:solidFill>
            <a:srgbClr val="C4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828800"/>
            <a:ext cx="2651760" cy="45720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展開①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2286000"/>
            <a:ext cx="26517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E5C8A"/>
                </a:solidFill>
                <a:latin typeface="IPAGothic"/>
                <a:eastAsia typeface="IPAGothic"/>
              </a:rPr>
              <a:t>粘り強く</a:t>
            </a:r>
          </a:p>
          <a:p>
            <a:pPr algn="ctr"/>
            <a:r>
              <a:rPr sz="1200" b="1">
                <a:solidFill>
                  <a:srgbClr val="2E5C8A"/>
                </a:solidFill>
                <a:latin typeface="IPAGothic"/>
                <a:eastAsia typeface="IPAGothic"/>
              </a:rPr>
              <a:t>取り組む場面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834640"/>
            <a:ext cx="265176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・課題追究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・試行錯誤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・友達との対話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52160" y="2651760"/>
            <a:ext cx="274320" cy="365760"/>
          </a:xfrm>
          <a:prstGeom prst="rightArrow">
            <a:avLst/>
          </a:prstGeom>
          <a:solidFill>
            <a:srgbClr val="C4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828800"/>
            <a:ext cx="2651760" cy="45720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展開②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286000"/>
            <a:ext cx="26517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E7A36"/>
                </a:solidFill>
                <a:latin typeface="IPAGothic"/>
                <a:eastAsia typeface="IPAGothic"/>
              </a:rPr>
              <a:t>学習を</a:t>
            </a:r>
          </a:p>
          <a:p>
            <a:pPr algn="ctr"/>
            <a:r>
              <a:rPr sz="1200" b="1">
                <a:solidFill>
                  <a:srgbClr val="4E7A36"/>
                </a:solidFill>
                <a:latin typeface="IPAGothic"/>
                <a:eastAsia typeface="IPAGothic"/>
              </a:rPr>
              <a:t>調整する場面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834640"/>
            <a:ext cx="265176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・中間振り返り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・方法の見直し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・計画の修正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686800" y="2651760"/>
            <a:ext cx="274320" cy="365760"/>
          </a:xfrm>
          <a:prstGeom prst="rightArrow">
            <a:avLst/>
          </a:prstGeom>
          <a:solidFill>
            <a:srgbClr val="C4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1120" y="1828800"/>
            <a:ext cx="265176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まとめ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2286000"/>
            <a:ext cx="26517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45A11"/>
                </a:solidFill>
                <a:latin typeface="IPAGothic"/>
                <a:eastAsia typeface="IPAGothic"/>
              </a:rPr>
              <a:t>学びを</a:t>
            </a:r>
          </a:p>
          <a:p>
            <a:pPr algn="ctr"/>
            <a:r>
              <a:rPr sz="1200" b="1">
                <a:solidFill>
                  <a:srgbClr val="C45A11"/>
                </a:solidFill>
                <a:latin typeface="IPAGothic"/>
                <a:eastAsia typeface="IPAGothic"/>
              </a:rPr>
              <a:t>価値付ける場面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0" y="2834640"/>
            <a:ext cx="265176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・単元振り返り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・自己評価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・次の学びへ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45A11"/>
                </a:solidFill>
                <a:latin typeface="IPAGothic"/>
                <a:eastAsia typeface="IPAGothic"/>
              </a:rPr>
              <a:t>▼ 評価ポイントの例 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709160"/>
            <a:ext cx="1645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導入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03120" y="4709160"/>
            <a:ext cx="960120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「これからの学習で何ができるようになりたい?」シート記述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93208"/>
            <a:ext cx="1645920" cy="36576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展開①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03120" y="5093208"/>
            <a:ext cx="960120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課題への向き合い方を行動観察(チェックリスト)で記録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477256"/>
            <a:ext cx="1645920" cy="36576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展開②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5477256"/>
            <a:ext cx="960120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中間振り返りで方法を修正した記述・対話を見取る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861304"/>
            <a:ext cx="1645920" cy="36576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まとめ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03120" y="5861304"/>
            <a:ext cx="960120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単元全体の振り返り記述 + 自己評価ルーブリックで総合判断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7. ICTを活用した評価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9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IPAGothic"/>
                <a:eastAsia typeface="IPAGothic"/>
              </a:rPr>
              <a:t>GIGAスクール構想による1人1台端末を活かし、学習過程の見取りを効率化・可視化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548640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デジタル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ポートフォリオ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54864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学習成果物・写真・音声・動画を蓄積。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単元・学期を超えた変容を可視化。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5486400" cy="64008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[ツール例]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Google Classroom / Microsoft Teams /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ロイロノート / MetaMoJi ClassRoom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828800"/>
            <a:ext cx="5486400" cy="45720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学習ログ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86000"/>
            <a:ext cx="54864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課題提出・閲覧時間・再提出回数等を分析。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粘り強さや自己調整の客観的指標に。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200400"/>
            <a:ext cx="5486400" cy="64008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[ツール例]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Google Workspace の Activity Dashboard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LMSのレポート機能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23360"/>
            <a:ext cx="5486400" cy="45720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協働編集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ツール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80560"/>
            <a:ext cx="54864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Jamboard / 共有スライドでの対話・修正履歴を見取る。誰がどう貢献したかを確認。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94960"/>
            <a:ext cx="5486400" cy="64008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[ツール例]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Google Slides / Jamboard /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Microsoft Whiteboard / Padlet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548640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デジタル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振り返り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480560"/>
            <a:ext cx="54864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Formsで毎時の振り返りを集約。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テキストマイニングで傾向把握も可能。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5394960"/>
            <a:ext cx="5486400" cy="64008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[ツール例]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Google Forms / Microsoft Forms /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Mentimeter / Slido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355080"/>
            <a:ext cx="1124712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45A11"/>
                </a:solidFill>
                <a:latin typeface="IPAGothic"/>
                <a:eastAsia typeface="IPAGothic"/>
              </a:rPr>
              <a:t>※ ICTの記録はあくまで補助情報。教師の対面での見取りと組み合わせて総合的に判断する。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8. 評価の留意点 — 落とし穴と公正性の確保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10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陥りがちな課題を理解し、評価の妥当性・信頼性を高める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48640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陥りがちな落とし穴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5486400" cy="3200400"/>
          </a:xfrm>
          <a:prstGeom prst="rect">
            <a:avLst/>
          </a:prstGeom>
          <a:solidFill>
            <a:srgbClr val="FBE5D6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△ 挙手・発言回数のカウントに頼る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△ 性格的な「真面目さ」を評価してしまう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△ 提出物の有無のみで機械的に判断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8620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△ 「思考力」観点と区別せずに混同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8912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△ 教師の印象論・経験則に依存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9204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△ 評価規準が曖昧で説明責任が果たせない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783080"/>
            <a:ext cx="5486400" cy="45720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公正性を高める工夫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240280"/>
            <a:ext cx="5486400" cy="3200400"/>
          </a:xfrm>
          <a:prstGeom prst="rect">
            <a:avLst/>
          </a:prstGeom>
          <a:solidFill>
            <a:srgbClr val="E2EFDA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○ ルーブリック(評価規準表)を事前に共有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88036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○ 複数教師でモデレーション(評価のすり合わせ)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○ 評価場面・方法を年間計画に位置付け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8620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○ 子ども自身が評価規準を理解できる文言で示す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38912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○ 学習の前後で記録を残し変容を見取る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89204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○ 児童・生徒・保護者への説明責任を意識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77840"/>
            <a:ext cx="11247120" cy="868680"/>
          </a:xfrm>
          <a:prstGeom prst="rect">
            <a:avLst/>
          </a:prstGeom>
          <a:solidFill>
            <a:srgbClr val="FFF2CC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1F3A5F"/>
                </a:solidFill>
                <a:latin typeface="IPAGothic"/>
                <a:eastAsia typeface="IPAGothic"/>
              </a:rPr>
              <a:t>【重要】評価は「学習者のため」のもの — 序列化のためではなく、学習改善・指導改善のために行う</a:t>
            </a:r>
          </a:p>
          <a:p>
            <a:pPr algn="l"/>
            <a:r>
              <a:rPr sz="1300" b="1">
                <a:solidFill>
                  <a:srgbClr val="1F3A5F"/>
                </a:solidFill>
                <a:latin typeface="IPAGothic"/>
                <a:eastAsia typeface="IPAGothic"/>
              </a:rPr>
              <a:t>           評価結果は次の指導に活かし、児童・生徒に適切にフィードバックする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9. 事例 — 小・中・高での運用イメージ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11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校種・教科に応じた具体的な評価場面のイメージ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2194560" cy="1463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小学校 5年・算数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/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【単元】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面積の単元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783080"/>
            <a:ext cx="6400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・公式が分からない時に、どう図を分けて考えるかを試行錯誤するノート記述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・「最初は難しかったが、〜の方法で解けた」という振り返り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783080"/>
            <a:ext cx="2468880" cy="1463040"/>
          </a:xfrm>
          <a:prstGeom prst="rect">
            <a:avLst/>
          </a:prstGeom>
          <a:solidFill>
            <a:srgbClr val="D6E4F0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ノート分析+</a:t>
            </a:r>
          </a:p>
          <a:p>
            <a:pPr algn="ctr"/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振り返りシート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2194560" cy="14630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中学校 2年・理科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/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【単元】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化学変化と原子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3383280"/>
            <a:ext cx="6400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・実験の予想 → 結果 → 考察の流れで、予想と違った時の修正過程を見取る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・班内の対話で他者の意見を取り入れて自分の考えを更新する姿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3383280"/>
            <a:ext cx="2468880" cy="1463040"/>
          </a:xfrm>
          <a:prstGeom prst="rect">
            <a:avLst/>
          </a:prstGeom>
          <a:solidFill>
            <a:srgbClr val="FFF2CC"/>
          </a:solidFill>
          <a:ln w="12700">
            <a:solidFill>
              <a:srgbClr val="2E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E5C8A"/>
                </a:solidFill>
                <a:latin typeface="IPAGothic"/>
                <a:eastAsia typeface="IPAGothic"/>
              </a:rPr>
              <a:t>実験レポート+</a:t>
            </a:r>
          </a:p>
          <a:p>
            <a:pPr algn="ctr"/>
            <a:r>
              <a:rPr sz="1200" b="1">
                <a:solidFill>
                  <a:srgbClr val="2E5C8A"/>
                </a:solidFill>
                <a:latin typeface="IPAGothic"/>
                <a:eastAsia typeface="IPAGothic"/>
              </a:rPr>
              <a:t>行動観察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83480"/>
            <a:ext cx="2194560" cy="146304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高等学校 1年・国語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/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【単元】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評論文読解と論述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4983480"/>
            <a:ext cx="6400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・段階的な下書き(初稿→修正稿→決定稿)に表れる思考の深まり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・自己評価で「論拠が弱い」と気づき、再度資料を読み直す姿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4983480"/>
            <a:ext cx="2468880" cy="1463040"/>
          </a:xfrm>
          <a:prstGeom prst="rect">
            <a:avLst/>
          </a:prstGeom>
          <a:solidFill>
            <a:srgbClr val="E2EFDA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E7A36"/>
                </a:solidFill>
                <a:latin typeface="IPAGothic"/>
                <a:eastAsia typeface="IPAGothic"/>
              </a:rPr>
              <a:t>ポートフォリオ+</a:t>
            </a:r>
          </a:p>
          <a:p>
            <a:pPr algn="ctr"/>
            <a:r>
              <a:rPr sz="1200" b="1">
                <a:solidFill>
                  <a:srgbClr val="4E7A36"/>
                </a:solidFill>
                <a:latin typeface="IPAGothic"/>
                <a:eastAsia typeface="IPAGothic"/>
              </a:rPr>
              <a:t>ルーブリック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45A11"/>
                </a:solidFill>
                <a:latin typeface="IPAGothic"/>
                <a:eastAsia typeface="IPAGothic"/>
              </a:rPr>
              <a:t>共通の視点 — 「結果」より「学習プロセスでの変容と調整」を見取る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10. まとめ — 明日からの実践に向けて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12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IPAGothic"/>
                <a:eastAsia typeface="IPAGothic"/>
              </a:rPr>
              <a:t>「主体的に学習に取り組む態度」の評価 — 5つのポイント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783080"/>
            <a:ext cx="777240" cy="77724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783080"/>
            <a:ext cx="2468880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対象を明確化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783080"/>
            <a:ext cx="7772400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「粘り強く取り組む姿」と「自らの学習を調整する姿」の2側面を一体的に見取る。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挙手回数や性格的真面目さは評価しない。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651760"/>
            <a:ext cx="777240" cy="777240"/>
          </a:xfrm>
          <a:prstGeom prst="ellipse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51760"/>
            <a:ext cx="2468880" cy="7772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多角的に見取る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2651760"/>
            <a:ext cx="7772400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2E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ノート・振り返り・観察・自己評価・ポートフォリオ等、複数の方法を組み合わせる。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520440"/>
            <a:ext cx="777240" cy="777240"/>
          </a:xfrm>
          <a:prstGeom prst="ellipse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3520440"/>
            <a:ext cx="2468880" cy="77724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過程を重視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3520440"/>
            <a:ext cx="7772400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結果(到達点)だけでなく、学習過程での試行錯誤・調整・変容を記録する。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4389120"/>
            <a:ext cx="777240" cy="777240"/>
          </a:xfrm>
          <a:prstGeom prst="ellipse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389120"/>
            <a:ext cx="2468880" cy="77724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規準を明示・共有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4389120"/>
            <a:ext cx="7772400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ルーブリックや評価規準を事前に児童生徒・保護者と共有し、説明責任を果たす。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" y="5257800"/>
            <a:ext cx="777240" cy="77724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5257800"/>
            <a:ext cx="2468880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指導と評価の一体化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31920" y="5257800"/>
            <a:ext cx="7772400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評価は序列化のためではなく、学習改善・指導改善のために行う。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126480"/>
            <a:ext cx="11247120" cy="41148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評価は「子どもの学びを支えるツール」 — 一人ひとりの成長を見取り、次の学びにつなげよう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26280"/>
            <a:ext cx="12191695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56048" y="1234440"/>
            <a:ext cx="22860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IPAGothic"/>
                <a:eastAsia typeface="IPAGothic"/>
              </a:rPr>
              <a:t>補 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74552" cy="1371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IPAGothic"/>
                <a:eastAsia typeface="IPAGothic"/>
              </a:rPr>
              <a:t>「AAC」「CCA」評価をどう考えるか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94760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0">
                <a:solidFill>
                  <a:srgbClr val="D6E4F0"/>
                </a:solidFill>
                <a:latin typeface="IPAGothic"/>
                <a:eastAsia typeface="IPAGothic"/>
              </a:rPr>
              <a:t>― 講義での質問に答える / 公的資料に基づく整理 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1274552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IPAGothic"/>
                <a:eastAsia typeface="IPAGothic"/>
              </a:rPr>
              <a:t>観点別評価:  知識・技能  /  思考・判断・表現  /  主体的に学習に取り組む態度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5623560"/>
            <a:ext cx="8531352" cy="640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Q.「国・都・区は AAC・CCA はありえないと言うが、現場にはそう見える生徒がいる」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補論① 先生方の疑問 ― まず、そのまま受け止める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1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否定から入らない。現場の観察を正しく言語化することから始める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08792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IPAGothic"/>
                <a:eastAsia typeface="IPAGothic"/>
              </a:rPr>
              <a:t>「国・東京都・練馬区は『AAC』『CCA』はありえないと言う。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IPAGothic"/>
                <a:eastAsia typeface="IPAGothic"/>
              </a:rPr>
              <a:t>  でも実際の現場では、生徒の姿から そういう評価になることがある。」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35808"/>
            <a:ext cx="10908792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IPAGothic"/>
                <a:eastAsia typeface="IPAGothic"/>
              </a:rPr>
              <a:t>― 講義で先生方から出た疑問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520440"/>
            <a:ext cx="8531352" cy="77724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IPAGothic"/>
                <a:eastAsia typeface="IPAGothic"/>
              </a:rPr>
              <a:t>その観察は、正しい。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10360152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公的資料も「そういう生徒はいない」とは一言も言っていない。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問題にされているのは“その瞬間の見え方”ではなく、“単元末の総括としての固定”である。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349240"/>
            <a:ext cx="10908792" cy="960120"/>
          </a:xfrm>
          <a:prstGeom prst="rect">
            <a:avLst/>
          </a:prstGeom>
          <a:solidFill>
            <a:srgbClr val="FFF2CC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222222"/>
                </a:solidFill>
                <a:latin typeface="IPAGothic"/>
                <a:eastAsia typeface="IPAGothic"/>
              </a:rPr>
              <a:t>本資料の流れ</a:t>
            </a:r>
          </a:p>
          <a:p>
            <a:pPr algn="ctr">
              <a:spcAft>
                <a:spcPts val="200"/>
              </a:spcAft>
            </a:pPr>
            <a:r>
              <a:rPr sz="1300" b="1">
                <a:solidFill>
                  <a:srgbClr val="222222"/>
                </a:solidFill>
                <a:latin typeface="IPAGothic"/>
                <a:eastAsia typeface="IPAGothic"/>
              </a:rPr>
              <a:t>②「ありえない」の本当の意味  →  ③④ なぜ整合しないか  →  ⑤ でも実在する(切り分け)  →  ⑥ どう指導するか  →  ⑦ 国の最新方針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補論② 「ありえない」の本当の意味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2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「ありえない」= 禁止ではなく、点検を促す“診断アラーム”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48640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✕ よくある誤解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5486400" cy="1783080"/>
          </a:xfrm>
          <a:prstGeom prst="rect">
            <a:avLst/>
          </a:prstGeom>
          <a:solidFill>
            <a:srgbClr val="FBE5D6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>「AAC・CCAは付けてはいけない」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>→ だから 帳尻を合わせて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>   評定をいじる…?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486400" cy="45720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○ 公的資料の本意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240280"/>
            <a:ext cx="5486400" cy="1783080"/>
          </a:xfrm>
          <a:prstGeom prst="rect">
            <a:avLst/>
          </a:prstGeom>
          <a:solidFill>
            <a:srgbClr val="E2EFDA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>総括で出たら、評価方法か指導が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>機能していない “赤信号”。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>原因を検討し、学習・指導を改善せよ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51960"/>
            <a:ext cx="11274552" cy="1143000"/>
          </a:xfrm>
          <a:prstGeom prst="rect">
            <a:avLst/>
          </a:prstGeom>
          <a:solidFill>
            <a:srgbClr val="D6E4F0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IPAGothic"/>
                <a:eastAsia typeface="IPAGothic"/>
              </a:rPr>
              <a:t>「3つの観点の評価の結果は、ばらつき(『CCA』や『AAC』、『CAA』や『ACA』等)が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IPAGothic"/>
                <a:eastAsia typeface="IPAGothic"/>
              </a:rPr>
              <a:t>  生じなくなるよう 指導や学習改善を図る 必要がある。」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13248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IPAGothic"/>
                <a:eastAsia typeface="IPAGothic"/>
              </a:rPr>
              <a:t>― 国立教育政策研究所『「指導と評価の一体化」のための学習評価に関する参考資料』第1編 総説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806440"/>
            <a:ext cx="11274552" cy="54864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★ 求められているのは “帳尻合わせ” ではなく “立ち止まっての点検”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補論③ なぜ整合しないのか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3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態度は“別の物差し(性格・努力量)”ではない ― 同じ学びの「意思的側面」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11274552" cy="914400"/>
          </a:xfrm>
          <a:prstGeom prst="rect">
            <a:avLst/>
          </a:prstGeom>
          <a:solidFill>
            <a:srgbClr val="FFF2C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「主体的に学習に取り組む態度」=  ① 粘り強い取組を行おうとする側面   ×   ② 自らの学習を調整しようとする側面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知識・思考を獲得・発揮することに向けた“意思的な側面”を見る(中央教育審議会 H31.1.21 報告)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63240"/>
            <a:ext cx="4206240" cy="173736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【エンジン】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主体的に学習に取り組む態度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粘り強さ・自己調整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983480" y="3611880"/>
            <a:ext cx="2194560" cy="640080"/>
          </a:xfrm>
          <a:prstGeom prst="rightArrow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3154680"/>
            <a:ext cx="219456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C45A11"/>
                </a:solidFill>
                <a:latin typeface="IPAGothic"/>
                <a:eastAsia typeface="IPAGothic"/>
              </a:rPr>
              <a:t>生み出す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42631" y="3063240"/>
            <a:ext cx="4206240" cy="1737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【出力】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知識・技能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思考・判断・表現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74920"/>
            <a:ext cx="11274552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22222"/>
                </a:solidFill>
                <a:latin typeface="IPAGothic"/>
                <a:eastAsia typeface="IPAGothic"/>
              </a:rPr>
              <a:t>出力が A・A なのに、エンジンの計器だけ C を指す(=AAC) ―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22222"/>
                </a:solidFill>
                <a:latin typeface="IPAGothic"/>
                <a:eastAsia typeface="IPAGothic"/>
              </a:rPr>
              <a:t>それは生徒の問題ではなく、“計器(評価方法)が壊れている”疑いが濃い。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22222"/>
                </a:solidFill>
                <a:latin typeface="IPAGothic"/>
                <a:eastAsia typeface="IPAGothic"/>
              </a:rPr>
              <a:t>態度は出力と同じプロセスの一部だから、極端なズレは原理的に起こりにくい。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補論④ 「AAC」「CCA」が示す“最有力の原因”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4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極端なズレは、たいてい“態度を学習と切り離して測っている”サイン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246888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パターン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783080"/>
            <a:ext cx="8622792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食い違いが示す“最有力の原因”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2468880" cy="1508760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IPAGothic"/>
                <a:eastAsia typeface="IPAGothic"/>
              </a:rPr>
              <a:t>AAC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IPAGothic"/>
                <a:eastAsia typeface="IPAGothic"/>
              </a:rPr>
              <a:t>知A・思A・態C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240280"/>
            <a:ext cx="8622792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A・Aに到達した以上、相応の粘り強さ・自己調整はあったはず。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態度だけCになるのは ―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挙手・発言・提出・忘れ物・私語・“態度の良し悪し”など、学習と切り離した 形式・性格面で測っている サイン。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49039"/>
            <a:ext cx="2468880" cy="150876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4E7A36"/>
                </a:solidFill>
                <a:latin typeface="IPAGothic"/>
                <a:eastAsia typeface="IPAGothic"/>
              </a:rPr>
              <a:t>CCA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4E7A36"/>
                </a:solidFill>
                <a:latin typeface="IPAGothic"/>
                <a:eastAsia typeface="IPAGothic"/>
              </a:rPr>
              <a:t>知C・思C・態A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3749039"/>
            <a:ext cx="8622792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自己調整(=分からないと気づき方法を変える)が働けば、知識か思考のどちらかは動くはず。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両方Cのまま態度Aは ―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“がんばっている”“真面目”という 努力・人柄を態度にしている(旧「関心・意欲・態度」の失敗形)。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440680"/>
            <a:ext cx="11274552" cy="868680"/>
          </a:xfrm>
          <a:prstGeom prst="rect">
            <a:avLst/>
          </a:prstGeom>
          <a:solidFill>
            <a:srgbClr val="FFF2CC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【根拠】中教審報告:挙手の回数等の形式的態度の評価は適当でなく、他の観点に関わる学習状況と照らし合わせる/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奈良県教委:ノートの特定記述を 他の観点から切り離して 態度として評価することは適切でない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補論⑤ でも“そういう子”は実在する ― 切り分けが鍵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5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公的資料も“途中のばらつき”は認めている。問題は総括での固定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486400" cy="45720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まず疑う:4つの切り分け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5486400" cy="2788920"/>
          </a:xfrm>
          <a:prstGeom prst="rect">
            <a:avLst/>
          </a:prstGeom>
          <a:solidFill>
            <a:srgbClr val="D6E4F0"/>
          </a:solidFill>
          <a:ln w="12700">
            <a:solidFill>
              <a:srgbClr val="2E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5120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① 形式・性格面の“汚染”(最も多い)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5120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② 1時間・1方法という“点”で見ている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11296"/>
            <a:ext cx="5120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③ 単元途中の一過性 ＝ 想定内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78224"/>
            <a:ext cx="5120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④ 評価規準が観点の趣旨とズレている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45152"/>
            <a:ext cx="5120640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3A5F"/>
                </a:solidFill>
                <a:latin typeface="IPAGothic"/>
                <a:eastAsia typeface="IPAGothic"/>
              </a:rPr>
              <a:t>NIER:「単元導入段階のばらつきは生じるとしても」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1783080"/>
            <a:ext cx="548640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本物の“悩ましい”2ケース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2240280"/>
            <a:ext cx="5486400" cy="2788920"/>
          </a:xfrm>
          <a:prstGeom prst="rect">
            <a:avLst/>
          </a:prstGeom>
          <a:solidFill>
            <a:srgbClr val="FBE5D6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359152"/>
            <a:ext cx="5175504" cy="11430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◆ できる子が退屈して態度C(AAC型)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  → 態度=努力の“量”ではない。効率よく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     調整して達するのも主体的。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     課題がその子に易しすぎるサイン。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566160"/>
            <a:ext cx="5175504" cy="11430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◆ 懸命だが伸びず知識・思考C(CCA型)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  → 自己調整を支える指導が届いて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     いないサイン。指導の方を変える。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11274552" cy="1097280"/>
          </a:xfrm>
          <a:prstGeom prst="rect">
            <a:avLst/>
          </a:prstGeom>
          <a:solidFill>
            <a:srgbClr val="FFF2CC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★ どちらも「生徒の人格・努力の評価」ではなく、「こちらの課題設計・指導へのフィードバック」として読む。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  生徒の評定をいじる前に、“なぜそう見えるのか”の原因を特定するのが先。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補論⑥ “なりそうなとき”どう回避・指導するか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6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本丸は ② 形成的評価 ― 単元末に困る前に、途中で見つけて指導で閉じる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1737360" cy="4114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段階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737360"/>
            <a:ext cx="6949440" cy="4114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やること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737360"/>
            <a:ext cx="2404872" cy="4114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公的根拠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48840"/>
            <a:ext cx="1737360" cy="786384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① 設計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(事前)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148840"/>
            <a:ext cx="694944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3観点の規準を“同じ学習活動”から導く。態度の規準に挙手・提出・忘れ物を入れない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148840"/>
            <a:ext cx="2404872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E7A36"/>
                </a:solidFill>
                <a:latin typeface="IPAGothic"/>
                <a:eastAsia typeface="IPAGothic"/>
              </a:rPr>
              <a:t>中教審 / NIER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35224"/>
            <a:ext cx="1737360" cy="786384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② 形成的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(途中)★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935224"/>
            <a:ext cx="6949440" cy="786384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態度C傾向を早期発見 → 原因診断(難しすぎ/方法不明/見通しなし)→ 足場かけ・方法例示。AAC傾向には挑戦的課題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2935224"/>
            <a:ext cx="2404872" cy="786384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E7A36"/>
                </a:solidFill>
                <a:latin typeface="IPAGothic"/>
                <a:eastAsia typeface="IPAGothic"/>
              </a:rPr>
              <a:t>NIER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21608"/>
            <a:ext cx="1737360" cy="786384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③ 総括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(単元末)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721608"/>
            <a:ext cx="694944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1時間・1方法で決めない。記述・発言・行動観察・自己/相互評価を“材料の一つ”に。他観点と照らす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3721608"/>
            <a:ext cx="2404872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E7A36"/>
                </a:solidFill>
                <a:latin typeface="IPAGothic"/>
                <a:eastAsia typeface="IPAGothic"/>
              </a:rPr>
              <a:t>東京都 / 中教審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507992"/>
            <a:ext cx="1737360" cy="786384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④ 組織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4507992"/>
            <a:ext cx="694944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教科会・学年でモデレーション(評価のすり合わせ)。ルーブリックを生徒と事前共有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4507992"/>
            <a:ext cx="2404872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E7A36"/>
                </a:solidFill>
                <a:latin typeface="IPAGothic"/>
                <a:eastAsia typeface="IPAGothic"/>
              </a:rPr>
              <a:t>各教委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294376"/>
            <a:ext cx="1737360" cy="786384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⑤ 点検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5294376"/>
            <a:ext cx="694944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出たら評定をいじらず、形式要素の混入・規準のズレ・指導の届きを点検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5294376"/>
            <a:ext cx="2404872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E7A36"/>
                </a:solidFill>
                <a:latin typeface="IPAGothic"/>
                <a:eastAsia typeface="IPAGothic"/>
              </a:rPr>
              <a:t>NIER / 奈良県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144768"/>
            <a:ext cx="11274552" cy="438912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「指導と評価の一体化」の本旨 ＝ 評価を次の“指導”に返して、ばらつきを閉じていくこと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補論⑦ 国も認めた ― 態度は「評定外」へ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7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次期学習指導要領に向けた最新の方針 ― 皆さんの違和感は制度的にも正しかった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2331720" cy="1371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IPAGothic"/>
                <a:eastAsia typeface="IPAGothic"/>
              </a:rPr>
              <a:t>2025年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IPAGothic"/>
                <a:eastAsia typeface="IPAGothic"/>
              </a:rPr>
              <a:t>7月4日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783080"/>
            <a:ext cx="8759952" cy="1371600"/>
          </a:xfrm>
          <a:prstGeom prst="rect">
            <a:avLst/>
          </a:prstGeom>
          <a:solidFill>
            <a:srgbClr val="D6E4F0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中央教育審議会 教育課程企画特別部会で方針提示: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「主体的に学習に取り組む態度」(学びに向かう力・人間性等)を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評定(A/B/C の目標準拠評価)から外し、教育課程全体を通じた 個人内評価 とする(2030年度以降の次期指導要領に向け検討)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337560"/>
            <a:ext cx="11091672" cy="41148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国自身が挙げた理由 ― まさに AAC・CCA 問題と地続き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49039"/>
            <a:ext cx="11091672" cy="1371600"/>
          </a:xfrm>
          <a:prstGeom prst="rect">
            <a:avLst/>
          </a:prstGeom>
          <a:solidFill>
            <a:srgbClr val="FBE5D6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IPAGothic"/>
                <a:eastAsia typeface="IPAGothic"/>
              </a:rPr>
              <a:t>・提出物など“形式的な勤勉さ”で測られてしまう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IPAGothic"/>
                <a:eastAsia typeface="IPAGothic"/>
              </a:rPr>
              <a:t>・教師の期待する振る舞いを、子どもが過度に意識してしまう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0916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IPAGothic"/>
                <a:eastAsia typeface="IPAGothic"/>
              </a:rPr>
              <a:t>・態度の評価が難しく評定が低く/付けられず、不登校児童生徒等で不利になる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03520"/>
            <a:ext cx="110916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※ ただし現行制度では引き続き態度も観点別A/B/C対象。移行までは“診断アラーム運用”が正解。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852160"/>
            <a:ext cx="11091672" cy="50292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★「AAC・CCAに違和感がある」という現場感覚は、国の政策転換が裏づけている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補論⑧ まとめと出典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8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先生方に返す“3つの要点”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737360"/>
            <a:ext cx="73152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737360"/>
            <a:ext cx="3200400" cy="8686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「ありえない」＝禁止ではない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737360"/>
            <a:ext cx="6931152" cy="86868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総括でAAC・CCAが出たら、評価方法か指導が機能していない “診断アラーム” と捉え点検する。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697480"/>
            <a:ext cx="73152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2697480"/>
            <a:ext cx="3200400" cy="8686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態度は“別の物差し”ではない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2697480"/>
            <a:ext cx="6931152" cy="86868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知識・思考を生み出す同じ学びの意思的側面(粘り強さ・自己調整)。極端なズレは“形式・性格面で測っている”サイン。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657600"/>
            <a:ext cx="73152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3657600"/>
            <a:ext cx="3200400" cy="8686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途中のばらつきは想定内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3657600"/>
            <a:ext cx="6931152" cy="86868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本丸は形成的評価で“指導して閉じる”こと。国も態度を評定外(個人内評価)へ動いている。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09160"/>
            <a:ext cx="11091672" cy="36576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公的資料(出典)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074920"/>
            <a:ext cx="1109167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38928"/>
            <a:ext cx="1083564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IPAGothic"/>
                <a:eastAsia typeface="IPAGothic"/>
              </a:rPr>
              <a:t>・中央教育審議会「児童生徒の学習評価の在り方について(報告)」平成31年1月21日(2側面/形式的態度の戒め/他観点と照らし合わせ)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408676"/>
            <a:ext cx="1083564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IPAGothic"/>
                <a:eastAsia typeface="IPAGothic"/>
              </a:rPr>
              <a:t>・国立教育政策研究所「『指導と評価の一体化』のための学習評価に関する参考資料」第1編 総説(AAC・CCA等のばらつきを生じさせない)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678424"/>
            <a:ext cx="1083564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IPAGothic"/>
                <a:eastAsia typeface="IPAGothic"/>
              </a:rPr>
              <a:t>・東京都教育委員会「指導と評価の一体化を目指して」理論編(評価方法=記述・発言・行動観察・自己/相互評価)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948172"/>
            <a:ext cx="1083564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IPAGothic"/>
                <a:eastAsia typeface="IPAGothic"/>
              </a:rPr>
              <a:t>・「主体的に学習に取り組む態度」の評価に関するガイドライン(奈良県教育委員会)/ 文科省「学習評価の在り方ハンドブック」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217920"/>
            <a:ext cx="1083564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IPAGothic"/>
                <a:eastAsia typeface="IPAGothic"/>
              </a:rPr>
              <a:t>・中教審 教育課程企画特別部会(2025.7.4)― 態度を評定外=個人内評価とする方針(2030年度以降の次期指導要領)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47104"/>
            <a:ext cx="11091672" cy="365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27448" y="118872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1F3A5F"/>
                </a:solidFill>
                <a:latin typeface="IPAGothic"/>
                <a:eastAsia typeface="IPAGothic"/>
              </a:rPr>
              <a:t>想 定 問 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455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IPAGothic"/>
                <a:eastAsia typeface="IPAGothic"/>
              </a:rPr>
              <a:t>評価方法への疑問に答える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11274552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6E4F0"/>
                </a:solidFill>
                <a:latin typeface="IPAGothic"/>
                <a:eastAsia typeface="IPAGothic"/>
              </a:rPr>
              <a:t>―「授業中の発言」「教師による行動観察」をめぐって / 公的資料に基づく整理 ―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297680"/>
            <a:ext cx="9628632" cy="548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IPAGothic"/>
                <a:eastAsia typeface="IPAGothic"/>
              </a:rPr>
              <a:t>Q1  毎時間、全員の発言を拾うのか?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956048"/>
            <a:ext cx="9628632" cy="548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IPAGothic"/>
                <a:eastAsia typeface="IPAGothic"/>
              </a:rPr>
              <a:t>Q2  発言を評価に入れると宣言したら、賢い子がウケ狙いで発言するのでは?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5614416"/>
            <a:ext cx="9628632" cy="548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IPAGothic"/>
                <a:eastAsia typeface="IPAGothic"/>
              </a:rPr>
              <a:t>Q3  「教師による行動観察」は、主観が入るのでは?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24128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IPAGothic"/>
                <a:eastAsia typeface="IPAGothic"/>
              </a:rPr>
              <a:t>Q1「授業中の発言」― 毎時間、全員分を拾うのか?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2760" y="73152"/>
            <a:ext cx="14173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想定問答 1 /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想定問答 ― 「授業中の発言」「教師による行動観察」をめぐって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IPAGothic"/>
                <a:eastAsia typeface="IPAGothic"/>
              </a:rPr>
              <a:t>答え:NO ― 毎時間・全員・悉皆(しっかい)で記録するものではない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783080"/>
            <a:ext cx="640080" cy="105156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IPAGothic"/>
                <a:eastAsia typeface="IPAGothic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1783080"/>
            <a:ext cx="10497312" cy="1051560"/>
          </a:xfrm>
          <a:prstGeom prst="rect">
            <a:avLst/>
          </a:prstGeom>
          <a:solidFill>
            <a:srgbClr val="D6E4F0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IPAGothic"/>
                <a:eastAsia typeface="IPAGothic"/>
              </a:rPr>
              <a:t>「主体的に学習に取り組む態度」は1時間単位ではなく “単元のまとまり” で評価する。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IPAGothic"/>
                <a:eastAsia typeface="IPAGothic"/>
              </a:rPr>
              <a:t>あらかじめ計画した “評価場面” で見取るもの。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944368"/>
            <a:ext cx="640080" cy="13258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IPAGothic"/>
                <a:eastAsia typeface="IPAGothic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2944368"/>
            <a:ext cx="10497312" cy="13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中教審報告:評価のための “記録” に労力を割かれ、指導が疎かになる本末転倒を避け、「評価場面を精選する」(働き方改革の観点)。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→ 毎時間すべての発言をログに取る運用は、むしろ趣旨に反する。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379976"/>
            <a:ext cx="640080" cy="128016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IPAGothic"/>
                <a:eastAsia typeface="IPAGothic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4379976"/>
            <a:ext cx="10497312" cy="1280160"/>
          </a:xfrm>
          <a:prstGeom prst="rect">
            <a:avLst/>
          </a:prstGeom>
          <a:solidFill>
            <a:srgbClr val="D6E4F0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発言は “評価の材料の一つ”。発言を拾えなかった子・自分からは話さない子は、ノートや振り返りの “記述” で見取る。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→ 全員の発言を毎時間拾えなくても、不公平にはならない設計になっている。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806440"/>
            <a:ext cx="11274552" cy="54864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★「全部を拾う」必要はない。評価場面を絞り、複数の方法を組み合わせる。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24128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IPAGothic"/>
                <a:eastAsia typeface="IPAGothic"/>
              </a:rPr>
              <a:t>Q2 発言を評価対象と“宣言”したら、ウケ狙いの発言を生むのでは?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2760" y="73152"/>
            <a:ext cx="14173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想定問答 2 /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想定問答 ― 「授業中の発言」「教師による行動観察」をめぐって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その懸念は正しい ― だから “発言したこと自体” は評価しない設計になっている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783080"/>
            <a:ext cx="640080" cy="13716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IPAGothic"/>
                <a:eastAsia typeface="IPAGothic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1783080"/>
            <a:ext cx="10497312" cy="1371600"/>
          </a:xfrm>
          <a:prstGeom prst="rect">
            <a:avLst/>
          </a:prstGeom>
          <a:solidFill>
            <a:srgbClr val="FBE5D6"/>
          </a:solidFill>
          <a:ln w="9525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発言の “回数・積極性” は評価しない【中教審が明確に否定】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「単に…積極的な発言を行うなど、性格や行動面の傾向を評価するのではない」。見るのは発言の “中身” に現れる粘り強さ・自己調整。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→ “先生にウケるための発言” では評価は上がらない(旧「関心・意欲・態度」の失敗形)。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264408"/>
            <a:ext cx="640080" cy="13716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IPAGothic"/>
                <a:eastAsia typeface="IPAGothic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3264408"/>
            <a:ext cx="10497312" cy="1371600"/>
          </a:xfrm>
          <a:prstGeom prst="rect">
            <a:avLst/>
          </a:prstGeom>
          <a:solidFill>
            <a:srgbClr val="E2EFDA"/>
          </a:solidFill>
          <a:ln w="9525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“賢い子だけ得をする” を防ぐ = 発問の工夫 ＋ 記述の併用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自発の挙手を待たず、教師が「全員が自分の学びを振り返る発問」を投げる(例:「最初と比べて考えが変わったところは?」)。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→ 発言が苦手な子は、その振り返りを “記述” で残す。発言できる子だけ有利を平らにする。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700016"/>
            <a:ext cx="640080" cy="105156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IPAGothic"/>
                <a:eastAsia typeface="IPAGothic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4700016"/>
            <a:ext cx="10497312" cy="1051560"/>
          </a:xfrm>
          <a:prstGeom prst="rect">
            <a:avLst/>
          </a:prstGeom>
          <a:solidFill>
            <a:srgbClr val="D6E4F0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“教師の期待する振る舞いを子どもが過度に意識する” 問題は国も認識 →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2025年方針(態度を評定外=個人内評価へ)の理由そのもの。先生の懸念は国レベルで共有。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852160"/>
            <a:ext cx="11274552" cy="50292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★ 評価したいのは “演技” ではなく “学びの調整”。だからウケ狙いの演技はむしろ対象から外す。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24128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IPAGothic"/>
                <a:eastAsia typeface="IPAGothic"/>
              </a:rPr>
              <a:t>Q3「教師による行動観察」― 主観が入るのでは?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2760" y="73152"/>
            <a:ext cx="14173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想定問答 3 /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想定問答 ― 「授業中の発言」「教師による行動観察」をめぐって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目指すのは “ゼロ主観(機械的客観)” ではなく、“説明できる専門的判断”(妥当性・信頼性の確保)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11274552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主観を “統制” する5つの装置(すべて公的資料に基づく)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566928" cy="6217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IPAGothic"/>
                <a:eastAsia typeface="IPAGothic"/>
              </a:rPr>
              <a:t>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2194560"/>
            <a:ext cx="2788920" cy="621792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IPAGothic"/>
                <a:eastAsia typeface="IPAGothic"/>
              </a:rPr>
              <a:t>目標準拠評価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4487" y="2194560"/>
            <a:ext cx="7827264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他の子と比べない。事前に決めた “規準” に照らす(=印象での比較・序列化を排除)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52928"/>
            <a:ext cx="566928" cy="6217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IPAGothic"/>
                <a:eastAsia typeface="IPAGothic"/>
              </a:rPr>
              <a:t>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9848" y="2852928"/>
            <a:ext cx="2788920" cy="621792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IPAGothic"/>
                <a:eastAsia typeface="IPAGothic"/>
              </a:rPr>
              <a:t>規準の事前具体化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04487" y="2852928"/>
            <a:ext cx="7827264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「前時のノートを見返す」「式に言葉や図を書き加える」「別の方法を試す」など “観察できる姿” を言語化(=ルーブリック)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11296"/>
            <a:ext cx="566928" cy="6217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IPAGothic"/>
                <a:eastAsia typeface="IPAGothic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9848" y="3511296"/>
            <a:ext cx="2788920" cy="621792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IPAGothic"/>
                <a:eastAsia typeface="IPAGothic"/>
              </a:rPr>
              <a:t>複数方法で確かめる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04487" y="3511296"/>
            <a:ext cx="7827264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行動観察は “材料の一つ”。記述・自己評価と突き合わせ、単独では決めない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69664"/>
            <a:ext cx="566928" cy="6217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IPAGothic"/>
                <a:eastAsia typeface="IPAGothic"/>
              </a:rPr>
              <a:t>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9848" y="4169664"/>
            <a:ext cx="2788920" cy="621792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IPAGothic"/>
                <a:eastAsia typeface="IPAGothic"/>
              </a:rPr>
              <a:t>複数場面・継続的に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04487" y="4169664"/>
            <a:ext cx="7827264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一場面の印象ではなく、単元を通して繰り返し見取る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28032"/>
            <a:ext cx="566928" cy="6217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IPAGothic"/>
                <a:eastAsia typeface="IPAGothic"/>
              </a:rPr>
              <a:t>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9848" y="4828032"/>
            <a:ext cx="2788920" cy="621792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IPAGothic"/>
                <a:eastAsia typeface="IPAGothic"/>
              </a:rPr>
              <a:t>組織的モデレーション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04487" y="4828032"/>
            <a:ext cx="7827264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中教審「学校として組織的・計画的に/教師間で規準・方法を共有し、妥当性・信頼性を高める」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897880"/>
            <a:ext cx="11274552" cy="54864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IPAGothic"/>
                <a:eastAsia typeface="IPAGothic"/>
              </a:rPr>
              <a:t>★ 主観を “排除” するのではなく、規準と手続きで “統制” する ― 完全な客観ではなく、説明責任で担保する。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