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119" cy="792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92000"/>
            <a:ext cx="12192119" cy="9000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4000"/>
            <a:ext cx="12192119" cy="324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480000"/>
            <a:ext cx="12192119" cy="5400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00000" y="1512000"/>
            <a:ext cx="10368000" cy="3600000"/>
          </a:xfrm>
          <a:prstGeom prst="roundRect">
            <a:avLst>
              <a:gd name="adj" fmla="val 4000"/>
            </a:avLst>
          </a:prstGeom>
          <a:solidFill>
            <a:srgbClr val="E8F1FA"/>
          </a:solidFill>
          <a:ln w="9525">
            <a:solidFill>
              <a:srgbClr val="2E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0000" y="1728000"/>
            <a:ext cx="10368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>
                <a:solidFill>
                  <a:srgbClr val="2E6FB8"/>
                </a:solidFill>
                <a:latin typeface="メイリオ"/>
                <a:rFonts eastAsia="メイリオ" ascii="メイリオ" hAnsi="メイリオ"/>
              </a:rPr>
              <a:t>中央教育審議会 体育・保健体育、健康、安全ワーキンググループ（第6～9回）から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2232000"/>
            <a:ext cx="10368000" cy="115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1F3A5F"/>
                </a:solidFill>
                <a:latin typeface="メイリオ"/>
                <a:rFonts eastAsia="メイリオ" ascii="メイリオ" hAnsi="メイリオ"/>
              </a:rPr>
              <a:t>これからの体育・保健体育</a:t>
            </a:r>
          </a:p>
          <a:p>
            <a:pPr algn="ctr">
              <a:lnSpc>
                <a:spcPct val="115000"/>
              </a:lnSpc>
            </a:pPr>
            <a:r>
              <a:rPr sz="4400" b="1">
                <a:solidFill>
                  <a:srgbClr val="1F3A5F"/>
                </a:solidFill>
                <a:latin typeface="メイリオ"/>
                <a:rFonts eastAsia="メイリオ" ascii="メイリオ" hAnsi="メイリオ"/>
              </a:rPr>
              <a:t>が目指す方向性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3744000"/>
            <a:ext cx="10368000" cy="1007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E87A1E"/>
                </a:solidFill>
                <a:latin typeface="メイリオ"/>
                <a:rFonts eastAsia="メイリオ" ascii="メイリオ" hAnsi="メイリオ"/>
              </a:rPr>
              <a:t>──「できる／できない」を超えて、「変化と工夫」を支える授業へ──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00" y="108000"/>
            <a:ext cx="10080000" cy="54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練馬区立小学校 体育研究会  指導講評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0000" y="5400000"/>
            <a:ext cx="10368000" cy="503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本日の授業を踏まえて／次期学習指導要領に向けた論点の共有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00" y="6534000"/>
            <a:ext cx="11520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練馬区立小学校 体育研究会  指導講評資料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4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2119" cy="5400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90000"/>
            <a:ext cx="10080000" cy="503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改訂を貫く 3 つの視点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413999"/>
            <a:ext cx="10080000" cy="251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CCDDEE"/>
                </a:solidFill>
                <a:latin typeface="メイリオ"/>
                <a:rFonts eastAsia="メイリオ" ascii="メイリオ" hAnsi="メイリオ"/>
              </a:rPr>
              <a:t>中教審 論点整理（令和7年9月）／第9回WG資料より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40000" y="90000"/>
            <a:ext cx="720000" cy="503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2 /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00" y="900000"/>
            <a:ext cx="11627999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次期学習指導要領の改訂は、次の 3 つの観点を同時に満たすことを目指している。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" y="1440000"/>
            <a:ext cx="3528000" cy="414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0000" y="1440000"/>
            <a:ext cx="3528000" cy="612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0000" y="1440000"/>
            <a:ext cx="3528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①  深い学びの実装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000" y="2124000"/>
            <a:ext cx="3528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1F3A5F"/>
                </a:solidFill>
                <a:latin typeface="メイリオ"/>
                <a:rFonts eastAsia="メイリオ" ascii="メイリオ" hAnsi="メイリオ"/>
              </a:rPr>
              <a:t>Excellence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0000" y="2556000"/>
            <a:ext cx="3528000" cy="251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（卓越性）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0000" y="2880000"/>
            <a:ext cx="2808000" cy="1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00" y="2988000"/>
            <a:ext cx="3096000" cy="25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「高次の資質・能力」を軸に、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断片的な知識・技能の習得を超え、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単元を貫いて考え・工夫し続ける学び。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● 統合的な理解（知・技）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● 総合的な発揮（思・判・表）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の両輪で授業を構想する。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04000" y="1440000"/>
            <a:ext cx="3528000" cy="414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04000" y="1440000"/>
            <a:ext cx="3528000" cy="6120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04000" y="1440000"/>
            <a:ext cx="3528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②  多様性の包摂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04000" y="2124000"/>
            <a:ext cx="3528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2E8B57"/>
                </a:solidFill>
                <a:latin typeface="メイリオ"/>
                <a:rFonts eastAsia="メイリオ" ascii="メイリオ" hAnsi="メイリオ"/>
              </a:rPr>
              <a:t>Equity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04000" y="2556000"/>
            <a:ext cx="3528000" cy="251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（公正性）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64000" y="2880000"/>
            <a:ext cx="2808000" cy="180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20000" y="2988000"/>
            <a:ext cx="3096000" cy="25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体力差・性別・障害の有無を超え、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誰もが楽しさ・喜びを味わえる設計へ。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● 「する」だけでない関わり方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　（みる・支える・知る）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● 用具・ルール・場の工夫で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　全員参加の単元計画を。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48000" y="1440000"/>
            <a:ext cx="3528000" cy="414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9050">
            <a:solidFill>
              <a:srgbClr val="E8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48000" y="1440000"/>
            <a:ext cx="3528000" cy="61200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8000" y="1440000"/>
            <a:ext cx="3528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③  実現可能性の確保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48000" y="2124000"/>
            <a:ext cx="3528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>
                <a:solidFill>
                  <a:srgbClr val="E87A1E"/>
                </a:solidFill>
                <a:latin typeface="メイリオ"/>
                <a:rFonts eastAsia="メイリオ" ascii="メイリオ" hAnsi="メイリオ"/>
              </a:rPr>
              <a:t>Feasibility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48000" y="2556000"/>
            <a:ext cx="3528000" cy="251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（持続性）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08000" y="2880000"/>
            <a:ext cx="2808000" cy="1800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64000" y="2988000"/>
            <a:ext cx="3096000" cy="25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教師と子供の双方に「余白」を生む。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内容の精選と、調整授業時数制度等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を活かした柔軟な単元設計。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● 種目を限定しない示し方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● デジタル学習基盤の活用</a:t>
            </a:r>
          </a:p>
          <a:p>
            <a:pPr algn="l">
              <a:lnSpc>
                <a:spcPct val="12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● 外部人材・地域連携の充実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0000" y="5760000"/>
            <a:ext cx="11448000" cy="720000"/>
          </a:xfrm>
          <a:prstGeom prst="roundRect">
            <a:avLst>
              <a:gd name="adj" fmla="val 10000"/>
            </a:avLst>
          </a:prstGeom>
          <a:solidFill>
            <a:srgbClr val="E8F1FA"/>
          </a:solidFill>
          <a:ln w="9525">
            <a:solidFill>
              <a:srgbClr val="2E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0000" y="5760000"/>
            <a:ext cx="11160000" cy="72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1F3A5F"/>
                </a:solidFill>
                <a:latin typeface="メイリオ"/>
                <a:rFonts eastAsia="メイリオ" ascii="メイリオ" hAnsi="メイリオ"/>
              </a:rPr>
              <a:t>▶ この 3 つは、いずれか一つを優先するのではなく、 同時に追究する ことが求められている。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42000"/>
            <a:ext cx="12192119" cy="21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8000" y="6642000"/>
            <a:ext cx="11520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練馬区立小学校 体育研究会  指導講評資料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4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2119" cy="5400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90000"/>
            <a:ext cx="10080000" cy="503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授業づくりの軸となる「高次の資質・能力」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413999"/>
            <a:ext cx="10080000" cy="251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CCDDEE"/>
                </a:solidFill>
                <a:latin typeface="メイリオ"/>
                <a:rFonts eastAsia="メイリオ" ascii="メイリオ" hAnsi="メイリオ"/>
              </a:rPr>
              <a:t>種目を「教える」から、資質・能力を「育てる」授業へ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40000" y="90000"/>
            <a:ext cx="720000" cy="503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3 /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" y="972000"/>
            <a:ext cx="5580000" cy="4680000"/>
          </a:xfrm>
          <a:prstGeom prst="roundRect">
            <a:avLst>
              <a:gd name="adj" fmla="val 3000"/>
            </a:avLst>
          </a:prstGeom>
          <a:solidFill>
            <a:srgbClr val="E8F1FA"/>
          </a:solidFill>
          <a:ln w="12700">
            <a:solidFill>
              <a:srgbClr val="2E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00" y="1044000"/>
            <a:ext cx="5580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1F3A5F"/>
                </a:solidFill>
                <a:latin typeface="メイリオ"/>
                <a:rFonts eastAsia="メイリオ" ascii="メイリオ" hAnsi="メイリオ"/>
              </a:rPr>
              <a:t>■  高次の資質・能力 とは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000" y="1475999"/>
            <a:ext cx="2520000" cy="165599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000" y="1475999"/>
            <a:ext cx="2520000" cy="360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2000" y="1475999"/>
            <a:ext cx="252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統合的な理解（知・技）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1907999"/>
            <a:ext cx="2304000" cy="115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個々の知識・技能が相互に関連付けられ、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一般化された「分かった」「できた」の姿。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例：ネット型のゲームの特性等に応じて、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ボール操作と仲間との連携で攻防を展開し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楽しさや喜びを味わえることを理解する。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0000" y="1475999"/>
            <a:ext cx="2520000" cy="165599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60000" y="1475999"/>
            <a:ext cx="2520000" cy="3600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0000" y="1475999"/>
            <a:ext cx="2520000" cy="36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総合的な発揮（思・判・表）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68000" y="1907999"/>
            <a:ext cx="2304000" cy="115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知識・技能を、状況に応じて選択・組合せ、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仲間と協働して課題解決していく姿。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例：自他が楽しさや喜びを味わうために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必要なことを考え、練習方法や作戦・攻防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を工夫する。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000" y="3311999"/>
            <a:ext cx="5292000" cy="86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240">
            <a:solidFill>
              <a:srgbClr val="E8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9999" y="3348000"/>
            <a:ext cx="5076001" cy="79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1F3A5F"/>
                </a:solidFill>
                <a:latin typeface="メイリオ"/>
                <a:rFonts eastAsia="メイリオ" ascii="メイリオ" hAnsi="メイリオ"/>
              </a:rPr>
              <a:t>● どんな「動き」「楽しみ方」「関わり方」を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1F3A5F"/>
                </a:solidFill>
                <a:latin typeface="メイリオ"/>
                <a:rFonts eastAsia="メイリオ" ascii="メイリオ" hAnsi="メイリオ"/>
              </a:rPr>
              <a:t>　経験させたかったのか── を起点に。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1F3A5F"/>
                </a:solidFill>
                <a:latin typeface="メイリオ"/>
                <a:rFonts eastAsia="メイリオ" ascii="メイリオ" hAnsi="メイリオ"/>
              </a:rPr>
              <a:t>● 種目はあくまで 資質・能力を育てる「媒介」。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2000" y="4284000"/>
            <a:ext cx="5292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3A5F"/>
                </a:solidFill>
                <a:latin typeface="メイリオ"/>
                <a:rFonts eastAsia="メイリオ" ascii="メイリオ" hAnsi="メイリオ"/>
              </a:rPr>
              <a:t>■  小1～4 と 小5以降 で示し方が変わる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000" y="4572000"/>
            <a:ext cx="5292000" cy="1007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小1～4（運動の基礎を培う時期）：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　 神経系の発達を踏まえ、「どんな動きを意図するか」を軸に。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小5以降（多くの領域を経験する時期）：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　 運動・種目の示し方を柔軟にし、教師の創意工夫を一層促す方向で検討。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48000" y="972000"/>
            <a:ext cx="5868000" cy="4680000"/>
          </a:xfrm>
          <a:prstGeom prst="roundRect">
            <a:avLst>
              <a:gd name="adj" fmla="val 3000"/>
            </a:avLst>
          </a:prstGeom>
          <a:solidFill>
            <a:srgbClr val="FFF6E8"/>
          </a:solidFill>
          <a:ln w="12700">
            <a:solidFill>
              <a:srgbClr val="E8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48000" y="1044000"/>
            <a:ext cx="5868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E87A1E"/>
                </a:solidFill>
                <a:latin typeface="メイリオ"/>
                <a:rFonts eastAsia="メイリオ" ascii="メイリオ" hAnsi="メイリオ"/>
              </a:rPr>
              <a:t>■  「 余 白 」 の 創 出 と 教 師 の 創 意 工 夫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8000" y="1475999"/>
            <a:ext cx="5508000" cy="93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99999" y="1512000"/>
            <a:ext cx="5364001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C0392B"/>
                </a:solidFill>
                <a:latin typeface="メイリオ"/>
                <a:rFonts eastAsia="メイリオ" ascii="メイリオ" hAnsi="メイリオ"/>
              </a:rPr>
              <a:t>【現状の課題】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9999" y="1764000"/>
            <a:ext cx="5364001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「○○運動では××をする」と読める記述が、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運動自体の目的化を招き、児童生徒の内発的動機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に基づく活動や多様性の包摂を難しくしている面。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8784000" y="2466000"/>
            <a:ext cx="360000" cy="251999"/>
          </a:xfrm>
          <a:prstGeom prst="downArrow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228000" y="2772000"/>
            <a:ext cx="5508000" cy="27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2E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99999" y="2808000"/>
            <a:ext cx="5364001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E6FB8"/>
                </a:solidFill>
                <a:latin typeface="メイリオ"/>
                <a:rFonts eastAsia="メイリオ" ascii="メイリオ" hAnsi="メイリオ"/>
              </a:rPr>
              <a:t>【これからの方向性】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2000" y="3131999"/>
            <a:ext cx="5220000" cy="23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● 学習指導要領は 期待する 資質・能力 を分かりやすく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● 具体的な活動例は 指導参考資料 で示し、創意工夫を妨げない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● 2 年間で計画的に学ぶ内容の示し方を一層分かりやすく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● 体育と保健の関連性が高い部分は 系統性 を踏まえ精選</a:t>
            </a:r>
          </a:p>
          <a:p>
            <a:pPr algn="l">
              <a:lnSpc>
                <a:spcPct val="155000"/>
              </a:lnSpc>
            </a:pPr>
            <a:r>
              <a:rPr sz="12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● 教師の余白＝児童の 深い学び の余地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42000"/>
            <a:ext cx="12192119" cy="21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8000" y="6642000"/>
            <a:ext cx="11520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練馬区立小学校 体育研究会  指導講評資料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4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2119" cy="5400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90000"/>
            <a:ext cx="10080000" cy="503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授業改善 ─ 4 つの具体的な視点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413999"/>
            <a:ext cx="10080000" cy="251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CCDDEE"/>
                </a:solidFill>
                <a:latin typeface="メイリオ"/>
                <a:rFonts eastAsia="メイリオ" ascii="メイリオ" hAnsi="メイリオ"/>
              </a:rPr>
              <a:t>第6～9回 WG委員意見・主資料より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40000" y="90000"/>
            <a:ext cx="720000" cy="503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4 /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" y="972000"/>
            <a:ext cx="5724000" cy="234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E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00" y="972000"/>
            <a:ext cx="5724000" cy="432000"/>
          </a:xfrm>
          <a:prstGeom prst="rect">
            <a:avLst/>
          </a:prstGeom>
          <a:solidFill>
            <a:srgbClr val="2E6F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2000" y="972000"/>
            <a:ext cx="5436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①  デジタル学習基盤の活用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4000" y="1512000"/>
            <a:ext cx="5292000" cy="1332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● 動画で動きの可視化／チームの作戦検討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● ウェアラブル端末等によるデータ活用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● クラウド共有で相互の考えを瞬時に交流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● 機器操作の目的化を避け、身体活動時間を確保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4000" y="2988000"/>
            <a:ext cx="5292000" cy="251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2E6FB8"/>
                </a:solidFill>
                <a:latin typeface="メイリオ"/>
                <a:rFonts eastAsia="メイリオ" ascii="メイリオ" hAnsi="メイリオ"/>
              </a:rPr>
              <a:t>［ 参照：宇山委員・中村委員・第9回主資料 ］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2000" y="972000"/>
            <a:ext cx="5724000" cy="234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2000" y="972000"/>
            <a:ext cx="5724000" cy="4320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000" y="972000"/>
            <a:ext cx="5436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②  多様性の包摂（インクルーシブ）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8000" y="1512000"/>
            <a:ext cx="5292000" cy="1332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● 用具・ルール・場の工夫で全員参加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● 「する」だけでなく「みる・支える・知る」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● 柔らかいボール・ネット高調整等の簡易化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● 「できる/できない」を超え 変化・工夫 を見取る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8000" y="2988000"/>
            <a:ext cx="5292000" cy="251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2E8B57"/>
                </a:solidFill>
                <a:latin typeface="メイリオ"/>
                <a:rFonts eastAsia="メイリオ" ascii="メイリオ" hAnsi="メイリオ"/>
              </a:rPr>
              <a:t>［ 参照：宇山委員・岩佐委員・第9回主資料 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8000" y="3456000"/>
            <a:ext cx="5724000" cy="234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E87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88000" y="3456000"/>
            <a:ext cx="5724000" cy="43200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2000" y="3456000"/>
            <a:ext cx="5436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③  体育と保健の関連／教科横断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000" y="3996000"/>
            <a:ext cx="5292000" cy="1332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● 保健「心の健康」×体育「体ほぐしの運動」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● 安全教育を各教科×安全で実践（SPS）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● ヘルスリテラシー：身近な情報を批判的に読む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● 探究の 4 プロセスで「自分ごと」の保健へ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4000" y="5472000"/>
            <a:ext cx="5292000" cy="251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E87A1E"/>
                </a:solidFill>
                <a:latin typeface="メイリオ"/>
                <a:rFonts eastAsia="メイリオ" ascii="メイリオ" hAnsi="メイリオ"/>
              </a:rPr>
              <a:t>［ 参照：南委員・藤田委員・渡邉委員・柏原(奈)委員 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2000" y="3456000"/>
            <a:ext cx="5724000" cy="234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92000" y="3456000"/>
            <a:ext cx="5724000" cy="432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36000" y="3456000"/>
            <a:ext cx="5436000" cy="43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④  調整授業時数制度等の活用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8000" y="3996000"/>
            <a:ext cx="5292000" cy="1332001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● 標準授業時数の 1 割以上を調整可能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● 既存教科上乗せ／新教科／裁量的時間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● 外部専門家連携・地域人材の活用</a:t>
            </a:r>
          </a:p>
          <a:p>
            <a:pPr algn="l">
              <a:lnSpc>
                <a:spcPct val="145000"/>
              </a:lnSpc>
            </a:pPr>
            <a:r>
              <a:rPr sz="13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● 体育と保健の関連を深める単元設計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8000" y="5472000"/>
            <a:ext cx="5292000" cy="251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>
                <a:solidFill>
                  <a:srgbClr val="C0392B"/>
                </a:solidFill>
                <a:latin typeface="メイリオ"/>
                <a:rFonts eastAsia="メイリオ" ascii="メイリオ" hAnsi="メイリオ"/>
              </a:rPr>
              <a:t>［ 参照：第9回主資料・第8回資料2 ］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8000" y="5903999"/>
            <a:ext cx="11627999" cy="612000"/>
          </a:xfrm>
          <a:prstGeom prst="roundRect">
            <a:avLst>
              <a:gd name="adj" fmla="val 15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2000" y="5903999"/>
            <a:ext cx="11340000" cy="61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▶ 4 つはバラバラではなく、 一つの単元の中で重ね合わせて 設計するもの。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42000"/>
            <a:ext cx="12192119" cy="21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8000" y="6642000"/>
            <a:ext cx="11520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練馬区立小学校 体育研究会  指導講評資料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4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4000"/>
            <a:ext cx="12192119" cy="5400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88000" y="90000"/>
            <a:ext cx="10080000" cy="503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本日の授業から ── これからの体育研究へ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00" y="413999"/>
            <a:ext cx="10080000" cy="251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CCDDEE"/>
                </a:solidFill>
                <a:latin typeface="メイリオ"/>
                <a:rFonts eastAsia="メイリオ" ascii="メイリオ" hAnsi="メイリオ"/>
              </a:rPr>
              <a:t>練馬区の先生方へのメッセージ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40000" y="90000"/>
            <a:ext cx="720000" cy="503999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5 /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" y="972000"/>
            <a:ext cx="5580000" cy="4680000"/>
          </a:xfrm>
          <a:prstGeom prst="roundRect">
            <a:avLst>
              <a:gd name="adj" fmla="val 3000"/>
            </a:avLst>
          </a:prstGeom>
          <a:solidFill>
            <a:srgbClr val="E8F1FA"/>
          </a:solidFill>
          <a:ln w="12700">
            <a:solidFill>
              <a:srgbClr val="2E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00" y="1026000"/>
            <a:ext cx="5580000" cy="32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>
                <a:solidFill>
                  <a:srgbClr val="1F3A5F"/>
                </a:solidFill>
                <a:latin typeface="メイリオ"/>
                <a:rFonts eastAsia="メイリオ" ascii="メイリオ" hAnsi="メイリオ"/>
              </a:rPr>
              <a:t>■  本 日 の 授 業 か ら 見 え た こ 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8000" y="1440000"/>
            <a:ext cx="522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E6FB8"/>
                </a:solidFill>
                <a:latin typeface="メイリオ"/>
                <a:rFonts eastAsia="メイリオ" ascii="メイリオ" hAnsi="メイリオ"/>
              </a:rPr>
              <a:t>● 高次の資質・能力 の視点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000" y="1692000"/>
            <a:ext cx="5076001" cy="68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どんな『動き』『楽しみ方』『関わり方』が育まれたか／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単元のどの場面で『統合的な理解』『総合的な発揮』が現れたか。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000" y="2394000"/>
            <a:ext cx="522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E6FB8"/>
                </a:solidFill>
                <a:latin typeface="メイリオ"/>
                <a:rFonts eastAsia="メイリオ" ascii="メイリオ" hAnsi="メイリオ"/>
              </a:rPr>
              <a:t>● 多様性の包摂 の視点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000" y="2646000"/>
            <a:ext cx="5076001" cy="68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運動を苦手とする児童も含め、全員が参加し、自分の『変化』を実感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できていたか。用具・ルール・場の工夫は機能していたか。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000" y="3348000"/>
            <a:ext cx="522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E6FB8"/>
                </a:solidFill>
                <a:latin typeface="メイリオ"/>
                <a:rFonts eastAsia="メイリオ" ascii="メイリオ" hAnsi="メイリオ"/>
              </a:rPr>
              <a:t>● デジタル基盤の活用 の視点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000" y="3600000"/>
            <a:ext cx="5076001" cy="68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ICT は『何のため』に使われていたか／機器操作の目的化が起きていな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かったか。身体活動時間は確保されていたか。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000" y="4302000"/>
            <a:ext cx="522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>
                <a:solidFill>
                  <a:srgbClr val="2E6FB8"/>
                </a:solidFill>
                <a:latin typeface="メイリオ"/>
                <a:rFonts eastAsia="メイリオ" ascii="メイリオ" hAnsi="メイリオ"/>
              </a:rPr>
              <a:t>● 余白と創意工夫 の視点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000" y="4554000"/>
            <a:ext cx="5076001" cy="68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教師の意図と、子供たちの試行錯誤の余地が両立していたか。</a:t>
            </a:r>
          </a:p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指導と評価の計画が、見取りたい姿と整合していたか。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48000" y="972000"/>
            <a:ext cx="5868000" cy="3024000"/>
          </a:xfrm>
          <a:prstGeom prst="roundRect">
            <a:avLst>
              <a:gd name="adj" fmla="val 3000"/>
            </a:avLst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48000" y="1080000"/>
            <a:ext cx="5868000" cy="39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練馬区の先生方へ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48000" y="1512000"/>
            <a:ext cx="2268000" cy="28800"/>
          </a:xfrm>
          <a:prstGeom prst="rect">
            <a:avLst/>
          </a:prstGeom>
          <a:solidFill>
            <a:srgbClr val="E87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8000" y="1655999"/>
            <a:ext cx="5148000" cy="226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種目を 教える 授業 から、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資質・能力を 育てる 授業 へ。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/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「できる／できない」の二元論を超え、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子供一人一人の 変化 と 工夫 を見取り、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それを支える指導と評価を、</a:t>
            </a:r>
          </a:p>
          <a:p>
            <a:pPr algn="ctr">
              <a:lnSpc>
                <a:spcPct val="150000"/>
              </a:lnSpc>
            </a:pPr>
            <a:r>
              <a:rPr sz="1400" b="0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練馬の研究の中で 一緒に 描いていきたい。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48000" y="4104000"/>
            <a:ext cx="5868000" cy="1548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F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28000" y="4140000"/>
            <a:ext cx="5508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F3A5F"/>
                </a:solidFill>
                <a:latin typeface="メイリオ"/>
                <a:rFonts eastAsia="メイリオ" ascii="メイリオ" hAnsi="メイリオ"/>
              </a:rPr>
              <a:t>▼ 参考資料 ／ 主な出典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9999" y="4428000"/>
            <a:ext cx="5364001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・中央教育審議会 体育・保健体育、健康、安全WG</a:t>
            </a: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  　第6回（R8.1.16）／第7回（R8.2.19）／第8回（R8.3.27）／第9回（R8.4.24）</a:t>
            </a: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・教育課程企画特別部会 論点整理（令和7年9月）</a:t>
            </a: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333333"/>
                </a:solidFill>
                <a:latin typeface="メイリオ"/>
                <a:rFonts eastAsia="メイリオ" ascii="メイリオ" hAnsi="メイリオ"/>
              </a:rPr>
              <a:t>・第9回WG資料「体育・保健体育の指導と評価の改善・充実について」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42000"/>
            <a:ext cx="12192119" cy="216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8000" y="6642000"/>
            <a:ext cx="11520000" cy="21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FFFFFF"/>
                </a:solidFill>
                <a:latin typeface="メイリオ"/>
                <a:rFonts eastAsia="メイリオ" ascii="メイリオ" hAnsi="メイリオ"/>
              </a:rPr>
              <a:t>練馬区立小学校 体育研究会  指導講評資料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