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次期改訂を貫く 3つの方向性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論点整理（令和7年9月）で示された 体育科 の進む方向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3780000" cy="4176000"/>
          </a:xfrm>
          <a:prstGeom prst="roundRect">
            <a:avLst>
              <a:gd name="adj" fmla="val 3000"/>
            </a:avLst>
          </a:prstGeom>
          <a:solidFill>
            <a:srgbClr val="ECF3FA"/>
          </a:solidFill>
          <a:ln w="2286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692000"/>
            <a:ext cx="3780000" cy="72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692000"/>
            <a:ext cx="3780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484000"/>
            <a:ext cx="37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Excellence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000" y="3060000"/>
            <a:ext cx="3780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（卓越性）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6000" y="3492000"/>
            <a:ext cx="2700000" cy="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000" y="3600000"/>
            <a:ext cx="3780000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深い学び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000" y="4284000"/>
            <a:ext cx="34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高次の資質・能力を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授業の軸にする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6000" y="1692000"/>
            <a:ext cx="3780000" cy="4176000"/>
          </a:xfrm>
          <a:prstGeom prst="roundRect">
            <a:avLst>
              <a:gd name="adj" fmla="val 3000"/>
            </a:avLst>
          </a:prstGeom>
          <a:solidFill>
            <a:srgbClr val="E6F4EB"/>
          </a:solidFill>
          <a:ln w="2286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6000" y="1692000"/>
            <a:ext cx="3780000" cy="720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6000" y="1692000"/>
            <a:ext cx="3780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6000" y="2484000"/>
            <a:ext cx="37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Equity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6000" y="3060000"/>
            <a:ext cx="3780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（公正性）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6000" y="3492000"/>
            <a:ext cx="2700000" cy="28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6000" y="3600000"/>
            <a:ext cx="3780000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多様性の包摂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0000" y="4284000"/>
            <a:ext cx="34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全ての子どもが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楽しさを味わう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6000" y="1692000"/>
            <a:ext cx="3780000" cy="4176000"/>
          </a:xfrm>
          <a:prstGeom prst="roundRect">
            <a:avLst>
              <a:gd name="adj" fmla="val 3000"/>
            </a:avLst>
          </a:prstGeom>
          <a:solidFill>
            <a:srgbClr val="FFF2E0"/>
          </a:solidFill>
          <a:ln w="2286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6000" y="1692000"/>
            <a:ext cx="3780000" cy="720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6000" y="1692000"/>
            <a:ext cx="3780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6000" y="2484000"/>
            <a:ext cx="37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Feasibility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6000" y="3060000"/>
            <a:ext cx="3780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（持続性）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66000" y="3492000"/>
            <a:ext cx="2700000" cy="288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6000" y="3600000"/>
            <a:ext cx="3780000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実現可能性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0000" y="4284000"/>
            <a:ext cx="34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余白と創意工夫を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大切にする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体育科の 中心となる 考え方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1260000"/>
            <a:ext cx="10728000" cy="1512000"/>
          </a:xfrm>
          <a:prstGeom prst="roundRect">
            <a:avLst>
              <a:gd name="adj" fmla="val 5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04000"/>
            <a:ext cx="10368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これまでの 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836000"/>
            <a:ext cx="10368000" cy="86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種目を 教える 授業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580000" y="2915999"/>
            <a:ext cx="1080000" cy="648000"/>
          </a:xfrm>
          <a:prstGeom prst="downArrow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0000" y="3888000"/>
            <a:ext cx="10728000" cy="1872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4068000"/>
            <a:ext cx="10368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次期改訂の 方向性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36000"/>
            <a:ext cx="10368000" cy="108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資質・能力を 育てる 授業へ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6012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─ 種目は、資質・能力を 育てる 媒介（手段） 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授業の軸「高次の資質・能力」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個別の知・技を 関連付け、深い学びへ つなぐ 2つの姿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5688000" cy="396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692000"/>
            <a:ext cx="5688000" cy="792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692000"/>
            <a:ext cx="5688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統合的な 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556000"/>
            <a:ext cx="568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知識 及び 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3024000"/>
            <a:ext cx="5292000" cy="25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知 と 技 が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関連付けられ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一般化 された 姿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「だから こう動く」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92000"/>
            <a:ext cx="5688000" cy="3960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2000" y="1692000"/>
            <a:ext cx="5688000" cy="792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2000" y="1692000"/>
            <a:ext cx="5688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総合的な 発揮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2000" y="2556000"/>
            <a:ext cx="568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思考力・判断力・表現力 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0000" y="3024000"/>
            <a:ext cx="5292000" cy="25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状況に応じて 選び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仲間と 課題解決する 姿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「だから こう工夫する」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5903999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▶  2つを セット で、 単元を通して 育てる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学習指導要領の 示し方が変わる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発達段階に応じ、示し方を 工夫する方向 で検討中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5688000" cy="432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286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692000"/>
            <a:ext cx="5688000" cy="792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692000"/>
            <a:ext cx="5688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小1 〜 4年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520000"/>
            <a:ext cx="5688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運動の基礎を培う時期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3060000"/>
            <a:ext cx="5292000" cy="288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どんな 動き を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意図しているか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を軸に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資質・能力を示す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92000"/>
            <a:ext cx="5688000" cy="4320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2286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2000" y="1692000"/>
            <a:ext cx="5688000" cy="79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2000" y="1692000"/>
            <a:ext cx="5688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小5 以降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2000" y="2520000"/>
            <a:ext cx="5688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スポーツを 豊かに経験する時期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0000" y="3060000"/>
            <a:ext cx="5292000" cy="288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種目の示し方を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柔軟にして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教師の創意工夫を</a:t>
            </a:r>
          </a:p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最大限引き出す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「余白」を生み出す 体育へ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深い学びの余地 と、多様性を 包む余地 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1692000"/>
            <a:ext cx="10728000" cy="1692000"/>
          </a:xfrm>
          <a:prstGeom prst="roundRect">
            <a:avLst>
              <a:gd name="adj" fmla="val 4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800000"/>
            <a:ext cx="10368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CCDDEE"/>
                </a:solidFill>
                <a:latin typeface="メイリオ"/>
                <a:rFonts eastAsia="メイリオ" ascii="メイリオ" hAnsi="メイリオ"/>
              </a:rPr>
              <a:t>今回の改訂が 目指す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232000"/>
            <a:ext cx="10368000" cy="100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教師の余白 ＝ 児童の 深い学びの余地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000" y="3600000"/>
            <a:ext cx="3671999" cy="230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000" y="3744000"/>
            <a:ext cx="540000" cy="540000"/>
          </a:xfrm>
          <a:prstGeom prst="roundRect">
            <a:avLst>
              <a:gd name="adj" fmla="val 50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3744000"/>
            <a:ext cx="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4000" y="3798000"/>
            <a:ext cx="2844000" cy="43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内容の精選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" y="4536000"/>
            <a:ext cx="3383999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種目を限定せず</a:t>
            </a:r>
          </a:p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資質・能力で示す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1999" y="3600000"/>
            <a:ext cx="3671999" cy="230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45999" y="3744000"/>
            <a:ext cx="540000" cy="54000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5999" y="3744000"/>
            <a:ext cx="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7999" y="3798000"/>
            <a:ext cx="2844000" cy="43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指導参考資料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999" y="4536000"/>
            <a:ext cx="3383999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活動例は別途</a:t>
            </a:r>
          </a:p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現場の工夫を活かす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8" y="3600000"/>
            <a:ext cx="3671999" cy="230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9998" y="3744000"/>
            <a:ext cx="540000" cy="540000"/>
          </a:xfrm>
          <a:prstGeom prst="roundRect">
            <a:avLst>
              <a:gd name="adj" fmla="val 50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9998" y="3744000"/>
            <a:ext cx="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1998" y="3798000"/>
            <a:ext cx="2844000" cy="43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調整授業時数制度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8" y="4536000"/>
            <a:ext cx="3383999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1割以上を柔軟に</a:t>
            </a:r>
          </a:p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上乗せ・新教科等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全員が 主役になる 体育へ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「できる/できない」を超えて、関わり方を広げる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8000" y="1764000"/>
            <a:ext cx="2736000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000" y="3708000"/>
            <a:ext cx="1656000" cy="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やって楽しむ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6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76000" y="1764000"/>
            <a:ext cx="2736000" cy="251999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8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みる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6000" y="3708000"/>
            <a:ext cx="1656000" cy="288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48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観察して学ぶ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4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E6F4EB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4000" y="1764000"/>
            <a:ext cx="2736000" cy="25199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6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支える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4000" y="3708000"/>
            <a:ext cx="1656000" cy="28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6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仲間を助ける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2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FFF2E0"/>
          </a:solidFill>
          <a:ln w="254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72000" y="1764000"/>
            <a:ext cx="2736000" cy="251999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知る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2000" y="3708000"/>
            <a:ext cx="1656000" cy="288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意味を知る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6000" y="5220000"/>
            <a:ext cx="11574000" cy="1224000"/>
          </a:xfrm>
          <a:prstGeom prst="roundRect">
            <a:avLst>
              <a:gd name="adj" fmla="val 8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0000" y="5220000"/>
            <a:ext cx="11160000" cy="12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用具・ルール・場の工夫で、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運動が苦手な子も 自分の変化を 実感できる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ICT × 体育 ─ 深い学びの道具として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「何のために使うか」を 常に 問い直す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5688000" cy="432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286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692000"/>
            <a:ext cx="5688000" cy="720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692000"/>
            <a:ext cx="5688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活かす 使い方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2556000"/>
            <a:ext cx="5292000" cy="3384000"/>
          </a:xfrm>
          <a:prstGeom prst="rect">
            <a:avLst/>
          </a:prstGeom>
          <a:noFill/>
        </p:spPr>
        <p:txBody>
          <a:bodyPr wrap="square" lIns="43200" rIns="43200" tIns="18000" bIns="1800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動きの 可視化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（動画で 振り返り）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データ で 検証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（タイム・歩数 等）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クラウド で 共有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（作戦・気付き）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2000" y="1692000"/>
            <a:ext cx="5688000" cy="4320000"/>
          </a:xfrm>
          <a:prstGeom prst="roundRect">
            <a:avLst>
              <a:gd name="adj" fmla="val 4000"/>
            </a:avLst>
          </a:prstGeom>
          <a:solidFill>
            <a:srgbClr val="FCECEA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2000" y="1692000"/>
            <a:ext cx="5688000" cy="72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000" y="1692000"/>
            <a:ext cx="5688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避けたい 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0000" y="2556000"/>
            <a:ext cx="5292000" cy="3384000"/>
          </a:xfrm>
          <a:prstGeom prst="rect">
            <a:avLst/>
          </a:prstGeom>
          <a:noFill/>
        </p:spPr>
        <p:txBody>
          <a:bodyPr wrap="square" lIns="43200" rIns="43200" tIns="18000" bIns="1800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機器操作の 目的化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（触ることが目的に）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身体活動時間の 減少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（動く時間を 削らない）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端末頼みの 一斉視聴</a:t>
            </a:r>
          </a:p>
          <a:p>
            <a:pPr algn="l">
              <a:lnSpc>
                <a:spcPct val="165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（主体性を 奪わない）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発育・発達を 踏まえた指導へ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8/10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段階性に応じた指導 が、安全 と 深い学び を支える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1692000"/>
            <a:ext cx="10728000" cy="414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835999"/>
            <a:ext cx="10368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神経系の発達が完成に近づく時期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340000"/>
            <a:ext cx="10368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9〜12歳  ／  ゴールデンエイジ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3384000"/>
            <a:ext cx="5706000" cy="36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000" y="3528000"/>
            <a:ext cx="10080000" cy="21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22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新しい動作や技を 短時間で 習得できる時期</a:t>
            </a:r>
          </a:p>
          <a:p>
            <a:pPr algn="l">
              <a:lnSpc>
                <a:spcPct val="22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多様な動きの経験 が一生の財産になる</a:t>
            </a:r>
          </a:p>
          <a:p>
            <a:pPr algn="l">
              <a:lnSpc>
                <a:spcPct val="22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過度な同一運動・早期専門化は 障害のリスク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000" y="5940000"/>
            <a:ext cx="11574000" cy="503999"/>
          </a:xfrm>
          <a:prstGeom prst="roundRect">
            <a:avLst>
              <a:gd name="adj" fmla="val 2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000" y="5940000"/>
            <a:ext cx="11574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体力テストで計れない 多様な動きを 小学校で経験させる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本日の授業を 振り返る 4つの視点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9/10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000" y="1152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6000" y="1350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000" y="1350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8000" y="1296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高次の 資質・能力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8000" y="1764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どんな動き・楽しみ方が 育まれたか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000" y="2448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6000" y="2646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000" y="2646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8000" y="2592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多様性の 包摂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8000" y="3060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全員が参加し 自分の変化を 実感できたか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000" y="3744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0" y="3942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000" y="3942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8000" y="3888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ICTの 活用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8000" y="4356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ICTは「何のため」か／身体活動時間 は確保できたか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000" y="5040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6000" y="5238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000" y="5238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58000" y="5184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余白と 創意工夫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8000" y="5652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教師の意図 と 子供の試行錯誤 が両立したか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練馬の 先生方へ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10/10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1188000"/>
            <a:ext cx="11106000" cy="4140000"/>
          </a:xfrm>
          <a:prstGeom prst="roundRect">
            <a:avLst>
              <a:gd name="adj" fmla="val 3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0000" y="1620000"/>
            <a:ext cx="5706000" cy="504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1728000"/>
            <a:ext cx="10746000" cy="352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種目を 教える 授業 から、</a:t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資質・能力を 育てる 授業へ。</a:t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一人一人の 変化と工夫 を 見取り、</a:t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練馬の研究の中で 一緒に 描いていきたい。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5436000"/>
            <a:ext cx="11106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5472000"/>
            <a:ext cx="10746000" cy="28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▼ 主な参考資料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760000"/>
            <a:ext cx="10746000" cy="612000"/>
          </a:xfrm>
          <a:prstGeom prst="rect">
            <a:avLst/>
          </a:prstGeom>
          <a:noFill/>
        </p:spPr>
        <p:txBody>
          <a:bodyPr wrap="square" lIns="43200" rIns="432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中央教育審議会 体育・保健体育、健康、安全ワーキンググループ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第6回(R8.1.16)／第7回(R8.2.19)／第8回(R8.3.27)／第9回(R8.4.24)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