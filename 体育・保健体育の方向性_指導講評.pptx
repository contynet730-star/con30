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0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00000"/>
            <a:ext cx="12192119" cy="90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4001"/>
            <a:ext cx="12192119" cy="54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00" y="198000"/>
            <a:ext cx="1152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000" y="1440000"/>
            <a:ext cx="10368000" cy="3780000"/>
          </a:xfrm>
          <a:prstGeom prst="roundRect">
            <a:avLst>
              <a:gd name="adj" fmla="val 3000"/>
            </a:avLst>
          </a:prstGeom>
          <a:solidFill>
            <a:srgbClr val="ECF3FA"/>
          </a:solidFill>
          <a:ln w="127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620000"/>
            <a:ext cx="10368000" cy="43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中教審WG 最新資料（令和8年6月5日 第10回）から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232000"/>
            <a:ext cx="10368000" cy="108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これからの 体育科 が</a:t>
            </a:r>
          </a:p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目指す 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3600000"/>
            <a:ext cx="10368000" cy="108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─ 単元構想 を、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  「高次の資質・能力」から 逆算する 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400000"/>
            <a:ext cx="10368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本日の授業を踏まえて／次期学習指導要領の動向を共有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6498000"/>
            <a:ext cx="115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次期改訂を貫く 3つの方向性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論点整理（令和7年9月）で示された 体育科 の進む方向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3780000" cy="4176000"/>
          </a:xfrm>
          <a:prstGeom prst="roundRect">
            <a:avLst>
              <a:gd name="adj" fmla="val 3000"/>
            </a:avLst>
          </a:prstGeom>
          <a:solidFill>
            <a:srgbClr val="ECF3FA"/>
          </a:solidFill>
          <a:ln w="2286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692000"/>
            <a:ext cx="3780000" cy="72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692000"/>
            <a:ext cx="3780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484000"/>
            <a:ext cx="37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Excellence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000" y="3060000"/>
            <a:ext cx="3780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（卓越性）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6000" y="3492000"/>
            <a:ext cx="2700000" cy="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000" y="3600000"/>
            <a:ext cx="3780000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深い学び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000" y="4284000"/>
            <a:ext cx="34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高次の資質・能力を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授業の軸にする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6000" y="1692000"/>
            <a:ext cx="3780000" cy="4176000"/>
          </a:xfrm>
          <a:prstGeom prst="roundRect">
            <a:avLst>
              <a:gd name="adj" fmla="val 3000"/>
            </a:avLst>
          </a:prstGeom>
          <a:solidFill>
            <a:srgbClr val="E6F4EB"/>
          </a:solidFill>
          <a:ln w="2286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6000" y="1692000"/>
            <a:ext cx="3780000" cy="720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6000" y="1692000"/>
            <a:ext cx="3780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6000" y="2484000"/>
            <a:ext cx="37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Equity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6000" y="3060000"/>
            <a:ext cx="3780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（公正性）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6000" y="3492000"/>
            <a:ext cx="2700000" cy="28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6000" y="3600000"/>
            <a:ext cx="3780000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多様性の包摂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0000" y="4284000"/>
            <a:ext cx="34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全ての子どもが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楽しさを味わう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6000" y="1692000"/>
            <a:ext cx="3780000" cy="4176000"/>
          </a:xfrm>
          <a:prstGeom prst="roundRect">
            <a:avLst>
              <a:gd name="adj" fmla="val 3000"/>
            </a:avLst>
          </a:prstGeom>
          <a:solidFill>
            <a:srgbClr val="FFF2E0"/>
          </a:solidFill>
          <a:ln w="2286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6000" y="1692000"/>
            <a:ext cx="3780000" cy="720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6000" y="1692000"/>
            <a:ext cx="3780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6000" y="2484000"/>
            <a:ext cx="37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Feasibility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6000" y="3060000"/>
            <a:ext cx="3780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（持続性）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66000" y="3492000"/>
            <a:ext cx="2700000" cy="288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6000" y="3600000"/>
            <a:ext cx="3780000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実現可能性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0000" y="4284000"/>
            <a:ext cx="34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余白と創意工夫を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大切にする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体育科の 中心となる 考え方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1260000"/>
            <a:ext cx="10728000" cy="1512000"/>
          </a:xfrm>
          <a:prstGeom prst="roundRect">
            <a:avLst>
              <a:gd name="adj" fmla="val 5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04000"/>
            <a:ext cx="10368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これまでの 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836000"/>
            <a:ext cx="10368000" cy="86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種目を 教える 授業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580000" y="2915999"/>
            <a:ext cx="1080000" cy="648000"/>
          </a:xfrm>
          <a:prstGeom prst="downArrow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0000" y="3888000"/>
            <a:ext cx="10728000" cy="1872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4068000"/>
            <a:ext cx="10368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次期改訂の 方向性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36000"/>
            <a:ext cx="10368000" cy="108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4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資質・能力を 育てる 授業へ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6012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─ 種目は、資質・能力を 育てる 媒介（手段） 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授業の軸「高次の資質・能力」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個別の知・技を 関連付け、深い学びへ つなぐ 2つの姿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5688000" cy="396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692000"/>
            <a:ext cx="5688000" cy="792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692000"/>
            <a:ext cx="5688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統合的な 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556000"/>
            <a:ext cx="568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知識 及び 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3024000"/>
            <a:ext cx="5292000" cy="25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知 と 技 が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関連付けられ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一般化 された 姿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「だから こう動く」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92000"/>
            <a:ext cx="5688000" cy="3960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2000" y="1692000"/>
            <a:ext cx="5688000" cy="792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2000" y="1692000"/>
            <a:ext cx="5688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総合的な 発揮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2000" y="2556000"/>
            <a:ext cx="568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思考力・判断力・表現力 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0000" y="3024000"/>
            <a:ext cx="5292000" cy="25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状況に応じて 選び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仲間と 課題解決する 姿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「だから こう工夫する」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5903999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▶ この2つから 単元を 逆算設計する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単元構想 = 高次の資質・能力から 逆算する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最新WG資料（R8.6.5 第10回）が示した 設計の原理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1655999"/>
            <a:ext cx="10728000" cy="126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692000"/>
            <a:ext cx="1036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①  単元の 到達点 を確認する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052000"/>
            <a:ext cx="10368000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「統合的な理解」 ＋ 「総合的な発揮」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760000" y="2951999"/>
            <a:ext cx="666000" cy="432000"/>
          </a:xfrm>
          <a:prstGeom prst="down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00000" y="3420000"/>
            <a:ext cx="8568000" cy="720000"/>
          </a:xfrm>
          <a:prstGeom prst="roundRect">
            <a:avLst>
              <a:gd name="adj" fmla="val 5000"/>
            </a:avLst>
          </a:prstGeom>
          <a:solidFill>
            <a:srgbClr val="E6F4EB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0000" y="3420000"/>
            <a:ext cx="8568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②  単元目標 ／ 評価規準 を立てる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60000" y="4212000"/>
            <a:ext cx="666000" cy="432000"/>
          </a:xfrm>
          <a:prstGeom prst="down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0000" y="4680000"/>
            <a:ext cx="10728000" cy="1332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4716000"/>
            <a:ext cx="1036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③  各時間の 学習活動 を配置する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000" y="5040000"/>
            <a:ext cx="10368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「到達点 に どう つながるか」 を見える化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単元構想図 の イメージ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ネット型 ボール運動（例） ─ 各時の学習が 到達点 へ どうつながるか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548000"/>
            <a:ext cx="5688000" cy="827999"/>
          </a:xfrm>
          <a:prstGeom prst="roundRect">
            <a:avLst>
              <a:gd name="adj" fmla="val 5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000" y="1548000"/>
            <a:ext cx="568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統合的な理解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000" y="1836000"/>
            <a:ext cx="5688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攻防を展開し、楽しさを味わう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知・技 を 理解する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2000" y="1548000"/>
            <a:ext cx="5688000" cy="827999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2000" y="1548000"/>
            <a:ext cx="5688000" cy="3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総合的な発揮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2000" y="1836000"/>
            <a:ext cx="5688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誰もが楽しむために必要なことを考え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練習方法・作戦を 工夫する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20000" y="2448000"/>
            <a:ext cx="540000" cy="288000"/>
          </a:xfrm>
          <a:prstGeom prst="down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9000000" y="2448000"/>
            <a:ext cx="540000" cy="288000"/>
          </a:xfrm>
          <a:prstGeom prst="down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0000" y="2808000"/>
            <a:ext cx="10746000" cy="503999"/>
          </a:xfrm>
          <a:prstGeom prst="roundRect">
            <a:avLst>
              <a:gd name="adj" fmla="val 2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2808000"/>
            <a:ext cx="10746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単元目標 ／ 評価規準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03999" y="3384000"/>
            <a:ext cx="360000" cy="251999"/>
          </a:xfrm>
          <a:prstGeom prst="down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6000" y="3744000"/>
            <a:ext cx="1800000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" y="3744000"/>
            <a:ext cx="1800000" cy="36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000" y="3744000"/>
            <a:ext cx="180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000" y="4176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オリエン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テーション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6000" y="4968000"/>
            <a:ext cx="1440000" cy="1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5004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試しのゲーム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03200" y="3744000"/>
            <a:ext cx="1800000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03200" y="3744000"/>
            <a:ext cx="1800000" cy="360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03200" y="3744000"/>
            <a:ext cx="180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75200" y="4176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基本の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ボール操作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83200" y="4968000"/>
            <a:ext cx="1440000" cy="18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75200" y="5004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簡易ゲーム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00400" y="3744000"/>
            <a:ext cx="1800000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00400" y="3744000"/>
            <a:ext cx="1800000" cy="360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00400" y="3744000"/>
            <a:ext cx="180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2400" y="4176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場や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ルールの工夫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0400" y="4968000"/>
            <a:ext cx="1440000" cy="18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2400" y="5004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誰もが楽しむ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97600" y="3744000"/>
            <a:ext cx="1800000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97600" y="3744000"/>
            <a:ext cx="1800000" cy="360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7600" y="3744000"/>
            <a:ext cx="180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69600" y="4176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課題の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発見と練習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7600" y="4968000"/>
            <a:ext cx="1440000" cy="18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69600" y="5004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チームで協働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4800" y="3744000"/>
            <a:ext cx="1800000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94800" y="3744000"/>
            <a:ext cx="1800000" cy="360000"/>
          </a:xfrm>
          <a:prstGeom prst="rect">
            <a:avLst/>
          </a:prstGeom>
          <a:solidFill>
            <a:srgbClr val="6B4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94800" y="3744000"/>
            <a:ext cx="180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6800" y="4176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フェアな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プレイ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74800" y="4968000"/>
            <a:ext cx="1440000" cy="18000"/>
          </a:xfrm>
          <a:prstGeom prst="rect">
            <a:avLst/>
          </a:prstGeom>
          <a:solidFill>
            <a:srgbClr val="6B4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66800" y="5004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469C"/>
                </a:solidFill>
                <a:latin typeface="メイリオ"/>
                <a:rFonts eastAsia="メイリオ" ascii="メイリオ" hAnsi="メイリオ"/>
              </a:rPr>
              <a:t>公正・共生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92000" y="3744000"/>
            <a:ext cx="1800000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92000" y="3744000"/>
            <a:ext cx="1800000" cy="36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92000" y="3744000"/>
            <a:ext cx="180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64000" y="4176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リーグ戦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まとめ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72000" y="4968000"/>
            <a:ext cx="1440000" cy="1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64000" y="5004000"/>
            <a:ext cx="1656000" cy="72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知・技の発揮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00" y="5868000"/>
            <a:ext cx="11627999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▶ 各時の学習が、何 へ つながるか を 教師が 説明できる単元へ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単元を 構想する 教師の 思考プロセス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最新WG資料が示す 4つの 問い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692000"/>
            <a:ext cx="11574000" cy="1026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0000" y="1836000"/>
            <a:ext cx="827999" cy="756000"/>
          </a:xfrm>
          <a:prstGeom prst="roundRect">
            <a:avLst>
              <a:gd name="adj" fmla="val 15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1836000"/>
            <a:ext cx="827999" cy="75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6000" y="1800000"/>
            <a:ext cx="6300000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この単元の</a:t>
            </a:r>
          </a:p>
          <a:p>
            <a:pPr algn="l">
              <a:lnSpc>
                <a:spcPct val="135000"/>
              </a:lnSpc>
            </a:pPr>
            <a:r>
              <a:rPr sz="18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『高次の資質・能力』 は 何か？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58000" y="2088000"/>
            <a:ext cx="251999" cy="251999"/>
          </a:xfrm>
          <a:prstGeom prst="right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8000" y="1800000"/>
            <a:ext cx="3671999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まず 到達点 を 確認する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000" y="2782800"/>
            <a:ext cx="11574000" cy="1026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926800"/>
            <a:ext cx="827999" cy="756000"/>
          </a:xfrm>
          <a:prstGeom prst="roundRect">
            <a:avLst>
              <a:gd name="adj" fmla="val 15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000" y="2926800"/>
            <a:ext cx="827999" cy="75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6000" y="2890800"/>
            <a:ext cx="6300000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楽しさを 味わうには、</a:t>
            </a:r>
          </a:p>
          <a:p>
            <a:pPr algn="l">
              <a:lnSpc>
                <a:spcPct val="135000"/>
              </a:lnSpc>
            </a:pPr>
            <a:r>
              <a:rPr sz="1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どんな 知・技 が 必要か？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58000" y="3178800"/>
            <a:ext cx="251999" cy="251999"/>
          </a:xfrm>
          <a:prstGeom prst="right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8000" y="2890800"/>
            <a:ext cx="3671999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ゴールから 必要な要素 を 洗い出す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000" y="3873600"/>
            <a:ext cx="11574000" cy="1026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0000" y="4017600"/>
            <a:ext cx="827999" cy="756000"/>
          </a:xfrm>
          <a:prstGeom prst="roundRect">
            <a:avLst>
              <a:gd name="adj" fmla="val 15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000" y="4017600"/>
            <a:ext cx="827999" cy="75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6000" y="3981600"/>
            <a:ext cx="6300000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知・技 を 思・判・表 と</a:t>
            </a:r>
          </a:p>
          <a:p>
            <a:pPr algn="l">
              <a:lnSpc>
                <a:spcPct val="135000"/>
              </a:lnSpc>
            </a:pPr>
            <a:r>
              <a:rPr sz="1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どう 関連付けて 学ぶか？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758000" y="4269600"/>
            <a:ext cx="251999" cy="251999"/>
          </a:xfrm>
          <a:prstGeom prst="right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8000" y="3981600"/>
            <a:ext cx="3671999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「考えながら できる」 学習過程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000" y="4964400"/>
            <a:ext cx="11574000" cy="1026000"/>
          </a:xfrm>
          <a:prstGeom prst="roundRect">
            <a:avLst>
              <a:gd name="adj" fmla="val 4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0000" y="5108400"/>
            <a:ext cx="827999" cy="75600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000" y="5108400"/>
            <a:ext cx="827999" cy="75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Q4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6000" y="5072400"/>
            <a:ext cx="6300000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各時の学習が、到達点 に</a:t>
            </a:r>
          </a:p>
          <a:p>
            <a:pPr algn="l">
              <a:lnSpc>
                <a:spcPct val="135000"/>
              </a:lnSpc>
            </a:pPr>
            <a:r>
              <a:rPr sz="18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どう つながるか？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758000" y="5360400"/>
            <a:ext cx="251999" cy="251999"/>
          </a:xfrm>
          <a:prstGeom prst="rightArrow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8000" y="5072400"/>
            <a:ext cx="3671999" cy="827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学習活動 と 評価機会 を配置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全員が 主役になる 体育へ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8/10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11627999" cy="46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「できる/できない」 を超えて、関わり方を広げる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8000" y="1764000"/>
            <a:ext cx="2736000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000" y="3708000"/>
            <a:ext cx="1656000" cy="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やって楽しむ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6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76000" y="1764000"/>
            <a:ext cx="2736000" cy="251999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8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みる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6000" y="3708000"/>
            <a:ext cx="1656000" cy="288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48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観察して学ぶ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4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E6F4EB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4000" y="1764000"/>
            <a:ext cx="2736000" cy="25199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6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支える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4000" y="3708000"/>
            <a:ext cx="1656000" cy="28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6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仲間を助ける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2000" y="1764000"/>
            <a:ext cx="2736000" cy="3240000"/>
          </a:xfrm>
          <a:prstGeom prst="roundRect">
            <a:avLst>
              <a:gd name="adj" fmla="val 5000"/>
            </a:avLst>
          </a:prstGeom>
          <a:solidFill>
            <a:srgbClr val="FFF2E0"/>
          </a:solidFill>
          <a:ln w="254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72000" y="1764000"/>
            <a:ext cx="2736000" cy="251999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2267999"/>
            <a:ext cx="2592000" cy="12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知る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2000" y="3708000"/>
            <a:ext cx="1656000" cy="288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3888000"/>
            <a:ext cx="2592000" cy="90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意味を知る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6000" y="5220000"/>
            <a:ext cx="11574000" cy="1224000"/>
          </a:xfrm>
          <a:prstGeom prst="roundRect">
            <a:avLst>
              <a:gd name="adj" fmla="val 8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0000" y="5220000"/>
            <a:ext cx="11160000" cy="1224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用具・ルール・場の 工夫 で、</a:t>
            </a: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運動が苦手な子も 自分の変化を 実感できる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本日の授業を 振り返る 4つの視点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9/10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000" y="1152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6000" y="1350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000" y="1350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8000" y="1296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単元構想 の 視点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8000" y="1764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高次の資質・能力 から 逆算して 各時間が 配置されているか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000" y="2448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6000" y="2646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000" y="2646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8000" y="2592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高次の 資質・能力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8000" y="3060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どんな動き・楽しみ方が 育まれたか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000" y="3744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0" y="3942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000" y="3942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8000" y="3888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多様性の 包摂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8000" y="4356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全員が参加し 自分の変化を 実感できたか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000" y="5040000"/>
            <a:ext cx="11574000" cy="1224000"/>
          </a:xfrm>
          <a:prstGeom prst="roundRect">
            <a:avLst>
              <a:gd name="adj" fmla="val 4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6000" y="5238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000" y="5238000"/>
            <a:ext cx="792000" cy="79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58000" y="5184000"/>
            <a:ext cx="10260000" cy="396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余白と 創意工夫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8000" y="5652000"/>
            <a:ext cx="10260000" cy="503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教師の意図 と 子供の試行錯誤 が 両立したか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9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2119" cy="7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792000" cy="540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792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4000" y="198000"/>
            <a:ext cx="954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練馬の 先生方へ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198000"/>
            <a:ext cx="1080000" cy="54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10/10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1188000"/>
            <a:ext cx="11106000" cy="4140000"/>
          </a:xfrm>
          <a:prstGeom prst="roundRect">
            <a:avLst>
              <a:gd name="adj" fmla="val 3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0000" y="1620000"/>
            <a:ext cx="5706000" cy="504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1728000"/>
            <a:ext cx="10746000" cy="352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種目を 教える 授業 から、</a:t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資質・能力を 育てる 授業へ。</a:t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単元を 高次の資質・能力 から 逆算 し、</a:t>
            </a:r>
          </a:p>
          <a:p>
            <a:pPr algn="ctr">
              <a:lnSpc>
                <a:spcPct val="155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一人一人の 変化と工夫 を 見取る。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5436000"/>
            <a:ext cx="11106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5472000"/>
            <a:ext cx="10746000" cy="288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▼ 主な参考資料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760000"/>
            <a:ext cx="10746000" cy="612000"/>
          </a:xfrm>
          <a:prstGeom prst="rect">
            <a:avLst/>
          </a:prstGeom>
          <a:noFill/>
        </p:spPr>
        <p:txBody>
          <a:bodyPr wrap="square" lIns="43200" rIns="43200" tIns="18000" bIns="1800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中央教育審議会 体育・保健体育、健康、安全ワーキンググループ 第6～10回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特に第10回（R8.6.5）「単元構想に向けた『統合的な理解』『総合的な発揮』の活用イメージ」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6001"/>
            <a:ext cx="12192119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6606001"/>
            <a:ext cx="7200000" cy="251999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no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体育・保健体育、健康、安全WG（第6～10回）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