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211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次 期 改 訂 を 貫 く 3 つ の 方 向 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60000"/>
            <a:ext cx="11627999" cy="503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論点整理（令和 7 年 9 月）で示された 体育科 の進む方向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872000"/>
            <a:ext cx="3780000" cy="4104000"/>
          </a:xfrm>
          <a:prstGeom prst="roundRect">
            <a:avLst>
              <a:gd name="adj" fmla="val 3000"/>
            </a:avLst>
          </a:prstGeom>
          <a:solidFill>
            <a:srgbClr val="ECF3FA"/>
          </a:solidFill>
          <a:ln w="2286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872000"/>
            <a:ext cx="3780000" cy="75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872000"/>
            <a:ext cx="3780000" cy="75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5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0" y="2699999"/>
            <a:ext cx="3780000" cy="57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Excellence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06000" y="3312000"/>
            <a:ext cx="3780000" cy="324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>
                <a:solidFill>
                  <a:srgbClr val="555555"/>
                </a:solidFill>
                <a:latin typeface="メイリオ"/>
                <a:rFonts eastAsia="メイリオ" ascii="メイリオ" hAnsi="メイリオ"/>
              </a:rPr>
              <a:t>（卓越性）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6000" y="3744000"/>
            <a:ext cx="2700000" cy="288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000" y="3852000"/>
            <a:ext cx="378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深い学び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0000" y="4536000"/>
            <a:ext cx="3492000" cy="1368000"/>
          </a:xfrm>
          <a:prstGeom prst="rect">
            <a:avLst/>
          </a:prstGeom>
          <a:noFill/>
        </p:spPr>
        <p:txBody>
          <a:bodyPr wrap="square" lIns="54000" rIns="54000" tIns="18000" bIns="1800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高次の資質・能力</a:t>
            </a:r>
          </a:p>
          <a:p>
            <a:pPr algn="ctr">
              <a:lnSpc>
                <a:spcPct val="15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を 軸にする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266000" y="1872000"/>
            <a:ext cx="3780000" cy="4104000"/>
          </a:xfrm>
          <a:prstGeom prst="roundRect">
            <a:avLst>
              <a:gd name="adj" fmla="val 3000"/>
            </a:avLst>
          </a:prstGeom>
          <a:solidFill>
            <a:srgbClr val="E6F4EB"/>
          </a:solidFill>
          <a:ln w="2286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266000" y="1872000"/>
            <a:ext cx="3780000" cy="756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266000" y="1872000"/>
            <a:ext cx="3780000" cy="75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5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66000" y="2699999"/>
            <a:ext cx="3780000" cy="57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Equity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266000" y="3312000"/>
            <a:ext cx="3780000" cy="324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>
                <a:solidFill>
                  <a:srgbClr val="555555"/>
                </a:solidFill>
                <a:latin typeface="メイリオ"/>
                <a:rFonts eastAsia="メイリオ" ascii="メイリオ" hAnsi="メイリオ"/>
              </a:rPr>
              <a:t>（公正性）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806000" y="3744000"/>
            <a:ext cx="2700000" cy="288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6000" y="3852000"/>
            <a:ext cx="378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多様性 の 包摂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10000" y="4536000"/>
            <a:ext cx="3492000" cy="1368000"/>
          </a:xfrm>
          <a:prstGeom prst="rect">
            <a:avLst/>
          </a:prstGeom>
          <a:noFill/>
        </p:spPr>
        <p:txBody>
          <a:bodyPr wrap="square" lIns="54000" rIns="54000" tIns="18000" bIns="1800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全ての子どもが</a:t>
            </a:r>
          </a:p>
          <a:p>
            <a:pPr algn="ctr">
              <a:lnSpc>
                <a:spcPct val="15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楽しさ を 味わう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226000" y="1872000"/>
            <a:ext cx="3780000" cy="4104000"/>
          </a:xfrm>
          <a:prstGeom prst="roundRect">
            <a:avLst>
              <a:gd name="adj" fmla="val 3000"/>
            </a:avLst>
          </a:prstGeom>
          <a:solidFill>
            <a:srgbClr val="FFF2E0"/>
          </a:solidFill>
          <a:ln w="2286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26000" y="1872000"/>
            <a:ext cx="3780000" cy="756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226000" y="1872000"/>
            <a:ext cx="3780000" cy="75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5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③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6000" y="2699999"/>
            <a:ext cx="3780000" cy="57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Feasibility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6000" y="3312000"/>
            <a:ext cx="3780000" cy="324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>
                <a:solidFill>
                  <a:srgbClr val="555555"/>
                </a:solidFill>
                <a:latin typeface="メイリオ"/>
                <a:rFonts eastAsia="メイリオ" ascii="メイリオ" hAnsi="メイリオ"/>
              </a:rPr>
              <a:t>（持続性）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766000" y="3744000"/>
            <a:ext cx="2700000" cy="288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6000" y="3852000"/>
            <a:ext cx="378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実現可能性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70000" y="4536000"/>
            <a:ext cx="3492000" cy="1368000"/>
          </a:xfrm>
          <a:prstGeom prst="rect">
            <a:avLst/>
          </a:prstGeom>
          <a:noFill/>
        </p:spPr>
        <p:txBody>
          <a:bodyPr wrap="square" lIns="54000" rIns="54000" tIns="18000" bIns="18000" anchor="t">
            <a:spAutoFit/>
          </a:bodyPr>
          <a:lstStyle/>
          <a:p>
            <a:pPr algn="ctr">
              <a:lnSpc>
                <a:spcPct val="15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余白 と 創意工夫</a:t>
            </a:r>
          </a:p>
          <a:p>
            <a:pPr algn="ctr">
              <a:lnSpc>
                <a:spcPct val="15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を 大切にする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体 育 科 の 中 心 と な る 考 え 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2/10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0000" y="1332000"/>
            <a:ext cx="10728000" cy="1440000"/>
          </a:xfrm>
          <a:prstGeom prst="roundRect">
            <a:avLst>
              <a:gd name="adj" fmla="val 5000"/>
            </a:avLst>
          </a:prstGeom>
          <a:solidFill>
            <a:srgbClr val="FCECEA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00000" y="1440000"/>
            <a:ext cx="10368000" cy="43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C0392B"/>
                </a:solidFill>
                <a:latin typeface="メイリオ"/>
                <a:rFonts eastAsia="メイリオ" ascii="メイリオ" hAnsi="メイリオ"/>
              </a:rPr>
              <a:t>これまでの 課題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00000" y="1908000"/>
            <a:ext cx="10368000" cy="864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種目 （バレー・跳び箱…） を 教える 授業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5580000" y="2952000"/>
            <a:ext cx="1080000" cy="648000"/>
          </a:xfrm>
          <a:prstGeom prst="downArrow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20000" y="3960000"/>
            <a:ext cx="10728000" cy="1800000"/>
          </a:xfrm>
          <a:prstGeom prst="roundRect">
            <a:avLst>
              <a:gd name="adj" fmla="val 5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4104000"/>
            <a:ext cx="10368000" cy="43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次期改訂の 方向性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0000" y="4572000"/>
            <a:ext cx="10368000" cy="108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資質・能力 を 育てる 授業 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8000" y="6012000"/>
            <a:ext cx="11627999" cy="468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種目 は、 資質・能力 を 育てるための 媒介 （手段）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授 業 づ く り の 軸 「 高 次 の 資 質 ・ 能 力 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3/10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24000"/>
            <a:ext cx="11627999" cy="503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個別の 知 ・ 技 を 関連付け、 深い学び に つなぐ 2 つ の 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908000"/>
            <a:ext cx="5688000" cy="3780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908000"/>
            <a:ext cx="5688000" cy="827999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908000"/>
            <a:ext cx="5688000" cy="827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統合的な 理解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0" y="2808000"/>
            <a:ext cx="5688000" cy="324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知 識 及 び 技 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999" y="3312000"/>
            <a:ext cx="5292000" cy="216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知 と 技 が</a:t>
            </a:r>
          </a:p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関連付け られ</a:t>
            </a:r>
          </a:p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一般化 された 姿</a:t>
            </a:r>
          </a:p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「だから こう動く」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908000"/>
            <a:ext cx="5688000" cy="3780000"/>
          </a:xfrm>
          <a:prstGeom prst="roundRect">
            <a:avLst>
              <a:gd name="adj" fmla="val 4000"/>
            </a:avLst>
          </a:prstGeom>
          <a:solidFill>
            <a:srgbClr val="E6F4EB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2000" y="1908000"/>
            <a:ext cx="5688000" cy="82799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2000" y="1908000"/>
            <a:ext cx="5688000" cy="827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4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総合的な 発揮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2000" y="2808000"/>
            <a:ext cx="5688000" cy="324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0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思 ・ 判 ・ 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0000" y="3312000"/>
            <a:ext cx="5292000" cy="216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状況に応じ 選び</a:t>
            </a:r>
          </a:p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仲間と 課題解決 する 姿</a:t>
            </a:r>
          </a:p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50000"/>
              </a:lnSpc>
            </a:pPr>
            <a:r>
              <a:rPr sz="28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「だから こう工夫する」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000" y="5903999"/>
            <a:ext cx="11627999" cy="503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▶  2 つ を セット で、 単元 を 通して 育てる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学 習 指 導 要 領 の 示 し 方 が 変 わ 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4/10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24000"/>
            <a:ext cx="11627999" cy="503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発達段階 に 応じ、 示し方 を 工夫する 方向で 検討中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872000"/>
            <a:ext cx="5688000" cy="4176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2286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872000"/>
            <a:ext cx="5688000" cy="7920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872000"/>
            <a:ext cx="5688000" cy="79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小  1  〜  4  年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000" y="2700000"/>
            <a:ext cx="5688000" cy="36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運動の 基礎 を 培う 時期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3999" y="3240000"/>
            <a:ext cx="5292000" cy="2664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どんな 動き を</a:t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意図しているか</a:t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を 軸 に</a:t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資質・能力 を</a:t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分かりやすく 示す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92000" y="1872000"/>
            <a:ext cx="5688000" cy="4176000"/>
          </a:xfrm>
          <a:prstGeom prst="roundRect">
            <a:avLst>
              <a:gd name="adj" fmla="val 4000"/>
            </a:avLst>
          </a:prstGeom>
          <a:solidFill>
            <a:srgbClr val="FFF2E0"/>
          </a:solidFill>
          <a:ln w="2286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92000" y="1872000"/>
            <a:ext cx="5688000" cy="792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92000" y="1872000"/>
            <a:ext cx="5688000" cy="79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小  5  以  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92000" y="2700000"/>
            <a:ext cx="5688000" cy="36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18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スポーツ を 豊かに 経験する 時期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90000" y="3240000"/>
            <a:ext cx="5292000" cy="2664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種目 の 示し方 を</a:t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柔軟 に</a:t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教師 の 創意工夫</a:t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余白 を</a:t>
            </a:r>
          </a:p>
          <a:p>
            <a:pPr algn="ctr">
              <a:lnSpc>
                <a:spcPct val="150000"/>
              </a:lnSpc>
            </a:pPr>
            <a:r>
              <a:rPr sz="26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最大限 引き出す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「 余 白 」 を 生 み 出 す 体 育 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5/10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24000"/>
            <a:ext cx="11627999" cy="503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深い学び の 余地 と、 多様性 を 包む 余地 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1872000"/>
            <a:ext cx="10728000" cy="1872000"/>
          </a:xfrm>
          <a:prstGeom prst="roundRect">
            <a:avLst>
              <a:gd name="adj" fmla="val 4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2015999"/>
            <a:ext cx="10368000" cy="43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0">
                <a:solidFill>
                  <a:srgbClr val="CCDDEE"/>
                </a:solidFill>
                <a:latin typeface="メイリオ"/>
                <a:rFonts eastAsia="メイリオ" ascii="メイリオ" hAnsi="メイリオ"/>
              </a:rPr>
              <a:t>今 回 の 改 訂 が 目 指 す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520000"/>
            <a:ext cx="10368000" cy="108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6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教師 の 余白  ＝  児童 の 深い学び の 余地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68000" y="3960000"/>
            <a:ext cx="3671999" cy="19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2000" y="4104000"/>
            <a:ext cx="540000" cy="540000"/>
          </a:xfrm>
          <a:prstGeom prst="roundRect">
            <a:avLst>
              <a:gd name="adj" fmla="val 50000"/>
            </a:avLst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12000" y="4104000"/>
            <a:ext cx="54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24000" y="4158000"/>
            <a:ext cx="2844000" cy="43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内容 の 精選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000" y="4824000"/>
            <a:ext cx="3383999" cy="1007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種目を限定せず</a:t>
            </a:r>
          </a:p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資質・能力で示す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01999" y="3960000"/>
            <a:ext cx="3671999" cy="19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445999" y="4104000"/>
            <a:ext cx="540000" cy="54000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45999" y="4104000"/>
            <a:ext cx="54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②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57999" y="4158000"/>
            <a:ext cx="2844000" cy="43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指導参考資料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5999" y="4824000"/>
            <a:ext cx="3383999" cy="1007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活動例 は 別途</a:t>
            </a:r>
          </a:p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現場の工夫を阻まない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5998" y="3960000"/>
            <a:ext cx="3671999" cy="1980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8279998" y="4104000"/>
            <a:ext cx="540000" cy="540000"/>
          </a:xfrm>
          <a:prstGeom prst="roundRect">
            <a:avLst>
              <a:gd name="adj" fmla="val 50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79998" y="4104000"/>
            <a:ext cx="54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③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891998" y="4158000"/>
            <a:ext cx="2844000" cy="43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調整授業時数 制度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9998" y="4824000"/>
            <a:ext cx="3383999" cy="1007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1割以上を 柔軟に</a:t>
            </a:r>
          </a:p>
          <a:p>
            <a:pPr algn="ctr">
              <a:lnSpc>
                <a:spcPct val="150000"/>
              </a:lnSpc>
            </a:pPr>
            <a:r>
              <a:rPr sz="18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上乗せ・新教科 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全 員 が 主 役 に な る 体 育 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6/10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24000"/>
            <a:ext cx="11627999" cy="503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「できる ／ できない」 を 超えて、 関わり方 を 広げる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78000" y="1944000"/>
            <a:ext cx="2736000" cy="3311999"/>
          </a:xfrm>
          <a:prstGeom prst="roundRect">
            <a:avLst>
              <a:gd name="adj" fmla="val 5000"/>
            </a:avLst>
          </a:prstGeom>
          <a:solidFill>
            <a:srgbClr val="ECF3FA"/>
          </a:solidFill>
          <a:ln w="254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78000" y="1944000"/>
            <a:ext cx="2736000" cy="251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8000" y="2484000"/>
            <a:ext cx="2736000" cy="1368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66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する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18000" y="3959999"/>
            <a:ext cx="1656000" cy="36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78000" y="4176000"/>
            <a:ext cx="2736000" cy="93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やって 楽しむ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76000" y="1944000"/>
            <a:ext cx="2736000" cy="3311999"/>
          </a:xfrm>
          <a:prstGeom prst="roundRect">
            <a:avLst>
              <a:gd name="adj" fmla="val 5000"/>
            </a:avLst>
          </a:prstGeom>
          <a:solidFill>
            <a:srgbClr val="ECF3FA"/>
          </a:solidFill>
          <a:ln w="2540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276000" y="1944000"/>
            <a:ext cx="2736000" cy="251999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76000" y="2484000"/>
            <a:ext cx="2736000" cy="1368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66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みる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816000" y="3959999"/>
            <a:ext cx="1656000" cy="360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276000" y="4176000"/>
            <a:ext cx="2736000" cy="93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観察して 学ぶ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74000" y="1944000"/>
            <a:ext cx="2736000" cy="3311999"/>
          </a:xfrm>
          <a:prstGeom prst="roundRect">
            <a:avLst>
              <a:gd name="adj" fmla="val 5000"/>
            </a:avLst>
          </a:prstGeom>
          <a:solidFill>
            <a:srgbClr val="E6F4EB"/>
          </a:solidFill>
          <a:ln w="2540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74000" y="1944000"/>
            <a:ext cx="2736000" cy="251999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4000" y="2484000"/>
            <a:ext cx="2736000" cy="1368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66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支える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714000" y="3959999"/>
            <a:ext cx="1656000" cy="36000"/>
          </a:xfrm>
          <a:prstGeom prst="rect">
            <a:avLst/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174000" y="4176000"/>
            <a:ext cx="2736000" cy="93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仲間を 助ける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72000" y="1944000"/>
            <a:ext cx="2736000" cy="3311999"/>
          </a:xfrm>
          <a:prstGeom prst="roundRect">
            <a:avLst>
              <a:gd name="adj" fmla="val 5000"/>
            </a:avLst>
          </a:prstGeom>
          <a:solidFill>
            <a:srgbClr val="FFF2E0"/>
          </a:solidFill>
          <a:ln w="2540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72000" y="1944000"/>
            <a:ext cx="2736000" cy="251999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072000" y="2484000"/>
            <a:ext cx="2736000" cy="1368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66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知る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612000" y="3959999"/>
            <a:ext cx="1656000" cy="360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72000" y="4176000"/>
            <a:ext cx="2736000" cy="93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400" b="1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意味を 知る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06000" y="5472000"/>
            <a:ext cx="11574000" cy="972000"/>
          </a:xfrm>
          <a:prstGeom prst="roundRect">
            <a:avLst>
              <a:gd name="adj" fmla="val 10000"/>
            </a:avLst>
          </a:prstGeom>
          <a:solidFill>
            <a:srgbClr val="FFF2E0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6000" y="5472000"/>
            <a:ext cx="11574000" cy="97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45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用具 ・ ルール ・ 場 の 工夫 で、</a:t>
            </a:r>
          </a:p>
          <a:p>
            <a:pPr algn="ctr">
              <a:lnSpc>
                <a:spcPct val="145000"/>
              </a:lnSpc>
            </a:pPr>
            <a:r>
              <a:rPr sz="22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運動が苦手な子も 自分の 変化 を 実感できる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I C T × 体 育  ─  深 い 学 び の 道 具 と し 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7/10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24000"/>
            <a:ext cx="11627999" cy="503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「何のため に 使うか」 を 常に 問い直す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06000" y="1872000"/>
            <a:ext cx="5688000" cy="4212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2286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06000" y="1872000"/>
            <a:ext cx="5688000" cy="720000"/>
          </a:xfrm>
          <a:prstGeom prst="rect">
            <a:avLst/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06000" y="1872000"/>
            <a:ext cx="5688000" cy="72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活 か す  使 い 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3999" y="2700000"/>
            <a:ext cx="5292000" cy="3240000"/>
          </a:xfrm>
          <a:prstGeom prst="rect">
            <a:avLst/>
          </a:prstGeom>
          <a:noFill/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動きの 可視化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 （動画で 自分・仲間を 見る）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データ で 振り返り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 （ラップタイム・心拍 等）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クラウド で 即時共有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 （作戦 ・ 気付き）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2000" y="1872000"/>
            <a:ext cx="5688000" cy="4212000"/>
          </a:xfrm>
          <a:prstGeom prst="roundRect">
            <a:avLst>
              <a:gd name="adj" fmla="val 4000"/>
            </a:avLst>
          </a:prstGeom>
          <a:solidFill>
            <a:srgbClr val="FCECEA"/>
          </a:solidFill>
          <a:ln w="2286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2000" y="1872000"/>
            <a:ext cx="5688000" cy="720000"/>
          </a:xfrm>
          <a:prstGeom prst="rect">
            <a:avLst/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92000" y="1872000"/>
            <a:ext cx="5688000" cy="72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6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避 け た い こ と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72000" y="2700000"/>
            <a:ext cx="5328000" cy="3240000"/>
          </a:xfrm>
          <a:prstGeom prst="rect">
            <a:avLst/>
          </a:prstGeom>
          <a:noFill/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機器操作 の 目的化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 （触ることが 目的になる）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身体活動時間 の 減少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 （動く時間を 削らない）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端末頼み の 一斉視聴</a:t>
            </a:r>
          </a:p>
          <a:p>
            <a:pPr algn="l">
              <a:lnSpc>
                <a:spcPct val="150000"/>
              </a:lnSpc>
            </a:pPr>
            <a:r>
              <a:rPr sz="22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　 （主体性 を 奪わない）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発 育 ・ 発 達 を 踏 ま え た 指 導 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8/10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24000"/>
            <a:ext cx="11627999" cy="503999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段階性 に 応じた 指導 が、 安全 と 深い学び を 支える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000" y="1908000"/>
            <a:ext cx="10728000" cy="3780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1905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00000" y="2015999"/>
            <a:ext cx="10368000" cy="43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2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神 経 系 の 発 達 が 完 成 に 近 づ く 時 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0000" y="2520000"/>
            <a:ext cx="10368000" cy="108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44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9 〜 12 歳  ／  ゴ ー ル デ ン エ イ ジ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880000" y="3708000"/>
            <a:ext cx="6426000" cy="43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00000" y="3851999"/>
            <a:ext cx="10368000" cy="1728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50000"/>
              </a:lnSpc>
            </a:pPr>
            <a:r>
              <a:rPr sz="24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新しい 動作 や 技 を 短時間で 正確に 習得できる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この時期の 多様な動きの経験 が 一生の財産 に</a:t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24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● 過度な 同一運動 ・ 早期専門化 は スポーツ障害 のリスク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06000" y="5868000"/>
            <a:ext cx="11574000" cy="576000"/>
          </a:xfrm>
          <a:prstGeom prst="roundRect">
            <a:avLst>
              <a:gd name="adj" fmla="val 20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06000" y="5868000"/>
            <a:ext cx="11574000" cy="57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0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「 体力テスト で 計れない 多様な動き 」 を 小学校 で 経験させる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本 日 の 授 業 を 振 り 返 る 4 つ の 視 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9/10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06000" y="1260000"/>
            <a:ext cx="11574000" cy="1188000"/>
          </a:xfrm>
          <a:prstGeom prst="roundRect">
            <a:avLst>
              <a:gd name="adj" fmla="val 4000"/>
            </a:avLst>
          </a:prstGeom>
          <a:solidFill>
            <a:srgbClr val="ECF3FA"/>
          </a:solidFill>
          <a:ln w="19050">
            <a:solidFill>
              <a:srgbClr val="2E6FB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86000" y="14580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2E6F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86000" y="1458000"/>
            <a:ext cx="792000" cy="79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58000" y="1385999"/>
            <a:ext cx="4500000" cy="39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2E6FB8"/>
                </a:solidFill>
                <a:latin typeface="メイリオ"/>
                <a:rFonts eastAsia="メイリオ" ascii="メイリオ" hAnsi="メイリオ"/>
              </a:rPr>
              <a:t>高次の 資質・能力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8000" y="1836000"/>
            <a:ext cx="1026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どんな 動き ・ 楽しみ方 が 育まれたか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06000" y="2512800"/>
            <a:ext cx="11574000" cy="1188000"/>
          </a:xfrm>
          <a:prstGeom prst="roundRect">
            <a:avLst>
              <a:gd name="adj" fmla="val 4000"/>
            </a:avLst>
          </a:prstGeom>
          <a:solidFill>
            <a:srgbClr val="E6F4EB"/>
          </a:solidFill>
          <a:ln w="19050">
            <a:solidFill>
              <a:srgbClr val="2E8B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86000" y="27108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2E8B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86000" y="2710800"/>
            <a:ext cx="792000" cy="79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8000" y="2638799"/>
            <a:ext cx="4500000" cy="39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2E8B57"/>
                </a:solidFill>
                <a:latin typeface="メイリオ"/>
                <a:rFonts eastAsia="メイリオ" ascii="メイリオ" hAnsi="メイリオ"/>
              </a:rPr>
              <a:t>多様性 の 包摂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58000" y="3088800"/>
            <a:ext cx="1026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全員が 参加 し 自分の 変化 を 実感できたか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06000" y="3765600"/>
            <a:ext cx="11574000" cy="1188000"/>
          </a:xfrm>
          <a:prstGeom prst="roundRect">
            <a:avLst>
              <a:gd name="adj" fmla="val 4000"/>
            </a:avLst>
          </a:prstGeom>
          <a:solidFill>
            <a:srgbClr val="FFF2E0"/>
          </a:solidFill>
          <a:ln w="19050">
            <a:solidFill>
              <a:srgbClr val="E87A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6000" y="39636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86000" y="3963600"/>
            <a:ext cx="792000" cy="79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58000" y="3891599"/>
            <a:ext cx="4500000" cy="39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E87A1E"/>
                </a:solidFill>
                <a:latin typeface="メイリオ"/>
                <a:rFonts eastAsia="メイリオ" ascii="メイリオ" hAnsi="メイリオ"/>
              </a:rPr>
              <a:t>I C T の 活用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58000" y="4341600"/>
            <a:ext cx="1026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I C T は 何のため か ／ 身体活動時間 を 確保できたか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06000" y="5018400"/>
            <a:ext cx="11574000" cy="1188000"/>
          </a:xfrm>
          <a:prstGeom prst="roundRect">
            <a:avLst>
              <a:gd name="adj" fmla="val 4000"/>
            </a:avLst>
          </a:prstGeom>
          <a:solidFill>
            <a:srgbClr val="FCECEA"/>
          </a:solidFill>
          <a:ln w="19050">
            <a:solidFill>
              <a:srgbClr val="C0392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486000" y="5216400"/>
            <a:ext cx="792000" cy="792000"/>
          </a:xfrm>
          <a:prstGeom prst="roundRect">
            <a:avLst>
              <a:gd name="adj" fmla="val 50000"/>
            </a:avLst>
          </a:prstGeom>
          <a:solidFill>
            <a:srgbClr val="C039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86000" y="5216400"/>
            <a:ext cx="792000" cy="79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28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④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458000" y="5144399"/>
            <a:ext cx="4500000" cy="396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400" b="1">
                <a:solidFill>
                  <a:srgbClr val="C0392B"/>
                </a:solidFill>
                <a:latin typeface="メイリオ"/>
                <a:rFonts eastAsia="メイリオ" ascii="メイリオ" hAnsi="メイリオ"/>
              </a:rPr>
              <a:t>余白 と 創意工夫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458000" y="5594400"/>
            <a:ext cx="10260000" cy="5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20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教師の 意図 と 子供の 試行錯誤 が 両立 したか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119" cy="1007999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07999"/>
            <a:ext cx="12192119" cy="792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288000" y="198000"/>
            <a:ext cx="864000" cy="612000"/>
          </a:xfrm>
          <a:prstGeom prst="roundRect">
            <a:avLst>
              <a:gd name="adj" fmla="val 18000"/>
            </a:avLst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88000" y="198000"/>
            <a:ext cx="864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96000" y="198000"/>
            <a:ext cx="9360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 馬 の 先 生 方 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72000" y="198000"/>
            <a:ext cx="1116000" cy="612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8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10/10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0000" y="1296000"/>
            <a:ext cx="11106000" cy="4140000"/>
          </a:xfrm>
          <a:prstGeom prst="roundRect">
            <a:avLst>
              <a:gd name="adj" fmla="val 3000"/>
            </a:avLst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880000" y="1800000"/>
            <a:ext cx="6426000" cy="50400"/>
          </a:xfrm>
          <a:prstGeom prst="rect">
            <a:avLst/>
          </a:prstGeom>
          <a:solidFill>
            <a:srgbClr val="E87A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0000" y="1980000"/>
            <a:ext cx="10746000" cy="324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ctr">
              <a:lnSpc>
                <a:spcPct val="16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種目 を 教える 授業 から、</a:t>
            </a:r>
          </a:p>
          <a:p>
            <a:pPr algn="ctr">
              <a:lnSpc>
                <a:spcPct val="16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資質・能力 を 育てる 授業 へ。</a:t>
            </a:r>
          </a:p>
          <a:p>
            <a:pPr algn="ctr">
              <a:lnSpc>
                <a:spcPct val="16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6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「できる ／ できない」 を 超え、</a:t>
            </a:r>
          </a:p>
          <a:p>
            <a:pPr algn="ctr">
              <a:lnSpc>
                <a:spcPct val="16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一人一人 の 変化 と 工夫 を 見取る。</a:t>
            </a:r>
          </a:p>
          <a:p>
            <a:pPr algn="ctr">
              <a:lnSpc>
                <a:spcPct val="16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/>
            </a:r>
          </a:p>
          <a:p>
            <a:pPr algn="ctr">
              <a:lnSpc>
                <a:spcPct val="16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 の 体育研究 の 中で、</a:t>
            </a:r>
          </a:p>
          <a:p>
            <a:pPr algn="ctr">
              <a:lnSpc>
                <a:spcPct val="160000"/>
              </a:lnSpc>
            </a:pPr>
            <a:r>
              <a:rPr sz="3200" b="1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一緒に 描いて いきたい。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0000" y="5508000"/>
            <a:ext cx="11106000" cy="93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1F3A5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0000" y="5544000"/>
            <a:ext cx="10746000" cy="324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1">
                <a:solidFill>
                  <a:srgbClr val="1F3A5F"/>
                </a:solidFill>
                <a:latin typeface="メイリオ"/>
                <a:rFonts eastAsia="メイリオ" ascii="メイリオ" hAnsi="メイリオ"/>
              </a:rPr>
              <a:t>▼ 主 な 参 考 資 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20000" y="5832000"/>
            <a:ext cx="10746000" cy="576000"/>
          </a:xfrm>
          <a:prstGeom prst="rect">
            <a:avLst/>
          </a:prstGeom>
          <a:noFill/>
        </p:spPr>
        <p:txBody>
          <a:bodyPr wrap="square" lIns="54000" rIns="54000" tIns="18000" bIns="1800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中央教育審議会 体育・保健体育、健康、安全 ワーキンググループ</a:t>
            </a:r>
          </a:p>
          <a:p>
            <a:pPr algn="l">
              <a:lnSpc>
                <a:spcPct val="150000"/>
              </a:lnSpc>
            </a:pPr>
            <a:r>
              <a:rPr sz="1300" b="0">
                <a:solidFill>
                  <a:srgbClr val="2B2B2B"/>
                </a:solidFill>
                <a:latin typeface="メイリオ"/>
                <a:rFonts eastAsia="メイリオ" ascii="メイリオ" hAnsi="メイリオ"/>
              </a:rPr>
              <a:t>第 6 回 (R8.1.16) ／ 第 7 回 (R8.2.19) ／ 第 8 回 (R8.3.27) ／ 第 9 回 (R8.4.24)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588000"/>
            <a:ext cx="12192119" cy="270000"/>
          </a:xfrm>
          <a:prstGeom prst="rect">
            <a:avLst/>
          </a:prstGeom>
          <a:solidFill>
            <a:srgbClr val="1F3A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88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2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練馬区立小学校 体育研究会  指導講評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80000" y="6588000"/>
            <a:ext cx="7200000" cy="270000"/>
          </a:xfrm>
          <a:prstGeom prst="rect">
            <a:avLst/>
          </a:prstGeom>
          <a:noFill/>
        </p:spPr>
        <p:txBody>
          <a:bodyPr wrap="square" lIns="54000" rIns="54000" tIns="18000" bIns="18000" anchor="ctr">
            <a:spAutoFit/>
          </a:bodyPr>
          <a:lstStyle/>
          <a:p>
            <a:pPr algn="r">
              <a:lnSpc>
                <a:spcPct val="130000"/>
              </a:lnSpc>
            </a:pPr>
            <a:r>
              <a:rPr sz="1100" b="0">
                <a:solidFill>
                  <a:srgbClr val="FFFFFF"/>
                </a:solidFill>
                <a:latin typeface="メイリオ"/>
                <a:rFonts eastAsia="メイリオ" ascii="メイリオ" hAnsi="メイリオ"/>
              </a:rPr>
              <a:t>出典：中央教育審議会 体育・保健体育、健康、安全WG（第6～9回）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