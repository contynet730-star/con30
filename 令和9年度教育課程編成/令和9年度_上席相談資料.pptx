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52144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令和９年度 教育課程編成に向けて（上席相談）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3891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1521440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令和８年度の作成過程と 令和７年度からの主な変更点（根拠明示）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11548872" cy="420624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89888"/>
            <a:ext cx="11439144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■ 相談の狙い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5376"/>
            <a:ext cx="11338560" cy="7772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令和９年度の素案づくりに向け、</a:t>
            </a:r>
            <a:r>
              <a:rPr sz="16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令和８年度の作成過程・変更点・根拠</a:t>
            </a:r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を上席と共有し、</a:t>
            </a:r>
            <a:r>
              <a:rPr sz="16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令和９年度も同じ論理（上位計画からの一貫した根拠づけ＋変更点の見える化）で進めてよいか</a:t>
            </a:r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を相談したい。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87168"/>
            <a:ext cx="11548872" cy="420624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487168"/>
            <a:ext cx="11439144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■ 令和８年度の文書体系（上位計画から教育課程まで根拠が一直線）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99923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999232"/>
            <a:ext cx="2029967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練馬区教育・子育て大綱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令和３年３月改定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999232"/>
            <a:ext cx="288036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70AD47"/>
                </a:solidFill>
                <a:latin typeface="Meiryo"/>
                <a:ea typeface="メイリオ"/>
                <a:cs typeface="メイリオ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9484" y="299923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6060" y="2999232"/>
            <a:ext cx="2029967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第３次ビジョン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戦略計画４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999232"/>
            <a:ext cx="288036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70AD47"/>
                </a:solidFill>
                <a:latin typeface="Meiryo"/>
                <a:ea typeface="メイリオ"/>
                <a:cs typeface="メイリオ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299923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2999232"/>
            <a:ext cx="2029967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教育振興基本計画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令和４～８年度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5" y="2999232"/>
            <a:ext cx="288036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70AD47"/>
                </a:solidFill>
                <a:latin typeface="Meiryo"/>
                <a:ea typeface="メイリオ"/>
                <a:cs typeface="メイリオ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5491" y="299923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2067" y="2999232"/>
            <a:ext cx="2029967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重点課題・主要施策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３視点×５課題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1179" y="2999232"/>
            <a:ext cx="288036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70AD47"/>
                </a:solidFill>
                <a:latin typeface="Meiryo"/>
                <a:ea typeface="メイリオ"/>
                <a:cs typeface="メイリオ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83495" y="299923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D9EAD3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1" y="2999232"/>
            <a:ext cx="2029967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/>
            <a:r>
              <a:rPr sz="15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各校の教育課程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第２表・届出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14800"/>
            <a:ext cx="11548872" cy="420624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4114800"/>
            <a:ext cx="11439144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■ 令和８年度作成の総括（結論）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45152"/>
            <a:ext cx="11338560" cy="56692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① 視点の絞り込み　</a:t>
            </a:r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大綱・基本計画の３視点へ整理し、上位計画から各校の教育課程まで根拠を一直線に（課長指示）。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48656"/>
            <a:ext cx="11338560" cy="56692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② 見える化　</a:t>
            </a:r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〔新規／拡充等〕と新規事業の赤字で、区の重点・予算・昨年度差分を明示（副参事指示）。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338560" cy="56692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③「支援が必要な子ども」の重点化　</a:t>
            </a:r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大綱改定の新設施策・ビジョンの課題を根拠に、不登校・多様な家庭環境・特別支援の取組を重点化。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52144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令和７年度からの主な変更点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3891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1521440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「どの資料を生かして、何を追記・修正したか」― 根拠を明示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53312"/>
            <a:ext cx="530352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/>
            <a:r>
              <a:rPr sz="1400" b="1">
                <a:solidFill>
                  <a:srgbClr val="C00000"/>
                </a:solidFill>
                <a:latin typeface="Meiryo"/>
                <a:ea typeface="メイリオ"/>
                <a:cs typeface="メイリオ"/>
              </a:rPr>
              <a:t>（新規）</a:t>
            </a:r>
            <a:r>
              <a:rPr sz="13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＝新たに着手　</a:t>
            </a:r>
            <a:r>
              <a:rPr sz="1400" b="1">
                <a:solidFill>
                  <a:srgbClr val="1F4E79"/>
                </a:solidFill>
                <a:latin typeface="Meiryo"/>
                <a:ea typeface="メイリオ"/>
                <a:cs typeface="メイリオ"/>
              </a:rPr>
              <a:t>（拡充）</a:t>
            </a:r>
            <a:r>
              <a:rPr sz="13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＝規模・質を拡充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810512"/>
          <a:ext cx="11548872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2697480"/>
                <a:gridCol w="4709160"/>
                <a:gridCol w="29992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  <a:ea typeface="メイリオ"/>
                          <a:cs typeface="メイリオ"/>
                        </a:rPr>
                        <a:t>区分</a:t>
                      </a:r>
                    </a:p>
                  </a:txBody>
                  <a:tcPr marL="76200" marR="76200" marT="25400" marB="25400" anchor="ctr">
                    <a:solidFill>
                      <a:srgbClr val="2E7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  <a:ea typeface="メイリオ"/>
                          <a:cs typeface="メイリオ"/>
                        </a:rPr>
                        <a:t>生かした資料</a:t>
                      </a:r>
                    </a:p>
                  </a:txBody>
                  <a:tcPr marL="76200" marR="76200" marT="25400" marB="25400" anchor="ctr">
                    <a:solidFill>
                      <a:srgbClr val="2E7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  <a:ea typeface="メイリオ"/>
                          <a:cs typeface="メイリオ"/>
                        </a:rPr>
                        <a:t>追記・修正したこと（Ｒ７→Ｒ８）</a:t>
                      </a:r>
                    </a:p>
                  </a:txBody>
                  <a:tcPr marL="76200" marR="76200" marT="25400" marB="25400" anchor="ctr">
                    <a:solidFill>
                      <a:srgbClr val="2E7D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  <a:ea typeface="メイリオ"/>
                          <a:cs typeface="メイリオ"/>
                        </a:rPr>
                        <a:t>根拠・ねらい</a:t>
                      </a:r>
                    </a:p>
                  </a:txBody>
                  <a:tcPr marL="76200" marR="76200" marT="25400" marB="25400" anchor="ctr">
                    <a:solidFill>
                      <a:srgbClr val="2E7D4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D46"/>
                          </a:solidFill>
                          <a:latin typeface="Meiryo"/>
                          <a:ea typeface="メイリオ"/>
                          <a:cs typeface="メイリオ"/>
                        </a:rPr>
                        <a:t>構造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課長指示／足立区事例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５重点課題を</a:t>
                      </a:r>
                      <a:r>
                        <a:rPr sz="1600" b="1">
                          <a:solidFill>
                            <a:srgbClr val="2E7D46"/>
                          </a:solidFill>
                          <a:latin typeface="Meiryo"/>
                          <a:ea typeface="メイリオ"/>
                          <a:cs typeface="メイリオ"/>
                        </a:rPr>
                        <a:t>「３つの視点」の下に整理・前面化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大綱・基本計画の３視点に一致（視点の絞り込み）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E7D46"/>
                          </a:solidFill>
                          <a:latin typeface="Meiryo"/>
                          <a:ea typeface="メイリオ"/>
                          <a:cs typeface="メイリオ"/>
                        </a:rPr>
                        <a:t>体裁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課長・副参事指示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〔新規／拡充等〕を付与＋</a:t>
                      </a:r>
                      <a:r>
                        <a:rPr sz="1600" b="1">
                          <a:solidFill>
                            <a:srgbClr val="2E7D46"/>
                          </a:solidFill>
                          <a:latin typeface="Meiryo"/>
                          <a:ea typeface="メイリオ"/>
                          <a:cs typeface="メイリオ"/>
                        </a:rPr>
                        <a:t>新規事業を赤字で明示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区の重点・予算化と昨年度差分の見える化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0000"/>
                          </a:solidFill>
                          <a:latin typeface="Meiryo"/>
                          <a:ea typeface="メイリオ"/>
                          <a:cs typeface="メイリオ"/>
                        </a:rPr>
                        <a:t>新規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大綱改定の新設施策／ビジョンの課題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支援が必要な子どもを重点化：</a:t>
                      </a:r>
                      <a:r>
                        <a:rPr sz="1600" b="1">
                          <a:solidFill>
                            <a:srgbClr val="C00000"/>
                          </a:solidFill>
                          <a:latin typeface="Meiryo"/>
                          <a:ea typeface="メイリオ"/>
                          <a:cs typeface="メイリオ"/>
                        </a:rPr>
                        <a:t>校内別室支援員・日本語指導加配・巡回指導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大綱「さまざまな家庭環境で育つ子への支援」新設。不登校等増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0000"/>
                          </a:solidFill>
                          <a:latin typeface="Meiryo"/>
                          <a:ea typeface="メイリオ"/>
                          <a:cs typeface="メイリオ"/>
                        </a:rPr>
                        <a:t>新規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ビジョン／基本計画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ICT毎日活用・情報モラル全学年、</a:t>
                      </a:r>
                      <a:r>
                        <a:rPr sz="1600" b="1">
                          <a:solidFill>
                            <a:srgbClr val="C00000"/>
                          </a:solidFill>
                          <a:latin typeface="Meiryo"/>
                          <a:ea typeface="メイリオ"/>
                          <a:cs typeface="メイリオ"/>
                        </a:rPr>
                        <a:t>CS拡充・エデュケーション・アシスタント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端末定着の段階認識。地域協働・働き方改革</a:t>
                      </a:r>
                    </a:p>
                  </a:txBody>
                  <a:tcPr marL="76200" marR="76200" marT="25400" marB="25400" anchor="ctr">
                    <a:solidFill>
                      <a:srgbClr val="F2F8E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F4E79"/>
                          </a:solidFill>
                          <a:latin typeface="Meiryo"/>
                          <a:ea typeface="メイリオ"/>
                          <a:cs typeface="メイリオ"/>
                        </a:rPr>
                        <a:t>内容・実務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版比較（第５→第９版）／検討記録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編成の根拠を</a:t>
                      </a:r>
                      <a:r>
                        <a:rPr sz="1600" b="1">
                          <a:solidFill>
                            <a:srgbClr val="2E7D46"/>
                          </a:solidFill>
                          <a:latin typeface="Meiryo"/>
                          <a:ea typeface="メイリオ"/>
                          <a:cs typeface="メイリオ"/>
                        </a:rPr>
                        <a:t>「Ｒ８主要施策(案)」に変更</a:t>
                      </a:r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、情報モラルを生徒指導の項へ移動 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Meiryo"/>
                          <a:ea typeface="メイリオ"/>
                          <a:cs typeface="メイリオ"/>
                        </a:rPr>
                        <a:t>主要施策を先に固める筋道（一次証跡で確認）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1521440" cy="749808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変更のねらいと 令和９年度への申し送り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3891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1521440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Meiryo"/>
                <a:ea typeface="メイリオ"/>
                <a:cs typeface="メイリオ"/>
              </a:rPr>
              <a:t>同じ論理で令和９年度を組み立てるための相談論点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5623560" cy="420624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389888"/>
            <a:ext cx="5513832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■ 変更の３つのねらい（Ｒ８）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56816"/>
            <a:ext cx="5394960" cy="1170432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5120640" cy="10972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1. 視点の絞り込み</a:t>
            </a:r>
          </a:p>
          <a:p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上位計画の３視点に整理し筋を通す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73552"/>
            <a:ext cx="5394960" cy="1170432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328416"/>
            <a:ext cx="5120640" cy="10972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2. 見える化</a:t>
            </a:r>
          </a:p>
          <a:p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新規・拡充等と区の重点・差分を明示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90288"/>
            <a:ext cx="5394960" cy="1170432"/>
          </a:xfrm>
          <a:prstGeom prst="roundRect">
            <a:avLst>
              <a:gd name="adj" fmla="val 10000"/>
            </a:avLst>
          </a:prstGeom>
          <a:solidFill>
            <a:srgbClr val="E2EFDA"/>
          </a:solidFill>
          <a:ln w="15875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645151"/>
            <a:ext cx="5120640" cy="10972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2E7D46"/>
                </a:solidFill>
                <a:latin typeface="Meiryo"/>
                <a:ea typeface="メイリオ"/>
                <a:cs typeface="メイリオ"/>
              </a:rPr>
              <a:t>3. 支援が必要な子どもの重点化</a:t>
            </a:r>
          </a:p>
          <a:p>
            <a:r>
              <a:rPr sz="160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大綱改定・ビジョンの課題を根拠に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89888"/>
            <a:ext cx="5605272" cy="420624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389888"/>
            <a:ext cx="5495544" cy="42062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r>
              <a:rPr sz="1800" b="1">
                <a:solidFill>
                  <a:srgbClr val="1E4620"/>
                </a:solidFill>
                <a:latin typeface="Meiryo"/>
                <a:ea typeface="メイリオ"/>
                <a:cs typeface="メイリオ"/>
              </a:rPr>
              <a:t>■ 令和９年度への相談論点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5440680" cy="1133856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50" b="1">
                <a:solidFill>
                  <a:srgbClr val="1F4E79"/>
                </a:solidFill>
                <a:latin typeface="Meiryo"/>
                <a:ea typeface="メイリオ"/>
                <a:cs typeface="メイリオ"/>
              </a:rPr>
              <a:t>① 次期計画への接続</a:t>
            </a:r>
          </a:p>
          <a:p>
            <a:r>
              <a:rPr sz="155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基本計画（令和４～８年度）が令和８年度で期間終了。次期計画の方向性と整合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45536"/>
            <a:ext cx="5440680" cy="1133856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50" b="1">
                <a:solidFill>
                  <a:srgbClr val="1F4E79"/>
                </a:solidFill>
                <a:latin typeface="Meiryo"/>
                <a:ea typeface="メイリオ"/>
                <a:cs typeface="メイリオ"/>
              </a:rPr>
              <a:t>② KPIの設定</a:t>
            </a:r>
          </a:p>
          <a:p>
            <a:r>
              <a:rPr sz="155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ビジョン令和10年度末目標から逆算した指標を施策管理で保持するか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34256"/>
            <a:ext cx="5440680" cy="1133856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50" b="1">
                <a:solidFill>
                  <a:srgbClr val="1F4E79"/>
                </a:solidFill>
                <a:latin typeface="Meiryo"/>
                <a:ea typeface="メイリオ"/>
                <a:cs typeface="メイリオ"/>
              </a:rPr>
              <a:t>③ 文言・目線の整理</a:t>
            </a:r>
          </a:p>
          <a:p>
            <a:r>
              <a:rPr sz="155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学校目線（教育課程＝活用）と委員会目線（施策＝配置）の分離、重点課題５の扱い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522976"/>
            <a:ext cx="5440680" cy="1133856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650" b="1">
                <a:solidFill>
                  <a:srgbClr val="1F4E79"/>
                </a:solidFill>
                <a:latin typeface="Meiryo"/>
                <a:ea typeface="メイリオ"/>
                <a:cs typeface="メイリオ"/>
              </a:rPr>
              <a:t>④ 環境変化への対応</a:t>
            </a:r>
          </a:p>
          <a:p>
            <a:r>
              <a:rPr sz="1550" b="0">
                <a:solidFill>
                  <a:srgbClr val="222222"/>
                </a:solidFill>
                <a:latin typeface="Meiryo"/>
                <a:ea typeface="メイリオ"/>
                <a:cs typeface="メイリオ"/>
              </a:rPr>
              <a:t>生成AI活用・NEXT GIGA・多様な学びの場・教員の人材確保の新規位置づけ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r>
              <a:rPr sz="1250" b="0">
                <a:solidFill>
                  <a:srgbClr val="555555"/>
                </a:solidFill>
                <a:latin typeface="Meiryo"/>
                <a:ea typeface="メイリオ"/>
                <a:cs typeface="メイリオ"/>
              </a:rPr>
              <a:t>※ ③④の具体案は別途「令和９年度 主要施策素案（Ｒ８の成果と課題から）」で提示済み。本相談で方向性を確認いただきたい。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