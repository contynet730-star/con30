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1521440" cy="7315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令和９年度 教育課程編成に向けて（上席相談）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2062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50392"/>
            <a:ext cx="11521440" cy="402336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令和８年度の作成過程と 令和７年度からの主な変更点（根拠明示）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1548872" cy="384048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" y="1417320"/>
            <a:ext cx="11457432" cy="38404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4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■ 相談の狙い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33856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令和９年度の素案づくりに着手するにあたり、</a:t>
            </a:r>
            <a:r>
              <a:rPr sz="130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令和８年度の作成過程・変更点・根拠</a:t>
            </a: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を上席と共有し、</a:t>
            </a:r>
            <a:r>
              <a:rPr sz="130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令和９年度も同じ論理（上位計画からの一貫した根拠づけ＋変更点の見える化）で進めてよいか</a:t>
            </a:r>
            <a:r>
              <a:rPr sz="13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を相談したい。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87168"/>
            <a:ext cx="11548872" cy="384048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4" y="2487168"/>
            <a:ext cx="11457432" cy="38404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4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■ 令和８年度の文書体系（上位計画から教育課程まで根拠が一直線）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7180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971800"/>
            <a:ext cx="2048255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練馬区教育・子育て大綱</a:t>
            </a:r>
          </a:p>
          <a:p>
            <a:pPr algn="ctr"/>
            <a:r>
              <a:rPr sz="8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（令和３年３月改定）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971800"/>
            <a:ext cx="274320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0AD47"/>
                </a:solidFill>
                <a:latin typeface="游ゴシック"/>
                <a:ea typeface="游ゴシック"/>
                <a:cs typeface="游ゴシック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9776" y="297180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7208" y="2971800"/>
            <a:ext cx="2048255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第３次ビジョン</a:t>
            </a:r>
          </a:p>
          <a:p>
            <a:pPr algn="ctr"/>
            <a:r>
              <a:rPr sz="8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戦略計画４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2971800"/>
            <a:ext cx="274320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0AD47"/>
                </a:solidFill>
                <a:latin typeface="游ゴシック"/>
                <a:ea typeface="游ゴシック"/>
                <a:cs typeface="游ゴシック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297180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2971800"/>
            <a:ext cx="2048255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教育振興基本計画</a:t>
            </a:r>
          </a:p>
          <a:p>
            <a:pPr algn="ctr"/>
            <a:r>
              <a:rPr sz="8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（令和４～８年度）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4" y="2971800"/>
            <a:ext cx="274320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0AD47"/>
                </a:solidFill>
                <a:latin typeface="游ゴシック"/>
                <a:ea typeface="游ゴシック"/>
                <a:cs typeface="游ゴシック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8" y="297180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971800"/>
            <a:ext cx="2048255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重点課題・主要施策</a:t>
            </a:r>
          </a:p>
          <a:p>
            <a:pPr algn="ctr"/>
            <a:r>
              <a:rPr sz="8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（３視点×５課題）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971800"/>
            <a:ext cx="274320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0AD47"/>
                </a:solidFill>
                <a:latin typeface="游ゴシック"/>
                <a:ea typeface="游ゴシック"/>
                <a:cs typeface="游ゴシック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47504" y="2971800"/>
            <a:ext cx="2103120" cy="786384"/>
          </a:xfrm>
          <a:prstGeom prst="roundRect">
            <a:avLst>
              <a:gd name="adj" fmla="val 10000"/>
            </a:avLst>
          </a:prstGeom>
          <a:solidFill>
            <a:srgbClr val="D9EAD3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74936" y="2971800"/>
            <a:ext cx="2048255" cy="7863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各校の教育課程</a:t>
            </a:r>
          </a:p>
          <a:p>
            <a:pPr algn="ctr"/>
            <a:r>
              <a:rPr sz="8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（第２表・届出）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069080"/>
            <a:ext cx="11548872" cy="384048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4904" y="4069080"/>
            <a:ext cx="11457432" cy="38404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4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■ 令和８年度作成の総括（結論）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11338560" cy="713232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① 視点の絞り込み（筋を通す）　</a:t>
            </a:r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課長指示「視点が絞れていない」を起点に、大綱・基本計画の３つの視点へ整理。上位計画から各校の教育課程まで根拠を一直線に。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57800"/>
            <a:ext cx="11338560" cy="713232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② 見える化（区の重点・予算・差分）　</a:t>
            </a:r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副参事指示により〔新規／拡充／充実／継続〕を付与し、新規事業を赤字・吹き出しで明示。区の姿勢と昨年度差分を一目で。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989320"/>
            <a:ext cx="11338560" cy="713232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③「支援が必要な子ども」の重点化　</a:t>
            </a:r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大綱改定の新設施策とビジョンの課題認識を根拠に、不登校・多様な家庭環境・特別支援への取組を重点化。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1521440" cy="7315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令和７年度からの主な変更点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2062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50392"/>
            <a:ext cx="11521440" cy="402336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「どの資料を生かして、何を追記・修正したか」― 根拠を明示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371600"/>
            <a:ext cx="420624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r"/>
            <a:r>
              <a:rPr sz="1100" b="1">
                <a:solidFill>
                  <a:srgbClr val="C00000"/>
                </a:solidFill>
                <a:latin typeface="游ゴシック"/>
                <a:ea typeface="游ゴシック"/>
                <a:cs typeface="游ゴシック"/>
              </a:rPr>
              <a:t>（新規）</a:t>
            </a:r>
            <a:r>
              <a:rPr sz="10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＝新たに着手　</a:t>
            </a:r>
            <a:r>
              <a:rPr sz="1100" b="1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（拡充）</a:t>
            </a:r>
            <a:r>
              <a:rPr sz="10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＝規模・質を拡充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783080"/>
          <a:ext cx="11548872" cy="4773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2514600"/>
                <a:gridCol w="4526280"/>
                <a:gridCol w="3547872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区分</a:t>
                      </a:r>
                    </a:p>
                  </a:txBody>
                  <a:tcPr marL="50800" marR="50800" marT="12700" marB="12700" anchor="ctr">
                    <a:solidFill>
                      <a:srgbClr val="2E7D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生かした資料</a:t>
                      </a:r>
                    </a:p>
                  </a:txBody>
                  <a:tcPr marL="50800" marR="50800" marT="12700" marB="12700" anchor="ctr">
                    <a:solidFill>
                      <a:srgbClr val="2E7D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追記・修正したこと（Ｒ７→Ｒ８）</a:t>
                      </a:r>
                    </a:p>
                  </a:txBody>
                  <a:tcPr marL="50800" marR="50800" marT="12700" marB="12700" anchor="ctr">
                    <a:solidFill>
                      <a:srgbClr val="2E7D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根拠・ねらい</a:t>
                      </a:r>
                    </a:p>
                  </a:txBody>
                  <a:tcPr marL="50800" marR="50800" marT="12700" marB="12700" anchor="ctr">
                    <a:solidFill>
                      <a:srgbClr val="2E7D4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6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構造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課長指示／足立区事例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５重点課題を</a:t>
                      </a:r>
                      <a:r>
                        <a:rPr sz="1000" b="1">
                          <a:solidFill>
                            <a:srgbClr val="2E7D46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「３つの視点」の下に整理・前面化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「視点が絞れていない」の解消。大綱・基本計画の３視点に一致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D46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体裁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課長・副参事指示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主要施策に〔新規/拡充等〕付与＋</a:t>
                      </a:r>
                      <a:r>
                        <a:rPr sz="1000" b="1">
                          <a:solidFill>
                            <a:srgbClr val="2E7D46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新規事業を赤字・吹き出し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区の重点・予算化事業と昨年度差分の見える化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新規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大綱改定の新設施策／ビジョンの課題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巡回指導教員・</a:t>
                      </a:r>
                      <a:r>
                        <a:rPr sz="10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校内別室支援員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10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日本語指導加配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（支援重点化）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大綱で「さまざまな家庭環境で育つ子への支援」新設。不登校等増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新規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ビジョン（端末配備完了）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ICT毎日活用＋</a:t>
                      </a:r>
                      <a:r>
                        <a:rPr sz="10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情報モラル教育を全学年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端末定着の段階認識。適正利用（SNS練馬区ルール）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新規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基本計画（地域協働）／働き方改革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CS導入校拡充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1000" b="1">
                          <a:solidFill>
                            <a:srgbClr val="C00000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エデュケーション・アシスタント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大綱「家庭・地域と協働した学校運営」。担い手・負担軽減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課長指示／版比較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編成の根拠を</a:t>
                      </a:r>
                      <a:r>
                        <a:rPr sz="1000" b="1">
                          <a:solidFill>
                            <a:srgbClr val="2E7D46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「Ｒ７重点課題」→「Ｒ８主要施策(案)」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に変更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主要施策を先に固め、それに基づき各校が編成する筋道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第５版→第９版の版比較（一次証跡）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情報モラルを</a:t>
                      </a:r>
                      <a:r>
                        <a:rPr sz="1000" b="1">
                          <a:solidFill>
                            <a:srgbClr val="2E7D46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ICT教育の項→いじめ・命を大切にする教育の項へ移動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「技術」でなく「生徒指導・命」の文脈に位置づけ直し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555555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実務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検討記録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土曜授業の年間設定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・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文書の電子化（公印省略・割印見直し）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参観機会の確保／電子起案を生かした働き方改革</a:t>
                      </a:r>
                    </a:p>
                  </a:txBody>
                  <a:tcPr marL="50800" marR="50800" marT="12700" marB="12700" anchor="ctr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11521440" cy="7315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変更のねらいと 令和９年度への申し送り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20624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50392"/>
            <a:ext cx="11521440" cy="402336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同じ論理で令和９年度を組み立てるための相談論点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623560" cy="384048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" y="1417320"/>
            <a:ext cx="5532120" cy="38404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4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■ 変更の３つのねらい（Ｒ８）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92807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38527"/>
            <a:ext cx="5120640" cy="896112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30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1. 視点の絞り込み</a:t>
            </a:r>
          </a:p>
          <a:p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上位計画の３視点に整理し筋を通す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90087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35807"/>
            <a:ext cx="5120640" cy="896112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30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2. 見える化</a:t>
            </a:r>
          </a:p>
          <a:p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新規・拡充等と区の重点・差分を明示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87368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5381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33087"/>
            <a:ext cx="5120640" cy="896112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300" b="1">
                <a:solidFill>
                  <a:srgbClr val="2E7D46"/>
                </a:solidFill>
                <a:latin typeface="游ゴシック"/>
                <a:ea typeface="游ゴシック"/>
                <a:cs typeface="游ゴシック"/>
              </a:rPr>
              <a:t>3. 支援が必要な子どもの重点化</a:t>
            </a:r>
          </a:p>
          <a:p>
            <a:r>
              <a:rPr sz="115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大綱改定・ビジョンの課題を根拠に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417320"/>
            <a:ext cx="5605272" cy="384048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3" y="1417320"/>
            <a:ext cx="5513832" cy="38404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r>
              <a:rPr sz="1400" b="1">
                <a:solidFill>
                  <a:srgbClr val="1E4620"/>
                </a:solidFill>
                <a:latin typeface="游ゴシック"/>
                <a:ea typeface="游ゴシック"/>
                <a:cs typeface="游ゴシック"/>
              </a:rPr>
              <a:t>■ 令和９年度への相談論点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92807"/>
            <a:ext cx="5394960" cy="93268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① 次期計画への接続</a:t>
            </a:r>
          </a:p>
          <a:p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基本計画（令和４～８年度）が令和８年度で期間終了。次期計画の方向性と整合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53511"/>
            <a:ext cx="5394960" cy="93268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② KPIの設定</a:t>
            </a:r>
          </a:p>
          <a:p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ビジョン令和10年度末目標から逆算した指標を施策管理で保持するか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14215"/>
            <a:ext cx="5394960" cy="93268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③ 文言・目線の整理</a:t>
            </a:r>
          </a:p>
          <a:p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学校目線（教育課程＝活用）と委員会目線（施策＝配置）の分離、重点課題５の扱い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074920"/>
            <a:ext cx="5394960" cy="93268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1250" b="1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④ 環境変化への対応</a:t>
            </a:r>
          </a:p>
          <a:p>
            <a:r>
              <a:rPr sz="1100" b="0">
                <a:solidFill>
                  <a:srgbClr val="222222"/>
                </a:solidFill>
                <a:latin typeface="游ゴシック"/>
                <a:ea typeface="游ゴシック"/>
                <a:cs typeface="游ゴシック"/>
              </a:rPr>
              <a:t>生成AI活用・NEXT GIGA・多様な学びの場・教員の人材確保の新規位置づけ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55080"/>
            <a:ext cx="1133856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r>
              <a:rPr sz="950" b="0">
                <a:solidFill>
                  <a:srgbClr val="555555"/>
                </a:solidFill>
                <a:latin typeface="游ゴシック"/>
                <a:ea typeface="游ゴシック"/>
                <a:cs typeface="游ゴシック"/>
              </a:rPr>
              <a:t>※ ③④の具体案は別途「令和９年度 主要施策素案（Ｒ８の成果と課題から）」で提示済み。本相談で方向性を確認いただきたい。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