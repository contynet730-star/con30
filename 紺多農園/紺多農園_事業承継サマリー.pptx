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次男の年収（万円）</c:v>
                </c:pt>
              </c:strCache>
            </c:strRef>
          </c:tx>
          <c:spPr>
            <a:solidFill>
              <a:srgbClr val="2C5F2D"/>
            </a:solidFill>
            <a:effectLst/>
          </c:spPr>
          <c:invertIfNegative val="0"/>
          <c:dLbls>
            <c:numFmt formatCode="#,##0" sourceLinked="0"/>
            <c:txPr>
              <a:bodyPr/>
              <a:lstStyle/>
              <a:p>
                <a:pPr>
                  <a:defRPr b="1" i="0" strike="noStrike" sz="1300" u="none">
                    <a:solidFill>
                      <a:srgbClr val="22282A"/>
                    </a:solidFill>
                    <a:latin typeface="Yu Gothic"/>
                  </a:defRPr>
                </a:pPr>
              </a:p>
            </c:txPr>
            <c:showLegendKey val="0"/>
            <c:showVal val="1"/>
            <c:showCatName val="0"/>
            <c:showSerName val="0"/>
            <c:showPercent val="0"/>
            <c:showBubbleSize val="0"/>
            <c:showLeaderLines val="0"/>
          </c:dLbls>
          <c:cat>
            <c:multiLvlStrRef>
              <c:f>Sheet1!$A$2:$A$6</c:f>
              <c:multiLvlStrCache>
                <c:ptCount val="5"/>
                <c:lvl>
                  <c:pt idx="0">
                    <c:v>現在
東京都教員</c:v>
                  </c:pt>
                  <c:pt idx="1">
                    <c:v>A 現状のまま
継ぐ</c:v>
                  </c:pt>
                  <c:pt idx="2">
                    <c:v>B ブロッコリー
5haに拡大</c:v>
                  </c:pt>
                  <c:pt idx="3">
                    <c:v>C 有機・特栽＋
交付金＋直販</c:v>
                  </c:pt>
                  <c:pt idx="4">
                    <c:v>D 6次産業化
（北辰農産型）</c:v>
                  </c:pt>
                </c:lvl>
              </c:multiLvlStrCache>
            </c:multiLvlStrRef>
          </c:cat>
          <c:val>
            <c:numRef>
              <c:f>Sheet1!$B$2:$B$6</c:f>
              <c:numCache>
                <c:formatCode>General</c:formatCode>
                <c:ptCount val="5"/>
                <c:pt idx="0">
                  <c:v>900</c:v>
                </c:pt>
                <c:pt idx="1">
                  <c:v>150</c:v>
                </c:pt>
                <c:pt idx="2">
                  <c:v>300</c:v>
                </c:pt>
                <c:pt idx="3">
                  <c:v>500</c:v>
                </c:pt>
                <c:pt idx="4">
                  <c:v>700</c:v>
                </c:pt>
              </c:numCache>
            </c:numRef>
          </c:val>
        </c:ser>
        <c:dLbls>
          <c:numFmt formatCode="#,##0" sourceLinked="0"/>
          <c:txPr>
            <a:bodyPr/>
            <a:lstStyle/>
            <a:p>
              <a:pPr>
                <a:defRPr b="1" i="0" strike="noStrike" sz="1300" u="none">
                  <a:solidFill>
                    <a:srgbClr val="22282A"/>
                  </a:solidFill>
                  <a:latin typeface="Yu Gothic"/>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22282A"/>
                </a:solidFill>
                <a:latin typeface="Yu Gothic"/>
              </a:defRPr>
            </a:pPr>
            <a:endParaRPr lang="en-US"/>
          </a:p>
        </c:txPr>
        <c:crossAx val="2094734552"/>
        <c:crosses val="autoZero"/>
        <c:auto val="1"/>
        <c:lblAlgn val="ctr"/>
        <c:noMultiLvlLbl val="1"/>
      </c:catAx>
      <c:valAx>
        <c:axId val="2094734552"/>
        <c:scaling>
          <c:orientation val="minMax"/>
          <c:max val="1000"/>
        </c:scaling>
        <c:delete val="0"/>
        <c:axPos val="l"/>
        <c:majorGridlines>
          <c:spPr>
            <a:ln w="12700" cap="flat">
              <a:solidFill>
                <a:srgbClr val="E2E6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A6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資産構成</c:v>
                </c:pt>
              </c:strCache>
            </c:strRef>
          </c:tx>
          <c:spPr>
            <a:solidFill>
              <a:schemeClr val="accent1"/>
            </a:solidFill>
            <a:ln w="9525" cap="flat">
              <a:solidFill>
                <a:srgbClr val="F9F9F9"/>
              </a:solidFill>
              <a:prstDash val="solid"/>
              <a:round/>
            </a:ln>
            <a:effectLst/>
          </c:spPr>
          <c:dPt>
            <c:idx val="0"/>
            <c:bubble3D val="0"/>
            <c:spPr>
              <a:solidFill>
                <a:srgbClr val="2C5F2D"/>
              </a:solidFill>
              <a:effectLst/>
            </c:spPr>
          </c:dPt>
          <c:dPt>
            <c:idx val="1"/>
            <c:bubble3D val="0"/>
            <c:spPr>
              <a:solidFill>
                <a:srgbClr val="C46A1F"/>
              </a:solidFill>
              <a:effectLst/>
            </c:spPr>
          </c:dPt>
          <c:dPt>
            <c:idx val="2"/>
            <c:bubble3D val="0"/>
            <c:spPr>
              <a:solidFill>
                <a:srgbClr val="97BC62"/>
              </a:solidFill>
              <a:effectLst/>
            </c:spPr>
          </c:dPt>
          <c:dPt>
            <c:idx val="3"/>
            <c:bubble3D val="0"/>
            <c:spPr>
              <a:solidFill>
                <a:srgbClr val="6E8B6F"/>
              </a:solidFill>
              <a:effectLst/>
            </c:spPr>
          </c:dPt>
          <c:dPt>
            <c:idx val="4"/>
            <c:bubble3D val="0"/>
            <c:spPr>
              <a:solidFill>
                <a:srgbClr val="C3CCC2"/>
              </a:solidFill>
              <a:effectLst/>
            </c:spPr>
          </c:dPt>
          <c:dLbls>
            <c:dLbl>
              <c:idx val="0"/>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dLbl>
              <c:idx val="4"/>
              <c:numFmt formatCode="0%" sourceLinked="0"/>
              <c:spPr/>
              <c:txPr>
                <a:bodyPr/>
                <a:lstStyle/>
                <a:p>
                  <a:pPr>
                    <a:defRPr sz="1100" b="1"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1" i="0" u="none" strike="noStrike">
                    <a:solidFill>
                      <a:srgbClr val="000000"/>
                    </a:solidFill>
                    <a:latin typeface="Arial"/>
                  </a:defRPr>
                </a:pPr>
              </a:p>
            </c:txPr>
            <c:showLegendKey val="0"/>
            <c:showVal val="0"/>
            <c:showCatName val="1"/>
            <c:showSerName val="0"/>
            <c:showPercent val="1"/>
            <c:showBubbleSize val="0"/>
            <c:showLeaderLines val="0"/>
          </c:dLbls>
          <c:cat>
            <c:strRef>
              <c:f>Sheet1!$A$2:$A$6</c:f>
              <c:strCache>
                <c:ptCount val="5"/>
                <c:pt idx="0">
                  <c:v>投資信託（NISA含む）</c:v>
                </c:pt>
                <c:pt idx="1">
                  <c:v>預金・現金</c:v>
                </c:pt>
                <c:pt idx="2">
                  <c:v>年金</c:v>
                </c:pt>
                <c:pt idx="3">
                  <c:v>株式（現物）</c:v>
                </c:pt>
                <c:pt idx="4">
                  <c:v>その他</c:v>
                </c:pt>
              </c:strCache>
            </c:strRef>
          </c:cat>
          <c:val>
            <c:numRef>
              <c:f>Sheet1!$B$2:$B$6</c:f>
              <c:numCache>
                <c:ptCount val="5"/>
                <c:pt idx="0">
                  <c:v>1408</c:v>
                </c:pt>
                <c:pt idx="1">
                  <c:v>231</c:v>
                </c:pt>
                <c:pt idx="2">
                  <c:v>182</c:v>
                </c:pt>
                <c:pt idx="3">
                  <c:v>85</c:v>
                </c:pt>
                <c:pt idx="4">
                  <c:v>31</c:v>
                </c:pt>
              </c:numCache>
            </c:numRef>
          </c:val>
        </c:ser>
        <c:firstSliceAng val="0"/>
        <c:holeSize val="52"/>
      </c:doughnutChart>
      <c:spPr>
        <a:noFill/>
        <a:ln>
          <a:noFill/>
        </a:ln>
        <a:effectLst/>
      </c:spPr>
    </c:plotArea>
    <c:legend>
      <c:legendPos val="b"/>
      <c:overlay val="0"/>
      <c:txPr>
        <a:bodyPr/>
        <a:lstStyle/>
        <a:p>
          <a:pPr>
            <a:defRPr sz="1100">
              <a:solidFill>
                <a:srgbClr val="22282A"/>
              </a:solidFill>
              <a:latin typeface="Yu Gothic"/>
              <a:cs typeface="Yu Gothic"/>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家族・他の組合員への説明用サマリー。詳細は別添のWordレポートを参照。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お兄様が主体という前提なら、3番目が効いて制約が消える。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最終的には任命権者の判断による部分がある。石川県教育委員会の服務担当に直接確認が必要。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資産管理アプリのデータ（2026年9月21日時点）。3か月で+52万円と堅調。</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兄が主体なら、前ページの理事就任問題は発生しない。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3A1B"/>
        </a:solidFill>
      </p:bgPr>
    </p:bg>
    <p:spTree>
      <p:nvGrpSpPr>
        <p:cNvPr id="1" name=""/>
        <p:cNvGrpSpPr/>
        <p:nvPr/>
      </p:nvGrpSpPr>
      <p:grpSpPr>
        <a:xfrm>
          <a:off x="0" y="0"/>
          <a:ext cx="0" cy="0"/>
          <a:chOff x="0" y="0"/>
          <a:chExt cx="0" cy="0"/>
        </a:xfrm>
      </p:grpSpPr>
      <p:sp>
        <p:nvSpPr>
          <p:cNvPr id="2" name="Shape 0"/>
          <p:cNvSpPr/>
          <p:nvPr/>
        </p:nvSpPr>
        <p:spPr>
          <a:xfrm>
            <a:off x="8778240" y="-1371600"/>
            <a:ext cx="5120640" cy="5120640"/>
          </a:xfrm>
          <a:prstGeom prst="ellipse">
            <a:avLst/>
          </a:prstGeom>
          <a:solidFill>
            <a:srgbClr val="2C5F2D"/>
          </a:solidFill>
          <a:ln/>
        </p:spPr>
      </p:sp>
      <p:sp>
        <p:nvSpPr>
          <p:cNvPr id="3" name="Shape 1"/>
          <p:cNvSpPr/>
          <p:nvPr/>
        </p:nvSpPr>
        <p:spPr>
          <a:xfrm>
            <a:off x="10332720" y="3931920"/>
            <a:ext cx="2743200" cy="2743200"/>
          </a:xfrm>
          <a:prstGeom prst="ellipse">
            <a:avLst/>
          </a:prstGeom>
          <a:solidFill>
            <a:srgbClr val="234425"/>
          </a:solidFill>
          <a:ln/>
        </p:spPr>
      </p:sp>
      <p:sp>
        <p:nvSpPr>
          <p:cNvPr id="4" name="Text 2"/>
          <p:cNvSpPr txBox="1"/>
          <p:nvPr/>
        </p:nvSpPr>
        <p:spPr>
          <a:xfrm>
            <a:off x="566928" y="1600200"/>
            <a:ext cx="7680960" cy="365760"/>
          </a:xfrm>
          <a:prstGeom prst="rect">
            <a:avLst/>
          </a:prstGeom>
          <a:noFill/>
          <a:ln/>
        </p:spPr>
        <p:txBody>
          <a:bodyPr wrap="square" lIns="0" tIns="0" rIns="0" bIns="0" rtlCol="0" anchor="ctr"/>
          <a:lstStyle/>
          <a:p>
            <a:pPr indent="0" marL="0">
              <a:buNone/>
            </a:pPr>
            <a:r>
              <a:rPr lang="en-US" sz="1600" b="1" spc="200" kern="0" dirty="0">
                <a:solidFill>
                  <a:srgbClr val="97BC62"/>
                </a:solidFill>
                <a:latin typeface="Yu Gothic" pitchFamily="34" charset="0"/>
                <a:ea typeface="Yu Gothic" pitchFamily="34" charset="-122"/>
                <a:cs typeface="Yu Gothic" pitchFamily="34" charset="-120"/>
              </a:rPr>
              <a:t>農事組合法人 紺多農園</a:t>
            </a:r>
            <a:endParaRPr lang="en-US" sz="1600" dirty="0"/>
          </a:p>
        </p:txBody>
      </p:sp>
      <p:sp>
        <p:nvSpPr>
          <p:cNvPr id="5" name="Text 3"/>
          <p:cNvSpPr txBox="1"/>
          <p:nvPr/>
        </p:nvSpPr>
        <p:spPr>
          <a:xfrm>
            <a:off x="566928" y="2057400"/>
            <a:ext cx="7863840" cy="100584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事業承継 検討サマリー</a:t>
            </a:r>
            <a:endParaRPr lang="en-US" sz="4400" dirty="0"/>
          </a:p>
        </p:txBody>
      </p:sp>
      <p:sp>
        <p:nvSpPr>
          <p:cNvPr id="6" name="Text 4"/>
          <p:cNvSpPr txBox="1"/>
          <p:nvPr/>
        </p:nvSpPr>
        <p:spPr>
          <a:xfrm>
            <a:off x="566928" y="3127248"/>
            <a:ext cx="7863840" cy="411480"/>
          </a:xfrm>
          <a:prstGeom prst="rect">
            <a:avLst/>
          </a:prstGeom>
          <a:noFill/>
          <a:ln/>
        </p:spPr>
        <p:txBody>
          <a:bodyPr wrap="square" lIns="0" tIns="0" rIns="0" bIns="0" rtlCol="0" anchor="ctr"/>
          <a:lstStyle/>
          <a:p>
            <a:pPr indent="0" marL="0">
              <a:buNone/>
            </a:pPr>
            <a:r>
              <a:rPr lang="en-US" sz="1700" i="1" dirty="0">
                <a:solidFill>
                  <a:srgbClr val="C9D8C2"/>
                </a:solidFill>
                <a:latin typeface="Yu Gothic" pitchFamily="34" charset="0"/>
                <a:ea typeface="Yu Gothic" pitchFamily="34" charset="-122"/>
                <a:cs typeface="Yu Gothic" pitchFamily="34" charset="-120"/>
              </a:rPr>
              <a:t>持続可能な農業への一手と、次世代への引き継ぎ</a:t>
            </a:r>
            <a:endParaRPr lang="en-US" sz="1700" dirty="0"/>
          </a:p>
        </p:txBody>
      </p:sp>
      <p:sp>
        <p:nvSpPr>
          <p:cNvPr id="7" name="Shape 5"/>
          <p:cNvSpPr/>
          <p:nvPr/>
        </p:nvSpPr>
        <p:spPr>
          <a:xfrm>
            <a:off x="566928" y="3822192"/>
            <a:ext cx="4754880" cy="18288"/>
          </a:xfrm>
          <a:prstGeom prst="rect">
            <a:avLst/>
          </a:prstGeom>
          <a:solidFill>
            <a:srgbClr val="4A6B4B"/>
          </a:solidFill>
          <a:ln/>
        </p:spPr>
      </p:sp>
      <p:sp>
        <p:nvSpPr>
          <p:cNvPr id="8" name="Text 6"/>
          <p:cNvSpPr txBox="1"/>
          <p:nvPr/>
        </p:nvSpPr>
        <p:spPr>
          <a:xfrm>
            <a:off x="566928" y="4041648"/>
            <a:ext cx="6400800" cy="1005840"/>
          </a:xfrm>
          <a:prstGeom prst="rect">
            <a:avLst/>
          </a:prstGeom>
          <a:noFill/>
          <a:ln/>
        </p:spPr>
        <p:txBody>
          <a:bodyPr wrap="square" lIns="0" tIns="0" rIns="0" bIns="0" rtlCol="0" anchor="ctr"/>
          <a:lstStyle/>
          <a:p>
            <a:pPr indent="0" marL="0">
              <a:lnSpc>
                <a:spcPts val="2000"/>
              </a:lnSpc>
              <a:buNone/>
            </a:pPr>
            <a:r>
              <a:rPr lang="en-US" sz="1300" dirty="0">
                <a:solidFill>
                  <a:srgbClr val="AFC2AB"/>
                </a:solidFill>
                <a:latin typeface="Yu Gothic" pitchFamily="34" charset="0"/>
                <a:ea typeface="Yu Gothic" pitchFamily="34" charset="-122"/>
                <a:cs typeface="Yu Gothic" pitchFamily="34" charset="-120"/>
              </a:rPr>
              <a:t>石川県白山市末正町エ10番地</a:t>
            </a:r>
            <a:endParaRPr lang="en-US" sz="1300" dirty="0"/>
          </a:p>
          <a:p>
            <a:pPr indent="0" marL="0">
              <a:lnSpc>
                <a:spcPts val="2000"/>
              </a:lnSpc>
              <a:buNone/>
            </a:pPr>
            <a:r>
              <a:rPr lang="en-US" sz="1300" dirty="0">
                <a:solidFill>
                  <a:srgbClr val="AFC2AB"/>
                </a:solidFill>
                <a:latin typeface="Yu Gothic" pitchFamily="34" charset="0"/>
                <a:ea typeface="Yu Gothic" pitchFamily="34" charset="-122"/>
                <a:cs typeface="Yu Gothic" pitchFamily="34" charset="-120"/>
              </a:rPr>
              <a:t>法人番号 1220005008354 ／ 2019年2月設立</a:t>
            </a:r>
            <a:endParaRPr lang="en-US" sz="1300" dirty="0"/>
          </a:p>
          <a:p>
            <a:pPr indent="0" marL="0">
              <a:lnSpc>
                <a:spcPts val="2000"/>
              </a:lnSpc>
              <a:buNone/>
            </a:pPr>
            <a:r>
              <a:rPr lang="en-US" sz="1300" dirty="0">
                <a:solidFill>
                  <a:srgbClr val="AFC2AB"/>
                </a:solidFill>
                <a:latin typeface="Yu Gothic" pitchFamily="34" charset="0"/>
                <a:ea typeface="Yu Gothic" pitchFamily="34" charset="-122"/>
                <a:cs typeface="Yu Gothic" pitchFamily="34" charset="-120"/>
              </a:rPr>
              <a:t>水稲・ブロッコリー・野菜</a:t>
            </a:r>
            <a:endParaRPr lang="en-US" sz="1300" dirty="0"/>
          </a:p>
        </p:txBody>
      </p:sp>
      <p:sp>
        <p:nvSpPr>
          <p:cNvPr id="9" name="Text 7"/>
          <p:cNvSpPr txBox="1"/>
          <p:nvPr/>
        </p:nvSpPr>
        <p:spPr>
          <a:xfrm>
            <a:off x="566928" y="6053328"/>
            <a:ext cx="3657600" cy="274320"/>
          </a:xfrm>
          <a:prstGeom prst="rect">
            <a:avLst/>
          </a:prstGeom>
          <a:noFill/>
          <a:ln/>
        </p:spPr>
        <p:txBody>
          <a:bodyPr wrap="square" lIns="0" tIns="0" rIns="0" bIns="0" rtlCol="0" anchor="ctr"/>
          <a:lstStyle/>
          <a:p>
            <a:pPr indent="0" marL="0">
              <a:buNone/>
            </a:pPr>
            <a:r>
              <a:rPr lang="en-US" sz="1200" dirty="0">
                <a:solidFill>
                  <a:srgbClr val="7F947E"/>
                </a:solidFill>
                <a:latin typeface="Yu Gothic" pitchFamily="34" charset="0"/>
                <a:ea typeface="Yu Gothic" pitchFamily="34" charset="-122"/>
                <a:cs typeface="Yu Gothic" pitchFamily="34" charset="-120"/>
              </a:rPr>
              <a:t>2026年9月21日</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SUMMARY</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結論</a:t>
            </a:r>
            <a:endParaRPr lang="en-US" sz="3200" dirty="0"/>
          </a:p>
        </p:txBody>
      </p:sp>
      <p:sp>
        <p:nvSpPr>
          <p:cNvPr id="4" name="Shape 2"/>
          <p:cNvSpPr/>
          <p:nvPr/>
        </p:nvSpPr>
        <p:spPr>
          <a:xfrm>
            <a:off x="566928" y="1481328"/>
            <a:ext cx="11055096" cy="850392"/>
          </a:xfrm>
          <a:prstGeom prst="roundRect">
            <a:avLst>
              <a:gd name="adj" fmla="val 8602"/>
            </a:avLst>
          </a:prstGeom>
          <a:solidFill>
            <a:srgbClr val="F5F7F2"/>
          </a:solidFill>
          <a:ln/>
          <a:effectLst>
            <a:outerShdw sx="100000" sy="100000" kx="0" ky="0" algn="bl" rotWithShape="0" blurRad="101600" dist="25400" dir="5400000">
              <a:srgbClr val="000000">
                <a:alpha val="12000"/>
              </a:srgbClr>
            </a:outerShdw>
          </a:effectLst>
        </p:spPr>
      </p:sp>
      <p:sp>
        <p:nvSpPr>
          <p:cNvPr id="5" name="Shape 3"/>
          <p:cNvSpPr/>
          <p:nvPr/>
        </p:nvSpPr>
        <p:spPr>
          <a:xfrm>
            <a:off x="804672" y="1709928"/>
            <a:ext cx="402336" cy="402336"/>
          </a:xfrm>
          <a:prstGeom prst="ellipse">
            <a:avLst/>
          </a:prstGeom>
          <a:solidFill>
            <a:srgbClr val="2C5F2D"/>
          </a:solidFill>
          <a:ln/>
        </p:spPr>
      </p:sp>
      <p:sp>
        <p:nvSpPr>
          <p:cNvPr id="6" name="Text 4"/>
          <p:cNvSpPr txBox="1"/>
          <p:nvPr/>
        </p:nvSpPr>
        <p:spPr>
          <a:xfrm>
            <a:off x="804672" y="17099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408176" y="1600200"/>
            <a:ext cx="3931920" cy="329184"/>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Yu Gothic" pitchFamily="34" charset="0"/>
                <a:ea typeface="Yu Gothic" pitchFamily="34" charset="-122"/>
                <a:cs typeface="Yu Gothic" pitchFamily="34" charset="-120"/>
              </a:rPr>
              <a:t>承継は法的に可能</a:t>
            </a:r>
            <a:endParaRPr lang="en-US" sz="1500" dirty="0"/>
          </a:p>
        </p:txBody>
      </p:sp>
      <p:sp>
        <p:nvSpPr>
          <p:cNvPr id="8" name="Text 6"/>
          <p:cNvSpPr txBox="1"/>
          <p:nvPr/>
        </p:nvSpPr>
        <p:spPr>
          <a:xfrm>
            <a:off x="1408176" y="1938528"/>
            <a:ext cx="10058400" cy="329184"/>
          </a:xfrm>
          <a:prstGeom prst="rect">
            <a:avLst/>
          </a:prstGeom>
          <a:noFill/>
          <a:ln/>
        </p:spPr>
        <p:txBody>
          <a:bodyPr wrap="square" lIns="0" tIns="0" rIns="0" bIns="0" rtlCol="0" anchor="t"/>
          <a:lstStyle/>
          <a:p>
            <a:pPr indent="0" marL="0">
              <a:lnSpc>
                <a:spcPts val="2100"/>
              </a:lnSpc>
              <a:buNone/>
            </a:pPr>
            <a:r>
              <a:rPr lang="en-US" sz="1250" dirty="0">
                <a:solidFill>
                  <a:srgbClr val="6E7A6F"/>
                </a:solidFill>
                <a:latin typeface="Yu Gothic" pitchFamily="34" charset="0"/>
                <a:ea typeface="Yu Gothic" pitchFamily="34" charset="-122"/>
                <a:cs typeface="Yu Gothic" pitchFamily="34" charset="-120"/>
              </a:rPr>
              <a:t>「相続」ではなく農事組合法人の経営承継。組合員→理事→代表理事の3段階</a:t>
            </a:r>
            <a:endParaRPr lang="en-US" sz="1250" dirty="0"/>
          </a:p>
        </p:txBody>
      </p:sp>
      <p:sp>
        <p:nvSpPr>
          <p:cNvPr id="9" name="Shape 7"/>
          <p:cNvSpPr/>
          <p:nvPr/>
        </p:nvSpPr>
        <p:spPr>
          <a:xfrm>
            <a:off x="566928" y="2414016"/>
            <a:ext cx="11055096" cy="850392"/>
          </a:xfrm>
          <a:prstGeom prst="roundRect">
            <a:avLst>
              <a:gd name="adj" fmla="val 8602"/>
            </a:avLst>
          </a:prstGeom>
          <a:solidFill>
            <a:srgbClr val="F5F7F2"/>
          </a:solidFill>
          <a:ln/>
          <a:effectLst>
            <a:outerShdw sx="100000" sy="100000" kx="0" ky="0" algn="bl" rotWithShape="0" blurRad="101600" dist="25400" dir="5400000">
              <a:srgbClr val="000000">
                <a:alpha val="12000"/>
              </a:srgbClr>
            </a:outerShdw>
          </a:effectLst>
        </p:spPr>
      </p:sp>
      <p:sp>
        <p:nvSpPr>
          <p:cNvPr id="10" name="Shape 8"/>
          <p:cNvSpPr/>
          <p:nvPr/>
        </p:nvSpPr>
        <p:spPr>
          <a:xfrm>
            <a:off x="804672" y="2642616"/>
            <a:ext cx="402336" cy="402336"/>
          </a:xfrm>
          <a:prstGeom prst="ellipse">
            <a:avLst/>
          </a:prstGeom>
          <a:solidFill>
            <a:srgbClr val="B8860B"/>
          </a:solidFill>
          <a:ln/>
        </p:spPr>
      </p:sp>
      <p:sp>
        <p:nvSpPr>
          <p:cNvPr id="11" name="Text 9"/>
          <p:cNvSpPr txBox="1"/>
          <p:nvPr/>
        </p:nvSpPr>
        <p:spPr>
          <a:xfrm>
            <a:off x="804672" y="264261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1408176" y="2532888"/>
            <a:ext cx="3931920" cy="329184"/>
          </a:xfrm>
          <a:prstGeom prst="rect">
            <a:avLst/>
          </a:prstGeom>
          <a:noFill/>
          <a:ln/>
        </p:spPr>
        <p:txBody>
          <a:bodyPr wrap="square" lIns="0" tIns="0" rIns="0" bIns="0" rtlCol="0" anchor="t"/>
          <a:lstStyle/>
          <a:p>
            <a:pPr indent="0" marL="0">
              <a:lnSpc>
                <a:spcPts val="2100"/>
              </a:lnSpc>
              <a:buNone/>
            </a:pPr>
            <a:r>
              <a:rPr lang="en-US" sz="1500" b="1" dirty="0">
                <a:solidFill>
                  <a:srgbClr val="B8860B"/>
                </a:solidFill>
                <a:latin typeface="Yu Gothic" pitchFamily="34" charset="0"/>
                <a:ea typeface="Yu Gothic" pitchFamily="34" charset="-122"/>
                <a:cs typeface="Yu Gothic" pitchFamily="34" charset="-120"/>
              </a:rPr>
              <a:t>ただし現状のままなら年収200〜300万円</a:t>
            </a:r>
            <a:endParaRPr lang="en-US" sz="1500" dirty="0"/>
          </a:p>
        </p:txBody>
      </p:sp>
      <p:sp>
        <p:nvSpPr>
          <p:cNvPr id="13" name="Text 11"/>
          <p:cNvSpPr txBox="1"/>
          <p:nvPr/>
        </p:nvSpPr>
        <p:spPr>
          <a:xfrm>
            <a:off x="1408176" y="2871216"/>
            <a:ext cx="10058400" cy="329184"/>
          </a:xfrm>
          <a:prstGeom prst="rect">
            <a:avLst/>
          </a:prstGeom>
          <a:noFill/>
          <a:ln/>
        </p:spPr>
        <p:txBody>
          <a:bodyPr wrap="square" lIns="0" tIns="0" rIns="0" bIns="0" rtlCol="0" anchor="t"/>
          <a:lstStyle/>
          <a:p>
            <a:pPr indent="0" marL="0">
              <a:lnSpc>
                <a:spcPts val="2100"/>
              </a:lnSpc>
              <a:buNone/>
            </a:pPr>
            <a:r>
              <a:rPr lang="en-US" sz="1250" dirty="0">
                <a:solidFill>
                  <a:srgbClr val="6E7A6F"/>
                </a:solidFill>
                <a:latin typeface="Yu Gothic" pitchFamily="34" charset="0"/>
                <a:ea typeface="Yu Gothic" pitchFamily="34" charset="-122"/>
                <a:cs typeface="Yu Gothic" pitchFamily="34" charset="-120"/>
              </a:rPr>
              <a:t>今の900万円には届かない。法人の農業所得を組合員で割るため</a:t>
            </a:r>
            <a:endParaRPr lang="en-US" sz="1250" dirty="0"/>
          </a:p>
        </p:txBody>
      </p:sp>
      <p:sp>
        <p:nvSpPr>
          <p:cNvPr id="14" name="Shape 12"/>
          <p:cNvSpPr/>
          <p:nvPr/>
        </p:nvSpPr>
        <p:spPr>
          <a:xfrm>
            <a:off x="566928" y="3346704"/>
            <a:ext cx="11055096" cy="850392"/>
          </a:xfrm>
          <a:prstGeom prst="roundRect">
            <a:avLst>
              <a:gd name="adj" fmla="val 8602"/>
            </a:avLst>
          </a:prstGeom>
          <a:solidFill>
            <a:srgbClr val="F5F7F2"/>
          </a:solidFill>
          <a:ln/>
          <a:effectLst>
            <a:outerShdw sx="100000" sy="100000" kx="0" ky="0" algn="bl" rotWithShape="0" blurRad="101600" dist="25400" dir="5400000">
              <a:srgbClr val="000000">
                <a:alpha val="12000"/>
              </a:srgbClr>
            </a:outerShdw>
          </a:effectLst>
        </p:spPr>
      </p:sp>
      <p:sp>
        <p:nvSpPr>
          <p:cNvPr id="15" name="Shape 13"/>
          <p:cNvSpPr/>
          <p:nvPr/>
        </p:nvSpPr>
        <p:spPr>
          <a:xfrm>
            <a:off x="804672" y="3575304"/>
            <a:ext cx="402336" cy="402336"/>
          </a:xfrm>
          <a:prstGeom prst="ellipse">
            <a:avLst/>
          </a:prstGeom>
          <a:solidFill>
            <a:srgbClr val="2C5F2D"/>
          </a:solidFill>
          <a:ln/>
        </p:spPr>
      </p:sp>
      <p:sp>
        <p:nvSpPr>
          <p:cNvPr id="16" name="Text 14"/>
          <p:cNvSpPr txBox="1"/>
          <p:nvPr/>
        </p:nvSpPr>
        <p:spPr>
          <a:xfrm>
            <a:off x="804672" y="357530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408176" y="3465576"/>
            <a:ext cx="3931920" cy="329184"/>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Yu Gothic" pitchFamily="34" charset="0"/>
                <a:ea typeface="Yu Gothic" pitchFamily="34" charset="-122"/>
                <a:cs typeface="Yu Gothic" pitchFamily="34" charset="-120"/>
              </a:rPr>
              <a:t>お兄様が主体なら制約は消える</a:t>
            </a:r>
            <a:endParaRPr lang="en-US" sz="1500" dirty="0"/>
          </a:p>
        </p:txBody>
      </p:sp>
      <p:sp>
        <p:nvSpPr>
          <p:cNvPr id="18" name="Text 16"/>
          <p:cNvSpPr txBox="1"/>
          <p:nvPr/>
        </p:nvSpPr>
        <p:spPr>
          <a:xfrm>
            <a:off x="1408176" y="3803904"/>
            <a:ext cx="10058400" cy="329184"/>
          </a:xfrm>
          <a:prstGeom prst="rect">
            <a:avLst/>
          </a:prstGeom>
          <a:noFill/>
          <a:ln/>
        </p:spPr>
        <p:txBody>
          <a:bodyPr wrap="square" lIns="0" tIns="0" rIns="0" bIns="0" rtlCol="0" anchor="t"/>
          <a:lstStyle/>
          <a:p>
            <a:pPr indent="0" marL="0">
              <a:lnSpc>
                <a:spcPts val="2100"/>
              </a:lnSpc>
              <a:buNone/>
            </a:pPr>
            <a:r>
              <a:rPr lang="en-US" sz="1250" dirty="0">
                <a:solidFill>
                  <a:srgbClr val="6E7A6F"/>
                </a:solidFill>
                <a:latin typeface="Yu Gothic" pitchFamily="34" charset="0"/>
                <a:ea typeface="Yu Gothic" pitchFamily="34" charset="-122"/>
                <a:cs typeface="Yu Gothic" pitchFamily="34" charset="-120"/>
              </a:rPr>
              <a:t>週末に無報酬で手伝う分には副業にならない。許可も不要。次男が理事にならないため</a:t>
            </a:r>
            <a:endParaRPr lang="en-US" sz="1250" dirty="0"/>
          </a:p>
        </p:txBody>
      </p:sp>
      <p:sp>
        <p:nvSpPr>
          <p:cNvPr id="19" name="Shape 17"/>
          <p:cNvSpPr/>
          <p:nvPr/>
        </p:nvSpPr>
        <p:spPr>
          <a:xfrm>
            <a:off x="566928" y="4279392"/>
            <a:ext cx="11055096" cy="850392"/>
          </a:xfrm>
          <a:prstGeom prst="roundRect">
            <a:avLst>
              <a:gd name="adj" fmla="val 8602"/>
            </a:avLst>
          </a:prstGeom>
          <a:solidFill>
            <a:srgbClr val="F5F7F2"/>
          </a:solidFill>
          <a:ln/>
          <a:effectLst>
            <a:outerShdw sx="100000" sy="100000" kx="0" ky="0" algn="bl" rotWithShape="0" blurRad="101600" dist="25400" dir="5400000">
              <a:srgbClr val="000000">
                <a:alpha val="12000"/>
              </a:srgbClr>
            </a:outerShdw>
          </a:effectLst>
        </p:spPr>
      </p:sp>
      <p:sp>
        <p:nvSpPr>
          <p:cNvPr id="20" name="Shape 18"/>
          <p:cNvSpPr/>
          <p:nvPr/>
        </p:nvSpPr>
        <p:spPr>
          <a:xfrm>
            <a:off x="804672" y="4507992"/>
            <a:ext cx="402336" cy="402336"/>
          </a:xfrm>
          <a:prstGeom prst="ellipse">
            <a:avLst/>
          </a:prstGeom>
          <a:solidFill>
            <a:srgbClr val="A32E2E"/>
          </a:solidFill>
          <a:ln/>
        </p:spPr>
      </p:sp>
      <p:sp>
        <p:nvSpPr>
          <p:cNvPr id="21" name="Text 19"/>
          <p:cNvSpPr txBox="1"/>
          <p:nvPr/>
        </p:nvSpPr>
        <p:spPr>
          <a:xfrm>
            <a:off x="804672" y="450799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1408176" y="4398264"/>
            <a:ext cx="3931920" cy="329184"/>
          </a:xfrm>
          <a:prstGeom prst="rect">
            <a:avLst/>
          </a:prstGeom>
          <a:noFill/>
          <a:ln/>
        </p:spPr>
        <p:txBody>
          <a:bodyPr wrap="square" lIns="0" tIns="0" rIns="0" bIns="0" rtlCol="0" anchor="t"/>
          <a:lstStyle/>
          <a:p>
            <a:pPr indent="0" marL="0">
              <a:lnSpc>
                <a:spcPts val="2100"/>
              </a:lnSpc>
              <a:buNone/>
            </a:pPr>
            <a:r>
              <a:rPr lang="en-US" sz="1500" b="1" dirty="0">
                <a:solidFill>
                  <a:srgbClr val="A32E2E"/>
                </a:solidFill>
                <a:latin typeface="Yu Gothic" pitchFamily="34" charset="0"/>
                <a:ea typeface="Yu Gothic" pitchFamily="34" charset="-122"/>
                <a:cs typeface="Yu Gothic" pitchFamily="34" charset="-120"/>
              </a:rPr>
              <a:t>次男自身が継ぐ場合のみ制約</a:t>
            </a:r>
            <a:endParaRPr lang="en-US" sz="1500" dirty="0"/>
          </a:p>
        </p:txBody>
      </p:sp>
      <p:sp>
        <p:nvSpPr>
          <p:cNvPr id="23" name="Text 21"/>
          <p:cNvSpPr txBox="1"/>
          <p:nvPr/>
        </p:nvSpPr>
        <p:spPr>
          <a:xfrm>
            <a:off x="1408176" y="4736592"/>
            <a:ext cx="10058400" cy="329184"/>
          </a:xfrm>
          <a:prstGeom prst="rect">
            <a:avLst/>
          </a:prstGeom>
          <a:noFill/>
          <a:ln/>
        </p:spPr>
        <p:txBody>
          <a:bodyPr wrap="square" lIns="0" tIns="0" rIns="0" bIns="0" rtlCol="0" anchor="t"/>
          <a:lstStyle/>
          <a:p>
            <a:pPr indent="0" marL="0">
              <a:lnSpc>
                <a:spcPts val="2100"/>
              </a:lnSpc>
              <a:buNone/>
            </a:pPr>
            <a:r>
              <a:rPr lang="en-US" sz="1250" dirty="0">
                <a:solidFill>
                  <a:srgbClr val="6E7A6F"/>
                </a:solidFill>
                <a:latin typeface="Yu Gothic" pitchFamily="34" charset="0"/>
                <a:ea typeface="Yu Gothic" pitchFamily="34" charset="-122"/>
                <a:cs typeface="Yu Gothic" pitchFamily="34" charset="-120"/>
              </a:rPr>
              <a:t>正規教員のままでは理事に就任できない。その場合は一方が非常勤になる必要</a:t>
            </a:r>
            <a:endParaRPr lang="en-US" sz="1250" dirty="0"/>
          </a:p>
        </p:txBody>
      </p:sp>
      <p:sp>
        <p:nvSpPr>
          <p:cNvPr id="24" name="Shape 22"/>
          <p:cNvSpPr/>
          <p:nvPr/>
        </p:nvSpPr>
        <p:spPr>
          <a:xfrm>
            <a:off x="566928" y="5212080"/>
            <a:ext cx="11055096" cy="850392"/>
          </a:xfrm>
          <a:prstGeom prst="roundRect">
            <a:avLst>
              <a:gd name="adj" fmla="val 8602"/>
            </a:avLst>
          </a:prstGeom>
          <a:solidFill>
            <a:srgbClr val="F5F7F2"/>
          </a:solidFill>
          <a:ln/>
          <a:effectLst>
            <a:outerShdw sx="100000" sy="100000" kx="0" ky="0" algn="bl" rotWithShape="0" blurRad="101600" dist="25400" dir="5400000">
              <a:srgbClr val="000000">
                <a:alpha val="12000"/>
              </a:srgbClr>
            </a:outerShdw>
          </a:effectLst>
        </p:spPr>
      </p:sp>
      <p:sp>
        <p:nvSpPr>
          <p:cNvPr id="25" name="Shape 23"/>
          <p:cNvSpPr/>
          <p:nvPr/>
        </p:nvSpPr>
        <p:spPr>
          <a:xfrm>
            <a:off x="804672" y="5440680"/>
            <a:ext cx="402336" cy="402336"/>
          </a:xfrm>
          <a:prstGeom prst="ellipse">
            <a:avLst/>
          </a:prstGeom>
          <a:solidFill>
            <a:srgbClr val="2C5F2D"/>
          </a:solidFill>
          <a:ln/>
        </p:spPr>
      </p:sp>
      <p:sp>
        <p:nvSpPr>
          <p:cNvPr id="26" name="Text 24"/>
          <p:cNvSpPr txBox="1"/>
          <p:nvPr/>
        </p:nvSpPr>
        <p:spPr>
          <a:xfrm>
            <a:off x="804672" y="54406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27" name="Text 25"/>
          <p:cNvSpPr txBox="1"/>
          <p:nvPr/>
        </p:nvSpPr>
        <p:spPr>
          <a:xfrm>
            <a:off x="1408176" y="5330952"/>
            <a:ext cx="3931920" cy="329184"/>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Yu Gothic" pitchFamily="34" charset="0"/>
                <a:ea typeface="Yu Gothic" pitchFamily="34" charset="-122"/>
                <a:cs typeface="Yu Gothic" pitchFamily="34" charset="-120"/>
              </a:rPr>
              <a:t>資産が判断を変える</a:t>
            </a:r>
            <a:endParaRPr lang="en-US" sz="1500" dirty="0"/>
          </a:p>
        </p:txBody>
      </p:sp>
      <p:sp>
        <p:nvSpPr>
          <p:cNvPr id="28" name="Text 26"/>
          <p:cNvSpPr txBox="1"/>
          <p:nvPr/>
        </p:nvSpPr>
        <p:spPr>
          <a:xfrm>
            <a:off x="1408176" y="5669280"/>
            <a:ext cx="10058400" cy="329184"/>
          </a:xfrm>
          <a:prstGeom prst="rect">
            <a:avLst/>
          </a:prstGeom>
          <a:noFill/>
          <a:ln/>
        </p:spPr>
        <p:txBody>
          <a:bodyPr wrap="square" lIns="0" tIns="0" rIns="0" bIns="0" rtlCol="0" anchor="t"/>
          <a:lstStyle/>
          <a:p>
            <a:pPr indent="0" marL="0">
              <a:lnSpc>
                <a:spcPts val="2100"/>
              </a:lnSpc>
              <a:buNone/>
            </a:pPr>
            <a:r>
              <a:rPr lang="en-US" sz="1250" dirty="0">
                <a:solidFill>
                  <a:srgbClr val="6E7A6F"/>
                </a:solidFill>
                <a:latin typeface="Yu Gothic" pitchFamily="34" charset="0"/>
                <a:ea typeface="Yu Gothic" pitchFamily="34" charset="-122"/>
                <a:cs typeface="Yu Gothic" pitchFamily="34" charset="-120"/>
              </a:rPr>
              <a:t>金融資産1,938万円＋家の売却益＝総資産5,000万〜8,400万円。年収差を9〜24年吸収できる</a:t>
            </a:r>
            <a:endParaRPr lang="en-US" sz="1250" dirty="0"/>
          </a:p>
        </p:txBody>
      </p:sp>
      <p:sp>
        <p:nvSpPr>
          <p:cNvPr id="29" name="Text 27"/>
          <p:cNvSpPr txBox="1"/>
          <p:nvPr/>
        </p:nvSpPr>
        <p:spPr>
          <a:xfrm>
            <a:off x="566928" y="6181344"/>
            <a:ext cx="11055096" cy="365760"/>
          </a:xfrm>
          <a:prstGeom prst="rect">
            <a:avLst/>
          </a:prstGeom>
          <a:noFill/>
          <a:ln/>
        </p:spPr>
        <p:txBody>
          <a:bodyPr wrap="square" lIns="0" tIns="0" rIns="0" bIns="0" rtlCol="0" anchor="t"/>
          <a:lstStyle/>
          <a:p>
            <a:pPr indent="0" marL="0">
              <a:lnSpc>
                <a:spcPts val="2100"/>
              </a:lnSpc>
              <a:buNone/>
            </a:pPr>
            <a:r>
              <a:rPr lang="en-US" sz="1300" i="1" dirty="0">
                <a:solidFill>
                  <a:srgbClr val="2C5F2D"/>
                </a:solidFill>
                <a:latin typeface="Yu Gothic" pitchFamily="34" charset="0"/>
                <a:ea typeface="Yu Gothic" pitchFamily="34" charset="-122"/>
                <a:cs typeface="Yu Gothic" pitchFamily="34" charset="-120"/>
              </a:rPr>
              <a:t>石川県の教員採用試験は60歳未満まで受験可。45歳・47歳とも資格に問題なし。前歴加算10割で号給も引き継げる。</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TIMING</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なぜ今なのか ― 三つの流れが重なった</a:t>
            </a:r>
            <a:endParaRPr lang="en-US" sz="3200" dirty="0"/>
          </a:p>
        </p:txBody>
      </p:sp>
      <p:sp>
        <p:nvSpPr>
          <p:cNvPr id="4" name="Shape 2"/>
          <p:cNvSpPr/>
          <p:nvPr/>
        </p:nvSpPr>
        <p:spPr>
          <a:xfrm>
            <a:off x="566928" y="1627632"/>
            <a:ext cx="3532632" cy="4114800"/>
          </a:xfrm>
          <a:prstGeom prst="roundRect">
            <a:avLst>
              <a:gd name="adj" fmla="val 2071"/>
            </a:avLst>
          </a:prstGeom>
          <a:solidFill>
            <a:srgbClr val="F5F7F2"/>
          </a:solidFill>
          <a:ln/>
          <a:effectLst>
            <a:outerShdw sx="100000" sy="100000" kx="0" ky="0" algn="bl" rotWithShape="0" blurRad="101600" dist="25400" dir="5400000">
              <a:srgbClr val="000000">
                <a:alpha val="12000"/>
              </a:srgbClr>
            </a:outerShdw>
          </a:effectLst>
        </p:spPr>
      </p:sp>
      <p:sp>
        <p:nvSpPr>
          <p:cNvPr id="5" name="Shape 3"/>
          <p:cNvSpPr/>
          <p:nvPr/>
        </p:nvSpPr>
        <p:spPr>
          <a:xfrm>
            <a:off x="841248" y="1865376"/>
            <a:ext cx="457200" cy="457200"/>
          </a:xfrm>
          <a:prstGeom prst="ellipse">
            <a:avLst/>
          </a:prstGeom>
          <a:solidFill>
            <a:srgbClr val="A32E2E"/>
          </a:solidFill>
          <a:ln/>
        </p:spPr>
      </p:sp>
      <p:sp>
        <p:nvSpPr>
          <p:cNvPr id="6" name="Text 4"/>
          <p:cNvSpPr txBox="1"/>
          <p:nvPr/>
        </p:nvSpPr>
        <p:spPr>
          <a:xfrm>
            <a:off x="841248" y="18653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41248" y="2450592"/>
            <a:ext cx="2983992" cy="685800"/>
          </a:xfrm>
          <a:prstGeom prst="rect">
            <a:avLst/>
          </a:prstGeom>
          <a:noFill/>
          <a:ln/>
        </p:spPr>
        <p:txBody>
          <a:bodyPr wrap="square" lIns="0" tIns="0" rIns="0" bIns="0" rtlCol="0" anchor="t"/>
          <a:lstStyle/>
          <a:p>
            <a:pPr indent="0" marL="0">
              <a:lnSpc>
                <a:spcPts val="2100"/>
              </a:lnSpc>
              <a:buNone/>
            </a:pPr>
            <a:r>
              <a:rPr lang="en-US" sz="1700" b="1" dirty="0">
                <a:solidFill>
                  <a:srgbClr val="A32E2E"/>
                </a:solidFill>
                <a:latin typeface="Yu Gothic" pitchFamily="34" charset="0"/>
                <a:ea typeface="Yu Gothic" pitchFamily="34" charset="-122"/>
                <a:cs typeface="Yu Gothic" pitchFamily="34" charset="-120"/>
              </a:rPr>
              <a:t>米価が落ちた</a:t>
            </a:r>
            <a:endParaRPr lang="en-US" sz="1700" dirty="0"/>
          </a:p>
        </p:txBody>
      </p:sp>
      <p:sp>
        <p:nvSpPr>
          <p:cNvPr id="8" name="Text 6"/>
          <p:cNvSpPr txBox="1"/>
          <p:nvPr/>
        </p:nvSpPr>
        <p:spPr>
          <a:xfrm>
            <a:off x="841248" y="3182112"/>
            <a:ext cx="2983992" cy="2377440"/>
          </a:xfrm>
          <a:prstGeom prst="rect">
            <a:avLst/>
          </a:prstGeom>
          <a:noFill/>
          <a:ln/>
        </p:spPr>
        <p:txBody>
          <a:bodyPr wrap="square" lIns="0" tIns="0" rIns="0" bIns="0" rtlCol="0" anchor="t"/>
          <a:lstStyle/>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石川県産コシヒカリ 5kg</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4,780円 → 2,980円</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（約4割安）</a:t>
            </a:r>
            <a:endParaRPr lang="en-US" sz="1250" dirty="0"/>
          </a:p>
          <a:p>
            <a:pPr indent="0" marL="0">
              <a:lnSpc>
                <a:spcPts val="1900"/>
              </a:lnSpc>
              <a:buNone/>
            </a:pP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コスト指標 20,535円/60kg に対し</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2026年産概算金は1.5〜1.8万円</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＝作るほど赤字の逆ざや</a:t>
            </a:r>
            <a:endParaRPr lang="en-US" sz="1250" dirty="0"/>
          </a:p>
        </p:txBody>
      </p:sp>
      <p:sp>
        <p:nvSpPr>
          <p:cNvPr id="9" name="Shape 7"/>
          <p:cNvSpPr/>
          <p:nvPr/>
        </p:nvSpPr>
        <p:spPr>
          <a:xfrm>
            <a:off x="4328160" y="1627632"/>
            <a:ext cx="3532632" cy="4114800"/>
          </a:xfrm>
          <a:prstGeom prst="roundRect">
            <a:avLst>
              <a:gd name="adj" fmla="val 2071"/>
            </a:avLst>
          </a:prstGeom>
          <a:solidFill>
            <a:srgbClr val="F5F7F2"/>
          </a:solidFill>
          <a:ln/>
          <a:effectLst>
            <a:outerShdw sx="100000" sy="100000" kx="0" ky="0" algn="bl" rotWithShape="0" blurRad="101600" dist="25400" dir="5400000">
              <a:srgbClr val="000000">
                <a:alpha val="12000"/>
              </a:srgbClr>
            </a:outerShdw>
          </a:effectLst>
        </p:spPr>
      </p:sp>
      <p:sp>
        <p:nvSpPr>
          <p:cNvPr id="10" name="Shape 8"/>
          <p:cNvSpPr/>
          <p:nvPr/>
        </p:nvSpPr>
        <p:spPr>
          <a:xfrm>
            <a:off x="4602480" y="1865376"/>
            <a:ext cx="457200" cy="457200"/>
          </a:xfrm>
          <a:prstGeom prst="ellipse">
            <a:avLst/>
          </a:prstGeom>
          <a:solidFill>
            <a:srgbClr val="2C5F2D"/>
          </a:solidFill>
          <a:ln/>
        </p:spPr>
      </p:sp>
      <p:sp>
        <p:nvSpPr>
          <p:cNvPr id="11" name="Text 9"/>
          <p:cNvSpPr txBox="1"/>
          <p:nvPr/>
        </p:nvSpPr>
        <p:spPr>
          <a:xfrm>
            <a:off x="4602480" y="18653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4602480" y="2450592"/>
            <a:ext cx="2983992" cy="685800"/>
          </a:xfrm>
          <a:prstGeom prst="rect">
            <a:avLst/>
          </a:prstGeom>
          <a:noFill/>
          <a:ln/>
        </p:spPr>
        <p:txBody>
          <a:bodyPr wrap="square" lIns="0" tIns="0" rIns="0" bIns="0" rtlCol="0" anchor="t"/>
          <a:lstStyle/>
          <a:p>
            <a:pPr indent="0" marL="0">
              <a:lnSpc>
                <a:spcPts val="2100"/>
              </a:lnSpc>
              <a:buNone/>
            </a:pPr>
            <a:r>
              <a:rPr lang="en-US" sz="1700" b="1" dirty="0">
                <a:solidFill>
                  <a:srgbClr val="2C5F2D"/>
                </a:solidFill>
                <a:latin typeface="Yu Gothic" pitchFamily="34" charset="0"/>
                <a:ea typeface="Yu Gothic" pitchFamily="34" charset="-122"/>
                <a:cs typeface="Yu Gothic" pitchFamily="34" charset="-120"/>
              </a:rPr>
              <a:t>白山市が有機に舵を切った</a:t>
            </a:r>
            <a:endParaRPr lang="en-US" sz="1700" dirty="0"/>
          </a:p>
        </p:txBody>
      </p:sp>
      <p:sp>
        <p:nvSpPr>
          <p:cNvPr id="13" name="Text 11"/>
          <p:cNvSpPr txBox="1"/>
          <p:nvPr/>
        </p:nvSpPr>
        <p:spPr>
          <a:xfrm>
            <a:off x="4602480" y="3182112"/>
            <a:ext cx="2983992" cy="2377440"/>
          </a:xfrm>
          <a:prstGeom prst="rect">
            <a:avLst/>
          </a:prstGeom>
          <a:noFill/>
          <a:ln/>
        </p:spPr>
        <p:txBody>
          <a:bodyPr wrap="square" lIns="0" tIns="0" rIns="0" bIns="0" rtlCol="0" anchor="t"/>
          <a:lstStyle/>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オーガニックビレッジ宣言</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有機農業実施計画 R7〜R11</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学校給食に有機米</a:t>
            </a:r>
            <a:endParaRPr lang="en-US" sz="1250" dirty="0"/>
          </a:p>
          <a:p>
            <a:pPr indent="0" marL="0">
              <a:lnSpc>
                <a:spcPts val="1900"/>
              </a:lnSpc>
              <a:buNone/>
            </a:pP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JA白山も有機野菜の実証を開始</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「仲間づくりと産地化」を明言</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＝受け皿が先にできている</a:t>
            </a:r>
            <a:endParaRPr lang="en-US" sz="1250" dirty="0"/>
          </a:p>
        </p:txBody>
      </p:sp>
      <p:sp>
        <p:nvSpPr>
          <p:cNvPr id="14" name="Shape 12"/>
          <p:cNvSpPr/>
          <p:nvPr/>
        </p:nvSpPr>
        <p:spPr>
          <a:xfrm>
            <a:off x="8089392" y="1627632"/>
            <a:ext cx="3532632" cy="4114800"/>
          </a:xfrm>
          <a:prstGeom prst="roundRect">
            <a:avLst>
              <a:gd name="adj" fmla="val 2071"/>
            </a:avLst>
          </a:prstGeom>
          <a:solidFill>
            <a:srgbClr val="F5F7F2"/>
          </a:solidFill>
          <a:ln/>
          <a:effectLst>
            <a:outerShdw sx="100000" sy="100000" kx="0" ky="0" algn="bl" rotWithShape="0" blurRad="101600" dist="25400" dir="5400000">
              <a:srgbClr val="000000">
                <a:alpha val="12000"/>
              </a:srgbClr>
            </a:outerShdw>
          </a:effectLst>
        </p:spPr>
      </p:sp>
      <p:sp>
        <p:nvSpPr>
          <p:cNvPr id="15" name="Shape 13"/>
          <p:cNvSpPr/>
          <p:nvPr/>
        </p:nvSpPr>
        <p:spPr>
          <a:xfrm>
            <a:off x="8363712" y="1865376"/>
            <a:ext cx="457200" cy="457200"/>
          </a:xfrm>
          <a:prstGeom prst="ellipse">
            <a:avLst/>
          </a:prstGeom>
          <a:solidFill>
            <a:srgbClr val="B8860B"/>
          </a:solidFill>
          <a:ln/>
        </p:spPr>
      </p:sp>
      <p:sp>
        <p:nvSpPr>
          <p:cNvPr id="16" name="Text 14"/>
          <p:cNvSpPr txBox="1"/>
          <p:nvPr/>
        </p:nvSpPr>
        <p:spPr>
          <a:xfrm>
            <a:off x="8363712" y="18653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8363712" y="2450592"/>
            <a:ext cx="2983992" cy="685800"/>
          </a:xfrm>
          <a:prstGeom prst="rect">
            <a:avLst/>
          </a:prstGeom>
          <a:noFill/>
          <a:ln/>
        </p:spPr>
        <p:txBody>
          <a:bodyPr wrap="square" lIns="0" tIns="0" rIns="0" bIns="0" rtlCol="0" anchor="t"/>
          <a:lstStyle/>
          <a:p>
            <a:pPr indent="0" marL="0">
              <a:lnSpc>
                <a:spcPts val="2100"/>
              </a:lnSpc>
              <a:buNone/>
            </a:pPr>
            <a:r>
              <a:rPr lang="en-US" sz="1700" b="1" dirty="0">
                <a:solidFill>
                  <a:srgbClr val="B8860B"/>
                </a:solidFill>
                <a:latin typeface="Yu Gothic" pitchFamily="34" charset="0"/>
                <a:ea typeface="Yu Gothic" pitchFamily="34" charset="-122"/>
                <a:cs typeface="Yu Gothic" pitchFamily="34" charset="-120"/>
              </a:rPr>
              <a:t>2027年度 水田政策が変わる</a:t>
            </a:r>
            <a:endParaRPr lang="en-US" sz="1700" dirty="0"/>
          </a:p>
        </p:txBody>
      </p:sp>
      <p:sp>
        <p:nvSpPr>
          <p:cNvPr id="18" name="Text 16"/>
          <p:cNvSpPr txBox="1"/>
          <p:nvPr/>
        </p:nvSpPr>
        <p:spPr>
          <a:xfrm>
            <a:off x="8363712" y="3182112"/>
            <a:ext cx="2983992" cy="2377440"/>
          </a:xfrm>
          <a:prstGeom prst="rect">
            <a:avLst/>
          </a:prstGeom>
          <a:noFill/>
          <a:ln/>
        </p:spPr>
        <p:txBody>
          <a:bodyPr wrap="square" lIns="0" tIns="0" rIns="0" bIns="0" rtlCol="0" anchor="t"/>
          <a:lstStyle/>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5年に一度の水張り要件を廃止</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田畑を問わず作物別の支援へ</a:t>
            </a:r>
            <a:endParaRPr lang="en-US" sz="1250" dirty="0"/>
          </a:p>
          <a:p>
            <a:pPr indent="0" marL="0">
              <a:lnSpc>
                <a:spcPts val="1900"/>
              </a:lnSpc>
              <a:buNone/>
            </a:pP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有機・減農薬・減化学肥料に</a:t>
            </a: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新たな交付金。主食用米も対象</a:t>
            </a:r>
            <a:endParaRPr lang="en-US" sz="1250" dirty="0"/>
          </a:p>
          <a:p>
            <a:pPr indent="0" marL="0">
              <a:lnSpc>
                <a:spcPts val="1900"/>
              </a:lnSpc>
              <a:buNone/>
            </a:pPr>
            <a:endParaRPr lang="en-US" sz="1250" dirty="0"/>
          </a:p>
          <a:p>
            <a:pPr indent="0" marL="0">
              <a:lnSpc>
                <a:spcPts val="1900"/>
              </a:lnSpc>
              <a:buNone/>
            </a:pPr>
            <a:r>
              <a:rPr lang="en-US" sz="1250" dirty="0">
                <a:solidFill>
                  <a:srgbClr val="22282A"/>
                </a:solidFill>
                <a:latin typeface="Yu Gothic" pitchFamily="34" charset="0"/>
                <a:ea typeface="Yu Gothic" pitchFamily="34" charset="-122"/>
                <a:cs typeface="Yu Gothic" pitchFamily="34" charset="-120"/>
              </a:rPr>
              <a:t>＝今から実績を積む者が有利</a:t>
            </a:r>
            <a:endParaRPr lang="en-US" sz="1250" dirty="0"/>
          </a:p>
        </p:txBody>
      </p:sp>
      <p:sp>
        <p:nvSpPr>
          <p:cNvPr id="19" name="Text 17"/>
          <p:cNvSpPr txBox="1"/>
          <p:nvPr/>
        </p:nvSpPr>
        <p:spPr>
          <a:xfrm>
            <a:off x="566928" y="5961888"/>
            <a:ext cx="11055096" cy="365760"/>
          </a:xfrm>
          <a:prstGeom prst="rect">
            <a:avLst/>
          </a:prstGeom>
          <a:noFill/>
          <a:ln/>
        </p:spPr>
        <p:txBody>
          <a:bodyPr wrap="square" lIns="0" tIns="0" rIns="0" bIns="0" rtlCol="0" anchor="ctr"/>
          <a:lstStyle/>
          <a:p>
            <a:pPr indent="0" marL="0">
              <a:buNone/>
            </a:pPr>
            <a:r>
              <a:rPr lang="en-US" sz="1400" i="1" dirty="0">
                <a:solidFill>
                  <a:srgbClr val="2C5F2D"/>
                </a:solidFill>
                <a:latin typeface="Yu Gothic" pitchFamily="34" charset="0"/>
                <a:ea typeface="Yu Gothic" pitchFamily="34" charset="-122"/>
                <a:cs typeface="Yu Gothic" pitchFamily="34" charset="-120"/>
              </a:rPr>
              <a:t>価格が落ちる局面で単価を守る手段は、差別化・環境支払い・コメ以外の収益源の三つしかない</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FACT FINDING</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紺多農園について分かったこと</a:t>
            </a:r>
            <a:endParaRPr lang="en-US" sz="3200" dirty="0"/>
          </a:p>
        </p:txBody>
      </p:sp>
      <p:sp>
        <p:nvSpPr>
          <p:cNvPr id="4" name="Shape 2"/>
          <p:cNvSpPr/>
          <p:nvPr/>
        </p:nvSpPr>
        <p:spPr>
          <a:xfrm>
            <a:off x="566928" y="1627632"/>
            <a:ext cx="5390388" cy="4069080"/>
          </a:xfrm>
          <a:prstGeom prst="roundRect">
            <a:avLst>
              <a:gd name="adj" fmla="val 1798"/>
            </a:avLst>
          </a:prstGeom>
          <a:solidFill>
            <a:srgbClr val="F5F7F2"/>
          </a:solidFill>
          <a:ln/>
          <a:effectLst>
            <a:outerShdw sx="100000" sy="100000" kx="0" ky="0" algn="bl" rotWithShape="0" blurRad="101600" dist="25400" dir="5400000">
              <a:srgbClr val="000000">
                <a:alpha val="12000"/>
              </a:srgbClr>
            </a:outerShdw>
          </a:effectLst>
        </p:spPr>
      </p:sp>
      <p:sp>
        <p:nvSpPr>
          <p:cNvPr id="5" name="Text 3"/>
          <p:cNvSpPr txBox="1"/>
          <p:nvPr/>
        </p:nvSpPr>
        <p:spPr>
          <a:xfrm>
            <a:off x="859536" y="1847088"/>
            <a:ext cx="4846320" cy="365760"/>
          </a:xfrm>
          <a:prstGeom prst="rect">
            <a:avLst/>
          </a:prstGeom>
          <a:noFill/>
          <a:ln/>
        </p:spPr>
        <p:txBody>
          <a:bodyPr wrap="square" lIns="0" tIns="0" rIns="0" bIns="0" rtlCol="0" anchor="t"/>
          <a:lstStyle/>
          <a:p>
            <a:pPr indent="0" marL="0">
              <a:lnSpc>
                <a:spcPts val="2100"/>
              </a:lnSpc>
              <a:buNone/>
            </a:pPr>
            <a:r>
              <a:rPr lang="en-US" sz="1700" b="1" dirty="0">
                <a:solidFill>
                  <a:srgbClr val="2C5F2D"/>
                </a:solidFill>
                <a:latin typeface="Yu Gothic" pitchFamily="34" charset="0"/>
                <a:ea typeface="Yu Gothic" pitchFamily="34" charset="-122"/>
                <a:cs typeface="Yu Gothic" pitchFamily="34" charset="-120"/>
              </a:rPr>
              <a:t>確定していること</a:t>
            </a:r>
            <a:endParaRPr lang="en-US" sz="1700" dirty="0"/>
          </a:p>
        </p:txBody>
      </p:sp>
      <p:sp>
        <p:nvSpPr>
          <p:cNvPr id="6" name="Text 4"/>
          <p:cNvSpPr txBox="1"/>
          <p:nvPr/>
        </p:nvSpPr>
        <p:spPr>
          <a:xfrm>
            <a:off x="859536" y="2359152"/>
            <a:ext cx="4800600" cy="310896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農事組合法人 紺多農園（こんだのうえん）</a:t>
            </a:r>
            <a:endParaRPr lang="en-US" sz="1300" dirty="0"/>
          </a:p>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法人番号 1220005008354</a:t>
            </a:r>
            <a:endParaRPr lang="en-US" sz="1300" dirty="0"/>
          </a:p>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白山市末正町エ10番地／2019年2月設立</a:t>
            </a:r>
            <a:endParaRPr lang="en-US" sz="1300" dirty="0"/>
          </a:p>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農協法上、発起人に農民3人以上が必要</a:t>
            </a:r>
            <a:endParaRPr lang="en-US" sz="1300" dirty="0"/>
          </a:p>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＝最低3名の共同経営体であることは確定</a:t>
            </a:r>
            <a:endParaRPr lang="en-US" sz="1300" dirty="0"/>
          </a:p>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理事は農民である組合員しかなれない</a:t>
            </a:r>
            <a:endParaRPr lang="en-US" sz="1300" dirty="0"/>
          </a:p>
        </p:txBody>
      </p:sp>
      <p:sp>
        <p:nvSpPr>
          <p:cNvPr id="7" name="Shape 5"/>
          <p:cNvSpPr/>
          <p:nvPr/>
        </p:nvSpPr>
        <p:spPr>
          <a:xfrm>
            <a:off x="6231636" y="1627632"/>
            <a:ext cx="5390388" cy="4069080"/>
          </a:xfrm>
          <a:prstGeom prst="roundRect">
            <a:avLst>
              <a:gd name="adj" fmla="val 1798"/>
            </a:avLst>
          </a:prstGeom>
          <a:solidFill>
            <a:srgbClr val="FBEDED"/>
          </a:solidFill>
          <a:ln/>
          <a:effectLst>
            <a:outerShdw sx="100000" sy="100000" kx="0" ky="0" algn="bl" rotWithShape="0" blurRad="101600" dist="25400" dir="5400000">
              <a:srgbClr val="000000">
                <a:alpha val="12000"/>
              </a:srgbClr>
            </a:outerShdw>
          </a:effectLst>
        </p:spPr>
      </p:sp>
      <p:sp>
        <p:nvSpPr>
          <p:cNvPr id="8" name="Text 6"/>
          <p:cNvSpPr txBox="1"/>
          <p:nvPr/>
        </p:nvSpPr>
        <p:spPr>
          <a:xfrm>
            <a:off x="6524244" y="1847088"/>
            <a:ext cx="4846320" cy="365760"/>
          </a:xfrm>
          <a:prstGeom prst="rect">
            <a:avLst/>
          </a:prstGeom>
          <a:noFill/>
          <a:ln/>
        </p:spPr>
        <p:txBody>
          <a:bodyPr wrap="square" lIns="0" tIns="0" rIns="0" bIns="0" rtlCol="0" anchor="t"/>
          <a:lstStyle/>
          <a:p>
            <a:pPr indent="0" marL="0">
              <a:lnSpc>
                <a:spcPts val="2100"/>
              </a:lnSpc>
              <a:buNone/>
            </a:pPr>
            <a:r>
              <a:rPr lang="en-US" sz="1700" b="1" dirty="0">
                <a:solidFill>
                  <a:srgbClr val="A32E2E"/>
                </a:solidFill>
                <a:latin typeface="Yu Gothic" pitchFamily="34" charset="0"/>
                <a:ea typeface="Yu Gothic" pitchFamily="34" charset="-122"/>
                <a:cs typeface="Yu Gothic" pitchFamily="34" charset="-120"/>
              </a:rPr>
              <a:t>分からなかったこと（＝それ自体が発見）</a:t>
            </a:r>
            <a:endParaRPr lang="en-US" sz="1700" dirty="0"/>
          </a:p>
        </p:txBody>
      </p:sp>
      <p:sp>
        <p:nvSpPr>
          <p:cNvPr id="9" name="Text 7"/>
          <p:cNvSpPr txBox="1"/>
          <p:nvPr/>
        </p:nvSpPr>
        <p:spPr>
          <a:xfrm>
            <a:off x="6524244" y="2359152"/>
            <a:ext cx="4800600" cy="192024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作付面積・売上・人数は公開情報に存在しない</a:t>
            </a:r>
            <a:endParaRPr lang="en-US" sz="1300" dirty="0"/>
          </a:p>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自社サイト・SNS なし</a:t>
            </a:r>
            <a:endParaRPr lang="en-US" sz="1300" dirty="0"/>
          </a:p>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県農業法人協会の会員名簿に掲載なし</a:t>
            </a:r>
            <a:endParaRPr lang="en-US" sz="1300" dirty="0"/>
          </a:p>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県の生産者カタログ・ふるさと納税・EC に掲載なし</a:t>
            </a:r>
            <a:endParaRPr lang="en-US" sz="1300" dirty="0"/>
          </a:p>
          <a:p>
            <a:pPr marL="342900" indent="-342900">
              <a:lnSpc>
                <a:spcPts val="1900"/>
              </a:lnSpc>
              <a:spcAft>
                <a:spcPts val="700"/>
              </a:spcAft>
              <a:buSzPct val="100000"/>
              <a:buChar char="•"/>
            </a:pPr>
            <a:r>
              <a:rPr lang="en-US" sz="1300" dirty="0">
                <a:solidFill>
                  <a:srgbClr val="22282A"/>
                </a:solidFill>
                <a:latin typeface="Yu Gothic" pitchFamily="34" charset="0"/>
                <a:ea typeface="Yu Gothic" pitchFamily="34" charset="-122"/>
                <a:cs typeface="Yu Gothic" pitchFamily="34" charset="-120"/>
              </a:rPr>
              <a:t>報道なし</a:t>
            </a:r>
            <a:endParaRPr lang="en-US" sz="1300" dirty="0"/>
          </a:p>
        </p:txBody>
      </p:sp>
      <p:sp>
        <p:nvSpPr>
          <p:cNvPr id="10" name="Text 8"/>
          <p:cNvSpPr txBox="1"/>
          <p:nvPr/>
        </p:nvSpPr>
        <p:spPr>
          <a:xfrm>
            <a:off x="6524244" y="4407408"/>
            <a:ext cx="4800600" cy="914400"/>
          </a:xfrm>
          <a:prstGeom prst="rect">
            <a:avLst/>
          </a:prstGeom>
          <a:noFill/>
          <a:ln/>
        </p:spPr>
        <p:txBody>
          <a:bodyPr wrap="square" lIns="0" tIns="0" rIns="0" bIns="0" rtlCol="0" anchor="t"/>
          <a:lstStyle/>
          <a:p>
            <a:pPr indent="0" marL="0">
              <a:lnSpc>
                <a:spcPts val="2100"/>
              </a:lnSpc>
              <a:buNone/>
            </a:pPr>
            <a:r>
              <a:rPr lang="en-US" sz="1350" b="1" dirty="0">
                <a:solidFill>
                  <a:srgbClr val="A32E2E"/>
                </a:solidFill>
                <a:latin typeface="Yu Gothic" pitchFamily="34" charset="0"/>
                <a:ea typeface="Yu Gothic" pitchFamily="34" charset="-122"/>
                <a:cs typeface="Yu Gothic" pitchFamily="34" charset="-120"/>
              </a:rPr>
              <a:t>販路がJA出荷＋縁故にほぼ依存＝価格決定権がない。</a:t>
            </a:r>
            <a:endParaRPr lang="en-US" sz="1350" dirty="0"/>
          </a:p>
          <a:p>
            <a:pPr indent="0" marL="0">
              <a:lnSpc>
                <a:spcPts val="2100"/>
              </a:lnSpc>
              <a:buNone/>
            </a:pPr>
            <a:r>
              <a:rPr lang="en-US" sz="1350" b="1" dirty="0">
                <a:solidFill>
                  <a:srgbClr val="A32E2E"/>
                </a:solidFill>
                <a:latin typeface="Yu Gothic" pitchFamily="34" charset="0"/>
                <a:ea typeface="Yu Gothic" pitchFamily="34" charset="-122"/>
                <a:cs typeface="Yu Gothic" pitchFamily="34" charset="-120"/>
              </a:rPr>
              <a:t>裏返せば、発信は完全な未開拓地。</a:t>
            </a:r>
            <a:endParaRPr lang="en-US" sz="1350" dirty="0"/>
          </a:p>
        </p:txBody>
      </p:sp>
      <p:sp>
        <p:nvSpPr>
          <p:cNvPr id="11" name="Text 9"/>
          <p:cNvSpPr txBox="1"/>
          <p:nvPr/>
        </p:nvSpPr>
        <p:spPr>
          <a:xfrm>
            <a:off x="566928" y="5925312"/>
            <a:ext cx="11055096" cy="365760"/>
          </a:xfrm>
          <a:prstGeom prst="rect">
            <a:avLst/>
          </a:prstGeom>
          <a:noFill/>
          <a:ln/>
        </p:spPr>
        <p:txBody>
          <a:bodyPr wrap="square" lIns="0" tIns="0" rIns="0" bIns="0" rtlCol="0" anchor="ctr"/>
          <a:lstStyle/>
          <a:p>
            <a:pPr indent="0" marL="0">
              <a:buNone/>
            </a:pPr>
            <a:r>
              <a:rPr lang="en-US" sz="1400" i="1" dirty="0">
                <a:solidFill>
                  <a:srgbClr val="2C5F2D"/>
                </a:solidFill>
                <a:latin typeface="Yu Gothic" pitchFamily="34" charset="0"/>
                <a:ea typeface="Yu Gothic" pitchFamily="34" charset="-122"/>
                <a:cs typeface="Yu Gothic" pitchFamily="34" charset="-120"/>
              </a:rPr>
              <a:t>正確な数字はJA白山の品目別出荷実績（数量・金額）で取れる。面積ではなく粗利で見ること。</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POSITIONING</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コメ・ブロッコリー・キャベツ ― どれが武器か</a:t>
            </a:r>
            <a:endParaRPr lang="en-US" sz="3200" dirty="0"/>
          </a:p>
        </p:txBody>
      </p:sp>
      <p:sp>
        <p:nvSpPr>
          <p:cNvPr id="4" name="Shape 2"/>
          <p:cNvSpPr/>
          <p:nvPr/>
        </p:nvSpPr>
        <p:spPr>
          <a:xfrm>
            <a:off x="566928" y="1664208"/>
            <a:ext cx="11055096" cy="1170432"/>
          </a:xfrm>
          <a:prstGeom prst="roundRect">
            <a:avLst>
              <a:gd name="adj" fmla="val 6250"/>
            </a:avLst>
          </a:prstGeom>
          <a:solidFill>
            <a:srgbClr val="F5F7F2"/>
          </a:solidFill>
          <a:ln/>
          <a:effectLst>
            <a:outerShdw sx="100000" sy="100000" kx="0" ky="0" algn="bl" rotWithShape="0" blurRad="101600" dist="25400" dir="5400000">
              <a:srgbClr val="000000">
                <a:alpha val="12000"/>
              </a:srgbClr>
            </a:outerShdw>
          </a:effectLst>
        </p:spPr>
      </p:sp>
      <p:sp>
        <p:nvSpPr>
          <p:cNvPr id="5" name="Text 3"/>
          <p:cNvSpPr txBox="1"/>
          <p:nvPr/>
        </p:nvSpPr>
        <p:spPr>
          <a:xfrm>
            <a:off x="877824" y="1865376"/>
            <a:ext cx="1828800" cy="457200"/>
          </a:xfrm>
          <a:prstGeom prst="rect">
            <a:avLst/>
          </a:prstGeom>
          <a:noFill/>
          <a:ln/>
        </p:spPr>
        <p:txBody>
          <a:bodyPr wrap="square" lIns="0" tIns="0" rIns="0" bIns="0" rtlCol="0" anchor="t"/>
          <a:lstStyle/>
          <a:p>
            <a:pPr indent="0" marL="0">
              <a:lnSpc>
                <a:spcPts val="2100"/>
              </a:lnSpc>
              <a:buNone/>
            </a:pPr>
            <a:r>
              <a:rPr lang="en-US" sz="2100" b="1" dirty="0">
                <a:solidFill>
                  <a:srgbClr val="B8860B"/>
                </a:solidFill>
                <a:latin typeface="Cambria" pitchFamily="34" charset="0"/>
                <a:ea typeface="Cambria" pitchFamily="34" charset="-122"/>
                <a:cs typeface="Cambria" pitchFamily="34" charset="-120"/>
              </a:rPr>
              <a:t>コメ</a:t>
            </a:r>
            <a:endParaRPr lang="en-US" sz="2100" dirty="0"/>
          </a:p>
        </p:txBody>
      </p:sp>
      <p:sp>
        <p:nvSpPr>
          <p:cNvPr id="6" name="Text 4"/>
          <p:cNvSpPr txBox="1"/>
          <p:nvPr/>
        </p:nvSpPr>
        <p:spPr>
          <a:xfrm>
            <a:off x="2852928" y="1865376"/>
            <a:ext cx="3200400" cy="658368"/>
          </a:xfrm>
          <a:prstGeom prst="rect">
            <a:avLst/>
          </a:prstGeom>
          <a:noFill/>
          <a:ln/>
        </p:spPr>
        <p:txBody>
          <a:bodyPr wrap="square" lIns="0" tIns="0" rIns="0" bIns="0" rtlCol="0" anchor="t"/>
          <a:lstStyle/>
          <a:p>
            <a:pPr indent="0" marL="0">
              <a:lnSpc>
                <a:spcPts val="1900"/>
              </a:lnSpc>
              <a:buNone/>
            </a:pPr>
            <a:r>
              <a:rPr lang="en-US" sz="1400" b="1" dirty="0">
                <a:solidFill>
                  <a:srgbClr val="B8860B"/>
                </a:solidFill>
                <a:latin typeface="Yu Gothic" pitchFamily="34" charset="0"/>
                <a:ea typeface="Yu Gothic" pitchFamily="34" charset="-122"/>
                <a:cs typeface="Yu Gothic" pitchFamily="34" charset="-120"/>
              </a:rPr>
              <a:t>武器ではなく土台</a:t>
            </a:r>
            <a:endParaRPr lang="en-US" sz="1400" dirty="0"/>
          </a:p>
        </p:txBody>
      </p:sp>
      <p:sp>
        <p:nvSpPr>
          <p:cNvPr id="7" name="Text 5"/>
          <p:cNvSpPr txBox="1"/>
          <p:nvPr/>
        </p:nvSpPr>
        <p:spPr>
          <a:xfrm>
            <a:off x="6236208" y="1847088"/>
            <a:ext cx="5120640" cy="868680"/>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管内農地の7割がコメ。全員が持っていて差別化にならない。加えて2026年産は4割安。ただし面積と設備は経営の土台</a:t>
            </a:r>
            <a:endParaRPr lang="en-US" sz="1250" dirty="0"/>
          </a:p>
        </p:txBody>
      </p:sp>
      <p:sp>
        <p:nvSpPr>
          <p:cNvPr id="8" name="Shape 6"/>
          <p:cNvSpPr/>
          <p:nvPr/>
        </p:nvSpPr>
        <p:spPr>
          <a:xfrm>
            <a:off x="566928" y="2962656"/>
            <a:ext cx="11055096" cy="1170432"/>
          </a:xfrm>
          <a:prstGeom prst="roundRect">
            <a:avLst>
              <a:gd name="adj" fmla="val 6250"/>
            </a:avLst>
          </a:prstGeom>
          <a:solidFill>
            <a:srgbClr val="F5F7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77824" y="3163824"/>
            <a:ext cx="1828800" cy="457200"/>
          </a:xfrm>
          <a:prstGeom prst="rect">
            <a:avLst/>
          </a:prstGeom>
          <a:noFill/>
          <a:ln/>
        </p:spPr>
        <p:txBody>
          <a:bodyPr wrap="square" lIns="0" tIns="0" rIns="0" bIns="0" rtlCol="0" anchor="t"/>
          <a:lstStyle/>
          <a:p>
            <a:pPr indent="0" marL="0">
              <a:lnSpc>
                <a:spcPts val="2100"/>
              </a:lnSpc>
              <a:buNone/>
            </a:pPr>
            <a:r>
              <a:rPr lang="en-US" sz="2100" b="1" dirty="0">
                <a:solidFill>
                  <a:srgbClr val="2C5F2D"/>
                </a:solidFill>
                <a:latin typeface="Cambria" pitchFamily="34" charset="0"/>
                <a:ea typeface="Cambria" pitchFamily="34" charset="-122"/>
                <a:cs typeface="Cambria" pitchFamily="34" charset="-120"/>
              </a:rPr>
              <a:t>ブロッコリー</a:t>
            </a:r>
            <a:endParaRPr lang="en-US" sz="2100" dirty="0"/>
          </a:p>
        </p:txBody>
      </p:sp>
      <p:sp>
        <p:nvSpPr>
          <p:cNvPr id="10" name="Text 8"/>
          <p:cNvSpPr txBox="1"/>
          <p:nvPr/>
        </p:nvSpPr>
        <p:spPr>
          <a:xfrm>
            <a:off x="2852928" y="3163824"/>
            <a:ext cx="3200400" cy="658368"/>
          </a:xfrm>
          <a:prstGeom prst="rect">
            <a:avLst/>
          </a:prstGeom>
          <a:noFill/>
          <a:ln/>
        </p:spPr>
        <p:txBody>
          <a:bodyPr wrap="square" lIns="0" tIns="0" rIns="0" bIns="0" rtlCol="0" anchor="t"/>
          <a:lstStyle/>
          <a:p>
            <a:pPr indent="0" marL="0">
              <a:lnSpc>
                <a:spcPts val="1900"/>
              </a:lnSpc>
              <a:buNone/>
            </a:pPr>
            <a:r>
              <a:rPr lang="en-US" sz="1400" b="1" dirty="0">
                <a:solidFill>
                  <a:srgbClr val="2C5F2D"/>
                </a:solidFill>
                <a:latin typeface="Yu Gothic" pitchFamily="34" charset="0"/>
                <a:ea typeface="Yu Gothic" pitchFamily="34" charset="-122"/>
                <a:cs typeface="Yu Gothic" pitchFamily="34" charset="-120"/>
              </a:rPr>
              <a:t>産地の武器。まだ自社の武器ではない</a:t>
            </a:r>
            <a:endParaRPr lang="en-US" sz="1400" dirty="0"/>
          </a:p>
        </p:txBody>
      </p:sp>
      <p:sp>
        <p:nvSpPr>
          <p:cNvPr id="11" name="Text 9"/>
          <p:cNvSpPr txBox="1"/>
          <p:nvPr/>
        </p:nvSpPr>
        <p:spPr>
          <a:xfrm>
            <a:off x="6236208" y="3145536"/>
            <a:ext cx="5120640" cy="868680"/>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安井ファーム1社で県内作付の約1/3・年200万個。量では勝てない。勝ち筋は作期・品質グレード・有機</a:t>
            </a:r>
            <a:endParaRPr lang="en-US" sz="1250" dirty="0"/>
          </a:p>
        </p:txBody>
      </p:sp>
      <p:sp>
        <p:nvSpPr>
          <p:cNvPr id="12" name="Shape 10"/>
          <p:cNvSpPr/>
          <p:nvPr/>
        </p:nvSpPr>
        <p:spPr>
          <a:xfrm>
            <a:off x="566928" y="4261104"/>
            <a:ext cx="11055096" cy="1170432"/>
          </a:xfrm>
          <a:prstGeom prst="roundRect">
            <a:avLst>
              <a:gd name="adj" fmla="val 6250"/>
            </a:avLst>
          </a:prstGeom>
          <a:solidFill>
            <a:srgbClr val="FBEDED"/>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877824" y="4462272"/>
            <a:ext cx="1828800" cy="457200"/>
          </a:xfrm>
          <a:prstGeom prst="rect">
            <a:avLst/>
          </a:prstGeom>
          <a:noFill/>
          <a:ln/>
        </p:spPr>
        <p:txBody>
          <a:bodyPr wrap="square" lIns="0" tIns="0" rIns="0" bIns="0" rtlCol="0" anchor="t"/>
          <a:lstStyle/>
          <a:p>
            <a:pPr indent="0" marL="0">
              <a:lnSpc>
                <a:spcPts val="2100"/>
              </a:lnSpc>
              <a:buNone/>
            </a:pPr>
            <a:r>
              <a:rPr lang="en-US" sz="2100" b="1" dirty="0">
                <a:solidFill>
                  <a:srgbClr val="A32E2E"/>
                </a:solidFill>
                <a:latin typeface="Cambria" pitchFamily="34" charset="0"/>
                <a:ea typeface="Cambria" pitchFamily="34" charset="-122"/>
                <a:cs typeface="Cambria" pitchFamily="34" charset="-120"/>
              </a:rPr>
              <a:t>キャベツ</a:t>
            </a:r>
            <a:endParaRPr lang="en-US" sz="2100" dirty="0"/>
          </a:p>
        </p:txBody>
      </p:sp>
      <p:sp>
        <p:nvSpPr>
          <p:cNvPr id="14" name="Text 12"/>
          <p:cNvSpPr txBox="1"/>
          <p:nvPr/>
        </p:nvSpPr>
        <p:spPr>
          <a:xfrm>
            <a:off x="2852928" y="4462272"/>
            <a:ext cx="3200400" cy="658368"/>
          </a:xfrm>
          <a:prstGeom prst="rect">
            <a:avLst/>
          </a:prstGeom>
          <a:noFill/>
          <a:ln/>
        </p:spPr>
        <p:txBody>
          <a:bodyPr wrap="square" lIns="0" tIns="0" rIns="0" bIns="0" rtlCol="0" anchor="t"/>
          <a:lstStyle/>
          <a:p>
            <a:pPr indent="0" marL="0">
              <a:lnSpc>
                <a:spcPts val="1900"/>
              </a:lnSpc>
              <a:buNone/>
            </a:pPr>
            <a:r>
              <a:rPr lang="en-US" sz="1400" b="1" dirty="0">
                <a:solidFill>
                  <a:srgbClr val="A32E2E"/>
                </a:solidFill>
                <a:latin typeface="Yu Gothic" pitchFamily="34" charset="0"/>
                <a:ea typeface="Yu Gothic" pitchFamily="34" charset="-122"/>
                <a:cs typeface="Yu Gothic" pitchFamily="34" charset="-120"/>
              </a:rPr>
              <a:t>推奨しない</a:t>
            </a:r>
            <a:endParaRPr lang="en-US" sz="1400" dirty="0"/>
          </a:p>
        </p:txBody>
      </p:sp>
      <p:sp>
        <p:nvSpPr>
          <p:cNvPr id="15" name="Text 13"/>
          <p:cNvSpPr txBox="1"/>
          <p:nvPr/>
        </p:nvSpPr>
        <p:spPr>
          <a:xfrm>
            <a:off x="6236208" y="4443984"/>
            <a:ext cx="5120640" cy="868680"/>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①地域に産地がない ②群馬・愛知・千葉が相場を握る ③ブロッコリーと同じアブラナ科で連作障害・病害虫を共有＝輪作にならない</a:t>
            </a:r>
            <a:endParaRPr lang="en-US" sz="1250" dirty="0"/>
          </a:p>
        </p:txBody>
      </p:sp>
      <p:sp>
        <p:nvSpPr>
          <p:cNvPr id="16" name="Text 14"/>
          <p:cNvSpPr txBox="1"/>
          <p:nvPr/>
        </p:nvSpPr>
        <p:spPr>
          <a:xfrm>
            <a:off x="566928" y="5870448"/>
            <a:ext cx="11055096" cy="365760"/>
          </a:xfrm>
          <a:prstGeom prst="rect">
            <a:avLst/>
          </a:prstGeom>
          <a:noFill/>
          <a:ln/>
        </p:spPr>
        <p:txBody>
          <a:bodyPr wrap="square" lIns="0" tIns="0" rIns="0" bIns="0" rtlCol="0" anchor="ctr"/>
          <a:lstStyle/>
          <a:p>
            <a:pPr indent="0" marL="0">
              <a:buNone/>
            </a:pPr>
            <a:r>
              <a:rPr lang="en-US" sz="1400" i="1" dirty="0">
                <a:solidFill>
                  <a:srgbClr val="2C5F2D"/>
                </a:solidFill>
                <a:latin typeface="Yu Gothic" pitchFamily="34" charset="0"/>
                <a:ea typeface="Yu Gothic" pitchFamily="34" charset="-122"/>
                <a:cs typeface="Yu Gothic" pitchFamily="34" charset="-120"/>
              </a:rPr>
              <a:t>品目を足すならアブラナ科以外を。地域に産地がある白ねぎ・丸いも・ナスなら輪作としても成立する。</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A3A1B"/>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97BC62"/>
                </a:solidFill>
                <a:latin typeface="Yu Gothic" pitchFamily="34" charset="0"/>
                <a:ea typeface="Yu Gothic" pitchFamily="34" charset="-122"/>
                <a:cs typeface="Yu Gothic" pitchFamily="34" charset="-120"/>
              </a:rPr>
              <a:t>STRATEGY</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武器は「品目」ではなく「組み合わせ」</a:t>
            </a:r>
            <a:endParaRPr lang="en-US" sz="3200" dirty="0"/>
          </a:p>
        </p:txBody>
      </p:sp>
      <p:sp>
        <p:nvSpPr>
          <p:cNvPr id="4" name="Shape 2"/>
          <p:cNvSpPr/>
          <p:nvPr/>
        </p:nvSpPr>
        <p:spPr>
          <a:xfrm>
            <a:off x="566928" y="1737360"/>
            <a:ext cx="2788920" cy="1234440"/>
          </a:xfrm>
          <a:prstGeom prst="roundRect">
            <a:avLst>
              <a:gd name="adj" fmla="val 5926"/>
            </a:avLst>
          </a:prstGeom>
          <a:solidFill>
            <a:srgbClr val="234425"/>
          </a:solidFill>
          <a:ln w="12700">
            <a:solidFill>
              <a:srgbClr val="97BC62"/>
            </a:solidFill>
            <a:prstDash val="solid"/>
          </a:ln>
        </p:spPr>
      </p:sp>
      <p:sp>
        <p:nvSpPr>
          <p:cNvPr id="5" name="Text 3"/>
          <p:cNvSpPr txBox="1"/>
          <p:nvPr/>
        </p:nvSpPr>
        <p:spPr>
          <a:xfrm>
            <a:off x="566928" y="1737360"/>
            <a:ext cx="2788920" cy="1234440"/>
          </a:xfrm>
          <a:prstGeom prst="rect">
            <a:avLst/>
          </a:prstGeom>
          <a:noFill/>
          <a:ln/>
        </p:spPr>
        <p:txBody>
          <a:bodyPr wrap="square" lIns="0" tIns="0" rIns="0" bIns="0" rtlCol="0" anchor="ctr"/>
          <a:lstStyle/>
          <a:p>
            <a:pPr algn="ctr" indent="0" marL="0">
              <a:lnSpc>
                <a:spcPts val="2100"/>
              </a:lnSpc>
              <a:buNone/>
            </a:pPr>
            <a:r>
              <a:rPr lang="en-US" sz="1450" b="1" dirty="0">
                <a:solidFill>
                  <a:srgbClr val="FFFFFF"/>
                </a:solidFill>
                <a:latin typeface="Yu Gothic" pitchFamily="34" charset="0"/>
                <a:ea typeface="Yu Gothic" pitchFamily="34" charset="-122"/>
                <a:cs typeface="Yu Gothic" pitchFamily="34" charset="-120"/>
              </a:rPr>
              <a:t>水田面積</a:t>
            </a:r>
            <a:endParaRPr lang="en-US" sz="1450" dirty="0"/>
          </a:p>
          <a:p>
            <a:pPr algn="ctr" indent="0" marL="0">
              <a:lnSpc>
                <a:spcPts val="2100"/>
              </a:lnSpc>
              <a:buNone/>
            </a:pPr>
            <a:r>
              <a:rPr lang="en-US" sz="1450" b="1" dirty="0">
                <a:solidFill>
                  <a:srgbClr val="FFFFFF"/>
                </a:solidFill>
                <a:latin typeface="Yu Gothic" pitchFamily="34" charset="0"/>
                <a:ea typeface="Yu Gothic" pitchFamily="34" charset="-122"/>
                <a:cs typeface="Yu Gothic" pitchFamily="34" charset="-120"/>
              </a:rPr>
              <a:t>（コメ）</a:t>
            </a:r>
            <a:endParaRPr lang="en-US" sz="1450" dirty="0"/>
          </a:p>
        </p:txBody>
      </p:sp>
      <p:sp>
        <p:nvSpPr>
          <p:cNvPr id="6" name="Text 4"/>
          <p:cNvSpPr txBox="1"/>
          <p:nvPr/>
        </p:nvSpPr>
        <p:spPr>
          <a:xfrm>
            <a:off x="3355848" y="1737360"/>
            <a:ext cx="365760" cy="1234440"/>
          </a:xfrm>
          <a:prstGeom prst="rect">
            <a:avLst/>
          </a:prstGeom>
          <a:noFill/>
          <a:ln/>
        </p:spPr>
        <p:txBody>
          <a:bodyPr wrap="square" lIns="0" tIns="0" rIns="0" bIns="0" rtlCol="0" anchor="ctr"/>
          <a:lstStyle/>
          <a:p>
            <a:pPr algn="ctr" indent="0" marL="0">
              <a:buNone/>
            </a:pPr>
            <a:r>
              <a:rPr lang="en-US" sz="2200" b="1" dirty="0">
                <a:solidFill>
                  <a:srgbClr val="97BC62"/>
                </a:solidFill>
                <a:latin typeface="Cambria" pitchFamily="34" charset="0"/>
                <a:ea typeface="Cambria" pitchFamily="34" charset="-122"/>
                <a:cs typeface="Cambria" pitchFamily="34" charset="-120"/>
              </a:rPr>
              <a:t>×</a:t>
            </a:r>
            <a:endParaRPr lang="en-US" sz="2200" dirty="0"/>
          </a:p>
        </p:txBody>
      </p:sp>
      <p:sp>
        <p:nvSpPr>
          <p:cNvPr id="7" name="Shape 5"/>
          <p:cNvSpPr/>
          <p:nvPr/>
        </p:nvSpPr>
        <p:spPr>
          <a:xfrm>
            <a:off x="3721608" y="1737360"/>
            <a:ext cx="2788920" cy="1234440"/>
          </a:xfrm>
          <a:prstGeom prst="roundRect">
            <a:avLst>
              <a:gd name="adj" fmla="val 5926"/>
            </a:avLst>
          </a:prstGeom>
          <a:solidFill>
            <a:srgbClr val="234425"/>
          </a:solidFill>
          <a:ln w="12700">
            <a:solidFill>
              <a:srgbClr val="97BC62"/>
            </a:solidFill>
            <a:prstDash val="solid"/>
          </a:ln>
        </p:spPr>
      </p:sp>
      <p:sp>
        <p:nvSpPr>
          <p:cNvPr id="8" name="Text 6"/>
          <p:cNvSpPr txBox="1"/>
          <p:nvPr/>
        </p:nvSpPr>
        <p:spPr>
          <a:xfrm>
            <a:off x="3721608" y="1737360"/>
            <a:ext cx="2788920" cy="1234440"/>
          </a:xfrm>
          <a:prstGeom prst="rect">
            <a:avLst/>
          </a:prstGeom>
          <a:noFill/>
          <a:ln/>
        </p:spPr>
        <p:txBody>
          <a:bodyPr wrap="square" lIns="0" tIns="0" rIns="0" bIns="0" rtlCol="0" anchor="ctr"/>
          <a:lstStyle/>
          <a:p>
            <a:pPr algn="ctr" indent="0" marL="0">
              <a:lnSpc>
                <a:spcPts val="2100"/>
              </a:lnSpc>
              <a:buNone/>
            </a:pPr>
            <a:r>
              <a:rPr lang="en-US" sz="1450" b="1" dirty="0">
                <a:solidFill>
                  <a:srgbClr val="FFFFFF"/>
                </a:solidFill>
                <a:latin typeface="Yu Gothic" pitchFamily="34" charset="0"/>
                <a:ea typeface="Yu Gothic" pitchFamily="34" charset="-122"/>
                <a:cs typeface="Yu Gothic" pitchFamily="34" charset="-120"/>
              </a:rPr>
              <a:t>アブラナ科の</a:t>
            </a:r>
            <a:endParaRPr lang="en-US" sz="1450" dirty="0"/>
          </a:p>
          <a:p>
            <a:pPr algn="ctr" indent="0" marL="0">
              <a:lnSpc>
                <a:spcPts val="2100"/>
              </a:lnSpc>
              <a:buNone/>
            </a:pPr>
            <a:r>
              <a:rPr lang="en-US" sz="1450" b="1" dirty="0">
                <a:solidFill>
                  <a:srgbClr val="FFFFFF"/>
                </a:solidFill>
                <a:latin typeface="Yu Gothic" pitchFamily="34" charset="0"/>
                <a:ea typeface="Yu Gothic" pitchFamily="34" charset="-122"/>
                <a:cs typeface="Yu Gothic" pitchFamily="34" charset="-120"/>
              </a:rPr>
              <a:t>露地園芸技術</a:t>
            </a:r>
            <a:endParaRPr lang="en-US" sz="1450" dirty="0"/>
          </a:p>
        </p:txBody>
      </p:sp>
      <p:sp>
        <p:nvSpPr>
          <p:cNvPr id="9" name="Text 7"/>
          <p:cNvSpPr txBox="1"/>
          <p:nvPr/>
        </p:nvSpPr>
        <p:spPr>
          <a:xfrm>
            <a:off x="6510528" y="1737360"/>
            <a:ext cx="365760" cy="1234440"/>
          </a:xfrm>
          <a:prstGeom prst="rect">
            <a:avLst/>
          </a:prstGeom>
          <a:noFill/>
          <a:ln/>
        </p:spPr>
        <p:txBody>
          <a:bodyPr wrap="square" lIns="0" tIns="0" rIns="0" bIns="0" rtlCol="0" anchor="ctr"/>
          <a:lstStyle/>
          <a:p>
            <a:pPr algn="ctr" indent="0" marL="0">
              <a:buNone/>
            </a:pPr>
            <a:r>
              <a:rPr lang="en-US" sz="2200" b="1" dirty="0">
                <a:solidFill>
                  <a:srgbClr val="97BC62"/>
                </a:solidFill>
                <a:latin typeface="Cambria" pitchFamily="34" charset="0"/>
                <a:ea typeface="Cambria" pitchFamily="34" charset="-122"/>
                <a:cs typeface="Cambria" pitchFamily="34" charset="-120"/>
              </a:rPr>
              <a:t>×</a:t>
            </a:r>
            <a:endParaRPr lang="en-US" sz="2200" dirty="0"/>
          </a:p>
        </p:txBody>
      </p:sp>
      <p:sp>
        <p:nvSpPr>
          <p:cNvPr id="10" name="Shape 8"/>
          <p:cNvSpPr/>
          <p:nvPr/>
        </p:nvSpPr>
        <p:spPr>
          <a:xfrm>
            <a:off x="6876288" y="1737360"/>
            <a:ext cx="2788920" cy="1234440"/>
          </a:xfrm>
          <a:prstGeom prst="roundRect">
            <a:avLst>
              <a:gd name="adj" fmla="val 5926"/>
            </a:avLst>
          </a:prstGeom>
          <a:solidFill>
            <a:srgbClr val="234425"/>
          </a:solidFill>
          <a:ln w="12700">
            <a:solidFill>
              <a:srgbClr val="97BC62"/>
            </a:solidFill>
            <a:prstDash val="solid"/>
          </a:ln>
        </p:spPr>
      </p:sp>
      <p:sp>
        <p:nvSpPr>
          <p:cNvPr id="11" name="Text 9"/>
          <p:cNvSpPr txBox="1"/>
          <p:nvPr/>
        </p:nvSpPr>
        <p:spPr>
          <a:xfrm>
            <a:off x="6876288" y="1737360"/>
            <a:ext cx="2788920" cy="1234440"/>
          </a:xfrm>
          <a:prstGeom prst="rect">
            <a:avLst/>
          </a:prstGeom>
          <a:noFill/>
          <a:ln/>
        </p:spPr>
        <p:txBody>
          <a:bodyPr wrap="square" lIns="0" tIns="0" rIns="0" bIns="0" rtlCol="0" anchor="ctr"/>
          <a:lstStyle/>
          <a:p>
            <a:pPr algn="ctr" indent="0" marL="0">
              <a:lnSpc>
                <a:spcPts val="2100"/>
              </a:lnSpc>
              <a:buNone/>
            </a:pPr>
            <a:r>
              <a:rPr lang="en-US" sz="1450" b="1" dirty="0">
                <a:solidFill>
                  <a:srgbClr val="FFFFFF"/>
                </a:solidFill>
                <a:latin typeface="Yu Gothic" pitchFamily="34" charset="0"/>
                <a:ea typeface="Yu Gothic" pitchFamily="34" charset="-122"/>
                <a:cs typeface="Yu Gothic" pitchFamily="34" charset="-120"/>
              </a:rPr>
              <a:t>白山市が</a:t>
            </a:r>
            <a:endParaRPr lang="en-US" sz="1450" dirty="0"/>
          </a:p>
          <a:p>
            <a:pPr algn="ctr" indent="0" marL="0">
              <a:lnSpc>
                <a:spcPts val="2100"/>
              </a:lnSpc>
              <a:buNone/>
            </a:pPr>
            <a:r>
              <a:rPr lang="en-US" sz="1450" b="1" dirty="0">
                <a:solidFill>
                  <a:srgbClr val="FFFFFF"/>
                </a:solidFill>
                <a:latin typeface="Yu Gothic" pitchFamily="34" charset="0"/>
                <a:ea typeface="Yu Gothic" pitchFamily="34" charset="-122"/>
                <a:cs typeface="Yu Gothic" pitchFamily="34" charset="-120"/>
              </a:rPr>
              <a:t>オーガニックビレッジ</a:t>
            </a:r>
            <a:endParaRPr lang="en-US" sz="1450" dirty="0"/>
          </a:p>
        </p:txBody>
      </p:sp>
      <p:sp>
        <p:nvSpPr>
          <p:cNvPr id="12" name="Text 10"/>
          <p:cNvSpPr txBox="1"/>
          <p:nvPr/>
        </p:nvSpPr>
        <p:spPr>
          <a:xfrm>
            <a:off x="566928" y="3127248"/>
            <a:ext cx="11055096" cy="365760"/>
          </a:xfrm>
          <a:prstGeom prst="rect">
            <a:avLst/>
          </a:prstGeom>
          <a:noFill/>
          <a:ln/>
        </p:spPr>
        <p:txBody>
          <a:bodyPr wrap="square" lIns="0" tIns="0" rIns="0" bIns="0" rtlCol="0" anchor="ctr"/>
          <a:lstStyle/>
          <a:p>
            <a:pPr indent="0" marL="0">
              <a:buNone/>
            </a:pPr>
            <a:r>
              <a:rPr lang="en-US" sz="1600" b="1" dirty="0">
                <a:solidFill>
                  <a:srgbClr val="97BC62"/>
                </a:solidFill>
                <a:latin typeface="Yu Gothic" pitchFamily="34" charset="0"/>
                <a:ea typeface="Yu Gothic" pitchFamily="34" charset="-122"/>
                <a:cs typeface="Yu Gothic" pitchFamily="34" charset="-120"/>
              </a:rPr>
              <a:t>この3点セットを揃えた経営体は、白山市にまだ存在しない</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3657600"/>
          <a:ext cx="11055096" cy="914400"/>
        </p:xfrm>
        <a:graphic>
          <a:graphicData uri="http://schemas.openxmlformats.org/drawingml/2006/table">
            <a:tbl>
              <a:tblPr/>
              <a:tblGrid>
                <a:gridCol w="3108960"/>
                <a:gridCol w="3931920"/>
                <a:gridCol w="4014216"/>
              </a:tblGrid>
              <a:tr h="475488">
                <a:tc>
                  <a:txBody>
                    <a:bodyPr/>
                    <a:lstStyle/>
                    <a:p>
                      <a:pPr indent="0" marL="0">
                        <a:buNone/>
                      </a:pP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97BC62"/>
                    </a:solidFill>
                  </a:tcPr>
                </a:tc>
                <a:tc>
                  <a:txBody>
                    <a:bodyPr/>
                    <a:lstStyle/>
                    <a:p>
                      <a:pPr indent="0" marL="0">
                        <a:buNone/>
                      </a:pPr>
                      <a:r>
                        <a:rPr lang="en-US" sz="1300" b="1" dirty="0">
                          <a:solidFill>
                            <a:srgbClr val="1A3A1B"/>
                          </a:solidFill>
                          <a:latin typeface="Yu Gothic" pitchFamily="34" charset="0"/>
                          <a:ea typeface="Yu Gothic" pitchFamily="34" charset="-122"/>
                          <a:cs typeface="Yu Gothic" pitchFamily="34" charset="-120"/>
                        </a:rPr>
                        <a:t>強み</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97BC62"/>
                    </a:solidFill>
                  </a:tcPr>
                </a:tc>
                <a:tc>
                  <a:txBody>
                    <a:bodyPr/>
                    <a:lstStyle/>
                    <a:p>
                      <a:pPr indent="0" marL="0">
                        <a:buNone/>
                      </a:pPr>
                      <a:r>
                        <a:rPr lang="en-US" sz="1300" b="1" dirty="0">
                          <a:solidFill>
                            <a:srgbClr val="1A3A1B"/>
                          </a:solidFill>
                          <a:latin typeface="Yu Gothic" pitchFamily="34" charset="0"/>
                          <a:ea typeface="Yu Gothic" pitchFamily="34" charset="-122"/>
                          <a:cs typeface="Yu Gothic" pitchFamily="34" charset="-120"/>
                        </a:rPr>
                        <a:t>空いているところ</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97BC62"/>
                    </a:solidFill>
                  </a:tcPr>
                </a:tc>
              </a:tr>
              <a:tr h="475488">
                <a:tc>
                  <a:txBody>
                    <a:bodyPr/>
                    <a:lstStyle/>
                    <a:p>
                      <a:pPr indent="0" marL="0">
                        <a:buNone/>
                      </a:pPr>
                      <a:r>
                        <a:rPr lang="en-US" sz="1300" dirty="0">
                          <a:solidFill>
                            <a:srgbClr val="C6D6C2"/>
                          </a:solidFill>
                          <a:latin typeface="Yu Gothic" pitchFamily="34" charset="0"/>
                          <a:ea typeface="Yu Gothic" pitchFamily="34" charset="-122"/>
                          <a:cs typeface="Yu Gothic" pitchFamily="34" charset="-120"/>
                        </a:rPr>
                        <a:t>安井ファーム</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300" dirty="0">
                          <a:solidFill>
                            <a:srgbClr val="C6D6C2"/>
                          </a:solidFill>
                          <a:latin typeface="Yu Gothic" pitchFamily="34" charset="0"/>
                          <a:ea typeface="Yu Gothic" pitchFamily="34" charset="-122"/>
                          <a:cs typeface="Yu Gothic" pitchFamily="34" charset="-120"/>
                        </a:rPr>
                        <a:t>ブロッコリーの圧倒的規模</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300" dirty="0">
                          <a:solidFill>
                            <a:srgbClr val="C6D6C2"/>
                          </a:solidFill>
                          <a:latin typeface="Yu Gothic" pitchFamily="34" charset="0"/>
                          <a:ea typeface="Yu Gothic" pitchFamily="34" charset="-122"/>
                          <a:cs typeface="Yu Gothic" pitchFamily="34" charset="-120"/>
                        </a:rPr>
                        <a:t>規模ゆえに有機転換は困難</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r>
              <a:tr h="475488">
                <a:tc>
                  <a:txBody>
                    <a:bodyPr/>
                    <a:lstStyle/>
                    <a:p>
                      <a:pPr indent="0" marL="0">
                        <a:buNone/>
                      </a:pPr>
                      <a:r>
                        <a:rPr lang="en-US" sz="1300" dirty="0">
                          <a:solidFill>
                            <a:srgbClr val="C6D6C2"/>
                          </a:solidFill>
                          <a:latin typeface="Yu Gothic" pitchFamily="34" charset="0"/>
                          <a:ea typeface="Yu Gothic" pitchFamily="34" charset="-122"/>
                          <a:cs typeface="Yu Gothic" pitchFamily="34" charset="-120"/>
                        </a:rPr>
                        <a:t>集落営農法人（十数社）</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300" dirty="0">
                          <a:solidFill>
                            <a:srgbClr val="C6D6C2"/>
                          </a:solidFill>
                          <a:latin typeface="Yu Gothic" pitchFamily="34" charset="0"/>
                          <a:ea typeface="Yu Gothic" pitchFamily="34" charset="-122"/>
                          <a:cs typeface="Yu Gothic" pitchFamily="34" charset="-120"/>
                        </a:rPr>
                        <a:t>水田面積</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300" dirty="0">
                          <a:solidFill>
                            <a:srgbClr val="C6D6C2"/>
                          </a:solidFill>
                          <a:latin typeface="Yu Gothic" pitchFamily="34" charset="0"/>
                          <a:ea typeface="Yu Gothic" pitchFamily="34" charset="-122"/>
                          <a:cs typeface="Yu Gothic" pitchFamily="34" charset="-120"/>
                        </a:rPr>
                        <a:t>露地園芸の技術が薄い</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r>
              <a:tr h="475488">
                <a:tc>
                  <a:txBody>
                    <a:bodyPr/>
                    <a:lstStyle/>
                    <a:p>
                      <a:pPr indent="0" marL="0">
                        <a:buNone/>
                      </a:pPr>
                      <a:r>
                        <a:rPr lang="en-US" sz="1300" b="1" dirty="0">
                          <a:solidFill>
                            <a:srgbClr val="FFFFFF"/>
                          </a:solidFill>
                          <a:latin typeface="Yu Gothic" pitchFamily="34" charset="0"/>
                          <a:ea typeface="Yu Gothic" pitchFamily="34" charset="-122"/>
                          <a:cs typeface="Yu Gothic" pitchFamily="34" charset="-120"/>
                        </a:rPr>
                        <a:t>紺多農園</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2C5F2D"/>
                    </a:solidFill>
                  </a:tcPr>
                </a:tc>
                <a:tc>
                  <a:txBody>
                    <a:bodyPr/>
                    <a:lstStyle/>
                    <a:p>
                      <a:pPr indent="0" marL="0">
                        <a:buNone/>
                      </a:pPr>
                      <a:r>
                        <a:rPr lang="en-US" sz="1300" b="1" dirty="0">
                          <a:solidFill>
                            <a:srgbClr val="FFFFFF"/>
                          </a:solidFill>
                          <a:latin typeface="Yu Gothic" pitchFamily="34" charset="0"/>
                          <a:ea typeface="Yu Gothic" pitchFamily="34" charset="-122"/>
                          <a:cs typeface="Yu Gothic" pitchFamily="34" charset="-120"/>
                        </a:rPr>
                        <a:t>水田と園芸の両方を持つ</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2C5F2D"/>
                    </a:solidFill>
                  </a:tcPr>
                </a:tc>
                <a:tc>
                  <a:txBody>
                    <a:bodyPr/>
                    <a:lstStyle/>
                    <a:p>
                      <a:pPr indent="0" marL="0">
                        <a:buNone/>
                      </a:pPr>
                      <a:r>
                        <a:rPr lang="en-US" sz="1300" b="1" dirty="0">
                          <a:solidFill>
                            <a:srgbClr val="FFFFFF"/>
                          </a:solidFill>
                          <a:latin typeface="Yu Gothic" pitchFamily="34" charset="0"/>
                          <a:ea typeface="Yu Gothic" pitchFamily="34" charset="-122"/>
                          <a:cs typeface="Yu Gothic" pitchFamily="34" charset="-120"/>
                        </a:rPr>
                        <a:t>発信・販路がゼロ（＝伸びしろ）</a:t>
                      </a:r>
                      <a:endParaRPr lang="en-US" sz="1300" dirty="0">
                        <a:latin typeface="Yu Gothic" charset="0"/>
                        <a:ea typeface="Yu Gothic" charset="0"/>
                        <a:cs typeface="Yu Gothic" charset="0"/>
                      </a:endParaRPr>
                    </a:p>
                  </a:txBody>
                  <a:tcPr marL="101600" marR="101600" marT="101600" marB="1016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2C5F2D"/>
                    </a:solidFill>
                  </a:tcPr>
                </a:tc>
              </a:tr>
            </a:tbl>
          </a:graphicData>
        </a:graphic>
      </p:graphicFrame>
      <p:sp>
        <p:nvSpPr>
          <p:cNvPr id="14" name="Text 11"/>
          <p:cNvSpPr txBox="1"/>
          <p:nvPr/>
        </p:nvSpPr>
        <p:spPr>
          <a:xfrm>
            <a:off x="566928" y="5806440"/>
            <a:ext cx="11055096" cy="411480"/>
          </a:xfrm>
          <a:prstGeom prst="rect">
            <a:avLst/>
          </a:prstGeom>
          <a:noFill/>
          <a:ln/>
        </p:spPr>
        <p:txBody>
          <a:bodyPr wrap="square" lIns="0" tIns="0" rIns="0" bIns="0" rtlCol="0" anchor="ctr"/>
          <a:lstStyle/>
          <a:p>
            <a:pPr indent="0" marL="0">
              <a:buNone/>
            </a:pPr>
            <a:r>
              <a:rPr lang="en-US" sz="1600" b="1" i="1" dirty="0">
                <a:solidFill>
                  <a:srgbClr val="FFFFFF"/>
                </a:solidFill>
                <a:latin typeface="Yu Gothic" pitchFamily="34" charset="0"/>
                <a:ea typeface="Yu Gothic" pitchFamily="34" charset="-122"/>
                <a:cs typeface="Yu Gothic" pitchFamily="34" charset="-120"/>
              </a:rPr>
              <a:t>狙うべきポジション：白山市の有機給食を、コメと野菜のセットで支える農家</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SUCCESSION</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承継は可能か ― 法的には可能</a:t>
            </a:r>
            <a:endParaRPr lang="en-US" sz="3200" dirty="0"/>
          </a:p>
        </p:txBody>
      </p:sp>
      <p:sp>
        <p:nvSpPr>
          <p:cNvPr id="4" name="Shape 2"/>
          <p:cNvSpPr/>
          <p:nvPr/>
        </p:nvSpPr>
        <p:spPr>
          <a:xfrm>
            <a:off x="566928" y="1664208"/>
            <a:ext cx="3474720" cy="1600200"/>
          </a:xfrm>
          <a:prstGeom prst="roundRect">
            <a:avLst>
              <a:gd name="adj" fmla="val 4571"/>
            </a:avLst>
          </a:prstGeom>
          <a:solidFill>
            <a:srgbClr val="F5F7F2"/>
          </a:solidFill>
          <a:ln/>
          <a:effectLst>
            <a:outerShdw sx="100000" sy="100000" kx="0" ky="0" algn="bl" rotWithShape="0" blurRad="101600" dist="25400" dir="5400000">
              <a:srgbClr val="000000">
                <a:alpha val="12000"/>
              </a:srgbClr>
            </a:outerShdw>
          </a:effectLst>
        </p:spPr>
      </p:sp>
      <p:sp>
        <p:nvSpPr>
          <p:cNvPr id="5" name="Text 3"/>
          <p:cNvSpPr txBox="1"/>
          <p:nvPr/>
        </p:nvSpPr>
        <p:spPr>
          <a:xfrm>
            <a:off x="822960" y="1828800"/>
            <a:ext cx="731520" cy="457200"/>
          </a:xfrm>
          <a:prstGeom prst="rect">
            <a:avLst/>
          </a:prstGeom>
          <a:noFill/>
          <a:ln/>
        </p:spPr>
        <p:txBody>
          <a:bodyPr wrap="square" lIns="0" tIns="0" rIns="0" bIns="0" rtlCol="0" anchor="t"/>
          <a:lstStyle/>
          <a:p>
            <a:pPr indent="0" marL="0">
              <a:lnSpc>
                <a:spcPts val="2100"/>
              </a:lnSpc>
              <a:buNone/>
            </a:pPr>
            <a:r>
              <a:rPr lang="en-US" sz="2400" b="1" dirty="0">
                <a:solidFill>
                  <a:srgbClr val="97BC62"/>
                </a:solidFill>
                <a:latin typeface="Cambria" pitchFamily="34" charset="0"/>
                <a:ea typeface="Cambria" pitchFamily="34" charset="-122"/>
                <a:cs typeface="Cambria" pitchFamily="34" charset="-120"/>
              </a:rPr>
              <a:t>①</a:t>
            </a:r>
            <a:endParaRPr lang="en-US" sz="2400" dirty="0"/>
          </a:p>
        </p:txBody>
      </p:sp>
      <p:sp>
        <p:nvSpPr>
          <p:cNvPr id="6" name="Text 4"/>
          <p:cNvSpPr txBox="1"/>
          <p:nvPr/>
        </p:nvSpPr>
        <p:spPr>
          <a:xfrm>
            <a:off x="822960" y="2304288"/>
            <a:ext cx="3017520" cy="347472"/>
          </a:xfrm>
          <a:prstGeom prst="rect">
            <a:avLst/>
          </a:prstGeom>
          <a:noFill/>
          <a:ln/>
        </p:spPr>
        <p:txBody>
          <a:bodyPr wrap="square" lIns="0" tIns="0" rIns="0" bIns="0" rtlCol="0" anchor="t"/>
          <a:lstStyle/>
          <a:p>
            <a:pPr indent="0" marL="0">
              <a:lnSpc>
                <a:spcPts val="2100"/>
              </a:lnSpc>
              <a:buNone/>
            </a:pPr>
            <a:r>
              <a:rPr lang="en-US" sz="1600" b="1" dirty="0">
                <a:solidFill>
                  <a:srgbClr val="2C5F2D"/>
                </a:solidFill>
                <a:latin typeface="Yu Gothic" pitchFamily="34" charset="0"/>
                <a:ea typeface="Yu Gothic" pitchFamily="34" charset="-122"/>
                <a:cs typeface="Yu Gothic" pitchFamily="34" charset="-120"/>
              </a:rPr>
              <a:t>組合員になる</a:t>
            </a:r>
            <a:endParaRPr lang="en-US" sz="1600" dirty="0"/>
          </a:p>
        </p:txBody>
      </p:sp>
      <p:sp>
        <p:nvSpPr>
          <p:cNvPr id="7" name="Text 5"/>
          <p:cNvSpPr txBox="1"/>
          <p:nvPr/>
        </p:nvSpPr>
        <p:spPr>
          <a:xfrm>
            <a:off x="822960" y="2670048"/>
            <a:ext cx="3017520" cy="548640"/>
          </a:xfrm>
          <a:prstGeom prst="rect">
            <a:avLst/>
          </a:prstGeom>
          <a:noFill/>
          <a:ln/>
        </p:spPr>
        <p:txBody>
          <a:bodyPr wrap="square" lIns="0" tIns="0" rIns="0" bIns="0" rtlCol="0" anchor="t"/>
          <a:lstStyle/>
          <a:p>
            <a:pPr indent="0" marL="0">
              <a:lnSpc>
                <a:spcPts val="1700"/>
              </a:lnSpc>
              <a:buNone/>
            </a:pPr>
            <a:r>
              <a:rPr lang="en-US" sz="1200" dirty="0">
                <a:solidFill>
                  <a:srgbClr val="6E7A6F"/>
                </a:solidFill>
                <a:latin typeface="Yu Gothic" pitchFamily="34" charset="0"/>
                <a:ea typeface="Yu Gothic" pitchFamily="34" charset="-122"/>
                <a:cs typeface="Yu Gothic" pitchFamily="34" charset="-120"/>
              </a:rPr>
              <a:t>加入申込書を提出し</a:t>
            </a:r>
            <a:endParaRPr lang="en-US" sz="1200" dirty="0"/>
          </a:p>
          <a:p>
            <a:pPr indent="0" marL="0">
              <a:lnSpc>
                <a:spcPts val="1700"/>
              </a:lnSpc>
              <a:buNone/>
            </a:pPr>
            <a:r>
              <a:rPr lang="en-US" sz="1200" dirty="0">
                <a:solidFill>
                  <a:srgbClr val="6E7A6F"/>
                </a:solidFill>
                <a:latin typeface="Yu Gothic" pitchFamily="34" charset="0"/>
                <a:ea typeface="Yu Gothic" pitchFamily="34" charset="-122"/>
                <a:cs typeface="Yu Gothic" pitchFamily="34" charset="-120"/>
              </a:rPr>
              <a:t>総会で承認を得る</a:t>
            </a:r>
            <a:endParaRPr lang="en-US" sz="1200" dirty="0"/>
          </a:p>
        </p:txBody>
      </p:sp>
      <p:sp>
        <p:nvSpPr>
          <p:cNvPr id="8" name="Text 6"/>
          <p:cNvSpPr txBox="1"/>
          <p:nvPr/>
        </p:nvSpPr>
        <p:spPr>
          <a:xfrm>
            <a:off x="4041648" y="1664208"/>
            <a:ext cx="347472" cy="1600200"/>
          </a:xfrm>
          <a:prstGeom prst="rect">
            <a:avLst/>
          </a:prstGeom>
          <a:noFill/>
          <a:ln/>
        </p:spPr>
        <p:txBody>
          <a:bodyPr wrap="square" lIns="0" tIns="0" rIns="0" bIns="0" rtlCol="0" anchor="ctr"/>
          <a:lstStyle/>
          <a:p>
            <a:pPr algn="ctr" indent="0" marL="0">
              <a:buNone/>
            </a:pPr>
            <a:r>
              <a:rPr lang="en-US" sz="2000" dirty="0">
                <a:solidFill>
                  <a:srgbClr val="97BC62"/>
                </a:solidFill>
                <a:latin typeface="Cambria" pitchFamily="34" charset="0"/>
                <a:ea typeface="Cambria" pitchFamily="34" charset="-122"/>
                <a:cs typeface="Cambria" pitchFamily="34" charset="-120"/>
              </a:rPr>
              <a:t>→</a:t>
            </a:r>
            <a:endParaRPr lang="en-US" sz="2000" dirty="0"/>
          </a:p>
        </p:txBody>
      </p:sp>
      <p:sp>
        <p:nvSpPr>
          <p:cNvPr id="9" name="Shape 7"/>
          <p:cNvSpPr/>
          <p:nvPr/>
        </p:nvSpPr>
        <p:spPr>
          <a:xfrm>
            <a:off x="4389120" y="1664208"/>
            <a:ext cx="3474720" cy="1600200"/>
          </a:xfrm>
          <a:prstGeom prst="roundRect">
            <a:avLst>
              <a:gd name="adj" fmla="val 4571"/>
            </a:avLst>
          </a:prstGeom>
          <a:solidFill>
            <a:srgbClr val="F5F7F2"/>
          </a:solidFill>
          <a:ln/>
          <a:effectLst>
            <a:outerShdw sx="100000" sy="100000" kx="0" ky="0" algn="bl" rotWithShape="0" blurRad="101600" dist="25400" dir="5400000">
              <a:srgbClr val="000000">
                <a:alpha val="12000"/>
              </a:srgbClr>
            </a:outerShdw>
          </a:effectLst>
        </p:spPr>
      </p:sp>
      <p:sp>
        <p:nvSpPr>
          <p:cNvPr id="10" name="Text 8"/>
          <p:cNvSpPr txBox="1"/>
          <p:nvPr/>
        </p:nvSpPr>
        <p:spPr>
          <a:xfrm>
            <a:off x="4645152" y="1828800"/>
            <a:ext cx="731520" cy="457200"/>
          </a:xfrm>
          <a:prstGeom prst="rect">
            <a:avLst/>
          </a:prstGeom>
          <a:noFill/>
          <a:ln/>
        </p:spPr>
        <p:txBody>
          <a:bodyPr wrap="square" lIns="0" tIns="0" rIns="0" bIns="0" rtlCol="0" anchor="t"/>
          <a:lstStyle/>
          <a:p>
            <a:pPr indent="0" marL="0">
              <a:lnSpc>
                <a:spcPts val="2100"/>
              </a:lnSpc>
              <a:buNone/>
            </a:pPr>
            <a:r>
              <a:rPr lang="en-US" sz="2400" b="1" dirty="0">
                <a:solidFill>
                  <a:srgbClr val="97BC62"/>
                </a:solidFill>
                <a:latin typeface="Cambria" pitchFamily="34" charset="0"/>
                <a:ea typeface="Cambria" pitchFamily="34" charset="-122"/>
                <a:cs typeface="Cambria" pitchFamily="34" charset="-120"/>
              </a:rPr>
              <a:t>②</a:t>
            </a:r>
            <a:endParaRPr lang="en-US" sz="2400" dirty="0"/>
          </a:p>
        </p:txBody>
      </p:sp>
      <p:sp>
        <p:nvSpPr>
          <p:cNvPr id="11" name="Text 9"/>
          <p:cNvSpPr txBox="1"/>
          <p:nvPr/>
        </p:nvSpPr>
        <p:spPr>
          <a:xfrm>
            <a:off x="4645152" y="2304288"/>
            <a:ext cx="3017520" cy="347472"/>
          </a:xfrm>
          <a:prstGeom prst="rect">
            <a:avLst/>
          </a:prstGeom>
          <a:noFill/>
          <a:ln/>
        </p:spPr>
        <p:txBody>
          <a:bodyPr wrap="square" lIns="0" tIns="0" rIns="0" bIns="0" rtlCol="0" anchor="t"/>
          <a:lstStyle/>
          <a:p>
            <a:pPr indent="0" marL="0">
              <a:lnSpc>
                <a:spcPts val="2100"/>
              </a:lnSpc>
              <a:buNone/>
            </a:pPr>
            <a:r>
              <a:rPr lang="en-US" sz="1600" b="1" dirty="0">
                <a:solidFill>
                  <a:srgbClr val="2C5F2D"/>
                </a:solidFill>
                <a:latin typeface="Yu Gothic" pitchFamily="34" charset="0"/>
                <a:ea typeface="Yu Gothic" pitchFamily="34" charset="-122"/>
                <a:cs typeface="Yu Gothic" pitchFamily="34" charset="-120"/>
              </a:rPr>
              <a:t>理事になる</a:t>
            </a:r>
            <a:endParaRPr lang="en-US" sz="1600" dirty="0"/>
          </a:p>
        </p:txBody>
      </p:sp>
      <p:sp>
        <p:nvSpPr>
          <p:cNvPr id="12" name="Text 10"/>
          <p:cNvSpPr txBox="1"/>
          <p:nvPr/>
        </p:nvSpPr>
        <p:spPr>
          <a:xfrm>
            <a:off x="4645152" y="2670048"/>
            <a:ext cx="3017520" cy="548640"/>
          </a:xfrm>
          <a:prstGeom prst="rect">
            <a:avLst/>
          </a:prstGeom>
          <a:noFill/>
          <a:ln/>
        </p:spPr>
        <p:txBody>
          <a:bodyPr wrap="square" lIns="0" tIns="0" rIns="0" bIns="0" rtlCol="0" anchor="t"/>
          <a:lstStyle/>
          <a:p>
            <a:pPr indent="0" marL="0">
              <a:lnSpc>
                <a:spcPts val="1700"/>
              </a:lnSpc>
              <a:buNone/>
            </a:pPr>
            <a:r>
              <a:rPr lang="en-US" sz="1200" dirty="0">
                <a:solidFill>
                  <a:srgbClr val="6E7A6F"/>
                </a:solidFill>
                <a:latin typeface="Yu Gothic" pitchFamily="34" charset="0"/>
                <a:ea typeface="Yu Gothic" pitchFamily="34" charset="-122"/>
                <a:cs typeface="Yu Gothic" pitchFamily="34" charset="-120"/>
              </a:rPr>
              <a:t>理事は農民である</a:t>
            </a:r>
            <a:endParaRPr lang="en-US" sz="1200" dirty="0"/>
          </a:p>
          <a:p>
            <a:pPr indent="0" marL="0">
              <a:lnSpc>
                <a:spcPts val="1700"/>
              </a:lnSpc>
              <a:buNone/>
            </a:pPr>
            <a:r>
              <a:rPr lang="en-US" sz="1200" dirty="0">
                <a:solidFill>
                  <a:srgbClr val="6E7A6F"/>
                </a:solidFill>
                <a:latin typeface="Yu Gothic" pitchFamily="34" charset="0"/>
                <a:ea typeface="Yu Gothic" pitchFamily="34" charset="-122"/>
                <a:cs typeface="Yu Gothic" pitchFamily="34" charset="-120"/>
              </a:rPr>
              <a:t>組合員しかなれない</a:t>
            </a:r>
            <a:endParaRPr lang="en-US" sz="1200" dirty="0"/>
          </a:p>
        </p:txBody>
      </p:sp>
      <p:sp>
        <p:nvSpPr>
          <p:cNvPr id="13" name="Text 11"/>
          <p:cNvSpPr txBox="1"/>
          <p:nvPr/>
        </p:nvSpPr>
        <p:spPr>
          <a:xfrm>
            <a:off x="7863840" y="1664208"/>
            <a:ext cx="347472" cy="1600200"/>
          </a:xfrm>
          <a:prstGeom prst="rect">
            <a:avLst/>
          </a:prstGeom>
          <a:noFill/>
          <a:ln/>
        </p:spPr>
        <p:txBody>
          <a:bodyPr wrap="square" lIns="0" tIns="0" rIns="0" bIns="0" rtlCol="0" anchor="ctr"/>
          <a:lstStyle/>
          <a:p>
            <a:pPr algn="ctr" indent="0" marL="0">
              <a:buNone/>
            </a:pPr>
            <a:r>
              <a:rPr lang="en-US" sz="2000" dirty="0">
                <a:solidFill>
                  <a:srgbClr val="97BC62"/>
                </a:solidFill>
                <a:latin typeface="Cambria" pitchFamily="34" charset="0"/>
                <a:ea typeface="Cambria" pitchFamily="34" charset="-122"/>
                <a:cs typeface="Cambria" pitchFamily="34" charset="-120"/>
              </a:rPr>
              <a:t>→</a:t>
            </a:r>
            <a:endParaRPr lang="en-US" sz="2000" dirty="0"/>
          </a:p>
        </p:txBody>
      </p:sp>
      <p:sp>
        <p:nvSpPr>
          <p:cNvPr id="14" name="Shape 12"/>
          <p:cNvSpPr/>
          <p:nvPr/>
        </p:nvSpPr>
        <p:spPr>
          <a:xfrm>
            <a:off x="8211312" y="1664208"/>
            <a:ext cx="3474720" cy="1600200"/>
          </a:xfrm>
          <a:prstGeom prst="roundRect">
            <a:avLst>
              <a:gd name="adj" fmla="val 4571"/>
            </a:avLst>
          </a:prstGeom>
          <a:solidFill>
            <a:srgbClr val="F5F7F2"/>
          </a:solidFill>
          <a:ln/>
          <a:effectLst>
            <a:outerShdw sx="100000" sy="100000" kx="0" ky="0" algn="bl" rotWithShape="0" blurRad="101600" dist="25400" dir="5400000">
              <a:srgbClr val="000000">
                <a:alpha val="12000"/>
              </a:srgbClr>
            </a:outerShdw>
          </a:effectLst>
        </p:spPr>
      </p:sp>
      <p:sp>
        <p:nvSpPr>
          <p:cNvPr id="15" name="Text 13"/>
          <p:cNvSpPr txBox="1"/>
          <p:nvPr/>
        </p:nvSpPr>
        <p:spPr>
          <a:xfrm>
            <a:off x="8467344" y="1828800"/>
            <a:ext cx="731520" cy="457200"/>
          </a:xfrm>
          <a:prstGeom prst="rect">
            <a:avLst/>
          </a:prstGeom>
          <a:noFill/>
          <a:ln/>
        </p:spPr>
        <p:txBody>
          <a:bodyPr wrap="square" lIns="0" tIns="0" rIns="0" bIns="0" rtlCol="0" anchor="t"/>
          <a:lstStyle/>
          <a:p>
            <a:pPr indent="0" marL="0">
              <a:lnSpc>
                <a:spcPts val="2100"/>
              </a:lnSpc>
              <a:buNone/>
            </a:pPr>
            <a:r>
              <a:rPr lang="en-US" sz="2400" b="1" dirty="0">
                <a:solidFill>
                  <a:srgbClr val="97BC62"/>
                </a:solidFill>
                <a:latin typeface="Cambria" pitchFamily="34" charset="0"/>
                <a:ea typeface="Cambria" pitchFamily="34" charset="-122"/>
                <a:cs typeface="Cambria" pitchFamily="34" charset="-120"/>
              </a:rPr>
              <a:t>③</a:t>
            </a:r>
            <a:endParaRPr lang="en-US" sz="2400" dirty="0"/>
          </a:p>
        </p:txBody>
      </p:sp>
      <p:sp>
        <p:nvSpPr>
          <p:cNvPr id="16" name="Text 14"/>
          <p:cNvSpPr txBox="1"/>
          <p:nvPr/>
        </p:nvSpPr>
        <p:spPr>
          <a:xfrm>
            <a:off x="8467344" y="2304288"/>
            <a:ext cx="3017520" cy="347472"/>
          </a:xfrm>
          <a:prstGeom prst="rect">
            <a:avLst/>
          </a:prstGeom>
          <a:noFill/>
          <a:ln/>
        </p:spPr>
        <p:txBody>
          <a:bodyPr wrap="square" lIns="0" tIns="0" rIns="0" bIns="0" rtlCol="0" anchor="t"/>
          <a:lstStyle/>
          <a:p>
            <a:pPr indent="0" marL="0">
              <a:lnSpc>
                <a:spcPts val="2100"/>
              </a:lnSpc>
              <a:buNone/>
            </a:pPr>
            <a:r>
              <a:rPr lang="en-US" sz="1600" b="1" dirty="0">
                <a:solidFill>
                  <a:srgbClr val="2C5F2D"/>
                </a:solidFill>
                <a:latin typeface="Yu Gothic" pitchFamily="34" charset="0"/>
                <a:ea typeface="Yu Gothic" pitchFamily="34" charset="-122"/>
                <a:cs typeface="Yu Gothic" pitchFamily="34" charset="-120"/>
              </a:rPr>
              <a:t>代表理事になる</a:t>
            </a:r>
            <a:endParaRPr lang="en-US" sz="1600" dirty="0"/>
          </a:p>
        </p:txBody>
      </p:sp>
      <p:sp>
        <p:nvSpPr>
          <p:cNvPr id="17" name="Text 15"/>
          <p:cNvSpPr txBox="1"/>
          <p:nvPr/>
        </p:nvSpPr>
        <p:spPr>
          <a:xfrm>
            <a:off x="8467344" y="2670048"/>
            <a:ext cx="3017520" cy="548640"/>
          </a:xfrm>
          <a:prstGeom prst="rect">
            <a:avLst/>
          </a:prstGeom>
          <a:noFill/>
          <a:ln/>
        </p:spPr>
        <p:txBody>
          <a:bodyPr wrap="square" lIns="0" tIns="0" rIns="0" bIns="0" rtlCol="0" anchor="t"/>
          <a:lstStyle/>
          <a:p>
            <a:pPr indent="0" marL="0">
              <a:lnSpc>
                <a:spcPts val="1700"/>
              </a:lnSpc>
              <a:buNone/>
            </a:pPr>
            <a:r>
              <a:rPr lang="en-US" sz="1200" dirty="0">
                <a:solidFill>
                  <a:srgbClr val="6E7A6F"/>
                </a:solidFill>
                <a:latin typeface="Yu Gothic" pitchFamily="34" charset="0"/>
                <a:ea typeface="Yu Gothic" pitchFamily="34" charset="-122"/>
                <a:cs typeface="Yu Gothic" pitchFamily="34" charset="-120"/>
              </a:rPr>
              <a:t>理事の中から選任</a:t>
            </a:r>
            <a:endParaRPr lang="en-US" sz="1200" dirty="0"/>
          </a:p>
          <a:p>
            <a:pPr indent="0" marL="0">
              <a:lnSpc>
                <a:spcPts val="1700"/>
              </a:lnSpc>
              <a:buNone/>
            </a:pPr>
            <a:r>
              <a:rPr lang="en-US" sz="1200" dirty="0">
                <a:solidFill>
                  <a:srgbClr val="6E7A6F"/>
                </a:solidFill>
                <a:latin typeface="Yu Gothic" pitchFamily="34" charset="0"/>
                <a:ea typeface="Yu Gothic" pitchFamily="34" charset="-122"/>
                <a:cs typeface="Yu Gothic" pitchFamily="34" charset="-120"/>
              </a:rPr>
              <a:t>任期は3年以内</a:t>
            </a:r>
            <a:endParaRPr lang="en-US" sz="1200" dirty="0"/>
          </a:p>
        </p:txBody>
      </p:sp>
      <p:sp>
        <p:nvSpPr>
          <p:cNvPr id="18" name="Text 16"/>
          <p:cNvSpPr txBox="1"/>
          <p:nvPr/>
        </p:nvSpPr>
        <p:spPr>
          <a:xfrm>
            <a:off x="566928" y="3529584"/>
            <a:ext cx="5486400" cy="365760"/>
          </a:xfrm>
          <a:prstGeom prst="rect">
            <a:avLst/>
          </a:prstGeom>
          <a:noFill/>
          <a:ln/>
        </p:spPr>
        <p:txBody>
          <a:bodyPr wrap="square" lIns="0" tIns="0" rIns="0" bIns="0" rtlCol="0" anchor="t"/>
          <a:lstStyle/>
          <a:p>
            <a:pPr indent="0" marL="0">
              <a:lnSpc>
                <a:spcPts val="2100"/>
              </a:lnSpc>
              <a:buNone/>
            </a:pPr>
            <a:r>
              <a:rPr lang="en-US" sz="1900" b="1" dirty="0">
                <a:solidFill>
                  <a:srgbClr val="22282A"/>
                </a:solidFill>
                <a:latin typeface="Cambria" pitchFamily="34" charset="0"/>
                <a:ea typeface="Cambria" pitchFamily="34" charset="-122"/>
                <a:cs typeface="Cambria" pitchFamily="34" charset="-120"/>
              </a:rPr>
              <a:t>実質的な関門は二つだけ</a:t>
            </a:r>
            <a:endParaRPr lang="en-US" sz="1900" dirty="0"/>
          </a:p>
        </p:txBody>
      </p:sp>
      <p:sp>
        <p:nvSpPr>
          <p:cNvPr id="19" name="Shape 17"/>
          <p:cNvSpPr/>
          <p:nvPr/>
        </p:nvSpPr>
        <p:spPr>
          <a:xfrm>
            <a:off x="566928" y="3986784"/>
            <a:ext cx="11055096" cy="896112"/>
          </a:xfrm>
          <a:prstGeom prst="roundRect">
            <a:avLst>
              <a:gd name="adj" fmla="val 8163"/>
            </a:avLst>
          </a:prstGeom>
          <a:solidFill>
            <a:srgbClr val="F5F7F2"/>
          </a:solidFill>
          <a:ln/>
          <a:effectLst>
            <a:outerShdw sx="100000" sy="100000" kx="0" ky="0" algn="bl" rotWithShape="0" blurRad="101600" dist="25400" dir="5400000">
              <a:srgbClr val="000000">
                <a:alpha val="12000"/>
              </a:srgbClr>
            </a:outerShdw>
          </a:effectLst>
        </p:spPr>
      </p:sp>
      <p:sp>
        <p:nvSpPr>
          <p:cNvPr id="20" name="Shape 18"/>
          <p:cNvSpPr/>
          <p:nvPr/>
        </p:nvSpPr>
        <p:spPr>
          <a:xfrm>
            <a:off x="804672" y="4233672"/>
            <a:ext cx="402336" cy="402336"/>
          </a:xfrm>
          <a:prstGeom prst="ellipse">
            <a:avLst/>
          </a:prstGeom>
          <a:solidFill>
            <a:srgbClr val="2C5F2D"/>
          </a:solidFill>
          <a:ln/>
        </p:spPr>
      </p:sp>
      <p:sp>
        <p:nvSpPr>
          <p:cNvPr id="21" name="Text 19"/>
          <p:cNvSpPr txBox="1"/>
          <p:nvPr/>
        </p:nvSpPr>
        <p:spPr>
          <a:xfrm>
            <a:off x="804672" y="423367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22" name="Text 20"/>
          <p:cNvSpPr txBox="1"/>
          <p:nvPr/>
        </p:nvSpPr>
        <p:spPr>
          <a:xfrm>
            <a:off x="1408176" y="4114800"/>
            <a:ext cx="3200400" cy="310896"/>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Yu Gothic" pitchFamily="34" charset="0"/>
                <a:ea typeface="Yu Gothic" pitchFamily="34" charset="-122"/>
                <a:cs typeface="Yu Gothic" pitchFamily="34" charset="-120"/>
              </a:rPr>
              <a:t>「農民」であること</a:t>
            </a:r>
            <a:endParaRPr lang="en-US" sz="1500" dirty="0"/>
          </a:p>
        </p:txBody>
      </p:sp>
      <p:sp>
        <p:nvSpPr>
          <p:cNvPr id="23" name="Text 21"/>
          <p:cNvSpPr txBox="1"/>
          <p:nvPr/>
        </p:nvSpPr>
        <p:spPr>
          <a:xfrm>
            <a:off x="4681728" y="4114800"/>
            <a:ext cx="6766560" cy="658368"/>
          </a:xfrm>
          <a:prstGeom prst="rect">
            <a:avLst/>
          </a:prstGeom>
          <a:noFill/>
          <a:ln/>
        </p:spPr>
        <p:txBody>
          <a:bodyPr wrap="square" lIns="0" tIns="0" rIns="0" bIns="0" rtlCol="0" anchor="t"/>
          <a:lstStyle/>
          <a:p>
            <a:pPr indent="0" marL="0">
              <a:lnSpc>
                <a:spcPts val="1700"/>
              </a:lnSpc>
              <a:buNone/>
            </a:pPr>
            <a:r>
              <a:rPr lang="en-US" sz="1200" dirty="0">
                <a:solidFill>
                  <a:srgbClr val="22282A"/>
                </a:solidFill>
                <a:latin typeface="Yu Gothic" pitchFamily="34" charset="0"/>
                <a:ea typeface="Yu Gothic" pitchFamily="34" charset="-122"/>
                <a:cs typeface="Yu Gothic" pitchFamily="34" charset="-120"/>
              </a:rPr>
              <a:t>農協法上の組合員資格は「自ら農業を営む、または農業に従事する個人」。現在は教員なので、農業委員会の耕作証明や出荷証明で証明できる従事実績が必要。だから辞める前に関与を始める</a:t>
            </a:r>
            <a:endParaRPr lang="en-US" sz="1200" dirty="0"/>
          </a:p>
        </p:txBody>
      </p:sp>
      <p:sp>
        <p:nvSpPr>
          <p:cNvPr id="24" name="Shape 22"/>
          <p:cNvSpPr/>
          <p:nvPr/>
        </p:nvSpPr>
        <p:spPr>
          <a:xfrm>
            <a:off x="566928" y="4974336"/>
            <a:ext cx="11055096" cy="896112"/>
          </a:xfrm>
          <a:prstGeom prst="roundRect">
            <a:avLst>
              <a:gd name="adj" fmla="val 8163"/>
            </a:avLst>
          </a:prstGeom>
          <a:solidFill>
            <a:srgbClr val="F5F7F2"/>
          </a:solidFill>
          <a:ln/>
          <a:effectLst>
            <a:outerShdw sx="100000" sy="100000" kx="0" ky="0" algn="bl" rotWithShape="0" blurRad="101600" dist="25400" dir="5400000">
              <a:srgbClr val="000000">
                <a:alpha val="12000"/>
              </a:srgbClr>
            </a:outerShdw>
          </a:effectLst>
        </p:spPr>
      </p:sp>
      <p:sp>
        <p:nvSpPr>
          <p:cNvPr id="25" name="Shape 23"/>
          <p:cNvSpPr/>
          <p:nvPr/>
        </p:nvSpPr>
        <p:spPr>
          <a:xfrm>
            <a:off x="804672" y="5221224"/>
            <a:ext cx="402336" cy="402336"/>
          </a:xfrm>
          <a:prstGeom prst="ellipse">
            <a:avLst/>
          </a:prstGeom>
          <a:solidFill>
            <a:srgbClr val="2C5F2D"/>
          </a:solidFill>
          <a:ln/>
        </p:spPr>
      </p:sp>
      <p:sp>
        <p:nvSpPr>
          <p:cNvPr id="26" name="Text 24"/>
          <p:cNvSpPr txBox="1"/>
          <p:nvPr/>
        </p:nvSpPr>
        <p:spPr>
          <a:xfrm>
            <a:off x="804672" y="522122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7" name="Text 25"/>
          <p:cNvSpPr txBox="1"/>
          <p:nvPr/>
        </p:nvSpPr>
        <p:spPr>
          <a:xfrm>
            <a:off x="1408176" y="5102352"/>
            <a:ext cx="3200400" cy="310896"/>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Yu Gothic" pitchFamily="34" charset="0"/>
                <a:ea typeface="Yu Gothic" pitchFamily="34" charset="-122"/>
                <a:cs typeface="Yu Gothic" pitchFamily="34" charset="-120"/>
              </a:rPr>
              <a:t>他の組合員（ご親族）の合意</a:t>
            </a:r>
            <a:endParaRPr lang="en-US" sz="1500" dirty="0"/>
          </a:p>
        </p:txBody>
      </p:sp>
      <p:sp>
        <p:nvSpPr>
          <p:cNvPr id="28" name="Text 26"/>
          <p:cNvSpPr txBox="1"/>
          <p:nvPr/>
        </p:nvSpPr>
        <p:spPr>
          <a:xfrm>
            <a:off x="4681728" y="5102352"/>
            <a:ext cx="6766560" cy="658368"/>
          </a:xfrm>
          <a:prstGeom prst="rect">
            <a:avLst/>
          </a:prstGeom>
          <a:noFill/>
          <a:ln/>
        </p:spPr>
        <p:txBody>
          <a:bodyPr wrap="square" lIns="0" tIns="0" rIns="0" bIns="0" rtlCol="0" anchor="t"/>
          <a:lstStyle/>
          <a:p>
            <a:pPr indent="0" marL="0">
              <a:lnSpc>
                <a:spcPts val="1700"/>
              </a:lnSpc>
              <a:buNone/>
            </a:pPr>
            <a:r>
              <a:rPr lang="en-US" sz="1200" dirty="0">
                <a:solidFill>
                  <a:srgbClr val="22282A"/>
                </a:solidFill>
                <a:latin typeface="Yu Gothic" pitchFamily="34" charset="0"/>
                <a:ea typeface="Yu Gothic" pitchFamily="34" charset="-122"/>
                <a:cs typeface="Yu Gothic" pitchFamily="34" charset="-120"/>
              </a:rPr>
              <a:t>加入・役員選任は総会の議決事項。本人の意思だけでは決まらない</a:t>
            </a:r>
            <a:endParaRPr lang="en-US" sz="1200" dirty="0"/>
          </a:p>
        </p:txBody>
      </p:sp>
      <p:sp>
        <p:nvSpPr>
          <p:cNvPr id="29" name="Text 27"/>
          <p:cNvSpPr txBox="1"/>
          <p:nvPr/>
        </p:nvSpPr>
        <p:spPr>
          <a:xfrm>
            <a:off x="566928" y="6035040"/>
            <a:ext cx="11055096" cy="320040"/>
          </a:xfrm>
          <a:prstGeom prst="rect">
            <a:avLst/>
          </a:prstGeom>
          <a:noFill/>
          <a:ln/>
        </p:spPr>
        <p:txBody>
          <a:bodyPr wrap="square" lIns="0" tIns="0" rIns="0" bIns="0" rtlCol="0" anchor="ctr"/>
          <a:lstStyle/>
          <a:p>
            <a:pPr indent="0" marL="0">
              <a:buNone/>
            </a:pPr>
            <a:r>
              <a:rPr lang="en-US" sz="1250" dirty="0">
                <a:solidFill>
                  <a:srgbClr val="6E7A6F"/>
                </a:solidFill>
                <a:latin typeface="Yu Gothic" pitchFamily="34" charset="0"/>
                <a:ea typeface="Yu Gothic" pitchFamily="34" charset="-122"/>
                <a:cs typeface="Yu Gothic" pitchFamily="34" charset="-120"/>
              </a:rPr>
              <a:t>農地は法人が耕作主体である限り個人で取得する必要はない（2023年4月に下限面積要件も撤廃済み）</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A3A1B"/>
        </a:solidFill>
      </p:bgPr>
    </p:bg>
    <p:spTree>
      <p:nvGrpSpPr>
        <p:cNvPr id="1" name=""/>
        <p:cNvGrpSpPr/>
        <p:nvPr/>
      </p:nvGrpSpPr>
      <p:grpSpPr>
        <a:xfrm>
          <a:off x="0" y="0"/>
          <a:ext cx="0" cy="0"/>
          <a:chOff x="0" y="0"/>
          <a:chExt cx="0" cy="0"/>
        </a:xfrm>
      </p:grpSpPr>
      <p:sp>
        <p:nvSpPr>
          <p:cNvPr id="2" name="Shape 0"/>
          <p:cNvSpPr/>
          <p:nvPr/>
        </p:nvSpPr>
        <p:spPr>
          <a:xfrm>
            <a:off x="9326880" y="-1097280"/>
            <a:ext cx="4206240" cy="4206240"/>
          </a:xfrm>
          <a:prstGeom prst="ellipse">
            <a:avLst/>
          </a:prstGeom>
          <a:solidFill>
            <a:srgbClr val="3A1E1E"/>
          </a:solidFill>
          <a:ln/>
        </p:spPr>
      </p:sp>
      <p:sp>
        <p:nvSpPr>
          <p:cNvPr id="3" name="Text 1"/>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97BC62"/>
                </a:solidFill>
                <a:latin typeface="Yu Gothic" pitchFamily="34" charset="0"/>
                <a:ea typeface="Yu Gothic" pitchFamily="34" charset="-122"/>
                <a:cs typeface="Yu Gothic" pitchFamily="34" charset="-120"/>
              </a:rPr>
              <a:t>CRITICAL</a:t>
            </a:r>
            <a:endParaRPr lang="en-US" sz="1200" dirty="0"/>
          </a:p>
        </p:txBody>
      </p:sp>
      <p:sp>
        <p:nvSpPr>
          <p:cNvPr id="4" name="Text 2"/>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最も重要な制約</a:t>
            </a:r>
            <a:endParaRPr lang="en-US" sz="3200" dirty="0"/>
          </a:p>
        </p:txBody>
      </p:sp>
      <p:sp>
        <p:nvSpPr>
          <p:cNvPr id="5" name="Shape 3"/>
          <p:cNvSpPr/>
          <p:nvPr/>
        </p:nvSpPr>
        <p:spPr>
          <a:xfrm>
            <a:off x="566928" y="1664208"/>
            <a:ext cx="11055096" cy="1371600"/>
          </a:xfrm>
          <a:prstGeom prst="roundRect">
            <a:avLst>
              <a:gd name="adj" fmla="val 5333"/>
            </a:avLst>
          </a:prstGeom>
          <a:solidFill>
            <a:srgbClr val="A32E2E"/>
          </a:solidFill>
          <a:ln/>
          <a:effectLst>
            <a:outerShdw sx="100000" sy="100000" kx="0" ky="0" algn="bl" rotWithShape="0" blurRad="101600" dist="25400" dir="5400000">
              <a:srgbClr val="000000">
                <a:alpha val="12000"/>
              </a:srgbClr>
            </a:outerShdw>
          </a:effectLst>
        </p:spPr>
      </p:sp>
      <p:sp>
        <p:nvSpPr>
          <p:cNvPr id="6" name="Text 4"/>
          <p:cNvSpPr txBox="1"/>
          <p:nvPr/>
        </p:nvSpPr>
        <p:spPr>
          <a:xfrm>
            <a:off x="932688" y="1664208"/>
            <a:ext cx="10323576" cy="1371600"/>
          </a:xfrm>
          <a:prstGeom prst="rect">
            <a:avLst/>
          </a:prstGeom>
          <a:noFill/>
          <a:ln/>
        </p:spPr>
        <p:txBody>
          <a:bodyPr wrap="square" lIns="0" tIns="0" rIns="0" bIns="0" rtlCol="0" anchor="ctr"/>
          <a:lstStyle/>
          <a:p>
            <a:pPr indent="0" marL="0">
              <a:lnSpc>
                <a:spcPts val="3400"/>
              </a:lnSpc>
              <a:buNone/>
            </a:pPr>
            <a:r>
              <a:rPr lang="en-US" sz="2400" b="1" dirty="0">
                <a:solidFill>
                  <a:srgbClr val="FFFFFF"/>
                </a:solidFill>
                <a:latin typeface="Yu Gothic" pitchFamily="34" charset="0"/>
                <a:ea typeface="Yu Gothic" pitchFamily="34" charset="-122"/>
                <a:cs typeface="Yu Gothic" pitchFamily="34" charset="-120"/>
              </a:rPr>
              <a:t>正規の公立学校教員のままでは、農事組合法人の理事に就任できません</a:t>
            </a:r>
            <a:endParaRPr lang="en-US" sz="2400" dirty="0"/>
          </a:p>
        </p:txBody>
      </p:sp>
      <p:sp>
        <p:nvSpPr>
          <p:cNvPr id="7" name="Text 5"/>
          <p:cNvSpPr txBox="1"/>
          <p:nvPr/>
        </p:nvSpPr>
        <p:spPr>
          <a:xfrm>
            <a:off x="658368" y="3218688"/>
            <a:ext cx="10872216" cy="1444752"/>
          </a:xfrm>
          <a:prstGeom prst="rect">
            <a:avLst/>
          </a:prstGeom>
          <a:noFill/>
          <a:ln/>
        </p:spPr>
        <p:txBody>
          <a:bodyPr wrap="square" lIns="0" tIns="0" rIns="0" bIns="0" rtlCol="0" anchor="t"/>
          <a:lstStyle/>
          <a:p>
            <a:pPr marL="342900" indent="-342900">
              <a:lnSpc>
                <a:spcPts val="2000"/>
              </a:lnSpc>
              <a:spcAft>
                <a:spcPts val="500"/>
              </a:spcAft>
              <a:buSzPct val="100000"/>
              <a:buChar char="•"/>
            </a:pPr>
            <a:r>
              <a:rPr lang="en-US" sz="1350" dirty="0">
                <a:solidFill>
                  <a:srgbClr val="E8D4D4"/>
                </a:solidFill>
                <a:latin typeface="Yu Gothic" pitchFamily="34" charset="0"/>
                <a:ea typeface="Yu Gothic" pitchFamily="34" charset="-122"/>
                <a:cs typeface="Yu Gothic" pitchFamily="34" charset="-120"/>
              </a:rPr>
              <a:t>営利企業の役員兼業は、名義だけであっても兼業に該当し禁止される</a:t>
            </a:r>
            <a:endParaRPr lang="en-US" sz="1350" dirty="0"/>
          </a:p>
          <a:p>
            <a:pPr marL="342900" indent="-342900">
              <a:lnSpc>
                <a:spcPts val="2000"/>
              </a:lnSpc>
              <a:spcAft>
                <a:spcPts val="500"/>
              </a:spcAft>
              <a:buSzPct val="100000"/>
              <a:buChar char="•"/>
            </a:pPr>
            <a:r>
              <a:rPr lang="en-US" sz="1350" dirty="0">
                <a:solidFill>
                  <a:srgbClr val="E8D4D4"/>
                </a:solidFill>
                <a:latin typeface="Yu Gothic" pitchFamily="34" charset="0"/>
                <a:ea typeface="Yu Gothic" pitchFamily="34" charset="-122"/>
                <a:cs typeface="Yu Gothic" pitchFamily="34" charset="-120"/>
              </a:rPr>
              <a:t>地方公務員の兼業許可基準は「兼業先が非営利団体であること」を要件に挙げており、農事組合法人はこれに当たらない</a:t>
            </a:r>
            <a:endParaRPr lang="en-US" sz="1350" dirty="0"/>
          </a:p>
          <a:p>
            <a:pPr marL="342900" indent="-342900">
              <a:lnSpc>
                <a:spcPts val="2000"/>
              </a:lnSpc>
              <a:spcAft>
                <a:spcPts val="500"/>
              </a:spcAft>
              <a:buSzPct val="100000"/>
              <a:buChar char="•"/>
            </a:pPr>
            <a:r>
              <a:rPr lang="en-US" sz="1350" dirty="0">
                <a:solidFill>
                  <a:srgbClr val="E8D4D4"/>
                </a:solidFill>
                <a:latin typeface="Yu Gothic" pitchFamily="34" charset="0"/>
                <a:ea typeface="Yu Gothic" pitchFamily="34" charset="-122"/>
                <a:cs typeface="Yu Gothic" pitchFamily="34" charset="-120"/>
              </a:rPr>
              <a:t>代表理事にもなれず、認定新規就農者の要件である「経営の主宰権」も持てない</a:t>
            </a:r>
            <a:endParaRPr lang="en-US" sz="1350" dirty="0"/>
          </a:p>
          <a:p>
            <a:pPr marL="342900" indent="-342900">
              <a:lnSpc>
                <a:spcPts val="2000"/>
              </a:lnSpc>
              <a:spcAft>
                <a:spcPts val="500"/>
              </a:spcAft>
              <a:buSzPct val="100000"/>
              <a:buChar char="•"/>
            </a:pPr>
            <a:r>
              <a:rPr lang="en-US" sz="1350" dirty="0">
                <a:solidFill>
                  <a:srgbClr val="E8D4D4"/>
                </a:solidFill>
                <a:latin typeface="Yu Gothic" pitchFamily="34" charset="0"/>
                <a:ea typeface="Yu Gothic" pitchFamily="34" charset="-122"/>
                <a:cs typeface="Yu Gothic" pitchFamily="34" charset="-120"/>
              </a:rPr>
              <a:t>結果、経営開始資金（最大450万円）の対象からも外れる</a:t>
            </a:r>
            <a:endParaRPr lang="en-US" sz="1350" dirty="0"/>
          </a:p>
        </p:txBody>
      </p:sp>
      <p:sp>
        <p:nvSpPr>
          <p:cNvPr id="8" name="Shape 6"/>
          <p:cNvSpPr/>
          <p:nvPr/>
        </p:nvSpPr>
        <p:spPr>
          <a:xfrm>
            <a:off x="566928" y="4736592"/>
            <a:ext cx="11055096" cy="1298448"/>
          </a:xfrm>
          <a:prstGeom prst="roundRect">
            <a:avLst>
              <a:gd name="adj" fmla="val 5634"/>
            </a:avLst>
          </a:prstGeom>
          <a:solidFill>
            <a:srgbClr val="2C5F2D"/>
          </a:solidFill>
          <a:ln/>
          <a:effectLst>
            <a:outerShdw sx="100000" sy="100000" kx="0" ky="0" algn="bl" rotWithShape="0" blurRad="101600" dist="25400" dir="5400000">
              <a:srgbClr val="000000">
                <a:alpha val="12000"/>
              </a:srgbClr>
            </a:outerShdw>
          </a:effectLst>
        </p:spPr>
      </p:sp>
      <p:sp>
        <p:nvSpPr>
          <p:cNvPr id="9" name="Text 7"/>
          <p:cNvSpPr txBox="1"/>
          <p:nvPr/>
        </p:nvSpPr>
        <p:spPr>
          <a:xfrm>
            <a:off x="932688" y="4736592"/>
            <a:ext cx="10323576" cy="1298448"/>
          </a:xfrm>
          <a:prstGeom prst="rect">
            <a:avLst/>
          </a:prstGeom>
          <a:noFill/>
          <a:ln/>
        </p:spPr>
        <p:txBody>
          <a:bodyPr wrap="square" lIns="0" tIns="0" rIns="0" bIns="0" rtlCol="0" anchor="ctr"/>
          <a:lstStyle/>
          <a:p>
            <a:pPr indent="0" marL="0">
              <a:lnSpc>
                <a:spcPts val="2600"/>
              </a:lnSpc>
              <a:buNone/>
            </a:pPr>
            <a:r>
              <a:rPr lang="en-US" sz="1600" b="1" dirty="0">
                <a:solidFill>
                  <a:srgbClr val="FFFFFF"/>
                </a:solidFill>
                <a:latin typeface="Yu Gothic" pitchFamily="34" charset="0"/>
                <a:ea typeface="Yu Gothic" pitchFamily="34" charset="-122"/>
                <a:cs typeface="Yu Gothic" pitchFamily="34" charset="-120"/>
              </a:rPr>
              <a:t>一方、非常勤講師（パートタイム会計年度任用職員）は地方公務員法38条の適用除外。</a:t>
            </a:r>
            <a:endParaRPr lang="en-US" sz="1600" dirty="0"/>
          </a:p>
          <a:p>
            <a:pPr indent="0" marL="0">
              <a:lnSpc>
                <a:spcPts val="2600"/>
              </a:lnSpc>
              <a:buNone/>
            </a:pPr>
            <a:r>
              <a:rPr lang="en-US" sz="1600" b="1" dirty="0">
                <a:solidFill>
                  <a:srgbClr val="FFFFFF"/>
                </a:solidFill>
                <a:latin typeface="Yu Gothic" pitchFamily="34" charset="0"/>
                <a:ea typeface="Yu Gothic" pitchFamily="34" charset="-122"/>
                <a:cs typeface="Yu Gothic" pitchFamily="34" charset="-120"/>
              </a:rPr>
              <a:t>理事就任が可能です（自治体により届出が必要）。</a:t>
            </a:r>
            <a:endParaRPr lang="en-US" sz="1600" dirty="0"/>
          </a:p>
        </p:txBody>
      </p:sp>
      <p:sp>
        <p:nvSpPr>
          <p:cNvPr id="10" name="Text 8"/>
          <p:cNvSpPr txBox="1"/>
          <p:nvPr/>
        </p:nvSpPr>
        <p:spPr>
          <a:xfrm>
            <a:off x="566928" y="6126480"/>
            <a:ext cx="11055096" cy="347472"/>
          </a:xfrm>
          <a:prstGeom prst="rect">
            <a:avLst/>
          </a:prstGeom>
          <a:noFill/>
          <a:ln/>
        </p:spPr>
        <p:txBody>
          <a:bodyPr wrap="square" lIns="0" tIns="0" rIns="0" bIns="0" rtlCol="0" anchor="ctr"/>
          <a:lstStyle/>
          <a:p>
            <a:pPr indent="0" marL="0">
              <a:buNone/>
            </a:pPr>
            <a:r>
              <a:rPr lang="en-US" sz="1300" i="1" dirty="0">
                <a:solidFill>
                  <a:srgbClr val="97BC62"/>
                </a:solidFill>
                <a:latin typeface="Yu Gothic" pitchFamily="34" charset="0"/>
                <a:ea typeface="Yu Gothic" pitchFamily="34" charset="-122"/>
                <a:cs typeface="Yu Gothic" pitchFamily="34" charset="-120"/>
              </a:rPr>
              <a:t>※ これは次男自身が承継する場合の話。お兄様が主体で次男は手伝うだけなら、理事にならないのでこの制約は発生しない（次ページ）。</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INCOME</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年収シミュレーション（次男・単体）</a:t>
            </a:r>
            <a:endParaRPr lang="en-US" sz="3200" dirty="0"/>
          </a:p>
        </p:txBody>
      </p:sp>
      <p:graphicFrame>
        <p:nvGraphicFramePr>
          <p:cNvPr id="4" name="Chart 0" descr=""/>
          <p:cNvGraphicFramePr/>
          <p:nvPr/>
        </p:nvGraphicFramePr>
        <p:xfrm>
          <a:off x="566928" y="1645920"/>
          <a:ext cx="11055096" cy="320040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66928" y="5029200"/>
            <a:ext cx="3532632" cy="1261872"/>
          </a:xfrm>
          <a:prstGeom prst="roundRect">
            <a:avLst>
              <a:gd name="adj" fmla="val 5797"/>
            </a:avLst>
          </a:prstGeom>
          <a:solidFill>
            <a:srgbClr val="F5F7F2"/>
          </a:solidFill>
          <a:ln/>
          <a:effectLst>
            <a:outerShdw sx="100000" sy="100000" kx="0" ky="0" algn="bl" rotWithShape="0" blurRad="101600" dist="25400" dir="5400000">
              <a:srgbClr val="000000">
                <a:alpha val="12000"/>
              </a:srgbClr>
            </a:outerShdw>
          </a:effectLst>
        </p:spPr>
      </p:sp>
      <p:sp>
        <p:nvSpPr>
          <p:cNvPr id="6" name="Text 3"/>
          <p:cNvSpPr txBox="1"/>
          <p:nvPr/>
        </p:nvSpPr>
        <p:spPr>
          <a:xfrm>
            <a:off x="786384" y="5175504"/>
            <a:ext cx="3093720" cy="274320"/>
          </a:xfrm>
          <a:prstGeom prst="rect">
            <a:avLst/>
          </a:prstGeom>
          <a:noFill/>
          <a:ln/>
        </p:spPr>
        <p:txBody>
          <a:bodyPr wrap="square" lIns="0" tIns="0" rIns="0" bIns="0" rtlCol="0" anchor="t"/>
          <a:lstStyle/>
          <a:p>
            <a:pPr indent="0" marL="0">
              <a:lnSpc>
                <a:spcPts val="2100"/>
              </a:lnSpc>
              <a:buNone/>
            </a:pPr>
            <a:r>
              <a:rPr lang="en-US" sz="1300" b="1" dirty="0">
                <a:solidFill>
                  <a:srgbClr val="2C5F2D"/>
                </a:solidFill>
                <a:latin typeface="Yu Gothic" pitchFamily="34" charset="0"/>
                <a:ea typeface="Yu Gothic" pitchFamily="34" charset="-122"/>
                <a:cs typeface="Yu Gothic" pitchFamily="34" charset="-120"/>
              </a:rPr>
              <a:t>統計の落とし穴</a:t>
            </a:r>
            <a:endParaRPr lang="en-US" sz="1300" dirty="0"/>
          </a:p>
        </p:txBody>
      </p:sp>
      <p:sp>
        <p:nvSpPr>
          <p:cNvPr id="7" name="Text 4"/>
          <p:cNvSpPr txBox="1"/>
          <p:nvPr/>
        </p:nvSpPr>
        <p:spPr>
          <a:xfrm>
            <a:off x="786384" y="5468112"/>
            <a:ext cx="3093720" cy="749808"/>
          </a:xfrm>
          <a:prstGeom prst="rect">
            <a:avLst/>
          </a:prstGeom>
          <a:noFill/>
          <a:ln/>
        </p:spPr>
        <p:txBody>
          <a:bodyPr wrap="square" lIns="0" tIns="0" rIns="0" bIns="0" rtlCol="0" anchor="t"/>
          <a:lstStyle/>
          <a:p>
            <a:pPr indent="0" marL="0">
              <a:lnSpc>
                <a:spcPts val="1500"/>
              </a:lnSpc>
              <a:buNone/>
            </a:pPr>
            <a:r>
              <a:rPr lang="en-US" sz="1050" dirty="0">
                <a:solidFill>
                  <a:srgbClr val="22282A"/>
                </a:solidFill>
                <a:latin typeface="Yu Gothic" pitchFamily="34" charset="0"/>
                <a:ea typeface="Yu Gothic" pitchFamily="34" charset="-122"/>
                <a:cs typeface="Yu Gothic" pitchFamily="34" charset="-120"/>
              </a:rPr>
              <a:t>水田作の個人経営体は平均▲3万円の赤字、20ha以上で845万円、法人平均は約1,300万円。ただしこれは「経営体の所得」。組合員3名で割ると280〜430万円</a:t>
            </a:r>
            <a:endParaRPr lang="en-US" sz="1050" dirty="0"/>
          </a:p>
        </p:txBody>
      </p:sp>
      <p:sp>
        <p:nvSpPr>
          <p:cNvPr id="8" name="Shape 5"/>
          <p:cNvSpPr/>
          <p:nvPr/>
        </p:nvSpPr>
        <p:spPr>
          <a:xfrm>
            <a:off x="4328160" y="5029200"/>
            <a:ext cx="3532632" cy="1261872"/>
          </a:xfrm>
          <a:prstGeom prst="roundRect">
            <a:avLst>
              <a:gd name="adj" fmla="val 5797"/>
            </a:avLst>
          </a:prstGeom>
          <a:solidFill>
            <a:srgbClr val="F5F7F2"/>
          </a:solidFill>
          <a:ln/>
          <a:effectLst>
            <a:outerShdw sx="100000" sy="100000" kx="0" ky="0" algn="bl" rotWithShape="0" blurRad="101600" dist="25400" dir="5400000">
              <a:srgbClr val="000000">
                <a:alpha val="12000"/>
              </a:srgbClr>
            </a:outerShdw>
          </a:effectLst>
        </p:spPr>
      </p:sp>
      <p:sp>
        <p:nvSpPr>
          <p:cNvPr id="9" name="Text 6"/>
          <p:cNvSpPr txBox="1"/>
          <p:nvPr/>
        </p:nvSpPr>
        <p:spPr>
          <a:xfrm>
            <a:off x="4547616" y="5175504"/>
            <a:ext cx="3093720" cy="274320"/>
          </a:xfrm>
          <a:prstGeom prst="rect">
            <a:avLst/>
          </a:prstGeom>
          <a:noFill/>
          <a:ln/>
        </p:spPr>
        <p:txBody>
          <a:bodyPr wrap="square" lIns="0" tIns="0" rIns="0" bIns="0" rtlCol="0" anchor="t"/>
          <a:lstStyle/>
          <a:p>
            <a:pPr indent="0" marL="0">
              <a:lnSpc>
                <a:spcPts val="2100"/>
              </a:lnSpc>
              <a:buNone/>
            </a:pPr>
            <a:r>
              <a:rPr lang="en-US" sz="1300" b="1" dirty="0">
                <a:solidFill>
                  <a:srgbClr val="2C5F2D"/>
                </a:solidFill>
                <a:latin typeface="Yu Gothic" pitchFamily="34" charset="0"/>
                <a:ea typeface="Yu Gothic" pitchFamily="34" charset="-122"/>
                <a:cs typeface="Yu Gothic" pitchFamily="34" charset="-120"/>
              </a:rPr>
              <a:t>到達までの時間</a:t>
            </a:r>
            <a:endParaRPr lang="en-US" sz="1300" dirty="0"/>
          </a:p>
        </p:txBody>
      </p:sp>
      <p:sp>
        <p:nvSpPr>
          <p:cNvPr id="10" name="Text 7"/>
          <p:cNvSpPr txBox="1"/>
          <p:nvPr/>
        </p:nvSpPr>
        <p:spPr>
          <a:xfrm>
            <a:off x="4547616" y="5468112"/>
            <a:ext cx="3093720" cy="749808"/>
          </a:xfrm>
          <a:prstGeom prst="rect">
            <a:avLst/>
          </a:prstGeom>
          <a:noFill/>
          <a:ln/>
        </p:spPr>
        <p:txBody>
          <a:bodyPr wrap="square" lIns="0" tIns="0" rIns="0" bIns="0" rtlCol="0" anchor="t"/>
          <a:lstStyle/>
          <a:p>
            <a:pPr indent="0" marL="0">
              <a:lnSpc>
                <a:spcPts val="1500"/>
              </a:lnSpc>
              <a:buNone/>
            </a:pPr>
            <a:r>
              <a:rPr lang="en-US" sz="1050" dirty="0">
                <a:solidFill>
                  <a:srgbClr val="22282A"/>
                </a:solidFill>
                <a:latin typeface="Yu Gothic" pitchFamily="34" charset="0"/>
                <a:ea typeface="Yu Gothic" pitchFamily="34" charset="-122"/>
                <a:cs typeface="Yu Gothic" pitchFamily="34" charset="-120"/>
              </a:rPr>
              <a:t>Aは初年度、Bは2〜3年、Cは3〜5年、Dは5〜10年</a:t>
            </a:r>
            <a:endParaRPr lang="en-US" sz="1050" dirty="0"/>
          </a:p>
        </p:txBody>
      </p:sp>
      <p:sp>
        <p:nvSpPr>
          <p:cNvPr id="11" name="Shape 8"/>
          <p:cNvSpPr/>
          <p:nvPr/>
        </p:nvSpPr>
        <p:spPr>
          <a:xfrm>
            <a:off x="8089392" y="5029200"/>
            <a:ext cx="3532632" cy="1261872"/>
          </a:xfrm>
          <a:prstGeom prst="roundRect">
            <a:avLst>
              <a:gd name="adj" fmla="val 5797"/>
            </a:avLst>
          </a:prstGeom>
          <a:solidFill>
            <a:srgbClr val="F5F7F2"/>
          </a:solidFill>
          <a:ln/>
          <a:effectLst>
            <a:outerShdw sx="100000" sy="100000" kx="0" ky="0" algn="bl" rotWithShape="0" blurRad="101600" dist="25400" dir="5400000">
              <a:srgbClr val="000000">
                <a:alpha val="12000"/>
              </a:srgbClr>
            </a:outerShdw>
          </a:effectLst>
        </p:spPr>
      </p:sp>
      <p:sp>
        <p:nvSpPr>
          <p:cNvPr id="12" name="Text 9"/>
          <p:cNvSpPr txBox="1"/>
          <p:nvPr/>
        </p:nvSpPr>
        <p:spPr>
          <a:xfrm>
            <a:off x="8308848" y="5175504"/>
            <a:ext cx="3093720" cy="274320"/>
          </a:xfrm>
          <a:prstGeom prst="rect">
            <a:avLst/>
          </a:prstGeom>
          <a:noFill/>
          <a:ln/>
        </p:spPr>
        <p:txBody>
          <a:bodyPr wrap="square" lIns="0" tIns="0" rIns="0" bIns="0" rtlCol="0" anchor="t"/>
          <a:lstStyle/>
          <a:p>
            <a:pPr indent="0" marL="0">
              <a:lnSpc>
                <a:spcPts val="2100"/>
              </a:lnSpc>
              <a:buNone/>
            </a:pPr>
            <a:r>
              <a:rPr lang="en-US" sz="1300" b="1" dirty="0">
                <a:solidFill>
                  <a:srgbClr val="2C5F2D"/>
                </a:solidFill>
                <a:latin typeface="Yu Gothic" pitchFamily="34" charset="0"/>
                <a:ea typeface="Yu Gothic" pitchFamily="34" charset="-122"/>
                <a:cs typeface="Yu Gothic" pitchFamily="34" charset="-120"/>
              </a:rPr>
              <a:t>就農支援金</a:t>
            </a:r>
            <a:endParaRPr lang="en-US" sz="1300" dirty="0"/>
          </a:p>
        </p:txBody>
      </p:sp>
      <p:sp>
        <p:nvSpPr>
          <p:cNvPr id="13" name="Text 10"/>
          <p:cNvSpPr txBox="1"/>
          <p:nvPr/>
        </p:nvSpPr>
        <p:spPr>
          <a:xfrm>
            <a:off x="8308848" y="5468112"/>
            <a:ext cx="3093720" cy="749808"/>
          </a:xfrm>
          <a:prstGeom prst="rect">
            <a:avLst/>
          </a:prstGeom>
          <a:noFill/>
          <a:ln/>
        </p:spPr>
        <p:txBody>
          <a:bodyPr wrap="square" lIns="0" tIns="0" rIns="0" bIns="0" rtlCol="0" anchor="t"/>
          <a:lstStyle/>
          <a:p>
            <a:pPr indent="0" marL="0">
              <a:lnSpc>
                <a:spcPts val="1500"/>
              </a:lnSpc>
              <a:buNone/>
            </a:pPr>
            <a:r>
              <a:rPr lang="en-US" sz="1050" dirty="0">
                <a:solidFill>
                  <a:srgbClr val="22282A"/>
                </a:solidFill>
                <a:latin typeface="Yu Gothic" pitchFamily="34" charset="0"/>
                <a:ea typeface="Yu Gothic" pitchFamily="34" charset="-122"/>
                <a:cs typeface="Yu Gothic" pitchFamily="34" charset="-120"/>
              </a:rPr>
              <a:t>経営開始資金 年150万円×3年（49歳以下）を足せば、Aでも250〜350万円になる</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ASSETS</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金融資産 ― 約1,938万円</a:t>
            </a:r>
            <a:endParaRPr lang="en-US" sz="3200" dirty="0"/>
          </a:p>
        </p:txBody>
      </p:sp>
      <p:graphicFrame>
        <p:nvGraphicFramePr>
          <p:cNvPr id="4" name="Chart 0" descr=""/>
          <p:cNvGraphicFramePr/>
          <p:nvPr/>
        </p:nvGraphicFramePr>
        <p:xfrm>
          <a:off x="566928" y="1691640"/>
          <a:ext cx="5394960" cy="393192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327648" y="1691640"/>
            <a:ext cx="5294376" cy="1572768"/>
          </a:xfrm>
          <a:prstGeom prst="roundRect">
            <a:avLst>
              <a:gd name="adj" fmla="val 4651"/>
            </a:avLst>
          </a:prstGeom>
          <a:solidFill>
            <a:srgbClr val="F5F7F2"/>
          </a:solidFill>
          <a:ln/>
          <a:effectLst>
            <a:outerShdw sx="100000" sy="100000" kx="0" ky="0" algn="bl" rotWithShape="0" blurRad="101600" dist="25400" dir="5400000">
              <a:srgbClr val="000000">
                <a:alpha val="12000"/>
              </a:srgbClr>
            </a:outerShdw>
          </a:effectLst>
        </p:spPr>
      </p:sp>
      <p:sp>
        <p:nvSpPr>
          <p:cNvPr id="6" name="Text 3"/>
          <p:cNvSpPr txBox="1"/>
          <p:nvPr/>
        </p:nvSpPr>
        <p:spPr>
          <a:xfrm>
            <a:off x="6601968" y="1847088"/>
            <a:ext cx="5029200" cy="292608"/>
          </a:xfrm>
          <a:prstGeom prst="rect">
            <a:avLst/>
          </a:prstGeom>
          <a:noFill/>
          <a:ln/>
        </p:spPr>
        <p:txBody>
          <a:bodyPr wrap="square" lIns="0" tIns="0" rIns="0" bIns="0" rtlCol="0" anchor="t"/>
          <a:lstStyle/>
          <a:p>
            <a:pPr indent="0" marL="0">
              <a:lnSpc>
                <a:spcPts val="2100"/>
              </a:lnSpc>
              <a:buNone/>
            </a:pPr>
            <a:r>
              <a:rPr lang="en-US" sz="1400" b="1" dirty="0">
                <a:solidFill>
                  <a:srgbClr val="6E7A6F"/>
                </a:solidFill>
                <a:latin typeface="Yu Gothic" pitchFamily="34" charset="0"/>
                <a:ea typeface="Yu Gothic" pitchFamily="34" charset="-122"/>
                <a:cs typeface="Yu Gothic" pitchFamily="34" charset="-120"/>
              </a:rPr>
              <a:t>総資産で見ると</a:t>
            </a:r>
            <a:endParaRPr lang="en-US" sz="1400" dirty="0"/>
          </a:p>
        </p:txBody>
      </p:sp>
      <p:sp>
        <p:nvSpPr>
          <p:cNvPr id="7" name="Text 4"/>
          <p:cNvSpPr txBox="1"/>
          <p:nvPr/>
        </p:nvSpPr>
        <p:spPr>
          <a:xfrm>
            <a:off x="6601968" y="2157984"/>
            <a:ext cx="5394960" cy="548640"/>
          </a:xfrm>
          <a:prstGeom prst="rect">
            <a:avLst/>
          </a:prstGeom>
          <a:noFill/>
          <a:ln/>
        </p:spPr>
        <p:txBody>
          <a:bodyPr wrap="square" lIns="0" tIns="0" rIns="0" bIns="0" rtlCol="0" anchor="t"/>
          <a:lstStyle/>
          <a:p>
            <a:pPr indent="0" marL="0">
              <a:lnSpc>
                <a:spcPts val="2100"/>
              </a:lnSpc>
              <a:buNone/>
            </a:pPr>
            <a:r>
              <a:rPr lang="en-US" sz="3200" b="1" dirty="0">
                <a:solidFill>
                  <a:srgbClr val="2C5F2D"/>
                </a:solidFill>
                <a:latin typeface="Cambria" pitchFamily="34" charset="0"/>
                <a:ea typeface="Cambria" pitchFamily="34" charset="-122"/>
                <a:cs typeface="Cambria" pitchFamily="34" charset="-120"/>
              </a:rPr>
              <a:t>5,000万 〜 8,400万円</a:t>
            </a:r>
            <a:endParaRPr lang="en-US" sz="3200" dirty="0"/>
          </a:p>
        </p:txBody>
      </p:sp>
      <p:sp>
        <p:nvSpPr>
          <p:cNvPr id="8" name="Text 5"/>
          <p:cNvSpPr txBox="1"/>
          <p:nvPr/>
        </p:nvSpPr>
        <p:spPr>
          <a:xfrm>
            <a:off x="6601968" y="2743200"/>
            <a:ext cx="5394960" cy="365760"/>
          </a:xfrm>
          <a:prstGeom prst="rect">
            <a:avLst/>
          </a:prstGeom>
          <a:noFill/>
          <a:ln/>
        </p:spPr>
        <p:txBody>
          <a:bodyPr wrap="square" lIns="0" tIns="0" rIns="0" bIns="0" rtlCol="0" anchor="t"/>
          <a:lstStyle/>
          <a:p>
            <a:pPr indent="0" marL="0">
              <a:lnSpc>
                <a:spcPts val="2100"/>
              </a:lnSpc>
              <a:buNone/>
            </a:pPr>
            <a:r>
              <a:rPr lang="en-US" sz="1200" dirty="0">
                <a:solidFill>
                  <a:srgbClr val="22282A"/>
                </a:solidFill>
                <a:latin typeface="Yu Gothic" pitchFamily="34" charset="0"/>
                <a:ea typeface="Yu Gothic" pitchFamily="34" charset="-122"/>
                <a:cs typeface="Yu Gothic" pitchFamily="34" charset="-120"/>
              </a:rPr>
              <a:t>金融資産 1,938万円 ＋ 練馬の家の売却益 3,000〜6,500万円</a:t>
            </a:r>
            <a:endParaRPr lang="en-US" sz="1200" dirty="0"/>
          </a:p>
        </p:txBody>
      </p:sp>
      <p:sp>
        <p:nvSpPr>
          <p:cNvPr id="9" name="Shape 6"/>
          <p:cNvSpPr/>
          <p:nvPr/>
        </p:nvSpPr>
        <p:spPr>
          <a:xfrm>
            <a:off x="6327648" y="3401568"/>
            <a:ext cx="5294376" cy="1371600"/>
          </a:xfrm>
          <a:prstGeom prst="roundRect">
            <a:avLst>
              <a:gd name="adj" fmla="val 5333"/>
            </a:avLst>
          </a:prstGeom>
          <a:solidFill>
            <a:srgbClr val="F5F7F2"/>
          </a:solidFill>
          <a:ln/>
          <a:effectLst>
            <a:outerShdw sx="100000" sy="100000" kx="0" ky="0" algn="bl" rotWithShape="0" blurRad="101600" dist="25400" dir="5400000">
              <a:srgbClr val="000000">
                <a:alpha val="12000"/>
              </a:srgbClr>
            </a:outerShdw>
          </a:effectLst>
        </p:spPr>
      </p:sp>
      <p:sp>
        <p:nvSpPr>
          <p:cNvPr id="10" name="Text 7"/>
          <p:cNvSpPr txBox="1"/>
          <p:nvPr/>
        </p:nvSpPr>
        <p:spPr>
          <a:xfrm>
            <a:off x="6601968" y="3547872"/>
            <a:ext cx="5029200" cy="292608"/>
          </a:xfrm>
          <a:prstGeom prst="rect">
            <a:avLst/>
          </a:prstGeom>
          <a:noFill/>
          <a:ln/>
        </p:spPr>
        <p:txBody>
          <a:bodyPr wrap="square" lIns="0" tIns="0" rIns="0" bIns="0" rtlCol="0" anchor="t"/>
          <a:lstStyle/>
          <a:p>
            <a:pPr indent="0" marL="0">
              <a:lnSpc>
                <a:spcPts val="2100"/>
              </a:lnSpc>
              <a:buNone/>
            </a:pPr>
            <a:r>
              <a:rPr lang="en-US" sz="1400" b="1" dirty="0">
                <a:solidFill>
                  <a:srgbClr val="6E7A6F"/>
                </a:solidFill>
                <a:latin typeface="Yu Gothic" pitchFamily="34" charset="0"/>
                <a:ea typeface="Yu Gothic" pitchFamily="34" charset="-122"/>
                <a:cs typeface="Yu Gothic" pitchFamily="34" charset="-120"/>
              </a:rPr>
              <a:t>年収差を何年吸収できるか</a:t>
            </a:r>
            <a:endParaRPr lang="en-US" sz="1400" dirty="0"/>
          </a:p>
        </p:txBody>
      </p:sp>
      <p:sp>
        <p:nvSpPr>
          <p:cNvPr id="11" name="Text 8"/>
          <p:cNvSpPr txBox="1"/>
          <p:nvPr/>
        </p:nvSpPr>
        <p:spPr>
          <a:xfrm>
            <a:off x="6601968" y="3877056"/>
            <a:ext cx="5394960" cy="731520"/>
          </a:xfrm>
          <a:prstGeom prst="rect">
            <a:avLst/>
          </a:prstGeom>
          <a:noFill/>
          <a:ln/>
        </p:spPr>
        <p:txBody>
          <a:bodyPr wrap="square" lIns="0" tIns="0" rIns="0" bIns="0" rtlCol="0" anchor="t"/>
          <a:lstStyle/>
          <a:p>
            <a:pPr marL="342900" indent="-342900">
              <a:lnSpc>
                <a:spcPts val="1900"/>
              </a:lnSpc>
              <a:spcAft>
                <a:spcPts val="500"/>
              </a:spcAft>
              <a:buSzPct val="100000"/>
              <a:buChar char="•"/>
            </a:pPr>
            <a:r>
              <a:rPr lang="en-US" sz="1300" dirty="0">
                <a:solidFill>
                  <a:srgbClr val="22282A"/>
                </a:solidFill>
                <a:latin typeface="Yu Gothic" pitchFamily="34" charset="0"/>
                <a:ea typeface="Yu Gothic" pitchFamily="34" charset="-122"/>
                <a:cs typeface="Yu Gothic" pitchFamily="34" charset="-120"/>
              </a:rPr>
              <a:t>案C（年▲350〜550万円）… 9〜24年分</a:t>
            </a:r>
            <a:endParaRPr lang="en-US" sz="1300" dirty="0"/>
          </a:p>
          <a:p>
            <a:pPr marL="342900" indent="-342900">
              <a:lnSpc>
                <a:spcPts val="1900"/>
              </a:lnSpc>
              <a:spcAft>
                <a:spcPts val="500"/>
              </a:spcAft>
              <a:buSzPct val="100000"/>
              <a:buChar char="•"/>
            </a:pPr>
            <a:r>
              <a:rPr lang="en-US" sz="1300" dirty="0">
                <a:solidFill>
                  <a:srgbClr val="22282A"/>
                </a:solidFill>
                <a:latin typeface="Yu Gothic" pitchFamily="34" charset="0"/>
                <a:ea typeface="Yu Gothic" pitchFamily="34" charset="-122"/>
                <a:cs typeface="Yu Gothic" pitchFamily="34" charset="-120"/>
              </a:rPr>
              <a:t>案A（年▲220〜320万円）… 15〜38年分</a:t>
            </a:r>
            <a:endParaRPr lang="en-US" sz="1300" dirty="0"/>
          </a:p>
        </p:txBody>
      </p:sp>
      <p:sp>
        <p:nvSpPr>
          <p:cNvPr id="12" name="Shape 9"/>
          <p:cNvSpPr/>
          <p:nvPr/>
        </p:nvSpPr>
        <p:spPr>
          <a:xfrm>
            <a:off x="6327648" y="4919472"/>
            <a:ext cx="5294376" cy="1115568"/>
          </a:xfrm>
          <a:prstGeom prst="roundRect">
            <a:avLst>
              <a:gd name="adj" fmla="val 6557"/>
            </a:avLst>
          </a:prstGeom>
          <a:solidFill>
            <a:srgbClr val="FBEDED"/>
          </a:solidFill>
          <a:ln/>
          <a:effectLst>
            <a:outerShdw sx="100000" sy="100000" kx="0" ky="0" algn="bl" rotWithShape="0" blurRad="101600" dist="25400" dir="5400000">
              <a:srgbClr val="000000">
                <a:alpha val="12000"/>
              </a:srgbClr>
            </a:outerShdw>
          </a:effectLst>
        </p:spPr>
      </p:sp>
      <p:sp>
        <p:nvSpPr>
          <p:cNvPr id="13" name="Text 10"/>
          <p:cNvSpPr txBox="1"/>
          <p:nvPr/>
        </p:nvSpPr>
        <p:spPr>
          <a:xfrm>
            <a:off x="6601968" y="5065776"/>
            <a:ext cx="5029200" cy="292608"/>
          </a:xfrm>
          <a:prstGeom prst="rect">
            <a:avLst/>
          </a:prstGeom>
          <a:noFill/>
          <a:ln/>
        </p:spPr>
        <p:txBody>
          <a:bodyPr wrap="square" lIns="0" tIns="0" rIns="0" bIns="0" rtlCol="0" anchor="t"/>
          <a:lstStyle/>
          <a:p>
            <a:pPr indent="0" marL="0">
              <a:lnSpc>
                <a:spcPts val="2100"/>
              </a:lnSpc>
              <a:buNone/>
            </a:pPr>
            <a:r>
              <a:rPr lang="en-US" sz="1400" b="1" dirty="0">
                <a:solidFill>
                  <a:srgbClr val="A32E2E"/>
                </a:solidFill>
                <a:latin typeface="Yu Gothic" pitchFamily="34" charset="0"/>
                <a:ea typeface="Yu Gothic" pitchFamily="34" charset="-122"/>
                <a:cs typeface="Yu Gothic" pitchFamily="34" charset="-120"/>
              </a:rPr>
              <a:t>現金231万円は薄すぎる</a:t>
            </a:r>
            <a:endParaRPr lang="en-US" sz="1400" dirty="0"/>
          </a:p>
        </p:txBody>
      </p:sp>
      <p:sp>
        <p:nvSpPr>
          <p:cNvPr id="14" name="Text 11"/>
          <p:cNvSpPr txBox="1"/>
          <p:nvPr/>
        </p:nvSpPr>
        <p:spPr>
          <a:xfrm>
            <a:off x="6601968" y="5358384"/>
            <a:ext cx="5394960" cy="603504"/>
          </a:xfrm>
          <a:prstGeom prst="rect">
            <a:avLst/>
          </a:prstGeom>
          <a:noFill/>
          <a:ln/>
        </p:spPr>
        <p:txBody>
          <a:bodyPr wrap="square" lIns="0" tIns="0" rIns="0" bIns="0" rtlCol="0" anchor="t"/>
          <a:lstStyle/>
          <a:p>
            <a:pPr indent="0" marL="0">
              <a:lnSpc>
                <a:spcPts val="1600"/>
              </a:lnSpc>
              <a:buNone/>
            </a:pPr>
            <a:r>
              <a:rPr lang="en-US" sz="1150" dirty="0">
                <a:solidFill>
                  <a:srgbClr val="22282A"/>
                </a:solidFill>
                <a:latin typeface="Yu Gothic" pitchFamily="34" charset="0"/>
                <a:ea typeface="Yu Gothic" pitchFamily="34" charset="-122"/>
                <a:cs typeface="Yu Gothic" pitchFamily="34" charset="-120"/>
              </a:rPr>
              <a:t>就農初期は収入が不安定。生活防衛資金として生活費2年分（1,000万円程度）を現金で。家の売却益で厚くする設計に。</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A3A1B"/>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97BC62"/>
                </a:solidFill>
                <a:latin typeface="Yu Gothic" pitchFamily="34" charset="0"/>
                <a:ea typeface="Yu Gothic" pitchFamily="34" charset="-122"/>
                <a:cs typeface="Yu Gothic" pitchFamily="34" charset="-120"/>
              </a:rPr>
              <a:t>INSIGHT</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資産があることの、本当の意味</a:t>
            </a:r>
            <a:endParaRPr lang="en-US" sz="3200" dirty="0"/>
          </a:p>
        </p:txBody>
      </p:sp>
      <p:sp>
        <p:nvSpPr>
          <p:cNvPr id="4" name="Shape 2"/>
          <p:cNvSpPr/>
          <p:nvPr/>
        </p:nvSpPr>
        <p:spPr>
          <a:xfrm>
            <a:off x="566928" y="1691640"/>
            <a:ext cx="11055096" cy="1234440"/>
          </a:xfrm>
          <a:prstGeom prst="roundRect">
            <a:avLst>
              <a:gd name="adj" fmla="val 5926"/>
            </a:avLst>
          </a:prstGeom>
          <a:solidFill>
            <a:srgbClr val="2C5F2D"/>
          </a:solidFill>
          <a:ln/>
          <a:effectLst>
            <a:outerShdw sx="100000" sy="100000" kx="0" ky="0" algn="bl" rotWithShape="0" blurRad="101600" dist="25400" dir="5400000">
              <a:srgbClr val="000000">
                <a:alpha val="12000"/>
              </a:srgbClr>
            </a:outerShdw>
          </a:effectLst>
        </p:spPr>
      </p:sp>
      <p:sp>
        <p:nvSpPr>
          <p:cNvPr id="5" name="Text 3"/>
          <p:cNvSpPr txBox="1"/>
          <p:nvPr/>
        </p:nvSpPr>
        <p:spPr>
          <a:xfrm>
            <a:off x="932688" y="1691640"/>
            <a:ext cx="10323576" cy="1234440"/>
          </a:xfrm>
          <a:prstGeom prst="rect">
            <a:avLst/>
          </a:prstGeom>
          <a:noFill/>
          <a:ln/>
        </p:spPr>
        <p:txBody>
          <a:bodyPr wrap="square" lIns="0" tIns="0" rIns="0" bIns="0" rtlCol="0" anchor="ctr"/>
          <a:lstStyle/>
          <a:p>
            <a:pPr indent="0" marL="0">
              <a:buNone/>
            </a:pPr>
            <a:r>
              <a:rPr lang="en-US" sz="2500" b="1" dirty="0">
                <a:solidFill>
                  <a:srgbClr val="FFFFFF"/>
                </a:solidFill>
                <a:latin typeface="Yu Gothic" pitchFamily="34" charset="0"/>
                <a:ea typeface="Yu Gothic" pitchFamily="34" charset="-122"/>
                <a:cs typeface="Yu Gothic" pitchFamily="34" charset="-120"/>
              </a:rPr>
              <a:t>農業を「稼ぐ手段」ではなく「長期投資」として設計できる</a:t>
            </a:r>
            <a:endParaRPr lang="en-US" sz="2500" dirty="0"/>
          </a:p>
        </p:txBody>
      </p:sp>
      <p:sp>
        <p:nvSpPr>
          <p:cNvPr id="6" name="Shape 4"/>
          <p:cNvSpPr/>
          <p:nvPr/>
        </p:nvSpPr>
        <p:spPr>
          <a:xfrm>
            <a:off x="566928" y="3108960"/>
            <a:ext cx="11055096" cy="932688"/>
          </a:xfrm>
          <a:prstGeom prst="roundRect">
            <a:avLst>
              <a:gd name="adj" fmla="val 5882"/>
            </a:avLst>
          </a:prstGeom>
          <a:solidFill>
            <a:srgbClr val="1F3F20"/>
          </a:solidFill>
          <a:ln/>
        </p:spPr>
      </p:sp>
      <p:sp>
        <p:nvSpPr>
          <p:cNvPr id="7" name="Shape 5"/>
          <p:cNvSpPr/>
          <p:nvPr/>
        </p:nvSpPr>
        <p:spPr>
          <a:xfrm>
            <a:off x="822960" y="3374136"/>
            <a:ext cx="402336" cy="402336"/>
          </a:xfrm>
          <a:prstGeom prst="ellipse">
            <a:avLst/>
          </a:prstGeom>
          <a:solidFill>
            <a:srgbClr val="97BC62"/>
          </a:solidFill>
          <a:ln/>
        </p:spPr>
      </p:sp>
      <p:sp>
        <p:nvSpPr>
          <p:cNvPr id="8" name="Text 6"/>
          <p:cNvSpPr txBox="1"/>
          <p:nvPr/>
        </p:nvSpPr>
        <p:spPr>
          <a:xfrm>
            <a:off x="822960" y="3374136"/>
            <a:ext cx="402336" cy="402336"/>
          </a:xfrm>
          <a:prstGeom prst="rect">
            <a:avLst/>
          </a:prstGeom>
          <a:noFill/>
          <a:ln/>
        </p:spPr>
        <p:txBody>
          <a:bodyPr wrap="square" lIns="0" tIns="0" rIns="0" bIns="0" rtlCol="0" anchor="ctr"/>
          <a:lstStyle/>
          <a:p>
            <a:pPr algn="ctr" indent="0" marL="0">
              <a:buNone/>
            </a:pPr>
            <a:r>
              <a:rPr lang="en-US" sz="1500" b="1" dirty="0">
                <a:solidFill>
                  <a:srgbClr val="1A3A1B"/>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1426464" y="3236976"/>
            <a:ext cx="3566160" cy="329184"/>
          </a:xfrm>
          <a:prstGeom prst="rect">
            <a:avLst/>
          </a:prstGeom>
          <a:noFill/>
          <a:ln/>
        </p:spPr>
        <p:txBody>
          <a:bodyPr wrap="square" lIns="0" tIns="0" rIns="0" bIns="0" rtlCol="0" anchor="t"/>
          <a:lstStyle/>
          <a:p>
            <a:pPr indent="0" marL="0">
              <a:lnSpc>
                <a:spcPts val="2100"/>
              </a:lnSpc>
              <a:buNone/>
            </a:pPr>
            <a:r>
              <a:rPr lang="en-US" sz="1500" b="1" dirty="0">
                <a:solidFill>
                  <a:srgbClr val="97BC62"/>
                </a:solidFill>
                <a:latin typeface="Yu Gothic" pitchFamily="34" charset="0"/>
                <a:ea typeface="Yu Gothic" pitchFamily="34" charset="-122"/>
                <a:cs typeface="Yu Gothic" pitchFamily="34" charset="-120"/>
              </a:rPr>
              <a:t>有機転換の3年を耐えられる</a:t>
            </a:r>
            <a:endParaRPr lang="en-US" sz="1500" dirty="0"/>
          </a:p>
        </p:txBody>
      </p:sp>
      <p:sp>
        <p:nvSpPr>
          <p:cNvPr id="10" name="Text 8"/>
          <p:cNvSpPr txBox="1"/>
          <p:nvPr/>
        </p:nvSpPr>
        <p:spPr>
          <a:xfrm>
            <a:off x="5093208" y="3227832"/>
            <a:ext cx="6355080" cy="713232"/>
          </a:xfrm>
          <a:prstGeom prst="rect">
            <a:avLst/>
          </a:prstGeom>
          <a:noFill/>
          <a:ln/>
        </p:spPr>
        <p:txBody>
          <a:bodyPr wrap="square" lIns="0" tIns="0" rIns="0" bIns="0" rtlCol="0" anchor="t"/>
          <a:lstStyle/>
          <a:p>
            <a:pPr indent="0" marL="0">
              <a:lnSpc>
                <a:spcPts val="1600"/>
              </a:lnSpc>
              <a:buNone/>
            </a:pPr>
            <a:r>
              <a:rPr lang="en-US" sz="1150" dirty="0">
                <a:solidFill>
                  <a:srgbClr val="C6D6C2"/>
                </a:solidFill>
                <a:latin typeface="Yu Gothic" pitchFamily="34" charset="0"/>
                <a:ea typeface="Yu Gothic" pitchFamily="34" charset="-122"/>
                <a:cs typeface="Yu Gothic" pitchFamily="34" charset="-120"/>
              </a:rPr>
              <a:t>多くの農家が有機に踏み切れない最大の理由は、転換期間3年の減収に耐えられないこと。収量が落ち、除草労力が増え、それでも認証はまだ取れない。この谷でほとんどが引き返す</a:t>
            </a:r>
            <a:endParaRPr lang="en-US" sz="1150" dirty="0"/>
          </a:p>
        </p:txBody>
      </p:sp>
      <p:sp>
        <p:nvSpPr>
          <p:cNvPr id="11" name="Shape 9"/>
          <p:cNvSpPr/>
          <p:nvPr/>
        </p:nvSpPr>
        <p:spPr>
          <a:xfrm>
            <a:off x="566928" y="4096512"/>
            <a:ext cx="11055096" cy="932688"/>
          </a:xfrm>
          <a:prstGeom prst="roundRect">
            <a:avLst>
              <a:gd name="adj" fmla="val 5882"/>
            </a:avLst>
          </a:prstGeom>
          <a:solidFill>
            <a:srgbClr val="1F3F20"/>
          </a:solidFill>
          <a:ln/>
        </p:spPr>
      </p:sp>
      <p:sp>
        <p:nvSpPr>
          <p:cNvPr id="12" name="Shape 10"/>
          <p:cNvSpPr/>
          <p:nvPr/>
        </p:nvSpPr>
        <p:spPr>
          <a:xfrm>
            <a:off x="822960" y="4361688"/>
            <a:ext cx="402336" cy="402336"/>
          </a:xfrm>
          <a:prstGeom prst="ellipse">
            <a:avLst/>
          </a:prstGeom>
          <a:solidFill>
            <a:srgbClr val="97BC62"/>
          </a:solidFill>
          <a:ln/>
        </p:spPr>
      </p:sp>
      <p:sp>
        <p:nvSpPr>
          <p:cNvPr id="13" name="Text 11"/>
          <p:cNvSpPr txBox="1"/>
          <p:nvPr/>
        </p:nvSpPr>
        <p:spPr>
          <a:xfrm>
            <a:off x="822960" y="4361688"/>
            <a:ext cx="402336" cy="402336"/>
          </a:xfrm>
          <a:prstGeom prst="rect">
            <a:avLst/>
          </a:prstGeom>
          <a:noFill/>
          <a:ln/>
        </p:spPr>
        <p:txBody>
          <a:bodyPr wrap="square" lIns="0" tIns="0" rIns="0" bIns="0" rtlCol="0" anchor="ctr"/>
          <a:lstStyle/>
          <a:p>
            <a:pPr algn="ctr" indent="0" marL="0">
              <a:buNone/>
            </a:pPr>
            <a:r>
              <a:rPr lang="en-US" sz="1500" b="1" dirty="0">
                <a:solidFill>
                  <a:srgbClr val="1A3A1B"/>
                </a:solidFill>
                <a:latin typeface="Cambria" pitchFamily="34" charset="0"/>
                <a:ea typeface="Cambria" pitchFamily="34" charset="-122"/>
                <a:cs typeface="Cambria" pitchFamily="34" charset="-120"/>
              </a:rPr>
              <a:t>2</a:t>
            </a:r>
            <a:endParaRPr lang="en-US" sz="1500" dirty="0"/>
          </a:p>
        </p:txBody>
      </p:sp>
      <p:sp>
        <p:nvSpPr>
          <p:cNvPr id="14" name="Text 12"/>
          <p:cNvSpPr txBox="1"/>
          <p:nvPr/>
        </p:nvSpPr>
        <p:spPr>
          <a:xfrm>
            <a:off x="1426464" y="4224528"/>
            <a:ext cx="3566160" cy="329184"/>
          </a:xfrm>
          <a:prstGeom prst="rect">
            <a:avLst/>
          </a:prstGeom>
          <a:noFill/>
          <a:ln/>
        </p:spPr>
        <p:txBody>
          <a:bodyPr wrap="square" lIns="0" tIns="0" rIns="0" bIns="0" rtlCol="0" anchor="t"/>
          <a:lstStyle/>
          <a:p>
            <a:pPr indent="0" marL="0">
              <a:lnSpc>
                <a:spcPts val="2100"/>
              </a:lnSpc>
              <a:buNone/>
            </a:pPr>
            <a:r>
              <a:rPr lang="en-US" sz="1500" b="1" dirty="0">
                <a:solidFill>
                  <a:srgbClr val="97BC62"/>
                </a:solidFill>
                <a:latin typeface="Yu Gothic" pitchFamily="34" charset="0"/>
                <a:ea typeface="Yu Gothic" pitchFamily="34" charset="-122"/>
                <a:cs typeface="Yu Gothic" pitchFamily="34" charset="-120"/>
              </a:rPr>
              <a:t>設備投資を借金に頼らずに済む</a:t>
            </a:r>
            <a:endParaRPr lang="en-US" sz="1500" dirty="0"/>
          </a:p>
        </p:txBody>
      </p:sp>
      <p:sp>
        <p:nvSpPr>
          <p:cNvPr id="15" name="Text 13"/>
          <p:cNvSpPr txBox="1"/>
          <p:nvPr/>
        </p:nvSpPr>
        <p:spPr>
          <a:xfrm>
            <a:off x="5093208" y="4215384"/>
            <a:ext cx="6355080" cy="713232"/>
          </a:xfrm>
          <a:prstGeom prst="rect">
            <a:avLst/>
          </a:prstGeom>
          <a:noFill/>
          <a:ln/>
        </p:spPr>
        <p:txBody>
          <a:bodyPr wrap="square" lIns="0" tIns="0" rIns="0" bIns="0" rtlCol="0" anchor="t"/>
          <a:lstStyle/>
          <a:p>
            <a:pPr indent="0" marL="0">
              <a:lnSpc>
                <a:spcPts val="1600"/>
              </a:lnSpc>
              <a:buNone/>
            </a:pPr>
            <a:r>
              <a:rPr lang="en-US" sz="1150" dirty="0">
                <a:solidFill>
                  <a:srgbClr val="C6D6C2"/>
                </a:solidFill>
                <a:latin typeface="Yu Gothic" pitchFamily="34" charset="0"/>
                <a:ea typeface="Yu Gothic" pitchFamily="34" charset="-122"/>
                <a:cs typeface="Yu Gothic" pitchFamily="34" charset="-120"/>
              </a:rPr>
              <a:t>6次産業化の加工場は数千万円単位。米価下落で借入返済に苦しむ担い手農家が続出している局面で、自己資金を持てることは極めて大きい</a:t>
            </a:r>
            <a:endParaRPr lang="en-US" sz="1150" dirty="0"/>
          </a:p>
        </p:txBody>
      </p:sp>
      <p:sp>
        <p:nvSpPr>
          <p:cNvPr id="16" name="Shape 14"/>
          <p:cNvSpPr/>
          <p:nvPr/>
        </p:nvSpPr>
        <p:spPr>
          <a:xfrm>
            <a:off x="566928" y="5084064"/>
            <a:ext cx="11055096" cy="932688"/>
          </a:xfrm>
          <a:prstGeom prst="roundRect">
            <a:avLst>
              <a:gd name="adj" fmla="val 5882"/>
            </a:avLst>
          </a:prstGeom>
          <a:solidFill>
            <a:srgbClr val="1F3F20"/>
          </a:solidFill>
          <a:ln/>
        </p:spPr>
      </p:sp>
      <p:sp>
        <p:nvSpPr>
          <p:cNvPr id="17" name="Shape 15"/>
          <p:cNvSpPr/>
          <p:nvPr/>
        </p:nvSpPr>
        <p:spPr>
          <a:xfrm>
            <a:off x="822960" y="5349240"/>
            <a:ext cx="402336" cy="402336"/>
          </a:xfrm>
          <a:prstGeom prst="ellipse">
            <a:avLst/>
          </a:prstGeom>
          <a:solidFill>
            <a:srgbClr val="97BC62"/>
          </a:solidFill>
          <a:ln/>
        </p:spPr>
      </p:sp>
      <p:sp>
        <p:nvSpPr>
          <p:cNvPr id="18" name="Text 16"/>
          <p:cNvSpPr txBox="1"/>
          <p:nvPr/>
        </p:nvSpPr>
        <p:spPr>
          <a:xfrm>
            <a:off x="822960" y="5349240"/>
            <a:ext cx="402336" cy="402336"/>
          </a:xfrm>
          <a:prstGeom prst="rect">
            <a:avLst/>
          </a:prstGeom>
          <a:noFill/>
          <a:ln/>
        </p:spPr>
        <p:txBody>
          <a:bodyPr wrap="square" lIns="0" tIns="0" rIns="0" bIns="0" rtlCol="0" anchor="ctr"/>
          <a:lstStyle/>
          <a:p>
            <a:pPr algn="ctr" indent="0" marL="0">
              <a:buNone/>
            </a:pPr>
            <a:r>
              <a:rPr lang="en-US" sz="1500" b="1" dirty="0">
                <a:solidFill>
                  <a:srgbClr val="1A3A1B"/>
                </a:solidFill>
                <a:latin typeface="Cambria" pitchFamily="34" charset="0"/>
                <a:ea typeface="Cambria" pitchFamily="34" charset="-122"/>
                <a:cs typeface="Cambria" pitchFamily="34" charset="-120"/>
              </a:rPr>
              <a:t>3</a:t>
            </a:r>
            <a:endParaRPr lang="en-US" sz="1500" dirty="0"/>
          </a:p>
        </p:txBody>
      </p:sp>
      <p:sp>
        <p:nvSpPr>
          <p:cNvPr id="19" name="Text 17"/>
          <p:cNvSpPr txBox="1"/>
          <p:nvPr/>
        </p:nvSpPr>
        <p:spPr>
          <a:xfrm>
            <a:off x="1426464" y="5212080"/>
            <a:ext cx="3566160" cy="329184"/>
          </a:xfrm>
          <a:prstGeom prst="rect">
            <a:avLst/>
          </a:prstGeom>
          <a:noFill/>
          <a:ln/>
        </p:spPr>
        <p:txBody>
          <a:bodyPr wrap="square" lIns="0" tIns="0" rIns="0" bIns="0" rtlCol="0" anchor="t"/>
          <a:lstStyle/>
          <a:p>
            <a:pPr indent="0" marL="0">
              <a:lnSpc>
                <a:spcPts val="2100"/>
              </a:lnSpc>
              <a:buNone/>
            </a:pPr>
            <a:r>
              <a:rPr lang="en-US" sz="1500" b="1" dirty="0">
                <a:solidFill>
                  <a:srgbClr val="97BC62"/>
                </a:solidFill>
                <a:latin typeface="Yu Gothic" pitchFamily="34" charset="0"/>
                <a:ea typeface="Yu Gothic" pitchFamily="34" charset="-122"/>
                <a:cs typeface="Yu Gothic" pitchFamily="34" charset="-120"/>
              </a:rPr>
              <a:t>年収900万円を取り戻す必要がない</a:t>
            </a:r>
            <a:endParaRPr lang="en-US" sz="1500" dirty="0"/>
          </a:p>
        </p:txBody>
      </p:sp>
      <p:sp>
        <p:nvSpPr>
          <p:cNvPr id="20" name="Text 18"/>
          <p:cNvSpPr txBox="1"/>
          <p:nvPr/>
        </p:nvSpPr>
        <p:spPr>
          <a:xfrm>
            <a:off x="5093208" y="5202936"/>
            <a:ext cx="6355080" cy="713232"/>
          </a:xfrm>
          <a:prstGeom prst="rect">
            <a:avLst/>
          </a:prstGeom>
          <a:noFill/>
          <a:ln/>
        </p:spPr>
        <p:txBody>
          <a:bodyPr wrap="square" lIns="0" tIns="0" rIns="0" bIns="0" rtlCol="0" anchor="t"/>
          <a:lstStyle/>
          <a:p>
            <a:pPr indent="0" marL="0">
              <a:lnSpc>
                <a:spcPts val="1600"/>
              </a:lnSpc>
              <a:buNone/>
            </a:pPr>
            <a:r>
              <a:rPr lang="en-US" sz="1150" dirty="0">
                <a:solidFill>
                  <a:srgbClr val="C6D6C2"/>
                </a:solidFill>
                <a:latin typeface="Yu Gothic" pitchFamily="34" charset="0"/>
                <a:ea typeface="Yu Gothic" pitchFamily="34" charset="-122"/>
                <a:cs typeface="Yu Gothic" pitchFamily="34" charset="-120"/>
              </a:rPr>
              <a:t>資産が生活を支える間に、短期の収益を追わず、有機・ブランド化・6次産業化という時間のかかる正攻法を選べる</a:t>
            </a:r>
            <a:endParaRPr lang="en-US" sz="1150" dirty="0"/>
          </a:p>
        </p:txBody>
      </p:sp>
      <p:sp>
        <p:nvSpPr>
          <p:cNvPr id="21" name="Text 19"/>
          <p:cNvSpPr txBox="1"/>
          <p:nvPr/>
        </p:nvSpPr>
        <p:spPr>
          <a:xfrm>
            <a:off x="566928" y="6144768"/>
            <a:ext cx="11055096" cy="347472"/>
          </a:xfrm>
          <a:prstGeom prst="rect">
            <a:avLst/>
          </a:prstGeom>
          <a:noFill/>
          <a:ln/>
        </p:spPr>
        <p:txBody>
          <a:bodyPr wrap="square" lIns="0" tIns="0" rIns="0" bIns="0" rtlCol="0" anchor="ctr"/>
          <a:lstStyle/>
          <a:p>
            <a:pPr indent="0" marL="0">
              <a:buNone/>
            </a:pPr>
            <a:r>
              <a:rPr lang="en-US" sz="1200" i="1" dirty="0">
                <a:solidFill>
                  <a:srgbClr val="D8B3B3"/>
                </a:solidFill>
                <a:latin typeface="Yu Gothic" pitchFamily="34" charset="0"/>
                <a:ea typeface="Yu Gothic" pitchFamily="34" charset="-122"/>
                <a:cs typeface="Yu Gothic" pitchFamily="34" charset="-120"/>
              </a:rPr>
              <a:t>注意：法人の資金と個人資産を混ぜないこと。出資は出資、貸付は貸付として書面で分ける。既存借入への個人保証の有無も必ず確認する。</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OPTIONS</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働き方の3案 ― 世帯ベースの比較</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66928" y="1627632"/>
          <a:ext cx="11055096" cy="914400"/>
        </p:xfrm>
        <a:graphic>
          <a:graphicData uri="http://schemas.openxmlformats.org/drawingml/2006/table">
            <a:tbl>
              <a:tblPr/>
              <a:tblGrid>
                <a:gridCol w="2286000"/>
                <a:gridCol w="2926080"/>
                <a:gridCol w="2926080"/>
                <a:gridCol w="2916936"/>
              </a:tblGrid>
              <a:tr h="384048">
                <a:tc>
                  <a:txBody>
                    <a:bodyPr/>
                    <a:lstStyle/>
                    <a:p>
                      <a:pPr algn="l" indent="0" marL="0">
                        <a:buNone/>
                      </a:pP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82A"/>
                          </a:solidFill>
                          <a:latin typeface="Yu Gothic" pitchFamily="34" charset="0"/>
                          <a:ea typeface="Yu Gothic" pitchFamily="34" charset="-122"/>
                          <a:cs typeface="Yu Gothic" pitchFamily="34" charset="-120"/>
                        </a:rPr>
                        <a:t>案A</a:t>
                      </a:r>
                      <a:endParaRPr lang="en-US" sz="1200" dirty="0">
                        <a:latin typeface="Yu Gothic" charset="0"/>
                        <a:ea typeface="Yu Gothic" charset="0"/>
                        <a:cs typeface="Yu Gothic" charset="0"/>
                      </a:endParaRPr>
                    </a:p>
                    <a:p>
                      <a:pPr algn="ctr" indent="0" marL="0">
                        <a:buNone/>
                      </a:pPr>
                      <a:r>
                        <a:rPr lang="en-US" sz="1200" b="1" dirty="0">
                          <a:solidFill>
                            <a:srgbClr val="22282A"/>
                          </a:solidFill>
                          <a:latin typeface="Yu Gothic" pitchFamily="34" charset="0"/>
                          <a:ea typeface="Yu Gothic" pitchFamily="34" charset="-122"/>
                          <a:cs typeface="Yu Gothic" pitchFamily="34" charset="-120"/>
                        </a:rPr>
                        <a:t>二人とも正規教員</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9EDE7"/>
                    </a:solidFill>
                  </a:tcPr>
                </a:tc>
                <a:tc>
                  <a:txBody>
                    <a:bodyPr/>
                    <a:lstStyle/>
                    <a:p>
                      <a:pPr algn="ctr" indent="0" marL="0">
                        <a:buNone/>
                      </a:pPr>
                      <a:r>
                        <a:rPr lang="en-US" sz="1200" b="1" dirty="0">
                          <a:solidFill>
                            <a:srgbClr val="22282A"/>
                          </a:solidFill>
                          <a:latin typeface="Yu Gothic" pitchFamily="34" charset="0"/>
                          <a:ea typeface="Yu Gothic" pitchFamily="34" charset="-122"/>
                          <a:cs typeface="Yu Gothic" pitchFamily="34" charset="-120"/>
                        </a:rPr>
                        <a:t>案B</a:t>
                      </a:r>
                      <a:endParaRPr lang="en-US" sz="1200" dirty="0">
                        <a:latin typeface="Yu Gothic" charset="0"/>
                        <a:ea typeface="Yu Gothic" charset="0"/>
                        <a:cs typeface="Yu Gothic" charset="0"/>
                      </a:endParaRPr>
                    </a:p>
                    <a:p>
                      <a:pPr algn="ctr" indent="0" marL="0">
                        <a:buNone/>
                      </a:pPr>
                      <a:r>
                        <a:rPr lang="en-US" sz="1200" b="1" dirty="0">
                          <a:solidFill>
                            <a:srgbClr val="22282A"/>
                          </a:solidFill>
                          <a:latin typeface="Yu Gothic" pitchFamily="34" charset="0"/>
                          <a:ea typeface="Yu Gothic" pitchFamily="34" charset="-122"/>
                          <a:cs typeface="Yu Gothic" pitchFamily="34" charset="-120"/>
                        </a:rPr>
                        <a:t>二人とも非常勤＋農業</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9EDE7"/>
                    </a:solidFill>
                  </a:tcPr>
                </a:tc>
                <a:tc>
                  <a:txBody>
                    <a:bodyPr/>
                    <a:lstStyle/>
                    <a:p>
                      <a:pPr algn="ctr" indent="0" marL="0">
                        <a:buNone/>
                      </a:pPr>
                      <a:r>
                        <a:rPr lang="en-US" sz="1200" b="1" dirty="0">
                          <a:solidFill>
                            <a:srgbClr val="FFFFFF"/>
                          </a:solidFill>
                          <a:latin typeface="Yu Gothic" pitchFamily="34" charset="0"/>
                          <a:ea typeface="Yu Gothic" pitchFamily="34" charset="-122"/>
                          <a:cs typeface="Yu Gothic" pitchFamily="34" charset="-120"/>
                        </a:rPr>
                        <a:t>案C（推奨）</a:t>
                      </a:r>
                      <a:endParaRPr lang="en-US" sz="1200" dirty="0">
                        <a:latin typeface="Yu Gothic" charset="0"/>
                        <a:ea typeface="Yu Gothic" charset="0"/>
                        <a:cs typeface="Yu Gothic" charset="0"/>
                      </a:endParaRPr>
                    </a:p>
                    <a:p>
                      <a:pPr algn="ctr" indent="0" marL="0">
                        <a:buNone/>
                      </a:pPr>
                      <a:r>
                        <a:rPr lang="en-US" sz="1200" b="1" dirty="0">
                          <a:solidFill>
                            <a:srgbClr val="FFFFFF"/>
                          </a:solidFill>
                          <a:latin typeface="Yu Gothic" pitchFamily="34" charset="0"/>
                          <a:ea typeface="Yu Gothic" pitchFamily="34" charset="-122"/>
                          <a:cs typeface="Yu Gothic" pitchFamily="34" charset="-120"/>
                        </a:rPr>
                        <a:t>配偶者=正規／次男=非常勤</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2C5F2D"/>
                    </a:solidFill>
                  </a:tcPr>
                </a:tc>
              </a:tr>
              <a:tr h="384048">
                <a:tc>
                  <a:txBody>
                    <a:bodyPr/>
                    <a:lstStyle/>
                    <a:p>
                      <a:pPr algn="l" indent="0" marL="0">
                        <a:buNone/>
                      </a:pPr>
                      <a:r>
                        <a:rPr lang="en-US" sz="1200" b="1" dirty="0">
                          <a:solidFill>
                            <a:srgbClr val="22282A"/>
                          </a:solidFill>
                          <a:latin typeface="Yu Gothic" pitchFamily="34" charset="0"/>
                          <a:ea typeface="Yu Gothic" pitchFamily="34" charset="-122"/>
                          <a:cs typeface="Yu Gothic" pitchFamily="34" charset="-120"/>
                        </a:rPr>
                        <a:t>次男の収入</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5F7F2"/>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730〜780万円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250〜300万円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250〜300万円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AF1E6"/>
                    </a:solidFill>
                  </a:tcPr>
                </a:tc>
              </a:tr>
              <a:tr h="384048">
                <a:tc>
                  <a:txBody>
                    <a:bodyPr/>
                    <a:lstStyle/>
                    <a:p>
                      <a:pPr algn="l" indent="0" marL="0">
                        <a:buNone/>
                      </a:pPr>
                      <a:r>
                        <a:rPr lang="en-US" sz="1200" b="1" dirty="0">
                          <a:solidFill>
                            <a:srgbClr val="22282A"/>
                          </a:solidFill>
                          <a:latin typeface="Yu Gothic" pitchFamily="34" charset="0"/>
                          <a:ea typeface="Yu Gothic" pitchFamily="34" charset="-122"/>
                          <a:cs typeface="Yu Gothic" pitchFamily="34" charset="-120"/>
                        </a:rPr>
                        <a:t>配偶者の収入</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5F7F2"/>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650〜700万円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250〜300万円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650〜700万円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AF1E6"/>
                    </a:solidFill>
                  </a:tcPr>
                </a:tc>
              </a:tr>
              <a:tr h="384048">
                <a:tc>
                  <a:txBody>
                    <a:bodyPr/>
                    <a:lstStyle/>
                    <a:p>
                      <a:pPr algn="l" indent="0" marL="0">
                        <a:buNone/>
                      </a:pPr>
                      <a:r>
                        <a:rPr lang="en-US" sz="1200" b="1" dirty="0">
                          <a:solidFill>
                            <a:srgbClr val="22282A"/>
                          </a:solidFill>
                          <a:latin typeface="Yu Gothic" pitchFamily="34" charset="0"/>
                          <a:ea typeface="Yu Gothic" pitchFamily="34" charset="-122"/>
                          <a:cs typeface="Yu Gothic" pitchFamily="34" charset="-120"/>
                        </a:rPr>
                        <a:t>経営開始資金</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5F7F2"/>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対象外の可能性大</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150万円×3年</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150万円×3年</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AF1E6"/>
                    </a:solidFill>
                  </a:tcPr>
                </a:tc>
              </a:tr>
              <a:tr h="384048">
                <a:tc>
                  <a:txBody>
                    <a:bodyPr/>
                    <a:lstStyle/>
                    <a:p>
                      <a:pPr algn="l" indent="0" marL="0">
                        <a:buNone/>
                      </a:pPr>
                      <a:r>
                        <a:rPr lang="en-US" sz="1200" b="1" dirty="0">
                          <a:solidFill>
                            <a:srgbClr val="22282A"/>
                          </a:solidFill>
                          <a:latin typeface="Yu Gothic" pitchFamily="34" charset="0"/>
                          <a:ea typeface="Yu Gothic" pitchFamily="34" charset="-122"/>
                          <a:cs typeface="Yu Gothic" pitchFamily="34" charset="-120"/>
                        </a:rPr>
                        <a:t>農業所得</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5F7F2"/>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無報酬の手伝いのみ</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100〜300万円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100〜200万円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AF1E6"/>
                    </a:solidFill>
                  </a:tcPr>
                </a:tc>
              </a:tr>
              <a:tr h="384048">
                <a:tc>
                  <a:txBody>
                    <a:bodyPr/>
                    <a:lstStyle/>
                    <a:p>
                      <a:pPr algn="l" indent="0" marL="0">
                        <a:buNone/>
                      </a:pPr>
                      <a:r>
                        <a:rPr lang="en-US" sz="1200" b="1" dirty="0">
                          <a:solidFill>
                            <a:srgbClr val="22282A"/>
                          </a:solidFill>
                          <a:latin typeface="Yu Gothic" pitchFamily="34" charset="0"/>
                          <a:ea typeface="Yu Gothic" pitchFamily="34" charset="-122"/>
                          <a:cs typeface="Yu Gothic" pitchFamily="34" charset="-120"/>
                        </a:rPr>
                        <a:t>世帯合計</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5F7F2"/>
                    </a:solidFill>
                  </a:tcPr>
                </a:tc>
                <a:tc>
                  <a:txBody>
                    <a:bodyPr/>
                    <a:lstStyle/>
                    <a:p>
                      <a:pPr algn="ctr" indent="0" marL="0">
                        <a:buNone/>
                      </a:pPr>
                      <a:r>
                        <a:rPr lang="en-US" sz="1200" b="1" dirty="0">
                          <a:solidFill>
                            <a:srgbClr val="22282A"/>
                          </a:solidFill>
                          <a:latin typeface="Yu Gothic" pitchFamily="34" charset="0"/>
                          <a:ea typeface="Yu Gothic" pitchFamily="34" charset="-122"/>
                          <a:cs typeface="Yu Gothic" pitchFamily="34" charset="-120"/>
                        </a:rPr>
                        <a:t>1,380〜1,480万円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82A"/>
                          </a:solidFill>
                          <a:latin typeface="Yu Gothic" pitchFamily="34" charset="0"/>
                          <a:ea typeface="Yu Gothic" pitchFamily="34" charset="-122"/>
                          <a:cs typeface="Yu Gothic" pitchFamily="34" charset="-120"/>
                        </a:rPr>
                        <a:t>750〜1,050万円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2282A"/>
                          </a:solidFill>
                          <a:latin typeface="Yu Gothic" pitchFamily="34" charset="0"/>
                          <a:ea typeface="Yu Gothic" pitchFamily="34" charset="-122"/>
                          <a:cs typeface="Yu Gothic" pitchFamily="34" charset="-120"/>
                        </a:rPr>
                        <a:t>1,150〜1,350万円</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AF1E6"/>
                    </a:solidFill>
                  </a:tcPr>
                </a:tc>
              </a:tr>
              <a:tr h="384048">
                <a:tc>
                  <a:txBody>
                    <a:bodyPr/>
                    <a:lstStyle/>
                    <a:p>
                      <a:pPr algn="l" indent="0" marL="0">
                        <a:buNone/>
                      </a:pPr>
                      <a:r>
                        <a:rPr lang="en-US" sz="1200" b="1" dirty="0">
                          <a:solidFill>
                            <a:srgbClr val="22282A"/>
                          </a:solidFill>
                          <a:latin typeface="Yu Gothic" pitchFamily="34" charset="0"/>
                          <a:ea typeface="Yu Gothic" pitchFamily="34" charset="-122"/>
                          <a:cs typeface="Yu Gothic" pitchFamily="34" charset="-120"/>
                        </a:rPr>
                        <a:t>理事就任＝承継</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5F7F2"/>
                    </a:solidFill>
                  </a:tcPr>
                </a:tc>
                <a:tc>
                  <a:txBody>
                    <a:bodyPr/>
                    <a:lstStyle/>
                    <a:p>
                      <a:pPr algn="ctr" indent="0" marL="0">
                        <a:buNone/>
                      </a:pPr>
                      <a:r>
                        <a:rPr lang="en-US" sz="1200" b="1" dirty="0">
                          <a:solidFill>
                            <a:srgbClr val="A32E2E"/>
                          </a:solidFill>
                          <a:latin typeface="Yu Gothic" pitchFamily="34" charset="0"/>
                          <a:ea typeface="Yu Gothic" pitchFamily="34" charset="-122"/>
                          <a:cs typeface="Yu Gothic" pitchFamily="34" charset="-120"/>
                        </a:rPr>
                        <a:t>✗ できない</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Yu Gothic" pitchFamily="34" charset="0"/>
                          <a:ea typeface="Yu Gothic" pitchFamily="34" charset="-122"/>
                          <a:cs typeface="Yu Gothic" pitchFamily="34" charset="-120"/>
                        </a:rPr>
                        <a:t>○ できる</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2C5F2D"/>
                          </a:solidFill>
                          <a:latin typeface="Yu Gothic" pitchFamily="34" charset="0"/>
                          <a:ea typeface="Yu Gothic" pitchFamily="34" charset="-122"/>
                          <a:cs typeface="Yu Gothic" pitchFamily="34" charset="-120"/>
                        </a:rPr>
                        <a:t>○ できる</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AF1E6"/>
                    </a:solidFill>
                  </a:tcPr>
                </a:tc>
              </a:tr>
              <a:tr h="384048">
                <a:tc>
                  <a:txBody>
                    <a:bodyPr/>
                    <a:lstStyle/>
                    <a:p>
                      <a:pPr algn="l" indent="0" marL="0">
                        <a:buNone/>
                      </a:pPr>
                      <a:r>
                        <a:rPr lang="en-US" sz="1200" b="1" dirty="0">
                          <a:solidFill>
                            <a:srgbClr val="22282A"/>
                          </a:solidFill>
                          <a:latin typeface="Yu Gothic" pitchFamily="34" charset="0"/>
                          <a:ea typeface="Yu Gothic" pitchFamily="34" charset="-122"/>
                          <a:cs typeface="Yu Gothic" pitchFamily="34" charset="-120"/>
                        </a:rPr>
                        <a:t>社会保険・退職手当</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5F7F2"/>
                    </a:solidFill>
                  </a:tcPr>
                </a:tc>
                <a:tc>
                  <a:txBody>
                    <a:bodyPr/>
                    <a:lstStyle/>
                    <a:p>
                      <a:pPr algn="ctr" indent="0" marL="0">
                        <a:buNone/>
                      </a:pPr>
                      <a:r>
                        <a:rPr lang="en-US" sz="1200" dirty="0">
                          <a:solidFill>
                            <a:srgbClr val="2C5F2D"/>
                          </a:solidFill>
                          <a:latin typeface="Yu Gothic" pitchFamily="34" charset="0"/>
                          <a:ea typeface="Yu Gothic" pitchFamily="34" charset="-122"/>
                          <a:cs typeface="Yu Gothic" pitchFamily="34" charset="-120"/>
                        </a:rPr>
                        <a:t>◎ 二人とも万全</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 条件次第</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C5F2D"/>
                          </a:solidFill>
                          <a:latin typeface="Yu Gothic" pitchFamily="34" charset="0"/>
                          <a:ea typeface="Yu Gothic" pitchFamily="34" charset="-122"/>
                          <a:cs typeface="Yu Gothic" pitchFamily="34" charset="-120"/>
                        </a:rPr>
                        <a:t>○ 配偶者側が土台</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AF1E6"/>
                    </a:solidFill>
                  </a:tcPr>
                </a:tc>
              </a:tr>
              <a:tr h="384048">
                <a:tc>
                  <a:txBody>
                    <a:bodyPr/>
                    <a:lstStyle/>
                    <a:p>
                      <a:pPr algn="l" indent="0" marL="0">
                        <a:buNone/>
                      </a:pPr>
                      <a:r>
                        <a:rPr lang="en-US" sz="1200" b="1" dirty="0">
                          <a:solidFill>
                            <a:srgbClr val="22282A"/>
                          </a:solidFill>
                          <a:latin typeface="Yu Gothic" pitchFamily="34" charset="0"/>
                          <a:ea typeface="Yu Gothic" pitchFamily="34" charset="-122"/>
                          <a:cs typeface="Yu Gothic" pitchFamily="34" charset="-120"/>
                        </a:rPr>
                        <a:t>農業に使える時間</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5F7F2"/>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週末・長期休暇のみ</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週4〜5日×2人</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週4日</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AF1E6"/>
                    </a:solidFill>
                  </a:tcPr>
                </a:tc>
              </a:tr>
              <a:tr h="384048">
                <a:tc>
                  <a:txBody>
                    <a:bodyPr/>
                    <a:lstStyle/>
                    <a:p>
                      <a:pPr algn="l" indent="0" marL="0">
                        <a:buNone/>
                      </a:pPr>
                      <a:r>
                        <a:rPr lang="en-US" sz="1200" b="1" dirty="0">
                          <a:solidFill>
                            <a:srgbClr val="22282A"/>
                          </a:solidFill>
                          <a:latin typeface="Yu Gothic" pitchFamily="34" charset="0"/>
                          <a:ea typeface="Yu Gothic" pitchFamily="34" charset="-122"/>
                          <a:cs typeface="Yu Gothic" pitchFamily="34" charset="-120"/>
                        </a:rPr>
                        <a:t>リスク</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5F7F2"/>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承継が実現しない</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収入が大きく落ちる</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22282A"/>
                          </a:solidFill>
                          <a:latin typeface="Yu Gothic" pitchFamily="34" charset="0"/>
                          <a:ea typeface="Yu Gothic" pitchFamily="34" charset="-122"/>
                          <a:cs typeface="Yu Gothic" pitchFamily="34" charset="-120"/>
                        </a:rPr>
                        <a:t>バランスが取れる</a:t>
                      </a:r>
                      <a:endParaRPr lang="en-US" sz="1200" dirty="0">
                        <a:latin typeface="Yu Gothic" charset="0"/>
                        <a:ea typeface="Yu Gothic" charset="0"/>
                        <a:cs typeface="Yu Gothic" charset="0"/>
                      </a:endParaRPr>
                    </a:p>
                  </a:txBody>
                  <a:tcPr marL="76200" marR="76200" marT="76200" marB="76200" anchor="ctr">
                    <a:lnL w="12700" cap="flat" cmpd="sng" algn="ctr">
                      <a:solidFill>
                        <a:srgbClr val="D6DCD4"/>
                      </a:solidFill>
                      <a:prstDash val="solid"/>
                      <a:round/>
                      <a:headEnd type="none" w="med" len="med"/>
                      <a:tailEnd type="none" w="med" len="med"/>
                    </a:lnL>
                    <a:lnR w="12700" cap="flat" cmpd="sng" algn="ctr">
                      <a:solidFill>
                        <a:srgbClr val="D6DCD4"/>
                      </a:solidFill>
                      <a:prstDash val="solid"/>
                      <a:round/>
                      <a:headEnd type="none" w="med" len="med"/>
                      <a:tailEnd type="none" w="med" len="med"/>
                    </a:lnR>
                    <a:lnT w="12700" cap="flat" cmpd="sng" algn="ctr">
                      <a:solidFill>
                        <a:srgbClr val="D6DCD4"/>
                      </a:solidFill>
                      <a:prstDash val="solid"/>
                      <a:round/>
                      <a:headEnd type="none" w="med" len="med"/>
                      <a:tailEnd type="none" w="med" len="med"/>
                    </a:lnT>
                    <a:lnB w="12700" cap="flat" cmpd="sng" algn="ctr">
                      <a:solidFill>
                        <a:srgbClr val="D6DCD4"/>
                      </a:solidFill>
                      <a:prstDash val="solid"/>
                      <a:round/>
                      <a:headEnd type="none" w="med" len="med"/>
                      <a:tailEnd type="none" w="med" len="med"/>
                    </a:lnB>
                    <a:solidFill>
                      <a:srgbClr val="EAF1E6"/>
                    </a:solidFill>
                  </a:tcPr>
                </a:tc>
              </a:tr>
            </a:tbl>
          </a:graphicData>
        </a:graphic>
      </p:graphicFrame>
      <p:sp>
        <p:nvSpPr>
          <p:cNvPr id="5" name="Text 2"/>
          <p:cNvSpPr txBox="1"/>
          <p:nvPr/>
        </p:nvSpPr>
        <p:spPr>
          <a:xfrm>
            <a:off x="566928" y="6053328"/>
            <a:ext cx="11055096" cy="347472"/>
          </a:xfrm>
          <a:prstGeom prst="rect">
            <a:avLst/>
          </a:prstGeom>
          <a:noFill/>
          <a:ln/>
        </p:spPr>
        <p:txBody>
          <a:bodyPr wrap="square" lIns="0" tIns="0" rIns="0" bIns="0" rtlCol="0" anchor="ctr"/>
          <a:lstStyle/>
          <a:p>
            <a:pPr indent="0" marL="0">
              <a:buNone/>
            </a:pPr>
            <a:r>
              <a:rPr lang="en-US" sz="1300" i="1" dirty="0">
                <a:solidFill>
                  <a:srgbClr val="2C5F2D"/>
                </a:solidFill>
                <a:latin typeface="Yu Gothic" pitchFamily="34" charset="0"/>
                <a:ea typeface="Yu Gothic" pitchFamily="34" charset="-122"/>
                <a:cs typeface="Yu Gothic" pitchFamily="34" charset="-120"/>
              </a:rPr>
              <a:t>※ お兄様が主体で次男が手伝うだけなら、理事にならないので案Aの欠陥が消える＝案D（次々ページ）が成立する。</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OPTION D</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お兄様が主体で、週末だけ手伝う場合</a:t>
            </a:r>
            <a:endParaRPr lang="en-US" sz="3200" dirty="0"/>
          </a:p>
        </p:txBody>
      </p:sp>
      <p:sp>
        <p:nvSpPr>
          <p:cNvPr id="4" name="Shape 2"/>
          <p:cNvSpPr/>
          <p:nvPr/>
        </p:nvSpPr>
        <p:spPr>
          <a:xfrm>
            <a:off x="566928" y="1572768"/>
            <a:ext cx="11055096" cy="960120"/>
          </a:xfrm>
          <a:prstGeom prst="roundRect">
            <a:avLst>
              <a:gd name="adj" fmla="val 7619"/>
            </a:avLst>
          </a:prstGeom>
          <a:solidFill>
            <a:srgbClr val="2C5F2D"/>
          </a:solidFill>
          <a:ln/>
          <a:effectLst>
            <a:outerShdw sx="100000" sy="100000" kx="0" ky="0" algn="bl" rotWithShape="0" blurRad="101600" dist="25400" dir="5400000">
              <a:srgbClr val="000000">
                <a:alpha val="12000"/>
              </a:srgbClr>
            </a:outerShdw>
          </a:effectLst>
        </p:spPr>
      </p:sp>
      <p:sp>
        <p:nvSpPr>
          <p:cNvPr id="5" name="Text 3"/>
          <p:cNvSpPr txBox="1"/>
          <p:nvPr/>
        </p:nvSpPr>
        <p:spPr>
          <a:xfrm>
            <a:off x="932688" y="1572768"/>
            <a:ext cx="10323576" cy="960120"/>
          </a:xfrm>
          <a:prstGeom prst="rect">
            <a:avLst/>
          </a:prstGeom>
          <a:noFill/>
          <a:ln/>
        </p:spPr>
        <p:txBody>
          <a:bodyPr wrap="square" lIns="0" tIns="0" rIns="0" bIns="0" rtlCol="0" anchor="ctr"/>
          <a:lstStyle/>
          <a:p>
            <a:pPr indent="0" marL="0">
              <a:buNone/>
            </a:pPr>
            <a:r>
              <a:rPr lang="en-US" sz="2200" b="1" dirty="0">
                <a:solidFill>
                  <a:srgbClr val="FFFFFF"/>
                </a:solidFill>
                <a:latin typeface="Yu Gothic" pitchFamily="34" charset="0"/>
                <a:ea typeface="Yu Gothic" pitchFamily="34" charset="-122"/>
                <a:cs typeface="Yu Gothic" pitchFamily="34" charset="-120"/>
              </a:rPr>
              <a:t>無報酬で手伝う限り、副業（兼業）になりません。許可も不要です。</a:t>
            </a:r>
            <a:endParaRPr lang="en-US" sz="2200" dirty="0"/>
          </a:p>
        </p:txBody>
      </p:sp>
      <p:sp>
        <p:nvSpPr>
          <p:cNvPr id="6" name="Text 4"/>
          <p:cNvSpPr txBox="1"/>
          <p:nvPr/>
        </p:nvSpPr>
        <p:spPr>
          <a:xfrm>
            <a:off x="566928" y="2697480"/>
            <a:ext cx="5486400" cy="329184"/>
          </a:xfrm>
          <a:prstGeom prst="rect">
            <a:avLst/>
          </a:prstGeom>
          <a:noFill/>
          <a:ln/>
        </p:spPr>
        <p:txBody>
          <a:bodyPr wrap="square" lIns="0" tIns="0" rIns="0" bIns="0" rtlCol="0" anchor="t"/>
          <a:lstStyle/>
          <a:p>
            <a:pPr indent="0" marL="0">
              <a:lnSpc>
                <a:spcPts val="2100"/>
              </a:lnSpc>
              <a:buNone/>
            </a:pPr>
            <a:r>
              <a:rPr lang="en-US" sz="1700" b="1" dirty="0">
                <a:solidFill>
                  <a:srgbClr val="22282A"/>
                </a:solidFill>
                <a:latin typeface="Cambria" pitchFamily="34" charset="0"/>
                <a:ea typeface="Cambria" pitchFamily="34" charset="-122"/>
                <a:cs typeface="Cambria" pitchFamily="34" charset="-120"/>
              </a:rPr>
              <a:t>守るべき三つの線</a:t>
            </a:r>
            <a:endParaRPr lang="en-US" sz="1700" dirty="0"/>
          </a:p>
        </p:txBody>
      </p:sp>
      <p:sp>
        <p:nvSpPr>
          <p:cNvPr id="7" name="Shape 5"/>
          <p:cNvSpPr/>
          <p:nvPr/>
        </p:nvSpPr>
        <p:spPr>
          <a:xfrm>
            <a:off x="566928" y="3127248"/>
            <a:ext cx="11055096" cy="804672"/>
          </a:xfrm>
          <a:prstGeom prst="roundRect">
            <a:avLst>
              <a:gd name="adj" fmla="val 9091"/>
            </a:avLst>
          </a:prstGeom>
          <a:solidFill>
            <a:srgbClr val="F5F7F2"/>
          </a:solidFill>
          <a:ln/>
          <a:effectLst>
            <a:outerShdw sx="100000" sy="100000" kx="0" ky="0" algn="bl" rotWithShape="0" blurRad="101600" dist="25400" dir="5400000">
              <a:srgbClr val="000000">
                <a:alpha val="12000"/>
              </a:srgbClr>
            </a:outerShdw>
          </a:effectLst>
        </p:spPr>
      </p:sp>
      <p:sp>
        <p:nvSpPr>
          <p:cNvPr id="8" name="Shape 6"/>
          <p:cNvSpPr/>
          <p:nvPr/>
        </p:nvSpPr>
        <p:spPr>
          <a:xfrm>
            <a:off x="804672" y="3328416"/>
            <a:ext cx="402336" cy="402336"/>
          </a:xfrm>
          <a:prstGeom prst="ellipse">
            <a:avLst/>
          </a:prstGeom>
          <a:solidFill>
            <a:srgbClr val="2C5F2D"/>
          </a:solidFill>
          <a:ln/>
        </p:spPr>
      </p:sp>
      <p:sp>
        <p:nvSpPr>
          <p:cNvPr id="9" name="Text 7"/>
          <p:cNvSpPr txBox="1"/>
          <p:nvPr/>
        </p:nvSpPr>
        <p:spPr>
          <a:xfrm>
            <a:off x="804672" y="332841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0" name="Text 8"/>
          <p:cNvSpPr txBox="1"/>
          <p:nvPr/>
        </p:nvSpPr>
        <p:spPr>
          <a:xfrm>
            <a:off x="1408176" y="3236976"/>
            <a:ext cx="3017520" cy="310896"/>
          </a:xfrm>
          <a:prstGeom prst="rect">
            <a:avLst/>
          </a:prstGeom>
          <a:noFill/>
          <a:ln/>
        </p:spPr>
        <p:txBody>
          <a:bodyPr wrap="square" lIns="0" tIns="0" rIns="0" bIns="0" rtlCol="0" anchor="t"/>
          <a:lstStyle/>
          <a:p>
            <a:pPr indent="0" marL="0">
              <a:lnSpc>
                <a:spcPts val="2100"/>
              </a:lnSpc>
              <a:buNone/>
            </a:pPr>
            <a:r>
              <a:rPr lang="en-US" sz="1400" b="1" dirty="0">
                <a:solidFill>
                  <a:srgbClr val="2C5F2D"/>
                </a:solidFill>
                <a:latin typeface="Yu Gothic" pitchFamily="34" charset="0"/>
                <a:ea typeface="Yu Gothic" pitchFamily="34" charset="-122"/>
                <a:cs typeface="Yu Gothic" pitchFamily="34" charset="-120"/>
              </a:rPr>
              <a:t>報酬を受け取らない</a:t>
            </a:r>
            <a:endParaRPr lang="en-US" sz="1400" dirty="0"/>
          </a:p>
        </p:txBody>
      </p:sp>
      <p:sp>
        <p:nvSpPr>
          <p:cNvPr id="11" name="Text 9"/>
          <p:cNvSpPr txBox="1"/>
          <p:nvPr/>
        </p:nvSpPr>
        <p:spPr>
          <a:xfrm>
            <a:off x="1408176" y="3547872"/>
            <a:ext cx="10058400" cy="329184"/>
          </a:xfrm>
          <a:prstGeom prst="rect">
            <a:avLst/>
          </a:prstGeom>
          <a:noFill/>
          <a:ln/>
        </p:spPr>
        <p:txBody>
          <a:bodyPr wrap="square" lIns="0" tIns="0" rIns="0" bIns="0" rtlCol="0" anchor="t"/>
          <a:lstStyle/>
          <a:p>
            <a:pPr indent="0" marL="0">
              <a:lnSpc>
                <a:spcPts val="1500"/>
              </a:lnSpc>
              <a:buNone/>
            </a:pPr>
            <a:r>
              <a:rPr lang="en-US" sz="1100" dirty="0">
                <a:solidFill>
                  <a:srgbClr val="22282A"/>
                </a:solidFill>
                <a:latin typeface="Yu Gothic" pitchFamily="34" charset="0"/>
                <a:ea typeface="Yu Gothic" pitchFamily="34" charset="-122"/>
                <a:cs typeface="Yu Gothic" pitchFamily="34" charset="-120"/>
              </a:rPr>
              <a:t>地方公務員法38条は「報酬を得て事業又は事務に従事すること」を許可制としている。実家の手伝いでも報酬をもらえば違反。有償の援農も同じ</a:t>
            </a:r>
            <a:endParaRPr lang="en-US" sz="1100" dirty="0"/>
          </a:p>
        </p:txBody>
      </p:sp>
      <p:sp>
        <p:nvSpPr>
          <p:cNvPr id="12" name="Shape 10"/>
          <p:cNvSpPr/>
          <p:nvPr/>
        </p:nvSpPr>
        <p:spPr>
          <a:xfrm>
            <a:off x="566928" y="4005072"/>
            <a:ext cx="11055096" cy="804672"/>
          </a:xfrm>
          <a:prstGeom prst="roundRect">
            <a:avLst>
              <a:gd name="adj" fmla="val 9091"/>
            </a:avLst>
          </a:prstGeom>
          <a:solidFill>
            <a:srgbClr val="F5F7F2"/>
          </a:solidFill>
          <a:ln/>
          <a:effectLst>
            <a:outerShdw sx="100000" sy="100000" kx="0" ky="0" algn="bl" rotWithShape="0" blurRad="101600" dist="25400" dir="5400000">
              <a:srgbClr val="000000">
                <a:alpha val="12000"/>
              </a:srgbClr>
            </a:outerShdw>
          </a:effectLst>
        </p:spPr>
      </p:sp>
      <p:sp>
        <p:nvSpPr>
          <p:cNvPr id="13" name="Shape 11"/>
          <p:cNvSpPr/>
          <p:nvPr/>
        </p:nvSpPr>
        <p:spPr>
          <a:xfrm>
            <a:off x="804672" y="4206240"/>
            <a:ext cx="402336" cy="402336"/>
          </a:xfrm>
          <a:prstGeom prst="ellipse">
            <a:avLst/>
          </a:prstGeom>
          <a:solidFill>
            <a:srgbClr val="2C5F2D"/>
          </a:solidFill>
          <a:ln/>
        </p:spPr>
      </p:sp>
      <p:sp>
        <p:nvSpPr>
          <p:cNvPr id="14" name="Text 12"/>
          <p:cNvSpPr txBox="1"/>
          <p:nvPr/>
        </p:nvSpPr>
        <p:spPr>
          <a:xfrm>
            <a:off x="804672" y="42062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5" name="Text 13"/>
          <p:cNvSpPr txBox="1"/>
          <p:nvPr/>
        </p:nvSpPr>
        <p:spPr>
          <a:xfrm>
            <a:off x="1408176" y="4114800"/>
            <a:ext cx="3017520" cy="310896"/>
          </a:xfrm>
          <a:prstGeom prst="rect">
            <a:avLst/>
          </a:prstGeom>
          <a:noFill/>
          <a:ln/>
        </p:spPr>
        <p:txBody>
          <a:bodyPr wrap="square" lIns="0" tIns="0" rIns="0" bIns="0" rtlCol="0" anchor="t"/>
          <a:lstStyle/>
          <a:p>
            <a:pPr indent="0" marL="0">
              <a:lnSpc>
                <a:spcPts val="2100"/>
              </a:lnSpc>
              <a:buNone/>
            </a:pPr>
            <a:r>
              <a:rPr lang="en-US" sz="1400" b="1" dirty="0">
                <a:solidFill>
                  <a:srgbClr val="2C5F2D"/>
                </a:solidFill>
                <a:latin typeface="Yu Gothic" pitchFamily="34" charset="0"/>
                <a:ea typeface="Yu Gothic" pitchFamily="34" charset="-122"/>
                <a:cs typeface="Yu Gothic" pitchFamily="34" charset="-120"/>
              </a:rPr>
              <a:t>組合員・理事にならない</a:t>
            </a:r>
            <a:endParaRPr lang="en-US" sz="1400" dirty="0"/>
          </a:p>
        </p:txBody>
      </p:sp>
      <p:sp>
        <p:nvSpPr>
          <p:cNvPr id="16" name="Text 14"/>
          <p:cNvSpPr txBox="1"/>
          <p:nvPr/>
        </p:nvSpPr>
        <p:spPr>
          <a:xfrm>
            <a:off x="1408176" y="4425696"/>
            <a:ext cx="10058400" cy="329184"/>
          </a:xfrm>
          <a:prstGeom prst="rect">
            <a:avLst/>
          </a:prstGeom>
          <a:noFill/>
          <a:ln/>
        </p:spPr>
        <p:txBody>
          <a:bodyPr wrap="square" lIns="0" tIns="0" rIns="0" bIns="0" rtlCol="0" anchor="t"/>
          <a:lstStyle/>
          <a:p>
            <a:pPr indent="0" marL="0">
              <a:lnSpc>
                <a:spcPts val="1500"/>
              </a:lnSpc>
              <a:buNone/>
            </a:pPr>
            <a:r>
              <a:rPr lang="en-US" sz="1100" dirty="0">
                <a:solidFill>
                  <a:srgbClr val="22282A"/>
                </a:solidFill>
                <a:latin typeface="Yu Gothic" pitchFamily="34" charset="0"/>
                <a:ea typeface="Yu Gothic" pitchFamily="34" charset="-122"/>
                <a:cs typeface="Yu Gothic" pitchFamily="34" charset="-120"/>
              </a:rPr>
              <a:t>役員兼業は名義だけでも禁止。お兄様が主体なら、組合員にも理事にもならないのが最も安全</a:t>
            </a:r>
            <a:endParaRPr lang="en-US" sz="1100" dirty="0"/>
          </a:p>
        </p:txBody>
      </p:sp>
      <p:sp>
        <p:nvSpPr>
          <p:cNvPr id="17" name="Shape 15"/>
          <p:cNvSpPr/>
          <p:nvPr/>
        </p:nvSpPr>
        <p:spPr>
          <a:xfrm>
            <a:off x="566928" y="4882896"/>
            <a:ext cx="11055096" cy="804672"/>
          </a:xfrm>
          <a:prstGeom prst="roundRect">
            <a:avLst>
              <a:gd name="adj" fmla="val 9091"/>
            </a:avLst>
          </a:prstGeom>
          <a:solidFill>
            <a:srgbClr val="F5F7F2"/>
          </a:solidFill>
          <a:ln/>
          <a:effectLst>
            <a:outerShdw sx="100000" sy="100000" kx="0" ky="0" algn="bl" rotWithShape="0" blurRad="101600" dist="25400" dir="5400000">
              <a:srgbClr val="000000">
                <a:alpha val="12000"/>
              </a:srgbClr>
            </a:outerShdw>
          </a:effectLst>
        </p:spPr>
      </p:sp>
      <p:sp>
        <p:nvSpPr>
          <p:cNvPr id="18" name="Shape 16"/>
          <p:cNvSpPr/>
          <p:nvPr/>
        </p:nvSpPr>
        <p:spPr>
          <a:xfrm>
            <a:off x="804672" y="5084064"/>
            <a:ext cx="402336" cy="402336"/>
          </a:xfrm>
          <a:prstGeom prst="ellipse">
            <a:avLst/>
          </a:prstGeom>
          <a:solidFill>
            <a:srgbClr val="2C5F2D"/>
          </a:solidFill>
          <a:ln/>
        </p:spPr>
      </p:sp>
      <p:sp>
        <p:nvSpPr>
          <p:cNvPr id="19" name="Text 17"/>
          <p:cNvSpPr txBox="1"/>
          <p:nvPr/>
        </p:nvSpPr>
        <p:spPr>
          <a:xfrm>
            <a:off x="804672" y="50840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0" name="Text 18"/>
          <p:cNvSpPr txBox="1"/>
          <p:nvPr/>
        </p:nvSpPr>
        <p:spPr>
          <a:xfrm>
            <a:off x="1408176" y="4992624"/>
            <a:ext cx="3017520" cy="310896"/>
          </a:xfrm>
          <a:prstGeom prst="rect">
            <a:avLst/>
          </a:prstGeom>
          <a:noFill/>
          <a:ln/>
        </p:spPr>
        <p:txBody>
          <a:bodyPr wrap="square" lIns="0" tIns="0" rIns="0" bIns="0" rtlCol="0" anchor="t"/>
          <a:lstStyle/>
          <a:p>
            <a:pPr indent="0" marL="0">
              <a:lnSpc>
                <a:spcPts val="2100"/>
              </a:lnSpc>
              <a:buNone/>
            </a:pPr>
            <a:r>
              <a:rPr lang="en-US" sz="1400" b="1" dirty="0">
                <a:solidFill>
                  <a:srgbClr val="2C5F2D"/>
                </a:solidFill>
                <a:latin typeface="Yu Gothic" pitchFamily="34" charset="0"/>
                <a:ea typeface="Yu Gothic" pitchFamily="34" charset="-122"/>
                <a:cs typeface="Yu Gothic" pitchFamily="34" charset="-120"/>
              </a:rPr>
              <a:t>「自営」の規模を超えない</a:t>
            </a:r>
            <a:endParaRPr lang="en-US" sz="1400" dirty="0"/>
          </a:p>
        </p:txBody>
      </p:sp>
      <p:sp>
        <p:nvSpPr>
          <p:cNvPr id="21" name="Text 19"/>
          <p:cNvSpPr txBox="1"/>
          <p:nvPr/>
        </p:nvSpPr>
        <p:spPr>
          <a:xfrm>
            <a:off x="1408176" y="5303520"/>
            <a:ext cx="10058400" cy="329184"/>
          </a:xfrm>
          <a:prstGeom prst="rect">
            <a:avLst/>
          </a:prstGeom>
          <a:noFill/>
          <a:ln/>
        </p:spPr>
        <p:txBody>
          <a:bodyPr wrap="square" lIns="0" tIns="0" rIns="0" bIns="0" rtlCol="0" anchor="t"/>
          <a:lstStyle/>
          <a:p>
            <a:pPr indent="0" marL="0">
              <a:lnSpc>
                <a:spcPts val="1500"/>
              </a:lnSpc>
              <a:buNone/>
            </a:pPr>
            <a:r>
              <a:rPr lang="en-US" sz="1100" dirty="0">
                <a:solidFill>
                  <a:srgbClr val="22282A"/>
                </a:solidFill>
                <a:latin typeface="Yu Gothic" pitchFamily="34" charset="0"/>
                <a:ea typeface="Yu Gothic" pitchFamily="34" charset="-122"/>
                <a:cs typeface="Yu Gothic" pitchFamily="34" charset="-120"/>
              </a:rPr>
              <a:t>耕地30アール未満かつ年間販売額50万円未満なら許可不要という運用。ただし法人が経営主体で労務提供するだけなら、そもそも自営に当たらない</a:t>
            </a:r>
            <a:endParaRPr lang="en-US" sz="1100" dirty="0"/>
          </a:p>
        </p:txBody>
      </p:sp>
      <p:sp>
        <p:nvSpPr>
          <p:cNvPr id="22" name="Shape 20"/>
          <p:cNvSpPr/>
          <p:nvPr/>
        </p:nvSpPr>
        <p:spPr>
          <a:xfrm>
            <a:off x="566928" y="5779008"/>
            <a:ext cx="11055096" cy="694944"/>
          </a:xfrm>
          <a:prstGeom prst="roundRect">
            <a:avLst>
              <a:gd name="adj" fmla="val 10526"/>
            </a:avLst>
          </a:prstGeom>
          <a:solidFill>
            <a:srgbClr val="FBEDED"/>
          </a:solidFill>
          <a:ln/>
          <a:effectLst>
            <a:outerShdw sx="100000" sy="100000" kx="0" ky="0" algn="bl" rotWithShape="0" blurRad="101600" dist="25400" dir="5400000">
              <a:srgbClr val="000000">
                <a:alpha val="12000"/>
              </a:srgbClr>
            </a:outerShdw>
          </a:effectLst>
        </p:spPr>
      </p:sp>
      <p:sp>
        <p:nvSpPr>
          <p:cNvPr id="23" name="Text 21"/>
          <p:cNvSpPr txBox="1"/>
          <p:nvPr/>
        </p:nvSpPr>
        <p:spPr>
          <a:xfrm>
            <a:off x="822960" y="5888736"/>
            <a:ext cx="10881360" cy="512064"/>
          </a:xfrm>
          <a:prstGeom prst="rect">
            <a:avLst/>
          </a:prstGeom>
          <a:noFill/>
          <a:ln/>
        </p:spPr>
        <p:txBody>
          <a:bodyPr wrap="square" lIns="0" tIns="0" rIns="0" bIns="0" rtlCol="0" anchor="t"/>
          <a:lstStyle/>
          <a:p>
            <a:pPr indent="0" marL="0">
              <a:lnSpc>
                <a:spcPts val="1500"/>
              </a:lnSpc>
              <a:buNone/>
            </a:pPr>
            <a:r>
              <a:rPr lang="en-US" sz="1100" dirty="0">
                <a:solidFill>
                  <a:srgbClr val="A32E2E"/>
                </a:solidFill>
                <a:latin typeface="Yu Gothic" pitchFamily="34" charset="0"/>
                <a:ea typeface="Yu Gothic" pitchFamily="34" charset="-122"/>
                <a:cs typeface="Yu Gothic" pitchFamily="34" charset="-120"/>
              </a:rPr>
              <a:t>注意：収穫物の受け取りは自家消費の範囲なら通常問題ないが、販売して所得が立つと別。交通費・資材費の実費精算は報酬ではないが、実費を超える支給は報酬とみなされ得る。迷う要素が一つでもあるなら、勤務先の服務担当に事前相談を。</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RECOMMENDATION</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推奨：案D ― 夫婦とも正規教員、農業は週末に手伝う</a:t>
            </a:r>
            <a:endParaRPr lang="en-US" sz="3200" dirty="0"/>
          </a:p>
        </p:txBody>
      </p:sp>
      <p:sp>
        <p:nvSpPr>
          <p:cNvPr id="4" name="Shape 2"/>
          <p:cNvSpPr/>
          <p:nvPr/>
        </p:nvSpPr>
        <p:spPr>
          <a:xfrm>
            <a:off x="566928" y="1572768"/>
            <a:ext cx="5399532" cy="1600200"/>
          </a:xfrm>
          <a:prstGeom prst="roundRect">
            <a:avLst>
              <a:gd name="adj" fmla="val 4571"/>
            </a:avLst>
          </a:prstGeom>
          <a:solidFill>
            <a:srgbClr val="EAF1E6"/>
          </a:solidFill>
          <a:ln w="12700">
            <a:solidFill>
              <a:srgbClr val="97BC62"/>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59536" y="1755648"/>
            <a:ext cx="2743200" cy="292608"/>
          </a:xfrm>
          <a:prstGeom prst="rect">
            <a:avLst/>
          </a:prstGeom>
          <a:noFill/>
          <a:ln/>
        </p:spPr>
        <p:txBody>
          <a:bodyPr wrap="square" lIns="0" tIns="0" rIns="0" bIns="0" rtlCol="0" anchor="t"/>
          <a:lstStyle/>
          <a:p>
            <a:pPr indent="0" marL="0">
              <a:lnSpc>
                <a:spcPts val="2100"/>
              </a:lnSpc>
              <a:buNone/>
            </a:pPr>
            <a:r>
              <a:rPr lang="en-US" sz="1300" b="1" dirty="0">
                <a:solidFill>
                  <a:srgbClr val="6E7A6F"/>
                </a:solidFill>
                <a:latin typeface="Yu Gothic" pitchFamily="34" charset="0"/>
                <a:ea typeface="Yu Gothic" pitchFamily="34" charset="-122"/>
                <a:cs typeface="Yu Gothic" pitchFamily="34" charset="-120"/>
              </a:rPr>
              <a:t>次男（45歳）</a:t>
            </a:r>
            <a:endParaRPr lang="en-US" sz="1300" dirty="0"/>
          </a:p>
        </p:txBody>
      </p:sp>
      <p:sp>
        <p:nvSpPr>
          <p:cNvPr id="6" name="Text 4"/>
          <p:cNvSpPr txBox="1"/>
          <p:nvPr/>
        </p:nvSpPr>
        <p:spPr>
          <a:xfrm>
            <a:off x="859536" y="2048256"/>
            <a:ext cx="4846320" cy="402336"/>
          </a:xfrm>
          <a:prstGeom prst="rect">
            <a:avLst/>
          </a:prstGeom>
          <a:noFill/>
          <a:ln/>
        </p:spPr>
        <p:txBody>
          <a:bodyPr wrap="square" lIns="0" tIns="0" rIns="0" bIns="0" rtlCol="0" anchor="t"/>
          <a:lstStyle/>
          <a:p>
            <a:pPr indent="0" marL="0">
              <a:lnSpc>
                <a:spcPts val="2100"/>
              </a:lnSpc>
              <a:buNone/>
            </a:pPr>
            <a:r>
              <a:rPr lang="en-US" sz="2100" b="1" dirty="0">
                <a:solidFill>
                  <a:srgbClr val="2C5F2D"/>
                </a:solidFill>
                <a:latin typeface="Cambria" pitchFamily="34" charset="0"/>
                <a:ea typeface="Cambria" pitchFamily="34" charset="-122"/>
                <a:cs typeface="Cambria" pitchFamily="34" charset="-120"/>
              </a:rPr>
              <a:t>石川県の正規教員</a:t>
            </a:r>
            <a:endParaRPr lang="en-US" sz="2100" dirty="0"/>
          </a:p>
        </p:txBody>
      </p:sp>
      <p:sp>
        <p:nvSpPr>
          <p:cNvPr id="7" name="Text 5"/>
          <p:cNvSpPr txBox="1"/>
          <p:nvPr/>
        </p:nvSpPr>
        <p:spPr>
          <a:xfrm>
            <a:off x="859536" y="2523744"/>
            <a:ext cx="4846320" cy="603504"/>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730〜780万円 ＋ 週末に無報酬で手伝う</a:t>
            </a:r>
            <a:endParaRPr lang="en-US" sz="1250" dirty="0"/>
          </a:p>
        </p:txBody>
      </p:sp>
      <p:sp>
        <p:nvSpPr>
          <p:cNvPr id="8" name="Shape 6"/>
          <p:cNvSpPr/>
          <p:nvPr/>
        </p:nvSpPr>
        <p:spPr>
          <a:xfrm>
            <a:off x="6222492" y="1572768"/>
            <a:ext cx="5399532" cy="1600200"/>
          </a:xfrm>
          <a:prstGeom prst="roundRect">
            <a:avLst>
              <a:gd name="adj" fmla="val 4571"/>
            </a:avLst>
          </a:prstGeom>
          <a:solidFill>
            <a:srgbClr val="EAF1E6"/>
          </a:solidFill>
          <a:ln w="12700">
            <a:solidFill>
              <a:srgbClr val="97BC62"/>
            </a:solidFill>
            <a:prstDash val="solid"/>
          </a:ln>
          <a:effectLst>
            <a:outerShdw sx="100000" sy="100000" kx="0" ky="0" algn="bl" rotWithShape="0" blurRad="101600" dist="25400" dir="5400000">
              <a:srgbClr val="000000">
                <a:alpha val="12000"/>
              </a:srgbClr>
            </a:outerShdw>
          </a:effectLst>
        </p:spPr>
      </p:sp>
      <p:sp>
        <p:nvSpPr>
          <p:cNvPr id="9" name="Text 7"/>
          <p:cNvSpPr txBox="1"/>
          <p:nvPr/>
        </p:nvSpPr>
        <p:spPr>
          <a:xfrm>
            <a:off x="6515100" y="1755648"/>
            <a:ext cx="2743200" cy="292608"/>
          </a:xfrm>
          <a:prstGeom prst="rect">
            <a:avLst/>
          </a:prstGeom>
          <a:noFill/>
          <a:ln/>
        </p:spPr>
        <p:txBody>
          <a:bodyPr wrap="square" lIns="0" tIns="0" rIns="0" bIns="0" rtlCol="0" anchor="t"/>
          <a:lstStyle/>
          <a:p>
            <a:pPr indent="0" marL="0">
              <a:lnSpc>
                <a:spcPts val="2100"/>
              </a:lnSpc>
              <a:buNone/>
            </a:pPr>
            <a:r>
              <a:rPr lang="en-US" sz="1300" b="1" dirty="0">
                <a:solidFill>
                  <a:srgbClr val="6E7A6F"/>
                </a:solidFill>
                <a:latin typeface="Yu Gothic" pitchFamily="34" charset="0"/>
                <a:ea typeface="Yu Gothic" pitchFamily="34" charset="-122"/>
                <a:cs typeface="Yu Gothic" pitchFamily="34" charset="-120"/>
              </a:rPr>
              <a:t>配偶者（47歳）</a:t>
            </a:r>
            <a:endParaRPr lang="en-US" sz="1300" dirty="0"/>
          </a:p>
        </p:txBody>
      </p:sp>
      <p:sp>
        <p:nvSpPr>
          <p:cNvPr id="10" name="Text 8"/>
          <p:cNvSpPr txBox="1"/>
          <p:nvPr/>
        </p:nvSpPr>
        <p:spPr>
          <a:xfrm>
            <a:off x="6515100" y="2048256"/>
            <a:ext cx="4846320" cy="402336"/>
          </a:xfrm>
          <a:prstGeom prst="rect">
            <a:avLst/>
          </a:prstGeom>
          <a:noFill/>
          <a:ln/>
        </p:spPr>
        <p:txBody>
          <a:bodyPr wrap="square" lIns="0" tIns="0" rIns="0" bIns="0" rtlCol="0" anchor="t"/>
          <a:lstStyle/>
          <a:p>
            <a:pPr indent="0" marL="0">
              <a:lnSpc>
                <a:spcPts val="2100"/>
              </a:lnSpc>
              <a:buNone/>
            </a:pPr>
            <a:r>
              <a:rPr lang="en-US" sz="2100" b="1" dirty="0">
                <a:solidFill>
                  <a:srgbClr val="2C5F2D"/>
                </a:solidFill>
                <a:latin typeface="Cambria" pitchFamily="34" charset="0"/>
                <a:ea typeface="Cambria" pitchFamily="34" charset="-122"/>
                <a:cs typeface="Cambria" pitchFamily="34" charset="-120"/>
              </a:rPr>
              <a:t>石川県の正規教員</a:t>
            </a:r>
            <a:endParaRPr lang="en-US" sz="2100" dirty="0"/>
          </a:p>
        </p:txBody>
      </p:sp>
      <p:sp>
        <p:nvSpPr>
          <p:cNvPr id="11" name="Text 9"/>
          <p:cNvSpPr txBox="1"/>
          <p:nvPr/>
        </p:nvSpPr>
        <p:spPr>
          <a:xfrm>
            <a:off x="6515100" y="2523744"/>
            <a:ext cx="4846320" cy="603504"/>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650〜700万円（採用は60歳未満まで受験可）</a:t>
            </a:r>
            <a:endParaRPr lang="en-US" sz="1250" dirty="0"/>
          </a:p>
        </p:txBody>
      </p:sp>
      <p:sp>
        <p:nvSpPr>
          <p:cNvPr id="12" name="Shape 10"/>
          <p:cNvSpPr/>
          <p:nvPr/>
        </p:nvSpPr>
        <p:spPr>
          <a:xfrm>
            <a:off x="566928" y="3310128"/>
            <a:ext cx="3532632" cy="1051560"/>
          </a:xfrm>
          <a:prstGeom prst="roundRect">
            <a:avLst>
              <a:gd name="adj" fmla="val 6957"/>
            </a:avLst>
          </a:prstGeom>
          <a:solidFill>
            <a:srgbClr val="F5F7F2"/>
          </a:solidFill>
          <a:ln/>
          <a:effectLst>
            <a:outerShdw sx="100000" sy="100000" kx="0" ky="0" algn="bl" rotWithShape="0" blurRad="101600" dist="25400" dir="5400000">
              <a:srgbClr val="000000">
                <a:alpha val="12000"/>
              </a:srgbClr>
            </a:outerShdw>
          </a:effectLst>
        </p:spPr>
      </p:sp>
      <p:sp>
        <p:nvSpPr>
          <p:cNvPr id="13" name="Text 11"/>
          <p:cNvSpPr txBox="1"/>
          <p:nvPr/>
        </p:nvSpPr>
        <p:spPr>
          <a:xfrm>
            <a:off x="786384" y="3447288"/>
            <a:ext cx="3093720" cy="256032"/>
          </a:xfrm>
          <a:prstGeom prst="rect">
            <a:avLst/>
          </a:prstGeom>
          <a:noFill/>
          <a:ln/>
        </p:spPr>
        <p:txBody>
          <a:bodyPr wrap="square" lIns="0" tIns="0" rIns="0" bIns="0" rtlCol="0" anchor="t"/>
          <a:lstStyle/>
          <a:p>
            <a:pPr indent="0" marL="0">
              <a:lnSpc>
                <a:spcPts val="2100"/>
              </a:lnSpc>
              <a:buNone/>
            </a:pPr>
            <a:r>
              <a:rPr lang="en-US" sz="1200" b="1" dirty="0">
                <a:solidFill>
                  <a:srgbClr val="6E7A6F"/>
                </a:solidFill>
                <a:latin typeface="Yu Gothic" pitchFamily="34" charset="0"/>
                <a:ea typeface="Yu Gothic" pitchFamily="34" charset="-122"/>
                <a:cs typeface="Yu Gothic" pitchFamily="34" charset="-120"/>
              </a:rPr>
              <a:t>世帯収入</a:t>
            </a:r>
            <a:endParaRPr lang="en-US" sz="1200" dirty="0"/>
          </a:p>
        </p:txBody>
      </p:sp>
      <p:sp>
        <p:nvSpPr>
          <p:cNvPr id="14" name="Text 12"/>
          <p:cNvSpPr txBox="1"/>
          <p:nvPr/>
        </p:nvSpPr>
        <p:spPr>
          <a:xfrm>
            <a:off x="786384" y="3703320"/>
            <a:ext cx="3093720" cy="384048"/>
          </a:xfrm>
          <a:prstGeom prst="rect">
            <a:avLst/>
          </a:prstGeom>
          <a:noFill/>
          <a:ln/>
        </p:spPr>
        <p:txBody>
          <a:bodyPr wrap="square" lIns="0" tIns="0" rIns="0" bIns="0" rtlCol="0" anchor="t"/>
          <a:lstStyle/>
          <a:p>
            <a:pPr indent="0" marL="0">
              <a:lnSpc>
                <a:spcPts val="2100"/>
              </a:lnSpc>
              <a:buNone/>
            </a:pPr>
            <a:r>
              <a:rPr lang="en-US" sz="1900" b="1" dirty="0">
                <a:solidFill>
                  <a:srgbClr val="2C5F2D"/>
                </a:solidFill>
                <a:latin typeface="Cambria" pitchFamily="34" charset="0"/>
                <a:ea typeface="Cambria" pitchFamily="34" charset="-122"/>
                <a:cs typeface="Cambria" pitchFamily="34" charset="-120"/>
              </a:rPr>
              <a:t>1,380〜1,480万円</a:t>
            </a:r>
            <a:endParaRPr lang="en-US" sz="1900" dirty="0"/>
          </a:p>
        </p:txBody>
      </p:sp>
      <p:sp>
        <p:nvSpPr>
          <p:cNvPr id="15" name="Text 13"/>
          <p:cNvSpPr txBox="1"/>
          <p:nvPr/>
        </p:nvSpPr>
        <p:spPr>
          <a:xfrm>
            <a:off x="786384" y="4096512"/>
            <a:ext cx="3093720" cy="256032"/>
          </a:xfrm>
          <a:prstGeom prst="rect">
            <a:avLst/>
          </a:prstGeom>
          <a:noFill/>
          <a:ln/>
        </p:spPr>
        <p:txBody>
          <a:bodyPr wrap="square" lIns="0" tIns="0" rIns="0" bIns="0" rtlCol="0" anchor="t"/>
          <a:lstStyle/>
          <a:p>
            <a:pPr indent="0" marL="0">
              <a:lnSpc>
                <a:spcPts val="2100"/>
              </a:lnSpc>
              <a:buNone/>
            </a:pPr>
            <a:r>
              <a:rPr lang="en-US" sz="1050" dirty="0">
                <a:solidFill>
                  <a:srgbClr val="6E7A6F"/>
                </a:solidFill>
                <a:latin typeface="Yu Gothic" pitchFamily="34" charset="0"/>
                <a:ea typeface="Yu Gothic" pitchFamily="34" charset="-122"/>
                <a:cs typeface="Yu Gothic" pitchFamily="34" charset="-120"/>
              </a:rPr>
              <a:t>現状比 ▲220〜320万円</a:t>
            </a:r>
            <a:endParaRPr lang="en-US" sz="1050" dirty="0"/>
          </a:p>
        </p:txBody>
      </p:sp>
      <p:sp>
        <p:nvSpPr>
          <p:cNvPr id="16" name="Shape 14"/>
          <p:cNvSpPr/>
          <p:nvPr/>
        </p:nvSpPr>
        <p:spPr>
          <a:xfrm>
            <a:off x="4328160" y="3310128"/>
            <a:ext cx="3532632" cy="1051560"/>
          </a:xfrm>
          <a:prstGeom prst="roundRect">
            <a:avLst>
              <a:gd name="adj" fmla="val 6957"/>
            </a:avLst>
          </a:prstGeom>
          <a:solidFill>
            <a:srgbClr val="F5F7F2"/>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4547616" y="3447288"/>
            <a:ext cx="3093720" cy="256032"/>
          </a:xfrm>
          <a:prstGeom prst="rect">
            <a:avLst/>
          </a:prstGeom>
          <a:noFill/>
          <a:ln/>
        </p:spPr>
        <p:txBody>
          <a:bodyPr wrap="square" lIns="0" tIns="0" rIns="0" bIns="0" rtlCol="0" anchor="t"/>
          <a:lstStyle/>
          <a:p>
            <a:pPr indent="0" marL="0">
              <a:lnSpc>
                <a:spcPts val="2100"/>
              </a:lnSpc>
              <a:buNone/>
            </a:pPr>
            <a:r>
              <a:rPr lang="en-US" sz="1200" b="1" dirty="0">
                <a:solidFill>
                  <a:srgbClr val="6E7A6F"/>
                </a:solidFill>
                <a:latin typeface="Yu Gothic" pitchFamily="34" charset="0"/>
                <a:ea typeface="Yu Gothic" pitchFamily="34" charset="-122"/>
                <a:cs typeface="Yu Gothic" pitchFamily="34" charset="-120"/>
              </a:rPr>
              <a:t>総資産</a:t>
            </a:r>
            <a:endParaRPr lang="en-US" sz="1200" dirty="0"/>
          </a:p>
        </p:txBody>
      </p:sp>
      <p:sp>
        <p:nvSpPr>
          <p:cNvPr id="18" name="Text 16"/>
          <p:cNvSpPr txBox="1"/>
          <p:nvPr/>
        </p:nvSpPr>
        <p:spPr>
          <a:xfrm>
            <a:off x="4547616" y="3703320"/>
            <a:ext cx="3093720" cy="384048"/>
          </a:xfrm>
          <a:prstGeom prst="rect">
            <a:avLst/>
          </a:prstGeom>
          <a:noFill/>
          <a:ln/>
        </p:spPr>
        <p:txBody>
          <a:bodyPr wrap="square" lIns="0" tIns="0" rIns="0" bIns="0" rtlCol="0" anchor="t"/>
          <a:lstStyle/>
          <a:p>
            <a:pPr indent="0" marL="0">
              <a:lnSpc>
                <a:spcPts val="2100"/>
              </a:lnSpc>
              <a:buNone/>
            </a:pPr>
            <a:r>
              <a:rPr lang="en-US" sz="1900" b="1" dirty="0">
                <a:solidFill>
                  <a:srgbClr val="2C5F2D"/>
                </a:solidFill>
                <a:latin typeface="Cambria" pitchFamily="34" charset="0"/>
                <a:ea typeface="Cambria" pitchFamily="34" charset="-122"/>
                <a:cs typeface="Cambria" pitchFamily="34" charset="-120"/>
              </a:rPr>
              <a:t>5,000万〜8,400万円</a:t>
            </a:r>
            <a:endParaRPr lang="en-US" sz="1900" dirty="0"/>
          </a:p>
        </p:txBody>
      </p:sp>
      <p:sp>
        <p:nvSpPr>
          <p:cNvPr id="19" name="Text 17"/>
          <p:cNvSpPr txBox="1"/>
          <p:nvPr/>
        </p:nvSpPr>
        <p:spPr>
          <a:xfrm>
            <a:off x="4547616" y="4096512"/>
            <a:ext cx="3093720" cy="256032"/>
          </a:xfrm>
          <a:prstGeom prst="rect">
            <a:avLst/>
          </a:prstGeom>
          <a:noFill/>
          <a:ln/>
        </p:spPr>
        <p:txBody>
          <a:bodyPr wrap="square" lIns="0" tIns="0" rIns="0" bIns="0" rtlCol="0" anchor="t"/>
          <a:lstStyle/>
          <a:p>
            <a:pPr indent="0" marL="0">
              <a:lnSpc>
                <a:spcPts val="2100"/>
              </a:lnSpc>
              <a:buNone/>
            </a:pPr>
            <a:r>
              <a:rPr lang="en-US" sz="1050" dirty="0">
                <a:solidFill>
                  <a:srgbClr val="6E7A6F"/>
                </a:solidFill>
                <a:latin typeface="Yu Gothic" pitchFamily="34" charset="0"/>
                <a:ea typeface="Yu Gothic" pitchFamily="34" charset="-122"/>
                <a:cs typeface="Yu Gothic" pitchFamily="34" charset="-120"/>
              </a:rPr>
              <a:t>年収差を15〜38年吸収</a:t>
            </a:r>
            <a:endParaRPr lang="en-US" sz="1050" dirty="0"/>
          </a:p>
        </p:txBody>
      </p:sp>
      <p:sp>
        <p:nvSpPr>
          <p:cNvPr id="20" name="Shape 18"/>
          <p:cNvSpPr/>
          <p:nvPr/>
        </p:nvSpPr>
        <p:spPr>
          <a:xfrm>
            <a:off x="8089392" y="3310128"/>
            <a:ext cx="3532632" cy="1051560"/>
          </a:xfrm>
          <a:prstGeom prst="roundRect">
            <a:avLst>
              <a:gd name="adj" fmla="val 6957"/>
            </a:avLst>
          </a:prstGeom>
          <a:solidFill>
            <a:srgbClr val="F5F7F2"/>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8308848" y="3447288"/>
            <a:ext cx="3093720" cy="256032"/>
          </a:xfrm>
          <a:prstGeom prst="rect">
            <a:avLst/>
          </a:prstGeom>
          <a:noFill/>
          <a:ln/>
        </p:spPr>
        <p:txBody>
          <a:bodyPr wrap="square" lIns="0" tIns="0" rIns="0" bIns="0" rtlCol="0" anchor="t"/>
          <a:lstStyle/>
          <a:p>
            <a:pPr indent="0" marL="0">
              <a:lnSpc>
                <a:spcPts val="2100"/>
              </a:lnSpc>
              <a:buNone/>
            </a:pPr>
            <a:r>
              <a:rPr lang="en-US" sz="1200" b="1" dirty="0">
                <a:solidFill>
                  <a:srgbClr val="6E7A6F"/>
                </a:solidFill>
                <a:latin typeface="Yu Gothic" pitchFamily="34" charset="0"/>
                <a:ea typeface="Yu Gothic" pitchFamily="34" charset="-122"/>
                <a:cs typeface="Yu Gothic" pitchFamily="34" charset="-120"/>
              </a:rPr>
              <a:t>理事就任の問題</a:t>
            </a:r>
            <a:endParaRPr lang="en-US" sz="1200" dirty="0"/>
          </a:p>
        </p:txBody>
      </p:sp>
      <p:sp>
        <p:nvSpPr>
          <p:cNvPr id="22" name="Text 20"/>
          <p:cNvSpPr txBox="1"/>
          <p:nvPr/>
        </p:nvSpPr>
        <p:spPr>
          <a:xfrm>
            <a:off x="8308848" y="3703320"/>
            <a:ext cx="3093720" cy="384048"/>
          </a:xfrm>
          <a:prstGeom prst="rect">
            <a:avLst/>
          </a:prstGeom>
          <a:noFill/>
          <a:ln/>
        </p:spPr>
        <p:txBody>
          <a:bodyPr wrap="square" lIns="0" tIns="0" rIns="0" bIns="0" rtlCol="0" anchor="t"/>
          <a:lstStyle/>
          <a:p>
            <a:pPr indent="0" marL="0">
              <a:lnSpc>
                <a:spcPts val="2100"/>
              </a:lnSpc>
              <a:buNone/>
            </a:pPr>
            <a:r>
              <a:rPr lang="en-US" sz="1900" b="1" dirty="0">
                <a:solidFill>
                  <a:srgbClr val="2C5F2D"/>
                </a:solidFill>
                <a:latin typeface="Cambria" pitchFamily="34" charset="0"/>
                <a:ea typeface="Cambria" pitchFamily="34" charset="-122"/>
                <a:cs typeface="Cambria" pitchFamily="34" charset="-120"/>
              </a:rPr>
              <a:t>発生しない</a:t>
            </a:r>
            <a:endParaRPr lang="en-US" sz="1900" dirty="0"/>
          </a:p>
        </p:txBody>
      </p:sp>
      <p:sp>
        <p:nvSpPr>
          <p:cNvPr id="23" name="Text 21"/>
          <p:cNvSpPr txBox="1"/>
          <p:nvPr/>
        </p:nvSpPr>
        <p:spPr>
          <a:xfrm>
            <a:off x="8308848" y="4096512"/>
            <a:ext cx="3093720" cy="256032"/>
          </a:xfrm>
          <a:prstGeom prst="rect">
            <a:avLst/>
          </a:prstGeom>
          <a:noFill/>
          <a:ln/>
        </p:spPr>
        <p:txBody>
          <a:bodyPr wrap="square" lIns="0" tIns="0" rIns="0" bIns="0" rtlCol="0" anchor="t"/>
          <a:lstStyle/>
          <a:p>
            <a:pPr indent="0" marL="0">
              <a:lnSpc>
                <a:spcPts val="2100"/>
              </a:lnSpc>
              <a:buNone/>
            </a:pPr>
            <a:r>
              <a:rPr lang="en-US" sz="1050" dirty="0">
                <a:solidFill>
                  <a:srgbClr val="6E7A6F"/>
                </a:solidFill>
                <a:latin typeface="Yu Gothic" pitchFamily="34" charset="0"/>
                <a:ea typeface="Yu Gothic" pitchFamily="34" charset="-122"/>
                <a:cs typeface="Yu Gothic" pitchFamily="34" charset="-120"/>
              </a:rPr>
              <a:t>理事にならないため</a:t>
            </a:r>
            <a:endParaRPr lang="en-US" sz="1050" dirty="0"/>
          </a:p>
        </p:txBody>
      </p:sp>
      <p:sp>
        <p:nvSpPr>
          <p:cNvPr id="24" name="Text 22"/>
          <p:cNvSpPr txBox="1"/>
          <p:nvPr/>
        </p:nvSpPr>
        <p:spPr>
          <a:xfrm>
            <a:off x="566928" y="4480560"/>
            <a:ext cx="5486400" cy="310896"/>
          </a:xfrm>
          <a:prstGeom prst="rect">
            <a:avLst/>
          </a:prstGeom>
          <a:noFill/>
          <a:ln/>
        </p:spPr>
        <p:txBody>
          <a:bodyPr wrap="square" lIns="0" tIns="0" rIns="0" bIns="0" rtlCol="0" anchor="t"/>
          <a:lstStyle/>
          <a:p>
            <a:pPr indent="0" marL="0">
              <a:lnSpc>
                <a:spcPts val="2100"/>
              </a:lnSpc>
              <a:buNone/>
            </a:pPr>
            <a:r>
              <a:rPr lang="en-US" sz="1600" b="1" dirty="0">
                <a:solidFill>
                  <a:srgbClr val="22282A"/>
                </a:solidFill>
                <a:latin typeface="Cambria" pitchFamily="34" charset="0"/>
                <a:ea typeface="Cambria" pitchFamily="34" charset="-122"/>
                <a:cs typeface="Cambria" pitchFamily="34" charset="-120"/>
              </a:rPr>
              <a:t>案Dで新たに確認すべきこと</a:t>
            </a:r>
            <a:endParaRPr lang="en-US" sz="1600" dirty="0"/>
          </a:p>
        </p:txBody>
      </p:sp>
      <p:sp>
        <p:nvSpPr>
          <p:cNvPr id="25" name="Shape 23"/>
          <p:cNvSpPr/>
          <p:nvPr/>
        </p:nvSpPr>
        <p:spPr>
          <a:xfrm>
            <a:off x="566928" y="4809744"/>
            <a:ext cx="11055096" cy="420624"/>
          </a:xfrm>
          <a:prstGeom prst="roundRect">
            <a:avLst>
              <a:gd name="adj" fmla="val 17391"/>
            </a:avLst>
          </a:prstGeom>
          <a:solidFill>
            <a:srgbClr val="F5F7F2"/>
          </a:solidFill>
          <a:ln/>
          <a:effectLst>
            <a:outerShdw sx="100000" sy="100000" kx="0" ky="0" algn="bl" rotWithShape="0" blurRad="101600" dist="25400" dir="5400000">
              <a:srgbClr val="000000">
                <a:alpha val="12000"/>
              </a:srgbClr>
            </a:outerShdw>
          </a:effectLst>
        </p:spPr>
      </p:sp>
      <p:sp>
        <p:nvSpPr>
          <p:cNvPr id="26" name="Shape 24"/>
          <p:cNvSpPr/>
          <p:nvPr/>
        </p:nvSpPr>
        <p:spPr>
          <a:xfrm>
            <a:off x="768096" y="4818888"/>
            <a:ext cx="402336" cy="402336"/>
          </a:xfrm>
          <a:prstGeom prst="ellipse">
            <a:avLst/>
          </a:prstGeom>
          <a:solidFill>
            <a:srgbClr val="2C5F2D"/>
          </a:solidFill>
          <a:ln/>
        </p:spPr>
      </p:sp>
      <p:sp>
        <p:nvSpPr>
          <p:cNvPr id="27" name="Text 25"/>
          <p:cNvSpPr txBox="1"/>
          <p:nvPr/>
        </p:nvSpPr>
        <p:spPr>
          <a:xfrm>
            <a:off x="768096" y="481888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28" name="Text 26"/>
          <p:cNvSpPr txBox="1"/>
          <p:nvPr/>
        </p:nvSpPr>
        <p:spPr>
          <a:xfrm>
            <a:off x="1353312" y="4892040"/>
            <a:ext cx="10149840" cy="274320"/>
          </a:xfrm>
          <a:prstGeom prst="rect">
            <a:avLst/>
          </a:prstGeom>
          <a:noFill/>
          <a:ln/>
        </p:spPr>
        <p:txBody>
          <a:bodyPr wrap="square" lIns="0" tIns="0" rIns="0" bIns="0" rtlCol="0" anchor="t"/>
          <a:lstStyle/>
          <a:p>
            <a:pPr indent="0" marL="0">
              <a:lnSpc>
                <a:spcPts val="2100"/>
              </a:lnSpc>
              <a:buNone/>
            </a:pPr>
            <a:r>
              <a:rPr lang="en-US" sz="1200" dirty="0">
                <a:solidFill>
                  <a:srgbClr val="22282A"/>
                </a:solidFill>
                <a:latin typeface="Yu Gothic" pitchFamily="34" charset="0"/>
                <a:ea typeface="Yu Gothic" pitchFamily="34" charset="-122"/>
                <a:cs typeface="Yu Gothic" pitchFamily="34" charset="-120"/>
              </a:rPr>
              <a:t>お兄様の年齢。49歳以下なら経営開始資金（年150万円×3年）の対象になり得る</a:t>
            </a:r>
            <a:endParaRPr lang="en-US" sz="1200" dirty="0"/>
          </a:p>
        </p:txBody>
      </p:sp>
      <p:sp>
        <p:nvSpPr>
          <p:cNvPr id="29" name="Shape 27"/>
          <p:cNvSpPr/>
          <p:nvPr/>
        </p:nvSpPr>
        <p:spPr>
          <a:xfrm>
            <a:off x="566928" y="5285232"/>
            <a:ext cx="11055096" cy="420624"/>
          </a:xfrm>
          <a:prstGeom prst="roundRect">
            <a:avLst>
              <a:gd name="adj" fmla="val 17391"/>
            </a:avLst>
          </a:prstGeom>
          <a:solidFill>
            <a:srgbClr val="F5F7F2"/>
          </a:solidFill>
          <a:ln/>
          <a:effectLst>
            <a:outerShdw sx="100000" sy="100000" kx="0" ky="0" algn="bl" rotWithShape="0" blurRad="101600" dist="25400" dir="5400000">
              <a:srgbClr val="000000">
                <a:alpha val="12000"/>
              </a:srgbClr>
            </a:outerShdw>
          </a:effectLst>
        </p:spPr>
      </p:sp>
      <p:sp>
        <p:nvSpPr>
          <p:cNvPr id="30" name="Shape 28"/>
          <p:cNvSpPr/>
          <p:nvPr/>
        </p:nvSpPr>
        <p:spPr>
          <a:xfrm>
            <a:off x="768096" y="5294376"/>
            <a:ext cx="402336" cy="402336"/>
          </a:xfrm>
          <a:prstGeom prst="ellipse">
            <a:avLst/>
          </a:prstGeom>
          <a:solidFill>
            <a:srgbClr val="2C5F2D"/>
          </a:solidFill>
          <a:ln/>
        </p:spPr>
      </p:sp>
      <p:sp>
        <p:nvSpPr>
          <p:cNvPr id="31" name="Text 29"/>
          <p:cNvSpPr txBox="1"/>
          <p:nvPr/>
        </p:nvSpPr>
        <p:spPr>
          <a:xfrm>
            <a:off x="768096" y="52943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32" name="Text 30"/>
          <p:cNvSpPr txBox="1"/>
          <p:nvPr/>
        </p:nvSpPr>
        <p:spPr>
          <a:xfrm>
            <a:off x="1353312" y="5367528"/>
            <a:ext cx="10149840" cy="274320"/>
          </a:xfrm>
          <a:prstGeom prst="rect">
            <a:avLst/>
          </a:prstGeom>
          <a:noFill/>
          <a:ln/>
        </p:spPr>
        <p:txBody>
          <a:bodyPr wrap="square" lIns="0" tIns="0" rIns="0" bIns="0" rtlCol="0" anchor="t"/>
          <a:lstStyle/>
          <a:p>
            <a:pPr indent="0" marL="0">
              <a:lnSpc>
                <a:spcPts val="2100"/>
              </a:lnSpc>
              <a:buNone/>
            </a:pPr>
            <a:r>
              <a:rPr lang="en-US" sz="1200" dirty="0">
                <a:solidFill>
                  <a:srgbClr val="22282A"/>
                </a:solidFill>
                <a:latin typeface="Yu Gothic" pitchFamily="34" charset="0"/>
                <a:ea typeface="Yu Gothic" pitchFamily="34" charset="-122"/>
                <a:cs typeface="Yu Gothic" pitchFamily="34" charset="-120"/>
              </a:rPr>
              <a:t>お兄様がすでに組合員・理事かどうか。代表理事は誰か</a:t>
            </a:r>
            <a:endParaRPr lang="en-US" sz="1200" dirty="0"/>
          </a:p>
        </p:txBody>
      </p:sp>
      <p:sp>
        <p:nvSpPr>
          <p:cNvPr id="33" name="Shape 31"/>
          <p:cNvSpPr/>
          <p:nvPr/>
        </p:nvSpPr>
        <p:spPr>
          <a:xfrm>
            <a:off x="566928" y="5760720"/>
            <a:ext cx="11055096" cy="420624"/>
          </a:xfrm>
          <a:prstGeom prst="roundRect">
            <a:avLst>
              <a:gd name="adj" fmla="val 17391"/>
            </a:avLst>
          </a:prstGeom>
          <a:solidFill>
            <a:srgbClr val="F5F7F2"/>
          </a:solidFill>
          <a:ln/>
          <a:effectLst>
            <a:outerShdw sx="100000" sy="100000" kx="0" ky="0" algn="bl" rotWithShape="0" blurRad="101600" dist="25400" dir="5400000">
              <a:srgbClr val="000000">
                <a:alpha val="12000"/>
              </a:srgbClr>
            </a:outerShdw>
          </a:effectLst>
        </p:spPr>
      </p:sp>
      <p:sp>
        <p:nvSpPr>
          <p:cNvPr id="34" name="Shape 32"/>
          <p:cNvSpPr/>
          <p:nvPr/>
        </p:nvSpPr>
        <p:spPr>
          <a:xfrm>
            <a:off x="768096" y="5769864"/>
            <a:ext cx="402336" cy="402336"/>
          </a:xfrm>
          <a:prstGeom prst="ellipse">
            <a:avLst/>
          </a:prstGeom>
          <a:solidFill>
            <a:srgbClr val="2C5F2D"/>
          </a:solidFill>
          <a:ln/>
        </p:spPr>
      </p:sp>
      <p:sp>
        <p:nvSpPr>
          <p:cNvPr id="35" name="Text 33"/>
          <p:cNvSpPr txBox="1"/>
          <p:nvPr/>
        </p:nvSpPr>
        <p:spPr>
          <a:xfrm>
            <a:off x="768096" y="576986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36" name="Text 34"/>
          <p:cNvSpPr txBox="1"/>
          <p:nvPr/>
        </p:nvSpPr>
        <p:spPr>
          <a:xfrm>
            <a:off x="1353312" y="5843016"/>
            <a:ext cx="10149840" cy="274320"/>
          </a:xfrm>
          <a:prstGeom prst="rect">
            <a:avLst/>
          </a:prstGeom>
          <a:noFill/>
          <a:ln/>
        </p:spPr>
        <p:txBody>
          <a:bodyPr wrap="square" lIns="0" tIns="0" rIns="0" bIns="0" rtlCol="0" anchor="t"/>
          <a:lstStyle/>
          <a:p>
            <a:pPr indent="0" marL="0">
              <a:lnSpc>
                <a:spcPts val="2100"/>
              </a:lnSpc>
              <a:buNone/>
            </a:pPr>
            <a:r>
              <a:rPr lang="en-US" sz="1200" dirty="0">
                <a:solidFill>
                  <a:srgbClr val="22282A"/>
                </a:solidFill>
                <a:latin typeface="Yu Gothic" pitchFamily="34" charset="0"/>
                <a:ea typeface="Yu Gothic" pitchFamily="34" charset="-122"/>
                <a:cs typeface="Yu Gothic" pitchFamily="34" charset="-120"/>
              </a:rPr>
              <a:t>お兄様に万一のことがあった場合の承継設計。急に理事が必要になっても正規教員では就任できない</a:t>
            </a:r>
            <a:endParaRPr lang="en-US" sz="1200" dirty="0"/>
          </a:p>
        </p:txBody>
      </p:sp>
      <p:sp>
        <p:nvSpPr>
          <p:cNvPr id="37" name="Text 35"/>
          <p:cNvSpPr txBox="1"/>
          <p:nvPr/>
        </p:nvSpPr>
        <p:spPr>
          <a:xfrm>
            <a:off x="566928" y="6291072"/>
            <a:ext cx="11055096" cy="274320"/>
          </a:xfrm>
          <a:prstGeom prst="rect">
            <a:avLst/>
          </a:prstGeom>
          <a:noFill/>
          <a:ln/>
        </p:spPr>
        <p:txBody>
          <a:bodyPr wrap="square" lIns="0" tIns="0" rIns="0" bIns="0" rtlCol="0" anchor="ctr"/>
          <a:lstStyle/>
          <a:p>
            <a:pPr indent="0" marL="0">
              <a:buNone/>
            </a:pPr>
            <a:r>
              <a:rPr lang="en-US" sz="1150" i="1" dirty="0">
                <a:solidFill>
                  <a:srgbClr val="6E7A6F"/>
                </a:solidFill>
                <a:latin typeface="Yu Gothic" pitchFamily="34" charset="0"/>
                <a:ea typeface="Yu Gothic" pitchFamily="34" charset="-122"/>
                <a:cs typeface="Yu Gothic" pitchFamily="34" charset="-120"/>
              </a:rPr>
              <a:t>次男が承継する必要が出た場合の代替案が案C（配偶者＝正規／次男＝非常勤＋農業、世帯1,150〜1,350万円）。</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TIMELINE</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45歳 → 49歳 ― 4年で組み立てる</a:t>
            </a:r>
            <a:endParaRPr lang="en-US" sz="3200" dirty="0"/>
          </a:p>
        </p:txBody>
      </p:sp>
      <p:sp>
        <p:nvSpPr>
          <p:cNvPr id="4" name="Shape 2"/>
          <p:cNvSpPr/>
          <p:nvPr/>
        </p:nvSpPr>
        <p:spPr>
          <a:xfrm>
            <a:off x="566928" y="1664208"/>
            <a:ext cx="11055096" cy="786384"/>
          </a:xfrm>
          <a:prstGeom prst="roundRect">
            <a:avLst>
              <a:gd name="adj" fmla="val 9302"/>
            </a:avLst>
          </a:prstGeom>
          <a:solidFill>
            <a:srgbClr val="F5F7F2"/>
          </a:solidFill>
          <a:ln/>
          <a:effectLst>
            <a:outerShdw sx="100000" sy="100000" kx="0" ky="0" algn="bl" rotWithShape="0" blurRad="101600" dist="25400" dir="5400000">
              <a:srgbClr val="000000">
                <a:alpha val="12000"/>
              </a:srgbClr>
            </a:outerShdw>
          </a:effectLst>
        </p:spPr>
      </p:sp>
      <p:sp>
        <p:nvSpPr>
          <p:cNvPr id="5" name="Text 3"/>
          <p:cNvSpPr txBox="1"/>
          <p:nvPr/>
        </p:nvSpPr>
        <p:spPr>
          <a:xfrm>
            <a:off x="841248" y="1810512"/>
            <a:ext cx="1463040" cy="310896"/>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Cambria" pitchFamily="34" charset="0"/>
                <a:ea typeface="Cambria" pitchFamily="34" charset="-122"/>
                <a:cs typeface="Cambria" pitchFamily="34" charset="-120"/>
              </a:rPr>
              <a:t>今〜1年</a:t>
            </a:r>
            <a:endParaRPr lang="en-US" sz="1500" dirty="0"/>
          </a:p>
        </p:txBody>
      </p:sp>
      <p:sp>
        <p:nvSpPr>
          <p:cNvPr id="6" name="Text 4"/>
          <p:cNvSpPr txBox="1"/>
          <p:nvPr/>
        </p:nvSpPr>
        <p:spPr>
          <a:xfrm>
            <a:off x="841248" y="2121408"/>
            <a:ext cx="1463040" cy="274320"/>
          </a:xfrm>
          <a:prstGeom prst="rect">
            <a:avLst/>
          </a:prstGeom>
          <a:noFill/>
          <a:ln/>
        </p:spPr>
        <p:txBody>
          <a:bodyPr wrap="square" lIns="0" tIns="0" rIns="0" bIns="0" rtlCol="0" anchor="t"/>
          <a:lstStyle/>
          <a:p>
            <a:pPr indent="0" marL="0">
              <a:lnSpc>
                <a:spcPts val="2100"/>
              </a:lnSpc>
              <a:buNone/>
            </a:pPr>
            <a:r>
              <a:rPr lang="en-US" sz="1150" dirty="0">
                <a:solidFill>
                  <a:srgbClr val="6E7A6F"/>
                </a:solidFill>
                <a:latin typeface="Yu Gothic" pitchFamily="34" charset="0"/>
                <a:ea typeface="Yu Gothic" pitchFamily="34" charset="-122"/>
                <a:cs typeface="Yu Gothic" pitchFamily="34" charset="-120"/>
              </a:rPr>
              <a:t>45〜46歳</a:t>
            </a:r>
            <a:endParaRPr lang="en-US" sz="1150" dirty="0"/>
          </a:p>
        </p:txBody>
      </p:sp>
      <p:sp>
        <p:nvSpPr>
          <p:cNvPr id="7" name="Text 5"/>
          <p:cNvSpPr txBox="1"/>
          <p:nvPr/>
        </p:nvSpPr>
        <p:spPr>
          <a:xfrm>
            <a:off x="2578608" y="1847088"/>
            <a:ext cx="8869680" cy="566928"/>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在職のまま。長期休暇に無報酬で農作業。決算書3期分を確認。北辰農産に話を聞く。ローン残債と敷地面積を確認</a:t>
            </a:r>
            <a:endParaRPr lang="en-US" sz="1250" dirty="0"/>
          </a:p>
        </p:txBody>
      </p:sp>
      <p:sp>
        <p:nvSpPr>
          <p:cNvPr id="8" name="Shape 6"/>
          <p:cNvSpPr/>
          <p:nvPr/>
        </p:nvSpPr>
        <p:spPr>
          <a:xfrm>
            <a:off x="566928" y="2523744"/>
            <a:ext cx="11055096" cy="786384"/>
          </a:xfrm>
          <a:prstGeom prst="roundRect">
            <a:avLst>
              <a:gd name="adj" fmla="val 9302"/>
            </a:avLst>
          </a:prstGeom>
          <a:solidFill>
            <a:srgbClr val="F5F7F2"/>
          </a:solidFill>
          <a:ln/>
          <a:effectLst>
            <a:outerShdw sx="100000" sy="100000" kx="0" ky="0" algn="bl" rotWithShape="0" blurRad="101600" dist="25400" dir="5400000">
              <a:srgbClr val="000000">
                <a:alpha val="12000"/>
              </a:srgbClr>
            </a:outerShdw>
          </a:effectLst>
        </p:spPr>
      </p:sp>
      <p:sp>
        <p:nvSpPr>
          <p:cNvPr id="9" name="Text 7"/>
          <p:cNvSpPr txBox="1"/>
          <p:nvPr/>
        </p:nvSpPr>
        <p:spPr>
          <a:xfrm>
            <a:off x="841248" y="2670048"/>
            <a:ext cx="1463040" cy="310896"/>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Cambria" pitchFamily="34" charset="0"/>
                <a:ea typeface="Cambria" pitchFamily="34" charset="-122"/>
                <a:cs typeface="Cambria" pitchFamily="34" charset="-120"/>
              </a:rPr>
              <a:t>1〜2年目</a:t>
            </a:r>
            <a:endParaRPr lang="en-US" sz="1500" dirty="0"/>
          </a:p>
        </p:txBody>
      </p:sp>
      <p:sp>
        <p:nvSpPr>
          <p:cNvPr id="10" name="Text 8"/>
          <p:cNvSpPr txBox="1"/>
          <p:nvPr/>
        </p:nvSpPr>
        <p:spPr>
          <a:xfrm>
            <a:off x="841248" y="2980944"/>
            <a:ext cx="1463040" cy="274320"/>
          </a:xfrm>
          <a:prstGeom prst="rect">
            <a:avLst/>
          </a:prstGeom>
          <a:noFill/>
          <a:ln/>
        </p:spPr>
        <p:txBody>
          <a:bodyPr wrap="square" lIns="0" tIns="0" rIns="0" bIns="0" rtlCol="0" anchor="t"/>
          <a:lstStyle/>
          <a:p>
            <a:pPr indent="0" marL="0">
              <a:lnSpc>
                <a:spcPts val="2100"/>
              </a:lnSpc>
              <a:buNone/>
            </a:pPr>
            <a:r>
              <a:rPr lang="en-US" sz="1150" dirty="0">
                <a:solidFill>
                  <a:srgbClr val="6E7A6F"/>
                </a:solidFill>
                <a:latin typeface="Yu Gothic" pitchFamily="34" charset="0"/>
                <a:ea typeface="Yu Gothic" pitchFamily="34" charset="-122"/>
                <a:cs typeface="Yu Gothic" pitchFamily="34" charset="-120"/>
              </a:rPr>
              <a:t>46〜47歳</a:t>
            </a:r>
            <a:endParaRPr lang="en-US" sz="1150" dirty="0"/>
          </a:p>
        </p:txBody>
      </p:sp>
      <p:sp>
        <p:nvSpPr>
          <p:cNvPr id="11" name="Text 9"/>
          <p:cNvSpPr txBox="1"/>
          <p:nvPr/>
        </p:nvSpPr>
        <p:spPr>
          <a:xfrm>
            <a:off x="2578608" y="2706624"/>
            <a:ext cx="8869680" cy="566928"/>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石川県の教員採用選考を受験（現職者は1次免除の可能性）。配偶者も受験。白山市農業振興課に相談。売却の段取り</a:t>
            </a:r>
            <a:endParaRPr lang="en-US" sz="1250" dirty="0"/>
          </a:p>
        </p:txBody>
      </p:sp>
      <p:sp>
        <p:nvSpPr>
          <p:cNvPr id="12" name="Shape 10"/>
          <p:cNvSpPr/>
          <p:nvPr/>
        </p:nvSpPr>
        <p:spPr>
          <a:xfrm>
            <a:off x="566928" y="3383280"/>
            <a:ext cx="11055096" cy="786384"/>
          </a:xfrm>
          <a:prstGeom prst="roundRect">
            <a:avLst>
              <a:gd name="adj" fmla="val 9302"/>
            </a:avLst>
          </a:prstGeom>
          <a:solidFill>
            <a:srgbClr val="EAF1E6"/>
          </a:solidFill>
          <a:ln w="12700">
            <a:solidFill>
              <a:srgbClr val="97BC62"/>
            </a:solidFill>
            <a:prstDash val="solid"/>
          </a:ln>
          <a:effectLst>
            <a:outerShdw sx="100000" sy="100000" kx="0" ky="0" algn="bl" rotWithShape="0" blurRad="101600" dist="25400" dir="5400000">
              <a:srgbClr val="000000">
                <a:alpha val="12000"/>
              </a:srgbClr>
            </a:outerShdw>
          </a:effectLst>
        </p:spPr>
      </p:sp>
      <p:sp>
        <p:nvSpPr>
          <p:cNvPr id="13" name="Text 11"/>
          <p:cNvSpPr txBox="1"/>
          <p:nvPr/>
        </p:nvSpPr>
        <p:spPr>
          <a:xfrm>
            <a:off x="841248" y="3529584"/>
            <a:ext cx="1463040" cy="310896"/>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Cambria" pitchFamily="34" charset="0"/>
                <a:ea typeface="Cambria" pitchFamily="34" charset="-122"/>
                <a:cs typeface="Cambria" pitchFamily="34" charset="-120"/>
              </a:rPr>
              <a:t>2〜3年目</a:t>
            </a:r>
            <a:endParaRPr lang="en-US" sz="1500" dirty="0"/>
          </a:p>
        </p:txBody>
      </p:sp>
      <p:sp>
        <p:nvSpPr>
          <p:cNvPr id="14" name="Text 12"/>
          <p:cNvSpPr txBox="1"/>
          <p:nvPr/>
        </p:nvSpPr>
        <p:spPr>
          <a:xfrm>
            <a:off x="841248" y="3840480"/>
            <a:ext cx="1463040" cy="274320"/>
          </a:xfrm>
          <a:prstGeom prst="rect">
            <a:avLst/>
          </a:prstGeom>
          <a:noFill/>
          <a:ln/>
        </p:spPr>
        <p:txBody>
          <a:bodyPr wrap="square" lIns="0" tIns="0" rIns="0" bIns="0" rtlCol="0" anchor="t"/>
          <a:lstStyle/>
          <a:p>
            <a:pPr indent="0" marL="0">
              <a:lnSpc>
                <a:spcPts val="2100"/>
              </a:lnSpc>
              <a:buNone/>
            </a:pPr>
            <a:r>
              <a:rPr lang="en-US" sz="1150" dirty="0">
                <a:solidFill>
                  <a:srgbClr val="6E7A6F"/>
                </a:solidFill>
                <a:latin typeface="Yu Gothic" pitchFamily="34" charset="0"/>
                <a:ea typeface="Yu Gothic" pitchFamily="34" charset="-122"/>
                <a:cs typeface="Yu Gothic" pitchFamily="34" charset="-120"/>
              </a:rPr>
              <a:t>47〜48歳</a:t>
            </a:r>
            <a:endParaRPr lang="en-US" sz="1150" dirty="0"/>
          </a:p>
        </p:txBody>
      </p:sp>
      <p:sp>
        <p:nvSpPr>
          <p:cNvPr id="15" name="Text 13"/>
          <p:cNvSpPr txBox="1"/>
          <p:nvPr/>
        </p:nvSpPr>
        <p:spPr>
          <a:xfrm>
            <a:off x="2578608" y="3566160"/>
            <a:ext cx="8869680" cy="566928"/>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移住。次男は非常勤講師として勤務開始、農作業に週4日。配偶者は正規教員として勤務開始。認定新規就農者を申請</a:t>
            </a:r>
            <a:endParaRPr lang="en-US" sz="1250" dirty="0"/>
          </a:p>
        </p:txBody>
      </p:sp>
      <p:sp>
        <p:nvSpPr>
          <p:cNvPr id="16" name="Shape 14"/>
          <p:cNvSpPr/>
          <p:nvPr/>
        </p:nvSpPr>
        <p:spPr>
          <a:xfrm>
            <a:off x="566928" y="4242816"/>
            <a:ext cx="11055096" cy="786384"/>
          </a:xfrm>
          <a:prstGeom prst="roundRect">
            <a:avLst>
              <a:gd name="adj" fmla="val 9302"/>
            </a:avLst>
          </a:prstGeom>
          <a:solidFill>
            <a:srgbClr val="EAF1E6"/>
          </a:solidFill>
          <a:ln w="12700">
            <a:solidFill>
              <a:srgbClr val="97BC62"/>
            </a:solidFill>
            <a:prstDash val="solid"/>
          </a:ln>
          <a:effectLst>
            <a:outerShdw sx="100000" sy="100000" kx="0" ky="0" algn="bl" rotWithShape="0" blurRad="101600" dist="25400" dir="5400000">
              <a:srgbClr val="000000">
                <a:alpha val="12000"/>
              </a:srgbClr>
            </a:outerShdw>
          </a:effectLst>
        </p:spPr>
      </p:sp>
      <p:sp>
        <p:nvSpPr>
          <p:cNvPr id="17" name="Text 15"/>
          <p:cNvSpPr txBox="1"/>
          <p:nvPr/>
        </p:nvSpPr>
        <p:spPr>
          <a:xfrm>
            <a:off x="841248" y="4389120"/>
            <a:ext cx="1463040" cy="310896"/>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Cambria" pitchFamily="34" charset="0"/>
                <a:ea typeface="Cambria" pitchFamily="34" charset="-122"/>
                <a:cs typeface="Cambria" pitchFamily="34" charset="-120"/>
              </a:rPr>
              <a:t>3〜4年目</a:t>
            </a:r>
            <a:endParaRPr lang="en-US" sz="1500" dirty="0"/>
          </a:p>
        </p:txBody>
      </p:sp>
      <p:sp>
        <p:nvSpPr>
          <p:cNvPr id="18" name="Text 16"/>
          <p:cNvSpPr txBox="1"/>
          <p:nvPr/>
        </p:nvSpPr>
        <p:spPr>
          <a:xfrm>
            <a:off x="841248" y="4700016"/>
            <a:ext cx="1463040" cy="274320"/>
          </a:xfrm>
          <a:prstGeom prst="rect">
            <a:avLst/>
          </a:prstGeom>
          <a:noFill/>
          <a:ln/>
        </p:spPr>
        <p:txBody>
          <a:bodyPr wrap="square" lIns="0" tIns="0" rIns="0" bIns="0" rtlCol="0" anchor="t"/>
          <a:lstStyle/>
          <a:p>
            <a:pPr indent="0" marL="0">
              <a:lnSpc>
                <a:spcPts val="2100"/>
              </a:lnSpc>
              <a:buNone/>
            </a:pPr>
            <a:r>
              <a:rPr lang="en-US" sz="1150" dirty="0">
                <a:solidFill>
                  <a:srgbClr val="6E7A6F"/>
                </a:solidFill>
                <a:latin typeface="Yu Gothic" pitchFamily="34" charset="0"/>
                <a:ea typeface="Yu Gothic" pitchFamily="34" charset="-122"/>
                <a:cs typeface="Yu Gothic" pitchFamily="34" charset="-120"/>
              </a:rPr>
              <a:t>48〜49歳</a:t>
            </a:r>
            <a:endParaRPr lang="en-US" sz="1150" dirty="0"/>
          </a:p>
        </p:txBody>
      </p:sp>
      <p:sp>
        <p:nvSpPr>
          <p:cNvPr id="19" name="Text 17"/>
          <p:cNvSpPr txBox="1"/>
          <p:nvPr/>
        </p:nvSpPr>
        <p:spPr>
          <a:xfrm>
            <a:off x="2578608" y="4425696"/>
            <a:ext cx="8869680" cy="566928"/>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組合員加入 → 理事就任。経営開始資金の受給開始</a:t>
            </a:r>
            <a:endParaRPr lang="en-US" sz="1250" dirty="0"/>
          </a:p>
        </p:txBody>
      </p:sp>
      <p:sp>
        <p:nvSpPr>
          <p:cNvPr id="20" name="Shape 18"/>
          <p:cNvSpPr/>
          <p:nvPr/>
        </p:nvSpPr>
        <p:spPr>
          <a:xfrm>
            <a:off x="566928" y="5102352"/>
            <a:ext cx="11055096" cy="786384"/>
          </a:xfrm>
          <a:prstGeom prst="roundRect">
            <a:avLst>
              <a:gd name="adj" fmla="val 9302"/>
            </a:avLst>
          </a:prstGeom>
          <a:solidFill>
            <a:srgbClr val="F5F7F2"/>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841248" y="5248656"/>
            <a:ext cx="1463040" cy="310896"/>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Cambria" pitchFamily="34" charset="0"/>
                <a:ea typeface="Cambria" pitchFamily="34" charset="-122"/>
                <a:cs typeface="Cambria" pitchFamily="34" charset="-120"/>
              </a:rPr>
              <a:t>5年目〜</a:t>
            </a:r>
            <a:endParaRPr lang="en-US" sz="1500" dirty="0"/>
          </a:p>
        </p:txBody>
      </p:sp>
      <p:sp>
        <p:nvSpPr>
          <p:cNvPr id="22" name="Text 20"/>
          <p:cNvSpPr txBox="1"/>
          <p:nvPr/>
        </p:nvSpPr>
        <p:spPr>
          <a:xfrm>
            <a:off x="841248" y="5559552"/>
            <a:ext cx="1463040" cy="274320"/>
          </a:xfrm>
          <a:prstGeom prst="rect">
            <a:avLst/>
          </a:prstGeom>
          <a:noFill/>
          <a:ln/>
        </p:spPr>
        <p:txBody>
          <a:bodyPr wrap="square" lIns="0" tIns="0" rIns="0" bIns="0" rtlCol="0" anchor="t"/>
          <a:lstStyle/>
          <a:p>
            <a:pPr indent="0" marL="0">
              <a:lnSpc>
                <a:spcPts val="2100"/>
              </a:lnSpc>
              <a:buNone/>
            </a:pPr>
            <a:r>
              <a:rPr lang="en-US" sz="1150" dirty="0">
                <a:solidFill>
                  <a:srgbClr val="6E7A6F"/>
                </a:solidFill>
                <a:latin typeface="Yu Gothic" pitchFamily="34" charset="0"/>
                <a:ea typeface="Yu Gothic" pitchFamily="34" charset="-122"/>
                <a:cs typeface="Yu Gothic" pitchFamily="34" charset="-120"/>
              </a:rPr>
              <a:t>50歳〜</a:t>
            </a:r>
            <a:endParaRPr lang="en-US" sz="1150" dirty="0"/>
          </a:p>
        </p:txBody>
      </p:sp>
      <p:sp>
        <p:nvSpPr>
          <p:cNvPr id="23" name="Text 21"/>
          <p:cNvSpPr txBox="1"/>
          <p:nvPr/>
        </p:nvSpPr>
        <p:spPr>
          <a:xfrm>
            <a:off x="2578608" y="5285232"/>
            <a:ext cx="8869680" cy="566928"/>
          </a:xfrm>
          <a:prstGeom prst="rect">
            <a:avLst/>
          </a:prstGeom>
          <a:noFill/>
          <a:ln/>
        </p:spPr>
        <p:txBody>
          <a:bodyPr wrap="square" lIns="0" tIns="0" rIns="0" bIns="0" rtlCol="0" anchor="t"/>
          <a:lstStyle/>
          <a:p>
            <a:pPr indent="0" marL="0">
              <a:lnSpc>
                <a:spcPts val="1800"/>
              </a:lnSpc>
              <a:buNone/>
            </a:pPr>
            <a:r>
              <a:rPr lang="en-US" sz="1250" dirty="0">
                <a:solidFill>
                  <a:srgbClr val="22282A"/>
                </a:solidFill>
                <a:latin typeface="Yu Gothic" pitchFamily="34" charset="0"/>
                <a:ea typeface="Yu Gothic" pitchFamily="34" charset="-122"/>
                <a:cs typeface="Yu Gothic" pitchFamily="34" charset="-120"/>
              </a:rPr>
              <a:t>代表理事へ。有機・特栽へ転換。学校給食・食育</a:t>
            </a:r>
            <a:endParaRPr lang="en-US" sz="1250" dirty="0"/>
          </a:p>
        </p:txBody>
      </p:sp>
      <p:sp>
        <p:nvSpPr>
          <p:cNvPr id="24" name="Shape 22"/>
          <p:cNvSpPr/>
          <p:nvPr/>
        </p:nvSpPr>
        <p:spPr>
          <a:xfrm>
            <a:off x="566928" y="5998464"/>
            <a:ext cx="11055096" cy="457200"/>
          </a:xfrm>
          <a:prstGeom prst="roundRect">
            <a:avLst>
              <a:gd name="adj" fmla="val 16000"/>
            </a:avLst>
          </a:prstGeom>
          <a:solidFill>
            <a:srgbClr val="FBEDED"/>
          </a:solidFill>
          <a:ln/>
          <a:effectLst>
            <a:outerShdw sx="100000" sy="100000" kx="0" ky="0" algn="bl" rotWithShape="0" blurRad="101600" dist="25400" dir="5400000">
              <a:srgbClr val="000000">
                <a:alpha val="12000"/>
              </a:srgbClr>
            </a:outerShdw>
          </a:effectLst>
        </p:spPr>
      </p:sp>
      <p:sp>
        <p:nvSpPr>
          <p:cNvPr id="25" name="Text 23"/>
          <p:cNvSpPr txBox="1"/>
          <p:nvPr/>
        </p:nvSpPr>
        <p:spPr>
          <a:xfrm>
            <a:off x="841248" y="6099048"/>
            <a:ext cx="10881360" cy="274320"/>
          </a:xfrm>
          <a:prstGeom prst="rect">
            <a:avLst/>
          </a:prstGeom>
          <a:noFill/>
          <a:ln/>
        </p:spPr>
        <p:txBody>
          <a:bodyPr wrap="square" lIns="0" tIns="0" rIns="0" bIns="0" rtlCol="0" anchor="t"/>
          <a:lstStyle/>
          <a:p>
            <a:pPr indent="0" marL="0">
              <a:lnSpc>
                <a:spcPts val="2100"/>
              </a:lnSpc>
              <a:buNone/>
            </a:pPr>
            <a:r>
              <a:rPr lang="en-US" sz="1300" b="1" dirty="0">
                <a:solidFill>
                  <a:srgbClr val="A32E2E"/>
                </a:solidFill>
                <a:latin typeface="Yu Gothic" pitchFamily="34" charset="0"/>
                <a:ea typeface="Yu Gothic" pitchFamily="34" charset="-122"/>
                <a:cs typeface="Yu Gothic" pitchFamily="34" charset="-120"/>
              </a:rPr>
              <a:t>経営開始資金は49歳以下が要件。逆算すると、遅くとも47歳までに動き始める必要がある。</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EQUIPMENT</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ドローンは導入すべきか ― 今ではない</a:t>
            </a:r>
            <a:endParaRPr lang="en-US" sz="3200" dirty="0"/>
          </a:p>
        </p:txBody>
      </p:sp>
      <p:sp>
        <p:nvSpPr>
          <p:cNvPr id="4" name="Shape 2"/>
          <p:cNvSpPr/>
          <p:nvPr/>
        </p:nvSpPr>
        <p:spPr>
          <a:xfrm>
            <a:off x="566928" y="1664208"/>
            <a:ext cx="5399532" cy="1280160"/>
          </a:xfrm>
          <a:prstGeom prst="roundRect">
            <a:avLst>
              <a:gd name="adj" fmla="val 5714"/>
            </a:avLst>
          </a:prstGeom>
          <a:solidFill>
            <a:srgbClr val="F5F7F2"/>
          </a:solidFill>
          <a:ln/>
          <a:effectLst>
            <a:outerShdw sx="100000" sy="100000" kx="0" ky="0" algn="bl" rotWithShape="0" blurRad="101600" dist="25400" dir="5400000">
              <a:srgbClr val="000000">
                <a:alpha val="12000"/>
              </a:srgbClr>
            </a:outerShdw>
          </a:effectLst>
        </p:spPr>
      </p:sp>
      <p:sp>
        <p:nvSpPr>
          <p:cNvPr id="5" name="Shape 3"/>
          <p:cNvSpPr/>
          <p:nvPr/>
        </p:nvSpPr>
        <p:spPr>
          <a:xfrm>
            <a:off x="804672" y="1865376"/>
            <a:ext cx="402336" cy="402336"/>
          </a:xfrm>
          <a:prstGeom prst="ellipse">
            <a:avLst/>
          </a:prstGeom>
          <a:solidFill>
            <a:srgbClr val="A32E2E"/>
          </a:solidFill>
          <a:ln/>
        </p:spPr>
      </p:sp>
      <p:sp>
        <p:nvSpPr>
          <p:cNvPr id="6" name="Text 4"/>
          <p:cNvSpPr txBox="1"/>
          <p:nvPr/>
        </p:nvSpPr>
        <p:spPr>
          <a:xfrm>
            <a:off x="804672" y="18653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389888" y="1883664"/>
            <a:ext cx="4302252" cy="329184"/>
          </a:xfrm>
          <a:prstGeom prst="rect">
            <a:avLst/>
          </a:prstGeom>
          <a:noFill/>
          <a:ln/>
        </p:spPr>
        <p:txBody>
          <a:bodyPr wrap="square" lIns="0" tIns="0" rIns="0" bIns="0" rtlCol="0" anchor="t"/>
          <a:lstStyle/>
          <a:p>
            <a:pPr indent="0" marL="0">
              <a:lnSpc>
                <a:spcPts val="2100"/>
              </a:lnSpc>
              <a:buNone/>
            </a:pPr>
            <a:r>
              <a:rPr lang="en-US" sz="1450" b="1" dirty="0">
                <a:solidFill>
                  <a:srgbClr val="A32E2E"/>
                </a:solidFill>
                <a:latin typeface="Yu Gothic" pitchFamily="34" charset="0"/>
                <a:ea typeface="Yu Gothic" pitchFamily="34" charset="-122"/>
                <a:cs typeface="Yu Gothic" pitchFamily="34" charset="-120"/>
              </a:rPr>
              <a:t>戦略と逆を向いている</a:t>
            </a:r>
            <a:endParaRPr lang="en-US" sz="1450" dirty="0"/>
          </a:p>
        </p:txBody>
      </p:sp>
      <p:sp>
        <p:nvSpPr>
          <p:cNvPr id="8" name="Text 6"/>
          <p:cNvSpPr txBox="1"/>
          <p:nvPr/>
        </p:nvSpPr>
        <p:spPr>
          <a:xfrm>
            <a:off x="841248" y="2286000"/>
            <a:ext cx="4850892" cy="566928"/>
          </a:xfrm>
          <a:prstGeom prst="rect">
            <a:avLst/>
          </a:prstGeom>
          <a:noFill/>
          <a:ln/>
        </p:spPr>
        <p:txBody>
          <a:bodyPr wrap="square" lIns="0" tIns="0" rIns="0" bIns="0" rtlCol="0" anchor="t"/>
          <a:lstStyle/>
          <a:p>
            <a:pPr indent="0" marL="0">
              <a:lnSpc>
                <a:spcPts val="1600"/>
              </a:lnSpc>
              <a:buNone/>
            </a:pPr>
            <a:r>
              <a:rPr lang="en-US" sz="1150" dirty="0">
                <a:solidFill>
                  <a:srgbClr val="22282A"/>
                </a:solidFill>
                <a:latin typeface="Yu Gothic" pitchFamily="34" charset="0"/>
                <a:ea typeface="Yu Gothic" pitchFamily="34" charset="-122"/>
                <a:cs typeface="Yu Gothic" pitchFamily="34" charset="-120"/>
              </a:rPr>
              <a:t>ドローンの主用途は農薬散布。こちらは農薬5割減〜不使用へ向かう。減らすものを効率よく撒く機械に投資することになる</a:t>
            </a:r>
            <a:endParaRPr lang="en-US" sz="1150" dirty="0"/>
          </a:p>
        </p:txBody>
      </p:sp>
      <p:sp>
        <p:nvSpPr>
          <p:cNvPr id="9" name="Shape 7"/>
          <p:cNvSpPr/>
          <p:nvPr/>
        </p:nvSpPr>
        <p:spPr>
          <a:xfrm>
            <a:off x="6222492" y="1664208"/>
            <a:ext cx="5399532" cy="1280160"/>
          </a:xfrm>
          <a:prstGeom prst="roundRect">
            <a:avLst>
              <a:gd name="adj" fmla="val 5714"/>
            </a:avLst>
          </a:prstGeom>
          <a:solidFill>
            <a:srgbClr val="F5F7F2"/>
          </a:solidFill>
          <a:ln/>
          <a:effectLst>
            <a:outerShdw sx="100000" sy="100000" kx="0" ky="0" algn="bl" rotWithShape="0" blurRad="101600" dist="25400" dir="5400000">
              <a:srgbClr val="000000">
                <a:alpha val="12000"/>
              </a:srgbClr>
            </a:outerShdw>
          </a:effectLst>
        </p:spPr>
      </p:sp>
      <p:sp>
        <p:nvSpPr>
          <p:cNvPr id="10" name="Shape 8"/>
          <p:cNvSpPr/>
          <p:nvPr/>
        </p:nvSpPr>
        <p:spPr>
          <a:xfrm>
            <a:off x="6460236" y="1865376"/>
            <a:ext cx="402336" cy="402336"/>
          </a:xfrm>
          <a:prstGeom prst="ellipse">
            <a:avLst/>
          </a:prstGeom>
          <a:solidFill>
            <a:srgbClr val="A32E2E"/>
          </a:solidFill>
          <a:ln/>
        </p:spPr>
      </p:sp>
      <p:sp>
        <p:nvSpPr>
          <p:cNvPr id="11" name="Text 9"/>
          <p:cNvSpPr txBox="1"/>
          <p:nvPr/>
        </p:nvSpPr>
        <p:spPr>
          <a:xfrm>
            <a:off x="6460236" y="186537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2" name="Text 10"/>
          <p:cNvSpPr txBox="1"/>
          <p:nvPr/>
        </p:nvSpPr>
        <p:spPr>
          <a:xfrm>
            <a:off x="7045452" y="1883664"/>
            <a:ext cx="4302252" cy="329184"/>
          </a:xfrm>
          <a:prstGeom prst="rect">
            <a:avLst/>
          </a:prstGeom>
          <a:noFill/>
          <a:ln/>
        </p:spPr>
        <p:txBody>
          <a:bodyPr wrap="square" lIns="0" tIns="0" rIns="0" bIns="0" rtlCol="0" anchor="t"/>
          <a:lstStyle/>
          <a:p>
            <a:pPr indent="0" marL="0">
              <a:lnSpc>
                <a:spcPts val="2100"/>
              </a:lnSpc>
              <a:buNone/>
            </a:pPr>
            <a:r>
              <a:rPr lang="en-US" sz="1450" b="1" dirty="0">
                <a:solidFill>
                  <a:srgbClr val="A32E2E"/>
                </a:solidFill>
                <a:latin typeface="Yu Gothic" pitchFamily="34" charset="0"/>
                <a:ea typeface="Yu Gothic" pitchFamily="34" charset="-122"/>
                <a:cs typeface="Yu Gothic" pitchFamily="34" charset="-120"/>
              </a:rPr>
              <a:t>未経験者が最初に買うものではない</a:t>
            </a:r>
            <a:endParaRPr lang="en-US" sz="1450" dirty="0"/>
          </a:p>
        </p:txBody>
      </p:sp>
      <p:sp>
        <p:nvSpPr>
          <p:cNvPr id="13" name="Text 11"/>
          <p:cNvSpPr txBox="1"/>
          <p:nvPr/>
        </p:nvSpPr>
        <p:spPr>
          <a:xfrm>
            <a:off x="6496812" y="2286000"/>
            <a:ext cx="4850892" cy="566928"/>
          </a:xfrm>
          <a:prstGeom prst="rect">
            <a:avLst/>
          </a:prstGeom>
          <a:noFill/>
          <a:ln/>
        </p:spPr>
        <p:txBody>
          <a:bodyPr wrap="square" lIns="0" tIns="0" rIns="0" bIns="0" rtlCol="0" anchor="t"/>
          <a:lstStyle/>
          <a:p>
            <a:pPr indent="0" marL="0">
              <a:lnSpc>
                <a:spcPts val="1600"/>
              </a:lnSpc>
              <a:buNone/>
            </a:pPr>
            <a:r>
              <a:rPr lang="en-US" sz="1150" dirty="0">
                <a:solidFill>
                  <a:srgbClr val="22282A"/>
                </a:solidFill>
                <a:latin typeface="Yu Gothic" pitchFamily="34" charset="0"/>
                <a:ea typeface="Yu Gothic" pitchFamily="34" charset="-122"/>
                <a:cs typeface="Yu Gothic" pitchFamily="34" charset="-120"/>
              </a:rPr>
              <a:t>防除の本体は「いつ・何を・なぜ撒くか」の判断。散布手段はその末端にすぎない</a:t>
            </a:r>
            <a:endParaRPr lang="en-US" sz="1150" dirty="0"/>
          </a:p>
        </p:txBody>
      </p:sp>
      <p:sp>
        <p:nvSpPr>
          <p:cNvPr id="14" name="Shape 12"/>
          <p:cNvSpPr/>
          <p:nvPr/>
        </p:nvSpPr>
        <p:spPr>
          <a:xfrm>
            <a:off x="566928" y="3081528"/>
            <a:ext cx="5399532" cy="1280160"/>
          </a:xfrm>
          <a:prstGeom prst="roundRect">
            <a:avLst>
              <a:gd name="adj" fmla="val 5714"/>
            </a:avLst>
          </a:prstGeom>
          <a:solidFill>
            <a:srgbClr val="F5F7F2"/>
          </a:solidFill>
          <a:ln/>
          <a:effectLst>
            <a:outerShdw sx="100000" sy="100000" kx="0" ky="0" algn="bl" rotWithShape="0" blurRad="101600" dist="25400" dir="5400000">
              <a:srgbClr val="000000">
                <a:alpha val="12000"/>
              </a:srgbClr>
            </a:outerShdw>
          </a:effectLst>
        </p:spPr>
      </p:sp>
      <p:sp>
        <p:nvSpPr>
          <p:cNvPr id="15" name="Shape 13"/>
          <p:cNvSpPr/>
          <p:nvPr/>
        </p:nvSpPr>
        <p:spPr>
          <a:xfrm>
            <a:off x="804672" y="3282696"/>
            <a:ext cx="402336" cy="402336"/>
          </a:xfrm>
          <a:prstGeom prst="ellipse">
            <a:avLst/>
          </a:prstGeom>
          <a:solidFill>
            <a:srgbClr val="A32E2E"/>
          </a:solidFill>
          <a:ln/>
        </p:spPr>
      </p:sp>
      <p:sp>
        <p:nvSpPr>
          <p:cNvPr id="16" name="Text 14"/>
          <p:cNvSpPr txBox="1"/>
          <p:nvPr/>
        </p:nvSpPr>
        <p:spPr>
          <a:xfrm>
            <a:off x="804672" y="3282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1389888" y="3300984"/>
            <a:ext cx="4302252" cy="329184"/>
          </a:xfrm>
          <a:prstGeom prst="rect">
            <a:avLst/>
          </a:prstGeom>
          <a:noFill/>
          <a:ln/>
        </p:spPr>
        <p:txBody>
          <a:bodyPr wrap="square" lIns="0" tIns="0" rIns="0" bIns="0" rtlCol="0" anchor="t"/>
          <a:lstStyle/>
          <a:p>
            <a:pPr indent="0" marL="0">
              <a:lnSpc>
                <a:spcPts val="2100"/>
              </a:lnSpc>
              <a:buNone/>
            </a:pPr>
            <a:r>
              <a:rPr lang="en-US" sz="1450" b="1" dirty="0">
                <a:solidFill>
                  <a:srgbClr val="A32E2E"/>
                </a:solidFill>
                <a:latin typeface="Yu Gothic" pitchFamily="34" charset="0"/>
                <a:ea typeface="Yu Gothic" pitchFamily="34" charset="-122"/>
                <a:cs typeface="Yu Gothic" pitchFamily="34" charset="-120"/>
              </a:rPr>
              <a:t>経済性が合わない</a:t>
            </a:r>
            <a:endParaRPr lang="en-US" sz="1450" dirty="0"/>
          </a:p>
        </p:txBody>
      </p:sp>
      <p:sp>
        <p:nvSpPr>
          <p:cNvPr id="18" name="Text 16"/>
          <p:cNvSpPr txBox="1"/>
          <p:nvPr/>
        </p:nvSpPr>
        <p:spPr>
          <a:xfrm>
            <a:off x="841248" y="3703320"/>
            <a:ext cx="4850892" cy="566928"/>
          </a:xfrm>
          <a:prstGeom prst="rect">
            <a:avLst/>
          </a:prstGeom>
          <a:noFill/>
          <a:ln/>
        </p:spPr>
        <p:txBody>
          <a:bodyPr wrap="square" lIns="0" tIns="0" rIns="0" bIns="0" rtlCol="0" anchor="t"/>
          <a:lstStyle/>
          <a:p>
            <a:pPr indent="0" marL="0">
              <a:lnSpc>
                <a:spcPts val="1600"/>
              </a:lnSpc>
              <a:buNone/>
            </a:pPr>
            <a:r>
              <a:rPr lang="en-US" sz="1150" dirty="0">
                <a:solidFill>
                  <a:srgbClr val="22282A"/>
                </a:solidFill>
                <a:latin typeface="Yu Gothic" pitchFamily="34" charset="0"/>
                <a:ea typeface="Yu Gothic" pitchFamily="34" charset="-122"/>
                <a:cs typeface="Yu Gothic" pitchFamily="34" charset="-120"/>
              </a:rPr>
              <a:t>機体100〜300万円＋バッテリー・保険・点検に対し、委託は1ha 2〜3万円。水稲10haなら年20〜30万円で済む</a:t>
            </a:r>
            <a:endParaRPr lang="en-US" sz="1150" dirty="0"/>
          </a:p>
        </p:txBody>
      </p:sp>
      <p:sp>
        <p:nvSpPr>
          <p:cNvPr id="19" name="Shape 17"/>
          <p:cNvSpPr/>
          <p:nvPr/>
        </p:nvSpPr>
        <p:spPr>
          <a:xfrm>
            <a:off x="6222492" y="3081528"/>
            <a:ext cx="5399532" cy="1280160"/>
          </a:xfrm>
          <a:prstGeom prst="roundRect">
            <a:avLst>
              <a:gd name="adj" fmla="val 5714"/>
            </a:avLst>
          </a:prstGeom>
          <a:solidFill>
            <a:srgbClr val="F5F7F2"/>
          </a:solidFill>
          <a:ln/>
          <a:effectLst>
            <a:outerShdw sx="100000" sy="100000" kx="0" ky="0" algn="bl" rotWithShape="0" blurRad="101600" dist="25400" dir="5400000">
              <a:srgbClr val="000000">
                <a:alpha val="12000"/>
              </a:srgbClr>
            </a:outerShdw>
          </a:effectLst>
        </p:spPr>
      </p:sp>
      <p:sp>
        <p:nvSpPr>
          <p:cNvPr id="20" name="Shape 18"/>
          <p:cNvSpPr/>
          <p:nvPr/>
        </p:nvSpPr>
        <p:spPr>
          <a:xfrm>
            <a:off x="6460236" y="3282696"/>
            <a:ext cx="402336" cy="402336"/>
          </a:xfrm>
          <a:prstGeom prst="ellipse">
            <a:avLst/>
          </a:prstGeom>
          <a:solidFill>
            <a:srgbClr val="A32E2E"/>
          </a:solidFill>
          <a:ln/>
        </p:spPr>
      </p:sp>
      <p:sp>
        <p:nvSpPr>
          <p:cNvPr id="21" name="Text 19"/>
          <p:cNvSpPr txBox="1"/>
          <p:nvPr/>
        </p:nvSpPr>
        <p:spPr>
          <a:xfrm>
            <a:off x="6460236" y="32826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2" name="Text 20"/>
          <p:cNvSpPr txBox="1"/>
          <p:nvPr/>
        </p:nvSpPr>
        <p:spPr>
          <a:xfrm>
            <a:off x="7045452" y="3300984"/>
            <a:ext cx="4302252" cy="329184"/>
          </a:xfrm>
          <a:prstGeom prst="rect">
            <a:avLst/>
          </a:prstGeom>
          <a:noFill/>
          <a:ln/>
        </p:spPr>
        <p:txBody>
          <a:bodyPr wrap="square" lIns="0" tIns="0" rIns="0" bIns="0" rtlCol="0" anchor="t"/>
          <a:lstStyle/>
          <a:p>
            <a:pPr indent="0" marL="0">
              <a:lnSpc>
                <a:spcPts val="2100"/>
              </a:lnSpc>
              <a:buNone/>
            </a:pPr>
            <a:r>
              <a:rPr lang="en-US" sz="1450" b="1" dirty="0">
                <a:solidFill>
                  <a:srgbClr val="A32E2E"/>
                </a:solidFill>
                <a:latin typeface="Yu Gothic" pitchFamily="34" charset="0"/>
                <a:ea typeface="Yu Gothic" pitchFamily="34" charset="-122"/>
                <a:cs typeface="Yu Gothic" pitchFamily="34" charset="-120"/>
              </a:rPr>
              <a:t>資格が四重に必要</a:t>
            </a:r>
            <a:endParaRPr lang="en-US" sz="1450" dirty="0"/>
          </a:p>
        </p:txBody>
      </p:sp>
      <p:sp>
        <p:nvSpPr>
          <p:cNvPr id="23" name="Text 21"/>
          <p:cNvSpPr txBox="1"/>
          <p:nvPr/>
        </p:nvSpPr>
        <p:spPr>
          <a:xfrm>
            <a:off x="6496812" y="3703320"/>
            <a:ext cx="4850892" cy="566928"/>
          </a:xfrm>
          <a:prstGeom prst="rect">
            <a:avLst/>
          </a:prstGeom>
          <a:noFill/>
          <a:ln/>
        </p:spPr>
        <p:txBody>
          <a:bodyPr wrap="square" lIns="0" tIns="0" rIns="0" bIns="0" rtlCol="0" anchor="t"/>
          <a:lstStyle/>
          <a:p>
            <a:pPr indent="0" marL="0">
              <a:lnSpc>
                <a:spcPts val="1600"/>
              </a:lnSpc>
              <a:buNone/>
            </a:pPr>
            <a:r>
              <a:rPr lang="en-US" sz="1150" dirty="0">
                <a:solidFill>
                  <a:srgbClr val="22282A"/>
                </a:solidFill>
                <a:latin typeface="Yu Gothic" pitchFamily="34" charset="0"/>
                <a:ea typeface="Yu Gothic" pitchFamily="34" charset="-122"/>
                <a:cs typeface="Yu Gothic" pitchFamily="34" charset="-120"/>
              </a:rPr>
              <a:t>二等無人航空機操縦士＋機体認証＋メーカー技能認定＋農薬散布認定。国家資格は散布認定の代わりにならない</a:t>
            </a:r>
            <a:endParaRPr lang="en-US" sz="1150" dirty="0"/>
          </a:p>
        </p:txBody>
      </p:sp>
      <p:sp>
        <p:nvSpPr>
          <p:cNvPr id="24" name="Shape 22"/>
          <p:cNvSpPr/>
          <p:nvPr/>
        </p:nvSpPr>
        <p:spPr>
          <a:xfrm>
            <a:off x="566928" y="4553712"/>
            <a:ext cx="11055096" cy="1170432"/>
          </a:xfrm>
          <a:prstGeom prst="roundRect">
            <a:avLst>
              <a:gd name="adj" fmla="val 6250"/>
            </a:avLst>
          </a:prstGeom>
          <a:solidFill>
            <a:srgbClr val="EAF1E6"/>
          </a:solidFill>
          <a:ln w="12700">
            <a:solidFill>
              <a:srgbClr val="97BC62"/>
            </a:solidFill>
            <a:prstDash val="solid"/>
          </a:ln>
          <a:effectLst>
            <a:outerShdw sx="100000" sy="100000" kx="0" ky="0" algn="bl" rotWithShape="0" blurRad="101600" dist="25400" dir="5400000">
              <a:srgbClr val="000000">
                <a:alpha val="12000"/>
              </a:srgbClr>
            </a:outerShdw>
          </a:effectLst>
        </p:spPr>
      </p:sp>
      <p:sp>
        <p:nvSpPr>
          <p:cNvPr id="25" name="Text 23"/>
          <p:cNvSpPr txBox="1"/>
          <p:nvPr/>
        </p:nvSpPr>
        <p:spPr>
          <a:xfrm>
            <a:off x="859536" y="4700016"/>
            <a:ext cx="5486400" cy="310896"/>
          </a:xfrm>
          <a:prstGeom prst="rect">
            <a:avLst/>
          </a:prstGeom>
          <a:noFill/>
          <a:ln/>
        </p:spPr>
        <p:txBody>
          <a:bodyPr wrap="square" lIns="0" tIns="0" rIns="0" bIns="0" rtlCol="0" anchor="t"/>
          <a:lstStyle/>
          <a:p>
            <a:pPr indent="0" marL="0">
              <a:lnSpc>
                <a:spcPts val="2100"/>
              </a:lnSpc>
              <a:buNone/>
            </a:pPr>
            <a:r>
              <a:rPr lang="en-US" sz="1500" b="1" dirty="0">
                <a:solidFill>
                  <a:srgbClr val="2C5F2D"/>
                </a:solidFill>
                <a:latin typeface="Yu Gothic" pitchFamily="34" charset="0"/>
                <a:ea typeface="Yu Gothic" pitchFamily="34" charset="-122"/>
                <a:cs typeface="Yu Gothic" pitchFamily="34" charset="-120"/>
              </a:rPr>
              <a:t>買うなら、三つの条件が揃ってから</a:t>
            </a:r>
            <a:endParaRPr lang="en-US" sz="1500" dirty="0"/>
          </a:p>
        </p:txBody>
      </p:sp>
      <p:sp>
        <p:nvSpPr>
          <p:cNvPr id="26" name="Text 24"/>
          <p:cNvSpPr txBox="1"/>
          <p:nvPr/>
        </p:nvSpPr>
        <p:spPr>
          <a:xfrm>
            <a:off x="859536" y="5029200"/>
            <a:ext cx="10881360" cy="658368"/>
          </a:xfrm>
          <a:prstGeom prst="rect">
            <a:avLst/>
          </a:prstGeom>
          <a:noFill/>
          <a:ln/>
        </p:spPr>
        <p:txBody>
          <a:bodyPr wrap="square" lIns="0" tIns="0" rIns="0" bIns="0" rtlCol="0" anchor="t"/>
          <a:lstStyle/>
          <a:p>
            <a:pPr marL="342900" indent="-342900">
              <a:lnSpc>
                <a:spcPts val="1700"/>
              </a:lnSpc>
              <a:spcAft>
                <a:spcPts val="300"/>
              </a:spcAft>
              <a:buSzPct val="100000"/>
              <a:buChar char="•"/>
            </a:pPr>
            <a:r>
              <a:rPr lang="en-US" sz="1200" dirty="0">
                <a:solidFill>
                  <a:srgbClr val="22282A"/>
                </a:solidFill>
                <a:latin typeface="Yu Gothic" pitchFamily="34" charset="0"/>
                <a:ea typeface="Yu Gothic" pitchFamily="34" charset="-122"/>
                <a:cs typeface="Yu Gothic" pitchFamily="34" charset="-120"/>
              </a:rPr>
              <a:t>経営を握って3年以上経ち、防除判断を自分でできるようになった</a:t>
            </a:r>
            <a:endParaRPr lang="en-US" sz="1200" dirty="0"/>
          </a:p>
          <a:p>
            <a:pPr marL="342900" indent="-342900">
              <a:lnSpc>
                <a:spcPts val="1700"/>
              </a:lnSpc>
              <a:spcAft>
                <a:spcPts val="300"/>
              </a:spcAft>
              <a:buSzPct val="100000"/>
              <a:buChar char="•"/>
            </a:pPr>
            <a:r>
              <a:rPr lang="en-US" sz="1200" dirty="0">
                <a:solidFill>
                  <a:srgbClr val="22282A"/>
                </a:solidFill>
                <a:latin typeface="Yu Gothic" pitchFamily="34" charset="0"/>
                <a:ea typeface="Yu Gothic" pitchFamily="34" charset="-122"/>
                <a:cs typeface="Yu Gothic" pitchFamily="34" charset="-120"/>
              </a:rPr>
              <a:t>受託作業で稼ぐ目算がある（委託相場1ha 2〜3万円＝受ける側に回れば収入源）</a:t>
            </a:r>
            <a:endParaRPr lang="en-US" sz="1200" dirty="0"/>
          </a:p>
          <a:p>
            <a:pPr marL="342900" indent="-342900">
              <a:lnSpc>
                <a:spcPts val="1700"/>
              </a:lnSpc>
              <a:spcAft>
                <a:spcPts val="300"/>
              </a:spcAft>
              <a:buSzPct val="100000"/>
              <a:buChar char="•"/>
            </a:pPr>
            <a:r>
              <a:rPr lang="en-US" sz="1200" dirty="0">
                <a:solidFill>
                  <a:srgbClr val="22282A"/>
                </a:solidFill>
                <a:latin typeface="Yu Gothic" pitchFamily="34" charset="0"/>
                <a:ea typeface="Yu Gothic" pitchFamily="34" charset="-122"/>
                <a:cs typeface="Yu Gothic" pitchFamily="34" charset="-120"/>
              </a:rPr>
              <a:t>みどり認定を取得済み（機械の特別償却32%。取る前に買うと優遇を丸ごと取り逃す）</a:t>
            </a:r>
            <a:endParaRPr lang="en-US" sz="1200" dirty="0"/>
          </a:p>
        </p:txBody>
      </p:sp>
      <p:sp>
        <p:nvSpPr>
          <p:cNvPr id="27" name="Text 25"/>
          <p:cNvSpPr txBox="1"/>
          <p:nvPr/>
        </p:nvSpPr>
        <p:spPr>
          <a:xfrm>
            <a:off x="566928" y="5925312"/>
            <a:ext cx="11055096" cy="365760"/>
          </a:xfrm>
          <a:prstGeom prst="rect">
            <a:avLst/>
          </a:prstGeom>
          <a:noFill/>
          <a:ln/>
        </p:spPr>
        <p:txBody>
          <a:bodyPr wrap="square" lIns="0" tIns="0" rIns="0" bIns="0" rtlCol="0" anchor="ctr"/>
          <a:lstStyle/>
          <a:p>
            <a:pPr indent="0" marL="0">
              <a:buNone/>
            </a:pPr>
            <a:r>
              <a:rPr lang="en-US" sz="1400" b="1" i="1" dirty="0">
                <a:solidFill>
                  <a:srgbClr val="2C5F2D"/>
                </a:solidFill>
                <a:latin typeface="Yu Gothic" pitchFamily="34" charset="0"/>
                <a:ea typeface="Yu Gothic" pitchFamily="34" charset="-122"/>
                <a:cs typeface="Yu Gothic" pitchFamily="34" charset="-120"/>
              </a:rPr>
              <a:t>今いちばん足りないのはドローンではなく、ウェブ上の存在。機体1台分の予算をサイト・ECに振れば効果は桁違い。</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NETWORK</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北辰農産という伝手</a:t>
            </a:r>
            <a:endParaRPr lang="en-US" sz="3200" dirty="0"/>
          </a:p>
        </p:txBody>
      </p:sp>
      <p:sp>
        <p:nvSpPr>
          <p:cNvPr id="4" name="Shape 2"/>
          <p:cNvSpPr/>
          <p:nvPr/>
        </p:nvSpPr>
        <p:spPr>
          <a:xfrm>
            <a:off x="566928" y="1645920"/>
            <a:ext cx="5029200" cy="4023360"/>
          </a:xfrm>
          <a:prstGeom prst="roundRect">
            <a:avLst>
              <a:gd name="adj" fmla="val 1818"/>
            </a:avLst>
          </a:prstGeom>
          <a:solidFill>
            <a:srgbClr val="F5F7F2"/>
          </a:solidFill>
          <a:ln/>
          <a:effectLst>
            <a:outerShdw sx="100000" sy="100000" kx="0" ky="0" algn="bl" rotWithShape="0" blurRad="101600" dist="25400" dir="5400000">
              <a:srgbClr val="000000">
                <a:alpha val="12000"/>
              </a:srgbClr>
            </a:outerShdw>
          </a:effectLst>
        </p:spPr>
      </p:sp>
      <p:sp>
        <p:nvSpPr>
          <p:cNvPr id="5" name="Text 3"/>
          <p:cNvSpPr txBox="1"/>
          <p:nvPr/>
        </p:nvSpPr>
        <p:spPr>
          <a:xfrm>
            <a:off x="841248" y="1828800"/>
            <a:ext cx="4480560" cy="347472"/>
          </a:xfrm>
          <a:prstGeom prst="rect">
            <a:avLst/>
          </a:prstGeom>
          <a:noFill/>
          <a:ln/>
        </p:spPr>
        <p:txBody>
          <a:bodyPr wrap="square" lIns="0" tIns="0" rIns="0" bIns="0" rtlCol="0" anchor="t"/>
          <a:lstStyle/>
          <a:p>
            <a:pPr indent="0" marL="0">
              <a:lnSpc>
                <a:spcPts val="2100"/>
              </a:lnSpc>
              <a:buNone/>
            </a:pPr>
            <a:r>
              <a:rPr lang="en-US" sz="1600" b="1" dirty="0">
                <a:solidFill>
                  <a:srgbClr val="2C5F2D"/>
                </a:solidFill>
                <a:latin typeface="Yu Gothic" pitchFamily="34" charset="0"/>
                <a:ea typeface="Yu Gothic" pitchFamily="34" charset="-122"/>
                <a:cs typeface="Yu Gothic" pitchFamily="34" charset="-120"/>
              </a:rPr>
              <a:t>目指すべき姿がすぐ隣にある</a:t>
            </a:r>
            <a:endParaRPr lang="en-US" sz="1600" dirty="0"/>
          </a:p>
        </p:txBody>
      </p:sp>
      <p:sp>
        <p:nvSpPr>
          <p:cNvPr id="6" name="Text 4"/>
          <p:cNvSpPr txBox="1"/>
          <p:nvPr/>
        </p:nvSpPr>
        <p:spPr>
          <a:xfrm>
            <a:off x="841248" y="2286000"/>
            <a:ext cx="4480560" cy="2377440"/>
          </a:xfrm>
          <a:prstGeom prst="rect">
            <a:avLst/>
          </a:prstGeom>
          <a:noFill/>
          <a:ln/>
        </p:spPr>
        <p:txBody>
          <a:bodyPr wrap="square" lIns="0" tIns="0" rIns="0" bIns="0" rtlCol="0" anchor="t"/>
          <a:lstStyle/>
          <a:p>
            <a:pPr marL="342900" indent="-342900">
              <a:lnSpc>
                <a:spcPts val="1700"/>
              </a:lnSpc>
              <a:spcAft>
                <a:spcPts val="600"/>
              </a:spcAft>
              <a:buSzPct val="100000"/>
              <a:buChar char="•"/>
            </a:pPr>
            <a:r>
              <a:rPr lang="en-US" sz="1200" dirty="0">
                <a:solidFill>
                  <a:srgbClr val="22282A"/>
                </a:solidFill>
                <a:latin typeface="Yu Gothic" pitchFamily="34" charset="0"/>
                <a:ea typeface="Yu Gothic" pitchFamily="34" charset="-122"/>
                <a:cs typeface="Yu Gothic" pitchFamily="34" charset="-120"/>
              </a:rPr>
              <a:t>減農薬・農薬化学肥料不使用の米づくり（除草剤のみ／慣行比 約73%減）</a:t>
            </a:r>
            <a:endParaRPr lang="en-US" sz="1200" dirty="0"/>
          </a:p>
          <a:p>
            <a:pPr marL="342900" indent="-342900">
              <a:lnSpc>
                <a:spcPts val="1700"/>
              </a:lnSpc>
              <a:spcAft>
                <a:spcPts val="600"/>
              </a:spcAft>
              <a:buSzPct val="100000"/>
              <a:buChar char="•"/>
            </a:pPr>
            <a:r>
              <a:rPr lang="en-US" sz="1200" dirty="0">
                <a:solidFill>
                  <a:srgbClr val="22282A"/>
                </a:solidFill>
                <a:latin typeface="Yu Gothic" pitchFamily="34" charset="0"/>
                <a:ea typeface="Yu Gothic" pitchFamily="34" charset="-122"/>
                <a:cs typeface="Yu Gothic" pitchFamily="34" charset="-120"/>
              </a:rPr>
              <a:t>直営店「稲ほ舎」（2015年開店）＋ EC</a:t>
            </a:r>
            <a:endParaRPr lang="en-US" sz="1200" dirty="0"/>
          </a:p>
          <a:p>
            <a:pPr marL="342900" indent="-342900">
              <a:lnSpc>
                <a:spcPts val="1700"/>
              </a:lnSpc>
              <a:spcAft>
                <a:spcPts val="600"/>
              </a:spcAft>
              <a:buSzPct val="100000"/>
              <a:buChar char="•"/>
            </a:pPr>
            <a:r>
              <a:rPr lang="en-US" sz="1200" dirty="0">
                <a:solidFill>
                  <a:srgbClr val="22282A"/>
                </a:solidFill>
                <a:latin typeface="Yu Gothic" pitchFamily="34" charset="0"/>
                <a:ea typeface="Yu Gothic" pitchFamily="34" charset="-122"/>
                <a:cs typeface="Yu Gothic" pitchFamily="34" charset="-120"/>
              </a:rPr>
              <a:t>米・餅・あられ・かきもち等の無添加加工品</a:t>
            </a:r>
            <a:endParaRPr lang="en-US" sz="1200" dirty="0"/>
          </a:p>
          <a:p>
            <a:pPr marL="342900" indent="-342900">
              <a:lnSpc>
                <a:spcPts val="1700"/>
              </a:lnSpc>
              <a:spcAft>
                <a:spcPts val="600"/>
              </a:spcAft>
              <a:buSzPct val="100000"/>
              <a:buChar char="•"/>
            </a:pPr>
            <a:r>
              <a:rPr lang="en-US" sz="1200" dirty="0">
                <a:solidFill>
                  <a:srgbClr val="22282A"/>
                </a:solidFill>
                <a:latin typeface="Yu Gothic" pitchFamily="34" charset="0"/>
                <a:ea typeface="Yu Gothic" pitchFamily="34" charset="-122"/>
                <a:cs typeface="Yu Gothic" pitchFamily="34" charset="-120"/>
              </a:rPr>
              <a:t>農作業受託</a:t>
            </a:r>
            <a:endParaRPr lang="en-US" sz="1200" dirty="0"/>
          </a:p>
          <a:p>
            <a:pPr marL="342900" indent="-342900">
              <a:lnSpc>
                <a:spcPts val="1700"/>
              </a:lnSpc>
              <a:spcAft>
                <a:spcPts val="600"/>
              </a:spcAft>
              <a:buSzPct val="100000"/>
              <a:buChar char="•"/>
            </a:pPr>
            <a:r>
              <a:rPr lang="en-US" sz="1200" dirty="0">
                <a:solidFill>
                  <a:srgbClr val="22282A"/>
                </a:solidFill>
                <a:latin typeface="Yu Gothic" pitchFamily="34" charset="0"/>
                <a:ea typeface="Yu Gothic" pitchFamily="34" charset="-122"/>
                <a:cs typeface="Yu Gothic" pitchFamily="34" charset="-120"/>
              </a:rPr>
              <a:t>収穫祭・田植え体験会</a:t>
            </a:r>
            <a:endParaRPr lang="en-US" sz="1200" dirty="0"/>
          </a:p>
          <a:p>
            <a:pPr marL="342900" indent="-342900">
              <a:lnSpc>
                <a:spcPts val="1700"/>
              </a:lnSpc>
              <a:spcAft>
                <a:spcPts val="600"/>
              </a:spcAft>
              <a:buSzPct val="100000"/>
              <a:buChar char="•"/>
            </a:pPr>
            <a:r>
              <a:rPr lang="en-US" sz="1200" dirty="0">
                <a:solidFill>
                  <a:srgbClr val="22282A"/>
                </a:solidFill>
                <a:latin typeface="Yu Gothic" pitchFamily="34" charset="0"/>
                <a:ea typeface="Yu Gothic" pitchFamily="34" charset="-122"/>
                <a:cs typeface="Yu Gothic" pitchFamily="34" charset="-120"/>
              </a:rPr>
              <a:t>毎年昇給、ボーナス支給、有給取得が当たり前</a:t>
            </a:r>
            <a:endParaRPr lang="en-US" sz="1200" dirty="0"/>
          </a:p>
          <a:p>
            <a:pPr marL="342900" indent="-342900">
              <a:lnSpc>
                <a:spcPts val="1700"/>
              </a:lnSpc>
              <a:spcAft>
                <a:spcPts val="600"/>
              </a:spcAft>
              <a:buSzPct val="100000"/>
              <a:buChar char="•"/>
            </a:pPr>
            <a:r>
              <a:rPr lang="en-US" sz="1200" dirty="0">
                <a:solidFill>
                  <a:srgbClr val="22282A"/>
                </a:solidFill>
                <a:latin typeface="Yu Gothic" pitchFamily="34" charset="0"/>
                <a:ea typeface="Yu Gothic" pitchFamily="34" charset="-122"/>
                <a:cs typeface="Yu Gothic" pitchFamily="34" charset="-120"/>
              </a:rPr>
              <a:t>SDGs宣言／県農業法人協会・アグリファンド石川 会員</a:t>
            </a:r>
            <a:endParaRPr lang="en-US" sz="1200" dirty="0"/>
          </a:p>
        </p:txBody>
      </p:sp>
      <p:sp>
        <p:nvSpPr>
          <p:cNvPr id="7" name="Text 5"/>
          <p:cNvSpPr txBox="1"/>
          <p:nvPr/>
        </p:nvSpPr>
        <p:spPr>
          <a:xfrm>
            <a:off x="841248" y="4864608"/>
            <a:ext cx="4480560" cy="685800"/>
          </a:xfrm>
          <a:prstGeom prst="rect">
            <a:avLst/>
          </a:prstGeom>
          <a:noFill/>
          <a:ln/>
        </p:spPr>
        <p:txBody>
          <a:bodyPr wrap="square" lIns="0" tIns="0" rIns="0" bIns="0" rtlCol="0" anchor="t"/>
          <a:lstStyle/>
          <a:p>
            <a:pPr indent="0" marL="0">
              <a:lnSpc>
                <a:spcPts val="1800"/>
              </a:lnSpc>
              <a:buNone/>
            </a:pPr>
            <a:r>
              <a:rPr lang="en-US" sz="1200" b="1" dirty="0">
                <a:solidFill>
                  <a:srgbClr val="2C5F2D"/>
                </a:solidFill>
                <a:latin typeface="Yu Gothic" pitchFamily="34" charset="0"/>
                <a:ea typeface="Yu Gothic" pitchFamily="34" charset="-122"/>
                <a:cs typeface="Yu Gothic" pitchFamily="34" charset="-120"/>
              </a:rPr>
              <a:t>「米価が下がっても効く構造」を先に作った会社。米を米として売らず、加工品・店舗・体験で売っている。</a:t>
            </a:r>
            <a:endParaRPr lang="en-US" sz="1200" dirty="0"/>
          </a:p>
        </p:txBody>
      </p:sp>
      <p:sp>
        <p:nvSpPr>
          <p:cNvPr id="8" name="Text 6"/>
          <p:cNvSpPr txBox="1"/>
          <p:nvPr/>
        </p:nvSpPr>
        <p:spPr>
          <a:xfrm>
            <a:off x="5870448" y="1700784"/>
            <a:ext cx="5486400" cy="365760"/>
          </a:xfrm>
          <a:prstGeom prst="rect">
            <a:avLst/>
          </a:prstGeom>
          <a:noFill/>
          <a:ln/>
        </p:spPr>
        <p:txBody>
          <a:bodyPr wrap="square" lIns="0" tIns="0" rIns="0" bIns="0" rtlCol="0" anchor="t"/>
          <a:lstStyle/>
          <a:p>
            <a:pPr indent="0" marL="0">
              <a:lnSpc>
                <a:spcPts val="2100"/>
              </a:lnSpc>
              <a:buNone/>
            </a:pPr>
            <a:r>
              <a:rPr lang="en-US" sz="1800" b="1" dirty="0">
                <a:solidFill>
                  <a:srgbClr val="22282A"/>
                </a:solidFill>
                <a:latin typeface="Cambria" pitchFamily="34" charset="0"/>
                <a:ea typeface="Cambria" pitchFamily="34" charset="-122"/>
                <a:cs typeface="Cambria" pitchFamily="34" charset="-120"/>
              </a:rPr>
              <a:t>伝手の使い方（この順番で）</a:t>
            </a:r>
            <a:endParaRPr lang="en-US" sz="1800" dirty="0"/>
          </a:p>
        </p:txBody>
      </p:sp>
      <p:sp>
        <p:nvSpPr>
          <p:cNvPr id="9" name="Shape 7"/>
          <p:cNvSpPr/>
          <p:nvPr/>
        </p:nvSpPr>
        <p:spPr>
          <a:xfrm>
            <a:off x="5870448" y="2157984"/>
            <a:ext cx="5751576" cy="658368"/>
          </a:xfrm>
          <a:prstGeom prst="roundRect">
            <a:avLst>
              <a:gd name="adj" fmla="val 11111"/>
            </a:avLst>
          </a:prstGeom>
          <a:solidFill>
            <a:srgbClr val="F5F7F2"/>
          </a:solidFill>
          <a:ln/>
          <a:effectLst>
            <a:outerShdw sx="100000" sy="100000" kx="0" ky="0" algn="bl" rotWithShape="0" blurRad="101600" dist="25400" dir="5400000">
              <a:srgbClr val="000000">
                <a:alpha val="12000"/>
              </a:srgbClr>
            </a:outerShdw>
          </a:effectLst>
        </p:spPr>
      </p:sp>
      <p:sp>
        <p:nvSpPr>
          <p:cNvPr id="10" name="Shape 8"/>
          <p:cNvSpPr/>
          <p:nvPr/>
        </p:nvSpPr>
        <p:spPr>
          <a:xfrm>
            <a:off x="6053328" y="2286000"/>
            <a:ext cx="402336" cy="402336"/>
          </a:xfrm>
          <a:prstGeom prst="ellipse">
            <a:avLst/>
          </a:prstGeom>
          <a:solidFill>
            <a:srgbClr val="2C5F2D"/>
          </a:solidFill>
          <a:ln/>
        </p:spPr>
      </p:sp>
      <p:sp>
        <p:nvSpPr>
          <p:cNvPr id="11" name="Text 9"/>
          <p:cNvSpPr txBox="1"/>
          <p:nvPr/>
        </p:nvSpPr>
        <p:spPr>
          <a:xfrm>
            <a:off x="6053328" y="228600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2" name="Text 10"/>
          <p:cNvSpPr txBox="1"/>
          <p:nvPr/>
        </p:nvSpPr>
        <p:spPr>
          <a:xfrm>
            <a:off x="6583680" y="2249424"/>
            <a:ext cx="2651760" cy="274320"/>
          </a:xfrm>
          <a:prstGeom prst="rect">
            <a:avLst/>
          </a:prstGeom>
          <a:noFill/>
          <a:ln/>
        </p:spPr>
        <p:txBody>
          <a:bodyPr wrap="square" lIns="0" tIns="0" rIns="0" bIns="0" rtlCol="0" anchor="t"/>
          <a:lstStyle/>
          <a:p>
            <a:pPr indent="0" marL="0">
              <a:lnSpc>
                <a:spcPts val="2100"/>
              </a:lnSpc>
              <a:buNone/>
            </a:pPr>
            <a:r>
              <a:rPr lang="en-US" sz="1250" b="1" dirty="0">
                <a:solidFill>
                  <a:srgbClr val="2C5F2D"/>
                </a:solidFill>
                <a:latin typeface="Yu Gothic" pitchFamily="34" charset="0"/>
                <a:ea typeface="Yu Gothic" pitchFamily="34" charset="-122"/>
                <a:cs typeface="Yu Gothic" pitchFamily="34" charset="-120"/>
              </a:rPr>
              <a:t>確定給与制の運用を聞く</a:t>
            </a:r>
            <a:endParaRPr lang="en-US" sz="1250" dirty="0"/>
          </a:p>
        </p:txBody>
      </p:sp>
      <p:sp>
        <p:nvSpPr>
          <p:cNvPr id="13" name="Text 11"/>
          <p:cNvSpPr txBox="1"/>
          <p:nvPr/>
        </p:nvSpPr>
        <p:spPr>
          <a:xfrm>
            <a:off x="6583680" y="2505456"/>
            <a:ext cx="5394960" cy="256032"/>
          </a:xfrm>
          <a:prstGeom prst="rect">
            <a:avLst/>
          </a:prstGeom>
          <a:noFill/>
          <a:ln/>
        </p:spPr>
        <p:txBody>
          <a:bodyPr wrap="square" lIns="0" tIns="0" rIns="0" bIns="0" rtlCol="0" anchor="t"/>
          <a:lstStyle/>
          <a:p>
            <a:pPr indent="0" marL="0">
              <a:lnSpc>
                <a:spcPts val="2100"/>
              </a:lnSpc>
              <a:buNone/>
            </a:pPr>
            <a:r>
              <a:rPr lang="en-US" sz="1100" dirty="0">
                <a:solidFill>
                  <a:srgbClr val="6E7A6F"/>
                </a:solidFill>
                <a:latin typeface="Yu Gothic" pitchFamily="34" charset="0"/>
                <a:ea typeface="Yu Gothic" pitchFamily="34" charset="-122"/>
                <a:cs typeface="Yu Gothic" pitchFamily="34" charset="-120"/>
              </a:rPr>
              <a:t>次男の年収と年金に直結。相手も答えやすい質問</a:t>
            </a:r>
            <a:endParaRPr lang="en-US" sz="1100" dirty="0"/>
          </a:p>
        </p:txBody>
      </p:sp>
      <p:sp>
        <p:nvSpPr>
          <p:cNvPr id="14" name="Shape 12"/>
          <p:cNvSpPr/>
          <p:nvPr/>
        </p:nvSpPr>
        <p:spPr>
          <a:xfrm>
            <a:off x="5870448" y="2889504"/>
            <a:ext cx="5751576" cy="658368"/>
          </a:xfrm>
          <a:prstGeom prst="roundRect">
            <a:avLst>
              <a:gd name="adj" fmla="val 11111"/>
            </a:avLst>
          </a:prstGeom>
          <a:solidFill>
            <a:srgbClr val="F5F7F2"/>
          </a:solidFill>
          <a:ln/>
          <a:effectLst>
            <a:outerShdw sx="100000" sy="100000" kx="0" ky="0" algn="bl" rotWithShape="0" blurRad="101600" dist="25400" dir="5400000">
              <a:srgbClr val="000000">
                <a:alpha val="12000"/>
              </a:srgbClr>
            </a:outerShdw>
          </a:effectLst>
        </p:spPr>
      </p:sp>
      <p:sp>
        <p:nvSpPr>
          <p:cNvPr id="15" name="Shape 13"/>
          <p:cNvSpPr/>
          <p:nvPr/>
        </p:nvSpPr>
        <p:spPr>
          <a:xfrm>
            <a:off x="6053328" y="3017520"/>
            <a:ext cx="402336" cy="402336"/>
          </a:xfrm>
          <a:prstGeom prst="ellipse">
            <a:avLst/>
          </a:prstGeom>
          <a:solidFill>
            <a:srgbClr val="2C5F2D"/>
          </a:solidFill>
          <a:ln/>
        </p:spPr>
      </p:sp>
      <p:sp>
        <p:nvSpPr>
          <p:cNvPr id="16" name="Text 14"/>
          <p:cNvSpPr txBox="1"/>
          <p:nvPr/>
        </p:nvSpPr>
        <p:spPr>
          <a:xfrm>
            <a:off x="6053328" y="301752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7" name="Text 15"/>
          <p:cNvSpPr txBox="1"/>
          <p:nvPr/>
        </p:nvSpPr>
        <p:spPr>
          <a:xfrm>
            <a:off x="6583680" y="2980944"/>
            <a:ext cx="2651760" cy="274320"/>
          </a:xfrm>
          <a:prstGeom prst="rect">
            <a:avLst/>
          </a:prstGeom>
          <a:noFill/>
          <a:ln/>
        </p:spPr>
        <p:txBody>
          <a:bodyPr wrap="square" lIns="0" tIns="0" rIns="0" bIns="0" rtlCol="0" anchor="t"/>
          <a:lstStyle/>
          <a:p>
            <a:pPr indent="0" marL="0">
              <a:lnSpc>
                <a:spcPts val="2100"/>
              </a:lnSpc>
              <a:buNone/>
            </a:pPr>
            <a:r>
              <a:rPr lang="en-US" sz="1250" b="1" dirty="0">
                <a:solidFill>
                  <a:srgbClr val="2C5F2D"/>
                </a:solidFill>
                <a:latin typeface="Yu Gothic" pitchFamily="34" charset="0"/>
                <a:ea typeface="Yu Gothic" pitchFamily="34" charset="-122"/>
                <a:cs typeface="Yu Gothic" pitchFamily="34" charset="-120"/>
              </a:rPr>
              <a:t>売上構成の考え方を聞く</a:t>
            </a:r>
            <a:endParaRPr lang="en-US" sz="1250" dirty="0"/>
          </a:p>
        </p:txBody>
      </p:sp>
      <p:sp>
        <p:nvSpPr>
          <p:cNvPr id="18" name="Text 16"/>
          <p:cNvSpPr txBox="1"/>
          <p:nvPr/>
        </p:nvSpPr>
        <p:spPr>
          <a:xfrm>
            <a:off x="6583680" y="3236976"/>
            <a:ext cx="5394960" cy="256032"/>
          </a:xfrm>
          <a:prstGeom prst="rect">
            <a:avLst/>
          </a:prstGeom>
          <a:noFill/>
          <a:ln/>
        </p:spPr>
        <p:txBody>
          <a:bodyPr wrap="square" lIns="0" tIns="0" rIns="0" bIns="0" rtlCol="0" anchor="t"/>
          <a:lstStyle/>
          <a:p>
            <a:pPr indent="0" marL="0">
              <a:lnSpc>
                <a:spcPts val="2100"/>
              </a:lnSpc>
              <a:buNone/>
            </a:pPr>
            <a:r>
              <a:rPr lang="en-US" sz="1100" dirty="0">
                <a:solidFill>
                  <a:srgbClr val="6E7A6F"/>
                </a:solidFill>
                <a:latin typeface="Yu Gothic" pitchFamily="34" charset="0"/>
                <a:ea typeface="Yu Gothic" pitchFamily="34" charset="-122"/>
                <a:cs typeface="Yu Gothic" pitchFamily="34" charset="-120"/>
              </a:rPr>
              <a:t>米・加工品・店舗の比率と粗利率。聞き方は慎重に</a:t>
            </a:r>
            <a:endParaRPr lang="en-US" sz="1100" dirty="0"/>
          </a:p>
        </p:txBody>
      </p:sp>
      <p:sp>
        <p:nvSpPr>
          <p:cNvPr id="19" name="Shape 17"/>
          <p:cNvSpPr/>
          <p:nvPr/>
        </p:nvSpPr>
        <p:spPr>
          <a:xfrm>
            <a:off x="5870448" y="3621024"/>
            <a:ext cx="5751576" cy="658368"/>
          </a:xfrm>
          <a:prstGeom prst="roundRect">
            <a:avLst>
              <a:gd name="adj" fmla="val 11111"/>
            </a:avLst>
          </a:prstGeom>
          <a:solidFill>
            <a:srgbClr val="F5F7F2"/>
          </a:solidFill>
          <a:ln/>
          <a:effectLst>
            <a:outerShdw sx="100000" sy="100000" kx="0" ky="0" algn="bl" rotWithShape="0" blurRad="101600" dist="25400" dir="5400000">
              <a:srgbClr val="000000">
                <a:alpha val="12000"/>
              </a:srgbClr>
            </a:outerShdw>
          </a:effectLst>
        </p:spPr>
      </p:sp>
      <p:sp>
        <p:nvSpPr>
          <p:cNvPr id="20" name="Shape 18"/>
          <p:cNvSpPr/>
          <p:nvPr/>
        </p:nvSpPr>
        <p:spPr>
          <a:xfrm>
            <a:off x="6053328" y="3749040"/>
            <a:ext cx="402336" cy="402336"/>
          </a:xfrm>
          <a:prstGeom prst="ellipse">
            <a:avLst/>
          </a:prstGeom>
          <a:solidFill>
            <a:srgbClr val="2C5F2D"/>
          </a:solidFill>
          <a:ln/>
        </p:spPr>
      </p:sp>
      <p:sp>
        <p:nvSpPr>
          <p:cNvPr id="21" name="Text 19"/>
          <p:cNvSpPr txBox="1"/>
          <p:nvPr/>
        </p:nvSpPr>
        <p:spPr>
          <a:xfrm>
            <a:off x="6053328" y="374904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2" name="Text 20"/>
          <p:cNvSpPr txBox="1"/>
          <p:nvPr/>
        </p:nvSpPr>
        <p:spPr>
          <a:xfrm>
            <a:off x="6583680" y="3712464"/>
            <a:ext cx="2651760" cy="274320"/>
          </a:xfrm>
          <a:prstGeom prst="rect">
            <a:avLst/>
          </a:prstGeom>
          <a:noFill/>
          <a:ln/>
        </p:spPr>
        <p:txBody>
          <a:bodyPr wrap="square" lIns="0" tIns="0" rIns="0" bIns="0" rtlCol="0" anchor="t"/>
          <a:lstStyle/>
          <a:p>
            <a:pPr indent="0" marL="0">
              <a:lnSpc>
                <a:spcPts val="2100"/>
              </a:lnSpc>
              <a:buNone/>
            </a:pPr>
            <a:r>
              <a:rPr lang="en-US" sz="1250" b="1" dirty="0">
                <a:solidFill>
                  <a:srgbClr val="2C5F2D"/>
                </a:solidFill>
                <a:latin typeface="Yu Gothic" pitchFamily="34" charset="0"/>
                <a:ea typeface="Yu Gothic" pitchFamily="34" charset="-122"/>
                <a:cs typeface="Yu Gothic" pitchFamily="34" charset="-120"/>
              </a:rPr>
              <a:t>稲ほ舎への原料供給・棚の相談</a:t>
            </a:r>
            <a:endParaRPr lang="en-US" sz="1250" dirty="0"/>
          </a:p>
        </p:txBody>
      </p:sp>
      <p:sp>
        <p:nvSpPr>
          <p:cNvPr id="23" name="Text 21"/>
          <p:cNvSpPr txBox="1"/>
          <p:nvPr/>
        </p:nvSpPr>
        <p:spPr>
          <a:xfrm>
            <a:off x="6583680" y="3968496"/>
            <a:ext cx="5394960" cy="256032"/>
          </a:xfrm>
          <a:prstGeom prst="rect">
            <a:avLst/>
          </a:prstGeom>
          <a:noFill/>
          <a:ln/>
        </p:spPr>
        <p:txBody>
          <a:bodyPr wrap="square" lIns="0" tIns="0" rIns="0" bIns="0" rtlCol="0" anchor="t"/>
          <a:lstStyle/>
          <a:p>
            <a:pPr indent="0" marL="0">
              <a:lnSpc>
                <a:spcPts val="2100"/>
              </a:lnSpc>
              <a:buNone/>
            </a:pPr>
            <a:r>
              <a:rPr lang="en-US" sz="1100" dirty="0">
                <a:solidFill>
                  <a:srgbClr val="6E7A6F"/>
                </a:solidFill>
                <a:latin typeface="Yu Gothic" pitchFamily="34" charset="0"/>
                <a:ea typeface="Yu Gothic" pitchFamily="34" charset="-122"/>
                <a:cs typeface="Yu Gothic" pitchFamily="34" charset="-120"/>
              </a:rPr>
              <a:t>いきなり競合せず、まず供給側で入る</a:t>
            </a:r>
            <a:endParaRPr lang="en-US" sz="1100" dirty="0"/>
          </a:p>
        </p:txBody>
      </p:sp>
      <p:sp>
        <p:nvSpPr>
          <p:cNvPr id="24" name="Shape 22"/>
          <p:cNvSpPr/>
          <p:nvPr/>
        </p:nvSpPr>
        <p:spPr>
          <a:xfrm>
            <a:off x="5870448" y="4352544"/>
            <a:ext cx="5751576" cy="658368"/>
          </a:xfrm>
          <a:prstGeom prst="roundRect">
            <a:avLst>
              <a:gd name="adj" fmla="val 11111"/>
            </a:avLst>
          </a:prstGeom>
          <a:solidFill>
            <a:srgbClr val="F5F7F2"/>
          </a:solidFill>
          <a:ln/>
          <a:effectLst>
            <a:outerShdw sx="100000" sy="100000" kx="0" ky="0" algn="bl" rotWithShape="0" blurRad="101600" dist="25400" dir="5400000">
              <a:srgbClr val="000000">
                <a:alpha val="12000"/>
              </a:srgbClr>
            </a:outerShdw>
          </a:effectLst>
        </p:spPr>
      </p:sp>
      <p:sp>
        <p:nvSpPr>
          <p:cNvPr id="25" name="Shape 23"/>
          <p:cNvSpPr/>
          <p:nvPr/>
        </p:nvSpPr>
        <p:spPr>
          <a:xfrm>
            <a:off x="6053328" y="4480560"/>
            <a:ext cx="402336" cy="402336"/>
          </a:xfrm>
          <a:prstGeom prst="ellipse">
            <a:avLst/>
          </a:prstGeom>
          <a:solidFill>
            <a:srgbClr val="2C5F2D"/>
          </a:solidFill>
          <a:ln/>
        </p:spPr>
      </p:sp>
      <p:sp>
        <p:nvSpPr>
          <p:cNvPr id="26" name="Text 24"/>
          <p:cNvSpPr txBox="1"/>
          <p:nvPr/>
        </p:nvSpPr>
        <p:spPr>
          <a:xfrm>
            <a:off x="6053328" y="448056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27" name="Text 25"/>
          <p:cNvSpPr txBox="1"/>
          <p:nvPr/>
        </p:nvSpPr>
        <p:spPr>
          <a:xfrm>
            <a:off x="6583680" y="4443984"/>
            <a:ext cx="2651760" cy="274320"/>
          </a:xfrm>
          <a:prstGeom prst="rect">
            <a:avLst/>
          </a:prstGeom>
          <a:noFill/>
          <a:ln/>
        </p:spPr>
        <p:txBody>
          <a:bodyPr wrap="square" lIns="0" tIns="0" rIns="0" bIns="0" rtlCol="0" anchor="t"/>
          <a:lstStyle/>
          <a:p>
            <a:pPr indent="0" marL="0">
              <a:lnSpc>
                <a:spcPts val="2100"/>
              </a:lnSpc>
              <a:buNone/>
            </a:pPr>
            <a:r>
              <a:rPr lang="en-US" sz="1250" b="1" dirty="0">
                <a:solidFill>
                  <a:srgbClr val="2C5F2D"/>
                </a:solidFill>
                <a:latin typeface="Yu Gothic" pitchFamily="34" charset="0"/>
                <a:ea typeface="Yu Gothic" pitchFamily="34" charset="-122"/>
                <a:cs typeface="Yu Gothic" pitchFamily="34" charset="-120"/>
              </a:rPr>
              <a:t>県農業法人協会への紹介</a:t>
            </a:r>
            <a:endParaRPr lang="en-US" sz="1250" dirty="0"/>
          </a:p>
        </p:txBody>
      </p:sp>
      <p:sp>
        <p:nvSpPr>
          <p:cNvPr id="28" name="Text 26"/>
          <p:cNvSpPr txBox="1"/>
          <p:nvPr/>
        </p:nvSpPr>
        <p:spPr>
          <a:xfrm>
            <a:off x="6583680" y="4700016"/>
            <a:ext cx="5394960" cy="256032"/>
          </a:xfrm>
          <a:prstGeom prst="rect">
            <a:avLst/>
          </a:prstGeom>
          <a:noFill/>
          <a:ln/>
        </p:spPr>
        <p:txBody>
          <a:bodyPr wrap="square" lIns="0" tIns="0" rIns="0" bIns="0" rtlCol="0" anchor="t"/>
          <a:lstStyle/>
          <a:p>
            <a:pPr indent="0" marL="0">
              <a:lnSpc>
                <a:spcPts val="2100"/>
              </a:lnSpc>
              <a:buNone/>
            </a:pPr>
            <a:r>
              <a:rPr lang="en-US" sz="1100" dirty="0">
                <a:solidFill>
                  <a:srgbClr val="6E7A6F"/>
                </a:solidFill>
                <a:latin typeface="Yu Gothic" pitchFamily="34" charset="0"/>
                <a:ea typeface="Yu Gothic" pitchFamily="34" charset="-122"/>
                <a:cs typeface="Yu Gothic" pitchFamily="34" charset="-120"/>
              </a:rPr>
              <a:t>紺多農園は未加入。情報量が桁違いになる</a:t>
            </a:r>
            <a:endParaRPr lang="en-US" sz="1100" dirty="0"/>
          </a:p>
        </p:txBody>
      </p:sp>
      <p:sp>
        <p:nvSpPr>
          <p:cNvPr id="29" name="Shape 27"/>
          <p:cNvSpPr/>
          <p:nvPr/>
        </p:nvSpPr>
        <p:spPr>
          <a:xfrm>
            <a:off x="5870448" y="5084064"/>
            <a:ext cx="5751576" cy="658368"/>
          </a:xfrm>
          <a:prstGeom prst="roundRect">
            <a:avLst>
              <a:gd name="adj" fmla="val 11111"/>
            </a:avLst>
          </a:prstGeom>
          <a:solidFill>
            <a:srgbClr val="F5F7F2"/>
          </a:solidFill>
          <a:ln/>
          <a:effectLst>
            <a:outerShdw sx="100000" sy="100000" kx="0" ky="0" algn="bl" rotWithShape="0" blurRad="101600" dist="25400" dir="5400000">
              <a:srgbClr val="000000">
                <a:alpha val="12000"/>
              </a:srgbClr>
            </a:outerShdw>
          </a:effectLst>
        </p:spPr>
      </p:sp>
      <p:sp>
        <p:nvSpPr>
          <p:cNvPr id="30" name="Shape 28"/>
          <p:cNvSpPr/>
          <p:nvPr/>
        </p:nvSpPr>
        <p:spPr>
          <a:xfrm>
            <a:off x="6053328" y="5212080"/>
            <a:ext cx="402336" cy="402336"/>
          </a:xfrm>
          <a:prstGeom prst="ellipse">
            <a:avLst/>
          </a:prstGeom>
          <a:solidFill>
            <a:srgbClr val="2C5F2D"/>
          </a:solidFill>
          <a:ln/>
        </p:spPr>
      </p:sp>
      <p:sp>
        <p:nvSpPr>
          <p:cNvPr id="31" name="Text 29"/>
          <p:cNvSpPr txBox="1"/>
          <p:nvPr/>
        </p:nvSpPr>
        <p:spPr>
          <a:xfrm>
            <a:off x="6053328" y="5212080"/>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5</a:t>
            </a:r>
            <a:endParaRPr lang="en-US" sz="1500" dirty="0"/>
          </a:p>
        </p:txBody>
      </p:sp>
      <p:sp>
        <p:nvSpPr>
          <p:cNvPr id="32" name="Text 30"/>
          <p:cNvSpPr txBox="1"/>
          <p:nvPr/>
        </p:nvSpPr>
        <p:spPr>
          <a:xfrm>
            <a:off x="6583680" y="5175504"/>
            <a:ext cx="2651760" cy="274320"/>
          </a:xfrm>
          <a:prstGeom prst="rect">
            <a:avLst/>
          </a:prstGeom>
          <a:noFill/>
          <a:ln/>
        </p:spPr>
        <p:txBody>
          <a:bodyPr wrap="square" lIns="0" tIns="0" rIns="0" bIns="0" rtlCol="0" anchor="t"/>
          <a:lstStyle/>
          <a:p>
            <a:pPr indent="0" marL="0">
              <a:lnSpc>
                <a:spcPts val="2100"/>
              </a:lnSpc>
              <a:buNone/>
            </a:pPr>
            <a:r>
              <a:rPr lang="en-US" sz="1250" b="1" dirty="0">
                <a:solidFill>
                  <a:srgbClr val="2C5F2D"/>
                </a:solidFill>
                <a:latin typeface="Yu Gothic" pitchFamily="34" charset="0"/>
                <a:ea typeface="Yu Gothic" pitchFamily="34" charset="-122"/>
                <a:cs typeface="Yu Gothic" pitchFamily="34" charset="-120"/>
              </a:rPr>
              <a:t>6次産業化の失敗談を聞く</a:t>
            </a:r>
            <a:endParaRPr lang="en-US" sz="1250" dirty="0"/>
          </a:p>
        </p:txBody>
      </p:sp>
      <p:sp>
        <p:nvSpPr>
          <p:cNvPr id="33" name="Text 31"/>
          <p:cNvSpPr txBox="1"/>
          <p:nvPr/>
        </p:nvSpPr>
        <p:spPr>
          <a:xfrm>
            <a:off x="6583680" y="5431536"/>
            <a:ext cx="5394960" cy="256032"/>
          </a:xfrm>
          <a:prstGeom prst="rect">
            <a:avLst/>
          </a:prstGeom>
          <a:noFill/>
          <a:ln/>
        </p:spPr>
        <p:txBody>
          <a:bodyPr wrap="square" lIns="0" tIns="0" rIns="0" bIns="0" rtlCol="0" anchor="t"/>
          <a:lstStyle/>
          <a:p>
            <a:pPr indent="0" marL="0">
              <a:lnSpc>
                <a:spcPts val="2100"/>
              </a:lnSpc>
              <a:buNone/>
            </a:pPr>
            <a:r>
              <a:rPr lang="en-US" sz="1100" dirty="0">
                <a:solidFill>
                  <a:srgbClr val="6E7A6F"/>
                </a:solidFill>
                <a:latin typeface="Yu Gothic" pitchFamily="34" charset="0"/>
                <a:ea typeface="Yu Gothic" pitchFamily="34" charset="-122"/>
                <a:cs typeface="Yu Gothic" pitchFamily="34" charset="-120"/>
              </a:rPr>
              <a:t>加工場は数千万円単位。ここで潰れる農家が多い</a:t>
            </a:r>
            <a:endParaRPr lang="en-US" sz="1100" dirty="0"/>
          </a:p>
        </p:txBody>
      </p:sp>
      <p:sp>
        <p:nvSpPr>
          <p:cNvPr id="34" name="Shape 32"/>
          <p:cNvSpPr/>
          <p:nvPr/>
        </p:nvSpPr>
        <p:spPr>
          <a:xfrm>
            <a:off x="5870448" y="5852160"/>
            <a:ext cx="5751576" cy="603504"/>
          </a:xfrm>
          <a:prstGeom prst="roundRect">
            <a:avLst>
              <a:gd name="adj" fmla="val 12121"/>
            </a:avLst>
          </a:prstGeom>
          <a:solidFill>
            <a:srgbClr val="FBEDED"/>
          </a:solidFill>
          <a:ln/>
          <a:effectLst>
            <a:outerShdw sx="100000" sy="100000" kx="0" ky="0" algn="bl" rotWithShape="0" blurRad="101600" dist="25400" dir="5400000">
              <a:srgbClr val="000000">
                <a:alpha val="12000"/>
              </a:srgbClr>
            </a:outerShdw>
          </a:effectLst>
        </p:spPr>
      </p:sp>
      <p:sp>
        <p:nvSpPr>
          <p:cNvPr id="35" name="Text 33"/>
          <p:cNvSpPr txBox="1"/>
          <p:nvPr/>
        </p:nvSpPr>
        <p:spPr>
          <a:xfrm>
            <a:off x="6108192" y="5961888"/>
            <a:ext cx="6035040" cy="402336"/>
          </a:xfrm>
          <a:prstGeom prst="rect">
            <a:avLst/>
          </a:prstGeom>
          <a:noFill/>
          <a:ln/>
        </p:spPr>
        <p:txBody>
          <a:bodyPr wrap="square" lIns="0" tIns="0" rIns="0" bIns="0" rtlCol="0" anchor="t"/>
          <a:lstStyle/>
          <a:p>
            <a:pPr indent="0" marL="0">
              <a:lnSpc>
                <a:spcPts val="1500"/>
              </a:lnSpc>
              <a:buNone/>
            </a:pPr>
            <a:r>
              <a:rPr lang="en-US" sz="1100" b="1" dirty="0">
                <a:solidFill>
                  <a:srgbClr val="A32E2E"/>
                </a:solidFill>
                <a:latin typeface="Yu Gothic" pitchFamily="34" charset="0"/>
                <a:ea typeface="Yu Gothic" pitchFamily="34" charset="-122"/>
                <a:cs typeface="Yu Gothic" pitchFamily="34" charset="-120"/>
              </a:rPr>
              <a:t>同じ「減農薬米の直販」をやればいずれ競合する。最初は競合しない領域で組む。伝手は一度壊すと戻らない。</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FUTURE 1</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大規模化はトレンドである ― ただし罠がある</a:t>
            </a:r>
            <a:endParaRPr lang="en-US" sz="3200" dirty="0"/>
          </a:p>
        </p:txBody>
      </p:sp>
      <p:sp>
        <p:nvSpPr>
          <p:cNvPr id="4" name="Shape 2"/>
          <p:cNvSpPr/>
          <p:nvPr/>
        </p:nvSpPr>
        <p:spPr>
          <a:xfrm>
            <a:off x="566928" y="1572768"/>
            <a:ext cx="2592324" cy="1298448"/>
          </a:xfrm>
          <a:prstGeom prst="roundRect">
            <a:avLst>
              <a:gd name="adj" fmla="val 5634"/>
            </a:avLst>
          </a:prstGeom>
          <a:solidFill>
            <a:srgbClr val="F5F7F2"/>
          </a:solidFill>
          <a:ln/>
          <a:effectLst>
            <a:outerShdw sx="100000" sy="100000" kx="0" ky="0" algn="bl" rotWithShape="0" blurRad="101600" dist="25400" dir="5400000">
              <a:srgbClr val="000000">
                <a:alpha val="12000"/>
              </a:srgbClr>
            </a:outerShdw>
          </a:effectLst>
        </p:spPr>
      </p:sp>
      <p:sp>
        <p:nvSpPr>
          <p:cNvPr id="5" name="Text 3"/>
          <p:cNvSpPr txBox="1"/>
          <p:nvPr/>
        </p:nvSpPr>
        <p:spPr>
          <a:xfrm>
            <a:off x="749808" y="1719072"/>
            <a:ext cx="2226564" cy="502920"/>
          </a:xfrm>
          <a:prstGeom prst="rect">
            <a:avLst/>
          </a:prstGeom>
          <a:noFill/>
          <a:ln/>
        </p:spPr>
        <p:txBody>
          <a:bodyPr wrap="square" lIns="0" tIns="0" rIns="0" bIns="0" rtlCol="0" anchor="t"/>
          <a:lstStyle/>
          <a:p>
            <a:pPr algn="ctr" indent="0" marL="0">
              <a:lnSpc>
                <a:spcPts val="2100"/>
              </a:lnSpc>
              <a:buNone/>
            </a:pPr>
            <a:r>
              <a:rPr lang="en-US" sz="2800" b="1" dirty="0">
                <a:solidFill>
                  <a:srgbClr val="2C5F2D"/>
                </a:solidFill>
                <a:latin typeface="Cambria" pitchFamily="34" charset="0"/>
                <a:ea typeface="Cambria" pitchFamily="34" charset="-122"/>
                <a:cs typeface="Cambria" pitchFamily="34" charset="-120"/>
              </a:rPr>
              <a:t>83万6千</a:t>
            </a:r>
            <a:endParaRPr lang="en-US" sz="2800" dirty="0"/>
          </a:p>
        </p:txBody>
      </p:sp>
      <p:sp>
        <p:nvSpPr>
          <p:cNvPr id="6" name="Text 4"/>
          <p:cNvSpPr txBox="1"/>
          <p:nvPr/>
        </p:nvSpPr>
        <p:spPr>
          <a:xfrm>
            <a:off x="749808" y="2249424"/>
            <a:ext cx="2226564" cy="548640"/>
          </a:xfrm>
          <a:prstGeom prst="rect">
            <a:avLst/>
          </a:prstGeom>
          <a:noFill/>
          <a:ln/>
        </p:spPr>
        <p:txBody>
          <a:bodyPr wrap="square" lIns="0" tIns="0" rIns="0" bIns="0" rtlCol="0" anchor="t"/>
          <a:lstStyle/>
          <a:p>
            <a:pPr algn="ctr" indent="0" marL="0">
              <a:lnSpc>
                <a:spcPts val="1500"/>
              </a:lnSpc>
              <a:buNone/>
            </a:pPr>
            <a:r>
              <a:rPr lang="en-US" sz="1050" dirty="0">
                <a:solidFill>
                  <a:srgbClr val="6E7A6F"/>
                </a:solidFill>
                <a:latin typeface="Yu Gothic" pitchFamily="34" charset="0"/>
                <a:ea typeface="Yu Gothic" pitchFamily="34" charset="-122"/>
                <a:cs typeface="Yu Gothic" pitchFamily="34" charset="-120"/>
              </a:rPr>
              <a:t>農業経営体数</a:t>
            </a:r>
            <a:endParaRPr lang="en-US" sz="1050" dirty="0"/>
          </a:p>
          <a:p>
            <a:pPr algn="ctr" indent="0" marL="0">
              <a:lnSpc>
                <a:spcPts val="1500"/>
              </a:lnSpc>
              <a:buNone/>
            </a:pPr>
            <a:r>
              <a:rPr lang="en-US" sz="1050" dirty="0">
                <a:solidFill>
                  <a:srgbClr val="6E7A6F"/>
                </a:solidFill>
                <a:latin typeface="Yu Gothic" pitchFamily="34" charset="0"/>
                <a:ea typeface="Yu Gothic" pitchFamily="34" charset="-122"/>
                <a:cs typeface="Yu Gothic" pitchFamily="34" charset="-120"/>
              </a:rPr>
              <a:t>5年で24万減（▲22.3%）</a:t>
            </a:r>
            <a:endParaRPr lang="en-US" sz="1050" dirty="0"/>
          </a:p>
        </p:txBody>
      </p:sp>
      <p:sp>
        <p:nvSpPr>
          <p:cNvPr id="7" name="Shape 5"/>
          <p:cNvSpPr/>
          <p:nvPr/>
        </p:nvSpPr>
        <p:spPr>
          <a:xfrm>
            <a:off x="3387852" y="1572768"/>
            <a:ext cx="2592324" cy="1298448"/>
          </a:xfrm>
          <a:prstGeom prst="roundRect">
            <a:avLst>
              <a:gd name="adj" fmla="val 5634"/>
            </a:avLst>
          </a:prstGeom>
          <a:solidFill>
            <a:srgbClr val="F5F7F2"/>
          </a:solidFill>
          <a:ln/>
          <a:effectLst>
            <a:outerShdw sx="100000" sy="100000" kx="0" ky="0" algn="bl" rotWithShape="0" blurRad="101600" dist="25400" dir="5400000">
              <a:srgbClr val="000000">
                <a:alpha val="12000"/>
              </a:srgbClr>
            </a:outerShdw>
          </a:effectLst>
        </p:spPr>
      </p:sp>
      <p:sp>
        <p:nvSpPr>
          <p:cNvPr id="8" name="Text 6"/>
          <p:cNvSpPr txBox="1"/>
          <p:nvPr/>
        </p:nvSpPr>
        <p:spPr>
          <a:xfrm>
            <a:off x="3570732" y="1719072"/>
            <a:ext cx="2226564" cy="502920"/>
          </a:xfrm>
          <a:prstGeom prst="rect">
            <a:avLst/>
          </a:prstGeom>
          <a:noFill/>
          <a:ln/>
        </p:spPr>
        <p:txBody>
          <a:bodyPr wrap="square" lIns="0" tIns="0" rIns="0" bIns="0" rtlCol="0" anchor="t"/>
          <a:lstStyle/>
          <a:p>
            <a:pPr algn="ctr" indent="0" marL="0">
              <a:lnSpc>
                <a:spcPts val="2100"/>
              </a:lnSpc>
              <a:buNone/>
            </a:pPr>
            <a:r>
              <a:rPr lang="en-US" sz="2800" b="1" dirty="0">
                <a:solidFill>
                  <a:srgbClr val="2C5F2D"/>
                </a:solidFill>
                <a:latin typeface="Cambria" pitchFamily="34" charset="0"/>
                <a:ea typeface="Cambria" pitchFamily="34" charset="-122"/>
                <a:cs typeface="Cambria" pitchFamily="34" charset="-120"/>
              </a:rPr>
              <a:t>3.6ha</a:t>
            </a:r>
            <a:endParaRPr lang="en-US" sz="2800" dirty="0"/>
          </a:p>
        </p:txBody>
      </p:sp>
      <p:sp>
        <p:nvSpPr>
          <p:cNvPr id="9" name="Text 7"/>
          <p:cNvSpPr txBox="1"/>
          <p:nvPr/>
        </p:nvSpPr>
        <p:spPr>
          <a:xfrm>
            <a:off x="3570732" y="2249424"/>
            <a:ext cx="2226564" cy="548640"/>
          </a:xfrm>
          <a:prstGeom prst="rect">
            <a:avLst/>
          </a:prstGeom>
          <a:noFill/>
          <a:ln/>
        </p:spPr>
        <p:txBody>
          <a:bodyPr wrap="square" lIns="0" tIns="0" rIns="0" bIns="0" rtlCol="0" anchor="t"/>
          <a:lstStyle/>
          <a:p>
            <a:pPr algn="ctr" indent="0" marL="0">
              <a:lnSpc>
                <a:spcPts val="1500"/>
              </a:lnSpc>
              <a:buNone/>
            </a:pPr>
            <a:r>
              <a:rPr lang="en-US" sz="1050" dirty="0">
                <a:solidFill>
                  <a:srgbClr val="6E7A6F"/>
                </a:solidFill>
                <a:latin typeface="Yu Gothic" pitchFamily="34" charset="0"/>
                <a:ea typeface="Yu Gothic" pitchFamily="34" charset="-122"/>
                <a:cs typeface="Yu Gothic" pitchFamily="34" charset="-120"/>
              </a:rPr>
              <a:t>1経営体あたり面積</a:t>
            </a:r>
            <a:endParaRPr lang="en-US" sz="1050" dirty="0"/>
          </a:p>
          <a:p>
            <a:pPr algn="ctr" indent="0" marL="0">
              <a:lnSpc>
                <a:spcPts val="1500"/>
              </a:lnSpc>
              <a:buNone/>
            </a:pPr>
            <a:r>
              <a:rPr lang="en-US" sz="1050" dirty="0">
                <a:solidFill>
                  <a:srgbClr val="6E7A6F"/>
                </a:solidFill>
                <a:latin typeface="Yu Gothic" pitchFamily="34" charset="0"/>
                <a:ea typeface="Yu Gothic" pitchFamily="34" charset="-122"/>
                <a:cs typeface="Yu Gothic" pitchFamily="34" charset="-120"/>
              </a:rPr>
              <a:t>10年で48%拡大</a:t>
            </a:r>
            <a:endParaRPr lang="en-US" sz="1050" dirty="0"/>
          </a:p>
        </p:txBody>
      </p:sp>
      <p:sp>
        <p:nvSpPr>
          <p:cNvPr id="10" name="Shape 8"/>
          <p:cNvSpPr/>
          <p:nvPr/>
        </p:nvSpPr>
        <p:spPr>
          <a:xfrm>
            <a:off x="6208776" y="1572768"/>
            <a:ext cx="2592324" cy="1298448"/>
          </a:xfrm>
          <a:prstGeom prst="roundRect">
            <a:avLst>
              <a:gd name="adj" fmla="val 5634"/>
            </a:avLst>
          </a:prstGeom>
          <a:solidFill>
            <a:srgbClr val="F5F7F2"/>
          </a:solidFill>
          <a:ln/>
          <a:effectLst>
            <a:outerShdw sx="100000" sy="100000" kx="0" ky="0" algn="bl" rotWithShape="0" blurRad="101600" dist="25400" dir="5400000">
              <a:srgbClr val="000000">
                <a:alpha val="12000"/>
              </a:srgbClr>
            </a:outerShdw>
          </a:effectLst>
        </p:spPr>
      </p:sp>
      <p:sp>
        <p:nvSpPr>
          <p:cNvPr id="11" name="Text 9"/>
          <p:cNvSpPr txBox="1"/>
          <p:nvPr/>
        </p:nvSpPr>
        <p:spPr>
          <a:xfrm>
            <a:off x="6391656" y="1719072"/>
            <a:ext cx="2226564" cy="502920"/>
          </a:xfrm>
          <a:prstGeom prst="rect">
            <a:avLst/>
          </a:prstGeom>
          <a:noFill/>
          <a:ln/>
        </p:spPr>
        <p:txBody>
          <a:bodyPr wrap="square" lIns="0" tIns="0" rIns="0" bIns="0" rtlCol="0" anchor="t"/>
          <a:lstStyle/>
          <a:p>
            <a:pPr algn="ctr" indent="0" marL="0">
              <a:lnSpc>
                <a:spcPts val="2100"/>
              </a:lnSpc>
              <a:buNone/>
            </a:pPr>
            <a:r>
              <a:rPr lang="en-US" sz="2800" b="1" dirty="0">
                <a:solidFill>
                  <a:srgbClr val="2C5F2D"/>
                </a:solidFill>
                <a:latin typeface="Cambria" pitchFamily="34" charset="0"/>
                <a:ea typeface="Cambria" pitchFamily="34" charset="-122"/>
                <a:cs typeface="Cambria" pitchFamily="34" charset="-120"/>
              </a:rPr>
              <a:t>5割超</a:t>
            </a:r>
            <a:endParaRPr lang="en-US" sz="2800" dirty="0"/>
          </a:p>
        </p:txBody>
      </p:sp>
      <p:sp>
        <p:nvSpPr>
          <p:cNvPr id="12" name="Text 10"/>
          <p:cNvSpPr txBox="1"/>
          <p:nvPr/>
        </p:nvSpPr>
        <p:spPr>
          <a:xfrm>
            <a:off x="6391656" y="2249424"/>
            <a:ext cx="2226564" cy="548640"/>
          </a:xfrm>
          <a:prstGeom prst="rect">
            <a:avLst/>
          </a:prstGeom>
          <a:noFill/>
          <a:ln/>
        </p:spPr>
        <p:txBody>
          <a:bodyPr wrap="square" lIns="0" tIns="0" rIns="0" bIns="0" rtlCol="0" anchor="t"/>
          <a:lstStyle/>
          <a:p>
            <a:pPr algn="ctr" indent="0" marL="0">
              <a:lnSpc>
                <a:spcPts val="1500"/>
              </a:lnSpc>
              <a:buNone/>
            </a:pPr>
            <a:r>
              <a:rPr lang="en-US" sz="1050" dirty="0">
                <a:solidFill>
                  <a:srgbClr val="6E7A6F"/>
                </a:solidFill>
                <a:latin typeface="Yu Gothic" pitchFamily="34" charset="0"/>
                <a:ea typeface="Yu Gothic" pitchFamily="34" charset="-122"/>
                <a:cs typeface="Yu Gothic" pitchFamily="34" charset="-120"/>
              </a:rPr>
              <a:t>20ha以上の経営体が</a:t>
            </a:r>
            <a:endParaRPr lang="en-US" sz="1050" dirty="0"/>
          </a:p>
          <a:p>
            <a:pPr algn="ctr" indent="0" marL="0">
              <a:lnSpc>
                <a:spcPts val="1500"/>
              </a:lnSpc>
              <a:buNone/>
            </a:pPr>
            <a:r>
              <a:rPr lang="en-US" sz="1050" dirty="0">
                <a:solidFill>
                  <a:srgbClr val="6E7A6F"/>
                </a:solidFill>
                <a:latin typeface="Yu Gothic" pitchFamily="34" charset="0"/>
                <a:ea typeface="Yu Gothic" pitchFamily="34" charset="-122"/>
                <a:cs typeface="Yu Gothic" pitchFamily="34" charset="-120"/>
              </a:rPr>
              <a:t>耕地の過半を占める</a:t>
            </a:r>
            <a:endParaRPr lang="en-US" sz="1050" dirty="0"/>
          </a:p>
        </p:txBody>
      </p:sp>
      <p:sp>
        <p:nvSpPr>
          <p:cNvPr id="13" name="Shape 11"/>
          <p:cNvSpPr/>
          <p:nvPr/>
        </p:nvSpPr>
        <p:spPr>
          <a:xfrm>
            <a:off x="9029700" y="1572768"/>
            <a:ext cx="2592324" cy="1298448"/>
          </a:xfrm>
          <a:prstGeom prst="roundRect">
            <a:avLst>
              <a:gd name="adj" fmla="val 5634"/>
            </a:avLst>
          </a:prstGeom>
          <a:solidFill>
            <a:srgbClr val="F5F7F2"/>
          </a:solidFill>
          <a:ln/>
          <a:effectLst>
            <a:outerShdw sx="100000" sy="100000" kx="0" ky="0" algn="bl" rotWithShape="0" blurRad="101600" dist="25400" dir="5400000">
              <a:srgbClr val="000000">
                <a:alpha val="12000"/>
              </a:srgbClr>
            </a:outerShdw>
          </a:effectLst>
        </p:spPr>
      </p:sp>
      <p:sp>
        <p:nvSpPr>
          <p:cNvPr id="14" name="Text 12"/>
          <p:cNvSpPr txBox="1"/>
          <p:nvPr/>
        </p:nvSpPr>
        <p:spPr>
          <a:xfrm>
            <a:off x="9212580" y="1719072"/>
            <a:ext cx="2226564" cy="502920"/>
          </a:xfrm>
          <a:prstGeom prst="rect">
            <a:avLst/>
          </a:prstGeom>
          <a:noFill/>
          <a:ln/>
        </p:spPr>
        <p:txBody>
          <a:bodyPr wrap="square" lIns="0" tIns="0" rIns="0" bIns="0" rtlCol="0" anchor="t"/>
          <a:lstStyle/>
          <a:p>
            <a:pPr algn="ctr" indent="0" marL="0">
              <a:lnSpc>
                <a:spcPts val="2100"/>
              </a:lnSpc>
              <a:buNone/>
            </a:pPr>
            <a:r>
              <a:rPr lang="en-US" sz="2800" b="1" dirty="0">
                <a:solidFill>
                  <a:srgbClr val="2C5F2D"/>
                </a:solidFill>
                <a:latin typeface="Cambria" pitchFamily="34" charset="0"/>
                <a:ea typeface="Cambria" pitchFamily="34" charset="-122"/>
                <a:cs typeface="Cambria" pitchFamily="34" charset="-120"/>
              </a:rPr>
              <a:t>62.1%</a:t>
            </a:r>
            <a:endParaRPr lang="en-US" sz="2800" dirty="0"/>
          </a:p>
        </p:txBody>
      </p:sp>
      <p:sp>
        <p:nvSpPr>
          <p:cNvPr id="15" name="Text 13"/>
          <p:cNvSpPr txBox="1"/>
          <p:nvPr/>
        </p:nvSpPr>
        <p:spPr>
          <a:xfrm>
            <a:off x="9212580" y="2249424"/>
            <a:ext cx="2226564" cy="548640"/>
          </a:xfrm>
          <a:prstGeom prst="rect">
            <a:avLst/>
          </a:prstGeom>
          <a:noFill/>
          <a:ln/>
        </p:spPr>
        <p:txBody>
          <a:bodyPr wrap="square" lIns="0" tIns="0" rIns="0" bIns="0" rtlCol="0" anchor="t"/>
          <a:lstStyle/>
          <a:p>
            <a:pPr algn="ctr" indent="0" marL="0">
              <a:lnSpc>
                <a:spcPts val="1500"/>
              </a:lnSpc>
              <a:buNone/>
            </a:pPr>
            <a:r>
              <a:rPr lang="en-US" sz="1050" dirty="0">
                <a:solidFill>
                  <a:srgbClr val="6E7A6F"/>
                </a:solidFill>
                <a:latin typeface="Yu Gothic" pitchFamily="34" charset="0"/>
                <a:ea typeface="Yu Gothic" pitchFamily="34" charset="-122"/>
                <a:cs typeface="Yu Gothic" pitchFamily="34" charset="-120"/>
              </a:rPr>
              <a:t>担い手への農地集積率</a:t>
            </a:r>
            <a:endParaRPr lang="en-US" sz="1050" dirty="0"/>
          </a:p>
          <a:p>
            <a:pPr algn="ctr" indent="0" marL="0">
              <a:lnSpc>
                <a:spcPts val="1500"/>
              </a:lnSpc>
              <a:buNone/>
            </a:pPr>
            <a:r>
              <a:rPr lang="en-US" sz="1050" dirty="0">
                <a:solidFill>
                  <a:srgbClr val="6E7A6F"/>
                </a:solidFill>
                <a:latin typeface="Yu Gothic" pitchFamily="34" charset="0"/>
                <a:ea typeface="Yu Gothic" pitchFamily="34" charset="-122"/>
                <a:cs typeface="Yu Gothic" pitchFamily="34" charset="-120"/>
              </a:rPr>
              <a:t>（目標8割）</a:t>
            </a:r>
            <a:endParaRPr lang="en-US" sz="1050" dirty="0"/>
          </a:p>
        </p:txBody>
      </p:sp>
      <p:sp>
        <p:nvSpPr>
          <p:cNvPr id="16" name="Text 14"/>
          <p:cNvSpPr txBox="1"/>
          <p:nvPr/>
        </p:nvSpPr>
        <p:spPr>
          <a:xfrm>
            <a:off x="566928" y="2980944"/>
            <a:ext cx="11055096" cy="310896"/>
          </a:xfrm>
          <a:prstGeom prst="rect">
            <a:avLst/>
          </a:prstGeom>
          <a:noFill/>
          <a:ln/>
        </p:spPr>
        <p:txBody>
          <a:bodyPr wrap="square" lIns="0" tIns="0" rIns="0" bIns="0" rtlCol="0" anchor="t"/>
          <a:lstStyle/>
          <a:p>
            <a:pPr indent="0" marL="0">
              <a:lnSpc>
                <a:spcPts val="2100"/>
              </a:lnSpc>
              <a:buNone/>
            </a:pPr>
            <a:r>
              <a:rPr lang="en-US" sz="1350" b="1" dirty="0">
                <a:solidFill>
                  <a:srgbClr val="2C5F2D"/>
                </a:solidFill>
                <a:latin typeface="Yu Gothic" pitchFamily="34" charset="0"/>
                <a:ea typeface="Yu Gothic" pitchFamily="34" charset="-122"/>
                <a:cs typeface="Yu Gothic" pitchFamily="34" charset="-120"/>
              </a:rPr>
              <a:t>これは「選択」ではなく「結果」。5年で経営体が22%消えた結果、残った者に農地が集まる。望まなくても農地は寄ってくる。</a:t>
            </a:r>
            <a:endParaRPr lang="en-US" sz="1350" dirty="0"/>
          </a:p>
        </p:txBody>
      </p:sp>
      <p:sp>
        <p:nvSpPr>
          <p:cNvPr id="17" name="Text 15"/>
          <p:cNvSpPr txBox="1"/>
          <p:nvPr/>
        </p:nvSpPr>
        <p:spPr>
          <a:xfrm>
            <a:off x="566928" y="3438144"/>
            <a:ext cx="6400800" cy="329184"/>
          </a:xfrm>
          <a:prstGeom prst="rect">
            <a:avLst/>
          </a:prstGeom>
          <a:noFill/>
          <a:ln/>
        </p:spPr>
        <p:txBody>
          <a:bodyPr wrap="square" lIns="0" tIns="0" rIns="0" bIns="0" rtlCol="0" anchor="t"/>
          <a:lstStyle/>
          <a:p>
            <a:pPr indent="0" marL="0">
              <a:lnSpc>
                <a:spcPts val="2100"/>
              </a:lnSpc>
              <a:buNone/>
            </a:pPr>
            <a:r>
              <a:rPr lang="en-US" sz="1700" b="1" dirty="0">
                <a:solidFill>
                  <a:srgbClr val="22282A"/>
                </a:solidFill>
                <a:latin typeface="Cambria" pitchFamily="34" charset="0"/>
                <a:ea typeface="Cambria" pitchFamily="34" charset="-122"/>
                <a:cs typeface="Cambria" pitchFamily="34" charset="-120"/>
              </a:rPr>
              <a:t>しかし、面積を追うことには三つの罠がある</a:t>
            </a:r>
            <a:endParaRPr lang="en-US" sz="1700" dirty="0"/>
          </a:p>
        </p:txBody>
      </p:sp>
      <p:sp>
        <p:nvSpPr>
          <p:cNvPr id="18" name="Shape 16"/>
          <p:cNvSpPr/>
          <p:nvPr/>
        </p:nvSpPr>
        <p:spPr>
          <a:xfrm>
            <a:off x="566928" y="3858768"/>
            <a:ext cx="11055096" cy="768096"/>
          </a:xfrm>
          <a:prstGeom prst="roundRect">
            <a:avLst>
              <a:gd name="adj" fmla="val 9524"/>
            </a:avLst>
          </a:prstGeom>
          <a:solidFill>
            <a:srgbClr val="FBEDED"/>
          </a:solidFill>
          <a:ln/>
          <a:effectLst>
            <a:outerShdw sx="100000" sy="100000" kx="0" ky="0" algn="bl" rotWithShape="0" blurRad="101600" dist="25400" dir="5400000">
              <a:srgbClr val="000000">
                <a:alpha val="12000"/>
              </a:srgbClr>
            </a:outerShdw>
          </a:effectLst>
        </p:spPr>
      </p:sp>
      <p:sp>
        <p:nvSpPr>
          <p:cNvPr id="19" name="Shape 17"/>
          <p:cNvSpPr/>
          <p:nvPr/>
        </p:nvSpPr>
        <p:spPr>
          <a:xfrm>
            <a:off x="804672" y="4041648"/>
            <a:ext cx="402336" cy="402336"/>
          </a:xfrm>
          <a:prstGeom prst="ellipse">
            <a:avLst/>
          </a:prstGeom>
          <a:solidFill>
            <a:srgbClr val="A32E2E"/>
          </a:solidFill>
          <a:ln/>
        </p:spPr>
      </p:sp>
      <p:sp>
        <p:nvSpPr>
          <p:cNvPr id="20" name="Text 18"/>
          <p:cNvSpPr txBox="1"/>
          <p:nvPr/>
        </p:nvSpPr>
        <p:spPr>
          <a:xfrm>
            <a:off x="804672" y="404164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21" name="Text 19"/>
          <p:cNvSpPr txBox="1"/>
          <p:nvPr/>
        </p:nvSpPr>
        <p:spPr>
          <a:xfrm>
            <a:off x="1408176" y="3959352"/>
            <a:ext cx="3840480" cy="292608"/>
          </a:xfrm>
          <a:prstGeom prst="rect">
            <a:avLst/>
          </a:prstGeom>
          <a:noFill/>
          <a:ln/>
        </p:spPr>
        <p:txBody>
          <a:bodyPr wrap="square" lIns="0" tIns="0" rIns="0" bIns="0" rtlCol="0" anchor="t"/>
          <a:lstStyle/>
          <a:p>
            <a:pPr indent="0" marL="0">
              <a:lnSpc>
                <a:spcPts val="2100"/>
              </a:lnSpc>
              <a:buNone/>
            </a:pPr>
            <a:r>
              <a:rPr lang="en-US" sz="1350" b="1" dirty="0">
                <a:solidFill>
                  <a:srgbClr val="A32E2E"/>
                </a:solidFill>
                <a:latin typeface="Yu Gothic" pitchFamily="34" charset="0"/>
                <a:ea typeface="Yu Gothic" pitchFamily="34" charset="-122"/>
                <a:cs typeface="Yu Gothic" pitchFamily="34" charset="-120"/>
              </a:rPr>
              <a:t>コスト率には「二つの谷」がある</a:t>
            </a:r>
            <a:endParaRPr lang="en-US" sz="1350" dirty="0"/>
          </a:p>
        </p:txBody>
      </p:sp>
      <p:sp>
        <p:nvSpPr>
          <p:cNvPr id="22" name="Text 20"/>
          <p:cNvSpPr txBox="1"/>
          <p:nvPr/>
        </p:nvSpPr>
        <p:spPr>
          <a:xfrm>
            <a:off x="1408176" y="4251960"/>
            <a:ext cx="10058400" cy="310896"/>
          </a:xfrm>
          <a:prstGeom prst="rect">
            <a:avLst/>
          </a:prstGeom>
          <a:noFill/>
          <a:ln/>
        </p:spPr>
        <p:txBody>
          <a:bodyPr wrap="square" lIns="0" tIns="0" rIns="0" bIns="0" rtlCol="0" anchor="t"/>
          <a:lstStyle/>
          <a:p>
            <a:pPr indent="0" marL="0">
              <a:lnSpc>
                <a:spcPts val="1400"/>
              </a:lnSpc>
              <a:buNone/>
            </a:pPr>
            <a:r>
              <a:rPr lang="en-US" sz="1050" dirty="0">
                <a:solidFill>
                  <a:srgbClr val="22282A"/>
                </a:solidFill>
                <a:latin typeface="Yu Gothic" pitchFamily="34" charset="0"/>
                <a:ea typeface="Yu Gothic" pitchFamily="34" charset="-122"/>
                <a:cs typeface="Yu Gothic" pitchFamily="34" charset="-120"/>
              </a:rPr>
              <a:t>15〜20haと25〜30haに谷。20haからコストが上がり25haで再び下がる。＝20〜25haは最も効率が悪いゾーン。中途半端な拡大は損</a:t>
            </a:r>
            <a:endParaRPr lang="en-US" sz="1050" dirty="0"/>
          </a:p>
        </p:txBody>
      </p:sp>
      <p:sp>
        <p:nvSpPr>
          <p:cNvPr id="23" name="Shape 21"/>
          <p:cNvSpPr/>
          <p:nvPr/>
        </p:nvSpPr>
        <p:spPr>
          <a:xfrm>
            <a:off x="566928" y="4700016"/>
            <a:ext cx="11055096" cy="768096"/>
          </a:xfrm>
          <a:prstGeom prst="roundRect">
            <a:avLst>
              <a:gd name="adj" fmla="val 9524"/>
            </a:avLst>
          </a:prstGeom>
          <a:solidFill>
            <a:srgbClr val="FBEDED"/>
          </a:solidFill>
          <a:ln/>
          <a:effectLst>
            <a:outerShdw sx="100000" sy="100000" kx="0" ky="0" algn="bl" rotWithShape="0" blurRad="101600" dist="25400" dir="5400000">
              <a:srgbClr val="000000">
                <a:alpha val="12000"/>
              </a:srgbClr>
            </a:outerShdw>
          </a:effectLst>
        </p:spPr>
      </p:sp>
      <p:sp>
        <p:nvSpPr>
          <p:cNvPr id="24" name="Shape 22"/>
          <p:cNvSpPr/>
          <p:nvPr/>
        </p:nvSpPr>
        <p:spPr>
          <a:xfrm>
            <a:off x="804672" y="4882896"/>
            <a:ext cx="402336" cy="402336"/>
          </a:xfrm>
          <a:prstGeom prst="ellipse">
            <a:avLst/>
          </a:prstGeom>
          <a:solidFill>
            <a:srgbClr val="A32E2E"/>
          </a:solidFill>
          <a:ln/>
        </p:spPr>
      </p:sp>
      <p:sp>
        <p:nvSpPr>
          <p:cNvPr id="25" name="Text 23"/>
          <p:cNvSpPr txBox="1"/>
          <p:nvPr/>
        </p:nvSpPr>
        <p:spPr>
          <a:xfrm>
            <a:off x="804672" y="4882896"/>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6" name="Text 24"/>
          <p:cNvSpPr txBox="1"/>
          <p:nvPr/>
        </p:nvSpPr>
        <p:spPr>
          <a:xfrm>
            <a:off x="1408176" y="4800600"/>
            <a:ext cx="3840480" cy="292608"/>
          </a:xfrm>
          <a:prstGeom prst="rect">
            <a:avLst/>
          </a:prstGeom>
          <a:noFill/>
          <a:ln/>
        </p:spPr>
        <p:txBody>
          <a:bodyPr wrap="square" lIns="0" tIns="0" rIns="0" bIns="0" rtlCol="0" anchor="t"/>
          <a:lstStyle/>
          <a:p>
            <a:pPr indent="0" marL="0">
              <a:lnSpc>
                <a:spcPts val="2100"/>
              </a:lnSpc>
              <a:buNone/>
            </a:pPr>
            <a:r>
              <a:rPr lang="en-US" sz="1350" b="1" dirty="0">
                <a:solidFill>
                  <a:srgbClr val="A32E2E"/>
                </a:solidFill>
                <a:latin typeface="Yu Gothic" pitchFamily="34" charset="0"/>
                <a:ea typeface="Yu Gothic" pitchFamily="34" charset="-122"/>
                <a:cs typeface="Yu Gothic" pitchFamily="34" charset="-120"/>
              </a:rPr>
              <a:t>米価下落で最も危ないのは規模拡大した担い手</a:t>
            </a:r>
            <a:endParaRPr lang="en-US" sz="1350" dirty="0"/>
          </a:p>
        </p:txBody>
      </p:sp>
      <p:sp>
        <p:nvSpPr>
          <p:cNvPr id="27" name="Text 25"/>
          <p:cNvSpPr txBox="1"/>
          <p:nvPr/>
        </p:nvSpPr>
        <p:spPr>
          <a:xfrm>
            <a:off x="1408176" y="5093208"/>
            <a:ext cx="10058400" cy="310896"/>
          </a:xfrm>
          <a:prstGeom prst="rect">
            <a:avLst/>
          </a:prstGeom>
          <a:noFill/>
          <a:ln/>
        </p:spPr>
        <p:txBody>
          <a:bodyPr wrap="square" lIns="0" tIns="0" rIns="0" bIns="0" rtlCol="0" anchor="t"/>
          <a:lstStyle/>
          <a:p>
            <a:pPr indent="0" marL="0">
              <a:lnSpc>
                <a:spcPts val="1400"/>
              </a:lnSpc>
              <a:buNone/>
            </a:pPr>
            <a:r>
              <a:rPr lang="en-US" sz="1050" dirty="0">
                <a:solidFill>
                  <a:srgbClr val="22282A"/>
                </a:solidFill>
                <a:latin typeface="Yu Gothic" pitchFamily="34" charset="0"/>
                <a:ea typeface="Yu Gothic" pitchFamily="34" charset="-122"/>
                <a:cs typeface="Yu Gothic" pitchFamily="34" charset="-120"/>
              </a:rPr>
              <a:t>設備投資の借入が返済計画を直撃する。2026年産は概算金1.5〜1.8万円に対しコスト20,535円の逆ざや</a:t>
            </a:r>
            <a:endParaRPr lang="en-US" sz="1050" dirty="0"/>
          </a:p>
        </p:txBody>
      </p:sp>
      <p:sp>
        <p:nvSpPr>
          <p:cNvPr id="28" name="Shape 26"/>
          <p:cNvSpPr/>
          <p:nvPr/>
        </p:nvSpPr>
        <p:spPr>
          <a:xfrm>
            <a:off x="566928" y="5541264"/>
            <a:ext cx="11055096" cy="768096"/>
          </a:xfrm>
          <a:prstGeom prst="roundRect">
            <a:avLst>
              <a:gd name="adj" fmla="val 9524"/>
            </a:avLst>
          </a:prstGeom>
          <a:solidFill>
            <a:srgbClr val="FBEDED"/>
          </a:solidFill>
          <a:ln/>
          <a:effectLst>
            <a:outerShdw sx="100000" sy="100000" kx="0" ky="0" algn="bl" rotWithShape="0" blurRad="101600" dist="25400" dir="5400000">
              <a:srgbClr val="000000">
                <a:alpha val="12000"/>
              </a:srgbClr>
            </a:outerShdw>
          </a:effectLst>
        </p:spPr>
      </p:sp>
      <p:sp>
        <p:nvSpPr>
          <p:cNvPr id="29" name="Shape 27"/>
          <p:cNvSpPr/>
          <p:nvPr/>
        </p:nvSpPr>
        <p:spPr>
          <a:xfrm>
            <a:off x="804672" y="5724144"/>
            <a:ext cx="402336" cy="402336"/>
          </a:xfrm>
          <a:prstGeom prst="ellipse">
            <a:avLst/>
          </a:prstGeom>
          <a:solidFill>
            <a:srgbClr val="A32E2E"/>
          </a:solidFill>
          <a:ln/>
        </p:spPr>
      </p:sp>
      <p:sp>
        <p:nvSpPr>
          <p:cNvPr id="30" name="Text 28"/>
          <p:cNvSpPr txBox="1"/>
          <p:nvPr/>
        </p:nvSpPr>
        <p:spPr>
          <a:xfrm>
            <a:off x="804672" y="5724144"/>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31" name="Text 29"/>
          <p:cNvSpPr txBox="1"/>
          <p:nvPr/>
        </p:nvSpPr>
        <p:spPr>
          <a:xfrm>
            <a:off x="1408176" y="5641848"/>
            <a:ext cx="3840480" cy="292608"/>
          </a:xfrm>
          <a:prstGeom prst="rect">
            <a:avLst/>
          </a:prstGeom>
          <a:noFill/>
          <a:ln/>
        </p:spPr>
        <p:txBody>
          <a:bodyPr wrap="square" lIns="0" tIns="0" rIns="0" bIns="0" rtlCol="0" anchor="t"/>
          <a:lstStyle/>
          <a:p>
            <a:pPr indent="0" marL="0">
              <a:lnSpc>
                <a:spcPts val="2100"/>
              </a:lnSpc>
              <a:buNone/>
            </a:pPr>
            <a:r>
              <a:rPr lang="en-US" sz="1350" b="1" dirty="0">
                <a:solidFill>
                  <a:srgbClr val="A32E2E"/>
                </a:solidFill>
                <a:latin typeface="Yu Gothic" pitchFamily="34" charset="0"/>
                <a:ea typeface="Yu Gothic" pitchFamily="34" charset="-122"/>
                <a:cs typeface="Yu Gothic" pitchFamily="34" charset="-120"/>
              </a:rPr>
              <a:t>黒字でも廃業が起きている</a:t>
            </a:r>
            <a:endParaRPr lang="en-US" sz="1350" dirty="0"/>
          </a:p>
        </p:txBody>
      </p:sp>
      <p:sp>
        <p:nvSpPr>
          <p:cNvPr id="32" name="Text 30"/>
          <p:cNvSpPr txBox="1"/>
          <p:nvPr/>
        </p:nvSpPr>
        <p:spPr>
          <a:xfrm>
            <a:off x="1408176" y="5934456"/>
            <a:ext cx="10058400" cy="310896"/>
          </a:xfrm>
          <a:prstGeom prst="rect">
            <a:avLst/>
          </a:prstGeom>
          <a:noFill/>
          <a:ln/>
        </p:spPr>
        <p:txBody>
          <a:bodyPr wrap="square" lIns="0" tIns="0" rIns="0" bIns="0" rtlCol="0" anchor="t"/>
          <a:lstStyle/>
          <a:p>
            <a:pPr indent="0" marL="0">
              <a:lnSpc>
                <a:spcPts val="1400"/>
              </a:lnSpc>
              <a:buNone/>
            </a:pPr>
            <a:r>
              <a:rPr lang="en-US" sz="1050" dirty="0">
                <a:solidFill>
                  <a:srgbClr val="22282A"/>
                </a:solidFill>
                <a:latin typeface="Yu Gothic" pitchFamily="34" charset="0"/>
                <a:ea typeface="Yu Gothic" pitchFamily="34" charset="-122"/>
                <a:cs typeface="Yu Gothic" pitchFamily="34" charset="-120"/>
              </a:rPr>
              <a:t>2026年1〜8月の米作農業の廃業28件＋倒産4件＝32件。3年連続で30件超</a:t>
            </a:r>
            <a:endParaRPr lang="en-US" sz="1050" dirty="0"/>
          </a:p>
        </p:txBody>
      </p:sp>
      <p:sp>
        <p:nvSpPr>
          <p:cNvPr id="33" name="Text 31"/>
          <p:cNvSpPr txBox="1"/>
          <p:nvPr/>
        </p:nvSpPr>
        <p:spPr>
          <a:xfrm>
            <a:off x="566928" y="6382512"/>
            <a:ext cx="11055096" cy="310896"/>
          </a:xfrm>
          <a:prstGeom prst="rect">
            <a:avLst/>
          </a:prstGeom>
          <a:noFill/>
          <a:ln/>
        </p:spPr>
        <p:txBody>
          <a:bodyPr wrap="square" lIns="0" tIns="0" rIns="0" bIns="0" rtlCol="0" anchor="t"/>
          <a:lstStyle/>
          <a:p>
            <a:pPr indent="0" marL="0">
              <a:lnSpc>
                <a:spcPts val="2100"/>
              </a:lnSpc>
              <a:buNone/>
            </a:pPr>
            <a:r>
              <a:rPr lang="en-US" sz="1300" i="1" dirty="0">
                <a:solidFill>
                  <a:srgbClr val="2C5F2D"/>
                </a:solidFill>
                <a:latin typeface="Yu Gothic" pitchFamily="34" charset="0"/>
                <a:ea typeface="Yu Gothic" pitchFamily="34" charset="-122"/>
                <a:cs typeface="Yu Gothic" pitchFamily="34" charset="-120"/>
              </a:rPr>
              <a:t>規模は目的ではなく手段。「規模を大きくすれば安泰」という時代ではない。</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2C5F2D"/>
                </a:solidFill>
                <a:latin typeface="Yu Gothic" pitchFamily="34" charset="0"/>
                <a:ea typeface="Yu Gothic" pitchFamily="34" charset="-122"/>
                <a:cs typeface="Yu Gothic" pitchFamily="34" charset="-120"/>
              </a:rPr>
              <a:t>FUTURE 2</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22282A"/>
                </a:solidFill>
                <a:latin typeface="Cambria" pitchFamily="34" charset="0"/>
                <a:ea typeface="Cambria" pitchFamily="34" charset="-122"/>
                <a:cs typeface="Cambria" pitchFamily="34" charset="-120"/>
              </a:rPr>
              <a:t>末正町で大規模化は可能か ― 条件は良い、しかし</a:t>
            </a:r>
            <a:endParaRPr lang="en-US" sz="3200" dirty="0"/>
          </a:p>
        </p:txBody>
      </p:sp>
      <p:sp>
        <p:nvSpPr>
          <p:cNvPr id="4" name="Shape 2"/>
          <p:cNvSpPr/>
          <p:nvPr/>
        </p:nvSpPr>
        <p:spPr>
          <a:xfrm>
            <a:off x="566928" y="1572768"/>
            <a:ext cx="5399532" cy="2103120"/>
          </a:xfrm>
          <a:prstGeom prst="roundRect">
            <a:avLst>
              <a:gd name="adj" fmla="val 3478"/>
            </a:avLst>
          </a:prstGeom>
          <a:solidFill>
            <a:srgbClr val="EAF1E6"/>
          </a:solidFill>
          <a:ln w="12700">
            <a:solidFill>
              <a:srgbClr val="97BC62"/>
            </a:solidFill>
            <a:prstDash val="solid"/>
          </a:ln>
          <a:effectLst>
            <a:outerShdw sx="100000" sy="100000" kx="0" ky="0" algn="bl" rotWithShape="0" blurRad="101600" dist="25400" dir="5400000">
              <a:srgbClr val="000000">
                <a:alpha val="12000"/>
              </a:srgbClr>
            </a:outerShdw>
          </a:effectLst>
        </p:spPr>
      </p:sp>
      <p:sp>
        <p:nvSpPr>
          <p:cNvPr id="5" name="Text 3"/>
          <p:cNvSpPr txBox="1"/>
          <p:nvPr/>
        </p:nvSpPr>
        <p:spPr>
          <a:xfrm>
            <a:off x="841248" y="1737360"/>
            <a:ext cx="4572000" cy="329184"/>
          </a:xfrm>
          <a:prstGeom prst="rect">
            <a:avLst/>
          </a:prstGeom>
          <a:noFill/>
          <a:ln/>
        </p:spPr>
        <p:txBody>
          <a:bodyPr wrap="square" lIns="0" tIns="0" rIns="0" bIns="0" rtlCol="0" anchor="t"/>
          <a:lstStyle/>
          <a:p>
            <a:pPr indent="0" marL="0">
              <a:lnSpc>
                <a:spcPts val="2100"/>
              </a:lnSpc>
              <a:buNone/>
            </a:pPr>
            <a:r>
              <a:rPr lang="en-US" sz="1600" b="1" dirty="0">
                <a:solidFill>
                  <a:srgbClr val="2C5F2D"/>
                </a:solidFill>
                <a:latin typeface="Yu Gothic" pitchFamily="34" charset="0"/>
                <a:ea typeface="Yu Gothic" pitchFamily="34" charset="-122"/>
                <a:cs typeface="Yu Gothic" pitchFamily="34" charset="-120"/>
              </a:rPr>
              <a:t>物理的条件は良好</a:t>
            </a:r>
            <a:endParaRPr lang="en-US" sz="1600" dirty="0"/>
          </a:p>
        </p:txBody>
      </p:sp>
      <p:sp>
        <p:nvSpPr>
          <p:cNvPr id="6" name="Text 4"/>
          <p:cNvSpPr txBox="1"/>
          <p:nvPr/>
        </p:nvSpPr>
        <p:spPr>
          <a:xfrm>
            <a:off x="841248" y="2139696"/>
            <a:ext cx="4937760" cy="1463040"/>
          </a:xfrm>
          <a:prstGeom prst="rect">
            <a:avLst/>
          </a:prstGeom>
          <a:noFill/>
          <a:ln/>
        </p:spPr>
        <p:txBody>
          <a:bodyPr wrap="square" lIns="0" tIns="0" rIns="0" bIns="0" rtlCol="0" anchor="t"/>
          <a:lstStyle/>
          <a:p>
            <a:pPr marL="342900" indent="-342900">
              <a:lnSpc>
                <a:spcPts val="1600"/>
              </a:lnSpc>
              <a:spcAft>
                <a:spcPts val="500"/>
              </a:spcAft>
              <a:buSzPct val="100000"/>
              <a:buChar char="•"/>
            </a:pPr>
            <a:r>
              <a:rPr lang="en-US" sz="1150" dirty="0">
                <a:solidFill>
                  <a:srgbClr val="22282A"/>
                </a:solidFill>
                <a:latin typeface="Yu Gothic" pitchFamily="34" charset="0"/>
                <a:ea typeface="Yu Gothic" pitchFamily="34" charset="-122"/>
                <a:cs typeface="Yu Gothic" pitchFamily="34" charset="-120"/>
              </a:rPr>
              <a:t>市街化調整区域のまとまった優良農地は農業ゾーンに位置づけられ、大半が圃場整備済み</a:t>
            </a:r>
            <a:endParaRPr lang="en-US" sz="1150" dirty="0"/>
          </a:p>
          <a:p>
            <a:pPr marL="342900" indent="-342900">
              <a:lnSpc>
                <a:spcPts val="1600"/>
              </a:lnSpc>
              <a:spcAft>
                <a:spcPts val="500"/>
              </a:spcAft>
              <a:buSzPct val="100000"/>
              <a:buChar char="•"/>
            </a:pPr>
            <a:r>
              <a:rPr lang="en-US" sz="1150" dirty="0">
                <a:solidFill>
                  <a:srgbClr val="22282A"/>
                </a:solidFill>
                <a:latin typeface="Yu Gothic" pitchFamily="34" charset="0"/>
                <a:ea typeface="Yu Gothic" pitchFamily="34" charset="-122"/>
                <a:cs typeface="Yu Gothic" pitchFamily="34" charset="-120"/>
              </a:rPr>
              <a:t>手取川扇状地の平野部。区画が整い水利も安定</a:t>
            </a:r>
            <a:endParaRPr lang="en-US" sz="1150" dirty="0"/>
          </a:p>
          <a:p>
            <a:pPr marL="342900" indent="-342900">
              <a:lnSpc>
                <a:spcPts val="1600"/>
              </a:lnSpc>
              <a:spcAft>
                <a:spcPts val="500"/>
              </a:spcAft>
              <a:buSzPct val="100000"/>
              <a:buChar char="•"/>
            </a:pPr>
            <a:r>
              <a:rPr lang="en-US" sz="1150" dirty="0">
                <a:solidFill>
                  <a:srgbClr val="22282A"/>
                </a:solidFill>
                <a:latin typeface="Yu Gothic" pitchFamily="34" charset="0"/>
                <a:ea typeface="Yu Gothic" pitchFamily="34" charset="-122"/>
                <a:cs typeface="Yu Gothic" pitchFamily="34" charset="-120"/>
              </a:rPr>
              <a:t>白山市はブロッコリーの実質的主産地</a:t>
            </a:r>
            <a:endParaRPr lang="en-US" sz="1150" dirty="0"/>
          </a:p>
          <a:p>
            <a:pPr marL="342900" indent="-342900">
              <a:lnSpc>
                <a:spcPts val="1600"/>
              </a:lnSpc>
              <a:spcAft>
                <a:spcPts val="500"/>
              </a:spcAft>
              <a:buSzPct val="100000"/>
              <a:buChar char="•"/>
            </a:pPr>
            <a:r>
              <a:rPr lang="en-US" sz="1150" dirty="0">
                <a:solidFill>
                  <a:srgbClr val="22282A"/>
                </a:solidFill>
                <a:latin typeface="Yu Gothic" pitchFamily="34" charset="0"/>
                <a:ea typeface="Yu Gothic" pitchFamily="34" charset="-122"/>
                <a:cs typeface="Yu Gothic" pitchFamily="34" charset="-120"/>
              </a:rPr>
              <a:t>2027年度の水張り要件廃止で畑地化しやすくなる</a:t>
            </a:r>
            <a:endParaRPr lang="en-US" sz="1150" dirty="0"/>
          </a:p>
        </p:txBody>
      </p:sp>
      <p:sp>
        <p:nvSpPr>
          <p:cNvPr id="7" name="Shape 5"/>
          <p:cNvSpPr/>
          <p:nvPr/>
        </p:nvSpPr>
        <p:spPr>
          <a:xfrm>
            <a:off x="6222492" y="1572768"/>
            <a:ext cx="5399532" cy="2103120"/>
          </a:xfrm>
          <a:prstGeom prst="roundRect">
            <a:avLst>
              <a:gd name="adj" fmla="val 3478"/>
            </a:avLst>
          </a:prstGeom>
          <a:solidFill>
            <a:srgbClr val="FBEDED"/>
          </a:solidFill>
          <a:ln/>
          <a:effectLst>
            <a:outerShdw sx="100000" sy="100000" kx="0" ky="0" algn="bl" rotWithShape="0" blurRad="101600" dist="25400" dir="5400000">
              <a:srgbClr val="000000">
                <a:alpha val="12000"/>
              </a:srgbClr>
            </a:outerShdw>
          </a:effectLst>
        </p:spPr>
      </p:sp>
      <p:sp>
        <p:nvSpPr>
          <p:cNvPr id="8" name="Text 6"/>
          <p:cNvSpPr txBox="1"/>
          <p:nvPr/>
        </p:nvSpPr>
        <p:spPr>
          <a:xfrm>
            <a:off x="6496812" y="1737360"/>
            <a:ext cx="4572000" cy="329184"/>
          </a:xfrm>
          <a:prstGeom prst="rect">
            <a:avLst/>
          </a:prstGeom>
          <a:noFill/>
          <a:ln/>
        </p:spPr>
        <p:txBody>
          <a:bodyPr wrap="square" lIns="0" tIns="0" rIns="0" bIns="0" rtlCol="0" anchor="t"/>
          <a:lstStyle/>
          <a:p>
            <a:pPr indent="0" marL="0">
              <a:lnSpc>
                <a:spcPts val="2100"/>
              </a:lnSpc>
              <a:buNone/>
            </a:pPr>
            <a:r>
              <a:rPr lang="en-US" sz="1600" b="1" dirty="0">
                <a:solidFill>
                  <a:srgbClr val="A32E2E"/>
                </a:solidFill>
                <a:latin typeface="Yu Gothic" pitchFamily="34" charset="0"/>
                <a:ea typeface="Yu Gothic" pitchFamily="34" charset="-122"/>
                <a:cs typeface="Yu Gothic" pitchFamily="34" charset="-120"/>
              </a:rPr>
              <a:t>先に確認すべき三つ</a:t>
            </a:r>
            <a:endParaRPr lang="en-US" sz="1600" dirty="0"/>
          </a:p>
        </p:txBody>
      </p:sp>
      <p:sp>
        <p:nvSpPr>
          <p:cNvPr id="9" name="Text 7"/>
          <p:cNvSpPr txBox="1"/>
          <p:nvPr/>
        </p:nvSpPr>
        <p:spPr>
          <a:xfrm>
            <a:off x="6496812" y="2139696"/>
            <a:ext cx="4937760" cy="1463040"/>
          </a:xfrm>
          <a:prstGeom prst="rect">
            <a:avLst/>
          </a:prstGeom>
          <a:noFill/>
          <a:ln/>
        </p:spPr>
        <p:txBody>
          <a:bodyPr wrap="square" lIns="0" tIns="0" rIns="0" bIns="0" rtlCol="0" anchor="t"/>
          <a:lstStyle/>
          <a:p>
            <a:pPr marL="342900" indent="-342900">
              <a:lnSpc>
                <a:spcPts val="1600"/>
              </a:lnSpc>
              <a:spcAft>
                <a:spcPts val="500"/>
              </a:spcAft>
              <a:buSzPct val="100000"/>
              <a:buChar char="•"/>
            </a:pPr>
            <a:r>
              <a:rPr lang="en-US" sz="1150" dirty="0">
                <a:solidFill>
                  <a:srgbClr val="22282A"/>
                </a:solidFill>
                <a:latin typeface="Yu Gothic" pitchFamily="34" charset="0"/>
                <a:ea typeface="Yu Gothic" pitchFamily="34" charset="-122"/>
                <a:cs typeface="Yu Gothic" pitchFamily="34" charset="-120"/>
              </a:rPr>
              <a:t>市街化調整区域か、農用地区域（青地）か、用途地域内か。金沢のベッドタウン圏で宅地転用圧力があると農地がまだら化し団地化できない</a:t>
            </a:r>
            <a:endParaRPr lang="en-US" sz="1150" dirty="0"/>
          </a:p>
          <a:p>
            <a:pPr marL="342900" indent="-342900">
              <a:lnSpc>
                <a:spcPts val="1600"/>
              </a:lnSpc>
              <a:spcAft>
                <a:spcPts val="500"/>
              </a:spcAft>
              <a:buSzPct val="100000"/>
              <a:buChar char="•"/>
            </a:pPr>
            <a:r>
              <a:rPr lang="en-US" sz="1150" dirty="0">
                <a:solidFill>
                  <a:srgbClr val="22282A"/>
                </a:solidFill>
                <a:latin typeface="Yu Gothic" pitchFamily="34" charset="0"/>
                <a:ea typeface="Yu Gothic" pitchFamily="34" charset="-122"/>
                <a:cs typeface="Yu Gothic" pitchFamily="34" charset="-120"/>
              </a:rPr>
              <a:t>圃場整備が実際に済んでいるか、区画の大きさは</a:t>
            </a:r>
            <a:endParaRPr lang="en-US" sz="1150" dirty="0"/>
          </a:p>
          <a:p>
            <a:pPr marL="342900" indent="-342900">
              <a:lnSpc>
                <a:spcPts val="1600"/>
              </a:lnSpc>
              <a:spcAft>
                <a:spcPts val="500"/>
              </a:spcAft>
              <a:buSzPct val="100000"/>
              <a:buChar char="•"/>
            </a:pPr>
            <a:r>
              <a:rPr lang="en-US" sz="1150" dirty="0">
                <a:solidFill>
                  <a:srgbClr val="22282A"/>
                </a:solidFill>
                <a:latin typeface="Yu Gothic" pitchFamily="34" charset="0"/>
                <a:ea typeface="Yu Gothic" pitchFamily="34" charset="-122"/>
                <a:cs typeface="Yu Gothic" pitchFamily="34" charset="-120"/>
              </a:rPr>
              <a:t>十数の集落営農法人と安井ファームがあり、農地の受け手はむしろ競合している</a:t>
            </a:r>
            <a:endParaRPr lang="en-US" sz="1150" dirty="0"/>
          </a:p>
        </p:txBody>
      </p:sp>
      <p:sp>
        <p:nvSpPr>
          <p:cNvPr id="10" name="Text 8"/>
          <p:cNvSpPr txBox="1"/>
          <p:nvPr/>
        </p:nvSpPr>
        <p:spPr>
          <a:xfrm>
            <a:off x="566928" y="3785616"/>
            <a:ext cx="6400800" cy="329184"/>
          </a:xfrm>
          <a:prstGeom prst="rect">
            <a:avLst/>
          </a:prstGeom>
          <a:noFill/>
          <a:ln/>
        </p:spPr>
        <p:txBody>
          <a:bodyPr wrap="square" lIns="0" tIns="0" rIns="0" bIns="0" rtlCol="0" anchor="t"/>
          <a:lstStyle/>
          <a:p>
            <a:pPr indent="0" marL="0">
              <a:lnSpc>
                <a:spcPts val="2100"/>
              </a:lnSpc>
              <a:buNone/>
            </a:pPr>
            <a:r>
              <a:rPr lang="en-US" sz="1700" b="1" dirty="0">
                <a:solidFill>
                  <a:srgbClr val="22282A"/>
                </a:solidFill>
                <a:latin typeface="Cambria" pitchFamily="34" charset="0"/>
                <a:ea typeface="Cambria" pitchFamily="34" charset="-122"/>
                <a:cs typeface="Cambria" pitchFamily="34" charset="-120"/>
              </a:rPr>
              <a:t>大規模化には三つの道がある</a:t>
            </a:r>
            <a:endParaRPr lang="en-US" sz="1700" dirty="0"/>
          </a:p>
        </p:txBody>
      </p:sp>
      <p:sp>
        <p:nvSpPr>
          <p:cNvPr id="11" name="Shape 9"/>
          <p:cNvSpPr/>
          <p:nvPr/>
        </p:nvSpPr>
        <p:spPr>
          <a:xfrm>
            <a:off x="566928" y="4206240"/>
            <a:ext cx="11055096" cy="603504"/>
          </a:xfrm>
          <a:prstGeom prst="roundRect">
            <a:avLst>
              <a:gd name="adj" fmla="val 12121"/>
            </a:avLst>
          </a:prstGeom>
          <a:solidFill>
            <a:srgbClr val="FBEDED"/>
          </a:solidFill>
          <a:ln/>
          <a:effectLst>
            <a:outerShdw sx="100000" sy="100000" kx="0" ky="0" algn="bl" rotWithShape="0" blurRad="101600" dist="25400" dir="5400000">
              <a:srgbClr val="000000">
                <a:alpha val="12000"/>
              </a:srgbClr>
            </a:outerShdw>
          </a:effectLst>
        </p:spPr>
      </p:sp>
      <p:sp>
        <p:nvSpPr>
          <p:cNvPr id="12" name="Text 10"/>
          <p:cNvSpPr txBox="1"/>
          <p:nvPr/>
        </p:nvSpPr>
        <p:spPr>
          <a:xfrm>
            <a:off x="822960" y="4379976"/>
            <a:ext cx="2103120" cy="274320"/>
          </a:xfrm>
          <a:prstGeom prst="rect">
            <a:avLst/>
          </a:prstGeom>
          <a:noFill/>
          <a:ln/>
        </p:spPr>
        <p:txBody>
          <a:bodyPr wrap="square" lIns="0" tIns="0" rIns="0" bIns="0" rtlCol="0" anchor="t"/>
          <a:lstStyle/>
          <a:p>
            <a:pPr indent="0" marL="0">
              <a:lnSpc>
                <a:spcPts val="2100"/>
              </a:lnSpc>
              <a:buNone/>
            </a:pPr>
            <a:r>
              <a:rPr lang="en-US" sz="1300" b="1" dirty="0">
                <a:solidFill>
                  <a:srgbClr val="A32E2E"/>
                </a:solidFill>
                <a:latin typeface="Yu Gothic" pitchFamily="34" charset="0"/>
                <a:ea typeface="Yu Gothic" pitchFamily="34" charset="-122"/>
                <a:cs typeface="Yu Gothic" pitchFamily="34" charset="-120"/>
              </a:rPr>
              <a:t>① 面積の大規模化</a:t>
            </a:r>
            <a:endParaRPr lang="en-US" sz="1300" dirty="0"/>
          </a:p>
        </p:txBody>
      </p:sp>
      <p:sp>
        <p:nvSpPr>
          <p:cNvPr id="13" name="Text 11"/>
          <p:cNvSpPr txBox="1"/>
          <p:nvPr/>
        </p:nvSpPr>
        <p:spPr>
          <a:xfrm>
            <a:off x="3035808" y="4379976"/>
            <a:ext cx="2834640" cy="274320"/>
          </a:xfrm>
          <a:prstGeom prst="rect">
            <a:avLst/>
          </a:prstGeom>
          <a:noFill/>
          <a:ln/>
        </p:spPr>
        <p:txBody>
          <a:bodyPr wrap="square" lIns="0" tIns="0" rIns="0" bIns="0" rtlCol="0" anchor="t"/>
          <a:lstStyle/>
          <a:p>
            <a:pPr indent="0" marL="0">
              <a:lnSpc>
                <a:spcPts val="2100"/>
              </a:lnSpc>
              <a:buNone/>
            </a:pPr>
            <a:r>
              <a:rPr lang="en-US" sz="1150" dirty="0">
                <a:solidFill>
                  <a:srgbClr val="22282A"/>
                </a:solidFill>
                <a:latin typeface="Yu Gothic" pitchFamily="34" charset="0"/>
                <a:ea typeface="Yu Gothic" pitchFamily="34" charset="-122"/>
                <a:cs typeface="Yu Gothic" pitchFamily="34" charset="-120"/>
              </a:rPr>
              <a:t>借地を増やす</a:t>
            </a:r>
            <a:endParaRPr lang="en-US" sz="1150" dirty="0"/>
          </a:p>
        </p:txBody>
      </p:sp>
      <p:sp>
        <p:nvSpPr>
          <p:cNvPr id="14" name="Text 12"/>
          <p:cNvSpPr txBox="1"/>
          <p:nvPr/>
        </p:nvSpPr>
        <p:spPr>
          <a:xfrm>
            <a:off x="6007608" y="4379976"/>
            <a:ext cx="2286000" cy="274320"/>
          </a:xfrm>
          <a:prstGeom prst="rect">
            <a:avLst/>
          </a:prstGeom>
          <a:noFill/>
          <a:ln/>
        </p:spPr>
        <p:txBody>
          <a:bodyPr wrap="square" lIns="0" tIns="0" rIns="0" bIns="0" rtlCol="0" anchor="t"/>
          <a:lstStyle/>
          <a:p>
            <a:pPr indent="0" marL="0">
              <a:lnSpc>
                <a:spcPts val="2100"/>
              </a:lnSpc>
              <a:buNone/>
            </a:pPr>
            <a:r>
              <a:rPr lang="en-US" sz="1150" dirty="0">
                <a:solidFill>
                  <a:srgbClr val="6E7A6F"/>
                </a:solidFill>
                <a:latin typeface="Yu Gothic" pitchFamily="34" charset="0"/>
                <a:ea typeface="Yu Gothic" pitchFamily="34" charset="-122"/>
                <a:cs typeface="Yu Gothic" pitchFamily="34" charset="-120"/>
              </a:rPr>
              <a:t>資本・労働力・機械</a:t>
            </a:r>
            <a:endParaRPr lang="en-US" sz="1150" dirty="0"/>
          </a:p>
        </p:txBody>
      </p:sp>
      <p:sp>
        <p:nvSpPr>
          <p:cNvPr id="15" name="Text 13"/>
          <p:cNvSpPr txBox="1"/>
          <p:nvPr/>
        </p:nvSpPr>
        <p:spPr>
          <a:xfrm>
            <a:off x="8430768" y="4379976"/>
            <a:ext cx="3108960" cy="274320"/>
          </a:xfrm>
          <a:prstGeom prst="rect">
            <a:avLst/>
          </a:prstGeom>
          <a:noFill/>
          <a:ln/>
        </p:spPr>
        <p:txBody>
          <a:bodyPr wrap="square" lIns="0" tIns="0" rIns="0" bIns="0" rtlCol="0" anchor="t"/>
          <a:lstStyle/>
          <a:p>
            <a:pPr indent="0" marL="0">
              <a:lnSpc>
                <a:spcPts val="2100"/>
              </a:lnSpc>
              <a:buNone/>
            </a:pPr>
            <a:r>
              <a:rPr lang="en-US" sz="1150" b="1" dirty="0">
                <a:solidFill>
                  <a:srgbClr val="A32E2E"/>
                </a:solidFill>
                <a:latin typeface="Yu Gothic" pitchFamily="34" charset="0"/>
                <a:ea typeface="Yu Gothic" pitchFamily="34" charset="-122"/>
                <a:cs typeface="Yu Gothic" pitchFamily="34" charset="-120"/>
              </a:rPr>
              <a:t>谷があり、いま最もリスクが高い</a:t>
            </a:r>
            <a:endParaRPr lang="en-US" sz="1150" dirty="0"/>
          </a:p>
        </p:txBody>
      </p:sp>
      <p:sp>
        <p:nvSpPr>
          <p:cNvPr id="16" name="Shape 14"/>
          <p:cNvSpPr/>
          <p:nvPr/>
        </p:nvSpPr>
        <p:spPr>
          <a:xfrm>
            <a:off x="566928" y="4882896"/>
            <a:ext cx="11055096" cy="603504"/>
          </a:xfrm>
          <a:prstGeom prst="roundRect">
            <a:avLst>
              <a:gd name="adj" fmla="val 12121"/>
            </a:avLst>
          </a:prstGeom>
          <a:solidFill>
            <a:srgbClr val="F5F7F2"/>
          </a:solidFill>
          <a:ln/>
          <a:effectLst>
            <a:outerShdw sx="100000" sy="100000" kx="0" ky="0" algn="bl" rotWithShape="0" blurRad="101600" dist="25400" dir="5400000">
              <a:srgbClr val="000000">
                <a:alpha val="12000"/>
              </a:srgbClr>
            </a:outerShdw>
          </a:effectLst>
        </p:spPr>
      </p:sp>
      <p:sp>
        <p:nvSpPr>
          <p:cNvPr id="17" name="Text 15"/>
          <p:cNvSpPr txBox="1"/>
          <p:nvPr/>
        </p:nvSpPr>
        <p:spPr>
          <a:xfrm>
            <a:off x="822960" y="5056632"/>
            <a:ext cx="2103120" cy="274320"/>
          </a:xfrm>
          <a:prstGeom prst="rect">
            <a:avLst/>
          </a:prstGeom>
          <a:noFill/>
          <a:ln/>
        </p:spPr>
        <p:txBody>
          <a:bodyPr wrap="square" lIns="0" tIns="0" rIns="0" bIns="0" rtlCol="0" anchor="t"/>
          <a:lstStyle/>
          <a:p>
            <a:pPr indent="0" marL="0">
              <a:lnSpc>
                <a:spcPts val="2100"/>
              </a:lnSpc>
              <a:buNone/>
            </a:pPr>
            <a:r>
              <a:rPr lang="en-US" sz="1300" b="1" dirty="0">
                <a:solidFill>
                  <a:srgbClr val="2C5F2D"/>
                </a:solidFill>
                <a:latin typeface="Yu Gothic" pitchFamily="34" charset="0"/>
                <a:ea typeface="Yu Gothic" pitchFamily="34" charset="-122"/>
                <a:cs typeface="Yu Gothic" pitchFamily="34" charset="-120"/>
              </a:rPr>
              <a:t>② 連携の大規模化</a:t>
            </a:r>
            <a:endParaRPr lang="en-US" sz="1300" dirty="0"/>
          </a:p>
        </p:txBody>
      </p:sp>
      <p:sp>
        <p:nvSpPr>
          <p:cNvPr id="18" name="Text 16"/>
          <p:cNvSpPr txBox="1"/>
          <p:nvPr/>
        </p:nvSpPr>
        <p:spPr>
          <a:xfrm>
            <a:off x="3035808" y="5056632"/>
            <a:ext cx="2834640" cy="274320"/>
          </a:xfrm>
          <a:prstGeom prst="rect">
            <a:avLst/>
          </a:prstGeom>
          <a:noFill/>
          <a:ln/>
        </p:spPr>
        <p:txBody>
          <a:bodyPr wrap="square" lIns="0" tIns="0" rIns="0" bIns="0" rtlCol="0" anchor="t"/>
          <a:lstStyle/>
          <a:p>
            <a:pPr indent="0" marL="0">
              <a:lnSpc>
                <a:spcPts val="2100"/>
              </a:lnSpc>
              <a:buNone/>
            </a:pPr>
            <a:r>
              <a:rPr lang="en-US" sz="1150" dirty="0">
                <a:solidFill>
                  <a:srgbClr val="22282A"/>
                </a:solidFill>
                <a:latin typeface="Yu Gothic" pitchFamily="34" charset="0"/>
                <a:ea typeface="Yu Gothic" pitchFamily="34" charset="-122"/>
                <a:cs typeface="Yu Gothic" pitchFamily="34" charset="-120"/>
              </a:rPr>
              <a:t>機械共同利用・法人間連携</a:t>
            </a:r>
            <a:endParaRPr lang="en-US" sz="1150" dirty="0"/>
          </a:p>
        </p:txBody>
      </p:sp>
      <p:sp>
        <p:nvSpPr>
          <p:cNvPr id="19" name="Text 17"/>
          <p:cNvSpPr txBox="1"/>
          <p:nvPr/>
        </p:nvSpPr>
        <p:spPr>
          <a:xfrm>
            <a:off x="6007608" y="5056632"/>
            <a:ext cx="2286000" cy="274320"/>
          </a:xfrm>
          <a:prstGeom prst="rect">
            <a:avLst/>
          </a:prstGeom>
          <a:noFill/>
          <a:ln/>
        </p:spPr>
        <p:txBody>
          <a:bodyPr wrap="square" lIns="0" tIns="0" rIns="0" bIns="0" rtlCol="0" anchor="t"/>
          <a:lstStyle/>
          <a:p>
            <a:pPr indent="0" marL="0">
              <a:lnSpc>
                <a:spcPts val="2100"/>
              </a:lnSpc>
              <a:buNone/>
            </a:pPr>
            <a:r>
              <a:rPr lang="en-US" sz="1150" dirty="0">
                <a:solidFill>
                  <a:srgbClr val="6E7A6F"/>
                </a:solidFill>
                <a:latin typeface="Yu Gothic" pitchFamily="34" charset="0"/>
                <a:ea typeface="Yu Gothic" pitchFamily="34" charset="-122"/>
                <a:cs typeface="Yu Gothic" pitchFamily="34" charset="-120"/>
              </a:rPr>
              <a:t>資本はほぼ不要</a:t>
            </a:r>
            <a:endParaRPr lang="en-US" sz="1150" dirty="0"/>
          </a:p>
        </p:txBody>
      </p:sp>
      <p:sp>
        <p:nvSpPr>
          <p:cNvPr id="20" name="Text 18"/>
          <p:cNvSpPr txBox="1"/>
          <p:nvPr/>
        </p:nvSpPr>
        <p:spPr>
          <a:xfrm>
            <a:off x="8430768" y="5056632"/>
            <a:ext cx="3108960" cy="274320"/>
          </a:xfrm>
          <a:prstGeom prst="rect">
            <a:avLst/>
          </a:prstGeom>
          <a:noFill/>
          <a:ln/>
        </p:spPr>
        <p:txBody>
          <a:bodyPr wrap="square" lIns="0" tIns="0" rIns="0" bIns="0" rtlCol="0" anchor="t"/>
          <a:lstStyle/>
          <a:p>
            <a:pPr indent="0" marL="0">
              <a:lnSpc>
                <a:spcPts val="2100"/>
              </a:lnSpc>
              <a:buNone/>
            </a:pPr>
            <a:r>
              <a:rPr lang="en-US" sz="1150" b="1" dirty="0">
                <a:solidFill>
                  <a:srgbClr val="2C5F2D"/>
                </a:solidFill>
                <a:latin typeface="Yu Gothic" pitchFamily="34" charset="0"/>
                <a:ea typeface="Yu Gothic" pitchFamily="34" charset="-122"/>
                <a:cs typeface="Yu Gothic" pitchFamily="34" charset="-120"/>
              </a:rPr>
              <a:t>◎ 北辰農産の伝手が活きる</a:t>
            </a:r>
            <a:endParaRPr lang="en-US" sz="1150" dirty="0"/>
          </a:p>
        </p:txBody>
      </p:sp>
      <p:sp>
        <p:nvSpPr>
          <p:cNvPr id="21" name="Shape 19"/>
          <p:cNvSpPr/>
          <p:nvPr/>
        </p:nvSpPr>
        <p:spPr>
          <a:xfrm>
            <a:off x="566928" y="5559552"/>
            <a:ext cx="11055096" cy="603504"/>
          </a:xfrm>
          <a:prstGeom prst="roundRect">
            <a:avLst>
              <a:gd name="adj" fmla="val 12121"/>
            </a:avLst>
          </a:prstGeom>
          <a:solidFill>
            <a:srgbClr val="F5F7F2"/>
          </a:solidFill>
          <a:ln/>
          <a:effectLst>
            <a:outerShdw sx="100000" sy="100000" kx="0" ky="0" algn="bl" rotWithShape="0" blurRad="101600" dist="25400" dir="5400000">
              <a:srgbClr val="000000">
                <a:alpha val="12000"/>
              </a:srgbClr>
            </a:outerShdw>
          </a:effectLst>
        </p:spPr>
      </p:sp>
      <p:sp>
        <p:nvSpPr>
          <p:cNvPr id="22" name="Text 20"/>
          <p:cNvSpPr txBox="1"/>
          <p:nvPr/>
        </p:nvSpPr>
        <p:spPr>
          <a:xfrm>
            <a:off x="822960" y="5733288"/>
            <a:ext cx="2103120" cy="274320"/>
          </a:xfrm>
          <a:prstGeom prst="rect">
            <a:avLst/>
          </a:prstGeom>
          <a:noFill/>
          <a:ln/>
        </p:spPr>
        <p:txBody>
          <a:bodyPr wrap="square" lIns="0" tIns="0" rIns="0" bIns="0" rtlCol="0" anchor="t"/>
          <a:lstStyle/>
          <a:p>
            <a:pPr indent="0" marL="0">
              <a:lnSpc>
                <a:spcPts val="2100"/>
              </a:lnSpc>
              <a:buNone/>
            </a:pPr>
            <a:r>
              <a:rPr lang="en-US" sz="1300" b="1" dirty="0">
                <a:solidFill>
                  <a:srgbClr val="2C5F2D"/>
                </a:solidFill>
                <a:latin typeface="Yu Gothic" pitchFamily="34" charset="0"/>
                <a:ea typeface="Yu Gothic" pitchFamily="34" charset="-122"/>
                <a:cs typeface="Yu Gothic" pitchFamily="34" charset="-120"/>
              </a:rPr>
              <a:t>③ 受託の大規模化</a:t>
            </a:r>
            <a:endParaRPr lang="en-US" sz="1300" dirty="0"/>
          </a:p>
        </p:txBody>
      </p:sp>
      <p:sp>
        <p:nvSpPr>
          <p:cNvPr id="23" name="Text 21"/>
          <p:cNvSpPr txBox="1"/>
          <p:nvPr/>
        </p:nvSpPr>
        <p:spPr>
          <a:xfrm>
            <a:off x="3035808" y="5733288"/>
            <a:ext cx="2834640" cy="274320"/>
          </a:xfrm>
          <a:prstGeom prst="rect">
            <a:avLst/>
          </a:prstGeom>
          <a:noFill/>
          <a:ln/>
        </p:spPr>
        <p:txBody>
          <a:bodyPr wrap="square" lIns="0" tIns="0" rIns="0" bIns="0" rtlCol="0" anchor="t"/>
          <a:lstStyle/>
          <a:p>
            <a:pPr indent="0" marL="0">
              <a:lnSpc>
                <a:spcPts val="2100"/>
              </a:lnSpc>
              <a:buNone/>
            </a:pPr>
            <a:r>
              <a:rPr lang="en-US" sz="1150" dirty="0">
                <a:solidFill>
                  <a:srgbClr val="22282A"/>
                </a:solidFill>
                <a:latin typeface="Yu Gothic" pitchFamily="34" charset="0"/>
                <a:ea typeface="Yu Gothic" pitchFamily="34" charset="-122"/>
                <a:cs typeface="Yu Gothic" pitchFamily="34" charset="-120"/>
              </a:rPr>
              <a:t>農地を持たず規模の利益を取る</a:t>
            </a:r>
            <a:endParaRPr lang="en-US" sz="1150" dirty="0"/>
          </a:p>
        </p:txBody>
      </p:sp>
      <p:sp>
        <p:nvSpPr>
          <p:cNvPr id="24" name="Text 22"/>
          <p:cNvSpPr txBox="1"/>
          <p:nvPr/>
        </p:nvSpPr>
        <p:spPr>
          <a:xfrm>
            <a:off x="6007608" y="5733288"/>
            <a:ext cx="2286000" cy="274320"/>
          </a:xfrm>
          <a:prstGeom prst="rect">
            <a:avLst/>
          </a:prstGeom>
          <a:noFill/>
          <a:ln/>
        </p:spPr>
        <p:txBody>
          <a:bodyPr wrap="square" lIns="0" tIns="0" rIns="0" bIns="0" rtlCol="0" anchor="t"/>
          <a:lstStyle/>
          <a:p>
            <a:pPr indent="0" marL="0">
              <a:lnSpc>
                <a:spcPts val="2100"/>
              </a:lnSpc>
              <a:buNone/>
            </a:pPr>
            <a:r>
              <a:rPr lang="en-US" sz="1150" dirty="0">
                <a:solidFill>
                  <a:srgbClr val="6E7A6F"/>
                </a:solidFill>
                <a:latin typeface="Yu Gothic" pitchFamily="34" charset="0"/>
                <a:ea typeface="Yu Gothic" pitchFamily="34" charset="-122"/>
                <a:cs typeface="Yu Gothic" pitchFamily="34" charset="-120"/>
              </a:rPr>
              <a:t>機械と技術、信用</a:t>
            </a:r>
            <a:endParaRPr lang="en-US" sz="1150" dirty="0"/>
          </a:p>
        </p:txBody>
      </p:sp>
      <p:sp>
        <p:nvSpPr>
          <p:cNvPr id="25" name="Text 23"/>
          <p:cNvSpPr txBox="1"/>
          <p:nvPr/>
        </p:nvSpPr>
        <p:spPr>
          <a:xfrm>
            <a:off x="8430768" y="5733288"/>
            <a:ext cx="3108960" cy="274320"/>
          </a:xfrm>
          <a:prstGeom prst="rect">
            <a:avLst/>
          </a:prstGeom>
          <a:noFill/>
          <a:ln/>
        </p:spPr>
        <p:txBody>
          <a:bodyPr wrap="square" lIns="0" tIns="0" rIns="0" bIns="0" rtlCol="0" anchor="t"/>
          <a:lstStyle/>
          <a:p>
            <a:pPr indent="0" marL="0">
              <a:lnSpc>
                <a:spcPts val="2100"/>
              </a:lnSpc>
              <a:buNone/>
            </a:pPr>
            <a:r>
              <a:rPr lang="en-US" sz="1150" b="1" dirty="0">
                <a:solidFill>
                  <a:srgbClr val="2C5F2D"/>
                </a:solidFill>
                <a:latin typeface="Yu Gothic" pitchFamily="34" charset="0"/>
                <a:ea typeface="Yu Gothic" pitchFamily="34" charset="-122"/>
                <a:cs typeface="Yu Gothic" pitchFamily="34" charset="-120"/>
              </a:rPr>
              <a:t>◎ 北辰農産も事業の柱に</a:t>
            </a:r>
            <a:endParaRPr lang="en-US" sz="1150" dirty="0"/>
          </a:p>
        </p:txBody>
      </p:sp>
      <p:sp>
        <p:nvSpPr>
          <p:cNvPr id="26" name="Text 24"/>
          <p:cNvSpPr txBox="1"/>
          <p:nvPr/>
        </p:nvSpPr>
        <p:spPr>
          <a:xfrm>
            <a:off x="566928" y="6327648"/>
            <a:ext cx="11055096" cy="310896"/>
          </a:xfrm>
          <a:prstGeom prst="rect">
            <a:avLst/>
          </a:prstGeom>
          <a:noFill/>
          <a:ln/>
        </p:spPr>
        <p:txBody>
          <a:bodyPr wrap="square" lIns="0" tIns="0" rIns="0" bIns="0" rtlCol="0" anchor="t"/>
          <a:lstStyle/>
          <a:p>
            <a:pPr indent="0" marL="0">
              <a:lnSpc>
                <a:spcPts val="2100"/>
              </a:lnSpc>
              <a:buNone/>
            </a:pPr>
            <a:r>
              <a:rPr lang="en-US" sz="1300" b="1" i="1" dirty="0">
                <a:solidFill>
                  <a:srgbClr val="2C5F2D"/>
                </a:solidFill>
                <a:latin typeface="Yu Gothic" pitchFamily="34" charset="0"/>
                <a:ea typeface="Yu Gothic" pitchFamily="34" charset="-122"/>
                <a:cs typeface="Yu Gothic" pitchFamily="34" charset="-120"/>
              </a:rPr>
              <a:t>紺多農園に現実的なのは、②と③から入り、その先に①。②③は借金をせずに実質規模を拡大できる。</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A3A1B"/>
        </a:solidFill>
      </p:bgPr>
    </p:bg>
    <p:spTree>
      <p:nvGrpSpPr>
        <p:cNvPr id="1" name=""/>
        <p:cNvGrpSpPr/>
        <p:nvPr/>
      </p:nvGrpSpPr>
      <p:grpSpPr>
        <a:xfrm>
          <a:off x="0" y="0"/>
          <a:ext cx="0" cy="0"/>
          <a:chOff x="0" y="0"/>
          <a:chExt cx="0" cy="0"/>
        </a:xfrm>
      </p:grpSpPr>
      <p:sp>
        <p:nvSpPr>
          <p:cNvPr id="2" name="Text 0"/>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97BC62"/>
                </a:solidFill>
                <a:latin typeface="Yu Gothic" pitchFamily="34" charset="0"/>
                <a:ea typeface="Yu Gothic" pitchFamily="34" charset="-122"/>
                <a:cs typeface="Yu Gothic" pitchFamily="34" charset="-120"/>
              </a:rPr>
              <a:t>FUTURE 3</a:t>
            </a:r>
            <a:endParaRPr lang="en-US" sz="1200" dirty="0"/>
          </a:p>
        </p:txBody>
      </p:sp>
      <p:sp>
        <p:nvSpPr>
          <p:cNvPr id="3" name="Text 1"/>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目指すべきは「収益の大規模化」</a:t>
            </a:r>
            <a:endParaRPr lang="en-US" sz="3200" dirty="0"/>
          </a:p>
        </p:txBody>
      </p:sp>
      <p:sp>
        <p:nvSpPr>
          <p:cNvPr id="4" name="Shape 2"/>
          <p:cNvSpPr/>
          <p:nvPr/>
        </p:nvSpPr>
        <p:spPr>
          <a:xfrm>
            <a:off x="566928" y="1572768"/>
            <a:ext cx="11055096" cy="914400"/>
          </a:xfrm>
          <a:prstGeom prst="roundRect">
            <a:avLst>
              <a:gd name="adj" fmla="val 8000"/>
            </a:avLst>
          </a:prstGeom>
          <a:solidFill>
            <a:srgbClr val="2C5F2D"/>
          </a:solidFill>
          <a:ln/>
          <a:effectLst>
            <a:outerShdw sx="100000" sy="100000" kx="0" ky="0" algn="bl" rotWithShape="0" blurRad="101600" dist="25400" dir="5400000">
              <a:srgbClr val="000000">
                <a:alpha val="12000"/>
              </a:srgbClr>
            </a:outerShdw>
          </a:effectLst>
        </p:spPr>
      </p:sp>
      <p:sp>
        <p:nvSpPr>
          <p:cNvPr id="5" name="Text 3"/>
          <p:cNvSpPr txBox="1"/>
          <p:nvPr/>
        </p:nvSpPr>
        <p:spPr>
          <a:xfrm>
            <a:off x="932688" y="1572768"/>
            <a:ext cx="10323576" cy="914400"/>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同じ10haから2倍の粗利を取るほうが、20haに広げるより速く、安く、リスクが小さい</a:t>
            </a:r>
            <a:endParaRPr lang="en-US" sz="2000" dirty="0"/>
          </a:p>
        </p:txBody>
      </p:sp>
      <p:sp>
        <p:nvSpPr>
          <p:cNvPr id="6" name="Shape 4"/>
          <p:cNvSpPr/>
          <p:nvPr/>
        </p:nvSpPr>
        <p:spPr>
          <a:xfrm>
            <a:off x="566928" y="2688336"/>
            <a:ext cx="3532632" cy="1371600"/>
          </a:xfrm>
          <a:prstGeom prst="roundRect">
            <a:avLst>
              <a:gd name="adj" fmla="val 4000"/>
            </a:avLst>
          </a:prstGeom>
          <a:solidFill>
            <a:srgbClr val="1F3F20"/>
          </a:solidFill>
          <a:ln/>
        </p:spPr>
      </p:sp>
      <p:sp>
        <p:nvSpPr>
          <p:cNvPr id="7" name="Text 5"/>
          <p:cNvSpPr txBox="1"/>
          <p:nvPr/>
        </p:nvSpPr>
        <p:spPr>
          <a:xfrm>
            <a:off x="786384" y="2852928"/>
            <a:ext cx="3093720" cy="310896"/>
          </a:xfrm>
          <a:prstGeom prst="rect">
            <a:avLst/>
          </a:prstGeom>
          <a:noFill/>
          <a:ln/>
        </p:spPr>
        <p:txBody>
          <a:bodyPr wrap="square" lIns="0" tIns="0" rIns="0" bIns="0" rtlCol="0" anchor="t"/>
          <a:lstStyle/>
          <a:p>
            <a:pPr indent="0" marL="0">
              <a:lnSpc>
                <a:spcPts val="2100"/>
              </a:lnSpc>
              <a:buNone/>
            </a:pPr>
            <a:r>
              <a:rPr lang="en-US" sz="1450" b="1" dirty="0">
                <a:solidFill>
                  <a:srgbClr val="97BC62"/>
                </a:solidFill>
                <a:latin typeface="Yu Gothic" pitchFamily="34" charset="0"/>
                <a:ea typeface="Yu Gothic" pitchFamily="34" charset="-122"/>
                <a:cs typeface="Yu Gothic" pitchFamily="34" charset="-120"/>
              </a:rPr>
              <a:t>単価を上げる</a:t>
            </a:r>
            <a:endParaRPr lang="en-US" sz="1450" dirty="0"/>
          </a:p>
        </p:txBody>
      </p:sp>
      <p:sp>
        <p:nvSpPr>
          <p:cNvPr id="8" name="Text 6"/>
          <p:cNvSpPr txBox="1"/>
          <p:nvPr/>
        </p:nvSpPr>
        <p:spPr>
          <a:xfrm>
            <a:off x="786384" y="3200400"/>
            <a:ext cx="3093720" cy="749808"/>
          </a:xfrm>
          <a:prstGeom prst="rect">
            <a:avLst/>
          </a:prstGeom>
          <a:noFill/>
          <a:ln/>
        </p:spPr>
        <p:txBody>
          <a:bodyPr wrap="square" lIns="0" tIns="0" rIns="0" bIns="0" rtlCol="0" anchor="t"/>
          <a:lstStyle/>
          <a:p>
            <a:pPr indent="0" marL="0">
              <a:lnSpc>
                <a:spcPts val="1500"/>
              </a:lnSpc>
              <a:buNone/>
            </a:pPr>
            <a:r>
              <a:rPr lang="en-US" sz="1100" dirty="0">
                <a:solidFill>
                  <a:srgbClr val="C6D6C2"/>
                </a:solidFill>
                <a:latin typeface="Yu Gothic" pitchFamily="34" charset="0"/>
                <a:ea typeface="Yu Gothic" pitchFamily="34" charset="-122"/>
                <a:cs typeface="Yu Gothic" pitchFamily="34" charset="-120"/>
              </a:rPr>
              <a:t>有機・特別栽培</a:t>
            </a:r>
            <a:endParaRPr lang="en-US" sz="1100" dirty="0"/>
          </a:p>
          <a:p>
            <a:pPr indent="0" marL="0">
              <a:lnSpc>
                <a:spcPts val="1500"/>
              </a:lnSpc>
              <a:buNone/>
            </a:pPr>
            <a:r>
              <a:rPr lang="en-US" sz="1100" dirty="0">
                <a:solidFill>
                  <a:srgbClr val="C6D6C2"/>
                </a:solidFill>
                <a:latin typeface="Yu Gothic" pitchFamily="34" charset="0"/>
                <a:ea typeface="Yu Gothic" pitchFamily="34" charset="-122"/>
                <a:cs typeface="Yu Gothic" pitchFamily="34" charset="-120"/>
              </a:rPr>
              <a:t>白山市オーガニックビレッジの学校給食</a:t>
            </a:r>
            <a:endParaRPr lang="en-US" sz="1100" dirty="0"/>
          </a:p>
        </p:txBody>
      </p:sp>
      <p:sp>
        <p:nvSpPr>
          <p:cNvPr id="9" name="Shape 7"/>
          <p:cNvSpPr/>
          <p:nvPr/>
        </p:nvSpPr>
        <p:spPr>
          <a:xfrm>
            <a:off x="4328160" y="2688336"/>
            <a:ext cx="3532632" cy="1371600"/>
          </a:xfrm>
          <a:prstGeom prst="roundRect">
            <a:avLst>
              <a:gd name="adj" fmla="val 4000"/>
            </a:avLst>
          </a:prstGeom>
          <a:solidFill>
            <a:srgbClr val="1F3F20"/>
          </a:solidFill>
          <a:ln/>
        </p:spPr>
      </p:sp>
      <p:sp>
        <p:nvSpPr>
          <p:cNvPr id="10" name="Text 8"/>
          <p:cNvSpPr txBox="1"/>
          <p:nvPr/>
        </p:nvSpPr>
        <p:spPr>
          <a:xfrm>
            <a:off x="4547616" y="2852928"/>
            <a:ext cx="3093720" cy="310896"/>
          </a:xfrm>
          <a:prstGeom prst="rect">
            <a:avLst/>
          </a:prstGeom>
          <a:noFill/>
          <a:ln/>
        </p:spPr>
        <p:txBody>
          <a:bodyPr wrap="square" lIns="0" tIns="0" rIns="0" bIns="0" rtlCol="0" anchor="t"/>
          <a:lstStyle/>
          <a:p>
            <a:pPr indent="0" marL="0">
              <a:lnSpc>
                <a:spcPts val="2100"/>
              </a:lnSpc>
              <a:buNone/>
            </a:pPr>
            <a:r>
              <a:rPr lang="en-US" sz="1450" b="1" dirty="0">
                <a:solidFill>
                  <a:srgbClr val="97BC62"/>
                </a:solidFill>
                <a:latin typeface="Yu Gothic" pitchFamily="34" charset="0"/>
                <a:ea typeface="Yu Gothic" pitchFamily="34" charset="-122"/>
                <a:cs typeface="Yu Gothic" pitchFamily="34" charset="-120"/>
              </a:rPr>
              <a:t>面積あたり収入を上げる</a:t>
            </a:r>
            <a:endParaRPr lang="en-US" sz="1450" dirty="0"/>
          </a:p>
        </p:txBody>
      </p:sp>
      <p:sp>
        <p:nvSpPr>
          <p:cNvPr id="11" name="Text 9"/>
          <p:cNvSpPr txBox="1"/>
          <p:nvPr/>
        </p:nvSpPr>
        <p:spPr>
          <a:xfrm>
            <a:off x="4547616" y="3200400"/>
            <a:ext cx="3093720" cy="749808"/>
          </a:xfrm>
          <a:prstGeom prst="rect">
            <a:avLst/>
          </a:prstGeom>
          <a:noFill/>
          <a:ln/>
        </p:spPr>
        <p:txBody>
          <a:bodyPr wrap="square" lIns="0" tIns="0" rIns="0" bIns="0" rtlCol="0" anchor="t"/>
          <a:lstStyle/>
          <a:p>
            <a:pPr indent="0" marL="0">
              <a:lnSpc>
                <a:spcPts val="1500"/>
              </a:lnSpc>
              <a:buNone/>
            </a:pPr>
            <a:r>
              <a:rPr lang="en-US" sz="1100" dirty="0">
                <a:solidFill>
                  <a:srgbClr val="C6D6C2"/>
                </a:solidFill>
                <a:latin typeface="Yu Gothic" pitchFamily="34" charset="0"/>
                <a:ea typeface="Yu Gothic" pitchFamily="34" charset="-122"/>
                <a:cs typeface="Yu Gothic" pitchFamily="34" charset="-120"/>
              </a:rPr>
              <a:t>環境保全型交付金（有機14,000円/10a、緑肥5,000円/10a）</a:t>
            </a:r>
            <a:endParaRPr lang="en-US" sz="1100" dirty="0"/>
          </a:p>
          <a:p>
            <a:pPr indent="0" marL="0">
              <a:lnSpc>
                <a:spcPts val="1500"/>
              </a:lnSpc>
              <a:buNone/>
            </a:pPr>
            <a:r>
              <a:rPr lang="en-US" sz="1100" dirty="0">
                <a:solidFill>
                  <a:srgbClr val="C6D6C2"/>
                </a:solidFill>
                <a:latin typeface="Yu Gothic" pitchFamily="34" charset="0"/>
                <a:ea typeface="Yu Gothic" pitchFamily="34" charset="-122"/>
                <a:cs typeface="Yu Gothic" pitchFamily="34" charset="-120"/>
              </a:rPr>
              <a:t>J-クレジット中干し延長（1,000〜3,600円/10a）</a:t>
            </a:r>
            <a:endParaRPr lang="en-US" sz="1100" dirty="0"/>
          </a:p>
        </p:txBody>
      </p:sp>
      <p:sp>
        <p:nvSpPr>
          <p:cNvPr id="12" name="Shape 10"/>
          <p:cNvSpPr/>
          <p:nvPr/>
        </p:nvSpPr>
        <p:spPr>
          <a:xfrm>
            <a:off x="8089392" y="2688336"/>
            <a:ext cx="3532632" cy="1371600"/>
          </a:xfrm>
          <a:prstGeom prst="roundRect">
            <a:avLst>
              <a:gd name="adj" fmla="val 4000"/>
            </a:avLst>
          </a:prstGeom>
          <a:solidFill>
            <a:srgbClr val="1F3F20"/>
          </a:solidFill>
          <a:ln/>
        </p:spPr>
      </p:sp>
      <p:sp>
        <p:nvSpPr>
          <p:cNvPr id="13" name="Text 11"/>
          <p:cNvSpPr txBox="1"/>
          <p:nvPr/>
        </p:nvSpPr>
        <p:spPr>
          <a:xfrm>
            <a:off x="8308848" y="2852928"/>
            <a:ext cx="3093720" cy="310896"/>
          </a:xfrm>
          <a:prstGeom prst="rect">
            <a:avLst/>
          </a:prstGeom>
          <a:noFill/>
          <a:ln/>
        </p:spPr>
        <p:txBody>
          <a:bodyPr wrap="square" lIns="0" tIns="0" rIns="0" bIns="0" rtlCol="0" anchor="t"/>
          <a:lstStyle/>
          <a:p>
            <a:pPr indent="0" marL="0">
              <a:lnSpc>
                <a:spcPts val="2100"/>
              </a:lnSpc>
              <a:buNone/>
            </a:pPr>
            <a:r>
              <a:rPr lang="en-US" sz="1450" b="1" dirty="0">
                <a:solidFill>
                  <a:srgbClr val="97BC62"/>
                </a:solidFill>
                <a:latin typeface="Yu Gothic" pitchFamily="34" charset="0"/>
                <a:ea typeface="Yu Gothic" pitchFamily="34" charset="-122"/>
                <a:cs typeface="Yu Gothic" pitchFamily="34" charset="-120"/>
              </a:rPr>
              <a:t>粗利率を上げる</a:t>
            </a:r>
            <a:endParaRPr lang="en-US" sz="1450" dirty="0"/>
          </a:p>
        </p:txBody>
      </p:sp>
      <p:sp>
        <p:nvSpPr>
          <p:cNvPr id="14" name="Text 12"/>
          <p:cNvSpPr txBox="1"/>
          <p:nvPr/>
        </p:nvSpPr>
        <p:spPr>
          <a:xfrm>
            <a:off x="8308848" y="3200400"/>
            <a:ext cx="3093720" cy="749808"/>
          </a:xfrm>
          <a:prstGeom prst="rect">
            <a:avLst/>
          </a:prstGeom>
          <a:noFill/>
          <a:ln/>
        </p:spPr>
        <p:txBody>
          <a:bodyPr wrap="square" lIns="0" tIns="0" rIns="0" bIns="0" rtlCol="0" anchor="t"/>
          <a:lstStyle/>
          <a:p>
            <a:pPr indent="0" marL="0">
              <a:lnSpc>
                <a:spcPts val="1500"/>
              </a:lnSpc>
              <a:buNone/>
            </a:pPr>
            <a:r>
              <a:rPr lang="en-US" sz="1100" dirty="0">
                <a:solidFill>
                  <a:srgbClr val="C6D6C2"/>
                </a:solidFill>
                <a:latin typeface="Yu Gothic" pitchFamily="34" charset="0"/>
                <a:ea typeface="Yu Gothic" pitchFamily="34" charset="-122"/>
                <a:cs typeface="Yu Gothic" pitchFamily="34" charset="-120"/>
              </a:rPr>
              <a:t>加工・直販・体験（北辰農産モデル）</a:t>
            </a:r>
            <a:endParaRPr lang="en-US" sz="1100" dirty="0"/>
          </a:p>
          <a:p>
            <a:pPr indent="0" marL="0">
              <a:lnSpc>
                <a:spcPts val="1500"/>
              </a:lnSpc>
              <a:buNone/>
            </a:pPr>
            <a:r>
              <a:rPr lang="en-US" sz="1100" dirty="0">
                <a:solidFill>
                  <a:srgbClr val="C6D6C2"/>
                </a:solidFill>
                <a:latin typeface="Yu Gothic" pitchFamily="34" charset="0"/>
                <a:ea typeface="Yu Gothic" pitchFamily="34" charset="-122"/>
                <a:cs typeface="Yu Gothic" pitchFamily="34" charset="-120"/>
              </a:rPr>
              <a:t>米を米として売らない</a:t>
            </a:r>
            <a:endParaRPr lang="en-US" sz="1100" dirty="0"/>
          </a:p>
        </p:txBody>
      </p:sp>
      <p:sp>
        <p:nvSpPr>
          <p:cNvPr id="15" name="Text 13"/>
          <p:cNvSpPr txBox="1"/>
          <p:nvPr/>
        </p:nvSpPr>
        <p:spPr>
          <a:xfrm>
            <a:off x="566928" y="4224528"/>
            <a:ext cx="6400800" cy="329184"/>
          </a:xfrm>
          <a:prstGeom prst="rect">
            <a:avLst/>
          </a:prstGeom>
          <a:noFill/>
          <a:ln/>
        </p:spPr>
        <p:txBody>
          <a:bodyPr wrap="square" lIns="0" tIns="0" rIns="0" bIns="0" rtlCol="0" anchor="t"/>
          <a:lstStyle/>
          <a:p>
            <a:pPr indent="0" marL="0">
              <a:lnSpc>
                <a:spcPts val="2100"/>
              </a:lnSpc>
              <a:buNone/>
            </a:pPr>
            <a:r>
              <a:rPr lang="en-US" sz="1700" b="1" dirty="0">
                <a:solidFill>
                  <a:srgbClr val="FFFFFF"/>
                </a:solidFill>
                <a:latin typeface="Cambria" pitchFamily="34" charset="0"/>
                <a:ea typeface="Cambria" pitchFamily="34" charset="-122"/>
                <a:cs typeface="Cambria" pitchFamily="34" charset="-120"/>
              </a:rPr>
              <a:t>10年後の紺多農園 ― 目指す姿</a:t>
            </a:r>
            <a:endParaRPr lang="en-US" sz="17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4626864"/>
          <a:ext cx="11055096" cy="914400"/>
        </p:xfrm>
        <a:graphic>
          <a:graphicData uri="http://schemas.openxmlformats.org/drawingml/2006/table">
            <a:tbl>
              <a:tblPr/>
              <a:tblGrid>
                <a:gridCol w="1737360"/>
                <a:gridCol w="3474720"/>
                <a:gridCol w="5843016"/>
              </a:tblGrid>
              <a:tr h="329184">
                <a:tc>
                  <a:txBody>
                    <a:bodyPr/>
                    <a:lstStyle/>
                    <a:p>
                      <a:pPr indent="0" marL="0">
                        <a:buNone/>
                      </a:pPr>
                      <a:endParaRPr lang="en-US" sz="120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97BC62"/>
                    </a:solidFill>
                  </a:tcPr>
                </a:tc>
                <a:tc>
                  <a:txBody>
                    <a:bodyPr/>
                    <a:lstStyle/>
                    <a:p>
                      <a:pPr indent="0" marL="0">
                        <a:buNone/>
                      </a:pPr>
                      <a:r>
                        <a:rPr lang="en-US" sz="1200" b="1" dirty="0">
                          <a:solidFill>
                            <a:srgbClr val="1A3A1B"/>
                          </a:solidFill>
                          <a:latin typeface="Yu Gothic" pitchFamily="34" charset="0"/>
                          <a:ea typeface="Yu Gothic" pitchFamily="34" charset="-122"/>
                          <a:cs typeface="Yu Gothic" pitchFamily="34" charset="-120"/>
                        </a:rPr>
                        <a:t>現在（推定）</a:t>
                      </a:r>
                      <a:endParaRPr lang="en-US" sz="120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97BC62"/>
                    </a:solidFill>
                  </a:tcPr>
                </a:tc>
                <a:tc>
                  <a:txBody>
                    <a:bodyPr/>
                    <a:lstStyle/>
                    <a:p>
                      <a:pPr indent="0" marL="0">
                        <a:buNone/>
                      </a:pPr>
                      <a:r>
                        <a:rPr lang="en-US" sz="1200" b="1" dirty="0">
                          <a:solidFill>
                            <a:srgbClr val="1A3A1B"/>
                          </a:solidFill>
                          <a:latin typeface="Yu Gothic" pitchFamily="34" charset="0"/>
                          <a:ea typeface="Yu Gothic" pitchFamily="34" charset="-122"/>
                          <a:cs typeface="Yu Gothic" pitchFamily="34" charset="-120"/>
                        </a:rPr>
                        <a:t>10年後</a:t>
                      </a:r>
                      <a:endParaRPr lang="en-US" sz="120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97BC62"/>
                    </a:solidFill>
                  </a:tcPr>
                </a:tc>
              </a:tr>
              <a:tr h="329184">
                <a:tc>
                  <a:txBody>
                    <a:bodyPr/>
                    <a:lstStyle/>
                    <a:p>
                      <a:pPr indent="0" marL="0">
                        <a:buNone/>
                      </a:pPr>
                      <a:r>
                        <a:rPr lang="en-US" sz="1150" dirty="0">
                          <a:solidFill>
                            <a:srgbClr val="C6D6C2"/>
                          </a:solidFill>
                          <a:latin typeface="Yu Gothic" pitchFamily="34" charset="0"/>
                          <a:ea typeface="Yu Gothic" pitchFamily="34" charset="-122"/>
                          <a:cs typeface="Yu Gothic" pitchFamily="34" charset="-120"/>
                        </a:rPr>
                        <a:t>経営面積</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150" dirty="0">
                          <a:solidFill>
                            <a:srgbClr val="C6D6C2"/>
                          </a:solidFill>
                          <a:latin typeface="Yu Gothic" pitchFamily="34" charset="0"/>
                          <a:ea typeface="Yu Gothic" pitchFamily="34" charset="-122"/>
                          <a:cs typeface="Yu Gothic" pitchFamily="34" charset="-120"/>
                        </a:rPr>
                        <a:t>水稲中心＋ブロッコリー</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150" b="1" dirty="0">
                          <a:solidFill>
                            <a:srgbClr val="FFFFFF"/>
                          </a:solidFill>
                          <a:latin typeface="Yu Gothic" pitchFamily="34" charset="0"/>
                          <a:ea typeface="Yu Gothic" pitchFamily="34" charset="-122"/>
                          <a:cs typeface="Yu Gothic" pitchFamily="34" charset="-120"/>
                        </a:rPr>
                        <a:t>15〜20ha（うち有機・特栽が過半）＋作業受託</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2C5F2D"/>
                    </a:solidFill>
                  </a:tcPr>
                </a:tc>
              </a:tr>
              <a:tr h="329184">
                <a:tc>
                  <a:txBody>
                    <a:bodyPr/>
                    <a:lstStyle/>
                    <a:p>
                      <a:pPr indent="0" marL="0">
                        <a:buNone/>
                      </a:pPr>
                      <a:r>
                        <a:rPr lang="en-US" sz="1150" dirty="0">
                          <a:solidFill>
                            <a:srgbClr val="C6D6C2"/>
                          </a:solidFill>
                          <a:latin typeface="Yu Gothic" pitchFamily="34" charset="0"/>
                          <a:ea typeface="Yu Gothic" pitchFamily="34" charset="-122"/>
                          <a:cs typeface="Yu Gothic" pitchFamily="34" charset="-120"/>
                        </a:rPr>
                        <a:t>販路</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150" dirty="0">
                          <a:solidFill>
                            <a:srgbClr val="C6D6C2"/>
                          </a:solidFill>
                          <a:latin typeface="Yu Gothic" pitchFamily="34" charset="0"/>
                          <a:ea typeface="Yu Gothic" pitchFamily="34" charset="-122"/>
                          <a:cs typeface="Yu Gothic" pitchFamily="34" charset="-120"/>
                        </a:rPr>
                        <a:t>JA出荷＋縁故</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150" b="1" dirty="0">
                          <a:solidFill>
                            <a:srgbClr val="FFFFFF"/>
                          </a:solidFill>
                          <a:latin typeface="Yu Gothic" pitchFamily="34" charset="0"/>
                          <a:ea typeface="Yu Gothic" pitchFamily="34" charset="-122"/>
                          <a:cs typeface="Yu Gothic" pitchFamily="34" charset="-120"/>
                        </a:rPr>
                        <a:t>学校給食・直販・EC・加工品。JAは分散先の一つ</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2C5F2D"/>
                    </a:solidFill>
                  </a:tcPr>
                </a:tc>
              </a:tr>
              <a:tr h="329184">
                <a:tc>
                  <a:txBody>
                    <a:bodyPr/>
                    <a:lstStyle/>
                    <a:p>
                      <a:pPr indent="0" marL="0">
                        <a:buNone/>
                      </a:pPr>
                      <a:r>
                        <a:rPr lang="en-US" sz="1150" dirty="0">
                          <a:solidFill>
                            <a:srgbClr val="C6D6C2"/>
                          </a:solidFill>
                          <a:latin typeface="Yu Gothic" pitchFamily="34" charset="0"/>
                          <a:ea typeface="Yu Gothic" pitchFamily="34" charset="-122"/>
                          <a:cs typeface="Yu Gothic" pitchFamily="34" charset="-120"/>
                        </a:rPr>
                        <a:t>収益構造</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150" dirty="0">
                          <a:solidFill>
                            <a:srgbClr val="C6D6C2"/>
                          </a:solidFill>
                          <a:latin typeface="Yu Gothic" pitchFamily="34" charset="0"/>
                          <a:ea typeface="Yu Gothic" pitchFamily="34" charset="-122"/>
                          <a:cs typeface="Yu Gothic" pitchFamily="34" charset="-120"/>
                        </a:rPr>
                        <a:t>米価に直結</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150" b="1" dirty="0">
                          <a:solidFill>
                            <a:srgbClr val="FFFFFF"/>
                          </a:solidFill>
                          <a:latin typeface="Yu Gothic" pitchFamily="34" charset="0"/>
                          <a:ea typeface="Yu Gothic" pitchFamily="34" charset="-122"/>
                          <a:cs typeface="Yu Gothic" pitchFamily="34" charset="-120"/>
                        </a:rPr>
                        <a:t>交付金・クレジット・加工の三層で米価変動を吸収</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2C5F2D"/>
                    </a:solidFill>
                  </a:tcPr>
                </a:tc>
              </a:tr>
              <a:tr h="329184">
                <a:tc>
                  <a:txBody>
                    <a:bodyPr/>
                    <a:lstStyle/>
                    <a:p>
                      <a:pPr indent="0" marL="0">
                        <a:buNone/>
                      </a:pPr>
                      <a:r>
                        <a:rPr lang="en-US" sz="1150" dirty="0">
                          <a:solidFill>
                            <a:srgbClr val="C6D6C2"/>
                          </a:solidFill>
                          <a:latin typeface="Yu Gothic" pitchFamily="34" charset="0"/>
                          <a:ea typeface="Yu Gothic" pitchFamily="34" charset="-122"/>
                          <a:cs typeface="Yu Gothic" pitchFamily="34" charset="-120"/>
                        </a:rPr>
                        <a:t>体制</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150" dirty="0">
                          <a:solidFill>
                            <a:srgbClr val="C6D6C2"/>
                          </a:solidFill>
                          <a:latin typeface="Yu Gothic" pitchFamily="34" charset="0"/>
                          <a:ea typeface="Yu Gothic" pitchFamily="34" charset="-122"/>
                          <a:cs typeface="Yu Gothic" pitchFamily="34" charset="-120"/>
                        </a:rPr>
                        <a:t>家族3名</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1F3F20"/>
                    </a:solidFill>
                  </a:tcPr>
                </a:tc>
                <a:tc>
                  <a:txBody>
                    <a:bodyPr/>
                    <a:lstStyle/>
                    <a:p>
                      <a:pPr indent="0" marL="0">
                        <a:buNone/>
                      </a:pPr>
                      <a:r>
                        <a:rPr lang="en-US" sz="1150" b="1" dirty="0">
                          <a:solidFill>
                            <a:srgbClr val="FFFFFF"/>
                          </a:solidFill>
                          <a:latin typeface="Yu Gothic" pitchFamily="34" charset="0"/>
                          <a:ea typeface="Yu Gothic" pitchFamily="34" charset="-122"/>
                          <a:cs typeface="Yu Gothic" pitchFamily="34" charset="-120"/>
                        </a:rPr>
                        <a:t>家族＋雇用＋近隣法人との連携。属人性を下げる</a:t>
                      </a:r>
                      <a:endParaRPr lang="en-US" sz="1150" dirty="0">
                        <a:latin typeface="Yu Gothic" charset="0"/>
                        <a:ea typeface="Yu Gothic" charset="0"/>
                        <a:cs typeface="Yu Gothic" charset="0"/>
                      </a:endParaRPr>
                    </a:p>
                  </a:txBody>
                  <a:tcPr marL="88900" marR="88900" marT="88900" marB="88900" anchor="ctr">
                    <a:lnL w="12700" cap="flat" cmpd="sng" algn="ctr">
                      <a:solidFill>
                        <a:srgbClr val="1A3A1B"/>
                      </a:solidFill>
                      <a:prstDash val="solid"/>
                      <a:round/>
                      <a:headEnd type="none" w="med" len="med"/>
                      <a:tailEnd type="none" w="med" len="med"/>
                    </a:lnL>
                    <a:lnR w="12700" cap="flat" cmpd="sng" algn="ctr">
                      <a:solidFill>
                        <a:srgbClr val="1A3A1B"/>
                      </a:solidFill>
                      <a:prstDash val="solid"/>
                      <a:round/>
                      <a:headEnd type="none" w="med" len="med"/>
                      <a:tailEnd type="none" w="med" len="med"/>
                    </a:lnR>
                    <a:lnT w="12700" cap="flat" cmpd="sng" algn="ctr">
                      <a:solidFill>
                        <a:srgbClr val="1A3A1B"/>
                      </a:solidFill>
                      <a:prstDash val="solid"/>
                      <a:round/>
                      <a:headEnd type="none" w="med" len="med"/>
                      <a:tailEnd type="none" w="med" len="med"/>
                    </a:lnT>
                    <a:lnB w="12700" cap="flat" cmpd="sng" algn="ctr">
                      <a:solidFill>
                        <a:srgbClr val="1A3A1B"/>
                      </a:solidFill>
                      <a:prstDash val="solid"/>
                      <a:round/>
                      <a:headEnd type="none" w="med" len="med"/>
                      <a:tailEnd type="none" w="med" len="med"/>
                    </a:lnB>
                    <a:solidFill>
                      <a:srgbClr val="2C5F2D"/>
                    </a:solidFill>
                  </a:tcPr>
                </a:tc>
              </a:tr>
            </a:tbl>
          </a:graphicData>
        </a:graphic>
      </p:graphicFrame>
      <p:sp>
        <p:nvSpPr>
          <p:cNvPr id="17" name="Text 14"/>
          <p:cNvSpPr txBox="1"/>
          <p:nvPr/>
        </p:nvSpPr>
        <p:spPr>
          <a:xfrm>
            <a:off x="566928" y="6364224"/>
            <a:ext cx="11055096" cy="329184"/>
          </a:xfrm>
          <a:prstGeom prst="rect">
            <a:avLst/>
          </a:prstGeom>
          <a:noFill/>
          <a:ln/>
        </p:spPr>
        <p:txBody>
          <a:bodyPr wrap="square" lIns="0" tIns="0" rIns="0" bIns="0" rtlCol="0" anchor="t"/>
          <a:lstStyle/>
          <a:p>
            <a:pPr indent="0" marL="0">
              <a:lnSpc>
                <a:spcPts val="2100"/>
              </a:lnSpc>
              <a:buNone/>
            </a:pPr>
            <a:r>
              <a:rPr lang="en-US" sz="1300" b="1" i="1" dirty="0">
                <a:solidFill>
                  <a:srgbClr val="97BC62"/>
                </a:solidFill>
                <a:latin typeface="Yu Gothic" pitchFamily="34" charset="0"/>
                <a:ea typeface="Yu Gothic" pitchFamily="34" charset="-122"/>
                <a:cs typeface="Yu Gothic" pitchFamily="34" charset="-120"/>
              </a:rPr>
              <a:t>これは「大規模化」ではなく「多層化」。面積の勝負では勝てないが、水田と園芸と食育を一つの経営体で束ねられるのは紺多農園だけ。</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A3A1B"/>
        </a:solidFill>
      </p:bgPr>
    </p:bg>
    <p:spTree>
      <p:nvGrpSpPr>
        <p:cNvPr id="1" name=""/>
        <p:cNvGrpSpPr/>
        <p:nvPr/>
      </p:nvGrpSpPr>
      <p:grpSpPr>
        <a:xfrm>
          <a:off x="0" y="0"/>
          <a:ext cx="0" cy="0"/>
          <a:chOff x="0" y="0"/>
          <a:chExt cx="0" cy="0"/>
        </a:xfrm>
      </p:grpSpPr>
      <p:sp>
        <p:nvSpPr>
          <p:cNvPr id="2" name="Shape 0"/>
          <p:cNvSpPr/>
          <p:nvPr/>
        </p:nvSpPr>
        <p:spPr>
          <a:xfrm>
            <a:off x="9144000" y="4206240"/>
            <a:ext cx="4023360" cy="4023360"/>
          </a:xfrm>
          <a:prstGeom prst="ellipse">
            <a:avLst/>
          </a:prstGeom>
          <a:solidFill>
            <a:srgbClr val="234425"/>
          </a:solidFill>
          <a:ln/>
        </p:spPr>
      </p:sp>
      <p:sp>
        <p:nvSpPr>
          <p:cNvPr id="3" name="Text 1"/>
          <p:cNvSpPr txBox="1"/>
          <p:nvPr/>
        </p:nvSpPr>
        <p:spPr>
          <a:xfrm>
            <a:off x="566928" y="310896"/>
            <a:ext cx="11055096" cy="274320"/>
          </a:xfrm>
          <a:prstGeom prst="rect">
            <a:avLst/>
          </a:prstGeom>
          <a:noFill/>
          <a:ln/>
        </p:spPr>
        <p:txBody>
          <a:bodyPr wrap="square" lIns="0" tIns="0" rIns="0" bIns="0" rtlCol="0" anchor="ctr"/>
          <a:lstStyle/>
          <a:p>
            <a:pPr indent="0" marL="0">
              <a:buNone/>
            </a:pPr>
            <a:r>
              <a:rPr lang="en-US" sz="1200" b="1" spc="200" kern="0" dirty="0">
                <a:solidFill>
                  <a:srgbClr val="97BC62"/>
                </a:solidFill>
                <a:latin typeface="Yu Gothic" pitchFamily="34" charset="0"/>
                <a:ea typeface="Yu Gothic" pitchFamily="34" charset="-122"/>
                <a:cs typeface="Yu Gothic" pitchFamily="34" charset="-120"/>
              </a:rPr>
              <a:t>NEXT STEPS</a:t>
            </a:r>
            <a:endParaRPr lang="en-US" sz="1200" dirty="0"/>
          </a:p>
        </p:txBody>
      </p:sp>
      <p:sp>
        <p:nvSpPr>
          <p:cNvPr id="4" name="Text 2"/>
          <p:cNvSpPr txBox="1"/>
          <p:nvPr/>
        </p:nvSpPr>
        <p:spPr>
          <a:xfrm>
            <a:off x="566928" y="603504"/>
            <a:ext cx="11055096" cy="749808"/>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次に決めるべき三つ</a:t>
            </a:r>
            <a:endParaRPr lang="en-US" sz="3200" dirty="0"/>
          </a:p>
        </p:txBody>
      </p:sp>
      <p:sp>
        <p:nvSpPr>
          <p:cNvPr id="5" name="Shape 3"/>
          <p:cNvSpPr/>
          <p:nvPr/>
        </p:nvSpPr>
        <p:spPr>
          <a:xfrm>
            <a:off x="566928" y="1664208"/>
            <a:ext cx="11055096" cy="1024128"/>
          </a:xfrm>
          <a:prstGeom prst="roundRect">
            <a:avLst>
              <a:gd name="adj" fmla="val 5357"/>
            </a:avLst>
          </a:prstGeom>
          <a:solidFill>
            <a:srgbClr val="1F3F20"/>
          </a:solidFill>
          <a:ln/>
        </p:spPr>
      </p:sp>
      <p:sp>
        <p:nvSpPr>
          <p:cNvPr id="6" name="Shape 4"/>
          <p:cNvSpPr/>
          <p:nvPr/>
        </p:nvSpPr>
        <p:spPr>
          <a:xfrm>
            <a:off x="841248" y="1975104"/>
            <a:ext cx="402336" cy="402336"/>
          </a:xfrm>
          <a:prstGeom prst="ellipse">
            <a:avLst/>
          </a:prstGeom>
          <a:solidFill>
            <a:srgbClr val="97BC62"/>
          </a:solidFill>
          <a:ln/>
        </p:spPr>
      </p:sp>
      <p:sp>
        <p:nvSpPr>
          <p:cNvPr id="7" name="Text 5"/>
          <p:cNvSpPr txBox="1"/>
          <p:nvPr/>
        </p:nvSpPr>
        <p:spPr>
          <a:xfrm>
            <a:off x="841248" y="1975104"/>
            <a:ext cx="402336" cy="402336"/>
          </a:xfrm>
          <a:prstGeom prst="rect">
            <a:avLst/>
          </a:prstGeom>
          <a:noFill/>
          <a:ln/>
        </p:spPr>
        <p:txBody>
          <a:bodyPr wrap="square" lIns="0" tIns="0" rIns="0" bIns="0" rtlCol="0" anchor="ctr"/>
          <a:lstStyle/>
          <a:p>
            <a:pPr algn="ctr" indent="0" marL="0">
              <a:buNone/>
            </a:pPr>
            <a:r>
              <a:rPr lang="en-US" sz="1500" b="1" dirty="0">
                <a:solidFill>
                  <a:srgbClr val="1A3A1B"/>
                </a:solidFill>
                <a:latin typeface="Cambria" pitchFamily="34" charset="0"/>
                <a:ea typeface="Cambria" pitchFamily="34" charset="-122"/>
                <a:cs typeface="Cambria" pitchFamily="34" charset="-120"/>
              </a:rPr>
              <a:t>1</a:t>
            </a:r>
            <a:endParaRPr lang="en-US" sz="1500" dirty="0"/>
          </a:p>
        </p:txBody>
      </p:sp>
      <p:sp>
        <p:nvSpPr>
          <p:cNvPr id="8" name="Text 6"/>
          <p:cNvSpPr txBox="1"/>
          <p:nvPr/>
        </p:nvSpPr>
        <p:spPr>
          <a:xfrm>
            <a:off x="1463040" y="1828800"/>
            <a:ext cx="3931920" cy="347472"/>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Yu Gothic" pitchFamily="34" charset="0"/>
                <a:ea typeface="Yu Gothic" pitchFamily="34" charset="-122"/>
                <a:cs typeface="Yu Gothic" pitchFamily="34" charset="-120"/>
              </a:rPr>
              <a:t>配偶者の800万円をどうするか</a:t>
            </a:r>
            <a:endParaRPr lang="en-US" sz="1600" dirty="0"/>
          </a:p>
        </p:txBody>
      </p:sp>
      <p:sp>
        <p:nvSpPr>
          <p:cNvPr id="9" name="Text 7"/>
          <p:cNvSpPr txBox="1"/>
          <p:nvPr/>
        </p:nvSpPr>
        <p:spPr>
          <a:xfrm>
            <a:off x="1463040" y="2194560"/>
            <a:ext cx="9966960" cy="420624"/>
          </a:xfrm>
          <a:prstGeom prst="rect">
            <a:avLst/>
          </a:prstGeom>
          <a:noFill/>
          <a:ln/>
        </p:spPr>
        <p:txBody>
          <a:bodyPr wrap="square" lIns="0" tIns="0" rIns="0" bIns="0" rtlCol="0" anchor="t"/>
          <a:lstStyle/>
          <a:p>
            <a:pPr indent="0" marL="0">
              <a:lnSpc>
                <a:spcPts val="1600"/>
              </a:lnSpc>
              <a:buNone/>
            </a:pPr>
            <a:r>
              <a:rPr lang="en-US" sz="1150" dirty="0">
                <a:solidFill>
                  <a:srgbClr val="C6D6C2"/>
                </a:solidFill>
                <a:latin typeface="Yu Gothic" pitchFamily="34" charset="0"/>
                <a:ea typeface="Yu Gothic" pitchFamily="34" charset="-122"/>
                <a:cs typeface="Yu Gothic" pitchFamily="34" charset="-120"/>
              </a:rPr>
              <a:t>最大の変数。これが決まらないうちは、面積も品目も補助金も議論する意味がない</a:t>
            </a:r>
            <a:endParaRPr lang="en-US" sz="1150" dirty="0"/>
          </a:p>
        </p:txBody>
      </p:sp>
      <p:sp>
        <p:nvSpPr>
          <p:cNvPr id="10" name="Shape 8"/>
          <p:cNvSpPr/>
          <p:nvPr/>
        </p:nvSpPr>
        <p:spPr>
          <a:xfrm>
            <a:off x="566928" y="2743200"/>
            <a:ext cx="11055096" cy="1024128"/>
          </a:xfrm>
          <a:prstGeom prst="roundRect">
            <a:avLst>
              <a:gd name="adj" fmla="val 5357"/>
            </a:avLst>
          </a:prstGeom>
          <a:solidFill>
            <a:srgbClr val="1F3F20"/>
          </a:solidFill>
          <a:ln/>
        </p:spPr>
      </p:sp>
      <p:sp>
        <p:nvSpPr>
          <p:cNvPr id="11" name="Shape 9"/>
          <p:cNvSpPr/>
          <p:nvPr/>
        </p:nvSpPr>
        <p:spPr>
          <a:xfrm>
            <a:off x="841248" y="3054096"/>
            <a:ext cx="402336" cy="402336"/>
          </a:xfrm>
          <a:prstGeom prst="ellipse">
            <a:avLst/>
          </a:prstGeom>
          <a:solidFill>
            <a:srgbClr val="97BC62"/>
          </a:solidFill>
          <a:ln/>
        </p:spPr>
      </p:sp>
      <p:sp>
        <p:nvSpPr>
          <p:cNvPr id="12" name="Text 10"/>
          <p:cNvSpPr txBox="1"/>
          <p:nvPr/>
        </p:nvSpPr>
        <p:spPr>
          <a:xfrm>
            <a:off x="841248" y="3054096"/>
            <a:ext cx="402336" cy="402336"/>
          </a:xfrm>
          <a:prstGeom prst="rect">
            <a:avLst/>
          </a:prstGeom>
          <a:noFill/>
          <a:ln/>
        </p:spPr>
        <p:txBody>
          <a:bodyPr wrap="square" lIns="0" tIns="0" rIns="0" bIns="0" rtlCol="0" anchor="ctr"/>
          <a:lstStyle/>
          <a:p>
            <a:pPr algn="ctr" indent="0" marL="0">
              <a:buNone/>
            </a:pPr>
            <a:r>
              <a:rPr lang="en-US" sz="1500" b="1" dirty="0">
                <a:solidFill>
                  <a:srgbClr val="1A3A1B"/>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1463040" y="2907792"/>
            <a:ext cx="3931920" cy="347472"/>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Yu Gothic" pitchFamily="34" charset="0"/>
                <a:ea typeface="Yu Gothic" pitchFamily="34" charset="-122"/>
                <a:cs typeface="Yu Gothic" pitchFamily="34" charset="-120"/>
              </a:rPr>
              <a:t>紺多農園の決算書3期分</a:t>
            </a:r>
            <a:endParaRPr lang="en-US" sz="1600" dirty="0"/>
          </a:p>
        </p:txBody>
      </p:sp>
      <p:sp>
        <p:nvSpPr>
          <p:cNvPr id="14" name="Text 12"/>
          <p:cNvSpPr txBox="1"/>
          <p:nvPr/>
        </p:nvSpPr>
        <p:spPr>
          <a:xfrm>
            <a:off x="1463040" y="3273552"/>
            <a:ext cx="9966960" cy="420624"/>
          </a:xfrm>
          <a:prstGeom prst="rect">
            <a:avLst/>
          </a:prstGeom>
          <a:noFill/>
          <a:ln/>
        </p:spPr>
        <p:txBody>
          <a:bodyPr wrap="square" lIns="0" tIns="0" rIns="0" bIns="0" rtlCol="0" anchor="t"/>
          <a:lstStyle/>
          <a:p>
            <a:pPr indent="0" marL="0">
              <a:lnSpc>
                <a:spcPts val="1600"/>
              </a:lnSpc>
              <a:buNone/>
            </a:pPr>
            <a:r>
              <a:rPr lang="en-US" sz="1150" dirty="0">
                <a:solidFill>
                  <a:srgbClr val="C6D6C2"/>
                </a:solidFill>
                <a:latin typeface="Yu Gothic" pitchFamily="34" charset="0"/>
                <a:ea typeface="Yu Gothic" pitchFamily="34" charset="-122"/>
                <a:cs typeface="Yu Gothic" pitchFamily="34" charset="-120"/>
              </a:rPr>
              <a:t>面積・売上・利益・借入金残高・個人保証の有無。これなしの議論は全部空論。米価下落で最も危ないのは、設備投資の借金を抱えた規模拡大農家</a:t>
            </a:r>
            <a:endParaRPr lang="en-US" sz="1150" dirty="0"/>
          </a:p>
        </p:txBody>
      </p:sp>
      <p:sp>
        <p:nvSpPr>
          <p:cNvPr id="15" name="Shape 13"/>
          <p:cNvSpPr/>
          <p:nvPr/>
        </p:nvSpPr>
        <p:spPr>
          <a:xfrm>
            <a:off x="566928" y="3822192"/>
            <a:ext cx="11055096" cy="1024128"/>
          </a:xfrm>
          <a:prstGeom prst="roundRect">
            <a:avLst>
              <a:gd name="adj" fmla="val 5357"/>
            </a:avLst>
          </a:prstGeom>
          <a:solidFill>
            <a:srgbClr val="1F3F20"/>
          </a:solidFill>
          <a:ln/>
        </p:spPr>
      </p:sp>
      <p:sp>
        <p:nvSpPr>
          <p:cNvPr id="16" name="Shape 14"/>
          <p:cNvSpPr/>
          <p:nvPr/>
        </p:nvSpPr>
        <p:spPr>
          <a:xfrm>
            <a:off x="841248" y="4133088"/>
            <a:ext cx="402336" cy="402336"/>
          </a:xfrm>
          <a:prstGeom prst="ellipse">
            <a:avLst/>
          </a:prstGeom>
          <a:solidFill>
            <a:srgbClr val="97BC62"/>
          </a:solidFill>
          <a:ln/>
        </p:spPr>
      </p:sp>
      <p:sp>
        <p:nvSpPr>
          <p:cNvPr id="17" name="Text 15"/>
          <p:cNvSpPr txBox="1"/>
          <p:nvPr/>
        </p:nvSpPr>
        <p:spPr>
          <a:xfrm>
            <a:off x="841248" y="4133088"/>
            <a:ext cx="402336" cy="402336"/>
          </a:xfrm>
          <a:prstGeom prst="rect">
            <a:avLst/>
          </a:prstGeom>
          <a:noFill/>
          <a:ln/>
        </p:spPr>
        <p:txBody>
          <a:bodyPr wrap="square" lIns="0" tIns="0" rIns="0" bIns="0" rtlCol="0" anchor="ctr"/>
          <a:lstStyle/>
          <a:p>
            <a:pPr algn="ctr" indent="0" marL="0">
              <a:buNone/>
            </a:pPr>
            <a:r>
              <a:rPr lang="en-US" sz="1500" b="1" dirty="0">
                <a:solidFill>
                  <a:srgbClr val="1A3A1B"/>
                </a:solidFill>
                <a:latin typeface="Cambria" pitchFamily="34" charset="0"/>
                <a:ea typeface="Cambria" pitchFamily="34" charset="-122"/>
                <a:cs typeface="Cambria" pitchFamily="34" charset="-120"/>
              </a:rPr>
              <a:t>3</a:t>
            </a:r>
            <a:endParaRPr lang="en-US" sz="1500" dirty="0"/>
          </a:p>
        </p:txBody>
      </p:sp>
      <p:sp>
        <p:nvSpPr>
          <p:cNvPr id="18" name="Text 16"/>
          <p:cNvSpPr txBox="1"/>
          <p:nvPr/>
        </p:nvSpPr>
        <p:spPr>
          <a:xfrm>
            <a:off x="1463040" y="3986784"/>
            <a:ext cx="3931920" cy="347472"/>
          </a:xfrm>
          <a:prstGeom prst="rect">
            <a:avLst/>
          </a:prstGeom>
          <a:noFill/>
          <a:ln/>
        </p:spPr>
        <p:txBody>
          <a:bodyPr wrap="square" lIns="0" tIns="0" rIns="0" bIns="0" rtlCol="0" anchor="t"/>
          <a:lstStyle/>
          <a:p>
            <a:pPr indent="0" marL="0">
              <a:lnSpc>
                <a:spcPts val="2100"/>
              </a:lnSpc>
              <a:buNone/>
            </a:pPr>
            <a:r>
              <a:rPr lang="en-US" sz="1600" b="1" dirty="0">
                <a:solidFill>
                  <a:srgbClr val="FFFFFF"/>
                </a:solidFill>
                <a:latin typeface="Yu Gothic" pitchFamily="34" charset="0"/>
                <a:ea typeface="Yu Gothic" pitchFamily="34" charset="-122"/>
                <a:cs typeface="Yu Gothic" pitchFamily="34" charset="-120"/>
              </a:rPr>
              <a:t>他の組合員（ご親族）の意向</a:t>
            </a:r>
            <a:endParaRPr lang="en-US" sz="1600" dirty="0"/>
          </a:p>
        </p:txBody>
      </p:sp>
      <p:sp>
        <p:nvSpPr>
          <p:cNvPr id="19" name="Text 17"/>
          <p:cNvSpPr txBox="1"/>
          <p:nvPr/>
        </p:nvSpPr>
        <p:spPr>
          <a:xfrm>
            <a:off x="1463040" y="4352544"/>
            <a:ext cx="9966960" cy="420624"/>
          </a:xfrm>
          <a:prstGeom prst="rect">
            <a:avLst/>
          </a:prstGeom>
          <a:noFill/>
          <a:ln/>
        </p:spPr>
        <p:txBody>
          <a:bodyPr wrap="square" lIns="0" tIns="0" rIns="0" bIns="0" rtlCol="0" anchor="t"/>
          <a:lstStyle/>
          <a:p>
            <a:pPr indent="0" marL="0">
              <a:lnSpc>
                <a:spcPts val="1600"/>
              </a:lnSpc>
              <a:buNone/>
            </a:pPr>
            <a:r>
              <a:rPr lang="en-US" sz="1150" dirty="0">
                <a:solidFill>
                  <a:srgbClr val="C6D6C2"/>
                </a:solidFill>
                <a:latin typeface="Yu Gothic" pitchFamily="34" charset="0"/>
                <a:ea typeface="Yu Gothic" pitchFamily="34" charset="-122"/>
                <a:cs typeface="Yu Gothic" pitchFamily="34" charset="-120"/>
              </a:rPr>
              <a:t>農事組合法人の承継は総会承認が必要。本人の意思だけでは決まらない</a:t>
            </a:r>
            <a:endParaRPr lang="en-US" sz="1150" dirty="0"/>
          </a:p>
        </p:txBody>
      </p:sp>
      <p:sp>
        <p:nvSpPr>
          <p:cNvPr id="20" name="Shape 18"/>
          <p:cNvSpPr/>
          <p:nvPr/>
        </p:nvSpPr>
        <p:spPr>
          <a:xfrm>
            <a:off x="566928" y="5029200"/>
            <a:ext cx="11055096" cy="960120"/>
          </a:xfrm>
          <a:prstGeom prst="roundRect">
            <a:avLst>
              <a:gd name="adj" fmla="val 5714"/>
            </a:avLst>
          </a:prstGeom>
          <a:solidFill>
            <a:srgbClr val="2C5F2D"/>
          </a:solidFill>
          <a:ln/>
          <a:effectLst>
            <a:outerShdw sx="100000" sy="100000" kx="0" ky="0" algn="bl" rotWithShape="0" blurRad="101600" dist="25400" dir="5400000">
              <a:srgbClr val="000000">
                <a:alpha val="12000"/>
              </a:srgbClr>
            </a:outerShdw>
          </a:effectLst>
        </p:spPr>
      </p:sp>
      <p:sp>
        <p:nvSpPr>
          <p:cNvPr id="21" name="Text 19"/>
          <p:cNvSpPr txBox="1"/>
          <p:nvPr/>
        </p:nvSpPr>
        <p:spPr>
          <a:xfrm>
            <a:off x="932688" y="5029200"/>
            <a:ext cx="10323576" cy="960120"/>
          </a:xfrm>
          <a:prstGeom prst="rect">
            <a:avLst/>
          </a:prstGeom>
          <a:noFill/>
          <a:ln/>
        </p:spPr>
        <p:txBody>
          <a:bodyPr wrap="square" lIns="0" tIns="0" rIns="0" bIns="0" rtlCol="0" anchor="ctr"/>
          <a:lstStyle/>
          <a:p>
            <a:pPr indent="0" marL="0">
              <a:lnSpc>
                <a:spcPts val="2400"/>
              </a:lnSpc>
              <a:buNone/>
            </a:pPr>
            <a:r>
              <a:rPr lang="en-US" sz="1500" b="1" dirty="0">
                <a:solidFill>
                  <a:srgbClr val="FFFFFF"/>
                </a:solidFill>
                <a:latin typeface="Yu Gothic" pitchFamily="34" charset="0"/>
                <a:ea typeface="Yu Gothic" pitchFamily="34" charset="-122"/>
                <a:cs typeface="Yu Gothic" pitchFamily="34" charset="-120"/>
              </a:rPr>
              <a:t>まずは「辞めずに、無報酬で、長期休暇に関与する」第1段階から。</a:t>
            </a:r>
            <a:endParaRPr lang="en-US" sz="1500" dirty="0"/>
          </a:p>
          <a:p>
            <a:pPr indent="0" marL="0">
              <a:lnSpc>
                <a:spcPts val="2400"/>
              </a:lnSpc>
              <a:buNone/>
            </a:pPr>
            <a:r>
              <a:rPr lang="en-US" sz="1500" b="1" dirty="0">
                <a:solidFill>
                  <a:srgbClr val="FFFFFF"/>
                </a:solidFill>
                <a:latin typeface="Yu Gothic" pitchFamily="34" charset="0"/>
                <a:ea typeface="Yu Gothic" pitchFamily="34" charset="-122"/>
                <a:cs typeface="Yu Gothic" pitchFamily="34" charset="-120"/>
              </a:rPr>
              <a:t>45歳なら制度の窓まで4年。焦る必要はないが、4年以内に決める。</a:t>
            </a:r>
            <a:endParaRPr lang="en-US" sz="1500" dirty="0"/>
          </a:p>
        </p:txBody>
      </p:sp>
      <p:sp>
        <p:nvSpPr>
          <p:cNvPr id="22" name="Text 20"/>
          <p:cNvSpPr txBox="1"/>
          <p:nvPr/>
        </p:nvSpPr>
        <p:spPr>
          <a:xfrm>
            <a:off x="566928" y="6144768"/>
            <a:ext cx="11055096" cy="320040"/>
          </a:xfrm>
          <a:prstGeom prst="rect">
            <a:avLst/>
          </a:prstGeom>
          <a:noFill/>
          <a:ln/>
        </p:spPr>
        <p:txBody>
          <a:bodyPr wrap="square" lIns="0" tIns="0" rIns="0" bIns="0" rtlCol="0" anchor="ctr"/>
          <a:lstStyle/>
          <a:p>
            <a:pPr indent="0" marL="0">
              <a:buNone/>
            </a:pPr>
            <a:r>
              <a:rPr lang="en-US" sz="1050" dirty="0">
                <a:solidFill>
                  <a:srgbClr val="8FA48E"/>
                </a:solidFill>
                <a:latin typeface="Yu Gothic" pitchFamily="34" charset="0"/>
                <a:ea typeface="Yu Gothic" pitchFamily="34" charset="-122"/>
                <a:cs typeface="Yu Gothic" pitchFamily="34" charset="-120"/>
              </a:rPr>
              <a:t>制度の金額・要件は目安です。白山市産業部農業振興課（076-274-9540）、石川県教育委員会、税理士、日本年金機構で必ずご確認ください。</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農事組合法人 紺多農園 事業承継 検討サマリー</dc:title>
  <dc:subject>PptxGenJS Presentation</dc:subject>
  <dc:creator>紺多農園 承継検討</dc:creator>
  <cp:lastModifiedBy>紺多農園 承継検討</cp:lastModifiedBy>
  <cp:revision>1</cp:revision>
  <dcterms:created xsi:type="dcterms:W3CDTF">2026-09-21T11:38:40Z</dcterms:created>
  <dcterms:modified xsi:type="dcterms:W3CDTF">2026-09-21T11:38:40Z</dcterms:modified>
</cp:coreProperties>
</file>