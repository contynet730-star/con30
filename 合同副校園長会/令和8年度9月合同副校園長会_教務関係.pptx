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
  </p:notesMasterIdLst>
  <p:handoutMasterIdLst>
    <p:handoutMasterId r:id="rId10"/>
  </p:handoutMasterIdLst>
  <p:sldIdLst>
    <p:sldId id="256" r:id="rId2"/>
    <p:sldId id="263" r:id="rId3"/>
    <p:sldId id="258" r:id="rId4"/>
    <p:sldId id="265" r:id="rId5"/>
    <p:sldId id="266" r:id="rId6"/>
    <p:sldId id="257" r:id="rId7"/>
    <p:sldId id="264" r:id="rId8"/>
  </p:sldIdLst>
  <p:sldSz cx="12192000" cy="6858000"/>
  <p:notesSz cx="6737350" cy="986948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8761" autoAdjust="0"/>
  </p:normalViewPr>
  <p:slideViewPr>
    <p:cSldViewPr snapToGrid="0">
      <p:cViewPr varScale="1">
        <p:scale>
          <a:sx n="43" d="100"/>
          <a:sy n="43" d="100"/>
        </p:scale>
        <p:origin x="1552"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notesMaster" Target="notesMasters/notesMaster1.xml"/><Relationship Id="rId14"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19518" cy="495189"/>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16273" y="0"/>
            <a:ext cx="2919518" cy="495189"/>
          </a:xfrm>
          <a:prstGeom prst="rect">
            <a:avLst/>
          </a:prstGeom>
        </p:spPr>
        <p:txBody>
          <a:bodyPr vert="horz" lIns="91440" tIns="45720" rIns="91440" bIns="45720" rtlCol="0"/>
          <a:lstStyle>
            <a:lvl1pPr algn="r">
              <a:defRPr sz="1200"/>
            </a:lvl1pPr>
          </a:lstStyle>
          <a:p>
            <a:fld id="{7D50F491-2DDE-4D3B-B7DE-F1FE2A3F7A7E}" type="datetimeFigureOut">
              <a:rPr kumimoji="1" lang="ja-JP" altLang="en-US" smtClean="0"/>
              <a:t>2026/9/8</a:t>
            </a:fld>
            <a:endParaRPr kumimoji="1" lang="ja-JP" altLang="en-US"/>
          </a:p>
        </p:txBody>
      </p:sp>
      <p:sp>
        <p:nvSpPr>
          <p:cNvPr id="4" name="フッター プレースホルダー 3"/>
          <p:cNvSpPr>
            <a:spLocks noGrp="1"/>
          </p:cNvSpPr>
          <p:nvPr>
            <p:ph type="ftr" sz="quarter" idx="2"/>
          </p:nvPr>
        </p:nvSpPr>
        <p:spPr>
          <a:xfrm>
            <a:off x="0" y="9374302"/>
            <a:ext cx="2919518" cy="495188"/>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16273" y="9374302"/>
            <a:ext cx="2919518" cy="495188"/>
          </a:xfrm>
          <a:prstGeom prst="rect">
            <a:avLst/>
          </a:prstGeom>
        </p:spPr>
        <p:txBody>
          <a:bodyPr vert="horz" lIns="91440" tIns="45720" rIns="91440" bIns="45720" rtlCol="0" anchor="b"/>
          <a:lstStyle>
            <a:lvl1pPr algn="r">
              <a:defRPr sz="1200"/>
            </a:lvl1pPr>
          </a:lstStyle>
          <a:p>
            <a:fld id="{4687EB70-15A2-4994-B7D3-FB0D61CD958B}" type="slidenum">
              <a:rPr kumimoji="1" lang="ja-JP" altLang="en-US" smtClean="0"/>
              <a:t>‹#›</a:t>
            </a:fld>
            <a:endParaRPr kumimoji="1" lang="ja-JP" altLang="en-US"/>
          </a:p>
        </p:txBody>
      </p:sp>
    </p:spTree>
    <p:extLst>
      <p:ext uri="{BB962C8B-B14F-4D97-AF65-F5344CB8AC3E}">
        <p14:creationId xmlns:p14="http://schemas.microsoft.com/office/powerpoint/2010/main" val="74036485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0"/>
            <a:ext cx="2919413" cy="495300"/>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16350" y="0"/>
            <a:ext cx="2919413" cy="495300"/>
          </a:xfrm>
          <a:prstGeom prst="rect">
            <a:avLst/>
          </a:prstGeom>
        </p:spPr>
        <p:txBody>
          <a:bodyPr vert="horz" lIns="91440" tIns="45720" rIns="91440" bIns="45720" rtlCol="0"/>
          <a:lstStyle>
            <a:lvl1pPr algn="r">
              <a:defRPr sz="1200"/>
            </a:lvl1pPr>
          </a:lstStyle>
          <a:p>
            <a:fld id="{AD3A583D-3F22-4DDF-8247-F1D4DE899A9E}" type="datetimeFigureOut">
              <a:rPr kumimoji="1" lang="ja-JP" altLang="en-US" smtClean="0"/>
              <a:t>2026/9/8</a:t>
            </a:fld>
            <a:endParaRPr kumimoji="1" lang="ja-JP" altLang="en-US"/>
          </a:p>
        </p:txBody>
      </p:sp>
      <p:sp>
        <p:nvSpPr>
          <p:cNvPr id="4" name="スライド イメージ プレースホルダー 3"/>
          <p:cNvSpPr>
            <a:spLocks noGrp="1" noRot="1" noChangeAspect="1"/>
          </p:cNvSpPr>
          <p:nvPr>
            <p:ph type="sldImg" idx="2"/>
          </p:nvPr>
        </p:nvSpPr>
        <p:spPr>
          <a:xfrm>
            <a:off x="406400" y="1231900"/>
            <a:ext cx="5924550" cy="333375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73101" y="4749800"/>
            <a:ext cx="5391150" cy="3886199"/>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374188"/>
            <a:ext cx="2919413" cy="495300"/>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16350" y="9374188"/>
            <a:ext cx="2919413" cy="495300"/>
          </a:xfrm>
          <a:prstGeom prst="rect">
            <a:avLst/>
          </a:prstGeom>
        </p:spPr>
        <p:txBody>
          <a:bodyPr vert="horz" lIns="91440" tIns="45720" rIns="91440" bIns="45720" rtlCol="0" anchor="b"/>
          <a:lstStyle>
            <a:lvl1pPr algn="r">
              <a:defRPr sz="1200"/>
            </a:lvl1pPr>
          </a:lstStyle>
          <a:p>
            <a:fld id="{D677B49A-121A-4192-B702-4BD00D39A90B}" type="slidenum">
              <a:rPr kumimoji="1" lang="ja-JP" altLang="en-US" smtClean="0"/>
              <a:t>‹#›</a:t>
            </a:fld>
            <a:endParaRPr kumimoji="1" lang="ja-JP" altLang="en-US"/>
          </a:p>
        </p:txBody>
      </p:sp>
    </p:spTree>
    <p:extLst>
      <p:ext uri="{BB962C8B-B14F-4D97-AF65-F5344CB8AC3E}">
        <p14:creationId xmlns:p14="http://schemas.microsoft.com/office/powerpoint/2010/main" val="24559906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sz="1200" kern="1200" dirty="0">
                <a:solidFill>
                  <a:schemeClr val="tx1"/>
                </a:solidFill>
                <a:effectLst/>
                <a:latin typeface="ＭＳ ゴシック" panose="020B0609070205080204" pitchFamily="49" charset="-128"/>
                <a:ea typeface="ＭＳ ゴシック" panose="020B0609070205080204" pitchFamily="49" charset="-128"/>
                <a:cs typeface="+mn-cs"/>
              </a:rPr>
              <a:t>副校長先生、副園長先生、おはようございます。指導主事の紺多でございます。</a:t>
            </a:r>
          </a:p>
          <a:p>
            <a:r>
              <a:rPr kumimoji="1" lang="ja-JP" altLang="en-US" sz="1200" kern="1200" dirty="0">
                <a:solidFill>
                  <a:schemeClr val="tx1"/>
                </a:solidFill>
                <a:effectLst/>
                <a:latin typeface="ＭＳ ゴシック" panose="020B0609070205080204" pitchFamily="49" charset="-128"/>
                <a:ea typeface="ＭＳ ゴシック" panose="020B0609070205080204" pitchFamily="49" charset="-128"/>
                <a:cs typeface="+mn-cs"/>
              </a:rPr>
              <a:t>私からは、教務関係について4点お伝えいたします。1点目は1学期の実施授業時数について、2点目は全国学力・学習状況調査の結果および活用について、3点目は授業改善推進プランについて、4点目はその他の連絡でございます。どうぞよろしくお願いいたします。</a:t>
            </a:r>
            <a:endParaRPr kumimoji="1" lang="ja-JP" altLang="en-US" sz="1200" kern="1200" dirty="0">
              <a:solidFill>
                <a:schemeClr val="tx1"/>
              </a:solidFill>
              <a:effectLst/>
              <a:latin typeface="ＭＳ ゴシック" panose="020B0609070205080204" pitchFamily="49" charset="-128"/>
              <a:ea typeface="ＭＳ ゴシック" panose="020B0609070205080204" pitchFamily="49" charset="-128"/>
              <a:cs typeface="+mn-cs"/>
            </a:endParaRPr>
          </a:p>
        </p:txBody>
      </p:sp>
      <p:sp>
        <p:nvSpPr>
          <p:cNvPr id="4" name="スライド番号プレースホルダー 3"/>
          <p:cNvSpPr>
            <a:spLocks noGrp="1"/>
          </p:cNvSpPr>
          <p:nvPr>
            <p:ph type="sldNum" sz="quarter" idx="10"/>
          </p:nvPr>
        </p:nvSpPr>
        <p:spPr/>
        <p:txBody>
          <a:bodyPr/>
          <a:lstStyle/>
          <a:p>
            <a:fld id="{D677B49A-121A-4192-B702-4BD00D39A90B}" type="slidenum">
              <a:rPr kumimoji="1" lang="ja-JP" altLang="en-US" smtClean="0"/>
              <a:t>1</a:t>
            </a:fld>
            <a:endParaRPr kumimoji="1" lang="ja-JP" altLang="en-US"/>
          </a:p>
        </p:txBody>
      </p:sp>
    </p:spTree>
    <p:extLst>
      <p:ext uri="{BB962C8B-B14F-4D97-AF65-F5344CB8AC3E}">
        <p14:creationId xmlns:p14="http://schemas.microsoft.com/office/powerpoint/2010/main" val="36059803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sz="1200" kern="1200" dirty="0">
                <a:solidFill>
                  <a:schemeClr val="tx1"/>
                </a:solidFill>
                <a:effectLst/>
                <a:latin typeface="ＭＳ ゴシック" panose="020B0609070205080204" pitchFamily="49" charset="-128"/>
                <a:ea typeface="ＭＳ ゴシック" panose="020B0609070205080204" pitchFamily="49" charset="-128"/>
                <a:cs typeface="+mn-cs"/>
              </a:rPr>
              <a:t>1点目は、令和8年度 練馬区立学校における1学期の実施授業時数についてです。</a:t>
            </a:r>
          </a:p>
          <a:p>
            <a:r>
              <a:rPr kumimoji="1" lang="ja-JP" altLang="en-US" sz="1200" kern="1200" dirty="0">
                <a:solidFill>
                  <a:schemeClr val="tx1"/>
                </a:solidFill>
                <a:effectLst/>
                <a:latin typeface="ＭＳ ゴシック" panose="020B0609070205080204" pitchFamily="49" charset="-128"/>
                <a:ea typeface="ＭＳ ゴシック" panose="020B0609070205080204" pitchFamily="49" charset="-128"/>
                <a:cs typeface="+mn-cs"/>
              </a:rPr>
              <a:t>7月には時数集計表をご提出いただき、ありがとうございました。お寄せいただいたデータを集計し、1学期末時点における各学校の平均実施授業時数を算出いたしましたので、スライドのとおり共有いたします。</a:t>
            </a:r>
          </a:p>
          <a:p>
            <a:r>
              <a:rPr kumimoji="1" lang="ja-JP" altLang="en-US" sz="1200" kern="1200" dirty="0">
                <a:solidFill>
                  <a:schemeClr val="tx1"/>
                </a:solidFill>
                <a:effectLst/>
                <a:latin typeface="ＭＳ ゴシック" panose="020B0609070205080204" pitchFamily="49" charset="-128"/>
                <a:ea typeface="ＭＳ ゴシック" panose="020B0609070205080204" pitchFamily="49" charset="-128"/>
                <a:cs typeface="+mn-cs"/>
              </a:rPr>
              <a:t>この数値をもって各学校の状況を評価するものではございません。標準時数の確保に向けて、お時間のあるときに自校の各学年の時数とお比べいただき、極端な増減がないかご確認ください。極端な増減が見られる場合には、その理由を検証し、今後の教育活動に生かしていただければと存じます。</a:t>
            </a:r>
          </a:p>
          <a:p>
            <a:r>
              <a:rPr kumimoji="1" lang="ja-JP" altLang="en-US" sz="1200" kern="1200" dirty="0">
                <a:solidFill>
                  <a:schemeClr val="tx1"/>
                </a:solidFill>
                <a:effectLst/>
                <a:latin typeface="ＭＳ ゴシック" panose="020B0609070205080204" pitchFamily="49" charset="-128"/>
                <a:ea typeface="ＭＳ ゴシック" panose="020B0609070205080204" pitchFamily="49" charset="-128"/>
                <a:cs typeface="+mn-cs"/>
              </a:rPr>
              <a:t>なお、1学期の教育指導課訪問で伺った学校では、先生方が作成されている週ごとの指導計画、いわゆる週案を確認させていただいております。その際によくお伝えしておりますのが、各教科等の累計時数が記載されていないという点です。管理職の先生方におかれましては、週案の提出を毎週求めていらっしゃることと存じますが、累計欄の記載につきましてもあわせてご確認いただき、未記載の場合には記載を促すようご指導をお願いいたします。</a:t>
            </a:r>
            <a:endParaRPr kumimoji="1" lang="ja-JP" altLang="en-US" sz="1200" kern="1200" dirty="0">
              <a:solidFill>
                <a:schemeClr val="tx1"/>
              </a:solidFill>
              <a:effectLst/>
              <a:latin typeface="ＭＳ ゴシック" panose="020B0609070205080204" pitchFamily="49" charset="-128"/>
              <a:ea typeface="ＭＳ ゴシック" panose="020B0609070205080204" pitchFamily="49" charset="-128"/>
              <a:cs typeface="+mn-cs"/>
            </a:endParaRPr>
          </a:p>
        </p:txBody>
      </p:sp>
      <p:sp>
        <p:nvSpPr>
          <p:cNvPr id="4" name="スライド番号プレースホルダー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677B49A-121A-4192-B702-4BD00D39A90B}" type="slidenum">
              <a:rPr kumimoji="1" lang="ja-JP" altLang="en-US" sz="1200" b="0" i="0" u="none" strike="noStrike" kern="1200" cap="none" spc="0" normalizeH="0" baseline="0" noProof="0" smtClean="0">
                <a:ln>
                  <a:noFill/>
                </a:ln>
                <a:solidFill>
                  <a:prstClr val="black"/>
                </a:solidFill>
                <a:effectLst/>
                <a:uLnTx/>
                <a:uFillTx/>
                <a:latin typeface="游ゴシック" panose="020F0502020204030204"/>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1" lang="ja-JP" altLang="en-US" sz="1200" b="0" i="0" u="none" strike="noStrike" kern="1200" cap="none" spc="0" normalizeH="0" baseline="0" noProof="0">
              <a:ln>
                <a:noFill/>
              </a:ln>
              <a:solidFill>
                <a:prstClr val="black"/>
              </a:solidFill>
              <a:effectLst/>
              <a:uLnTx/>
              <a:uFillTx/>
              <a:latin typeface="游ゴシック" panose="020F0502020204030204"/>
              <a:ea typeface="游ゴシック" panose="020B0400000000000000" pitchFamily="50" charset="-128"/>
              <a:cs typeface="+mn-cs"/>
            </a:endParaRPr>
          </a:p>
        </p:txBody>
      </p:sp>
    </p:spTree>
    <p:extLst>
      <p:ext uri="{BB962C8B-B14F-4D97-AF65-F5344CB8AC3E}">
        <p14:creationId xmlns:p14="http://schemas.microsoft.com/office/powerpoint/2010/main" val="26187635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sz="1200" kern="1200" dirty="0">
                <a:solidFill>
                  <a:schemeClr val="tx1"/>
                </a:solidFill>
                <a:effectLst/>
                <a:latin typeface="ＭＳ ゴシック" panose="020B0609070205080204" pitchFamily="49" charset="-128"/>
                <a:ea typeface="ＭＳ ゴシック" panose="020B0609070205080204" pitchFamily="49" charset="-128"/>
                <a:cs typeface="+mn-cs"/>
              </a:rPr>
              <a:t>2点目は、令和8年度 全国学力・学習状況調査の結果および活用についてです。資料4に基づきご報告いたします。</a:t>
            </a:r>
          </a:p>
          <a:p>
            <a:r>
              <a:rPr kumimoji="1" lang="ja-JP" altLang="en-US" sz="1200" kern="1200" dirty="0">
                <a:solidFill>
                  <a:schemeClr val="tx1"/>
                </a:solidFill>
                <a:effectLst/>
                <a:latin typeface="ＭＳ ゴシック" panose="020B0609070205080204" pitchFamily="49" charset="-128"/>
                <a:ea typeface="ＭＳ ゴシック" panose="020B0609070205080204" pitchFamily="49" charset="-128"/>
                <a:cs typeface="+mn-cs"/>
              </a:rPr>
              <a:t>本調査の目的は、指導と評価の一体化を図り、各学校が自校の課題を把握したうえで、授業改善や生活指導の改善につなげることにございます。</a:t>
            </a:r>
          </a:p>
          <a:p>
            <a:r>
              <a:rPr kumimoji="1" lang="ja-JP" altLang="en-US" sz="1200" kern="1200" dirty="0">
                <a:solidFill>
                  <a:schemeClr val="tx1"/>
                </a:solidFill>
                <a:effectLst/>
                <a:latin typeface="ＭＳ ゴシック" panose="020B0609070205080204" pitchFamily="49" charset="-128"/>
                <a:ea typeface="ＭＳ ゴシック" panose="020B0609070205080204" pitchFamily="49" charset="-128"/>
                <a:cs typeface="+mn-cs"/>
              </a:rPr>
              <a:t>まず、教科に関する調査です。小学校・中学校ともに、算数・数学において、知識・技能を問う問題と比べ、思考力・判断力・表現力を問う問題の正答率が低い傾向が見られます。</a:t>
            </a:r>
          </a:p>
          <a:p>
            <a:r>
              <a:rPr kumimoji="1" lang="ja-JP" altLang="en-US" sz="1200" kern="1200" dirty="0">
                <a:solidFill>
                  <a:schemeClr val="tx1"/>
                </a:solidFill>
                <a:effectLst/>
                <a:latin typeface="ＭＳ ゴシック" panose="020B0609070205080204" pitchFamily="49" charset="-128"/>
                <a:ea typeface="ＭＳ ゴシック" panose="020B0609070205080204" pitchFamily="49" charset="-128"/>
                <a:cs typeface="+mn-cs"/>
              </a:rPr>
              <a:t>この傾向は練馬区に限ったものではございませんが、国語や英語と比べましても、算数・数学における思考力・判断力・表現力の育成は重要な課題であると捉えております。各学校におかれましても、自校の状況を必ずご確認ください。</a:t>
            </a:r>
            <a:endParaRPr kumimoji="1" lang="ja-JP" altLang="en-US" sz="1200" kern="1200" dirty="0">
              <a:solidFill>
                <a:schemeClr val="tx1"/>
              </a:solidFill>
              <a:effectLst/>
              <a:latin typeface="ＭＳ ゴシック" panose="020B0609070205080204" pitchFamily="49" charset="-128"/>
              <a:ea typeface="ＭＳ ゴシック" panose="020B0609070205080204" pitchFamily="49" charset="-128"/>
              <a:cs typeface="+mn-cs"/>
            </a:endParaRPr>
          </a:p>
        </p:txBody>
      </p:sp>
      <p:sp>
        <p:nvSpPr>
          <p:cNvPr id="4" name="スライド番号プレースホルダー 3"/>
          <p:cNvSpPr>
            <a:spLocks noGrp="1"/>
          </p:cNvSpPr>
          <p:nvPr>
            <p:ph type="sldNum" sz="quarter" idx="10"/>
          </p:nvPr>
        </p:nvSpPr>
        <p:spPr/>
        <p:txBody>
          <a:bodyPr/>
          <a:lstStyle/>
          <a:p>
            <a:fld id="{D677B49A-121A-4192-B702-4BD00D39A90B}" type="slidenum">
              <a:rPr kumimoji="1" lang="ja-JP" altLang="en-US" smtClean="0"/>
              <a:t>3</a:t>
            </a:fld>
            <a:endParaRPr kumimoji="1" lang="ja-JP" altLang="en-US"/>
          </a:p>
        </p:txBody>
      </p:sp>
    </p:spTree>
    <p:extLst>
      <p:ext uri="{BB962C8B-B14F-4D97-AF65-F5344CB8AC3E}">
        <p14:creationId xmlns:p14="http://schemas.microsoft.com/office/powerpoint/2010/main" val="14128215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sz="1200" kern="1200" dirty="0">
                <a:solidFill>
                  <a:schemeClr val="tx1"/>
                </a:solidFill>
                <a:effectLst/>
                <a:latin typeface="ＭＳ ゴシック" panose="020B0609070205080204" pitchFamily="49" charset="-128"/>
                <a:ea typeface="ＭＳ ゴシック" panose="020B0609070205080204" pitchFamily="49" charset="-128"/>
                <a:cs typeface="+mn-cs"/>
              </a:rPr>
              <a:t>続いて、質問紙調査の結果です。</a:t>
            </a:r>
          </a:p>
          <a:p>
            <a:r>
              <a:rPr kumimoji="1" lang="ja-JP" altLang="en-US" sz="1200" kern="1200" dirty="0">
                <a:solidFill>
                  <a:schemeClr val="tx1"/>
                </a:solidFill>
                <a:effectLst/>
                <a:latin typeface="ＭＳ ゴシック" panose="020B0609070205080204" pitchFamily="49" charset="-128"/>
                <a:ea typeface="ＭＳ ゴシック" panose="020B0609070205080204" pitchFamily="49" charset="-128"/>
                <a:cs typeface="+mn-cs"/>
              </a:rPr>
              <a:t>「先生は、あなたのよいところを認めてくれていると思いますか」という項目では、練馬区は小学校90.8％、中学校89.1％で、いずれも全国平均をやや下回っております。児童・生徒が「もっと認めてほしい」「もっと褒めてほしい」と感じている状況がうかがえます。</a:t>
            </a:r>
          </a:p>
          <a:p>
            <a:r>
              <a:rPr kumimoji="1" lang="ja-JP" altLang="en-US" sz="1200" kern="1200" dirty="0">
                <a:solidFill>
                  <a:schemeClr val="tx1"/>
                </a:solidFill>
                <a:effectLst/>
                <a:latin typeface="ＭＳ ゴシック" panose="020B0609070205080204" pitchFamily="49" charset="-128"/>
                <a:ea typeface="ＭＳ ゴシック" panose="020B0609070205080204" pitchFamily="49" charset="-128"/>
                <a:cs typeface="+mn-cs"/>
              </a:rPr>
              <a:t>こうした結果は、自己肯定感や自己有用感を育む関わり方、そして児童・生徒が安心して相談できる環境づくりについて、改めて考える必要があることを示していると捉えております。</a:t>
            </a:r>
            <a:endParaRPr kumimoji="1" lang="ja-JP" altLang="en-US" sz="1200" kern="1200" dirty="0">
              <a:solidFill>
                <a:schemeClr val="tx1"/>
              </a:solidFill>
              <a:effectLst/>
              <a:latin typeface="ＭＳ ゴシック" panose="020B0609070205080204" pitchFamily="49" charset="-128"/>
              <a:ea typeface="ＭＳ ゴシック" panose="020B0609070205080204" pitchFamily="49" charset="-128"/>
              <a:cs typeface="+mn-cs"/>
            </a:endParaRPr>
          </a:p>
        </p:txBody>
      </p:sp>
      <p:sp>
        <p:nvSpPr>
          <p:cNvPr id="4" name="スライド番号プレースホルダー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677B49A-121A-4192-B702-4BD00D39A90B}" type="slidenum">
              <a:rPr kumimoji="1" lang="ja-JP" altLang="en-US" sz="1200" b="0" i="0" u="none" strike="noStrike" kern="1200" cap="none" spc="0" normalizeH="0" baseline="0" noProof="0" smtClean="0">
                <a:ln>
                  <a:noFill/>
                </a:ln>
                <a:solidFill>
                  <a:prstClr val="black"/>
                </a:solidFill>
                <a:effectLst/>
                <a:uLnTx/>
                <a:uFillTx/>
                <a:latin typeface="游ゴシック" panose="020F0502020204030204"/>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1" lang="ja-JP" altLang="en-US" sz="1200" b="0" i="0" u="none" strike="noStrike" kern="1200" cap="none" spc="0" normalizeH="0" baseline="0" noProof="0">
              <a:ln>
                <a:noFill/>
              </a:ln>
              <a:solidFill>
                <a:prstClr val="black"/>
              </a:solidFill>
              <a:effectLst/>
              <a:uLnTx/>
              <a:uFillTx/>
              <a:latin typeface="游ゴシック" panose="020F0502020204030204"/>
              <a:ea typeface="游ゴシック" panose="020B0400000000000000" pitchFamily="50" charset="-128"/>
              <a:cs typeface="+mn-cs"/>
            </a:endParaRPr>
          </a:p>
        </p:txBody>
      </p:sp>
    </p:spTree>
    <p:extLst>
      <p:ext uri="{BB962C8B-B14F-4D97-AF65-F5344CB8AC3E}">
        <p14:creationId xmlns:p14="http://schemas.microsoft.com/office/powerpoint/2010/main" val="26829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427F6-6792-0E85-72F1-E415AAE83A8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D28CC28-F24B-C869-64B5-72B3F4A109F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6F821DD-190B-7AA5-D200-08D65232F359}"/>
              </a:ext>
            </a:extLst>
          </p:cNvPr>
          <p:cNvSpPr>
            <a:spLocks noGrp="1"/>
          </p:cNvSpPr>
          <p:nvPr>
            <p:ph type="body" idx="1"/>
          </p:nvPr>
        </p:nvSpPr>
        <p:spPr/>
        <p:txBody>
          <a:bodyPr/>
          <a:lstStyle/>
          <a:p>
            <a:r>
              <a:rPr kumimoji="1" lang="ja-JP" altLang="en-US" sz="1200" kern="1200" dirty="0">
                <a:solidFill>
                  <a:schemeClr val="tx1"/>
                </a:solidFill>
                <a:effectLst/>
                <a:latin typeface="ＭＳ ゴシック" panose="020B0609070205080204" pitchFamily="49" charset="-128"/>
                <a:ea typeface="ＭＳ ゴシック" panose="020B0609070205080204" pitchFamily="49" charset="-128"/>
                <a:cs typeface="+mn-cs"/>
              </a:rPr>
              <a:t>次に、「学校に行くのは楽しいと思いますか」という項目です。練馬区は小学校88.9％、中学校87.2％と、東京都・全国のいずれをも上回っており、大変望ましい状況です。</a:t>
            </a:r>
          </a:p>
          <a:p>
            <a:r>
              <a:rPr kumimoji="1" lang="ja-JP" altLang="en-US" sz="1200" kern="1200" dirty="0">
                <a:solidFill>
                  <a:schemeClr val="tx1"/>
                </a:solidFill>
                <a:effectLst/>
                <a:latin typeface="ＭＳ ゴシック" panose="020B0609070205080204" pitchFamily="49" charset="-128"/>
                <a:ea typeface="ＭＳ ゴシック" panose="020B0609070205080204" pitchFamily="49" charset="-128"/>
                <a:cs typeface="+mn-cs"/>
              </a:rPr>
              <a:t>その一方で、「困りごとや不安がある時に、先生や学校にいる大人にいつでも相談できますか」という項目は、小学校69.0％、中学校68.1％と、いずれも7割に達しておりません。区として重要な課題であると認識しております。</a:t>
            </a:r>
          </a:p>
          <a:p>
            <a:r>
              <a:rPr kumimoji="1" lang="ja-JP" altLang="en-US" sz="1200" kern="1200" dirty="0">
                <a:solidFill>
                  <a:schemeClr val="tx1"/>
                </a:solidFill>
                <a:effectLst/>
                <a:latin typeface="ＭＳ ゴシック" panose="020B0609070205080204" pitchFamily="49" charset="-128"/>
                <a:ea typeface="ＭＳ ゴシック" panose="020B0609070205080204" pitchFamily="49" charset="-128"/>
                <a:cs typeface="+mn-cs"/>
              </a:rPr>
              <a:t>さらに、「主体的・対話的で深い学び」の観点では、中学校において、生徒が自ら学びを進める授業への転換を一層進める必要があると考えております。児童・生徒の学習への興味・関心や理解度はおおむね良好でございますので、授業形態を工夫することで、さらなる学習成果の向上が期待できるものと捉えております。</a:t>
            </a:r>
          </a:p>
          <a:p>
            <a:r>
              <a:rPr kumimoji="1" lang="ja-JP" altLang="en-US" sz="1200" kern="1200" dirty="0">
                <a:solidFill>
                  <a:schemeClr val="tx1"/>
                </a:solidFill>
                <a:effectLst/>
                <a:latin typeface="ＭＳ ゴシック" panose="020B0609070205080204" pitchFamily="49" charset="-128"/>
                <a:ea typeface="ＭＳ ゴシック" panose="020B0609070205080204" pitchFamily="49" charset="-128"/>
                <a:cs typeface="+mn-cs"/>
              </a:rPr>
              <a:t>なお、本資料には児童・生徒質問紙調査の項目を一部抜粋して掲載しております。各学校におかれましては、掲載項目だけでなく、すべての質問項目について、自校の実態と区平均とを比較しながら分析を進めていただきたいと存じます。全項目の区平均値は、全教職員が確認できるよう共有フォルダに格納しておりますので、ご活用ください。</a:t>
            </a:r>
            <a:endParaRPr kumimoji="1" lang="ja-JP" altLang="en-US" sz="1200" kern="1200" dirty="0">
              <a:solidFill>
                <a:schemeClr val="tx1"/>
              </a:solidFill>
              <a:effectLst/>
              <a:latin typeface="ＭＳ ゴシック" panose="020B0609070205080204" pitchFamily="49" charset="-128"/>
              <a:ea typeface="ＭＳ ゴシック" panose="020B0609070205080204" pitchFamily="49" charset="-128"/>
              <a:cs typeface="+mn-cs"/>
            </a:endParaRPr>
          </a:p>
        </p:txBody>
      </p:sp>
      <p:sp>
        <p:nvSpPr>
          <p:cNvPr id="4" name="スライド番号プレースホルダー 3">
            <a:extLst>
              <a:ext uri="{FF2B5EF4-FFF2-40B4-BE49-F238E27FC236}">
                <a16:creationId xmlns:a16="http://schemas.microsoft.com/office/drawing/2014/main" id="{8A2C98A4-BB43-49B6-AE9C-0FB18AB662C8}"/>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677B49A-121A-4192-B702-4BD00D39A90B}" type="slidenum">
              <a:rPr kumimoji="1" lang="ja-JP" altLang="en-US" sz="1200" b="0" i="0" u="none" strike="noStrike" kern="1200" cap="none" spc="0" normalizeH="0" baseline="0" noProof="0" smtClean="0">
                <a:ln>
                  <a:noFill/>
                </a:ln>
                <a:solidFill>
                  <a:prstClr val="black"/>
                </a:solidFill>
                <a:effectLst/>
                <a:uLnTx/>
                <a:uFillTx/>
                <a:latin typeface="游ゴシック" panose="020F0502020204030204"/>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1" lang="ja-JP" altLang="en-US" sz="1200" b="0" i="0" u="none" strike="noStrike" kern="1200" cap="none" spc="0" normalizeH="0" baseline="0" noProof="0">
              <a:ln>
                <a:noFill/>
              </a:ln>
              <a:solidFill>
                <a:prstClr val="black"/>
              </a:solidFill>
              <a:effectLst/>
              <a:uLnTx/>
              <a:uFillTx/>
              <a:latin typeface="游ゴシック" panose="020F0502020204030204"/>
              <a:ea typeface="游ゴシック" panose="020B0400000000000000" pitchFamily="50" charset="-128"/>
              <a:cs typeface="+mn-cs"/>
            </a:endParaRPr>
          </a:p>
        </p:txBody>
      </p:sp>
    </p:spTree>
    <p:extLst>
      <p:ext uri="{BB962C8B-B14F-4D97-AF65-F5344CB8AC3E}">
        <p14:creationId xmlns:p14="http://schemas.microsoft.com/office/powerpoint/2010/main" val="401359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sz="1200" kern="1200" dirty="0">
                <a:solidFill>
                  <a:schemeClr val="tx1"/>
                </a:solidFill>
                <a:effectLst/>
                <a:latin typeface="ＭＳ ゴシック" panose="020B0609070205080204" pitchFamily="49" charset="-128"/>
                <a:ea typeface="ＭＳ ゴシック" panose="020B0609070205080204" pitchFamily="49" charset="-128"/>
                <a:cs typeface="+mn-cs"/>
              </a:rPr>
              <a:t>3点目は、令和8年度 授業改善推進プランの作成、および授業改善推進プランに基づく教育活動の実施についてです。</a:t>
            </a:r>
          </a:p>
          <a:p>
            <a:r>
              <a:rPr kumimoji="1" lang="ja-JP" altLang="en-US" sz="1200" kern="1200" dirty="0">
                <a:solidFill>
                  <a:schemeClr val="tx1"/>
                </a:solidFill>
                <a:effectLst/>
                <a:latin typeface="ＭＳ ゴシック" panose="020B0609070205080204" pitchFamily="49" charset="-128"/>
                <a:ea typeface="ＭＳ ゴシック" panose="020B0609070205080204" pitchFamily="49" charset="-128"/>
                <a:cs typeface="+mn-cs"/>
              </a:rPr>
              <a:t>練馬区では毎年、児童・生徒の学力向上を図るための方策として、授業改善推進プランの作成をお願いしております。先ほどご説明いたしました全国学力・学習状況調査等の結果を分析し、プランの作成にご活用ください。</a:t>
            </a:r>
          </a:p>
          <a:p>
            <a:r>
              <a:rPr kumimoji="1" lang="ja-JP" altLang="en-US" sz="1200" kern="1200" dirty="0">
                <a:solidFill>
                  <a:schemeClr val="tx1"/>
                </a:solidFill>
                <a:effectLst/>
                <a:latin typeface="ＭＳ ゴシック" panose="020B0609070205080204" pitchFamily="49" charset="-128"/>
                <a:ea typeface="ＭＳ ゴシック" panose="020B0609070205080204" pitchFamily="49" charset="-128"/>
                <a:cs typeface="+mn-cs"/>
              </a:rPr>
              <a:t>ご提出いただく資料は、（1）に記載の「課題分析と授業改善策」でございます。提出期限は9月30日（水）です。Ｃ４ｔｈの個人連絡にて、各学校の担当指導主事までご提出をお願いいたします。</a:t>
            </a:r>
          </a:p>
          <a:p>
            <a:r>
              <a:rPr kumimoji="1" lang="ja-JP" altLang="en-US" sz="1200" kern="1200" dirty="0">
                <a:solidFill>
                  <a:schemeClr val="tx1"/>
                </a:solidFill>
                <a:effectLst/>
                <a:latin typeface="ＭＳ ゴシック" panose="020B0609070205080204" pitchFamily="49" charset="-128"/>
                <a:ea typeface="ＭＳ ゴシック" panose="020B0609070205080204" pitchFamily="49" charset="-128"/>
                <a:cs typeface="+mn-cs"/>
              </a:rPr>
              <a:t>ご提出後、担当指導主事が内容を確認し、必要に応じて修正を依頼いたします。修正を反映した完成版は、10月末までに各学校のホームページに掲載してください。</a:t>
            </a:r>
          </a:p>
          <a:p>
            <a:r>
              <a:rPr kumimoji="1" lang="ja-JP" altLang="en-US" sz="1200" kern="1200" dirty="0">
                <a:solidFill>
                  <a:schemeClr val="tx1"/>
                </a:solidFill>
                <a:effectLst/>
                <a:latin typeface="ＭＳ ゴシック" panose="020B0609070205080204" pitchFamily="49" charset="-128"/>
                <a:ea typeface="ＭＳ ゴシック" panose="020B0609070205080204" pitchFamily="49" charset="-128"/>
                <a:cs typeface="+mn-cs"/>
              </a:rPr>
              <a:t>なお、ホームページへの掲載につきましては、「学力向上を図るための全体計画」は必ず掲載をお願いいたします。「課題分析と授業改善策」につきましては、学校の実情に応じてご判断ください。</a:t>
            </a:r>
            <a:endParaRPr kumimoji="1" lang="ja-JP" altLang="en-US" sz="1200" kern="1200" dirty="0">
              <a:solidFill>
                <a:schemeClr val="tx1"/>
              </a:solidFill>
              <a:effectLst/>
              <a:latin typeface="ＭＳ ゴシック" panose="020B0609070205080204" pitchFamily="49" charset="-128"/>
              <a:ea typeface="ＭＳ ゴシック" panose="020B0609070205080204" pitchFamily="49" charset="-128"/>
              <a:cs typeface="+mn-cs"/>
            </a:endParaRPr>
          </a:p>
        </p:txBody>
      </p:sp>
      <p:sp>
        <p:nvSpPr>
          <p:cNvPr id="4" name="スライド番号プレースホルダー 3"/>
          <p:cNvSpPr>
            <a:spLocks noGrp="1"/>
          </p:cNvSpPr>
          <p:nvPr>
            <p:ph type="sldNum" sz="quarter" idx="10"/>
          </p:nvPr>
        </p:nvSpPr>
        <p:spPr/>
        <p:txBody>
          <a:bodyPr/>
          <a:lstStyle/>
          <a:p>
            <a:fld id="{D677B49A-121A-4192-B702-4BD00D39A90B}" type="slidenum">
              <a:rPr kumimoji="1" lang="ja-JP" altLang="en-US" smtClean="0"/>
              <a:t>6</a:t>
            </a:fld>
            <a:endParaRPr kumimoji="1" lang="ja-JP" altLang="en-US"/>
          </a:p>
        </p:txBody>
      </p:sp>
    </p:spTree>
    <p:extLst>
      <p:ext uri="{BB962C8B-B14F-4D97-AF65-F5344CB8AC3E}">
        <p14:creationId xmlns:p14="http://schemas.microsoft.com/office/powerpoint/2010/main" val="18749827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sz="1200" kern="1200" dirty="0">
                <a:solidFill>
                  <a:schemeClr val="tx1"/>
                </a:solidFill>
                <a:effectLst/>
                <a:latin typeface="ＭＳ ゴシック" panose="020B0609070205080204" pitchFamily="49" charset="-128"/>
                <a:ea typeface="ＭＳ ゴシック" panose="020B0609070205080204" pitchFamily="49" charset="-128"/>
                <a:cs typeface="+mn-cs"/>
              </a:rPr>
              <a:t>最後に、その他といたしまして、中学校の副校長先生にご連絡でございます。</a:t>
            </a:r>
          </a:p>
          <a:p>
            <a:r>
              <a:rPr kumimoji="1" lang="ja-JP" altLang="en-US" sz="1200" kern="1200" dirty="0">
                <a:solidFill>
                  <a:schemeClr val="tx1"/>
                </a:solidFill>
                <a:effectLst/>
                <a:latin typeface="ＭＳ ゴシック" panose="020B0609070205080204" pitchFamily="49" charset="-128"/>
                <a:ea typeface="ＭＳ ゴシック" panose="020B0609070205080204" pitchFamily="49" charset="-128"/>
                <a:cs typeface="+mn-cs"/>
              </a:rPr>
              <a:t>11月22日（日）に実施予定の東京都中学校英語スピーキングテスト、ESAT-Jにつきまして、各中学校で生徒・保護者の申込支援をしていただき、ありがとうございます。</a:t>
            </a:r>
          </a:p>
          <a:p>
            <a:r>
              <a:rPr kumimoji="1" lang="ja-JP" altLang="en-US" sz="1200" kern="1200" dirty="0">
                <a:solidFill>
                  <a:schemeClr val="tx1"/>
                </a:solidFill>
                <a:effectLst/>
                <a:latin typeface="ＭＳ ゴシック" panose="020B0609070205080204" pitchFamily="49" charset="-128"/>
                <a:ea typeface="ＭＳ ゴシック" panose="020B0609070205080204" pitchFamily="49" charset="-128"/>
                <a:cs typeface="+mn-cs"/>
              </a:rPr>
              <a:t>第3学年の申込期限が9月16日（水）午後5時と迫っております。例年、近日中に東京都から各中学校の申込状況について情報提供がございます。その状況を踏まえ、区から改めてリマインドのご連絡をする場合がございますので、その際はご協力をよろしくお願いいたします。</a:t>
            </a:r>
          </a:p>
          <a:p>
            <a:r>
              <a:rPr kumimoji="1" lang="ja-JP" altLang="en-US" sz="1200" kern="1200" dirty="0">
                <a:solidFill>
                  <a:schemeClr val="tx1"/>
                </a:solidFill>
                <a:effectLst/>
                <a:latin typeface="ＭＳ ゴシック" panose="020B0609070205080204" pitchFamily="49" charset="-128"/>
                <a:ea typeface="ＭＳ ゴシック" panose="020B0609070205080204" pitchFamily="49" charset="-128"/>
                <a:cs typeface="+mn-cs"/>
              </a:rPr>
              <a:t>教務関係については以上でございます。2学期もどうぞよろしくお願いいたします。</a:t>
            </a:r>
            <a:endParaRPr kumimoji="1" lang="ja-JP" altLang="en-US" sz="1200" kern="1200" dirty="0">
              <a:solidFill>
                <a:schemeClr val="tx1"/>
              </a:solidFill>
              <a:effectLst/>
              <a:latin typeface="ＭＳ ゴシック" panose="020B0609070205080204" pitchFamily="49" charset="-128"/>
              <a:ea typeface="ＭＳ ゴシック" panose="020B0609070205080204" pitchFamily="49" charset="-128"/>
              <a:cs typeface="+mn-cs"/>
            </a:endParaRPr>
          </a:p>
        </p:txBody>
      </p:sp>
      <p:sp>
        <p:nvSpPr>
          <p:cNvPr id="4" name="スライド番号プレースホルダー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677B49A-121A-4192-B702-4BD00D39A90B}" type="slidenum">
              <a:rPr kumimoji="1" lang="ja-JP" altLang="en-US" sz="1200" b="0" i="0" u="none" strike="noStrike" kern="1200" cap="none" spc="0" normalizeH="0" baseline="0" noProof="0" smtClean="0">
                <a:ln>
                  <a:noFill/>
                </a:ln>
                <a:solidFill>
                  <a:prstClr val="black"/>
                </a:solidFill>
                <a:effectLst/>
                <a:uLnTx/>
                <a:uFillTx/>
                <a:latin typeface="游ゴシック" panose="020F0502020204030204"/>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1" lang="ja-JP" altLang="en-US" sz="1200" b="0" i="0" u="none" strike="noStrike" kern="1200" cap="none" spc="0" normalizeH="0" baseline="0" noProof="0">
              <a:ln>
                <a:noFill/>
              </a:ln>
              <a:solidFill>
                <a:prstClr val="black"/>
              </a:solidFill>
              <a:effectLst/>
              <a:uLnTx/>
              <a:uFillTx/>
              <a:latin typeface="游ゴシック" panose="020F0502020204030204"/>
              <a:ea typeface="游ゴシック" panose="020B0400000000000000" pitchFamily="50" charset="-128"/>
              <a:cs typeface="+mn-cs"/>
            </a:endParaRPr>
          </a:p>
        </p:txBody>
      </p:sp>
    </p:spTree>
    <p:extLst>
      <p:ext uri="{BB962C8B-B14F-4D97-AF65-F5344CB8AC3E}">
        <p14:creationId xmlns:p14="http://schemas.microsoft.com/office/powerpoint/2010/main" val="25319661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サブタイトル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p:cNvSpPr>
            <a:spLocks noGrp="1"/>
          </p:cNvSpPr>
          <p:nvPr>
            <p:ph type="dt" sz="half" idx="10"/>
          </p:nvPr>
        </p:nvSpPr>
        <p:spPr/>
        <p:txBody>
          <a:bodyPr/>
          <a:lstStyle/>
          <a:p>
            <a:fld id="{D1313400-A96F-4426-B9DB-243CF1BC5E5B}" type="datetimeFigureOut">
              <a:rPr kumimoji="1" lang="ja-JP" altLang="en-US" smtClean="0"/>
              <a:t>2026/9/8</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24026250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D1313400-A96F-4426-B9DB-243CF1BC5E5B}" type="datetimeFigureOut">
              <a:rPr kumimoji="1" lang="ja-JP" altLang="en-US" smtClean="0"/>
              <a:t>2026/9/8</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11387692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D1313400-A96F-4426-B9DB-243CF1BC5E5B}" type="datetimeFigureOut">
              <a:rPr kumimoji="1" lang="ja-JP" altLang="en-US" smtClean="0"/>
              <a:t>2026/9/8</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11041928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p:cNvSpPr>
            <a:spLocks noGrp="1"/>
          </p:cNvSpPr>
          <p:nvPr>
            <p:ph type="dt" sz="half" idx="10"/>
          </p:nvPr>
        </p:nvSpPr>
        <p:spPr/>
        <p:txBody>
          <a:bodyPr/>
          <a:lstStyle/>
          <a:p>
            <a:fld id="{D1313400-A96F-4426-B9DB-243CF1BC5E5B}" type="datetimeFigureOut">
              <a:rPr kumimoji="1" lang="ja-JP" altLang="en-US" smtClean="0"/>
              <a:t>2026/9/8</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2409342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p:cNvSpPr>
            <a:spLocks noGrp="1"/>
          </p:cNvSpPr>
          <p:nvPr>
            <p:ph type="dt" sz="half" idx="10"/>
          </p:nvPr>
        </p:nvSpPr>
        <p:spPr/>
        <p:txBody>
          <a:bodyPr/>
          <a:lstStyle/>
          <a:p>
            <a:fld id="{D1313400-A96F-4426-B9DB-243CF1BC5E5B}" type="datetimeFigureOut">
              <a:rPr kumimoji="1" lang="ja-JP" altLang="en-US" smtClean="0"/>
              <a:t>2026/9/8</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2807978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fld id="{D1313400-A96F-4426-B9DB-243CF1BC5E5B}" type="datetimeFigureOut">
              <a:rPr kumimoji="1" lang="ja-JP" altLang="en-US" smtClean="0"/>
              <a:t>2026/9/8</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31942686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D1313400-A96F-4426-B9DB-243CF1BC5E5B}" type="datetimeFigureOut">
              <a:rPr kumimoji="1" lang="ja-JP" altLang="en-US" smtClean="0"/>
              <a:t>2026/9/8</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11391735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D1313400-A96F-4426-B9DB-243CF1BC5E5B}" type="datetimeFigureOut">
              <a:rPr kumimoji="1" lang="ja-JP" altLang="en-US" smtClean="0"/>
              <a:t>2026/9/8</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18528327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D1313400-A96F-4426-B9DB-243CF1BC5E5B}" type="datetimeFigureOut">
              <a:rPr kumimoji="1" lang="ja-JP" altLang="en-US" smtClean="0"/>
              <a:t>2026/9/8</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37512310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D1313400-A96F-4426-B9DB-243CF1BC5E5B}" type="datetimeFigureOut">
              <a:rPr kumimoji="1" lang="ja-JP" altLang="en-US" smtClean="0"/>
              <a:t>2026/9/8</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25799735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D1313400-A96F-4426-B9DB-243CF1BC5E5B}" type="datetimeFigureOut">
              <a:rPr kumimoji="1" lang="ja-JP" altLang="en-US" smtClean="0"/>
              <a:t>2026/9/8</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7912776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4">
                <a:lumMod val="40000"/>
                <a:lumOff val="60000"/>
              </a:schemeClr>
            </a:gs>
            <a:gs pos="83000">
              <a:schemeClr val="accent4">
                <a:lumMod val="40000"/>
                <a:lumOff val="60000"/>
              </a:schemeClr>
            </a:gs>
            <a:gs pos="100000">
              <a:schemeClr val="accent4">
                <a:lumMod val="40000"/>
                <a:lumOff val="60000"/>
              </a:schemeClr>
            </a:gs>
          </a:gsLst>
          <a:lin ang="13500000" scaled="1"/>
          <a:tileRect/>
        </a:gradFill>
        <a:effectLst/>
      </p:bgPr>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1313400-A96F-4426-B9DB-243CF1BC5E5B}" type="datetimeFigureOut">
              <a:rPr kumimoji="1" lang="ja-JP" altLang="en-US" smtClean="0"/>
              <a:t>2026/9/8</a:t>
            </a:fld>
            <a:endParaRPr kumimoji="1" lang="ja-JP" altLang="en-US"/>
          </a:p>
        </p:txBody>
      </p:sp>
      <p:sp>
        <p:nvSpPr>
          <p:cNvPr id="5" name="フッター プレースホルダー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1EF25CA-2A39-4D12-B17C-F87BA59000A4}" type="slidenum">
              <a:rPr kumimoji="1" lang="ja-JP" altLang="en-US" smtClean="0"/>
              <a:t>‹#›</a:t>
            </a:fld>
            <a:endParaRPr kumimoji="1" lang="ja-JP" altLang="en-US"/>
          </a:p>
        </p:txBody>
      </p:sp>
    </p:spTree>
    <p:extLst>
      <p:ext uri="{BB962C8B-B14F-4D97-AF65-F5344CB8AC3E}">
        <p14:creationId xmlns:p14="http://schemas.microsoft.com/office/powerpoint/2010/main" val="1197483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233082" y="1470211"/>
            <a:ext cx="11513090" cy="1861261"/>
          </a:xfrm>
          <a:solidFill>
            <a:srgbClr val="002060"/>
          </a:solidFill>
        </p:spPr>
        <p:txBody>
          <a:bodyPr>
            <a:normAutofit/>
          </a:bodyPr>
          <a:lstStyle/>
          <a:p>
            <a:r>
              <a:rPr kumimoji="1" lang="ja-JP" altLang="en-US" dirty="0">
                <a:solidFill>
                  <a:schemeClr val="bg1"/>
                </a:solidFill>
                <a:latin typeface="ＭＳ ゴシック" panose="020B0609070205080204" pitchFamily="49" charset="-128"/>
                <a:ea typeface="ＭＳ ゴシック" panose="020B0609070205080204" pitchFamily="49" charset="-128"/>
              </a:rPr>
              <a:t>令和８年度</a:t>
            </a:r>
            <a:r>
              <a:rPr lang="ja-JP" altLang="en-US" dirty="0">
                <a:solidFill>
                  <a:schemeClr val="bg1"/>
                </a:solidFill>
                <a:latin typeface="ＭＳ ゴシック" panose="020B0609070205080204" pitchFamily="49" charset="-128"/>
                <a:ea typeface="ＭＳ ゴシック" panose="020B0609070205080204" pitchFamily="49" charset="-128"/>
              </a:rPr>
              <a:t>９</a:t>
            </a:r>
            <a:r>
              <a:rPr kumimoji="1" lang="ja-JP" altLang="en-US" dirty="0">
                <a:solidFill>
                  <a:schemeClr val="bg1"/>
                </a:solidFill>
                <a:latin typeface="ＭＳ ゴシック" panose="020B0609070205080204" pitchFamily="49" charset="-128"/>
                <a:ea typeface="ＭＳ ゴシック" panose="020B0609070205080204" pitchFamily="49" charset="-128"/>
              </a:rPr>
              <a:t>月</a:t>
            </a:r>
            <a:r>
              <a:rPr lang="ja-JP" altLang="en-US" dirty="0">
                <a:solidFill>
                  <a:schemeClr val="bg1"/>
                </a:solidFill>
                <a:latin typeface="ＭＳ ゴシック" panose="020B0609070205080204" pitchFamily="49" charset="-128"/>
                <a:ea typeface="ＭＳ ゴシック" panose="020B0609070205080204" pitchFamily="49" charset="-128"/>
              </a:rPr>
              <a:t>合同副校園長会</a:t>
            </a:r>
            <a:br>
              <a:rPr lang="en-US" altLang="ja-JP" dirty="0">
                <a:solidFill>
                  <a:schemeClr val="bg1"/>
                </a:solidFill>
                <a:latin typeface="ＭＳ ゴシック" panose="020B0609070205080204" pitchFamily="49" charset="-128"/>
                <a:ea typeface="ＭＳ ゴシック" panose="020B0609070205080204" pitchFamily="49" charset="-128"/>
              </a:rPr>
            </a:br>
            <a:r>
              <a:rPr lang="ja-JP" altLang="en-US" dirty="0">
                <a:solidFill>
                  <a:schemeClr val="bg1"/>
                </a:solidFill>
                <a:latin typeface="ＭＳ ゴシック" panose="020B0609070205080204" pitchFamily="49" charset="-128"/>
                <a:ea typeface="ＭＳ ゴシック" panose="020B0609070205080204" pitchFamily="49" charset="-128"/>
              </a:rPr>
              <a:t>教務関係について</a:t>
            </a:r>
            <a:endParaRPr kumimoji="1" lang="ja-JP" altLang="en-US" dirty="0">
              <a:solidFill>
                <a:schemeClr val="bg1"/>
              </a:solidFill>
              <a:latin typeface="ＭＳ ゴシック" panose="020B0609070205080204" pitchFamily="49" charset="-128"/>
              <a:ea typeface="ＭＳ ゴシック" panose="020B0609070205080204" pitchFamily="49" charset="-128"/>
            </a:endParaRPr>
          </a:p>
        </p:txBody>
      </p:sp>
      <p:sp>
        <p:nvSpPr>
          <p:cNvPr id="3" name="サブタイトル 2"/>
          <p:cNvSpPr>
            <a:spLocks noGrp="1"/>
          </p:cNvSpPr>
          <p:nvPr>
            <p:ph type="subTitle" idx="1"/>
          </p:nvPr>
        </p:nvSpPr>
        <p:spPr>
          <a:xfrm>
            <a:off x="6123295" y="4954139"/>
            <a:ext cx="5622877" cy="777922"/>
          </a:xfrm>
        </p:spPr>
        <p:txBody>
          <a:bodyPr>
            <a:noAutofit/>
          </a:bodyPr>
          <a:lstStyle/>
          <a:p>
            <a:r>
              <a:rPr kumimoji="1" lang="ja-JP" altLang="en-US" sz="3600" dirty="0">
                <a:latin typeface="ＭＳ ゴシック" panose="020B0609070205080204" pitchFamily="49" charset="-128"/>
                <a:ea typeface="ＭＳ ゴシック" panose="020B0609070205080204" pitchFamily="49" charset="-128"/>
              </a:rPr>
              <a:t>令和８年９月</a:t>
            </a:r>
            <a:r>
              <a:rPr kumimoji="1" lang="en-US" altLang="ja-JP" sz="3600" dirty="0">
                <a:latin typeface="ＭＳ ゴシック" panose="020B0609070205080204" pitchFamily="49" charset="-128"/>
                <a:ea typeface="ＭＳ ゴシック" panose="020B0609070205080204" pitchFamily="49" charset="-128"/>
              </a:rPr>
              <a:t>10</a:t>
            </a:r>
            <a:r>
              <a:rPr kumimoji="1" lang="ja-JP" altLang="en-US" sz="3600" dirty="0">
                <a:latin typeface="ＭＳ ゴシック" panose="020B0609070205080204" pitchFamily="49" charset="-128"/>
                <a:ea typeface="ＭＳ ゴシック" panose="020B0609070205080204" pitchFamily="49" charset="-128"/>
              </a:rPr>
              <a:t>日（</a:t>
            </a:r>
            <a:r>
              <a:rPr lang="ja-JP" altLang="en-US" sz="3600" dirty="0">
                <a:latin typeface="ＭＳ ゴシック" panose="020B0609070205080204" pitchFamily="49" charset="-128"/>
                <a:ea typeface="ＭＳ ゴシック" panose="020B0609070205080204" pitchFamily="49" charset="-128"/>
              </a:rPr>
              <a:t>木</a:t>
            </a:r>
            <a:r>
              <a:rPr kumimoji="1" lang="ja-JP" altLang="en-US" sz="3600" dirty="0">
                <a:latin typeface="ＭＳ ゴシック" panose="020B0609070205080204" pitchFamily="49" charset="-128"/>
                <a:ea typeface="ＭＳ ゴシック" panose="020B0609070205080204" pitchFamily="49" charset="-128"/>
              </a:rPr>
              <a:t>）</a:t>
            </a:r>
          </a:p>
        </p:txBody>
      </p:sp>
    </p:spTree>
    <p:extLst>
      <p:ext uri="{BB962C8B-B14F-4D97-AF65-F5344CB8AC3E}">
        <p14:creationId xmlns:p14="http://schemas.microsoft.com/office/powerpoint/2010/main" val="16135074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0" y="163822"/>
            <a:ext cx="12192000" cy="911944"/>
          </a:xfrm>
          <a:solidFill>
            <a:srgbClr val="002060"/>
          </a:solidFill>
        </p:spPr>
        <p:txBody>
          <a:bodyPr>
            <a:noAutofit/>
          </a:bodyPr>
          <a:lstStyle/>
          <a:p>
            <a:r>
              <a:rPr lang="ja-JP" altLang="ja-JP" sz="5400" kern="100" spc="10" dirty="0">
                <a:solidFill>
                  <a:schemeClr val="bg1"/>
                </a:solidFill>
                <a:ea typeface="ＭＳ ゴシック" panose="020B0609070205080204" pitchFamily="49" charset="-128"/>
                <a:cs typeface="Times New Roman" panose="02020603050405020304" pitchFamily="18" charset="0"/>
              </a:rPr>
              <a:t>１　</a:t>
            </a:r>
            <a:r>
              <a:rPr lang="ja-JP" altLang="ja-JP" sz="4800" kern="100" dirty="0">
                <a:solidFill>
                  <a:schemeClr val="bg1"/>
                </a:solidFill>
                <a:ea typeface="ＭＳ ゴシック" panose="020B0609070205080204" pitchFamily="49" charset="-128"/>
                <a:cs typeface="Times New Roman" panose="02020603050405020304" pitchFamily="18" charset="0"/>
              </a:rPr>
              <a:t>実施授業時数について（１学期）</a:t>
            </a:r>
            <a:endParaRPr kumimoji="1" lang="ja-JP" altLang="en-US" sz="4800" dirty="0">
              <a:solidFill>
                <a:schemeClr val="bg1"/>
              </a:solidFill>
              <a:latin typeface="ＭＳ ゴシック" panose="020B0609070205080204" pitchFamily="49" charset="-128"/>
              <a:ea typeface="ＭＳ ゴシック" panose="020B0609070205080204" pitchFamily="49" charset="-128"/>
            </a:endParaRPr>
          </a:p>
        </p:txBody>
      </p:sp>
      <p:sp>
        <p:nvSpPr>
          <p:cNvPr id="5" name="Rectangle 3"/>
          <p:cNvSpPr>
            <a:spLocks noChangeArrowheads="1"/>
          </p:cNvSpPr>
          <p:nvPr/>
        </p:nvSpPr>
        <p:spPr bwMode="auto">
          <a:xfrm>
            <a:off x="0" y="4572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black"/>
              </a:solidFill>
              <a:effectLst/>
              <a:uLnTx/>
              <a:uFillTx/>
              <a:latin typeface="游ゴシック" panose="020F0502020204030204"/>
              <a:ea typeface="游ゴシック" panose="020B0400000000000000" pitchFamily="50" charset="-128"/>
              <a:cs typeface="+mn-cs"/>
            </a:endParaRPr>
          </a:p>
        </p:txBody>
      </p:sp>
      <p:pic>
        <p:nvPicPr>
          <p:cNvPr id="6" name="図 5">
            <a:extLst>
              <a:ext uri="{FF2B5EF4-FFF2-40B4-BE49-F238E27FC236}">
                <a16:creationId xmlns:a16="http://schemas.microsoft.com/office/drawing/2014/main" id="{65E2EBCC-46F0-7DB3-B871-BDCCDFFE637F}"/>
              </a:ext>
            </a:extLst>
          </p:cNvPr>
          <p:cNvPicPr>
            <a:picLocks noChangeAspect="1"/>
          </p:cNvPicPr>
          <p:nvPr/>
        </p:nvPicPr>
        <p:blipFill>
          <a:blip r:embed="rId3"/>
          <a:stretch>
            <a:fillRect/>
          </a:stretch>
        </p:blipFill>
        <p:spPr>
          <a:xfrm>
            <a:off x="237663" y="1369144"/>
            <a:ext cx="11560637" cy="5325034"/>
          </a:xfrm>
          <a:prstGeom prst="rect">
            <a:avLst/>
          </a:prstGeom>
          <a:ln w="19050">
            <a:solidFill>
              <a:schemeClr val="tx1"/>
            </a:solidFill>
          </a:ln>
        </p:spPr>
      </p:pic>
    </p:spTree>
    <p:extLst>
      <p:ext uri="{BB962C8B-B14F-4D97-AF65-F5344CB8AC3E}">
        <p14:creationId xmlns:p14="http://schemas.microsoft.com/office/powerpoint/2010/main" val="31600686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0" y="163822"/>
            <a:ext cx="12192000" cy="911944"/>
          </a:xfrm>
          <a:solidFill>
            <a:srgbClr val="002060"/>
          </a:solidFill>
        </p:spPr>
        <p:txBody>
          <a:bodyPr>
            <a:noAutofit/>
          </a:bodyPr>
          <a:lstStyle/>
          <a:p>
            <a:r>
              <a:rPr kumimoji="1" lang="ja-JP" altLang="en-US" sz="3600" dirty="0">
                <a:solidFill>
                  <a:schemeClr val="bg1"/>
                </a:solidFill>
                <a:latin typeface="ＭＳ ゴシック" panose="020B0609070205080204" pitchFamily="49" charset="-128"/>
                <a:ea typeface="ＭＳ ゴシック" panose="020B0609070205080204" pitchFamily="49" charset="-128"/>
              </a:rPr>
              <a:t>２　全国学力・学習状況調査の結果および活用について</a:t>
            </a:r>
          </a:p>
        </p:txBody>
      </p:sp>
      <p:sp>
        <p:nvSpPr>
          <p:cNvPr id="4" name="Rectangle 2"/>
          <p:cNvSpPr>
            <a:spLocks noChangeArrowheads="1"/>
          </p:cNvSpPr>
          <p:nvPr/>
        </p:nvSpPr>
        <p:spPr bwMode="auto">
          <a:xfrm>
            <a:off x="197224" y="1172574"/>
            <a:ext cx="3715557" cy="584775"/>
          </a:xfrm>
          <a:prstGeom prst="rect">
            <a:avLst/>
          </a:prstGeom>
          <a:solidFill>
            <a:schemeClr val="bg1"/>
          </a:solidFill>
          <a:ln w="28575">
            <a:solidFill>
              <a:srgbClr val="002060"/>
            </a:solid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ja-JP" altLang="en-US" sz="3200" b="1" dirty="0">
                <a:latin typeface="ＭＳ ゴシック" panose="020B0609070205080204" pitchFamily="49" charset="-128"/>
                <a:ea typeface="ＭＳ ゴシック" panose="020B0609070205080204" pitchFamily="49" charset="-128"/>
                <a:cs typeface="Times New Roman" panose="02020603050405020304" pitchFamily="18" charset="0"/>
              </a:rPr>
              <a:t>教科に関する調査</a:t>
            </a:r>
            <a:endParaRPr kumimoji="0" lang="ja-JP" altLang="ja-JP" sz="4000" b="1" i="0" u="none" strike="noStrike" cap="none" normalizeH="0" baseline="0" dirty="0">
              <a:ln>
                <a:noFill/>
              </a:ln>
              <a:solidFill>
                <a:schemeClr val="tx1"/>
              </a:solidFill>
              <a:effectLst/>
              <a:latin typeface="ＭＳ ゴシック" panose="020B0609070205080204" pitchFamily="49" charset="-128"/>
              <a:ea typeface="ＭＳ ゴシック" panose="020B0609070205080204" pitchFamily="49" charset="-128"/>
            </a:endParaRPr>
          </a:p>
        </p:txBody>
      </p:sp>
      <p:sp>
        <p:nvSpPr>
          <p:cNvPr id="5" name="Rectangle 3"/>
          <p:cNvSpPr>
            <a:spLocks noChangeArrowheads="1"/>
          </p:cNvSpPr>
          <p:nvPr/>
        </p:nvSpPr>
        <p:spPr bwMode="auto">
          <a:xfrm>
            <a:off x="0" y="4572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ja-JP" altLang="en-US"/>
          </a:p>
        </p:txBody>
      </p:sp>
      <p:pic>
        <p:nvPicPr>
          <p:cNvPr id="9" name="図 8">
            <a:extLst>
              <a:ext uri="{FF2B5EF4-FFF2-40B4-BE49-F238E27FC236}">
                <a16:creationId xmlns:a16="http://schemas.microsoft.com/office/drawing/2014/main" id="{32CFCED1-4C92-BEBA-45D3-878A5D96A6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7223" y="1854156"/>
            <a:ext cx="6047805" cy="4635543"/>
          </a:xfrm>
          <a:prstGeom prst="rect">
            <a:avLst/>
          </a:prstGeom>
        </p:spPr>
      </p:pic>
      <p:pic>
        <p:nvPicPr>
          <p:cNvPr id="13" name="図 12">
            <a:extLst>
              <a:ext uri="{FF2B5EF4-FFF2-40B4-BE49-F238E27FC236}">
                <a16:creationId xmlns:a16="http://schemas.microsoft.com/office/drawing/2014/main" id="{5E12E914-F91B-CE8B-FE8F-FD2FD01590E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49776" y="1854155"/>
            <a:ext cx="5727885" cy="3467145"/>
          </a:xfrm>
          <a:prstGeom prst="rect">
            <a:avLst/>
          </a:prstGeom>
        </p:spPr>
      </p:pic>
    </p:spTree>
    <p:extLst>
      <p:ext uri="{BB962C8B-B14F-4D97-AF65-F5344CB8AC3E}">
        <p14:creationId xmlns:p14="http://schemas.microsoft.com/office/powerpoint/2010/main" val="22925797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0" y="163822"/>
            <a:ext cx="12192000" cy="911944"/>
          </a:xfrm>
          <a:solidFill>
            <a:srgbClr val="002060"/>
          </a:solidFill>
        </p:spPr>
        <p:txBody>
          <a:bodyPr>
            <a:noAutofit/>
          </a:bodyPr>
          <a:lstStyle/>
          <a:p>
            <a:r>
              <a:rPr kumimoji="1" lang="ja-JP" altLang="en-US" sz="3600" dirty="0">
                <a:solidFill>
                  <a:schemeClr val="bg1"/>
                </a:solidFill>
                <a:latin typeface="ＭＳ ゴシック" panose="020B0609070205080204" pitchFamily="49" charset="-128"/>
                <a:ea typeface="ＭＳ ゴシック" panose="020B0609070205080204" pitchFamily="49" charset="-128"/>
              </a:rPr>
              <a:t>２　全国学力・学習状況調査の結果および活用について</a:t>
            </a:r>
          </a:p>
        </p:txBody>
      </p:sp>
      <p:sp>
        <p:nvSpPr>
          <p:cNvPr id="4" name="Rectangle 2"/>
          <p:cNvSpPr>
            <a:spLocks noChangeArrowheads="1"/>
          </p:cNvSpPr>
          <p:nvPr/>
        </p:nvSpPr>
        <p:spPr bwMode="auto">
          <a:xfrm>
            <a:off x="197225" y="1172574"/>
            <a:ext cx="2293728" cy="584775"/>
          </a:xfrm>
          <a:prstGeom prst="rect">
            <a:avLst/>
          </a:prstGeom>
          <a:solidFill>
            <a:schemeClr val="bg1"/>
          </a:solidFill>
          <a:ln w="28575">
            <a:solidFill>
              <a:srgbClr val="002060"/>
            </a:solid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ja-JP" altLang="en-US" sz="3200" b="1" dirty="0">
                <a:solidFill>
                  <a:prstClr val="black"/>
                </a:solidFill>
                <a:latin typeface="ＭＳ ゴシック" panose="020B0609070205080204" pitchFamily="49" charset="-128"/>
                <a:ea typeface="ＭＳ ゴシック" panose="020B0609070205080204" pitchFamily="49" charset="-128"/>
                <a:cs typeface="Times New Roman" panose="02020603050405020304" pitchFamily="18" charset="0"/>
              </a:rPr>
              <a:t>質問紙調査</a:t>
            </a:r>
            <a:endParaRPr kumimoji="0" lang="ja-JP" altLang="ja-JP" sz="4000" b="1" i="0" u="none" strike="noStrike" kern="1200" cap="none" spc="0" normalizeH="0" baseline="0" noProof="0" dirty="0">
              <a:ln>
                <a:noFill/>
              </a:ln>
              <a:solidFill>
                <a:prstClr val="black"/>
              </a:solidFill>
              <a:effectLst/>
              <a:uLnTx/>
              <a:uFillTx/>
              <a:latin typeface="ＭＳ ゴシック" panose="020B0609070205080204" pitchFamily="49" charset="-128"/>
              <a:ea typeface="ＭＳ ゴシック" panose="020B0609070205080204" pitchFamily="49" charset="-128"/>
              <a:cs typeface="+mn-cs"/>
            </a:endParaRPr>
          </a:p>
        </p:txBody>
      </p:sp>
      <p:sp>
        <p:nvSpPr>
          <p:cNvPr id="5" name="Rectangle 3"/>
          <p:cNvSpPr>
            <a:spLocks noChangeArrowheads="1"/>
          </p:cNvSpPr>
          <p:nvPr/>
        </p:nvSpPr>
        <p:spPr bwMode="auto">
          <a:xfrm>
            <a:off x="0" y="4572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black"/>
              </a:solidFill>
              <a:effectLst/>
              <a:uLnTx/>
              <a:uFillTx/>
              <a:latin typeface="游ゴシック" panose="020F0502020204030204"/>
              <a:ea typeface="游ゴシック" panose="020B0400000000000000" pitchFamily="50" charset="-128"/>
              <a:cs typeface="+mn-cs"/>
            </a:endParaRPr>
          </a:p>
        </p:txBody>
      </p:sp>
      <p:pic>
        <p:nvPicPr>
          <p:cNvPr id="6" name="図 5">
            <a:extLst>
              <a:ext uri="{FF2B5EF4-FFF2-40B4-BE49-F238E27FC236}">
                <a16:creationId xmlns:a16="http://schemas.microsoft.com/office/drawing/2014/main" id="{C7456CD2-EC25-9B38-8803-D132C1B7BC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5714" y="1994720"/>
            <a:ext cx="11171643" cy="3453643"/>
          </a:xfrm>
          <a:prstGeom prst="rect">
            <a:avLst/>
          </a:prstGeom>
        </p:spPr>
      </p:pic>
    </p:spTree>
    <p:extLst>
      <p:ext uri="{BB962C8B-B14F-4D97-AF65-F5344CB8AC3E}">
        <p14:creationId xmlns:p14="http://schemas.microsoft.com/office/powerpoint/2010/main" val="25750209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7FDC2-BCA6-9472-1333-06460A2DE07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1DF0CCE-E885-D37F-B872-D14D357667F1}"/>
              </a:ext>
            </a:extLst>
          </p:cNvPr>
          <p:cNvSpPr>
            <a:spLocks noGrp="1"/>
          </p:cNvSpPr>
          <p:nvPr>
            <p:ph type="title"/>
          </p:nvPr>
        </p:nvSpPr>
        <p:spPr>
          <a:xfrm>
            <a:off x="0" y="163822"/>
            <a:ext cx="12192000" cy="911944"/>
          </a:xfrm>
          <a:solidFill>
            <a:srgbClr val="002060"/>
          </a:solidFill>
        </p:spPr>
        <p:txBody>
          <a:bodyPr>
            <a:noAutofit/>
          </a:bodyPr>
          <a:lstStyle/>
          <a:p>
            <a:r>
              <a:rPr kumimoji="1" lang="ja-JP" altLang="en-US" sz="3600" dirty="0">
                <a:solidFill>
                  <a:schemeClr val="bg1"/>
                </a:solidFill>
                <a:latin typeface="ＭＳ ゴシック" panose="020B0609070205080204" pitchFamily="49" charset="-128"/>
                <a:ea typeface="ＭＳ ゴシック" panose="020B0609070205080204" pitchFamily="49" charset="-128"/>
              </a:rPr>
              <a:t>２　全国学力・学習状況調査の結果および活用について</a:t>
            </a:r>
          </a:p>
        </p:txBody>
      </p:sp>
      <p:sp>
        <p:nvSpPr>
          <p:cNvPr id="4" name="Rectangle 2">
            <a:extLst>
              <a:ext uri="{FF2B5EF4-FFF2-40B4-BE49-F238E27FC236}">
                <a16:creationId xmlns:a16="http://schemas.microsoft.com/office/drawing/2014/main" id="{E2A47F40-4B8D-EDFC-74FD-785B37FDAB28}"/>
              </a:ext>
            </a:extLst>
          </p:cNvPr>
          <p:cNvSpPr>
            <a:spLocks noChangeArrowheads="1"/>
          </p:cNvSpPr>
          <p:nvPr/>
        </p:nvSpPr>
        <p:spPr bwMode="auto">
          <a:xfrm>
            <a:off x="197225" y="1172574"/>
            <a:ext cx="2293728" cy="584775"/>
          </a:xfrm>
          <a:prstGeom prst="rect">
            <a:avLst/>
          </a:prstGeom>
          <a:solidFill>
            <a:schemeClr val="bg1"/>
          </a:solidFill>
          <a:ln w="28575">
            <a:solidFill>
              <a:srgbClr val="002060"/>
            </a:solid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ja-JP" altLang="en-US" sz="3200" b="1" dirty="0">
                <a:solidFill>
                  <a:prstClr val="black"/>
                </a:solidFill>
                <a:latin typeface="ＭＳ ゴシック" panose="020B0609070205080204" pitchFamily="49" charset="-128"/>
                <a:ea typeface="ＭＳ ゴシック" panose="020B0609070205080204" pitchFamily="49" charset="-128"/>
                <a:cs typeface="Times New Roman" panose="02020603050405020304" pitchFamily="18" charset="0"/>
              </a:rPr>
              <a:t>質問紙調査</a:t>
            </a:r>
            <a:endParaRPr kumimoji="0" lang="ja-JP" altLang="ja-JP" sz="4000" b="1" i="0" u="none" strike="noStrike" kern="1200" cap="none" spc="0" normalizeH="0" baseline="0" noProof="0" dirty="0">
              <a:ln>
                <a:noFill/>
              </a:ln>
              <a:solidFill>
                <a:prstClr val="black"/>
              </a:solidFill>
              <a:effectLst/>
              <a:uLnTx/>
              <a:uFillTx/>
              <a:latin typeface="ＭＳ ゴシック" panose="020B0609070205080204" pitchFamily="49" charset="-128"/>
              <a:ea typeface="ＭＳ ゴシック" panose="020B0609070205080204" pitchFamily="49" charset="-128"/>
              <a:cs typeface="+mn-cs"/>
            </a:endParaRPr>
          </a:p>
        </p:txBody>
      </p:sp>
      <p:sp>
        <p:nvSpPr>
          <p:cNvPr id="5" name="Rectangle 3">
            <a:extLst>
              <a:ext uri="{FF2B5EF4-FFF2-40B4-BE49-F238E27FC236}">
                <a16:creationId xmlns:a16="http://schemas.microsoft.com/office/drawing/2014/main" id="{986D99E2-DD4F-2C22-EBA8-EA0E4F0DA030}"/>
              </a:ext>
            </a:extLst>
          </p:cNvPr>
          <p:cNvSpPr>
            <a:spLocks noChangeArrowheads="1"/>
          </p:cNvSpPr>
          <p:nvPr/>
        </p:nvSpPr>
        <p:spPr bwMode="auto">
          <a:xfrm>
            <a:off x="0" y="4572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black"/>
              </a:solidFill>
              <a:effectLst/>
              <a:uLnTx/>
              <a:uFillTx/>
              <a:latin typeface="游ゴシック" panose="020F0502020204030204"/>
              <a:ea typeface="游ゴシック" panose="020B0400000000000000" pitchFamily="50" charset="-128"/>
              <a:cs typeface="+mn-cs"/>
            </a:endParaRPr>
          </a:p>
        </p:txBody>
      </p:sp>
      <p:pic>
        <p:nvPicPr>
          <p:cNvPr id="8" name="図 7">
            <a:extLst>
              <a:ext uri="{FF2B5EF4-FFF2-40B4-BE49-F238E27FC236}">
                <a16:creationId xmlns:a16="http://schemas.microsoft.com/office/drawing/2014/main" id="{656BC735-8148-3BE7-D61E-935A272B20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7224" y="1854157"/>
            <a:ext cx="11785226" cy="4920634"/>
          </a:xfrm>
          <a:prstGeom prst="rect">
            <a:avLst/>
          </a:prstGeom>
        </p:spPr>
      </p:pic>
    </p:spTree>
    <p:extLst>
      <p:ext uri="{BB962C8B-B14F-4D97-AF65-F5344CB8AC3E}">
        <p14:creationId xmlns:p14="http://schemas.microsoft.com/office/powerpoint/2010/main" val="7399715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0" y="165232"/>
            <a:ext cx="12192000" cy="1325563"/>
          </a:xfrm>
          <a:solidFill>
            <a:srgbClr val="002060"/>
          </a:solidFill>
        </p:spPr>
        <p:txBody>
          <a:bodyPr>
            <a:noAutofit/>
          </a:bodyPr>
          <a:lstStyle/>
          <a:p>
            <a:r>
              <a:rPr lang="ja-JP" altLang="en-US" sz="3600" dirty="0">
                <a:solidFill>
                  <a:schemeClr val="bg1"/>
                </a:solidFill>
                <a:latin typeface="ＭＳ ゴシック" panose="020B0609070205080204" pitchFamily="49" charset="-128"/>
                <a:ea typeface="ＭＳ ゴシック" panose="020B0609070205080204" pitchFamily="49" charset="-128"/>
              </a:rPr>
              <a:t>３</a:t>
            </a:r>
            <a:r>
              <a:rPr kumimoji="1" lang="ja-JP" altLang="en-US" sz="3600" dirty="0">
                <a:solidFill>
                  <a:schemeClr val="bg1"/>
                </a:solidFill>
                <a:latin typeface="ＭＳ ゴシック" panose="020B0609070205080204" pitchFamily="49" charset="-128"/>
                <a:ea typeface="ＭＳ ゴシック" panose="020B0609070205080204" pitchFamily="49" charset="-128"/>
              </a:rPr>
              <a:t>　令和８年度授業改善推進プランの作成および</a:t>
            </a:r>
            <a:br>
              <a:rPr kumimoji="1" lang="en-US" altLang="ja-JP" sz="3600" dirty="0">
                <a:solidFill>
                  <a:schemeClr val="bg1"/>
                </a:solidFill>
                <a:latin typeface="ＭＳ ゴシック" panose="020B0609070205080204" pitchFamily="49" charset="-128"/>
                <a:ea typeface="ＭＳ ゴシック" panose="020B0609070205080204" pitchFamily="49" charset="-128"/>
              </a:rPr>
            </a:br>
            <a:r>
              <a:rPr lang="ja-JP" altLang="en-US" sz="3600" dirty="0">
                <a:solidFill>
                  <a:schemeClr val="bg1"/>
                </a:solidFill>
                <a:latin typeface="ＭＳ ゴシック" panose="020B0609070205080204" pitchFamily="49" charset="-128"/>
                <a:ea typeface="ＭＳ ゴシック" panose="020B0609070205080204" pitchFamily="49" charset="-128"/>
              </a:rPr>
              <a:t>　　</a:t>
            </a:r>
            <a:r>
              <a:rPr kumimoji="1" lang="ja-JP" altLang="en-US" sz="3600" dirty="0">
                <a:solidFill>
                  <a:schemeClr val="bg1"/>
                </a:solidFill>
                <a:latin typeface="ＭＳ ゴシック" panose="020B0609070205080204" pitchFamily="49" charset="-128"/>
                <a:ea typeface="ＭＳ ゴシック" panose="020B0609070205080204" pitchFamily="49" charset="-128"/>
              </a:rPr>
              <a:t>授業改善推進プランに基づく教育活動の実施について</a:t>
            </a:r>
          </a:p>
        </p:txBody>
      </p:sp>
      <p:sp>
        <p:nvSpPr>
          <p:cNvPr id="3" name="コンテンツ プレースホルダー 2"/>
          <p:cNvSpPr>
            <a:spLocks noGrp="1"/>
          </p:cNvSpPr>
          <p:nvPr>
            <p:ph idx="1"/>
          </p:nvPr>
        </p:nvSpPr>
        <p:spPr>
          <a:xfrm>
            <a:off x="694330" y="1490795"/>
            <a:ext cx="10995646" cy="5107229"/>
          </a:xfrm>
        </p:spPr>
        <p:txBody>
          <a:bodyPr>
            <a:noAutofit/>
          </a:bodyPr>
          <a:lstStyle/>
          <a:p>
            <a:pPr marL="0" indent="0">
              <a:buNone/>
            </a:pPr>
            <a:r>
              <a:rPr kumimoji="1" lang="ja-JP" altLang="en-US" sz="3600" dirty="0">
                <a:latin typeface="ＭＳ ゴシック" panose="020B0609070205080204" pitchFamily="49" charset="-128"/>
                <a:ea typeface="ＭＳ ゴシック" panose="020B0609070205080204" pitchFamily="49" charset="-128"/>
              </a:rPr>
              <a:t>（１）提出資料</a:t>
            </a:r>
            <a:r>
              <a:rPr lang="ja-JP" altLang="en-US" sz="3600" dirty="0">
                <a:latin typeface="ＭＳ ゴシック" panose="020B0609070205080204" pitchFamily="49" charset="-128"/>
                <a:ea typeface="ＭＳ ゴシック" panose="020B0609070205080204" pitchFamily="49" charset="-128"/>
              </a:rPr>
              <a:t>（２点）</a:t>
            </a:r>
            <a:endParaRPr kumimoji="1" lang="en-US" altLang="ja-JP" sz="3600" dirty="0">
              <a:latin typeface="ＭＳ ゴシック" panose="020B0609070205080204" pitchFamily="49" charset="-128"/>
              <a:ea typeface="ＭＳ ゴシック" panose="020B0609070205080204" pitchFamily="49" charset="-128"/>
            </a:endParaRPr>
          </a:p>
          <a:p>
            <a:pPr marL="0" indent="0">
              <a:buNone/>
            </a:pPr>
            <a:r>
              <a:rPr lang="ja-JP" altLang="en-US" sz="3600" dirty="0">
                <a:latin typeface="ＭＳ ゴシック" panose="020B0609070205080204" pitchFamily="49" charset="-128"/>
                <a:ea typeface="ＭＳ ゴシック" panose="020B0609070205080204" pitchFamily="49" charset="-128"/>
              </a:rPr>
              <a:t>　　</a:t>
            </a:r>
            <a:r>
              <a:rPr lang="ja-JP" altLang="en-US" sz="3600" dirty="0">
                <a:solidFill>
                  <a:srgbClr val="FF0000"/>
                </a:solidFill>
                <a:latin typeface="ＭＳ ゴシック" panose="020B0609070205080204" pitchFamily="49" charset="-128"/>
                <a:ea typeface="ＭＳ ゴシック" panose="020B0609070205080204" pitchFamily="49" charset="-128"/>
              </a:rPr>
              <a:t>　</a:t>
            </a:r>
            <a:r>
              <a:rPr lang="ja-JP" altLang="en-US" sz="3600" u="sng" dirty="0">
                <a:solidFill>
                  <a:srgbClr val="FF0000"/>
                </a:solidFill>
                <a:latin typeface="ＭＳ ゴシック" panose="020B0609070205080204" pitchFamily="49" charset="-128"/>
                <a:ea typeface="ＭＳ ゴシック" panose="020B0609070205080204" pitchFamily="49" charset="-128"/>
              </a:rPr>
              <a:t>課題分析と授業改善策</a:t>
            </a:r>
            <a:endParaRPr lang="en-US" altLang="ja-JP" sz="3600" u="sng" dirty="0">
              <a:solidFill>
                <a:srgbClr val="FF0000"/>
              </a:solidFill>
              <a:latin typeface="ＭＳ ゴシック" panose="020B0609070205080204" pitchFamily="49" charset="-128"/>
              <a:ea typeface="ＭＳ ゴシック" panose="020B0609070205080204" pitchFamily="49" charset="-128"/>
            </a:endParaRPr>
          </a:p>
          <a:p>
            <a:pPr marL="0" indent="0">
              <a:buNone/>
            </a:pPr>
            <a:endParaRPr lang="en-US" altLang="ja-JP" sz="1200" dirty="0">
              <a:latin typeface="ＭＳ ゴシック" panose="020B0609070205080204" pitchFamily="49" charset="-128"/>
              <a:ea typeface="ＭＳ ゴシック" panose="020B0609070205080204" pitchFamily="49" charset="-128"/>
            </a:endParaRPr>
          </a:p>
          <a:p>
            <a:pPr marL="0" indent="0">
              <a:buNone/>
            </a:pPr>
            <a:r>
              <a:rPr lang="ja-JP" altLang="en-US" sz="3600" dirty="0">
                <a:latin typeface="ＭＳ ゴシック" panose="020B0609070205080204" pitchFamily="49" charset="-128"/>
                <a:ea typeface="ＭＳ ゴシック" panose="020B0609070205080204" pitchFamily="49" charset="-128"/>
              </a:rPr>
              <a:t>（２）提出期限</a:t>
            </a:r>
            <a:endParaRPr lang="en-US" altLang="ja-JP" sz="3600" dirty="0">
              <a:latin typeface="ＭＳ ゴシック" panose="020B0609070205080204" pitchFamily="49" charset="-128"/>
              <a:ea typeface="ＭＳ ゴシック" panose="020B0609070205080204" pitchFamily="49" charset="-128"/>
            </a:endParaRPr>
          </a:p>
          <a:p>
            <a:pPr marL="0" indent="0">
              <a:buNone/>
            </a:pPr>
            <a:r>
              <a:rPr lang="ja-JP" altLang="en-US" sz="3600" dirty="0">
                <a:latin typeface="ＭＳ ゴシック" panose="020B0609070205080204" pitchFamily="49" charset="-128"/>
                <a:ea typeface="ＭＳ ゴシック" panose="020B0609070205080204" pitchFamily="49" charset="-128"/>
              </a:rPr>
              <a:t>　　　</a:t>
            </a:r>
            <a:r>
              <a:rPr lang="ja-JP" altLang="en-US" sz="3600" u="sng" dirty="0">
                <a:solidFill>
                  <a:srgbClr val="FF0000"/>
                </a:solidFill>
                <a:latin typeface="ＭＳ ゴシック" panose="020B0609070205080204" pitchFamily="49" charset="-128"/>
                <a:ea typeface="ＭＳ ゴシック" panose="020B0609070205080204" pitchFamily="49" charset="-128"/>
              </a:rPr>
              <a:t>令和８年９月</a:t>
            </a:r>
            <a:r>
              <a:rPr lang="en-US" altLang="ja-JP" sz="3600" u="sng" dirty="0">
                <a:solidFill>
                  <a:srgbClr val="FF0000"/>
                </a:solidFill>
                <a:latin typeface="ＭＳ ゴシック" panose="020B0609070205080204" pitchFamily="49" charset="-128"/>
                <a:ea typeface="ＭＳ ゴシック" panose="020B0609070205080204" pitchFamily="49" charset="-128"/>
              </a:rPr>
              <a:t>30</a:t>
            </a:r>
            <a:r>
              <a:rPr lang="ja-JP" altLang="en-US" sz="3600" u="sng" dirty="0">
                <a:solidFill>
                  <a:srgbClr val="FF0000"/>
                </a:solidFill>
                <a:latin typeface="ＭＳ ゴシック" panose="020B0609070205080204" pitchFamily="49" charset="-128"/>
                <a:ea typeface="ＭＳ ゴシック" panose="020B0609070205080204" pitchFamily="49" charset="-128"/>
              </a:rPr>
              <a:t>日（水）</a:t>
            </a:r>
            <a:endParaRPr lang="en-US" altLang="ja-JP" sz="3600" u="sng" dirty="0">
              <a:solidFill>
                <a:srgbClr val="FF0000"/>
              </a:solidFill>
              <a:latin typeface="ＭＳ ゴシック" panose="020B0609070205080204" pitchFamily="49" charset="-128"/>
              <a:ea typeface="ＭＳ ゴシック" panose="020B0609070205080204" pitchFamily="49" charset="-128"/>
            </a:endParaRPr>
          </a:p>
          <a:p>
            <a:pPr marL="0" indent="0">
              <a:buNone/>
            </a:pPr>
            <a:endParaRPr lang="en-US" altLang="ja-JP" sz="1200" dirty="0">
              <a:latin typeface="ＭＳ ゴシック" panose="020B0609070205080204" pitchFamily="49" charset="-128"/>
              <a:ea typeface="ＭＳ ゴシック" panose="020B0609070205080204" pitchFamily="49" charset="-128"/>
            </a:endParaRPr>
          </a:p>
          <a:p>
            <a:pPr marL="0" indent="0">
              <a:buNone/>
            </a:pPr>
            <a:r>
              <a:rPr lang="ja-JP" altLang="en-US" sz="3600" dirty="0">
                <a:latin typeface="ＭＳ ゴシック" panose="020B0609070205080204" pitchFamily="49" charset="-128"/>
                <a:ea typeface="ＭＳ ゴシック" panose="020B0609070205080204" pitchFamily="49" charset="-128"/>
              </a:rPr>
              <a:t>（３）提出方法</a:t>
            </a:r>
            <a:endParaRPr lang="en-US" altLang="ja-JP" sz="3600" dirty="0">
              <a:latin typeface="ＭＳ ゴシック" panose="020B0609070205080204" pitchFamily="49" charset="-128"/>
              <a:ea typeface="ＭＳ ゴシック" panose="020B0609070205080204" pitchFamily="49" charset="-128"/>
            </a:endParaRPr>
          </a:p>
          <a:p>
            <a:pPr marL="0" indent="0">
              <a:buNone/>
            </a:pPr>
            <a:r>
              <a:rPr lang="ja-JP" altLang="en-US" sz="3600" dirty="0">
                <a:latin typeface="ＭＳ ゴシック" panose="020B0609070205080204" pitchFamily="49" charset="-128"/>
                <a:ea typeface="ＭＳ ゴシック" panose="020B0609070205080204" pitchFamily="49" charset="-128"/>
              </a:rPr>
              <a:t>　　　</a:t>
            </a:r>
            <a:r>
              <a:rPr lang="ja-JP" altLang="en-US" sz="3600" u="sng" dirty="0">
                <a:solidFill>
                  <a:srgbClr val="FF0000"/>
                </a:solidFill>
                <a:latin typeface="ＭＳ ゴシック" panose="020B0609070205080204" pitchFamily="49" charset="-128"/>
                <a:ea typeface="ＭＳ ゴシック" panose="020B0609070205080204" pitchFamily="49" charset="-128"/>
              </a:rPr>
              <a:t>Ｃ４ｔｈ個人連絡にて各学校の担当指導主事</a:t>
            </a:r>
            <a:endParaRPr lang="en-US" altLang="ja-JP" sz="3600" u="sng" dirty="0">
              <a:solidFill>
                <a:srgbClr val="FF0000"/>
              </a:solidFill>
              <a:latin typeface="ＭＳ ゴシック" panose="020B0609070205080204" pitchFamily="49" charset="-128"/>
              <a:ea typeface="ＭＳ ゴシック" panose="020B0609070205080204" pitchFamily="49" charset="-128"/>
            </a:endParaRPr>
          </a:p>
        </p:txBody>
      </p:sp>
    </p:spTree>
    <p:extLst>
      <p:ext uri="{BB962C8B-B14F-4D97-AF65-F5344CB8AC3E}">
        <p14:creationId xmlns:p14="http://schemas.microsoft.com/office/powerpoint/2010/main" val="26367784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0" y="195198"/>
            <a:ext cx="12192000" cy="880567"/>
          </a:xfrm>
          <a:solidFill>
            <a:srgbClr val="002060"/>
          </a:solidFill>
        </p:spPr>
        <p:txBody>
          <a:bodyPr>
            <a:noAutofit/>
          </a:bodyPr>
          <a:lstStyle/>
          <a:p>
            <a:r>
              <a:rPr lang="ja-JP" altLang="en-US" dirty="0">
                <a:solidFill>
                  <a:schemeClr val="bg1"/>
                </a:solidFill>
                <a:latin typeface="ＭＳ ゴシック" panose="020B0609070205080204" pitchFamily="49" charset="-128"/>
                <a:ea typeface="ＭＳ ゴシック" panose="020B0609070205080204" pitchFamily="49" charset="-128"/>
              </a:rPr>
              <a:t>４</a:t>
            </a:r>
            <a:r>
              <a:rPr lang="ja-JP" altLang="ja-JP" dirty="0">
                <a:solidFill>
                  <a:schemeClr val="bg1"/>
                </a:solidFill>
                <a:latin typeface="ＭＳ ゴシック" panose="020B0609070205080204" pitchFamily="49" charset="-128"/>
                <a:ea typeface="ＭＳ ゴシック" panose="020B0609070205080204" pitchFamily="49" charset="-128"/>
              </a:rPr>
              <a:t>　</a:t>
            </a:r>
            <a:r>
              <a:rPr lang="ja-JP" altLang="en-US" dirty="0">
                <a:solidFill>
                  <a:schemeClr val="bg1"/>
                </a:solidFill>
                <a:latin typeface="ＭＳ ゴシック" panose="020B0609070205080204" pitchFamily="49" charset="-128"/>
                <a:ea typeface="ＭＳ ゴシック" panose="020B0609070205080204" pitchFamily="49" charset="-128"/>
              </a:rPr>
              <a:t>その他</a:t>
            </a:r>
            <a:endParaRPr kumimoji="1" lang="ja-JP" altLang="en-US" sz="3200" dirty="0">
              <a:solidFill>
                <a:schemeClr val="bg1"/>
              </a:solidFill>
              <a:latin typeface="ＭＳ ゴシック" panose="020B0609070205080204" pitchFamily="49" charset="-128"/>
              <a:ea typeface="ＭＳ ゴシック" panose="020B0609070205080204" pitchFamily="49" charset="-128"/>
            </a:endParaRPr>
          </a:p>
        </p:txBody>
      </p:sp>
      <p:sp>
        <p:nvSpPr>
          <p:cNvPr id="3" name="コンテンツ プレースホルダー 2"/>
          <p:cNvSpPr>
            <a:spLocks noGrp="1"/>
          </p:cNvSpPr>
          <p:nvPr>
            <p:ph idx="1"/>
          </p:nvPr>
        </p:nvSpPr>
        <p:spPr>
          <a:xfrm>
            <a:off x="206189" y="1215961"/>
            <a:ext cx="11779622" cy="5202769"/>
          </a:xfrm>
        </p:spPr>
        <p:txBody>
          <a:bodyPr>
            <a:noAutofit/>
          </a:bodyPr>
          <a:lstStyle/>
          <a:p>
            <a:pPr marL="0" indent="0">
              <a:lnSpc>
                <a:spcPts val="4000"/>
              </a:lnSpc>
              <a:buNone/>
            </a:pPr>
            <a:r>
              <a:rPr lang="ja-JP" altLang="en-US" sz="4400" b="1" u="sng" dirty="0">
                <a:latin typeface="ＭＳ ゴシック" panose="020B0609070205080204" pitchFamily="49" charset="-128"/>
                <a:ea typeface="ＭＳ ゴシック" panose="020B0609070205080204" pitchFamily="49" charset="-128"/>
              </a:rPr>
              <a:t>都中学校英語スピーキングテスト</a:t>
            </a:r>
            <a:r>
              <a:rPr lang="en-US" altLang="ja-JP" sz="4400" b="1" u="sng" dirty="0">
                <a:latin typeface="ＭＳ ゴシック" panose="020B0609070205080204" pitchFamily="49" charset="-128"/>
                <a:ea typeface="ＭＳ ゴシック" panose="020B0609070205080204" pitchFamily="49" charset="-128"/>
              </a:rPr>
              <a:t>(ESAT-J)</a:t>
            </a:r>
            <a:r>
              <a:rPr lang="ja-JP" altLang="en-US" dirty="0">
                <a:latin typeface="ＭＳ ゴシック" panose="020B0609070205080204" pitchFamily="49" charset="-128"/>
                <a:ea typeface="ＭＳ ゴシック" panose="020B0609070205080204" pitchFamily="49" charset="-128"/>
              </a:rPr>
              <a:t>　　　　　　　　　　　　</a:t>
            </a:r>
            <a:endParaRPr lang="en-US" altLang="ja-JP" dirty="0">
              <a:latin typeface="ＭＳ ゴシック" panose="020B0609070205080204" pitchFamily="49" charset="-128"/>
              <a:ea typeface="ＭＳ ゴシック" panose="020B0609070205080204" pitchFamily="49" charset="-128"/>
            </a:endParaRPr>
          </a:p>
          <a:p>
            <a:pPr marL="0" indent="0">
              <a:lnSpc>
                <a:spcPts val="4000"/>
              </a:lnSpc>
              <a:buNone/>
            </a:pPr>
            <a:r>
              <a:rPr lang="ja-JP" altLang="en-US" sz="3200" b="1" dirty="0">
                <a:latin typeface="ＭＳ ゴシック" panose="020B0609070205080204" pitchFamily="49" charset="-128"/>
                <a:ea typeface="ＭＳ ゴシック" panose="020B0609070205080204" pitchFamily="49" charset="-128"/>
              </a:rPr>
              <a:t>中学校第３学年対象</a:t>
            </a:r>
            <a:endParaRPr lang="en-US" altLang="ja-JP" sz="3200" b="1" dirty="0">
              <a:latin typeface="ＭＳ ゴシック" panose="020B0609070205080204" pitchFamily="49" charset="-128"/>
              <a:ea typeface="ＭＳ ゴシック" panose="020B0609070205080204" pitchFamily="49" charset="-128"/>
            </a:endParaRPr>
          </a:p>
          <a:p>
            <a:pPr marL="0" indent="0">
              <a:lnSpc>
                <a:spcPts val="4000"/>
              </a:lnSpc>
              <a:buNone/>
            </a:pPr>
            <a:endParaRPr lang="en-US" altLang="ja-JP" sz="3600" dirty="0">
              <a:latin typeface="ＭＳ ゴシック" panose="020B0609070205080204" pitchFamily="49" charset="-128"/>
              <a:ea typeface="ＭＳ ゴシック" panose="020B0609070205080204" pitchFamily="49" charset="-128"/>
            </a:endParaRPr>
          </a:p>
          <a:p>
            <a:pPr marL="0" indent="0">
              <a:lnSpc>
                <a:spcPts val="4000"/>
              </a:lnSpc>
              <a:buNone/>
            </a:pPr>
            <a:r>
              <a:rPr lang="ja-JP" altLang="en-US" sz="3600" dirty="0">
                <a:latin typeface="ＭＳ ゴシック" panose="020B0609070205080204" pitchFamily="49" charset="-128"/>
                <a:ea typeface="ＭＳ ゴシック" panose="020B0609070205080204" pitchFamily="49" charset="-128"/>
              </a:rPr>
              <a:t>（１）申込期限</a:t>
            </a:r>
            <a:endParaRPr lang="en-US" altLang="ja-JP" sz="3600" dirty="0">
              <a:latin typeface="ＭＳ ゴシック" panose="020B0609070205080204" pitchFamily="49" charset="-128"/>
              <a:ea typeface="ＭＳ ゴシック" panose="020B0609070205080204" pitchFamily="49" charset="-128"/>
            </a:endParaRPr>
          </a:p>
          <a:p>
            <a:pPr marL="0" indent="0">
              <a:lnSpc>
                <a:spcPts val="4600"/>
              </a:lnSpc>
              <a:buNone/>
            </a:pPr>
            <a:r>
              <a:rPr lang="ja-JP" altLang="en-US" sz="3600" dirty="0">
                <a:latin typeface="ＭＳ ゴシック" panose="020B0609070205080204" pitchFamily="49" charset="-128"/>
                <a:ea typeface="ＭＳ ゴシック" panose="020B0609070205080204" pitchFamily="49" charset="-128"/>
              </a:rPr>
              <a:t>　　　</a:t>
            </a:r>
            <a:r>
              <a:rPr lang="ja-JP" altLang="en-US" sz="3600" b="1" u="sng" dirty="0">
                <a:solidFill>
                  <a:srgbClr val="FF0000"/>
                </a:solidFill>
                <a:latin typeface="ＭＳ ゴシック" panose="020B0609070205080204" pitchFamily="49" charset="-128"/>
                <a:ea typeface="ＭＳ ゴシック" panose="020B0609070205080204" pitchFamily="49" charset="-128"/>
              </a:rPr>
              <a:t>令和８年９月</a:t>
            </a:r>
            <a:r>
              <a:rPr lang="en-US" altLang="ja-JP" sz="3600" b="1" u="sng" dirty="0">
                <a:solidFill>
                  <a:srgbClr val="FF0000"/>
                </a:solidFill>
                <a:latin typeface="ＭＳ ゴシック" panose="020B0609070205080204" pitchFamily="49" charset="-128"/>
                <a:ea typeface="ＭＳ ゴシック" panose="020B0609070205080204" pitchFamily="49" charset="-128"/>
              </a:rPr>
              <a:t>16</a:t>
            </a:r>
            <a:r>
              <a:rPr lang="ja-JP" altLang="en-US" sz="3600" b="1" u="sng" dirty="0">
                <a:solidFill>
                  <a:srgbClr val="FF0000"/>
                </a:solidFill>
                <a:latin typeface="ＭＳ ゴシック" panose="020B0609070205080204" pitchFamily="49" charset="-128"/>
                <a:ea typeface="ＭＳ ゴシック" panose="020B0609070205080204" pitchFamily="49" charset="-128"/>
              </a:rPr>
              <a:t>日（水）午後５時</a:t>
            </a:r>
            <a:endParaRPr lang="en-US" altLang="ja-JP" sz="1100" b="1" u="sng" dirty="0">
              <a:solidFill>
                <a:srgbClr val="FF0000"/>
              </a:solidFill>
              <a:latin typeface="ＭＳ ゴシック" panose="020B0609070205080204" pitchFamily="49" charset="-128"/>
              <a:ea typeface="ＭＳ ゴシック" panose="020B0609070205080204" pitchFamily="49" charset="-128"/>
            </a:endParaRPr>
          </a:p>
        </p:txBody>
      </p:sp>
    </p:spTree>
    <p:extLst>
      <p:ext uri="{BB962C8B-B14F-4D97-AF65-F5344CB8AC3E}">
        <p14:creationId xmlns:p14="http://schemas.microsoft.com/office/powerpoint/2010/main" val="21596307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1246</TotalTime>
  <Words>1203</Words>
  <Application>Microsoft Office PowerPoint</Application>
  <PresentationFormat>ワイド画面</PresentationFormat>
  <Paragraphs>54</Paragraphs>
  <Slides>7</Slides>
  <Notes>7</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7</vt:i4>
      </vt:variant>
    </vt:vector>
  </HeadingPairs>
  <TitlesOfParts>
    <vt:vector size="12" baseType="lpstr">
      <vt:lpstr>ＭＳ ゴシック</vt:lpstr>
      <vt:lpstr>游ゴシック</vt:lpstr>
      <vt:lpstr>游ゴシック Light</vt:lpstr>
      <vt:lpstr>Arial</vt:lpstr>
      <vt:lpstr>Office テーマ</vt:lpstr>
      <vt:lpstr>令和８年度９月合同副校園長会 教務関係について</vt:lpstr>
      <vt:lpstr>１　実施授業時数について（１学期）</vt:lpstr>
      <vt:lpstr>２　全国学力・学習状況調査の結果および活用について</vt:lpstr>
      <vt:lpstr>２　全国学力・学習状況調査の結果および活用について</vt:lpstr>
      <vt:lpstr>２　全国学力・学習状況調査の結果および活用について</vt:lpstr>
      <vt:lpstr>３　令和８年度授業改善推進プランの作成および 　　授業改善推進プランに基づく教育活動の実施について</vt:lpstr>
      <vt:lpstr>４　その他</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令和４年度7月 合同副校園長会 教務関係について</dc:title>
  <dc:creator>市川　朋基</dc:creator>
  <cp:lastModifiedBy>紺多　章一郎</cp:lastModifiedBy>
  <cp:revision>94</cp:revision>
  <cp:lastPrinted>2023-09-13T23:47:35Z</cp:lastPrinted>
  <dcterms:created xsi:type="dcterms:W3CDTF">2022-07-08T23:12:23Z</dcterms:created>
  <dcterms:modified xsi:type="dcterms:W3CDTF">2026-09-08T02:10:03Z</dcterms:modified>
</cp:coreProperties>
</file>