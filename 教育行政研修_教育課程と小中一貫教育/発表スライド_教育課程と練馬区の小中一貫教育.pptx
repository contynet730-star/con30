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お集まりいただきありがとうございます。教育指導課・指導主事の紺多です。この30分で、『教育課程とその管理』、そして練馬区の『小中一貫教育』の全体像を、指導主事の視点からお話しします。説明25分、質疑5分の予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のねらいと流れです。前半は教育課程とその管理、後半は練馬区の小中一貫教育。各10分、最後に5分質疑。ポイントは、この2つが『9年間の学びの連続性』という一本の軸でつながっている、ということです。ここを意識しながら聞い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それでは第1部、教育課程とその管理です。まず『教育課程とは何か』を確認し、指導主事が行う『管理』の中身、学校訪問での指導・助言のポイントまでを見ていきます。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ず、みなさんに問いかけです。教育課程とは何か。そして、その『管理』とは、誰が、何をすることか。日々教えていても、あらためて言葉にすると難しいところです。5人と少人数ですので、途中で『こうかな』と思ったことがあれば遠慮なくどうぞ。今日はこれを指導主事の視点から整理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育課程は、そもそも誰の仕事か。地方教育行政法21条は、教育委員会の職務権限を19号に定めています。学校の設置管理、人事、教科書…その第五号に『教育課程』があります。この教育課程に関する事務を、学校現場に入って専門的に支えるのが私たち指導主事です。お手元の資料1で、条文全体もご確認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育課程とは何か。出発点は各学校の使命――教育活動を通して教育目標を実現し、子供たちに『生きる力』を身に付けさせることです。教育課程は、その目標を実現するための全体計画、いわば学校全体の設計図です。地域や児童・生徒の実態を踏まえ、目標から逆算して編成する。ここが大事な点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管理』というと堅く聞こえますが、中身はPDCAを回すことです。定義はこの通り――目標実現のために、実態を踏まえ、編成・実施を充実させるよう、組織的・計画的に状況を把握し、評価・改善する。編成＝計画、実施、評価、改善。改善を次の編成へ返し、回し続ける。指導主事は、このサイクルが各学校で有効に機能するよう指導・監督します。詳細は資料2に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では指導主事は具体的に何をするか。学校を組織的に動かすための4つの視点です。1つ目、全教職員の参画。2つ目、編成から改善までを回す校内体制の整備。3つ目、PDCAに即した指導・助言で、先生方の意欲と専門性を高める。4つ目、進行管理。実現状況を見て、必要なら前の段階へ戻して計画を修正する。管理は縛ることではなく、学校が回る仕組みを支える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管理が具体的に表れるのが学校訪問です。4つのポイント。1つ目、ねらいを事前に把握し、実際の授業を『届出教育課程』に照らして評価する。2つ目、良い点は具体的に認め、課題は助言する。3つ目、他校の実践例など具体を提供する。4つ目、良い取組を他校へ広める。指導主事は、評価者であると同時に、学校と学校をつなぐハブでも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までが第1部です。教育課程の管理が最終的に目指すのは、系統性・連続性のある『9年間の学び』です。小学校と中学校は、9年間を通して学びの連続性を確保することが、いま一層求められています。その連続性を、一つの学校の中だけでなく、小・中の枠を越えて区全体で実現しようという取組が、練馬区の小中一貫教育です。ここから第2部に入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第2部、練馬区が取り組む小中一貫教育です。まず、なぜ必要とされるのか、その背景から見ていきます。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なぜ必要か。戦後の6・3制以来、小学校文化・中学校文化と呼ばれる、それぞれの学校文化が育ちました。学級担任制か教科担任制か、具体的な指導か抽象的か。この違いが、児童・生徒観や指導観の差異、そして小・中の先生方の相互理解不足を生みます。すると課題を、小学校だけ・中学校だけで抱え込みがちになる。加えて少子化・核家族化で、手本になる先輩を身近に見る機会も減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差異を具体的に見ると、文部科学省の手引きは6点を挙げています。指導体制、指導方法、家庭学習、評価方法、生活指導の手法、部活動の有無。大事なのは、どちらが良い悪いではないということ。発達段階に応じた独自性は当然です。問題は『差異の大きさ』そのもの。ここへの配慮が要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は他人事ではありません。令和6年度の練馬区の不登校児童生徒数です。小学校では学年とともに緩やかに増え、小6で217人。それが中1で235人、中2で322人、中3で393人と、中学校で大きく跳ね上がります。環境が大きく変わる中1でつまずく、いわゆる中1ギャップ。この段差をどう滑らかにするかが問われ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誤解のないように――発達段階に応じた独自性そのものは当然のものです。問題は、その差異が生徒に精神的・身体的な負担を生じさせてしまうこと。これが中1ギャップです。そして、教員一人一人、学年、学校、それぞれの努力だけでは対応に限界があります。だからこそ、中学校区という単位で、小・中が学習方法の共通理解を図りながら円滑に接続する。ここに小中一貫教育の必然性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練馬区の小中一貫教育の定義です。義務教育の9年間を見通した教育課程のもとで実施する教育活動。大泉桜学園のような施設一体型だけでなく、校舎が離れている学校どうしが連携するかたちも含みます。目指すものは3つ。授業改善による学力・体力の向上。連携指導による豊かな人間性・社会性の育成。そして滑らかな接続による安定した学校生活。第1部の『連続性』が、ここで具体的な目的にな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練馬区の規模を数字で押さえます。人口は約75万人。23区で最も人口の多い区の一つです。区立の小学校が63校、中学校が31校、そして施設一体型の小中一貫教育校が2校。児童・生徒は小学生3万3千余、中学生1万3千余。合わせて約4万7千人の子供たちの学びを、区全体で9年間つないで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では区全体でどう進めるか。仕組みは3層です。まず、中学校を基盤に全小・中学校が連携する33の中学校区グループ。次に、知的障害学級の小中グループが4ブロックあり、特別支援の視点でも9年間をつなぎます。そして各中学校区に小中一貫教育クリエーターを選任。連続性・系統性のある教育課程、児童生徒の交流、教員の交流、学校運営――この4つを担う、推進の核となる存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その象徴が、施設一体型の小中一貫教育校です。左が大泉桜学園。9年間を見通した指導、小学校高学年からの一部教科担任制、合同行事、異学年交流などを行っています。右が、今年度・令和8年4月に開校したばかりの、みらい青空学園。旭丘小・旭丘中が母体です。日常的な児童・生徒交流、通常学級と特別支援学級の交流学習、地域や近隣大学との連携などが特色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年度の重点取組です。これまで各グループは『目指す15歳の姿』に向けて取組プログラムを作り、昨年度はその充実を図ってきました。今年度・令和8年度は、それを『見直す』フェーズです。全国学力調査や新体力テストから、論理的に考え説明する力の課題、体力の横ばい・減少といった実態が見えています。それを踏まえ、各グループが自校の子供の実態に合わせてプログラムを磨き直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プログラムの中身は、こうした多様な取組の組み合わせです。中学校の先生が小学校で教える乗り入れ授業、部活動体験、合同行事、児童会・生徒会の交流、あいさつ運動、合同での校内研究、そして課題改善カリキュラム。派手な一発ではなく、こうした取組を地道に継続することで、小学校から中学校への滑らかな接続を実現し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ます。1つ、教育課程の管理は、PDCAを組織的に回し、9年間の系統性・連続性を確保する、指導主事の中核業務。2つ、練馬区の小中一貫教育は、その連続性を中学校区・区全体で実現する具体の取組。3つ、両者は『目指す15歳の姿』に向けて、教育課程の視点で小・中をつなぐ一本の軸です。詳しくはお手元の2つの資料をご覧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以上で説明を終わります。ご清聴ありがとうございました。ここから5分ほど、質疑応答の時間とします。教育課程の管理のこと、小中一貫の具体のこと、どんなことでも結構です。ご質問をどうぞ。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3291840" cy="3291840"/>
          </a:xfrm>
          <a:prstGeom prst="ellipse">
            <a:avLst/>
          </a:prstGeom>
          <a:solidFill>
            <a:srgbClr val="17402F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754880"/>
            <a:ext cx="2926080" cy="2926080"/>
          </a:xfrm>
          <a:prstGeom prst="ellipse">
            <a:avLst/>
          </a:prstGeom>
          <a:solidFill>
            <a:srgbClr val="17402F"/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5120640"/>
            <a:ext cx="2377440" cy="2377440"/>
          </a:xfrm>
          <a:prstGeom prst="ellipse">
            <a:avLst/>
          </a:prstGeom>
          <a:solidFill>
            <a:srgbClr val="17402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5C9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　教育行政研修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10789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教育課程と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練馬区の小中一貫教育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77240" y="4069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67C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～ 9年間の学びの連続性を、どう支えるか ～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5074920"/>
            <a:ext cx="6035040" cy="1051560"/>
          </a:xfrm>
          <a:prstGeom prst="roundRect">
            <a:avLst>
              <a:gd name="adj" fmla="val 6957"/>
            </a:avLst>
          </a:prstGeom>
          <a:solidFill>
            <a:srgbClr val="1E5945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5138928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6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練馬区教育委員会　教育指導課
</a:t>
            </a:r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指導主事　紺多　章一郎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0" y="5394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C9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令和8年7月28日（火）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本日のねらいと流れ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FBF2DA"/>
          </a:solidFill>
          <a:ln w="12700">
            <a:solidFill>
              <a:srgbClr val="E7CE93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44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ねらい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「教育課程」と「その管理」における指導主事・教育委員会の役割を理解し、その具体である「練馬区の小中一貫教育」の全体像をつかむ。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394960" cy="1508760"/>
          </a:xfrm>
          <a:prstGeom prst="roundRect">
            <a:avLst>
              <a:gd name="adj" fmla="val 4242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788920"/>
            <a:ext cx="402336" cy="402336"/>
          </a:xfrm>
          <a:prstGeom prst="ellipse">
            <a:avLst/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61872" y="276148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教育課程とその管理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3264408"/>
            <a:ext cx="4919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教育課程とは何か／その「管理」で指導主事は何をするのか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63440" y="2697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約10分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45352" y="2606040"/>
            <a:ext cx="5394960" cy="1508760"/>
          </a:xfrm>
          <a:prstGeom prst="roundRect">
            <a:avLst>
              <a:gd name="adj" fmla="val 4242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88920"/>
            <a:ext cx="402336" cy="402336"/>
          </a:xfrm>
          <a:prstGeom prst="ellipse">
            <a:avLst/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58584" y="276148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練馬区が取り組む小中一貫教育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01384" y="3264408"/>
            <a:ext cx="4919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背景・ねらい・練馬区の仕組みと令和8年度の取組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360152" y="2697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約10分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434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59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質疑応答　</a:t>
            </a:r>
            <a:pPr indent="0" marL="0">
              <a:buNone/>
            </a:pPr>
            <a:r>
              <a:rPr lang="en-US" sz="130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約5分（説明のあとに）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1E5945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521208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6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この2つは別々の話ではありません。　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「9年間の学びの連続性」でひとつにつながります。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3291840" cy="3291840"/>
          </a:xfrm>
          <a:prstGeom prst="ellipse">
            <a:avLst/>
          </a:prstGeom>
          <a:solidFill>
            <a:srgbClr val="17402F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754880"/>
            <a:ext cx="2926080" cy="2926080"/>
          </a:xfrm>
          <a:prstGeom prst="ellipse">
            <a:avLst/>
          </a:prstGeom>
          <a:solidFill>
            <a:srgbClr val="17402F"/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5120640"/>
            <a:ext cx="2377440" cy="2377440"/>
          </a:xfrm>
          <a:prstGeom prst="ellipse">
            <a:avLst/>
          </a:prstGeom>
          <a:solidFill>
            <a:srgbClr val="17402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B67C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教育課程とその管理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77240" y="4297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9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～ 指導主事は、教育課程をどう支えるのか ～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52144" y="438912"/>
            <a:ext cx="10488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　</a:t>
            </a:r>
            <a:pPr algn="l" indent="0" marL="0">
              <a:buNone/>
            </a:pPr>
            <a:r>
              <a:rPr lang="en-US" sz="23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 ― 2つの問い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 教育行政研修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828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9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「教育課程」とは、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何でしょうか？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45352" y="155448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FBF2DA"/>
          </a:solidFill>
          <a:ln w="12700">
            <a:solidFill>
              <a:srgbClr val="E7CE93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65392" y="1828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565392" y="2514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その「管理」とは、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誰が・何をすること？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1091672" cy="1371600"/>
          </a:xfrm>
          <a:prstGeom prst="roundRect">
            <a:avLst>
              <a:gd name="adj" fmla="val 4667"/>
            </a:avLst>
          </a:prstGeom>
          <a:solidFill>
            <a:srgbClr val="1E5945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160520"/>
            <a:ext cx="10360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今日は、この2つを「指導主事の視点」から一緒に考えます。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52144" y="438912"/>
            <a:ext cx="10488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　</a:t>
            </a:r>
            <a:pPr algn="l" indent="0" marL="0">
              <a:buNone/>
            </a:pPr>
            <a:r>
              <a:rPr lang="en-US" sz="23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教育委員会の職務権限と指導主事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 教育行政研修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教育に関する事務は、教育委員会が管理・執行します（19の職務権限）。その一つが――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91672" cy="1554480"/>
          </a:xfrm>
          <a:prstGeom prst="roundRect">
            <a:avLst>
              <a:gd name="adj" fmla="val 4118"/>
            </a:avLst>
          </a:prstGeom>
          <a:solidFill>
            <a:srgbClr val="FBF2DA"/>
          </a:solidFill>
          <a:ln w="19050">
            <a:solidFill>
              <a:srgbClr val="E7CE93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240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第五号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学校の組織編制、教育課程、学習指導、生徒指導及び職業指導に関すること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1091672" cy="1508760"/>
          </a:xfrm>
          <a:prstGeom prst="roundRect">
            <a:avLst>
              <a:gd name="adj" fmla="val 4242"/>
            </a:avLst>
          </a:prstGeom>
          <a:solidFill>
            <a:srgbClr val="1E5945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886200"/>
            <a:ext cx="103601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B67C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指導主事とは　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この「教育課程」に関する事務を、学校現場に入って専門的に支える職。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教育委員会の管理を、指導・助言というかたちで学校の教育活動に届ける役割を担います。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5321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資料1／地方教育行政の組織及び運営に関する法律 第21条（教育委員会の職務権限）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52144" y="438912"/>
            <a:ext cx="10488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　</a:t>
            </a:r>
            <a:pPr algn="l" indent="0" marL="0">
              <a:buNone/>
            </a:pPr>
            <a:r>
              <a:rPr lang="en-US" sz="23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教育課程とは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 教育行政研修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463040"/>
            <a:ext cx="10451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59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各学校の使命　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教育活動を通して教育目標を実現し、児童・生徒に「生きる力」を身に付けさせること。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5C9A82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063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学校の教育目標
</a:t>
            </a:r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地域・児童生徒の実態を踏まえて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49040" y="3063240"/>
            <a:ext cx="649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59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398264" y="30632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1E5945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35424" y="3063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教育課程
</a:t>
            </a:r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＝目標実現のための全体計画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98664" y="3063240"/>
            <a:ext cx="649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59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8247888" y="30632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B67C12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85048" y="3063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「生きる力」
</a:t>
            </a:r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の育成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教育課程は、思いつきの寄せ集めではなく、目標から逆算して編成する「学校全体の設計図」です。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52144" y="438912"/>
            <a:ext cx="10488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　</a:t>
            </a:r>
            <a:pPr algn="l" indent="0" marL="0">
              <a:buNone/>
            </a:pPr>
            <a:r>
              <a:rPr lang="en-US" sz="23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教育課程の「管理」とは ― PDCAを回すこと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 教育行政研修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91672" cy="1143000"/>
          </a:xfrm>
          <a:prstGeom prst="roundRect">
            <a:avLst>
              <a:gd name="adj" fmla="val 5600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371600"/>
            <a:ext cx="10451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「学校の教育目標を実現するために、児童・生徒や地域の実態を踏まえ、教育課程の編成・実施を充実したものにするよう、組織的かつ計画的にその状況を把握し、評価・改善すること」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2487168" cy="1234440"/>
          </a:xfrm>
          <a:prstGeom prst="roundRect">
            <a:avLst>
              <a:gd name="adj" fmla="val 5926"/>
            </a:avLst>
          </a:prstGeom>
          <a:solidFill>
            <a:srgbClr val="1E5945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880360"/>
            <a:ext cx="2487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編成
</a:t>
            </a:r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7F1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Plan（計画）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035808" y="2880360"/>
            <a:ext cx="384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59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19856" y="2880360"/>
            <a:ext cx="2487168" cy="1234440"/>
          </a:xfrm>
          <a:prstGeom prst="roundRect">
            <a:avLst>
              <a:gd name="adj" fmla="val 5926"/>
            </a:avLst>
          </a:prstGeom>
          <a:solidFill>
            <a:srgbClr val="2E7059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19856" y="2880360"/>
            <a:ext cx="2487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
</a:t>
            </a:r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7F1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907024" y="2880360"/>
            <a:ext cx="384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59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291072" y="2880360"/>
            <a:ext cx="2487168" cy="1234440"/>
          </a:xfrm>
          <a:prstGeom prst="roundRect">
            <a:avLst>
              <a:gd name="adj" fmla="val 5926"/>
            </a:avLst>
          </a:prstGeom>
          <a:solidFill>
            <a:srgbClr val="5C9A82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91072" y="2880360"/>
            <a:ext cx="2487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
</a:t>
            </a:r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7F1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Check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778240" y="2880360"/>
            <a:ext cx="384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59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162288" y="2880360"/>
            <a:ext cx="2487168" cy="1234440"/>
          </a:xfrm>
          <a:prstGeom prst="roundRect">
            <a:avLst>
              <a:gd name="adj" fmla="val 5926"/>
            </a:avLst>
          </a:prstGeom>
          <a:solidFill>
            <a:srgbClr val="B67C12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62288" y="2880360"/>
            <a:ext cx="2487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
</a:t>
            </a:r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7F1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422452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59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↻　改善を次の「編成」へ返し、サイクルとして回し続ける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FBF2DA"/>
          </a:solidFill>
          <a:ln w="12700">
            <a:solidFill>
              <a:srgbClr val="E7CE93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709160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指導主事の役割　</a:t>
            </a:r>
            <a:pPr indent="0" marL="0">
              <a:buNone/>
            </a:pPr>
            <a:r>
              <a:rPr lang="en-US" sz="14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このPDCAサイクルが各学校で有効に機能するよう、指導・監督する。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596128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資料2／指導主事実務の手引（令和5年3月 東京都教職員研修センター）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52144" y="438912"/>
            <a:ext cx="10488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　</a:t>
            </a:r>
            <a:pPr algn="l" indent="0" marL="0">
              <a:buNone/>
            </a:pPr>
            <a:r>
              <a:rPr lang="en-US" sz="23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指導主事による教育課程の管理 ― 4つの視点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 教育行政研修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645920"/>
            <a:ext cx="402336" cy="402336"/>
          </a:xfrm>
          <a:prstGeom prst="ellipse">
            <a:avLst/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61872" y="161848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全教職員の参画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121408"/>
            <a:ext cx="4919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編成・実施の意義を全教職員が理解し、組織の一員として参加する。それが校長の経営方針・学校の教育目標の実現につながる。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45352" y="146304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1645920"/>
            <a:ext cx="402336" cy="402336"/>
          </a:xfrm>
          <a:prstGeom prst="ellipse">
            <a:avLst/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58584" y="161848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体制の整備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01384" y="2121408"/>
            <a:ext cx="4919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教職員の人的配置に配慮し、校内の「編成・実施・評価・改善」の体制を整える。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749040"/>
            <a:ext cx="402336" cy="402336"/>
          </a:xfrm>
          <a:prstGeom prst="ellipse">
            <a:avLst/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61872" y="37216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PDCAに即した指導・助言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04672" y="4224528"/>
            <a:ext cx="4919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個人として、学年組織として教育課程を管理できるよう助言・調整し、教職員の意欲と専門職としての能力を高める。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45352" y="356616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BF2DA"/>
          </a:solidFill>
          <a:ln w="12700">
            <a:solidFill>
              <a:srgbClr val="E7CE93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28232" y="3749040"/>
            <a:ext cx="402336" cy="402336"/>
          </a:xfrm>
          <a:prstGeom prst="ellipse">
            <a:avLst/>
          </a:prstGeom>
          <a:solidFill>
            <a:srgbClr val="B67C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58584" y="37216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進行管理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01384" y="4224528"/>
            <a:ext cx="4919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教育目標の実現状況を把握し、必要に応じて前の段階へフィードバック・計画修正し、充実した教育活動につなげる。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52144" y="438912"/>
            <a:ext cx="10488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　</a:t>
            </a:r>
            <a:pPr algn="l" indent="0" marL="0">
              <a:buNone/>
            </a:pPr>
            <a:r>
              <a:rPr lang="en-US" sz="23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学校訪問における指導・助言のポイント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 教育行政研修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645920"/>
            <a:ext cx="402336" cy="402336"/>
          </a:xfrm>
          <a:prstGeom prst="ellipse">
            <a:avLst/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61872" y="161848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ねらいの事前把握と評価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121408"/>
            <a:ext cx="4919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行事や参観する授業のねらいを事前に十分把握し、児童・生徒の学習状況や指導内容を「届出教育課程」に照らして評価する。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45352" y="146304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1645920"/>
            <a:ext cx="402336" cy="402336"/>
          </a:xfrm>
          <a:prstGeom prst="ellipse">
            <a:avLst/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58584" y="161848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承認と助言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01384" y="2121408"/>
            <a:ext cx="4919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成果・課題を、児童生徒の学習状況・指導法改善の姿・組織的に取り組む教員の姿から具体的に捉え、認め、助言する。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749040"/>
            <a:ext cx="402336" cy="402336"/>
          </a:xfrm>
          <a:prstGeom prst="ellipse">
            <a:avLst/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61872" y="37216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具体例の提供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04672" y="4224528"/>
            <a:ext cx="4919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各学校が教育活動を一層効果的に進められるよう、具体例や他校の実践例を提供する。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45352" y="356616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BF2DA"/>
          </a:solidFill>
          <a:ln w="12700">
            <a:solidFill>
              <a:srgbClr val="E7CE93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28232" y="3749040"/>
            <a:ext cx="402336" cy="402336"/>
          </a:xfrm>
          <a:prstGeom prst="ellipse">
            <a:avLst/>
          </a:prstGeom>
          <a:solidFill>
            <a:srgbClr val="B67C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58584" y="37216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好事例の普及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01384" y="4224528"/>
            <a:ext cx="4919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各学校が創意工夫した取組のよさや努力を、他校にも広めていく。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52144" y="438912"/>
            <a:ext cx="10488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　</a:t>
            </a:r>
            <a:pPr algn="l" indent="0" marL="0">
              <a:buNone/>
            </a:pPr>
            <a:r>
              <a:rPr lang="en-US" sz="23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第1部から第2部へ ― 管理が目指すもの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 教育行政研修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教育課程の管理が最終的に目指すのは――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94560" y="1965960"/>
            <a:ext cx="7772400" cy="1097280"/>
          </a:xfrm>
          <a:prstGeom prst="roundRect">
            <a:avLst>
              <a:gd name="adj" fmla="val 8333"/>
            </a:avLst>
          </a:prstGeom>
          <a:solidFill>
            <a:srgbClr val="FBF2DA"/>
          </a:solidFill>
          <a:ln w="19050">
            <a:solidFill>
              <a:srgbClr val="E7CE93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94560" y="19659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系統性・連続性のある「9年間の学び」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175504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9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小学校と中学校は、9年間を通して学びの連続性を確保することが一層求められている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0" y="4389120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1E5945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28800" y="4389120"/>
            <a:ext cx="8503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6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その連続性を、小・中の枠を越えて区全体で実現する取組が
</a:t>
            </a:r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　練馬区の小中一貫教育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3291840" cy="3291840"/>
          </a:xfrm>
          <a:prstGeom prst="ellipse">
            <a:avLst/>
          </a:prstGeom>
          <a:solidFill>
            <a:srgbClr val="17402F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754880"/>
            <a:ext cx="2926080" cy="2926080"/>
          </a:xfrm>
          <a:prstGeom prst="ellipse">
            <a:avLst/>
          </a:prstGeom>
          <a:solidFill>
            <a:srgbClr val="17402F"/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5120640"/>
            <a:ext cx="2377440" cy="2377440"/>
          </a:xfrm>
          <a:prstGeom prst="ellipse">
            <a:avLst/>
          </a:prstGeom>
          <a:solidFill>
            <a:srgbClr val="17402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B67C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練馬区が取り組む小中一貫教育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77240" y="4297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9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～ 9年間の連続性を、区全体でどう実現するか ～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52144" y="438912"/>
            <a:ext cx="10488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　</a:t>
            </a:r>
            <a:pPr algn="l" indent="0" marL="0">
              <a:buNone/>
            </a:pPr>
            <a:r>
              <a:rPr lang="en-US" sz="23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なぜ小中一貫教育が求められるのか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 教育行政研修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戦後の「6・3制」以来、小学校と中学校にそれぞれの学校文化が育ってきた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4480560" cy="1828800"/>
          </a:xfrm>
          <a:prstGeom prst="roundRect">
            <a:avLst>
              <a:gd name="adj" fmla="val 4000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01168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59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小学校文化
</a:t>
            </a:r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学級担任制／具体的な指導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生活を丸ごと見る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1399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67C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？？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28232" y="2011680"/>
            <a:ext cx="4480560" cy="1828800"/>
          </a:xfrm>
          <a:prstGeom prst="roundRect">
            <a:avLst>
              <a:gd name="adj" fmla="val 4000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201168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59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中学校文化
</a:t>
            </a:r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教科担任制／抽象的な指導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定期試験・部活動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1091672" cy="1417320"/>
          </a:xfrm>
          <a:prstGeom prst="roundRect">
            <a:avLst>
              <a:gd name="adj" fmla="val 4516"/>
            </a:avLst>
          </a:prstGeom>
          <a:solidFill>
            <a:srgbClr val="FBF2DA"/>
          </a:solidFill>
          <a:ln w="12700">
            <a:solidFill>
              <a:srgbClr val="E7CE93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114800"/>
            <a:ext cx="10451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文化の違い　→　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児童・生徒観や指導観の差異、小・中教員間の相互理解不足を生む。課題を「小学校は小学校だけ、中学校は中学校だけ」で抱えがちに。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少子化・核家族化　→　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手本にしたい先輩を身近に見る機会も少なくなっている。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52144" y="438912"/>
            <a:ext cx="10488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　</a:t>
            </a:r>
            <a:pPr algn="l" indent="0" marL="0">
              <a:buNone/>
            </a:pPr>
            <a:r>
              <a:rPr lang="en-US" sz="23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小・中学校段階の主な差異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 教育行政研修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11296" cy="1691640"/>
          </a:xfrm>
          <a:prstGeom prst="roundRect">
            <a:avLst>
              <a:gd name="adj" fmla="val 4324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7190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9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指導体制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学級担任制 ↔ 教科担任制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4256" y="1554480"/>
            <a:ext cx="3511296" cy="1691640"/>
          </a:xfrm>
          <a:prstGeom prst="roundRect">
            <a:avLst>
              <a:gd name="adj" fmla="val 4324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17136" y="17190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9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202936" y="1737360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指導方法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62856" y="242316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具体的 ↔ 抽象的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19872" y="1554480"/>
            <a:ext cx="3511296" cy="1691640"/>
          </a:xfrm>
          <a:prstGeom prst="roundRect">
            <a:avLst>
              <a:gd name="adj" fmla="val 4324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02752" y="17190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9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988552" y="1737360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家庭学習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348472" y="242316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進め方・分量の考え方の違い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502152"/>
            <a:ext cx="3511296" cy="1691640"/>
          </a:xfrm>
          <a:prstGeom prst="roundRect">
            <a:avLst>
              <a:gd name="adj" fmla="val 4324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6667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9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17320" y="368503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評価方法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77240" y="437083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定期試験の有無 など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34256" y="3502152"/>
            <a:ext cx="3511296" cy="1691640"/>
          </a:xfrm>
          <a:prstGeom prst="roundRect">
            <a:avLst>
              <a:gd name="adj" fmla="val 4324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17136" y="36667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9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202936" y="368503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生活指導の手法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562856" y="437083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きめ細かさ・任せ方の違い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19872" y="3502152"/>
            <a:ext cx="3511296" cy="1691640"/>
          </a:xfrm>
          <a:prstGeom prst="roundRect">
            <a:avLst>
              <a:gd name="adj" fmla="val 4324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02752" y="36667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9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988552" y="368503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部活動の有無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348472" y="437083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放課後の過ごし方の違い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どちらが良い・悪いではなく、「差異の大きさ」への配慮が必要　（文部科学省「小中一貫した教育課程の編成・実施に関する手引き」H28 より）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52144" y="438912"/>
            <a:ext cx="10488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　</a:t>
            </a:r>
            <a:pPr algn="l" indent="0" marL="0">
              <a:buNone/>
            </a:pPr>
            <a:r>
              <a:rPr lang="en-US" sz="23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練馬区でも ― 令和6年度 不登校児童生徒数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 教育行政研修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1000" dirty="0"/>
          </a:p>
        </p:txBody>
      </p:sp>
      <p:pic>
        <p:nvPicPr>
          <p:cNvPr id="6" name="Image 0" descr="/tmp/claude-0/-home-user-con30/a92b27b3-347f-52df-91f3-e037baca2f1d/scratchpad/build/../assets/futoko_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595360" cy="2487083"/>
          </a:xfrm>
          <a:prstGeom prst="rect">
            <a:avLst/>
          </a:prstGeom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9372600" y="1417320"/>
            <a:ext cx="2267712" cy="3840480"/>
          </a:xfrm>
          <a:prstGeom prst="roundRect">
            <a:avLst>
              <a:gd name="adj" fmla="val 3226"/>
            </a:avLst>
          </a:prstGeom>
          <a:solidFill>
            <a:srgbClr val="FBF2DA"/>
          </a:solidFill>
          <a:ln w="12700">
            <a:solidFill>
              <a:srgbClr val="E7CE93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372600" y="1554480"/>
            <a:ext cx="226771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小6
</a:t>
            </a:r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E59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217人
</a:t>
            </a:r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B67C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
</a:t>
            </a:r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中1
</a:t>
            </a:r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235人
</a:t>
            </a:r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中2 322 → 中3 393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16052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中学校進学後に大きく増加し、学年が上がるほど積み上がる。いわゆる「中1ギャップ」。環境の大きな変化への配慮が必要です。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52144" y="438912"/>
            <a:ext cx="10488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　</a:t>
            </a:r>
            <a:pPr algn="l" indent="0" marL="0">
              <a:buNone/>
            </a:pPr>
            <a:r>
              <a:rPr lang="en-US" sz="23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個々の努力には限界 ― 中学校区単位へ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 教育行政研修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417320"/>
            <a:ext cx="10451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発達段階に応じた独自性は当然。しかし、その差異が生徒に精神的・身体的な負担を生じさせることがある（＝中1ギャップ問題）。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5C9A82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834640"/>
            <a:ext cx="23042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教員一人一人の努力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035808" y="283464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59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19856" y="283464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5C9A82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11296" y="2834640"/>
            <a:ext cx="23042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学年単位の努力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907024" y="283464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59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91072" y="283464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5C9A82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82512" y="2834640"/>
            <a:ext cx="23042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学校単位の努力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778240" y="283464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59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162288" y="283464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1E5945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53728" y="2834640"/>
            <a:ext cx="23042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中学校区単位の取組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個々の対応には限界がある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11091672" cy="777240"/>
          </a:xfrm>
          <a:prstGeom prst="roundRect">
            <a:avLst>
              <a:gd name="adj" fmla="val 8235"/>
            </a:avLst>
          </a:prstGeom>
          <a:solidFill>
            <a:srgbClr val="FBF2DA"/>
          </a:solidFill>
          <a:ln w="12700">
            <a:solidFill>
              <a:srgbClr val="E7CE93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80060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だからこそ ― 差異の大きさに配慮し、小・中で学習方法の共通理解を図りながら、円滑に接続する取組が必要。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52144" y="438912"/>
            <a:ext cx="10488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　</a:t>
            </a:r>
            <a:pPr algn="l" indent="0" marL="0">
              <a:buNone/>
            </a:pPr>
            <a:r>
              <a:rPr lang="en-US" sz="23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練馬区の小中一貫教育 ― 定義と3つの目的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 教育行政研修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1E5945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417320"/>
            <a:ext cx="10451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67C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定義　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義務教育の9年間を見通した教育課程のもとで実施する教育活動（施設一体型／学校施設が離れた連携型を含む）。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目指すもの（3点）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3511296" cy="2331720"/>
          </a:xfrm>
          <a:prstGeom prst="roundRect">
            <a:avLst>
              <a:gd name="adj" fmla="val 3137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84248" y="3337560"/>
            <a:ext cx="640080" cy="640080"/>
          </a:xfrm>
          <a:prstGeom prst="ellipse">
            <a:avLst/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授業改善による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43484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学力・体力の向上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334256" y="3063240"/>
            <a:ext cx="3511296" cy="2331720"/>
          </a:xfrm>
          <a:prstGeom prst="roundRect">
            <a:avLst>
              <a:gd name="adj" fmla="val 3137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9864" y="3337560"/>
            <a:ext cx="640080" cy="640080"/>
          </a:xfrm>
          <a:prstGeom prst="ellipse">
            <a:avLst/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17136" y="411480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連携指導による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17136" y="443484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豊かな人間性・社会性の育成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119872" y="3063240"/>
            <a:ext cx="3511296" cy="2331720"/>
          </a:xfrm>
          <a:prstGeom prst="roundRect">
            <a:avLst>
              <a:gd name="adj" fmla="val 3137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55480" y="3337560"/>
            <a:ext cx="640080" cy="640080"/>
          </a:xfrm>
          <a:prstGeom prst="ellipse">
            <a:avLst/>
          </a:prstGeom>
          <a:solidFill>
            <a:srgbClr val="B67C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02752" y="411480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滑らかな接続による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02752" y="443484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安定した学校生活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52144" y="438912"/>
            <a:ext cx="10488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　</a:t>
            </a:r>
            <a:pPr algn="l" indent="0" marL="0">
              <a:buNone/>
            </a:pPr>
            <a:r>
              <a:rPr lang="en-US" sz="23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練馬区の規模 ― 数字で見る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 教育行政研修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1E5945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6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区の人口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751,465</a:t>
            </a:r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人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68680" y="2999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6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令和8年4月1日現在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82512" y="155448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56832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区立学校数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56832" y="21031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小学校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E59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校　　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中学校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E59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校
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小中一貫教育校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9A6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校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11091672" cy="1783080"/>
          </a:xfrm>
          <a:prstGeom prst="roundRect">
            <a:avLst>
              <a:gd name="adj" fmla="val 4103"/>
            </a:avLst>
          </a:prstGeom>
          <a:solidFill>
            <a:srgbClr val="FBF2DA"/>
          </a:solidFill>
          <a:ln w="12700">
            <a:solidFill>
              <a:srgbClr val="E7CE93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児童・生徒数（令和7年5月1日現在）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160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小学生 </a:t>
            </a:r>
            <a:pPr algn="l" indent="0" marL="0">
              <a:buNone/>
            </a:pPr>
            <a:r>
              <a:rPr lang="en-US" sz="3400" b="1" dirty="0">
                <a:solidFill>
                  <a:srgbClr val="1E59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33,426</a:t>
            </a:r>
            <a:pPr algn="l" indent="0" marL="0">
              <a:buNone/>
            </a:pPr>
            <a:r>
              <a:rPr lang="en-US" sz="160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4160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中学生 </a:t>
            </a:r>
            <a:pPr algn="l" indent="0" marL="0">
              <a:buNone/>
            </a:pPr>
            <a:r>
              <a:rPr lang="en-US" sz="3400" b="1" dirty="0">
                <a:solidFill>
                  <a:srgbClr val="1E59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13,226</a:t>
            </a:r>
            <a:pPr algn="l" indent="0" marL="0">
              <a:buNone/>
            </a:pPr>
            <a:r>
              <a:rPr lang="en-US" sz="160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小・中学生を合わせて約4万7千人の学びを、区全体で9年間つないでいます。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52144" y="438912"/>
            <a:ext cx="10488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　</a:t>
            </a:r>
            <a:pPr algn="l" indent="0" marL="0">
              <a:buNone/>
            </a:pPr>
            <a:r>
              <a:rPr lang="en-US" sz="23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推進の仕組み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 教育行政研修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1E5945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00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の中学校区グループ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中学校を基盤に、区内の全小・中学校が連携。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46304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9672" y="16276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知的障害学級 小中グループ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9672" y="2103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4ブロックで情報交換・研究協議を行い、特別支援の視点でも9年間をつなぐ。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91672" cy="2331720"/>
          </a:xfrm>
          <a:prstGeom prst="roundRect">
            <a:avLst>
              <a:gd name="adj" fmla="val 3137"/>
            </a:avLst>
          </a:prstGeom>
          <a:solidFill>
            <a:srgbClr val="FBF2DA"/>
          </a:solidFill>
          <a:ln w="12700">
            <a:solidFill>
              <a:srgbClr val="E7CE93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4015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小中一貫教育クリエーターの選任　</a:t>
            </a:r>
            <a:pPr indent="0" marL="0">
              <a:buNone/>
            </a:pPr>
            <a:r>
              <a:rPr lang="en-US" sz="13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中学校区における連絡・調整を担う「推進の核」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023360"/>
            <a:ext cx="2542032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7CE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160520"/>
            <a:ext cx="365760" cy="365760"/>
          </a:xfrm>
          <a:prstGeom prst="ellipse">
            <a:avLst/>
          </a:prstGeom>
          <a:solidFill>
            <a:srgbClr val="B67C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57200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連続性・系統性のある教育課程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502152" y="4023360"/>
            <a:ext cx="2542032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7CE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66744" y="4160520"/>
            <a:ext cx="365760" cy="365760"/>
          </a:xfrm>
          <a:prstGeom prst="ellipse">
            <a:avLst/>
          </a:prstGeom>
          <a:solidFill>
            <a:srgbClr val="B67C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39312" y="457200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児童・生徒の計画的・継続的な交流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81344" y="4023360"/>
            <a:ext cx="2542032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7CE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4160520"/>
            <a:ext cx="365760" cy="365760"/>
          </a:xfrm>
          <a:prstGeom prst="ellipse">
            <a:avLst/>
          </a:prstGeom>
          <a:solidFill>
            <a:srgbClr val="B67C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18504" y="457200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教員の計画的・継続的な交流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60536" y="4023360"/>
            <a:ext cx="2542032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7CE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25128" y="4160520"/>
            <a:ext cx="365760" cy="365760"/>
          </a:xfrm>
          <a:prstGeom prst="ellipse">
            <a:avLst/>
          </a:prstGeom>
          <a:solidFill>
            <a:srgbClr val="B67C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97696" y="457200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小中一貫教育を進める学校運営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52144" y="438912"/>
            <a:ext cx="10488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　</a:t>
            </a:r>
            <a:pPr algn="l" indent="0" marL="0">
              <a:buNone/>
            </a:pPr>
            <a:r>
              <a:rPr lang="en-US" sz="23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施設一体型 小中一貫教育校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 教育行政研修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1000" dirty="0"/>
          </a:p>
        </p:txBody>
      </p:sp>
      <p:pic>
        <p:nvPicPr>
          <p:cNvPr id="6" name="Image 0" descr="/tmp/claude-0/-home-user-con30/a92b27b3-347f-52df-91f3-e037baca2f1d/scratchpad/build/../assets/oizumisaku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5394960" cy="2148840"/>
          </a:xfrm>
          <a:prstGeom prst="rect">
            <a:avLst/>
          </a:prstGeom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pic>
      <p:pic>
        <p:nvPicPr>
          <p:cNvPr id="7" name="Image 1" descr="/tmp/claude-0/-home-user-con30/a92b27b3-347f-52df-91f3-e037baca2f1d/scratchpad/build/../assets/miraiaozor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45352" y="1463040"/>
            <a:ext cx="5394960" cy="2148840"/>
          </a:xfrm>
          <a:prstGeom prst="rect">
            <a:avLst/>
          </a:prstGeom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548640" y="370332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22960" y="38221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9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大泉桜学園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22960" y="4224528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9年間を見通した学習・生活指導／小学校高学年からの一部教科担任制／合同学校行事／キャリア教育での異学年交流 など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45352" y="370332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FBF2DA"/>
          </a:solidFill>
          <a:ln w="12700">
            <a:solidFill>
              <a:srgbClr val="E7CE93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519672" y="38221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みらい青空学園　</a:t>
            </a:r>
            <a:pPr indent="0" marL="0">
              <a:buNone/>
            </a:pPr>
            <a:r>
              <a:rPr lang="en-US" sz="115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（旭丘小・旭丘中／令和8年4月開校）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9672" y="4224528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施設一体型の強みを生かした日常的な児童・生徒交流／通常の学級と特別支援学級の交流学習／地域・近隣大学等との連携／9年間の段階的な学習指導と体育・健康教育 など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52144" y="438912"/>
            <a:ext cx="10488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　</a:t>
            </a:r>
            <a:pPr algn="l" indent="0" marL="0">
              <a:buNone/>
            </a:pPr>
            <a:r>
              <a:rPr lang="en-US" sz="23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令和8年度の重点取組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 教育行政研修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5448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令和7年度
</a:t>
            </a:r>
            <a:pPr algn="ctr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取組プログラムの
</a:t>
            </a:r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E59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充実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23560" y="1554480"/>
            <a:ext cx="914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67C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565392" y="155448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1E5945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65392" y="155448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67C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
</a:t>
            </a:r>
            <a:pPr algn="ctr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FE6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取組プログラムの
</a:t>
            </a:r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11091672" cy="1143000"/>
          </a:xfrm>
          <a:prstGeom prst="roundRect">
            <a:avLst>
              <a:gd name="adj" fmla="val 5600"/>
            </a:avLst>
          </a:prstGeom>
          <a:solidFill>
            <a:srgbClr val="FBF2DA"/>
          </a:solidFill>
          <a:ln w="12700">
            <a:solidFill>
              <a:srgbClr val="E7CE93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200400"/>
            <a:ext cx="10451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重点　</a:t>
            </a:r>
            <a:pPr indent="0" marL="0">
              <a:buNone/>
            </a:pPr>
            <a:r>
              <a:rPr lang="en-US" sz="16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「目指す15歳の姿」の実現に向けた「小中一貫教育の取組プログラム」の見直し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52628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全国学力・学習状況調査や新体力テスト等から見えた児童生徒の実態（論理的に考え説明する力の課題、体力の横ばい・減少傾向）を踏まえ、各グループが自校の実態に応じてプログラムを見直します。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52144" y="438912"/>
            <a:ext cx="10488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　</a:t>
            </a:r>
            <a:pPr algn="l" indent="0" marL="0">
              <a:buNone/>
            </a:pPr>
            <a:r>
              <a:rPr lang="en-US" sz="23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多様な取組で「滑らかな接続」へ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0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 教育行政研修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025396"/>
            <a:ext cx="201168" cy="201168"/>
          </a:xfrm>
          <a:prstGeom prst="ellipse">
            <a:avLst/>
          </a:prstGeom>
          <a:solidFill>
            <a:srgbClr val="1E5945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6002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乗り入れ授業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74136" y="160020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0168" y="2025396"/>
            <a:ext cx="201168" cy="201168"/>
          </a:xfrm>
          <a:prstGeom prst="ellipse">
            <a:avLst/>
          </a:prstGeom>
          <a:solidFill>
            <a:srgbClr val="5C9A82"/>
          </a:solidFill>
          <a:ln/>
        </p:spPr>
      </p:sp>
      <p:sp>
        <p:nvSpPr>
          <p:cNvPr id="11" name="Text 9"/>
          <p:cNvSpPr/>
          <p:nvPr/>
        </p:nvSpPr>
        <p:spPr>
          <a:xfrm>
            <a:off x="3922776" y="16002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部活動体験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99632" y="160020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55664" y="2025396"/>
            <a:ext cx="201168" cy="201168"/>
          </a:xfrm>
          <a:prstGeom prst="ellipse">
            <a:avLst/>
          </a:prstGeom>
          <a:solidFill>
            <a:srgbClr val="2E7059"/>
          </a:solidFill>
          <a:ln/>
        </p:spPr>
      </p:sp>
      <p:sp>
        <p:nvSpPr>
          <p:cNvPr id="14" name="Text 12"/>
          <p:cNvSpPr/>
          <p:nvPr/>
        </p:nvSpPr>
        <p:spPr>
          <a:xfrm>
            <a:off x="6748272" y="16002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合同行事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025128" y="160020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281160" y="2025396"/>
            <a:ext cx="201168" cy="201168"/>
          </a:xfrm>
          <a:prstGeom prst="ellipse">
            <a:avLst/>
          </a:prstGeom>
          <a:solidFill>
            <a:srgbClr val="B67C12"/>
          </a:solidFill>
          <a:ln/>
        </p:spPr>
      </p:sp>
      <p:sp>
        <p:nvSpPr>
          <p:cNvPr id="17" name="Text 15"/>
          <p:cNvSpPr/>
          <p:nvPr/>
        </p:nvSpPr>
        <p:spPr>
          <a:xfrm>
            <a:off x="9573768" y="16002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児童会・生徒会交流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2907792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3332988"/>
            <a:ext cx="201168" cy="201168"/>
          </a:xfrm>
          <a:prstGeom prst="ellipse">
            <a:avLst/>
          </a:prstGeom>
          <a:solidFill>
            <a:srgbClr val="1E5945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2907792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あいさつ運動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374136" y="2907792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30168" y="3332988"/>
            <a:ext cx="201168" cy="201168"/>
          </a:xfrm>
          <a:prstGeom prst="ellipse">
            <a:avLst/>
          </a:prstGeom>
          <a:solidFill>
            <a:srgbClr val="5C9A82"/>
          </a:solidFill>
          <a:ln/>
        </p:spPr>
      </p:sp>
      <p:sp>
        <p:nvSpPr>
          <p:cNvPr id="23" name="Text 21"/>
          <p:cNvSpPr/>
          <p:nvPr/>
        </p:nvSpPr>
        <p:spPr>
          <a:xfrm>
            <a:off x="3922776" y="2907792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合同校内研究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99632" y="2907792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55664" y="3332988"/>
            <a:ext cx="201168" cy="201168"/>
          </a:xfrm>
          <a:prstGeom prst="ellipse">
            <a:avLst/>
          </a:prstGeom>
          <a:solidFill>
            <a:srgbClr val="2E7059"/>
          </a:solidFill>
          <a:ln/>
        </p:spPr>
      </p:sp>
      <p:sp>
        <p:nvSpPr>
          <p:cNvPr id="26" name="Text 24"/>
          <p:cNvSpPr/>
          <p:nvPr/>
        </p:nvSpPr>
        <p:spPr>
          <a:xfrm>
            <a:off x="6748272" y="2907792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課題改善カリキュラム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025128" y="2907792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281160" y="3332988"/>
            <a:ext cx="201168" cy="201168"/>
          </a:xfrm>
          <a:prstGeom prst="ellipse">
            <a:avLst/>
          </a:prstGeom>
          <a:solidFill>
            <a:srgbClr val="B67C12"/>
          </a:solidFill>
          <a:ln/>
        </p:spPr>
      </p:sp>
      <p:sp>
        <p:nvSpPr>
          <p:cNvPr id="29" name="Text 27"/>
          <p:cNvSpPr/>
          <p:nvPr/>
        </p:nvSpPr>
        <p:spPr>
          <a:xfrm>
            <a:off x="9573768" y="2907792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小学校での一部教科担任制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48640" y="448056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E5945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14400" y="4480560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多様な取組を継続することにより、小学校から中学校への「滑らかな接続」の実現を目指す。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4672" y="1536192"/>
            <a:ext cx="548640" cy="548640"/>
          </a:xfrm>
          <a:prstGeom prst="ellipse">
            <a:avLst/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1280160"/>
            <a:ext cx="9811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59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教育課程の管理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PDCAを組織的に回し、9年間の系統性・連続性を確保する ― 指導主事の中核業務。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EEF4F0"/>
          </a:solidFill>
          <a:ln w="12700">
            <a:solidFill>
              <a:srgbClr val="CFE0D7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743200"/>
            <a:ext cx="548640" cy="548640"/>
          </a:xfrm>
          <a:prstGeom prst="ellipse">
            <a:avLst/>
          </a:prstGeom>
          <a:solidFill>
            <a:srgbClr val="1E59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487168"/>
            <a:ext cx="9811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59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練馬区の小中一貫教育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その連続性を、中学校区・区全体で実現する具体の取組。定義・3つの目的・仕組み。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BF2DA"/>
          </a:solidFill>
          <a:ln w="12700">
            <a:solidFill>
              <a:srgbClr val="E7CE93"/>
            </a:solidFill>
            <a:prstDash val="solid"/>
          </a:ln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" y="3950208"/>
            <a:ext cx="548640" cy="548640"/>
          </a:xfrm>
          <a:prstGeom prst="ellipse">
            <a:avLst/>
          </a:prstGeom>
          <a:solidFill>
            <a:srgbClr val="B67C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3694176"/>
            <a:ext cx="9811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9A6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つながる一本の軸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2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「目指す15歳の姿」に向け、教育課程の視点で小学校と中学校をつなぐ。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1E5945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93776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67C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配布資料　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①教育行政研修資料（教育課程の管理）　②令和8年度 小中一貫教育の取組について　― 詳細はお手元の資料をご参照ください。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3291840" cy="3291840"/>
          </a:xfrm>
          <a:prstGeom prst="ellipse">
            <a:avLst/>
          </a:prstGeom>
          <a:solidFill>
            <a:srgbClr val="17402F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754880"/>
            <a:ext cx="2926080" cy="2926080"/>
          </a:xfrm>
          <a:prstGeom prst="ellipse">
            <a:avLst/>
          </a:prstGeom>
          <a:solidFill>
            <a:srgbClr val="17402F"/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5120640"/>
            <a:ext cx="2377440" cy="2377440"/>
          </a:xfrm>
          <a:prstGeom prst="ellipse">
            <a:avLst/>
          </a:prstGeom>
          <a:solidFill>
            <a:srgbClr val="17402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ご清聴ありがとうございました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261104" y="374904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1E5945"/>
          </a:solidFill>
          <a:ln/>
          <a:effectLst>
            <a:outerShdw sx="100000" sy="100000" kx="0" ky="0" algn="bl" rotWithShape="0" blurRad="63500" dist="25400" dir="5400000">
              <a:srgbClr val="9CB3A8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61104" y="3749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質疑応答（約5分）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9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練馬区教育委員会 教育指導課　指導主事　紺多 章一郎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2026-07-27T13:39:33Z</dcterms:created>
  <dcterms:modified xsi:type="dcterms:W3CDTF">2026-07-27T13:39:33Z</dcterms:modified>
</cp:coreProperties>
</file>