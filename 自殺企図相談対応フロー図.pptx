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44000"/>
            <a:ext cx="6840000" cy="360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eiryo UI"/>
                <a:ea typeface="Meiryo UI"/>
              </a:rPr>
              <a:t>児童生徒の自殺企図に関する相談対応フロー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6840000" cy="216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1F2937"/>
                </a:solidFill>
                <a:latin typeface="Meiryo UI"/>
                <a:ea typeface="Meiryo UI"/>
              </a:rPr>
              <a:t>〜こたエール（東京都）にメールで相談が入った場合〜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37999"/>
            <a:ext cx="6840000" cy="34200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</a:rPr>
              <a:t>フェーズ1　覚知 〜 児童生徒の特定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03999" y="792000"/>
            <a:ext cx="1224000" cy="23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F5496"/>
                </a:solidFill>
                <a:latin typeface="Meiryo UI"/>
                <a:ea typeface="Meiryo UI"/>
              </a:rPr>
              <a:t>覚知後 直ちに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0404000"/>
            <a:ext cx="6840000" cy="216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850" b="0">
                <a:solidFill>
                  <a:srgbClr val="8A939E"/>
                </a:solidFill>
                <a:latin typeface="Meiryo UI"/>
                <a:ea typeface="Meiryo UI"/>
              </a:rPr>
              <a:t>練馬区教育委員会 教育指導課　　1 /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170000"/>
            <a:ext cx="6840000" cy="378000"/>
          </a:xfrm>
          <a:prstGeom prst="roundRect">
            <a:avLst>
              <a:gd name="adj" fmla="val 12000"/>
            </a:avLst>
          </a:prstGeom>
          <a:solidFill>
            <a:srgbClr val="EAF0F8"/>
          </a:solidFill>
          <a:ln w="15875">
            <a:solidFill>
              <a:srgbClr val="2F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2F5496"/>
                </a:solidFill>
                <a:latin typeface="Meiryo UI"/>
                <a:ea typeface="Meiryo UI"/>
              </a:rPr>
              <a:t>対応の3原則　① 最優先で即時対応　② 一人で抱え込まず組織で対応　③ 時系列で記録（日時・相手・内容）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638000"/>
            <a:ext cx="6840000" cy="413999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 w="19050">
            <a:solidFill>
              <a:srgbClr val="B0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B02121"/>
                </a:solidFill>
                <a:latin typeface="Meiryo UI"/>
                <a:ea typeface="Meiryo UI"/>
              </a:rPr>
              <a:t>⚠ 相談内容から切迫した危険（今まさに実行するおそれ・具体的な方法や日時の記載）が読み取れる場合は、</a:t>
            </a:r>
            <a:br/>
            <a:r>
              <a:rPr sz="1000" b="1">
                <a:solidFill>
                  <a:srgbClr val="B02121"/>
                </a:solidFill>
                <a:latin typeface="Meiryo UI"/>
                <a:ea typeface="Meiryo UI"/>
              </a:rPr>
              <a:t>以下のフローと並行して、直ちに警察（110番）へ通報する。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2196000"/>
            <a:ext cx="4104000" cy="792000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 w="1905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B9770E"/>
                </a:solidFill>
                <a:latin typeface="Meiryo UI"/>
                <a:ea typeface="Meiryo UI"/>
              </a:rPr>
              <a:t>【児童生徒（区立小中学校）】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F2937"/>
                </a:solidFill>
                <a:latin typeface="Meiryo UI"/>
                <a:ea typeface="Meiryo UI"/>
              </a:rPr>
              <a:t>こたエール（東京都）に自殺企図に関する相談メールを送信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1F2937"/>
                </a:solidFill>
                <a:latin typeface="Meiryo UI"/>
                <a:ea typeface="Meiryo UI"/>
              </a:rPr>
              <a:t>区が貸与している学習用アカウント（メールアドレス）から送信される。</a:t>
            </a:r>
          </a:p>
        </p:txBody>
      </p:sp>
      <p:sp>
        <p:nvSpPr>
          <p:cNvPr id="10" name="Oval 9"/>
          <p:cNvSpPr/>
          <p:nvPr/>
        </p:nvSpPr>
        <p:spPr>
          <a:xfrm>
            <a:off x="32399" y="2451600"/>
            <a:ext cx="280800" cy="280800"/>
          </a:xfrm>
          <a:prstGeom prst="ellipse">
            <a:avLst/>
          </a:prstGeom>
          <a:solidFill>
            <a:srgbClr val="2F549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eiryo UI"/>
                <a:ea typeface="Meiryo U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44000" y="2196000"/>
            <a:ext cx="2556000" cy="792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8A9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1F2937"/>
                </a:solidFill>
                <a:latin typeface="Meiryo UI"/>
                <a:ea typeface="Meiryo UI"/>
              </a:rPr>
              <a:t>こたエール＝東京都のネット・スマホ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1F2937"/>
                </a:solidFill>
                <a:latin typeface="Meiryo UI"/>
                <a:ea typeface="Meiryo UI"/>
              </a:rPr>
              <a:t>トラブル相談窓口。都内在住・在学・在勤の子供等が電話・メール・LINEで相談できる。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64000" y="2591999"/>
            <a:ext cx="180000" cy="0"/>
          </a:xfrm>
          <a:prstGeom prst="line">
            <a:avLst/>
          </a:prstGeom>
          <a:ln w="12700">
            <a:solidFill>
              <a:srgbClr val="8A939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12000" y="2988000"/>
            <a:ext cx="0" cy="162000"/>
          </a:xfrm>
          <a:prstGeom prst="line">
            <a:avLst/>
          </a:prstGeom>
          <a:ln w="25400">
            <a:solidFill>
              <a:srgbClr val="3747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0000" y="3150000"/>
            <a:ext cx="4104000" cy="972000"/>
          </a:xfrm>
          <a:prstGeom prst="roundRect">
            <a:avLst>
              <a:gd name="adj" fmla="val 8000"/>
            </a:avLst>
          </a:prstGeom>
          <a:solidFill>
            <a:srgbClr val="D6EAF8"/>
          </a:solidFill>
          <a:ln w="19050">
            <a:solidFill>
              <a:srgbClr val="216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21618C"/>
                </a:solidFill>
                <a:latin typeface="Meiryo UI"/>
                <a:ea typeface="Meiryo UI"/>
              </a:rPr>
              <a:t>【こたエール職員】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F2937"/>
                </a:solidFill>
                <a:latin typeface="Meiryo UI"/>
                <a:ea typeface="Meiryo UI"/>
              </a:rPr>
              <a:t>教育指導課の指導主事へ電話で情報提供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1F2937"/>
                </a:solidFill>
                <a:latin typeface="Meiryo UI"/>
                <a:ea typeface="Meiryo UI"/>
              </a:rPr>
              <a:t>※区貸与アカウントは外部からのメール受信が制限されており、こたエールから本人に返信できないため、教育委員会へ連絡が入る。</a:t>
            </a:r>
          </a:p>
        </p:txBody>
      </p:sp>
      <p:sp>
        <p:nvSpPr>
          <p:cNvPr id="15" name="Oval 14"/>
          <p:cNvSpPr/>
          <p:nvPr/>
        </p:nvSpPr>
        <p:spPr>
          <a:xfrm>
            <a:off x="32399" y="3495599"/>
            <a:ext cx="280800" cy="280800"/>
          </a:xfrm>
          <a:prstGeom prst="ellipse">
            <a:avLst/>
          </a:prstGeom>
          <a:solidFill>
            <a:srgbClr val="2F549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eiryo UI"/>
                <a:ea typeface="Meiryo UI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44000" y="3150000"/>
            <a:ext cx="2556000" cy="1116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8A9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2F5496"/>
                </a:solidFill>
                <a:latin typeface="Meiryo UI"/>
                <a:ea typeface="Meiryo UI"/>
              </a:rPr>
              <a:t>指導主事が聞き取ること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1F2937"/>
                </a:solidFill>
                <a:latin typeface="Meiryo UI"/>
                <a:ea typeface="Meiryo UI"/>
              </a:rPr>
              <a:t>□ 相談メールのアドレス</a:t>
            </a:r>
            <a:br/>
            <a:r>
              <a:rPr sz="900" b="0">
                <a:solidFill>
                  <a:srgbClr val="1F2937"/>
                </a:solidFill>
                <a:latin typeface="Meiryo UI"/>
                <a:ea typeface="Meiryo UI"/>
              </a:rPr>
              <a:t>□ 受信日時</a:t>
            </a:r>
            <a:br/>
            <a:r>
              <a:rPr sz="900" b="0">
                <a:solidFill>
                  <a:srgbClr val="1F2937"/>
                </a:solidFill>
                <a:latin typeface="Meiryo UI"/>
                <a:ea typeface="Meiryo UI"/>
              </a:rPr>
              <a:t>□ 相談内容（方法・時期の具体性＝切迫度）</a:t>
            </a:r>
            <a:br/>
            <a:r>
              <a:rPr sz="900" b="0">
                <a:solidFill>
                  <a:srgbClr val="1F2937"/>
                </a:solidFill>
                <a:latin typeface="Meiryo UI"/>
                <a:ea typeface="Meiryo UI"/>
              </a:rPr>
              <a:t>□ 氏名・学校名等の手がかり</a:t>
            </a:r>
            <a:br/>
            <a:r>
              <a:rPr sz="900" b="0">
                <a:solidFill>
                  <a:srgbClr val="1F2937"/>
                </a:solidFill>
                <a:latin typeface="Meiryo UI"/>
                <a:ea typeface="Meiryo UI"/>
              </a:rPr>
              <a:t>□ こたエールの対応状況・折返し連絡先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64000" y="3636000"/>
            <a:ext cx="180000" cy="0"/>
          </a:xfrm>
          <a:prstGeom prst="line">
            <a:avLst/>
          </a:prstGeom>
          <a:ln w="12700">
            <a:solidFill>
              <a:srgbClr val="8A939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12000" y="4266000"/>
            <a:ext cx="0" cy="162000"/>
          </a:xfrm>
          <a:prstGeom prst="line">
            <a:avLst/>
          </a:prstGeom>
          <a:ln w="25400">
            <a:solidFill>
              <a:srgbClr val="3747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60000" y="4428000"/>
            <a:ext cx="4104000" cy="936000"/>
          </a:xfrm>
          <a:prstGeom prst="roundRect">
            <a:avLst>
              <a:gd name="adj" fmla="val 8000"/>
            </a:avLst>
          </a:prstGeom>
          <a:solidFill>
            <a:srgbClr val="E8DAEF"/>
          </a:solidFill>
          <a:ln w="19050">
            <a:solidFill>
              <a:srgbClr val="6C34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6C3483"/>
                </a:solidFill>
                <a:latin typeface="Meiryo UI"/>
                <a:ea typeface="Meiryo UI"/>
              </a:rPr>
              <a:t>【教育指導課 指導主事】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F2937"/>
                </a:solidFill>
                <a:latin typeface="Meiryo UI"/>
                <a:ea typeface="Meiryo UI"/>
              </a:rPr>
              <a:t>直ちに課内で共有（課長・統括指導主事へ報告）し、時系列記録を開始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1F2937"/>
                </a:solidFill>
                <a:latin typeface="Meiryo UI"/>
                <a:ea typeface="Meiryo UI"/>
              </a:rPr>
              <a:t>以後の全てのやり取り（日時・相手・内容）を記録する。対応は必ず複数人で行う。</a:t>
            </a:r>
          </a:p>
        </p:txBody>
      </p:sp>
      <p:sp>
        <p:nvSpPr>
          <p:cNvPr id="20" name="Oval 19"/>
          <p:cNvSpPr/>
          <p:nvPr/>
        </p:nvSpPr>
        <p:spPr>
          <a:xfrm>
            <a:off x="32399" y="4755600"/>
            <a:ext cx="280800" cy="280800"/>
          </a:xfrm>
          <a:prstGeom prst="ellipse">
            <a:avLst/>
          </a:prstGeom>
          <a:solidFill>
            <a:srgbClr val="2F549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eiryo UI"/>
                <a:ea typeface="Meiryo UI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44000" y="4428000"/>
            <a:ext cx="2556000" cy="936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8A9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2F5496"/>
                </a:solidFill>
                <a:latin typeface="Meiryo UI"/>
                <a:ea typeface="Meiryo UI"/>
              </a:rPr>
              <a:t>個人情報の共有はためらわない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1F2937"/>
                </a:solidFill>
                <a:latin typeface="Meiryo UI"/>
                <a:ea typeface="Meiryo UI"/>
              </a:rPr>
              <a:t>人の生命・身体の保護のために必要がある場合、本人（保護者）の同意なく個人情報を提供・取得できる（個人情報保護法第27条第1項第2号）。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64000" y="4896000"/>
            <a:ext cx="180000" cy="0"/>
          </a:xfrm>
          <a:prstGeom prst="line">
            <a:avLst/>
          </a:prstGeom>
          <a:ln w="12700">
            <a:solidFill>
              <a:srgbClr val="8A939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412000" y="5364000"/>
            <a:ext cx="0" cy="162000"/>
          </a:xfrm>
          <a:prstGeom prst="line">
            <a:avLst/>
          </a:prstGeom>
          <a:ln w="25400">
            <a:solidFill>
              <a:srgbClr val="3747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06000" y="5580000"/>
            <a:ext cx="6948000" cy="162000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C0630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8000" y="5454000"/>
            <a:ext cx="1152000" cy="25199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6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C0630C"/>
                </a:solidFill>
                <a:latin typeface="Meiryo UI"/>
                <a:ea typeface="Meiryo UI"/>
              </a:rPr>
              <a:t>【同時進行】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0000" y="5832000"/>
            <a:ext cx="3114000" cy="1224000"/>
          </a:xfrm>
          <a:prstGeom prst="roundRect">
            <a:avLst>
              <a:gd name="adj" fmla="val 8000"/>
            </a:avLst>
          </a:prstGeom>
          <a:solidFill>
            <a:srgbClr val="E8DAEF"/>
          </a:solidFill>
          <a:ln w="19050">
            <a:solidFill>
              <a:srgbClr val="6C34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6C3483"/>
                </a:solidFill>
                <a:latin typeface="Meiryo UI"/>
                <a:ea typeface="Meiryo UI"/>
              </a:rPr>
              <a:t>【教育指導課 指導主事】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1F2937"/>
                </a:solidFill>
                <a:latin typeface="Meiryo UI"/>
                <a:ea typeface="Meiryo UI"/>
              </a:rPr>
              <a:t>教育ICT環境整備係（教育施設課）へ児童生徒の照会を依頼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Meiryo UI"/>
                <a:ea typeface="Meiryo UI"/>
              </a:rPr>
              <a:t>こたエールから聞き取ったメールアドレスを伝える。区貸与アカウントのため、在籍校・学年・氏名を特定できる。</a:t>
            </a:r>
          </a:p>
        </p:txBody>
      </p:sp>
      <p:sp>
        <p:nvSpPr>
          <p:cNvPr id="27" name="Oval 26"/>
          <p:cNvSpPr/>
          <p:nvPr/>
        </p:nvSpPr>
        <p:spPr>
          <a:xfrm>
            <a:off x="122399" y="6303599"/>
            <a:ext cx="280800" cy="280800"/>
          </a:xfrm>
          <a:prstGeom prst="ellipse">
            <a:avLst/>
          </a:prstGeom>
          <a:solidFill>
            <a:srgbClr val="2F549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eiryo UI"/>
                <a:ea typeface="Meiryo UI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96000" y="5832000"/>
            <a:ext cx="3114000" cy="1224000"/>
          </a:xfrm>
          <a:prstGeom prst="roundRect">
            <a:avLst>
              <a:gd name="adj" fmla="val 8000"/>
            </a:avLst>
          </a:prstGeom>
          <a:solidFill>
            <a:srgbClr val="D1E7DD"/>
          </a:solidFill>
          <a:ln w="19050">
            <a:solidFill>
              <a:srgbClr val="1E66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1E6641"/>
                </a:solidFill>
                <a:latin typeface="Meiryo UI"/>
                <a:ea typeface="Meiryo UI"/>
              </a:rPr>
              <a:t>【警察署（練馬区内管轄）】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1F2937"/>
                </a:solidFill>
                <a:latin typeface="Meiryo UI"/>
                <a:ea typeface="Meiryo UI"/>
              </a:rPr>
              <a:t>警察署から指導主事へ、当該児童生徒の照会の連絡が入る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Meiryo UI"/>
                <a:ea typeface="Meiryo UI"/>
              </a:rPr>
              <a:t>こたエールは警察にも情報提供している。担当係・担当者名・折返し先を必ず控える。</a:t>
            </a:r>
          </a:p>
        </p:txBody>
      </p:sp>
      <p:sp>
        <p:nvSpPr>
          <p:cNvPr id="29" name="Oval 28"/>
          <p:cNvSpPr/>
          <p:nvPr/>
        </p:nvSpPr>
        <p:spPr>
          <a:xfrm>
            <a:off x="3668400" y="6303599"/>
            <a:ext cx="280800" cy="280800"/>
          </a:xfrm>
          <a:prstGeom prst="ellipse">
            <a:avLst/>
          </a:prstGeom>
          <a:solidFill>
            <a:srgbClr val="2F549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eiryo UI"/>
                <a:ea typeface="Meiryo UI"/>
              </a:rPr>
              <a:t>5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1980000" y="7200000"/>
            <a:ext cx="27000" cy="324000"/>
          </a:xfrm>
          <a:prstGeom prst="line">
            <a:avLst/>
          </a:prstGeom>
          <a:ln w="25400">
            <a:solidFill>
              <a:srgbClr val="3747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2844000" y="7200000"/>
            <a:ext cx="2709000" cy="324000"/>
          </a:xfrm>
          <a:prstGeom prst="line">
            <a:avLst/>
          </a:prstGeom>
          <a:ln w="25400">
            <a:solidFill>
              <a:srgbClr val="3747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iamond 31"/>
          <p:cNvSpPr/>
          <p:nvPr/>
        </p:nvSpPr>
        <p:spPr>
          <a:xfrm>
            <a:off x="720000" y="7398000"/>
            <a:ext cx="3384000" cy="97200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374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F2937"/>
                </a:solidFill>
                <a:latin typeface="Meiryo UI"/>
                <a:ea typeface="Meiryo UI"/>
              </a:rPr>
              <a:t>この時点で児童生徒を</a:t>
            </a:r>
            <a:br/>
            <a:r>
              <a:rPr sz="1100" b="1">
                <a:solidFill>
                  <a:srgbClr val="1F2937"/>
                </a:solidFill>
                <a:latin typeface="Meiryo UI"/>
                <a:ea typeface="Meiryo UI"/>
              </a:rPr>
              <a:t>特定できているか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80000" y="7452000"/>
            <a:ext cx="1620000" cy="864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5875">
            <a:solidFill>
              <a:srgbClr val="374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1F2937"/>
                </a:solidFill>
                <a:latin typeface="Meiryo UI"/>
                <a:ea typeface="Meiryo UI"/>
              </a:rPr>
              <a:t>照会結果を待つ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Meiryo UI"/>
                <a:ea typeface="Meiryo UI"/>
              </a:rPr>
              <a:t>判明し次第、直ちに警察の担当者へ連絡する。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104000" y="7884000"/>
            <a:ext cx="1476000" cy="0"/>
          </a:xfrm>
          <a:prstGeom prst="line">
            <a:avLst/>
          </a:prstGeom>
          <a:ln w="25400">
            <a:solidFill>
              <a:srgbClr val="3747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140000" y="7614000"/>
            <a:ext cx="720000" cy="198000"/>
          </a:xfrm>
          <a:prstGeom prst="rect">
            <a:avLst/>
          </a:prstGeom>
          <a:noFill/>
        </p:spPr>
        <p:txBody>
          <a:bodyPr wrap="none" anchor="t" lIns="54000" rIns="54000" tIns="28800" bIns="28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1F2937"/>
                </a:solidFill>
                <a:latin typeface="Meiryo UI"/>
                <a:ea typeface="Meiryo UI"/>
              </a:rPr>
              <a:t>いいえ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412000" y="8370000"/>
            <a:ext cx="0" cy="324000"/>
          </a:xfrm>
          <a:prstGeom prst="line">
            <a:avLst/>
          </a:prstGeom>
          <a:ln w="25400">
            <a:solidFill>
              <a:srgbClr val="3747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466000" y="8406000"/>
            <a:ext cx="900000" cy="216000"/>
          </a:xfrm>
          <a:prstGeom prst="rect">
            <a:avLst/>
          </a:prstGeom>
          <a:noFill/>
        </p:spPr>
        <p:txBody>
          <a:bodyPr wrap="none" anchor="t" lIns="54000" rIns="54000" tIns="28800" bIns="28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1F2937"/>
                </a:solidFill>
                <a:latin typeface="Meiryo UI"/>
                <a:ea typeface="Meiryo UI"/>
              </a:rPr>
              <a:t>はい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4031999" y="8316000"/>
            <a:ext cx="2358001" cy="360000"/>
          </a:xfrm>
          <a:prstGeom prst="line">
            <a:avLst/>
          </a:prstGeom>
          <a:ln w="25400">
            <a:solidFill>
              <a:srgbClr val="3747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Pentagon 38"/>
          <p:cNvSpPr/>
          <p:nvPr/>
        </p:nvSpPr>
        <p:spPr>
          <a:xfrm>
            <a:off x="432000" y="8694000"/>
            <a:ext cx="3960000" cy="413999"/>
          </a:xfrm>
          <a:prstGeom prst="homePlate">
            <a:avLst/>
          </a:prstGeom>
          <a:solidFill>
            <a:srgbClr val="37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eiryo UI"/>
                <a:ea typeface="Meiryo UI"/>
              </a:rPr>
              <a:t>特定できたら → フェーズ2（次ページ）へ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000" y="9252000"/>
            <a:ext cx="6840000" cy="936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Meiryo UI"/>
                <a:ea typeface="Meiryo UI"/>
              </a:rPr>
              <a:t>※ 児童生徒の特定を待つ間も、警察・こたエールとの連絡体制を維持する。特定に時間を要する場合は、その旨を警察に伝える。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Meiryo UI"/>
                <a:ea typeface="Meiryo UI"/>
              </a:rPr>
              <a:t>※ 電話でのやり取りは、聞き取った内容を復唱して確認し、直後に記録する。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44000"/>
            <a:ext cx="6840000" cy="360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eiryo UI"/>
                <a:ea typeface="Meiryo UI"/>
              </a:rPr>
              <a:t>児童生徒の自殺企図に関する相談対応フロー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6840000" cy="216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1F2937"/>
                </a:solidFill>
                <a:latin typeface="Meiryo UI"/>
                <a:ea typeface="Meiryo UI"/>
              </a:rPr>
              <a:t>〜こたエール（東京都）にメールで相談が入った場合〜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37999"/>
            <a:ext cx="6840000" cy="34200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</a:rPr>
              <a:t>フェーズ2　警察との連携 〜 安否確認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03999" y="792000"/>
            <a:ext cx="1224000" cy="23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F5496"/>
                </a:solidFill>
                <a:latin typeface="Meiryo UI"/>
                <a:ea typeface="Meiryo UI"/>
              </a:rPr>
              <a:t>特定後 直ちに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0404000"/>
            <a:ext cx="6840000" cy="216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850" b="0">
                <a:solidFill>
                  <a:srgbClr val="8A939E"/>
                </a:solidFill>
                <a:latin typeface="Meiryo UI"/>
                <a:ea typeface="Meiryo UI"/>
              </a:rPr>
              <a:t>練馬区教育委員会 教育指導課　　2 /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260000"/>
            <a:ext cx="4104000" cy="1080000"/>
          </a:xfrm>
          <a:prstGeom prst="roundRect">
            <a:avLst>
              <a:gd name="adj" fmla="val 8000"/>
            </a:avLst>
          </a:prstGeom>
          <a:solidFill>
            <a:srgbClr val="E8DAEF"/>
          </a:solidFill>
          <a:ln w="19050">
            <a:solidFill>
              <a:srgbClr val="6C34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6C3483"/>
                </a:solidFill>
                <a:latin typeface="Meiryo UI"/>
                <a:ea typeface="Meiryo UI"/>
              </a:rPr>
              <a:t>【教育指導課 指導主事】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F2937"/>
                </a:solidFill>
                <a:latin typeface="Meiryo UI"/>
                <a:ea typeface="Meiryo UI"/>
              </a:rPr>
              <a:t>警察へ ①学校名 ②学年 ③氏名 を伝える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1F2937"/>
                </a:solidFill>
                <a:latin typeface="Meiryo UI"/>
                <a:ea typeface="Meiryo UI"/>
              </a:rPr>
              <a:t>あわせて、警察が当該校へ連絡する前に、指導主事から当該校へ事前連絡することを警察に伝え、当該校に何を伝えるべきか助言をもらう。</a:t>
            </a:r>
          </a:p>
        </p:txBody>
      </p:sp>
      <p:sp>
        <p:nvSpPr>
          <p:cNvPr id="8" name="Oval 7"/>
          <p:cNvSpPr/>
          <p:nvPr/>
        </p:nvSpPr>
        <p:spPr>
          <a:xfrm>
            <a:off x="32399" y="1659600"/>
            <a:ext cx="280800" cy="280800"/>
          </a:xfrm>
          <a:prstGeom prst="ellipse">
            <a:avLst/>
          </a:prstGeom>
          <a:solidFill>
            <a:srgbClr val="2F549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eiryo UI"/>
                <a:ea typeface="Meiryo U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44000" y="1260000"/>
            <a:ext cx="2556000" cy="1080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8A9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C0630C"/>
                </a:solidFill>
                <a:latin typeface="Meiryo UI"/>
                <a:ea typeface="Meiryo UI"/>
              </a:rPr>
              <a:t>警察からの助言の例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1F2937"/>
                </a:solidFill>
                <a:latin typeface="Meiryo UI"/>
                <a:ea typeface="Meiryo UI"/>
              </a:rPr>
              <a:t>・事前に保護者に連絡しておく</a:t>
            </a:r>
            <a:br/>
            <a:r>
              <a:rPr sz="900" b="0">
                <a:solidFill>
                  <a:srgbClr val="1F2937"/>
                </a:solidFill>
                <a:latin typeface="Meiryo UI"/>
                <a:ea typeface="Meiryo UI"/>
              </a:rPr>
              <a:t>・保護者からの虐待が疑われるため、警察が連絡するまでは何もしない　等</a:t>
            </a:r>
            <a:br/>
            <a:r>
              <a:rPr sz="900" b="0">
                <a:solidFill>
                  <a:srgbClr val="1F2937"/>
                </a:solidFill>
                <a:latin typeface="Meiryo UI"/>
                <a:ea typeface="Meiryo UI"/>
              </a:rPr>
              <a:t>→ 助言内容をそのまま記録し、当該校に正確に伝える。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64000" y="1800000"/>
            <a:ext cx="180000" cy="0"/>
          </a:xfrm>
          <a:prstGeom prst="line">
            <a:avLst/>
          </a:prstGeom>
          <a:ln w="12700">
            <a:solidFill>
              <a:srgbClr val="8A939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12000" y="2340000"/>
            <a:ext cx="0" cy="162000"/>
          </a:xfrm>
          <a:prstGeom prst="line">
            <a:avLst/>
          </a:prstGeom>
          <a:ln w="25400">
            <a:solidFill>
              <a:srgbClr val="3747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0000" y="2502000"/>
            <a:ext cx="4104000" cy="1044000"/>
          </a:xfrm>
          <a:prstGeom prst="roundRect">
            <a:avLst>
              <a:gd name="adj" fmla="val 8000"/>
            </a:avLst>
          </a:prstGeom>
          <a:solidFill>
            <a:srgbClr val="E8DAEF"/>
          </a:solidFill>
          <a:ln w="19050">
            <a:solidFill>
              <a:srgbClr val="6C34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6C3483"/>
                </a:solidFill>
                <a:latin typeface="Meiryo UI"/>
                <a:ea typeface="Meiryo UI"/>
              </a:rPr>
              <a:t>【教育指導課 指導主事】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F2937"/>
                </a:solidFill>
                <a:latin typeface="Meiryo UI"/>
                <a:ea typeface="Meiryo UI"/>
              </a:rPr>
              <a:t>当該校の校長（不在時は副校長）へ電話で事前連絡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1F2937"/>
                </a:solidFill>
                <a:latin typeface="Meiryo UI"/>
                <a:ea typeface="Meiryo UI"/>
              </a:rPr>
              <a:t>・警察から在籍確認の連絡が入ること</a:t>
            </a:r>
            <a:br/>
            <a:r>
              <a:rPr sz="1000" b="0">
                <a:solidFill>
                  <a:srgbClr val="1F2937"/>
                </a:solidFill>
                <a:latin typeface="Meiryo UI"/>
                <a:ea typeface="Meiryo UI"/>
              </a:rPr>
              <a:t>・警察の助言に基づく対応方法（保護者への連絡の要否 等）</a:t>
            </a:r>
            <a:br/>
            <a:r>
              <a:rPr sz="1000" b="0">
                <a:solidFill>
                  <a:srgbClr val="1F2937"/>
                </a:solidFill>
                <a:latin typeface="Meiryo UI"/>
                <a:ea typeface="Meiryo UI"/>
              </a:rPr>
              <a:t>・校内で知る教職員は必要最小限にとどめること</a:t>
            </a:r>
          </a:p>
        </p:txBody>
      </p:sp>
      <p:sp>
        <p:nvSpPr>
          <p:cNvPr id="13" name="Oval 12"/>
          <p:cNvSpPr/>
          <p:nvPr/>
        </p:nvSpPr>
        <p:spPr>
          <a:xfrm>
            <a:off x="32399" y="2883600"/>
            <a:ext cx="280800" cy="280800"/>
          </a:xfrm>
          <a:prstGeom prst="ellipse">
            <a:avLst/>
          </a:prstGeom>
          <a:solidFill>
            <a:srgbClr val="2F549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eiryo UI"/>
                <a:ea typeface="Meiryo UI"/>
              </a:rPr>
              <a:t>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4000" y="2502000"/>
            <a:ext cx="2556000" cy="1044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8A9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B02121"/>
                </a:solidFill>
                <a:latin typeface="Meiryo UI"/>
                <a:ea typeface="Meiryo UI"/>
              </a:rPr>
              <a:t>虐待が疑われる場合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1F2937"/>
                </a:solidFill>
                <a:latin typeface="Meiryo UI"/>
                <a:ea typeface="Meiryo UI"/>
              </a:rPr>
              <a:t>保護者への連絡は行わない。学校・教育委員会は子供家庭支援センター・児童相談所へ通告する（児童虐待防止法第6条）。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64000" y="3024000"/>
            <a:ext cx="180000" cy="0"/>
          </a:xfrm>
          <a:prstGeom prst="line">
            <a:avLst/>
          </a:prstGeom>
          <a:ln w="12700">
            <a:solidFill>
              <a:srgbClr val="8A939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412000" y="3546000"/>
            <a:ext cx="0" cy="162000"/>
          </a:xfrm>
          <a:prstGeom prst="line">
            <a:avLst/>
          </a:prstGeom>
          <a:ln w="25400">
            <a:solidFill>
              <a:srgbClr val="3747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60000" y="3708000"/>
            <a:ext cx="4104000" cy="827999"/>
          </a:xfrm>
          <a:prstGeom prst="roundRect">
            <a:avLst>
              <a:gd name="adj" fmla="val 8000"/>
            </a:avLst>
          </a:prstGeom>
          <a:solidFill>
            <a:srgbClr val="D1E7DD"/>
          </a:solidFill>
          <a:ln w="19050">
            <a:solidFill>
              <a:srgbClr val="1E66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1E6641"/>
                </a:solidFill>
                <a:latin typeface="Meiryo UI"/>
                <a:ea typeface="Meiryo UI"/>
              </a:rPr>
              <a:t>【警察署（練馬区内管轄）】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F2937"/>
                </a:solidFill>
                <a:latin typeface="Meiryo UI"/>
                <a:ea typeface="Meiryo UI"/>
              </a:rPr>
              <a:t>当該校へ連絡し、在籍確認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1F2937"/>
                </a:solidFill>
                <a:latin typeface="Meiryo UI"/>
                <a:ea typeface="Meiryo UI"/>
              </a:rPr>
              <a:t>在籍していれば ①氏名 ②保護者の連絡先 ③住所 を確認する。</a:t>
            </a:r>
          </a:p>
        </p:txBody>
      </p:sp>
      <p:sp>
        <p:nvSpPr>
          <p:cNvPr id="18" name="Oval 17"/>
          <p:cNvSpPr/>
          <p:nvPr/>
        </p:nvSpPr>
        <p:spPr>
          <a:xfrm>
            <a:off x="32399" y="3981600"/>
            <a:ext cx="280800" cy="280800"/>
          </a:xfrm>
          <a:prstGeom prst="ellipse">
            <a:avLst/>
          </a:prstGeom>
          <a:solidFill>
            <a:srgbClr val="2F549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eiryo UI"/>
                <a:ea typeface="Meiryo UI"/>
              </a:rPr>
              <a:t>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44000" y="3708000"/>
            <a:ext cx="2556000" cy="827999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8A9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2F5496"/>
                </a:solidFill>
                <a:latin typeface="Meiryo UI"/>
                <a:ea typeface="Meiryo UI"/>
              </a:rPr>
              <a:t>学校側の準備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1F2937"/>
                </a:solidFill>
                <a:latin typeface="Meiryo UI"/>
                <a:ea typeface="Meiryo UI"/>
              </a:rPr>
              <a:t>指名された対応者（管理職）が指導要録・学籍情報をすぐ出せるよう手元に準備しておく。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64000" y="4122000"/>
            <a:ext cx="180000" cy="0"/>
          </a:xfrm>
          <a:prstGeom prst="line">
            <a:avLst/>
          </a:prstGeom>
          <a:ln w="12700">
            <a:solidFill>
              <a:srgbClr val="8A939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412000" y="4536000"/>
            <a:ext cx="0" cy="162000"/>
          </a:xfrm>
          <a:prstGeom prst="line">
            <a:avLst/>
          </a:prstGeom>
          <a:ln w="25400">
            <a:solidFill>
              <a:srgbClr val="3747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60000" y="4698000"/>
            <a:ext cx="4104000" cy="792000"/>
          </a:xfrm>
          <a:prstGeom prst="roundRect">
            <a:avLst>
              <a:gd name="adj" fmla="val 8000"/>
            </a:avLst>
          </a:prstGeom>
          <a:solidFill>
            <a:srgbClr val="D1E7DD"/>
          </a:solidFill>
          <a:ln w="19050">
            <a:solidFill>
              <a:srgbClr val="1E66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1E6641"/>
                </a:solidFill>
                <a:latin typeface="Meiryo UI"/>
                <a:ea typeface="Meiryo UI"/>
              </a:rPr>
              <a:t>【警察署（練馬区内管轄）】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F2937"/>
                </a:solidFill>
                <a:latin typeface="Meiryo UI"/>
                <a:ea typeface="Meiryo UI"/>
              </a:rPr>
              <a:t>当該児童生徒の自宅を訪問し、安否確認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1F2937"/>
                </a:solidFill>
                <a:latin typeface="Meiryo UI"/>
                <a:ea typeface="Meiryo UI"/>
              </a:rPr>
              <a:t>必要に応じて保護・救急要請等の措置がとられる。</a:t>
            </a:r>
          </a:p>
        </p:txBody>
      </p:sp>
      <p:sp>
        <p:nvSpPr>
          <p:cNvPr id="23" name="Oval 22"/>
          <p:cNvSpPr/>
          <p:nvPr/>
        </p:nvSpPr>
        <p:spPr>
          <a:xfrm>
            <a:off x="32399" y="4953600"/>
            <a:ext cx="280800" cy="280800"/>
          </a:xfrm>
          <a:prstGeom prst="ellipse">
            <a:avLst/>
          </a:prstGeom>
          <a:solidFill>
            <a:srgbClr val="2F549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eiryo UI"/>
                <a:ea typeface="Meiryo UI"/>
              </a:rPr>
              <a:t>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44000" y="4698000"/>
            <a:ext cx="2556000" cy="936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8A9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2F5496"/>
                </a:solidFill>
                <a:latin typeface="Meiryo UI"/>
                <a:ea typeface="Meiryo UI"/>
              </a:rPr>
              <a:t>根拠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1F2937"/>
                </a:solidFill>
                <a:latin typeface="Meiryo UI"/>
                <a:ea typeface="Meiryo UI"/>
              </a:rPr>
              <a:t>自殺企図のおそれのある者の保護は、警察官職務執行法第3条に基づき警察が行う。学校・教委は警察の活動を妨げない。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464000" y="5094000"/>
            <a:ext cx="180000" cy="0"/>
          </a:xfrm>
          <a:prstGeom prst="line">
            <a:avLst/>
          </a:prstGeom>
          <a:ln w="12700">
            <a:solidFill>
              <a:srgbClr val="8A939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412000" y="5634000"/>
            <a:ext cx="0" cy="162000"/>
          </a:xfrm>
          <a:prstGeom prst="line">
            <a:avLst/>
          </a:prstGeom>
          <a:ln w="25400">
            <a:solidFill>
              <a:srgbClr val="3747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60000" y="5796000"/>
            <a:ext cx="4104000" cy="684000"/>
          </a:xfrm>
          <a:prstGeom prst="roundRect">
            <a:avLst>
              <a:gd name="adj" fmla="val 8000"/>
            </a:avLst>
          </a:prstGeom>
          <a:solidFill>
            <a:srgbClr val="D1E7DD"/>
          </a:solidFill>
          <a:ln w="19050">
            <a:solidFill>
              <a:srgbClr val="1E66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1E6641"/>
                </a:solidFill>
                <a:latin typeface="Meiryo UI"/>
                <a:ea typeface="Meiryo UI"/>
              </a:rPr>
              <a:t>【警察署（練馬区内管轄）】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F2937"/>
                </a:solidFill>
                <a:latin typeface="Meiryo UI"/>
                <a:ea typeface="Meiryo UI"/>
              </a:rPr>
              <a:t>安否確認の結果を当該校へ連絡</a:t>
            </a:r>
          </a:p>
        </p:txBody>
      </p:sp>
      <p:sp>
        <p:nvSpPr>
          <p:cNvPr id="28" name="Oval 27"/>
          <p:cNvSpPr/>
          <p:nvPr/>
        </p:nvSpPr>
        <p:spPr>
          <a:xfrm>
            <a:off x="32399" y="5997600"/>
            <a:ext cx="280800" cy="280800"/>
          </a:xfrm>
          <a:prstGeom prst="ellipse">
            <a:avLst/>
          </a:prstGeom>
          <a:solidFill>
            <a:srgbClr val="2F549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eiryo UI"/>
                <a:ea typeface="Meiryo UI"/>
              </a:rPr>
              <a:t>10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412000" y="6480000"/>
            <a:ext cx="0" cy="162000"/>
          </a:xfrm>
          <a:prstGeom prst="line">
            <a:avLst/>
          </a:prstGeom>
          <a:ln w="25400">
            <a:solidFill>
              <a:srgbClr val="3747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60000" y="6642000"/>
            <a:ext cx="4104000" cy="1116000"/>
          </a:xfrm>
          <a:prstGeom prst="roundRect">
            <a:avLst>
              <a:gd name="adj" fmla="val 8000"/>
            </a:avLst>
          </a:prstGeom>
          <a:solidFill>
            <a:srgbClr val="FCF3CF"/>
          </a:solidFill>
          <a:ln w="19050">
            <a:solidFill>
              <a:srgbClr val="9A7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9A760A"/>
                </a:solidFill>
                <a:latin typeface="Meiryo UI"/>
                <a:ea typeface="Meiryo UI"/>
              </a:rPr>
              <a:t>【当該校（校長・副校長）】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F2937"/>
                </a:solidFill>
                <a:latin typeface="Meiryo UI"/>
                <a:ea typeface="Meiryo UI"/>
              </a:rPr>
              <a:t>警察からの情報を教育指導課へ報告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1F2937"/>
                </a:solidFill>
                <a:latin typeface="Meiryo UI"/>
                <a:ea typeface="Meiryo UI"/>
              </a:rPr>
              <a:t>①安否・現在の状況　②警察がとった措置　③保護者の状況・受け止め</a:t>
            </a:r>
            <a:br/>
            <a:r>
              <a:rPr sz="1000" b="0">
                <a:solidFill>
                  <a:srgbClr val="1F2937"/>
                </a:solidFill>
                <a:latin typeface="Meiryo UI"/>
                <a:ea typeface="Meiryo UI"/>
              </a:rPr>
              <a:t>④学校が把握している本人の様子（欠席・友人関係・いじめの有無 等）</a:t>
            </a:r>
          </a:p>
        </p:txBody>
      </p:sp>
      <p:sp>
        <p:nvSpPr>
          <p:cNvPr id="31" name="Oval 30"/>
          <p:cNvSpPr/>
          <p:nvPr/>
        </p:nvSpPr>
        <p:spPr>
          <a:xfrm>
            <a:off x="32399" y="7059600"/>
            <a:ext cx="280800" cy="280800"/>
          </a:xfrm>
          <a:prstGeom prst="ellipse">
            <a:avLst/>
          </a:prstGeom>
          <a:solidFill>
            <a:srgbClr val="2F549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eiryo UI"/>
                <a:ea typeface="Meiryo UI"/>
              </a:rPr>
              <a:t>11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44000" y="6642000"/>
            <a:ext cx="2556000" cy="936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8A9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2F5496"/>
                </a:solidFill>
                <a:latin typeface="Meiryo UI"/>
                <a:ea typeface="Meiryo UI"/>
              </a:rPr>
              <a:t>報告を受けた指導主事は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1F2937"/>
                </a:solidFill>
                <a:latin typeface="Meiryo UI"/>
                <a:ea typeface="Meiryo UI"/>
              </a:rPr>
              <a:t>課長へ報告し、記録を整理。学校の翌日以降の対応（フェーズ3）を校長と確認する。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64000" y="7110000"/>
            <a:ext cx="180000" cy="0"/>
          </a:xfrm>
          <a:prstGeom prst="line">
            <a:avLst/>
          </a:prstGeom>
          <a:ln w="12700">
            <a:solidFill>
              <a:srgbClr val="8A939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412000" y="7758000"/>
            <a:ext cx="0" cy="180000"/>
          </a:xfrm>
          <a:prstGeom prst="line">
            <a:avLst/>
          </a:prstGeom>
          <a:ln w="25400">
            <a:solidFill>
              <a:srgbClr val="3747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entagon 34"/>
          <p:cNvSpPr/>
          <p:nvPr/>
        </p:nvSpPr>
        <p:spPr>
          <a:xfrm>
            <a:off x="432000" y="7938000"/>
            <a:ext cx="3960000" cy="413999"/>
          </a:xfrm>
          <a:prstGeom prst="homePlate">
            <a:avLst/>
          </a:prstGeom>
          <a:solidFill>
            <a:srgbClr val="37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eiryo UI"/>
                <a:ea typeface="Meiryo UI"/>
              </a:rPr>
              <a:t>フェーズ3（次ページ：事後の支援）へ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000" y="8568000"/>
            <a:ext cx="6840000" cy="1260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Meiryo UI"/>
                <a:ea typeface="Meiryo UI"/>
              </a:rPr>
              <a:t>※ 安否確認が完了するまでは、指導主事・当該校とも電話が受けられる体制を維持する（勤務時間外に及ぶ場合は連絡先を警察・相互に共有）。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Meiryo UI"/>
                <a:ea typeface="Meiryo UI"/>
              </a:rPr>
              <a:t>※ 本人・保護者への学校からの接触は、必ず警察の助言（手順6）に従う。独自の判断で先に連絡しない。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Meiryo UI"/>
                <a:ea typeface="Meiryo UI"/>
              </a:rPr>
              <a:t>※ 校内・課内とも、情報は「知る必要のある者」に限定して共有し、憶測が広がらないよう管理する。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44000"/>
            <a:ext cx="6840000" cy="360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Meiryo UI"/>
                <a:ea typeface="Meiryo UI"/>
              </a:rPr>
              <a:t>児童生徒の自殺企図に関する相談対応フロー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6840000" cy="216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1F2937"/>
                </a:solidFill>
                <a:latin typeface="Meiryo UI"/>
                <a:ea typeface="Meiryo UI"/>
              </a:rPr>
              <a:t>〜こたエール（東京都）にメールで相談が入った場合〜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37999"/>
            <a:ext cx="6840000" cy="34200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</a:rPr>
              <a:t>フェーズ3　事後の支援・継続的な見守り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03999" y="792000"/>
            <a:ext cx="1224000" cy="23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2F5496"/>
                </a:solidFill>
                <a:latin typeface="Meiryo UI"/>
                <a:ea typeface="Meiryo UI"/>
              </a:rPr>
              <a:t>翌日以降 継続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0404000"/>
            <a:ext cx="6840000" cy="216000"/>
          </a:xfrm>
          <a:prstGeom prst="rect">
            <a:avLst/>
          </a:prstGeom>
          <a:noFill/>
        </p:spPr>
        <p:txBody>
          <a:bodyPr wrap="square" anchor="t" lIns="54000" rIns="54000" tIns="28800" bIns="28800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850" b="0">
                <a:solidFill>
                  <a:srgbClr val="8A939E"/>
                </a:solidFill>
                <a:latin typeface="Meiryo UI"/>
                <a:ea typeface="Meiryo UI"/>
              </a:rPr>
              <a:t>練馬区教育委員会 教育指導課　　3 /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224000"/>
            <a:ext cx="4104000" cy="1908000"/>
          </a:xfrm>
          <a:prstGeom prst="roundRect">
            <a:avLst>
              <a:gd name="adj" fmla="val 8000"/>
            </a:avLst>
          </a:prstGeom>
          <a:solidFill>
            <a:srgbClr val="E8DAEF"/>
          </a:solidFill>
          <a:ln w="19050">
            <a:solidFill>
              <a:srgbClr val="6C34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6C3483"/>
                </a:solidFill>
                <a:latin typeface="Meiryo UI"/>
                <a:ea typeface="Meiryo UI"/>
              </a:rPr>
              <a:t>【当該校・教育指導課】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F2937"/>
                </a:solidFill>
                <a:latin typeface="Meiryo UI"/>
                <a:ea typeface="Meiryo UI"/>
              </a:rPr>
              <a:t>校内支援体制を立ち上げ、継続的に支援する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1F2937"/>
                </a:solidFill>
                <a:latin typeface="Meiryo UI"/>
                <a:ea typeface="Meiryo UI"/>
              </a:rPr>
              <a:t>・校内委員会（管理職・担任・養護教諭・SC・SSW）で支援方針を決定</a:t>
            </a:r>
            <a:br/>
            <a:r>
              <a:rPr sz="1000" b="0">
                <a:solidFill>
                  <a:srgbClr val="1F2937"/>
                </a:solidFill>
                <a:latin typeface="Meiryo UI"/>
                <a:ea typeface="Meiryo UI"/>
              </a:rPr>
              <a:t>・本人との面接（SC等）、保護者との連携、必要に応じ医療機関へ接続</a:t>
            </a:r>
            <a:br/>
            <a:r>
              <a:rPr sz="1000" b="0">
                <a:solidFill>
                  <a:srgbClr val="1F2937"/>
                </a:solidFill>
                <a:latin typeface="Meiryo UI"/>
                <a:ea typeface="Meiryo UI"/>
              </a:rPr>
              <a:t>・背景にいじめ等が疑われる場合は、いじめ防止対策推進法に基づく対応を並行</a:t>
            </a:r>
            <a:br/>
            <a:r>
              <a:rPr sz="1000" b="0">
                <a:solidFill>
                  <a:srgbClr val="1F2937"/>
                </a:solidFill>
                <a:latin typeface="Meiryo UI"/>
                <a:ea typeface="Meiryo UI"/>
              </a:rPr>
              <a:t>・経過を教育指導課へ定期的に報告（当面は毎日→安定後は週次など）</a:t>
            </a:r>
          </a:p>
        </p:txBody>
      </p:sp>
      <p:sp>
        <p:nvSpPr>
          <p:cNvPr id="8" name="Oval 7"/>
          <p:cNvSpPr/>
          <p:nvPr/>
        </p:nvSpPr>
        <p:spPr>
          <a:xfrm>
            <a:off x="32399" y="2037600"/>
            <a:ext cx="280800" cy="280800"/>
          </a:xfrm>
          <a:prstGeom prst="ellipse">
            <a:avLst/>
          </a:prstGeom>
          <a:solidFill>
            <a:srgbClr val="2F549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eiryo UI"/>
                <a:ea typeface="Meiryo U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44000" y="1224000"/>
            <a:ext cx="2556000" cy="1224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8A9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2F5496"/>
                </a:solidFill>
                <a:latin typeface="Meiryo UI"/>
                <a:ea typeface="Meiryo UI"/>
              </a:rPr>
              <a:t>TALKの原則（本人への関わり方）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1F2937"/>
                </a:solidFill>
                <a:latin typeface="Meiryo UI"/>
                <a:ea typeface="Meiryo UI"/>
              </a:rPr>
              <a:t>Tell：心配していることを言葉で伝える</a:t>
            </a:r>
            <a:br/>
            <a:r>
              <a:rPr sz="900" b="0">
                <a:solidFill>
                  <a:srgbClr val="1F2937"/>
                </a:solidFill>
                <a:latin typeface="Meiryo UI"/>
                <a:ea typeface="Meiryo UI"/>
              </a:rPr>
              <a:t>Ask：死にたい気持ちの有無を率直に尋ねる</a:t>
            </a:r>
            <a:br/>
            <a:r>
              <a:rPr sz="900" b="0">
                <a:solidFill>
                  <a:srgbClr val="1F2937"/>
                </a:solidFill>
                <a:latin typeface="Meiryo UI"/>
                <a:ea typeface="Meiryo UI"/>
              </a:rPr>
              <a:t>Listen：批判せず、訴えを傾聴する</a:t>
            </a:r>
            <a:br/>
            <a:r>
              <a:rPr sz="900" b="0">
                <a:solidFill>
                  <a:srgbClr val="1F2937"/>
                </a:solidFill>
                <a:latin typeface="Meiryo UI"/>
                <a:ea typeface="Meiryo UI"/>
              </a:rPr>
              <a:t>Keep safe：一人にせず、安全を確保する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64000" y="1835999"/>
            <a:ext cx="180000" cy="0"/>
          </a:xfrm>
          <a:prstGeom prst="line">
            <a:avLst/>
          </a:prstGeom>
          <a:ln w="12700">
            <a:solidFill>
              <a:srgbClr val="8A939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60000" y="3276000"/>
            <a:ext cx="6840000" cy="288000"/>
          </a:xfrm>
          <a:prstGeom prst="rect">
            <a:avLst/>
          </a:prstGeom>
          <a:solidFill>
            <a:srgbClr val="EAF0F8"/>
          </a:solidFill>
          <a:ln w="15875">
            <a:solidFill>
              <a:srgbClr val="2F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2F5496"/>
                </a:solidFill>
                <a:latin typeface="Meiryo UI"/>
                <a:ea typeface="Meiryo UI"/>
              </a:rPr>
              <a:t>根拠・参考資料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3564000"/>
            <a:ext cx="6840000" cy="266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000" rIns="54000" tIns="28800" bIns="28800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1F2937"/>
                </a:solidFill>
                <a:latin typeface="Meiryo UI"/>
                <a:ea typeface="Meiryo UI"/>
              </a:rPr>
              <a:t>【国の手引き・計画】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1F2937"/>
                </a:solidFill>
                <a:latin typeface="Meiryo UI"/>
                <a:ea typeface="Meiryo UI"/>
              </a:rPr>
              <a:t>・文部科学省「教師が知っておきたい子どもの自殺予防」（平成21年3月）…TALKの原則、組織的対応、記録の重要性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1F2937"/>
                </a:solidFill>
                <a:latin typeface="Meiryo UI"/>
                <a:ea typeface="Meiryo UI"/>
              </a:rPr>
              <a:t>・文部科学省「子供に伝えたい自殺予防（学校における自殺予防教育導入の手引）」（平成26年7月）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1F2937"/>
                </a:solidFill>
                <a:latin typeface="Meiryo UI"/>
                <a:ea typeface="Meiryo UI"/>
              </a:rPr>
              <a:t>・自殺総合対策大綱（令和4年10月 閣議決定）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1F2937"/>
                </a:solidFill>
                <a:latin typeface="Meiryo UI"/>
                <a:ea typeface="Meiryo UI"/>
              </a:rPr>
              <a:t>・こども家庭庁ほか「こどもの自殺対策緊急強化プラン」（令和5年6月）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1F2937"/>
                </a:solidFill>
                <a:latin typeface="Meiryo UI"/>
                <a:ea typeface="Meiryo UI"/>
              </a:rPr>
              <a:t>【法令】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1F2937"/>
                </a:solidFill>
                <a:latin typeface="Meiryo UI"/>
                <a:ea typeface="Meiryo UI"/>
              </a:rPr>
              <a:t>・個人情報の保護に関する法律 第27条第1項第2号 …生命・身体の保護に必要な場合、本人同意なく第三者提供が可能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1F2937"/>
                </a:solidFill>
                <a:latin typeface="Meiryo UI"/>
                <a:ea typeface="Meiryo UI"/>
              </a:rPr>
              <a:t>・児童虐待の防止等に関する法律 第6条 …虐待が疑われる場合の通告義務（子供家庭支援センター・児童相談所等へ）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1F2937"/>
                </a:solidFill>
                <a:latin typeface="Meiryo UI"/>
                <a:ea typeface="Meiryo UI"/>
              </a:rPr>
              <a:t>・警察官職務執行法 第3条 …自殺企図のおそれのある者の保護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1F2937"/>
                </a:solidFill>
                <a:latin typeface="Meiryo UI"/>
                <a:ea typeface="Meiryo UI"/>
              </a:rPr>
              <a:t>・自殺対策基本法（平成18年法律第85号）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1F2937"/>
                </a:solidFill>
                <a:latin typeface="Meiryo UI"/>
                <a:ea typeface="Meiryo UI"/>
              </a:rPr>
              <a:t>【相談窓口】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1F2937"/>
                </a:solidFill>
                <a:latin typeface="Meiryo UI"/>
                <a:ea typeface="Meiryo UI"/>
              </a:rPr>
              <a:t>・こたエール（東京こどもネット・ケータイヘルプデスク）…東京都のネット・スマホトラブル相談窓口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6443999"/>
            <a:ext cx="6840000" cy="288000"/>
          </a:xfrm>
          <a:prstGeom prst="rect">
            <a:avLst/>
          </a:prstGeom>
          <a:solidFill>
            <a:srgbClr val="FDF3E7"/>
          </a:solidFill>
          <a:ln w="15875">
            <a:solidFill>
              <a:srgbClr val="C06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28800" bIns="28800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C0630C"/>
                </a:solidFill>
                <a:latin typeface="Meiryo UI"/>
                <a:ea typeface="Meiryo UI"/>
              </a:rPr>
              <a:t>主な連絡先（年度当初に記入し、課内で共有しておく）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6732000"/>
            <a:ext cx="6840000" cy="1655999"/>
          </a:xfrm>
          <a:prstGeom prst="rect">
            <a:avLst/>
          </a:prstGeom>
          <a:solidFill>
            <a:srgbClr val="FFFFFF"/>
          </a:solidFill>
          <a:ln w="15875">
            <a:solidFill>
              <a:srgbClr val="C06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000" rIns="54000" tIns="28800" bIns="2880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1F2937"/>
                </a:solidFill>
                <a:latin typeface="Meiryo UI"/>
                <a:ea typeface="Meiryo UI"/>
              </a:rPr>
              <a:t>・こたエール　　　　　　　　　　　　　　TEL：　　　　　　　　　　担当：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1F2937"/>
                </a:solidFill>
                <a:latin typeface="Meiryo UI"/>
                <a:ea typeface="Meiryo UI"/>
              </a:rPr>
              <a:t>・管轄警察署（生活安全課等）　　　　　　TEL：　　　　　　　　　　担当：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1F2937"/>
                </a:solidFill>
                <a:latin typeface="Meiryo UI"/>
                <a:ea typeface="Meiryo UI"/>
              </a:rPr>
              <a:t>・教育ICT環境整備係（教育施設課）　　　 内線：　　　　　　　　　 担当：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1F2937"/>
                </a:solidFill>
                <a:latin typeface="Meiryo UI"/>
                <a:ea typeface="Meiryo UI"/>
              </a:rPr>
              <a:t>・子供家庭支援センター　　　　　　　　　TEL：　　　　　　　　　　担当：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1F2937"/>
                </a:solidFill>
                <a:latin typeface="Meiryo UI"/>
                <a:ea typeface="Meiryo UI"/>
              </a:rPr>
              <a:t>・児童相談所　　　　　　　　　　　　　　TEL：　　　　　　　　　　担当：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1F2937"/>
                </a:solidFill>
                <a:latin typeface="Meiryo UI"/>
                <a:ea typeface="Meiryo UI"/>
              </a:rPr>
              <a:t>・課長・統括指導主事（勤務時間外）　　　TEL：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