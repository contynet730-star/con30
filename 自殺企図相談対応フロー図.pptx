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6000" y="90000"/>
            <a:ext cx="6966000" cy="324000"/>
          </a:xfrm>
          <a:prstGeom prst="rect">
            <a:avLst/>
          </a:prstGeom>
          <a:noFill/>
        </p:spPr>
        <p:txBody>
          <a:bodyPr wrap="square" anchor="t" lIns="46800" rIns="46800" tIns="21600" bIns="2160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500" b="1">
                <a:solidFill>
                  <a:srgbClr val="1F2937"/>
                </a:solidFill>
                <a:latin typeface="Meiryo UI"/>
                <a:ea typeface="Meiryo UI"/>
              </a:rPr>
              <a:t>児童生徒の自殺企図に関する相談対応フロー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00" y="360000"/>
            <a:ext cx="6966000" cy="180000"/>
          </a:xfrm>
          <a:prstGeom prst="rect">
            <a:avLst/>
          </a:prstGeom>
          <a:noFill/>
        </p:spPr>
        <p:txBody>
          <a:bodyPr wrap="square" anchor="t" lIns="46800" rIns="46800" tIns="21600" bIns="21600">
            <a:spAutoFit/>
          </a:bodyPr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〜こたエール（東京都のネット・スマホトラブル相談窓口）にメールで相談が入った場合〜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6000" y="576000"/>
            <a:ext cx="6966000" cy="270000"/>
          </a:xfrm>
          <a:prstGeom prst="roundRect">
            <a:avLst>
              <a:gd name="adj" fmla="val 16000"/>
            </a:avLst>
          </a:prstGeom>
          <a:solidFill>
            <a:srgbClr val="EAF0F8"/>
          </a:solidFill>
          <a:ln w="12700">
            <a:solidFill>
              <a:srgbClr val="2F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950" b="1">
                <a:solidFill>
                  <a:srgbClr val="2F5496"/>
                </a:solidFill>
                <a:latin typeface="Meiryo UI"/>
                <a:ea typeface="Meiryo UI"/>
              </a:rPr>
              <a:t>対応の3原則　① 最優先で即時対応　② 一人で抱え込まず組織で対応　③ 時系列で記録（日時・相手・内容）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6000" y="900000"/>
            <a:ext cx="6966000" cy="270000"/>
          </a:xfrm>
          <a:prstGeom prst="roundRect">
            <a:avLst>
              <a:gd name="adj" fmla="val 16000"/>
            </a:avLst>
          </a:prstGeom>
          <a:solidFill>
            <a:srgbClr val="FDECEC"/>
          </a:solidFill>
          <a:ln w="15875">
            <a:solidFill>
              <a:srgbClr val="B021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950" b="1">
                <a:solidFill>
                  <a:srgbClr val="B02121"/>
                </a:solidFill>
                <a:latin typeface="Meiryo UI"/>
                <a:ea typeface="Meiryo UI"/>
              </a:rPr>
              <a:t>⚠ 切迫した危険（今まさに実行するおそれ等）が読み取れる場合は、フローと並行して直ちに110番通報</a:t>
            </a:r>
          </a:p>
        </p:txBody>
      </p:sp>
      <p:sp>
        <p:nvSpPr>
          <p:cNvPr id="6" name="Rectangle 5"/>
          <p:cNvSpPr/>
          <p:nvPr/>
        </p:nvSpPr>
        <p:spPr>
          <a:xfrm>
            <a:off x="306000" y="1278000"/>
            <a:ext cx="3258000" cy="270000"/>
          </a:xfrm>
          <a:prstGeom prst="rect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フェーズ1　覚知 〜 児童生徒の特定（覚知後 直ちに）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000" y="1655999"/>
            <a:ext cx="3258000" cy="684000"/>
          </a:xfrm>
          <a:prstGeom prst="roundRect">
            <a:avLst>
              <a:gd name="adj" fmla="val 9000"/>
            </a:avLst>
          </a:prstGeom>
          <a:solidFill>
            <a:srgbClr val="FDEBD0"/>
          </a:solidFill>
          <a:ln w="19050">
            <a:solidFill>
              <a:srgbClr val="B977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1">
                <a:solidFill>
                  <a:srgbClr val="B9770E"/>
                </a:solidFill>
                <a:latin typeface="Meiryo UI"/>
                <a:ea typeface="Meiryo UI"/>
              </a:rPr>
              <a:t>【児童生徒（区立小中学校）】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1000" b="1">
                <a:solidFill>
                  <a:srgbClr val="1F2937"/>
                </a:solidFill>
                <a:latin typeface="Meiryo UI"/>
                <a:ea typeface="Meiryo UI"/>
              </a:rPr>
              <a:t>こたエールに自殺企図に関する相談メールを送信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区が貸与している学習用アカウント（メールアドレス）から送信される。</a:t>
            </a:r>
          </a:p>
        </p:txBody>
      </p:sp>
      <p:sp>
        <p:nvSpPr>
          <p:cNvPr id="8" name="Oval 7"/>
          <p:cNvSpPr/>
          <p:nvPr/>
        </p:nvSpPr>
        <p:spPr>
          <a:xfrm>
            <a:off x="35999" y="1886400"/>
            <a:ext cx="223200" cy="223200"/>
          </a:xfrm>
          <a:prstGeom prst="ellipse">
            <a:avLst/>
          </a:prstGeom>
          <a:solidFill>
            <a:srgbClr val="2F549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5000" y="2340000"/>
            <a:ext cx="0" cy="144000"/>
          </a:xfrm>
          <a:prstGeom prst="line">
            <a:avLst/>
          </a:prstGeom>
          <a:ln w="22225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6000" y="2466000"/>
            <a:ext cx="3258000" cy="1080000"/>
          </a:xfrm>
          <a:prstGeom prst="roundRect">
            <a:avLst>
              <a:gd name="adj" fmla="val 9000"/>
            </a:avLst>
          </a:prstGeom>
          <a:solidFill>
            <a:srgbClr val="D6EAF8"/>
          </a:solidFill>
          <a:ln w="19050">
            <a:solidFill>
              <a:srgbClr val="216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1">
                <a:solidFill>
                  <a:srgbClr val="21618C"/>
                </a:solidFill>
                <a:latin typeface="Meiryo UI"/>
                <a:ea typeface="Meiryo UI"/>
              </a:rPr>
              <a:t>【こたエール職員】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1000" b="1">
                <a:solidFill>
                  <a:srgbClr val="1F2937"/>
                </a:solidFill>
                <a:latin typeface="Meiryo UI"/>
                <a:ea typeface="Meiryo UI"/>
              </a:rPr>
              <a:t>教育指導課の指導主事へ電話で情報提供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※区貸与アカウントは外部からの受信が制限され、本人に返信できないため。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2F5496"/>
                </a:solidFill>
                <a:latin typeface="Meiryo UI"/>
                <a:ea typeface="Meiryo UI"/>
              </a:rPr>
              <a:t>聞き取り：□アドレス □受信日時 □内容（方法・時期の具体性＝切迫度）□氏名・学校の手がかり □折返し先</a:t>
            </a:r>
          </a:p>
        </p:txBody>
      </p:sp>
      <p:sp>
        <p:nvSpPr>
          <p:cNvPr id="11" name="Oval 10"/>
          <p:cNvSpPr/>
          <p:nvPr/>
        </p:nvSpPr>
        <p:spPr>
          <a:xfrm>
            <a:off x="35999" y="2894399"/>
            <a:ext cx="223200" cy="223200"/>
          </a:xfrm>
          <a:prstGeom prst="ellipse">
            <a:avLst/>
          </a:prstGeom>
          <a:solidFill>
            <a:srgbClr val="2F549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35000" y="3546000"/>
            <a:ext cx="0" cy="125999"/>
          </a:xfrm>
          <a:prstGeom prst="line">
            <a:avLst/>
          </a:prstGeom>
          <a:ln w="22225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06000" y="3671999"/>
            <a:ext cx="3258000" cy="936000"/>
          </a:xfrm>
          <a:prstGeom prst="roundRect">
            <a:avLst>
              <a:gd name="adj" fmla="val 9000"/>
            </a:avLst>
          </a:prstGeom>
          <a:solidFill>
            <a:srgbClr val="E8DAEF"/>
          </a:solidFill>
          <a:ln w="19050">
            <a:solidFill>
              <a:srgbClr val="6C34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1">
                <a:solidFill>
                  <a:srgbClr val="6C3483"/>
                </a:solidFill>
                <a:latin typeface="Meiryo UI"/>
                <a:ea typeface="Meiryo UI"/>
              </a:rPr>
              <a:t>【教育指導課 指導主事】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1000" b="1">
                <a:solidFill>
                  <a:srgbClr val="1F2937"/>
                </a:solidFill>
                <a:latin typeface="Meiryo UI"/>
                <a:ea typeface="Meiryo UI"/>
              </a:rPr>
              <a:t>直ちに課内で共有し、時系列記録を開始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課長・統括指導主事へ即報告。対応は必ず複数人で。生命・身体の保護に必要な個人情報の提供・取得は本人同意不要（個人情報保護法27条1項2号）。</a:t>
            </a:r>
          </a:p>
        </p:txBody>
      </p:sp>
      <p:sp>
        <p:nvSpPr>
          <p:cNvPr id="14" name="Oval 13"/>
          <p:cNvSpPr/>
          <p:nvPr/>
        </p:nvSpPr>
        <p:spPr>
          <a:xfrm>
            <a:off x="35999" y="4028400"/>
            <a:ext cx="223200" cy="223200"/>
          </a:xfrm>
          <a:prstGeom prst="ellipse">
            <a:avLst/>
          </a:prstGeom>
          <a:solidFill>
            <a:srgbClr val="2F549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35000" y="4608000"/>
            <a:ext cx="0" cy="125999"/>
          </a:xfrm>
          <a:prstGeom prst="line">
            <a:avLst/>
          </a:prstGeom>
          <a:ln w="22225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62800" y="4734000"/>
            <a:ext cx="3344400" cy="2034000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C0630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6000" y="4626000"/>
            <a:ext cx="900000" cy="216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06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900" b="1">
                <a:solidFill>
                  <a:srgbClr val="C0630C"/>
                </a:solidFill>
                <a:latin typeface="Meiryo UI"/>
                <a:ea typeface="Meiryo UI"/>
              </a:rPr>
              <a:t>【同時進行】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000" y="4896000"/>
            <a:ext cx="3078000" cy="827999"/>
          </a:xfrm>
          <a:prstGeom prst="roundRect">
            <a:avLst>
              <a:gd name="adj" fmla="val 9000"/>
            </a:avLst>
          </a:prstGeom>
          <a:solidFill>
            <a:srgbClr val="E8DAEF"/>
          </a:solidFill>
          <a:ln w="19050">
            <a:solidFill>
              <a:srgbClr val="6C34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1">
                <a:solidFill>
                  <a:srgbClr val="6C3483"/>
                </a:solidFill>
                <a:latin typeface="Meiryo UI"/>
                <a:ea typeface="Meiryo UI"/>
              </a:rPr>
              <a:t>【教育指導課 指導主事】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1000" b="1">
                <a:solidFill>
                  <a:srgbClr val="1F2937"/>
                </a:solidFill>
                <a:latin typeface="Meiryo UI"/>
                <a:ea typeface="Meiryo UI"/>
              </a:rPr>
              <a:t>教育ICT環境整備係（教育施設課）へ児童生徒の照会を依頼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メールアドレスを伝達。区貸与アカウントのため在籍校・学年・氏名を特定できる。</a:t>
            </a:r>
          </a:p>
        </p:txBody>
      </p:sp>
      <p:sp>
        <p:nvSpPr>
          <p:cNvPr id="19" name="Oval 18"/>
          <p:cNvSpPr/>
          <p:nvPr/>
        </p:nvSpPr>
        <p:spPr>
          <a:xfrm>
            <a:off x="126000" y="5198400"/>
            <a:ext cx="223200" cy="223200"/>
          </a:xfrm>
          <a:prstGeom prst="ellipse">
            <a:avLst/>
          </a:prstGeom>
          <a:solidFill>
            <a:srgbClr val="2F549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6000" y="5813999"/>
            <a:ext cx="3078000" cy="827999"/>
          </a:xfrm>
          <a:prstGeom prst="roundRect">
            <a:avLst>
              <a:gd name="adj" fmla="val 9000"/>
            </a:avLst>
          </a:prstGeom>
          <a:solidFill>
            <a:srgbClr val="D1E7DD"/>
          </a:solidFill>
          <a:ln w="19050">
            <a:solidFill>
              <a:srgbClr val="1E66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1">
                <a:solidFill>
                  <a:srgbClr val="1E6641"/>
                </a:solidFill>
                <a:latin typeface="Meiryo UI"/>
                <a:ea typeface="Meiryo UI"/>
              </a:rPr>
              <a:t>【警察署（練馬区内管轄）】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1000" b="1">
                <a:solidFill>
                  <a:srgbClr val="1F2937"/>
                </a:solidFill>
                <a:latin typeface="Meiryo UI"/>
                <a:ea typeface="Meiryo UI"/>
              </a:rPr>
              <a:t>警察署から指導主事へ、当該児童生徒の照会の連絡が入る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こたエールは警察にも情報提供している。担当係・担当者名・折返し先を必ず控える。</a:t>
            </a:r>
          </a:p>
        </p:txBody>
      </p:sp>
      <p:sp>
        <p:nvSpPr>
          <p:cNvPr id="21" name="Oval 20"/>
          <p:cNvSpPr/>
          <p:nvPr/>
        </p:nvSpPr>
        <p:spPr>
          <a:xfrm>
            <a:off x="126000" y="6116399"/>
            <a:ext cx="223200" cy="223200"/>
          </a:xfrm>
          <a:prstGeom prst="ellipse">
            <a:avLst/>
          </a:prstGeom>
          <a:solidFill>
            <a:srgbClr val="2F549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5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935000" y="6768000"/>
            <a:ext cx="0" cy="125999"/>
          </a:xfrm>
          <a:prstGeom prst="line">
            <a:avLst/>
          </a:prstGeom>
          <a:ln w="22225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567000" y="6893999"/>
            <a:ext cx="2736000" cy="720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374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1F2937"/>
                </a:solidFill>
                <a:latin typeface="Meiryo UI"/>
                <a:ea typeface="Meiryo UI"/>
              </a:rPr>
              <a:t>児童生徒を</a:t>
            </a:r>
            <a:br/>
            <a:r>
              <a:rPr sz="1000" b="1">
                <a:solidFill>
                  <a:srgbClr val="1F2937"/>
                </a:solidFill>
                <a:latin typeface="Meiryo UI"/>
                <a:ea typeface="Meiryo UI"/>
              </a:rPr>
              <a:t>特定できたか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5999" y="7740000"/>
            <a:ext cx="1548000" cy="576000"/>
          </a:xfrm>
          <a:prstGeom prst="roundRect">
            <a:avLst>
              <a:gd name="adj" fmla="val 10000"/>
            </a:avLst>
          </a:prstGeom>
          <a:solidFill>
            <a:srgbClr val="F4F6F8"/>
          </a:solidFill>
          <a:ln w="12700">
            <a:solidFill>
              <a:srgbClr val="3747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950" b="1">
                <a:solidFill>
                  <a:srgbClr val="1F2937"/>
                </a:solidFill>
                <a:latin typeface="Meiryo UI"/>
                <a:ea typeface="Meiryo UI"/>
              </a:rPr>
              <a:t>照会結果を待つ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50" b="0">
                <a:solidFill>
                  <a:srgbClr val="1F2937"/>
                </a:solidFill>
                <a:latin typeface="Meiryo UI"/>
                <a:ea typeface="Meiryo UI"/>
              </a:rPr>
              <a:t>判明し次第、直ちに警察の担当者へ連絡する。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790000" y="7253999"/>
            <a:ext cx="513000" cy="486001"/>
          </a:xfrm>
          <a:prstGeom prst="line">
            <a:avLst/>
          </a:prstGeom>
          <a:ln w="22225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249000" y="7433999"/>
            <a:ext cx="648000" cy="180000"/>
          </a:xfrm>
          <a:prstGeom prst="rect">
            <a:avLst/>
          </a:prstGeom>
          <a:noFill/>
        </p:spPr>
        <p:txBody>
          <a:bodyPr wrap="none" anchor="t" lIns="46800" rIns="46800" tIns="21600" bIns="216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900" b="1">
                <a:solidFill>
                  <a:srgbClr val="1F2937"/>
                </a:solidFill>
                <a:latin typeface="Meiryo UI"/>
                <a:ea typeface="Meiryo UI"/>
              </a:rPr>
              <a:t>いいえ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95000" y="7613999"/>
            <a:ext cx="0" cy="792001"/>
          </a:xfrm>
          <a:prstGeom prst="line">
            <a:avLst/>
          </a:prstGeom>
          <a:ln w="22225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55000" y="7757999"/>
            <a:ext cx="503999" cy="180000"/>
          </a:xfrm>
          <a:prstGeom prst="rect">
            <a:avLst/>
          </a:prstGeom>
          <a:noFill/>
        </p:spPr>
        <p:txBody>
          <a:bodyPr wrap="none" anchor="t" lIns="46800" rIns="46800" tIns="21600" bIns="21600">
            <a:spAutoFit/>
          </a:bodyPr>
          <a:lstStyle/>
          <a:p>
            <a:pPr algn="r">
              <a:lnSpc>
                <a:spcPct val="102000"/>
              </a:lnSpc>
              <a:spcAft>
                <a:spcPts val="200"/>
              </a:spcAft>
            </a:pPr>
            <a:r>
              <a:rPr sz="900" b="1">
                <a:solidFill>
                  <a:srgbClr val="1F2937"/>
                </a:solidFill>
                <a:latin typeface="Meiryo UI"/>
                <a:ea typeface="Meiryo UI"/>
              </a:rPr>
              <a:t>はい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790000" y="8315999"/>
            <a:ext cx="0" cy="72001"/>
          </a:xfrm>
          <a:prstGeom prst="line">
            <a:avLst/>
          </a:prstGeom>
          <a:ln w="22225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entagon 29"/>
          <p:cNvSpPr/>
          <p:nvPr/>
        </p:nvSpPr>
        <p:spPr>
          <a:xfrm>
            <a:off x="306000" y="8406000"/>
            <a:ext cx="3258000" cy="342000"/>
          </a:xfrm>
          <a:prstGeom prst="homePlate">
            <a:avLst/>
          </a:prstGeom>
          <a:solidFill>
            <a:srgbClr val="374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Meiryo UI"/>
                <a:ea typeface="Meiryo UI"/>
              </a:rPr>
              <a:t>特定できたら → 右の列(フェーズ2)へ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88000" y="1278000"/>
            <a:ext cx="3366000" cy="270000"/>
          </a:xfrm>
          <a:prstGeom prst="rect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フェーズ2　警察との連携 〜 安否確認（特定後 直ちに）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571000" y="1548000"/>
            <a:ext cx="0" cy="126000"/>
          </a:xfrm>
          <a:prstGeom prst="line">
            <a:avLst/>
          </a:prstGeom>
          <a:ln w="22225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888000" y="1674000"/>
            <a:ext cx="3366000" cy="1080000"/>
          </a:xfrm>
          <a:prstGeom prst="roundRect">
            <a:avLst>
              <a:gd name="adj" fmla="val 9000"/>
            </a:avLst>
          </a:prstGeom>
          <a:solidFill>
            <a:srgbClr val="E8DAEF"/>
          </a:solidFill>
          <a:ln w="19050">
            <a:solidFill>
              <a:srgbClr val="6C34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1">
                <a:solidFill>
                  <a:srgbClr val="6C3483"/>
                </a:solidFill>
                <a:latin typeface="Meiryo UI"/>
                <a:ea typeface="Meiryo UI"/>
              </a:rPr>
              <a:t>【教育指導課 指導主事】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1000" b="1">
                <a:solidFill>
                  <a:srgbClr val="1F2937"/>
                </a:solidFill>
                <a:latin typeface="Meiryo UI"/>
                <a:ea typeface="Meiryo UI"/>
              </a:rPr>
              <a:t>警察へ ①学校名 ②学年 ③氏名 を伝える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警察が当該校へ連絡する前に、指導主事から当該校へ事前連絡する旨を伝え、当該校に何を伝えるべきか助言をもらう。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C0630C"/>
                </a:solidFill>
                <a:latin typeface="Meiryo UI"/>
                <a:ea typeface="Meiryo UI"/>
              </a:rPr>
              <a:t>助言の例：事前に保護者に連絡しておく／保護者からの虐待が疑われるため、警察が連絡するまでは何もしない　等</a:t>
            </a:r>
          </a:p>
        </p:txBody>
      </p:sp>
      <p:sp>
        <p:nvSpPr>
          <p:cNvPr id="34" name="Oval 33"/>
          <p:cNvSpPr/>
          <p:nvPr/>
        </p:nvSpPr>
        <p:spPr>
          <a:xfrm>
            <a:off x="3618000" y="2102400"/>
            <a:ext cx="223200" cy="223200"/>
          </a:xfrm>
          <a:prstGeom prst="ellipse">
            <a:avLst/>
          </a:prstGeom>
          <a:solidFill>
            <a:srgbClr val="2F549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6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571000" y="2754000"/>
            <a:ext cx="0" cy="126000"/>
          </a:xfrm>
          <a:prstGeom prst="line">
            <a:avLst/>
          </a:prstGeom>
          <a:ln w="22225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888000" y="2880000"/>
            <a:ext cx="3366000" cy="1188000"/>
          </a:xfrm>
          <a:prstGeom prst="roundRect">
            <a:avLst>
              <a:gd name="adj" fmla="val 9000"/>
            </a:avLst>
          </a:prstGeom>
          <a:solidFill>
            <a:srgbClr val="E8DAEF"/>
          </a:solidFill>
          <a:ln w="19050">
            <a:solidFill>
              <a:srgbClr val="6C34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1">
                <a:solidFill>
                  <a:srgbClr val="6C3483"/>
                </a:solidFill>
                <a:latin typeface="Meiryo UI"/>
                <a:ea typeface="Meiryo UI"/>
              </a:rPr>
              <a:t>【教育指導課 指導主事】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1000" b="1">
                <a:solidFill>
                  <a:srgbClr val="1F2937"/>
                </a:solidFill>
                <a:latin typeface="Meiryo UI"/>
                <a:ea typeface="Meiryo UI"/>
              </a:rPr>
              <a:t>当該校の校長（不在時は副校長）へ電話で事前連絡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・警察から在籍確認の連絡が入ること</a:t>
            </a:r>
            <a:br/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・警察の助言に基づく対応方法（保護者への連絡の要否 等）</a:t>
            </a:r>
            <a:br/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・校内で知る教職員は必要最小限にとどめること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0">
                <a:solidFill>
                  <a:srgbClr val="B02121"/>
                </a:solidFill>
                <a:latin typeface="Meiryo UI"/>
                <a:ea typeface="Meiryo UI"/>
              </a:rPr>
              <a:t>※虐待疑い時は保護者に連絡せず、子供家庭支援センター・児童相談所へ通告（児童虐待防止法6条）</a:t>
            </a:r>
          </a:p>
        </p:txBody>
      </p:sp>
      <p:sp>
        <p:nvSpPr>
          <p:cNvPr id="37" name="Oval 36"/>
          <p:cNvSpPr/>
          <p:nvPr/>
        </p:nvSpPr>
        <p:spPr>
          <a:xfrm>
            <a:off x="3618000" y="3362400"/>
            <a:ext cx="223200" cy="223200"/>
          </a:xfrm>
          <a:prstGeom prst="ellipse">
            <a:avLst/>
          </a:prstGeom>
          <a:solidFill>
            <a:srgbClr val="2F549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7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571000" y="4068000"/>
            <a:ext cx="0" cy="126000"/>
          </a:xfrm>
          <a:prstGeom prst="line">
            <a:avLst/>
          </a:prstGeom>
          <a:ln w="22225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3888000" y="4194000"/>
            <a:ext cx="3366000" cy="684000"/>
          </a:xfrm>
          <a:prstGeom prst="roundRect">
            <a:avLst>
              <a:gd name="adj" fmla="val 9000"/>
            </a:avLst>
          </a:prstGeom>
          <a:solidFill>
            <a:srgbClr val="D1E7DD"/>
          </a:solidFill>
          <a:ln w="19050">
            <a:solidFill>
              <a:srgbClr val="1E66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1">
                <a:solidFill>
                  <a:srgbClr val="1E6641"/>
                </a:solidFill>
                <a:latin typeface="Meiryo UI"/>
                <a:ea typeface="Meiryo UI"/>
              </a:rPr>
              <a:t>【警察署（練馬区内管轄）】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1000" b="1">
                <a:solidFill>
                  <a:srgbClr val="1F2937"/>
                </a:solidFill>
                <a:latin typeface="Meiryo UI"/>
                <a:ea typeface="Meiryo UI"/>
              </a:rPr>
              <a:t>当該校へ連絡し、在籍確認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在籍していれば ①氏名 ②保護者の連絡先 ③住所 を確認する。</a:t>
            </a:r>
          </a:p>
        </p:txBody>
      </p:sp>
      <p:sp>
        <p:nvSpPr>
          <p:cNvPr id="40" name="Oval 39"/>
          <p:cNvSpPr/>
          <p:nvPr/>
        </p:nvSpPr>
        <p:spPr>
          <a:xfrm>
            <a:off x="3618000" y="4424400"/>
            <a:ext cx="223200" cy="223200"/>
          </a:xfrm>
          <a:prstGeom prst="ellipse">
            <a:avLst/>
          </a:prstGeom>
          <a:solidFill>
            <a:srgbClr val="2F549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8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571000" y="4878000"/>
            <a:ext cx="0" cy="126000"/>
          </a:xfrm>
          <a:prstGeom prst="line">
            <a:avLst/>
          </a:prstGeom>
          <a:ln w="22225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888000" y="5004000"/>
            <a:ext cx="3366000" cy="827999"/>
          </a:xfrm>
          <a:prstGeom prst="roundRect">
            <a:avLst>
              <a:gd name="adj" fmla="val 9000"/>
            </a:avLst>
          </a:prstGeom>
          <a:solidFill>
            <a:srgbClr val="D1E7DD"/>
          </a:solidFill>
          <a:ln w="19050">
            <a:solidFill>
              <a:srgbClr val="1E66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1">
                <a:solidFill>
                  <a:srgbClr val="1E6641"/>
                </a:solidFill>
                <a:latin typeface="Meiryo UI"/>
                <a:ea typeface="Meiryo UI"/>
              </a:rPr>
              <a:t>【警察署（練馬区内管轄）】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1000" b="1">
                <a:solidFill>
                  <a:srgbClr val="1F2937"/>
                </a:solidFill>
                <a:latin typeface="Meiryo UI"/>
                <a:ea typeface="Meiryo UI"/>
              </a:rPr>
              <a:t>当該児童生徒の自宅を訪問し、安否確認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必要に応じ保護等の措置（警察官職務執行法3条）。完了まで指導主事・当該校とも電話を受けられる体制を維持する。</a:t>
            </a:r>
          </a:p>
        </p:txBody>
      </p:sp>
      <p:sp>
        <p:nvSpPr>
          <p:cNvPr id="43" name="Oval 42"/>
          <p:cNvSpPr/>
          <p:nvPr/>
        </p:nvSpPr>
        <p:spPr>
          <a:xfrm>
            <a:off x="3618000" y="5306400"/>
            <a:ext cx="223200" cy="223200"/>
          </a:xfrm>
          <a:prstGeom prst="ellipse">
            <a:avLst/>
          </a:prstGeom>
          <a:solidFill>
            <a:srgbClr val="2F549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9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571000" y="5832000"/>
            <a:ext cx="0" cy="126000"/>
          </a:xfrm>
          <a:prstGeom prst="line">
            <a:avLst/>
          </a:prstGeom>
          <a:ln w="22225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3888000" y="5958000"/>
            <a:ext cx="3366000" cy="503999"/>
          </a:xfrm>
          <a:prstGeom prst="roundRect">
            <a:avLst>
              <a:gd name="adj" fmla="val 9000"/>
            </a:avLst>
          </a:prstGeom>
          <a:solidFill>
            <a:srgbClr val="D1E7DD"/>
          </a:solidFill>
          <a:ln w="19050">
            <a:solidFill>
              <a:srgbClr val="1E66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1">
                <a:solidFill>
                  <a:srgbClr val="1E6641"/>
                </a:solidFill>
                <a:latin typeface="Meiryo UI"/>
                <a:ea typeface="Meiryo UI"/>
              </a:rPr>
              <a:t>【警察署（練馬区内管轄）】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1000" b="1">
                <a:solidFill>
                  <a:srgbClr val="1F2937"/>
                </a:solidFill>
                <a:latin typeface="Meiryo UI"/>
                <a:ea typeface="Meiryo UI"/>
              </a:rPr>
              <a:t>安否確認の結果を当該校へ連絡</a:t>
            </a:r>
          </a:p>
        </p:txBody>
      </p:sp>
      <p:sp>
        <p:nvSpPr>
          <p:cNvPr id="46" name="Oval 45"/>
          <p:cNvSpPr/>
          <p:nvPr/>
        </p:nvSpPr>
        <p:spPr>
          <a:xfrm>
            <a:off x="3618000" y="6098400"/>
            <a:ext cx="223200" cy="223200"/>
          </a:xfrm>
          <a:prstGeom prst="ellipse">
            <a:avLst/>
          </a:prstGeom>
          <a:solidFill>
            <a:srgbClr val="2F549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10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571000" y="6462000"/>
            <a:ext cx="0" cy="126000"/>
          </a:xfrm>
          <a:prstGeom prst="line">
            <a:avLst/>
          </a:prstGeom>
          <a:ln w="22225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3888000" y="6588000"/>
            <a:ext cx="3366000" cy="792000"/>
          </a:xfrm>
          <a:prstGeom prst="roundRect">
            <a:avLst>
              <a:gd name="adj" fmla="val 9000"/>
            </a:avLst>
          </a:prstGeom>
          <a:solidFill>
            <a:srgbClr val="FCF3CF"/>
          </a:solidFill>
          <a:ln w="19050">
            <a:solidFill>
              <a:srgbClr val="9A76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1">
                <a:solidFill>
                  <a:srgbClr val="9A760A"/>
                </a:solidFill>
                <a:latin typeface="Meiryo UI"/>
                <a:ea typeface="Meiryo UI"/>
              </a:rPr>
              <a:t>【当該校（校長・副校長）】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1000" b="1">
                <a:solidFill>
                  <a:srgbClr val="1F2937"/>
                </a:solidFill>
                <a:latin typeface="Meiryo UI"/>
                <a:ea typeface="Meiryo UI"/>
              </a:rPr>
              <a:t>警察からの情報を教育指導課へ報告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①安否・現在の状況　②警察がとった措置　③保護者の状況</a:t>
            </a:r>
            <a:br/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④学校が把握している本人の様子（欠席・友人関係・いじめの有無等）</a:t>
            </a:r>
          </a:p>
        </p:txBody>
      </p:sp>
      <p:sp>
        <p:nvSpPr>
          <p:cNvPr id="49" name="Oval 48"/>
          <p:cNvSpPr/>
          <p:nvPr/>
        </p:nvSpPr>
        <p:spPr>
          <a:xfrm>
            <a:off x="3618000" y="6872400"/>
            <a:ext cx="223200" cy="223200"/>
          </a:xfrm>
          <a:prstGeom prst="ellipse">
            <a:avLst/>
          </a:prstGeom>
          <a:solidFill>
            <a:srgbClr val="2F549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11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571000" y="7380000"/>
            <a:ext cx="0" cy="126000"/>
          </a:xfrm>
          <a:prstGeom prst="line">
            <a:avLst/>
          </a:prstGeom>
          <a:ln w="22225">
            <a:solidFill>
              <a:srgbClr val="3747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3888000" y="7506000"/>
            <a:ext cx="3366000" cy="270000"/>
          </a:xfrm>
          <a:prstGeom prst="rect">
            <a:avLst/>
          </a:prstGeom>
          <a:solidFill>
            <a:srgbClr val="2F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フェーズ3　事後の支援（翌日以降・継続）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888000" y="7776000"/>
            <a:ext cx="3366000" cy="936000"/>
          </a:xfrm>
          <a:prstGeom prst="roundRect">
            <a:avLst>
              <a:gd name="adj" fmla="val 9000"/>
            </a:avLst>
          </a:prstGeom>
          <a:solidFill>
            <a:srgbClr val="E8DAEF"/>
          </a:solidFill>
          <a:ln w="19050">
            <a:solidFill>
              <a:srgbClr val="6C34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6800" rIns="46800" tIns="21600" bIns="21600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50" b="1">
                <a:solidFill>
                  <a:srgbClr val="6C3483"/>
                </a:solidFill>
                <a:latin typeface="Meiryo UI"/>
                <a:ea typeface="Meiryo UI"/>
              </a:rPr>
              <a:t>【当該校・教育指導課】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1000" b="1">
                <a:solidFill>
                  <a:srgbClr val="1F2937"/>
                </a:solidFill>
                <a:latin typeface="Meiryo UI"/>
                <a:ea typeface="Meiryo UI"/>
              </a:rPr>
              <a:t>校内支援体制を立ち上げ、継続的に支援</a:t>
            </a:r>
          </a:p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1F2937"/>
                </a:solidFill>
                <a:latin typeface="Meiryo UI"/>
                <a:ea typeface="Meiryo UI"/>
              </a:rPr>
              <a:t>校内委員会（管理職・担任・養護教諭・SC・SSW）で支援方針を決定。保護者と連携し、必要に応じ医療機関へ接続。本人にはTALKの原則で関わり、経過を教育指導課へ定期報告。</a:t>
            </a:r>
          </a:p>
        </p:txBody>
      </p:sp>
      <p:sp>
        <p:nvSpPr>
          <p:cNvPr id="53" name="Oval 52"/>
          <p:cNvSpPr/>
          <p:nvPr/>
        </p:nvSpPr>
        <p:spPr>
          <a:xfrm>
            <a:off x="3618000" y="8132400"/>
            <a:ext cx="223200" cy="223200"/>
          </a:xfrm>
          <a:prstGeom prst="ellipse">
            <a:avLst/>
          </a:prstGeom>
          <a:solidFill>
            <a:srgbClr val="2F549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6800" rIns="46800" tIns="21600" bIns="21600"/>
          <a:lstStyle/>
          <a:p>
            <a:pPr algn="ctr">
              <a:lnSpc>
                <a:spcPct val="102000"/>
              </a:lnSpc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Meiryo UI"/>
                <a:ea typeface="Meiryo UI"/>
              </a:rPr>
              <a:t>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6000" y="8856000"/>
            <a:ext cx="6966000" cy="11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6800" rIns="46800" tIns="21600" bIns="21600"/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900" b="1">
                <a:solidFill>
                  <a:srgbClr val="2F5496"/>
                </a:solidFill>
                <a:latin typeface="Meiryo UI"/>
                <a:ea typeface="Meiryo UI"/>
              </a:rPr>
              <a:t>【根拠・参考資料】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・文部科学省「教師が知っておきたい子どもの自殺予防」（平成21年3月）…組織的対応・記録・TALKの原則（Tell 心配を言葉で伝える／Ask 死にたい気持ちを率直に尋ねる／Listen 傾聴する／Keep safe 一人にせず安全を確保）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・文部科学省「子供に伝えたい自殺予防」（平成26年7月）／自殺総合対策大綱（令和4年10月）／こどもの自殺対策緊急強化プラン（令和5年6月）／自殺対策基本法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・個人情報保護法27条1項2号（生命・身体の保護に必要な場合は本人同意なく第三者提供可）／児童虐待防止法6条（通告義務）／警察官職務執行法3条（保護）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00" b="0">
                <a:solidFill>
                  <a:srgbClr val="1F2937"/>
                </a:solidFill>
                <a:latin typeface="Meiryo UI"/>
                <a:ea typeface="Meiryo UI"/>
              </a:rPr>
              <a:t>※電話でのやり取りは復唱して確認し、直後に記録する。情報は「知る必要のある者」に限定して共有する。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6000" y="10422000"/>
            <a:ext cx="6966000" cy="198000"/>
          </a:xfrm>
          <a:prstGeom prst="rect">
            <a:avLst/>
          </a:prstGeom>
          <a:noFill/>
        </p:spPr>
        <p:txBody>
          <a:bodyPr wrap="square" anchor="t" lIns="46800" rIns="46800" tIns="21600" bIns="21600">
            <a:spAutoFit/>
          </a:bodyPr>
          <a:lstStyle/>
          <a:p>
            <a:pPr algn="r">
              <a:lnSpc>
                <a:spcPct val="102000"/>
              </a:lnSpc>
              <a:spcAft>
                <a:spcPts val="200"/>
              </a:spcAft>
            </a:pPr>
            <a:r>
              <a:rPr sz="800" b="0">
                <a:solidFill>
                  <a:srgbClr val="8A939E"/>
                </a:solidFill>
                <a:latin typeface="Meiryo UI"/>
                <a:ea typeface="Meiryo UI"/>
              </a:rPr>
              <a:t>練馬区教育委員会 教育指導課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