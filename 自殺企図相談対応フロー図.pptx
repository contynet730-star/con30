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999" y="125999"/>
            <a:ext cx="7056000" cy="503999"/>
          </a:xfrm>
          <a:prstGeom prst="rect">
            <a:avLst/>
          </a:prstGeom>
          <a:noFill/>
        </p:spPr>
        <p:txBody>
          <a:bodyPr wrap="square" anchor="ctr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2937"/>
                </a:solidFill>
                <a:latin typeface="Meiryo UI"/>
                <a:ea typeface="Meiryo UI"/>
              </a:rPr>
              <a:t>児童生徒の自殺企図に関する相談への対応フロー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F2937"/>
                </a:solidFill>
                <a:latin typeface="Meiryo UI"/>
                <a:ea typeface="Meiryo UI"/>
              </a:rPr>
              <a:t>（こたエールにメールで相談が入った場合）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8000" y="2632909"/>
            <a:ext cx="6984000" cy="2074909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C0630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2643709"/>
            <a:ext cx="1080000" cy="180000"/>
          </a:xfrm>
          <a:prstGeom prst="rect">
            <a:avLst/>
          </a:prstGeom>
          <a:noFill/>
        </p:spPr>
        <p:txBody>
          <a:bodyPr wrap="square" anchor="t" lIns="18000" rIns="18000" tIns="10800" bIns="108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C0630C"/>
                </a:solidFill>
                <a:latin typeface="Meiryo UI"/>
                <a:ea typeface="Meiryo UI"/>
              </a:rPr>
              <a:t>【同時進行】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0000" y="1224000"/>
            <a:ext cx="0" cy="8460000"/>
          </a:xfrm>
          <a:prstGeom prst="line">
            <a:avLst/>
          </a:prstGeom>
          <a:ln w="12700">
            <a:solidFill>
              <a:srgbClr val="AAB4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999" y="684000"/>
            <a:ext cx="1122000" cy="540000"/>
          </a:xfrm>
          <a:prstGeom prst="roundRect">
            <a:avLst/>
          </a:prstGeom>
          <a:solidFill>
            <a:srgbClr val="FDEBD0"/>
          </a:solidFill>
          <a:ln w="1587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児童生徒</a:t>
            </a:r>
            <a:br/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（自宅）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F2937"/>
                </a:solidFill>
                <a:latin typeface="Meiryo UI"/>
                <a:ea typeface="Meiryo UI"/>
              </a:rPr>
              <a:t>（区立小中学校）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16000" y="1224000"/>
            <a:ext cx="0" cy="8460000"/>
          </a:xfrm>
          <a:prstGeom prst="line">
            <a:avLst/>
          </a:prstGeom>
          <a:ln w="12700">
            <a:solidFill>
              <a:srgbClr val="AAB4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455000" y="684000"/>
            <a:ext cx="1122000" cy="54000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1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こたエール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F2937"/>
                </a:solidFill>
                <a:latin typeface="Meiryo UI"/>
                <a:ea typeface="Meiryo UI"/>
              </a:rPr>
              <a:t>（東京都の相談窓口）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92000" y="1224000"/>
            <a:ext cx="0" cy="8460000"/>
          </a:xfrm>
          <a:prstGeom prst="line">
            <a:avLst/>
          </a:prstGeom>
          <a:ln w="12700">
            <a:solidFill>
              <a:srgbClr val="AAB4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31000" y="684000"/>
            <a:ext cx="1122000" cy="540000"/>
          </a:xfrm>
          <a:prstGeom prst="roundRect">
            <a:avLst/>
          </a:prstGeom>
          <a:solidFill>
            <a:srgbClr val="D1E7DD"/>
          </a:solidFill>
          <a:ln w="15875">
            <a:solidFill>
              <a:srgbClr val="1E66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警察署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F2937"/>
                </a:solidFill>
                <a:latin typeface="Meiryo UI"/>
                <a:ea typeface="Meiryo UI"/>
              </a:rPr>
              <a:t>（練馬区内管轄）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68000" y="1224000"/>
            <a:ext cx="0" cy="8460000"/>
          </a:xfrm>
          <a:prstGeom prst="line">
            <a:avLst/>
          </a:prstGeom>
          <a:ln w="12700">
            <a:solidFill>
              <a:srgbClr val="AAB4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07000" y="684000"/>
            <a:ext cx="1122000" cy="540000"/>
          </a:xfrm>
          <a:prstGeom prst="roundRect">
            <a:avLst/>
          </a:prstGeom>
          <a:solidFill>
            <a:srgbClr val="FCF3CF"/>
          </a:solidFill>
          <a:ln w="15875">
            <a:solidFill>
              <a:srgbClr val="9A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当該校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F2937"/>
                </a:solidFill>
                <a:latin typeface="Meiryo UI"/>
                <a:ea typeface="Meiryo UI"/>
              </a:rPr>
              <a:t>（児童生徒の在籍校）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44000" y="1224000"/>
            <a:ext cx="0" cy="8460000"/>
          </a:xfrm>
          <a:prstGeom prst="line">
            <a:avLst/>
          </a:prstGeom>
          <a:ln w="12700">
            <a:solidFill>
              <a:srgbClr val="AAB4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983000" y="684000"/>
            <a:ext cx="1122000" cy="540000"/>
          </a:xfrm>
          <a:prstGeom prst="roundRect">
            <a:avLst/>
          </a:prstGeom>
          <a:solidFill>
            <a:srgbClr val="E8DAEF"/>
          </a:solidFill>
          <a:ln w="15875">
            <a:solidFill>
              <a:srgbClr val="6C34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教育指導課</a:t>
            </a:r>
            <a:br/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指導主事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F2937"/>
                </a:solidFill>
                <a:latin typeface="Meiryo UI"/>
                <a:ea typeface="Meiryo UI"/>
              </a:rPr>
              <a:t>（練馬区教育委員会）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720000" y="1224000"/>
            <a:ext cx="0" cy="8460000"/>
          </a:xfrm>
          <a:prstGeom prst="line">
            <a:avLst/>
          </a:prstGeom>
          <a:ln w="12700">
            <a:solidFill>
              <a:srgbClr val="AAB4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59000" y="684000"/>
            <a:ext cx="1122000" cy="540000"/>
          </a:xfrm>
          <a:prstGeom prst="roundRect">
            <a:avLst/>
          </a:prstGeom>
          <a:solidFill>
            <a:srgbClr val="E5E8E8"/>
          </a:solidFill>
          <a:ln w="15875">
            <a:solidFill>
              <a:srgbClr val="51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教育ICT</a:t>
            </a:r>
            <a:br/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環境整備係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F2937"/>
                </a:solidFill>
                <a:latin typeface="Meiryo UI"/>
                <a:ea typeface="Meiryo UI"/>
              </a:rPr>
              <a:t>（教育施設課）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0000" y="1692000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2000" y="1159200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自殺企図に関する相談（メール）</a:t>
            </a:r>
          </a:p>
        </p:txBody>
      </p:sp>
      <p:sp>
        <p:nvSpPr>
          <p:cNvPr id="19" name="Oval 18"/>
          <p:cNvSpPr/>
          <p:nvPr/>
        </p:nvSpPr>
        <p:spPr>
          <a:xfrm>
            <a:off x="732000" y="1584000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16000" y="2405454"/>
            <a:ext cx="3528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016000" y="1872654"/>
            <a:ext cx="3528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情報提供 ※1</a:t>
            </a:r>
          </a:p>
        </p:txBody>
      </p:sp>
      <p:sp>
        <p:nvSpPr>
          <p:cNvPr id="22" name="Oval 21"/>
          <p:cNvSpPr/>
          <p:nvPr/>
        </p:nvSpPr>
        <p:spPr>
          <a:xfrm>
            <a:off x="1908000" y="2297454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44000" y="3118909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196000" y="2586109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メールアドレスによる</a:t>
            </a:r>
            <a:br/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児童生徒の照会依頼</a:t>
            </a:r>
          </a:p>
        </p:txBody>
      </p:sp>
      <p:sp>
        <p:nvSpPr>
          <p:cNvPr id="25" name="Oval 24"/>
          <p:cNvSpPr/>
          <p:nvPr/>
        </p:nvSpPr>
        <p:spPr>
          <a:xfrm>
            <a:off x="5436000" y="3010909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16000" y="3832363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668000" y="3299563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情報提供</a:t>
            </a:r>
          </a:p>
        </p:txBody>
      </p:sp>
      <p:sp>
        <p:nvSpPr>
          <p:cNvPr id="28" name="Oval 27"/>
          <p:cNvSpPr/>
          <p:nvPr/>
        </p:nvSpPr>
        <p:spPr>
          <a:xfrm>
            <a:off x="1908000" y="3724363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92000" y="4545818"/>
            <a:ext cx="2352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192000" y="4013018"/>
            <a:ext cx="235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当該児童生徒の照会連絡</a:t>
            </a:r>
          </a:p>
        </p:txBody>
      </p:sp>
      <p:sp>
        <p:nvSpPr>
          <p:cNvPr id="31" name="Oval 30"/>
          <p:cNvSpPr/>
          <p:nvPr/>
        </p:nvSpPr>
        <p:spPr>
          <a:xfrm>
            <a:off x="3084000" y="4437818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5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192000" y="5259272"/>
            <a:ext cx="2352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192000" y="4726472"/>
            <a:ext cx="235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児童生徒が判明している場合、</a:t>
            </a:r>
            <a:br/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①学校名 ②学年 ③氏名を伝達</a:t>
            </a:r>
            <a:br/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＋当該校へ事前連絡する旨を伝える</a:t>
            </a:r>
          </a:p>
        </p:txBody>
      </p:sp>
      <p:sp>
        <p:nvSpPr>
          <p:cNvPr id="34" name="Oval 33"/>
          <p:cNvSpPr/>
          <p:nvPr/>
        </p:nvSpPr>
        <p:spPr>
          <a:xfrm>
            <a:off x="5436000" y="5151272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92000" y="5972727"/>
            <a:ext cx="2352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192000" y="5439927"/>
            <a:ext cx="235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当該校へ伝える内容の助言 ※2</a:t>
            </a:r>
          </a:p>
        </p:txBody>
      </p:sp>
      <p:sp>
        <p:nvSpPr>
          <p:cNvPr id="37" name="Oval 36"/>
          <p:cNvSpPr/>
          <p:nvPr/>
        </p:nvSpPr>
        <p:spPr>
          <a:xfrm>
            <a:off x="3084000" y="5864727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7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4368000" y="6686181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020000" y="6153381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事前連絡</a:t>
            </a:r>
            <a:br/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（警察から連絡が入る旨・対応方法）</a:t>
            </a:r>
          </a:p>
        </p:txBody>
      </p:sp>
      <p:sp>
        <p:nvSpPr>
          <p:cNvPr id="40" name="Oval 39"/>
          <p:cNvSpPr/>
          <p:nvPr/>
        </p:nvSpPr>
        <p:spPr>
          <a:xfrm>
            <a:off x="5436000" y="6578181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8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92000" y="7399636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844000" y="6866836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連絡・在籍確認</a:t>
            </a:r>
            <a:br/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（在籍していれば ①氏名</a:t>
            </a:r>
            <a:br/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②保護者の連絡先 ③住所を確認）</a:t>
            </a:r>
          </a:p>
        </p:txBody>
      </p:sp>
      <p:sp>
        <p:nvSpPr>
          <p:cNvPr id="43" name="Oval 42"/>
          <p:cNvSpPr/>
          <p:nvPr/>
        </p:nvSpPr>
        <p:spPr>
          <a:xfrm>
            <a:off x="3084000" y="7291636"/>
            <a:ext cx="2160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9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840000" y="8113090"/>
            <a:ext cx="2352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0000" y="7580290"/>
            <a:ext cx="235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自宅を訪問し、安否確認</a:t>
            </a:r>
          </a:p>
        </p:txBody>
      </p:sp>
      <p:sp>
        <p:nvSpPr>
          <p:cNvPr id="46" name="Oval 45"/>
          <p:cNvSpPr/>
          <p:nvPr/>
        </p:nvSpPr>
        <p:spPr>
          <a:xfrm>
            <a:off x="3062400" y="8005090"/>
            <a:ext cx="2592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10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192000" y="8826545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844000" y="8293745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安否確認の結果を連絡</a:t>
            </a:r>
          </a:p>
        </p:txBody>
      </p:sp>
      <p:sp>
        <p:nvSpPr>
          <p:cNvPr id="49" name="Oval 48"/>
          <p:cNvSpPr/>
          <p:nvPr/>
        </p:nvSpPr>
        <p:spPr>
          <a:xfrm>
            <a:off x="3062400" y="8718545"/>
            <a:ext cx="2592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11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368000" y="9540000"/>
            <a:ext cx="1176000" cy="0"/>
          </a:xfrm>
          <a:prstGeom prst="line">
            <a:avLst/>
          </a:prstGeom>
          <a:ln w="19050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020000" y="9007200"/>
            <a:ext cx="1872000" cy="413999"/>
          </a:xfrm>
          <a:prstGeom prst="rect">
            <a:avLst/>
          </a:prstGeom>
          <a:noFill/>
        </p:spPr>
        <p:txBody>
          <a:bodyPr wrap="square" anchor="b" lIns="18000" rIns="18000" tIns="10800" bIns="108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教育指導課へ報告</a:t>
            </a:r>
          </a:p>
        </p:txBody>
      </p:sp>
      <p:sp>
        <p:nvSpPr>
          <p:cNvPr id="52" name="Oval 51"/>
          <p:cNvSpPr/>
          <p:nvPr/>
        </p:nvSpPr>
        <p:spPr>
          <a:xfrm>
            <a:off x="4238400" y="9432000"/>
            <a:ext cx="259200" cy="216000"/>
          </a:xfrm>
          <a:prstGeom prst="ellipse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10800" bIns="1080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999" y="9828000"/>
            <a:ext cx="7056000" cy="792000"/>
          </a:xfrm>
          <a:prstGeom prst="rect">
            <a:avLst/>
          </a:prstGeom>
          <a:noFill/>
        </p:spPr>
        <p:txBody>
          <a:bodyPr wrap="square" anchor="t" lIns="18000" rIns="18000" tIns="10800" bIns="1080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※1　児童生徒が相談に用いたメールアドレスには、こたエール職員から返信することができないため、教育委員会へ情報提供を行う。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1F2937"/>
                </a:solidFill>
                <a:latin typeface="Meiryo UI"/>
                <a:ea typeface="Meiryo UI"/>
              </a:rPr>
              <a:t>※2　助言の例：事前に保護者に連絡しておく／保護者からの虐待が疑われるため、警察が連絡するまでは何もしない　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