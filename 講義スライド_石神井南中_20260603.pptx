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0000"/>
            <a:ext cx="12192000" cy="558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5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80000"/>
            <a:ext cx="10800000" cy="5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令和８年度　石神井南中学校　校内研究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1700000"/>
            <a:ext cx="11400000" cy="1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6000" b="1">
                <a:solidFill>
                  <a:srgbClr val="1F3A6E"/>
                </a:solidFill>
                <a:latin typeface="メイリオ"/>
              </a:rPr>
              <a:t>指導と評価の一体化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0" y="3250000"/>
            <a:ext cx="8600000" cy="9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2A96C2"/>
                </a:solidFill>
                <a:latin typeface="メイリオ"/>
              </a:rPr>
              <a:t>生徒の姿で語る授業改善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4350000"/>
            <a:ext cx="11400000" cy="6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0">
                <a:solidFill>
                  <a:srgbClr val="404040"/>
                </a:solidFill>
                <a:latin typeface="メイリオ"/>
              </a:rPr>
              <a:t>〜明日、何を変えるか〜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5050000"/>
            <a:ext cx="11400000" cy="4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令和８年６月３日（水）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552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練馬区教育委員会　指導主事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900000"/>
            <a:ext cx="11400000" cy="3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紺多　章一郎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ウォームアップ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この数字は何を表しているでしょう？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47.2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30.5　／　22.3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340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A中学校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185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8.1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65.8　／　26.1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0000" y="340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B中学校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0000" y="185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</a:rPr>
              <a:t>12.4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50.3　／　37.3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340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C中学校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15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ヒント：ある教科・ある観点の評定割合（％）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5150000"/>
            <a:ext cx="11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EB6C15"/>
                </a:solidFill>
                <a:latin typeface="メイリオ"/>
              </a:rPr>
              <a:t>答え：区内3校の同一教科「主体的に学習に取り組む態度」の評定割合</a:t>
            </a:r>
          </a:p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同じ教科でも、学校で大きく異なる現実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本日の流れ（30分）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Part1〜Part5の構成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7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Part1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0000" y="1850000"/>
            <a:ext cx="78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評価をめぐる「いま」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0000" y="1850000"/>
            <a:ext cx="17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2A96C2"/>
                </a:solidFill>
                <a:latin typeface="メイリオ"/>
              </a:rPr>
              <a:t>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2720000"/>
            <a:ext cx="17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Part2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00000" y="2720000"/>
            <a:ext cx="78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石神井南中の現状と課題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00000" y="2720000"/>
            <a:ext cx="17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2A96C2"/>
                </a:solidFill>
                <a:latin typeface="メイリオ"/>
              </a:rPr>
              <a:t>5分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3590000"/>
            <a:ext cx="17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Part3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0000" y="3590000"/>
            <a:ext cx="78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「指導と評価の一体化」の核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0000" y="3590000"/>
            <a:ext cx="17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2A96C2"/>
                </a:solidFill>
                <a:latin typeface="メイリオ"/>
              </a:rPr>
              <a:t>13分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4460000"/>
            <a:ext cx="17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Part4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00000" y="4460000"/>
            <a:ext cx="78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明日から動かす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0000" y="4460000"/>
            <a:ext cx="17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2A96C2"/>
                </a:solidFill>
                <a:latin typeface="メイリオ"/>
              </a:rPr>
              <a:t>5分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00" y="5330000"/>
            <a:ext cx="1700000" cy="7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Part5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00000" y="5330000"/>
            <a:ext cx="78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協議会へのつなぎ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0000" y="5330000"/>
            <a:ext cx="1700000" cy="75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2A96C2"/>
                </a:solidFill>
                <a:latin typeface="メイリオ"/>
              </a:rPr>
              <a:t>2分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100000"/>
            <a:ext cx="10200000" cy="27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1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5200" b="1">
                <a:solidFill>
                  <a:srgbClr val="1F3A6E"/>
                </a:solidFill>
                <a:latin typeface="メイリオ"/>
              </a:rPr>
              <a:t>評価をめぐる「いま」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</a:rPr>
              <a:t>─ 学習評価とは何か。なぜ今、見直されているのか 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1　評価をめぐる「いま」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「学習評価」と「評定」とは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00" y="1800000"/>
            <a:ext cx="11400000" cy="4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3A6E"/>
                </a:solidFill>
                <a:latin typeface="メイリオ"/>
              </a:rPr>
              <a:t>●「学習評価」とは…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300000"/>
            <a:ext cx="11400000" cy="15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各教科の目標に照らして、生徒の実現状況を　</a:t>
            </a:r>
            <a:r>
              <a:rPr sz="3000" b="1">
                <a:solidFill>
                  <a:srgbClr val="EB6C15"/>
                </a:solidFill>
                <a:latin typeface="メイリオ"/>
              </a:rPr>
              <a:t>観点ごとに評価</a:t>
            </a:r>
          </a:p>
          <a:p>
            <a:pPr algn="l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し、学習状況を　</a:t>
            </a:r>
            <a:r>
              <a:rPr sz="3000" b="1">
                <a:solidFill>
                  <a:srgbClr val="EB6C15"/>
                </a:solidFill>
                <a:latin typeface="メイリオ"/>
              </a:rPr>
              <a:t>分析的に捉える</a:t>
            </a:r>
            <a:r>
              <a:rPr sz="2800" b="1">
                <a:solidFill>
                  <a:srgbClr val="000000"/>
                </a:solidFill>
                <a:latin typeface="メイリオ"/>
              </a:rPr>
              <a:t>もの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" y="3950000"/>
            <a:ext cx="11400000" cy="4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3A6E"/>
                </a:solidFill>
                <a:latin typeface="メイリオ"/>
              </a:rPr>
              <a:t>●「評定」とは…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450000"/>
            <a:ext cx="11400000" cy="15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観点別評価を基に、</a:t>
            </a:r>
            <a:r>
              <a:rPr sz="3000" b="1">
                <a:solidFill>
                  <a:srgbClr val="EB6C15"/>
                </a:solidFill>
                <a:latin typeface="メイリオ"/>
              </a:rPr>
              <a:t>総括的</a:t>
            </a:r>
            <a:r>
              <a:rPr sz="2800" b="1">
                <a:solidFill>
                  <a:srgbClr val="000000"/>
                </a:solidFill>
                <a:latin typeface="メイリオ"/>
              </a:rPr>
              <a:t>に学習状況を示す</a:t>
            </a:r>
          </a:p>
          <a:p>
            <a:pPr algn="l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中学校は ５段階 で表記する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出典：中学校学習指導要領　総則（平成29年告示）／文部科学省 総則・評価特別部会資料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1　評価をめぐる「いま」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学習評価を行う目的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3200" b="1">
                <a:solidFill>
                  <a:srgbClr val="1F3A6E"/>
                </a:solidFill>
                <a:latin typeface="メイリオ"/>
              </a:rPr>
              <a:t>▶  教師の　</a:t>
            </a:r>
            <a:r>
              <a:rPr sz="3600" b="1">
                <a:solidFill>
                  <a:srgbClr val="EB6C15"/>
                </a:solidFill>
                <a:latin typeface="メイリオ"/>
              </a:rPr>
              <a:t>指導改善</a:t>
            </a:r>
            <a:r>
              <a:rPr sz="3200" b="1">
                <a:solidFill>
                  <a:srgbClr val="1F3A6E"/>
                </a:solidFill>
                <a:latin typeface="メイリオ"/>
              </a:rPr>
              <a:t>　につなげる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850000"/>
            <a:ext cx="10800000" cy="8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000000"/>
                </a:solidFill>
                <a:latin typeface="メイリオ"/>
              </a:rPr>
              <a:t>→ 次の授業では「○○を重点的に」と判断する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5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3200" b="1">
                <a:solidFill>
                  <a:srgbClr val="1F3A6E"/>
                </a:solidFill>
                <a:latin typeface="メイリオ"/>
              </a:rPr>
              <a:t>▶  生徒の　</a:t>
            </a:r>
            <a:r>
              <a:rPr sz="3600" b="1">
                <a:solidFill>
                  <a:srgbClr val="EB6C15"/>
                </a:solidFill>
                <a:latin typeface="メイリオ"/>
              </a:rPr>
              <a:t>学習改善</a:t>
            </a:r>
            <a:r>
              <a:rPr sz="3200" b="1">
                <a:solidFill>
                  <a:srgbClr val="1F3A6E"/>
                </a:solidFill>
                <a:latin typeface="メイリオ"/>
              </a:rPr>
              <a:t>　につなげる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4850000"/>
            <a:ext cx="10800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000000"/>
                </a:solidFill>
                <a:latin typeface="メイリオ"/>
              </a:rPr>
              <a:t>→ 生徒に「次は○○に取り組んだ方がよい」と</a:t>
            </a:r>
          </a:p>
          <a:p>
            <a:pPr algn="l">
              <a:lnSpc>
                <a:spcPct val="130000"/>
              </a:lnSpc>
            </a:pPr>
            <a:r>
              <a:rPr sz="2600" b="0">
                <a:solidFill>
                  <a:srgbClr val="000000"/>
                </a:solidFill>
                <a:latin typeface="メイリオ"/>
              </a:rPr>
              <a:t>　 具体的に伝える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1　評価をめぐる「いま」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【キーメッセージ①】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2200000"/>
            <a:ext cx="10600000" cy="15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1F3A6E"/>
                </a:solidFill>
                <a:latin typeface="メイリオ"/>
              </a:rPr>
              <a:t>評価＝「ためる」のでなく</a:t>
            </a:r>
          </a:p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1F3A6E"/>
                </a:solidFill>
                <a:latin typeface="メイリオ"/>
              </a:rPr>
              <a:t>「</a:t>
            </a:r>
            <a:r>
              <a:rPr sz="4800" b="1">
                <a:solidFill>
                  <a:srgbClr val="EB6C15"/>
                </a:solidFill>
                <a:latin typeface="メイリオ"/>
              </a:rPr>
              <a:t>使う</a:t>
            </a:r>
            <a:r>
              <a:rPr sz="4400" b="1">
                <a:solidFill>
                  <a:srgbClr val="1F3A6E"/>
                </a:solidFill>
                <a:latin typeface="メイリオ"/>
              </a:rPr>
              <a:t>」もの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4100000"/>
            <a:ext cx="10600000" cy="1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評価は、</a:t>
            </a:r>
          </a:p>
          <a:p>
            <a:pPr algn="ctr">
              <a:lnSpc>
                <a:spcPct val="140000"/>
              </a:lnSpc>
            </a:pPr>
            <a:r>
              <a:rPr sz="3200" b="1">
                <a:solidFill>
                  <a:srgbClr val="EB6C15"/>
                </a:solidFill>
                <a:latin typeface="メイリオ"/>
              </a:rPr>
              <a:t>明日の授業を変えるため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に行う。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出典：中央教育審議会 H31.1 報告 ／ 文科省 R8.3 資料1-1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1　評価をめぐる「いま」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学習評価の現状と課題（全国）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435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評価の結果が　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学習改善につながっていない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教師によって　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評価の方針が異なる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評価のための　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記録に労力が割かれる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「指導に生かす」と「記録に残す」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　 が区別されずに混在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出典：平成31年１月 中央教育審議会「児童生徒の学習評価の在り方について（報告）」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1　評価をめぐる「いま」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国はどう動いているか（令和8年3月）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3200" b="1">
                <a:solidFill>
                  <a:srgbClr val="5BC0DE"/>
                </a:solidFill>
                <a:latin typeface="メイリオ"/>
              </a:rPr>
              <a:t>▶  </a:t>
            </a:r>
            <a:r>
              <a:rPr sz="2800" b="1">
                <a:solidFill>
                  <a:srgbClr val="1F3A6E"/>
                </a:solidFill>
                <a:latin typeface="メイリオ"/>
              </a:rPr>
              <a:t>形式的・過度な「評価材料集め」を抑制する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30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3200" b="1">
                <a:solidFill>
                  <a:srgbClr val="5BC0DE"/>
                </a:solidFill>
                <a:latin typeface="メイリオ"/>
              </a:rPr>
              <a:t>▶  </a:t>
            </a:r>
            <a:r>
              <a:rPr sz="2800" b="1">
                <a:solidFill>
                  <a:srgbClr val="1F3A6E"/>
                </a:solidFill>
                <a:latin typeface="メイリオ"/>
              </a:rPr>
              <a:t>一人一人の「良さや成長」を肯定的に評価する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1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3200" b="1">
                <a:solidFill>
                  <a:srgbClr val="5BC0DE"/>
                </a:solidFill>
                <a:latin typeface="メイリオ"/>
              </a:rPr>
              <a:t>▶  </a:t>
            </a:r>
            <a:r>
              <a:rPr sz="2800" b="1">
                <a:solidFill>
                  <a:srgbClr val="1F3A6E"/>
                </a:solidFill>
                <a:latin typeface="メイリオ"/>
              </a:rPr>
              <a:t>「学びに向かう力・人間性等」の見取り方を見直す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出典：令和８年３月 文部科学省 教育課程部会 総則・評価特別部会 資料１-１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100000"/>
            <a:ext cx="10200000" cy="27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2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1F3A6E"/>
                </a:solidFill>
                <a:latin typeface="メイリオ"/>
              </a:rPr>
              <a:t>石神井南中の現状と課題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</a:rPr>
              <a:t>─ データと校長のオーダーから読み解く 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2　石神井南中の現状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現状①　観点別評定割合〔R7後期〕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9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000" b="1">
                <a:solidFill>
                  <a:srgbClr val="1F3A6E"/>
                </a:solidFill>
                <a:latin typeface="メイリオ"/>
              </a:rPr>
              <a:t>3観点とも　A : B : C = およそ　1.5 : 7.5 : 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00000"/>
            <a:ext cx="11400000" cy="33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Bが大半 → Bの「幅」が広すぎる可能性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「Bと判断する姿」が曖昧</a:t>
            </a:r>
            <a:r>
              <a:rPr sz="2600" b="1">
                <a:solidFill>
                  <a:srgbClr val="000000"/>
                </a:solidFill>
                <a:latin typeface="メイリオ"/>
              </a:rPr>
              <a:t>だと判断が割れる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観点ごとに 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評価規準を言語化</a:t>
            </a:r>
            <a:r>
              <a:rPr sz="2600" b="1">
                <a:solidFill>
                  <a:srgbClr val="000000"/>
                </a:solidFill>
                <a:latin typeface="メイリオ"/>
              </a:rPr>
              <a:t> する必要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○ 教師により方針が異なる → 校内・教科会で揃える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出典：石神井南中学校提供データ R7後期成績分布より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2　石神井南中の現状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現状②　学校評価アンケート〔R7〕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保護者から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49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補習・個別支援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 が不十分との指摘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学校HPで情報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 が得にくい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85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生徒から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49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先生によって対応が違う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 と感じる場面がある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HP・通信から情報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　 を得にくい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100000"/>
            <a:ext cx="11400000" cy="11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教師ごとの差異 → 評価の「信頼性」課題に直結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出典：石神井南中学校 R7学校評価アンケート結果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2　石神井南中の現状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校長から ─ 教員に意識してほしい3点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000" y="185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「指導と評価の一体化」</a:t>
            </a:r>
            <a:r>
              <a:rPr sz="2600" b="1">
                <a:solidFill>
                  <a:srgbClr val="1F3A6E"/>
                </a:solidFill>
                <a:latin typeface="メイリオ"/>
              </a:rPr>
              <a:t>を意識した授業展開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2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000" y="322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「妥当性・信頼性」</a:t>
            </a:r>
            <a:r>
              <a:rPr sz="2600" b="1">
                <a:solidFill>
                  <a:srgbClr val="1F3A6E"/>
                </a:solidFill>
                <a:latin typeface="メイリオ"/>
              </a:rPr>
              <a:t>ある評価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9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000" y="459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「主体的に学習に取り組む態度」</a:t>
            </a:r>
            <a:r>
              <a:rPr sz="2600" b="1">
                <a:solidFill>
                  <a:srgbClr val="1F3A6E"/>
                </a:solidFill>
                <a:latin typeface="メイリオ"/>
              </a:rPr>
              <a:t>の評価精度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出典：校長依頼内容（5/30）─ 本日の講義の出発点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100000"/>
            <a:ext cx="10200000" cy="27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3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4600" b="1">
                <a:solidFill>
                  <a:srgbClr val="1F3A6E"/>
                </a:solidFill>
                <a:latin typeface="メイリオ"/>
              </a:rPr>
              <a:t>「指導と評価の一体化」の核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</a:rPr>
              <a:t>─ 妥当性 × 信頼性 × Bと判断する姿 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評価の3つの種類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37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000" b="1">
                <a:solidFill>
                  <a:srgbClr val="FFFFFF"/>
                </a:solidFill>
                <a:latin typeface="メイリオ"/>
              </a:rPr>
              <a:t>診断的評価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1850000"/>
            <a:ext cx="76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学習前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　に行う評価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例：レディネステスト・コース分け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30000"/>
            <a:ext cx="37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000" b="1">
                <a:solidFill>
                  <a:srgbClr val="FFFFFF"/>
                </a:solidFill>
                <a:latin typeface="メイリオ"/>
              </a:rPr>
              <a:t>形成的評価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0000" y="3230000"/>
            <a:ext cx="76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学習過程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　に行う評価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例：振り返り・単元テスト・観察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610000"/>
            <a:ext cx="37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000" b="1">
                <a:solidFill>
                  <a:srgbClr val="FFFFFF"/>
                </a:solidFill>
                <a:latin typeface="メイリオ"/>
              </a:rPr>
              <a:t>総括的評価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4610000"/>
            <a:ext cx="76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</a:rPr>
              <a:t>学習後</a:t>
            </a:r>
            <a:r>
              <a:rPr sz="2400" b="1">
                <a:solidFill>
                  <a:srgbClr val="1F3A6E"/>
                </a:solidFill>
                <a:latin typeface="メイリオ"/>
              </a:rPr>
              <a:t>　に行う評価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例：観点別評価・評定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「妥当性」のある評価とは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◆ 妥当性とは…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00000"/>
            <a:ext cx="11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対象である </a:t>
            </a:r>
            <a:r>
              <a:rPr sz="3000" b="1">
                <a:solidFill>
                  <a:srgbClr val="EB6C15"/>
                </a:solidFill>
                <a:latin typeface="メイリオ"/>
              </a:rPr>
              <a:t>資質・能力を適切に反映</a:t>
            </a:r>
            <a:r>
              <a:rPr sz="2800" b="1">
                <a:solidFill>
                  <a:srgbClr val="000000"/>
                </a:solidFill>
                <a:latin typeface="メイリオ"/>
              </a:rPr>
              <a:t> していること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7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◆ 妥当性を確保するには…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400000"/>
            <a:ext cx="11400000" cy="18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指導の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ねらいを明確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にし、内容を設定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ねらいに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ふさわしい評価場面・方法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を選ぶ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「測りたい力」と「評価方法」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を一致させる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出典：令和２年９月 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「信頼性」のある評価とは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◆ 信頼性とは…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00000"/>
            <a:ext cx="11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0000"/>
                </a:solidFill>
                <a:latin typeface="メイリオ"/>
              </a:rPr>
              <a:t>教師の主観に流れず </a:t>
            </a:r>
            <a:r>
              <a:rPr sz="3000" b="1">
                <a:solidFill>
                  <a:srgbClr val="EB6C15"/>
                </a:solidFill>
                <a:latin typeface="メイリオ"/>
              </a:rPr>
              <a:t>誰が評価しても同じ結果</a:t>
            </a:r>
            <a:r>
              <a:rPr sz="2800" b="1">
                <a:solidFill>
                  <a:srgbClr val="000000"/>
                </a:solidFill>
                <a:latin typeface="メイリオ"/>
              </a:rPr>
              <a:t> になる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7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◆ 信頼性を確保するには…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400000"/>
            <a:ext cx="11400000" cy="18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適切な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評価規準・評価方法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を整える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学校全体で組織的・計画的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に行う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教科会で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Bの姿を揃える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　→揺れない評価へ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出典：令和２年９月 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評価計画は「単元」でデザインする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8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000" b="1">
                <a:solidFill>
                  <a:srgbClr val="EB6C15"/>
                </a:solidFill>
                <a:latin typeface="メイリオ"/>
              </a:rPr>
              <a:t>毎時間 × 3観点 で評価する必要はない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80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毎時間の評価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44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→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学習改善・指導改善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 に生かす評価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（記録は最小限でOK）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80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総括用の評価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0000" y="344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→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記録に残す評価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 を計画的に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</a:rPr>
              <a:t>（単元の節目で1観点ずつ）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5950000"/>
            <a:ext cx="11400000" cy="36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1F3A6E"/>
                </a:solidFill>
                <a:latin typeface="メイリオ"/>
              </a:rPr>
              <a:t>【キーメッセージ②】単元でデザイン＝全部記録しなくていい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3観点の関係を押さえる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9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</a:rPr>
              <a:t>知識・技能　×　思考・判断・表現　×　主体的に学習に取り組む態度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00000"/>
            <a:ext cx="11400000" cy="11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000000"/>
                </a:solidFill>
                <a:latin typeface="メイリオ"/>
              </a:rPr>
              <a:t>「態度」だけが突出 → 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評価のバランスを疑う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150000"/>
            <a:ext cx="11400000" cy="20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「主体的」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は「知・技」「思・判・表」を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 育てる場面で同時に育てる ─ 別物ではない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バランスがおかしい →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改善を図る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出典：平成31年１月 中央教育審議会「児童生徒の学習評価の在り方について（報告）」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「主体的に学習に取り組む態度」の2側面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56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① 粘り強い取組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50000"/>
            <a:ext cx="5600000" cy="1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自らの学習を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粘り強く調整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しようとしている姿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850000"/>
            <a:ext cx="5600000" cy="7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② 自己調整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550000"/>
            <a:ext cx="5600000" cy="1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自らの学習状況を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　</a:t>
            </a:r>
            <a:r>
              <a:rPr sz="2800" b="1">
                <a:solidFill>
                  <a:srgbClr val="EB6C15"/>
                </a:solidFill>
                <a:latin typeface="メイリオ"/>
              </a:rPr>
              <a:t>把握し、調整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しようとしている姿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700000"/>
            <a:ext cx="11400000" cy="15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「挙手の回数」「ノートの取り方」だけで判断しない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「Bと判断する姿」を具体化する　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教科横断で見える「共通の姿」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800000"/>
            <a:ext cx="2800000" cy="11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立ち止まる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0000" y="2800000"/>
            <a:ext cx="2800000" cy="11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振り返る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0000" y="2800000"/>
            <a:ext cx="2800000" cy="11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やり直す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40000" y="2800000"/>
            <a:ext cx="2800000" cy="11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試行錯誤する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4150000"/>
            <a:ext cx="11400000" cy="20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これらの姿が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単元の途中で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見えるか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教科ごとに具体例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 を言語化する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○ 教科会で1単元1事例ずつ揃えるだけでOK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「Bと判断する姿」を具体化する　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</a:rPr>
              <a:t>例：数学「二次方程式」── 学習シートに「気を付けるポイント」を記述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5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▼ おおむね満足（B）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190000"/>
            <a:ext cx="5600000" cy="22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ポイントが 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例：別の文字に置き換えて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　 解く方法を使えるようにする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55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▼ 十分満足（A）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0000" y="3190000"/>
            <a:ext cx="5600000" cy="22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</a:rPr>
              <a:t>ポイント＋</a:t>
            </a:r>
            <a:r>
              <a:rPr sz="2600" b="1">
                <a:solidFill>
                  <a:srgbClr val="EB6C15"/>
                </a:solidFill>
                <a:latin typeface="メイリオ"/>
              </a:rPr>
              <a:t>理由</a:t>
            </a:r>
            <a:r>
              <a:rPr sz="2400" b="1">
                <a:solidFill>
                  <a:srgbClr val="000000"/>
                </a:solidFill>
                <a:latin typeface="メイリオ"/>
              </a:rPr>
              <a:t>が書かれている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例：式を見ずに展開すると時間も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　 間違いも増えるから、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404040"/>
                </a:solidFill>
                <a:latin typeface="メイリオ"/>
              </a:rPr>
              <a:t>　 置き換えを使えるようにする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5500000"/>
            <a:ext cx="11400000" cy="8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同じ気付きでも「理由まで書けるか」でA/Bが分かれる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《本日の最重要メッセージ》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8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</a:rPr>
              <a:t>「主体的に学習に取り組む態度」は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700000"/>
            <a:ext cx="11400000" cy="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EB6C15"/>
                </a:solidFill>
                <a:latin typeface="メイリオ"/>
              </a:rPr>
              <a:t>“指導してから評価する”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50000"/>
            <a:ext cx="900000" cy="900000"/>
          </a:xfrm>
          <a:prstGeom prst="rect">
            <a:avLst/>
          </a:prstGeom>
          <a:solidFill>
            <a:srgbClr val="C04040"/>
          </a:solidFill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×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85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「個人任せ」で見取ろうとする → </a:t>
            </a:r>
            <a:r>
              <a:rPr sz="2400" b="1">
                <a:solidFill>
                  <a:srgbClr val="C04040"/>
                </a:solidFill>
                <a:latin typeface="メイリオ"/>
              </a:rPr>
              <a:t>育たない・評価できない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850000"/>
            <a:ext cx="900000" cy="900000"/>
          </a:xfrm>
          <a:prstGeom prst="rect">
            <a:avLst/>
          </a:prstGeom>
          <a:solidFill>
            <a:srgbClr val="07A973"/>
          </a:solidFill>
          <a:ln w="254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</a:rPr>
              <a:t>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85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「学び方」を指導してから見取る → </a:t>
            </a:r>
            <a:r>
              <a:rPr sz="2400" b="1">
                <a:solidFill>
                  <a:srgbClr val="07A973"/>
                </a:solidFill>
                <a:latin typeface="メイリオ"/>
              </a:rPr>
              <a:t>育つ・評価できる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90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</a:rPr>
              <a:t>見取る前に「学び方」を授業の中で教える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3　一体化の核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「学び方」を指導する9つの働きかけ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1. 学習目標の共有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0000" y="185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2. 既習との関連付け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0000" y="185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3. 見通しを持たせる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283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4. 振り返りの場面設定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0000" y="283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5. 自己評価の機会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83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6. ペア・グループ対話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381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7. 学習の選択肢提示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0000" y="381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8. ICTでの可視化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0000" y="381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9. 教師のモデリング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565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1つ選んで、次の単元から実践する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出典：国立教育政策研究所（2020）参考資料より整理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100000"/>
            <a:ext cx="10200000" cy="27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5BC0DE"/>
                </a:solidFill>
                <a:latin typeface="メイリオ"/>
              </a:rPr>
              <a:t>Part 4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1F3A6E"/>
                </a:solidFill>
                <a:latin typeface="メイリオ"/>
              </a:rPr>
              <a:t>明日から動かす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</a:rPr>
              <a:t>─ 単元計画／教科会／組織で支える 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4　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単元計画に「記録」欄を1列足す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9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1F3A6E"/>
                </a:solidFill>
                <a:latin typeface="メイリオ"/>
              </a:rPr>
              <a:t>「いつ／何で／どう見取るか」を可視化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3000000"/>
            <a:ext cx="11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時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3000000"/>
            <a:ext cx="45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学習内容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0000" y="3000000"/>
            <a:ext cx="20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3000000"/>
            <a:ext cx="38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</a:rPr>
              <a:t>評価方法・場面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365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3-4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0000" y="365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気付きの記述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0000" y="365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態度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0" y="365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学習シート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438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0000" y="438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ペーパーテスト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0" y="438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知技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0" y="438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小テスト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" y="565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全部記録しなくていい ─ 単元の節目で1観点ずつ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出典：国立教育政策研究所「指導と評価の一体化のための参考資料」より作成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4　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教科会で揃える3つ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000" y="185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Bの姿</a:t>
            </a:r>
          </a:p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観点別評価で「B」と判断する具体的な姿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3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000" y="323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評価場面</a:t>
            </a:r>
          </a:p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いつ・どの活動で・どんな方法で見取るか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610000"/>
            <a:ext cx="11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000" y="4610000"/>
            <a:ext cx="102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</a:rPr>
              <a:t>総括方法</a:t>
            </a:r>
          </a:p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観点別評価から評定への総括ルール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4　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妥当性は「個人」で、信頼性は「組織」で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教科会で揃える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49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評価規準（Bの姿）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評価場面・方法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評定の総括方法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保護者説明の仕方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85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</a:rPr>
              <a:t>管理職・主任の役割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49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教科会の機能化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評定のチェック体制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保護者対応の組織化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○ 「特異なパターン」確認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100000"/>
            <a:ext cx="11400000" cy="70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</a:rPr>
              <a:t>東京都の特異パターン：AAA→「5/4」でない／ABCの偏り 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586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1F3A6E"/>
                </a:solidFill>
                <a:latin typeface="メイリオ"/>
              </a:rPr>
              <a:t>【キーメッセージ③】信頼性は「組織」で担保する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メイリオ"/>
              </a:rPr>
              <a:t>出典：東京都教育委員会「指導と評価の一体化を目指して」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4　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明日からできること ─ 1つ選んでください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□ 次の単元の指導計画に「記録」欄を1列足す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82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□ 教科会で「Bの姿」を1つ言語化して揃える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79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□ 9つの働きかけから1つ選んで授業に入れる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76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</a:rPr>
              <a:t>□ 振り返りシートを1回入れてみる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780000"/>
            <a:ext cx="11400000" cy="50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やることを「絞る」から、続く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Part 5　本日のまとめ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3200" b="1">
                <a:solidFill>
                  <a:srgbClr val="1F3A6E"/>
                </a:solidFill>
                <a:latin typeface="メイリオ"/>
              </a:rPr>
              <a:t>3つのキーメッセージ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000000" cy="77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0" y="1850000"/>
            <a:ext cx="10300000" cy="77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評価は「ためる」より「使う」もの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2750000"/>
            <a:ext cx="1000000" cy="77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0" y="2750000"/>
            <a:ext cx="10300000" cy="77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生徒の姿は「単元の中」「学び方を指導した上で」見取る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3650000"/>
            <a:ext cx="1000000" cy="77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3650000"/>
            <a:ext cx="10300000" cy="77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</a:rPr>
              <a:t>評価の信頼性は「組織」で担保する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70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</a:rPr>
              <a:t>▶  このあとの協議会で…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5400000"/>
            <a:ext cx="11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</a:rPr>
              <a:t>教科会単位で </a:t>
            </a:r>
            <a:r>
              <a:rPr sz="2400" b="1">
                <a:solidFill>
                  <a:srgbClr val="EB6C15"/>
                </a:solidFill>
                <a:latin typeface="メイリオ"/>
              </a:rPr>
              <a:t>「Bの姿」を1つ</a:t>
            </a:r>
            <a:r>
              <a:rPr sz="2200" b="1">
                <a:solidFill>
                  <a:srgbClr val="000000"/>
                </a:solidFill>
                <a:latin typeface="メイリオ"/>
              </a:rPr>
              <a:t> 言語化してみてください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　 単元・観点は自由 ／ 30〜45字以内で記述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