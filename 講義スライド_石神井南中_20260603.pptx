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6" r:id="rId1"/>
  </p:sldMasterIdLst>
  <p:notesMasterIdLst>
    <p:notesMasterId r:id="rId29"/>
  </p:notesMasterIdLst>
  <p:handoutMasterIdLst>
    <p:handoutMasterId r:id="rId30"/>
  </p:handoutMasterIdLst>
  <p:sldIdLst>
    <p:sldId id="256" r:id="rId2"/>
    <p:sldId id="282" r:id="rId3"/>
    <p:sldId id="319" r:id="rId4"/>
    <p:sldId id="647" r:id="rId5"/>
    <p:sldId id="261" r:id="rId6"/>
    <p:sldId id="262" r:id="rId7"/>
    <p:sldId id="648" r:id="rId8"/>
    <p:sldId id="264" r:id="rId9"/>
    <p:sldId id="265" r:id="rId10"/>
    <p:sldId id="266" r:id="rId11"/>
    <p:sldId id="321" r:id="rId12"/>
    <p:sldId id="303" r:id="rId13"/>
    <p:sldId id="305" r:id="rId14"/>
    <p:sldId id="291" r:id="rId15"/>
    <p:sldId id="284" r:id="rId16"/>
    <p:sldId id="306" r:id="rId17"/>
    <p:sldId id="307" r:id="rId18"/>
    <p:sldId id="308" r:id="rId19"/>
    <p:sldId id="327" r:id="rId20"/>
    <p:sldId id="326" r:id="rId21"/>
    <p:sldId id="332" r:id="rId22"/>
    <p:sldId id="280" r:id="rId23"/>
    <p:sldId id="281" r:id="rId24"/>
    <p:sldId id="649" r:id="rId25"/>
    <p:sldId id="283" r:id="rId26"/>
    <p:sldId id="650" r:id="rId27"/>
    <p:sldId id="278" r:id="rId28"/>
  </p:sldIdLst>
  <p:sldSz cx="12192000" cy="6858000"/>
  <p:notesSz cx="9869488" cy="673735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1A0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897" autoAdjust="0"/>
    <p:restoredTop sz="94660"/>
  </p:normalViewPr>
  <p:slideViewPr>
    <p:cSldViewPr snapToGrid="0">
      <p:cViewPr varScale="1">
        <p:scale>
          <a:sx n="103" d="100"/>
          <a:sy n="103" d="100"/>
        </p:scale>
        <p:origin x="114" y="27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handoutMaster" Target="handoutMasters/handout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5"/>
            <a:ext cx="4276247" cy="337348"/>
          </a:xfrm>
          <a:prstGeom prst="rect">
            <a:avLst/>
          </a:prstGeom>
        </p:spPr>
        <p:txBody>
          <a:bodyPr vert="horz" lIns="89799" tIns="44899" rIns="89799" bIns="44899"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5590968" y="5"/>
            <a:ext cx="4276247" cy="337348"/>
          </a:xfrm>
          <a:prstGeom prst="rect">
            <a:avLst/>
          </a:prstGeom>
        </p:spPr>
        <p:txBody>
          <a:bodyPr vert="horz" lIns="89799" tIns="44899" rIns="89799" bIns="44899" rtlCol="0"/>
          <a:lstStyle>
            <a:lvl1pPr algn="r">
              <a:defRPr sz="1200"/>
            </a:lvl1pPr>
          </a:lstStyle>
          <a:p>
            <a:fld id="{01BEA04A-EA59-42D0-B1DE-684874E10CAA}" type="datetimeFigureOut">
              <a:rPr kumimoji="1" lang="ja-JP" altLang="en-US" smtClean="0"/>
              <a:t>2026/5/27</a:t>
            </a:fld>
            <a:endParaRPr kumimoji="1" lang="ja-JP" altLang="en-US"/>
          </a:p>
        </p:txBody>
      </p:sp>
      <p:sp>
        <p:nvSpPr>
          <p:cNvPr id="4" name="フッター プレースホルダー 3"/>
          <p:cNvSpPr>
            <a:spLocks noGrp="1"/>
          </p:cNvSpPr>
          <p:nvPr>
            <p:ph type="ftr" sz="quarter" idx="2"/>
          </p:nvPr>
        </p:nvSpPr>
        <p:spPr>
          <a:xfrm>
            <a:off x="2" y="6400006"/>
            <a:ext cx="4276247" cy="337348"/>
          </a:xfrm>
          <a:prstGeom prst="rect">
            <a:avLst/>
          </a:prstGeom>
        </p:spPr>
        <p:txBody>
          <a:bodyPr vert="horz" lIns="89799" tIns="44899" rIns="89799" bIns="44899"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5590968" y="6400006"/>
            <a:ext cx="4276247" cy="337348"/>
          </a:xfrm>
          <a:prstGeom prst="rect">
            <a:avLst/>
          </a:prstGeom>
        </p:spPr>
        <p:txBody>
          <a:bodyPr vert="horz" lIns="89799" tIns="44899" rIns="89799" bIns="44899" rtlCol="0" anchor="b"/>
          <a:lstStyle>
            <a:lvl1pPr algn="r">
              <a:defRPr sz="1200"/>
            </a:lvl1pPr>
          </a:lstStyle>
          <a:p>
            <a:fld id="{DB567FFB-CC10-44D5-A649-9C45EAD5B1E6}" type="slidenum">
              <a:rPr kumimoji="1" lang="ja-JP" altLang="en-US" smtClean="0"/>
              <a:t>‹#›</a:t>
            </a:fld>
            <a:endParaRPr kumimoji="1" lang="ja-JP" altLang="en-US"/>
          </a:p>
        </p:txBody>
      </p:sp>
    </p:spTree>
    <p:extLst>
      <p:ext uri="{BB962C8B-B14F-4D97-AF65-F5344CB8AC3E}">
        <p14:creationId xmlns:p14="http://schemas.microsoft.com/office/powerpoint/2010/main" val="3031950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4"/>
            <a:ext cx="4277144" cy="338498"/>
          </a:xfrm>
          <a:prstGeom prst="rect">
            <a:avLst/>
          </a:prstGeom>
        </p:spPr>
        <p:txBody>
          <a:bodyPr vert="horz" lIns="89799" tIns="44899" rIns="89799" bIns="44899" rtlCol="0"/>
          <a:lstStyle>
            <a:lvl1pPr algn="l">
              <a:defRPr sz="1200"/>
            </a:lvl1pPr>
          </a:lstStyle>
          <a:p>
            <a:endParaRPr kumimoji="1" lang="ja-JP" altLang="en-US"/>
          </a:p>
        </p:txBody>
      </p:sp>
      <p:sp>
        <p:nvSpPr>
          <p:cNvPr id="3" name="日付プレースホルダー 2"/>
          <p:cNvSpPr>
            <a:spLocks noGrp="1"/>
          </p:cNvSpPr>
          <p:nvPr>
            <p:ph type="dt" idx="1"/>
          </p:nvPr>
        </p:nvSpPr>
        <p:spPr>
          <a:xfrm>
            <a:off x="5590782" y="4"/>
            <a:ext cx="4277142" cy="338498"/>
          </a:xfrm>
          <a:prstGeom prst="rect">
            <a:avLst/>
          </a:prstGeom>
        </p:spPr>
        <p:txBody>
          <a:bodyPr vert="horz" lIns="89799" tIns="44899" rIns="89799" bIns="44899" rtlCol="0"/>
          <a:lstStyle>
            <a:lvl1pPr algn="r">
              <a:defRPr sz="1200"/>
            </a:lvl1pPr>
          </a:lstStyle>
          <a:p>
            <a:fld id="{627F1449-63F1-4F02-A15F-3E2FE5019972}" type="datetimeFigureOut">
              <a:rPr kumimoji="1" lang="ja-JP" altLang="en-US" smtClean="0"/>
              <a:t>2026/5/27</a:t>
            </a:fld>
            <a:endParaRPr kumimoji="1" lang="ja-JP" altLang="en-US"/>
          </a:p>
        </p:txBody>
      </p:sp>
      <p:sp>
        <p:nvSpPr>
          <p:cNvPr id="4" name="スライド イメージ プレースホルダー 3"/>
          <p:cNvSpPr>
            <a:spLocks noGrp="1" noRot="1" noChangeAspect="1"/>
          </p:cNvSpPr>
          <p:nvPr>
            <p:ph type="sldImg" idx="2"/>
          </p:nvPr>
        </p:nvSpPr>
        <p:spPr>
          <a:xfrm>
            <a:off x="2913063" y="841375"/>
            <a:ext cx="4043362" cy="2274888"/>
          </a:xfrm>
          <a:prstGeom prst="rect">
            <a:avLst/>
          </a:prstGeom>
          <a:noFill/>
          <a:ln w="12700">
            <a:solidFill>
              <a:prstClr val="black"/>
            </a:solidFill>
          </a:ln>
        </p:spPr>
        <p:txBody>
          <a:bodyPr vert="horz" lIns="89799" tIns="44899" rIns="89799" bIns="44899" rtlCol="0" anchor="ctr"/>
          <a:lstStyle/>
          <a:p>
            <a:endParaRPr lang="ja-JP" altLang="en-US"/>
          </a:p>
        </p:txBody>
      </p:sp>
      <p:sp>
        <p:nvSpPr>
          <p:cNvPr id="5" name="ノート プレースホルダー 4"/>
          <p:cNvSpPr>
            <a:spLocks noGrp="1"/>
          </p:cNvSpPr>
          <p:nvPr>
            <p:ph type="body" sz="quarter" idx="3"/>
          </p:nvPr>
        </p:nvSpPr>
        <p:spPr>
          <a:xfrm>
            <a:off x="986796" y="3242127"/>
            <a:ext cx="7895902" cy="2653637"/>
          </a:xfrm>
          <a:prstGeom prst="rect">
            <a:avLst/>
          </a:prstGeom>
        </p:spPr>
        <p:txBody>
          <a:bodyPr vert="horz" lIns="89799" tIns="44899" rIns="89799" bIns="44899"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6398855"/>
            <a:ext cx="4277144" cy="338498"/>
          </a:xfrm>
          <a:prstGeom prst="rect">
            <a:avLst/>
          </a:prstGeom>
        </p:spPr>
        <p:txBody>
          <a:bodyPr vert="horz" lIns="89799" tIns="44899" rIns="89799" bIns="44899"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5590782" y="6398855"/>
            <a:ext cx="4277142" cy="338498"/>
          </a:xfrm>
          <a:prstGeom prst="rect">
            <a:avLst/>
          </a:prstGeom>
        </p:spPr>
        <p:txBody>
          <a:bodyPr vert="horz" lIns="89799" tIns="44899" rIns="89799" bIns="44899" rtlCol="0" anchor="b"/>
          <a:lstStyle>
            <a:lvl1pPr algn="r">
              <a:defRPr sz="1200"/>
            </a:lvl1pPr>
          </a:lstStyle>
          <a:p>
            <a:fld id="{2851C5CF-25F5-474F-B99C-E03B7932DF76}" type="slidenum">
              <a:rPr kumimoji="1" lang="ja-JP" altLang="en-US" smtClean="0"/>
              <a:t>‹#›</a:t>
            </a:fld>
            <a:endParaRPr kumimoji="1" lang="ja-JP" altLang="en-US"/>
          </a:p>
        </p:txBody>
      </p:sp>
    </p:spTree>
    <p:extLst>
      <p:ext uri="{BB962C8B-B14F-4D97-AF65-F5344CB8AC3E}">
        <p14:creationId xmlns:p14="http://schemas.microsoft.com/office/powerpoint/2010/main" val="359850803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689225" y="504825"/>
            <a:ext cx="4491038" cy="2525713"/>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BD236342-BA52-47EB-BD3F-1A7CCAFE6BE5}" type="slidenum">
              <a:rPr kumimoji="1" lang="ja-JP" altLang="en-US" smtClean="0"/>
              <a:t>4</a:t>
            </a:fld>
            <a:endParaRPr kumimoji="1" lang="ja-JP" altLang="en-US"/>
          </a:p>
        </p:txBody>
      </p:sp>
    </p:spTree>
    <p:extLst>
      <p:ext uri="{BB962C8B-B14F-4D97-AF65-F5344CB8AC3E}">
        <p14:creationId xmlns:p14="http://schemas.microsoft.com/office/powerpoint/2010/main" val="500222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日付プレースホルダー 3"/>
          <p:cNvSpPr>
            <a:spLocks noGrp="1"/>
          </p:cNvSpPr>
          <p:nvPr>
            <p:ph type="dt" idx="10"/>
          </p:nvPr>
        </p:nvSpPr>
        <p:spPr/>
        <p:txBody>
          <a:bodyPr/>
          <a:lstStyle/>
          <a:p>
            <a:pPr defTabSz="897990">
              <a:defRPr/>
            </a:pPr>
            <a:endParaRPr lang="ja-JP" altLang="en-US">
              <a:solidFill>
                <a:prstClr val="black"/>
              </a:solidFill>
              <a:latin typeface="游ゴシック" panose="020F0502020204030204"/>
              <a:ea typeface="游ゴシック" panose="020B0400000000000000" pitchFamily="50" charset="-128"/>
            </a:endParaRPr>
          </a:p>
        </p:txBody>
      </p:sp>
      <p:sp>
        <p:nvSpPr>
          <p:cNvPr id="5" name="スライド番号プレースホルダー 4"/>
          <p:cNvSpPr>
            <a:spLocks noGrp="1"/>
          </p:cNvSpPr>
          <p:nvPr>
            <p:ph type="sldNum" sz="quarter" idx="11"/>
          </p:nvPr>
        </p:nvSpPr>
        <p:spPr/>
        <p:txBody>
          <a:bodyPr/>
          <a:lstStyle/>
          <a:p>
            <a:pPr defTabSz="897990">
              <a:defRPr/>
            </a:pPr>
            <a:fld id="{EBF652ED-4E8E-4FA7-8EF4-2DDF6FB21FCE}" type="slidenum">
              <a:rPr lang="ja-JP" altLang="en-US">
                <a:solidFill>
                  <a:prstClr val="black"/>
                </a:solidFill>
                <a:latin typeface="游ゴシック" panose="020F0502020204030204"/>
                <a:ea typeface="游ゴシック" panose="020B0400000000000000" pitchFamily="50" charset="-128"/>
              </a:rPr>
              <a:pPr defTabSz="897990">
                <a:defRPr/>
              </a:pPr>
              <a:t>20</a:t>
            </a:fld>
            <a:endParaRPr lang="ja-JP" altLang="en-US">
              <a:solidFill>
                <a:prstClr val="black"/>
              </a:solidFill>
              <a:latin typeface="游ゴシック" panose="020F0502020204030204"/>
              <a:ea typeface="游ゴシック" panose="020B0400000000000000" pitchFamily="50" charset="-128"/>
            </a:endParaRPr>
          </a:p>
        </p:txBody>
      </p:sp>
    </p:spTree>
    <p:extLst>
      <p:ext uri="{BB962C8B-B14F-4D97-AF65-F5344CB8AC3E}">
        <p14:creationId xmlns:p14="http://schemas.microsoft.com/office/powerpoint/2010/main" val="110550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13632747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39107018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1" y="170974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1" y="4589473"/>
            <a:ext cx="10515600" cy="1500187"/>
          </a:xfrm>
        </p:spPr>
        <p:txBody>
          <a:bodyPr/>
          <a:lstStyle>
            <a:lvl1pPr marL="0" indent="0">
              <a:buNone/>
              <a:defRPr sz="2400">
                <a:solidFill>
                  <a:schemeClr val="tx1">
                    <a:tint val="75000"/>
                  </a:schemeClr>
                </a:solidFill>
              </a:defRPr>
            </a:lvl1pPr>
            <a:lvl2pPr marL="457155" indent="0">
              <a:buNone/>
              <a:defRPr sz="2000">
                <a:solidFill>
                  <a:schemeClr val="tx1">
                    <a:tint val="75000"/>
                  </a:schemeClr>
                </a:solidFill>
              </a:defRPr>
            </a:lvl2pPr>
            <a:lvl3pPr marL="914309" indent="0">
              <a:buNone/>
              <a:defRPr sz="1800">
                <a:solidFill>
                  <a:schemeClr val="tx1">
                    <a:tint val="75000"/>
                  </a:schemeClr>
                </a:solidFill>
              </a:defRPr>
            </a:lvl3pPr>
            <a:lvl4pPr marL="1371464" indent="0">
              <a:buNone/>
              <a:defRPr sz="1600">
                <a:solidFill>
                  <a:schemeClr val="tx1">
                    <a:tint val="75000"/>
                  </a:schemeClr>
                </a:solidFill>
              </a:defRPr>
            </a:lvl4pPr>
            <a:lvl5pPr marL="1828618" indent="0">
              <a:buNone/>
              <a:defRPr sz="1600">
                <a:solidFill>
                  <a:schemeClr val="tx1">
                    <a:tint val="75000"/>
                  </a:schemeClr>
                </a:solidFill>
              </a:defRPr>
            </a:lvl5pPr>
            <a:lvl6pPr marL="2285774" indent="0">
              <a:buNone/>
              <a:defRPr sz="1600">
                <a:solidFill>
                  <a:schemeClr val="tx1">
                    <a:tint val="75000"/>
                  </a:schemeClr>
                </a:solidFill>
              </a:defRPr>
            </a:lvl6pPr>
            <a:lvl7pPr marL="2742926" indent="0">
              <a:buNone/>
              <a:defRPr sz="1600">
                <a:solidFill>
                  <a:schemeClr val="tx1">
                    <a:tint val="75000"/>
                  </a:schemeClr>
                </a:solidFill>
              </a:defRPr>
            </a:lvl7pPr>
            <a:lvl8pPr marL="3200080" indent="0">
              <a:buNone/>
              <a:defRPr sz="1600">
                <a:solidFill>
                  <a:schemeClr val="tx1">
                    <a:tint val="75000"/>
                  </a:schemeClr>
                </a:solidFill>
              </a:defRPr>
            </a:lvl8pPr>
            <a:lvl9pPr marL="3657235"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13671114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39767260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9"/>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9" y="1681163"/>
            <a:ext cx="5157787" cy="823912"/>
          </a:xfrm>
        </p:spPr>
        <p:txBody>
          <a:bodyPr anchor="b"/>
          <a:lstStyle>
            <a:lvl1pPr marL="0" indent="0">
              <a:buNone/>
              <a:defRPr sz="2400" b="1"/>
            </a:lvl1pPr>
            <a:lvl2pPr marL="457155" indent="0">
              <a:buNone/>
              <a:defRPr sz="2000" b="1"/>
            </a:lvl2pPr>
            <a:lvl3pPr marL="914309" indent="0">
              <a:buNone/>
              <a:defRPr sz="1800" b="1"/>
            </a:lvl3pPr>
            <a:lvl4pPr marL="1371464" indent="0">
              <a:buNone/>
              <a:defRPr sz="1600" b="1"/>
            </a:lvl4pPr>
            <a:lvl5pPr marL="1828618" indent="0">
              <a:buNone/>
              <a:defRPr sz="1600" b="1"/>
            </a:lvl5pPr>
            <a:lvl6pPr marL="2285774" indent="0">
              <a:buNone/>
              <a:defRPr sz="1600" b="1"/>
            </a:lvl6pPr>
            <a:lvl7pPr marL="2742926" indent="0">
              <a:buNone/>
              <a:defRPr sz="1600" b="1"/>
            </a:lvl7pPr>
            <a:lvl8pPr marL="3200080" indent="0">
              <a:buNone/>
              <a:defRPr sz="1600" b="1"/>
            </a:lvl8pPr>
            <a:lvl9pPr marL="3657235"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9"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3" y="1681163"/>
            <a:ext cx="5183188" cy="823912"/>
          </a:xfrm>
        </p:spPr>
        <p:txBody>
          <a:bodyPr anchor="b"/>
          <a:lstStyle>
            <a:lvl1pPr marL="0" indent="0">
              <a:buNone/>
              <a:defRPr sz="2400" b="1"/>
            </a:lvl1pPr>
            <a:lvl2pPr marL="457155" indent="0">
              <a:buNone/>
              <a:defRPr sz="2000" b="1"/>
            </a:lvl2pPr>
            <a:lvl3pPr marL="914309" indent="0">
              <a:buNone/>
              <a:defRPr sz="1800" b="1"/>
            </a:lvl3pPr>
            <a:lvl4pPr marL="1371464" indent="0">
              <a:buNone/>
              <a:defRPr sz="1600" b="1"/>
            </a:lvl4pPr>
            <a:lvl5pPr marL="1828618" indent="0">
              <a:buNone/>
              <a:defRPr sz="1600" b="1"/>
            </a:lvl5pPr>
            <a:lvl6pPr marL="2285774" indent="0">
              <a:buNone/>
              <a:defRPr sz="1600" b="1"/>
            </a:lvl6pPr>
            <a:lvl7pPr marL="2742926" indent="0">
              <a:buNone/>
              <a:defRPr sz="1600" b="1"/>
            </a:lvl7pPr>
            <a:lvl8pPr marL="3200080" indent="0">
              <a:buNone/>
              <a:defRPr sz="1600" b="1"/>
            </a:lvl8pPr>
            <a:lvl9pPr marL="3657235"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3"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744171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11602081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18525350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3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155" indent="0">
              <a:buNone/>
              <a:defRPr sz="1400"/>
            </a:lvl2pPr>
            <a:lvl3pPr marL="914309" indent="0">
              <a:buNone/>
              <a:defRPr sz="1200"/>
            </a:lvl3pPr>
            <a:lvl4pPr marL="1371464" indent="0">
              <a:buNone/>
              <a:defRPr sz="1000"/>
            </a:lvl4pPr>
            <a:lvl5pPr marL="1828618" indent="0">
              <a:buNone/>
              <a:defRPr sz="1000"/>
            </a:lvl5pPr>
            <a:lvl6pPr marL="2285774" indent="0">
              <a:buNone/>
              <a:defRPr sz="1000"/>
            </a:lvl6pPr>
            <a:lvl7pPr marL="2742926" indent="0">
              <a:buNone/>
              <a:defRPr sz="1000"/>
            </a:lvl7pPr>
            <a:lvl8pPr marL="3200080" indent="0">
              <a:buNone/>
              <a:defRPr sz="1000"/>
            </a:lvl8pPr>
            <a:lvl9pPr marL="3657235"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33727477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35"/>
            <a:ext cx="6172200" cy="4873625"/>
          </a:xfrm>
        </p:spPr>
        <p:txBody>
          <a:bodyPr/>
          <a:lstStyle>
            <a:lvl1pPr marL="0" indent="0">
              <a:buNone/>
              <a:defRPr sz="3200"/>
            </a:lvl1pPr>
            <a:lvl2pPr marL="457155" indent="0">
              <a:buNone/>
              <a:defRPr sz="2800"/>
            </a:lvl2pPr>
            <a:lvl3pPr marL="914309" indent="0">
              <a:buNone/>
              <a:defRPr sz="2400"/>
            </a:lvl3pPr>
            <a:lvl4pPr marL="1371464" indent="0">
              <a:buNone/>
              <a:defRPr sz="2000"/>
            </a:lvl4pPr>
            <a:lvl5pPr marL="1828618" indent="0">
              <a:buNone/>
              <a:defRPr sz="2000"/>
            </a:lvl5pPr>
            <a:lvl6pPr marL="2285774" indent="0">
              <a:buNone/>
              <a:defRPr sz="2000"/>
            </a:lvl6pPr>
            <a:lvl7pPr marL="2742926" indent="0">
              <a:buNone/>
              <a:defRPr sz="2000"/>
            </a:lvl7pPr>
            <a:lvl8pPr marL="3200080" indent="0">
              <a:buNone/>
              <a:defRPr sz="2000"/>
            </a:lvl8pPr>
            <a:lvl9pPr marL="3657235"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155" indent="0">
              <a:buNone/>
              <a:defRPr sz="1400"/>
            </a:lvl2pPr>
            <a:lvl3pPr marL="914309" indent="0">
              <a:buNone/>
              <a:defRPr sz="1200"/>
            </a:lvl3pPr>
            <a:lvl4pPr marL="1371464" indent="0">
              <a:buNone/>
              <a:defRPr sz="1000"/>
            </a:lvl4pPr>
            <a:lvl5pPr marL="1828618" indent="0">
              <a:buNone/>
              <a:defRPr sz="1000"/>
            </a:lvl5pPr>
            <a:lvl6pPr marL="2285774" indent="0">
              <a:buNone/>
              <a:defRPr sz="1000"/>
            </a:lvl6pPr>
            <a:lvl7pPr marL="2742926" indent="0">
              <a:buNone/>
              <a:defRPr sz="1000"/>
            </a:lvl7pPr>
            <a:lvl8pPr marL="3200080" indent="0">
              <a:buNone/>
              <a:defRPr sz="1000"/>
            </a:lvl8pPr>
            <a:lvl9pPr marL="3657235"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36844561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3814888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3"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31768FEB-7BC5-413F-839E-D1D3EA6655D0}" type="datetimeFigureOut">
              <a:rPr kumimoji="1" lang="ja-JP" altLang="en-US" smtClean="0"/>
              <a:t>2026/5/27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17079818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6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768FEB-7BC5-413F-839E-D1D3EA6655D0}" type="datetimeFigureOut">
              <a:rPr kumimoji="1" lang="ja-JP" altLang="en-US" smtClean="0"/>
              <a:t>2026/5/27</a:t>
            </a:fld>
            <a:endParaRPr kumimoji="1" lang="ja-JP" altLang="en-US"/>
          </a:p>
        </p:txBody>
      </p:sp>
      <p:sp>
        <p:nvSpPr>
          <p:cNvPr id="5" name="フッター プレースホルダー 4"/>
          <p:cNvSpPr>
            <a:spLocks noGrp="1"/>
          </p:cNvSpPr>
          <p:nvPr>
            <p:ph type="ftr" sz="quarter" idx="3"/>
          </p:nvPr>
        </p:nvSpPr>
        <p:spPr>
          <a:xfrm>
            <a:off x="4038600" y="635636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6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4E15C3-5C21-476F-B876-640727770C78}" type="slidenum">
              <a:rPr kumimoji="1" lang="ja-JP" altLang="en-US" smtClean="0"/>
              <a:t>‹#›</a:t>
            </a:fld>
            <a:endParaRPr kumimoji="1" lang="ja-JP" altLang="en-US"/>
          </a:p>
        </p:txBody>
      </p:sp>
    </p:spTree>
    <p:extLst>
      <p:ext uri="{BB962C8B-B14F-4D97-AF65-F5344CB8AC3E}">
        <p14:creationId xmlns:p14="http://schemas.microsoft.com/office/powerpoint/2010/main" val="1375906915"/>
      </p:ext>
    </p:extLst>
  </p:cSld>
  <p:clrMap bg1="lt1" tx1="dk1" bg2="lt2" tx2="dk2" accent1="accent1" accent2="accent2" accent3="accent3" accent4="accent4" accent5="accent5" accent6="accent6" hlink="hlink" folHlink="folHlink"/>
  <p:sldLayoutIdLst>
    <p:sldLayoutId id="2147483747" r:id="rId1"/>
    <p:sldLayoutId id="2147483748" r:id="rId2"/>
    <p:sldLayoutId id="2147483749" r:id="rId3"/>
    <p:sldLayoutId id="2147483750" r:id="rId4"/>
    <p:sldLayoutId id="2147483751" r:id="rId5"/>
    <p:sldLayoutId id="2147483752" r:id="rId6"/>
    <p:sldLayoutId id="2147483753" r:id="rId7"/>
    <p:sldLayoutId id="2147483754" r:id="rId8"/>
    <p:sldLayoutId id="2147483755" r:id="rId9"/>
    <p:sldLayoutId id="2147483756" r:id="rId10"/>
    <p:sldLayoutId id="2147483757" r:id="rId11"/>
  </p:sldLayoutIdLst>
  <p:txStyles>
    <p:titleStyle>
      <a:lvl1pPr algn="l" defTabSz="914309"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578" indent="-228578" algn="l" defTabSz="914309"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34" indent="-228578" algn="l" defTabSz="914309"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886" indent="-228578" algn="l" defTabSz="914309"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040" indent="-228578" algn="l" defTabSz="914309"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195" indent="-228578" algn="l" defTabSz="914309"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349" indent="-228578" algn="l" defTabSz="914309"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504" indent="-228578" algn="l" defTabSz="914309"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658" indent="-228578" algn="l" defTabSz="914309"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5814" indent="-228578" algn="l" defTabSz="914309"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309" rtl="0" eaLnBrk="1" latinLnBrk="0" hangingPunct="1">
        <a:defRPr kumimoji="1" sz="1800" kern="1200">
          <a:solidFill>
            <a:schemeClr val="tx1"/>
          </a:solidFill>
          <a:latin typeface="+mn-lt"/>
          <a:ea typeface="+mn-ea"/>
          <a:cs typeface="+mn-cs"/>
        </a:defRPr>
      </a:lvl1pPr>
      <a:lvl2pPr marL="457155" algn="l" defTabSz="914309" rtl="0" eaLnBrk="1" latinLnBrk="0" hangingPunct="1">
        <a:defRPr kumimoji="1" sz="1800" kern="1200">
          <a:solidFill>
            <a:schemeClr val="tx1"/>
          </a:solidFill>
          <a:latin typeface="+mn-lt"/>
          <a:ea typeface="+mn-ea"/>
          <a:cs typeface="+mn-cs"/>
        </a:defRPr>
      </a:lvl2pPr>
      <a:lvl3pPr marL="914309" algn="l" defTabSz="914309" rtl="0" eaLnBrk="1" latinLnBrk="0" hangingPunct="1">
        <a:defRPr kumimoji="1" sz="1800" kern="1200">
          <a:solidFill>
            <a:schemeClr val="tx1"/>
          </a:solidFill>
          <a:latin typeface="+mn-lt"/>
          <a:ea typeface="+mn-ea"/>
          <a:cs typeface="+mn-cs"/>
        </a:defRPr>
      </a:lvl3pPr>
      <a:lvl4pPr marL="1371464" algn="l" defTabSz="914309" rtl="0" eaLnBrk="1" latinLnBrk="0" hangingPunct="1">
        <a:defRPr kumimoji="1" sz="1800" kern="1200">
          <a:solidFill>
            <a:schemeClr val="tx1"/>
          </a:solidFill>
          <a:latin typeface="+mn-lt"/>
          <a:ea typeface="+mn-ea"/>
          <a:cs typeface="+mn-cs"/>
        </a:defRPr>
      </a:lvl4pPr>
      <a:lvl5pPr marL="1828618" algn="l" defTabSz="914309" rtl="0" eaLnBrk="1" latinLnBrk="0" hangingPunct="1">
        <a:defRPr kumimoji="1" sz="1800" kern="1200">
          <a:solidFill>
            <a:schemeClr val="tx1"/>
          </a:solidFill>
          <a:latin typeface="+mn-lt"/>
          <a:ea typeface="+mn-ea"/>
          <a:cs typeface="+mn-cs"/>
        </a:defRPr>
      </a:lvl5pPr>
      <a:lvl6pPr marL="2285774" algn="l" defTabSz="914309" rtl="0" eaLnBrk="1" latinLnBrk="0" hangingPunct="1">
        <a:defRPr kumimoji="1" sz="1800" kern="1200">
          <a:solidFill>
            <a:schemeClr val="tx1"/>
          </a:solidFill>
          <a:latin typeface="+mn-lt"/>
          <a:ea typeface="+mn-ea"/>
          <a:cs typeface="+mn-cs"/>
        </a:defRPr>
      </a:lvl6pPr>
      <a:lvl7pPr marL="2742926" algn="l" defTabSz="914309" rtl="0" eaLnBrk="1" latinLnBrk="0" hangingPunct="1">
        <a:defRPr kumimoji="1" sz="1800" kern="1200">
          <a:solidFill>
            <a:schemeClr val="tx1"/>
          </a:solidFill>
          <a:latin typeface="+mn-lt"/>
          <a:ea typeface="+mn-ea"/>
          <a:cs typeface="+mn-cs"/>
        </a:defRPr>
      </a:lvl7pPr>
      <a:lvl8pPr marL="3200080" algn="l" defTabSz="914309" rtl="0" eaLnBrk="1" latinLnBrk="0" hangingPunct="1">
        <a:defRPr kumimoji="1" sz="1800" kern="1200">
          <a:solidFill>
            <a:schemeClr val="tx1"/>
          </a:solidFill>
          <a:latin typeface="+mn-lt"/>
          <a:ea typeface="+mn-ea"/>
          <a:cs typeface="+mn-cs"/>
        </a:defRPr>
      </a:lvl8pPr>
      <a:lvl9pPr marL="3657235" algn="l" defTabSz="914309"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790708" y="2004488"/>
            <a:ext cx="10610581" cy="1275009"/>
          </a:xfrm>
        </p:spPr>
        <p:txBody>
          <a:bodyPr>
            <a:noAutofit/>
          </a:bodyPr>
          <a:lstStyle/>
          <a:p>
            <a:pPr/>
            <a:r>
              <a:rPr lang="en-US" altLang="ja-JP" sz="4400" b="1" dirty="0">
                <a:latin typeface="メイリオ"/>
                <a:ea typeface="メイリオ"/>
                <a:cs typeface="メイリオ"/>
              </a:rPr>
              <a:t>『</a:t>
            </a:r>
            <a:r>
              <a:rPr lang="ja-JP" altLang="en-US" sz="4400" b="1" dirty="0">
                <a:latin typeface="メイリオ"/>
                <a:ea typeface="メイリオ"/>
                <a:cs typeface="メイリオ"/>
              </a:rPr>
              <a:t>主体的に学習に取り組む態度</a:t>
            </a:r>
            <a:r>
              <a:rPr lang="en-US" altLang="ja-JP" sz="4400" b="1" dirty="0">
                <a:latin typeface="メイリオ"/>
                <a:ea typeface="メイリオ"/>
                <a:cs typeface="メイリオ"/>
              </a:rPr>
              <a:t>』</a:t>
            </a:r>
            <a:r>
              <a:rPr lang="ja-JP" altLang="en-US" sz="4400" b="1" dirty="0">
                <a:latin typeface="メイリオ"/>
                <a:ea typeface="メイリオ"/>
                <a:cs typeface="メイリオ"/>
              </a:rPr>
              <a:t>の評価</a:t>
            </a:r>
          </a:p>
        </p:txBody>
      </p:sp>
      <p:sp>
        <p:nvSpPr>
          <p:cNvPr id="3" name="サブタイトル 2"/>
          <p:cNvSpPr>
            <a:spLocks noGrp="1"/>
          </p:cNvSpPr>
          <p:nvPr>
            <p:ph type="subTitle" idx="1"/>
          </p:nvPr>
        </p:nvSpPr>
        <p:spPr>
          <a:xfrm>
            <a:off x="790708" y="3638214"/>
            <a:ext cx="11016343" cy="605308"/>
          </a:xfrm>
        </p:spPr>
        <p:txBody>
          <a:bodyPr>
            <a:noAutofit/>
          </a:bodyPr>
          <a:lstStyle/>
          <a:p>
            <a:pPr/>
            <a:r>
              <a:rPr lang="ja-JP" altLang="en-US" sz="3200" b="1" dirty="0">
                <a:latin typeface="メイリオ"/>
                <a:ea typeface="メイリオ"/>
                <a:cs typeface="メイリオ"/>
              </a:rPr>
              <a:t>～主体的・対話的で深い学びと学習評価～</a:t>
            </a:r>
          </a:p>
        </p:txBody>
      </p:sp>
      <p:sp>
        <p:nvSpPr>
          <p:cNvPr id="4" name="サブタイトル 2"/>
          <p:cNvSpPr txBox="1">
            <a:spLocks/>
          </p:cNvSpPr>
          <p:nvPr/>
        </p:nvSpPr>
        <p:spPr>
          <a:xfrm>
            <a:off x="7816404" y="4868215"/>
            <a:ext cx="3086637" cy="1004552"/>
          </a:xfrm>
          <a:prstGeom prst="rect">
            <a:avLst/>
          </a:prstGeom>
        </p:spPr>
        <p:txBody>
          <a:bodyPr vert="horz" lIns="91440" tIns="45720" rIns="91440" bIns="45720" rtlCol="0">
            <a:normAutofit fontScale="62500" lnSpcReduction="20000"/>
          </a:bodyPr>
          <a:lstStyle>
            <a:lvl1pPr marL="0" indent="0" algn="ctr" defTabSz="914400" rtl="0" eaLnBrk="1" latinLnBrk="0" hangingPunct="1">
              <a:lnSpc>
                <a:spcPct val="90000"/>
              </a:lnSpc>
              <a:spcBef>
                <a:spcPts val="1000"/>
              </a:spcBef>
              <a:buFont typeface="Arial" panose="020B0604020202020204" pitchFamily="34" charset="0"/>
              <a:buNone/>
              <a:defRPr kumimoji="1"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pPr algn="l"/>
            <a:r>
              <a:rPr lang="ja-JP" altLang="en-US" sz="3200" b="1" dirty="0">
                <a:latin typeface="メイリオ"/>
                <a:ea typeface="メイリオ"/>
                <a:cs typeface="メイリオ"/>
              </a:rPr>
              <a:t>令和８年６月３日（水）</a:t>
            </a:r>
            <a:endParaRPr lang="en-US" altLang="ja-JP" sz="3200" b="1" dirty="0"/>
          </a:p>
          <a:p>
            <a:pPr algn="l"/>
            <a:r>
              <a:rPr lang="ja-JP" altLang="en-US" sz="3200" b="1" dirty="0">
                <a:latin typeface="メイリオ"/>
                <a:ea typeface="メイリオ"/>
                <a:cs typeface="メイリオ"/>
              </a:rPr>
              <a:t>練馬区教育委員会</a:t>
            </a:r>
            <a:endParaRPr lang="en-US" altLang="ja-JP" sz="3200" b="1" dirty="0"/>
          </a:p>
          <a:p>
            <a:pPr algn="l"/>
            <a:r>
              <a:rPr lang="ja-JP" altLang="en-US" sz="3200" b="1" dirty="0">
                <a:latin typeface="メイリオ"/>
                <a:ea typeface="メイリオ"/>
                <a:cs typeface="メイリオ"/>
              </a:rPr>
              <a:t>指導主事　紺多　章一郎</a:t>
            </a:r>
          </a:p>
        </p:txBody>
      </p:sp>
      <p:sp>
        <p:nvSpPr>
          <p:cNvPr id="5" name="サブタイトル 2"/>
          <p:cNvSpPr txBox="1">
            <a:spLocks/>
          </p:cNvSpPr>
          <p:nvPr/>
        </p:nvSpPr>
        <p:spPr>
          <a:xfrm>
            <a:off x="2094964" y="1040463"/>
            <a:ext cx="8002073" cy="6053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kumimoji="1"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pPr/>
            <a:r>
              <a:rPr lang="ja-JP" altLang="en-US" sz="3200" b="1" dirty="0">
                <a:latin typeface="メイリオ"/>
                <a:ea typeface="メイリオ"/>
                <a:cs typeface="メイリオ"/>
              </a:rPr>
              <a:t>令和８年度　石神井南中学校　校内研修</a:t>
            </a:r>
          </a:p>
        </p:txBody>
      </p:sp>
    </p:spTree>
    <p:extLst>
      <p:ext uri="{BB962C8B-B14F-4D97-AF65-F5344CB8AC3E}">
        <p14:creationId xmlns:p14="http://schemas.microsoft.com/office/powerpoint/2010/main" val="2377379582"/>
      </p:ext>
    </p:extLst>
  </p:cSld>
  <p:clrMapOvr>
    <a:masterClrMapping/>
  </p:clrMapOvr>
  <p:transition spd="slow">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p:cNvSpPr>
            <a:spLocks noGrp="1"/>
          </p:cNvSpPr>
          <p:nvPr>
            <p:ph idx="1"/>
          </p:nvPr>
        </p:nvSpPr>
        <p:spPr>
          <a:xfrm>
            <a:off x="1235485" y="2017488"/>
            <a:ext cx="10515600" cy="3446610"/>
          </a:xfrm>
        </p:spPr>
        <p:txBody>
          <a:bodyPr>
            <a:normAutofit/>
          </a:bodyPr>
          <a:lstStyle/>
          <a:p>
            <a:pPr marL="0" indent="0">
              <a:buNone/>
            </a:pPr>
            <a:r>
              <a:rPr lang="ja-JP" altLang="en-US" sz="3600" b="1" dirty="0">
                <a:latin typeface="メイリオ"/>
                <a:ea typeface="メイリオ"/>
                <a:cs typeface="メイリオ"/>
              </a:rPr>
              <a:t>１　主体的・対話的で深い学びの実現に向けた</a:t>
            </a:r>
            <a:endParaRPr lang="en-US" altLang="ja-JP" sz="3600" b="1" dirty="0"/>
          </a:p>
          <a:p>
            <a:pPr marL="0" indent="0">
              <a:buNone/>
            </a:pPr>
            <a:r>
              <a:rPr lang="ja-JP" altLang="en-US" sz="3600" b="1" dirty="0">
                <a:latin typeface="メイリオ"/>
                <a:ea typeface="メイリオ"/>
                <a:cs typeface="メイリオ"/>
              </a:rPr>
              <a:t>　　授業改善について</a:t>
            </a:r>
            <a:endParaRPr lang="en-US" altLang="ja-JP" sz="3600" b="1" dirty="0"/>
          </a:p>
          <a:p>
            <a:pPr marL="0" indent="0">
              <a:buNone/>
            </a:pPr>
            <a:endParaRPr lang="en-US" altLang="ja-JP" sz="3600" b="1" dirty="0"/>
          </a:p>
          <a:p>
            <a:pPr marL="0" indent="0">
              <a:buNone/>
            </a:pPr>
            <a:r>
              <a:rPr lang="ja-JP" altLang="en-US" sz="3600" b="1" dirty="0">
                <a:latin typeface="メイリオ"/>
                <a:ea typeface="メイリオ"/>
                <a:cs typeface="メイリオ"/>
              </a:rPr>
              <a:t>２ </a:t>
            </a:r>
            <a:r>
              <a:rPr lang="en-US" altLang="ja-JP" sz="3600" b="1" dirty="0">
                <a:latin typeface="メイリオ"/>
                <a:ea typeface="メイリオ"/>
                <a:cs typeface="メイリオ"/>
              </a:rPr>
              <a:t>『</a:t>
            </a:r>
            <a:r>
              <a:rPr lang="ja-JP" altLang="en-US" sz="3600" b="1" dirty="0">
                <a:latin typeface="メイリオ"/>
                <a:ea typeface="メイリオ"/>
                <a:cs typeface="メイリオ"/>
              </a:rPr>
              <a:t>主体的に学習に取り組む態度</a:t>
            </a:r>
            <a:r>
              <a:rPr lang="en-US" altLang="ja-JP" sz="3600" b="1" dirty="0">
                <a:latin typeface="メイリオ"/>
                <a:ea typeface="メイリオ"/>
                <a:cs typeface="メイリオ"/>
              </a:rPr>
              <a:t>』</a:t>
            </a:r>
            <a:r>
              <a:rPr lang="ja-JP" altLang="en-US" sz="3600" b="1" dirty="0">
                <a:latin typeface="メイリオ"/>
                <a:ea typeface="メイリオ"/>
                <a:cs typeface="メイリオ"/>
              </a:rPr>
              <a:t>の学習評価</a:t>
            </a:r>
            <a:endParaRPr lang="en-US" altLang="ja-JP" sz="3600" b="1" dirty="0"/>
          </a:p>
          <a:p>
            <a:pPr marL="0" indent="0">
              <a:buNone/>
            </a:pPr>
            <a:endParaRPr lang="ja-JP" altLang="en-US" b="1" dirty="0"/>
          </a:p>
        </p:txBody>
      </p:sp>
      <p:sp>
        <p:nvSpPr>
          <p:cNvPr id="4" name="Rectangle 1">
            <a:extLst>
              <a:ext uri="{FF2B5EF4-FFF2-40B4-BE49-F238E27FC236}">
                <a16:creationId xmlns:a16="http://schemas.microsoft.com/office/drawing/2014/main" id="{7E8F890B-B36A-F960-C23B-F5844E28D7BE}"/>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　研修内容</a:t>
            </a:r>
            <a:endParaRPr lang="en-US" altLang="ja-JP" sz="2800" b="1" dirty="0"/>
          </a:p>
        </p:txBody>
      </p:sp>
    </p:spTree>
    <p:extLst>
      <p:ext uri="{BB962C8B-B14F-4D97-AF65-F5344CB8AC3E}">
        <p14:creationId xmlns:p14="http://schemas.microsoft.com/office/powerpoint/2010/main" val="1816358613"/>
      </p:ext>
    </p:extLst>
  </p:cSld>
  <p:clrMapOvr>
    <a:masterClrMapping/>
  </p:clrMapOvr>
  <p:transition spd="slow">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587499" y="2966017"/>
            <a:ext cx="9428844" cy="909299"/>
          </a:xfrm>
        </p:spPr>
        <p:txBody>
          <a:bodyPr>
            <a:noAutofit/>
          </a:bodyPr>
          <a:lstStyle/>
          <a:p>
            <a:pPr/>
            <a:r>
              <a:rPr lang="ja-JP" altLang="en-US" sz="4800" b="1" dirty="0">
                <a:latin typeface="メイリオ"/>
                <a:ea typeface="メイリオ"/>
                <a:cs typeface="メイリオ"/>
              </a:rPr>
              <a:t>　はじめに</a:t>
            </a:r>
            <a:endParaRPr lang="ja-JP" altLang="en-US" sz="4800" dirty="0">
              <a:latin typeface="+mn-ea"/>
              <a:ea typeface="+mn-ea"/>
            </a:endParaRPr>
          </a:p>
        </p:txBody>
      </p:sp>
    </p:spTree>
    <p:extLst>
      <p:ext uri="{BB962C8B-B14F-4D97-AF65-F5344CB8AC3E}">
        <p14:creationId xmlns:p14="http://schemas.microsoft.com/office/powerpoint/2010/main" val="2372898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A09C680-3B03-0007-2E08-39FE4CA699AF}"/>
              </a:ext>
            </a:extLst>
          </p:cNvPr>
          <p:cNvGraphicFramePr>
            <a:graphicFrameLocks noGrp="1"/>
          </p:cNvGraphicFramePr>
          <p:nvPr>
            <p:extLst>
              <p:ext uri="{D42A27DB-BD31-4B8C-83A1-F6EECF244321}">
                <p14:modId xmlns:p14="http://schemas.microsoft.com/office/powerpoint/2010/main" val="1734985214"/>
              </p:ext>
            </p:extLst>
          </p:nvPr>
        </p:nvGraphicFramePr>
        <p:xfrm>
          <a:off x="888647" y="1705704"/>
          <a:ext cx="8028000" cy="3644162"/>
        </p:xfrm>
        <a:graphic>
          <a:graphicData uri="http://schemas.openxmlformats.org/drawingml/2006/table">
            <a:tbl>
              <a:tblPr firstRow="1" bandRow="1">
                <a:tableStyleId>{616DA210-FB5B-4158-B5E0-FEB733F419BA}</a:tableStyleId>
              </a:tblPr>
              <a:tblGrid>
                <a:gridCol w="614550">
                  <a:extLst>
                    <a:ext uri="{9D8B030D-6E8A-4147-A177-3AD203B41FA5}">
                      <a16:colId xmlns:a16="http://schemas.microsoft.com/office/drawing/2014/main" val="1889472123"/>
                    </a:ext>
                  </a:extLst>
                </a:gridCol>
                <a:gridCol w="1482690">
                  <a:extLst>
                    <a:ext uri="{9D8B030D-6E8A-4147-A177-3AD203B41FA5}">
                      <a16:colId xmlns:a16="http://schemas.microsoft.com/office/drawing/2014/main" val="980164369"/>
                    </a:ext>
                  </a:extLst>
                </a:gridCol>
                <a:gridCol w="1482690">
                  <a:extLst>
                    <a:ext uri="{9D8B030D-6E8A-4147-A177-3AD203B41FA5}">
                      <a16:colId xmlns:a16="http://schemas.microsoft.com/office/drawing/2014/main" val="4100679345"/>
                    </a:ext>
                  </a:extLst>
                </a:gridCol>
                <a:gridCol w="1482690">
                  <a:extLst>
                    <a:ext uri="{9D8B030D-6E8A-4147-A177-3AD203B41FA5}">
                      <a16:colId xmlns:a16="http://schemas.microsoft.com/office/drawing/2014/main" val="391346200"/>
                    </a:ext>
                  </a:extLst>
                </a:gridCol>
                <a:gridCol w="1482690">
                  <a:extLst>
                    <a:ext uri="{9D8B030D-6E8A-4147-A177-3AD203B41FA5}">
                      <a16:colId xmlns:a16="http://schemas.microsoft.com/office/drawing/2014/main" val="1997047567"/>
                    </a:ext>
                  </a:extLst>
                </a:gridCol>
                <a:gridCol w="1482690">
                  <a:extLst>
                    <a:ext uri="{9D8B030D-6E8A-4147-A177-3AD203B41FA5}">
                      <a16:colId xmlns:a16="http://schemas.microsoft.com/office/drawing/2014/main" val="365566380"/>
                    </a:ext>
                  </a:extLst>
                </a:gridCol>
              </a:tblGrid>
              <a:tr h="99332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1" lang="en-US" altLang="ja-JP" sz="4800" b="1" dirty="0">
                          <a:solidFill>
                            <a:schemeClr val="tx1"/>
                          </a:solidFill>
                          <a:latin typeface="+mn-ea"/>
                          <a:ea typeface="+mn-ea"/>
                        </a:rPr>
                        <a:t>A</a:t>
                      </a:r>
                      <a:endParaRPr kumimoji="1" lang="ja-JP" altLang="en-US" sz="4800" b="1" dirty="0">
                        <a:solidFill>
                          <a:schemeClr val="tx1"/>
                        </a:solidFill>
                        <a:latin typeface="+mn-ea"/>
                        <a:ea typeface="+mn-ea"/>
                      </a:endParaRPr>
                    </a:p>
                  </a:txBody>
                  <a:tcPr marL="121920" marR="121920" marT="60960" marB="60960" anchor="ct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1" lang="en-US" altLang="ja-JP" sz="4800" b="1" dirty="0">
                          <a:solidFill>
                            <a:schemeClr val="tx1"/>
                          </a:solidFill>
                          <a:latin typeface="+mn-ea"/>
                          <a:ea typeface="+mn-ea"/>
                        </a:rPr>
                        <a:t>30.3</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1" lang="en-US" altLang="ja-JP" sz="4800" b="1" dirty="0">
                          <a:solidFill>
                            <a:schemeClr val="tx1"/>
                          </a:solidFill>
                          <a:latin typeface="+mn-ea"/>
                          <a:ea typeface="+mn-ea"/>
                        </a:rPr>
                        <a:t>22.5</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33.8</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11.3</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2.1</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492385"/>
                  </a:ext>
                </a:extLst>
              </a:tr>
              <a:tr h="337143">
                <a:tc>
                  <a:txBody>
                    <a:bodyPr/>
                    <a:lstStyle/>
                    <a:p>
                      <a:pPr algn="ctr"/>
                      <a:endParaRPr kumimoji="1" lang="ja-JP" altLang="en-US" sz="1400" b="1" dirty="0">
                        <a:solidFill>
                          <a:schemeClr val="tx1"/>
                        </a:solidFill>
                        <a:latin typeface="+mn-ea"/>
                        <a:ea typeface="+mn-ea"/>
                      </a:endParaRPr>
                    </a:p>
                  </a:txBody>
                  <a:tcPr marL="121920" marR="121920" marT="60960" marB="60960" anchor="ct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gridSpan="5">
                  <a:txBody>
                    <a:bodyPr/>
                    <a:lstStyle/>
                    <a:p>
                      <a:pPr algn="ctr"/>
                      <a:endParaRPr kumimoji="1" lang="ja-JP" altLang="en-US" sz="1400" b="1" dirty="0">
                        <a:solidFill>
                          <a:schemeClr val="tx1"/>
                        </a:solidFill>
                        <a:latin typeface="+mn-ea"/>
                        <a:ea typeface="+mn-ea"/>
                      </a:endParaRPr>
                    </a:p>
                  </a:txBody>
                  <a:tcPr marL="121920" marR="121920" marT="60960" marB="60960" anchor="ct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4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4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4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4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67334502"/>
                  </a:ext>
                </a:extLst>
              </a:tr>
              <a:tr h="938384">
                <a:tc>
                  <a:txBody>
                    <a:bodyPr/>
                    <a:lstStyle/>
                    <a:p>
                      <a:pPr algn="ctr"/>
                      <a:r>
                        <a:rPr kumimoji="1" lang="en-US" altLang="ja-JP" sz="4800" b="1" dirty="0">
                          <a:solidFill>
                            <a:schemeClr val="tx1"/>
                          </a:solidFill>
                          <a:latin typeface="+mn-ea"/>
                          <a:ea typeface="+mn-ea"/>
                        </a:rPr>
                        <a:t>B</a:t>
                      </a:r>
                      <a:endParaRPr kumimoji="1" lang="ja-JP" altLang="en-US" sz="4800" b="1" dirty="0">
                        <a:solidFill>
                          <a:schemeClr val="tx1"/>
                        </a:solidFill>
                        <a:latin typeface="+mn-ea"/>
                        <a:ea typeface="+mn-ea"/>
                      </a:endParaRPr>
                    </a:p>
                  </a:txBody>
                  <a:tcPr marL="121920" marR="121920" marT="60960" marB="60960" anchor="ct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2.1</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10.7</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61.4</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24.3</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1.4</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11790109"/>
                  </a:ext>
                </a:extLst>
              </a:tr>
              <a:tr h="396175">
                <a:tc>
                  <a:txBody>
                    <a:bodyPr/>
                    <a:lstStyle/>
                    <a:p>
                      <a:pPr algn="ctr"/>
                      <a:endParaRPr kumimoji="1" lang="ja-JP" altLang="en-US" sz="1600" b="1" dirty="0">
                        <a:solidFill>
                          <a:schemeClr val="tx1"/>
                        </a:solidFill>
                        <a:latin typeface="+mn-ea"/>
                        <a:ea typeface="+mn-ea"/>
                      </a:endParaRPr>
                    </a:p>
                  </a:txBody>
                  <a:tcPr marL="121920" marR="121920" marT="60960" marB="60960" anchor="ct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gridSpan="5">
                  <a:txBody>
                    <a:bodyPr/>
                    <a:lstStyle/>
                    <a:p>
                      <a:pPr algn="ctr"/>
                      <a:endParaRPr kumimoji="1" lang="ja-JP" altLang="en-US" sz="1600" b="1" dirty="0">
                        <a:solidFill>
                          <a:schemeClr val="tx1"/>
                        </a:solidFill>
                        <a:latin typeface="+mn-ea"/>
                        <a:ea typeface="+mn-ea"/>
                      </a:endParaRPr>
                    </a:p>
                  </a:txBody>
                  <a:tcPr marL="121920" marR="121920" marT="60960" marB="60960" anchor="ct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6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6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6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kumimoji="1" lang="ja-JP" altLang="en-US" sz="16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97351"/>
                  </a:ext>
                </a:extLst>
              </a:tr>
              <a:tr h="979135">
                <a:tc>
                  <a:txBody>
                    <a:bodyPr/>
                    <a:lstStyle/>
                    <a:p>
                      <a:pPr algn="ctr"/>
                      <a:r>
                        <a:rPr kumimoji="1" lang="en-US" altLang="ja-JP" sz="4800" b="1" dirty="0">
                          <a:solidFill>
                            <a:schemeClr val="tx1"/>
                          </a:solidFill>
                          <a:latin typeface="+mn-ea"/>
                          <a:ea typeface="+mn-ea"/>
                        </a:rPr>
                        <a:t>C</a:t>
                      </a:r>
                      <a:endParaRPr kumimoji="1" lang="ja-JP" altLang="en-US" sz="4800" b="1" dirty="0">
                        <a:solidFill>
                          <a:schemeClr val="tx1"/>
                        </a:solidFill>
                        <a:latin typeface="+mn-ea"/>
                        <a:ea typeface="+mn-ea"/>
                      </a:endParaRPr>
                    </a:p>
                  </a:txBody>
                  <a:tcPr marL="121920" marR="121920" marT="60960" marB="60960" anchor="ct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6.8</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16.9</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49.3</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20.3</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a:txBody>
                    <a:bodyPr/>
                    <a:lstStyle/>
                    <a:p>
                      <a:pPr algn="ctr"/>
                      <a:r>
                        <a:rPr kumimoji="1" lang="en-US" altLang="ja-JP" sz="4800" b="1" dirty="0">
                          <a:solidFill>
                            <a:schemeClr val="tx1"/>
                          </a:solidFill>
                          <a:latin typeface="+mn-ea"/>
                          <a:ea typeface="+mn-ea"/>
                        </a:rPr>
                        <a:t>6.8</a:t>
                      </a:r>
                      <a:endParaRPr kumimoji="1" lang="ja-JP" altLang="en-US" sz="4800" b="1" dirty="0">
                        <a:solidFill>
                          <a:schemeClr val="tx1"/>
                        </a:solidFill>
                        <a:latin typeface="+mn-ea"/>
                        <a:ea typeface="+mn-ea"/>
                      </a:endParaRPr>
                    </a:p>
                  </a:txBody>
                  <a:tcPr marL="121920" marR="121920" marT="60960" marB="60960" anchor="ct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49285134"/>
                  </a:ext>
                </a:extLst>
              </a:tr>
            </a:tbl>
          </a:graphicData>
        </a:graphic>
      </p:graphicFrame>
      <p:sp>
        <p:nvSpPr>
          <p:cNvPr id="7" name="テキスト ボックス 6">
            <a:extLst>
              <a:ext uri="{FF2B5EF4-FFF2-40B4-BE49-F238E27FC236}">
                <a16:creationId xmlns:a16="http://schemas.microsoft.com/office/drawing/2014/main" id="{1457E505-E119-BE45-5410-F918BEED9C03}"/>
              </a:ext>
            </a:extLst>
          </p:cNvPr>
          <p:cNvSpPr txBox="1"/>
          <p:nvPr/>
        </p:nvSpPr>
        <p:spPr>
          <a:xfrm>
            <a:off x="729342" y="753551"/>
            <a:ext cx="8479971" cy="646331"/>
          </a:xfrm>
          <a:prstGeom prst="rect">
            <a:avLst/>
          </a:prstGeom>
          <a:noFill/>
        </p:spPr>
        <p:txBody>
          <a:bodyPr wrap="square">
            <a:spAutoFit/>
          </a:bodyPr>
          <a:lstStyle/>
          <a:p>
            <a:pPr/>
            <a:r>
              <a:rPr kumimoji="1" lang="ja-JP" altLang="en-US" sz="3600" dirty="0">
                <a:ea typeface="メイリオ" panose="02020700000000000000" pitchFamily="18" charset="-128"/>
                <a:latin typeface="メイリオ"/>
                <a:cs typeface="メイリオ"/>
              </a:rPr>
              <a:t>この数字は何を表しているでしょう？</a:t>
            </a:r>
            <a:endParaRPr kumimoji="1" lang="en-US" altLang="ja-JP" sz="3600" dirty="0">
              <a:ea typeface="UD デジタル 教科書体 NK-B" panose="02020700000000000000" pitchFamily="18" charset="-128"/>
            </a:endParaRPr>
          </a:p>
        </p:txBody>
      </p:sp>
      <p:sp>
        <p:nvSpPr>
          <p:cNvPr id="2" name="吹き出し: 角を丸めた四角形 1">
            <a:extLst>
              <a:ext uri="{FF2B5EF4-FFF2-40B4-BE49-F238E27FC236}">
                <a16:creationId xmlns:a16="http://schemas.microsoft.com/office/drawing/2014/main" id="{B7401CBC-689C-4789-A857-9ED62D80194E}"/>
              </a:ext>
            </a:extLst>
          </p:cNvPr>
          <p:cNvSpPr/>
          <p:nvPr/>
        </p:nvSpPr>
        <p:spPr>
          <a:xfrm>
            <a:off x="9355493" y="3230133"/>
            <a:ext cx="2644140" cy="1295977"/>
          </a:xfrm>
          <a:prstGeom prst="wedgeRoundRectCallout">
            <a:avLst>
              <a:gd name="adj1" fmla="val -71331"/>
              <a:gd name="adj2" fmla="val -266"/>
              <a:gd name="adj3" fmla="val 16667"/>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2400" dirty="0">
                <a:latin typeface="メイリオ"/>
                <a:ea typeface="メイリオ"/>
                <a:cs typeface="メイリオ"/>
              </a:rPr>
              <a:t>区内中学校３校の社会科の評定</a:t>
            </a:r>
          </a:p>
        </p:txBody>
      </p:sp>
      <p:sp>
        <p:nvSpPr>
          <p:cNvPr id="9" name="Rectangle 1">
            <a:extLst>
              <a:ext uri="{FF2B5EF4-FFF2-40B4-BE49-F238E27FC236}">
                <a16:creationId xmlns:a16="http://schemas.microsoft.com/office/drawing/2014/main" id="{4E17680C-0071-4B80-EB24-A6EAE0625A20}"/>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０　はじめに</a:t>
            </a:r>
            <a:endParaRPr lang="en-US" altLang="ja-JP" sz="2800" b="1" dirty="0"/>
          </a:p>
        </p:txBody>
      </p:sp>
    </p:spTree>
    <p:extLst>
      <p:ext uri="{BB962C8B-B14F-4D97-AF65-F5344CB8AC3E}">
        <p14:creationId xmlns:p14="http://schemas.microsoft.com/office/powerpoint/2010/main" val="3888532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１　主体的・対話的で深い学びの実現に向けた授業改善について</a:t>
            </a:r>
            <a:endParaRPr lang="en-US" altLang="ja-JP" sz="2800" b="1" dirty="0"/>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何ができるようになるか ─ 資質・能力の3つの柱</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850000"/>
            <a:ext cx="900000" cy="11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4400" b="1">
                <a:solidFill>
                  <a:srgbClr val="FFFFFF"/>
                </a:solidFill>
                <a:latin typeface="メイリオ"/>
                <a:ea typeface="メイリオ"/>
                <a:cs typeface="メイリオ"/>
              </a:rPr>
              <a:t>①</a:t>
            </a:r>
          </a:p>
        </p:txBody>
      </p:sp>
      <p:sp>
        <p:nvSpPr>
          <p:cNvPr id="7" name="Rectangle 6"/>
          <p:cNvSpPr/>
          <p:nvPr/>
        </p:nvSpPr>
        <p:spPr>
          <a:xfrm>
            <a:off x="1400000" y="1850000"/>
            <a:ext cx="10400000" cy="11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20000"/>
              </a:lnSpc>
            </a:pPr>
            <a:r>
              <a:rPr sz="2600" b="1">
                <a:solidFill>
                  <a:srgbClr val="EB6C15"/>
                </a:solidFill>
                <a:latin typeface="メイリオ"/>
                <a:ea typeface="メイリオ"/>
                <a:cs typeface="メイリオ"/>
              </a:rPr>
              <a:t>知識・技能</a:t>
            </a:r>
          </a:p>
          <a:p>
            <a:pPr algn="l">
              <a:lnSpc>
                <a:spcPct val="120000"/>
              </a:lnSpc>
            </a:pPr>
            <a:r>
              <a:rPr sz="2000" b="1">
                <a:solidFill>
                  <a:srgbClr val="1F3A6E"/>
                </a:solidFill>
                <a:latin typeface="メイリオ"/>
                <a:ea typeface="メイリオ"/>
                <a:cs typeface="メイリオ"/>
              </a:rPr>
              <a:t>何を理解しているか、何ができるか</a:t>
            </a:r>
          </a:p>
        </p:txBody>
      </p:sp>
      <p:sp>
        <p:nvSpPr>
          <p:cNvPr id="8" name="Rectangle 7"/>
          <p:cNvSpPr/>
          <p:nvPr/>
        </p:nvSpPr>
        <p:spPr>
          <a:xfrm>
            <a:off x="400000" y="3230000"/>
            <a:ext cx="900000" cy="11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4400" b="1">
                <a:solidFill>
                  <a:srgbClr val="FFFFFF"/>
                </a:solidFill>
                <a:latin typeface="メイリオ"/>
                <a:ea typeface="メイリオ"/>
                <a:cs typeface="メイリオ"/>
              </a:rPr>
              <a:t>②</a:t>
            </a:r>
          </a:p>
        </p:txBody>
      </p:sp>
      <p:sp>
        <p:nvSpPr>
          <p:cNvPr id="9" name="Rectangle 8"/>
          <p:cNvSpPr/>
          <p:nvPr/>
        </p:nvSpPr>
        <p:spPr>
          <a:xfrm>
            <a:off x="1400000" y="3230000"/>
            <a:ext cx="10400000" cy="11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20000"/>
              </a:lnSpc>
            </a:pPr>
            <a:r>
              <a:rPr sz="2600" b="1">
                <a:solidFill>
                  <a:srgbClr val="EB6C15"/>
                </a:solidFill>
                <a:latin typeface="メイリオ"/>
                <a:ea typeface="メイリオ"/>
                <a:cs typeface="メイリオ"/>
              </a:rPr>
              <a:t>思考力・判断力・表現力等</a:t>
            </a:r>
          </a:p>
          <a:p>
            <a:pPr algn="l">
              <a:lnSpc>
                <a:spcPct val="120000"/>
              </a:lnSpc>
            </a:pPr>
            <a:r>
              <a:rPr sz="2000" b="1">
                <a:solidFill>
                  <a:srgbClr val="1F3A6E"/>
                </a:solidFill>
                <a:latin typeface="メイリオ"/>
                <a:ea typeface="メイリオ"/>
                <a:cs typeface="メイリオ"/>
              </a:rPr>
              <a:t>理解していること・できることをどう使うか</a:t>
            </a:r>
          </a:p>
        </p:txBody>
      </p:sp>
      <p:sp>
        <p:nvSpPr>
          <p:cNvPr id="10" name="Rectangle 9"/>
          <p:cNvSpPr/>
          <p:nvPr/>
        </p:nvSpPr>
        <p:spPr>
          <a:xfrm>
            <a:off x="400000" y="4610000"/>
            <a:ext cx="900000" cy="11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4400" b="1">
                <a:solidFill>
                  <a:srgbClr val="FFFFFF"/>
                </a:solidFill>
                <a:latin typeface="メイリオ"/>
                <a:ea typeface="メイリオ"/>
                <a:cs typeface="メイリオ"/>
              </a:rPr>
              <a:t>③</a:t>
            </a:r>
          </a:p>
        </p:txBody>
      </p:sp>
      <p:sp>
        <p:nvSpPr>
          <p:cNvPr id="11" name="Rectangle 10"/>
          <p:cNvSpPr/>
          <p:nvPr/>
        </p:nvSpPr>
        <p:spPr>
          <a:xfrm>
            <a:off x="1400000" y="4610000"/>
            <a:ext cx="10400000" cy="11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20000"/>
              </a:lnSpc>
            </a:pPr>
            <a:r>
              <a:rPr sz="2600" b="1">
                <a:solidFill>
                  <a:srgbClr val="EB6C15"/>
                </a:solidFill>
                <a:latin typeface="メイリオ"/>
                <a:ea typeface="メイリオ"/>
                <a:cs typeface="メイリオ"/>
              </a:rPr>
              <a:t>学びに向かう力・人間性等</a:t>
            </a:r>
          </a:p>
          <a:p>
            <a:pPr algn="l">
              <a:lnSpc>
                <a:spcPct val="120000"/>
              </a:lnSpc>
            </a:pPr>
            <a:r>
              <a:rPr sz="2000" b="1">
                <a:solidFill>
                  <a:srgbClr val="1F3A6E"/>
                </a:solidFill>
                <a:latin typeface="メイリオ"/>
                <a:ea typeface="メイリオ"/>
                <a:cs typeface="メイリオ"/>
              </a:rPr>
              <a:t>どのように社会・世界と関わり、よりよい人生を送るか</a:t>
            </a:r>
          </a:p>
        </p:txBody>
      </p:sp>
      <p:sp>
        <p:nvSpPr>
          <p:cNvPr id="12" name="TextBox 11"/>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a:solidFill>
                  <a:srgbClr val="404040"/>
                </a:solidFill>
                <a:latin typeface="メイリオ"/>
                <a:ea typeface="メイリオ"/>
                <a:cs typeface="メイリオ"/>
              </a:rPr>
              <a:t>出典：中学校学習指導要領 解説　総則編／文部科学省</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１　主体的・対話的で深い学びの実現に向けた授業改善について</a:t>
            </a:r>
            <a:endParaRPr lang="en-US" altLang="ja-JP" sz="2800" b="1" dirty="0"/>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どのように学ぶか ─ 主体的・対話的で深い学び</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3750000" cy="7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lnSpcReduction="10000"/>
          </a:bodyPr>
          <a:lstStyle/>
          <a:p>
            <a:pPr algn="ctr">
              <a:lnSpc>
                <a:spcPct val="140000"/>
              </a:lnSpc>
            </a:pPr>
            <a:r>
              <a:rPr sz="2800" b="1">
                <a:solidFill>
                  <a:srgbClr val="FFFFFF"/>
                </a:solidFill>
                <a:latin typeface="メイリオ"/>
                <a:ea typeface="メイリオ"/>
                <a:cs typeface="メイリオ"/>
              </a:rPr>
              <a:t>主体的な学び</a:t>
            </a:r>
          </a:p>
        </p:txBody>
      </p:sp>
      <p:sp>
        <p:nvSpPr>
          <p:cNvPr id="7" name="Rectangle 6"/>
          <p:cNvSpPr/>
          <p:nvPr/>
        </p:nvSpPr>
        <p:spPr>
          <a:xfrm>
            <a:off x="400000" y="2620000"/>
            <a:ext cx="3750000" cy="18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000" b="1">
                <a:solidFill>
                  <a:srgbClr val="1F3A6E"/>
                </a:solidFill>
                <a:latin typeface="メイリオ"/>
                <a:ea typeface="メイリオ"/>
                <a:cs typeface="メイリオ"/>
              </a:rPr>
              <a:t>見通しをもち、粘り強く取り組み、振り返る</a:t>
            </a:r>
          </a:p>
        </p:txBody>
      </p:sp>
      <p:sp>
        <p:nvSpPr>
          <p:cNvPr id="8" name="Rectangle 7"/>
          <p:cNvSpPr/>
          <p:nvPr/>
        </p:nvSpPr>
        <p:spPr>
          <a:xfrm>
            <a:off x="4230000" y="1900000"/>
            <a:ext cx="3750000" cy="7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lnSpcReduction="10000"/>
          </a:bodyPr>
          <a:lstStyle/>
          <a:p>
            <a:pPr algn="ctr">
              <a:lnSpc>
                <a:spcPct val="140000"/>
              </a:lnSpc>
            </a:pPr>
            <a:r>
              <a:rPr sz="2800" b="1">
                <a:solidFill>
                  <a:srgbClr val="FFFFFF"/>
                </a:solidFill>
                <a:latin typeface="メイリオ"/>
                <a:ea typeface="メイリオ"/>
                <a:cs typeface="メイリオ"/>
              </a:rPr>
              <a:t>対話的な学び</a:t>
            </a:r>
          </a:p>
        </p:txBody>
      </p:sp>
      <p:sp>
        <p:nvSpPr>
          <p:cNvPr id="9" name="Rectangle 8"/>
          <p:cNvSpPr/>
          <p:nvPr/>
        </p:nvSpPr>
        <p:spPr>
          <a:xfrm>
            <a:off x="4230000" y="2620000"/>
            <a:ext cx="3750000" cy="18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000" b="1">
                <a:solidFill>
                  <a:srgbClr val="1F3A6E"/>
                </a:solidFill>
                <a:latin typeface="メイリオ"/>
                <a:ea typeface="メイリオ"/>
                <a:cs typeface="メイリオ"/>
              </a:rPr>
              <a:t>互いの考えを比べ、共に考えを創り上げる</a:t>
            </a:r>
          </a:p>
        </p:txBody>
      </p:sp>
      <p:sp>
        <p:nvSpPr>
          <p:cNvPr id="10" name="Rectangle 9"/>
          <p:cNvSpPr/>
          <p:nvPr/>
        </p:nvSpPr>
        <p:spPr>
          <a:xfrm>
            <a:off x="8060000" y="1900000"/>
            <a:ext cx="3750000" cy="7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lnSpcReduction="10000"/>
          </a:bodyPr>
          <a:lstStyle/>
          <a:p>
            <a:pPr algn="ctr">
              <a:lnSpc>
                <a:spcPct val="140000"/>
              </a:lnSpc>
            </a:pPr>
            <a:r>
              <a:rPr sz="2800" b="1">
                <a:solidFill>
                  <a:srgbClr val="FFFFFF"/>
                </a:solidFill>
                <a:latin typeface="メイリオ"/>
                <a:ea typeface="メイリオ"/>
                <a:cs typeface="メイリオ"/>
              </a:rPr>
              <a:t>深い学び</a:t>
            </a:r>
          </a:p>
        </p:txBody>
      </p:sp>
      <p:sp>
        <p:nvSpPr>
          <p:cNvPr id="11" name="Rectangle 10"/>
          <p:cNvSpPr/>
          <p:nvPr/>
        </p:nvSpPr>
        <p:spPr>
          <a:xfrm>
            <a:off x="8060000" y="2620000"/>
            <a:ext cx="3750000" cy="18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000" b="1">
                <a:solidFill>
                  <a:srgbClr val="1F3A6E"/>
                </a:solidFill>
                <a:latin typeface="メイリオ"/>
                <a:ea typeface="メイリオ"/>
                <a:cs typeface="メイリオ"/>
              </a:rPr>
              <a:t>知識・技能を活用・概念化し、新たなものを創る</a:t>
            </a:r>
          </a:p>
        </p:txBody>
      </p:sp>
      <p:sp>
        <p:nvSpPr>
          <p:cNvPr id="12" name="Rectangle 11"/>
          <p:cNvSpPr/>
          <p:nvPr/>
        </p:nvSpPr>
        <p:spPr>
          <a:xfrm>
            <a:off x="400000" y="4600000"/>
            <a:ext cx="11400000" cy="16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200" b="1">
                <a:solidFill>
                  <a:srgbClr val="000000"/>
                </a:solidFill>
                <a:latin typeface="メイリオ"/>
                <a:ea typeface="メイリオ"/>
                <a:cs typeface="メイリオ"/>
              </a:rPr>
              <a:t>授業改善の視点 → </a:t>
            </a:r>
            <a:r>
              <a:rPr sz="2600" b="1">
                <a:solidFill>
                  <a:srgbClr val="EB6C15"/>
                </a:solidFill>
                <a:latin typeface="メイリオ"/>
                <a:ea typeface="メイリオ"/>
                <a:cs typeface="メイリオ"/>
              </a:rPr>
              <a:t>生徒に見せたい「学びの姿」</a:t>
            </a:r>
          </a:p>
          <a:p>
            <a:pPr algn="l">
              <a:lnSpc>
                <a:spcPct val="140000"/>
              </a:lnSpc>
            </a:pPr>
            <a:r>
              <a:rPr sz="2200" b="1">
                <a:solidFill>
                  <a:srgbClr val="000000"/>
                </a:solidFill>
                <a:latin typeface="メイリオ"/>
                <a:ea typeface="メイリオ"/>
                <a:cs typeface="メイリオ"/>
              </a:rPr>
              <a:t>　 が </a:t>
            </a:r>
            <a:r>
              <a:rPr sz="2600" b="1">
                <a:solidFill>
                  <a:srgbClr val="EB6C15"/>
                </a:solidFill>
                <a:latin typeface="メイリオ"/>
                <a:ea typeface="メイリオ"/>
                <a:cs typeface="メイリオ"/>
              </a:rPr>
              <a:t>評価の対象</a:t>
            </a:r>
            <a:r>
              <a:rPr sz="2200" b="1">
                <a:solidFill>
                  <a:srgbClr val="000000"/>
                </a:solidFill>
                <a:latin typeface="メイリオ"/>
                <a:ea typeface="メイリオ"/>
                <a:cs typeface="メイリオ"/>
              </a:rPr>
              <a:t>（特に「主体的に取り組む態度」）</a:t>
            </a:r>
          </a:p>
        </p:txBody>
      </p:sp>
      <p:sp>
        <p:nvSpPr>
          <p:cNvPr id="13" name="TextBox 12"/>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a:solidFill>
                  <a:srgbClr val="404040"/>
                </a:solidFill>
                <a:latin typeface="メイリオ"/>
                <a:ea typeface="メイリオ"/>
                <a:cs typeface="メイリオ"/>
              </a:rPr>
              <a:t>出典：中学校学習指導要領 解説　総則編／文部科学省</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１　主体的・対話的で深い学びの実現に向けた授業改善について</a:t>
            </a:r>
            <a:endParaRPr lang="en-US" altLang="ja-JP" sz="2800" b="1" dirty="0"/>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「主体的な学び」のイメージ</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50000" y="6420000"/>
            <a:ext cx="800000" cy="360000"/>
          </a:xfrm>
          <a:prstGeom prst="rect">
            <a:avLst/>
          </a:prstGeom>
          <a:noFill/>
        </p:spPr>
        <p:txBody>
          <a:bodyPr wrap="none" lIns="0" tIns="0" rIns="40000" bIns="0">
            <a:spAutoFit/>
          </a:bodyPr>
          <a:lstStyle/>
          <a:p>
            <a:pPr algn="r"/>
            <a:r>
              <a:rPr sz="1600" b="1">
                <a:solidFill>
                  <a:srgbClr val="404040"/>
                </a:solidFill>
                <a:latin typeface="メイリオ"/>
                <a:ea typeface="メイリオ"/>
                <a:cs typeface="メイリオ"/>
              </a:rPr>
              <a:t>8</a:t>
            </a:r>
          </a:p>
        </p:txBody>
      </p:sp>
      <p:sp>
        <p:nvSpPr>
          <p:cNvPr id="6" name="Rectangle 5"/>
          <p:cNvSpPr/>
          <p:nvPr/>
        </p:nvSpPr>
        <p:spPr>
          <a:xfrm>
            <a:off x="40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興味や関心
を高める</a:t>
            </a:r>
          </a:p>
        </p:txBody>
      </p:sp>
      <p:sp>
        <p:nvSpPr>
          <p:cNvPr id="7" name="Rectangle 6"/>
          <p:cNvSpPr/>
          <p:nvPr/>
        </p:nvSpPr>
        <p:spPr>
          <a:xfrm>
            <a:off x="425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見通しを
もつ</a:t>
            </a:r>
          </a:p>
        </p:txBody>
      </p:sp>
      <p:sp>
        <p:nvSpPr>
          <p:cNvPr id="8" name="Rectangle 7"/>
          <p:cNvSpPr/>
          <p:nvPr/>
        </p:nvSpPr>
        <p:spPr>
          <a:xfrm>
            <a:off x="810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粘り強く
取り組む</a:t>
            </a:r>
          </a:p>
        </p:txBody>
      </p:sp>
      <p:sp>
        <p:nvSpPr>
          <p:cNvPr id="9" name="Rectangle 8"/>
          <p:cNvSpPr/>
          <p:nvPr/>
        </p:nvSpPr>
        <p:spPr>
          <a:xfrm>
            <a:off x="40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自分と結び
付ける</a:t>
            </a:r>
          </a:p>
        </p:txBody>
      </p:sp>
      <p:sp>
        <p:nvSpPr>
          <p:cNvPr id="10" name="Rectangle 9"/>
          <p:cNvSpPr/>
          <p:nvPr/>
        </p:nvSpPr>
        <p:spPr>
          <a:xfrm>
            <a:off x="425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振り返って
次へつなげる</a:t>
            </a:r>
          </a:p>
        </p:txBody>
      </p:sp>
      <p:sp>
        <p:nvSpPr>
          <p:cNvPr id="11" name="Rectangle 10"/>
          <p:cNvSpPr/>
          <p:nvPr/>
        </p:nvSpPr>
        <p:spPr>
          <a:xfrm>
            <a:off x="810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学び続ける
意志</a:t>
            </a:r>
          </a:p>
        </p:txBody>
      </p:sp>
      <p:sp>
        <p:nvSpPr>
          <p:cNvPr id="12" name="Rectangle 11"/>
          <p:cNvSpPr/>
          <p:nvPr/>
        </p:nvSpPr>
        <p:spPr>
          <a:xfrm>
            <a:off x="400000" y="5300000"/>
            <a:ext cx="11400000" cy="9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200" b="1">
                <a:solidFill>
                  <a:srgbClr val="000000"/>
                </a:solidFill>
                <a:latin typeface="メイリオ"/>
                <a:ea typeface="メイリオ"/>
                <a:cs typeface="メイリオ"/>
              </a:rPr>
              <a:t>これらが </a:t>
            </a:r>
            <a:r>
              <a:rPr sz="2400" b="1">
                <a:solidFill>
                  <a:srgbClr val="EB6C15"/>
                </a:solidFill>
                <a:latin typeface="メイリオ"/>
                <a:ea typeface="メイリオ"/>
                <a:cs typeface="メイリオ"/>
              </a:rPr>
              <a:t>単元の中で実際に見えるか</a:t>
            </a:r>
            <a:r>
              <a:rPr sz="2200" b="1">
                <a:solidFill>
                  <a:srgbClr val="000000"/>
                </a:solidFill>
                <a:latin typeface="メイリオ"/>
                <a:ea typeface="メイリオ"/>
                <a:cs typeface="メイリオ"/>
              </a:rPr>
              <a:t>を観る</a:t>
            </a:r>
          </a:p>
        </p:txBody>
      </p:sp>
      <p:sp>
        <p:nvSpPr>
          <p:cNvPr id="13" name="TextBox 12"/>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a:solidFill>
                  <a:srgbClr val="404040"/>
                </a:solidFill>
                <a:latin typeface="メイリオ"/>
                <a:ea typeface="メイリオ"/>
                <a:cs typeface="メイリオ"/>
              </a:rPr>
              <a:t>出典：中学校学習指導要領 解説　総則編／文部科学省</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１　主体的・対話的で深い学びの実現に向けた授業改善について</a:t>
            </a:r>
            <a:endParaRPr lang="en-US" altLang="ja-JP" sz="2800" b="1" dirty="0"/>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「対話的な学び」のイメージ</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互いの考え
を比べる</a:t>
            </a:r>
          </a:p>
        </p:txBody>
      </p:sp>
      <p:sp>
        <p:nvSpPr>
          <p:cNvPr id="7" name="Rectangle 6"/>
          <p:cNvSpPr/>
          <p:nvPr/>
        </p:nvSpPr>
        <p:spPr>
          <a:xfrm>
            <a:off x="425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多様な手段
で説明する</a:t>
            </a:r>
          </a:p>
        </p:txBody>
      </p:sp>
      <p:sp>
        <p:nvSpPr>
          <p:cNvPr id="8" name="Rectangle 7"/>
          <p:cNvSpPr/>
          <p:nvPr/>
        </p:nvSpPr>
        <p:spPr>
          <a:xfrm>
            <a:off x="810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共に考えを
創り上げる</a:t>
            </a:r>
          </a:p>
        </p:txBody>
      </p:sp>
      <p:sp>
        <p:nvSpPr>
          <p:cNvPr id="9" name="Rectangle 8"/>
          <p:cNvSpPr/>
          <p:nvPr/>
        </p:nvSpPr>
        <p:spPr>
          <a:xfrm>
            <a:off x="40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多様な情報
を収集する</a:t>
            </a:r>
          </a:p>
        </p:txBody>
      </p:sp>
      <p:sp>
        <p:nvSpPr>
          <p:cNvPr id="10" name="Rectangle 9"/>
          <p:cNvSpPr/>
          <p:nvPr/>
        </p:nvSpPr>
        <p:spPr>
          <a:xfrm>
            <a:off x="425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協働して
課題を解決</a:t>
            </a:r>
          </a:p>
        </p:txBody>
      </p:sp>
      <p:sp>
        <p:nvSpPr>
          <p:cNvPr id="11" name="Rectangle 10"/>
          <p:cNvSpPr/>
          <p:nvPr/>
        </p:nvSpPr>
        <p:spPr>
          <a:xfrm>
            <a:off x="810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先哲の考え
を手掛かりに</a:t>
            </a:r>
          </a:p>
        </p:txBody>
      </p:sp>
      <p:sp>
        <p:nvSpPr>
          <p:cNvPr id="12" name="Rectangle 11"/>
          <p:cNvSpPr/>
          <p:nvPr/>
        </p:nvSpPr>
        <p:spPr>
          <a:xfrm>
            <a:off x="400000" y="5300000"/>
            <a:ext cx="11400000" cy="9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000000"/>
                </a:solidFill>
                <a:latin typeface="メイリオ"/>
                <a:ea typeface="メイリオ"/>
                <a:cs typeface="メイリオ"/>
              </a:rPr>
              <a:t>Input ⇄ Output の往復で </a:t>
            </a:r>
            <a:r>
              <a:rPr sz="2400" b="1">
                <a:solidFill>
                  <a:srgbClr val="EB6C15"/>
                </a:solidFill>
                <a:latin typeface="メイリオ"/>
                <a:ea typeface="メイリオ"/>
                <a:cs typeface="メイリオ"/>
              </a:rPr>
              <a:t>自分の考えを更新する姿</a:t>
            </a:r>
            <a:r>
              <a:rPr sz="2200" b="1">
                <a:solidFill>
                  <a:srgbClr val="000000"/>
                </a:solidFill>
                <a:latin typeface="メイリオ"/>
                <a:ea typeface="メイリオ"/>
                <a:cs typeface="メイリオ"/>
              </a:rPr>
              <a:t>を観る</a:t>
            </a:r>
          </a:p>
        </p:txBody>
      </p:sp>
      <p:sp>
        <p:nvSpPr>
          <p:cNvPr id="13" name="TextBox 12"/>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dirty="0" err="1">
                <a:solidFill>
                  <a:srgbClr val="404040"/>
                </a:solidFill>
                <a:latin typeface="メイリオ"/>
                <a:ea typeface="メイリオ"/>
                <a:cs typeface="メイリオ"/>
              </a:rPr>
              <a:t>出典：中学校学習指導要領</a:t>
            </a:r>
            <a:r>
              <a:rPr sz="1300" dirty="0">
                <a:solidFill>
                  <a:srgbClr val="404040"/>
                </a:solidFill>
                <a:latin typeface="メイリオ"/>
                <a:ea typeface="メイリオ"/>
                <a:cs typeface="メイリオ"/>
              </a:rPr>
              <a:t> </a:t>
            </a:r>
            <a:r>
              <a:rPr sz="1300" dirty="0" err="1">
                <a:solidFill>
                  <a:srgbClr val="404040"/>
                </a:solidFill>
                <a:latin typeface="メイリオ"/>
                <a:ea typeface="メイリオ"/>
                <a:cs typeface="メイリオ"/>
              </a:rPr>
              <a:t>解説</a:t>
            </a:r>
            <a:r>
              <a:rPr sz="1300" dirty="0">
                <a:solidFill>
                  <a:srgbClr val="404040"/>
                </a:solidFill>
                <a:latin typeface="メイリオ"/>
                <a:ea typeface="メイリオ"/>
                <a:cs typeface="メイリオ"/>
              </a:rPr>
              <a:t>　</a:t>
            </a:r>
            <a:r>
              <a:rPr sz="1300" dirty="0" err="1">
                <a:solidFill>
                  <a:srgbClr val="404040"/>
                </a:solidFill>
                <a:latin typeface="メイリオ"/>
                <a:ea typeface="メイリオ"/>
                <a:cs typeface="メイリオ"/>
              </a:rPr>
              <a:t>総則編／文部科学省</a:t>
            </a:r>
            <a:endParaRPr sz="1300" dirty="0">
              <a:solidFill>
                <a:srgbClr val="404040"/>
              </a:solidFill>
              <a:latin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latin typeface="メイリオ"/>
                <a:ea typeface="メイリオ"/>
                <a:cs typeface="メイリオ"/>
              </a:rPr>
              <a:t>１　主体的・対話的で深い学びの実現に向けた授業改善について</a:t>
            </a:r>
            <a:endParaRPr lang="en-US" altLang="ja-JP" sz="2800" b="1" dirty="0"/>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「深い学び」のイメージ</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知識・技能を
習得する</a:t>
            </a:r>
          </a:p>
        </p:txBody>
      </p:sp>
      <p:sp>
        <p:nvSpPr>
          <p:cNvPr id="7" name="Rectangle 6"/>
          <p:cNvSpPr/>
          <p:nvPr/>
        </p:nvSpPr>
        <p:spPr>
          <a:xfrm>
            <a:off x="425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知識・技能を
活用する</a:t>
            </a:r>
          </a:p>
        </p:txBody>
      </p:sp>
      <p:sp>
        <p:nvSpPr>
          <p:cNvPr id="8" name="Rectangle 7"/>
          <p:cNvSpPr/>
          <p:nvPr/>
        </p:nvSpPr>
        <p:spPr>
          <a:xfrm>
            <a:off x="8100000" y="190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知識・技能を
概念化する</a:t>
            </a:r>
          </a:p>
        </p:txBody>
      </p:sp>
      <p:sp>
        <p:nvSpPr>
          <p:cNvPr id="9" name="Rectangle 8"/>
          <p:cNvSpPr/>
          <p:nvPr/>
        </p:nvSpPr>
        <p:spPr>
          <a:xfrm>
            <a:off x="40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自分の考えを
形成する</a:t>
            </a:r>
          </a:p>
        </p:txBody>
      </p:sp>
      <p:sp>
        <p:nvSpPr>
          <p:cNvPr id="10" name="Rectangle 9"/>
          <p:cNvSpPr/>
          <p:nvPr/>
        </p:nvSpPr>
        <p:spPr>
          <a:xfrm>
            <a:off x="425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思考して
問い続ける</a:t>
            </a:r>
          </a:p>
        </p:txBody>
      </p:sp>
      <p:sp>
        <p:nvSpPr>
          <p:cNvPr id="11" name="Rectangle 10"/>
          <p:cNvSpPr/>
          <p:nvPr/>
        </p:nvSpPr>
        <p:spPr>
          <a:xfrm>
            <a:off x="8100000" y="3550000"/>
            <a:ext cx="3700000" cy="15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20000"/>
              </a:lnSpc>
            </a:pPr>
            <a:r>
              <a:rPr sz="2200" b="1">
                <a:solidFill>
                  <a:srgbClr val="1F3A6E"/>
                </a:solidFill>
                <a:latin typeface="メイリオ"/>
                <a:ea typeface="メイリオ"/>
                <a:cs typeface="メイリオ"/>
              </a:rPr>
              <a:t>新たなものを
創り上げる</a:t>
            </a:r>
          </a:p>
        </p:txBody>
      </p:sp>
      <p:sp>
        <p:nvSpPr>
          <p:cNvPr id="12" name="Rectangle 11"/>
          <p:cNvSpPr/>
          <p:nvPr/>
        </p:nvSpPr>
        <p:spPr>
          <a:xfrm>
            <a:off x="400000" y="5300000"/>
            <a:ext cx="11400000" cy="9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dirty="0">
                <a:solidFill>
                  <a:srgbClr val="000000"/>
                </a:solidFill>
                <a:latin typeface="メイリオ"/>
                <a:ea typeface="メイリオ"/>
                <a:cs typeface="メイリオ"/>
              </a:rPr>
              <a:t>「</a:t>
            </a:r>
            <a:r>
              <a:rPr sz="2200" b="1" dirty="0" err="1">
                <a:solidFill>
                  <a:srgbClr val="000000"/>
                </a:solidFill>
                <a:latin typeface="メイリオ"/>
                <a:ea typeface="メイリオ"/>
                <a:cs typeface="メイリオ"/>
              </a:rPr>
              <a:t>分かった」を超えて</a:t>
            </a:r>
            <a:r>
              <a:rPr sz="2200" b="1" dirty="0">
                <a:solidFill>
                  <a:srgbClr val="000000"/>
                </a:solidFill>
                <a:latin typeface="メイリオ"/>
                <a:ea typeface="メイリオ"/>
                <a:cs typeface="メイリオ"/>
              </a:rPr>
              <a:t> </a:t>
            </a:r>
            <a:r>
              <a:rPr sz="2400" b="1" dirty="0">
                <a:solidFill>
                  <a:srgbClr val="EB6C15"/>
                </a:solidFill>
                <a:latin typeface="メイリオ"/>
                <a:ea typeface="メイリオ"/>
                <a:cs typeface="メイリオ"/>
              </a:rPr>
              <a:t>「</a:t>
            </a:r>
            <a:r>
              <a:rPr sz="2400" b="1" dirty="0" err="1">
                <a:solidFill>
                  <a:srgbClr val="EB6C15"/>
                </a:solidFill>
                <a:latin typeface="メイリオ"/>
                <a:ea typeface="メイリオ"/>
                <a:cs typeface="メイリオ"/>
              </a:rPr>
              <a:t>使える・問い続ける」姿</a:t>
            </a:r>
            <a:r>
              <a:rPr sz="2200" b="1" dirty="0" err="1">
                <a:solidFill>
                  <a:srgbClr val="000000"/>
                </a:solidFill>
                <a:latin typeface="メイリオ"/>
                <a:ea typeface="メイリオ"/>
                <a:cs typeface="メイリオ"/>
              </a:rPr>
              <a:t>を観る</a:t>
            </a:r>
            <a:endParaRPr sz="2200" b="1" dirty="0">
              <a:solidFill>
                <a:srgbClr val="000000"/>
              </a:solidFill>
              <a:latin typeface="メイリオ"/>
            </a:endParaRPr>
          </a:p>
        </p:txBody>
      </p:sp>
      <p:sp>
        <p:nvSpPr>
          <p:cNvPr id="13" name="TextBox 12"/>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dirty="0" err="1">
                <a:solidFill>
                  <a:srgbClr val="404040"/>
                </a:solidFill>
                <a:latin typeface="メイリオ"/>
                <a:ea typeface="メイリオ"/>
                <a:cs typeface="メイリオ"/>
              </a:rPr>
              <a:t>出典：中学校学習指導要領</a:t>
            </a:r>
            <a:r>
              <a:rPr sz="1300" dirty="0">
                <a:solidFill>
                  <a:srgbClr val="404040"/>
                </a:solidFill>
                <a:latin typeface="メイリオ"/>
                <a:ea typeface="メイリオ"/>
                <a:cs typeface="メイリオ"/>
              </a:rPr>
              <a:t> </a:t>
            </a:r>
            <a:r>
              <a:rPr sz="1300" dirty="0" err="1">
                <a:solidFill>
                  <a:srgbClr val="404040"/>
                </a:solidFill>
                <a:latin typeface="メイリオ"/>
                <a:ea typeface="メイリオ"/>
                <a:cs typeface="メイリオ"/>
              </a:rPr>
              <a:t>解説</a:t>
            </a:r>
            <a:r>
              <a:rPr sz="1300" dirty="0">
                <a:solidFill>
                  <a:srgbClr val="404040"/>
                </a:solidFill>
                <a:latin typeface="メイリオ"/>
                <a:ea typeface="メイリオ"/>
                <a:cs typeface="メイリオ"/>
              </a:rPr>
              <a:t>　</a:t>
            </a:r>
            <a:r>
              <a:rPr sz="1300" dirty="0" err="1">
                <a:solidFill>
                  <a:srgbClr val="404040"/>
                </a:solidFill>
                <a:latin typeface="メイリオ"/>
                <a:ea typeface="メイリオ"/>
                <a:cs typeface="メイリオ"/>
              </a:rPr>
              <a:t>総則編／文部科学省</a:t>
            </a:r>
            <a:endParaRPr sz="1300" dirty="0">
              <a:solidFill>
                <a:srgbClr val="404040"/>
              </a:solidFill>
              <a:latin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a:latin typeface="メイリオ"/>
                <a:ea typeface="メイリオ"/>
                <a:cs typeface="メイリオ"/>
              </a:rPr>
              <a:t>１　主体的・対話的で深い学びの実現に向けた授業改善について</a:t>
            </a:r>
            <a:endParaRPr lang="en-US" altLang="ja-JP" sz="2800" b="1" dirty="0"/>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授業改善 と 評価 は一体</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50000" y="6420000"/>
            <a:ext cx="800000" cy="360000"/>
          </a:xfrm>
          <a:prstGeom prst="rect">
            <a:avLst/>
          </a:prstGeom>
          <a:noFill/>
        </p:spPr>
        <p:txBody>
          <a:bodyPr wrap="none" lIns="0" tIns="0" rIns="40000" bIns="0">
            <a:spAutoFit/>
          </a:bodyPr>
          <a:lstStyle/>
          <a:p>
            <a:pPr algn="r"/>
            <a:r>
              <a:rPr sz="1600" b="1">
                <a:solidFill>
                  <a:srgbClr val="404040"/>
                </a:solidFill>
                <a:latin typeface="メイリオ"/>
                <a:ea typeface="メイリオ"/>
                <a:cs typeface="メイリオ"/>
              </a:rPr>
              <a:t>11</a:t>
            </a:r>
          </a:p>
        </p:txBody>
      </p:sp>
      <p:sp>
        <p:nvSpPr>
          <p:cNvPr id="6" name="Rectangle 5"/>
          <p:cNvSpPr/>
          <p:nvPr/>
        </p:nvSpPr>
        <p:spPr>
          <a:xfrm>
            <a:off x="400000" y="1900000"/>
            <a:ext cx="11400000" cy="9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600" b="1" dirty="0">
                <a:solidFill>
                  <a:srgbClr val="1F3A6E"/>
                </a:solidFill>
                <a:latin typeface="メイリオ"/>
                <a:ea typeface="メイリオ"/>
                <a:cs typeface="メイリオ"/>
              </a:rPr>
              <a:t>「</a:t>
            </a:r>
            <a:r>
              <a:rPr sz="2600" b="1" dirty="0" err="1">
                <a:solidFill>
                  <a:srgbClr val="1F3A6E"/>
                </a:solidFill>
                <a:latin typeface="メイリオ"/>
                <a:ea typeface="メイリオ"/>
                <a:cs typeface="メイリオ"/>
              </a:rPr>
              <a:t>主体的・対話的で深い学び」の視点で授業を改善する</a:t>
            </a:r>
            <a:endParaRPr sz="2600" b="1" dirty="0">
              <a:solidFill>
                <a:srgbClr val="1F3A6E"/>
              </a:solidFill>
              <a:latin typeface="メイリオ"/>
            </a:endParaRPr>
          </a:p>
        </p:txBody>
      </p:sp>
      <p:sp>
        <p:nvSpPr>
          <p:cNvPr id="7" name="Down Arrow 6"/>
          <p:cNvSpPr/>
          <p:nvPr/>
        </p:nvSpPr>
        <p:spPr>
          <a:xfrm>
            <a:off x="5596000" y="2900000"/>
            <a:ext cx="1000000" cy="500000"/>
          </a:xfrm>
          <a:prstGeom prst="downArrow">
            <a:avLst/>
          </a:prstGeom>
          <a:solidFill>
            <a:srgbClr val="EB6C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00000" y="3500000"/>
            <a:ext cx="11400000" cy="90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600" b="1">
                <a:solidFill>
                  <a:srgbClr val="1F3A6E"/>
                </a:solidFill>
                <a:latin typeface="メイリオ"/>
                <a:ea typeface="メイリオ"/>
                <a:cs typeface="メイリオ"/>
              </a:rPr>
              <a:t>授業で「目指す生徒の姿」を、教師が事前に描く</a:t>
            </a:r>
          </a:p>
        </p:txBody>
      </p:sp>
      <p:sp>
        <p:nvSpPr>
          <p:cNvPr id="9" name="Down Arrow 8"/>
          <p:cNvSpPr/>
          <p:nvPr/>
        </p:nvSpPr>
        <p:spPr>
          <a:xfrm>
            <a:off x="5596000" y="4500000"/>
            <a:ext cx="1000000" cy="500000"/>
          </a:xfrm>
          <a:prstGeom prst="downArrow">
            <a:avLst/>
          </a:prstGeom>
          <a:solidFill>
            <a:srgbClr val="EB6C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00000" y="5100000"/>
            <a:ext cx="11400000" cy="1100000"/>
          </a:xfrm>
          <a:prstGeom prst="rect">
            <a:avLst/>
          </a:prstGeom>
          <a:solidFill>
            <a:srgbClr val="FFFFFF"/>
          </a:solidFill>
          <a:ln w="508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400" b="1" dirty="0" err="1">
                <a:solidFill>
                  <a:srgbClr val="000000"/>
                </a:solidFill>
                <a:latin typeface="メイリオ"/>
                <a:ea typeface="メイリオ"/>
                <a:cs typeface="メイリオ"/>
              </a:rPr>
              <a:t>その「目指す姿」が</a:t>
            </a:r>
            <a:r>
              <a:rPr sz="2400" b="1" dirty="0">
                <a:solidFill>
                  <a:srgbClr val="000000"/>
                </a:solidFill>
                <a:latin typeface="メイリオ"/>
                <a:ea typeface="メイリオ"/>
                <a:cs typeface="メイリオ"/>
              </a:rPr>
              <a:t> </a:t>
            </a:r>
            <a:r>
              <a:rPr sz="2600" b="1" dirty="0" err="1">
                <a:solidFill>
                  <a:srgbClr val="EB6C15"/>
                </a:solidFill>
                <a:latin typeface="メイリオ"/>
                <a:ea typeface="メイリオ"/>
                <a:cs typeface="メイリオ"/>
              </a:rPr>
              <a:t>評価規準（Bと判断する姿</a:t>
            </a:r>
            <a:r>
              <a:rPr sz="2600" b="1" dirty="0">
                <a:solidFill>
                  <a:srgbClr val="EB6C15"/>
                </a:solidFill>
                <a:latin typeface="メイリオ"/>
                <a:ea typeface="メイリオ"/>
                <a:cs typeface="メイリオ"/>
              </a:rPr>
              <a:t>）</a:t>
            </a:r>
            <a:r>
              <a:rPr sz="2400" b="1" dirty="0">
                <a:solidFill>
                  <a:srgbClr val="000000"/>
                </a:solidFill>
                <a:latin typeface="メイリオ"/>
                <a:ea typeface="メイリオ"/>
                <a:cs typeface="メイリオ"/>
              </a:rPr>
              <a:t> </a:t>
            </a:r>
            <a:r>
              <a:rPr sz="2400" b="1" dirty="0" err="1">
                <a:solidFill>
                  <a:srgbClr val="000000"/>
                </a:solidFill>
                <a:latin typeface="メイリオ"/>
                <a:ea typeface="メイリオ"/>
                <a:cs typeface="メイリオ"/>
              </a:rPr>
              <a:t>になる</a:t>
            </a:r>
            <a:endParaRPr sz="2400" b="1" dirty="0">
              <a:solidFill>
                <a:srgbClr val="000000"/>
              </a:solidFill>
              <a:latin typeface="メイリオ"/>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427843" y="2661217"/>
            <a:ext cx="9428844" cy="1417299"/>
          </a:xfrm>
        </p:spPr>
        <p:txBody>
          <a:bodyPr>
            <a:noAutofit/>
          </a:bodyPr>
          <a:lstStyle/>
          <a:p>
            <a:pPr/>
            <a:r>
              <a:rPr lang="ja-JP" altLang="en-US" sz="4000" b="1" dirty="0">
                <a:latin typeface="メイリオ"/>
                <a:ea typeface="メイリオ"/>
                <a:cs typeface="メイリオ"/>
              </a:rPr>
              <a:t>２　</a:t>
            </a:r>
            <a:r>
              <a:rPr lang="en-US" altLang="ja-JP" sz="4000" b="1" dirty="0">
                <a:latin typeface="メイリオ"/>
                <a:ea typeface="メイリオ"/>
                <a:cs typeface="メイリオ"/>
              </a:rPr>
              <a:t>『</a:t>
            </a:r>
            <a:r>
              <a:rPr lang="ja-JP" altLang="en-US" sz="4000" b="1" dirty="0">
                <a:latin typeface="メイリオ"/>
                <a:ea typeface="メイリオ"/>
                <a:cs typeface="メイリオ"/>
              </a:rPr>
              <a:t>主体的に学習に取り組む態度</a:t>
            </a:r>
            <a:r>
              <a:rPr lang="en-US" altLang="ja-JP" sz="4000" b="1" dirty="0">
                <a:latin typeface="メイリオ"/>
                <a:ea typeface="メイリオ"/>
                <a:cs typeface="メイリオ"/>
              </a:rPr>
              <a:t>』</a:t>
            </a:r>
            <a:br>
              <a:rPr lang="en-US" altLang="ja-JP" sz="4000" b="1" dirty="0">
                <a:latin typeface="+mn-ea"/>
                <a:ea typeface="+mn-ea"/>
              </a:rPr>
            </a:br>
            <a:r>
              <a:rPr lang="ja-JP" altLang="en-US" sz="4000" b="1" dirty="0">
                <a:latin typeface="メイリオ"/>
                <a:ea typeface="メイリオ"/>
                <a:cs typeface="メイリオ"/>
              </a:rPr>
              <a:t>　　　　　　　　　　　　　の学習評価</a:t>
            </a:r>
            <a:endParaRPr lang="ja-JP" altLang="en-US" sz="4000" dirty="0">
              <a:latin typeface="+mn-ea"/>
              <a:ea typeface="+mn-ea"/>
            </a:endParaRPr>
          </a:p>
        </p:txBody>
      </p:sp>
    </p:spTree>
    <p:extLst>
      <p:ext uri="{BB962C8B-B14F-4D97-AF65-F5344CB8AC3E}">
        <p14:creationId xmlns:p14="http://schemas.microsoft.com/office/powerpoint/2010/main" val="2423776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コンテンツ プレースホルダー 2"/>
          <p:cNvSpPr txBox="1">
            <a:spLocks/>
          </p:cNvSpPr>
          <p:nvPr/>
        </p:nvSpPr>
        <p:spPr>
          <a:xfrm>
            <a:off x="888643" y="1930319"/>
            <a:ext cx="4971243" cy="271088"/>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50000"/>
              </a:lnSpc>
              <a:buNone/>
            </a:pPr>
            <a:r>
              <a:rPr lang="ja-JP" altLang="en-US" sz="3600" b="1" dirty="0">
                <a:latin typeface="メイリオ"/>
                <a:ea typeface="メイリオ"/>
                <a:cs typeface="メイリオ"/>
              </a:rPr>
              <a:t>・学習改善への活用</a:t>
            </a:r>
          </a:p>
        </p:txBody>
      </p:sp>
      <p:sp>
        <p:nvSpPr>
          <p:cNvPr id="7" name="コンテンツ プレースホルダー 2"/>
          <p:cNvSpPr txBox="1">
            <a:spLocks/>
          </p:cNvSpPr>
          <p:nvPr/>
        </p:nvSpPr>
        <p:spPr>
          <a:xfrm>
            <a:off x="888644" y="2585405"/>
            <a:ext cx="6697012" cy="433838"/>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70000"/>
              </a:lnSpc>
              <a:buNone/>
            </a:pPr>
            <a:r>
              <a:rPr lang="ja-JP" altLang="en-US" sz="3600" b="1" dirty="0">
                <a:latin typeface="メイリオ"/>
                <a:ea typeface="メイリオ"/>
                <a:cs typeface="メイリオ"/>
              </a:rPr>
              <a:t>・生徒や保護者からの誤解</a:t>
            </a:r>
            <a:endParaRPr lang="en-US" altLang="ja-JP" sz="3600" b="1" dirty="0"/>
          </a:p>
        </p:txBody>
      </p:sp>
      <p:sp>
        <p:nvSpPr>
          <p:cNvPr id="10" name="コンテンツ プレースホルダー 2"/>
          <p:cNvSpPr txBox="1">
            <a:spLocks/>
          </p:cNvSpPr>
          <p:nvPr/>
        </p:nvSpPr>
        <p:spPr>
          <a:xfrm>
            <a:off x="888642" y="3247125"/>
            <a:ext cx="6362164" cy="845671"/>
          </a:xfrm>
          <a:prstGeom prst="rect">
            <a:avLst/>
          </a:prstGeom>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3600" b="1" dirty="0">
                <a:latin typeface="メイリオ"/>
                <a:ea typeface="メイリオ"/>
                <a:cs typeface="メイリオ"/>
              </a:rPr>
              <a:t>・教員への負担</a:t>
            </a:r>
          </a:p>
        </p:txBody>
      </p:sp>
      <p:sp>
        <p:nvSpPr>
          <p:cNvPr id="11" name="コンテンツ プレースホルダー 2"/>
          <p:cNvSpPr txBox="1">
            <a:spLocks/>
          </p:cNvSpPr>
          <p:nvPr/>
        </p:nvSpPr>
        <p:spPr>
          <a:xfrm>
            <a:off x="888642" y="4160812"/>
            <a:ext cx="8319749" cy="707007"/>
          </a:xfrm>
          <a:prstGeom prst="rect">
            <a:avLst/>
          </a:prstGeom>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50000"/>
              </a:lnSpc>
              <a:buNone/>
            </a:pPr>
            <a:r>
              <a:rPr lang="ja-JP" altLang="en-US" sz="3600" b="1" dirty="0">
                <a:latin typeface="メイリオ"/>
                <a:ea typeface="メイリオ"/>
                <a:cs typeface="メイリオ"/>
              </a:rPr>
              <a:t>・正しい理解がされていない</a:t>
            </a:r>
          </a:p>
        </p:txBody>
      </p:sp>
      <p:sp>
        <p:nvSpPr>
          <p:cNvPr id="13" name="コンテンツ プレースホルダー 2"/>
          <p:cNvSpPr txBox="1">
            <a:spLocks/>
          </p:cNvSpPr>
          <p:nvPr/>
        </p:nvSpPr>
        <p:spPr>
          <a:xfrm>
            <a:off x="888642" y="4871654"/>
            <a:ext cx="10820755" cy="1033789"/>
          </a:xfrm>
          <a:prstGeom prst="rect">
            <a:avLst/>
          </a:prstGeom>
          <a:ln w="38100">
            <a:solidFill>
              <a:srgbClr val="C00000"/>
            </a:solidFill>
          </a:ln>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3600" b="1" dirty="0">
                <a:latin typeface="メイリオ"/>
                <a:ea typeface="メイリオ"/>
                <a:cs typeface="メイリオ"/>
              </a:rPr>
              <a:t>何のために「学習評価」を行うのか改めて意識することが重要</a:t>
            </a:r>
          </a:p>
        </p:txBody>
      </p:sp>
      <p:sp>
        <p:nvSpPr>
          <p:cNvPr id="2" name="Rectangle 1">
            <a:extLst>
              <a:ext uri="{FF2B5EF4-FFF2-40B4-BE49-F238E27FC236}">
                <a16:creationId xmlns:a16="http://schemas.microsoft.com/office/drawing/2014/main" id="{5E7DD3BE-F7B3-B8D0-AEA2-6C58CC9CBC74}"/>
              </a:ext>
            </a:extLst>
          </p:cNvPr>
          <p:cNvSpPr/>
          <p:nvPr/>
        </p:nvSpPr>
        <p:spPr>
          <a:xfrm>
            <a:off x="0" y="-59585"/>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4" name="Rectangle 2">
            <a:extLst>
              <a:ext uri="{FF2B5EF4-FFF2-40B4-BE49-F238E27FC236}">
                <a16:creationId xmlns:a16="http://schemas.microsoft.com/office/drawing/2014/main" id="{3C9C8EB6-E975-E555-C422-99E9829C80A5}"/>
              </a:ext>
            </a:extLst>
          </p:cNvPr>
          <p:cNvSpPr/>
          <p:nvPr/>
        </p:nvSpPr>
        <p:spPr>
          <a:xfrm>
            <a:off x="0" y="770415"/>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学習評価の現状における課題</a:t>
            </a:r>
          </a:p>
        </p:txBody>
      </p:sp>
    </p:spTree>
    <p:extLst>
      <p:ext uri="{BB962C8B-B14F-4D97-AF65-F5344CB8AC3E}">
        <p14:creationId xmlns:p14="http://schemas.microsoft.com/office/powerpoint/2010/main" val="2898441235"/>
      </p:ext>
    </p:extLst>
  </p:cSld>
  <p:clrMapOvr>
    <a:masterClrMapping/>
  </p:clrMapOvr>
  <p:transition spd="slow">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コンテンツ プレースホルダー 2"/>
          <p:cNvSpPr txBox="1">
            <a:spLocks/>
          </p:cNvSpPr>
          <p:nvPr/>
        </p:nvSpPr>
        <p:spPr>
          <a:xfrm>
            <a:off x="888647" y="2232148"/>
            <a:ext cx="10400764" cy="627045"/>
          </a:xfrm>
          <a:prstGeom prst="rect">
            <a:avLst/>
          </a:prstGeom>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3200" b="1" dirty="0">
                <a:latin typeface="メイリオ"/>
                <a:ea typeface="メイリオ"/>
                <a:cs typeface="メイリオ"/>
              </a:rPr>
              <a:t>①生徒の学習改善につながるものにしていくこと</a:t>
            </a:r>
          </a:p>
        </p:txBody>
      </p:sp>
      <p:sp>
        <p:nvSpPr>
          <p:cNvPr id="12" name="コンテンツ プレースホルダー 2"/>
          <p:cNvSpPr txBox="1">
            <a:spLocks/>
          </p:cNvSpPr>
          <p:nvPr/>
        </p:nvSpPr>
        <p:spPr>
          <a:xfrm>
            <a:off x="888647" y="3437409"/>
            <a:ext cx="10400764" cy="503123"/>
          </a:xfrm>
          <a:prstGeom prst="rect">
            <a:avLst/>
          </a:prstGeom>
        </p:spPr>
        <p:txBody>
          <a:bodyPr vert="horz" lIns="91440" tIns="45720" rIns="91440" bIns="45720" rtlCol="0">
            <a:normAutofit lnSpcReduction="10000"/>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3200" b="1" dirty="0">
                <a:latin typeface="メイリオ"/>
                <a:ea typeface="メイリオ"/>
                <a:cs typeface="メイリオ"/>
              </a:rPr>
              <a:t>②教師の指導改善につながるものにしていくこと</a:t>
            </a:r>
          </a:p>
        </p:txBody>
      </p:sp>
      <p:sp>
        <p:nvSpPr>
          <p:cNvPr id="13" name="コンテンツ プレースホルダー 2"/>
          <p:cNvSpPr txBox="1">
            <a:spLocks/>
          </p:cNvSpPr>
          <p:nvPr/>
        </p:nvSpPr>
        <p:spPr>
          <a:xfrm>
            <a:off x="888645" y="4518748"/>
            <a:ext cx="10782656" cy="1003413"/>
          </a:xfrm>
          <a:prstGeom prst="rect">
            <a:avLst/>
          </a:prstGeom>
          <a:noFill/>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dirty="0">
                <a:latin typeface="メイリオ"/>
                <a:ea typeface="メイリオ"/>
                <a:cs typeface="メイリオ"/>
              </a:rPr>
              <a:t>③</a:t>
            </a:r>
            <a:r>
              <a:rPr lang="ja-JP" altLang="en-US" sz="3200" b="1" dirty="0">
                <a:latin typeface="メイリオ"/>
                <a:ea typeface="メイリオ"/>
                <a:cs typeface="メイリオ"/>
              </a:rPr>
              <a:t>これまで慣行として行われてきたことでも、</a:t>
            </a:r>
            <a:endParaRPr lang="en-US" altLang="ja-JP" sz="3200" b="1" dirty="0"/>
          </a:p>
          <a:p>
            <a:pPr marL="0" indent="0">
              <a:buNone/>
            </a:pPr>
            <a:r>
              <a:rPr lang="ja-JP" altLang="en-US" sz="3200" b="1" dirty="0">
                <a:latin typeface="メイリオ"/>
                <a:ea typeface="メイリオ"/>
                <a:cs typeface="メイリオ"/>
              </a:rPr>
              <a:t>　必要性・妥当性が認められないものは見直していくこと</a:t>
            </a:r>
          </a:p>
        </p:txBody>
      </p:sp>
      <p:sp>
        <p:nvSpPr>
          <p:cNvPr id="2" name="Rectangle 1">
            <a:extLst>
              <a:ext uri="{FF2B5EF4-FFF2-40B4-BE49-F238E27FC236}">
                <a16:creationId xmlns:a16="http://schemas.microsoft.com/office/drawing/2014/main" id="{E9650E6E-0348-6C46-A97A-BE78213930C8}"/>
              </a:ext>
            </a:extLst>
          </p:cNvPr>
          <p:cNvSpPr/>
          <p:nvPr/>
        </p:nvSpPr>
        <p:spPr>
          <a:xfrm>
            <a:off x="0" y="-196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4" name="Rectangle 2">
            <a:extLst>
              <a:ext uri="{FF2B5EF4-FFF2-40B4-BE49-F238E27FC236}">
                <a16:creationId xmlns:a16="http://schemas.microsoft.com/office/drawing/2014/main" id="{BF337071-516D-9061-A429-4C4ECD1D91D6}"/>
              </a:ext>
            </a:extLst>
          </p:cNvPr>
          <p:cNvSpPr/>
          <p:nvPr/>
        </p:nvSpPr>
        <p:spPr>
          <a:xfrm>
            <a:off x="0" y="82804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学習評価の改善の基本方針</a:t>
            </a:r>
          </a:p>
        </p:txBody>
      </p:sp>
    </p:spTree>
    <p:extLst>
      <p:ext uri="{BB962C8B-B14F-4D97-AF65-F5344CB8AC3E}">
        <p14:creationId xmlns:p14="http://schemas.microsoft.com/office/powerpoint/2010/main" val="3235622663"/>
      </p:ext>
    </p:extLst>
  </p:cSld>
  <p:clrMapOvr>
    <a:masterClrMapping/>
  </p:clrMapOvr>
  <p:transition spd="slow">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グループ化 2"/>
          <p:cNvGrpSpPr/>
          <p:nvPr/>
        </p:nvGrpSpPr>
        <p:grpSpPr>
          <a:xfrm>
            <a:off x="927116" y="1351079"/>
            <a:ext cx="10362293" cy="5306776"/>
            <a:chOff x="1118507" y="1427853"/>
            <a:chExt cx="7632700" cy="4006850"/>
          </a:xfrm>
        </p:grpSpPr>
        <p:grpSp>
          <p:nvGrpSpPr>
            <p:cNvPr id="23" name="グループ化 22"/>
            <p:cNvGrpSpPr>
              <a:grpSpLocks/>
            </p:cNvGrpSpPr>
            <p:nvPr/>
          </p:nvGrpSpPr>
          <p:grpSpPr bwMode="auto">
            <a:xfrm>
              <a:off x="1118507" y="1427853"/>
              <a:ext cx="7599363" cy="838200"/>
              <a:chOff x="755650" y="2159000"/>
              <a:chExt cx="7599363" cy="838200"/>
            </a:xfrm>
          </p:grpSpPr>
          <p:sp>
            <p:nvSpPr>
              <p:cNvPr id="24" name="正方形/長方形 23"/>
              <p:cNvSpPr/>
              <p:nvPr/>
            </p:nvSpPr>
            <p:spPr>
              <a:xfrm>
                <a:off x="755650" y="2159000"/>
                <a:ext cx="7599363" cy="83820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ja-JP" altLang="en-US" b="1">
                  <a:latin typeface="+mn-ea"/>
                </a:endParaRPr>
              </a:p>
            </p:txBody>
          </p:sp>
          <p:sp>
            <p:nvSpPr>
              <p:cNvPr id="25" name="角丸四角形 24"/>
              <p:cNvSpPr/>
              <p:nvPr/>
            </p:nvSpPr>
            <p:spPr>
              <a:xfrm>
                <a:off x="909638" y="2268538"/>
                <a:ext cx="1862137" cy="623887"/>
              </a:xfrm>
              <a:prstGeom prst="round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anchor="ctr"/>
              <a:lstStyle/>
              <a:p>
                <a:pPr algn="ctr">
                  <a:defRPr/>
                </a:pPr>
                <a:r>
                  <a:rPr lang="ja-JP" altLang="en-US" b="1" dirty="0">
                    <a:latin typeface="+mn-ea"/>
                  </a:rPr>
                  <a:t>学習指導要領に示す</a:t>
                </a:r>
                <a:endParaRPr lang="en-US" altLang="ja-JP" b="1" dirty="0">
                  <a:latin typeface="+mn-ea"/>
                </a:endParaRPr>
              </a:p>
              <a:p>
                <a:pPr algn="ctr">
                  <a:defRPr/>
                </a:pPr>
                <a:r>
                  <a:rPr lang="ja-JP" altLang="en-US" b="1" dirty="0">
                    <a:latin typeface="+mn-ea"/>
                  </a:rPr>
                  <a:t>目標や内容</a:t>
                </a:r>
              </a:p>
            </p:txBody>
          </p:sp>
        </p:grpSp>
        <p:sp>
          <p:nvSpPr>
            <p:cNvPr id="26" name="角丸四角形 25"/>
            <p:cNvSpPr/>
            <p:nvPr/>
          </p:nvSpPr>
          <p:spPr>
            <a:xfrm>
              <a:off x="3282270" y="1537391"/>
              <a:ext cx="1655762" cy="623887"/>
            </a:xfrm>
            <a:prstGeom prst="roundRect">
              <a:avLst/>
            </a:prstGeom>
            <a:ln w="28575"/>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b="1" dirty="0">
                  <a:latin typeface="+mn-ea"/>
                </a:rPr>
                <a:t>知識及び技能</a:t>
              </a:r>
            </a:p>
          </p:txBody>
        </p:sp>
        <p:sp>
          <p:nvSpPr>
            <p:cNvPr id="27" name="角丸四角形 26"/>
            <p:cNvSpPr/>
            <p:nvPr/>
          </p:nvSpPr>
          <p:spPr>
            <a:xfrm>
              <a:off x="5085670" y="1537391"/>
              <a:ext cx="1655762" cy="623887"/>
            </a:xfrm>
            <a:prstGeom prst="roundRect">
              <a:avLst/>
            </a:prstGeom>
            <a:ln w="28575"/>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sz="1351" b="1" dirty="0">
                  <a:latin typeface="+mn-ea"/>
                </a:rPr>
                <a:t>思考力、判断力、</a:t>
              </a:r>
              <a:endParaRPr lang="en-US" altLang="ja-JP" sz="1351" b="1" dirty="0">
                <a:latin typeface="+mn-ea"/>
              </a:endParaRPr>
            </a:p>
            <a:p>
              <a:pPr algn="ctr">
                <a:defRPr/>
              </a:pPr>
              <a:r>
                <a:rPr lang="ja-JP" altLang="en-US" sz="1351" b="1" dirty="0">
                  <a:latin typeface="+mn-ea"/>
                </a:rPr>
                <a:t>表現力等</a:t>
              </a:r>
            </a:p>
          </p:txBody>
        </p:sp>
        <p:sp>
          <p:nvSpPr>
            <p:cNvPr id="28" name="角丸四角形 27"/>
            <p:cNvSpPr/>
            <p:nvPr/>
          </p:nvSpPr>
          <p:spPr>
            <a:xfrm>
              <a:off x="6870020" y="1543741"/>
              <a:ext cx="1655762" cy="623887"/>
            </a:xfrm>
            <a:prstGeom prst="roundRect">
              <a:avLst/>
            </a:prstGeom>
            <a:ln w="28575"/>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b="1" dirty="0">
                  <a:latin typeface="+mn-ea"/>
                </a:rPr>
                <a:t>学びに向かう力、</a:t>
              </a:r>
              <a:endParaRPr lang="en-US" altLang="ja-JP" b="1" dirty="0">
                <a:latin typeface="+mn-ea"/>
              </a:endParaRPr>
            </a:p>
            <a:p>
              <a:pPr algn="ctr">
                <a:defRPr/>
              </a:pPr>
              <a:r>
                <a:rPr lang="ja-JP" altLang="en-US" b="1" dirty="0">
                  <a:latin typeface="+mn-ea"/>
                </a:rPr>
                <a:t>人間性等</a:t>
              </a:r>
            </a:p>
          </p:txBody>
        </p:sp>
        <p:grpSp>
          <p:nvGrpSpPr>
            <p:cNvPr id="29" name="グループ化 28"/>
            <p:cNvGrpSpPr>
              <a:grpSpLocks/>
            </p:cNvGrpSpPr>
            <p:nvPr/>
          </p:nvGrpSpPr>
          <p:grpSpPr bwMode="auto">
            <a:xfrm>
              <a:off x="1118507" y="2626416"/>
              <a:ext cx="7599363" cy="2016125"/>
              <a:chOff x="755650" y="3357563"/>
              <a:chExt cx="7599363" cy="2016125"/>
            </a:xfrm>
          </p:grpSpPr>
          <p:sp>
            <p:nvSpPr>
              <p:cNvPr id="30" name="正方形/長方形 29"/>
              <p:cNvSpPr/>
              <p:nvPr/>
            </p:nvSpPr>
            <p:spPr>
              <a:xfrm>
                <a:off x="5183188" y="4146550"/>
                <a:ext cx="3171825" cy="122396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b="1">
                  <a:latin typeface="+mn-ea"/>
                </a:endParaRPr>
              </a:p>
            </p:txBody>
          </p:sp>
          <p:grpSp>
            <p:nvGrpSpPr>
              <p:cNvPr id="31" name="グループ化 25"/>
              <p:cNvGrpSpPr>
                <a:grpSpLocks/>
              </p:cNvGrpSpPr>
              <p:nvPr/>
            </p:nvGrpSpPr>
            <p:grpSpPr bwMode="auto">
              <a:xfrm>
                <a:off x="755650" y="3357563"/>
                <a:ext cx="5688013" cy="2016125"/>
                <a:chOff x="755650" y="3357563"/>
                <a:chExt cx="5688013" cy="2016125"/>
              </a:xfrm>
            </p:grpSpPr>
            <p:sp>
              <p:nvSpPr>
                <p:cNvPr id="32" name="正方形/長方形 31"/>
                <p:cNvSpPr/>
                <p:nvPr/>
              </p:nvSpPr>
              <p:spPr>
                <a:xfrm>
                  <a:off x="755650" y="3357563"/>
                  <a:ext cx="5688013" cy="2016125"/>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b="1">
                    <a:latin typeface="+mn-ea"/>
                  </a:endParaRPr>
                </a:p>
              </p:txBody>
            </p:sp>
            <p:sp>
              <p:nvSpPr>
                <p:cNvPr id="33" name="角丸四角形 32"/>
                <p:cNvSpPr/>
                <p:nvPr/>
              </p:nvSpPr>
              <p:spPr>
                <a:xfrm>
                  <a:off x="909638" y="3452813"/>
                  <a:ext cx="1865312" cy="623887"/>
                </a:xfrm>
                <a:prstGeom prst="round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anchor="ctr"/>
                <a:lstStyle/>
                <a:p>
                  <a:pPr algn="ctr">
                    <a:defRPr/>
                  </a:pPr>
                  <a:r>
                    <a:rPr lang="ja-JP" altLang="en-US" b="1" dirty="0">
                      <a:latin typeface="+mn-ea"/>
                    </a:rPr>
                    <a:t>観点別学習状況評価の各観点</a:t>
                  </a:r>
                </a:p>
              </p:txBody>
            </p:sp>
          </p:grpSp>
        </p:grpSp>
        <p:grpSp>
          <p:nvGrpSpPr>
            <p:cNvPr id="34" name="グループ化 33"/>
            <p:cNvGrpSpPr>
              <a:grpSpLocks/>
            </p:cNvGrpSpPr>
            <p:nvPr/>
          </p:nvGrpSpPr>
          <p:grpSpPr bwMode="auto">
            <a:xfrm>
              <a:off x="6901770" y="2626416"/>
              <a:ext cx="1816100" cy="720725"/>
              <a:chOff x="6538913" y="3357563"/>
              <a:chExt cx="1816100" cy="720725"/>
            </a:xfrm>
          </p:grpSpPr>
          <p:sp>
            <p:nvSpPr>
              <p:cNvPr id="35" name="正方形/長方形 34"/>
              <p:cNvSpPr/>
              <p:nvPr/>
            </p:nvSpPr>
            <p:spPr>
              <a:xfrm>
                <a:off x="6538913" y="3357563"/>
                <a:ext cx="1816100" cy="720725"/>
              </a:xfrm>
              <a:prstGeom prst="rect">
                <a:avLst/>
              </a:prstGeom>
              <a:ln/>
            </p:spPr>
            <p:style>
              <a:lnRef idx="1">
                <a:schemeClr val="accent5"/>
              </a:lnRef>
              <a:fillRef idx="2">
                <a:schemeClr val="accent5"/>
              </a:fillRef>
              <a:effectRef idx="1">
                <a:schemeClr val="accent5"/>
              </a:effectRef>
              <a:fontRef idx="minor">
                <a:schemeClr val="dk1"/>
              </a:fontRef>
            </p:style>
            <p:txBody>
              <a:bodyPr anchor="ctr"/>
              <a:lstStyle/>
              <a:p>
                <a:pPr algn="ctr">
                  <a:defRPr/>
                </a:pPr>
                <a:endParaRPr lang="ja-JP" altLang="en-US" sz="1100" b="1">
                  <a:latin typeface="+mn-ea"/>
                </a:endParaRPr>
              </a:p>
            </p:txBody>
          </p:sp>
          <p:sp>
            <p:nvSpPr>
              <p:cNvPr id="36" name="角丸四角形 35"/>
              <p:cNvSpPr/>
              <p:nvPr/>
            </p:nvSpPr>
            <p:spPr>
              <a:xfrm>
                <a:off x="6600825" y="3486150"/>
                <a:ext cx="1655763" cy="508000"/>
              </a:xfrm>
              <a:prstGeom prst="roundRect">
                <a:avLst/>
              </a:prstGeom>
              <a:ln w="28575">
                <a:solidFill>
                  <a:srgbClr val="0070C0"/>
                </a:solidFill>
              </a:ln>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sz="1600" b="1" dirty="0">
                    <a:latin typeface="+mn-ea"/>
                  </a:rPr>
                  <a:t>感性、思いやりなど</a:t>
                </a:r>
                <a:endParaRPr lang="en-US" altLang="ja-JP" sz="1600" b="1" dirty="0">
                  <a:latin typeface="+mn-ea"/>
                </a:endParaRPr>
              </a:p>
            </p:txBody>
          </p:sp>
        </p:grpSp>
        <p:sp>
          <p:nvSpPr>
            <p:cNvPr id="37" name="正方形/長方形 36"/>
            <p:cNvSpPr/>
            <p:nvPr/>
          </p:nvSpPr>
          <p:spPr>
            <a:xfrm>
              <a:off x="1118507" y="5001316"/>
              <a:ext cx="5040313" cy="433387"/>
            </a:xfrm>
            <a:prstGeom prst="rect">
              <a:avLst/>
            </a:prstGeom>
            <a:ln w="38100">
              <a:solidFill>
                <a:srgbClr val="FF0000"/>
              </a:solidFill>
              <a:prstDash val="dash"/>
            </a:ln>
          </p:spPr>
          <p:style>
            <a:lnRef idx="2">
              <a:schemeClr val="accent6"/>
            </a:lnRef>
            <a:fillRef idx="1">
              <a:schemeClr val="lt1"/>
            </a:fillRef>
            <a:effectRef idx="0">
              <a:schemeClr val="accent6"/>
            </a:effectRef>
            <a:fontRef idx="minor">
              <a:schemeClr val="dk1"/>
            </a:fontRef>
          </p:style>
          <p:txBody>
            <a:bodyPr anchor="ctr"/>
            <a:lstStyle/>
            <a:p>
              <a:pPr algn="ctr">
                <a:defRPr/>
              </a:pPr>
              <a:r>
                <a:rPr lang="ja-JP" altLang="en-US" sz="2400" b="1" dirty="0">
                  <a:latin typeface="+mn-ea"/>
                </a:rPr>
                <a:t>評定（５段階で評価）</a:t>
              </a:r>
            </a:p>
          </p:txBody>
        </p:sp>
        <p:sp>
          <p:nvSpPr>
            <p:cNvPr id="38" name="正方形/長方形 37"/>
            <p:cNvSpPr/>
            <p:nvPr/>
          </p:nvSpPr>
          <p:spPr>
            <a:xfrm>
              <a:off x="6341382" y="5001316"/>
              <a:ext cx="2409825" cy="433387"/>
            </a:xfrm>
            <a:prstGeom prst="rect">
              <a:avLst/>
            </a:prstGeom>
            <a:ln>
              <a:solidFill>
                <a:schemeClr val="tx1"/>
              </a:solidFill>
              <a:prstDash val="dash"/>
            </a:ln>
          </p:spPr>
          <p:style>
            <a:lnRef idx="2">
              <a:schemeClr val="accent6"/>
            </a:lnRef>
            <a:fillRef idx="1">
              <a:schemeClr val="lt1"/>
            </a:fillRef>
            <a:effectRef idx="0">
              <a:schemeClr val="accent6"/>
            </a:effectRef>
            <a:fontRef idx="minor">
              <a:schemeClr val="dk1"/>
            </a:fontRef>
          </p:style>
          <p:txBody>
            <a:bodyPr anchor="ctr"/>
            <a:lstStyle/>
            <a:p>
              <a:pPr algn="ctr">
                <a:defRPr/>
              </a:pPr>
              <a:r>
                <a:rPr lang="ja-JP" altLang="en-US" sz="2400" b="1" dirty="0">
                  <a:latin typeface="+mn-ea"/>
                </a:rPr>
                <a:t>個人内評価</a:t>
              </a:r>
            </a:p>
          </p:txBody>
        </p:sp>
        <p:sp>
          <p:nvSpPr>
            <p:cNvPr id="39" name="二等辺三角形 38"/>
            <p:cNvSpPr/>
            <p:nvPr/>
          </p:nvSpPr>
          <p:spPr>
            <a:xfrm flipV="1">
              <a:off x="1639207" y="2353366"/>
              <a:ext cx="6480175" cy="215900"/>
            </a:xfrm>
            <a:prstGeom prst="triangle">
              <a:avLst/>
            </a:prstGeom>
            <a:ln>
              <a:solidFill>
                <a:schemeClr val="tx1"/>
              </a:solidFill>
            </a:ln>
          </p:spPr>
          <p:style>
            <a:lnRef idx="2">
              <a:schemeClr val="accent6"/>
            </a:lnRef>
            <a:fillRef idx="1">
              <a:schemeClr val="lt1"/>
            </a:fillRef>
            <a:effectRef idx="0">
              <a:schemeClr val="accent6"/>
            </a:effectRef>
            <a:fontRef idx="minor">
              <a:schemeClr val="dk1"/>
            </a:fontRef>
          </p:style>
          <p:txBody>
            <a:bodyPr anchor="ctr"/>
            <a:lstStyle/>
            <a:p>
              <a:pPr algn="ctr">
                <a:defRPr/>
              </a:pPr>
              <a:endParaRPr lang="ja-JP" altLang="en-US" b="1">
                <a:latin typeface="+mn-ea"/>
              </a:endParaRPr>
            </a:p>
          </p:txBody>
        </p:sp>
        <p:grpSp>
          <p:nvGrpSpPr>
            <p:cNvPr id="40" name="グループ化 39"/>
            <p:cNvGrpSpPr>
              <a:grpSpLocks/>
            </p:cNvGrpSpPr>
            <p:nvPr/>
          </p:nvGrpSpPr>
          <p:grpSpPr bwMode="auto">
            <a:xfrm>
              <a:off x="3936320" y="4282178"/>
              <a:ext cx="3924300" cy="706438"/>
              <a:chOff x="3573463" y="5013325"/>
              <a:chExt cx="3924300" cy="706438"/>
            </a:xfrm>
          </p:grpSpPr>
          <p:sp>
            <p:nvSpPr>
              <p:cNvPr id="41" name="下矢印 40"/>
              <p:cNvSpPr/>
              <p:nvPr/>
            </p:nvSpPr>
            <p:spPr>
              <a:xfrm>
                <a:off x="3573463" y="5013325"/>
                <a:ext cx="255587" cy="706438"/>
              </a:xfrm>
              <a:prstGeom prst="downArrow">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endParaRPr lang="ja-JP" altLang="en-US" b="1">
                  <a:latin typeface="+mn-ea"/>
                </a:endParaRPr>
              </a:p>
            </p:txBody>
          </p:sp>
          <p:sp>
            <p:nvSpPr>
              <p:cNvPr id="42" name="正方形/長方形 41"/>
              <p:cNvSpPr/>
              <p:nvPr/>
            </p:nvSpPr>
            <p:spPr>
              <a:xfrm>
                <a:off x="3708400" y="5303838"/>
                <a:ext cx="3789363" cy="141287"/>
              </a:xfrm>
              <a:prstGeom prst="rect">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endParaRPr lang="ja-JP" altLang="en-US" b="1">
                  <a:latin typeface="+mn-ea"/>
                </a:endParaRPr>
              </a:p>
            </p:txBody>
          </p:sp>
          <p:sp>
            <p:nvSpPr>
              <p:cNvPr id="43" name="正方形/長方形 42"/>
              <p:cNvSpPr/>
              <p:nvPr/>
            </p:nvSpPr>
            <p:spPr>
              <a:xfrm rot="16200000">
                <a:off x="5335588" y="5113337"/>
                <a:ext cx="344488" cy="144463"/>
              </a:xfrm>
              <a:prstGeom prst="rect">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endParaRPr lang="ja-JP" altLang="en-US" b="1">
                  <a:latin typeface="+mn-ea"/>
                </a:endParaRPr>
              </a:p>
            </p:txBody>
          </p:sp>
          <p:sp>
            <p:nvSpPr>
              <p:cNvPr id="44" name="正方形/長方形 43"/>
              <p:cNvSpPr/>
              <p:nvPr/>
            </p:nvSpPr>
            <p:spPr>
              <a:xfrm rot="16200000">
                <a:off x="7243763" y="5113337"/>
                <a:ext cx="344488" cy="144463"/>
              </a:xfrm>
              <a:prstGeom prst="rect">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endParaRPr lang="ja-JP" altLang="en-US" b="1">
                  <a:latin typeface="+mn-ea"/>
                </a:endParaRPr>
              </a:p>
            </p:txBody>
          </p:sp>
        </p:grpSp>
        <p:cxnSp>
          <p:nvCxnSpPr>
            <p:cNvPr id="45" name="カギ線コネクタ 44"/>
            <p:cNvCxnSpPr/>
            <p:nvPr/>
          </p:nvCxnSpPr>
          <p:spPr>
            <a:xfrm flipH="1">
              <a:off x="8055882" y="2986778"/>
              <a:ext cx="598488" cy="2014538"/>
            </a:xfrm>
            <a:prstGeom prst="bentConnector4">
              <a:avLst>
                <a:gd name="adj1" fmla="val -13630"/>
                <a:gd name="adj2" fmla="val 80802"/>
              </a:avLst>
            </a:prstGeom>
            <a:ln w="57150">
              <a:solidFill>
                <a:srgbClr val="0070C0"/>
              </a:solidFill>
              <a:tailEnd type="triangle"/>
            </a:ln>
          </p:spPr>
          <p:style>
            <a:lnRef idx="2">
              <a:schemeClr val="accent4"/>
            </a:lnRef>
            <a:fillRef idx="0">
              <a:schemeClr val="accent4"/>
            </a:fillRef>
            <a:effectRef idx="1">
              <a:schemeClr val="accent4"/>
            </a:effectRef>
            <a:fontRef idx="minor">
              <a:schemeClr val="tx1"/>
            </a:fontRef>
          </p:style>
        </p:cxnSp>
        <p:sp>
          <p:nvSpPr>
            <p:cNvPr id="46" name="角丸四角形 45"/>
            <p:cNvSpPr/>
            <p:nvPr/>
          </p:nvSpPr>
          <p:spPr>
            <a:xfrm>
              <a:off x="3264807" y="2697853"/>
              <a:ext cx="1655763" cy="1584325"/>
            </a:xfrm>
            <a:prstGeom prst="roundRect">
              <a:avLst/>
            </a:prstGeom>
            <a:ln w="38100">
              <a:solidFill>
                <a:schemeClr val="accent5"/>
              </a:solidFill>
            </a:ln>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sz="2400" b="1" dirty="0">
                  <a:latin typeface="+mn-ea"/>
                </a:rPr>
                <a:t>知識・技能</a:t>
              </a:r>
            </a:p>
          </p:txBody>
        </p:sp>
        <p:sp>
          <p:nvSpPr>
            <p:cNvPr id="47" name="角丸四角形 46"/>
            <p:cNvSpPr/>
            <p:nvPr/>
          </p:nvSpPr>
          <p:spPr>
            <a:xfrm>
              <a:off x="5055507" y="2759766"/>
              <a:ext cx="1655763" cy="1522412"/>
            </a:xfrm>
            <a:prstGeom prst="roundRect">
              <a:avLst/>
            </a:prstGeom>
            <a:ln w="38100">
              <a:solidFill>
                <a:srgbClr val="FFC000"/>
              </a:solidFill>
            </a:ln>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sz="2400" b="1" dirty="0">
                  <a:latin typeface="+mn-ea"/>
                </a:rPr>
                <a:t>思考・判断・</a:t>
              </a:r>
              <a:endParaRPr lang="en-US" altLang="ja-JP" sz="2400" b="1" dirty="0">
                <a:latin typeface="+mn-ea"/>
              </a:endParaRPr>
            </a:p>
            <a:p>
              <a:pPr algn="ctr">
                <a:defRPr/>
              </a:pPr>
              <a:r>
                <a:rPr lang="ja-JP" altLang="en-US" sz="2400" b="1" dirty="0">
                  <a:latin typeface="+mn-ea"/>
                </a:rPr>
                <a:t>表現</a:t>
              </a:r>
            </a:p>
          </p:txBody>
        </p:sp>
        <p:sp>
          <p:nvSpPr>
            <p:cNvPr id="48" name="角丸四角形 47"/>
            <p:cNvSpPr/>
            <p:nvPr/>
          </p:nvSpPr>
          <p:spPr>
            <a:xfrm>
              <a:off x="6935107" y="3531291"/>
              <a:ext cx="1655763" cy="750887"/>
            </a:xfrm>
            <a:prstGeom prst="roundRect">
              <a:avLst/>
            </a:prstGeom>
            <a:ln w="28575">
              <a:solidFill>
                <a:schemeClr val="accent2"/>
              </a:solidFill>
            </a:ln>
          </p:spPr>
          <p:style>
            <a:lnRef idx="2">
              <a:schemeClr val="dk1"/>
            </a:lnRef>
            <a:fillRef idx="1">
              <a:schemeClr val="lt1"/>
            </a:fillRef>
            <a:effectRef idx="0">
              <a:schemeClr val="dk1"/>
            </a:effectRef>
            <a:fontRef idx="minor">
              <a:schemeClr val="dk1"/>
            </a:fontRef>
          </p:style>
          <p:txBody>
            <a:bodyPr anchor="ctr"/>
            <a:lstStyle/>
            <a:p>
              <a:pPr algn="ctr">
                <a:defRPr/>
              </a:pPr>
              <a:r>
                <a:rPr lang="ja-JP" altLang="en-US" b="1" dirty="0">
                  <a:latin typeface="+mn-ea"/>
                </a:rPr>
                <a:t>主体的に学習に</a:t>
              </a:r>
              <a:endParaRPr lang="en-US" altLang="ja-JP" b="1" dirty="0">
                <a:latin typeface="+mn-ea"/>
              </a:endParaRPr>
            </a:p>
            <a:p>
              <a:pPr algn="ctr">
                <a:defRPr/>
              </a:pPr>
              <a:r>
                <a:rPr lang="ja-JP" altLang="en-US" b="1" dirty="0">
                  <a:latin typeface="+mn-ea"/>
                </a:rPr>
                <a:t>取り組む態度</a:t>
              </a:r>
            </a:p>
          </p:txBody>
        </p:sp>
        <p:sp>
          <p:nvSpPr>
            <p:cNvPr id="49" name="角丸四角形 48"/>
            <p:cNvSpPr/>
            <p:nvPr/>
          </p:nvSpPr>
          <p:spPr>
            <a:xfrm>
              <a:off x="1118508" y="3363016"/>
              <a:ext cx="2267814" cy="1292225"/>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anchor="ctr"/>
            <a:lstStyle/>
            <a:p>
              <a:pPr>
                <a:defRPr/>
              </a:pPr>
              <a:r>
                <a:rPr lang="ja-JP" altLang="en-US" sz="2000" b="1" dirty="0">
                  <a:latin typeface="+mn-ea"/>
                </a:rPr>
                <a:t>●観点ごとに評価し、</a:t>
              </a:r>
              <a:endParaRPr lang="en-US" altLang="ja-JP" sz="2000" b="1" dirty="0">
                <a:latin typeface="+mn-ea"/>
              </a:endParaRPr>
            </a:p>
            <a:p>
              <a:pPr>
                <a:defRPr/>
              </a:pPr>
              <a:r>
                <a:rPr lang="ja-JP" altLang="en-US" sz="2000" b="1" dirty="0">
                  <a:latin typeface="+mn-ea"/>
                </a:rPr>
                <a:t>　生徒の学習状況を</a:t>
              </a:r>
              <a:endParaRPr lang="en-US" altLang="ja-JP" sz="2000" b="1" dirty="0">
                <a:latin typeface="+mn-ea"/>
              </a:endParaRPr>
            </a:p>
            <a:p>
              <a:pPr>
                <a:defRPr/>
              </a:pPr>
              <a:r>
                <a:rPr lang="ja-JP" altLang="en-US" sz="2000" b="1" dirty="0">
                  <a:latin typeface="+mn-ea"/>
                </a:rPr>
                <a:t>　分析的捉えるもの</a:t>
              </a:r>
              <a:endParaRPr lang="en-US" altLang="ja-JP" sz="2000" b="1" dirty="0">
                <a:latin typeface="+mn-ea"/>
              </a:endParaRPr>
            </a:p>
            <a:p>
              <a:pPr>
                <a:defRPr/>
              </a:pPr>
              <a:r>
                <a:rPr lang="ja-JP" altLang="en-US" sz="2000" b="1" dirty="0">
                  <a:latin typeface="+mn-ea"/>
                </a:rPr>
                <a:t>●観点ごとにＡＢＣの</a:t>
              </a:r>
              <a:endParaRPr lang="en-US" altLang="ja-JP" sz="2000" b="1" dirty="0">
                <a:latin typeface="+mn-ea"/>
              </a:endParaRPr>
            </a:p>
            <a:p>
              <a:pPr>
                <a:defRPr/>
              </a:pPr>
              <a:r>
                <a:rPr lang="ja-JP" altLang="en-US" sz="2000" b="1" dirty="0">
                  <a:latin typeface="+mn-ea"/>
                </a:rPr>
                <a:t>　３段階で評価</a:t>
              </a:r>
            </a:p>
          </p:txBody>
        </p:sp>
      </p:grpSp>
      <p:sp>
        <p:nvSpPr>
          <p:cNvPr id="5" name="Rectangle 1">
            <a:extLst>
              <a:ext uri="{FF2B5EF4-FFF2-40B4-BE49-F238E27FC236}">
                <a16:creationId xmlns:a16="http://schemas.microsoft.com/office/drawing/2014/main" id="{CC918D9F-967F-F960-44BF-BFFC1DB1C96E}"/>
              </a:ext>
            </a:extLst>
          </p:cNvPr>
          <p:cNvSpPr/>
          <p:nvPr/>
        </p:nvSpPr>
        <p:spPr>
          <a:xfrm>
            <a:off x="0" y="-9228"/>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7" name="Rectangle 2">
            <a:extLst>
              <a:ext uri="{FF2B5EF4-FFF2-40B4-BE49-F238E27FC236}">
                <a16:creationId xmlns:a16="http://schemas.microsoft.com/office/drawing/2014/main" id="{ABE622A9-BE55-F9D4-EDEF-6E7499AB6F3B}"/>
              </a:ext>
            </a:extLst>
          </p:cNvPr>
          <p:cNvSpPr/>
          <p:nvPr/>
        </p:nvSpPr>
        <p:spPr>
          <a:xfrm>
            <a:off x="0" y="820772"/>
            <a:ext cx="12192000" cy="365171"/>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fontScale="77500" lnSpcReduction="20000"/>
          </a:bodyPr>
          <a:lstStyle/>
          <a:p>
            <a:pPr/>
            <a:r>
              <a:rPr lang="ja-JP" altLang="en-US" sz="3200" b="1" dirty="0">
                <a:solidFill>
                  <a:schemeClr val="tx1"/>
                </a:solidFill>
                <a:latin typeface="メイリオ"/>
                <a:ea typeface="メイリオ"/>
                <a:cs typeface="メイリオ"/>
              </a:rPr>
              <a:t>各教科における評価の基本構造</a:t>
            </a:r>
          </a:p>
        </p:txBody>
      </p:sp>
    </p:spTree>
    <p:extLst>
      <p:ext uri="{BB962C8B-B14F-4D97-AF65-F5344CB8AC3E}">
        <p14:creationId xmlns:p14="http://schemas.microsoft.com/office/powerpoint/2010/main" val="3497813644"/>
      </p:ext>
    </p:extLst>
  </p:cSld>
  <p:clrMapOvr>
    <a:masterClrMapping/>
  </p:clrMapOvr>
  <p:transition spd="slow">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コンテンツ プレースホルダー 2"/>
          <p:cNvSpPr txBox="1">
            <a:spLocks/>
          </p:cNvSpPr>
          <p:nvPr/>
        </p:nvSpPr>
        <p:spPr>
          <a:xfrm>
            <a:off x="888647" y="1826944"/>
            <a:ext cx="10400765" cy="1572423"/>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3200" b="1" dirty="0">
                <a:latin typeface="メイリオ"/>
                <a:ea typeface="メイリオ"/>
                <a:cs typeface="メイリオ"/>
              </a:rPr>
              <a:t>○　既有の知識及び技能と関連づけたり活用したりする</a:t>
            </a:r>
            <a:endParaRPr lang="en-US" altLang="ja-JP" sz="3200" b="1" dirty="0"/>
          </a:p>
          <a:p>
            <a:pPr marL="0" indent="0">
              <a:buNone/>
            </a:pPr>
            <a:r>
              <a:rPr lang="ja-JP" altLang="en-US" sz="3200" b="1" dirty="0">
                <a:latin typeface="メイリオ"/>
                <a:ea typeface="メイリオ"/>
                <a:cs typeface="メイリオ"/>
              </a:rPr>
              <a:t>　　中で、概念等として理解したり、技能を習得したり</a:t>
            </a:r>
            <a:endParaRPr lang="en-US" altLang="ja-JP" sz="3200" b="1" dirty="0"/>
          </a:p>
          <a:p>
            <a:pPr marL="0" indent="0">
              <a:buNone/>
            </a:pPr>
            <a:r>
              <a:rPr lang="ja-JP" altLang="en-US" sz="3200" b="1" dirty="0">
                <a:latin typeface="メイリオ"/>
                <a:ea typeface="メイリオ"/>
                <a:cs typeface="メイリオ"/>
              </a:rPr>
              <a:t>　　しているかについて評価する。</a:t>
            </a:r>
          </a:p>
        </p:txBody>
      </p:sp>
      <p:sp>
        <p:nvSpPr>
          <p:cNvPr id="18" name="コンテンツ プレースホルダー 2"/>
          <p:cNvSpPr txBox="1">
            <a:spLocks/>
          </p:cNvSpPr>
          <p:nvPr/>
        </p:nvSpPr>
        <p:spPr>
          <a:xfrm>
            <a:off x="888647" y="3665125"/>
            <a:ext cx="10400765" cy="1962288"/>
          </a:xfrm>
          <a:prstGeom prst="rect">
            <a:avLst/>
          </a:prstGeom>
          <a:ln w="57150">
            <a:solidFill>
              <a:schemeClr val="accent5"/>
            </a:solidFill>
          </a:ln>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spcBef>
                <a:spcPts val="600"/>
              </a:spcBef>
              <a:buNone/>
            </a:pPr>
            <a:endParaRPr lang="en-US" altLang="ja-JP" sz="1300" b="1" dirty="0"/>
          </a:p>
          <a:p>
            <a:pPr marL="0" indent="0">
              <a:spcBef>
                <a:spcPts val="600"/>
              </a:spcBef>
              <a:buNone/>
            </a:pPr>
            <a:r>
              <a:rPr lang="ja-JP" altLang="en-US" sz="3000" b="1" dirty="0">
                <a:latin typeface="メイリオ"/>
                <a:ea typeface="メイリオ"/>
                <a:cs typeface="メイリオ"/>
              </a:rPr>
              <a:t>＜評価の工夫例＞</a:t>
            </a:r>
            <a:endParaRPr lang="en-US" altLang="ja-JP" sz="3000" b="1" dirty="0"/>
          </a:p>
          <a:p>
            <a:pPr marL="0" indent="0">
              <a:buNone/>
            </a:pPr>
            <a:r>
              <a:rPr lang="ja-JP" altLang="en-US" sz="3000" b="1" dirty="0">
                <a:latin typeface="メイリオ"/>
                <a:ea typeface="メイリオ"/>
                <a:cs typeface="メイリオ"/>
              </a:rPr>
              <a:t>○ペーパーテスト</a:t>
            </a:r>
            <a:endParaRPr lang="en-US" altLang="ja-JP" sz="3000" b="1" dirty="0"/>
          </a:p>
          <a:p>
            <a:pPr marL="0" indent="0">
              <a:buNone/>
            </a:pPr>
            <a:r>
              <a:rPr lang="ja-JP" altLang="en-US" sz="3000" b="1" dirty="0">
                <a:latin typeface="メイリオ"/>
                <a:ea typeface="メイリオ"/>
                <a:cs typeface="メイリオ"/>
              </a:rPr>
              <a:t>○実際に知識や技能を用いる場面を設けた学習活動</a:t>
            </a:r>
            <a:endParaRPr lang="en-US" altLang="ja-JP" sz="3000" b="1" dirty="0"/>
          </a:p>
        </p:txBody>
      </p:sp>
      <p:sp>
        <p:nvSpPr>
          <p:cNvPr id="2" name="Rectangle 1">
            <a:extLst>
              <a:ext uri="{FF2B5EF4-FFF2-40B4-BE49-F238E27FC236}">
                <a16:creationId xmlns:a16="http://schemas.microsoft.com/office/drawing/2014/main" id="{8E80A6CC-FE31-1773-749F-3294CC509BB8}"/>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3" name="Rectangle 2">
            <a:extLst>
              <a:ext uri="{FF2B5EF4-FFF2-40B4-BE49-F238E27FC236}">
                <a16:creationId xmlns:a16="http://schemas.microsoft.com/office/drawing/2014/main" id="{07B49455-C776-E5ED-D0C5-961C47995252}"/>
              </a:ext>
            </a:extLst>
          </p:cNvPr>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「知識・技能」の評価</a:t>
            </a:r>
          </a:p>
        </p:txBody>
      </p:sp>
      <p:sp>
        <p:nvSpPr>
          <p:cNvPr id="4" name="TextBox 8">
            <a:extLst>
              <a:ext uri="{FF2B5EF4-FFF2-40B4-BE49-F238E27FC236}">
                <a16:creationId xmlns:a16="http://schemas.microsoft.com/office/drawing/2014/main" id="{4AF4BAF8-0E6E-4ABD-4A0E-A7219D3808DF}"/>
              </a:ext>
            </a:extLst>
          </p:cNvPr>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dirty="0" err="1">
                <a:solidFill>
                  <a:srgbClr val="404040"/>
                </a:solidFill>
                <a:latin typeface="メイリオ"/>
                <a:ea typeface="メイリオ"/>
                <a:cs typeface="メイリオ"/>
              </a:rPr>
              <a:t>出典：国立教育政策研究所「学習評価の在り方ハンドブック（中学校編</a:t>
            </a:r>
            <a:r>
              <a:rPr sz="1300" dirty="0">
                <a:solidFill>
                  <a:srgbClr val="404040"/>
                </a:solidFill>
                <a:latin typeface="メイリオ"/>
                <a:ea typeface="メイリオ"/>
                <a:cs typeface="メイリオ"/>
              </a:rPr>
              <a:t>）」</a:t>
            </a:r>
          </a:p>
        </p:txBody>
      </p:sp>
    </p:spTree>
    <p:extLst>
      <p:ext uri="{BB962C8B-B14F-4D97-AF65-F5344CB8AC3E}">
        <p14:creationId xmlns:p14="http://schemas.microsoft.com/office/powerpoint/2010/main" val="1292362610"/>
      </p:ext>
    </p:extLst>
  </p:cSld>
  <p:clrMapOvr>
    <a:masterClrMapping/>
  </p:clrMapOvr>
  <p:transition spd="slow">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コンテンツ プレースホルダー 2"/>
          <p:cNvSpPr txBox="1">
            <a:spLocks/>
          </p:cNvSpPr>
          <p:nvPr/>
        </p:nvSpPr>
        <p:spPr>
          <a:xfrm>
            <a:off x="888644" y="1938908"/>
            <a:ext cx="10400765" cy="1276011"/>
          </a:xfrm>
          <a:prstGeom prst="rect">
            <a:avLst/>
          </a:prstGeom>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dirty="0">
                <a:latin typeface="メイリオ"/>
                <a:ea typeface="メイリオ"/>
                <a:cs typeface="メイリオ"/>
              </a:rPr>
              <a:t>各教科等の知識及び技能を活用して課題を解決する等のために必要な思考力、判断力、表現力等を身に付けているかどうかを評価する。</a:t>
            </a:r>
          </a:p>
        </p:txBody>
      </p:sp>
      <p:sp>
        <p:nvSpPr>
          <p:cNvPr id="18" name="コンテンツ プレースホルダー 2"/>
          <p:cNvSpPr txBox="1">
            <a:spLocks/>
          </p:cNvSpPr>
          <p:nvPr/>
        </p:nvSpPr>
        <p:spPr>
          <a:xfrm>
            <a:off x="2966041" y="3536180"/>
            <a:ext cx="6230897" cy="2785495"/>
          </a:xfrm>
          <a:prstGeom prst="rect">
            <a:avLst/>
          </a:prstGeom>
          <a:ln w="38100">
            <a:solidFill>
              <a:srgbClr val="C00000"/>
            </a:solidFill>
          </a:ln>
        </p:spPr>
        <p:txBody>
          <a:bodyPr vert="horz" lIns="91440" tIns="45720" rIns="91440" bIns="45720" rtlCol="0">
            <a:normAutofit lnSpcReduction="10000"/>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sz="1000" b="1" dirty="0"/>
          </a:p>
          <a:p>
            <a:pPr marL="0" indent="0">
              <a:buNone/>
            </a:pPr>
            <a:r>
              <a:rPr lang="ja-JP" altLang="en-US" b="1" dirty="0">
                <a:latin typeface="メイリオ"/>
                <a:ea typeface="メイリオ"/>
                <a:cs typeface="メイリオ"/>
              </a:rPr>
              <a:t>＜評価の工夫例＞</a:t>
            </a:r>
            <a:endParaRPr lang="en-US" altLang="ja-JP" b="1" dirty="0"/>
          </a:p>
          <a:p>
            <a:pPr marL="0" indent="0">
              <a:buNone/>
            </a:pPr>
            <a:r>
              <a:rPr lang="ja-JP" altLang="en-US" b="1" dirty="0">
                <a:latin typeface="メイリオ"/>
                <a:ea typeface="メイリオ"/>
                <a:cs typeface="メイリオ"/>
              </a:rPr>
              <a:t>○論述やレポートの作成、発表</a:t>
            </a:r>
            <a:endParaRPr lang="en-US" altLang="ja-JP" b="1" dirty="0"/>
          </a:p>
          <a:p>
            <a:pPr marL="0" indent="0">
              <a:buNone/>
            </a:pPr>
            <a:r>
              <a:rPr lang="ja-JP" altLang="en-US" b="1" dirty="0">
                <a:latin typeface="メイリオ"/>
                <a:ea typeface="メイリオ"/>
                <a:cs typeface="メイリオ"/>
              </a:rPr>
              <a:t>○グループでの話合い</a:t>
            </a:r>
            <a:endParaRPr lang="en-US" altLang="ja-JP" b="1" dirty="0"/>
          </a:p>
          <a:p>
            <a:pPr marL="0" indent="0">
              <a:buNone/>
            </a:pPr>
            <a:r>
              <a:rPr lang="ja-JP" altLang="en-US" b="1" dirty="0">
                <a:latin typeface="メイリオ"/>
                <a:ea typeface="メイリオ"/>
                <a:cs typeface="メイリオ"/>
              </a:rPr>
              <a:t>○作品の制作や表現等の多様な活動</a:t>
            </a:r>
            <a:endParaRPr lang="en-US" altLang="ja-JP" b="1" dirty="0"/>
          </a:p>
          <a:p>
            <a:pPr marL="0" indent="0">
              <a:buNone/>
            </a:pPr>
            <a:r>
              <a:rPr lang="ja-JP" altLang="en-US" b="1" dirty="0">
                <a:latin typeface="メイリオ"/>
                <a:ea typeface="メイリオ"/>
                <a:cs typeface="メイリオ"/>
              </a:rPr>
              <a:t>○ポートフォリオの活用</a:t>
            </a:r>
          </a:p>
        </p:txBody>
      </p:sp>
      <p:sp>
        <p:nvSpPr>
          <p:cNvPr id="4" name="Rectangle 1">
            <a:extLst>
              <a:ext uri="{FF2B5EF4-FFF2-40B4-BE49-F238E27FC236}">
                <a16:creationId xmlns:a16="http://schemas.microsoft.com/office/drawing/2014/main" id="{792DFF4A-273B-8E69-BF6C-2D3A37E5CDAB}"/>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5" name="Rectangle 2">
            <a:extLst>
              <a:ext uri="{FF2B5EF4-FFF2-40B4-BE49-F238E27FC236}">
                <a16:creationId xmlns:a16="http://schemas.microsoft.com/office/drawing/2014/main" id="{2EC89BC6-C1B3-B4E2-9CC9-6F25DBFA4C47}"/>
              </a:ext>
            </a:extLst>
          </p:cNvPr>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「思考・判断・表現」の評価</a:t>
            </a:r>
          </a:p>
        </p:txBody>
      </p:sp>
      <p:sp>
        <p:nvSpPr>
          <p:cNvPr id="6" name="TextBox 8">
            <a:extLst>
              <a:ext uri="{FF2B5EF4-FFF2-40B4-BE49-F238E27FC236}">
                <a16:creationId xmlns:a16="http://schemas.microsoft.com/office/drawing/2014/main" id="{C8EC3372-453D-37C1-3D67-95FBD6FE7BAB}"/>
              </a:ext>
            </a:extLst>
          </p:cNvPr>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dirty="0" err="1">
                <a:solidFill>
                  <a:srgbClr val="404040"/>
                </a:solidFill>
                <a:latin typeface="メイリオ"/>
                <a:ea typeface="メイリオ"/>
                <a:cs typeface="メイリオ"/>
              </a:rPr>
              <a:t>出典：国立教育政策研究所「学習評価の在り方ハンドブック（中学校編</a:t>
            </a:r>
            <a:r>
              <a:rPr sz="1300" dirty="0">
                <a:solidFill>
                  <a:srgbClr val="404040"/>
                </a:solidFill>
                <a:latin typeface="メイリオ"/>
                <a:ea typeface="メイリオ"/>
                <a:cs typeface="メイリオ"/>
              </a:rPr>
              <a:t>）」</a:t>
            </a:r>
          </a:p>
        </p:txBody>
      </p:sp>
    </p:spTree>
    <p:extLst>
      <p:ext uri="{BB962C8B-B14F-4D97-AF65-F5344CB8AC3E}">
        <p14:creationId xmlns:p14="http://schemas.microsoft.com/office/powerpoint/2010/main" val="1313705403"/>
      </p:ext>
    </p:extLst>
  </p:cSld>
  <p:clrMapOvr>
    <a:masterClrMapping/>
  </p:clrMapOvr>
  <p:transition spd="slow">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p:cNvPicPr>
            <a:picLocks noChangeAspect="1"/>
          </p:cNvPicPr>
          <p:nvPr/>
        </p:nvPicPr>
        <p:blipFill rotWithShape="1">
          <a:blip r:embed="rId2"/>
          <a:srcRect l="38092" t="19270" r="25988" b="10937"/>
          <a:stretch/>
        </p:blipFill>
        <p:spPr>
          <a:xfrm>
            <a:off x="1285571" y="1690932"/>
            <a:ext cx="5217866" cy="4970314"/>
          </a:xfrm>
          <a:prstGeom prst="rect">
            <a:avLst/>
          </a:prstGeom>
          <a:ln w="28575">
            <a:solidFill>
              <a:schemeClr val="tx1"/>
            </a:solidFill>
          </a:ln>
        </p:spPr>
      </p:pic>
      <p:sp>
        <p:nvSpPr>
          <p:cNvPr id="9" name="角丸四角形吹き出し 8"/>
          <p:cNvSpPr/>
          <p:nvPr/>
        </p:nvSpPr>
        <p:spPr>
          <a:xfrm>
            <a:off x="7037359" y="3429000"/>
            <a:ext cx="4031449" cy="2002907"/>
          </a:xfrm>
          <a:prstGeom prst="wedgeRoundRectCallout">
            <a:avLst>
              <a:gd name="adj1" fmla="val -59962"/>
              <a:gd name="adj2" fmla="val -7948"/>
              <a:gd name="adj3" fmla="val 16667"/>
            </a:avLst>
          </a:prstGeom>
          <a:solidFill>
            <a:schemeClr val="bg1"/>
          </a:solidFill>
          <a:ln w="57150"/>
        </p:spPr>
        <p:style>
          <a:lnRef idx="2">
            <a:schemeClr val="accent6"/>
          </a:lnRef>
          <a:fillRef idx="1">
            <a:schemeClr val="lt1"/>
          </a:fillRef>
          <a:effectRef idx="0">
            <a:schemeClr val="accent6"/>
          </a:effectRef>
          <a:fontRef idx="minor">
            <a:schemeClr val="dk1"/>
          </a:fontRef>
        </p:style>
        <p:txBody>
          <a:bodyPr rtlCol="0" anchor="ctr"/>
          <a:lstStyle/>
          <a:p>
            <a:pPr/>
            <a:r>
              <a:rPr lang="ja-JP" altLang="en-US" sz="2400" b="1" dirty="0">
                <a:latin typeface="メイリオ" panose="020B0609070205080204" pitchFamily="49" charset="-128"/>
                <a:ea typeface="メイリオ" panose="020B0609070205080204" pitchFamily="49" charset="-128"/>
                <a:cs typeface="メイリオ"/>
              </a:rPr>
              <a:t>①と②は、別々ではなく相互に関わり合っている。①がＡで②がＣという生徒の姿は一般的ではない。</a:t>
            </a:r>
          </a:p>
        </p:txBody>
      </p:sp>
      <p:sp>
        <p:nvSpPr>
          <p:cNvPr id="2" name="Rectangle 1">
            <a:extLst>
              <a:ext uri="{FF2B5EF4-FFF2-40B4-BE49-F238E27FC236}">
                <a16:creationId xmlns:a16="http://schemas.microsoft.com/office/drawing/2014/main" id="{42D9CE4D-4F6F-4525-CFFE-4EFD7D76718E}"/>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3" name="Rectangle 2">
            <a:extLst>
              <a:ext uri="{FF2B5EF4-FFF2-40B4-BE49-F238E27FC236}">
                <a16:creationId xmlns:a16="http://schemas.microsoft.com/office/drawing/2014/main" id="{1E6A2D0E-0E2A-8069-4104-96E7246E0681}"/>
              </a:ext>
            </a:extLst>
          </p:cNvPr>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「主体的に学習に取り組む態度」の評価</a:t>
            </a:r>
          </a:p>
        </p:txBody>
      </p:sp>
    </p:spTree>
    <p:extLst>
      <p:ext uri="{BB962C8B-B14F-4D97-AF65-F5344CB8AC3E}">
        <p14:creationId xmlns:p14="http://schemas.microsoft.com/office/powerpoint/2010/main" val="2480890887"/>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コンテンツ プレースホルダー 2"/>
          <p:cNvSpPr txBox="1">
            <a:spLocks/>
          </p:cNvSpPr>
          <p:nvPr/>
        </p:nvSpPr>
        <p:spPr>
          <a:xfrm>
            <a:off x="1335384" y="2106014"/>
            <a:ext cx="9507291" cy="3620664"/>
          </a:xfrm>
          <a:prstGeom prst="rect">
            <a:avLst/>
          </a:prstGeom>
          <a:ln w="38100">
            <a:solidFill>
              <a:srgbClr val="FFC000"/>
            </a:solidFill>
          </a:ln>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endParaRPr lang="en-US" altLang="ja-JP" sz="300" b="1" dirty="0"/>
          </a:p>
          <a:p>
            <a:pPr marL="0" indent="0">
              <a:buNone/>
            </a:pPr>
            <a:r>
              <a:rPr lang="ja-JP" altLang="en-US" sz="4000" b="1" dirty="0">
                <a:latin typeface="メイリオ"/>
                <a:ea typeface="メイリオ"/>
                <a:cs typeface="メイリオ"/>
              </a:rPr>
              <a:t>＜評価の工夫例＞</a:t>
            </a:r>
            <a:endParaRPr lang="en-US" altLang="ja-JP" sz="4000" b="1" dirty="0"/>
          </a:p>
          <a:p>
            <a:pPr marL="0" indent="0">
              <a:buNone/>
            </a:pPr>
            <a:r>
              <a:rPr lang="ja-JP" altLang="en-US" sz="4000" b="1" dirty="0">
                <a:latin typeface="メイリオ"/>
                <a:ea typeface="メイリオ"/>
                <a:cs typeface="メイリオ"/>
              </a:rPr>
              <a:t>○ノートやレポート等における記述</a:t>
            </a:r>
            <a:endParaRPr lang="en-US" altLang="ja-JP" sz="4000" b="1" dirty="0"/>
          </a:p>
          <a:p>
            <a:pPr marL="0" indent="0">
              <a:buNone/>
            </a:pPr>
            <a:r>
              <a:rPr lang="ja-JP" altLang="en-US" sz="4000" b="1" dirty="0">
                <a:latin typeface="メイリオ"/>
                <a:ea typeface="メイリオ"/>
                <a:cs typeface="メイリオ"/>
              </a:rPr>
              <a:t>○授業中の発言</a:t>
            </a:r>
            <a:endParaRPr lang="en-US" altLang="ja-JP" sz="4000" b="1" dirty="0"/>
          </a:p>
          <a:p>
            <a:pPr marL="0" indent="0">
              <a:buNone/>
            </a:pPr>
            <a:r>
              <a:rPr lang="ja-JP" altLang="en-US" sz="4000" b="1" dirty="0">
                <a:latin typeface="メイリオ"/>
                <a:ea typeface="メイリオ"/>
                <a:cs typeface="メイリオ"/>
              </a:rPr>
              <a:t>○教師による行動観察</a:t>
            </a:r>
            <a:endParaRPr lang="en-US" altLang="ja-JP" sz="4000" b="1" dirty="0"/>
          </a:p>
          <a:p>
            <a:pPr marL="0" indent="0">
              <a:buNone/>
            </a:pPr>
            <a:r>
              <a:rPr lang="ja-JP" altLang="en-US" sz="4000" b="1" dirty="0">
                <a:latin typeface="メイリオ"/>
                <a:ea typeface="メイリオ"/>
                <a:cs typeface="メイリオ"/>
              </a:rPr>
              <a:t>○生徒による自己評価・相互評価等</a:t>
            </a:r>
          </a:p>
        </p:txBody>
      </p:sp>
      <p:sp>
        <p:nvSpPr>
          <p:cNvPr id="6" name="Rectangle 1">
            <a:extLst>
              <a:ext uri="{FF2B5EF4-FFF2-40B4-BE49-F238E27FC236}">
                <a16:creationId xmlns:a16="http://schemas.microsoft.com/office/drawing/2014/main" id="{8336BE88-6DA2-CABF-0D3A-2C7CFBB8A356}"/>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7" name="Rectangle 2">
            <a:extLst>
              <a:ext uri="{FF2B5EF4-FFF2-40B4-BE49-F238E27FC236}">
                <a16:creationId xmlns:a16="http://schemas.microsoft.com/office/drawing/2014/main" id="{B0320CFA-D114-BC86-C30F-76CEEA81CF68}"/>
              </a:ext>
            </a:extLst>
          </p:cNvPr>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「主体的に学習に取り組む態度」の評価</a:t>
            </a:r>
          </a:p>
        </p:txBody>
      </p:sp>
      <p:sp>
        <p:nvSpPr>
          <p:cNvPr id="9" name="TextBox 8">
            <a:extLst>
              <a:ext uri="{FF2B5EF4-FFF2-40B4-BE49-F238E27FC236}">
                <a16:creationId xmlns:a16="http://schemas.microsoft.com/office/drawing/2014/main" id="{765B1BC6-6930-328F-8CE1-F49D28DB4BEE}"/>
              </a:ext>
            </a:extLst>
          </p:cNvPr>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dirty="0" err="1">
                <a:solidFill>
                  <a:srgbClr val="404040"/>
                </a:solidFill>
                <a:latin typeface="メイリオ"/>
                <a:ea typeface="メイリオ"/>
                <a:cs typeface="メイリオ"/>
              </a:rPr>
              <a:t>出典：国立教育政策研究所「学習評価の在り方ハンドブック（中学校編</a:t>
            </a:r>
            <a:r>
              <a:rPr sz="1300" dirty="0">
                <a:solidFill>
                  <a:srgbClr val="404040"/>
                </a:solidFill>
                <a:latin typeface="メイリオ"/>
                <a:ea typeface="メイリオ"/>
                <a:cs typeface="メイリオ"/>
              </a:rPr>
              <a:t>）」</a:t>
            </a:r>
          </a:p>
        </p:txBody>
      </p:sp>
    </p:spTree>
    <p:extLst>
      <p:ext uri="{BB962C8B-B14F-4D97-AF65-F5344CB8AC3E}">
        <p14:creationId xmlns:p14="http://schemas.microsoft.com/office/powerpoint/2010/main" val="379402200"/>
      </p:ext>
    </p:extLst>
  </p:cSld>
  <p:clrMapOvr>
    <a:masterClrMapping/>
  </p:clrMapOvr>
  <p:transition spd="slow">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楕円 3"/>
          <p:cNvSpPr/>
          <p:nvPr/>
        </p:nvSpPr>
        <p:spPr>
          <a:xfrm>
            <a:off x="4595396" y="2447981"/>
            <a:ext cx="2942068" cy="2942068"/>
          </a:xfrm>
          <a:prstGeom prst="ellipse">
            <a:avLst/>
          </a:prstGeom>
          <a:ln w="76200"/>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5400" b="1" dirty="0">
                <a:latin typeface="メイリオ"/>
                <a:ea typeface="メイリオ"/>
                <a:cs typeface="メイリオ"/>
              </a:rPr>
              <a:t>行動観察</a:t>
            </a:r>
          </a:p>
        </p:txBody>
      </p:sp>
      <p:sp>
        <p:nvSpPr>
          <p:cNvPr id="15" name="正方形/長方形 14"/>
          <p:cNvSpPr/>
          <p:nvPr/>
        </p:nvSpPr>
        <p:spPr>
          <a:xfrm>
            <a:off x="0" y="0"/>
            <a:ext cx="12192000" cy="720000"/>
          </a:xfrm>
          <a:prstGeom prst="rect">
            <a:avLst/>
          </a:prstGeom>
          <a:solidFill>
            <a:srgbClr val="2A96C2"/>
          </a:solidFill>
          <a:ln>
            <a:noFill/>
          </a:ln>
        </p:spPr>
        <p:style>
          <a:lnRef idx="2">
            <a:schemeClr val="dk1"/>
          </a:lnRef>
          <a:fillRef idx="1">
            <a:schemeClr val="lt1"/>
          </a:fillRef>
          <a:effectRef idx="0">
            <a:schemeClr val="dk1"/>
          </a:effectRef>
          <a:fontRef idx="minor">
            <a:schemeClr val="dk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sz="2800" b="1">
                <a:solidFill>
                  <a:srgbClr val="FFFFFF"/>
                </a:solidFill>
                <a:latin typeface="メイリオ"/>
                <a:ea typeface="メイリオ"/>
                <a:cs typeface="メイリオ"/>
              </a:rPr>
              <a:t>　２　『主体的に学習に取り組む態度』の学習評価</a:t>
            </a:r>
          </a:p>
        </p:txBody>
      </p:sp>
      <p:sp>
        <p:nvSpPr>
          <p:cNvPr id="2" name="角丸四角形 1"/>
          <p:cNvSpPr/>
          <p:nvPr/>
        </p:nvSpPr>
        <p:spPr>
          <a:xfrm>
            <a:off x="313897" y="832514"/>
            <a:ext cx="5117911" cy="1009934"/>
          </a:xfrm>
          <a:prstGeom prst="roundRect">
            <a:avLst/>
          </a:prstGeom>
          <a:solidFill>
            <a:schemeClr val="accent4">
              <a:lumMod val="60000"/>
              <a:lumOff val="40000"/>
            </a:schemeClr>
          </a:solidFill>
          <a:ln w="57150">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800" b="1" dirty="0">
                <a:latin typeface="メイリオ"/>
                <a:ea typeface="メイリオ"/>
                <a:cs typeface="メイリオ"/>
              </a:rPr>
              <a:t>粘り強く取り組んでいる姿</a:t>
            </a:r>
          </a:p>
        </p:txBody>
      </p:sp>
      <p:sp>
        <p:nvSpPr>
          <p:cNvPr id="7" name="角丸四角形 6"/>
          <p:cNvSpPr/>
          <p:nvPr/>
        </p:nvSpPr>
        <p:spPr>
          <a:xfrm>
            <a:off x="6591869" y="832514"/>
            <a:ext cx="5117911" cy="1009934"/>
          </a:xfrm>
          <a:prstGeom prst="roundRect">
            <a:avLst/>
          </a:prstGeom>
          <a:solidFill>
            <a:schemeClr val="accent1">
              <a:lumMod val="40000"/>
              <a:lumOff val="60000"/>
            </a:schemeClr>
          </a:solidFill>
          <a:ln w="57150">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800" b="1" dirty="0">
                <a:latin typeface="メイリオ"/>
                <a:ea typeface="メイリオ"/>
                <a:cs typeface="メイリオ"/>
              </a:rPr>
              <a:t>自己調整している姿</a:t>
            </a:r>
          </a:p>
        </p:txBody>
      </p:sp>
      <p:sp>
        <p:nvSpPr>
          <p:cNvPr id="8" name="角丸四角形 7"/>
          <p:cNvSpPr/>
          <p:nvPr/>
        </p:nvSpPr>
        <p:spPr>
          <a:xfrm>
            <a:off x="798286" y="2183639"/>
            <a:ext cx="4180113" cy="1009934"/>
          </a:xfrm>
          <a:prstGeom prst="roundRect">
            <a:avLst/>
          </a:prstGeom>
          <a:ln w="57150">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2000" b="1" dirty="0">
                <a:latin typeface="メイリオ"/>
                <a:ea typeface="メイリオ"/>
                <a:cs typeface="メイリオ"/>
              </a:rPr>
              <a:t>前時までのノートを見返している</a:t>
            </a:r>
            <a:endParaRPr kumimoji="1" lang="ja-JP" altLang="en-US" sz="2000" b="1" dirty="0"/>
          </a:p>
        </p:txBody>
      </p:sp>
      <p:sp>
        <p:nvSpPr>
          <p:cNvPr id="9" name="角丸四角形 8"/>
          <p:cNvSpPr/>
          <p:nvPr/>
        </p:nvSpPr>
        <p:spPr>
          <a:xfrm>
            <a:off x="7186306" y="2183639"/>
            <a:ext cx="4243262" cy="1009934"/>
          </a:xfrm>
          <a:prstGeom prst="roundRect">
            <a:avLst/>
          </a:prstGeom>
          <a:solidFill>
            <a:schemeClr val="bg1"/>
          </a:solidFill>
          <a:ln w="57150">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000" b="1" dirty="0">
                <a:latin typeface="メイリオ"/>
                <a:ea typeface="メイリオ"/>
                <a:cs typeface="メイリオ"/>
              </a:rPr>
              <a:t>解決方法を振り返り、修正したり別の方法を考えたりする</a:t>
            </a:r>
          </a:p>
        </p:txBody>
      </p:sp>
      <p:sp>
        <p:nvSpPr>
          <p:cNvPr id="10" name="角丸四角形 9"/>
          <p:cNvSpPr/>
          <p:nvPr/>
        </p:nvSpPr>
        <p:spPr>
          <a:xfrm>
            <a:off x="798286" y="3364009"/>
            <a:ext cx="4180113" cy="1009934"/>
          </a:xfrm>
          <a:prstGeom prst="roundRect">
            <a:avLst/>
          </a:prstGeom>
          <a:ln w="57150">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000" b="1" dirty="0">
                <a:latin typeface="メイリオ"/>
                <a:ea typeface="メイリオ"/>
                <a:cs typeface="メイリオ"/>
              </a:rPr>
              <a:t>わかりやすくするために式に言葉や図での説明を書き加える</a:t>
            </a:r>
          </a:p>
        </p:txBody>
      </p:sp>
      <p:sp>
        <p:nvSpPr>
          <p:cNvPr id="11" name="角丸四角形 10"/>
          <p:cNvSpPr/>
          <p:nvPr/>
        </p:nvSpPr>
        <p:spPr>
          <a:xfrm>
            <a:off x="7179483" y="3364009"/>
            <a:ext cx="4243262" cy="1009934"/>
          </a:xfrm>
          <a:prstGeom prst="roundRect">
            <a:avLst/>
          </a:prstGeom>
          <a:solidFill>
            <a:schemeClr val="bg1"/>
          </a:solidFill>
          <a:ln w="57150">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000" b="1" dirty="0">
                <a:latin typeface="メイリオ"/>
                <a:ea typeface="メイリオ"/>
                <a:cs typeface="メイリオ"/>
              </a:rPr>
              <a:t>解決方法を自己評価し、更によいものを求めようとする</a:t>
            </a:r>
          </a:p>
        </p:txBody>
      </p:sp>
      <p:sp>
        <p:nvSpPr>
          <p:cNvPr id="12" name="角丸四角形 11"/>
          <p:cNvSpPr/>
          <p:nvPr/>
        </p:nvSpPr>
        <p:spPr>
          <a:xfrm>
            <a:off x="798286" y="4544379"/>
            <a:ext cx="4180113" cy="1009934"/>
          </a:xfrm>
          <a:prstGeom prst="roundRect">
            <a:avLst/>
          </a:prstGeom>
          <a:ln w="57150">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000" b="1" dirty="0">
                <a:latin typeface="メイリオ"/>
                <a:ea typeface="メイリオ"/>
                <a:cs typeface="メイリオ"/>
              </a:rPr>
              <a:t>別の方法での解決を試みる</a:t>
            </a:r>
          </a:p>
        </p:txBody>
      </p:sp>
      <p:sp>
        <p:nvSpPr>
          <p:cNvPr id="13" name="角丸四角形 12"/>
          <p:cNvSpPr/>
          <p:nvPr/>
        </p:nvSpPr>
        <p:spPr>
          <a:xfrm>
            <a:off x="7186306" y="4544379"/>
            <a:ext cx="4243262" cy="1009934"/>
          </a:xfrm>
          <a:prstGeom prst="roundRect">
            <a:avLst/>
          </a:prstGeom>
          <a:solidFill>
            <a:schemeClr val="bg1"/>
          </a:solidFill>
          <a:ln w="57150">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ja-JP" altLang="en-US" sz="2000" b="1" dirty="0">
                <a:latin typeface="メイリオ"/>
                <a:ea typeface="メイリオ"/>
                <a:cs typeface="メイリオ"/>
              </a:rPr>
              <a:t>友達に説明することを念頭に置いて、着想や説明を書き加えていく</a:t>
            </a:r>
          </a:p>
        </p:txBody>
      </p:sp>
      <p:sp>
        <p:nvSpPr>
          <p:cNvPr id="3" name="正方形/長方形 2"/>
          <p:cNvSpPr/>
          <p:nvPr/>
        </p:nvSpPr>
        <p:spPr>
          <a:xfrm>
            <a:off x="1414817" y="5895504"/>
            <a:ext cx="9362365" cy="723331"/>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ja-JP" altLang="en-US" sz="3200" b="1" dirty="0">
                <a:latin typeface="メイリオ"/>
                <a:ea typeface="メイリオ"/>
                <a:cs typeface="メイリオ"/>
              </a:rPr>
              <a:t>生徒の学びの姿をイメージした学習活動をつくる</a:t>
            </a:r>
          </a:p>
        </p:txBody>
      </p:sp>
    </p:spTree>
    <p:extLst>
      <p:ext uri="{BB962C8B-B14F-4D97-AF65-F5344CB8AC3E}">
        <p14:creationId xmlns:p14="http://schemas.microsoft.com/office/powerpoint/2010/main" val="12856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barn(inVertical)">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barn(inVertical)">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6" presetClass="entr" presetSubtype="21"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barn(inVertical)">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6" presetClass="entr" presetSubtype="21"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barn(inVertical)">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6" presetClass="entr" presetSubtype="21"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barn(inVertical)">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16" presetClass="entr" presetSubtype="21" fill="hold" grpId="0" nodeType="click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barn(inVertical)">
                                      <p:cBhvr>
                                        <p:cTn id="42" dur="500"/>
                                        <p:tgtEl>
                                          <p:spTgt spid="13"/>
                                        </p:tgtEl>
                                      </p:cBhvr>
                                    </p:animEffect>
                                  </p:childTnLst>
                                </p:cTn>
                              </p:par>
                            </p:childTnLst>
                          </p:cTn>
                        </p:par>
                      </p:childTnLst>
                    </p:cTn>
                  </p:par>
                  <p:par>
                    <p:cTn id="43" fill="hold">
                      <p:stCondLst>
                        <p:cond delay="indefinite"/>
                      </p:stCondLst>
                      <p:childTnLst>
                        <p:par>
                          <p:cTn id="44" fill="hold">
                            <p:stCondLst>
                              <p:cond delay="0"/>
                            </p:stCondLst>
                            <p:childTnLst>
                              <p:par>
                                <p:cTn id="45" presetID="16" presetClass="entr" presetSubtype="21" fill="hold" grpId="0" nodeType="clickEffect">
                                  <p:stCondLst>
                                    <p:cond delay="0"/>
                                  </p:stCondLst>
                                  <p:childTnLst>
                                    <p:set>
                                      <p:cBhvr>
                                        <p:cTn id="46" dur="1" fill="hold">
                                          <p:stCondLst>
                                            <p:cond delay="0"/>
                                          </p:stCondLst>
                                        </p:cTn>
                                        <p:tgtEl>
                                          <p:spTgt spid="3"/>
                                        </p:tgtEl>
                                        <p:attrNameLst>
                                          <p:attrName>style.visibility</p:attrName>
                                        </p:attrNameLst>
                                      </p:cBhvr>
                                      <p:to>
                                        <p:strVal val="visible"/>
                                      </p:to>
                                    </p:set>
                                    <p:animEffect transition="in" filter="barn(inVertical)">
                                      <p:cBhvr>
                                        <p:cTn id="4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9" grpId="0" animBg="1"/>
      <p:bldP spid="10" grpId="0" animBg="1"/>
      <p:bldP spid="11" grpId="0" animBg="1"/>
      <p:bldP spid="12" grpId="0" animBg="1"/>
      <p:bldP spid="13"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p:cNvSpPr/>
          <p:nvPr/>
        </p:nvSpPr>
        <p:spPr>
          <a:xfrm>
            <a:off x="0" y="0"/>
            <a:ext cx="12192000" cy="720000"/>
          </a:xfrm>
          <a:prstGeom prst="rect">
            <a:avLst/>
          </a:prstGeom>
          <a:solidFill>
            <a:srgbClr val="2A96C2"/>
          </a:solidFill>
          <a:ln>
            <a:noFill/>
          </a:ln>
        </p:spPr>
        <p:style>
          <a:lnRef idx="2">
            <a:schemeClr val="dk1"/>
          </a:lnRef>
          <a:fillRef idx="1">
            <a:schemeClr val="lt1"/>
          </a:fillRef>
          <a:effectRef idx="0">
            <a:schemeClr val="dk1"/>
          </a:effectRef>
          <a:fontRef idx="minor">
            <a:schemeClr val="dk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sz="2800" b="1">
                <a:solidFill>
                  <a:srgbClr val="FFFFFF"/>
                </a:solidFill>
                <a:latin typeface="メイリオ"/>
                <a:ea typeface="メイリオ"/>
                <a:cs typeface="メイリオ"/>
              </a:rPr>
              <a:t>　２　『主体的に学習に取り組む態度』の学習評価</a:t>
            </a:r>
          </a:p>
        </p:txBody>
      </p:sp>
      <p:sp>
        <p:nvSpPr>
          <p:cNvPr id="8" name="角丸四角形 7"/>
          <p:cNvSpPr/>
          <p:nvPr/>
        </p:nvSpPr>
        <p:spPr>
          <a:xfrm>
            <a:off x="309349" y="944065"/>
            <a:ext cx="11573302" cy="2016849"/>
          </a:xfrm>
          <a:prstGeom prst="roundRect">
            <a:avLst>
              <a:gd name="adj" fmla="val 11110"/>
            </a:avLst>
          </a:prstGeom>
          <a:ln w="571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評価に当たって</a:t>
            </a:r>
            <a:endParaRPr kumimoji="1" lang="en-US" altLang="ja-JP" sz="2800" b="1" i="0" u="none" strike="noStrike" kern="1200" cap="none" spc="0" normalizeH="0" baseline="0" noProof="0" dirty="0">
              <a:ln>
                <a:noFill/>
              </a:ln>
              <a:solidFill>
                <a:prstClr val="black"/>
              </a:solidFill>
              <a:effectLst/>
              <a:uLnTx/>
              <a:uFillTx/>
              <a:latin typeface="游ゴシック" panose="020F0502020204030204"/>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①</a:t>
            </a:r>
            <a:r>
              <a:rPr kumimoji="1" lang="ja-JP" altLang="en-US" sz="2800" b="1" i="0" u="none" strike="noStrike" kern="1200" cap="none" spc="0" normalizeH="0" baseline="0" noProof="0" dirty="0">
                <a:ln>
                  <a:noFill/>
                </a:ln>
                <a:solidFill>
                  <a:srgbClr val="00B050"/>
                </a:solidFill>
                <a:effectLst/>
                <a:uLnTx/>
                <a:uFillTx/>
                <a:latin typeface="メイリオ" panose="020F0502020204030204"/>
                <a:ea typeface="メイリオ" panose="020B0400000000000000" pitchFamily="50" charset="-128"/>
                <a:cs typeface="メイリオ"/>
              </a:rPr>
              <a:t>自らの理解の状況</a:t>
            </a: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を</a:t>
            </a:r>
            <a:r>
              <a:rPr kumimoji="1" lang="ja-JP" altLang="en-US" sz="2800" b="1" i="0" u="none" strike="noStrike" kern="1200" cap="none" spc="0" normalizeH="0" baseline="0" noProof="0" dirty="0">
                <a:ln>
                  <a:noFill/>
                </a:ln>
                <a:solidFill>
                  <a:srgbClr val="FF0000"/>
                </a:solidFill>
                <a:effectLst/>
                <a:uLnTx/>
                <a:uFillTx/>
                <a:latin typeface="メイリオ" panose="020F0502020204030204"/>
                <a:ea typeface="メイリオ" panose="020B0400000000000000" pitchFamily="50" charset="-128"/>
                <a:cs typeface="メイリオ"/>
              </a:rPr>
              <a:t>振り返る</a:t>
            </a: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ことができるような発問を工夫する</a:t>
            </a:r>
            <a:endParaRPr kumimoji="1" lang="en-US" altLang="ja-JP" sz="2800" b="1" i="0" u="none" strike="noStrike" kern="1200" cap="none" spc="0" normalizeH="0" baseline="0" noProof="0" dirty="0">
              <a:ln>
                <a:noFill/>
              </a:ln>
              <a:solidFill>
                <a:prstClr val="black"/>
              </a:solidFill>
              <a:effectLst/>
              <a:uLnTx/>
              <a:uFillTx/>
              <a:latin typeface="游ゴシック" panose="020F0502020204030204"/>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②</a:t>
            </a:r>
            <a:r>
              <a:rPr kumimoji="1" lang="ja-JP" altLang="en-US" sz="2800" b="1" i="0" u="none" strike="noStrike" kern="1200" cap="none" spc="0" normalizeH="0" baseline="0" noProof="0" dirty="0">
                <a:ln>
                  <a:noFill/>
                </a:ln>
                <a:solidFill>
                  <a:srgbClr val="00B050"/>
                </a:solidFill>
                <a:effectLst/>
                <a:uLnTx/>
                <a:uFillTx/>
                <a:latin typeface="メイリオ" panose="020F0502020204030204"/>
                <a:ea typeface="メイリオ" panose="020B0400000000000000" pitchFamily="50" charset="-128"/>
                <a:cs typeface="メイリオ"/>
              </a:rPr>
              <a:t>他者との協働を通じて</a:t>
            </a: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自らの考えを</a:t>
            </a:r>
            <a:r>
              <a:rPr kumimoji="1" lang="ja-JP" altLang="en-US" sz="2800" b="1" i="0" u="none" strike="noStrike" kern="1200" cap="none" spc="0" normalizeH="0" baseline="0" noProof="0" dirty="0">
                <a:ln>
                  <a:noFill/>
                </a:ln>
                <a:solidFill>
                  <a:srgbClr val="FF0000"/>
                </a:solidFill>
                <a:effectLst/>
                <a:uLnTx/>
                <a:uFillTx/>
                <a:latin typeface="メイリオ" panose="020F0502020204030204"/>
                <a:ea typeface="メイリオ" panose="020B0400000000000000" pitchFamily="50" charset="-128"/>
                <a:cs typeface="メイリオ"/>
              </a:rPr>
              <a:t>相対化する</a:t>
            </a: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場面を設定する</a:t>
            </a:r>
            <a:endParaRPr kumimoji="1" lang="en-US" altLang="ja-JP" sz="2800" b="1" i="0" u="none" strike="noStrike" kern="1200" cap="none" spc="0" normalizeH="0" baseline="0" noProof="0" dirty="0">
              <a:ln>
                <a:noFill/>
              </a:ln>
              <a:solidFill>
                <a:prstClr val="black"/>
              </a:solidFill>
              <a:effectLst/>
              <a:uLnTx/>
              <a:uFillTx/>
              <a:latin typeface="游ゴシック" panose="020F0502020204030204"/>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③学習のめあてや見通しをもたせたり、その</a:t>
            </a:r>
            <a:r>
              <a:rPr kumimoji="1" lang="ja-JP" altLang="en-US" sz="2800" b="1" i="0" u="none" strike="noStrike" kern="1200" cap="none" spc="0" normalizeH="0" baseline="0" noProof="0" dirty="0">
                <a:ln>
                  <a:noFill/>
                </a:ln>
                <a:solidFill>
                  <a:srgbClr val="00B050"/>
                </a:solidFill>
                <a:effectLst/>
                <a:uLnTx/>
                <a:uFillTx/>
                <a:latin typeface="メイリオ" panose="020F0502020204030204"/>
                <a:ea typeface="メイリオ" panose="020B0400000000000000" pitchFamily="50" charset="-128"/>
                <a:cs typeface="メイリオ"/>
              </a:rPr>
              <a:t>達成状況</a:t>
            </a:r>
            <a:r>
              <a:rPr kumimoji="1" lang="ja-JP" altLang="en-US" sz="2800" b="1" i="0" u="none" strike="noStrike" kern="1200" cap="none" spc="0" normalizeH="0" baseline="0" noProof="0" dirty="0">
                <a:ln>
                  <a:noFill/>
                </a:ln>
                <a:solidFill>
                  <a:prstClr val="black"/>
                </a:solidFill>
                <a:effectLst/>
                <a:uLnTx/>
                <a:uFillTx/>
                <a:latin typeface="メイリオ" panose="020F0502020204030204"/>
                <a:ea typeface="メイリオ" panose="020B0400000000000000" pitchFamily="50" charset="-128"/>
                <a:cs typeface="メイリオ"/>
              </a:rPr>
              <a:t>を</a:t>
            </a:r>
            <a:r>
              <a:rPr kumimoji="1" lang="ja-JP" altLang="en-US" sz="2800" b="1" i="0" u="none" strike="noStrike" kern="1200" cap="none" spc="0" normalizeH="0" baseline="0" noProof="0" dirty="0">
                <a:ln>
                  <a:noFill/>
                </a:ln>
                <a:solidFill>
                  <a:srgbClr val="FF0000"/>
                </a:solidFill>
                <a:effectLst/>
                <a:uLnTx/>
                <a:uFillTx/>
                <a:latin typeface="メイリオ" panose="020F0502020204030204"/>
                <a:ea typeface="メイリオ" panose="020B0400000000000000" pitchFamily="50" charset="-128"/>
                <a:cs typeface="メイリオ"/>
              </a:rPr>
              <a:t>振り返らせる</a:t>
            </a:r>
          </a:p>
        </p:txBody>
      </p:sp>
      <p:pic>
        <p:nvPicPr>
          <p:cNvPr id="2" name="図 1"/>
          <p:cNvPicPr>
            <a:picLocks noChangeAspect="1"/>
          </p:cNvPicPr>
          <p:nvPr/>
        </p:nvPicPr>
        <p:blipFill>
          <a:blip r:embed="rId3">
            <a:extLst>
              <a:ext uri="{BEBA8EAE-BF5A-486C-A8C5-ECC9F3942E4B}">
                <a14:imgProps xmlns:a14="http://schemas.microsoft.com/office/drawing/2010/main">
                  <a14:imgLayer r:embed="rId4">
                    <a14:imgEffect>
                      <a14:backgroundRemoval t="625" b="100000" l="0" r="93651">
                        <a14:foregroundMark x1="44444" y1="11250" x2="48016" y2="26750"/>
                        <a14:foregroundMark x1="66270" y1="12500" x2="66270" y2="28000"/>
                        <a14:foregroundMark x1="45833" y1="92250" x2="45833" y2="97125"/>
                        <a14:foregroundMark x1="39286" y1="98250" x2="49008" y2="98500"/>
                        <a14:foregroundMark x1="59921" y1="98250" x2="69048" y2="98750"/>
                        <a14:foregroundMark x1="36508" y1="98750" x2="39881" y2="98375"/>
                        <a14:foregroundMark x1="68056" y1="98875" x2="71032" y2="98500"/>
                        <a14:foregroundMark x1="35516" y1="98875" x2="40476" y2="98375"/>
                      </a14:backgroundRemoval>
                    </a14:imgEffect>
                  </a14:imgLayer>
                </a14:imgProps>
              </a:ext>
            </a:extLst>
          </a:blip>
          <a:stretch>
            <a:fillRect/>
          </a:stretch>
        </p:blipFill>
        <p:spPr>
          <a:xfrm>
            <a:off x="4875313" y="3170463"/>
            <a:ext cx="2186565" cy="3470739"/>
          </a:xfrm>
          <a:prstGeom prst="rect">
            <a:avLst/>
          </a:prstGeom>
        </p:spPr>
      </p:pic>
      <p:sp>
        <p:nvSpPr>
          <p:cNvPr id="3" name="角丸四角形吹き出し 2"/>
          <p:cNvSpPr/>
          <p:nvPr/>
        </p:nvSpPr>
        <p:spPr>
          <a:xfrm>
            <a:off x="1001486" y="3346653"/>
            <a:ext cx="3443514" cy="1297917"/>
          </a:xfrm>
          <a:prstGeom prst="wedgeRoundRectCallout">
            <a:avLst>
              <a:gd name="adj1" fmla="val 74465"/>
              <a:gd name="adj2" fmla="val 25198"/>
              <a:gd name="adj3" fmla="val 16667"/>
            </a:avLst>
          </a:prstGeom>
          <a:ln w="381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r>
              <a:rPr kumimoji="1" lang="ja-JP" altLang="en-US" sz="2400" b="1" dirty="0">
                <a:latin typeface="メイリオ"/>
                <a:ea typeface="メイリオ"/>
                <a:cs typeface="メイリオ"/>
              </a:rPr>
              <a:t>①授業の最初と比べて</a:t>
            </a:r>
            <a:endParaRPr kumimoji="1" lang="en-US" altLang="ja-JP" sz="2400" b="1" dirty="0"/>
          </a:p>
          <a:p>
            <a:pPr/>
            <a:r>
              <a:rPr lang="ja-JP" altLang="en-US" sz="2400" b="1" dirty="0">
                <a:latin typeface="メイリオ"/>
                <a:ea typeface="メイリオ"/>
                <a:cs typeface="メイリオ"/>
              </a:rPr>
              <a:t>　</a:t>
            </a:r>
            <a:r>
              <a:rPr kumimoji="1" lang="ja-JP" altLang="en-US" sz="2400" b="1" dirty="0">
                <a:latin typeface="メイリオ"/>
                <a:ea typeface="メイリオ"/>
                <a:cs typeface="メイリオ"/>
              </a:rPr>
              <a:t>考え方が変わったと</a:t>
            </a:r>
            <a:endParaRPr kumimoji="1" lang="en-US" altLang="ja-JP" sz="2400" b="1" dirty="0"/>
          </a:p>
          <a:p>
            <a:pPr/>
            <a:r>
              <a:rPr lang="ja-JP" altLang="en-US" sz="2400" b="1" dirty="0">
                <a:latin typeface="メイリオ"/>
                <a:ea typeface="メイリオ"/>
                <a:cs typeface="メイリオ"/>
              </a:rPr>
              <a:t>　</a:t>
            </a:r>
            <a:r>
              <a:rPr kumimoji="1" lang="ja-JP" altLang="en-US" sz="2400" b="1" dirty="0">
                <a:latin typeface="メイリオ"/>
                <a:ea typeface="メイリオ"/>
                <a:cs typeface="メイリオ"/>
              </a:rPr>
              <a:t>ころは？</a:t>
            </a:r>
          </a:p>
        </p:txBody>
      </p:sp>
      <p:sp>
        <p:nvSpPr>
          <p:cNvPr id="9" name="角丸四角形吹き出し 8"/>
          <p:cNvSpPr/>
          <p:nvPr/>
        </p:nvSpPr>
        <p:spPr>
          <a:xfrm>
            <a:off x="7265078" y="3346653"/>
            <a:ext cx="4331837" cy="935060"/>
          </a:xfrm>
          <a:prstGeom prst="wedgeRoundRectCallout">
            <a:avLst>
              <a:gd name="adj1" fmla="val -62079"/>
              <a:gd name="adj2" fmla="val 43618"/>
              <a:gd name="adj3" fmla="val 16667"/>
            </a:avLst>
          </a:prstGeom>
          <a:ln w="381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r>
              <a:rPr lang="ja-JP" altLang="en-US" sz="2400" b="1" dirty="0">
                <a:latin typeface="メイリオ"/>
                <a:ea typeface="メイリオ"/>
                <a:cs typeface="メイリオ"/>
              </a:rPr>
              <a:t>②</a:t>
            </a:r>
            <a:r>
              <a:rPr kumimoji="1" lang="ja-JP" altLang="en-US" sz="2400" b="1" dirty="0">
                <a:latin typeface="メイリオ"/>
                <a:ea typeface="メイリオ"/>
                <a:cs typeface="メイリオ"/>
              </a:rPr>
              <a:t>友達の意見を聞いて、自分</a:t>
            </a:r>
            <a:endParaRPr kumimoji="1" lang="en-US" altLang="ja-JP" sz="2400" b="1" dirty="0"/>
          </a:p>
          <a:p>
            <a:pPr/>
            <a:r>
              <a:rPr lang="ja-JP" altLang="en-US" sz="2400" b="1" dirty="0">
                <a:latin typeface="メイリオ"/>
                <a:ea typeface="メイリオ"/>
                <a:cs typeface="メイリオ"/>
              </a:rPr>
              <a:t>　</a:t>
            </a:r>
            <a:r>
              <a:rPr kumimoji="1" lang="ja-JP" altLang="en-US" sz="2400" b="1" dirty="0">
                <a:latin typeface="メイリオ"/>
                <a:ea typeface="メイリオ"/>
                <a:cs typeface="メイリオ"/>
              </a:rPr>
              <a:t>の考えを見直してみよう。</a:t>
            </a:r>
            <a:endParaRPr kumimoji="1" lang="en-US" altLang="ja-JP" sz="2400" b="1" dirty="0"/>
          </a:p>
        </p:txBody>
      </p:sp>
      <p:sp>
        <p:nvSpPr>
          <p:cNvPr id="10" name="角丸四角形吹き出し 9"/>
          <p:cNvSpPr/>
          <p:nvPr/>
        </p:nvSpPr>
        <p:spPr>
          <a:xfrm>
            <a:off x="6934200" y="5007428"/>
            <a:ext cx="3806372" cy="986971"/>
          </a:xfrm>
          <a:prstGeom prst="wedgeRoundRectCallout">
            <a:avLst>
              <a:gd name="adj1" fmla="val -54290"/>
              <a:gd name="adj2" fmla="val -95570"/>
              <a:gd name="adj3" fmla="val 16667"/>
            </a:avLst>
          </a:prstGeom>
          <a:ln w="381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r>
              <a:rPr lang="ja-JP" altLang="en-US" sz="2400" b="1" dirty="0">
                <a:latin typeface="メイリオ"/>
                <a:ea typeface="メイリオ"/>
                <a:cs typeface="メイリオ"/>
              </a:rPr>
              <a:t>③今日の学習の目標は</a:t>
            </a:r>
            <a:endParaRPr lang="en-US" altLang="ja-JP" sz="2400" b="1" dirty="0"/>
          </a:p>
          <a:p>
            <a:pPr/>
            <a:r>
              <a:rPr lang="ja-JP" altLang="en-US" sz="2400" b="1" dirty="0">
                <a:latin typeface="メイリオ"/>
                <a:ea typeface="メイリオ"/>
                <a:cs typeface="メイリオ"/>
              </a:rPr>
              <a:t>　達成できたかな？</a:t>
            </a:r>
            <a:endParaRPr kumimoji="1" lang="ja-JP" altLang="en-US" sz="2400" b="1" dirty="0"/>
          </a:p>
        </p:txBody>
      </p:sp>
    </p:spTree>
    <p:extLst>
      <p:ext uri="{BB962C8B-B14F-4D97-AF65-F5344CB8AC3E}">
        <p14:creationId xmlns:p14="http://schemas.microsoft.com/office/powerpoint/2010/main" val="1377656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barn(inVertical)">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barn(inVertical)">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9" grpId="0" animBg="1"/>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コンテンツ プレースホルダー 2"/>
          <p:cNvSpPr txBox="1">
            <a:spLocks/>
          </p:cNvSpPr>
          <p:nvPr/>
        </p:nvSpPr>
        <p:spPr>
          <a:xfrm>
            <a:off x="1047730" y="1943191"/>
            <a:ext cx="10697580" cy="4914809"/>
          </a:xfrm>
          <a:prstGeom prst="rect">
            <a:avLst/>
          </a:prstGeom>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en-US" altLang="ja-JP" sz="3200" b="1" dirty="0">
                <a:latin typeface="メイリオ"/>
                <a:ea typeface="メイリオ"/>
                <a:cs typeface="メイリオ"/>
              </a:rPr>
              <a:t>『</a:t>
            </a:r>
            <a:r>
              <a:rPr lang="ja-JP" altLang="en-US" sz="3200" b="1" dirty="0">
                <a:latin typeface="メイリオ"/>
                <a:ea typeface="メイリオ"/>
                <a:cs typeface="メイリオ"/>
              </a:rPr>
              <a:t>主体的に学習に取り組む態度</a:t>
            </a:r>
            <a:r>
              <a:rPr lang="en-US" altLang="ja-JP" sz="3200" b="1" dirty="0">
                <a:latin typeface="メイリオ"/>
                <a:ea typeface="メイリオ"/>
                <a:cs typeface="メイリオ"/>
              </a:rPr>
              <a:t>』</a:t>
            </a:r>
            <a:r>
              <a:rPr lang="ja-JP" altLang="en-US" sz="3200" b="1" dirty="0">
                <a:latin typeface="メイリオ"/>
                <a:ea typeface="メイリオ"/>
                <a:cs typeface="メイリオ"/>
              </a:rPr>
              <a:t>の評価</a:t>
            </a:r>
            <a:endParaRPr lang="en-US" altLang="ja-JP" sz="3200" b="1" dirty="0"/>
          </a:p>
          <a:p>
            <a:pPr marL="0" indent="0">
              <a:buNone/>
            </a:pPr>
            <a:endParaRPr lang="en-US" altLang="ja-JP" sz="3200" b="1" dirty="0"/>
          </a:p>
          <a:p>
            <a:pPr marL="0" indent="0">
              <a:buNone/>
            </a:pPr>
            <a:r>
              <a:rPr lang="en-US" altLang="ja-JP" sz="3200" b="1" dirty="0">
                <a:latin typeface="メイリオ"/>
                <a:ea typeface="メイリオ"/>
                <a:cs typeface="メイリオ"/>
              </a:rPr>
              <a:t> </a:t>
            </a:r>
            <a:r>
              <a:rPr lang="ja-JP" altLang="en-US" b="1" dirty="0">
                <a:solidFill>
                  <a:srgbClr val="00B050"/>
                </a:solidFill>
                <a:latin typeface="メイリオ"/>
                <a:ea typeface="メイリオ"/>
                <a:cs typeface="メイリオ"/>
              </a:rPr>
              <a:t>「指導と評価の一体化」のための学習評価に 関する参考資料</a:t>
            </a:r>
          </a:p>
          <a:p>
            <a:pPr marL="0" indent="0">
              <a:buNone/>
            </a:pPr>
            <a:r>
              <a:rPr lang="ja-JP" altLang="en-US" sz="3600" b="1" dirty="0">
                <a:solidFill>
                  <a:srgbClr val="00B050"/>
                </a:solidFill>
                <a:latin typeface="メイリオ"/>
                <a:ea typeface="メイリオ"/>
                <a:cs typeface="メイリオ"/>
              </a:rPr>
              <a:t>  </a:t>
            </a:r>
            <a:r>
              <a:rPr lang="ja-JP" altLang="en-US" b="1" dirty="0">
                <a:solidFill>
                  <a:srgbClr val="00B050"/>
                </a:solidFill>
                <a:latin typeface="メイリオ"/>
                <a:ea typeface="メイリオ"/>
                <a:cs typeface="メイリオ"/>
              </a:rPr>
              <a:t>文部科学省　国立教育政策研究所教育課程研究センター</a:t>
            </a:r>
          </a:p>
          <a:p>
            <a:pPr marL="0" indent="0">
              <a:buNone/>
            </a:pPr>
            <a:endParaRPr lang="en-US" altLang="ja-JP" sz="3200" b="1" dirty="0"/>
          </a:p>
          <a:p>
            <a:pPr marL="0" indent="0">
              <a:buNone/>
            </a:pPr>
            <a:r>
              <a:rPr lang="en-US" altLang="ja-JP" sz="3200" b="1" dirty="0">
                <a:latin typeface="メイリオ"/>
                <a:ea typeface="メイリオ"/>
                <a:cs typeface="メイリオ"/>
              </a:rPr>
              <a:t>          </a:t>
            </a:r>
            <a:r>
              <a:rPr lang="ja-JP" altLang="en-US" sz="3200" b="1" dirty="0">
                <a:solidFill>
                  <a:srgbClr val="00B050"/>
                </a:solidFill>
                <a:latin typeface="メイリオ"/>
                <a:ea typeface="メイリオ"/>
                <a:cs typeface="メイリオ"/>
              </a:rPr>
              <a:t>１　理科　　</a:t>
            </a:r>
            <a:r>
              <a:rPr lang="en-US" altLang="ja-JP" sz="3200" b="1" dirty="0">
                <a:solidFill>
                  <a:srgbClr val="00B050"/>
                </a:solidFill>
                <a:latin typeface="メイリオ"/>
                <a:ea typeface="メイリオ"/>
                <a:cs typeface="メイリオ"/>
              </a:rPr>
              <a:t>  </a:t>
            </a:r>
            <a:r>
              <a:rPr lang="ja-JP" altLang="en-US" sz="3200" b="1" dirty="0">
                <a:solidFill>
                  <a:srgbClr val="00B050"/>
                </a:solidFill>
                <a:latin typeface="メイリオ"/>
                <a:ea typeface="メイリオ"/>
                <a:cs typeface="メイリオ"/>
              </a:rPr>
              <a:t>２　音楽</a:t>
            </a:r>
            <a:r>
              <a:rPr lang="en-US" altLang="ja-JP" sz="3200" b="1" dirty="0">
                <a:solidFill>
                  <a:srgbClr val="00B050"/>
                </a:solidFill>
                <a:latin typeface="メイリオ"/>
                <a:ea typeface="メイリオ"/>
                <a:cs typeface="メイリオ"/>
              </a:rPr>
              <a:t>          </a:t>
            </a:r>
            <a:r>
              <a:rPr lang="ja-JP" altLang="en-US" sz="3200" b="1" dirty="0">
                <a:solidFill>
                  <a:srgbClr val="00B050"/>
                </a:solidFill>
                <a:latin typeface="メイリオ"/>
                <a:ea typeface="メイリオ"/>
                <a:cs typeface="メイリオ"/>
              </a:rPr>
              <a:t>３　体育</a:t>
            </a:r>
            <a:endParaRPr lang="en-US" altLang="ja-JP" sz="3200" b="1" dirty="0">
              <a:solidFill>
                <a:srgbClr val="00B050"/>
              </a:solidFill>
            </a:endParaRPr>
          </a:p>
          <a:p>
            <a:pPr marL="0" indent="0">
              <a:buNone/>
            </a:pPr>
            <a:endParaRPr lang="en-US" altLang="ja-JP" sz="3200" b="1" dirty="0"/>
          </a:p>
          <a:p>
            <a:pPr marL="0" indent="0">
              <a:buNone/>
            </a:pPr>
            <a:endParaRPr lang="en-US" altLang="ja-JP" sz="3200" b="1" dirty="0"/>
          </a:p>
          <a:p>
            <a:pPr marL="0" indent="0">
              <a:buNone/>
            </a:pPr>
            <a:endParaRPr lang="en-US" altLang="ja-JP" sz="3200" b="1" dirty="0"/>
          </a:p>
          <a:p>
            <a:pPr marL="0" indent="0">
              <a:buNone/>
            </a:pPr>
            <a:endParaRPr lang="en-US" altLang="ja-JP" sz="3200" b="1" dirty="0"/>
          </a:p>
          <a:p>
            <a:pPr marL="0" indent="0">
              <a:buNone/>
            </a:pPr>
            <a:endParaRPr lang="ja-JP" altLang="en-US" sz="3200" b="1" dirty="0"/>
          </a:p>
        </p:txBody>
      </p:sp>
      <p:sp>
        <p:nvSpPr>
          <p:cNvPr id="2" name="Rectangle 1">
            <a:extLst>
              <a:ext uri="{FF2B5EF4-FFF2-40B4-BE49-F238E27FC236}">
                <a16:creationId xmlns:a16="http://schemas.microsoft.com/office/drawing/2014/main" id="{2D919B56-D003-27C9-4B96-D9D0E3BE7BEC}"/>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
        <p:nvSpPr>
          <p:cNvPr id="4" name="Rectangle 2">
            <a:extLst>
              <a:ext uri="{FF2B5EF4-FFF2-40B4-BE49-F238E27FC236}">
                <a16:creationId xmlns:a16="http://schemas.microsoft.com/office/drawing/2014/main" id="{FA948427-3A91-A1A5-197E-77BB40A06427}"/>
              </a:ext>
            </a:extLst>
          </p:cNvPr>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r>
              <a:rPr lang="ja-JP" altLang="en-US" sz="3200" b="1" dirty="0">
                <a:solidFill>
                  <a:schemeClr val="tx1"/>
                </a:solidFill>
                <a:latin typeface="メイリオ"/>
                <a:ea typeface="メイリオ"/>
                <a:cs typeface="メイリオ"/>
              </a:rPr>
              <a:t>事例から考える</a:t>
            </a:r>
          </a:p>
        </p:txBody>
      </p:sp>
    </p:spTree>
    <p:extLst>
      <p:ext uri="{BB962C8B-B14F-4D97-AF65-F5344CB8AC3E}">
        <p14:creationId xmlns:p14="http://schemas.microsoft.com/office/powerpoint/2010/main" val="608790962"/>
      </p:ext>
    </p:extLst>
  </p:cSld>
  <p:clrMapOvr>
    <a:masterClrMapping/>
  </p:clrMapOvr>
  <p:transition spd="slow">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評価のばらつきを防ぐ ─ 妥当性 × 信頼性</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5600000" cy="7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lnSpcReduction="10000"/>
          </a:bodyPr>
          <a:lstStyle/>
          <a:p>
            <a:pPr algn="ctr">
              <a:lnSpc>
                <a:spcPct val="140000"/>
              </a:lnSpc>
            </a:pPr>
            <a:r>
              <a:rPr sz="2600" b="1">
                <a:solidFill>
                  <a:srgbClr val="FFFFFF"/>
                </a:solidFill>
                <a:latin typeface="メイリオ"/>
                <a:ea typeface="メイリオ"/>
                <a:cs typeface="メイリオ"/>
              </a:rPr>
              <a:t>妥当性</a:t>
            </a:r>
          </a:p>
        </p:txBody>
      </p:sp>
      <p:sp>
        <p:nvSpPr>
          <p:cNvPr id="7" name="Rectangle 6"/>
          <p:cNvSpPr/>
          <p:nvPr/>
        </p:nvSpPr>
        <p:spPr>
          <a:xfrm>
            <a:off x="400000" y="2600000"/>
            <a:ext cx="5600000" cy="24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t">
            <a:normAutofit lnSpcReduction="10000"/>
          </a:bodyPr>
          <a:lstStyle/>
          <a:p>
            <a:pPr algn="l">
              <a:lnSpc>
                <a:spcPct val="130000"/>
              </a:lnSpc>
            </a:pPr>
            <a:r>
              <a:rPr sz="2000" b="1" dirty="0" err="1">
                <a:solidFill>
                  <a:srgbClr val="000000"/>
                </a:solidFill>
                <a:latin typeface="メイリオ"/>
                <a:ea typeface="メイリオ"/>
                <a:cs typeface="メイリオ"/>
              </a:rPr>
              <a:t>資質・能力を</a:t>
            </a:r>
            <a:endParaRPr sz="2000" b="1" dirty="0">
              <a:solidFill>
                <a:srgbClr val="000000"/>
              </a:solidFill>
              <a:latin typeface="メイリオ"/>
            </a:endParaRPr>
          </a:p>
          <a:p>
            <a:pPr algn="l">
              <a:lnSpc>
                <a:spcPct val="130000"/>
              </a:lnSpc>
            </a:pPr>
            <a:r>
              <a:rPr sz="2000" b="1" dirty="0">
                <a:solidFill>
                  <a:srgbClr val="000000"/>
                </a:solidFill>
                <a:latin typeface="メイリオ"/>
                <a:ea typeface="メイリオ"/>
                <a:cs typeface="メイリオ"/>
              </a:rPr>
              <a:t>　</a:t>
            </a:r>
            <a:r>
              <a:rPr sz="2400" b="1" dirty="0" err="1">
                <a:solidFill>
                  <a:srgbClr val="EB6C15"/>
                </a:solidFill>
                <a:latin typeface="メイリオ"/>
                <a:ea typeface="メイリオ"/>
                <a:cs typeface="メイリオ"/>
              </a:rPr>
              <a:t>適切に反映</a:t>
            </a:r>
            <a:endParaRPr sz="2400" b="1" dirty="0">
              <a:solidFill>
                <a:srgbClr val="EB6C15"/>
              </a:solidFill>
              <a:latin typeface="メイリオ"/>
            </a:endParaRPr>
          </a:p>
          <a:p>
            <a:pPr algn="l">
              <a:lnSpc>
                <a:spcPct val="130000"/>
              </a:lnSpc>
            </a:pPr>
            <a:r>
              <a:rPr sz="2000" b="1" dirty="0" err="1">
                <a:solidFill>
                  <a:srgbClr val="000000"/>
                </a:solidFill>
                <a:latin typeface="メイリオ"/>
                <a:ea typeface="メイリオ"/>
                <a:cs typeface="メイリオ"/>
              </a:rPr>
              <a:t>していること</a:t>
            </a:r>
            <a:endParaRPr sz="2000" b="1" dirty="0">
              <a:solidFill>
                <a:srgbClr val="000000"/>
              </a:solidFill>
              <a:latin typeface="メイリオ"/>
            </a:endParaRPr>
          </a:p>
          <a:p>
            <a:pPr algn="l">
              <a:lnSpc>
                <a:spcPct val="130000"/>
              </a:lnSpc>
            </a:pPr>
            <a:endParaRPr sz="2000" b="1" dirty="0">
              <a:solidFill>
                <a:srgbClr val="000000"/>
              </a:solidFill>
              <a:latin typeface="メイリオ"/>
            </a:endParaRPr>
          </a:p>
          <a:p>
            <a:pPr algn="l">
              <a:lnSpc>
                <a:spcPct val="130000"/>
              </a:lnSpc>
            </a:pPr>
            <a:r>
              <a:rPr sz="1800" b="1" dirty="0">
                <a:solidFill>
                  <a:srgbClr val="404040"/>
                </a:solidFill>
                <a:latin typeface="メイリオ"/>
                <a:ea typeface="メイリオ"/>
                <a:cs typeface="メイリオ"/>
              </a:rPr>
              <a:t>（「</a:t>
            </a:r>
            <a:r>
              <a:rPr sz="1800" b="1" dirty="0" err="1">
                <a:solidFill>
                  <a:srgbClr val="404040"/>
                </a:solidFill>
                <a:latin typeface="メイリオ"/>
                <a:ea typeface="メイリオ"/>
                <a:cs typeface="メイリオ"/>
              </a:rPr>
              <a:t>測りたい力」と「方法</a:t>
            </a:r>
            <a:r>
              <a:rPr sz="1800" b="1" dirty="0">
                <a:solidFill>
                  <a:srgbClr val="404040"/>
                </a:solidFill>
                <a:latin typeface="メイリオ"/>
                <a:ea typeface="メイリオ"/>
                <a:cs typeface="メイリオ"/>
              </a:rPr>
              <a:t>」</a:t>
            </a:r>
          </a:p>
          <a:p>
            <a:pPr algn="l">
              <a:lnSpc>
                <a:spcPct val="130000"/>
              </a:lnSpc>
            </a:pPr>
            <a:r>
              <a:rPr sz="1800" b="1" dirty="0">
                <a:solidFill>
                  <a:srgbClr val="404040"/>
                </a:solidFill>
                <a:latin typeface="メイリオ"/>
                <a:ea typeface="メイリオ"/>
                <a:cs typeface="メイリオ"/>
              </a:rPr>
              <a:t>　 </a:t>
            </a:r>
            <a:r>
              <a:rPr sz="1800" b="1" dirty="0" err="1">
                <a:solidFill>
                  <a:srgbClr val="404040"/>
                </a:solidFill>
                <a:latin typeface="メイリオ"/>
                <a:ea typeface="メイリオ"/>
                <a:cs typeface="メイリオ"/>
              </a:rPr>
              <a:t>が一致している</a:t>
            </a:r>
            <a:r>
              <a:rPr sz="1800" b="1" dirty="0">
                <a:solidFill>
                  <a:srgbClr val="404040"/>
                </a:solidFill>
                <a:latin typeface="メイリオ"/>
                <a:ea typeface="メイリオ"/>
                <a:cs typeface="メイリオ"/>
              </a:rPr>
              <a:t>）</a:t>
            </a:r>
          </a:p>
        </p:txBody>
      </p:sp>
      <p:sp>
        <p:nvSpPr>
          <p:cNvPr id="8" name="Rectangle 7"/>
          <p:cNvSpPr/>
          <p:nvPr/>
        </p:nvSpPr>
        <p:spPr>
          <a:xfrm>
            <a:off x="6200000" y="1900000"/>
            <a:ext cx="5600000" cy="700000"/>
          </a:xfrm>
          <a:prstGeom prst="rect">
            <a:avLst/>
          </a:prstGeom>
          <a:solidFill>
            <a:srgbClr val="5BC0DE"/>
          </a:solidFill>
          <a:ln w="254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lnSpcReduction="10000"/>
          </a:bodyPr>
          <a:lstStyle/>
          <a:p>
            <a:pPr algn="ctr">
              <a:lnSpc>
                <a:spcPct val="140000"/>
              </a:lnSpc>
            </a:pPr>
            <a:r>
              <a:rPr sz="2600" b="1">
                <a:solidFill>
                  <a:srgbClr val="FFFFFF"/>
                </a:solidFill>
                <a:latin typeface="メイリオ"/>
                <a:ea typeface="メイリオ"/>
                <a:cs typeface="メイリオ"/>
              </a:rPr>
              <a:t>信頼性</a:t>
            </a:r>
          </a:p>
        </p:txBody>
      </p:sp>
      <p:sp>
        <p:nvSpPr>
          <p:cNvPr id="9" name="Rectangle 8"/>
          <p:cNvSpPr/>
          <p:nvPr/>
        </p:nvSpPr>
        <p:spPr>
          <a:xfrm>
            <a:off x="6200000" y="2600000"/>
            <a:ext cx="5600000" cy="24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t">
            <a:normAutofit lnSpcReduction="10000"/>
          </a:bodyPr>
          <a:lstStyle/>
          <a:p>
            <a:pPr algn="l">
              <a:lnSpc>
                <a:spcPct val="130000"/>
              </a:lnSpc>
            </a:pPr>
            <a:r>
              <a:rPr sz="2000" b="1">
                <a:solidFill>
                  <a:srgbClr val="000000"/>
                </a:solidFill>
                <a:latin typeface="メイリオ"/>
                <a:ea typeface="メイリオ"/>
                <a:cs typeface="メイリオ"/>
              </a:rPr>
              <a:t>誰が評価しても</a:t>
            </a:r>
          </a:p>
          <a:p>
            <a:pPr algn="l">
              <a:lnSpc>
                <a:spcPct val="130000"/>
              </a:lnSpc>
            </a:pPr>
            <a:r>
              <a:rPr sz="2000" b="1">
                <a:solidFill>
                  <a:srgbClr val="000000"/>
                </a:solidFill>
                <a:latin typeface="メイリオ"/>
                <a:ea typeface="メイリオ"/>
                <a:cs typeface="メイリオ"/>
              </a:rPr>
              <a:t>　</a:t>
            </a:r>
            <a:r>
              <a:rPr sz="2400" b="1">
                <a:solidFill>
                  <a:srgbClr val="EB6C15"/>
                </a:solidFill>
                <a:latin typeface="メイリオ"/>
                <a:ea typeface="メイリオ"/>
                <a:cs typeface="メイリオ"/>
              </a:rPr>
              <a:t>同じ結果になる</a:t>
            </a:r>
          </a:p>
          <a:p>
            <a:pPr algn="l">
              <a:lnSpc>
                <a:spcPct val="130000"/>
              </a:lnSpc>
            </a:pPr>
            <a:r>
              <a:rPr sz="2000" b="1">
                <a:solidFill>
                  <a:srgbClr val="000000"/>
                </a:solidFill>
                <a:latin typeface="メイリオ"/>
                <a:ea typeface="メイリオ"/>
                <a:cs typeface="メイリオ"/>
              </a:rPr>
              <a:t>こと</a:t>
            </a:r>
          </a:p>
          <a:p>
            <a:pPr algn="l">
              <a:lnSpc>
                <a:spcPct val="130000"/>
              </a:lnSpc>
            </a:pPr>
            <a:endParaRPr sz="2000" b="1">
              <a:solidFill>
                <a:srgbClr val="000000"/>
              </a:solidFill>
              <a:latin typeface="メイリオ"/>
            </a:endParaRPr>
          </a:p>
          <a:p>
            <a:pPr algn="l">
              <a:lnSpc>
                <a:spcPct val="130000"/>
              </a:lnSpc>
            </a:pPr>
            <a:r>
              <a:rPr sz="1800" b="1">
                <a:solidFill>
                  <a:srgbClr val="404040"/>
                </a:solidFill>
                <a:latin typeface="メイリオ"/>
                <a:ea typeface="メイリオ"/>
                <a:cs typeface="メイリオ"/>
              </a:rPr>
              <a:t>（教師の主観だけに</a:t>
            </a:r>
          </a:p>
          <a:p>
            <a:pPr algn="l">
              <a:lnSpc>
                <a:spcPct val="130000"/>
              </a:lnSpc>
            </a:pPr>
            <a:r>
              <a:rPr sz="1800" b="1">
                <a:solidFill>
                  <a:srgbClr val="404040"/>
                </a:solidFill>
                <a:latin typeface="メイリオ"/>
                <a:ea typeface="メイリオ"/>
                <a:cs typeface="メイリオ"/>
              </a:rPr>
              <a:t>　 流されない）</a:t>
            </a:r>
          </a:p>
        </p:txBody>
      </p:sp>
      <p:sp>
        <p:nvSpPr>
          <p:cNvPr id="10" name="Rectangle 9"/>
          <p:cNvSpPr/>
          <p:nvPr/>
        </p:nvSpPr>
        <p:spPr>
          <a:xfrm>
            <a:off x="400000" y="5200000"/>
            <a:ext cx="11400000" cy="1000000"/>
          </a:xfrm>
          <a:prstGeom prst="rect">
            <a:avLst/>
          </a:prstGeom>
          <a:solidFill>
            <a:srgbClr val="D6EEFA"/>
          </a:solidFill>
          <a:ln w="508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400" b="1">
                <a:solidFill>
                  <a:srgbClr val="000000"/>
                </a:solidFill>
                <a:latin typeface="メイリオ"/>
                <a:ea typeface="メイリオ"/>
                <a:cs typeface="メイリオ"/>
              </a:rPr>
              <a:t>妥当性は</a:t>
            </a:r>
            <a:r>
              <a:rPr sz="2600" b="1">
                <a:solidFill>
                  <a:srgbClr val="EB6C15"/>
                </a:solidFill>
                <a:latin typeface="メイリオ"/>
                <a:ea typeface="メイリオ"/>
                <a:cs typeface="メイリオ"/>
              </a:rPr>
              <a:t>個人の授業設計</a:t>
            </a:r>
            <a:r>
              <a:rPr sz="2400" b="1">
                <a:solidFill>
                  <a:srgbClr val="000000"/>
                </a:solidFill>
                <a:latin typeface="メイリオ"/>
                <a:ea typeface="メイリオ"/>
                <a:cs typeface="メイリオ"/>
              </a:rPr>
              <a:t>で、信頼性は</a:t>
            </a:r>
            <a:r>
              <a:rPr sz="2600" b="1">
                <a:solidFill>
                  <a:srgbClr val="EB6C15"/>
                </a:solidFill>
                <a:latin typeface="メイリオ"/>
                <a:ea typeface="メイリオ"/>
                <a:cs typeface="メイリオ"/>
              </a:rPr>
              <a:t>組織で揃える</a:t>
            </a:r>
          </a:p>
        </p:txBody>
      </p:sp>
      <p:sp>
        <p:nvSpPr>
          <p:cNvPr id="11" name="TextBox 10"/>
          <p:cNvSpPr txBox="1"/>
          <p:nvPr/>
        </p:nvSpPr>
        <p:spPr>
          <a:xfrm>
            <a:off x="300000" y="6430000"/>
            <a:ext cx="10800000" cy="360000"/>
          </a:xfrm>
          <a:prstGeom prst="rect">
            <a:avLst/>
          </a:prstGeom>
          <a:noFill/>
        </p:spPr>
        <p:txBody>
          <a:bodyPr wrap="square" lIns="50000" tIns="10000" rIns="50000" bIns="10000" anchor="ctr">
            <a:normAutofit/>
          </a:bodyPr>
          <a:lstStyle/>
          <a:p>
            <a:pPr algn="l"/>
            <a:r>
              <a:rPr sz="1300">
                <a:solidFill>
                  <a:srgbClr val="404040"/>
                </a:solidFill>
                <a:latin typeface="メイリオ"/>
                <a:ea typeface="メイリオ"/>
                <a:cs typeface="メイリオ"/>
              </a:rPr>
              <a:t>出典：令和２年９月 東京都教育委員会「指導と評価の一体化を目指して」</a:t>
            </a:r>
          </a:p>
        </p:txBody>
      </p:sp>
      <p:sp>
        <p:nvSpPr>
          <p:cNvPr id="12" name="Rectangle 1">
            <a:extLst>
              <a:ext uri="{FF2B5EF4-FFF2-40B4-BE49-F238E27FC236}">
                <a16:creationId xmlns:a16="http://schemas.microsoft.com/office/drawing/2014/main" id="{F286CEB8-3740-B9CD-989C-4C94119C5A92}"/>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教科会で揃える3つ（ばらつき対策）</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900000" cy="11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4400" b="1">
                <a:solidFill>
                  <a:srgbClr val="FFFFFF"/>
                </a:solidFill>
                <a:latin typeface="メイリオ"/>
                <a:ea typeface="メイリオ"/>
                <a:cs typeface="メイリオ"/>
              </a:rPr>
              <a:t>①</a:t>
            </a:r>
          </a:p>
        </p:txBody>
      </p:sp>
      <p:sp>
        <p:nvSpPr>
          <p:cNvPr id="7" name="Rectangle 6"/>
          <p:cNvSpPr/>
          <p:nvPr/>
        </p:nvSpPr>
        <p:spPr>
          <a:xfrm>
            <a:off x="1400000" y="1900000"/>
            <a:ext cx="10400000" cy="11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20000"/>
              </a:lnSpc>
            </a:pPr>
            <a:r>
              <a:rPr sz="2600" b="1">
                <a:solidFill>
                  <a:srgbClr val="EB6C15"/>
                </a:solidFill>
                <a:latin typeface="メイリオ"/>
                <a:ea typeface="メイリオ"/>
                <a:cs typeface="メイリオ"/>
              </a:rPr>
              <a:t>Bの姿</a:t>
            </a:r>
          </a:p>
          <a:p>
            <a:pPr algn="l">
              <a:lnSpc>
                <a:spcPct val="120000"/>
              </a:lnSpc>
            </a:pPr>
            <a:r>
              <a:rPr sz="2000" b="1">
                <a:solidFill>
                  <a:srgbClr val="1F3A6E"/>
                </a:solidFill>
                <a:latin typeface="メイリオ"/>
                <a:ea typeface="メイリオ"/>
                <a:cs typeface="メイリオ"/>
              </a:rPr>
              <a:t>観点別評価で「B」と判断する具体的な姿</a:t>
            </a:r>
          </a:p>
        </p:txBody>
      </p:sp>
      <p:sp>
        <p:nvSpPr>
          <p:cNvPr id="8" name="Rectangle 7"/>
          <p:cNvSpPr/>
          <p:nvPr/>
        </p:nvSpPr>
        <p:spPr>
          <a:xfrm>
            <a:off x="400000" y="3200000"/>
            <a:ext cx="900000" cy="11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4400" b="1">
                <a:solidFill>
                  <a:srgbClr val="FFFFFF"/>
                </a:solidFill>
                <a:latin typeface="メイリオ"/>
                <a:ea typeface="メイリオ"/>
                <a:cs typeface="メイリオ"/>
              </a:rPr>
              <a:t>②</a:t>
            </a:r>
          </a:p>
        </p:txBody>
      </p:sp>
      <p:sp>
        <p:nvSpPr>
          <p:cNvPr id="9" name="Rectangle 8"/>
          <p:cNvSpPr/>
          <p:nvPr/>
        </p:nvSpPr>
        <p:spPr>
          <a:xfrm>
            <a:off x="1400000" y="3200000"/>
            <a:ext cx="10400000" cy="11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20000"/>
              </a:lnSpc>
            </a:pPr>
            <a:r>
              <a:rPr sz="2600" b="1">
                <a:solidFill>
                  <a:srgbClr val="EB6C15"/>
                </a:solidFill>
                <a:latin typeface="メイリオ"/>
                <a:ea typeface="メイリオ"/>
                <a:cs typeface="メイリオ"/>
              </a:rPr>
              <a:t>評価場面・方法</a:t>
            </a:r>
          </a:p>
          <a:p>
            <a:pPr algn="l">
              <a:lnSpc>
                <a:spcPct val="120000"/>
              </a:lnSpc>
            </a:pPr>
            <a:r>
              <a:rPr sz="2000" b="1">
                <a:solidFill>
                  <a:srgbClr val="1F3A6E"/>
                </a:solidFill>
                <a:latin typeface="メイリオ"/>
                <a:ea typeface="メイリオ"/>
                <a:cs typeface="メイリオ"/>
              </a:rPr>
              <a:t>いつ・どの活動で・どんな方法で見取るか</a:t>
            </a:r>
          </a:p>
        </p:txBody>
      </p:sp>
      <p:sp>
        <p:nvSpPr>
          <p:cNvPr id="10" name="Rectangle 9"/>
          <p:cNvSpPr/>
          <p:nvPr/>
        </p:nvSpPr>
        <p:spPr>
          <a:xfrm>
            <a:off x="400000" y="4500000"/>
            <a:ext cx="900000" cy="110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4400" b="1">
                <a:solidFill>
                  <a:srgbClr val="FFFFFF"/>
                </a:solidFill>
                <a:latin typeface="メイリオ"/>
                <a:ea typeface="メイリオ"/>
                <a:cs typeface="メイリオ"/>
              </a:rPr>
              <a:t>③</a:t>
            </a:r>
          </a:p>
        </p:txBody>
      </p:sp>
      <p:sp>
        <p:nvSpPr>
          <p:cNvPr id="11" name="Rectangle 10"/>
          <p:cNvSpPr/>
          <p:nvPr/>
        </p:nvSpPr>
        <p:spPr>
          <a:xfrm>
            <a:off x="1400000" y="4500000"/>
            <a:ext cx="10400000" cy="110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20000"/>
              </a:lnSpc>
            </a:pPr>
            <a:r>
              <a:rPr sz="2600" b="1">
                <a:solidFill>
                  <a:srgbClr val="EB6C15"/>
                </a:solidFill>
                <a:latin typeface="メイリオ"/>
                <a:ea typeface="メイリオ"/>
                <a:cs typeface="メイリオ"/>
              </a:rPr>
              <a:t>総括の方法</a:t>
            </a:r>
          </a:p>
          <a:p>
            <a:pPr algn="l">
              <a:lnSpc>
                <a:spcPct val="120000"/>
              </a:lnSpc>
            </a:pPr>
            <a:r>
              <a:rPr sz="2000" b="1">
                <a:solidFill>
                  <a:srgbClr val="1F3A6E"/>
                </a:solidFill>
                <a:latin typeface="メイリオ"/>
                <a:ea typeface="メイリオ"/>
                <a:cs typeface="メイリオ"/>
              </a:rPr>
              <a:t>観点別評価から評定への総括ルール</a:t>
            </a:r>
          </a:p>
        </p:txBody>
      </p:sp>
      <p:sp>
        <p:nvSpPr>
          <p:cNvPr id="12" name="TextBox 11"/>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a:solidFill>
                  <a:srgbClr val="404040"/>
                </a:solidFill>
                <a:latin typeface="メイリオ"/>
                <a:ea typeface="メイリオ"/>
                <a:cs typeface="メイリオ"/>
              </a:rPr>
              <a:t>出典：東京都教育委員会「指導と評価の一体化を目指して」</a:t>
            </a:r>
          </a:p>
        </p:txBody>
      </p:sp>
      <p:sp>
        <p:nvSpPr>
          <p:cNvPr id="13" name="Rectangle 1">
            <a:extLst>
              <a:ext uri="{FF2B5EF4-FFF2-40B4-BE49-F238E27FC236}">
                <a16:creationId xmlns:a16="http://schemas.microsoft.com/office/drawing/2014/main" id="{2E9C9C79-21A3-3C1F-39DC-6769C9282415}"/>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「Bの姿」を具体化する ─ 数学「二次方程式」の例</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11400000" cy="64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200" b="1">
                <a:solidFill>
                  <a:srgbClr val="FFFFFF"/>
                </a:solidFill>
                <a:latin typeface="メイリオ"/>
                <a:ea typeface="メイリオ"/>
                <a:cs typeface="メイリオ"/>
              </a:rPr>
              <a:t>学習シートに「気を付けるポイント」を記述</a:t>
            </a:r>
          </a:p>
        </p:txBody>
      </p:sp>
      <p:sp>
        <p:nvSpPr>
          <p:cNvPr id="7" name="Rectangle 6"/>
          <p:cNvSpPr/>
          <p:nvPr/>
        </p:nvSpPr>
        <p:spPr>
          <a:xfrm>
            <a:off x="400000" y="2600000"/>
            <a:ext cx="5600000" cy="640000"/>
          </a:xfrm>
          <a:prstGeom prst="rect">
            <a:avLst/>
          </a:prstGeom>
          <a:solidFill>
            <a:srgbClr val="5BC0DE"/>
          </a:solidFill>
          <a:ln w="254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a:bodyPr>
          <a:lstStyle/>
          <a:p>
            <a:pPr algn="ctr">
              <a:lnSpc>
                <a:spcPct val="140000"/>
              </a:lnSpc>
            </a:pPr>
            <a:r>
              <a:rPr sz="2400" b="1">
                <a:solidFill>
                  <a:srgbClr val="FFFFFF"/>
                </a:solidFill>
                <a:latin typeface="メイリオ"/>
                <a:ea typeface="メイリオ"/>
                <a:cs typeface="メイリオ"/>
              </a:rPr>
              <a:t>▼ おおむね満足（B）</a:t>
            </a:r>
          </a:p>
        </p:txBody>
      </p:sp>
      <p:sp>
        <p:nvSpPr>
          <p:cNvPr id="8" name="Rectangle 7"/>
          <p:cNvSpPr/>
          <p:nvPr/>
        </p:nvSpPr>
        <p:spPr>
          <a:xfrm>
            <a:off x="400000" y="3240000"/>
            <a:ext cx="5600000" cy="215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t">
            <a:normAutofit/>
          </a:bodyPr>
          <a:lstStyle/>
          <a:p>
            <a:pPr algn="l">
              <a:lnSpc>
                <a:spcPct val="130000"/>
              </a:lnSpc>
            </a:pPr>
            <a:r>
              <a:rPr sz="2200" b="1" dirty="0" err="1">
                <a:solidFill>
                  <a:srgbClr val="000000"/>
                </a:solidFill>
                <a:latin typeface="メイリオ"/>
                <a:ea typeface="メイリオ"/>
                <a:cs typeface="メイリオ"/>
              </a:rPr>
              <a:t>ポイントが</a:t>
            </a:r>
            <a:r>
              <a:rPr sz="2400" b="1" dirty="0" err="1">
                <a:solidFill>
                  <a:srgbClr val="EB6C15"/>
                </a:solidFill>
                <a:latin typeface="メイリオ"/>
                <a:ea typeface="メイリオ"/>
                <a:cs typeface="メイリオ"/>
              </a:rPr>
              <a:t>書かれている</a:t>
            </a:r>
            <a:endParaRPr sz="2400" b="1" dirty="0">
              <a:solidFill>
                <a:srgbClr val="EB6C15"/>
              </a:solidFill>
              <a:latin typeface="メイリオ"/>
            </a:endParaRPr>
          </a:p>
          <a:p>
            <a:pPr algn="l">
              <a:lnSpc>
                <a:spcPct val="130000"/>
              </a:lnSpc>
            </a:pPr>
            <a:endParaRPr sz="2400" b="1" dirty="0">
              <a:solidFill>
                <a:srgbClr val="EB6C15"/>
              </a:solidFill>
              <a:latin typeface="メイリオ"/>
            </a:endParaRPr>
          </a:p>
          <a:p>
            <a:pPr algn="l">
              <a:lnSpc>
                <a:spcPct val="130000"/>
              </a:lnSpc>
            </a:pPr>
            <a:r>
              <a:rPr sz="1800" b="1" dirty="0" err="1">
                <a:solidFill>
                  <a:srgbClr val="404040"/>
                </a:solidFill>
                <a:latin typeface="メイリオ"/>
                <a:ea typeface="メイリオ"/>
                <a:cs typeface="メイリオ"/>
              </a:rPr>
              <a:t>例：別の文字に置き換えて</a:t>
            </a:r>
            <a:endParaRPr sz="1800" b="1" dirty="0">
              <a:solidFill>
                <a:srgbClr val="404040"/>
              </a:solidFill>
              <a:latin typeface="メイリオ"/>
            </a:endParaRPr>
          </a:p>
          <a:p>
            <a:pPr algn="l">
              <a:lnSpc>
                <a:spcPct val="130000"/>
              </a:lnSpc>
            </a:pPr>
            <a:r>
              <a:rPr sz="1800" b="1" dirty="0">
                <a:solidFill>
                  <a:srgbClr val="404040"/>
                </a:solidFill>
                <a:latin typeface="メイリオ"/>
                <a:ea typeface="メイリオ"/>
                <a:cs typeface="メイリオ"/>
              </a:rPr>
              <a:t>　 </a:t>
            </a:r>
            <a:r>
              <a:rPr sz="1800" b="1" dirty="0" err="1">
                <a:solidFill>
                  <a:srgbClr val="404040"/>
                </a:solidFill>
                <a:latin typeface="メイリオ"/>
                <a:ea typeface="メイリオ"/>
                <a:cs typeface="メイリオ"/>
              </a:rPr>
              <a:t>解く方法を使えるようにする</a:t>
            </a:r>
            <a:endParaRPr sz="1800" b="1" dirty="0">
              <a:solidFill>
                <a:srgbClr val="404040"/>
              </a:solidFill>
              <a:latin typeface="メイリオ"/>
            </a:endParaRPr>
          </a:p>
        </p:txBody>
      </p:sp>
      <p:sp>
        <p:nvSpPr>
          <p:cNvPr id="9" name="Rectangle 8"/>
          <p:cNvSpPr/>
          <p:nvPr/>
        </p:nvSpPr>
        <p:spPr>
          <a:xfrm>
            <a:off x="6200000" y="2600000"/>
            <a:ext cx="5600000" cy="640000"/>
          </a:xfrm>
          <a:prstGeom prst="rect">
            <a:avLst/>
          </a:prstGeom>
          <a:solidFill>
            <a:srgbClr val="2A96C2"/>
          </a:solidFill>
          <a:ln w="2540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a:bodyPr>
          <a:lstStyle/>
          <a:p>
            <a:pPr algn="ctr">
              <a:lnSpc>
                <a:spcPct val="140000"/>
              </a:lnSpc>
            </a:pPr>
            <a:r>
              <a:rPr sz="2400" b="1">
                <a:solidFill>
                  <a:srgbClr val="FFFFFF"/>
                </a:solidFill>
                <a:latin typeface="メイリオ"/>
                <a:ea typeface="メイリオ"/>
                <a:cs typeface="メイリオ"/>
              </a:rPr>
              <a:t>▼ 十分満足（A）</a:t>
            </a:r>
          </a:p>
        </p:txBody>
      </p:sp>
      <p:sp>
        <p:nvSpPr>
          <p:cNvPr id="10" name="Rectangle 9"/>
          <p:cNvSpPr/>
          <p:nvPr/>
        </p:nvSpPr>
        <p:spPr>
          <a:xfrm>
            <a:off x="6200000" y="3240000"/>
            <a:ext cx="5600000" cy="2150000"/>
          </a:xfrm>
          <a:prstGeom prst="rect">
            <a:avLst/>
          </a:prstGeom>
          <a:solidFill>
            <a:srgbClr val="FFFFFF"/>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t">
            <a:normAutofit lnSpcReduction="10000"/>
          </a:bodyPr>
          <a:lstStyle/>
          <a:p>
            <a:pPr algn="l">
              <a:lnSpc>
                <a:spcPct val="130000"/>
              </a:lnSpc>
            </a:pPr>
            <a:r>
              <a:rPr sz="2200" b="1">
                <a:solidFill>
                  <a:srgbClr val="000000"/>
                </a:solidFill>
                <a:latin typeface="メイリオ"/>
                <a:ea typeface="メイリオ"/>
                <a:cs typeface="メイリオ"/>
              </a:rPr>
              <a:t>ポイント＋</a:t>
            </a:r>
            <a:r>
              <a:rPr sz="2400" b="1">
                <a:solidFill>
                  <a:srgbClr val="EB6C15"/>
                </a:solidFill>
                <a:latin typeface="メイリオ"/>
                <a:ea typeface="メイリオ"/>
                <a:cs typeface="メイリオ"/>
              </a:rPr>
              <a:t>理由</a:t>
            </a:r>
            <a:r>
              <a:rPr sz="2200" b="1">
                <a:solidFill>
                  <a:srgbClr val="000000"/>
                </a:solidFill>
                <a:latin typeface="メイリオ"/>
                <a:ea typeface="メイリオ"/>
                <a:cs typeface="メイリオ"/>
              </a:rPr>
              <a:t>が書かれている</a:t>
            </a:r>
          </a:p>
          <a:p>
            <a:pPr algn="l">
              <a:lnSpc>
                <a:spcPct val="130000"/>
              </a:lnSpc>
            </a:pPr>
            <a:endParaRPr sz="2200" b="1">
              <a:solidFill>
                <a:srgbClr val="000000"/>
              </a:solidFill>
              <a:latin typeface="メイリオ"/>
            </a:endParaRPr>
          </a:p>
          <a:p>
            <a:pPr algn="l">
              <a:lnSpc>
                <a:spcPct val="130000"/>
              </a:lnSpc>
            </a:pPr>
            <a:r>
              <a:rPr sz="1800" b="1">
                <a:solidFill>
                  <a:srgbClr val="404040"/>
                </a:solidFill>
                <a:latin typeface="メイリオ"/>
                <a:ea typeface="メイリオ"/>
                <a:cs typeface="メイリオ"/>
              </a:rPr>
              <a:t>例：式を見ずに展開すると時間も</a:t>
            </a:r>
          </a:p>
          <a:p>
            <a:pPr algn="l">
              <a:lnSpc>
                <a:spcPct val="130000"/>
              </a:lnSpc>
            </a:pPr>
            <a:r>
              <a:rPr sz="1800" b="1">
                <a:solidFill>
                  <a:srgbClr val="404040"/>
                </a:solidFill>
                <a:latin typeface="メイリオ"/>
                <a:ea typeface="メイリオ"/>
                <a:cs typeface="メイリオ"/>
              </a:rPr>
              <a:t>　 間違いも増えるから、</a:t>
            </a:r>
          </a:p>
          <a:p>
            <a:pPr algn="l">
              <a:lnSpc>
                <a:spcPct val="130000"/>
              </a:lnSpc>
            </a:pPr>
            <a:r>
              <a:rPr sz="1800" b="1">
                <a:solidFill>
                  <a:srgbClr val="404040"/>
                </a:solidFill>
                <a:latin typeface="メイリオ"/>
                <a:ea typeface="メイリオ"/>
                <a:cs typeface="メイリオ"/>
              </a:rPr>
              <a:t>　 置き換えを使えるようにする</a:t>
            </a:r>
          </a:p>
        </p:txBody>
      </p:sp>
      <p:sp>
        <p:nvSpPr>
          <p:cNvPr id="11" name="Rectangle 10"/>
          <p:cNvSpPr/>
          <p:nvPr/>
        </p:nvSpPr>
        <p:spPr>
          <a:xfrm>
            <a:off x="400000" y="5500000"/>
            <a:ext cx="11400000" cy="700000"/>
          </a:xfrm>
          <a:prstGeom prst="rect">
            <a:avLst/>
          </a:prstGeom>
          <a:solidFill>
            <a:srgbClr val="D6EEFA"/>
          </a:solidFill>
          <a:ln w="508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同じ気付きでも「理由まで書けるか」でA／Bが分かれる</a:t>
            </a:r>
          </a:p>
        </p:txBody>
      </p:sp>
      <p:sp>
        <p:nvSpPr>
          <p:cNvPr id="12" name="TextBox 11"/>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a:solidFill>
                  <a:srgbClr val="404040"/>
                </a:solidFill>
                <a:latin typeface="メイリオ"/>
                <a:ea typeface="メイリオ"/>
                <a:cs typeface="メイリオ"/>
              </a:rPr>
              <a:t>出典：国立教育政策研究所「指導と評価の一体化のための参考資料」（数学）</a:t>
            </a:r>
          </a:p>
        </p:txBody>
      </p:sp>
      <p:sp>
        <p:nvSpPr>
          <p:cNvPr id="13" name="Rectangle 1">
            <a:extLst>
              <a:ext uri="{FF2B5EF4-FFF2-40B4-BE49-F238E27FC236}">
                <a16:creationId xmlns:a16="http://schemas.microsoft.com/office/drawing/2014/main" id="{7E7CE34B-4441-01E5-C7FB-41574BA435D3}"/>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単元計画に「記録」欄を1列足す</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11400000" cy="800000"/>
          </a:xfrm>
          <a:prstGeom prst="rect">
            <a:avLst/>
          </a:prstGeom>
          <a:solidFill>
            <a:srgbClr val="D6EEFA"/>
          </a:solidFill>
          <a:ln w="508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600" b="1">
                <a:solidFill>
                  <a:srgbClr val="1F3A6E"/>
                </a:solidFill>
                <a:latin typeface="メイリオ"/>
                <a:ea typeface="メイリオ"/>
                <a:cs typeface="メイリオ"/>
              </a:rPr>
              <a:t>「いつ／何で／どう見取るか」を可視化</a:t>
            </a:r>
          </a:p>
        </p:txBody>
      </p:sp>
      <p:sp>
        <p:nvSpPr>
          <p:cNvPr id="7" name="Rectangle 6"/>
          <p:cNvSpPr/>
          <p:nvPr/>
        </p:nvSpPr>
        <p:spPr>
          <a:xfrm>
            <a:off x="400000" y="2900000"/>
            <a:ext cx="1100000" cy="600000"/>
          </a:xfrm>
          <a:prstGeom prst="rect">
            <a:avLst/>
          </a:prstGeom>
          <a:solidFill>
            <a:srgbClr val="2A96C2"/>
          </a:solidFill>
          <a:ln w="1905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a:bodyPr>
          <a:lstStyle/>
          <a:p>
            <a:pPr algn="ctr">
              <a:lnSpc>
                <a:spcPct val="140000"/>
              </a:lnSpc>
            </a:pPr>
            <a:r>
              <a:rPr sz="2200" b="1">
                <a:solidFill>
                  <a:srgbClr val="FFFFFF"/>
                </a:solidFill>
                <a:latin typeface="メイリオ"/>
                <a:ea typeface="メイリオ"/>
                <a:cs typeface="メイリオ"/>
              </a:rPr>
              <a:t>時</a:t>
            </a:r>
          </a:p>
        </p:txBody>
      </p:sp>
      <p:sp>
        <p:nvSpPr>
          <p:cNvPr id="8" name="Rectangle 7"/>
          <p:cNvSpPr/>
          <p:nvPr/>
        </p:nvSpPr>
        <p:spPr>
          <a:xfrm>
            <a:off x="1500000" y="2900000"/>
            <a:ext cx="4500000" cy="600000"/>
          </a:xfrm>
          <a:prstGeom prst="rect">
            <a:avLst/>
          </a:prstGeom>
          <a:solidFill>
            <a:srgbClr val="2A96C2"/>
          </a:solidFill>
          <a:ln w="1905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a:bodyPr>
          <a:lstStyle/>
          <a:p>
            <a:pPr algn="ctr">
              <a:lnSpc>
                <a:spcPct val="140000"/>
              </a:lnSpc>
            </a:pPr>
            <a:r>
              <a:rPr sz="2200" b="1">
                <a:solidFill>
                  <a:srgbClr val="FFFFFF"/>
                </a:solidFill>
                <a:latin typeface="メイリオ"/>
                <a:ea typeface="メイリオ"/>
                <a:cs typeface="メイリオ"/>
              </a:rPr>
              <a:t>学習内容</a:t>
            </a:r>
          </a:p>
        </p:txBody>
      </p:sp>
      <p:sp>
        <p:nvSpPr>
          <p:cNvPr id="9" name="Rectangle 8"/>
          <p:cNvSpPr/>
          <p:nvPr/>
        </p:nvSpPr>
        <p:spPr>
          <a:xfrm>
            <a:off x="6000000" y="2900000"/>
            <a:ext cx="2000000" cy="600000"/>
          </a:xfrm>
          <a:prstGeom prst="rect">
            <a:avLst/>
          </a:prstGeom>
          <a:solidFill>
            <a:srgbClr val="2A96C2"/>
          </a:solidFill>
          <a:ln w="1905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a:bodyPr>
          <a:lstStyle/>
          <a:p>
            <a:pPr algn="ctr">
              <a:lnSpc>
                <a:spcPct val="140000"/>
              </a:lnSpc>
            </a:pPr>
            <a:r>
              <a:rPr sz="2200" b="1">
                <a:solidFill>
                  <a:srgbClr val="FFFFFF"/>
                </a:solidFill>
                <a:latin typeface="メイリオ"/>
                <a:ea typeface="メイリオ"/>
                <a:cs typeface="メイリオ"/>
              </a:rPr>
              <a:t>観点</a:t>
            </a:r>
          </a:p>
        </p:txBody>
      </p:sp>
      <p:sp>
        <p:nvSpPr>
          <p:cNvPr id="10" name="Rectangle 9"/>
          <p:cNvSpPr/>
          <p:nvPr/>
        </p:nvSpPr>
        <p:spPr>
          <a:xfrm>
            <a:off x="8000000" y="2900000"/>
            <a:ext cx="3800000" cy="600000"/>
          </a:xfrm>
          <a:prstGeom prst="rect">
            <a:avLst/>
          </a:prstGeom>
          <a:solidFill>
            <a:srgbClr val="2A96C2"/>
          </a:solidFill>
          <a:ln w="19050">
            <a:solidFill>
              <a:srgbClr val="2A96C2"/>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92500"/>
          </a:bodyPr>
          <a:lstStyle/>
          <a:p>
            <a:pPr algn="ctr">
              <a:lnSpc>
                <a:spcPct val="140000"/>
              </a:lnSpc>
            </a:pPr>
            <a:r>
              <a:rPr sz="2200" b="1">
                <a:solidFill>
                  <a:srgbClr val="FFFFFF"/>
                </a:solidFill>
                <a:latin typeface="メイリオ"/>
                <a:ea typeface="メイリオ"/>
                <a:cs typeface="メイリオ"/>
              </a:rPr>
              <a:t>評価方法・場面</a:t>
            </a:r>
          </a:p>
        </p:txBody>
      </p:sp>
      <p:sp>
        <p:nvSpPr>
          <p:cNvPr id="11" name="Rectangle 10"/>
          <p:cNvSpPr/>
          <p:nvPr/>
        </p:nvSpPr>
        <p:spPr>
          <a:xfrm>
            <a:off x="400000" y="3550000"/>
            <a:ext cx="11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3-4</a:t>
            </a:r>
          </a:p>
        </p:txBody>
      </p:sp>
      <p:sp>
        <p:nvSpPr>
          <p:cNvPr id="12" name="Rectangle 11"/>
          <p:cNvSpPr/>
          <p:nvPr/>
        </p:nvSpPr>
        <p:spPr>
          <a:xfrm>
            <a:off x="1500000" y="3550000"/>
            <a:ext cx="45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気付きの記述</a:t>
            </a:r>
          </a:p>
        </p:txBody>
      </p:sp>
      <p:sp>
        <p:nvSpPr>
          <p:cNvPr id="13" name="Rectangle 12"/>
          <p:cNvSpPr/>
          <p:nvPr/>
        </p:nvSpPr>
        <p:spPr>
          <a:xfrm>
            <a:off x="6000000" y="3550000"/>
            <a:ext cx="20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態度</a:t>
            </a:r>
          </a:p>
        </p:txBody>
      </p:sp>
      <p:sp>
        <p:nvSpPr>
          <p:cNvPr id="14" name="Rectangle 13"/>
          <p:cNvSpPr/>
          <p:nvPr/>
        </p:nvSpPr>
        <p:spPr>
          <a:xfrm>
            <a:off x="8000000" y="3550000"/>
            <a:ext cx="38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学習シート</a:t>
            </a:r>
          </a:p>
        </p:txBody>
      </p:sp>
      <p:sp>
        <p:nvSpPr>
          <p:cNvPr id="15" name="Rectangle 14"/>
          <p:cNvSpPr/>
          <p:nvPr/>
        </p:nvSpPr>
        <p:spPr>
          <a:xfrm>
            <a:off x="400000" y="4280000"/>
            <a:ext cx="11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7</a:t>
            </a:r>
          </a:p>
        </p:txBody>
      </p:sp>
      <p:sp>
        <p:nvSpPr>
          <p:cNvPr id="16" name="Rectangle 15"/>
          <p:cNvSpPr/>
          <p:nvPr/>
        </p:nvSpPr>
        <p:spPr>
          <a:xfrm>
            <a:off x="1500000" y="4280000"/>
            <a:ext cx="45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ペーパーテスト</a:t>
            </a:r>
          </a:p>
        </p:txBody>
      </p:sp>
      <p:sp>
        <p:nvSpPr>
          <p:cNvPr id="17" name="Rectangle 16"/>
          <p:cNvSpPr/>
          <p:nvPr/>
        </p:nvSpPr>
        <p:spPr>
          <a:xfrm>
            <a:off x="6000000" y="4280000"/>
            <a:ext cx="20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知技</a:t>
            </a:r>
          </a:p>
        </p:txBody>
      </p:sp>
      <p:sp>
        <p:nvSpPr>
          <p:cNvPr id="18" name="Rectangle 17"/>
          <p:cNvSpPr/>
          <p:nvPr/>
        </p:nvSpPr>
        <p:spPr>
          <a:xfrm>
            <a:off x="8000000" y="4280000"/>
            <a:ext cx="3800000" cy="700000"/>
          </a:xfrm>
          <a:prstGeom prst="rect">
            <a:avLst/>
          </a:prstGeom>
          <a:solidFill>
            <a:srgbClr val="FFFFFF"/>
          </a:solidFill>
          <a:ln w="1905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小テスト</a:t>
            </a:r>
          </a:p>
        </p:txBody>
      </p:sp>
      <p:sp>
        <p:nvSpPr>
          <p:cNvPr id="19" name="Rectangle 18"/>
          <p:cNvSpPr/>
          <p:nvPr/>
        </p:nvSpPr>
        <p:spPr>
          <a:xfrm>
            <a:off x="400000" y="5550000"/>
            <a:ext cx="11400000" cy="640000"/>
          </a:xfrm>
          <a:prstGeom prst="rect">
            <a:avLst/>
          </a:prstGeom>
          <a:solidFill>
            <a:srgbClr val="FFE066"/>
          </a:solidFill>
          <a:ln w="38100">
            <a:solidFill>
              <a:srgbClr val="EB6C15"/>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ctr">
              <a:lnSpc>
                <a:spcPct val="140000"/>
              </a:lnSpc>
            </a:pPr>
            <a:r>
              <a:rPr sz="2200" b="1">
                <a:solidFill>
                  <a:srgbClr val="1F3A6E"/>
                </a:solidFill>
                <a:latin typeface="メイリオ"/>
                <a:ea typeface="メイリオ"/>
                <a:cs typeface="メイリオ"/>
              </a:rPr>
              <a:t>全部記録しなくていい ─ 単元の節目で1観点ずつ</a:t>
            </a:r>
          </a:p>
        </p:txBody>
      </p:sp>
      <p:sp>
        <p:nvSpPr>
          <p:cNvPr id="20" name="TextBox 19"/>
          <p:cNvSpPr txBox="1"/>
          <p:nvPr/>
        </p:nvSpPr>
        <p:spPr>
          <a:xfrm>
            <a:off x="300000" y="6430000"/>
            <a:ext cx="10800000" cy="360000"/>
          </a:xfrm>
          <a:prstGeom prst="rect">
            <a:avLst/>
          </a:prstGeom>
          <a:noFill/>
        </p:spPr>
        <p:txBody>
          <a:bodyPr wrap="square" lIns="50000" tIns="10000" rIns="50000" bIns="10000" anchor="ctr">
            <a:normAutofit/>
          </a:bodyPr>
          <a:lstStyle/>
          <a:p>
            <a:pPr algn="r"/>
            <a:r>
              <a:rPr sz="1300" dirty="0" err="1">
                <a:solidFill>
                  <a:srgbClr val="404040"/>
                </a:solidFill>
                <a:latin typeface="メイリオ"/>
                <a:ea typeface="メイリオ"/>
                <a:cs typeface="メイリオ"/>
              </a:rPr>
              <a:t>出典：国立教育政策研究所「指導と評価の一体化のための参考資料」より作成</a:t>
            </a:r>
            <a:endParaRPr sz="1300" dirty="0">
              <a:solidFill>
                <a:srgbClr val="404040"/>
              </a:solidFill>
              <a:latin typeface="メイリオ"/>
            </a:endParaRPr>
          </a:p>
        </p:txBody>
      </p:sp>
      <p:sp>
        <p:nvSpPr>
          <p:cNvPr id="21" name="Rectangle 1">
            <a:extLst>
              <a:ext uri="{FF2B5EF4-FFF2-40B4-BE49-F238E27FC236}">
                <a16:creationId xmlns:a16="http://schemas.microsoft.com/office/drawing/2014/main" id="{D5BBD2B6-7E25-3B77-0811-9CEE2D71C9A0}"/>
              </a:ext>
            </a:extLst>
          </p:cNvPr>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r>
              <a:rPr lang="ja-JP" altLang="en-US" sz="2800" b="1" dirty="0">
                <a:solidFill>
                  <a:schemeClr val="bg1"/>
                </a:solidFill>
                <a:latin typeface="メイリオ"/>
                <a:ea typeface="メイリオ"/>
                <a:cs typeface="メイリオ"/>
              </a:rPr>
              <a:t>２　</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主体的に学習に取り組む態度</a:t>
            </a:r>
            <a:r>
              <a:rPr lang="en-US" altLang="ja-JP" sz="2800" b="1" dirty="0">
                <a:solidFill>
                  <a:schemeClr val="bg1"/>
                </a:solidFill>
                <a:latin typeface="メイリオ"/>
                <a:ea typeface="メイリオ"/>
                <a:cs typeface="メイリオ"/>
              </a:rPr>
              <a:t>』</a:t>
            </a:r>
            <a:r>
              <a:rPr lang="ja-JP" altLang="en-US" sz="2800" b="1" dirty="0">
                <a:solidFill>
                  <a:schemeClr val="bg1"/>
                </a:solidFill>
                <a:latin typeface="メイリオ"/>
                <a:ea typeface="メイリオ"/>
                <a:cs typeface="メイリオ"/>
              </a:rPr>
              <a:t>の学習評価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720000"/>
          </a:xfrm>
          <a:prstGeom prst="rect">
            <a:avLst/>
          </a:prstGeom>
          <a:solidFill>
            <a:srgbClr val="2A96C2"/>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100000" bIns="20000" rtlCol="0" anchor="ctr">
            <a:normAutofit/>
          </a:bodyPr>
          <a:lstStyle/>
          <a:p>
            <a:pPr algn="l"/>
            <a:r>
              <a:rPr sz="2800" b="1" dirty="0" err="1">
                <a:solidFill>
                  <a:srgbClr val="FFFFFF"/>
                </a:solidFill>
                <a:latin typeface="メイリオ"/>
                <a:ea typeface="メイリオ"/>
                <a:cs typeface="メイリオ"/>
              </a:rPr>
              <a:t>まとめ</a:t>
            </a:r>
            <a:endParaRPr sz="3000" b="1" dirty="0">
              <a:solidFill>
                <a:srgbClr val="FFFFFF"/>
              </a:solidFill>
              <a:latin typeface="メイリオ"/>
            </a:endParaRPr>
          </a:p>
        </p:txBody>
      </p:sp>
      <p:sp>
        <p:nvSpPr>
          <p:cNvPr id="3" name="Rectangle 2"/>
          <p:cNvSpPr/>
          <p:nvPr/>
        </p:nvSpPr>
        <p:spPr>
          <a:xfrm>
            <a:off x="0" y="830000"/>
            <a:ext cx="12192000" cy="700000"/>
          </a:xfrm>
          <a:prstGeom prst="rect">
            <a:avLst/>
          </a:prstGeom>
          <a:solidFill>
            <a:srgbClr val="D6EEFA"/>
          </a:solidFill>
          <a:ln>
            <a:noFill/>
          </a:ln>
        </p:spPr>
        <p:style>
          <a:lnRef idx="1">
            <a:schemeClr val="accent1"/>
          </a:lnRef>
          <a:fillRef idx="3">
            <a:schemeClr val="accent1"/>
          </a:fillRef>
          <a:effectRef idx="2">
            <a:schemeClr val="accent1"/>
          </a:effectRef>
          <a:fontRef idx="minor">
            <a:schemeClr val="lt1"/>
          </a:fontRef>
        </p:style>
        <p:txBody>
          <a:bodyPr wrap="square" lIns="300000" tIns="20000" rIns="200000" bIns="20000" rtlCol="0" anchor="ctr">
            <a:normAutofit/>
          </a:bodyPr>
          <a:lstStyle/>
          <a:p>
            <a:pPr algn="l"/>
            <a:r>
              <a:rPr sz="3000" b="1">
                <a:solidFill>
                  <a:srgbClr val="1F3A6E"/>
                </a:solidFill>
                <a:latin typeface="メイリオ"/>
                <a:ea typeface="メイリオ"/>
                <a:cs typeface="メイリオ"/>
              </a:rPr>
              <a:t>明日からできること ── 1つ選んでください</a:t>
            </a:r>
          </a:p>
        </p:txBody>
      </p:sp>
      <p:sp>
        <p:nvSpPr>
          <p:cNvPr id="4" name="Rectangle 3"/>
          <p:cNvSpPr/>
          <p:nvPr/>
        </p:nvSpPr>
        <p:spPr>
          <a:xfrm>
            <a:off x="0" y="1530000"/>
            <a:ext cx="12192000" cy="40000"/>
          </a:xfrm>
          <a:prstGeom prst="rect">
            <a:avLst/>
          </a:prstGeom>
          <a:solidFill>
            <a:srgbClr val="5BC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0000" y="1900000"/>
            <a:ext cx="11400000" cy="82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400" b="1">
                <a:solidFill>
                  <a:srgbClr val="1F3A6E"/>
                </a:solidFill>
                <a:latin typeface="メイリオ"/>
                <a:ea typeface="メイリオ"/>
                <a:cs typeface="メイリオ"/>
              </a:rPr>
              <a:t>□ 次の単元の指導計画に「記録」欄を1列足す</a:t>
            </a:r>
          </a:p>
        </p:txBody>
      </p:sp>
      <p:sp>
        <p:nvSpPr>
          <p:cNvPr id="7" name="Rectangle 6"/>
          <p:cNvSpPr/>
          <p:nvPr/>
        </p:nvSpPr>
        <p:spPr>
          <a:xfrm>
            <a:off x="400000" y="2870000"/>
            <a:ext cx="11400000" cy="82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400" b="1">
                <a:solidFill>
                  <a:srgbClr val="1F3A6E"/>
                </a:solidFill>
                <a:latin typeface="メイリオ"/>
                <a:ea typeface="メイリオ"/>
                <a:cs typeface="メイリオ"/>
              </a:rPr>
              <a:t>□ 教科会で「Bの姿」を1つ言語化して揃える</a:t>
            </a:r>
          </a:p>
        </p:txBody>
      </p:sp>
      <p:sp>
        <p:nvSpPr>
          <p:cNvPr id="8" name="Rectangle 7"/>
          <p:cNvSpPr/>
          <p:nvPr/>
        </p:nvSpPr>
        <p:spPr>
          <a:xfrm>
            <a:off x="400000" y="3840000"/>
            <a:ext cx="11400000" cy="82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400" b="1">
                <a:solidFill>
                  <a:srgbClr val="1F3A6E"/>
                </a:solidFill>
                <a:latin typeface="メイリオ"/>
                <a:ea typeface="メイリオ"/>
                <a:cs typeface="メイリオ"/>
              </a:rPr>
              <a:t>□ 9つの働きかけから1つ選んで授業に入れる</a:t>
            </a:r>
          </a:p>
        </p:txBody>
      </p:sp>
      <p:sp>
        <p:nvSpPr>
          <p:cNvPr id="9" name="Rectangle 8"/>
          <p:cNvSpPr/>
          <p:nvPr/>
        </p:nvSpPr>
        <p:spPr>
          <a:xfrm>
            <a:off x="400000" y="4810000"/>
            <a:ext cx="11400000" cy="820000"/>
          </a:xfrm>
          <a:prstGeom prst="rect">
            <a:avLst/>
          </a:prstGeom>
          <a:solidFill>
            <a:srgbClr val="D6EEFA"/>
          </a:solidFill>
          <a:ln w="38100">
            <a:solidFill>
              <a:srgbClr val="5BC0DE"/>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a:bodyPr>
          <a:lstStyle/>
          <a:p>
            <a:pPr algn="l">
              <a:lnSpc>
                <a:spcPct val="140000"/>
              </a:lnSpc>
            </a:pPr>
            <a:r>
              <a:rPr sz="2400" b="1">
                <a:solidFill>
                  <a:srgbClr val="1F3A6E"/>
                </a:solidFill>
                <a:latin typeface="メイリオ"/>
                <a:ea typeface="メイリオ"/>
                <a:cs typeface="メイリオ"/>
              </a:rPr>
              <a:t>□ 振り返りシート／自己評価の機会を1回入れる</a:t>
            </a:r>
          </a:p>
        </p:txBody>
      </p:sp>
      <p:sp>
        <p:nvSpPr>
          <p:cNvPr id="10" name="Rectangle 9"/>
          <p:cNvSpPr/>
          <p:nvPr/>
        </p:nvSpPr>
        <p:spPr>
          <a:xfrm>
            <a:off x="400000" y="5800000"/>
            <a:ext cx="11400000" cy="500000"/>
          </a:xfrm>
          <a:prstGeom prst="rect">
            <a:avLst/>
          </a:prstGeom>
          <a:solidFill>
            <a:srgbClr val="FFE066"/>
          </a:solidFill>
          <a:ln w="38100">
            <a:solidFill>
              <a:srgbClr val="EB6C15"/>
            </a:solidFill>
          </a:ln>
        </p:spPr>
        <p:style>
          <a:lnRef idx="1">
            <a:schemeClr val="accent1"/>
          </a:lnRef>
          <a:fillRef idx="3">
            <a:schemeClr val="accent1"/>
          </a:fillRef>
          <a:effectRef idx="2">
            <a:schemeClr val="accent1"/>
          </a:effectRef>
          <a:fontRef idx="minor">
            <a:schemeClr val="lt1"/>
          </a:fontRef>
        </p:style>
        <p:txBody>
          <a:bodyPr wrap="square" lIns="160000" tIns="100000" rIns="160000" bIns="100000" rtlCol="0" anchor="ctr">
            <a:normAutofit fontScale="77500" lnSpcReduction="20000"/>
          </a:bodyPr>
          <a:lstStyle/>
          <a:p>
            <a:pPr algn="ctr">
              <a:lnSpc>
                <a:spcPct val="140000"/>
              </a:lnSpc>
            </a:pPr>
            <a:r>
              <a:rPr sz="2200" b="1">
                <a:solidFill>
                  <a:srgbClr val="1F3A6E"/>
                </a:solidFill>
                <a:latin typeface="メイリオ"/>
                <a:ea typeface="メイリオ"/>
                <a:cs typeface="メイリオ"/>
              </a:rPr>
              <a:t>やることを「絞る」から、続く</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グループ化 6"/>
          <p:cNvGrpSpPr/>
          <p:nvPr/>
        </p:nvGrpSpPr>
        <p:grpSpPr>
          <a:xfrm>
            <a:off x="888647" y="360617"/>
            <a:ext cx="10400764" cy="373487"/>
            <a:chOff x="888641" y="360609"/>
            <a:chExt cx="10400764" cy="373486"/>
          </a:xfrm>
        </p:grpSpPr>
        <p:cxnSp>
          <p:nvCxnSpPr>
            <p:cNvPr id="8" name="直線コネクタ 7"/>
            <p:cNvCxnSpPr/>
            <p:nvPr/>
          </p:nvCxnSpPr>
          <p:spPr>
            <a:xfrm>
              <a:off x="888642" y="734095"/>
              <a:ext cx="10400763" cy="0"/>
            </a:xfrm>
            <a:prstGeom prst="line">
              <a:avLst/>
            </a:prstGeom>
            <a:ln w="38100"/>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888641" y="360609"/>
              <a:ext cx="5676923" cy="29670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b="1" dirty="0">
                  <a:solidFill>
                    <a:schemeClr val="tx1"/>
                  </a:solidFill>
                </a:rPr>
                <a:t>参考資料</a:t>
              </a:r>
              <a:endParaRPr lang="en-US" altLang="ja-JP" b="1" dirty="0">
                <a:solidFill>
                  <a:schemeClr val="tx1"/>
                </a:solidFill>
              </a:endParaRPr>
            </a:p>
          </p:txBody>
        </p:sp>
      </p:grpSp>
      <p:sp>
        <p:nvSpPr>
          <p:cNvPr id="45" name="コンテンツ プレースホルダー 2"/>
          <p:cNvSpPr>
            <a:spLocks noGrp="1"/>
          </p:cNvSpPr>
          <p:nvPr>
            <p:ph idx="1"/>
          </p:nvPr>
        </p:nvSpPr>
        <p:spPr>
          <a:xfrm>
            <a:off x="888647" y="1040431"/>
            <a:ext cx="10400764" cy="1545407"/>
          </a:xfrm>
        </p:spPr>
        <p:txBody>
          <a:bodyPr>
            <a:normAutofit/>
          </a:bodyPr>
          <a:lstStyle/>
          <a:p>
            <a:pPr marL="0" indent="0">
              <a:buNone/>
            </a:pPr>
            <a:r>
              <a:rPr lang="ja-JP" altLang="en-US" b="1" dirty="0">
                <a:latin typeface="メイリオ"/>
                <a:ea typeface="メイリオ"/>
                <a:cs typeface="メイリオ"/>
              </a:rPr>
              <a:t>●「子供たちに未来の創り手となるために必要な資質・能力を</a:t>
            </a:r>
            <a:endParaRPr lang="en-US" altLang="ja-JP" b="1" dirty="0"/>
          </a:p>
          <a:p>
            <a:pPr marL="0" indent="0">
              <a:buNone/>
            </a:pPr>
            <a:r>
              <a:rPr lang="ja-JP" altLang="en-US" b="1" dirty="0">
                <a:latin typeface="メイリオ"/>
                <a:ea typeface="メイリオ"/>
                <a:cs typeface="メイリオ"/>
              </a:rPr>
              <a:t>　　育む指導と評価の一体化を目指して」</a:t>
            </a:r>
            <a:r>
              <a:rPr lang="en-US" altLang="ja-JP" b="1" dirty="0">
                <a:latin typeface="メイリオ"/>
                <a:ea typeface="メイリオ"/>
                <a:cs typeface="メイリオ"/>
              </a:rPr>
              <a:t>Ⅰ</a:t>
            </a:r>
            <a:r>
              <a:rPr lang="ja-JP" altLang="en-US" b="1" dirty="0">
                <a:latin typeface="メイリオ"/>
                <a:ea typeface="メイリオ"/>
                <a:cs typeface="メイリオ"/>
              </a:rPr>
              <a:t>理論編　</a:t>
            </a:r>
            <a:r>
              <a:rPr lang="en-US" altLang="ja-JP" b="1" dirty="0">
                <a:latin typeface="メイリオ"/>
                <a:ea typeface="メイリオ"/>
                <a:cs typeface="メイリオ"/>
              </a:rPr>
              <a:t>Ⅱ</a:t>
            </a:r>
            <a:r>
              <a:rPr lang="ja-JP" altLang="en-US" b="1" dirty="0">
                <a:latin typeface="メイリオ"/>
                <a:ea typeface="メイリオ"/>
                <a:cs typeface="メイリオ"/>
              </a:rPr>
              <a:t>実践編</a:t>
            </a:r>
            <a:endParaRPr lang="en-US" altLang="ja-JP" b="1" dirty="0"/>
          </a:p>
          <a:p>
            <a:pPr marL="0" indent="0">
              <a:buNone/>
            </a:pPr>
            <a:r>
              <a:rPr lang="ja-JP" altLang="en-US" b="1" dirty="0">
                <a:latin typeface="メイリオ"/>
                <a:ea typeface="メイリオ"/>
                <a:cs typeface="メイリオ"/>
              </a:rPr>
              <a:t>　　　　　　　　　　　　　　　　東京都教育委員会作成資料</a:t>
            </a:r>
            <a:endParaRPr lang="en-US" altLang="ja-JP" b="1" dirty="0"/>
          </a:p>
          <a:p>
            <a:pPr marL="0" indent="0">
              <a:buNone/>
            </a:pPr>
            <a:endParaRPr lang="en-US" altLang="ja-JP" sz="3600" b="1" dirty="0"/>
          </a:p>
          <a:p>
            <a:pPr marL="0" indent="0">
              <a:buNone/>
            </a:pPr>
            <a:endParaRPr lang="ja-JP" altLang="en-US" sz="3600" b="1" dirty="0"/>
          </a:p>
        </p:txBody>
      </p:sp>
      <p:sp>
        <p:nvSpPr>
          <p:cNvPr id="46" name="コンテンツ プレースホルダー 2"/>
          <p:cNvSpPr txBox="1">
            <a:spLocks/>
          </p:cNvSpPr>
          <p:nvPr/>
        </p:nvSpPr>
        <p:spPr>
          <a:xfrm>
            <a:off x="888647" y="2650234"/>
            <a:ext cx="10400764" cy="1219199"/>
          </a:xfrm>
          <a:prstGeom prst="rect">
            <a:avLst/>
          </a:prstGeom>
        </p:spPr>
        <p:txBody>
          <a:bodyPr vert="horz" lIns="91440" tIns="45720" rIns="91440" bIns="45720" rtlCol="0">
            <a:norm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dirty="0">
                <a:latin typeface="メイリオ"/>
                <a:ea typeface="メイリオ"/>
                <a:cs typeface="メイリオ"/>
              </a:rPr>
              <a:t>●学習評価の在り方ハンドブック</a:t>
            </a:r>
          </a:p>
          <a:p>
            <a:pPr marL="0" indent="0">
              <a:buNone/>
            </a:pPr>
            <a:r>
              <a:rPr lang="ja-JP" altLang="en-US" b="1" dirty="0">
                <a:latin typeface="メイリオ"/>
                <a:ea typeface="メイリオ"/>
                <a:cs typeface="メイリオ"/>
              </a:rPr>
              <a:t>　　　文部科学省　国立教育政策研究所教育課程研究センター</a:t>
            </a:r>
          </a:p>
          <a:p>
            <a:pPr marL="0" indent="0">
              <a:buNone/>
            </a:pPr>
            <a:endParaRPr lang="ja-JP" altLang="en-US" b="1" dirty="0"/>
          </a:p>
        </p:txBody>
      </p:sp>
      <p:sp>
        <p:nvSpPr>
          <p:cNvPr id="47" name="コンテンツ プレースホルダー 2"/>
          <p:cNvSpPr txBox="1">
            <a:spLocks/>
          </p:cNvSpPr>
          <p:nvPr/>
        </p:nvSpPr>
        <p:spPr>
          <a:xfrm>
            <a:off x="888645" y="4073486"/>
            <a:ext cx="10635699" cy="1219199"/>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dirty="0">
                <a:latin typeface="メイリオ"/>
                <a:ea typeface="メイリオ"/>
                <a:cs typeface="メイリオ"/>
              </a:rPr>
              <a:t>●「指導と評価の一体化」のための学習評価に関する参考資料</a:t>
            </a:r>
            <a:endParaRPr lang="en-US" altLang="ja-JP" b="1" dirty="0"/>
          </a:p>
          <a:p>
            <a:pPr marL="0" indent="0">
              <a:buNone/>
            </a:pPr>
            <a:r>
              <a:rPr lang="ja-JP" altLang="en-US" b="1" dirty="0">
                <a:latin typeface="メイリオ"/>
                <a:ea typeface="メイリオ"/>
                <a:cs typeface="メイリオ"/>
              </a:rPr>
              <a:t>　　　文部科学省　国立教育政策研究所教育課程研究センター</a:t>
            </a:r>
          </a:p>
          <a:p>
            <a:pPr marL="0" indent="0">
              <a:buNone/>
            </a:pPr>
            <a:endParaRPr lang="ja-JP" altLang="en-US" sz="3200" b="1" dirty="0"/>
          </a:p>
        </p:txBody>
      </p:sp>
      <p:sp>
        <p:nvSpPr>
          <p:cNvPr id="2" name="コンテンツ プレースホルダー 2">
            <a:extLst>
              <a:ext uri="{FF2B5EF4-FFF2-40B4-BE49-F238E27FC236}">
                <a16:creationId xmlns:a16="http://schemas.microsoft.com/office/drawing/2014/main" id="{9FDC9BD8-7EBE-54BA-2DD0-907608991ECC}"/>
              </a:ext>
            </a:extLst>
          </p:cNvPr>
          <p:cNvSpPr txBox="1">
            <a:spLocks/>
          </p:cNvSpPr>
          <p:nvPr/>
        </p:nvSpPr>
        <p:spPr>
          <a:xfrm>
            <a:off x="932757" y="5185804"/>
            <a:ext cx="10635699" cy="1219199"/>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dirty="0">
                <a:solidFill>
                  <a:schemeClr val="bg1"/>
                </a:solidFill>
                <a:latin typeface="メイリオ"/>
                <a:ea typeface="メイリオ"/>
                <a:cs typeface="メイリオ"/>
              </a:rPr>
              <a:t>●特別支援学校小学部・中学部　学習評価参考資料 </a:t>
            </a:r>
            <a:endParaRPr lang="en-US" altLang="ja-JP" b="1" dirty="0">
              <a:solidFill>
                <a:schemeClr val="bg1"/>
              </a:solidFill>
            </a:endParaRPr>
          </a:p>
          <a:p>
            <a:pPr marL="0" indent="0">
              <a:buNone/>
            </a:pPr>
            <a:r>
              <a:rPr lang="ja-JP" altLang="en-US" b="1" dirty="0">
                <a:solidFill>
                  <a:schemeClr val="bg1"/>
                </a:solidFill>
                <a:latin typeface="メイリオ"/>
                <a:ea typeface="メイリオ"/>
                <a:cs typeface="メイリオ"/>
              </a:rPr>
              <a:t>　　　文部科学省</a:t>
            </a:r>
          </a:p>
          <a:p>
            <a:pPr marL="0" indent="0">
              <a:buNone/>
            </a:pPr>
            <a:endParaRPr lang="ja-JP" altLang="en-US" sz="3200" b="1" dirty="0"/>
          </a:p>
        </p:txBody>
      </p:sp>
    </p:spTree>
    <p:extLst>
      <p:ext uri="{BB962C8B-B14F-4D97-AF65-F5344CB8AC3E}">
        <p14:creationId xmlns:p14="http://schemas.microsoft.com/office/powerpoint/2010/main" val="1829974466"/>
      </p:ext>
    </p:extLst>
  </p:cSld>
  <p:clrMapOvr>
    <a:masterClrMapping/>
  </p:clrMapOvr>
  <p:transition spd="slow">
    <p:cover/>
  </p:transition>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TotalTime>
  <Words>1609</Words>
  <Application>Microsoft Office PowerPoint</Application>
  <PresentationFormat>ワイド画面</PresentationFormat>
  <Paragraphs>278</Paragraphs>
  <Slides>27</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27</vt:i4>
      </vt:variant>
    </vt:vector>
  </HeadingPairs>
  <TitlesOfParts>
    <vt:vector size="34" baseType="lpstr">
      <vt:lpstr>ＭＳ ゴシック</vt:lpstr>
      <vt:lpstr>UD デジタル 教科書体 NK-B</vt:lpstr>
      <vt:lpstr>メイリオ</vt:lpstr>
      <vt:lpstr>游ゴシック</vt:lpstr>
      <vt:lpstr>游ゴシック Light</vt:lpstr>
      <vt:lpstr>Arial</vt:lpstr>
      <vt:lpstr>Office テーマ</vt:lpstr>
      <vt:lpstr>『主体的に学習に取り組む態度』の評価</vt:lpstr>
      <vt:lpstr>PowerPoint プレゼンテーション</vt:lpstr>
      <vt:lpstr>　はじめに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２　『主体的に学習に取り組む態度』 　　　　　　　　　　　　　の学習評価</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『主体的に学習に取り組む態度』の評価</dc:title>
  <dc:creator>髙橋　庸介</dc:creator>
  <cp:lastModifiedBy>紺多　章一郎</cp:lastModifiedBy>
  <cp:revision>13</cp:revision>
  <cp:lastPrinted>2023-06-08T03:11:23Z</cp:lastPrinted>
  <dcterms:modified xsi:type="dcterms:W3CDTF">2026-05-27T10:09:35Z</dcterms:modified>
</cp:coreProperties>
</file>