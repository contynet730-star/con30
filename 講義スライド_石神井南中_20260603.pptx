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0000"/>
            <a:ext cx="12192000" cy="558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5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80000"/>
            <a:ext cx="10800000" cy="54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norm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令和８年度　石神井南中学校　校内研修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1450000"/>
            <a:ext cx="114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sz="4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「主体的に学習に取り組む態度」の評価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0000" y="2600000"/>
            <a:ext cx="9200000" cy="900000"/>
          </a:xfrm>
          <a:prstGeom prst="rect">
            <a:avLst/>
          </a:prstGeom>
          <a:solidFill>
            <a:srgbClr val="FFFFFF"/>
          </a:solidFill>
          <a:ln w="508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800" b="1">
                <a:solidFill>
                  <a:srgbClr val="2A96C2"/>
                </a:solidFill>
                <a:latin typeface="メイリオ"/>
                <a:ea typeface="メイリオ"/>
                <a:cs typeface="メイリオ"/>
              </a:rPr>
              <a:t>〜「主体的・対話的で深い学び」と学習評価〜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3800000"/>
            <a:ext cx="11400000" cy="7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評価のばらつきを防ぐ、具体的な評価の在り方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5000000"/>
            <a:ext cx="11400000" cy="44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令和８年６月３日（水）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5470000"/>
            <a:ext cx="114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練馬区教育委員会　指導主事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5860000"/>
            <a:ext cx="11400000" cy="42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紺多　章一郎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本日の流れ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講話 約40分 ／ グループワーク 約30分 ／ 講評 約10分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1900000" cy="95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0000" y="1900000"/>
            <a:ext cx="7600000" cy="950000"/>
          </a:xfrm>
          <a:prstGeom prst="rect">
            <a:avLst/>
          </a:prstGeom>
          <a:solidFill>
            <a:srgbClr val="FFFFFF"/>
          </a:solidFill>
          <a:ln w="317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「主体的・対話的で深い学び」と評価の在り方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00000" y="1900000"/>
            <a:ext cx="1700000" cy="950000"/>
          </a:xfrm>
          <a:prstGeom prst="rect">
            <a:avLst/>
          </a:prstGeom>
          <a:solidFill>
            <a:srgbClr val="FFFFFF"/>
          </a:solidFill>
          <a:ln w="317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2A96C2"/>
                </a:solidFill>
                <a:latin typeface="メイリオ"/>
                <a:ea typeface="メイリオ"/>
                <a:cs typeface="メイリオ"/>
              </a:rPr>
              <a:t>約15分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3000000"/>
            <a:ext cx="1900000" cy="95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0000" y="3000000"/>
            <a:ext cx="7600000" cy="950000"/>
          </a:xfrm>
          <a:prstGeom prst="rect">
            <a:avLst/>
          </a:prstGeom>
          <a:solidFill>
            <a:srgbClr val="FFFFFF"/>
          </a:solidFill>
          <a:ln w="317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「主体的に学習に取り組む態度」の評価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00000" y="3000000"/>
            <a:ext cx="1700000" cy="950000"/>
          </a:xfrm>
          <a:prstGeom prst="rect">
            <a:avLst/>
          </a:prstGeom>
          <a:solidFill>
            <a:srgbClr val="FFFFFF"/>
          </a:solidFill>
          <a:ln w="317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2A96C2"/>
                </a:solidFill>
                <a:latin typeface="メイリオ"/>
                <a:ea typeface="メイリオ"/>
                <a:cs typeface="メイリオ"/>
              </a:rPr>
              <a:t>約22分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4100000"/>
            <a:ext cx="1900000" cy="95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まとめ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0000" y="4100000"/>
            <a:ext cx="7600000" cy="950000"/>
          </a:xfrm>
          <a:prstGeom prst="rect">
            <a:avLst/>
          </a:prstGeom>
          <a:solidFill>
            <a:srgbClr val="FFFFFF"/>
          </a:solidFill>
          <a:ln w="317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評価のばらつきを防ぐ ─ 明日から動かす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0000" y="4100000"/>
            <a:ext cx="1700000" cy="950000"/>
          </a:xfrm>
          <a:prstGeom prst="rect">
            <a:avLst/>
          </a:prstGeom>
          <a:solidFill>
            <a:srgbClr val="FFFFFF"/>
          </a:solidFill>
          <a:ln w="317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2A96C2"/>
                </a:solidFill>
                <a:latin typeface="メイリオ"/>
                <a:ea typeface="メイリオ"/>
                <a:cs typeface="メイリオ"/>
              </a:rPr>
              <a:t>約3分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5450000"/>
            <a:ext cx="11400000" cy="8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講話のあと、</a:t>
            </a:r>
            <a:r>
              <a:rPr sz="24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各教科の評価資料を持ち寄ってグループ協議</a:t>
            </a: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します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今日の研修で答えを見つける　3つの問い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600000"/>
            <a:ext cx="1200000" cy="125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問１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0000" y="1600000"/>
            <a:ext cx="10100000" cy="12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「深い学び」が実現する授業で、
評価はどう機能するか？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3080000"/>
            <a:ext cx="1200000" cy="125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問２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0000" y="3080000"/>
            <a:ext cx="10100000" cy="12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「主体的に学習に取り組む態度」は
何を・どうやって見取るか？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4560000"/>
            <a:ext cx="1200000" cy="125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問３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0000" y="4560000"/>
            <a:ext cx="10100000" cy="12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評価が教員によって「ばらつく」のを
防ぐために、何をそろえるか？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6030000"/>
            <a:ext cx="11400000" cy="260000"/>
          </a:xfrm>
          <a:prstGeom prst="rect">
            <a:avLst/>
          </a:prstGeom>
          <a:solidFill>
            <a:srgbClr val="FFE066"/>
          </a:solidFill>
          <a:ln w="254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この3問への答えを、今日の講話とグループワークで見つけましょう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出典：石神井南中学校 指導主事派遣願（令和8年5月）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ウォームアップ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この数字は何を表しているでしょう？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3700000" cy="1500000"/>
          </a:xfrm>
          <a:prstGeom prst="rect">
            <a:avLst/>
          </a:prstGeom>
          <a:solidFill>
            <a:srgbClr val="FFFFFF"/>
          </a:solidFill>
          <a:ln w="508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5000" b="1">
                <a:solidFill>
                  <a:srgbClr val="2A96C2"/>
                </a:solidFill>
                <a:latin typeface="メイリオ"/>
                <a:ea typeface="メイリオ"/>
                <a:cs typeface="メイリオ"/>
              </a:rPr>
              <a:t>47.2</a:t>
            </a:r>
          </a:p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30.5　／　22.3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3450000"/>
            <a:ext cx="3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A中学校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1900000"/>
            <a:ext cx="3700000" cy="1500000"/>
          </a:xfrm>
          <a:prstGeom prst="rect">
            <a:avLst/>
          </a:prstGeom>
          <a:solidFill>
            <a:srgbClr val="FFFFFF"/>
          </a:solidFill>
          <a:ln w="508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5000" b="1">
                <a:solidFill>
                  <a:srgbClr val="2A96C2"/>
                </a:solidFill>
                <a:latin typeface="メイリオ"/>
                <a:ea typeface="メイリオ"/>
                <a:cs typeface="メイリオ"/>
              </a:rPr>
              <a:t>8.1</a:t>
            </a:r>
          </a:p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65.8　／　26.1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0000" y="3450000"/>
            <a:ext cx="3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B中学校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0000" y="1900000"/>
            <a:ext cx="3700000" cy="1500000"/>
          </a:xfrm>
          <a:prstGeom prst="rect">
            <a:avLst/>
          </a:prstGeom>
          <a:solidFill>
            <a:srgbClr val="FFFFFF"/>
          </a:solidFill>
          <a:ln w="508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5000" b="1">
                <a:solidFill>
                  <a:srgbClr val="2A96C2"/>
                </a:solidFill>
                <a:latin typeface="メイリオ"/>
                <a:ea typeface="メイリオ"/>
                <a:cs typeface="メイリオ"/>
              </a:rPr>
              <a:t>12.4</a:t>
            </a:r>
          </a:p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50.3　／　37.3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450000"/>
            <a:ext cx="3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C中学校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4150000"/>
            <a:ext cx="11400000" cy="8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0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答え：区内3校・同一教科の「主体的に学習に取り組む態度」評定割合（A:B:C %）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" y="5050000"/>
            <a:ext cx="114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30000"/>
              </a:lnSpc>
            </a:pPr>
            <a:r>
              <a:rPr sz="2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同じ教科でも、学校で大きく異なる現実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22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「主体的に学習に取り組む態度」の評価</a:t>
            </a: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は、なぜ揺れるのか？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0000" y="2000000"/>
            <a:ext cx="10200000" cy="2900000"/>
          </a:xfrm>
          <a:prstGeom prst="rect">
            <a:avLst/>
          </a:prstGeom>
          <a:solidFill>
            <a:srgbClr val="D6EEFA"/>
          </a:solidFill>
          <a:ln w="635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5BC0DE"/>
                </a:solidFill>
                <a:latin typeface="メイリオ"/>
                <a:ea typeface="メイリオ"/>
                <a:cs typeface="メイリオ"/>
              </a:rPr>
              <a:t>Part 1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3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「主体的・対話的で深い学び」</a:t>
            </a:r>
          </a:p>
          <a:p>
            <a:pPr algn="ctr">
              <a:lnSpc>
                <a:spcPct val="140000"/>
              </a:lnSpc>
            </a:pPr>
            <a:r>
              <a:rPr sz="3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と評価の在り方</a:t>
            </a:r>
          </a:p>
          <a:p>
            <a:pPr algn="l">
              <a:lnSpc>
                <a:spcPct val="140000"/>
              </a:lnSpc>
            </a:pPr>
            <a:r>
              <a:rPr sz="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A96C2"/>
                </a:solidFill>
                <a:latin typeface="メイリオ"/>
                <a:ea typeface="メイリオ"/>
                <a:cs typeface="メイリオ"/>
              </a:rPr>
              <a:t>─ 何ができるようになるか × どのように学ぶか 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1　深い学び × 評価の在り方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何ができるようになるか ─ 資質・能力の3つの柱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850000"/>
            <a:ext cx="900000" cy="11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0000" y="1850000"/>
            <a:ext cx="104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知識・技能</a:t>
            </a:r>
          </a:p>
          <a:p>
            <a:pPr algn="l">
              <a:lnSpc>
                <a:spcPct val="12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何を理解しているか、何ができるか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230000"/>
            <a:ext cx="900000" cy="11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0000" y="3230000"/>
            <a:ext cx="104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思考力・判断力・表現力等</a:t>
            </a:r>
          </a:p>
          <a:p>
            <a:pPr algn="l">
              <a:lnSpc>
                <a:spcPct val="12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理解していること・できることをどう使うか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610000"/>
            <a:ext cx="900000" cy="11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0000" y="4610000"/>
            <a:ext cx="104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学びに向かう力・人間性等</a:t>
            </a:r>
          </a:p>
          <a:p>
            <a:pPr algn="l">
              <a:lnSpc>
                <a:spcPct val="12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どのように社会・世界と関わり、よりよい人生を送るか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出典：中学校学習指導要領 解説　総則編／文部科学省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1　深い学び × 評価の在り方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どのように学ぶか ─ 主体的・対話的で深い学び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3750000" cy="7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主体的な学び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620000"/>
            <a:ext cx="3750000" cy="18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見通しをもち、粘り強く取り組み、振り返る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0000" y="1900000"/>
            <a:ext cx="3750000" cy="7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対話的な学び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0000" y="2620000"/>
            <a:ext cx="3750000" cy="18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互いの考えを比べ、共に考えを創り上げる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0000" y="1900000"/>
            <a:ext cx="3750000" cy="7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深い学び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0000" y="2620000"/>
            <a:ext cx="3750000" cy="18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知識・技能を活用・概念化し、新たなものを創る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4600000"/>
            <a:ext cx="11400000" cy="16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授業改善の視点 → </a:t>
            </a: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生徒に見せたい「学びの姿」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 が </a:t>
            </a: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評価の対象</a:t>
            </a: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（特に「主体的に取り組む態度」）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出典：中学校学習指導要領 解説　総則編／文部科学省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1　深い学び × 評価の在り方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3つの学び ─ どんな「姿」を見取るか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3750000" cy="6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主体的な学び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550000"/>
            <a:ext cx="3750000" cy="25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6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見通しをもつ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粘り強く取り組む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振り返り・次へつなげる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0000" y="1900000"/>
            <a:ext cx="3750000" cy="600000"/>
          </a:xfrm>
          <a:prstGeom prst="rect">
            <a:avLst/>
          </a:prstGeom>
          <a:solidFill>
            <a:srgbClr val="5BC0DE"/>
          </a:solidFill>
          <a:ln w="254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対話的な学び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0000" y="2550000"/>
            <a:ext cx="3750000" cy="25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6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互いの考えを比べる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共に考えを創り上げる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自分の考えを更新する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0000" y="1900000"/>
            <a:ext cx="3750000" cy="600000"/>
          </a:xfrm>
          <a:prstGeom prst="rect">
            <a:avLst/>
          </a:prstGeom>
          <a:solidFill>
            <a:srgbClr val="EB6C15"/>
          </a:solidFill>
          <a:ln w="254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深い学び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0000" y="2550000"/>
            <a:ext cx="3750000" cy="25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6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知識・技能を活用する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自分の考えを形成する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問い続ける・創り上げる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5250000"/>
            <a:ext cx="11400000" cy="97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これらの「学びの姿」が </a:t>
            </a:r>
            <a:r>
              <a:rPr sz="24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実際に見えているか</a:t>
            </a: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 が、評価の手がかり</a:t>
            </a:r>
          </a:p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2A96C2"/>
                </a:solidFill>
                <a:latin typeface="メイリオ"/>
                <a:ea typeface="メイリオ"/>
                <a:cs typeface="メイリオ"/>
              </a:rPr>
              <a:t>→ 評価の視点は、授業改善の視点と同じ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出典：中学校学習指導要領 解説　総則編／文部科学省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1　深い学び × 評価の在り方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授業改善 と 評価 は一体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11400000" cy="9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「主体的・対話的で深い学び」の視点で授業を改善する</a:t>
            </a:r>
          </a:p>
        </p:txBody>
      </p:sp>
      <p:sp>
        <p:nvSpPr>
          <p:cNvPr id="7" name="Down Arrow 6"/>
          <p:cNvSpPr/>
          <p:nvPr/>
        </p:nvSpPr>
        <p:spPr>
          <a:xfrm>
            <a:off x="5596000" y="2900000"/>
            <a:ext cx="1000000" cy="500000"/>
          </a:xfrm>
          <a:prstGeom prst="downArrow">
            <a:avLst/>
          </a:prstGeom>
          <a:solidFill>
            <a:srgbClr val="EB6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00" y="3500000"/>
            <a:ext cx="11400000" cy="9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授業で「目指す生徒の姿」を、教師が事前に描く</a:t>
            </a:r>
          </a:p>
        </p:txBody>
      </p:sp>
      <p:sp>
        <p:nvSpPr>
          <p:cNvPr id="9" name="Down Arrow 8"/>
          <p:cNvSpPr/>
          <p:nvPr/>
        </p:nvSpPr>
        <p:spPr>
          <a:xfrm>
            <a:off x="5596000" y="4500000"/>
            <a:ext cx="1000000" cy="500000"/>
          </a:xfrm>
          <a:prstGeom prst="downArrow">
            <a:avLst/>
          </a:prstGeom>
          <a:solidFill>
            <a:srgbClr val="EB6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0000" y="5100000"/>
            <a:ext cx="11400000" cy="1100000"/>
          </a:xfrm>
          <a:prstGeom prst="rect">
            <a:avLst/>
          </a:prstGeom>
          <a:solidFill>
            <a:srgbClr val="FFFFFF"/>
          </a:solidFill>
          <a:ln w="508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その「目指す姿」が </a:t>
            </a: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評価規準（Bと判断する姿）</a:t>
            </a:r>
            <a:r>
              <a:rPr sz="2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 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1　深い学び × 評価の在り方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【キーメッセージ①】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0600000" cy="1500000"/>
          </a:xfrm>
          <a:prstGeom prst="rect">
            <a:avLst/>
          </a:prstGeom>
          <a:solidFill>
            <a:srgbClr val="D6EEFA"/>
          </a:solidFill>
          <a:ln w="635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評価は</a:t>
            </a:r>
            <a:r>
              <a:rPr sz="3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「ためる」のでなく</a:t>
            </a:r>
          </a:p>
          <a:p>
            <a:pPr algn="ctr">
              <a:lnSpc>
                <a:spcPct val="140000"/>
              </a:lnSpc>
            </a:pPr>
            <a:r>
              <a:rPr sz="4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50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使う</a:t>
            </a:r>
            <a:r>
              <a:rPr sz="4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」もの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4000000"/>
            <a:ext cx="10600000" cy="18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授業で「目指す姿」を描き、</a:t>
            </a:r>
          </a:p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その姿が見えたかを</a:t>
            </a:r>
            <a:r>
              <a:rPr sz="28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評価</a:t>
            </a:r>
            <a:r>
              <a:rPr sz="2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する</a:t>
            </a:r>
          </a:p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評価結果を、次の授業に「使う」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0000" y="2000000"/>
            <a:ext cx="10200000" cy="2900000"/>
          </a:xfrm>
          <a:prstGeom prst="rect">
            <a:avLst/>
          </a:prstGeom>
          <a:solidFill>
            <a:srgbClr val="D6EEFA"/>
          </a:solidFill>
          <a:ln w="635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5BC0DE"/>
                </a:solidFill>
                <a:latin typeface="メイリオ"/>
                <a:ea typeface="メイリオ"/>
                <a:cs typeface="メイリオ"/>
              </a:rPr>
              <a:t>Part 2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「主体的に学習に取り組む態度」</a:t>
            </a:r>
          </a:p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の評価</a:t>
            </a:r>
          </a:p>
          <a:p>
            <a:pPr algn="l">
              <a:lnSpc>
                <a:spcPct val="140000"/>
              </a:lnSpc>
            </a:pPr>
            <a:r>
              <a:rPr sz="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1">
                <a:solidFill>
                  <a:srgbClr val="2A96C2"/>
                </a:solidFill>
                <a:latin typeface="メイリオ"/>
                <a:ea typeface="メイリオ"/>
                <a:cs typeface="メイリオ"/>
              </a:rPr>
              <a:t>─ どう見取り、どうばらつきを防ぐか 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学習評価の現状における課題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11400000" cy="9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学習改善への活用が弱い</a:t>
            </a:r>
            <a:r>
              <a:rPr sz="22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─　</a:t>
            </a: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「ためた評価」が次の授業に生きていない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950000"/>
            <a:ext cx="11400000" cy="9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生徒・保護者からの誤解</a:t>
            </a:r>
            <a:r>
              <a:rPr sz="22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─　</a:t>
            </a: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「挙手」「忘れ物」などで決まると思われている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4000000"/>
            <a:ext cx="11400000" cy="9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教員の負担</a:t>
            </a:r>
            <a:r>
              <a:rPr sz="22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─　</a:t>
            </a: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観点が多すぎ、毎時間記録に追われる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5050000"/>
            <a:ext cx="11400000" cy="9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正しい理解が共有されていない</a:t>
            </a:r>
            <a:r>
              <a:rPr sz="22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─　</a:t>
            </a: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「主体的に取り組む態度」の見取り方が揺れる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6080000"/>
            <a:ext cx="11400000" cy="240000"/>
          </a:xfrm>
          <a:prstGeom prst="rect">
            <a:avLst/>
          </a:prstGeom>
          <a:solidFill>
            <a:srgbClr val="FFE066"/>
          </a:solidFill>
          <a:ln w="254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何のために「学習評価」を行うのか、改めて意識することが重要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学習評価の改善の基本方針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900000" cy="11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0000" y="1900000"/>
            <a:ext cx="104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生徒の学習改善</a:t>
            </a: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につながるものにしていく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200000"/>
            <a:ext cx="900000" cy="11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0000" y="3200000"/>
            <a:ext cx="104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教師の指導改善</a:t>
            </a: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につながるものにしていく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500000"/>
            <a:ext cx="900000" cy="11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0000" y="4500000"/>
            <a:ext cx="104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必要性・妥当性</a:t>
            </a: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が認められないものは見直していく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出典：平成31年１月 中央教育審議会「児童生徒の学習評価の在り方について（報告）」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各教科における評価の基本構造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5000000" cy="11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知識・技能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0000" y="1900000"/>
            <a:ext cx="63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何を知っているか・できるか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200000"/>
            <a:ext cx="5000000" cy="1100000"/>
          </a:xfrm>
          <a:prstGeom prst="rect">
            <a:avLst/>
          </a:prstGeom>
          <a:solidFill>
            <a:srgbClr val="5BC0DE"/>
          </a:solidFill>
          <a:ln w="254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思考・判断・表現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0000" y="3200000"/>
            <a:ext cx="63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知っていること・できることをどう使うか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500000"/>
            <a:ext cx="5000000" cy="1100000"/>
          </a:xfrm>
          <a:prstGeom prst="rect">
            <a:avLst/>
          </a:prstGeom>
          <a:solidFill>
            <a:srgbClr val="EB6C15"/>
          </a:solidFill>
          <a:ln w="254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主体的に学習に取り組む態度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0000" y="4500000"/>
            <a:ext cx="63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学びをどう自己調整しているか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6080000"/>
            <a:ext cx="11400000" cy="240000"/>
          </a:xfrm>
          <a:prstGeom prst="rect">
            <a:avLst/>
          </a:prstGeom>
          <a:solidFill>
            <a:srgbClr val="FFE066"/>
          </a:solidFill>
          <a:ln w="254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今日の研修で重点的に扱うのは ➡「主体的に学習に取り組む態度」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出典：国立教育政策研究所「学習評価の在り方ハンドブック（中学校編）」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「知識・技能」「思考・判断・表現」の評価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5600000" cy="6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知識・技能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510000"/>
            <a:ext cx="5600000" cy="33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■ 見取り方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既有の知識・技能と関連付け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概念として理解しているか</a:t>
            </a:r>
          </a:p>
          <a:p>
            <a:pPr algn="l">
              <a:lnSpc>
                <a:spcPct val="130000"/>
              </a:lnSpc>
            </a:pPr>
            <a:r>
              <a:rPr sz="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■ 評価の方法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○ ペーパーテスト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○ 実験・実演・作品制作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900000"/>
            <a:ext cx="5600000" cy="600000"/>
          </a:xfrm>
          <a:prstGeom prst="rect">
            <a:avLst/>
          </a:prstGeom>
          <a:solidFill>
            <a:srgbClr val="5BC0DE"/>
          </a:solidFill>
          <a:ln w="254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思考・判断・表現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2510000"/>
            <a:ext cx="5600000" cy="33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■ 見取り方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知識・技能を活用し、課題を解決する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思考力・判断力・表現力があるか</a:t>
            </a:r>
          </a:p>
          <a:p>
            <a:pPr algn="l">
              <a:lnSpc>
                <a:spcPct val="130000"/>
              </a:lnSpc>
            </a:pPr>
            <a:r>
              <a:rPr sz="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■ 評価の方法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○ 論述・レポート・発表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○ 作品制作・グループ話合い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5950000"/>
            <a:ext cx="11400000" cy="270000"/>
          </a:xfrm>
          <a:prstGeom prst="rect">
            <a:avLst/>
          </a:prstGeom>
          <a:solidFill>
            <a:srgbClr val="FFE066"/>
          </a:solidFill>
          <a:ln w="254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いずれも「Bの姿」を事前に言語化することが、評価のばらつき防止に直結する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出典：国立教育政策研究所「学習評価の在り方ハンドブック（中学校編）」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「主体的に学習に取り組む態度」── 2つの側面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5600000" cy="7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粘り強い取組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600000"/>
            <a:ext cx="5600000" cy="20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自らの学習を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粘り強く調整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しようとしている姿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900000"/>
            <a:ext cx="5600000" cy="700000"/>
          </a:xfrm>
          <a:prstGeom prst="rect">
            <a:avLst/>
          </a:prstGeom>
          <a:solidFill>
            <a:srgbClr val="5BC0DE"/>
          </a:solidFill>
          <a:ln w="254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自己調整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2600000"/>
            <a:ext cx="5600000" cy="20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自らの学習状況を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把握し、調整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しようとしている姿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800000"/>
            <a:ext cx="11400000" cy="1400000"/>
          </a:xfrm>
          <a:prstGeom prst="rect">
            <a:avLst/>
          </a:prstGeom>
          <a:solidFill>
            <a:srgbClr val="D6EEFA"/>
          </a:solidFill>
          <a:ln w="508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①と②は</a:t>
            </a:r>
            <a:r>
              <a:rPr sz="24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別々ではなく相互に関わり合う</a:t>
            </a:r>
          </a:p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①がＡで②がＣ という姿は 一般的ではない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出典：国立教育政策研究所「指導と評価の一体化のための参考資料」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「主体的に取り組む態度」── 評価の工夫例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11400000" cy="64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＜評価の工夫例＞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640000"/>
            <a:ext cx="11400000" cy="9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○ ノートやレポート等における記述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授業の前後・単元末の振り返り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740000"/>
            <a:ext cx="11400000" cy="9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○ 授業中の発言・行動観察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教師が見取りたい姿に対する具体的記録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4840000"/>
            <a:ext cx="11400000" cy="9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○ 生徒による自己評価・相互評価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自己調整の見取り材料として活用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6020000"/>
            <a:ext cx="11400000" cy="300000"/>
          </a:xfrm>
          <a:prstGeom prst="rect">
            <a:avLst/>
          </a:prstGeom>
          <a:solidFill>
            <a:srgbClr val="FFE066"/>
          </a:solidFill>
          <a:ln w="254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単一の手段でなく、複数を組み合わせて見取る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出典：国立教育政策研究所「指導と評価の一体化のための参考資料」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行動観察の工夫例 ─ 数学・問題解決の場面（全教科適用可）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5600000" cy="64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①粘り強く取り組む姿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540000"/>
            <a:ext cx="5600000" cy="27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○ 前時までのノートを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　 見返している</a:t>
            </a:r>
          </a:p>
          <a:p>
            <a:pPr algn="l">
              <a:lnSpc>
                <a:spcPct val="130000"/>
              </a:lnSpc>
            </a:pPr>
            <a:r>
              <a:rPr sz="6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○ 別の方法での解決を試みる</a:t>
            </a:r>
          </a:p>
          <a:p>
            <a:pPr algn="l">
              <a:lnSpc>
                <a:spcPct val="130000"/>
              </a:lnSpc>
            </a:pPr>
            <a:r>
              <a:rPr sz="6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○ 友達に説明することを念頭に置いて、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　 着想や説明を書き加えていく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900000"/>
            <a:ext cx="5600000" cy="640000"/>
          </a:xfrm>
          <a:prstGeom prst="rect">
            <a:avLst/>
          </a:prstGeom>
          <a:solidFill>
            <a:srgbClr val="5BC0DE"/>
          </a:solidFill>
          <a:ln w="254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②自己調整している姿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2540000"/>
            <a:ext cx="5600000" cy="27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○ 解決方法を振り返り、修正したり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　 別の方法を考えたりする</a:t>
            </a:r>
          </a:p>
          <a:p>
            <a:pPr algn="l">
              <a:lnSpc>
                <a:spcPct val="130000"/>
              </a:lnSpc>
            </a:pPr>
            <a:r>
              <a:rPr sz="6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○ 式に言葉や図での説明を書き加える</a:t>
            </a:r>
          </a:p>
          <a:p>
            <a:pPr algn="l">
              <a:lnSpc>
                <a:spcPct val="130000"/>
              </a:lnSpc>
            </a:pPr>
            <a:r>
              <a:rPr sz="6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○ 解決方法を自己評価し、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　 更によいものを求めようとする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5400000"/>
            <a:ext cx="11400000" cy="80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ポイント：</a:t>
            </a:r>
            <a:r>
              <a:rPr sz="22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生徒の学びの姿をイメージした学習活動</a:t>
            </a:r>
            <a:r>
              <a:rPr sz="20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をつくる（どの教科でも同様）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出典：国立教育政策研究所「指導と評価の一体化のための参考資料」（数学）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評価につながる発問の工夫 ─ 自己評価を引き出す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600000"/>
            <a:ext cx="900000" cy="125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0000" y="1600000"/>
            <a:ext cx="10400000" cy="12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理解の変容を振り返らせる</a:t>
            </a: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発問例：「授業の最初と比べて、考え方が変わったところは？」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→ 学習の見通し・振り返りを引き出す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080000"/>
            <a:ext cx="900000" cy="125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0000" y="3080000"/>
            <a:ext cx="10400000" cy="12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他者との比較で考えを相対化させる</a:t>
            </a: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発問例：「友達の意見を聞いて、自分の考えを見直してみよう」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→ 対話的な学びの自己調整を引き出す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560000"/>
            <a:ext cx="900000" cy="125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0000" y="4560000"/>
            <a:ext cx="10400000" cy="12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目標への達成感を自己評価させる</a:t>
            </a: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発問例：「今日の学習の目標は達成できたかな？理由も書いてみよう」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→ 理由を書かせることで、A/Bの判断材料になる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出典：国立教育政策研究所「指導と評価の一体化のための参考資料」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【キーメッセージ②】《本日の最重要メッセージ》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11400000" cy="7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「主体的に学習に取り組む態度」は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650000"/>
            <a:ext cx="11400000" cy="900000"/>
          </a:xfrm>
          <a:prstGeom prst="rect">
            <a:avLst/>
          </a:prstGeom>
          <a:solidFill>
            <a:srgbClr val="D6EEFA"/>
          </a:solidFill>
          <a:ln w="635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38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“指導してから評価する”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800000"/>
            <a:ext cx="900000" cy="900000"/>
          </a:xfrm>
          <a:prstGeom prst="rect">
            <a:avLst/>
          </a:prstGeom>
          <a:solidFill>
            <a:srgbClr val="C04040"/>
          </a:solidFill>
          <a:ln w="25400">
            <a:solidFill>
              <a:srgbClr val="C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×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0000" y="3800000"/>
            <a:ext cx="10400000" cy="9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「個人任せ」で見取ろうとする →</a:t>
            </a:r>
            <a:r>
              <a:rPr sz="2200" b="1">
                <a:solidFill>
                  <a:srgbClr val="C04040"/>
                </a:solidFill>
                <a:latin typeface="メイリオ"/>
                <a:ea typeface="メイリオ"/>
                <a:cs typeface="メイリオ"/>
              </a:rPr>
              <a:t>　育たない・評価できない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800000"/>
            <a:ext cx="900000" cy="900000"/>
          </a:xfrm>
          <a:prstGeom prst="rect">
            <a:avLst/>
          </a:prstGeom>
          <a:solidFill>
            <a:srgbClr val="07A973"/>
          </a:solidFill>
          <a:ln w="25400">
            <a:solidFill>
              <a:srgbClr val="07A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0000" y="4800000"/>
            <a:ext cx="10400000" cy="9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7A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「学び方」を指導してから見取る →</a:t>
            </a:r>
            <a:r>
              <a:rPr sz="2200" b="1">
                <a:solidFill>
                  <a:srgbClr val="07A973"/>
                </a:solidFill>
                <a:latin typeface="メイリオ"/>
                <a:ea typeface="メイリオ"/>
                <a:cs typeface="メイリオ"/>
              </a:rPr>
              <a:t>　育つ・評価できる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5850000"/>
            <a:ext cx="114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見取る前に、「学び方」を授業の中で教える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出典：国立教育政策研究所「指導と評価の一体化のための参考資料」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「学び方」を指導する 9つの働きかけ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3750000" cy="85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1. 学習目標の共有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0000" y="1900000"/>
            <a:ext cx="3750000" cy="85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2. 既習との関連付け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0000" y="1900000"/>
            <a:ext cx="3750000" cy="85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3. 見通しを持たせる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2880000"/>
            <a:ext cx="3750000" cy="85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4. 振り返りの場面設定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0000" y="2880000"/>
            <a:ext cx="3750000" cy="85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5. 自己評価の機会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0000" y="2880000"/>
            <a:ext cx="3750000" cy="85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6. ペア・グループ対話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3860000"/>
            <a:ext cx="3750000" cy="85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7. 学習の選択肢提示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0000" y="3860000"/>
            <a:ext cx="3750000" cy="85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8. ICTでの可視化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0000" y="3860000"/>
            <a:ext cx="3750000" cy="85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9. 教師のモデリング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5700000"/>
            <a:ext cx="11400000" cy="550000"/>
          </a:xfrm>
          <a:prstGeom prst="rect">
            <a:avLst/>
          </a:prstGeom>
          <a:solidFill>
            <a:srgbClr val="FFE066"/>
          </a:solidFill>
          <a:ln w="381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1つ選んで、次の単元から実践する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出典：国立教育政策研究所（2020）参考資料より整理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評価のばらつきを防ぐ ─ 妥当性 × 信頼性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5600000" cy="7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妥当性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600000"/>
            <a:ext cx="5600000" cy="24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資質・能力を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24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適切に反映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していること</a:t>
            </a:r>
          </a:p>
          <a:p>
            <a:pPr algn="l">
              <a:lnSpc>
                <a:spcPct val="130000"/>
              </a:lnSpc>
            </a:pPr>
            <a:r>
              <a:rPr sz="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（「測りたい力」と「方法」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 が一致している）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900000"/>
            <a:ext cx="5600000" cy="700000"/>
          </a:xfrm>
          <a:prstGeom prst="rect">
            <a:avLst/>
          </a:prstGeom>
          <a:solidFill>
            <a:srgbClr val="5BC0DE"/>
          </a:solidFill>
          <a:ln w="254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信頼性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2600000"/>
            <a:ext cx="5600000" cy="24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誰が評価しても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24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同じ結果になる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こと</a:t>
            </a:r>
          </a:p>
          <a:p>
            <a:pPr algn="l">
              <a:lnSpc>
                <a:spcPct val="130000"/>
              </a:lnSpc>
            </a:pPr>
            <a:r>
              <a:rPr sz="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（教師の主観だけに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 流されない）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5200000"/>
            <a:ext cx="11400000" cy="1000000"/>
          </a:xfrm>
          <a:prstGeom prst="rect">
            <a:avLst/>
          </a:prstGeom>
          <a:solidFill>
            <a:srgbClr val="D6EEFA"/>
          </a:solidFill>
          <a:ln w="508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妥当性は</a:t>
            </a: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個人の授業設計</a:t>
            </a:r>
            <a:r>
              <a:rPr sz="2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で、</a:t>
            </a:r>
            <a:r>
              <a:rPr sz="2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信頼性は</a:t>
            </a: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組織で揃える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出典：令和２年９月 東京都教育委員会「指導と評価の一体化を目指して」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教科会で揃える3つ（ばらつき対策）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900000" cy="11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0000" y="1900000"/>
            <a:ext cx="104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Bの姿</a:t>
            </a:r>
          </a:p>
          <a:p>
            <a:pPr algn="l">
              <a:lnSpc>
                <a:spcPct val="12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観点別評価で「B」と判断する具体的な姿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200000"/>
            <a:ext cx="900000" cy="11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0000" y="3200000"/>
            <a:ext cx="104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評価場面・方法</a:t>
            </a:r>
          </a:p>
          <a:p>
            <a:pPr algn="l">
              <a:lnSpc>
                <a:spcPct val="12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いつ・どの活動で・どんな方法で見取るか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500000"/>
            <a:ext cx="900000" cy="11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0000" y="4500000"/>
            <a:ext cx="10400000" cy="11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総括の方法</a:t>
            </a:r>
          </a:p>
          <a:p>
            <a:pPr algn="l">
              <a:lnSpc>
                <a:spcPct val="12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観点別評価から評定への総括ルール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出典：東京都教育委員会「指導と評価の一体化を目指して」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「Bの姿」を具体化する ─ 数学「二次方程式」の例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11400000" cy="64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学習シートに「気を付けるポイント」を記述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600000"/>
            <a:ext cx="5600000" cy="640000"/>
          </a:xfrm>
          <a:prstGeom prst="rect">
            <a:avLst/>
          </a:prstGeom>
          <a:solidFill>
            <a:srgbClr val="5BC0DE"/>
          </a:solidFill>
          <a:ln w="254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▼ おおむね満足（B）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240000"/>
            <a:ext cx="5600000" cy="21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ポイントが</a:t>
            </a:r>
            <a:r>
              <a:rPr sz="24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書かれている</a:t>
            </a:r>
          </a:p>
          <a:p>
            <a:pPr algn="l">
              <a:lnSpc>
                <a:spcPct val="130000"/>
              </a:lnSpc>
            </a:pPr>
            <a:r>
              <a:rPr sz="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例：別の文字に置き換えて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 解く方法を使えるようにする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2600000"/>
            <a:ext cx="5600000" cy="64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▼ 十分満足（A）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0000" y="3240000"/>
            <a:ext cx="5600000" cy="215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ポイント＋</a:t>
            </a:r>
            <a:r>
              <a:rPr sz="24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理由</a:t>
            </a:r>
            <a:r>
              <a:rPr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が書かれている</a:t>
            </a:r>
          </a:p>
          <a:p>
            <a:pPr algn="l">
              <a:lnSpc>
                <a:spcPct val="130000"/>
              </a:lnSpc>
            </a:pPr>
            <a:r>
              <a:rPr sz="8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例：式を見ずに展開すると時間も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 間違いも増えるから、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　 置き換えを使えるようにする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00" y="5500000"/>
            <a:ext cx="11400000" cy="700000"/>
          </a:xfrm>
          <a:prstGeom prst="rect">
            <a:avLst/>
          </a:prstGeom>
          <a:solidFill>
            <a:srgbClr val="D6EEFA"/>
          </a:solidFill>
          <a:ln w="508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同じ気付きでも「理由まで書けるか」でA／Bが分かれる（どの教科でも同様）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出典：国立教育政策研究所「指導と評価の一体化のための参考資料」（数学）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Part 2　「主体的に取り組む態度」の評価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単元計画に「記録」欄を1列足す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11400000" cy="800000"/>
          </a:xfrm>
          <a:prstGeom prst="rect">
            <a:avLst/>
          </a:prstGeom>
          <a:solidFill>
            <a:srgbClr val="D6EEFA"/>
          </a:solidFill>
          <a:ln w="508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「いつ／何で／どう見取るか」を可視化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900000"/>
            <a:ext cx="1100000" cy="600000"/>
          </a:xfrm>
          <a:prstGeom prst="rect">
            <a:avLst/>
          </a:prstGeom>
          <a:solidFill>
            <a:srgbClr val="2A96C2"/>
          </a:solidFill>
          <a:ln w="1905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時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0000" y="2900000"/>
            <a:ext cx="4500000" cy="600000"/>
          </a:xfrm>
          <a:prstGeom prst="rect">
            <a:avLst/>
          </a:prstGeom>
          <a:solidFill>
            <a:srgbClr val="2A96C2"/>
          </a:solidFill>
          <a:ln w="1905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学習内容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0" y="2900000"/>
            <a:ext cx="2000000" cy="600000"/>
          </a:xfrm>
          <a:prstGeom prst="rect">
            <a:avLst/>
          </a:prstGeom>
          <a:solidFill>
            <a:srgbClr val="2A96C2"/>
          </a:solidFill>
          <a:ln w="1905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観点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0" y="2900000"/>
            <a:ext cx="3800000" cy="600000"/>
          </a:xfrm>
          <a:prstGeom prst="rect">
            <a:avLst/>
          </a:prstGeom>
          <a:solidFill>
            <a:srgbClr val="2A96C2"/>
          </a:solidFill>
          <a:ln w="1905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評価方法・場面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00" y="3550000"/>
            <a:ext cx="11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3-4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0000" y="3550000"/>
            <a:ext cx="45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気付きの記述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0000" y="3550000"/>
            <a:ext cx="20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態度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0000" y="3550000"/>
            <a:ext cx="38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学習シート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4280000"/>
            <a:ext cx="11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0000" y="4280000"/>
            <a:ext cx="45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ペーパーテスト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00000" y="4280000"/>
            <a:ext cx="20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知技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0000" y="4280000"/>
            <a:ext cx="38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小テスト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" y="5550000"/>
            <a:ext cx="11400000" cy="640000"/>
          </a:xfrm>
          <a:prstGeom prst="rect">
            <a:avLst/>
          </a:prstGeom>
          <a:solidFill>
            <a:srgbClr val="FFE066"/>
          </a:solidFill>
          <a:ln w="381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全部記録しなくていい ─ 単元の節目で1観点ずつ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000" y="643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10000" bIns="10000" anchor="ctr">
            <a:normAutofit/>
          </a:bodyPr>
          <a:lstStyle/>
          <a:p>
            <a:pPr algn="l"/>
            <a:r>
              <a:rPr sz="130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出典：国立教育政策研究所「指導と評価の一体化のための参考資料」より作成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まとめ ─ 明日から動かす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明日からできること ── 1つ選んでください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900000"/>
            <a:ext cx="11400000" cy="82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□ 次の単元の指導計画に「記録」欄を1列足す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870000"/>
            <a:ext cx="11400000" cy="82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□ 教科会で「Bの姿」を1つ言語化して揃える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840000"/>
            <a:ext cx="11400000" cy="82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□ 9つの働きかけから1つ選んで授業に入れる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4810000"/>
            <a:ext cx="11400000" cy="820000"/>
          </a:xfrm>
          <a:prstGeom prst="rect">
            <a:avLst/>
          </a:prstGeom>
          <a:solidFill>
            <a:srgbClr val="D6EEFA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□ 振り返りシート／自己評価の機会を1回入れる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5780000"/>
            <a:ext cx="11400000" cy="500000"/>
          </a:xfrm>
          <a:prstGeom prst="rect">
            <a:avLst/>
          </a:prstGeom>
          <a:solidFill>
            <a:srgbClr val="FFE066"/>
          </a:solidFill>
          <a:ln w="381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やることを「絞る」から、続く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2A9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100000" tIns="20000" bIns="2000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まとめ ─ 本日のキーメッセージ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0000"/>
            <a:ext cx="12192000" cy="700000"/>
          </a:xfrm>
          <a:prstGeom prst="rect">
            <a:avLst/>
          </a:prstGeom>
          <a:solidFill>
            <a:srgbClr val="D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200000" tIns="20000" bIns="20000">
            <a:normAutofit/>
          </a:bodyPr>
          <a:lstStyle/>
          <a:p>
            <a:pPr algn="l"/>
            <a:r>
              <a:rPr sz="28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3つのキーメッセージ × これからの協議へ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30000"/>
            <a:ext cx="12192000" cy="40000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50000" y="6420000"/>
            <a:ext cx="800000" cy="360000"/>
          </a:xfrm>
          <a:prstGeom prst="rect">
            <a:avLst/>
          </a:prstGeom>
          <a:noFill/>
        </p:spPr>
        <p:txBody>
          <a:bodyPr wrap="none" lIns="0" rIns="40000" tIns="0" bIns="0">
            <a:spAutoFit/>
          </a:bodyPr>
          <a:lstStyle/>
          <a:p>
            <a:pPr algn="r"/>
            <a:r>
              <a:rPr sz="1600" b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700000"/>
            <a:ext cx="1000000" cy="7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0000" y="1700000"/>
            <a:ext cx="10300000" cy="7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評価は「ためる」より「使う」もの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2500000"/>
            <a:ext cx="1000000" cy="7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0000" y="2500000"/>
            <a:ext cx="10300000" cy="7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「指導してから評価する」── 学び方を授業で教える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3300000"/>
            <a:ext cx="1000000" cy="700000"/>
          </a:xfrm>
          <a:prstGeom prst="rect">
            <a:avLst/>
          </a:prstGeom>
          <a:solidFill>
            <a:srgbClr val="2A96C2"/>
          </a:solidFill>
          <a:ln w="25400">
            <a:solidFill>
              <a:srgbClr val="2A9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0000" y="3300000"/>
            <a:ext cx="10300000" cy="7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妥当性は個人で、信頼性は組織で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4200000"/>
            <a:ext cx="11400000" cy="580000"/>
          </a:xfrm>
          <a:prstGeom prst="rect">
            <a:avLst/>
          </a:prstGeom>
          <a:solidFill>
            <a:srgbClr val="FFE066"/>
          </a:solidFill>
          <a:ln w="38100">
            <a:solidFill>
              <a:srgbClr val="EB6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▶  グループワーク（約30分）の協議テーマ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" y="4870000"/>
            <a:ext cx="11400000" cy="138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00000" bIns="100000">
            <a:norm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教科会単位で </a:t>
            </a:r>
            <a:r>
              <a:rPr sz="2200" b="1">
                <a:solidFill>
                  <a:srgbClr val="EB6C15"/>
                </a:solidFill>
                <a:latin typeface="メイリオ"/>
                <a:ea typeface="メイリオ"/>
                <a:cs typeface="メイリオ"/>
              </a:rPr>
              <a:t>各教科の評価資料を持ち寄り</a:t>
            </a:r>
            <a:r>
              <a:rPr sz="20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、以下の問いに答えてみてください: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　① 私たちの教科で「B」と判断する具体的な姿は何か？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3A6E"/>
                </a:solidFill>
                <a:latin typeface="メイリオ"/>
                <a:ea typeface="メイリオ"/>
                <a:cs typeface="メイリオ"/>
              </a:rPr>
              <a:t>　② 単元のどの場面で、どうやって見取るか？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