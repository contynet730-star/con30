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000"/>
            <a:ext cx="12192000" cy="4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1500000"/>
            <a:ext cx="10600000" cy="12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344068"/>
                </a:solidFill>
                <a:latin typeface="メイリオ"/>
              </a:rPr>
              <a:t>指導と評価の一体化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" y="2700000"/>
            <a:ext cx="10600000" cy="8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2683C6"/>
                </a:solidFill>
                <a:latin typeface="メイリオ"/>
              </a:rPr>
              <a:t>─ 生徒の姿で語る授業改善 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000" y="3600000"/>
            <a:ext cx="10600000" cy="6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404040"/>
                </a:solidFill>
                <a:latin typeface="メイリオ"/>
              </a:rPr>
              <a:t>〜明日、何を変えるか〜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4500000"/>
            <a:ext cx="3000000" cy="4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000" y="4650000"/>
            <a:ext cx="10600000" cy="15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344068"/>
                </a:solidFill>
                <a:latin typeface="メイリオ"/>
              </a:rPr>
              <a:t>令和8年6月3日(水)　石神井南中学校 校内研究</a:t>
            </a:r>
          </a:p>
          <a:p>
            <a:pPr algn="l">
              <a:lnSpc>
                <a:spcPct val="130000"/>
              </a:lnSpc>
            </a:pPr>
            <a:r>
              <a:rPr sz="800" b="0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404040"/>
                </a:solidFill>
                <a:latin typeface="メイリオ"/>
              </a:rPr>
              <a:t>練馬区教育委員会 指導主事</a:t>
            </a:r>
          </a:p>
          <a:p>
            <a:pPr algn="l">
              <a:lnSpc>
                <a:spcPct val="130000"/>
              </a:lnSpc>
            </a:pPr>
            <a:r>
              <a:rPr sz="2800" b="1">
                <a:solidFill>
                  <a:srgbClr val="344068"/>
                </a:solidFill>
                <a:latin typeface="メイリオ"/>
              </a:rPr>
              <a:t>紺多　章一郎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00000"/>
            <a:ext cx="12192000" cy="158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80000"/>
            <a:ext cx="49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600">
                <a:solidFill>
                  <a:srgbClr val="2683C6"/>
                </a:solidFill>
                <a:latin typeface="メイリオ"/>
              </a:rPr>
              <a:t>ウォームアップ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700000"/>
            <a:ext cx="10792000" cy="9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200" b="1">
                <a:solidFill>
                  <a:srgbClr val="344068"/>
                </a:solidFill>
                <a:latin typeface="メイリオ"/>
              </a:rPr>
              <a:t>生徒は授業をどう見ているか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1700000"/>
            <a:ext cx="11000000" cy="45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メイリオ"/>
              </a:rPr>
              <a:t>文部科学省「義務教育に関する意識に係る調査」（令和5年12月）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2200000"/>
            <a:ext cx="11000000" cy="4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404040"/>
                </a:solidFill>
                <a:latin typeface="メイリオ"/>
              </a:rPr>
              <a:t>中学生に「普段の授業について思うこと」を聞いた結果 ──</a:t>
            </a:r>
          </a:p>
        </p:txBody>
      </p:sp>
      <p:sp>
        <p:nvSpPr>
          <p:cNvPr id="9" name="Rectangle 8"/>
          <p:cNvSpPr/>
          <p:nvPr/>
        </p:nvSpPr>
        <p:spPr>
          <a:xfrm>
            <a:off x="700000" y="2700000"/>
            <a:ext cx="8400000" cy="600000"/>
          </a:xfrm>
          <a:prstGeom prst="rect">
            <a:avLst/>
          </a:prstGeom>
          <a:noFill/>
          <a:ln w="25400">
            <a:solidFill>
              <a:srgbClr val="42BA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000" y="2780000"/>
            <a:ext cx="8000000" cy="45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344068"/>
                </a:solidFill>
                <a:latin typeface="メイリオ"/>
              </a:rPr>
              <a:t>友達と一緒に学ぶことができて楽しい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00000" y="2700000"/>
            <a:ext cx="2500000" cy="600000"/>
          </a:xfrm>
          <a:prstGeom prst="rect">
            <a:avLst/>
          </a:prstGeom>
          <a:solidFill>
            <a:srgbClr val="42BA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メイリオ"/>
              </a:rPr>
              <a:t>84.1%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0000" y="3400000"/>
            <a:ext cx="8400000" cy="600000"/>
          </a:xfrm>
          <a:prstGeom prst="rect">
            <a:avLst/>
          </a:prstGeom>
          <a:noFill/>
          <a:ln w="25400">
            <a:solidFill>
              <a:srgbClr val="2683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000" y="3480000"/>
            <a:ext cx="8000000" cy="45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344068"/>
                </a:solidFill>
                <a:latin typeface="メイリオ"/>
              </a:rPr>
              <a:t>授業で学ぶことが、将来役に立つ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00000" y="3400000"/>
            <a:ext cx="2500000" cy="6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メイリオ"/>
              </a:rPr>
              <a:t>73.8%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0000" y="4100000"/>
            <a:ext cx="8400000" cy="600000"/>
          </a:xfrm>
          <a:prstGeom prst="rect">
            <a:avLst/>
          </a:prstGeom>
          <a:noFill/>
          <a:ln w="25400">
            <a:solidFill>
              <a:srgbClr val="1CA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000" y="4180000"/>
            <a:ext cx="8000000" cy="45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344068"/>
                </a:solidFill>
                <a:latin typeface="メイリオ"/>
              </a:rPr>
              <a:t>授業で学ぶ内容は面白い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00000" y="4100000"/>
            <a:ext cx="2500000" cy="60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メイリオ"/>
              </a:rPr>
              <a:t>67.3%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0000" y="5100000"/>
            <a:ext cx="11000000" cy="400000"/>
          </a:xfrm>
          <a:prstGeom prst="rect">
            <a:avLst/>
          </a:prstGeom>
          <a:solidFill>
            <a:srgbClr val="344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── では、私たちの評価は、彼らの「学び」を捉えられているか？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0000" y="5550000"/>
            <a:ext cx="11000000" cy="7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ctr">
              <a:lnSpc>
                <a:spcPct val="130000"/>
              </a:lnSpc>
            </a:pPr>
            <a:r>
              <a:rPr sz="1800" b="1">
                <a:solidFill>
                  <a:srgbClr val="2683C6"/>
                </a:solidFill>
                <a:latin typeface="メイリオ"/>
              </a:rPr>
              <a:t>「これでBにしてよいのか」「あの生徒の頑張りをどう拾うか」</a:t>
            </a:r>
          </a:p>
          <a:p>
            <a:pPr algn="ctr">
              <a:lnSpc>
                <a:spcPct val="130000"/>
              </a:lnSpc>
            </a:pPr>
            <a:r>
              <a:rPr sz="1800" b="1">
                <a:solidFill>
                  <a:srgbClr val="42BA97"/>
                </a:solidFill>
                <a:latin typeface="メイリオ"/>
              </a:rPr>
              <a:t>そんな迷いに、本日アプローチします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80000"/>
            <a:ext cx="49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600">
                <a:solidFill>
                  <a:srgbClr val="2683C6"/>
                </a:solidFill>
                <a:latin typeface="メイリオ"/>
              </a:rPr>
              <a:t>はじめに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700000"/>
            <a:ext cx="10792000" cy="9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200" b="1">
                <a:solidFill>
                  <a:srgbClr val="344068"/>
                </a:solidFill>
                <a:latin typeface="メイリオ"/>
              </a:rPr>
              <a:t>本日のゴール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1900000"/>
            <a:ext cx="11000000" cy="5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404040"/>
                </a:solidFill>
                <a:latin typeface="メイリオ"/>
              </a:rPr>
              <a:t>校長先生から3つの問いをいただきました。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900000" y="2600000"/>
            <a:ext cx="700000" cy="7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メイリオ"/>
              </a:rPr>
              <a:t>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0000" y="2700000"/>
            <a:ext cx="9500000" cy="6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44068"/>
                </a:solidFill>
                <a:latin typeface="メイリオ"/>
              </a:rPr>
              <a:t>どんな授業を行うか（指導と評価の一体化）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000" y="3500000"/>
            <a:ext cx="700000" cy="7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メイリオ"/>
              </a:rPr>
              <a:t>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0000" y="3600000"/>
            <a:ext cx="9500000" cy="6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44068"/>
                </a:solidFill>
                <a:latin typeface="メイリオ"/>
              </a:rPr>
              <a:t>どんな生徒の姿を見取るか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0000" y="4400000"/>
            <a:ext cx="700000" cy="7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メイリオ"/>
              </a:rPr>
              <a:t>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0000" y="4500000"/>
            <a:ext cx="9500000" cy="6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44068"/>
                </a:solidFill>
                <a:latin typeface="メイリオ"/>
              </a:rPr>
              <a:t>どう授業改善につなげるか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500000"/>
            <a:ext cx="11000000" cy="5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42BA97"/>
                </a:solidFill>
                <a:latin typeface="メイリオ"/>
              </a:rPr>
              <a:t>この3つに、30分でお答えします。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800000"/>
            <a:ext cx="12192000" cy="8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メイリオ"/>
              </a:rPr>
              <a:t>Part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700000"/>
            <a:ext cx="12192000" cy="130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メイリオ"/>
              </a:rPr>
              <a:t>なぜ今、「指導と評価の一体化」なのか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1000000" cy="5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800" b="0">
                <a:solidFill>
                  <a:srgbClr val="404040"/>
                </a:solidFill>
                <a:latin typeface="メイリオ"/>
              </a:rPr>
              <a:t>（5分）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80000"/>
            <a:ext cx="49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600">
                <a:solidFill>
                  <a:srgbClr val="2683C6"/>
                </a:solidFill>
                <a:latin typeface="メイリオ"/>
              </a:rPr>
              <a:t>Part 1　学習評価の充実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700000"/>
            <a:ext cx="10792000" cy="9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200" b="1">
                <a:solidFill>
                  <a:srgbClr val="344068"/>
                </a:solidFill>
                <a:latin typeface="メイリオ"/>
              </a:rPr>
              <a:t>学習指導要領 総則 ── 評価の本質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1900000"/>
            <a:ext cx="11000000" cy="5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</a:rPr>
              <a:t>第3-2 学習評価の充実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2400000"/>
            <a:ext cx="11000000" cy="2400000"/>
          </a:xfrm>
          <a:prstGeom prst="rect">
            <a:avLst/>
          </a:prstGeom>
          <a:solidFill>
            <a:srgbClr val="D9E0E6"/>
          </a:solidFill>
          <a:ln w="25400">
            <a:solidFill>
              <a:srgbClr val="2683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2550000"/>
            <a:ext cx="10600000" cy="22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344068"/>
                </a:solidFill>
                <a:latin typeface="メイリオ"/>
              </a:rPr>
              <a:t>「単元や題材など内容や時間のまとまりを見通しながら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344068"/>
                </a:solidFill>
                <a:latin typeface="メイリオ"/>
              </a:rPr>
              <a:t>評価の場面や方法を工夫して、学習の過程や成果を評価し、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344068"/>
                </a:solidFill>
                <a:latin typeface="メイリオ"/>
              </a:rPr>
              <a:t>指導の改善や学習意欲の向上を図り、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344068"/>
                </a:solidFill>
                <a:latin typeface="メイリオ"/>
              </a:rPr>
              <a:t>資質・能力の育成に生かすようにすること」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r">
              <a:lnSpc>
                <a:spcPct val="140000"/>
              </a:lnSpc>
            </a:pPr>
            <a:r>
              <a:rPr sz="1800" b="0">
                <a:solidFill>
                  <a:srgbClr val="404040"/>
                </a:solidFill>
                <a:latin typeface="メイリオ"/>
              </a:rPr>
              <a:t>　　　 ── 中学校学習指導要領（平成29年告示）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000" y="5100000"/>
            <a:ext cx="11000000" cy="9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42BA97"/>
                </a:solidFill>
                <a:latin typeface="メイリオ"/>
              </a:rPr>
              <a:t>ここに評価の本質が詰まっています</a:t>
            </a:r>
          </a:p>
          <a:p>
            <a:pPr algn="ctr">
              <a:lnSpc>
                <a:spcPct val="120000"/>
              </a:lnSpc>
            </a:pPr>
            <a:r>
              <a:rPr sz="2000" b="0">
                <a:solidFill>
                  <a:srgbClr val="2683C6"/>
                </a:solidFill>
                <a:latin typeface="メイリオ"/>
              </a:rPr>
              <a:t>キーワード： 見通し　工夫　指導の改善　意欲の向上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80000"/>
            <a:ext cx="49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600">
                <a:solidFill>
                  <a:srgbClr val="2683C6"/>
                </a:solidFill>
                <a:latin typeface="メイリオ"/>
              </a:rPr>
              <a:t>Part 1　学習評価の目的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700000"/>
            <a:ext cx="10792000" cy="9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200" b="1">
                <a:solidFill>
                  <a:srgbClr val="344068"/>
                </a:solidFill>
                <a:latin typeface="メイリオ"/>
              </a:rPr>
              <a:t>学習評価を行う目的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1900000"/>
            <a:ext cx="900000" cy="110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メイリオ"/>
              </a:rPr>
              <a:t>▶</a:t>
            </a:r>
          </a:p>
        </p:txBody>
      </p:sp>
      <p:sp>
        <p:nvSpPr>
          <p:cNvPr id="8" name="Rectangle 7"/>
          <p:cNvSpPr/>
          <p:nvPr/>
        </p:nvSpPr>
        <p:spPr>
          <a:xfrm>
            <a:off x="1700000" y="1900000"/>
            <a:ext cx="10000000" cy="1100000"/>
          </a:xfrm>
          <a:prstGeom prst="rect">
            <a:avLst/>
          </a:prstGeom>
          <a:noFill/>
          <a:ln w="25400">
            <a:solidFill>
              <a:srgbClr val="1CA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50000" y="2000000"/>
            <a:ext cx="9800000" cy="9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344068"/>
                </a:solidFill>
                <a:latin typeface="メイリオ"/>
              </a:rPr>
              <a:t>生徒の「学習改善」につなげる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404040"/>
                </a:solidFill>
                <a:latin typeface="メイリオ"/>
              </a:rPr>
              <a:t>例： 次は○○に取り組むよう生徒に伝える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0000" y="3200000"/>
            <a:ext cx="900000" cy="110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メイリオ"/>
              </a:rPr>
              <a:t>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00000" y="3200000"/>
            <a:ext cx="10000000" cy="1100000"/>
          </a:xfrm>
          <a:prstGeom prst="rect">
            <a:avLst/>
          </a:prstGeom>
          <a:noFill/>
          <a:ln w="25400">
            <a:solidFill>
              <a:srgbClr val="1CA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50000" y="3300000"/>
            <a:ext cx="9800000" cy="9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344068"/>
                </a:solidFill>
                <a:latin typeface="メイリオ"/>
              </a:rPr>
              <a:t>教師の「指導改善」につなげる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404040"/>
                </a:solidFill>
                <a:latin typeface="メイリオ"/>
              </a:rPr>
              <a:t>例： 次の授業で○○を重点的に指導する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000" y="4500000"/>
            <a:ext cx="900000" cy="1100000"/>
          </a:xfrm>
          <a:prstGeom prst="rect">
            <a:avLst/>
          </a:prstGeom>
          <a:solidFill>
            <a:srgbClr val="42BA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メイリオ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00000" y="4500000"/>
            <a:ext cx="10000000" cy="1100000"/>
          </a:xfrm>
          <a:prstGeom prst="rect">
            <a:avLst/>
          </a:prstGeom>
          <a:noFill/>
          <a:ln w="25400">
            <a:solidFill>
              <a:srgbClr val="42BA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50000" y="4600000"/>
            <a:ext cx="9800000" cy="9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344068"/>
                </a:solidFill>
                <a:latin typeface="メイリオ"/>
              </a:rPr>
              <a:t>慣行として行ってきたことの「見直し」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404040"/>
                </a:solidFill>
                <a:latin typeface="メイリオ"/>
              </a:rPr>
              <a:t>例： 今までこうだったから、を勇気をもって見直す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000" y="6120000"/>
            <a:ext cx="11000000" cy="214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404040"/>
                </a:solidFill>
                <a:latin typeface="メイリオ"/>
              </a:rPr>
              <a:t>出典： 中央教育審議会 H31.1 「児童生徒の学習評価の在り方について（報告）」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80000"/>
            <a:ext cx="49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600">
                <a:solidFill>
                  <a:srgbClr val="2683C6"/>
                </a:solidFill>
                <a:latin typeface="メイリオ"/>
              </a:rPr>
              <a:t>Part 1　課題と展望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700000"/>
            <a:ext cx="10792000" cy="9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200" b="1">
                <a:solidFill>
                  <a:srgbClr val="344068"/>
                </a:solidFill>
                <a:latin typeface="メイリオ"/>
              </a:rPr>
              <a:t>課題と「一体化」のメリット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1850000"/>
            <a:ext cx="5400000" cy="500000"/>
          </a:xfrm>
          <a:prstGeom prst="rect">
            <a:avLst/>
          </a:prstGeom>
          <a:solidFill>
            <a:srgbClr val="C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メイリオ"/>
              </a:rPr>
              <a:t>全国の課題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2350000"/>
            <a:ext cx="5400000" cy="2800000"/>
          </a:xfrm>
          <a:prstGeom prst="rect">
            <a:avLst/>
          </a:prstGeom>
          <a:noFill/>
          <a:ln w="25400">
            <a:solidFill>
              <a:srgbClr val="C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2450000"/>
            <a:ext cx="5000000" cy="27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344068"/>
                </a:solidFill>
                <a:latin typeface="メイリオ"/>
              </a:rPr>
              <a:t>○ 学習改善につながっていない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344068"/>
                </a:solidFill>
                <a:latin typeface="メイリオ"/>
              </a:rPr>
              <a:t>○ 教師により方針が異なる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344068"/>
                </a:solidFill>
                <a:latin typeface="メイリオ"/>
              </a:rPr>
              <a:t>○ 記録に労力が割かれる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344068"/>
                </a:solidFill>
                <a:latin typeface="メイリオ"/>
              </a:rPr>
              <a:t>○ 「指導に生かす」と「記録に残す」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344068"/>
                </a:solidFill>
                <a:latin typeface="メイリオ"/>
              </a:rPr>
              <a:t>　 が区別されていない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344068"/>
                </a:solidFill>
                <a:latin typeface="メイリオ"/>
              </a:rPr>
              <a:t>○ 観点別評価の誤解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0000" y="1850000"/>
            <a:ext cx="5400000" cy="500000"/>
          </a:xfrm>
          <a:prstGeom prst="rect">
            <a:avLst/>
          </a:prstGeom>
          <a:solidFill>
            <a:srgbClr val="42BA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メイリオ"/>
              </a:rPr>
              <a:t>「一体化」で得られるもの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2350000"/>
            <a:ext cx="5400000" cy="2800000"/>
          </a:xfrm>
          <a:prstGeom prst="rect">
            <a:avLst/>
          </a:prstGeom>
          <a:noFill/>
          <a:ln w="25400">
            <a:solidFill>
              <a:srgbClr val="42BA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0000" y="2450000"/>
            <a:ext cx="5000000" cy="27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344068"/>
                </a:solidFill>
                <a:latin typeface="メイリオ"/>
              </a:rPr>
              <a:t>○ 生徒の学習意欲の向上</a:t>
            </a:r>
          </a:p>
          <a:p>
            <a:pPr algn="l">
              <a:lnSpc>
                <a:spcPct val="130000"/>
              </a:lnSpc>
            </a:pPr>
            <a:r>
              <a:rPr sz="400" b="0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344068"/>
                </a:solidFill>
                <a:latin typeface="メイリオ"/>
              </a:rPr>
              <a:t>○ 学習効果の向上</a:t>
            </a:r>
          </a:p>
          <a:p>
            <a:pPr algn="l">
              <a:lnSpc>
                <a:spcPct val="130000"/>
              </a:lnSpc>
            </a:pPr>
            <a:r>
              <a:rPr sz="400" b="0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344068"/>
                </a:solidFill>
                <a:latin typeface="メイリオ"/>
              </a:rPr>
              <a:t>○ 教師の指導力の向上</a:t>
            </a:r>
          </a:p>
          <a:p>
            <a:pPr algn="l">
              <a:lnSpc>
                <a:spcPct val="130000"/>
              </a:lnSpc>
            </a:pPr>
            <a:r>
              <a:rPr sz="400" b="0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344068"/>
                </a:solidFill>
                <a:latin typeface="メイリオ"/>
              </a:rPr>
              <a:t>○ 教育活動全体の質の向上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000" y="5400000"/>
            <a:ext cx="11000000" cy="7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メイリオ"/>
              </a:rPr>
              <a:t>課題を抱えているのは石神井南中だけではありません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6120000"/>
            <a:ext cx="11000000" cy="214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404040"/>
                </a:solidFill>
                <a:latin typeface="メイリオ"/>
              </a:rPr>
              <a:t>出典： 中教審 H31.1報告 ／ 文科省 教育課程部会 R8.3資料1-1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80000"/>
            <a:ext cx="49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600">
                <a:solidFill>
                  <a:srgbClr val="2683C6"/>
                </a:solidFill>
                <a:latin typeface="メイリオ"/>
              </a:rPr>
              <a:t>Part 1　最新動向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700000"/>
            <a:ext cx="10792000" cy="9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200" b="1">
                <a:solidFill>
                  <a:srgbClr val="344068"/>
                </a:solidFill>
                <a:latin typeface="メイリオ"/>
              </a:rPr>
              <a:t>評価は今、どこへ向かっているか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1850000"/>
            <a:ext cx="11000000" cy="5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メイリオ"/>
              </a:rPr>
              <a:t>文部科学省 教育課程部会 総則・評価特別部会（令和8年3月 資料1-1より）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2500000"/>
            <a:ext cx="500000" cy="60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メイリオ"/>
              </a:rPr>
              <a:t>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00000" y="2550000"/>
            <a:ext cx="10400000" cy="55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344068"/>
                </a:solidFill>
                <a:latin typeface="メイリオ"/>
              </a:rPr>
              <a:t>形式的かつ過度な「評価材料集め」を抑制する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0000" y="3300000"/>
            <a:ext cx="500000" cy="60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メイリオ"/>
              </a:rPr>
              <a:t>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0000" y="3350000"/>
            <a:ext cx="10400000" cy="55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344068"/>
                </a:solidFill>
                <a:latin typeface="メイリオ"/>
              </a:rPr>
              <a:t>多様な子供一人一人の「良さや成長」を肯定的に評価する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0000" y="4100000"/>
            <a:ext cx="500000" cy="60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メイリオ"/>
              </a:rPr>
              <a:t>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00000" y="4150000"/>
            <a:ext cx="10400000" cy="55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344068"/>
                </a:solidFill>
                <a:latin typeface="メイリオ"/>
              </a:rPr>
              <a:t>「学びに向かう力、人間性等」の見取り方を見直す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000" y="5400000"/>
            <a:ext cx="11000000" cy="800000"/>
          </a:xfrm>
          <a:prstGeom prst="rect">
            <a:avLst/>
          </a:prstGeom>
          <a:solidFill>
            <a:srgbClr val="42BA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メイリオ"/>
              </a:rPr>
              <a:t>「頑張って記録を増やす」時代は終わりつつある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80000"/>
            <a:ext cx="49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600">
                <a:solidFill>
                  <a:srgbClr val="2683C6"/>
                </a:solidFill>
                <a:latin typeface="メイリオ"/>
              </a:rPr>
              <a:t>Part 1　評価の質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700000"/>
            <a:ext cx="10792000" cy="9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200" b="1">
                <a:solidFill>
                  <a:srgbClr val="344068"/>
                </a:solidFill>
                <a:latin typeface="メイリオ"/>
              </a:rPr>
              <a:t>評価が満たすべき2つの条件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1850000"/>
            <a:ext cx="5300000" cy="6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メイリオ"/>
              </a:rPr>
              <a:t>妥当性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2450000"/>
            <a:ext cx="5300000" cy="2200000"/>
          </a:xfrm>
          <a:prstGeom prst="rect">
            <a:avLst/>
          </a:prstGeom>
          <a:noFill/>
          <a:ln w="25400">
            <a:solidFill>
              <a:srgbClr val="2683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2600000"/>
            <a:ext cx="4900000" cy="20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344068"/>
                </a:solidFill>
                <a:latin typeface="メイリオ"/>
              </a:rPr>
              <a:t>評価の対象である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344068"/>
                </a:solidFill>
                <a:latin typeface="メイリオ"/>
              </a:rPr>
              <a:t>「資質・能力」を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2683C6"/>
                </a:solidFill>
                <a:latin typeface="メイリオ"/>
              </a:rPr>
              <a:t>適切に反映していること</a:t>
            </a:r>
          </a:p>
          <a:p>
            <a:pPr algn="l">
              <a:lnSpc>
                <a:spcPct val="130000"/>
              </a:lnSpc>
            </a:pPr>
            <a:r>
              <a:rPr sz="800" b="0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42BA97"/>
                </a:solidFill>
                <a:latin typeface="メイリオ"/>
              </a:rPr>
              <a:t>→ 個人で確保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000" y="1850000"/>
            <a:ext cx="5300000" cy="60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メイリオ"/>
              </a:rPr>
              <a:t>信頼性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000" y="2450000"/>
            <a:ext cx="5300000" cy="2200000"/>
          </a:xfrm>
          <a:prstGeom prst="rect">
            <a:avLst/>
          </a:prstGeom>
          <a:noFill/>
          <a:ln w="25400">
            <a:solidFill>
              <a:srgbClr val="1CA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0000" y="2600000"/>
            <a:ext cx="4900000" cy="20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344068"/>
                </a:solidFill>
                <a:latin typeface="メイリオ"/>
              </a:rPr>
              <a:t>教師の主観に流れず、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344068"/>
                </a:solidFill>
                <a:latin typeface="メイリオ"/>
              </a:rPr>
              <a:t>誰が評価しても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1CADE4"/>
                </a:solidFill>
                <a:latin typeface="メイリオ"/>
              </a:rPr>
              <a:t>同じ結果になること</a:t>
            </a:r>
          </a:p>
          <a:p>
            <a:pPr algn="l">
              <a:lnSpc>
                <a:spcPct val="130000"/>
              </a:lnSpc>
            </a:pPr>
            <a:r>
              <a:rPr sz="800" b="0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42BA97"/>
                </a:solidFill>
                <a:latin typeface="メイリオ"/>
              </a:rPr>
              <a:t>→ 組織で確保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000" y="5000000"/>
            <a:ext cx="11000000" cy="800000"/>
          </a:xfrm>
          <a:prstGeom prst="rect">
            <a:avLst/>
          </a:prstGeom>
          <a:solidFill>
            <a:srgbClr val="42BA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メイリオ"/>
              </a:rPr>
              <a:t>妥当性は「個人」で、信頼性は「組織」で確保する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6120000"/>
            <a:ext cx="11000000" cy="214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404040"/>
                </a:solidFill>
                <a:latin typeface="メイリオ"/>
              </a:rPr>
              <a:t>出典： 東京都教育委員会「指導と評価の一体化を目指して」（令和2年）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800000"/>
            <a:ext cx="12192000" cy="8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メイリオ"/>
              </a:rPr>
              <a:t>Part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700000"/>
            <a:ext cx="12192000" cy="70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メイリオ"/>
              </a:rPr>
              <a:t>校長の問い❶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3500000"/>
            <a:ext cx="12192000" cy="1000000"/>
          </a:xfrm>
          <a:prstGeom prst="rect">
            <a:avLst/>
          </a:prstGeom>
          <a:solidFill>
            <a:srgbClr val="28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メイリオ"/>
              </a:rPr>
              <a:t>── どんな授業を行うか ──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4700000"/>
            <a:ext cx="11000000" cy="5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800" b="0">
                <a:solidFill>
                  <a:srgbClr val="404040"/>
                </a:solidFill>
                <a:latin typeface="メイリオ"/>
              </a:rPr>
              <a:t>（8分）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80000"/>
            <a:ext cx="49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600">
                <a:solidFill>
                  <a:srgbClr val="2683C6"/>
                </a:solidFill>
                <a:latin typeface="メイリオ"/>
              </a:rPr>
              <a:t>Part 2　評価のデザイン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700000"/>
            <a:ext cx="10792000" cy="9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200" b="1">
                <a:solidFill>
                  <a:srgbClr val="344068"/>
                </a:solidFill>
                <a:latin typeface="メイリオ"/>
              </a:rPr>
              <a:t>「毎時間 × 全観点」をやめる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1850000"/>
            <a:ext cx="900000" cy="900000"/>
          </a:xfrm>
          <a:prstGeom prst="rect">
            <a:avLst/>
          </a:prstGeom>
          <a:solidFill>
            <a:srgbClr val="C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メイリオ"/>
              </a:rPr>
              <a:t>×</a:t>
            </a:r>
          </a:p>
        </p:txBody>
      </p:sp>
      <p:sp>
        <p:nvSpPr>
          <p:cNvPr id="8" name="Rectangle 7"/>
          <p:cNvSpPr/>
          <p:nvPr/>
        </p:nvSpPr>
        <p:spPr>
          <a:xfrm>
            <a:off x="1700000" y="1850000"/>
            <a:ext cx="10000000" cy="900000"/>
          </a:xfrm>
          <a:prstGeom prst="rect">
            <a:avLst/>
          </a:prstGeom>
          <a:noFill/>
          <a:ln w="25400">
            <a:solidFill>
              <a:srgbClr val="C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0000" y="1900000"/>
            <a:ext cx="9700000" cy="8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344068"/>
                </a:solidFill>
                <a:latin typeface="メイリオ"/>
              </a:rPr>
              <a:t>毎時間、全観点を評価しようとする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404040"/>
                </a:solidFill>
                <a:latin typeface="メイリオ"/>
              </a:rPr>
              <a:t>→ 教師は疲弊、生徒は評価されすぎる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0000" y="2950000"/>
            <a:ext cx="900000" cy="900000"/>
          </a:xfrm>
          <a:prstGeom prst="rect">
            <a:avLst/>
          </a:prstGeom>
          <a:solidFill>
            <a:srgbClr val="42BA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メイリオ"/>
              </a:rPr>
              <a:t>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00000" y="2950000"/>
            <a:ext cx="10000000" cy="900000"/>
          </a:xfrm>
          <a:prstGeom prst="rect">
            <a:avLst/>
          </a:prstGeom>
          <a:noFill/>
          <a:ln w="25400">
            <a:solidFill>
              <a:srgbClr val="42BA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00000" y="3000000"/>
            <a:ext cx="9700000" cy="8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344068"/>
                </a:solidFill>
                <a:latin typeface="メイリオ"/>
              </a:rPr>
              <a:t>単元の中で、いつ・何を見るかを設計する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404040"/>
                </a:solidFill>
                <a:latin typeface="メイリオ"/>
              </a:rPr>
              <a:t>→ 重点を決め、記録を絞る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000" y="4500000"/>
            <a:ext cx="11000000" cy="9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メイリオ"/>
              </a:rPr>
              <a:t>これが「指導と評価の一体化」の第一歩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600000"/>
            <a:ext cx="11000000" cy="7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404040"/>
                </a:solidFill>
                <a:latin typeface="メイリオ"/>
              </a:rPr>
              <a:t>文科省も「形式的・過度な評価材料集めの抑制」を求めています（R8.3論点整理）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80000"/>
            <a:ext cx="49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600">
                <a:solidFill>
                  <a:srgbClr val="2683C6"/>
                </a:solidFill>
                <a:latin typeface="メイリオ"/>
              </a:rPr>
              <a:t>Part 2　評価のデザイン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700000"/>
            <a:ext cx="10792000" cy="9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200" b="1">
                <a:solidFill>
                  <a:srgbClr val="344068"/>
                </a:solidFill>
                <a:latin typeface="メイリオ"/>
              </a:rPr>
              <a:t>単元評価計画の例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00000" y="1900000"/>
          <a:ext cx="10600000" cy="3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0000"/>
                <a:gridCol w="3200000"/>
                <a:gridCol w="1400000"/>
                <a:gridCol w="1400000"/>
                <a:gridCol w="3800000"/>
              </a:tblGrid>
              <a:tr h="425000">
                <a:tc>
                  <a:txBody>
                    <a:bodyPr lIns="40000" rIns="40000" tIns="20000" bIns="20000"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メイリオ"/>
                        </a:rPr>
                        <a:t>時</a:t>
                      </a:r>
                    </a:p>
                  </a:txBody>
                  <a:tcPr>
                    <a:solidFill>
                      <a:srgbClr val="2683C6"/>
                    </a:solidFill>
                  </a:tcPr>
                </a:tc>
                <a:tc>
                  <a:txBody>
                    <a:bodyPr lIns="40000" rIns="40000" tIns="20000" bIns="20000"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メイリオ"/>
                        </a:rPr>
                        <a:t>ねらい・学習活動</a:t>
                      </a:r>
                    </a:p>
                  </a:txBody>
                  <a:tcPr>
                    <a:solidFill>
                      <a:srgbClr val="2683C6"/>
                    </a:solidFill>
                  </a:tcPr>
                </a:tc>
                <a:tc>
                  <a:txBody>
                    <a:bodyPr lIns="40000" rIns="40000" tIns="20000" bIns="20000"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メイリオ"/>
                        </a:rPr>
                        <a:t>重点</a:t>
                      </a:r>
                    </a:p>
                  </a:txBody>
                  <a:tcPr>
                    <a:solidFill>
                      <a:srgbClr val="2683C6"/>
                    </a:solidFill>
                  </a:tcPr>
                </a:tc>
                <a:tc>
                  <a:txBody>
                    <a:bodyPr lIns="40000" rIns="40000" tIns="20000" bIns="20000"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メイリオ"/>
                        </a:rPr>
                        <a:t>記録</a:t>
                      </a:r>
                    </a:p>
                  </a:txBody>
                  <a:tcPr>
                    <a:solidFill>
                      <a:srgbClr val="2683C6"/>
                    </a:solidFill>
                  </a:tcPr>
                </a:tc>
                <a:tc>
                  <a:txBody>
                    <a:bodyPr lIns="40000" rIns="40000" tIns="20000" bIns="20000"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メイリオ"/>
                        </a:rPr>
                        <a:t>評価方法</a:t>
                      </a:r>
                    </a:p>
                  </a:txBody>
                  <a:tcPr>
                    <a:solidFill>
                      <a:srgbClr val="2683C6"/>
                    </a:solidFill>
                  </a:tcPr>
                </a:tc>
              </a:tr>
              <a:tr h="4250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>
                          <a:solidFill>
                            <a:srgbClr val="344068"/>
                          </a:solidFill>
                          <a:latin typeface="メイリオ"/>
                        </a:rPr>
                        <a:t>1</a:t>
                      </a:r>
                    </a:p>
                  </a:txBody>
                  <a:tcPr>
                    <a:solidFill>
                      <a:srgbClr val="D9E0E6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>
                          <a:solidFill>
                            <a:srgbClr val="344068"/>
                          </a:solidFill>
                          <a:latin typeface="メイリオ"/>
                        </a:rPr>
                        <a:t>導入</a:t>
                      </a:r>
                    </a:p>
                  </a:txBody>
                  <a:tcPr>
                    <a:solidFill>
                      <a:srgbClr val="D9E0E6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 b="1">
                          <a:solidFill>
                            <a:srgbClr val="2683C6"/>
                          </a:solidFill>
                          <a:latin typeface="メイリオ"/>
                        </a:rPr>
                        <a:t>知</a:t>
                      </a:r>
                    </a:p>
                  </a:txBody>
                  <a:tcPr>
                    <a:solidFill>
                      <a:srgbClr val="D9E0E6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>
                          <a:solidFill>
                            <a:srgbClr val="344068"/>
                          </a:solidFill>
                          <a:latin typeface="メイリオ"/>
                        </a:rPr>
                        <a:t/>
                      </a:r>
                    </a:p>
                  </a:txBody>
                  <a:tcPr>
                    <a:solidFill>
                      <a:srgbClr val="D9E0E6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l"/>
                      <a:r>
                        <a:rPr sz="1600">
                          <a:solidFill>
                            <a:srgbClr val="344068"/>
                          </a:solidFill>
                          <a:latin typeface="メイリオ"/>
                        </a:rPr>
                        <a:t>行動観察</a:t>
                      </a:r>
                    </a:p>
                  </a:txBody>
                  <a:tcPr>
                    <a:solidFill>
                      <a:srgbClr val="D9E0E6"/>
                    </a:solidFill>
                  </a:tcPr>
                </a:tc>
              </a:tr>
              <a:tr h="4250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>
                          <a:solidFill>
                            <a:srgbClr val="344068"/>
                          </a:solidFill>
                          <a:latin typeface="メイリオ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>
                          <a:solidFill>
                            <a:srgbClr val="344068"/>
                          </a:solidFill>
                          <a:latin typeface="メイリオ"/>
                        </a:rPr>
                        <a:t>展開1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 b="1">
                          <a:solidFill>
                            <a:srgbClr val="2683C6"/>
                          </a:solidFill>
                          <a:latin typeface="メイリオ"/>
                        </a:rPr>
                        <a:t>知 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 b="1">
                          <a:solidFill>
                            <a:srgbClr val="2683C6"/>
                          </a:solidFill>
                          <a:latin typeface="メイリオ"/>
                        </a:rPr>
                        <a:t>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l"/>
                      <a:r>
                        <a:rPr sz="1600">
                          <a:solidFill>
                            <a:srgbClr val="344068"/>
                          </a:solidFill>
                          <a:latin typeface="メイリオ"/>
                        </a:rPr>
                        <a:t>知：小テスト  態：学習シート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50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>
                          <a:solidFill>
                            <a:srgbClr val="344068"/>
                          </a:solidFill>
                          <a:latin typeface="メイリオ"/>
                        </a:rPr>
                        <a:t>3</a:t>
                      </a:r>
                    </a:p>
                  </a:txBody>
                  <a:tcPr>
                    <a:solidFill>
                      <a:srgbClr val="D9E0E6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>
                          <a:solidFill>
                            <a:srgbClr val="344068"/>
                          </a:solidFill>
                          <a:latin typeface="メイリオ"/>
                        </a:rPr>
                        <a:t>展開2</a:t>
                      </a:r>
                    </a:p>
                  </a:txBody>
                  <a:tcPr>
                    <a:solidFill>
                      <a:srgbClr val="D9E0E6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 b="1">
                          <a:solidFill>
                            <a:srgbClr val="2683C6"/>
                          </a:solidFill>
                          <a:latin typeface="メイリオ"/>
                        </a:rPr>
                        <a:t>思</a:t>
                      </a:r>
                    </a:p>
                  </a:txBody>
                  <a:tcPr>
                    <a:solidFill>
                      <a:srgbClr val="D9E0E6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>
                          <a:solidFill>
                            <a:srgbClr val="344068"/>
                          </a:solidFill>
                          <a:latin typeface="メイリオ"/>
                        </a:rPr>
                        <a:t/>
                      </a:r>
                    </a:p>
                  </a:txBody>
                  <a:tcPr>
                    <a:solidFill>
                      <a:srgbClr val="D9E0E6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l"/>
                      <a:r>
                        <a:rPr sz="1600">
                          <a:solidFill>
                            <a:srgbClr val="344068"/>
                          </a:solidFill>
                          <a:latin typeface="メイリオ"/>
                        </a:rPr>
                        <a:t>行動観察</a:t>
                      </a:r>
                    </a:p>
                  </a:txBody>
                  <a:tcPr>
                    <a:solidFill>
                      <a:srgbClr val="D9E0E6"/>
                    </a:solidFill>
                  </a:tcPr>
                </a:tc>
              </a:tr>
              <a:tr h="4250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>
                          <a:solidFill>
                            <a:srgbClr val="344068"/>
                          </a:solidFill>
                          <a:latin typeface="メイリオ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>
                          <a:solidFill>
                            <a:srgbClr val="344068"/>
                          </a:solidFill>
                          <a:latin typeface="メイリオ"/>
                        </a:rPr>
                        <a:t>展開3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 b="1">
                          <a:solidFill>
                            <a:srgbClr val="2683C6"/>
                          </a:solidFill>
                          <a:latin typeface="メイリオ"/>
                        </a:rPr>
                        <a:t>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 b="1">
                          <a:solidFill>
                            <a:srgbClr val="2683C6"/>
                          </a:solidFill>
                          <a:latin typeface="メイリオ"/>
                        </a:rPr>
                        <a:t>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l"/>
                      <a:r>
                        <a:rPr sz="1600">
                          <a:solidFill>
                            <a:srgbClr val="344068"/>
                          </a:solidFill>
                          <a:latin typeface="メイリオ"/>
                        </a:rPr>
                        <a:t>ノート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50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>
                          <a:solidFill>
                            <a:srgbClr val="344068"/>
                          </a:solidFill>
                          <a:latin typeface="メイリオ"/>
                        </a:rPr>
                        <a:t>5</a:t>
                      </a:r>
                    </a:p>
                  </a:txBody>
                  <a:tcPr>
                    <a:solidFill>
                      <a:srgbClr val="D9E0E6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>
                          <a:solidFill>
                            <a:srgbClr val="344068"/>
                          </a:solidFill>
                          <a:latin typeface="メイリオ"/>
                        </a:rPr>
                        <a:t>展開4</a:t>
                      </a:r>
                    </a:p>
                  </a:txBody>
                  <a:tcPr>
                    <a:solidFill>
                      <a:srgbClr val="D9E0E6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 b="1">
                          <a:solidFill>
                            <a:srgbClr val="2683C6"/>
                          </a:solidFill>
                          <a:latin typeface="メイリオ"/>
                        </a:rPr>
                        <a:t>知</a:t>
                      </a:r>
                    </a:p>
                  </a:txBody>
                  <a:tcPr>
                    <a:solidFill>
                      <a:srgbClr val="D9E0E6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>
                          <a:solidFill>
                            <a:srgbClr val="344068"/>
                          </a:solidFill>
                          <a:latin typeface="メイリオ"/>
                        </a:rPr>
                        <a:t/>
                      </a:r>
                    </a:p>
                  </a:txBody>
                  <a:tcPr>
                    <a:solidFill>
                      <a:srgbClr val="D9E0E6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l"/>
                      <a:r>
                        <a:rPr sz="1600">
                          <a:solidFill>
                            <a:srgbClr val="344068"/>
                          </a:solidFill>
                          <a:latin typeface="メイリオ"/>
                        </a:rPr>
                        <a:t>小テスト</a:t>
                      </a:r>
                    </a:p>
                  </a:txBody>
                  <a:tcPr>
                    <a:solidFill>
                      <a:srgbClr val="D9E0E6"/>
                    </a:solidFill>
                  </a:tcPr>
                </a:tc>
              </a:tr>
              <a:tr h="4250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>
                          <a:solidFill>
                            <a:srgbClr val="344068"/>
                          </a:solidFill>
                          <a:latin typeface="メイリオ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>
                          <a:solidFill>
                            <a:srgbClr val="344068"/>
                          </a:solidFill>
                          <a:latin typeface="メイリオ"/>
                        </a:rPr>
                        <a:t>展開5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 b="1">
                          <a:solidFill>
                            <a:srgbClr val="2683C6"/>
                          </a:solidFill>
                          <a:latin typeface="メイリオ"/>
                        </a:rPr>
                        <a:t>知 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 b="1">
                          <a:solidFill>
                            <a:srgbClr val="2683C6"/>
                          </a:solidFill>
                          <a:latin typeface="メイリオ"/>
                        </a:rPr>
                        <a:t>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l"/>
                      <a:r>
                        <a:rPr sz="1600">
                          <a:solidFill>
                            <a:srgbClr val="344068"/>
                          </a:solidFill>
                          <a:latin typeface="メイリオ"/>
                        </a:rPr>
                        <a:t>知：行動観察  態：学習シート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50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>
                          <a:solidFill>
                            <a:srgbClr val="344068"/>
                          </a:solidFill>
                          <a:latin typeface="メイリオ"/>
                        </a:rPr>
                        <a:t>7</a:t>
                      </a:r>
                    </a:p>
                  </a:txBody>
                  <a:tcPr>
                    <a:solidFill>
                      <a:srgbClr val="D9E0E6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>
                          <a:solidFill>
                            <a:srgbClr val="344068"/>
                          </a:solidFill>
                          <a:latin typeface="メイリオ"/>
                        </a:rPr>
                        <a:t>まとめ</a:t>
                      </a:r>
                    </a:p>
                  </a:txBody>
                  <a:tcPr>
                    <a:solidFill>
                      <a:srgbClr val="D9E0E6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 b="1">
                          <a:solidFill>
                            <a:srgbClr val="2683C6"/>
                          </a:solidFill>
                          <a:latin typeface="メイリオ"/>
                        </a:rPr>
                        <a:t>知 思</a:t>
                      </a:r>
                    </a:p>
                  </a:txBody>
                  <a:tcPr>
                    <a:solidFill>
                      <a:srgbClr val="D9E0E6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600" b="1">
                          <a:solidFill>
                            <a:srgbClr val="2683C6"/>
                          </a:solidFill>
                          <a:latin typeface="メイリオ"/>
                        </a:rPr>
                        <a:t>○○</a:t>
                      </a:r>
                    </a:p>
                  </a:txBody>
                  <a:tcPr>
                    <a:solidFill>
                      <a:srgbClr val="D9E0E6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l"/>
                      <a:r>
                        <a:rPr sz="1600">
                          <a:solidFill>
                            <a:srgbClr val="344068"/>
                          </a:solidFill>
                          <a:latin typeface="メイリオ"/>
                        </a:rPr>
                        <a:t>単元テスト</a:t>
                      </a:r>
                    </a:p>
                  </a:txBody>
                  <a:tcPr>
                    <a:solidFill>
                      <a:srgbClr val="D9E0E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00000" y="5450000"/>
            <a:ext cx="11000000" cy="82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683C6"/>
                </a:solidFill>
                <a:latin typeface="メイリオ"/>
              </a:rPr>
              <a:t>★ 「重点」 ＝ 指導に生かす評価（毎時間）</a:t>
            </a:r>
          </a:p>
          <a:p>
            <a:pPr algn="l">
              <a:lnSpc>
                <a:spcPct val="125000"/>
              </a:lnSpc>
            </a:pPr>
            <a:r>
              <a:rPr sz="2000" b="1">
                <a:solidFill>
                  <a:srgbClr val="42BA97"/>
                </a:solidFill>
                <a:latin typeface="メイリオ"/>
              </a:rPr>
              <a:t>★ 「記録」 ＝ 総括（評定）に残す評価（節目だけ）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80000"/>
            <a:ext cx="49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600">
                <a:solidFill>
                  <a:srgbClr val="2683C6"/>
                </a:solidFill>
                <a:latin typeface="メイリオ"/>
              </a:rPr>
              <a:t>Part 2　2種類の評価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700000"/>
            <a:ext cx="10792000" cy="9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200" b="1">
                <a:solidFill>
                  <a:srgbClr val="344068"/>
                </a:solidFill>
                <a:latin typeface="メイリオ"/>
              </a:rPr>
              <a:t>「指導に生かす評価」と「記録に残す評価」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1850000"/>
            <a:ext cx="5300000" cy="70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メイリオ"/>
              </a:rPr>
              <a:t>指導に生かす評価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2550000"/>
            <a:ext cx="5300000" cy="400000"/>
          </a:xfrm>
          <a:prstGeom prst="rect">
            <a:avLst/>
          </a:prstGeom>
          <a:solidFill>
            <a:srgbClr val="D9E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1800" b="0">
                <a:solidFill>
                  <a:srgbClr val="344068"/>
                </a:solidFill>
                <a:latin typeface="メイリオ"/>
              </a:rPr>
              <a:t>（形成的評価）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00000" y="2950000"/>
            <a:ext cx="5300000" cy="2300000"/>
          </a:xfrm>
          <a:prstGeom prst="rect">
            <a:avLst/>
          </a:prstGeom>
          <a:noFill/>
          <a:ln w="25400">
            <a:solidFill>
              <a:srgbClr val="1CA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000" y="3100000"/>
            <a:ext cx="4900000" cy="21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344068"/>
                </a:solidFill>
                <a:latin typeface="メイリオ"/>
              </a:rPr>
              <a:t>○ 毎時間、自然な観察で見取る</a:t>
            </a:r>
          </a:p>
          <a:p>
            <a:pPr algn="l">
              <a:lnSpc>
                <a:spcPct val="130000"/>
              </a:lnSpc>
            </a:pPr>
            <a:r>
              <a:rPr sz="1900" b="0">
                <a:solidFill>
                  <a:srgbClr val="344068"/>
                </a:solidFill>
                <a:latin typeface="メイリオ"/>
              </a:rPr>
              <a:t>○ 授業を変えるための材料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2683C6"/>
                </a:solidFill>
                <a:latin typeface="メイリオ"/>
              </a:rPr>
              <a:t>○ 記録は必須ではない</a:t>
            </a:r>
          </a:p>
          <a:p>
            <a:pPr algn="l">
              <a:lnSpc>
                <a:spcPct val="130000"/>
              </a:lnSpc>
            </a:pPr>
            <a:r>
              <a:rPr sz="600" b="0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404040"/>
                </a:solidFill>
                <a:latin typeface="メイリオ"/>
              </a:rPr>
              <a:t>≪具体例≫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404040"/>
                </a:solidFill>
                <a:latin typeface="メイリオ"/>
              </a:rPr>
              <a:t>机間指導での観察、振り返りシート、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404040"/>
                </a:solidFill>
                <a:latin typeface="メイリオ"/>
              </a:rPr>
              <a:t>ミニテスト、学習シート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000" y="1850000"/>
            <a:ext cx="5300000" cy="7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メイリオ"/>
              </a:rPr>
              <a:t>記録に残す評価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000" y="2550000"/>
            <a:ext cx="5300000" cy="400000"/>
          </a:xfrm>
          <a:prstGeom prst="rect">
            <a:avLst/>
          </a:prstGeom>
          <a:solidFill>
            <a:srgbClr val="D9E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1800" b="0">
                <a:solidFill>
                  <a:srgbClr val="344068"/>
                </a:solidFill>
                <a:latin typeface="メイリオ"/>
              </a:rPr>
              <a:t>（総括的評価）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000" y="2950000"/>
            <a:ext cx="5300000" cy="2300000"/>
          </a:xfrm>
          <a:prstGeom prst="rect">
            <a:avLst/>
          </a:prstGeom>
          <a:noFill/>
          <a:ln w="25400">
            <a:solidFill>
              <a:srgbClr val="2683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0000" y="3100000"/>
            <a:ext cx="4900000" cy="21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344068"/>
                </a:solidFill>
                <a:latin typeface="メイリオ"/>
              </a:rPr>
              <a:t>○ 単元の節目で計画的に見取る</a:t>
            </a:r>
          </a:p>
          <a:p>
            <a:pPr algn="l">
              <a:lnSpc>
                <a:spcPct val="130000"/>
              </a:lnSpc>
            </a:pPr>
            <a:r>
              <a:rPr sz="1900" b="0">
                <a:solidFill>
                  <a:srgbClr val="344068"/>
                </a:solidFill>
                <a:latin typeface="メイリオ"/>
              </a:rPr>
              <a:t>○ 評定の根拠になる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2683C6"/>
                </a:solidFill>
                <a:latin typeface="メイリオ"/>
              </a:rPr>
              <a:t>○ 記録は必須・組織で揃える</a:t>
            </a:r>
          </a:p>
          <a:p>
            <a:pPr algn="l">
              <a:lnSpc>
                <a:spcPct val="130000"/>
              </a:lnSpc>
            </a:pPr>
            <a:r>
              <a:rPr sz="600" b="0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404040"/>
                </a:solidFill>
                <a:latin typeface="メイリオ"/>
              </a:rPr>
              <a:t>≪具体例≫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404040"/>
                </a:solidFill>
                <a:latin typeface="メイリオ"/>
              </a:rPr>
              <a:t>単元テスト、観点別評価、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404040"/>
                </a:solidFill>
                <a:latin typeface="メイリオ"/>
              </a:rPr>
              <a:t>成果物（レポート・作品）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000" y="5500000"/>
            <a:ext cx="11000000" cy="56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42BA97"/>
                </a:solidFill>
                <a:latin typeface="メイリオ"/>
              </a:rPr>
              <a:t>「2つを区別する」だけで、評価の負担は劇的に減る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000" y="6120000"/>
            <a:ext cx="11000000" cy="214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404040"/>
                </a:solidFill>
                <a:latin typeface="メイリオ"/>
              </a:rPr>
              <a:t>出典： 国立教育政策研究所「学習評価の在り方ハンドブック（中学校編）」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80000"/>
            <a:ext cx="49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600">
                <a:solidFill>
                  <a:srgbClr val="2683C6"/>
                </a:solidFill>
                <a:latin typeface="メイリオ"/>
              </a:rPr>
              <a:t>Part 2　評価の整理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700000"/>
            <a:ext cx="10792000" cy="9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200" b="1">
                <a:solidFill>
                  <a:srgbClr val="344068"/>
                </a:solidFill>
                <a:latin typeface="メイリオ"/>
              </a:rPr>
              <a:t>学習評価の3種類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1900000"/>
            <a:ext cx="3200000" cy="110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メイリオ"/>
              </a:rPr>
              <a:t>診断的評価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0" y="1900000"/>
            <a:ext cx="7700000" cy="1100000"/>
          </a:xfrm>
          <a:prstGeom prst="rect">
            <a:avLst/>
          </a:prstGeom>
          <a:noFill/>
          <a:ln w="25400">
            <a:solidFill>
              <a:srgbClr val="1CA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0000" y="2000000"/>
            <a:ext cx="7400000" cy="9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【タイミング】 学習前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404040"/>
                </a:solidFill>
                <a:latin typeface="メイリオ"/>
              </a:rPr>
              <a:t>【例】 レディネステスト、コース分けの小テスト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0000" y="3200000"/>
            <a:ext cx="3200000" cy="11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メイリオ"/>
              </a:rPr>
              <a:t>形成的評価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00000" y="3200000"/>
            <a:ext cx="7700000" cy="1100000"/>
          </a:xfrm>
          <a:prstGeom prst="rect">
            <a:avLst/>
          </a:prstGeom>
          <a:noFill/>
          <a:ln w="25400">
            <a:solidFill>
              <a:srgbClr val="2683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0000" y="3300000"/>
            <a:ext cx="7400000" cy="9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【タイミング】 学習過程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404040"/>
                </a:solidFill>
                <a:latin typeface="メイリオ"/>
              </a:rPr>
              <a:t>【例】 振り返りシート、教師の観察、ミニテスト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000" y="4500000"/>
            <a:ext cx="3200000" cy="1100000"/>
          </a:xfrm>
          <a:prstGeom prst="rect">
            <a:avLst/>
          </a:prstGeom>
          <a:solidFill>
            <a:srgbClr val="28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メイリオ"/>
              </a:rPr>
              <a:t>総括的評価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000" y="4500000"/>
            <a:ext cx="7700000" cy="1100000"/>
          </a:xfrm>
          <a:prstGeom prst="rect">
            <a:avLst/>
          </a:prstGeom>
          <a:noFill/>
          <a:ln w="25400">
            <a:solidFill>
              <a:srgbClr val="28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0000" y="4600000"/>
            <a:ext cx="7400000" cy="9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【タイミング】 単元末・学期末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404040"/>
                </a:solidFill>
                <a:latin typeface="メイリオ"/>
              </a:rPr>
              <a:t>【例】 単元テスト、観点別評価、評定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000" y="5850000"/>
            <a:ext cx="11000000" cy="38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2BA97"/>
                </a:solidFill>
                <a:latin typeface="メイリオ"/>
              </a:rPr>
              <a:t>形成的評価で日常的に見取り、総括的評価で記録に残す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80000"/>
            <a:ext cx="49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600">
                <a:solidFill>
                  <a:srgbClr val="2683C6"/>
                </a:solidFill>
                <a:latin typeface="メイリオ"/>
              </a:rPr>
              <a:t>Part 2　単元デザイン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700000"/>
            <a:ext cx="10792000" cy="9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200" b="1">
                <a:solidFill>
                  <a:srgbClr val="344068"/>
                </a:solidFill>
                <a:latin typeface="メイリオ"/>
              </a:rPr>
              <a:t>単元の授業デザイン（10時間モデル）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1900000"/>
            <a:ext cx="3650000" cy="70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メイリオ"/>
              </a:rPr>
              <a:t>導入　2時間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2600000"/>
            <a:ext cx="3650000" cy="2200000"/>
          </a:xfrm>
          <a:prstGeom prst="rect">
            <a:avLst/>
          </a:prstGeom>
          <a:noFill/>
          <a:ln w="25400">
            <a:solidFill>
              <a:srgbClr val="1CA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2750000"/>
            <a:ext cx="3250000" cy="15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学習の見通しをもつ</a:t>
            </a:r>
          </a:p>
          <a:p>
            <a:pPr algn="ctr">
              <a:lnSpc>
                <a:spcPct val="14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学習計画づくり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0000" y="4250000"/>
            <a:ext cx="3050000" cy="450000"/>
          </a:xfrm>
          <a:prstGeom prst="rect">
            <a:avLst/>
          </a:prstGeom>
          <a:solidFill>
            <a:srgbClr val="42BA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▶ 主体的な学び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50000" y="1900000"/>
            <a:ext cx="3650000" cy="7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メイリオ"/>
              </a:rPr>
              <a:t>追究　6時間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0000" y="2600000"/>
            <a:ext cx="3650000" cy="2200000"/>
          </a:xfrm>
          <a:prstGeom prst="rect">
            <a:avLst/>
          </a:prstGeom>
          <a:noFill/>
          <a:ln w="25400">
            <a:solidFill>
              <a:srgbClr val="2683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0000" y="2750000"/>
            <a:ext cx="3250000" cy="15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課題解決に向けた話し合い</a:t>
            </a:r>
          </a:p>
          <a:p>
            <a:pPr algn="ctr">
              <a:lnSpc>
                <a:spcPct val="14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情報精査・考えの形成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0000" y="4250000"/>
            <a:ext cx="3050000" cy="450000"/>
          </a:xfrm>
          <a:prstGeom prst="rect">
            <a:avLst/>
          </a:prstGeom>
          <a:solidFill>
            <a:srgbClr val="42BA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▶ 対話的・深いな学び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0" y="1900000"/>
            <a:ext cx="3650000" cy="700000"/>
          </a:xfrm>
          <a:prstGeom prst="rect">
            <a:avLst/>
          </a:prstGeom>
          <a:solidFill>
            <a:srgbClr val="28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メイリオ"/>
              </a:rPr>
              <a:t>まとめ　2時間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00000" y="2600000"/>
            <a:ext cx="3650000" cy="2200000"/>
          </a:xfrm>
          <a:prstGeom prst="rect">
            <a:avLst/>
          </a:prstGeom>
          <a:noFill/>
          <a:ln w="25400">
            <a:solidFill>
              <a:srgbClr val="28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0000" y="2750000"/>
            <a:ext cx="3250000" cy="15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学習を評価し修正する振り返り</a:t>
            </a:r>
          </a:p>
          <a:p>
            <a:pPr algn="ctr">
              <a:lnSpc>
                <a:spcPct val="14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新たな問いを見いだす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0000" y="4250000"/>
            <a:ext cx="3050000" cy="450000"/>
          </a:xfrm>
          <a:prstGeom prst="rect">
            <a:avLst/>
          </a:prstGeom>
          <a:solidFill>
            <a:srgbClr val="42BA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▶ 主体的・深いな学び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0000" y="5300000"/>
            <a:ext cx="11000000" cy="800000"/>
          </a:xfrm>
          <a:prstGeom prst="rect">
            <a:avLst/>
          </a:prstGeom>
          <a:solidFill>
            <a:srgbClr val="344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</a:rPr>
              <a:t>教科は違っても、この骨格は共通です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80000"/>
            <a:ext cx="49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600">
                <a:solidFill>
                  <a:srgbClr val="2683C6"/>
                </a:solidFill>
                <a:latin typeface="メイリオ"/>
              </a:rPr>
              <a:t>Part 2　まとめ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700000"/>
            <a:ext cx="10792000" cy="9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200" b="1">
                <a:solidFill>
                  <a:srgbClr val="344068"/>
                </a:solidFill>
                <a:latin typeface="メイリオ"/>
              </a:rPr>
              <a:t>校長の問い❶への回答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1850000"/>
            <a:ext cx="11000000" cy="7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メイリオ"/>
              </a:rPr>
              <a:t>「どんな授業を行えばよいか」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900000" y="2700000"/>
            <a:ext cx="600000" cy="550000"/>
          </a:xfrm>
          <a:prstGeom prst="rect">
            <a:avLst/>
          </a:prstGeom>
          <a:solidFill>
            <a:srgbClr val="42BA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メイリオ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000" y="2750000"/>
            <a:ext cx="10000000" cy="55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344068"/>
                </a:solidFill>
                <a:latin typeface="メイリオ"/>
              </a:rPr>
              <a:t>単元のスタートで評価計画を立てる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000" y="3400000"/>
            <a:ext cx="600000" cy="550000"/>
          </a:xfrm>
          <a:prstGeom prst="rect">
            <a:avLst/>
          </a:prstGeom>
          <a:solidFill>
            <a:srgbClr val="42BA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メイリオ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000" y="3450000"/>
            <a:ext cx="10000000" cy="55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344068"/>
                </a:solidFill>
                <a:latin typeface="メイリオ"/>
              </a:rPr>
              <a:t>「重点」と「記録」を区別する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0000" y="4100000"/>
            <a:ext cx="600000" cy="550000"/>
          </a:xfrm>
          <a:prstGeom prst="rect">
            <a:avLst/>
          </a:prstGeom>
          <a:solidFill>
            <a:srgbClr val="42BA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メイリオ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000" y="4150000"/>
            <a:ext cx="10000000" cy="55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344068"/>
                </a:solidFill>
                <a:latin typeface="メイリオ"/>
              </a:rPr>
              <a:t>形成的評価で授業を変え、総括的評価で記録する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000" y="5000000"/>
            <a:ext cx="11000000" cy="450000"/>
          </a:xfrm>
          <a:prstGeom prst="rect">
            <a:avLst/>
          </a:prstGeom>
          <a:solidFill>
            <a:srgbClr val="28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メイリオ"/>
              </a:rPr>
              <a:t>≪明日からできること≫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0000" y="5470000"/>
            <a:ext cx="11000000" cy="550000"/>
          </a:xfrm>
          <a:prstGeom prst="rect">
            <a:avLst/>
          </a:prstGeom>
          <a:noFill/>
          <a:ln w="25400">
            <a:solidFill>
              <a:srgbClr val="28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000" y="5520000"/>
            <a:ext cx="10600000" cy="45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344068"/>
                </a:solidFill>
                <a:latin typeface="メイリオ"/>
              </a:rPr>
              <a:t>次の単元の指導計画に、「記録」を入れる欄を1列足す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000" y="6120000"/>
            <a:ext cx="11000000" cy="214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r">
              <a:lnSpc>
                <a:spcPct val="120000"/>
              </a:lnSpc>
            </a:pPr>
            <a:r>
              <a:rPr sz="1000" b="1">
                <a:solidFill>
                  <a:srgbClr val="2683C6"/>
                </a:solidFill>
                <a:latin typeface="メイリオ"/>
              </a:rPr>
              <a:t>【キーメッセージ①】評価は「ためる」のではなく「使う」もの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500000"/>
            <a:ext cx="12192000" cy="8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メイリオ"/>
              </a:rPr>
              <a:t>Part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400000"/>
            <a:ext cx="12192000" cy="70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メイリオ"/>
              </a:rPr>
              <a:t>校長の問い❷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3200000"/>
            <a:ext cx="12192000" cy="1000000"/>
          </a:xfrm>
          <a:prstGeom prst="rect">
            <a:avLst/>
          </a:prstGeom>
          <a:solidFill>
            <a:srgbClr val="28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メイリオ"/>
              </a:rPr>
              <a:t>── どんな姿を見取るか ──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4400000"/>
            <a:ext cx="11000000" cy="5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42BA97"/>
                </a:solidFill>
                <a:latin typeface="メイリオ"/>
              </a:rPr>
              <a:t>（9分 ── 本日の核）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80000"/>
            <a:ext cx="49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600">
                <a:solidFill>
                  <a:srgbClr val="2683C6"/>
                </a:solidFill>
                <a:latin typeface="メイリオ"/>
              </a:rPr>
              <a:t>Part 3　3観点の整理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700000"/>
            <a:ext cx="10792000" cy="9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200" b="1">
                <a:solidFill>
                  <a:srgbClr val="344068"/>
                </a:solidFill>
                <a:latin typeface="メイリオ"/>
              </a:rPr>
              <a:t>各教科の評価 ── 3つの観点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1900000"/>
            <a:ext cx="4500000" cy="100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</a:rPr>
              <a:t>知識・技能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0000" y="1900000"/>
            <a:ext cx="6400000" cy="1000000"/>
          </a:xfrm>
          <a:prstGeom prst="rect">
            <a:avLst/>
          </a:prstGeom>
          <a:noFill/>
          <a:ln w="25400">
            <a:solidFill>
              <a:srgbClr val="1CA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00000" y="2100000"/>
            <a:ext cx="6000000" cy="8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344068"/>
                </a:solidFill>
                <a:latin typeface="メイリオ"/>
              </a:rPr>
              <a:t>何を理解しているか／何ができるか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0000" y="3100000"/>
            <a:ext cx="4500000" cy="10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</a:rPr>
              <a:t>思考・判断・表現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0000" y="3100000"/>
            <a:ext cx="6400000" cy="1000000"/>
          </a:xfrm>
          <a:prstGeom prst="rect">
            <a:avLst/>
          </a:prstGeom>
          <a:noFill/>
          <a:ln w="25400">
            <a:solidFill>
              <a:srgbClr val="2683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00000" y="3300000"/>
            <a:ext cx="6000000" cy="8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344068"/>
                </a:solidFill>
                <a:latin typeface="メイリオ"/>
              </a:rPr>
              <a:t>理解していること・できることをどう使うか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000" y="4300000"/>
            <a:ext cx="4500000" cy="1000000"/>
          </a:xfrm>
          <a:prstGeom prst="rect">
            <a:avLst/>
          </a:prstGeom>
          <a:solidFill>
            <a:srgbClr val="28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</a:rPr>
              <a:t>主体的に学習に取り組む態度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0000" y="4300000"/>
            <a:ext cx="6400000" cy="1000000"/>
          </a:xfrm>
          <a:prstGeom prst="rect">
            <a:avLst/>
          </a:prstGeom>
          <a:noFill/>
          <a:ln w="25400">
            <a:solidFill>
              <a:srgbClr val="28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00000" y="4500000"/>
            <a:ext cx="6000000" cy="8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344068"/>
                </a:solidFill>
                <a:latin typeface="メイリオ"/>
              </a:rPr>
              <a:t>どのように学び続けようとしているか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80000"/>
            <a:ext cx="49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600">
                <a:solidFill>
                  <a:srgbClr val="2683C6"/>
                </a:solidFill>
                <a:latin typeface="メイリオ"/>
              </a:rPr>
              <a:t>Part 3　知識・技能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700000"/>
            <a:ext cx="10792000" cy="9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200" b="1">
                <a:solidFill>
                  <a:srgbClr val="344068"/>
                </a:solidFill>
                <a:latin typeface="メイリオ"/>
              </a:rPr>
              <a:t>「知識・技能」を見取る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1850000"/>
            <a:ext cx="11000000" cy="70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</a:rPr>
              <a:t>★ 既有の知識と関連付けて使えるか／概念として理解しているか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2700000"/>
            <a:ext cx="11000000" cy="400000"/>
          </a:xfrm>
          <a:prstGeom prst="rect">
            <a:avLst/>
          </a:prstGeom>
          <a:solidFill>
            <a:srgbClr val="D9E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l"/>
            <a:r>
              <a:rPr sz="2000" b="1">
                <a:solidFill>
                  <a:srgbClr val="344068"/>
                </a:solidFill>
                <a:latin typeface="メイリオ"/>
              </a:rPr>
              <a:t>【評価の場面】</a:t>
            </a:r>
          </a:p>
        </p:txBody>
      </p:sp>
      <p:sp>
        <p:nvSpPr>
          <p:cNvPr id="9" name="Rectangle 8"/>
          <p:cNvSpPr/>
          <p:nvPr/>
        </p:nvSpPr>
        <p:spPr>
          <a:xfrm>
            <a:off x="700000" y="3100000"/>
            <a:ext cx="11000000" cy="2400000"/>
          </a:xfrm>
          <a:prstGeom prst="rect">
            <a:avLst/>
          </a:prstGeom>
          <a:noFill/>
          <a:ln w="25400">
            <a:solidFill>
              <a:srgbClr val="1CA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000" y="3250000"/>
            <a:ext cx="10600000" cy="22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44068"/>
                </a:solidFill>
                <a:latin typeface="メイリオ"/>
              </a:rPr>
              <a:t>○ ペーパーテスト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404040"/>
                </a:solidFill>
                <a:latin typeface="メイリオ"/>
              </a:rPr>
              <a:t>　 → 事実的知識と概念的理解のバランスを問う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344068"/>
                </a:solidFill>
                <a:latin typeface="メイリオ"/>
              </a:rPr>
              <a:t>○ 知識・技能を実際に使う場面の学習活動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404040"/>
                </a:solidFill>
                <a:latin typeface="メイリオ"/>
              </a:rPr>
              <a:t>　 → 観察・実験・式やグラフでの表現</a:t>
            </a:r>
          </a:p>
          <a:p>
            <a:pPr algn="l">
              <a:lnSpc>
                <a:spcPct val="130000"/>
              </a:lnSpc>
            </a:pPr>
            <a:r>
              <a:rPr sz="2400" b="0">
                <a:solidFill>
                  <a:srgbClr val="344068"/>
                </a:solidFill>
                <a:latin typeface="メイリオ"/>
              </a:rPr>
              <a:t>○ 説明させる・例を挙げさせる発問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404040"/>
                </a:solidFill>
                <a:latin typeface="メイリオ"/>
              </a:rPr>
              <a:t>　 → 「概念として理解しているか」を見るのが鍵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5700000"/>
            <a:ext cx="11000000" cy="600000"/>
          </a:xfrm>
          <a:prstGeom prst="rect">
            <a:avLst/>
          </a:prstGeom>
          <a:solidFill>
            <a:srgbClr val="42BA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</a:rPr>
              <a:t>テストだけが「知識・技能」の評価ではない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80000"/>
            <a:ext cx="49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600">
                <a:solidFill>
                  <a:srgbClr val="2683C6"/>
                </a:solidFill>
                <a:latin typeface="メイリオ"/>
              </a:rPr>
              <a:t>Part 3　思考・判断・表現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700000"/>
            <a:ext cx="10792000" cy="9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200" b="1">
                <a:solidFill>
                  <a:srgbClr val="344068"/>
                </a:solidFill>
                <a:latin typeface="メイリオ"/>
              </a:rPr>
              <a:t>「思考・判断・表現」を見取る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1850000"/>
            <a:ext cx="11000000" cy="7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</a:rPr>
              <a:t>★ 知識・技能を使って課題を解決できるか／過程を表現できるか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2700000"/>
            <a:ext cx="11000000" cy="400000"/>
          </a:xfrm>
          <a:prstGeom prst="rect">
            <a:avLst/>
          </a:prstGeom>
          <a:solidFill>
            <a:srgbClr val="D9E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l"/>
            <a:r>
              <a:rPr sz="2000" b="1">
                <a:solidFill>
                  <a:srgbClr val="344068"/>
                </a:solidFill>
                <a:latin typeface="メイリオ"/>
              </a:rPr>
              <a:t>【評価の場面】</a:t>
            </a:r>
          </a:p>
        </p:txBody>
      </p:sp>
      <p:sp>
        <p:nvSpPr>
          <p:cNvPr id="9" name="Rectangle 8"/>
          <p:cNvSpPr/>
          <p:nvPr/>
        </p:nvSpPr>
        <p:spPr>
          <a:xfrm>
            <a:off x="700000" y="3100000"/>
            <a:ext cx="11000000" cy="2400000"/>
          </a:xfrm>
          <a:prstGeom prst="rect">
            <a:avLst/>
          </a:prstGeom>
          <a:noFill/>
          <a:ln w="25400">
            <a:solidFill>
              <a:srgbClr val="2683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000" y="3250000"/>
            <a:ext cx="10600000" cy="22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400" b="0">
                <a:solidFill>
                  <a:srgbClr val="344068"/>
                </a:solidFill>
                <a:latin typeface="メイリオ"/>
              </a:rPr>
              <a:t>○ 論述・レポート</a:t>
            </a:r>
          </a:p>
          <a:p>
            <a:pPr algn="l">
              <a:lnSpc>
                <a:spcPct val="140000"/>
              </a:lnSpc>
            </a:pPr>
            <a:r>
              <a:rPr sz="2400" b="0">
                <a:solidFill>
                  <a:srgbClr val="344068"/>
                </a:solidFill>
                <a:latin typeface="メイリオ"/>
              </a:rPr>
              <a:t>○ グループでの話合い</a:t>
            </a:r>
          </a:p>
          <a:p>
            <a:pPr algn="l">
              <a:lnSpc>
                <a:spcPct val="140000"/>
              </a:lnSpc>
            </a:pPr>
            <a:r>
              <a:rPr sz="2400" b="0">
                <a:solidFill>
                  <a:srgbClr val="344068"/>
                </a:solidFill>
                <a:latin typeface="メイリオ"/>
              </a:rPr>
              <a:t>○ 作品の制作・表現活動</a:t>
            </a:r>
          </a:p>
          <a:p>
            <a:pPr algn="l">
              <a:lnSpc>
                <a:spcPct val="140000"/>
              </a:lnSpc>
            </a:pPr>
            <a:r>
              <a:rPr sz="2400" b="0">
                <a:solidFill>
                  <a:srgbClr val="344068"/>
                </a:solidFill>
                <a:latin typeface="メイリオ"/>
              </a:rPr>
              <a:t>○ ポートフォリオの活用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5700000"/>
            <a:ext cx="11000000" cy="600000"/>
          </a:xfrm>
          <a:prstGeom prst="rect">
            <a:avLst/>
          </a:prstGeom>
          <a:solidFill>
            <a:srgbClr val="42BA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</a:rPr>
              <a:t>「過程」を見る ── 結果だけではない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80000"/>
            <a:ext cx="49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600">
                <a:solidFill>
                  <a:srgbClr val="2683C6"/>
                </a:solidFill>
                <a:latin typeface="メイリオ"/>
              </a:rPr>
              <a:t>Part 3　主体的に学習に取り組む態度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700000"/>
            <a:ext cx="10792000" cy="9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200" b="1">
                <a:solidFill>
                  <a:srgbClr val="344068"/>
                </a:solidFill>
                <a:latin typeface="メイリオ"/>
              </a:rPr>
              <a:t>「主体的に学習に取り組む態度」── 2つの側面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1900000"/>
            <a:ext cx="5400000" cy="70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</a:rPr>
              <a:t>① 粘り強く取り組む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2600000"/>
            <a:ext cx="5400000" cy="2400000"/>
          </a:xfrm>
          <a:prstGeom prst="rect">
            <a:avLst/>
          </a:prstGeom>
          <a:noFill/>
          <a:ln w="25400">
            <a:solidFill>
              <a:srgbClr val="1CA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2750000"/>
            <a:ext cx="5000000" cy="22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</a:rPr>
              <a:t>【姿のキーワード】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2683C6"/>
                </a:solidFill>
                <a:latin typeface="メイリオ"/>
              </a:rPr>
              <a:t>「積極的に」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2683C6"/>
                </a:solidFill>
                <a:latin typeface="メイリオ"/>
              </a:rPr>
              <a:t>「進んで」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2683C6"/>
                </a:solidFill>
                <a:latin typeface="メイリオ"/>
              </a:rPr>
              <a:t>「最後まで」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2683C6"/>
                </a:solidFill>
                <a:latin typeface="メイリオ"/>
              </a:rPr>
              <a:t>「あきらめずに」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0000" y="1900000"/>
            <a:ext cx="5400000" cy="7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</a:rPr>
              <a:t>② 自ら学習を調整する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2600000"/>
            <a:ext cx="5400000" cy="2400000"/>
          </a:xfrm>
          <a:prstGeom prst="rect">
            <a:avLst/>
          </a:prstGeom>
          <a:noFill/>
          <a:ln w="25400">
            <a:solidFill>
              <a:srgbClr val="2683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0000" y="2750000"/>
            <a:ext cx="5000000" cy="22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</a:rPr>
              <a:t>【姿のキーワード】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2683C6"/>
                </a:solidFill>
                <a:latin typeface="メイリオ"/>
              </a:rPr>
              <a:t>「見通しをもって」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2683C6"/>
                </a:solidFill>
                <a:latin typeface="メイリオ"/>
              </a:rPr>
              <a:t>「学習課題に沿って」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2683C6"/>
                </a:solidFill>
                <a:latin typeface="メイリオ"/>
              </a:rPr>
              <a:t>「振り返って」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2683C6"/>
                </a:solidFill>
                <a:latin typeface="メイリオ"/>
              </a:rPr>
              <a:t>「見直して」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000" y="5200000"/>
            <a:ext cx="11000000" cy="400000"/>
          </a:xfrm>
          <a:prstGeom prst="rect">
            <a:avLst/>
          </a:prstGeom>
          <a:solidFill>
            <a:srgbClr val="42BA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①と②は別々ではなく、相互に関わり合う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000" y="5650000"/>
            <a:ext cx="11000000" cy="400000"/>
          </a:xfrm>
          <a:prstGeom prst="rect">
            <a:avLst/>
          </a:prstGeom>
          <a:solidFill>
            <a:srgbClr val="344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①A・②C という姿は一般的ではない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000" y="6120000"/>
            <a:ext cx="11000000" cy="214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404040"/>
                </a:solidFill>
                <a:latin typeface="メイリオ"/>
              </a:rPr>
              <a:t>出典： 中央教育審議会 H31.1報告 ／ 国立教育政策研究所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80000"/>
            <a:ext cx="49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600">
                <a:solidFill>
                  <a:srgbClr val="2683C6"/>
                </a:solidFill>
                <a:latin typeface="メイリオ"/>
              </a:rPr>
              <a:t>Part 3　Bと判断する姿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700000"/>
            <a:ext cx="10792000" cy="9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200" b="1">
                <a:solidFill>
                  <a:srgbClr val="344068"/>
                </a:solidFill>
                <a:latin typeface="メイリオ"/>
              </a:rPr>
              <a:t>「Bと判断する姿」を具体化する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1750000"/>
            <a:ext cx="11000000" cy="500000"/>
          </a:xfrm>
          <a:prstGeom prst="rect">
            <a:avLst/>
          </a:prstGeom>
          <a:solidFill>
            <a:srgbClr val="28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</a:rPr>
              <a:t>教科横断で見える共通の姿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2250000"/>
            <a:ext cx="11000000" cy="600000"/>
          </a:xfrm>
          <a:prstGeom prst="rect">
            <a:avLst/>
          </a:prstGeom>
          <a:noFill/>
          <a:ln w="25400">
            <a:solidFill>
              <a:srgbClr val="28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2350000"/>
            <a:ext cx="10600000" cy="5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200" b="0">
                <a:solidFill>
                  <a:srgbClr val="344068"/>
                </a:solidFill>
                <a:latin typeface="メイリオ"/>
              </a:rPr>
              <a:t>○ 立ち止まる　 ○ 振り返る　 ○ やり直す　 ○ 試行錯誤する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0000" y="3000000"/>
            <a:ext cx="11000000" cy="5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メイリオ"/>
              </a:rPr>
              <a:t>具体例： 数学「二次方程式」── 学習シートに「気を付けるポイント」を記述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3550000"/>
            <a:ext cx="5400000" cy="50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</a:rPr>
              <a:t>▼ おおむね満足（B）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0000" y="4050000"/>
            <a:ext cx="5400000" cy="1700000"/>
          </a:xfrm>
          <a:prstGeom prst="rect">
            <a:avLst/>
          </a:prstGeom>
          <a:noFill/>
          <a:ln w="25400">
            <a:solidFill>
              <a:srgbClr val="1CA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000" y="4150000"/>
            <a:ext cx="5000000" cy="15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344068"/>
                </a:solidFill>
                <a:latin typeface="メイリオ"/>
              </a:rPr>
              <a:t>ポイントが書かれている</a:t>
            </a:r>
          </a:p>
          <a:p>
            <a:pPr algn="l">
              <a:lnSpc>
                <a:spcPct val="120000"/>
              </a:lnSpc>
            </a:pPr>
            <a:r>
              <a:rPr sz="600" b="0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700" b="0">
                <a:solidFill>
                  <a:srgbClr val="404040"/>
                </a:solidFill>
                <a:latin typeface="メイリオ"/>
              </a:rPr>
              <a:t>例：別の文字に置き換えて</a:t>
            </a:r>
          </a:p>
          <a:p>
            <a:pPr algn="l">
              <a:lnSpc>
                <a:spcPct val="120000"/>
              </a:lnSpc>
            </a:pPr>
            <a:r>
              <a:rPr sz="1700" b="0">
                <a:solidFill>
                  <a:srgbClr val="404040"/>
                </a:solidFill>
                <a:latin typeface="メイリオ"/>
              </a:rPr>
              <a:t>解く方法を使えるように</a:t>
            </a:r>
          </a:p>
          <a:p>
            <a:pPr algn="l">
              <a:lnSpc>
                <a:spcPct val="120000"/>
              </a:lnSpc>
            </a:pPr>
            <a:r>
              <a:rPr sz="1700" b="0">
                <a:solidFill>
                  <a:srgbClr val="404040"/>
                </a:solidFill>
                <a:latin typeface="メイリオ"/>
              </a:rPr>
              <a:t>する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000" y="3550000"/>
            <a:ext cx="5400000" cy="500000"/>
          </a:xfrm>
          <a:prstGeom prst="rect">
            <a:avLst/>
          </a:prstGeom>
          <a:solidFill>
            <a:srgbClr val="42BA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</a:rPr>
              <a:t>▼ 十分満足（A）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4050000"/>
            <a:ext cx="5400000" cy="1700000"/>
          </a:xfrm>
          <a:prstGeom prst="rect">
            <a:avLst/>
          </a:prstGeom>
          <a:noFill/>
          <a:ln w="25400">
            <a:solidFill>
              <a:srgbClr val="42BA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0000" y="4150000"/>
            <a:ext cx="5000000" cy="15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344068"/>
                </a:solidFill>
                <a:latin typeface="メイリオ"/>
              </a:rPr>
              <a:t>ポイント＋理由が書かれている</a:t>
            </a:r>
          </a:p>
          <a:p>
            <a:pPr algn="l">
              <a:lnSpc>
                <a:spcPct val="120000"/>
              </a:lnSpc>
            </a:pPr>
            <a:r>
              <a:rPr sz="600" b="0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404040"/>
                </a:solidFill>
                <a:latin typeface="メイリオ"/>
              </a:rPr>
              <a:t>例：式を見ずに展開すると時間も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404040"/>
                </a:solidFill>
                <a:latin typeface="メイリオ"/>
              </a:rPr>
              <a:t>間違いも増えるから、置き換えを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404040"/>
                </a:solidFill>
                <a:latin typeface="メイリオ"/>
              </a:rPr>
              <a:t>使えるようにする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0000" y="5770000"/>
            <a:ext cx="11000000" cy="340000"/>
          </a:xfrm>
          <a:prstGeom prst="rect">
            <a:avLst/>
          </a:prstGeom>
          <a:solidFill>
            <a:srgbClr val="344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同じ気付きでも「理由まで書けるか」でAとBが分かれる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000" y="6120000"/>
            <a:ext cx="11000000" cy="214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404040"/>
                </a:solidFill>
                <a:latin typeface="メイリオ"/>
              </a:rPr>
              <a:t>出典： 国立教育政策研究所「指導と評価の一体化のための参考資料」（数学）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80000"/>
            <a:ext cx="49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600">
                <a:solidFill>
                  <a:srgbClr val="2683C6"/>
                </a:solidFill>
                <a:latin typeface="メイリオ"/>
              </a:rPr>
              <a:t>Part 3　最重要メッセージ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700000"/>
            <a:ext cx="10792000" cy="9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800" b="1">
                <a:solidFill>
                  <a:srgbClr val="42BA97"/>
                </a:solidFill>
                <a:latin typeface="メイリオ"/>
              </a:rPr>
              <a:t>《本日の最重要メッセージ》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1900000"/>
            <a:ext cx="11000000" cy="900000"/>
          </a:xfrm>
          <a:prstGeom prst="rect">
            <a:avLst/>
          </a:prstGeom>
          <a:solidFill>
            <a:srgbClr val="344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メイリオ"/>
              </a:rPr>
              <a:t>「主体的に学習に取り組む態度」は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2800000"/>
            <a:ext cx="11000000" cy="900000"/>
          </a:xfrm>
          <a:prstGeom prst="rect">
            <a:avLst/>
          </a:prstGeom>
          <a:solidFill>
            <a:srgbClr val="42BA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メイリオ"/>
              </a:rPr>
              <a:t>“指導してから評価する”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700000" y="4000000"/>
            <a:ext cx="900000" cy="900000"/>
          </a:xfrm>
          <a:prstGeom prst="rect">
            <a:avLst/>
          </a:prstGeom>
          <a:solidFill>
            <a:srgbClr val="C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メイリオ"/>
              </a:rPr>
              <a:t>×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00000" y="4000000"/>
            <a:ext cx="10000000" cy="900000"/>
          </a:xfrm>
          <a:prstGeom prst="rect">
            <a:avLst/>
          </a:prstGeom>
          <a:noFill/>
          <a:ln w="25400">
            <a:solidFill>
              <a:srgbClr val="C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00000" y="4080000"/>
            <a:ext cx="9700000" cy="8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344068"/>
                </a:solidFill>
                <a:latin typeface="メイリオ"/>
              </a:rPr>
              <a:t>「個人任せ」で見取ろうとする → 育たない・評価できない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0000" y="5100000"/>
            <a:ext cx="900000" cy="900000"/>
          </a:xfrm>
          <a:prstGeom prst="rect">
            <a:avLst/>
          </a:prstGeom>
          <a:solidFill>
            <a:srgbClr val="42BA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メイリオ"/>
              </a:rPr>
              <a:t>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00000" y="5100000"/>
            <a:ext cx="10000000" cy="900000"/>
          </a:xfrm>
          <a:prstGeom prst="rect">
            <a:avLst/>
          </a:prstGeom>
          <a:noFill/>
          <a:ln w="25400">
            <a:solidFill>
              <a:srgbClr val="42BA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00000" y="5180000"/>
            <a:ext cx="9700000" cy="8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344068"/>
                </a:solidFill>
                <a:latin typeface="メイリオ"/>
              </a:rPr>
              <a:t>「学び方」を指導してから、その姿を見取る → 育つ・評価できる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000" y="6120000"/>
            <a:ext cx="11000000" cy="214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404040"/>
                </a:solidFill>
                <a:latin typeface="メイリオ"/>
              </a:rPr>
              <a:t>出典： 国立教育政策研究所「指導と評価の一体化のための参考資料」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80000"/>
            <a:ext cx="49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600">
                <a:solidFill>
                  <a:srgbClr val="2683C6"/>
                </a:solidFill>
                <a:latin typeface="メイリオ"/>
              </a:rPr>
              <a:t>Part 3　教師の働きかけ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700000"/>
            <a:ext cx="10792000" cy="9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000" b="1">
                <a:solidFill>
                  <a:srgbClr val="344068"/>
                </a:solidFill>
                <a:latin typeface="メイリオ"/>
              </a:rPr>
              <a:t>主体的な学びを引き出す ── 9つの働きかけ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1900000"/>
            <a:ext cx="3650000" cy="110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①既習事項を振り返らせる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450000" y="1900000"/>
            <a:ext cx="3650000" cy="110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②具体物で引きつける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0" y="1900000"/>
            <a:ext cx="3650000" cy="110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③「明らかにしたい」課題設定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0000" y="3100000"/>
            <a:ext cx="3650000" cy="11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④解決の方向性に見通しをもたせる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50000" y="3100000"/>
            <a:ext cx="3650000" cy="11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⑤生徒の思考を見守る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0" y="3100000"/>
            <a:ext cx="3650000" cy="11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⑥生徒の思考に即して展開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000" y="4300000"/>
            <a:ext cx="3650000" cy="1100000"/>
          </a:xfrm>
          <a:prstGeom prst="rect">
            <a:avLst/>
          </a:prstGeom>
          <a:solidFill>
            <a:srgbClr val="28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⑦生徒の考えを生かしてまとめる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50000" y="4300000"/>
            <a:ext cx="3650000" cy="1100000"/>
          </a:xfrm>
          <a:prstGeom prst="rect">
            <a:avLst/>
          </a:prstGeom>
          <a:solidFill>
            <a:srgbClr val="28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⑧その日の学びを振り返らせる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0" y="4300000"/>
            <a:ext cx="3650000" cy="1100000"/>
          </a:xfrm>
          <a:prstGeom prst="rect">
            <a:avLst/>
          </a:prstGeom>
          <a:solidFill>
            <a:srgbClr val="28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⑨新たな学びに意識を向けさせる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000" y="5500000"/>
            <a:ext cx="11000000" cy="4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42BA97"/>
                </a:solidFill>
                <a:latin typeface="メイリオ"/>
              </a:rPr>
              <a:t>明日の授業で、9つのうち1つを意識する。それだけで授業が変わる。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000" y="6120000"/>
            <a:ext cx="11000000" cy="214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404040"/>
                </a:solidFill>
                <a:latin typeface="メイリオ"/>
              </a:rPr>
              <a:t>出典： 文部科学省 国立教育政策研究所（2020）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80000"/>
            <a:ext cx="49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600">
                <a:solidFill>
                  <a:srgbClr val="2683C6"/>
                </a:solidFill>
                <a:latin typeface="メイリオ"/>
              </a:rPr>
              <a:t>Part 3　行動観察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700000"/>
            <a:ext cx="10792000" cy="9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200" b="1">
                <a:solidFill>
                  <a:srgbClr val="344068"/>
                </a:solidFill>
                <a:latin typeface="メイリオ"/>
              </a:rPr>
              <a:t>行動観察 ── 何を見るか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1850000"/>
            <a:ext cx="5400000" cy="60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メイリオ"/>
              </a:rPr>
              <a:t>【粘り強く取り組む姿】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2450000"/>
            <a:ext cx="5400000" cy="2700000"/>
          </a:xfrm>
          <a:prstGeom prst="rect">
            <a:avLst/>
          </a:prstGeom>
          <a:noFill/>
          <a:ln w="25400">
            <a:solidFill>
              <a:srgbClr val="1CA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2570000"/>
            <a:ext cx="5000000" cy="25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○ 前時のノートを見返している</a:t>
            </a:r>
          </a:p>
          <a:p>
            <a:pPr algn="l">
              <a:lnSpc>
                <a:spcPct val="120000"/>
              </a:lnSpc>
            </a:pPr>
            <a:r>
              <a:rPr sz="400" b="0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○ 別の方法での解決を試みる</a:t>
            </a:r>
          </a:p>
          <a:p>
            <a:pPr algn="l">
              <a:lnSpc>
                <a:spcPct val="120000"/>
              </a:lnSpc>
            </a:pPr>
            <a:r>
              <a:rPr sz="400" b="0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○ 図や言葉を書き加えて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　 理解しようとしている</a:t>
            </a:r>
          </a:p>
          <a:p>
            <a:pPr algn="l">
              <a:lnSpc>
                <a:spcPct val="120000"/>
              </a:lnSpc>
            </a:pPr>
            <a:r>
              <a:rPr sz="400" b="0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○ 説明を念頭に書き加える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0000" y="1850000"/>
            <a:ext cx="5400000" cy="6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メイリオ"/>
              </a:rPr>
              <a:t>【自己調整する姿】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2450000"/>
            <a:ext cx="5400000" cy="2700000"/>
          </a:xfrm>
          <a:prstGeom prst="rect">
            <a:avLst/>
          </a:prstGeom>
          <a:noFill/>
          <a:ln w="25400">
            <a:solidFill>
              <a:srgbClr val="2683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0000" y="2570000"/>
            <a:ext cx="5000000" cy="25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○ 解決方法を振り返り、修正する</a:t>
            </a:r>
          </a:p>
          <a:p>
            <a:pPr algn="l">
              <a:lnSpc>
                <a:spcPct val="120000"/>
              </a:lnSpc>
            </a:pPr>
            <a:r>
              <a:rPr sz="400" b="0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○ よりよい方法を探そうとする</a:t>
            </a:r>
          </a:p>
          <a:p>
            <a:pPr algn="l">
              <a:lnSpc>
                <a:spcPct val="120000"/>
              </a:lnSpc>
            </a:pPr>
            <a:r>
              <a:rPr sz="400" b="0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○ 振り返りシートに気付きを書く</a:t>
            </a:r>
          </a:p>
          <a:p>
            <a:pPr algn="l">
              <a:lnSpc>
                <a:spcPct val="120000"/>
              </a:lnSpc>
            </a:pPr>
            <a:r>
              <a:rPr sz="400" b="0">
                <a:solidFill>
                  <a:srgbClr val="000000"/>
                </a:solidFill>
                <a:latin typeface="メイリオ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○ 学習計画を立て直す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000" y="5350000"/>
            <a:ext cx="11000000" cy="800000"/>
          </a:xfrm>
          <a:prstGeom prst="rect">
            <a:avLst/>
          </a:prstGeom>
          <a:solidFill>
            <a:srgbClr val="42BA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メイリオ"/>
              </a:rPr>
              <a:t>全員を毎回見なくてよい ── 気になる3〜5人を単元で複数回見る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80000"/>
            <a:ext cx="49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600">
                <a:solidFill>
                  <a:srgbClr val="2683C6"/>
                </a:solidFill>
                <a:latin typeface="メイリオ"/>
              </a:rPr>
              <a:t>Part 3　留意点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700000"/>
            <a:ext cx="10792000" cy="9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200" b="1">
                <a:solidFill>
                  <a:srgbClr val="344068"/>
                </a:solidFill>
                <a:latin typeface="メイリオ"/>
              </a:rPr>
              <a:t>見取るときの留意点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1850000"/>
            <a:ext cx="5400000" cy="500000"/>
          </a:xfrm>
          <a:prstGeom prst="rect">
            <a:avLst/>
          </a:prstGeom>
          <a:solidFill>
            <a:srgbClr val="C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</a:rPr>
              <a:t>× こんな見取りはNG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2350000"/>
            <a:ext cx="5400000" cy="2400000"/>
          </a:xfrm>
          <a:prstGeom prst="rect">
            <a:avLst/>
          </a:prstGeom>
          <a:noFill/>
          <a:ln w="25400">
            <a:solidFill>
              <a:srgbClr val="C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2470000"/>
            <a:ext cx="5000000" cy="22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× 挙手の回数・発言の多寡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× ノート提出の有無だけ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× 性格・態度（外向き/真面目）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344068"/>
                </a:solidFill>
                <a:latin typeface="メイリオ"/>
              </a:rPr>
              <a:t>× 「個人任せ」で態度を見る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0000" y="1850000"/>
            <a:ext cx="5400000" cy="500000"/>
          </a:xfrm>
          <a:prstGeom prst="rect">
            <a:avLst/>
          </a:prstGeom>
          <a:solidFill>
            <a:srgbClr val="42BA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</a:rPr>
              <a:t>○ こう見取る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2350000"/>
            <a:ext cx="5400000" cy="2400000"/>
          </a:xfrm>
          <a:prstGeom prst="rect">
            <a:avLst/>
          </a:prstGeom>
          <a:noFill/>
          <a:ln w="25400">
            <a:solidFill>
              <a:srgbClr val="42BA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0000" y="2470000"/>
            <a:ext cx="5000000" cy="22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○ 学習目標に向かう「姿」を見る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○ 複数の場面・方法で確認する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344068"/>
                </a:solidFill>
                <a:latin typeface="メイリオ"/>
              </a:rPr>
              <a:t>○ 「学び方」を指導した上で見る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○ ばらつき（知CC・態度A）に気づく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000" y="4950000"/>
            <a:ext cx="11000000" cy="7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メイリオ"/>
              </a:rPr>
              <a:t>考えにくい評価 ── 知CC・思CC・態度A の組合せに要注意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750000"/>
            <a:ext cx="11000000" cy="4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683C6"/>
                </a:solidFill>
                <a:latin typeface="メイリオ"/>
              </a:rPr>
              <a:t>【キーメッセージ②】生徒の姿は「単元の中」で、「学び方を指導した上で」見取る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800000"/>
            <a:ext cx="12192000" cy="8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メイリオ"/>
              </a:rPr>
              <a:t>Part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700000"/>
            <a:ext cx="12192000" cy="70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メイリオ"/>
              </a:rPr>
              <a:t>校長の問い❸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3500000"/>
            <a:ext cx="12192000" cy="1000000"/>
          </a:xfrm>
          <a:prstGeom prst="rect">
            <a:avLst/>
          </a:prstGeom>
          <a:solidFill>
            <a:srgbClr val="28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メイリオ"/>
              </a:rPr>
              <a:t>── どう授業改善につなげるか ──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4700000"/>
            <a:ext cx="11000000" cy="5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2800" b="0">
                <a:solidFill>
                  <a:srgbClr val="404040"/>
                </a:solidFill>
                <a:latin typeface="メイリオ"/>
              </a:rPr>
              <a:t>（4分）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80000"/>
            <a:ext cx="49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600">
                <a:solidFill>
                  <a:srgbClr val="2683C6"/>
                </a:solidFill>
                <a:latin typeface="メイリオ"/>
              </a:rPr>
              <a:t>Part 4　改善サイクル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700000"/>
            <a:ext cx="10792000" cy="9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200" b="1">
                <a:solidFill>
                  <a:srgbClr val="344068"/>
                </a:solidFill>
                <a:latin typeface="メイリオ"/>
              </a:rPr>
              <a:t>評価 → 授業改善 のサイクル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1750000"/>
            <a:ext cx="800000" cy="55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メイリオ"/>
              </a:rPr>
              <a:t>①</a:t>
            </a:r>
          </a:p>
        </p:txBody>
      </p:sp>
      <p:sp>
        <p:nvSpPr>
          <p:cNvPr id="8" name="Rectangle 7"/>
          <p:cNvSpPr/>
          <p:nvPr/>
        </p:nvSpPr>
        <p:spPr>
          <a:xfrm>
            <a:off x="1600000" y="1750000"/>
            <a:ext cx="10100000" cy="550000"/>
          </a:xfrm>
          <a:prstGeom prst="rect">
            <a:avLst/>
          </a:prstGeom>
          <a:noFill/>
          <a:ln w="19050">
            <a:solidFill>
              <a:srgbClr val="1CA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0000" y="1810000"/>
            <a:ext cx="9700000" cy="45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344068"/>
                </a:solidFill>
                <a:latin typeface="メイリオ"/>
              </a:rPr>
              <a:t>単元・本時の目標を明確化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0000" y="2400000"/>
            <a:ext cx="800000" cy="55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メイリオ"/>
              </a:rPr>
              <a:t>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000" y="2400000"/>
            <a:ext cx="10100000" cy="550000"/>
          </a:xfrm>
          <a:prstGeom prst="rect">
            <a:avLst/>
          </a:prstGeom>
          <a:noFill/>
          <a:ln w="19050">
            <a:solidFill>
              <a:srgbClr val="1CA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00000" y="2460000"/>
            <a:ext cx="9700000" cy="45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344068"/>
                </a:solidFill>
                <a:latin typeface="メイリオ"/>
              </a:rPr>
              <a:t>評価規準・場面を計画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000" y="3050000"/>
            <a:ext cx="800000" cy="55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メイリオ"/>
              </a:rPr>
              <a:t>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00000" y="3050000"/>
            <a:ext cx="10100000" cy="550000"/>
          </a:xfrm>
          <a:prstGeom prst="rect">
            <a:avLst/>
          </a:prstGeom>
          <a:noFill/>
          <a:ln w="19050">
            <a:solidFill>
              <a:srgbClr val="2683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00000" y="3110000"/>
            <a:ext cx="9700000" cy="45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344068"/>
                </a:solidFill>
                <a:latin typeface="メイリオ"/>
              </a:rPr>
              <a:t>授業実施 ＋ 形成的評価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0000" y="3700000"/>
            <a:ext cx="800000" cy="55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メイリオ"/>
              </a:rPr>
              <a:t>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000" y="3700000"/>
            <a:ext cx="10100000" cy="550000"/>
          </a:xfrm>
          <a:prstGeom prst="rect">
            <a:avLst/>
          </a:prstGeom>
          <a:noFill/>
          <a:ln w="19050">
            <a:solidFill>
              <a:srgbClr val="2683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00000" y="3760000"/>
            <a:ext cx="9700000" cy="45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344068"/>
                </a:solidFill>
                <a:latin typeface="メイリオ"/>
              </a:rPr>
              <a:t>「指導に生かす」── 次時の指導を修正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0000" y="4350000"/>
            <a:ext cx="800000" cy="550000"/>
          </a:xfrm>
          <a:prstGeom prst="rect">
            <a:avLst/>
          </a:prstGeom>
          <a:solidFill>
            <a:srgbClr val="28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メイリオ"/>
              </a:rPr>
              <a:t>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00000" y="4350000"/>
            <a:ext cx="10100000" cy="550000"/>
          </a:xfrm>
          <a:prstGeom prst="rect">
            <a:avLst/>
          </a:prstGeom>
          <a:noFill/>
          <a:ln w="19050">
            <a:solidFill>
              <a:srgbClr val="28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0000" y="4410000"/>
            <a:ext cx="9700000" cy="45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344068"/>
                </a:solidFill>
                <a:latin typeface="メイリオ"/>
              </a:rPr>
              <a:t>単元末「記録に残す」── 評定へ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0000" y="5000000"/>
            <a:ext cx="800000" cy="550000"/>
          </a:xfrm>
          <a:prstGeom prst="rect">
            <a:avLst/>
          </a:prstGeom>
          <a:solidFill>
            <a:srgbClr val="42BA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メイリオ"/>
              </a:rPr>
              <a:t>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00000" y="5000000"/>
            <a:ext cx="10100000" cy="550000"/>
          </a:xfrm>
          <a:prstGeom prst="rect">
            <a:avLst/>
          </a:prstGeom>
          <a:noFill/>
          <a:ln w="19050">
            <a:solidFill>
              <a:srgbClr val="42BA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0000" y="5060000"/>
            <a:ext cx="9700000" cy="45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344068"/>
                </a:solidFill>
                <a:latin typeface="メイリオ"/>
              </a:rPr>
              <a:t>次の単元・学年へ引き継ぐ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0000" y="5700000"/>
            <a:ext cx="11000000" cy="600000"/>
          </a:xfrm>
          <a:prstGeom prst="rect">
            <a:avLst/>
          </a:prstGeom>
          <a:solidFill>
            <a:srgbClr val="344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</a:rPr>
              <a:t>評価は単元の終わりではなく、次の出発点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80000"/>
            <a:ext cx="49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600">
                <a:solidFill>
                  <a:srgbClr val="2683C6"/>
                </a:solidFill>
                <a:latin typeface="メイリオ"/>
              </a:rPr>
              <a:t>Part 4　組織で支える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700000"/>
            <a:ext cx="10792000" cy="9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000" b="1">
                <a:solidFill>
                  <a:srgbClr val="344068"/>
                </a:solidFill>
                <a:latin typeface="メイリオ"/>
              </a:rPr>
              <a:t>妥当性は「個人」で、信頼性は「組織」で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1850000"/>
            <a:ext cx="5400000" cy="50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</a:rPr>
              <a:t>【教科会で揃えるべきもの】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2350000"/>
            <a:ext cx="5400000" cy="2500000"/>
          </a:xfrm>
          <a:prstGeom prst="rect">
            <a:avLst/>
          </a:prstGeom>
          <a:noFill/>
          <a:ln w="25400">
            <a:solidFill>
              <a:srgbClr val="2683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2470000"/>
            <a:ext cx="5000000" cy="23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○ 評価規準（Bの姿の言葉）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○ 評価場面・評価方法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○ 評定の総括方法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○ 保護者への説明の仕方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0000" y="1850000"/>
            <a:ext cx="5400000" cy="500000"/>
          </a:xfrm>
          <a:prstGeom prst="rect">
            <a:avLst/>
          </a:prstGeom>
          <a:solidFill>
            <a:srgbClr val="28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</a:rPr>
              <a:t>【管理職・主任の役割】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2350000"/>
            <a:ext cx="5400000" cy="2500000"/>
          </a:xfrm>
          <a:prstGeom prst="rect">
            <a:avLst/>
          </a:prstGeom>
          <a:noFill/>
          <a:ln w="25400">
            <a:solidFill>
              <a:srgbClr val="28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0000" y="2470000"/>
            <a:ext cx="5000000" cy="23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○ 教科会の機能化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○ 評定のチェック体制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○ 保護者対応の組織化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344068"/>
                </a:solidFill>
                <a:latin typeface="メイリオ"/>
              </a:rPr>
              <a:t>○ 「特異なパターン」確認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000" y="5050000"/>
            <a:ext cx="11000000" cy="700000"/>
          </a:xfrm>
          <a:prstGeom prst="rect">
            <a:avLst/>
          </a:prstGeom>
          <a:solidFill>
            <a:srgbClr val="42BA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東京都が示す特異パターン例： AAA→「5/4」でない、ABCの偏り 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780000"/>
            <a:ext cx="11000000" cy="3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683C6"/>
                </a:solidFill>
                <a:latin typeface="メイリオ"/>
              </a:rPr>
              <a:t>【キーメッセージ③】評価の信頼性は「組織」で担保する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000" y="6120000"/>
            <a:ext cx="11000000" cy="214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404040"/>
                </a:solidFill>
                <a:latin typeface="メイリオ"/>
              </a:rPr>
              <a:t>出典： 東京都教育委員会「指導と評価の一体化を目指して」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34316"/>
            <a:ext cx="12192000" cy="66484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" y="280000"/>
            <a:ext cx="8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000" b="1">
                <a:solidFill>
                  <a:srgbClr val="2683C6"/>
                </a:solidFill>
                <a:latin typeface="メイリオ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80000"/>
            <a:ext cx="4900000" cy="4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1600">
                <a:solidFill>
                  <a:srgbClr val="2683C6"/>
                </a:solidFill>
                <a:latin typeface="メイリオ"/>
              </a:rPr>
              <a:t>本日のまとめ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700000"/>
            <a:ext cx="10792000" cy="900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>
                <a:solidFill>
                  <a:srgbClr val="344068"/>
                </a:solidFill>
                <a:latin typeface="メイリオ"/>
              </a:rPr>
              <a:t>本日のまとめ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1700000"/>
            <a:ext cx="700000" cy="550000"/>
          </a:xfrm>
          <a:prstGeom prst="rect">
            <a:avLst/>
          </a:prstGeom>
          <a:solidFill>
            <a:srgbClr val="268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メイリオ"/>
              </a:rPr>
              <a:t>①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0000" y="1700000"/>
            <a:ext cx="10200000" cy="550000"/>
          </a:xfrm>
          <a:prstGeom prst="rect">
            <a:avLst/>
          </a:prstGeom>
          <a:noFill/>
          <a:ln w="25400">
            <a:solidFill>
              <a:srgbClr val="2683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00000" y="1770000"/>
            <a:ext cx="9800000" cy="45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344068"/>
                </a:solidFill>
                <a:latin typeface="メイリオ"/>
              </a:rPr>
              <a:t>評価は「ためる」のではなく「使う」もの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0000" y="2350000"/>
            <a:ext cx="700000" cy="550000"/>
          </a:xfrm>
          <a:prstGeom prst="rect">
            <a:avLst/>
          </a:prstGeom>
          <a:solidFill>
            <a:srgbClr val="1CAD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メイリオ"/>
              </a:rPr>
              <a:t>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00000" y="2350000"/>
            <a:ext cx="10200000" cy="550000"/>
          </a:xfrm>
          <a:prstGeom prst="rect">
            <a:avLst/>
          </a:prstGeom>
          <a:noFill/>
          <a:ln w="25400">
            <a:solidFill>
              <a:srgbClr val="1CA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00000" y="2420000"/>
            <a:ext cx="9800000" cy="45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344068"/>
                </a:solidFill>
                <a:latin typeface="メイリオ"/>
              </a:rPr>
              <a:t>生徒の姿は「単元の中」で、「学び方を指導した上で」見取る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000" y="3000000"/>
            <a:ext cx="700000" cy="550000"/>
          </a:xfrm>
          <a:prstGeom prst="rect">
            <a:avLst/>
          </a:prstGeom>
          <a:solidFill>
            <a:srgbClr val="28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メイリオ"/>
              </a:rPr>
              <a:t>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00000" y="3000000"/>
            <a:ext cx="10200000" cy="550000"/>
          </a:xfrm>
          <a:prstGeom prst="rect">
            <a:avLst/>
          </a:prstGeom>
          <a:noFill/>
          <a:ln w="25400">
            <a:solidFill>
              <a:srgbClr val="28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00000" y="3070000"/>
            <a:ext cx="9800000" cy="45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344068"/>
                </a:solidFill>
                <a:latin typeface="メイリオ"/>
              </a:rPr>
              <a:t>評価の信頼性は「組織」で担保する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0000" y="3800000"/>
            <a:ext cx="11000000" cy="450000"/>
          </a:xfrm>
          <a:prstGeom prst="rect">
            <a:avLst/>
          </a:prstGeom>
          <a:solidFill>
            <a:srgbClr val="42BA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</a:rPr>
              <a:t>≪明日からできること（1つ選んでください）≫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0000" y="4250000"/>
            <a:ext cx="11000000" cy="1200000"/>
          </a:xfrm>
          <a:prstGeom prst="rect">
            <a:avLst/>
          </a:prstGeom>
          <a:noFill/>
          <a:ln w="25400">
            <a:solidFill>
              <a:srgbClr val="42BA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000" y="4320000"/>
            <a:ext cx="10600000" cy="110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344068"/>
                </a:solidFill>
                <a:latin typeface="メイリオ"/>
              </a:rPr>
              <a:t>□ 次の単元の指導計画に「記録」欄を1列足す</a:t>
            </a:r>
          </a:p>
          <a:p>
            <a:pPr algn="l">
              <a:lnSpc>
                <a:spcPct val="120000"/>
              </a:lnSpc>
            </a:pPr>
            <a:r>
              <a:rPr sz="1700" b="0">
                <a:solidFill>
                  <a:srgbClr val="344068"/>
                </a:solidFill>
                <a:latin typeface="メイリオ"/>
              </a:rPr>
              <a:t>□ 教科会で「Bの姿」を1つ言語化して揃える</a:t>
            </a:r>
          </a:p>
          <a:p>
            <a:pPr algn="l">
              <a:lnSpc>
                <a:spcPct val="120000"/>
              </a:lnSpc>
            </a:pPr>
            <a:r>
              <a:rPr sz="1700" b="0">
                <a:solidFill>
                  <a:srgbClr val="344068"/>
                </a:solidFill>
                <a:latin typeface="メイリオ"/>
              </a:rPr>
              <a:t>□ 9つの働きかけから1つ選んで使う</a:t>
            </a:r>
          </a:p>
          <a:p>
            <a:pPr algn="l">
              <a:lnSpc>
                <a:spcPct val="120000"/>
              </a:lnSpc>
            </a:pPr>
            <a:r>
              <a:rPr sz="1700" b="0">
                <a:solidFill>
                  <a:srgbClr val="344068"/>
                </a:solidFill>
                <a:latin typeface="メイリオ"/>
              </a:rPr>
              <a:t>□ 振り返りシートを1回入れてみる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0000" y="5500000"/>
            <a:ext cx="11000000" cy="380000"/>
          </a:xfrm>
          <a:prstGeom prst="rect">
            <a:avLst/>
          </a:prstGeom>
          <a:solidFill>
            <a:srgbClr val="344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30000" bIns="30000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</a:rPr>
              <a:t>── このあと協議会で「セルフチェックシート」をお使いください ──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0000" y="5910000"/>
            <a:ext cx="11000000" cy="280000"/>
          </a:xfrm>
          <a:prstGeom prst="rect">
            <a:avLst/>
          </a:prstGeom>
          <a:noFill/>
        </p:spPr>
        <p:txBody>
          <a:bodyPr wrap="square" lIns="60000" rIns="60000" tIns="30000" bIns="3000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683C6"/>
                </a:solidFill>
                <a:latin typeface="メイリオ"/>
              </a:rPr>
              <a:t>ご清聴ありがとうございました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