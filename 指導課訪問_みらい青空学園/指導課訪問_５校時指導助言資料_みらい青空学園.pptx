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本日は、３名の先生方の授業を参観させていただきました。ありがとうございました。
１０分間、２点に絞ってお話しします。１点目は練馬区の小中一貫教育について、２点目は本時の授業について、主体的・対話的で深い学びの視点からの授業改善です。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講評の柱は２点です。あらかじめ流れをお示しします。導入として、授業の前に学力調査から見える子どもの姿に触れます。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練馬区教育委員会は「夢や希望を持ち困難を乗り越える力を備えた子どもたちの育成」を目標に掲げ、その施策の一つとして、区内全ての小中学校で９年間を見通した教育を進めています。
ねらいは、授業改善による学力・体力の向上、連携指導による豊かな人間性・社会性の育成、そして滑らかな接続による安定した学校生活の実現です。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施設一体型では、教員間の連携強化、異学年交流の活性化、指導の統一化により、さらに教育効果が高まることが期待されています。
本校は区内２校目の施設一体型として今年４月に開校しました。小竹小学校との校区別協議会も含め、「目指す１５歳の姿」を９年間で共有していただきたいと考えています。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まず授業そのものではなく、学力調査結果から見える子どもの姿について考えたいと思います。
本校では、学習規律、学習習慣、学びへの主体性が着実に育っていることが、調査結果から読み取れます。
※ここに本校の学力調査・意識調査のグラフを貼り付けてください。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調査結果はあくまで「結果」です。大切なのは、その結果を生み出している要因です。
本日の３つの授業から、自己肯定感、対話・協働、学習の自己調整という３つが見えてきました。順にお話しします。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１点目は自己肯定感です。これからの学力向上の基盤になるものだと考えています。
ここでいう自己肯定感は「できる子になる」ことではありません。「成長できる自分を信じること」です。この違いが授業のつくり方を変えます。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田口先生は、泳力差の大きい集団に対して段階的な課題、泳力別のコース、バディでの確認活動を用意されていました。キックの確認の視点を３点示されたことで、子どもが自分の泳ぎを見る目をもてていました。
東海林先生は、安心して自分の考えを表現できる環境をつくられていました。前時の考えを大切にしつつ、意見が変わってもよいと保障されていた点が印象的でした。
塚本先生は、発表の前にペアで共有する時間を確保され、全員に発話の機会を用意されていました。
いずれも、子どもが「認められる」よりも「自分で成長を実感する」経験を積み重ねる授業でした。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２点目は対話・協働です。調査結果に表れた主体的な学びの土台は、一朝一夕にできるものではありません。
その背景には、日常的に積み重ねられている対話を通した学びがあると受け止めました。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保健体育では、バディで互いの泳ぎを見合い、改善点を考えていました。道徳では「嘘」をテーマに価値観の違いを議論していました。外国語では、ペアでのやり取りを全体の学びにつないでいました。
教科は異なりますが、共通していたのは「相手を通して自分を見つめる学び」です。これが対話・協働の本質だと考えます。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３点目は学習の自己調整です。これから求められる子どもは、教えられたことを学ぶ子どもではなく、自分で学び続ける子どもです。
そのために必要なのが、学習を自分で調整する力です。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本日の授業では、本時の目標、振り返り、自己評価、次時への見通しが大切にされていました。
田口先生は着替えの前に目標と流れを確認され、学習カードで要点を振り返らせていました。塚本先生は Today’s Goal と Today’s Plan を示し、振り返りをワークシートに記入させていました。東海林先生は前時のワークシートで自分の考えを確かめてから議論に入っていました。
教師が管理する学習から、子どもが管理する学習へ、着実に転換が進んでいます。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学力調査結果と今日の授業をつなげて考えると、今後さらに伸ばしたいのは「学びを自分事として捉える子ども」です。
そのためには、自己肯定感、対話・協働、学習の自己調整を、９年間で系統的に育てていくことが重要になります。学年や教科で終わらせず、９年間の系統として整理していただきたいと考えます。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まとめです。学力向上は、知識の積み上げだけで実現するものではありません。
みらい青空学園では、自己肯定感、対話・協働、学習の自己調整が着実に育成されています。これこそが、施設一体型小中一貫教育校としての最大の強みであり、学力調査結果を支える土台です。
今後も、９年間を見通した学びの充実に期待しています。本日はありがとうございました。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66928"/>
            <a:ext cx="8046720" cy="457200"/>
          </a:xfrm>
          <a:prstGeom prst="rect">
            <a:avLst/>
          </a:prstGeom>
          <a:noFill/>
          <a:ln/>
        </p:spPr>
        <p:txBody>
          <a:bodyPr wrap="square" lIns="0" tIns="0" rIns="0" bIns="0" rtlCol="0" anchor="ctr"/>
          <a:lstStyle/>
          <a:p>
            <a:pPr algn="l" indent="0" marL="0">
              <a:buNone/>
            </a:pPr>
            <a:r>
              <a:rPr lang="en-US" sz="2200" b="1" dirty="0">
                <a:solidFill>
                  <a:srgbClr val="00B0F0"/>
                </a:solidFill>
                <a:latin typeface="Meiryo" pitchFamily="34" charset="0"/>
                <a:ea typeface="Meiryo" pitchFamily="34" charset="-122"/>
                <a:cs typeface="Meiryo" pitchFamily="34" charset="-120"/>
              </a:rPr>
              <a:t>令和８年度　教育指導課訪問</a:t>
            </a:r>
            <a:endParaRPr lang="en-US" sz="2200" dirty="0"/>
          </a:p>
        </p:txBody>
      </p:sp>
      <p:sp>
        <p:nvSpPr>
          <p:cNvPr id="3" name="Text 1"/>
          <p:cNvSpPr txBox="1"/>
          <p:nvPr/>
        </p:nvSpPr>
        <p:spPr>
          <a:xfrm>
            <a:off x="548640" y="1060704"/>
            <a:ext cx="8046720" cy="777240"/>
          </a:xfrm>
          <a:prstGeom prst="rect">
            <a:avLst/>
          </a:prstGeom>
          <a:noFill/>
          <a:ln/>
        </p:spPr>
        <p:txBody>
          <a:bodyPr wrap="square" lIns="0" tIns="0" rIns="0" bIns="0" rtlCol="0" anchor="ctr"/>
          <a:lstStyle/>
          <a:p>
            <a:pPr algn="l" indent="0" marL="0">
              <a:buNone/>
            </a:pPr>
            <a:r>
              <a:rPr lang="en-US" sz="4000" b="1" dirty="0">
                <a:solidFill>
                  <a:srgbClr val="1A1A1A"/>
                </a:solidFill>
                <a:latin typeface="Meiryo" pitchFamily="34" charset="0"/>
                <a:ea typeface="Meiryo" pitchFamily="34" charset="-122"/>
                <a:cs typeface="Meiryo" pitchFamily="34" charset="-120"/>
              </a:rPr>
              <a:t>練馬区立みらい青空学園</a:t>
            </a:r>
            <a:endParaRPr lang="en-US" sz="4000" dirty="0"/>
          </a:p>
        </p:txBody>
      </p:sp>
      <p:sp>
        <p:nvSpPr>
          <p:cNvPr id="4" name="Text 2"/>
          <p:cNvSpPr txBox="1"/>
          <p:nvPr/>
        </p:nvSpPr>
        <p:spPr>
          <a:xfrm>
            <a:off x="548640" y="1847088"/>
            <a:ext cx="8046720" cy="566928"/>
          </a:xfrm>
          <a:prstGeom prst="rect">
            <a:avLst/>
          </a:prstGeom>
          <a:noFill/>
          <a:ln/>
        </p:spPr>
        <p:txBody>
          <a:bodyPr wrap="square" lIns="0" tIns="0" rIns="0" bIns="0" rtlCol="0" anchor="ctr"/>
          <a:lstStyle/>
          <a:p>
            <a:pPr algn="l" indent="0" marL="0">
              <a:buNone/>
            </a:pPr>
            <a:r>
              <a:rPr lang="en-US" sz="3000" b="1" dirty="0">
                <a:solidFill>
                  <a:srgbClr val="1A1A1A"/>
                </a:solidFill>
                <a:latin typeface="Meiryo" pitchFamily="34" charset="0"/>
                <a:ea typeface="Meiryo" pitchFamily="34" charset="-122"/>
                <a:cs typeface="Meiryo" pitchFamily="34" charset="-120"/>
              </a:rPr>
              <a:t>５校時　指導・講評</a:t>
            </a:r>
            <a:endParaRPr lang="en-US" sz="3000" dirty="0"/>
          </a:p>
        </p:txBody>
      </p:sp>
      <p:sp>
        <p:nvSpPr>
          <p:cNvPr id="5" name="Text 3"/>
          <p:cNvSpPr txBox="1"/>
          <p:nvPr/>
        </p:nvSpPr>
        <p:spPr>
          <a:xfrm>
            <a:off x="548640" y="2615184"/>
            <a:ext cx="5120640" cy="1188720"/>
          </a:xfrm>
          <a:prstGeom prst="rect">
            <a:avLst/>
          </a:prstGeom>
          <a:noFill/>
          <a:ln/>
        </p:spPr>
        <p:txBody>
          <a:bodyPr wrap="square" lIns="0" tIns="0" rIns="0" bIns="0" rtlCol="0" anchor="t"/>
          <a:lstStyle/>
          <a:p>
            <a:pPr algn="l" indent="0" marL="0">
              <a:lnSpc>
                <a:spcPct val="135000"/>
              </a:lnSpc>
              <a:buNone/>
            </a:pPr>
            <a:r>
              <a:rPr lang="en-US" sz="1400" b="1" dirty="0">
                <a:solidFill>
                  <a:srgbClr val="595959"/>
                </a:solidFill>
                <a:latin typeface="Meiryo" pitchFamily="34" charset="0"/>
                <a:ea typeface="Meiryo" pitchFamily="34" charset="-122"/>
                <a:cs typeface="Meiryo" pitchFamily="34" charset="-120"/>
              </a:rPr>
              <a:t>授業者　塚本　瑞穂　先生（外国語・７年Ｂ組）</a:t>
            </a:r>
            <a:endParaRPr lang="en-US" sz="1400" dirty="0"/>
          </a:p>
          <a:p>
            <a:pPr algn="l" indent="0" marL="0">
              <a:lnSpc>
                <a:spcPct val="135000"/>
              </a:lnSpc>
              <a:buNone/>
            </a:pPr>
            <a:r>
              <a:rPr lang="en-US" sz="1400" b="1" dirty="0">
                <a:solidFill>
                  <a:srgbClr val="595959"/>
                </a:solidFill>
                <a:latin typeface="Meiryo" pitchFamily="34" charset="0"/>
                <a:ea typeface="Meiryo" pitchFamily="34" charset="-122"/>
                <a:cs typeface="Meiryo" pitchFamily="34" charset="-120"/>
              </a:rPr>
              <a:t>　　　　田口　和磨　先生（保健体育・９年ＡＢ組）</a:t>
            </a:r>
            <a:endParaRPr lang="en-US" sz="1400" dirty="0"/>
          </a:p>
          <a:p>
            <a:pPr algn="l" indent="0" marL="0">
              <a:lnSpc>
                <a:spcPct val="135000"/>
              </a:lnSpc>
              <a:buNone/>
            </a:pPr>
            <a:r>
              <a:rPr lang="en-US" sz="1400" b="1" dirty="0">
                <a:solidFill>
                  <a:srgbClr val="595959"/>
                </a:solidFill>
                <a:latin typeface="Meiryo" pitchFamily="34" charset="0"/>
                <a:ea typeface="Meiryo" pitchFamily="34" charset="-122"/>
                <a:cs typeface="Meiryo" pitchFamily="34" charset="-120"/>
              </a:rPr>
              <a:t>　　　　東海林　静江　先生（道徳・特別支援学級Ｄ組）</a:t>
            </a:r>
            <a:endParaRPr lang="en-US" sz="1400" dirty="0"/>
          </a:p>
        </p:txBody>
      </p:sp>
      <p:sp>
        <p:nvSpPr>
          <p:cNvPr id="6" name="Text 4"/>
          <p:cNvSpPr txBox="1"/>
          <p:nvPr/>
        </p:nvSpPr>
        <p:spPr>
          <a:xfrm>
            <a:off x="5852160" y="3246120"/>
            <a:ext cx="2834640" cy="1280160"/>
          </a:xfrm>
          <a:prstGeom prst="rect">
            <a:avLst/>
          </a:prstGeom>
          <a:noFill/>
          <a:ln/>
        </p:spPr>
        <p:txBody>
          <a:bodyPr wrap="square" lIns="0" tIns="0" rIns="0" bIns="0" rtlCol="0" anchor="ctr"/>
          <a:lstStyle/>
          <a:p>
            <a:pPr algn="r" indent="0" marL="0">
              <a:lnSpc>
                <a:spcPct val="135000"/>
              </a:lnSpc>
              <a:buNone/>
            </a:pPr>
            <a:r>
              <a:rPr lang="en-US" sz="1500" b="1" dirty="0">
                <a:solidFill>
                  <a:srgbClr val="595959"/>
                </a:solidFill>
                <a:latin typeface="Meiryo" pitchFamily="34" charset="0"/>
                <a:ea typeface="Meiryo" pitchFamily="34" charset="-122"/>
                <a:cs typeface="Meiryo" pitchFamily="34" charset="-120"/>
              </a:rPr>
              <a:t>令和８年９月９日（水）</a:t>
            </a:r>
            <a:endParaRPr lang="en-US" sz="1500" dirty="0"/>
          </a:p>
          <a:p>
            <a:pPr algn="r" indent="0" marL="0">
              <a:lnSpc>
                <a:spcPct val="135000"/>
              </a:lnSpc>
              <a:buNone/>
            </a:pPr>
            <a:r>
              <a:rPr lang="en-US" sz="1500" b="1" dirty="0">
                <a:solidFill>
                  <a:srgbClr val="595959"/>
                </a:solidFill>
                <a:latin typeface="Meiryo" pitchFamily="34" charset="0"/>
                <a:ea typeface="Meiryo" pitchFamily="34" charset="-122"/>
                <a:cs typeface="Meiryo" pitchFamily="34" charset="-120"/>
              </a:rPr>
              <a:t>練馬区教育委員会</a:t>
            </a:r>
            <a:endParaRPr lang="en-US" sz="1500" dirty="0"/>
          </a:p>
          <a:p>
            <a:pPr algn="r" indent="0" marL="0">
              <a:lnSpc>
                <a:spcPct val="135000"/>
              </a:lnSpc>
              <a:buNone/>
            </a:pPr>
            <a:r>
              <a:rPr lang="en-US" sz="1500" b="1" dirty="0">
                <a:solidFill>
                  <a:srgbClr val="595959"/>
                </a:solidFill>
                <a:latin typeface="Meiryo" pitchFamily="34" charset="0"/>
                <a:ea typeface="Meiryo" pitchFamily="34" charset="-122"/>
                <a:cs typeface="Meiryo" pitchFamily="34" charset="-120"/>
              </a:rPr>
              <a:t>指導主事　田口　暁之</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0" y="0"/>
            <a:ext cx="9144000" cy="576072"/>
          </a:xfrm>
          <a:prstGeom prst="rect">
            <a:avLst/>
          </a:prstGeom>
          <a:solidFill>
            <a:srgbClr val="00B0F0"/>
          </a:solidFill>
          <a:ln/>
        </p:spPr>
        <p:txBody>
          <a:bodyPr wrap="square" lIns="0" tIns="0" rIns="0" bIns="0" rtlCol="0" anchor="ctr"/>
          <a:lstStyle/>
          <a:p>
            <a:pPr algn="l" indent="0" marL="0">
              <a:buNone/>
            </a:pPr>
            <a:r>
              <a:rPr lang="en-US" sz="2800" b="1" dirty="0">
                <a:solidFill>
                  <a:srgbClr val="FFFFFF"/>
                </a:solidFill>
                <a:latin typeface="Meiryo" pitchFamily="34" charset="0"/>
                <a:ea typeface="Meiryo" pitchFamily="34" charset="-122"/>
                <a:cs typeface="Meiryo" pitchFamily="34" charset="-120"/>
              </a:rPr>
              <a:t>　本日の講評</a:t>
            </a:r>
            <a:endParaRPr lang="en-US" sz="2800" dirty="0"/>
          </a:p>
        </p:txBody>
      </p:sp>
      <p:sp>
        <p:nvSpPr>
          <p:cNvPr id="3" name="Shape 1"/>
          <p:cNvSpPr/>
          <p:nvPr/>
        </p:nvSpPr>
        <p:spPr>
          <a:xfrm>
            <a:off x="640080" y="1115568"/>
            <a:ext cx="566928" cy="566928"/>
          </a:xfrm>
          <a:prstGeom prst="ellipse">
            <a:avLst/>
          </a:prstGeom>
          <a:solidFill>
            <a:srgbClr val="EB6C15"/>
          </a:solidFill>
          <a:ln/>
        </p:spPr>
      </p:sp>
      <p:sp>
        <p:nvSpPr>
          <p:cNvPr id="4" name="Text 2"/>
          <p:cNvSpPr txBox="1"/>
          <p:nvPr/>
        </p:nvSpPr>
        <p:spPr>
          <a:xfrm>
            <a:off x="640080" y="1115568"/>
            <a:ext cx="566928" cy="566928"/>
          </a:xfrm>
          <a:prstGeom prst="rect">
            <a:avLst/>
          </a:prstGeom>
          <a:noFill/>
          <a:ln/>
        </p:spPr>
        <p:txBody>
          <a:bodyPr wrap="square" lIns="0" tIns="0" rIns="0" bIns="0" rtlCol="0" anchor="ctr"/>
          <a:lstStyle/>
          <a:p>
            <a:pPr algn="ctr" indent="0" marL="0">
              <a:buNone/>
            </a:pPr>
            <a:r>
              <a:rPr lang="en-US" sz="2900" b="1" dirty="0">
                <a:solidFill>
                  <a:srgbClr val="FFFFFF"/>
                </a:solidFill>
                <a:latin typeface="Meiryo" pitchFamily="34" charset="0"/>
                <a:ea typeface="Meiryo" pitchFamily="34" charset="-122"/>
                <a:cs typeface="Meiryo" pitchFamily="34" charset="-120"/>
              </a:rPr>
              <a:t>１</a:t>
            </a:r>
            <a:endParaRPr lang="en-US" sz="2900" dirty="0"/>
          </a:p>
        </p:txBody>
      </p:sp>
      <p:sp>
        <p:nvSpPr>
          <p:cNvPr id="5" name="Text 3"/>
          <p:cNvSpPr txBox="1"/>
          <p:nvPr/>
        </p:nvSpPr>
        <p:spPr>
          <a:xfrm>
            <a:off x="1371600" y="1115568"/>
            <a:ext cx="7315200" cy="566928"/>
          </a:xfrm>
          <a:prstGeom prst="rect">
            <a:avLst/>
          </a:prstGeom>
          <a:noFill/>
          <a:ln/>
        </p:spPr>
        <p:txBody>
          <a:bodyPr wrap="square" lIns="0" tIns="0" rIns="0" bIns="0" rtlCol="0" anchor="ctr"/>
          <a:lstStyle/>
          <a:p>
            <a:pPr algn="l" indent="0" marL="0">
              <a:buNone/>
            </a:pPr>
            <a:r>
              <a:rPr lang="en-US" sz="3000" b="1" dirty="0">
                <a:solidFill>
                  <a:srgbClr val="1A1A1A"/>
                </a:solidFill>
                <a:latin typeface="Meiryo" pitchFamily="34" charset="0"/>
                <a:ea typeface="Meiryo" pitchFamily="34" charset="-122"/>
                <a:cs typeface="Meiryo" pitchFamily="34" charset="-120"/>
              </a:rPr>
              <a:t>練馬区の小中一貫教育について</a:t>
            </a:r>
            <a:endParaRPr lang="en-US" sz="3000" dirty="0"/>
          </a:p>
        </p:txBody>
      </p:sp>
      <p:sp>
        <p:nvSpPr>
          <p:cNvPr id="6" name="Shape 4"/>
          <p:cNvSpPr/>
          <p:nvPr/>
        </p:nvSpPr>
        <p:spPr>
          <a:xfrm>
            <a:off x="640080" y="2212848"/>
            <a:ext cx="566928" cy="566928"/>
          </a:xfrm>
          <a:prstGeom prst="ellipse">
            <a:avLst/>
          </a:prstGeom>
          <a:solidFill>
            <a:srgbClr val="EB6C15"/>
          </a:solidFill>
          <a:ln/>
        </p:spPr>
      </p:sp>
      <p:sp>
        <p:nvSpPr>
          <p:cNvPr id="7" name="Text 5"/>
          <p:cNvSpPr txBox="1"/>
          <p:nvPr/>
        </p:nvSpPr>
        <p:spPr>
          <a:xfrm>
            <a:off x="640080" y="2212848"/>
            <a:ext cx="566928" cy="566928"/>
          </a:xfrm>
          <a:prstGeom prst="rect">
            <a:avLst/>
          </a:prstGeom>
          <a:noFill/>
          <a:ln/>
        </p:spPr>
        <p:txBody>
          <a:bodyPr wrap="square" lIns="0" tIns="0" rIns="0" bIns="0" rtlCol="0" anchor="ctr"/>
          <a:lstStyle/>
          <a:p>
            <a:pPr algn="ctr" indent="0" marL="0">
              <a:buNone/>
            </a:pPr>
            <a:r>
              <a:rPr lang="en-US" sz="2900" b="1" dirty="0">
                <a:solidFill>
                  <a:srgbClr val="FFFFFF"/>
                </a:solidFill>
                <a:latin typeface="Meiryo" pitchFamily="34" charset="0"/>
                <a:ea typeface="Meiryo" pitchFamily="34" charset="-122"/>
                <a:cs typeface="Meiryo" pitchFamily="34" charset="-120"/>
              </a:rPr>
              <a:t>２</a:t>
            </a:r>
            <a:endParaRPr lang="en-US" sz="2900" dirty="0"/>
          </a:p>
        </p:txBody>
      </p:sp>
      <p:sp>
        <p:nvSpPr>
          <p:cNvPr id="8" name="Text 6"/>
          <p:cNvSpPr txBox="1"/>
          <p:nvPr/>
        </p:nvSpPr>
        <p:spPr>
          <a:xfrm>
            <a:off x="1371600" y="2212848"/>
            <a:ext cx="7315200" cy="566928"/>
          </a:xfrm>
          <a:prstGeom prst="rect">
            <a:avLst/>
          </a:prstGeom>
          <a:noFill/>
          <a:ln/>
        </p:spPr>
        <p:txBody>
          <a:bodyPr wrap="square" lIns="0" tIns="0" rIns="0" bIns="0" rtlCol="0" anchor="ctr"/>
          <a:lstStyle/>
          <a:p>
            <a:pPr algn="l" indent="0" marL="0">
              <a:buNone/>
            </a:pPr>
            <a:r>
              <a:rPr lang="en-US" sz="3000" b="1" dirty="0">
                <a:solidFill>
                  <a:srgbClr val="1A1A1A"/>
                </a:solidFill>
                <a:latin typeface="Meiryo" pitchFamily="34" charset="0"/>
                <a:ea typeface="Meiryo" pitchFamily="34" charset="-122"/>
                <a:cs typeface="Meiryo" pitchFamily="34" charset="-120"/>
              </a:rPr>
              <a:t>本時の授業について</a:t>
            </a:r>
            <a:endParaRPr lang="en-US" sz="3000" dirty="0"/>
          </a:p>
        </p:txBody>
      </p:sp>
      <p:sp>
        <p:nvSpPr>
          <p:cNvPr id="9" name="Text 7"/>
          <p:cNvSpPr txBox="1"/>
          <p:nvPr/>
        </p:nvSpPr>
        <p:spPr>
          <a:xfrm>
            <a:off x="1371600" y="2871216"/>
            <a:ext cx="7315200" cy="457200"/>
          </a:xfrm>
          <a:prstGeom prst="rect">
            <a:avLst/>
          </a:prstGeom>
          <a:noFill/>
          <a:ln/>
        </p:spPr>
        <p:txBody>
          <a:bodyPr wrap="square" lIns="0" tIns="0" rIns="0" bIns="0" rtlCol="0" anchor="ctr"/>
          <a:lstStyle/>
          <a:p>
            <a:pPr algn="l" indent="0" marL="0">
              <a:buNone/>
            </a:pPr>
            <a:r>
              <a:rPr lang="en-US" sz="2200" b="1" dirty="0">
                <a:solidFill>
                  <a:srgbClr val="EB6C15"/>
                </a:solidFill>
                <a:latin typeface="Meiryo" pitchFamily="34" charset="0"/>
                <a:ea typeface="Meiryo" pitchFamily="34" charset="-122"/>
                <a:cs typeface="Meiryo" pitchFamily="34" charset="-120"/>
              </a:rPr>
              <a:t>主体的・対話的で深い学びの視点からの授業改善</a:t>
            </a:r>
            <a:endParaRPr lang="en-US" sz="2200" dirty="0"/>
          </a:p>
        </p:txBody>
      </p:sp>
      <p:sp>
        <p:nvSpPr>
          <p:cNvPr id="10" name="Text 8"/>
          <p:cNvSpPr txBox="1"/>
          <p:nvPr/>
        </p:nvSpPr>
        <p:spPr>
          <a:xfrm>
            <a:off x="640080" y="3675888"/>
            <a:ext cx="8046720" cy="914400"/>
          </a:xfrm>
          <a:prstGeom prst="rect">
            <a:avLst/>
          </a:prstGeom>
          <a:noFill/>
          <a:ln/>
        </p:spPr>
        <p:txBody>
          <a:bodyPr wrap="square" lIns="0" tIns="0" rIns="0" bIns="0" rtlCol="0" anchor="t"/>
          <a:lstStyle/>
          <a:p>
            <a:pPr algn="l" indent="0" marL="0">
              <a:lnSpc>
                <a:spcPct val="135000"/>
              </a:lnSpc>
              <a:buNone/>
            </a:pPr>
            <a:r>
              <a:rPr lang="en-US" sz="1800" b="1" dirty="0">
                <a:solidFill>
                  <a:srgbClr val="1A1A1A"/>
                </a:solidFill>
                <a:latin typeface="Meiryo" pitchFamily="34" charset="0"/>
                <a:ea typeface="Meiryo" pitchFamily="34" charset="-122"/>
                <a:cs typeface="Meiryo" pitchFamily="34" charset="-120"/>
              </a:rPr>
              <a:t>まず授業そのものではなく、</a:t>
            </a:r>
            <a:endParaRPr lang="en-US" sz="1800" dirty="0"/>
          </a:p>
          <a:p>
            <a:pPr algn="l" indent="0" marL="0">
              <a:lnSpc>
                <a:spcPct val="135000"/>
              </a:lnSpc>
              <a:buNone/>
            </a:pPr>
            <a:r>
              <a:rPr lang="en-US" sz="1800" b="1" dirty="0">
                <a:solidFill>
                  <a:srgbClr val="EB6C15"/>
                </a:solidFill>
                <a:latin typeface="Meiryo" pitchFamily="34" charset="0"/>
                <a:ea typeface="Meiryo" pitchFamily="34" charset="-122"/>
                <a:cs typeface="Meiryo" pitchFamily="34" charset="-120"/>
              </a:rPr>
              <a:t>「学力調査結果から見える子どもの姿」</a:t>
            </a:r>
            <a:pPr algn="l" indent="0" marL="0">
              <a:lnSpc>
                <a:spcPct val="135000"/>
              </a:lnSpc>
              <a:buNone/>
            </a:pPr>
            <a:r>
              <a:rPr lang="en-US" sz="1800" b="1" dirty="0">
                <a:solidFill>
                  <a:srgbClr val="1A1A1A"/>
                </a:solidFill>
                <a:latin typeface="Meiryo" pitchFamily="34" charset="0"/>
                <a:ea typeface="Meiryo" pitchFamily="34" charset="-122"/>
                <a:cs typeface="Meiryo" pitchFamily="34" charset="-120"/>
              </a:rPr>
              <a:t>から考えたい。</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0" y="0"/>
            <a:ext cx="9144000" cy="576072"/>
          </a:xfrm>
          <a:prstGeom prst="rect">
            <a:avLst/>
          </a:prstGeom>
          <a:solidFill>
            <a:srgbClr val="00B0F0"/>
          </a:solidFill>
          <a:ln/>
        </p:spPr>
        <p:txBody>
          <a:bodyPr wrap="square" lIns="0" tIns="0" rIns="0" bIns="0" rtlCol="0" anchor="ctr"/>
          <a:lstStyle/>
          <a:p>
            <a:pPr algn="l" indent="0" marL="0">
              <a:buNone/>
            </a:pPr>
            <a:r>
              <a:rPr lang="en-US" sz="2800" b="1" dirty="0">
                <a:solidFill>
                  <a:srgbClr val="FFFFFF"/>
                </a:solidFill>
                <a:latin typeface="Meiryo" pitchFamily="34" charset="0"/>
                <a:ea typeface="Meiryo" pitchFamily="34" charset="-122"/>
                <a:cs typeface="Meiryo" pitchFamily="34" charset="-120"/>
              </a:rPr>
              <a:t>　１　練馬区の小中一貫教育</a:t>
            </a:r>
            <a:endParaRPr lang="en-US" sz="2800" dirty="0"/>
          </a:p>
        </p:txBody>
      </p:sp>
      <p:sp>
        <p:nvSpPr>
          <p:cNvPr id="3" name="Text 1"/>
          <p:cNvSpPr txBox="1"/>
          <p:nvPr/>
        </p:nvSpPr>
        <p:spPr>
          <a:xfrm>
            <a:off x="640080" y="868680"/>
            <a:ext cx="8046720" cy="914400"/>
          </a:xfrm>
          <a:prstGeom prst="rect">
            <a:avLst/>
          </a:prstGeom>
          <a:noFill/>
          <a:ln/>
        </p:spPr>
        <p:txBody>
          <a:bodyPr wrap="square" lIns="0" tIns="0" rIns="0" bIns="0" rtlCol="0" anchor="t"/>
          <a:lstStyle/>
          <a:p>
            <a:pPr algn="l" indent="0" marL="0">
              <a:lnSpc>
                <a:spcPct val="135000"/>
              </a:lnSpc>
              <a:buNone/>
            </a:pPr>
            <a:r>
              <a:rPr lang="en-US" sz="2000" b="1" dirty="0">
                <a:solidFill>
                  <a:srgbClr val="1A1A1A"/>
                </a:solidFill>
                <a:latin typeface="Meiryo" pitchFamily="34" charset="0"/>
                <a:ea typeface="Meiryo" pitchFamily="34" charset="-122"/>
                <a:cs typeface="Meiryo" pitchFamily="34" charset="-120"/>
              </a:rPr>
              <a:t>練馬区教育委員会の目標</a:t>
            </a:r>
            <a:endParaRPr lang="en-US" sz="2000" dirty="0"/>
          </a:p>
          <a:p>
            <a:pPr algn="l" indent="0" marL="0">
              <a:lnSpc>
                <a:spcPct val="135000"/>
              </a:lnSpc>
              <a:buNone/>
            </a:pPr>
            <a:r>
              <a:rPr lang="en-US" sz="2000" b="1" dirty="0">
                <a:solidFill>
                  <a:srgbClr val="1A1A1A"/>
                </a:solidFill>
                <a:latin typeface="Meiryo" pitchFamily="34" charset="0"/>
                <a:ea typeface="Meiryo" pitchFamily="34" charset="-122"/>
                <a:cs typeface="Meiryo" pitchFamily="34" charset="-120"/>
              </a:rPr>
              <a:t>　</a:t>
            </a:r>
            <a:pPr algn="l" indent="0" marL="0">
              <a:lnSpc>
                <a:spcPct val="135000"/>
              </a:lnSpc>
              <a:buNone/>
            </a:pPr>
            <a:r>
              <a:rPr lang="en-US" sz="2000" b="1" dirty="0">
                <a:solidFill>
                  <a:srgbClr val="EB6C15"/>
                </a:solidFill>
                <a:latin typeface="Meiryo" pitchFamily="34" charset="0"/>
                <a:ea typeface="Meiryo" pitchFamily="34" charset="-122"/>
                <a:cs typeface="Meiryo" pitchFamily="34" charset="-120"/>
              </a:rPr>
              <a:t>夢や希望をもち、困難を乗り越える力</a:t>
            </a:r>
            <a:pPr algn="l" indent="0" marL="0">
              <a:lnSpc>
                <a:spcPct val="135000"/>
              </a:lnSpc>
              <a:buNone/>
            </a:pPr>
            <a:r>
              <a:rPr lang="en-US" sz="2000" b="1" dirty="0">
                <a:solidFill>
                  <a:srgbClr val="1A1A1A"/>
                </a:solidFill>
                <a:latin typeface="Meiryo" pitchFamily="34" charset="0"/>
                <a:ea typeface="Meiryo" pitchFamily="34" charset="-122"/>
                <a:cs typeface="Meiryo" pitchFamily="34" charset="-120"/>
              </a:rPr>
              <a:t>の育成</a:t>
            </a:r>
            <a:endParaRPr lang="en-US" sz="2000" dirty="0"/>
          </a:p>
        </p:txBody>
      </p:sp>
      <p:sp>
        <p:nvSpPr>
          <p:cNvPr id="4" name="Text 2"/>
          <p:cNvSpPr txBox="1"/>
          <p:nvPr/>
        </p:nvSpPr>
        <p:spPr>
          <a:xfrm>
            <a:off x="640080" y="1965960"/>
            <a:ext cx="8046720" cy="914400"/>
          </a:xfrm>
          <a:prstGeom prst="rect">
            <a:avLst/>
          </a:prstGeom>
          <a:noFill/>
          <a:ln/>
        </p:spPr>
        <p:txBody>
          <a:bodyPr wrap="square" lIns="0" tIns="0" rIns="0" bIns="0" rtlCol="0" anchor="t"/>
          <a:lstStyle/>
          <a:p>
            <a:pPr algn="l" indent="0" marL="0">
              <a:lnSpc>
                <a:spcPct val="135000"/>
              </a:lnSpc>
              <a:buNone/>
            </a:pPr>
            <a:r>
              <a:rPr lang="en-US" sz="1900" b="1" dirty="0">
                <a:solidFill>
                  <a:srgbClr val="1A1A1A"/>
                </a:solidFill>
                <a:latin typeface="Meiryo" pitchFamily="34" charset="0"/>
                <a:ea typeface="Meiryo" pitchFamily="34" charset="-122"/>
                <a:cs typeface="Meiryo" pitchFamily="34" charset="-120"/>
              </a:rPr>
              <a:t>その実現のための施策が</a:t>
            </a:r>
            <a:endParaRPr lang="en-US" sz="1900" dirty="0"/>
          </a:p>
          <a:p>
            <a:pPr algn="l" indent="0" marL="0">
              <a:lnSpc>
                <a:spcPct val="135000"/>
              </a:lnSpc>
              <a:buNone/>
            </a:pPr>
            <a:r>
              <a:rPr lang="en-US" sz="1900" b="1" dirty="0">
                <a:solidFill>
                  <a:srgbClr val="1A1A1A"/>
                </a:solidFill>
                <a:latin typeface="Meiryo" pitchFamily="34" charset="0"/>
                <a:ea typeface="Meiryo" pitchFamily="34" charset="-122"/>
                <a:cs typeface="Meiryo" pitchFamily="34" charset="-120"/>
              </a:rPr>
              <a:t>　</a:t>
            </a:r>
            <a:pPr algn="l" indent="0" marL="0">
              <a:lnSpc>
                <a:spcPct val="135000"/>
              </a:lnSpc>
              <a:buNone/>
            </a:pPr>
            <a:r>
              <a:rPr lang="en-US" sz="1900" b="1" dirty="0">
                <a:solidFill>
                  <a:srgbClr val="EB6C15"/>
                </a:solidFill>
                <a:latin typeface="Meiryo" pitchFamily="34" charset="0"/>
                <a:ea typeface="Meiryo" pitchFamily="34" charset="-122"/>
                <a:cs typeface="Meiryo" pitchFamily="34" charset="-120"/>
              </a:rPr>
              <a:t>９年間を見通した教育</a:t>
            </a:r>
            <a:pPr algn="l" indent="0" marL="0">
              <a:lnSpc>
                <a:spcPct val="135000"/>
              </a:lnSpc>
              <a:buNone/>
            </a:pPr>
            <a:r>
              <a:rPr lang="en-US" sz="1900" b="1" dirty="0">
                <a:solidFill>
                  <a:srgbClr val="1A1A1A"/>
                </a:solidFill>
                <a:latin typeface="Meiryo" pitchFamily="34" charset="0"/>
                <a:ea typeface="Meiryo" pitchFamily="34" charset="-122"/>
                <a:cs typeface="Meiryo" pitchFamily="34" charset="-120"/>
              </a:rPr>
              <a:t>（小学校６年間＋中学校３年間）</a:t>
            </a:r>
            <a:endParaRPr lang="en-US" sz="1900" dirty="0"/>
          </a:p>
        </p:txBody>
      </p:sp>
      <p:sp>
        <p:nvSpPr>
          <p:cNvPr id="5" name="Shape 3"/>
          <p:cNvSpPr/>
          <p:nvPr/>
        </p:nvSpPr>
        <p:spPr>
          <a:xfrm>
            <a:off x="640080" y="3063240"/>
            <a:ext cx="7863840" cy="1371600"/>
          </a:xfrm>
          <a:prstGeom prst="roundRect">
            <a:avLst>
              <a:gd name="adj" fmla="val 5333"/>
            </a:avLst>
          </a:prstGeom>
          <a:solidFill>
            <a:srgbClr val="EAF6FD"/>
          </a:solidFill>
          <a:ln w="12700">
            <a:solidFill>
              <a:srgbClr val="C9E6F5"/>
            </a:solidFill>
            <a:prstDash val="solid"/>
          </a:ln>
        </p:spPr>
      </p:sp>
      <p:sp>
        <p:nvSpPr>
          <p:cNvPr id="6" name="Text 4"/>
          <p:cNvSpPr txBox="1"/>
          <p:nvPr/>
        </p:nvSpPr>
        <p:spPr>
          <a:xfrm>
            <a:off x="822960" y="3200400"/>
            <a:ext cx="7498080" cy="1097280"/>
          </a:xfrm>
          <a:prstGeom prst="rect">
            <a:avLst/>
          </a:prstGeom>
          <a:noFill/>
          <a:ln/>
        </p:spPr>
        <p:txBody>
          <a:bodyPr wrap="square" lIns="0" tIns="0" rIns="0" bIns="0" rtlCol="0" anchor="t"/>
          <a:lstStyle/>
          <a:p>
            <a:pPr algn="l" indent="0" marL="0">
              <a:lnSpc>
                <a:spcPct val="130000"/>
              </a:lnSpc>
              <a:buNone/>
            </a:pPr>
            <a:r>
              <a:rPr lang="en-US" sz="1700" b="1" dirty="0">
                <a:solidFill>
                  <a:srgbClr val="00B0F0"/>
                </a:solidFill>
                <a:latin typeface="Meiryo" pitchFamily="34" charset="0"/>
                <a:ea typeface="Meiryo" pitchFamily="34" charset="-122"/>
                <a:cs typeface="Meiryo" pitchFamily="34" charset="-120"/>
              </a:rPr>
              <a:t>期待される効果</a:t>
            </a:r>
            <a:endParaRPr lang="en-US" sz="1700" dirty="0"/>
          </a:p>
          <a:p>
            <a:pPr algn="l" indent="0" marL="0">
              <a:lnSpc>
                <a:spcPct val="130000"/>
              </a:lnSpc>
              <a:buNone/>
            </a:pPr>
            <a:r>
              <a:rPr lang="en-US" sz="1700" b="1" dirty="0">
                <a:solidFill>
                  <a:srgbClr val="1A1A1A"/>
                </a:solidFill>
                <a:latin typeface="Meiryo" pitchFamily="34" charset="0"/>
                <a:ea typeface="Meiryo" pitchFamily="34" charset="-122"/>
                <a:cs typeface="Meiryo" pitchFamily="34" charset="-120"/>
              </a:rPr>
              <a:t>　授業改善による学力・体力の向上　／　豊かな人間性・社会性の育成</a:t>
            </a:r>
            <a:endParaRPr lang="en-US" sz="1700" dirty="0"/>
          </a:p>
          <a:p>
            <a:pPr algn="l" indent="0" marL="0">
              <a:lnSpc>
                <a:spcPct val="130000"/>
              </a:lnSpc>
              <a:buNone/>
            </a:pPr>
            <a:r>
              <a:rPr lang="en-US" sz="1700" b="1" dirty="0">
                <a:solidFill>
                  <a:srgbClr val="1A1A1A"/>
                </a:solidFill>
                <a:latin typeface="Meiryo" pitchFamily="34" charset="0"/>
                <a:ea typeface="Meiryo" pitchFamily="34" charset="-122"/>
                <a:cs typeface="Meiryo" pitchFamily="34" charset="-120"/>
              </a:rPr>
              <a:t>　滑らかな接続による安定した学校生活の実現</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0" y="0"/>
            <a:ext cx="9144000" cy="576072"/>
          </a:xfrm>
          <a:prstGeom prst="rect">
            <a:avLst/>
          </a:prstGeom>
          <a:solidFill>
            <a:srgbClr val="00B0F0"/>
          </a:solidFill>
          <a:ln/>
        </p:spPr>
        <p:txBody>
          <a:bodyPr wrap="square" lIns="0" tIns="0" rIns="0" bIns="0" rtlCol="0" anchor="ctr"/>
          <a:lstStyle/>
          <a:p>
            <a:pPr algn="l" indent="0" marL="0">
              <a:buNone/>
            </a:pPr>
            <a:r>
              <a:rPr lang="en-US" sz="2800" b="1" dirty="0">
                <a:solidFill>
                  <a:srgbClr val="FFFFFF"/>
                </a:solidFill>
                <a:latin typeface="Meiryo" pitchFamily="34" charset="0"/>
                <a:ea typeface="Meiryo" pitchFamily="34" charset="-122"/>
                <a:cs typeface="Meiryo" pitchFamily="34" charset="-120"/>
              </a:rPr>
              <a:t>　１　練馬区の小中一貫教育</a:t>
            </a:r>
            <a:endParaRPr lang="en-US" sz="2800" dirty="0"/>
          </a:p>
        </p:txBody>
      </p:sp>
      <p:sp>
        <p:nvSpPr>
          <p:cNvPr id="3" name="Text 1"/>
          <p:cNvSpPr txBox="1"/>
          <p:nvPr/>
        </p:nvSpPr>
        <p:spPr>
          <a:xfrm>
            <a:off x="640080" y="841248"/>
            <a:ext cx="8046720" cy="502920"/>
          </a:xfrm>
          <a:prstGeom prst="rect">
            <a:avLst/>
          </a:prstGeom>
          <a:noFill/>
          <a:ln/>
        </p:spPr>
        <p:txBody>
          <a:bodyPr wrap="square" lIns="0" tIns="0" rIns="0" bIns="0" rtlCol="0" anchor="ctr"/>
          <a:lstStyle/>
          <a:p>
            <a:pPr algn="l" indent="0" marL="0">
              <a:buNone/>
            </a:pPr>
            <a:r>
              <a:rPr lang="en-US" sz="2400" b="1" dirty="0">
                <a:solidFill>
                  <a:srgbClr val="00B0F0"/>
                </a:solidFill>
                <a:latin typeface="Meiryo" pitchFamily="34" charset="0"/>
                <a:ea typeface="Meiryo" pitchFamily="34" charset="-122"/>
                <a:cs typeface="Meiryo" pitchFamily="34" charset="-120"/>
              </a:rPr>
              <a:t>施設一体型だからこそ高まる教育効果</a:t>
            </a:r>
            <a:endParaRPr lang="en-US" sz="2400" dirty="0"/>
          </a:p>
        </p:txBody>
      </p:sp>
      <p:sp>
        <p:nvSpPr>
          <p:cNvPr id="4" name="Shape 2"/>
          <p:cNvSpPr/>
          <p:nvPr/>
        </p:nvSpPr>
        <p:spPr>
          <a:xfrm>
            <a:off x="640080" y="1481328"/>
            <a:ext cx="2423160" cy="1170432"/>
          </a:xfrm>
          <a:prstGeom prst="roundRect">
            <a:avLst>
              <a:gd name="adj" fmla="val 6250"/>
            </a:avLst>
          </a:prstGeom>
          <a:solidFill>
            <a:srgbClr val="EAF6FD"/>
          </a:solidFill>
          <a:ln w="12700">
            <a:solidFill>
              <a:srgbClr val="C9E6F5"/>
            </a:solidFill>
            <a:prstDash val="solid"/>
          </a:ln>
        </p:spPr>
      </p:sp>
      <p:sp>
        <p:nvSpPr>
          <p:cNvPr id="5" name="Text 3"/>
          <p:cNvSpPr txBox="1"/>
          <p:nvPr/>
        </p:nvSpPr>
        <p:spPr>
          <a:xfrm>
            <a:off x="640080" y="1481328"/>
            <a:ext cx="2423160" cy="1170432"/>
          </a:xfrm>
          <a:prstGeom prst="rect">
            <a:avLst/>
          </a:prstGeom>
          <a:noFill/>
          <a:ln/>
        </p:spPr>
        <p:txBody>
          <a:bodyPr wrap="square" lIns="0" tIns="0" rIns="0" bIns="0" rtlCol="0" anchor="ctr"/>
          <a:lstStyle/>
          <a:p>
            <a:pPr algn="ctr" indent="0" marL="0">
              <a:lnSpc>
                <a:spcPct val="120000"/>
              </a:lnSpc>
              <a:buNone/>
            </a:pPr>
            <a:r>
              <a:rPr lang="en-US" sz="1800" b="1" dirty="0">
                <a:solidFill>
                  <a:srgbClr val="1A1A1A"/>
                </a:solidFill>
                <a:latin typeface="Meiryo" pitchFamily="34" charset="0"/>
                <a:ea typeface="Meiryo" pitchFamily="34" charset="-122"/>
                <a:cs typeface="Meiryo" pitchFamily="34" charset="-120"/>
              </a:rPr>
              <a:t>教員間の</a:t>
            </a:r>
            <a:endParaRPr lang="en-US" sz="1800" dirty="0"/>
          </a:p>
          <a:p>
            <a:pPr algn="ctr" indent="0" marL="0">
              <a:lnSpc>
                <a:spcPct val="120000"/>
              </a:lnSpc>
              <a:buNone/>
            </a:pPr>
            <a:r>
              <a:rPr lang="en-US" sz="1800" b="1" dirty="0">
                <a:solidFill>
                  <a:srgbClr val="1A1A1A"/>
                </a:solidFill>
                <a:latin typeface="Meiryo" pitchFamily="34" charset="0"/>
                <a:ea typeface="Meiryo" pitchFamily="34" charset="-122"/>
                <a:cs typeface="Meiryo" pitchFamily="34" charset="-120"/>
              </a:rPr>
              <a:t>連携強化</a:t>
            </a:r>
            <a:endParaRPr lang="en-US" sz="1800" dirty="0"/>
          </a:p>
        </p:txBody>
      </p:sp>
      <p:sp>
        <p:nvSpPr>
          <p:cNvPr id="6" name="Shape 4"/>
          <p:cNvSpPr/>
          <p:nvPr/>
        </p:nvSpPr>
        <p:spPr>
          <a:xfrm>
            <a:off x="3337560" y="1481328"/>
            <a:ext cx="2423160" cy="1170432"/>
          </a:xfrm>
          <a:prstGeom prst="roundRect">
            <a:avLst>
              <a:gd name="adj" fmla="val 6250"/>
            </a:avLst>
          </a:prstGeom>
          <a:solidFill>
            <a:srgbClr val="EAF6FD"/>
          </a:solidFill>
          <a:ln w="12700">
            <a:solidFill>
              <a:srgbClr val="C9E6F5"/>
            </a:solidFill>
            <a:prstDash val="solid"/>
          </a:ln>
        </p:spPr>
      </p:sp>
      <p:sp>
        <p:nvSpPr>
          <p:cNvPr id="7" name="Text 5"/>
          <p:cNvSpPr txBox="1"/>
          <p:nvPr/>
        </p:nvSpPr>
        <p:spPr>
          <a:xfrm>
            <a:off x="3337560" y="1481328"/>
            <a:ext cx="2423160" cy="1170432"/>
          </a:xfrm>
          <a:prstGeom prst="rect">
            <a:avLst/>
          </a:prstGeom>
          <a:noFill/>
          <a:ln/>
        </p:spPr>
        <p:txBody>
          <a:bodyPr wrap="square" lIns="0" tIns="0" rIns="0" bIns="0" rtlCol="0" anchor="ctr"/>
          <a:lstStyle/>
          <a:p>
            <a:pPr algn="ctr" indent="0" marL="0">
              <a:lnSpc>
                <a:spcPct val="120000"/>
              </a:lnSpc>
              <a:buNone/>
            </a:pPr>
            <a:r>
              <a:rPr lang="en-US" sz="1800" b="1" dirty="0">
                <a:solidFill>
                  <a:srgbClr val="1A1A1A"/>
                </a:solidFill>
                <a:latin typeface="Meiryo" pitchFamily="34" charset="0"/>
                <a:ea typeface="Meiryo" pitchFamily="34" charset="-122"/>
                <a:cs typeface="Meiryo" pitchFamily="34" charset="-120"/>
              </a:rPr>
              <a:t>異学年交流の</a:t>
            </a:r>
            <a:endParaRPr lang="en-US" sz="1800" dirty="0"/>
          </a:p>
          <a:p>
            <a:pPr algn="ctr" indent="0" marL="0">
              <a:lnSpc>
                <a:spcPct val="120000"/>
              </a:lnSpc>
              <a:buNone/>
            </a:pPr>
            <a:r>
              <a:rPr lang="en-US" sz="1800" b="1" dirty="0">
                <a:solidFill>
                  <a:srgbClr val="1A1A1A"/>
                </a:solidFill>
                <a:latin typeface="Meiryo" pitchFamily="34" charset="0"/>
                <a:ea typeface="Meiryo" pitchFamily="34" charset="-122"/>
                <a:cs typeface="Meiryo" pitchFamily="34" charset="-120"/>
              </a:rPr>
              <a:t>活性化</a:t>
            </a:r>
            <a:endParaRPr lang="en-US" sz="1800" dirty="0"/>
          </a:p>
        </p:txBody>
      </p:sp>
      <p:sp>
        <p:nvSpPr>
          <p:cNvPr id="8" name="Shape 6"/>
          <p:cNvSpPr/>
          <p:nvPr/>
        </p:nvSpPr>
        <p:spPr>
          <a:xfrm>
            <a:off x="6035040" y="1481328"/>
            <a:ext cx="2423160" cy="1170432"/>
          </a:xfrm>
          <a:prstGeom prst="roundRect">
            <a:avLst>
              <a:gd name="adj" fmla="val 6250"/>
            </a:avLst>
          </a:prstGeom>
          <a:solidFill>
            <a:srgbClr val="EAF6FD"/>
          </a:solidFill>
          <a:ln w="12700">
            <a:solidFill>
              <a:srgbClr val="C9E6F5"/>
            </a:solidFill>
            <a:prstDash val="solid"/>
          </a:ln>
        </p:spPr>
      </p:sp>
      <p:sp>
        <p:nvSpPr>
          <p:cNvPr id="9" name="Text 7"/>
          <p:cNvSpPr txBox="1"/>
          <p:nvPr/>
        </p:nvSpPr>
        <p:spPr>
          <a:xfrm>
            <a:off x="6035040" y="1481328"/>
            <a:ext cx="2423160" cy="1170432"/>
          </a:xfrm>
          <a:prstGeom prst="rect">
            <a:avLst/>
          </a:prstGeom>
          <a:noFill/>
          <a:ln/>
        </p:spPr>
        <p:txBody>
          <a:bodyPr wrap="square" lIns="0" tIns="0" rIns="0" bIns="0" rtlCol="0" anchor="ctr"/>
          <a:lstStyle/>
          <a:p>
            <a:pPr algn="ctr" indent="0" marL="0">
              <a:lnSpc>
                <a:spcPct val="120000"/>
              </a:lnSpc>
              <a:buNone/>
            </a:pPr>
            <a:r>
              <a:rPr lang="en-US" sz="1800" b="1" dirty="0">
                <a:solidFill>
                  <a:srgbClr val="1A1A1A"/>
                </a:solidFill>
                <a:latin typeface="Meiryo" pitchFamily="34" charset="0"/>
                <a:ea typeface="Meiryo" pitchFamily="34" charset="-122"/>
                <a:cs typeface="Meiryo" pitchFamily="34" charset="-120"/>
              </a:rPr>
              <a:t>小中学校間の</a:t>
            </a:r>
            <a:endParaRPr lang="en-US" sz="1800" dirty="0"/>
          </a:p>
          <a:p>
            <a:pPr algn="ctr" indent="0" marL="0">
              <a:lnSpc>
                <a:spcPct val="120000"/>
              </a:lnSpc>
              <a:buNone/>
            </a:pPr>
            <a:r>
              <a:rPr lang="en-US" sz="1800" b="1" dirty="0">
                <a:solidFill>
                  <a:srgbClr val="1A1A1A"/>
                </a:solidFill>
                <a:latin typeface="Meiryo" pitchFamily="34" charset="0"/>
                <a:ea typeface="Meiryo" pitchFamily="34" charset="-122"/>
                <a:cs typeface="Meiryo" pitchFamily="34" charset="-120"/>
              </a:rPr>
              <a:t>指導の統一化</a:t>
            </a:r>
            <a:endParaRPr lang="en-US" sz="1800" dirty="0"/>
          </a:p>
        </p:txBody>
      </p:sp>
      <p:sp>
        <p:nvSpPr>
          <p:cNvPr id="10" name="Text 8"/>
          <p:cNvSpPr txBox="1"/>
          <p:nvPr/>
        </p:nvSpPr>
        <p:spPr>
          <a:xfrm>
            <a:off x="640080" y="2871216"/>
            <a:ext cx="8046720" cy="1828800"/>
          </a:xfrm>
          <a:prstGeom prst="rect">
            <a:avLst/>
          </a:prstGeom>
          <a:noFill/>
          <a:ln/>
        </p:spPr>
        <p:txBody>
          <a:bodyPr wrap="square" lIns="0" tIns="0" rIns="0" bIns="0" rtlCol="0" anchor="t"/>
          <a:lstStyle/>
          <a:p>
            <a:pPr algn="l" indent="0" marL="0">
              <a:lnSpc>
                <a:spcPct val="140000"/>
              </a:lnSpc>
              <a:buNone/>
            </a:pPr>
            <a:r>
              <a:rPr lang="en-US" sz="1900" b="1" dirty="0">
                <a:solidFill>
                  <a:srgbClr val="1A1A1A"/>
                </a:solidFill>
                <a:latin typeface="Meiryo" pitchFamily="34" charset="0"/>
                <a:ea typeface="Meiryo" pitchFamily="34" charset="-122"/>
                <a:cs typeface="Meiryo" pitchFamily="34" charset="-120"/>
              </a:rPr>
              <a:t>みらい青空学園は、区内２校目の施設一体型として</a:t>
            </a:r>
            <a:endParaRPr lang="en-US" sz="1900" dirty="0"/>
          </a:p>
          <a:p>
            <a:pPr algn="l" indent="0" marL="0">
              <a:lnSpc>
                <a:spcPct val="140000"/>
              </a:lnSpc>
              <a:buNone/>
            </a:pPr>
            <a:r>
              <a:rPr lang="en-US" sz="1900" b="1" dirty="0">
                <a:solidFill>
                  <a:srgbClr val="1A1A1A"/>
                </a:solidFill>
                <a:latin typeface="Meiryo" pitchFamily="34" charset="0"/>
                <a:ea typeface="Meiryo" pitchFamily="34" charset="-122"/>
                <a:cs typeface="Meiryo" pitchFamily="34" charset="-120"/>
              </a:rPr>
              <a:t>令和８年４月に開校した</a:t>
            </a:r>
            <a:pPr algn="l" indent="0" marL="0">
              <a:lnSpc>
                <a:spcPct val="140000"/>
              </a:lnSpc>
              <a:buNone/>
            </a:pPr>
            <a:r>
              <a:rPr lang="en-US" sz="1900" b="1" dirty="0">
                <a:solidFill>
                  <a:srgbClr val="EB6C15"/>
                </a:solidFill>
                <a:latin typeface="Meiryo" pitchFamily="34" charset="0"/>
                <a:ea typeface="Meiryo" pitchFamily="34" charset="-122"/>
                <a:cs typeface="Meiryo" pitchFamily="34" charset="-120"/>
              </a:rPr>
              <a:t>開校１年目</a:t>
            </a:r>
            <a:pPr algn="l" indent="0" marL="0">
              <a:lnSpc>
                <a:spcPct val="140000"/>
              </a:lnSpc>
              <a:buNone/>
            </a:pPr>
            <a:r>
              <a:rPr lang="en-US" sz="1900" b="1" dirty="0">
                <a:solidFill>
                  <a:srgbClr val="1A1A1A"/>
                </a:solidFill>
                <a:latin typeface="Meiryo" pitchFamily="34" charset="0"/>
                <a:ea typeface="Meiryo" pitchFamily="34" charset="-122"/>
                <a:cs typeface="Meiryo" pitchFamily="34" charset="-120"/>
              </a:rPr>
              <a:t>の学校である。</a:t>
            </a:r>
            <a:endParaRPr lang="en-US" sz="1900" dirty="0"/>
          </a:p>
          <a:p>
            <a:pPr algn="l" indent="0" marL="0">
              <a:lnSpc>
                <a:spcPct val="140000"/>
              </a:lnSpc>
              <a:buNone/>
            </a:pPr>
            <a:r>
              <a:rPr lang="en-US" sz="1900" b="1" dirty="0">
                <a:solidFill>
                  <a:srgbClr val="1A1A1A"/>
                </a:solidFill>
                <a:latin typeface="Meiryo" pitchFamily="34" charset="0"/>
                <a:ea typeface="Meiryo" pitchFamily="34" charset="-122"/>
                <a:cs typeface="Meiryo" pitchFamily="34" charset="-120"/>
              </a:rPr>
              <a:t>１年生から９年生までが同じ学び舎で学ぶ強みを生かし、</a:t>
            </a:r>
            <a:endParaRPr lang="en-US" sz="1900" dirty="0"/>
          </a:p>
          <a:p>
            <a:pPr algn="l" indent="0" marL="0">
              <a:lnSpc>
                <a:spcPct val="140000"/>
              </a:lnSpc>
              <a:buNone/>
            </a:pPr>
            <a:r>
              <a:rPr lang="en-US" sz="1900" b="1" dirty="0">
                <a:solidFill>
                  <a:srgbClr val="EB6C15"/>
                </a:solidFill>
                <a:latin typeface="Meiryo" pitchFamily="34" charset="0"/>
                <a:ea typeface="Meiryo" pitchFamily="34" charset="-122"/>
                <a:cs typeface="Meiryo" pitchFamily="34" charset="-120"/>
              </a:rPr>
              <a:t>「目指す１５歳の姿」</a:t>
            </a:r>
            <a:pPr algn="l" indent="0" marL="0">
              <a:lnSpc>
                <a:spcPct val="140000"/>
              </a:lnSpc>
              <a:buNone/>
            </a:pPr>
            <a:r>
              <a:rPr lang="en-US" sz="1900" b="1" dirty="0">
                <a:solidFill>
                  <a:srgbClr val="1A1A1A"/>
                </a:solidFill>
                <a:latin typeface="Meiryo" pitchFamily="34" charset="0"/>
                <a:ea typeface="Meiryo" pitchFamily="34" charset="-122"/>
                <a:cs typeface="Meiryo" pitchFamily="34" charset="-120"/>
              </a:rPr>
              <a:t>を９年間で描いていくことに期待している。</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0" y="0"/>
            <a:ext cx="9144000" cy="576072"/>
          </a:xfrm>
          <a:prstGeom prst="rect">
            <a:avLst/>
          </a:prstGeom>
          <a:solidFill>
            <a:srgbClr val="00B0F0"/>
          </a:solidFill>
          <a:ln/>
        </p:spPr>
        <p:txBody>
          <a:bodyPr wrap="square" lIns="0" tIns="0" rIns="0" bIns="0" rtlCol="0" anchor="ctr"/>
          <a:lstStyle/>
          <a:p>
            <a:pPr algn="l" indent="0" marL="0">
              <a:buNone/>
            </a:pPr>
            <a:r>
              <a:rPr lang="en-US" sz="2800" b="1" dirty="0">
                <a:solidFill>
                  <a:srgbClr val="FFFFFF"/>
                </a:solidFill>
                <a:latin typeface="Meiryo" pitchFamily="34" charset="0"/>
                <a:ea typeface="Meiryo" pitchFamily="34" charset="-122"/>
                <a:cs typeface="Meiryo" pitchFamily="34" charset="-120"/>
              </a:rPr>
              <a:t>　学力調査結果から見える強み</a:t>
            </a:r>
            <a:endParaRPr lang="en-US" sz="2800" dirty="0"/>
          </a:p>
        </p:txBody>
      </p:sp>
      <p:sp>
        <p:nvSpPr>
          <p:cNvPr id="3" name="Text 1"/>
          <p:cNvSpPr txBox="1"/>
          <p:nvPr/>
        </p:nvSpPr>
        <p:spPr>
          <a:xfrm>
            <a:off x="640080" y="868680"/>
            <a:ext cx="4480560" cy="822960"/>
          </a:xfrm>
          <a:prstGeom prst="rect">
            <a:avLst/>
          </a:prstGeom>
          <a:noFill/>
          <a:ln/>
        </p:spPr>
        <p:txBody>
          <a:bodyPr wrap="square" lIns="0" tIns="0" rIns="0" bIns="0" rtlCol="0" anchor="t"/>
          <a:lstStyle/>
          <a:p>
            <a:pPr algn="l" indent="0" marL="0">
              <a:lnSpc>
                <a:spcPct val="130000"/>
              </a:lnSpc>
              <a:buNone/>
            </a:pPr>
            <a:r>
              <a:rPr lang="en-US" sz="2000" b="1" dirty="0">
                <a:solidFill>
                  <a:srgbClr val="1A1A1A"/>
                </a:solidFill>
                <a:latin typeface="Meiryo" pitchFamily="34" charset="0"/>
                <a:ea typeface="Meiryo" pitchFamily="34" charset="-122"/>
                <a:cs typeface="Meiryo" pitchFamily="34" charset="-120"/>
              </a:rPr>
              <a:t>本校では、次の３点が</a:t>
            </a:r>
            <a:endParaRPr lang="en-US" sz="2000" dirty="0"/>
          </a:p>
          <a:p>
            <a:pPr algn="l" indent="0" marL="0">
              <a:lnSpc>
                <a:spcPct val="130000"/>
              </a:lnSpc>
              <a:buNone/>
            </a:pPr>
            <a:r>
              <a:rPr lang="en-US" sz="2000" b="1" dirty="0">
                <a:solidFill>
                  <a:srgbClr val="1A1A1A"/>
                </a:solidFill>
                <a:latin typeface="Meiryo" pitchFamily="34" charset="0"/>
                <a:ea typeface="Meiryo" pitchFamily="34" charset="-122"/>
                <a:cs typeface="Meiryo" pitchFamily="34" charset="-120"/>
              </a:rPr>
              <a:t>着実に育っている。</a:t>
            </a:r>
            <a:endParaRPr lang="en-US" sz="2000" dirty="0"/>
          </a:p>
        </p:txBody>
      </p:sp>
      <p:sp>
        <p:nvSpPr>
          <p:cNvPr id="4" name="Shape 2"/>
          <p:cNvSpPr/>
          <p:nvPr/>
        </p:nvSpPr>
        <p:spPr>
          <a:xfrm>
            <a:off x="640080" y="1874520"/>
            <a:ext cx="4160520" cy="676656"/>
          </a:xfrm>
          <a:prstGeom prst="roundRect">
            <a:avLst>
              <a:gd name="adj" fmla="val 10811"/>
            </a:avLst>
          </a:prstGeom>
          <a:solidFill>
            <a:srgbClr val="EAF6FD"/>
          </a:solidFill>
          <a:ln w="12700">
            <a:solidFill>
              <a:srgbClr val="C9E6F5"/>
            </a:solidFill>
            <a:prstDash val="solid"/>
          </a:ln>
        </p:spPr>
      </p:sp>
      <p:sp>
        <p:nvSpPr>
          <p:cNvPr id="5" name="Text 3"/>
          <p:cNvSpPr txBox="1"/>
          <p:nvPr/>
        </p:nvSpPr>
        <p:spPr>
          <a:xfrm>
            <a:off x="640080" y="1874520"/>
            <a:ext cx="4160520" cy="676656"/>
          </a:xfrm>
          <a:prstGeom prst="rect">
            <a:avLst/>
          </a:prstGeom>
          <a:noFill/>
          <a:ln/>
        </p:spPr>
        <p:txBody>
          <a:bodyPr wrap="square" lIns="0" tIns="0" rIns="0" bIns="0" rtlCol="0" anchor="ctr"/>
          <a:lstStyle/>
          <a:p>
            <a:pPr algn="ctr" indent="0" marL="0">
              <a:buNone/>
            </a:pPr>
            <a:r>
              <a:rPr lang="en-US" sz="2400" b="1" dirty="0">
                <a:solidFill>
                  <a:srgbClr val="EB6C15"/>
                </a:solidFill>
                <a:latin typeface="Meiryo" pitchFamily="34" charset="0"/>
                <a:ea typeface="Meiryo" pitchFamily="34" charset="-122"/>
                <a:cs typeface="Meiryo" pitchFamily="34" charset="-120"/>
              </a:rPr>
              <a:t>学習規律</a:t>
            </a:r>
            <a:endParaRPr lang="en-US" sz="2400" dirty="0"/>
          </a:p>
        </p:txBody>
      </p:sp>
      <p:sp>
        <p:nvSpPr>
          <p:cNvPr id="6" name="Shape 4"/>
          <p:cNvSpPr/>
          <p:nvPr/>
        </p:nvSpPr>
        <p:spPr>
          <a:xfrm>
            <a:off x="640080" y="2715768"/>
            <a:ext cx="4160520" cy="676656"/>
          </a:xfrm>
          <a:prstGeom prst="roundRect">
            <a:avLst>
              <a:gd name="adj" fmla="val 10811"/>
            </a:avLst>
          </a:prstGeom>
          <a:solidFill>
            <a:srgbClr val="EAF6FD"/>
          </a:solidFill>
          <a:ln w="12700">
            <a:solidFill>
              <a:srgbClr val="C9E6F5"/>
            </a:solidFill>
            <a:prstDash val="solid"/>
          </a:ln>
        </p:spPr>
      </p:sp>
      <p:sp>
        <p:nvSpPr>
          <p:cNvPr id="7" name="Text 5"/>
          <p:cNvSpPr txBox="1"/>
          <p:nvPr/>
        </p:nvSpPr>
        <p:spPr>
          <a:xfrm>
            <a:off x="640080" y="2715768"/>
            <a:ext cx="4160520" cy="676656"/>
          </a:xfrm>
          <a:prstGeom prst="rect">
            <a:avLst/>
          </a:prstGeom>
          <a:noFill/>
          <a:ln/>
        </p:spPr>
        <p:txBody>
          <a:bodyPr wrap="square" lIns="0" tIns="0" rIns="0" bIns="0" rtlCol="0" anchor="ctr"/>
          <a:lstStyle/>
          <a:p>
            <a:pPr algn="ctr" indent="0" marL="0">
              <a:buNone/>
            </a:pPr>
            <a:r>
              <a:rPr lang="en-US" sz="2400" b="1" dirty="0">
                <a:solidFill>
                  <a:srgbClr val="EB6C15"/>
                </a:solidFill>
                <a:latin typeface="Meiryo" pitchFamily="34" charset="0"/>
                <a:ea typeface="Meiryo" pitchFamily="34" charset="-122"/>
                <a:cs typeface="Meiryo" pitchFamily="34" charset="-120"/>
              </a:rPr>
              <a:t>学習習慣</a:t>
            </a:r>
            <a:endParaRPr lang="en-US" sz="2400" dirty="0"/>
          </a:p>
        </p:txBody>
      </p:sp>
      <p:sp>
        <p:nvSpPr>
          <p:cNvPr id="8" name="Shape 6"/>
          <p:cNvSpPr/>
          <p:nvPr/>
        </p:nvSpPr>
        <p:spPr>
          <a:xfrm>
            <a:off x="640080" y="3557016"/>
            <a:ext cx="4160520" cy="676656"/>
          </a:xfrm>
          <a:prstGeom prst="roundRect">
            <a:avLst>
              <a:gd name="adj" fmla="val 10811"/>
            </a:avLst>
          </a:prstGeom>
          <a:solidFill>
            <a:srgbClr val="EAF6FD"/>
          </a:solidFill>
          <a:ln w="12700">
            <a:solidFill>
              <a:srgbClr val="C9E6F5"/>
            </a:solidFill>
            <a:prstDash val="solid"/>
          </a:ln>
        </p:spPr>
      </p:sp>
      <p:sp>
        <p:nvSpPr>
          <p:cNvPr id="9" name="Text 7"/>
          <p:cNvSpPr txBox="1"/>
          <p:nvPr/>
        </p:nvSpPr>
        <p:spPr>
          <a:xfrm>
            <a:off x="640080" y="3557016"/>
            <a:ext cx="4160520" cy="676656"/>
          </a:xfrm>
          <a:prstGeom prst="rect">
            <a:avLst/>
          </a:prstGeom>
          <a:noFill/>
          <a:ln/>
        </p:spPr>
        <p:txBody>
          <a:bodyPr wrap="square" lIns="0" tIns="0" rIns="0" bIns="0" rtlCol="0" anchor="ctr"/>
          <a:lstStyle/>
          <a:p>
            <a:pPr algn="ctr" indent="0" marL="0">
              <a:buNone/>
            </a:pPr>
            <a:r>
              <a:rPr lang="en-US" sz="2400" b="1" dirty="0">
                <a:solidFill>
                  <a:srgbClr val="EB6C15"/>
                </a:solidFill>
                <a:latin typeface="Meiryo" pitchFamily="34" charset="0"/>
                <a:ea typeface="Meiryo" pitchFamily="34" charset="-122"/>
                <a:cs typeface="Meiryo" pitchFamily="34" charset="-120"/>
              </a:rPr>
              <a:t>学びへの主体性</a:t>
            </a:r>
            <a:endParaRPr lang="en-US" sz="2400" dirty="0"/>
          </a:p>
        </p:txBody>
      </p:sp>
      <p:sp>
        <p:nvSpPr>
          <p:cNvPr id="10" name="Shape 8"/>
          <p:cNvSpPr/>
          <p:nvPr/>
        </p:nvSpPr>
        <p:spPr>
          <a:xfrm>
            <a:off x="5257800" y="914400"/>
            <a:ext cx="3291840" cy="3246120"/>
          </a:xfrm>
          <a:prstGeom prst="rect">
            <a:avLst/>
          </a:prstGeom>
          <a:solidFill>
            <a:srgbClr val="FAFCFE"/>
          </a:solidFill>
          <a:ln w="19050">
            <a:solidFill>
              <a:srgbClr val="00B0F0"/>
            </a:solidFill>
            <a:prstDash val="dash"/>
          </a:ln>
        </p:spPr>
      </p:sp>
      <p:sp>
        <p:nvSpPr>
          <p:cNvPr id="11" name="Text 9"/>
          <p:cNvSpPr txBox="1"/>
          <p:nvPr/>
        </p:nvSpPr>
        <p:spPr>
          <a:xfrm>
            <a:off x="5394960" y="1051560"/>
            <a:ext cx="3017520" cy="2971800"/>
          </a:xfrm>
          <a:prstGeom prst="rect">
            <a:avLst/>
          </a:prstGeom>
          <a:noFill/>
          <a:ln/>
        </p:spPr>
        <p:txBody>
          <a:bodyPr wrap="square" lIns="0" tIns="0" rIns="0" bIns="0" rtlCol="0" anchor="ctr"/>
          <a:lstStyle/>
          <a:p>
            <a:pPr algn="ctr" indent="0" marL="0">
              <a:lnSpc>
                <a:spcPct val="125000"/>
              </a:lnSpc>
              <a:buNone/>
            </a:pPr>
            <a:r>
              <a:rPr lang="en-US" sz="1700" b="1" dirty="0">
                <a:solidFill>
                  <a:srgbClr val="00B0F0"/>
                </a:solidFill>
                <a:latin typeface="Meiryo" pitchFamily="34" charset="0"/>
                <a:ea typeface="Meiryo" pitchFamily="34" charset="-122"/>
                <a:cs typeface="Meiryo" pitchFamily="34" charset="-120"/>
              </a:rPr>
              <a:t>学力調査・意識調査グラフ</a:t>
            </a:r>
            <a:endParaRPr lang="en-US" sz="1700" dirty="0"/>
          </a:p>
          <a:p>
            <a:pPr algn="ctr" indent="0" marL="0">
              <a:lnSpc>
                <a:spcPct val="125000"/>
              </a:lnSpc>
              <a:buNone/>
            </a:pPr>
            <a:r>
              <a:rPr lang="en-US" sz="1700" b="1" dirty="0">
                <a:solidFill>
                  <a:srgbClr val="00B0F0"/>
                </a:solidFill>
                <a:latin typeface="Meiryo" pitchFamily="34" charset="0"/>
                <a:ea typeface="Meiryo" pitchFamily="34" charset="-122"/>
                <a:cs typeface="Meiryo" pitchFamily="34" charset="-120"/>
              </a:rPr>
              <a:t>（貼付欄）</a:t>
            </a:r>
            <a:endParaRPr lang="en-US" sz="1700" dirty="0"/>
          </a:p>
          <a:p>
            <a:pPr algn="ctr" indent="0" marL="0">
              <a:lnSpc>
                <a:spcPct val="125000"/>
              </a:lnSpc>
              <a:buNone/>
            </a:pPr>
            <a:r>
              <a:rPr lang="en-US" sz="1000" b="1" dirty="0">
                <a:solidFill>
                  <a:srgbClr val="000000"/>
                </a:solidFill>
                <a:latin typeface="Meiryo" pitchFamily="34" charset="0"/>
                <a:ea typeface="Meiryo" pitchFamily="34" charset="-122"/>
                <a:cs typeface="Meiryo" pitchFamily="34" charset="-120"/>
              </a:rPr>
              <a:t> </a:t>
            </a:r>
            <a:endParaRPr lang="en-US" sz="1700" dirty="0"/>
          </a:p>
          <a:p>
            <a:pPr algn="ctr" indent="0" marL="0">
              <a:lnSpc>
                <a:spcPct val="125000"/>
              </a:lnSpc>
              <a:buNone/>
            </a:pPr>
            <a:r>
              <a:rPr lang="en-US" sz="1200" b="1" dirty="0">
                <a:solidFill>
                  <a:srgbClr val="595959"/>
                </a:solidFill>
                <a:latin typeface="Meiryo" pitchFamily="34" charset="0"/>
                <a:ea typeface="Meiryo" pitchFamily="34" charset="-122"/>
                <a:cs typeface="Meiryo" pitchFamily="34" charset="-120"/>
              </a:rPr>
              <a:t>全国学力・学習状況調査</a:t>
            </a:r>
            <a:endParaRPr lang="en-US" sz="1700" dirty="0"/>
          </a:p>
          <a:p>
            <a:pPr algn="ctr" indent="0" marL="0">
              <a:lnSpc>
                <a:spcPct val="125000"/>
              </a:lnSpc>
              <a:buNone/>
            </a:pPr>
            <a:r>
              <a:rPr lang="en-US" sz="1200" b="1" dirty="0">
                <a:solidFill>
                  <a:srgbClr val="595959"/>
                </a:solidFill>
                <a:latin typeface="Meiryo" pitchFamily="34" charset="0"/>
                <a:ea typeface="Meiryo" pitchFamily="34" charset="-122"/>
                <a:cs typeface="Meiryo" pitchFamily="34" charset="-120"/>
              </a:rPr>
              <a:t>児童・生徒質問紙調査　ほか</a:t>
            </a:r>
            <a:endParaRPr lang="en-US" sz="1700" dirty="0"/>
          </a:p>
        </p:txBody>
      </p:sp>
      <p:sp>
        <p:nvSpPr>
          <p:cNvPr id="12" name="Text 10"/>
          <p:cNvSpPr txBox="1"/>
          <p:nvPr/>
        </p:nvSpPr>
        <p:spPr>
          <a:xfrm>
            <a:off x="5257800" y="4224528"/>
            <a:ext cx="3291840" cy="292608"/>
          </a:xfrm>
          <a:prstGeom prst="rect">
            <a:avLst/>
          </a:prstGeom>
          <a:noFill/>
          <a:ln/>
        </p:spPr>
        <p:txBody>
          <a:bodyPr wrap="square" lIns="0" tIns="0" rIns="0" bIns="0" rtlCol="0" anchor="ctr"/>
          <a:lstStyle/>
          <a:p>
            <a:pPr algn="ctr" indent="0" marL="0">
              <a:buNone/>
            </a:pPr>
            <a:r>
              <a:rPr lang="en-US" sz="1000" b="1" dirty="0">
                <a:solidFill>
                  <a:srgbClr val="595959"/>
                </a:solidFill>
                <a:latin typeface="Meiryo" pitchFamily="34" charset="0"/>
                <a:ea typeface="Meiryo" pitchFamily="34" charset="-122"/>
                <a:cs typeface="Meiryo" pitchFamily="34" charset="-120"/>
              </a:rPr>
              <a:t>※ 本校の調査結果グラフを貼り付けてご使用ください。</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0" y="0"/>
            <a:ext cx="9144000" cy="576072"/>
          </a:xfrm>
          <a:prstGeom prst="rect">
            <a:avLst/>
          </a:prstGeom>
          <a:solidFill>
            <a:srgbClr val="00B0F0"/>
          </a:solidFill>
          <a:ln/>
        </p:spPr>
        <p:txBody>
          <a:bodyPr wrap="square" lIns="0" tIns="0" rIns="0" bIns="0" rtlCol="0" anchor="ctr"/>
          <a:lstStyle/>
          <a:p>
            <a:pPr algn="l" indent="0" marL="0">
              <a:buNone/>
            </a:pPr>
            <a:r>
              <a:rPr lang="en-US" sz="2800" b="1" dirty="0">
                <a:solidFill>
                  <a:srgbClr val="FFFFFF"/>
                </a:solidFill>
                <a:latin typeface="Meiryo" pitchFamily="34" charset="0"/>
                <a:ea typeface="Meiryo" pitchFamily="34" charset="-122"/>
                <a:cs typeface="Meiryo" pitchFamily="34" charset="-120"/>
              </a:rPr>
              <a:t>　学力調査結果から見える強み</a:t>
            </a:r>
            <a:endParaRPr lang="en-US" sz="2800" dirty="0"/>
          </a:p>
        </p:txBody>
      </p:sp>
      <p:sp>
        <p:nvSpPr>
          <p:cNvPr id="3" name="Text 1"/>
          <p:cNvSpPr txBox="1"/>
          <p:nvPr/>
        </p:nvSpPr>
        <p:spPr>
          <a:xfrm>
            <a:off x="640080" y="841248"/>
            <a:ext cx="8046720" cy="1051560"/>
          </a:xfrm>
          <a:prstGeom prst="rect">
            <a:avLst/>
          </a:prstGeom>
          <a:noFill/>
          <a:ln/>
        </p:spPr>
        <p:txBody>
          <a:bodyPr wrap="square" lIns="0" tIns="0" rIns="0" bIns="0" rtlCol="0" anchor="t"/>
          <a:lstStyle/>
          <a:p>
            <a:pPr algn="l" indent="0" marL="0">
              <a:lnSpc>
                <a:spcPct val="135000"/>
              </a:lnSpc>
              <a:buNone/>
            </a:pPr>
            <a:r>
              <a:rPr lang="en-US" sz="2200" b="1" dirty="0">
                <a:solidFill>
                  <a:srgbClr val="1A1A1A"/>
                </a:solidFill>
                <a:latin typeface="Meiryo" pitchFamily="34" charset="0"/>
                <a:ea typeface="Meiryo" pitchFamily="34" charset="-122"/>
                <a:cs typeface="Meiryo" pitchFamily="34" charset="-120"/>
              </a:rPr>
              <a:t>学力調査結果は「結果」である。</a:t>
            </a:r>
            <a:endParaRPr lang="en-US" sz="2200" dirty="0"/>
          </a:p>
          <a:p>
            <a:pPr algn="l" indent="0" marL="0">
              <a:lnSpc>
                <a:spcPct val="135000"/>
              </a:lnSpc>
              <a:buNone/>
            </a:pPr>
            <a:r>
              <a:rPr lang="en-US" sz="2200" b="1" dirty="0">
                <a:solidFill>
                  <a:srgbClr val="1A1A1A"/>
                </a:solidFill>
                <a:latin typeface="Meiryo" pitchFamily="34" charset="0"/>
                <a:ea typeface="Meiryo" pitchFamily="34" charset="-122"/>
                <a:cs typeface="Meiryo" pitchFamily="34" charset="-120"/>
              </a:rPr>
              <a:t>では、</a:t>
            </a:r>
            <a:pPr algn="l" indent="0" marL="0">
              <a:lnSpc>
                <a:spcPct val="135000"/>
              </a:lnSpc>
              <a:buNone/>
            </a:pPr>
            <a:r>
              <a:rPr lang="en-US" sz="2200" b="1" dirty="0">
                <a:solidFill>
                  <a:srgbClr val="EB6C15"/>
                </a:solidFill>
                <a:latin typeface="Meiryo" pitchFamily="34" charset="0"/>
                <a:ea typeface="Meiryo" pitchFamily="34" charset="-122"/>
                <a:cs typeface="Meiryo" pitchFamily="34" charset="-120"/>
              </a:rPr>
              <a:t>その結果を生み出した要因は何か</a:t>
            </a:r>
            <a:pPr algn="l" indent="0" marL="0">
              <a:lnSpc>
                <a:spcPct val="135000"/>
              </a:lnSpc>
              <a:buNone/>
            </a:pPr>
            <a:r>
              <a:rPr lang="en-US" sz="2200" b="1" dirty="0">
                <a:solidFill>
                  <a:srgbClr val="1A1A1A"/>
                </a:solidFill>
                <a:latin typeface="Meiryo" pitchFamily="34" charset="0"/>
                <a:ea typeface="Meiryo" pitchFamily="34" charset="-122"/>
                <a:cs typeface="Meiryo" pitchFamily="34" charset="-120"/>
              </a:rPr>
              <a:t>。</a:t>
            </a:r>
            <a:endParaRPr lang="en-US" sz="2200" dirty="0"/>
          </a:p>
        </p:txBody>
      </p:sp>
      <p:sp>
        <p:nvSpPr>
          <p:cNvPr id="4" name="Text 2"/>
          <p:cNvSpPr txBox="1"/>
          <p:nvPr/>
        </p:nvSpPr>
        <p:spPr>
          <a:xfrm>
            <a:off x="640080" y="1938528"/>
            <a:ext cx="8046720" cy="384048"/>
          </a:xfrm>
          <a:prstGeom prst="rect">
            <a:avLst/>
          </a:prstGeom>
          <a:noFill/>
          <a:ln/>
        </p:spPr>
        <p:txBody>
          <a:bodyPr wrap="square" lIns="0" tIns="0" rIns="0" bIns="0" rtlCol="0" anchor="ctr"/>
          <a:lstStyle/>
          <a:p>
            <a:pPr algn="l" indent="0" marL="0">
              <a:buNone/>
            </a:pPr>
            <a:r>
              <a:rPr lang="en-US" sz="1600" b="1" dirty="0">
                <a:solidFill>
                  <a:srgbClr val="595959"/>
                </a:solidFill>
                <a:latin typeface="Meiryo" pitchFamily="34" charset="0"/>
                <a:ea typeface="Meiryo" pitchFamily="34" charset="-122"/>
                <a:cs typeface="Meiryo" pitchFamily="34" charset="-120"/>
              </a:rPr>
              <a:t>本日の授業から、次の３つが見えてきた。</a:t>
            </a:r>
            <a:endParaRPr lang="en-US" sz="1600" dirty="0"/>
          </a:p>
        </p:txBody>
      </p:sp>
      <p:sp>
        <p:nvSpPr>
          <p:cNvPr id="5" name="Shape 3"/>
          <p:cNvSpPr/>
          <p:nvPr/>
        </p:nvSpPr>
        <p:spPr>
          <a:xfrm>
            <a:off x="640080" y="2487168"/>
            <a:ext cx="2423160" cy="1572768"/>
          </a:xfrm>
          <a:prstGeom prst="roundRect">
            <a:avLst>
              <a:gd name="adj" fmla="val 4651"/>
            </a:avLst>
          </a:prstGeom>
          <a:solidFill>
            <a:srgbClr val="EAF6FD"/>
          </a:solidFill>
          <a:ln w="12700">
            <a:solidFill>
              <a:srgbClr val="C9E6F5"/>
            </a:solidFill>
            <a:prstDash val="solid"/>
          </a:ln>
        </p:spPr>
      </p:sp>
      <p:sp>
        <p:nvSpPr>
          <p:cNvPr id="6" name="Shape 4"/>
          <p:cNvSpPr/>
          <p:nvPr/>
        </p:nvSpPr>
        <p:spPr>
          <a:xfrm>
            <a:off x="1604772" y="2697480"/>
            <a:ext cx="493776" cy="493776"/>
          </a:xfrm>
          <a:prstGeom prst="ellipse">
            <a:avLst/>
          </a:prstGeom>
          <a:solidFill>
            <a:srgbClr val="EB6C15"/>
          </a:solidFill>
          <a:ln/>
        </p:spPr>
      </p:sp>
      <p:sp>
        <p:nvSpPr>
          <p:cNvPr id="7" name="Text 5"/>
          <p:cNvSpPr txBox="1"/>
          <p:nvPr/>
        </p:nvSpPr>
        <p:spPr>
          <a:xfrm>
            <a:off x="1604772" y="2697480"/>
            <a:ext cx="493776" cy="493776"/>
          </a:xfrm>
          <a:prstGeom prst="rect">
            <a:avLst/>
          </a:prstGeom>
          <a:noFill/>
          <a:ln/>
        </p:spPr>
        <p:txBody>
          <a:bodyPr wrap="square" lIns="0" tIns="0" rIns="0" bIns="0" rtlCol="0" anchor="ctr"/>
          <a:lstStyle/>
          <a:p>
            <a:pPr algn="ctr" indent="0" marL="0">
              <a:buNone/>
            </a:pPr>
            <a:r>
              <a:rPr lang="en-US" sz="2500" b="1" dirty="0">
                <a:solidFill>
                  <a:srgbClr val="FFFFFF"/>
                </a:solidFill>
                <a:latin typeface="Meiryo" pitchFamily="34" charset="0"/>
                <a:ea typeface="Meiryo" pitchFamily="34" charset="-122"/>
                <a:cs typeface="Meiryo" pitchFamily="34" charset="-120"/>
              </a:rPr>
              <a:t>①</a:t>
            </a:r>
            <a:endParaRPr lang="en-US" sz="2500" dirty="0"/>
          </a:p>
        </p:txBody>
      </p:sp>
      <p:sp>
        <p:nvSpPr>
          <p:cNvPr id="8" name="Text 6"/>
          <p:cNvSpPr txBox="1"/>
          <p:nvPr/>
        </p:nvSpPr>
        <p:spPr>
          <a:xfrm>
            <a:off x="731520" y="3310128"/>
            <a:ext cx="2240280" cy="548640"/>
          </a:xfrm>
          <a:prstGeom prst="rect">
            <a:avLst/>
          </a:prstGeom>
          <a:noFill/>
          <a:ln/>
        </p:spPr>
        <p:txBody>
          <a:bodyPr wrap="square" lIns="0" tIns="0" rIns="0" bIns="0" rtlCol="0" anchor="ctr"/>
          <a:lstStyle/>
          <a:p>
            <a:pPr algn="ctr" indent="0" marL="0">
              <a:buNone/>
            </a:pPr>
            <a:r>
              <a:rPr lang="en-US" sz="1900" b="1" dirty="0">
                <a:solidFill>
                  <a:srgbClr val="EB6C15"/>
                </a:solidFill>
                <a:latin typeface="Meiryo" pitchFamily="34" charset="0"/>
                <a:ea typeface="Meiryo" pitchFamily="34" charset="-122"/>
                <a:cs typeface="Meiryo" pitchFamily="34" charset="-120"/>
              </a:rPr>
              <a:t>自己肯定感</a:t>
            </a:r>
            <a:endParaRPr lang="en-US" sz="1900" dirty="0"/>
          </a:p>
        </p:txBody>
      </p:sp>
      <p:sp>
        <p:nvSpPr>
          <p:cNvPr id="9" name="Shape 7"/>
          <p:cNvSpPr/>
          <p:nvPr/>
        </p:nvSpPr>
        <p:spPr>
          <a:xfrm>
            <a:off x="3337560" y="2487168"/>
            <a:ext cx="2423160" cy="1572768"/>
          </a:xfrm>
          <a:prstGeom prst="roundRect">
            <a:avLst>
              <a:gd name="adj" fmla="val 4651"/>
            </a:avLst>
          </a:prstGeom>
          <a:solidFill>
            <a:srgbClr val="EAF6FD"/>
          </a:solidFill>
          <a:ln w="12700">
            <a:solidFill>
              <a:srgbClr val="C9E6F5"/>
            </a:solidFill>
            <a:prstDash val="solid"/>
          </a:ln>
        </p:spPr>
      </p:sp>
      <p:sp>
        <p:nvSpPr>
          <p:cNvPr id="10" name="Shape 8"/>
          <p:cNvSpPr/>
          <p:nvPr/>
        </p:nvSpPr>
        <p:spPr>
          <a:xfrm>
            <a:off x="4302252" y="2697480"/>
            <a:ext cx="493776" cy="493776"/>
          </a:xfrm>
          <a:prstGeom prst="ellipse">
            <a:avLst/>
          </a:prstGeom>
          <a:solidFill>
            <a:srgbClr val="EB6C15"/>
          </a:solidFill>
          <a:ln/>
        </p:spPr>
      </p:sp>
      <p:sp>
        <p:nvSpPr>
          <p:cNvPr id="11" name="Text 9"/>
          <p:cNvSpPr txBox="1"/>
          <p:nvPr/>
        </p:nvSpPr>
        <p:spPr>
          <a:xfrm>
            <a:off x="4302252" y="2697480"/>
            <a:ext cx="493776" cy="493776"/>
          </a:xfrm>
          <a:prstGeom prst="rect">
            <a:avLst/>
          </a:prstGeom>
          <a:noFill/>
          <a:ln/>
        </p:spPr>
        <p:txBody>
          <a:bodyPr wrap="square" lIns="0" tIns="0" rIns="0" bIns="0" rtlCol="0" anchor="ctr"/>
          <a:lstStyle/>
          <a:p>
            <a:pPr algn="ctr" indent="0" marL="0">
              <a:buNone/>
            </a:pPr>
            <a:r>
              <a:rPr lang="en-US" sz="2500" b="1" dirty="0">
                <a:solidFill>
                  <a:srgbClr val="FFFFFF"/>
                </a:solidFill>
                <a:latin typeface="Meiryo" pitchFamily="34" charset="0"/>
                <a:ea typeface="Meiryo" pitchFamily="34" charset="-122"/>
                <a:cs typeface="Meiryo" pitchFamily="34" charset="-120"/>
              </a:rPr>
              <a:t>②</a:t>
            </a:r>
            <a:endParaRPr lang="en-US" sz="2500" dirty="0"/>
          </a:p>
        </p:txBody>
      </p:sp>
      <p:sp>
        <p:nvSpPr>
          <p:cNvPr id="12" name="Text 10"/>
          <p:cNvSpPr txBox="1"/>
          <p:nvPr/>
        </p:nvSpPr>
        <p:spPr>
          <a:xfrm>
            <a:off x="3429000" y="3310128"/>
            <a:ext cx="2240280" cy="548640"/>
          </a:xfrm>
          <a:prstGeom prst="rect">
            <a:avLst/>
          </a:prstGeom>
          <a:noFill/>
          <a:ln/>
        </p:spPr>
        <p:txBody>
          <a:bodyPr wrap="square" lIns="0" tIns="0" rIns="0" bIns="0" rtlCol="0" anchor="ctr"/>
          <a:lstStyle/>
          <a:p>
            <a:pPr algn="ctr" indent="0" marL="0">
              <a:buNone/>
            </a:pPr>
            <a:r>
              <a:rPr lang="en-US" sz="1900" b="1" dirty="0">
                <a:solidFill>
                  <a:srgbClr val="EB6C15"/>
                </a:solidFill>
                <a:latin typeface="Meiryo" pitchFamily="34" charset="0"/>
                <a:ea typeface="Meiryo" pitchFamily="34" charset="-122"/>
                <a:cs typeface="Meiryo" pitchFamily="34" charset="-120"/>
              </a:rPr>
              <a:t>対話・協働</a:t>
            </a:r>
            <a:endParaRPr lang="en-US" sz="1900" dirty="0"/>
          </a:p>
        </p:txBody>
      </p:sp>
      <p:sp>
        <p:nvSpPr>
          <p:cNvPr id="13" name="Shape 11"/>
          <p:cNvSpPr/>
          <p:nvPr/>
        </p:nvSpPr>
        <p:spPr>
          <a:xfrm>
            <a:off x="6035040" y="2487168"/>
            <a:ext cx="2423160" cy="1572768"/>
          </a:xfrm>
          <a:prstGeom prst="roundRect">
            <a:avLst>
              <a:gd name="adj" fmla="val 4651"/>
            </a:avLst>
          </a:prstGeom>
          <a:solidFill>
            <a:srgbClr val="EAF6FD"/>
          </a:solidFill>
          <a:ln w="12700">
            <a:solidFill>
              <a:srgbClr val="C9E6F5"/>
            </a:solidFill>
            <a:prstDash val="solid"/>
          </a:ln>
        </p:spPr>
      </p:sp>
      <p:sp>
        <p:nvSpPr>
          <p:cNvPr id="14" name="Shape 12"/>
          <p:cNvSpPr/>
          <p:nvPr/>
        </p:nvSpPr>
        <p:spPr>
          <a:xfrm>
            <a:off x="6999732" y="2697480"/>
            <a:ext cx="493776" cy="493776"/>
          </a:xfrm>
          <a:prstGeom prst="ellipse">
            <a:avLst/>
          </a:prstGeom>
          <a:solidFill>
            <a:srgbClr val="EB6C15"/>
          </a:solidFill>
          <a:ln/>
        </p:spPr>
      </p:sp>
      <p:sp>
        <p:nvSpPr>
          <p:cNvPr id="15" name="Text 13"/>
          <p:cNvSpPr txBox="1"/>
          <p:nvPr/>
        </p:nvSpPr>
        <p:spPr>
          <a:xfrm>
            <a:off x="6999732" y="2697480"/>
            <a:ext cx="493776" cy="493776"/>
          </a:xfrm>
          <a:prstGeom prst="rect">
            <a:avLst/>
          </a:prstGeom>
          <a:noFill/>
          <a:ln/>
        </p:spPr>
        <p:txBody>
          <a:bodyPr wrap="square" lIns="0" tIns="0" rIns="0" bIns="0" rtlCol="0" anchor="ctr"/>
          <a:lstStyle/>
          <a:p>
            <a:pPr algn="ctr" indent="0" marL="0">
              <a:buNone/>
            </a:pPr>
            <a:r>
              <a:rPr lang="en-US" sz="2500" b="1" dirty="0">
                <a:solidFill>
                  <a:srgbClr val="FFFFFF"/>
                </a:solidFill>
                <a:latin typeface="Meiryo" pitchFamily="34" charset="0"/>
                <a:ea typeface="Meiryo" pitchFamily="34" charset="-122"/>
                <a:cs typeface="Meiryo" pitchFamily="34" charset="-120"/>
              </a:rPr>
              <a:t>③</a:t>
            </a:r>
            <a:endParaRPr lang="en-US" sz="2500" dirty="0"/>
          </a:p>
        </p:txBody>
      </p:sp>
      <p:sp>
        <p:nvSpPr>
          <p:cNvPr id="16" name="Text 14"/>
          <p:cNvSpPr txBox="1"/>
          <p:nvPr/>
        </p:nvSpPr>
        <p:spPr>
          <a:xfrm>
            <a:off x="6126480" y="3310128"/>
            <a:ext cx="2240280" cy="548640"/>
          </a:xfrm>
          <a:prstGeom prst="rect">
            <a:avLst/>
          </a:prstGeom>
          <a:noFill/>
          <a:ln/>
        </p:spPr>
        <p:txBody>
          <a:bodyPr wrap="square" lIns="0" tIns="0" rIns="0" bIns="0" rtlCol="0" anchor="ctr"/>
          <a:lstStyle/>
          <a:p>
            <a:pPr algn="ctr" indent="0" marL="0">
              <a:buNone/>
            </a:pPr>
            <a:r>
              <a:rPr lang="en-US" sz="1900" b="1" dirty="0">
                <a:solidFill>
                  <a:srgbClr val="EB6C15"/>
                </a:solidFill>
                <a:latin typeface="Meiryo" pitchFamily="34" charset="0"/>
                <a:ea typeface="Meiryo" pitchFamily="34" charset="-122"/>
                <a:cs typeface="Meiryo" pitchFamily="34" charset="-120"/>
              </a:rPr>
              <a:t>学習の自己調整</a:t>
            </a:r>
            <a:endParaRPr lang="en-US" sz="1900" dirty="0"/>
          </a:p>
        </p:txBody>
      </p:sp>
      <p:sp>
        <p:nvSpPr>
          <p:cNvPr id="17" name="Text 15"/>
          <p:cNvSpPr txBox="1"/>
          <p:nvPr/>
        </p:nvSpPr>
        <p:spPr>
          <a:xfrm>
            <a:off x="640080" y="4206240"/>
            <a:ext cx="8046720" cy="384048"/>
          </a:xfrm>
          <a:prstGeom prst="rect">
            <a:avLst/>
          </a:prstGeom>
          <a:noFill/>
          <a:ln/>
        </p:spPr>
        <p:txBody>
          <a:bodyPr wrap="square" lIns="0" tIns="0" rIns="0" bIns="0" rtlCol="0" anchor="ctr"/>
          <a:lstStyle/>
          <a:p>
            <a:pPr algn="l" indent="0" marL="0">
              <a:buNone/>
            </a:pPr>
            <a:r>
              <a:rPr lang="en-US" sz="1600" b="1" dirty="0">
                <a:solidFill>
                  <a:srgbClr val="1A1A1A"/>
                </a:solidFill>
                <a:latin typeface="Meiryo" pitchFamily="34" charset="0"/>
                <a:ea typeface="Meiryo" pitchFamily="34" charset="-122"/>
                <a:cs typeface="Meiryo" pitchFamily="34" charset="-120"/>
              </a:rPr>
              <a:t>この３つが、学力調査結果を支える土台になっている。</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0" y="0"/>
            <a:ext cx="9144000" cy="576072"/>
          </a:xfrm>
          <a:prstGeom prst="rect">
            <a:avLst/>
          </a:prstGeom>
          <a:solidFill>
            <a:srgbClr val="00B0F0"/>
          </a:solidFill>
          <a:ln/>
        </p:spPr>
        <p:txBody>
          <a:bodyPr wrap="square" lIns="0" tIns="0" rIns="0" bIns="0" rtlCol="0" anchor="ctr"/>
          <a:lstStyle/>
          <a:p>
            <a:pPr algn="l" indent="0" marL="0">
              <a:buNone/>
            </a:pPr>
            <a:r>
              <a:rPr lang="en-US" sz="2800" b="1" dirty="0">
                <a:solidFill>
                  <a:srgbClr val="FFFFFF"/>
                </a:solidFill>
                <a:latin typeface="Meiryo" pitchFamily="34" charset="0"/>
                <a:ea typeface="Meiryo" pitchFamily="34" charset="-122"/>
                <a:cs typeface="Meiryo" pitchFamily="34" charset="-120"/>
              </a:rPr>
              <a:t>　２　５校時の授業について</a:t>
            </a:r>
            <a:endParaRPr lang="en-US" sz="2800" dirty="0"/>
          </a:p>
        </p:txBody>
      </p:sp>
      <p:sp>
        <p:nvSpPr>
          <p:cNvPr id="3" name="Shape 1"/>
          <p:cNvSpPr/>
          <p:nvPr/>
        </p:nvSpPr>
        <p:spPr>
          <a:xfrm>
            <a:off x="640080" y="822960"/>
            <a:ext cx="548640" cy="548640"/>
          </a:xfrm>
          <a:prstGeom prst="ellipse">
            <a:avLst/>
          </a:prstGeom>
          <a:solidFill>
            <a:srgbClr val="EB6C15"/>
          </a:solidFill>
          <a:ln/>
        </p:spPr>
      </p:sp>
      <p:sp>
        <p:nvSpPr>
          <p:cNvPr id="4" name="Text 2"/>
          <p:cNvSpPr txBox="1"/>
          <p:nvPr/>
        </p:nvSpPr>
        <p:spPr>
          <a:xfrm>
            <a:off x="640080" y="822960"/>
            <a:ext cx="548640"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Meiryo" pitchFamily="34" charset="0"/>
                <a:ea typeface="Meiryo" pitchFamily="34" charset="-122"/>
                <a:cs typeface="Meiryo" pitchFamily="34" charset="-120"/>
              </a:rPr>
              <a:t>①</a:t>
            </a:r>
            <a:endParaRPr lang="en-US" sz="2800" dirty="0"/>
          </a:p>
        </p:txBody>
      </p:sp>
      <p:sp>
        <p:nvSpPr>
          <p:cNvPr id="5" name="Text 3"/>
          <p:cNvSpPr txBox="1"/>
          <p:nvPr/>
        </p:nvSpPr>
        <p:spPr>
          <a:xfrm>
            <a:off x="1325880" y="822960"/>
            <a:ext cx="7406640" cy="548640"/>
          </a:xfrm>
          <a:prstGeom prst="rect">
            <a:avLst/>
          </a:prstGeom>
          <a:noFill/>
          <a:ln/>
        </p:spPr>
        <p:txBody>
          <a:bodyPr wrap="square" lIns="0" tIns="0" rIns="0" bIns="0" rtlCol="0" anchor="ctr"/>
          <a:lstStyle/>
          <a:p>
            <a:pPr algn="l" indent="0" marL="0">
              <a:buNone/>
            </a:pPr>
            <a:r>
              <a:rPr lang="en-US" sz="2400" b="1" dirty="0">
                <a:solidFill>
                  <a:srgbClr val="00B0F0"/>
                </a:solidFill>
                <a:latin typeface="Meiryo" pitchFamily="34" charset="0"/>
                <a:ea typeface="Meiryo" pitchFamily="34" charset="-122"/>
                <a:cs typeface="Meiryo" pitchFamily="34" charset="-120"/>
              </a:rPr>
              <a:t>今日の授業から見えたもの　自己肯定感</a:t>
            </a:r>
            <a:endParaRPr lang="en-US" sz="2400" dirty="0"/>
          </a:p>
        </p:txBody>
      </p:sp>
      <p:sp>
        <p:nvSpPr>
          <p:cNvPr id="6" name="Text 4"/>
          <p:cNvSpPr txBox="1"/>
          <p:nvPr/>
        </p:nvSpPr>
        <p:spPr>
          <a:xfrm>
            <a:off x="640080" y="1627632"/>
            <a:ext cx="8046720" cy="1005840"/>
          </a:xfrm>
          <a:prstGeom prst="rect">
            <a:avLst/>
          </a:prstGeom>
          <a:noFill/>
          <a:ln/>
        </p:spPr>
        <p:txBody>
          <a:bodyPr wrap="square" lIns="0" tIns="0" rIns="0" bIns="0" rtlCol="0" anchor="t"/>
          <a:lstStyle/>
          <a:p>
            <a:pPr algn="l" indent="0" marL="0">
              <a:lnSpc>
                <a:spcPct val="140000"/>
              </a:lnSpc>
              <a:buNone/>
            </a:pPr>
            <a:r>
              <a:rPr lang="en-US" sz="2600" b="1" dirty="0">
                <a:solidFill>
                  <a:srgbClr val="1A1A1A"/>
                </a:solidFill>
                <a:latin typeface="Meiryo" pitchFamily="34" charset="0"/>
                <a:ea typeface="Meiryo" pitchFamily="34" charset="-122"/>
                <a:cs typeface="Meiryo" pitchFamily="34" charset="-120"/>
              </a:rPr>
              <a:t>これからの時代、学力向上の基盤となるのは</a:t>
            </a:r>
            <a:endParaRPr lang="en-US" sz="2600" dirty="0"/>
          </a:p>
          <a:p>
            <a:pPr algn="l" indent="0" marL="0">
              <a:lnSpc>
                <a:spcPct val="140000"/>
              </a:lnSpc>
              <a:buNone/>
            </a:pPr>
            <a:r>
              <a:rPr lang="en-US" sz="2600" b="1" dirty="0">
                <a:solidFill>
                  <a:srgbClr val="1A1A1A"/>
                </a:solidFill>
                <a:latin typeface="Meiryo" pitchFamily="34" charset="0"/>
                <a:ea typeface="Meiryo" pitchFamily="34" charset="-122"/>
                <a:cs typeface="Meiryo" pitchFamily="34" charset="-120"/>
              </a:rPr>
              <a:t>　</a:t>
            </a:r>
            <a:pPr algn="l" indent="0" marL="0">
              <a:lnSpc>
                <a:spcPct val="140000"/>
              </a:lnSpc>
              <a:buNone/>
            </a:pPr>
            <a:r>
              <a:rPr lang="en-US" sz="2600" b="1" dirty="0">
                <a:solidFill>
                  <a:srgbClr val="EB6C15"/>
                </a:solidFill>
                <a:latin typeface="Meiryo" pitchFamily="34" charset="0"/>
                <a:ea typeface="Meiryo" pitchFamily="34" charset="-122"/>
                <a:cs typeface="Meiryo" pitchFamily="34" charset="-120"/>
              </a:rPr>
              <a:t>自己肯定感</a:t>
            </a:r>
            <a:pPr algn="l" indent="0" marL="0">
              <a:lnSpc>
                <a:spcPct val="140000"/>
              </a:lnSpc>
              <a:buNone/>
            </a:pPr>
            <a:r>
              <a:rPr lang="en-US" sz="2600" b="1" dirty="0">
                <a:solidFill>
                  <a:srgbClr val="1A1A1A"/>
                </a:solidFill>
                <a:latin typeface="Meiryo" pitchFamily="34" charset="0"/>
                <a:ea typeface="Meiryo" pitchFamily="34" charset="-122"/>
                <a:cs typeface="Meiryo" pitchFamily="34" charset="-120"/>
              </a:rPr>
              <a:t>である。</a:t>
            </a:r>
            <a:endParaRPr lang="en-US" sz="2600" dirty="0"/>
          </a:p>
        </p:txBody>
      </p:sp>
      <p:sp>
        <p:nvSpPr>
          <p:cNvPr id="7" name="Shape 5"/>
          <p:cNvSpPr/>
          <p:nvPr/>
        </p:nvSpPr>
        <p:spPr>
          <a:xfrm>
            <a:off x="640080" y="2834640"/>
            <a:ext cx="7863840" cy="1691640"/>
          </a:xfrm>
          <a:prstGeom prst="roundRect">
            <a:avLst>
              <a:gd name="adj" fmla="val 4324"/>
            </a:avLst>
          </a:prstGeom>
          <a:solidFill>
            <a:srgbClr val="EAF6FD"/>
          </a:solidFill>
          <a:ln w="12700">
            <a:solidFill>
              <a:srgbClr val="C9E6F5"/>
            </a:solidFill>
            <a:prstDash val="solid"/>
          </a:ln>
        </p:spPr>
      </p:sp>
      <p:sp>
        <p:nvSpPr>
          <p:cNvPr id="8" name="Text 6"/>
          <p:cNvSpPr txBox="1"/>
          <p:nvPr/>
        </p:nvSpPr>
        <p:spPr>
          <a:xfrm>
            <a:off x="914400" y="2999232"/>
            <a:ext cx="7315200" cy="1371600"/>
          </a:xfrm>
          <a:prstGeom prst="rect">
            <a:avLst/>
          </a:prstGeom>
          <a:noFill/>
          <a:ln/>
        </p:spPr>
        <p:txBody>
          <a:bodyPr wrap="square" lIns="0" tIns="0" rIns="0" bIns="0" rtlCol="0" anchor="t"/>
          <a:lstStyle/>
          <a:p>
            <a:pPr algn="l" indent="0" marL="0">
              <a:lnSpc>
                <a:spcPct val="135000"/>
              </a:lnSpc>
              <a:buNone/>
            </a:pPr>
            <a:r>
              <a:rPr lang="en-US" sz="1800" b="1" dirty="0">
                <a:solidFill>
                  <a:srgbClr val="00B0F0"/>
                </a:solidFill>
                <a:latin typeface="Meiryo" pitchFamily="34" charset="0"/>
                <a:ea typeface="Meiryo" pitchFamily="34" charset="-122"/>
                <a:cs typeface="Meiryo" pitchFamily="34" charset="-120"/>
              </a:rPr>
              <a:t>自己肯定感とは</a:t>
            </a:r>
            <a:endParaRPr lang="en-US" sz="1800" dirty="0"/>
          </a:p>
          <a:p>
            <a:pPr algn="l" indent="0" marL="0">
              <a:lnSpc>
                <a:spcPct val="135000"/>
              </a:lnSpc>
              <a:buNone/>
            </a:pPr>
            <a:r>
              <a:rPr lang="en-US" sz="2200" b="1" dirty="0">
                <a:solidFill>
                  <a:srgbClr val="1A1A1A"/>
                </a:solidFill>
                <a:latin typeface="Meiryo" pitchFamily="34" charset="0"/>
                <a:ea typeface="Meiryo" pitchFamily="34" charset="-122"/>
                <a:cs typeface="Meiryo" pitchFamily="34" charset="-120"/>
              </a:rPr>
              <a:t>「できる子になる」ことではなく、</a:t>
            </a:r>
            <a:endParaRPr lang="en-US" sz="1800" dirty="0"/>
          </a:p>
          <a:p>
            <a:pPr algn="l" indent="0" marL="0">
              <a:lnSpc>
                <a:spcPct val="135000"/>
              </a:lnSpc>
              <a:buNone/>
            </a:pPr>
            <a:r>
              <a:rPr lang="en-US" sz="2200" b="1" dirty="0">
                <a:solidFill>
                  <a:srgbClr val="EB6C15"/>
                </a:solidFill>
                <a:latin typeface="Meiryo" pitchFamily="34" charset="0"/>
                <a:ea typeface="Meiryo" pitchFamily="34" charset="-122"/>
                <a:cs typeface="Meiryo" pitchFamily="34" charset="-120"/>
              </a:rPr>
              <a:t>「成長できる自分を信じること」である。</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0" y="0"/>
            <a:ext cx="9144000" cy="576072"/>
          </a:xfrm>
          <a:prstGeom prst="rect">
            <a:avLst/>
          </a:prstGeom>
          <a:solidFill>
            <a:srgbClr val="00B0F0"/>
          </a:solidFill>
          <a:ln/>
        </p:spPr>
        <p:txBody>
          <a:bodyPr wrap="square" lIns="0" tIns="0" rIns="0" bIns="0" rtlCol="0" anchor="ctr"/>
          <a:lstStyle/>
          <a:p>
            <a:pPr algn="l" indent="0" marL="0">
              <a:buNone/>
            </a:pPr>
            <a:r>
              <a:rPr lang="en-US" sz="2800" b="1" dirty="0">
                <a:solidFill>
                  <a:srgbClr val="FFFFFF"/>
                </a:solidFill>
                <a:latin typeface="Meiryo" pitchFamily="34" charset="0"/>
                <a:ea typeface="Meiryo" pitchFamily="34" charset="-122"/>
                <a:cs typeface="Meiryo" pitchFamily="34" charset="-120"/>
              </a:rPr>
              <a:t>　２　５校時の授業について</a:t>
            </a:r>
            <a:endParaRPr lang="en-US" sz="2800" dirty="0"/>
          </a:p>
        </p:txBody>
      </p:sp>
      <p:sp>
        <p:nvSpPr>
          <p:cNvPr id="3" name="Text 1"/>
          <p:cNvSpPr txBox="1"/>
          <p:nvPr/>
        </p:nvSpPr>
        <p:spPr>
          <a:xfrm>
            <a:off x="640080" y="713232"/>
            <a:ext cx="8046720" cy="411480"/>
          </a:xfrm>
          <a:prstGeom prst="rect">
            <a:avLst/>
          </a:prstGeom>
          <a:noFill/>
          <a:ln/>
        </p:spPr>
        <p:txBody>
          <a:bodyPr wrap="square" lIns="0" tIns="0" rIns="0" bIns="0" rtlCol="0" anchor="ctr"/>
          <a:lstStyle/>
          <a:p>
            <a:pPr algn="l" indent="0" marL="0">
              <a:buNone/>
            </a:pPr>
            <a:r>
              <a:rPr lang="en-US" sz="2100" b="1" dirty="0">
                <a:solidFill>
                  <a:srgbClr val="00B0F0"/>
                </a:solidFill>
                <a:latin typeface="Meiryo" pitchFamily="34" charset="0"/>
                <a:ea typeface="Meiryo" pitchFamily="34" charset="-122"/>
                <a:cs typeface="Meiryo" pitchFamily="34" charset="-120"/>
              </a:rPr>
              <a:t>① 自己肯定感を育む授業</a:t>
            </a:r>
            <a:endParaRPr lang="en-US" sz="2100" dirty="0"/>
          </a:p>
        </p:txBody>
      </p:sp>
      <p:sp>
        <p:nvSpPr>
          <p:cNvPr id="4" name="Shape 2"/>
          <p:cNvSpPr/>
          <p:nvPr/>
        </p:nvSpPr>
        <p:spPr>
          <a:xfrm>
            <a:off x="320040" y="1207008"/>
            <a:ext cx="2651760" cy="2377440"/>
          </a:xfrm>
          <a:prstGeom prst="roundRect">
            <a:avLst>
              <a:gd name="adj" fmla="val 3077"/>
            </a:avLst>
          </a:prstGeom>
          <a:solidFill>
            <a:srgbClr val="EAF6FD"/>
          </a:solidFill>
          <a:ln w="12700">
            <a:solidFill>
              <a:srgbClr val="C9E6F5"/>
            </a:solidFill>
            <a:prstDash val="solid"/>
          </a:ln>
        </p:spPr>
      </p:sp>
      <p:sp>
        <p:nvSpPr>
          <p:cNvPr id="5" name="Text 3"/>
          <p:cNvSpPr txBox="1"/>
          <p:nvPr/>
        </p:nvSpPr>
        <p:spPr>
          <a:xfrm>
            <a:off x="466344" y="1325880"/>
            <a:ext cx="2359152" cy="274320"/>
          </a:xfrm>
          <a:prstGeom prst="rect">
            <a:avLst/>
          </a:prstGeom>
          <a:noFill/>
          <a:ln/>
        </p:spPr>
        <p:txBody>
          <a:bodyPr wrap="square" lIns="0" tIns="0" rIns="0" bIns="0" rtlCol="0" anchor="ctr"/>
          <a:lstStyle/>
          <a:p>
            <a:pPr algn="l" indent="0" marL="0">
              <a:buNone/>
            </a:pPr>
            <a:r>
              <a:rPr lang="en-US" sz="1600" b="1" dirty="0">
                <a:solidFill>
                  <a:srgbClr val="00B0F0"/>
                </a:solidFill>
                <a:latin typeface="Meiryo" pitchFamily="34" charset="0"/>
                <a:ea typeface="Meiryo" pitchFamily="34" charset="-122"/>
                <a:cs typeface="Meiryo" pitchFamily="34" charset="-120"/>
              </a:rPr>
              <a:t>田口　和磨　先生</a:t>
            </a:r>
            <a:endParaRPr lang="en-US" sz="1600" dirty="0"/>
          </a:p>
        </p:txBody>
      </p:sp>
      <p:sp>
        <p:nvSpPr>
          <p:cNvPr id="6" name="Text 4"/>
          <p:cNvSpPr txBox="1"/>
          <p:nvPr/>
        </p:nvSpPr>
        <p:spPr>
          <a:xfrm>
            <a:off x="466344" y="1600200"/>
            <a:ext cx="2359152" cy="237744"/>
          </a:xfrm>
          <a:prstGeom prst="rect">
            <a:avLst/>
          </a:prstGeom>
          <a:noFill/>
          <a:ln/>
        </p:spPr>
        <p:txBody>
          <a:bodyPr wrap="square" lIns="0" tIns="0" rIns="0" bIns="0" rtlCol="0" anchor="ctr"/>
          <a:lstStyle/>
          <a:p>
            <a:pPr algn="l" indent="0" marL="0">
              <a:buNone/>
            </a:pPr>
            <a:r>
              <a:rPr lang="en-US" sz="1100" b="1" dirty="0">
                <a:solidFill>
                  <a:srgbClr val="595959"/>
                </a:solidFill>
                <a:latin typeface="Meiryo" pitchFamily="34" charset="0"/>
                <a:ea typeface="Meiryo" pitchFamily="34" charset="-122"/>
                <a:cs typeface="Meiryo" pitchFamily="34" charset="-120"/>
              </a:rPr>
              <a:t>保健体育・９年ＡＢ組／水泳</a:t>
            </a:r>
            <a:endParaRPr lang="en-US" sz="1100" dirty="0"/>
          </a:p>
        </p:txBody>
      </p:sp>
      <p:sp>
        <p:nvSpPr>
          <p:cNvPr id="7" name="Text 5"/>
          <p:cNvSpPr txBox="1"/>
          <p:nvPr/>
        </p:nvSpPr>
        <p:spPr>
          <a:xfrm>
            <a:off x="466344" y="1883664"/>
            <a:ext cx="2359152" cy="1572768"/>
          </a:xfrm>
          <a:prstGeom prst="rect">
            <a:avLst/>
          </a:prstGeom>
          <a:noFill/>
          <a:ln/>
        </p:spPr>
        <p:txBody>
          <a:bodyPr wrap="square" lIns="0" tIns="0" rIns="0" bIns="0" rtlCol="0" anchor="t"/>
          <a:lstStyle/>
          <a:p>
            <a:pPr algn="l" indent="0" marL="0">
              <a:lnSpc>
                <a:spcPct val="125000"/>
              </a:lnSpc>
              <a:buNone/>
            </a:pPr>
            <a:r>
              <a:rPr lang="en-US" sz="1350" b="1" dirty="0">
                <a:solidFill>
                  <a:srgbClr val="1A1A1A"/>
                </a:solidFill>
                <a:latin typeface="Meiryo" pitchFamily="34" charset="0"/>
                <a:ea typeface="Meiryo" pitchFamily="34" charset="-122"/>
                <a:cs typeface="Meiryo" pitchFamily="34" charset="-120"/>
              </a:rPr>
              <a:t>泳力差の大きい集団に</a:t>
            </a:r>
            <a:endParaRPr lang="en-US" sz="1350" dirty="0"/>
          </a:p>
          <a:p>
            <a:pPr algn="l" indent="0" marL="0">
              <a:lnSpc>
                <a:spcPct val="125000"/>
              </a:lnSpc>
              <a:buNone/>
            </a:pPr>
            <a:r>
              <a:rPr lang="en-US" sz="1350" b="1" dirty="0">
                <a:solidFill>
                  <a:srgbClr val="EB6C15"/>
                </a:solidFill>
                <a:latin typeface="Meiryo" pitchFamily="34" charset="0"/>
                <a:ea typeface="Meiryo" pitchFamily="34" charset="-122"/>
                <a:cs typeface="Meiryo" pitchFamily="34" charset="-120"/>
              </a:rPr>
              <a:t>・段階的な課題設定</a:t>
            </a:r>
            <a:endParaRPr lang="en-US" sz="1350" dirty="0"/>
          </a:p>
          <a:p>
            <a:pPr algn="l" indent="0" marL="0">
              <a:lnSpc>
                <a:spcPct val="125000"/>
              </a:lnSpc>
              <a:buNone/>
            </a:pPr>
            <a:r>
              <a:rPr lang="en-US" sz="1350" b="1" dirty="0">
                <a:solidFill>
                  <a:srgbClr val="EB6C15"/>
                </a:solidFill>
                <a:latin typeface="Meiryo" pitchFamily="34" charset="0"/>
                <a:ea typeface="Meiryo" pitchFamily="34" charset="-122"/>
                <a:cs typeface="Meiryo" pitchFamily="34" charset="-120"/>
              </a:rPr>
              <a:t>・泳力別のコース編成</a:t>
            </a:r>
            <a:endParaRPr lang="en-US" sz="1350" dirty="0"/>
          </a:p>
          <a:p>
            <a:pPr algn="l" indent="0" marL="0">
              <a:lnSpc>
                <a:spcPct val="125000"/>
              </a:lnSpc>
              <a:buNone/>
            </a:pPr>
            <a:r>
              <a:rPr lang="en-US" sz="1350" b="1" dirty="0">
                <a:solidFill>
                  <a:srgbClr val="EB6C15"/>
                </a:solidFill>
                <a:latin typeface="Meiryo" pitchFamily="34" charset="0"/>
                <a:ea typeface="Meiryo" pitchFamily="34" charset="-122"/>
                <a:cs typeface="Meiryo" pitchFamily="34" charset="-120"/>
              </a:rPr>
              <a:t>・バディでの確認活動</a:t>
            </a:r>
            <a:endParaRPr lang="en-US" sz="1350" dirty="0"/>
          </a:p>
          <a:p>
            <a:pPr algn="l" indent="0" marL="0">
              <a:lnSpc>
                <a:spcPct val="125000"/>
              </a:lnSpc>
              <a:buNone/>
            </a:pPr>
            <a:r>
              <a:rPr lang="en-US" sz="1350" b="1" dirty="0">
                <a:solidFill>
                  <a:srgbClr val="1A1A1A"/>
                </a:solidFill>
                <a:latin typeface="Meiryo" pitchFamily="34" charset="0"/>
                <a:ea typeface="Meiryo" pitchFamily="34" charset="-122"/>
                <a:cs typeface="Meiryo" pitchFamily="34" charset="-120"/>
              </a:rPr>
              <a:t>確認の視点を３点示し、</a:t>
            </a:r>
            <a:endParaRPr lang="en-US" sz="1350" dirty="0"/>
          </a:p>
          <a:p>
            <a:pPr algn="l" indent="0" marL="0">
              <a:lnSpc>
                <a:spcPct val="125000"/>
              </a:lnSpc>
              <a:buNone/>
            </a:pPr>
            <a:r>
              <a:rPr lang="en-US" sz="1350" b="1" dirty="0">
                <a:solidFill>
                  <a:srgbClr val="1A1A1A"/>
                </a:solidFill>
                <a:latin typeface="Meiryo" pitchFamily="34" charset="0"/>
                <a:ea typeface="Meiryo" pitchFamily="34" charset="-122"/>
                <a:cs typeface="Meiryo" pitchFamily="34" charset="-120"/>
              </a:rPr>
              <a:t>見る目を育てていた。</a:t>
            </a:r>
            <a:endParaRPr lang="en-US" sz="1350" dirty="0"/>
          </a:p>
        </p:txBody>
      </p:sp>
      <p:sp>
        <p:nvSpPr>
          <p:cNvPr id="8" name="Shape 6"/>
          <p:cNvSpPr/>
          <p:nvPr/>
        </p:nvSpPr>
        <p:spPr>
          <a:xfrm>
            <a:off x="3246120" y="1207008"/>
            <a:ext cx="2651760" cy="2377440"/>
          </a:xfrm>
          <a:prstGeom prst="roundRect">
            <a:avLst>
              <a:gd name="adj" fmla="val 3077"/>
            </a:avLst>
          </a:prstGeom>
          <a:solidFill>
            <a:srgbClr val="EAF6FD"/>
          </a:solidFill>
          <a:ln w="12700">
            <a:solidFill>
              <a:srgbClr val="C9E6F5"/>
            </a:solidFill>
            <a:prstDash val="solid"/>
          </a:ln>
        </p:spPr>
      </p:sp>
      <p:sp>
        <p:nvSpPr>
          <p:cNvPr id="9" name="Text 7"/>
          <p:cNvSpPr txBox="1"/>
          <p:nvPr/>
        </p:nvSpPr>
        <p:spPr>
          <a:xfrm>
            <a:off x="3392424" y="1325880"/>
            <a:ext cx="2359152" cy="274320"/>
          </a:xfrm>
          <a:prstGeom prst="rect">
            <a:avLst/>
          </a:prstGeom>
          <a:noFill/>
          <a:ln/>
        </p:spPr>
        <p:txBody>
          <a:bodyPr wrap="square" lIns="0" tIns="0" rIns="0" bIns="0" rtlCol="0" anchor="ctr"/>
          <a:lstStyle/>
          <a:p>
            <a:pPr algn="l" indent="0" marL="0">
              <a:buNone/>
            </a:pPr>
            <a:r>
              <a:rPr lang="en-US" sz="1600" b="1" dirty="0">
                <a:solidFill>
                  <a:srgbClr val="00B0F0"/>
                </a:solidFill>
                <a:latin typeface="Meiryo" pitchFamily="34" charset="0"/>
                <a:ea typeface="Meiryo" pitchFamily="34" charset="-122"/>
                <a:cs typeface="Meiryo" pitchFamily="34" charset="-120"/>
              </a:rPr>
              <a:t>東海林　静江　先生</a:t>
            </a:r>
            <a:endParaRPr lang="en-US" sz="1600" dirty="0"/>
          </a:p>
        </p:txBody>
      </p:sp>
      <p:sp>
        <p:nvSpPr>
          <p:cNvPr id="10" name="Text 8"/>
          <p:cNvSpPr txBox="1"/>
          <p:nvPr/>
        </p:nvSpPr>
        <p:spPr>
          <a:xfrm>
            <a:off x="3392424" y="1600200"/>
            <a:ext cx="2359152" cy="237744"/>
          </a:xfrm>
          <a:prstGeom prst="rect">
            <a:avLst/>
          </a:prstGeom>
          <a:noFill/>
          <a:ln/>
        </p:spPr>
        <p:txBody>
          <a:bodyPr wrap="square" lIns="0" tIns="0" rIns="0" bIns="0" rtlCol="0" anchor="ctr"/>
          <a:lstStyle/>
          <a:p>
            <a:pPr algn="l" indent="0" marL="0">
              <a:buNone/>
            </a:pPr>
            <a:r>
              <a:rPr lang="en-US" sz="1100" b="1" dirty="0">
                <a:solidFill>
                  <a:srgbClr val="595959"/>
                </a:solidFill>
                <a:latin typeface="Meiryo" pitchFamily="34" charset="0"/>
                <a:ea typeface="Meiryo" pitchFamily="34" charset="-122"/>
                <a:cs typeface="Meiryo" pitchFamily="34" charset="-120"/>
              </a:rPr>
              <a:t>道徳・特別支援学級Ｄ組／うそ</a:t>
            </a:r>
            <a:endParaRPr lang="en-US" sz="1100" dirty="0"/>
          </a:p>
        </p:txBody>
      </p:sp>
      <p:sp>
        <p:nvSpPr>
          <p:cNvPr id="11" name="Text 9"/>
          <p:cNvSpPr txBox="1"/>
          <p:nvPr/>
        </p:nvSpPr>
        <p:spPr>
          <a:xfrm>
            <a:off x="3392424" y="1883664"/>
            <a:ext cx="2359152" cy="1572768"/>
          </a:xfrm>
          <a:prstGeom prst="rect">
            <a:avLst/>
          </a:prstGeom>
          <a:noFill/>
          <a:ln/>
        </p:spPr>
        <p:txBody>
          <a:bodyPr wrap="square" lIns="0" tIns="0" rIns="0" bIns="0" rtlCol="0" anchor="t"/>
          <a:lstStyle/>
          <a:p>
            <a:pPr algn="l" indent="0" marL="0">
              <a:lnSpc>
                <a:spcPct val="125000"/>
              </a:lnSpc>
              <a:buNone/>
            </a:pPr>
            <a:r>
              <a:rPr lang="en-US" sz="1350" b="1" dirty="0">
                <a:solidFill>
                  <a:srgbClr val="1A1A1A"/>
                </a:solidFill>
                <a:latin typeface="Meiryo" pitchFamily="34" charset="0"/>
                <a:ea typeface="Meiryo" pitchFamily="34" charset="-122"/>
                <a:cs typeface="Meiryo" pitchFamily="34" charset="-120"/>
              </a:rPr>
              <a:t>安心して自分の考えを</a:t>
            </a:r>
            <a:endParaRPr lang="en-US" sz="1350" dirty="0"/>
          </a:p>
          <a:p>
            <a:pPr algn="l" indent="0" marL="0">
              <a:lnSpc>
                <a:spcPct val="125000"/>
              </a:lnSpc>
              <a:buNone/>
            </a:pPr>
            <a:r>
              <a:rPr lang="en-US" sz="1350" b="1" dirty="0">
                <a:solidFill>
                  <a:srgbClr val="EB6C15"/>
                </a:solidFill>
                <a:latin typeface="Meiryo" pitchFamily="34" charset="0"/>
                <a:ea typeface="Meiryo" pitchFamily="34" charset="-122"/>
                <a:cs typeface="Meiryo" pitchFamily="34" charset="-120"/>
              </a:rPr>
              <a:t>表現できる環境</a:t>
            </a:r>
            <a:endParaRPr lang="en-US" sz="1350" dirty="0"/>
          </a:p>
          <a:p>
            <a:pPr algn="l" indent="0" marL="0">
              <a:lnSpc>
                <a:spcPct val="125000"/>
              </a:lnSpc>
              <a:buNone/>
            </a:pPr>
            <a:r>
              <a:rPr lang="en-US" sz="1350" b="1" dirty="0">
                <a:solidFill>
                  <a:srgbClr val="1A1A1A"/>
                </a:solidFill>
                <a:latin typeface="Meiryo" pitchFamily="34" charset="0"/>
                <a:ea typeface="Meiryo" pitchFamily="34" charset="-122"/>
                <a:cs typeface="Meiryo" pitchFamily="34" charset="-120"/>
              </a:rPr>
              <a:t>・前時の考えを尊重</a:t>
            </a:r>
            <a:endParaRPr lang="en-US" sz="1350" dirty="0"/>
          </a:p>
          <a:p>
            <a:pPr algn="l" indent="0" marL="0">
              <a:lnSpc>
                <a:spcPct val="125000"/>
              </a:lnSpc>
              <a:buNone/>
            </a:pPr>
            <a:r>
              <a:rPr lang="en-US" sz="1350" b="1" dirty="0">
                <a:solidFill>
                  <a:srgbClr val="EB6C15"/>
                </a:solidFill>
                <a:latin typeface="Meiryo" pitchFamily="34" charset="0"/>
                <a:ea typeface="Meiryo" pitchFamily="34" charset="-122"/>
                <a:cs typeface="Meiryo" pitchFamily="34" charset="-120"/>
              </a:rPr>
              <a:t>・意見が変わってよい</a:t>
            </a:r>
            <a:endParaRPr lang="en-US" sz="1350" dirty="0"/>
          </a:p>
          <a:p>
            <a:pPr algn="l" indent="0" marL="0">
              <a:lnSpc>
                <a:spcPct val="125000"/>
              </a:lnSpc>
              <a:buNone/>
            </a:pPr>
            <a:r>
              <a:rPr lang="en-US" sz="1350" b="1" dirty="0">
                <a:solidFill>
                  <a:srgbClr val="1A1A1A"/>
                </a:solidFill>
                <a:latin typeface="Meiryo" pitchFamily="34" charset="0"/>
                <a:ea typeface="Meiryo" pitchFamily="34" charset="-122"/>
                <a:cs typeface="Meiryo" pitchFamily="34" charset="-120"/>
              </a:rPr>
              <a:t>答えは一つではないと</a:t>
            </a:r>
            <a:endParaRPr lang="en-US" sz="1350" dirty="0"/>
          </a:p>
          <a:p>
            <a:pPr algn="l" indent="0" marL="0">
              <a:lnSpc>
                <a:spcPct val="125000"/>
              </a:lnSpc>
              <a:buNone/>
            </a:pPr>
            <a:r>
              <a:rPr lang="en-US" sz="1350" b="1" dirty="0">
                <a:solidFill>
                  <a:srgbClr val="1A1A1A"/>
                </a:solidFill>
                <a:latin typeface="Meiryo" pitchFamily="34" charset="0"/>
                <a:ea typeface="Meiryo" pitchFamily="34" charset="-122"/>
                <a:cs typeface="Meiryo" pitchFamily="34" charset="-120"/>
              </a:rPr>
              <a:t>保障されていた。</a:t>
            </a:r>
            <a:endParaRPr lang="en-US" sz="1350" dirty="0"/>
          </a:p>
        </p:txBody>
      </p:sp>
      <p:sp>
        <p:nvSpPr>
          <p:cNvPr id="12" name="Shape 10"/>
          <p:cNvSpPr/>
          <p:nvPr/>
        </p:nvSpPr>
        <p:spPr>
          <a:xfrm>
            <a:off x="6172200" y="1207008"/>
            <a:ext cx="2651760" cy="2377440"/>
          </a:xfrm>
          <a:prstGeom prst="roundRect">
            <a:avLst>
              <a:gd name="adj" fmla="val 3077"/>
            </a:avLst>
          </a:prstGeom>
          <a:solidFill>
            <a:srgbClr val="EAF6FD"/>
          </a:solidFill>
          <a:ln w="12700">
            <a:solidFill>
              <a:srgbClr val="C9E6F5"/>
            </a:solidFill>
            <a:prstDash val="solid"/>
          </a:ln>
        </p:spPr>
      </p:sp>
      <p:sp>
        <p:nvSpPr>
          <p:cNvPr id="13" name="Text 11"/>
          <p:cNvSpPr txBox="1"/>
          <p:nvPr/>
        </p:nvSpPr>
        <p:spPr>
          <a:xfrm>
            <a:off x="6318504" y="1325880"/>
            <a:ext cx="2359152" cy="274320"/>
          </a:xfrm>
          <a:prstGeom prst="rect">
            <a:avLst/>
          </a:prstGeom>
          <a:noFill/>
          <a:ln/>
        </p:spPr>
        <p:txBody>
          <a:bodyPr wrap="square" lIns="0" tIns="0" rIns="0" bIns="0" rtlCol="0" anchor="ctr"/>
          <a:lstStyle/>
          <a:p>
            <a:pPr algn="l" indent="0" marL="0">
              <a:buNone/>
            </a:pPr>
            <a:r>
              <a:rPr lang="en-US" sz="1600" b="1" dirty="0">
                <a:solidFill>
                  <a:srgbClr val="00B0F0"/>
                </a:solidFill>
                <a:latin typeface="Meiryo" pitchFamily="34" charset="0"/>
                <a:ea typeface="Meiryo" pitchFamily="34" charset="-122"/>
                <a:cs typeface="Meiryo" pitchFamily="34" charset="-120"/>
              </a:rPr>
              <a:t>塚本　瑞穂　先生</a:t>
            </a:r>
            <a:endParaRPr lang="en-US" sz="1600" dirty="0"/>
          </a:p>
        </p:txBody>
      </p:sp>
      <p:sp>
        <p:nvSpPr>
          <p:cNvPr id="14" name="Text 12"/>
          <p:cNvSpPr txBox="1"/>
          <p:nvPr/>
        </p:nvSpPr>
        <p:spPr>
          <a:xfrm>
            <a:off x="6318504" y="1600200"/>
            <a:ext cx="2359152" cy="237744"/>
          </a:xfrm>
          <a:prstGeom prst="rect">
            <a:avLst/>
          </a:prstGeom>
          <a:noFill/>
          <a:ln/>
        </p:spPr>
        <p:txBody>
          <a:bodyPr wrap="square" lIns="0" tIns="0" rIns="0" bIns="0" rtlCol="0" anchor="ctr"/>
          <a:lstStyle/>
          <a:p>
            <a:pPr algn="l" indent="0" marL="0">
              <a:buNone/>
            </a:pPr>
            <a:r>
              <a:rPr lang="en-US" sz="1100" b="1" dirty="0">
                <a:solidFill>
                  <a:srgbClr val="595959"/>
                </a:solidFill>
                <a:latin typeface="Meiryo" pitchFamily="34" charset="0"/>
                <a:ea typeface="Meiryo" pitchFamily="34" charset="-122"/>
                <a:cs typeface="Meiryo" pitchFamily="34" charset="-120"/>
              </a:rPr>
              <a:t>外国語・７年Ｂ組／Unit 4</a:t>
            </a:r>
            <a:endParaRPr lang="en-US" sz="1100" dirty="0"/>
          </a:p>
        </p:txBody>
      </p:sp>
      <p:sp>
        <p:nvSpPr>
          <p:cNvPr id="15" name="Text 13"/>
          <p:cNvSpPr txBox="1"/>
          <p:nvPr/>
        </p:nvSpPr>
        <p:spPr>
          <a:xfrm>
            <a:off x="6318504" y="1883664"/>
            <a:ext cx="2359152" cy="1572768"/>
          </a:xfrm>
          <a:prstGeom prst="rect">
            <a:avLst/>
          </a:prstGeom>
          <a:noFill/>
          <a:ln/>
        </p:spPr>
        <p:txBody>
          <a:bodyPr wrap="square" lIns="0" tIns="0" rIns="0" bIns="0" rtlCol="0" anchor="t"/>
          <a:lstStyle/>
          <a:p>
            <a:pPr algn="l" indent="0" marL="0">
              <a:lnSpc>
                <a:spcPct val="125000"/>
              </a:lnSpc>
              <a:buNone/>
            </a:pPr>
            <a:r>
              <a:rPr lang="en-US" sz="1350" b="1" dirty="0">
                <a:solidFill>
                  <a:srgbClr val="1A1A1A"/>
                </a:solidFill>
                <a:latin typeface="Meiryo" pitchFamily="34" charset="0"/>
                <a:ea typeface="Meiryo" pitchFamily="34" charset="-122"/>
                <a:cs typeface="Meiryo" pitchFamily="34" charset="-120"/>
              </a:rPr>
              <a:t>習熟度差の大きい学級で</a:t>
            </a:r>
            <a:endParaRPr lang="en-US" sz="1350" dirty="0"/>
          </a:p>
          <a:p>
            <a:pPr algn="l" indent="0" marL="0">
              <a:lnSpc>
                <a:spcPct val="125000"/>
              </a:lnSpc>
              <a:buNone/>
            </a:pPr>
            <a:r>
              <a:rPr lang="en-US" sz="1350" b="1" dirty="0">
                <a:solidFill>
                  <a:srgbClr val="EB6C15"/>
                </a:solidFill>
                <a:latin typeface="Meiryo" pitchFamily="34" charset="0"/>
                <a:ea typeface="Meiryo" pitchFamily="34" charset="-122"/>
                <a:cs typeface="Meiryo" pitchFamily="34" charset="-120"/>
              </a:rPr>
              <a:t>・発表前にペアで共有</a:t>
            </a:r>
            <a:endParaRPr lang="en-US" sz="1350" dirty="0"/>
          </a:p>
          <a:p>
            <a:pPr algn="l" indent="0" marL="0">
              <a:lnSpc>
                <a:spcPct val="125000"/>
              </a:lnSpc>
              <a:buNone/>
            </a:pPr>
            <a:r>
              <a:rPr lang="en-US" sz="1350" b="1" dirty="0">
                <a:solidFill>
                  <a:srgbClr val="EB6C15"/>
                </a:solidFill>
                <a:latin typeface="Meiryo" pitchFamily="34" charset="0"/>
                <a:ea typeface="Meiryo" pitchFamily="34" charset="-122"/>
                <a:cs typeface="Meiryo" pitchFamily="34" charset="-120"/>
              </a:rPr>
              <a:t>・全員に発話の機会</a:t>
            </a:r>
            <a:endParaRPr lang="en-US" sz="1350" dirty="0"/>
          </a:p>
          <a:p>
            <a:pPr algn="l" indent="0" marL="0">
              <a:lnSpc>
                <a:spcPct val="125000"/>
              </a:lnSpc>
              <a:buNone/>
            </a:pPr>
            <a:r>
              <a:rPr lang="en-US" sz="1350" b="1" dirty="0">
                <a:solidFill>
                  <a:srgbClr val="1A1A1A"/>
                </a:solidFill>
                <a:latin typeface="Meiryo" pitchFamily="34" charset="0"/>
                <a:ea typeface="Meiryo" pitchFamily="34" charset="-122"/>
                <a:cs typeface="Meiryo" pitchFamily="34" charset="-120"/>
              </a:rPr>
              <a:t>不安を減らし、誰もが</a:t>
            </a:r>
            <a:endParaRPr lang="en-US" sz="1350" dirty="0"/>
          </a:p>
          <a:p>
            <a:pPr algn="l" indent="0" marL="0">
              <a:lnSpc>
                <a:spcPct val="125000"/>
              </a:lnSpc>
              <a:buNone/>
            </a:pPr>
            <a:r>
              <a:rPr lang="en-US" sz="1350" b="1" dirty="0">
                <a:solidFill>
                  <a:srgbClr val="1A1A1A"/>
                </a:solidFill>
                <a:latin typeface="Meiryo" pitchFamily="34" charset="0"/>
                <a:ea typeface="Meiryo" pitchFamily="34" charset="-122"/>
                <a:cs typeface="Meiryo" pitchFamily="34" charset="-120"/>
              </a:rPr>
              <a:t>参加できる場をつくって</a:t>
            </a:r>
            <a:endParaRPr lang="en-US" sz="1350" dirty="0"/>
          </a:p>
          <a:p>
            <a:pPr algn="l" indent="0" marL="0">
              <a:lnSpc>
                <a:spcPct val="125000"/>
              </a:lnSpc>
              <a:buNone/>
            </a:pPr>
            <a:r>
              <a:rPr lang="en-US" sz="1350" b="1" dirty="0">
                <a:solidFill>
                  <a:srgbClr val="1A1A1A"/>
                </a:solidFill>
                <a:latin typeface="Meiryo" pitchFamily="34" charset="0"/>
                <a:ea typeface="Meiryo" pitchFamily="34" charset="-122"/>
                <a:cs typeface="Meiryo" pitchFamily="34" charset="-120"/>
              </a:rPr>
              <a:t>いた。</a:t>
            </a:r>
            <a:endParaRPr lang="en-US" sz="1350" dirty="0"/>
          </a:p>
        </p:txBody>
      </p:sp>
      <p:sp>
        <p:nvSpPr>
          <p:cNvPr id="16" name="Text 14"/>
          <p:cNvSpPr txBox="1"/>
          <p:nvPr/>
        </p:nvSpPr>
        <p:spPr>
          <a:xfrm>
            <a:off x="320040" y="3822192"/>
            <a:ext cx="8503920" cy="914400"/>
          </a:xfrm>
          <a:prstGeom prst="rect">
            <a:avLst/>
          </a:prstGeom>
          <a:noFill/>
          <a:ln/>
        </p:spPr>
        <p:txBody>
          <a:bodyPr wrap="square" lIns="0" tIns="0" rIns="0" bIns="0" rtlCol="0" anchor="t"/>
          <a:lstStyle/>
          <a:p>
            <a:pPr algn="l" indent="0" marL="0">
              <a:lnSpc>
                <a:spcPct val="130000"/>
              </a:lnSpc>
              <a:buNone/>
            </a:pPr>
            <a:r>
              <a:rPr lang="en-US" sz="1700" b="1" dirty="0">
                <a:solidFill>
                  <a:srgbClr val="1A1A1A"/>
                </a:solidFill>
                <a:latin typeface="Meiryo" pitchFamily="34" charset="0"/>
                <a:ea typeface="Meiryo" pitchFamily="34" charset="-122"/>
                <a:cs typeface="Meiryo" pitchFamily="34" charset="-120"/>
              </a:rPr>
              <a:t>子どもたちは「認められる」よりも、</a:t>
            </a:r>
            <a:pPr algn="l" indent="0" marL="0">
              <a:lnSpc>
                <a:spcPct val="130000"/>
              </a:lnSpc>
              <a:buNone/>
            </a:pPr>
            <a:r>
              <a:rPr lang="en-US" sz="1700" b="1" dirty="0">
                <a:solidFill>
                  <a:srgbClr val="EB6C15"/>
                </a:solidFill>
                <a:latin typeface="Meiryo" pitchFamily="34" charset="0"/>
                <a:ea typeface="Meiryo" pitchFamily="34" charset="-122"/>
                <a:cs typeface="Meiryo" pitchFamily="34" charset="-120"/>
              </a:rPr>
              <a:t>「自分で成長を実感する」</a:t>
            </a:r>
            <a:pPr algn="l" indent="0" marL="0">
              <a:lnSpc>
                <a:spcPct val="130000"/>
              </a:lnSpc>
              <a:buNone/>
            </a:pPr>
            <a:r>
              <a:rPr lang="en-US" sz="1700" b="1" dirty="0">
                <a:solidFill>
                  <a:srgbClr val="1A1A1A"/>
                </a:solidFill>
                <a:latin typeface="Meiryo" pitchFamily="34" charset="0"/>
                <a:ea typeface="Meiryo" pitchFamily="34" charset="-122"/>
                <a:cs typeface="Meiryo" pitchFamily="34" charset="-120"/>
              </a:rPr>
              <a:t>経験を</a:t>
            </a:r>
            <a:endParaRPr lang="en-US" sz="1700" dirty="0"/>
          </a:p>
          <a:p>
            <a:pPr algn="l" indent="0" marL="0">
              <a:lnSpc>
                <a:spcPct val="130000"/>
              </a:lnSpc>
              <a:buNone/>
            </a:pPr>
            <a:r>
              <a:rPr lang="en-US" sz="1700" b="1" dirty="0">
                <a:solidFill>
                  <a:srgbClr val="1A1A1A"/>
                </a:solidFill>
                <a:latin typeface="Meiryo" pitchFamily="34" charset="0"/>
                <a:ea typeface="Meiryo" pitchFamily="34" charset="-122"/>
                <a:cs typeface="Meiryo" pitchFamily="34" charset="-120"/>
              </a:rPr>
              <a:t>積み重ねていた。</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0" y="0"/>
            <a:ext cx="9144000" cy="576072"/>
          </a:xfrm>
          <a:prstGeom prst="rect">
            <a:avLst/>
          </a:prstGeom>
          <a:solidFill>
            <a:srgbClr val="00B0F0"/>
          </a:solidFill>
          <a:ln/>
        </p:spPr>
        <p:txBody>
          <a:bodyPr wrap="square" lIns="0" tIns="0" rIns="0" bIns="0" rtlCol="0" anchor="ctr"/>
          <a:lstStyle/>
          <a:p>
            <a:pPr algn="l" indent="0" marL="0">
              <a:buNone/>
            </a:pPr>
            <a:r>
              <a:rPr lang="en-US" sz="2800" b="1" dirty="0">
                <a:solidFill>
                  <a:srgbClr val="FFFFFF"/>
                </a:solidFill>
                <a:latin typeface="Meiryo" pitchFamily="34" charset="0"/>
                <a:ea typeface="Meiryo" pitchFamily="34" charset="-122"/>
                <a:cs typeface="Meiryo" pitchFamily="34" charset="-120"/>
              </a:rPr>
              <a:t>　２　５校時の授業について</a:t>
            </a:r>
            <a:endParaRPr lang="en-US" sz="2800" dirty="0"/>
          </a:p>
        </p:txBody>
      </p:sp>
      <p:sp>
        <p:nvSpPr>
          <p:cNvPr id="3" name="Shape 1"/>
          <p:cNvSpPr/>
          <p:nvPr/>
        </p:nvSpPr>
        <p:spPr>
          <a:xfrm>
            <a:off x="640080" y="822960"/>
            <a:ext cx="548640" cy="548640"/>
          </a:xfrm>
          <a:prstGeom prst="ellipse">
            <a:avLst/>
          </a:prstGeom>
          <a:solidFill>
            <a:srgbClr val="EB6C15"/>
          </a:solidFill>
          <a:ln/>
        </p:spPr>
      </p:sp>
      <p:sp>
        <p:nvSpPr>
          <p:cNvPr id="4" name="Text 2"/>
          <p:cNvSpPr txBox="1"/>
          <p:nvPr/>
        </p:nvSpPr>
        <p:spPr>
          <a:xfrm>
            <a:off x="640080" y="822960"/>
            <a:ext cx="548640"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Meiryo" pitchFamily="34" charset="0"/>
                <a:ea typeface="Meiryo" pitchFamily="34" charset="-122"/>
                <a:cs typeface="Meiryo" pitchFamily="34" charset="-120"/>
              </a:rPr>
              <a:t>②</a:t>
            </a:r>
            <a:endParaRPr lang="en-US" sz="2800" dirty="0"/>
          </a:p>
        </p:txBody>
      </p:sp>
      <p:sp>
        <p:nvSpPr>
          <p:cNvPr id="5" name="Text 3"/>
          <p:cNvSpPr txBox="1"/>
          <p:nvPr/>
        </p:nvSpPr>
        <p:spPr>
          <a:xfrm>
            <a:off x="1325880" y="822960"/>
            <a:ext cx="7406640" cy="548640"/>
          </a:xfrm>
          <a:prstGeom prst="rect">
            <a:avLst/>
          </a:prstGeom>
          <a:noFill/>
          <a:ln/>
        </p:spPr>
        <p:txBody>
          <a:bodyPr wrap="square" lIns="0" tIns="0" rIns="0" bIns="0" rtlCol="0" anchor="ctr"/>
          <a:lstStyle/>
          <a:p>
            <a:pPr algn="l" indent="0" marL="0">
              <a:buNone/>
            </a:pPr>
            <a:r>
              <a:rPr lang="en-US" sz="2400" b="1" dirty="0">
                <a:solidFill>
                  <a:srgbClr val="00B0F0"/>
                </a:solidFill>
                <a:latin typeface="Meiryo" pitchFamily="34" charset="0"/>
                <a:ea typeface="Meiryo" pitchFamily="34" charset="-122"/>
                <a:cs typeface="Meiryo" pitchFamily="34" charset="-120"/>
              </a:rPr>
              <a:t>今日の授業から見えたもの　対話・協働</a:t>
            </a:r>
            <a:endParaRPr lang="en-US" sz="2400" dirty="0"/>
          </a:p>
        </p:txBody>
      </p:sp>
      <p:sp>
        <p:nvSpPr>
          <p:cNvPr id="6" name="Text 4"/>
          <p:cNvSpPr txBox="1"/>
          <p:nvPr/>
        </p:nvSpPr>
        <p:spPr>
          <a:xfrm>
            <a:off x="640080" y="1600200"/>
            <a:ext cx="8046720" cy="914400"/>
          </a:xfrm>
          <a:prstGeom prst="rect">
            <a:avLst/>
          </a:prstGeom>
          <a:noFill/>
          <a:ln/>
        </p:spPr>
        <p:txBody>
          <a:bodyPr wrap="square" lIns="0" tIns="0" rIns="0" bIns="0" rtlCol="0" anchor="t"/>
          <a:lstStyle/>
          <a:p>
            <a:pPr algn="l" indent="0" marL="0">
              <a:lnSpc>
                <a:spcPct val="140000"/>
              </a:lnSpc>
              <a:buNone/>
            </a:pPr>
            <a:r>
              <a:rPr lang="en-US" sz="2200" b="1" dirty="0">
                <a:solidFill>
                  <a:srgbClr val="1A1A1A"/>
                </a:solidFill>
                <a:latin typeface="Meiryo" pitchFamily="34" charset="0"/>
                <a:ea typeface="Meiryo" pitchFamily="34" charset="-122"/>
                <a:cs typeface="Meiryo" pitchFamily="34" charset="-120"/>
              </a:rPr>
              <a:t>本校の学力調査結果からは、</a:t>
            </a:r>
            <a:endParaRPr lang="en-US" sz="2200" dirty="0"/>
          </a:p>
          <a:p>
            <a:pPr algn="l" indent="0" marL="0">
              <a:lnSpc>
                <a:spcPct val="140000"/>
              </a:lnSpc>
              <a:buNone/>
            </a:pPr>
            <a:r>
              <a:rPr lang="en-US" sz="2200" b="1" dirty="0">
                <a:solidFill>
                  <a:srgbClr val="1A1A1A"/>
                </a:solidFill>
                <a:latin typeface="Meiryo" pitchFamily="34" charset="0"/>
                <a:ea typeface="Meiryo" pitchFamily="34" charset="-122"/>
                <a:cs typeface="Meiryo" pitchFamily="34" charset="-120"/>
              </a:rPr>
              <a:t>　</a:t>
            </a:r>
            <a:pPr algn="l" indent="0" marL="0">
              <a:lnSpc>
                <a:spcPct val="140000"/>
              </a:lnSpc>
              <a:buNone/>
            </a:pPr>
            <a:r>
              <a:rPr lang="en-US" sz="2200" b="1" dirty="0">
                <a:solidFill>
                  <a:srgbClr val="EB6C15"/>
                </a:solidFill>
                <a:latin typeface="Meiryo" pitchFamily="34" charset="0"/>
                <a:ea typeface="Meiryo" pitchFamily="34" charset="-122"/>
                <a:cs typeface="Meiryo" pitchFamily="34" charset="-120"/>
              </a:rPr>
              <a:t>主体的な学びの土台</a:t>
            </a:r>
            <a:pPr algn="l" indent="0" marL="0">
              <a:lnSpc>
                <a:spcPct val="140000"/>
              </a:lnSpc>
              <a:buNone/>
            </a:pPr>
            <a:r>
              <a:rPr lang="en-US" sz="2200" b="1" dirty="0">
                <a:solidFill>
                  <a:srgbClr val="1A1A1A"/>
                </a:solidFill>
                <a:latin typeface="Meiryo" pitchFamily="34" charset="0"/>
                <a:ea typeface="Meiryo" pitchFamily="34" charset="-122"/>
                <a:cs typeface="Meiryo" pitchFamily="34" charset="-120"/>
              </a:rPr>
              <a:t>が形成されていることが分かる。</a:t>
            </a:r>
            <a:endParaRPr lang="en-US" sz="2200" dirty="0"/>
          </a:p>
        </p:txBody>
      </p:sp>
      <p:sp>
        <p:nvSpPr>
          <p:cNvPr id="7" name="Text 5"/>
          <p:cNvSpPr txBox="1"/>
          <p:nvPr/>
        </p:nvSpPr>
        <p:spPr>
          <a:xfrm>
            <a:off x="640080" y="2743200"/>
            <a:ext cx="8046720" cy="914400"/>
          </a:xfrm>
          <a:prstGeom prst="rect">
            <a:avLst/>
          </a:prstGeom>
          <a:noFill/>
          <a:ln/>
        </p:spPr>
        <p:txBody>
          <a:bodyPr wrap="square" lIns="0" tIns="0" rIns="0" bIns="0" rtlCol="0" anchor="t"/>
          <a:lstStyle/>
          <a:p>
            <a:pPr algn="l" indent="0" marL="0">
              <a:lnSpc>
                <a:spcPct val="140000"/>
              </a:lnSpc>
              <a:buNone/>
            </a:pPr>
            <a:r>
              <a:rPr lang="en-US" sz="2200" b="1" dirty="0">
                <a:solidFill>
                  <a:srgbClr val="1A1A1A"/>
                </a:solidFill>
                <a:latin typeface="Meiryo" pitchFamily="34" charset="0"/>
                <a:ea typeface="Meiryo" pitchFamily="34" charset="-122"/>
                <a:cs typeface="Meiryo" pitchFamily="34" charset="-120"/>
              </a:rPr>
              <a:t>その背景にあるのは、日常的に行われている</a:t>
            </a:r>
            <a:endParaRPr lang="en-US" sz="2200" dirty="0"/>
          </a:p>
          <a:p>
            <a:pPr algn="l" indent="0" marL="0">
              <a:lnSpc>
                <a:spcPct val="140000"/>
              </a:lnSpc>
              <a:buNone/>
            </a:pPr>
            <a:r>
              <a:rPr lang="en-US" sz="2200" b="1" dirty="0">
                <a:solidFill>
                  <a:srgbClr val="1A1A1A"/>
                </a:solidFill>
                <a:latin typeface="Meiryo" pitchFamily="34" charset="0"/>
                <a:ea typeface="Meiryo" pitchFamily="34" charset="-122"/>
                <a:cs typeface="Meiryo" pitchFamily="34" charset="-120"/>
              </a:rPr>
              <a:t>　</a:t>
            </a:r>
            <a:pPr algn="l" indent="0" marL="0">
              <a:lnSpc>
                <a:spcPct val="140000"/>
              </a:lnSpc>
              <a:buNone/>
            </a:pPr>
            <a:r>
              <a:rPr lang="en-US" sz="2200" b="1" dirty="0">
                <a:solidFill>
                  <a:srgbClr val="EB6C15"/>
                </a:solidFill>
                <a:latin typeface="Meiryo" pitchFamily="34" charset="0"/>
                <a:ea typeface="Meiryo" pitchFamily="34" charset="-122"/>
                <a:cs typeface="Meiryo" pitchFamily="34" charset="-120"/>
              </a:rPr>
              <a:t>「対話を通した学び」</a:t>
            </a:r>
            <a:pPr algn="l" indent="0" marL="0">
              <a:lnSpc>
                <a:spcPct val="140000"/>
              </a:lnSpc>
              <a:buNone/>
            </a:pPr>
            <a:r>
              <a:rPr lang="en-US" sz="2200" b="1" dirty="0">
                <a:solidFill>
                  <a:srgbClr val="1A1A1A"/>
                </a:solidFill>
                <a:latin typeface="Meiryo" pitchFamily="34" charset="0"/>
                <a:ea typeface="Meiryo" pitchFamily="34" charset="-122"/>
                <a:cs typeface="Meiryo" pitchFamily="34" charset="-120"/>
              </a:rPr>
              <a:t>である。</a:t>
            </a:r>
            <a:endParaRPr lang="en-US" sz="2200" dirty="0"/>
          </a:p>
        </p:txBody>
      </p:sp>
      <p:sp>
        <p:nvSpPr>
          <p:cNvPr id="8" name="Shape 6"/>
          <p:cNvSpPr/>
          <p:nvPr/>
        </p:nvSpPr>
        <p:spPr>
          <a:xfrm>
            <a:off x="640080" y="3840480"/>
            <a:ext cx="7863840" cy="822960"/>
          </a:xfrm>
          <a:prstGeom prst="roundRect">
            <a:avLst>
              <a:gd name="adj" fmla="val 8889"/>
            </a:avLst>
          </a:prstGeom>
          <a:solidFill>
            <a:srgbClr val="EAF6FD"/>
          </a:solidFill>
          <a:ln w="12700">
            <a:solidFill>
              <a:srgbClr val="C9E6F5"/>
            </a:solidFill>
            <a:prstDash val="solid"/>
          </a:ln>
        </p:spPr>
      </p:sp>
      <p:sp>
        <p:nvSpPr>
          <p:cNvPr id="9" name="Text 7"/>
          <p:cNvSpPr txBox="1"/>
          <p:nvPr/>
        </p:nvSpPr>
        <p:spPr>
          <a:xfrm>
            <a:off x="868680" y="3840480"/>
            <a:ext cx="7406640" cy="822960"/>
          </a:xfrm>
          <a:prstGeom prst="rect">
            <a:avLst/>
          </a:prstGeom>
          <a:noFill/>
          <a:ln/>
        </p:spPr>
        <p:txBody>
          <a:bodyPr wrap="square" lIns="0" tIns="0" rIns="0" bIns="0" rtlCol="0" anchor="ctr"/>
          <a:lstStyle/>
          <a:p>
            <a:pPr algn="l" indent="0" marL="0">
              <a:buNone/>
            </a:pPr>
            <a:r>
              <a:rPr lang="en-US" sz="1700" b="1" dirty="0">
                <a:solidFill>
                  <a:srgbClr val="1A1A1A"/>
                </a:solidFill>
                <a:latin typeface="Meiryo" pitchFamily="34" charset="0"/>
                <a:ea typeface="Meiryo" pitchFamily="34" charset="-122"/>
                <a:cs typeface="Meiryo" pitchFamily="34" charset="-120"/>
              </a:rPr>
              <a:t>本日の３つの授業にも、対話が学びを深める場面が表れていた。</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0" y="0"/>
            <a:ext cx="9144000" cy="576072"/>
          </a:xfrm>
          <a:prstGeom prst="rect">
            <a:avLst/>
          </a:prstGeom>
          <a:solidFill>
            <a:srgbClr val="00B0F0"/>
          </a:solidFill>
          <a:ln/>
        </p:spPr>
        <p:txBody>
          <a:bodyPr wrap="square" lIns="0" tIns="0" rIns="0" bIns="0" rtlCol="0" anchor="ctr"/>
          <a:lstStyle/>
          <a:p>
            <a:pPr algn="l" indent="0" marL="0">
              <a:buNone/>
            </a:pPr>
            <a:r>
              <a:rPr lang="en-US" sz="2800" b="1" dirty="0">
                <a:solidFill>
                  <a:srgbClr val="FFFFFF"/>
                </a:solidFill>
                <a:latin typeface="Meiryo" pitchFamily="34" charset="0"/>
                <a:ea typeface="Meiryo" pitchFamily="34" charset="-122"/>
                <a:cs typeface="Meiryo" pitchFamily="34" charset="-120"/>
              </a:rPr>
              <a:t>　２　５校時の授業について</a:t>
            </a:r>
            <a:endParaRPr lang="en-US" sz="2800" dirty="0"/>
          </a:p>
        </p:txBody>
      </p:sp>
      <p:sp>
        <p:nvSpPr>
          <p:cNvPr id="3" name="Text 1"/>
          <p:cNvSpPr txBox="1"/>
          <p:nvPr/>
        </p:nvSpPr>
        <p:spPr>
          <a:xfrm>
            <a:off x="640080" y="713232"/>
            <a:ext cx="8046720" cy="411480"/>
          </a:xfrm>
          <a:prstGeom prst="rect">
            <a:avLst/>
          </a:prstGeom>
          <a:noFill/>
          <a:ln/>
        </p:spPr>
        <p:txBody>
          <a:bodyPr wrap="square" lIns="0" tIns="0" rIns="0" bIns="0" rtlCol="0" anchor="ctr"/>
          <a:lstStyle/>
          <a:p>
            <a:pPr algn="l" indent="0" marL="0">
              <a:buNone/>
            </a:pPr>
            <a:r>
              <a:rPr lang="en-US" sz="2100" b="1" dirty="0">
                <a:solidFill>
                  <a:srgbClr val="00B0F0"/>
                </a:solidFill>
                <a:latin typeface="Meiryo" pitchFamily="34" charset="0"/>
                <a:ea typeface="Meiryo" pitchFamily="34" charset="-122"/>
                <a:cs typeface="Meiryo" pitchFamily="34" charset="-120"/>
              </a:rPr>
              <a:t>② 対話によって学びは深まる</a:t>
            </a:r>
            <a:endParaRPr lang="en-US" sz="2100" dirty="0"/>
          </a:p>
        </p:txBody>
      </p:sp>
      <p:sp>
        <p:nvSpPr>
          <p:cNvPr id="4" name="Shape 2"/>
          <p:cNvSpPr/>
          <p:nvPr/>
        </p:nvSpPr>
        <p:spPr>
          <a:xfrm>
            <a:off x="320040" y="1207008"/>
            <a:ext cx="2651760" cy="2377440"/>
          </a:xfrm>
          <a:prstGeom prst="roundRect">
            <a:avLst>
              <a:gd name="adj" fmla="val 3077"/>
            </a:avLst>
          </a:prstGeom>
          <a:solidFill>
            <a:srgbClr val="EAF6FD"/>
          </a:solidFill>
          <a:ln w="12700">
            <a:solidFill>
              <a:srgbClr val="C9E6F5"/>
            </a:solidFill>
            <a:prstDash val="solid"/>
          </a:ln>
        </p:spPr>
      </p:sp>
      <p:sp>
        <p:nvSpPr>
          <p:cNvPr id="5" name="Text 3"/>
          <p:cNvSpPr txBox="1"/>
          <p:nvPr/>
        </p:nvSpPr>
        <p:spPr>
          <a:xfrm>
            <a:off x="466344" y="1325880"/>
            <a:ext cx="2359152" cy="274320"/>
          </a:xfrm>
          <a:prstGeom prst="rect">
            <a:avLst/>
          </a:prstGeom>
          <a:noFill/>
          <a:ln/>
        </p:spPr>
        <p:txBody>
          <a:bodyPr wrap="square" lIns="0" tIns="0" rIns="0" bIns="0" rtlCol="0" anchor="ctr"/>
          <a:lstStyle/>
          <a:p>
            <a:pPr algn="l" indent="0" marL="0">
              <a:buNone/>
            </a:pPr>
            <a:r>
              <a:rPr lang="en-US" sz="1600" b="1" dirty="0">
                <a:solidFill>
                  <a:srgbClr val="00B0F0"/>
                </a:solidFill>
                <a:latin typeface="Meiryo" pitchFamily="34" charset="0"/>
                <a:ea typeface="Meiryo" pitchFamily="34" charset="-122"/>
                <a:cs typeface="Meiryo" pitchFamily="34" charset="-120"/>
              </a:rPr>
              <a:t>保健体育</a:t>
            </a:r>
            <a:endParaRPr lang="en-US" sz="1600" dirty="0"/>
          </a:p>
        </p:txBody>
      </p:sp>
      <p:sp>
        <p:nvSpPr>
          <p:cNvPr id="6" name="Text 4"/>
          <p:cNvSpPr txBox="1"/>
          <p:nvPr/>
        </p:nvSpPr>
        <p:spPr>
          <a:xfrm>
            <a:off x="466344" y="1600200"/>
            <a:ext cx="2359152" cy="237744"/>
          </a:xfrm>
          <a:prstGeom prst="rect">
            <a:avLst/>
          </a:prstGeom>
          <a:noFill/>
          <a:ln/>
        </p:spPr>
        <p:txBody>
          <a:bodyPr wrap="square" lIns="0" tIns="0" rIns="0" bIns="0" rtlCol="0" anchor="ctr"/>
          <a:lstStyle/>
          <a:p>
            <a:pPr algn="l" indent="0" marL="0">
              <a:buNone/>
            </a:pPr>
            <a:r>
              <a:rPr lang="en-US" sz="1100" b="1" dirty="0">
                <a:solidFill>
                  <a:srgbClr val="595959"/>
                </a:solidFill>
                <a:latin typeface="Meiryo" pitchFamily="34" charset="0"/>
                <a:ea typeface="Meiryo" pitchFamily="34" charset="-122"/>
                <a:cs typeface="Meiryo" pitchFamily="34" charset="-120"/>
              </a:rPr>
              <a:t>田口　和磨　先生</a:t>
            </a:r>
            <a:endParaRPr lang="en-US" sz="1100" dirty="0"/>
          </a:p>
        </p:txBody>
      </p:sp>
      <p:sp>
        <p:nvSpPr>
          <p:cNvPr id="7" name="Text 5"/>
          <p:cNvSpPr txBox="1"/>
          <p:nvPr/>
        </p:nvSpPr>
        <p:spPr>
          <a:xfrm>
            <a:off x="466344" y="1883664"/>
            <a:ext cx="2359152" cy="1572768"/>
          </a:xfrm>
          <a:prstGeom prst="rect">
            <a:avLst/>
          </a:prstGeom>
          <a:noFill/>
          <a:ln/>
        </p:spPr>
        <p:txBody>
          <a:bodyPr wrap="square" lIns="0" tIns="0" rIns="0" bIns="0" rtlCol="0" anchor="t"/>
          <a:lstStyle/>
          <a:p>
            <a:pPr algn="l" indent="0" marL="0">
              <a:lnSpc>
                <a:spcPct val="125000"/>
              </a:lnSpc>
              <a:buNone/>
            </a:pPr>
            <a:r>
              <a:rPr lang="en-US" sz="1350" b="1" dirty="0">
                <a:solidFill>
                  <a:srgbClr val="1A1A1A"/>
                </a:solidFill>
                <a:latin typeface="Meiryo" pitchFamily="34" charset="0"/>
                <a:ea typeface="Meiryo" pitchFamily="34" charset="-122"/>
                <a:cs typeface="Meiryo" pitchFamily="34" charset="-120"/>
              </a:rPr>
              <a:t>バディ同士で</a:t>
            </a:r>
            <a:endParaRPr lang="en-US" sz="1350" dirty="0"/>
          </a:p>
          <a:p>
            <a:pPr algn="l" indent="0" marL="0">
              <a:lnSpc>
                <a:spcPct val="125000"/>
              </a:lnSpc>
              <a:buNone/>
            </a:pPr>
            <a:r>
              <a:rPr lang="en-US" sz="1350" b="1" dirty="0">
                <a:solidFill>
                  <a:srgbClr val="EB6C15"/>
                </a:solidFill>
                <a:latin typeface="Meiryo" pitchFamily="34" charset="0"/>
                <a:ea typeface="Meiryo" pitchFamily="34" charset="-122"/>
                <a:cs typeface="Meiryo" pitchFamily="34" charset="-120"/>
              </a:rPr>
              <a:t>互いの泳ぎを見て</a:t>
            </a:r>
            <a:endParaRPr lang="en-US" sz="1350" dirty="0"/>
          </a:p>
          <a:p>
            <a:pPr algn="l" indent="0" marL="0">
              <a:lnSpc>
                <a:spcPct val="125000"/>
              </a:lnSpc>
              <a:buNone/>
            </a:pPr>
            <a:r>
              <a:rPr lang="en-US" sz="1350" b="1" dirty="0">
                <a:solidFill>
                  <a:srgbClr val="EB6C15"/>
                </a:solidFill>
                <a:latin typeface="Meiryo" pitchFamily="34" charset="0"/>
                <a:ea typeface="Meiryo" pitchFamily="34" charset="-122"/>
                <a:cs typeface="Meiryo" pitchFamily="34" charset="-120"/>
              </a:rPr>
              <a:t>改善点を考えていた。</a:t>
            </a:r>
            <a:endParaRPr lang="en-US" sz="1350" dirty="0"/>
          </a:p>
          <a:p>
            <a:pPr algn="l" indent="0" marL="0">
              <a:lnSpc>
                <a:spcPct val="125000"/>
              </a:lnSpc>
              <a:buNone/>
            </a:pPr>
            <a:r>
              <a:rPr lang="en-US" sz="1350" b="1" dirty="0">
                <a:solidFill>
                  <a:srgbClr val="1A1A1A"/>
                </a:solidFill>
                <a:latin typeface="Meiryo" pitchFamily="34" charset="0"/>
                <a:ea typeface="Meiryo" pitchFamily="34" charset="-122"/>
                <a:cs typeface="Meiryo" pitchFamily="34" charset="-120"/>
              </a:rPr>
              <a:t>得意な生徒が助言役を</a:t>
            </a:r>
            <a:endParaRPr lang="en-US" sz="1350" dirty="0"/>
          </a:p>
          <a:p>
            <a:pPr algn="l" indent="0" marL="0">
              <a:lnSpc>
                <a:spcPct val="125000"/>
              </a:lnSpc>
              <a:buNone/>
            </a:pPr>
            <a:r>
              <a:rPr lang="en-US" sz="1350" b="1" dirty="0">
                <a:solidFill>
                  <a:srgbClr val="1A1A1A"/>
                </a:solidFill>
                <a:latin typeface="Meiryo" pitchFamily="34" charset="0"/>
                <a:ea typeface="Meiryo" pitchFamily="34" charset="-122"/>
                <a:cs typeface="Meiryo" pitchFamily="34" charset="-120"/>
              </a:rPr>
              <a:t>担い、全員に役割が</a:t>
            </a:r>
            <a:endParaRPr lang="en-US" sz="1350" dirty="0"/>
          </a:p>
          <a:p>
            <a:pPr algn="l" indent="0" marL="0">
              <a:lnSpc>
                <a:spcPct val="125000"/>
              </a:lnSpc>
              <a:buNone/>
            </a:pPr>
            <a:r>
              <a:rPr lang="en-US" sz="1350" b="1" dirty="0">
                <a:solidFill>
                  <a:srgbClr val="1A1A1A"/>
                </a:solidFill>
                <a:latin typeface="Meiryo" pitchFamily="34" charset="0"/>
                <a:ea typeface="Meiryo" pitchFamily="34" charset="-122"/>
                <a:cs typeface="Meiryo" pitchFamily="34" charset="-120"/>
              </a:rPr>
              <a:t>あった。</a:t>
            </a:r>
            <a:endParaRPr lang="en-US" sz="1350" dirty="0"/>
          </a:p>
        </p:txBody>
      </p:sp>
      <p:sp>
        <p:nvSpPr>
          <p:cNvPr id="8" name="Shape 6"/>
          <p:cNvSpPr/>
          <p:nvPr/>
        </p:nvSpPr>
        <p:spPr>
          <a:xfrm>
            <a:off x="3246120" y="1207008"/>
            <a:ext cx="2651760" cy="2377440"/>
          </a:xfrm>
          <a:prstGeom prst="roundRect">
            <a:avLst>
              <a:gd name="adj" fmla="val 3077"/>
            </a:avLst>
          </a:prstGeom>
          <a:solidFill>
            <a:srgbClr val="EAF6FD"/>
          </a:solidFill>
          <a:ln w="12700">
            <a:solidFill>
              <a:srgbClr val="C9E6F5"/>
            </a:solidFill>
            <a:prstDash val="solid"/>
          </a:ln>
        </p:spPr>
      </p:sp>
      <p:sp>
        <p:nvSpPr>
          <p:cNvPr id="9" name="Text 7"/>
          <p:cNvSpPr txBox="1"/>
          <p:nvPr/>
        </p:nvSpPr>
        <p:spPr>
          <a:xfrm>
            <a:off x="3392424" y="1325880"/>
            <a:ext cx="2359152" cy="274320"/>
          </a:xfrm>
          <a:prstGeom prst="rect">
            <a:avLst/>
          </a:prstGeom>
          <a:noFill/>
          <a:ln/>
        </p:spPr>
        <p:txBody>
          <a:bodyPr wrap="square" lIns="0" tIns="0" rIns="0" bIns="0" rtlCol="0" anchor="ctr"/>
          <a:lstStyle/>
          <a:p>
            <a:pPr algn="l" indent="0" marL="0">
              <a:buNone/>
            </a:pPr>
            <a:r>
              <a:rPr lang="en-US" sz="1600" b="1" dirty="0">
                <a:solidFill>
                  <a:srgbClr val="00B0F0"/>
                </a:solidFill>
                <a:latin typeface="Meiryo" pitchFamily="34" charset="0"/>
                <a:ea typeface="Meiryo" pitchFamily="34" charset="-122"/>
                <a:cs typeface="Meiryo" pitchFamily="34" charset="-120"/>
              </a:rPr>
              <a:t>道徳</a:t>
            </a:r>
            <a:endParaRPr lang="en-US" sz="1600" dirty="0"/>
          </a:p>
        </p:txBody>
      </p:sp>
      <p:sp>
        <p:nvSpPr>
          <p:cNvPr id="10" name="Text 8"/>
          <p:cNvSpPr txBox="1"/>
          <p:nvPr/>
        </p:nvSpPr>
        <p:spPr>
          <a:xfrm>
            <a:off x="3392424" y="1600200"/>
            <a:ext cx="2359152" cy="237744"/>
          </a:xfrm>
          <a:prstGeom prst="rect">
            <a:avLst/>
          </a:prstGeom>
          <a:noFill/>
          <a:ln/>
        </p:spPr>
        <p:txBody>
          <a:bodyPr wrap="square" lIns="0" tIns="0" rIns="0" bIns="0" rtlCol="0" anchor="ctr"/>
          <a:lstStyle/>
          <a:p>
            <a:pPr algn="l" indent="0" marL="0">
              <a:buNone/>
            </a:pPr>
            <a:r>
              <a:rPr lang="en-US" sz="1100" b="1" dirty="0">
                <a:solidFill>
                  <a:srgbClr val="595959"/>
                </a:solidFill>
                <a:latin typeface="Meiryo" pitchFamily="34" charset="0"/>
                <a:ea typeface="Meiryo" pitchFamily="34" charset="-122"/>
                <a:cs typeface="Meiryo" pitchFamily="34" charset="-120"/>
              </a:rPr>
              <a:t>東海林　静江　先生</a:t>
            </a:r>
            <a:endParaRPr lang="en-US" sz="1100" dirty="0"/>
          </a:p>
        </p:txBody>
      </p:sp>
      <p:sp>
        <p:nvSpPr>
          <p:cNvPr id="11" name="Text 9"/>
          <p:cNvSpPr txBox="1"/>
          <p:nvPr/>
        </p:nvSpPr>
        <p:spPr>
          <a:xfrm>
            <a:off x="3392424" y="1883664"/>
            <a:ext cx="2359152" cy="1572768"/>
          </a:xfrm>
          <a:prstGeom prst="rect">
            <a:avLst/>
          </a:prstGeom>
          <a:noFill/>
          <a:ln/>
        </p:spPr>
        <p:txBody>
          <a:bodyPr wrap="square" lIns="0" tIns="0" rIns="0" bIns="0" rtlCol="0" anchor="t"/>
          <a:lstStyle/>
          <a:p>
            <a:pPr algn="l" indent="0" marL="0">
              <a:lnSpc>
                <a:spcPct val="125000"/>
              </a:lnSpc>
              <a:buNone/>
            </a:pPr>
            <a:r>
              <a:rPr lang="en-US" sz="1350" b="1" dirty="0">
                <a:solidFill>
                  <a:srgbClr val="1A1A1A"/>
                </a:solidFill>
                <a:latin typeface="Meiryo" pitchFamily="34" charset="0"/>
                <a:ea typeface="Meiryo" pitchFamily="34" charset="-122"/>
                <a:cs typeface="Meiryo" pitchFamily="34" charset="-120"/>
              </a:rPr>
              <a:t>「嘘」をテーマに、</a:t>
            </a:r>
            <a:endParaRPr lang="en-US" sz="1350" dirty="0"/>
          </a:p>
          <a:p>
            <a:pPr algn="l" indent="0" marL="0">
              <a:lnSpc>
                <a:spcPct val="125000"/>
              </a:lnSpc>
              <a:buNone/>
            </a:pPr>
            <a:r>
              <a:rPr lang="en-US" sz="1350" b="1" dirty="0">
                <a:solidFill>
                  <a:srgbClr val="EB6C15"/>
                </a:solidFill>
                <a:latin typeface="Meiryo" pitchFamily="34" charset="0"/>
                <a:ea typeface="Meiryo" pitchFamily="34" charset="-122"/>
                <a:cs typeface="Meiryo" pitchFamily="34" charset="-120"/>
              </a:rPr>
              <a:t>価値観の違いについて</a:t>
            </a:r>
            <a:endParaRPr lang="en-US" sz="1350" dirty="0"/>
          </a:p>
          <a:p>
            <a:pPr algn="l" indent="0" marL="0">
              <a:lnSpc>
                <a:spcPct val="125000"/>
              </a:lnSpc>
              <a:buNone/>
            </a:pPr>
            <a:r>
              <a:rPr lang="en-US" sz="1350" b="1" dirty="0">
                <a:solidFill>
                  <a:srgbClr val="EB6C15"/>
                </a:solidFill>
                <a:latin typeface="Meiryo" pitchFamily="34" charset="0"/>
                <a:ea typeface="Meiryo" pitchFamily="34" charset="-122"/>
                <a:cs typeface="Meiryo" pitchFamily="34" charset="-120"/>
              </a:rPr>
              <a:t>議論していた。</a:t>
            </a:r>
            <a:endParaRPr lang="en-US" sz="1350" dirty="0"/>
          </a:p>
          <a:p>
            <a:pPr algn="l" indent="0" marL="0">
              <a:lnSpc>
                <a:spcPct val="125000"/>
              </a:lnSpc>
              <a:buNone/>
            </a:pPr>
            <a:r>
              <a:rPr lang="en-US" sz="1350" b="1" dirty="0">
                <a:solidFill>
                  <a:srgbClr val="1A1A1A"/>
                </a:solidFill>
                <a:latin typeface="Meiryo" pitchFamily="34" charset="0"/>
                <a:ea typeface="Meiryo" pitchFamily="34" charset="-122"/>
                <a:cs typeface="Meiryo" pitchFamily="34" charset="-120"/>
              </a:rPr>
              <a:t>発表より議論の時間を</a:t>
            </a:r>
            <a:endParaRPr lang="en-US" sz="1350" dirty="0"/>
          </a:p>
          <a:p>
            <a:pPr algn="l" indent="0" marL="0">
              <a:lnSpc>
                <a:spcPct val="125000"/>
              </a:lnSpc>
              <a:buNone/>
            </a:pPr>
            <a:r>
              <a:rPr lang="en-US" sz="1350" b="1" dirty="0">
                <a:solidFill>
                  <a:srgbClr val="1A1A1A"/>
                </a:solidFill>
                <a:latin typeface="Meiryo" pitchFamily="34" charset="0"/>
                <a:ea typeface="Meiryo" pitchFamily="34" charset="-122"/>
                <a:cs typeface="Meiryo" pitchFamily="34" charset="-120"/>
              </a:rPr>
              <a:t>重視した構成だった。</a:t>
            </a:r>
            <a:endParaRPr lang="en-US" sz="1350" dirty="0"/>
          </a:p>
        </p:txBody>
      </p:sp>
      <p:sp>
        <p:nvSpPr>
          <p:cNvPr id="12" name="Shape 10"/>
          <p:cNvSpPr/>
          <p:nvPr/>
        </p:nvSpPr>
        <p:spPr>
          <a:xfrm>
            <a:off x="6172200" y="1207008"/>
            <a:ext cx="2651760" cy="2377440"/>
          </a:xfrm>
          <a:prstGeom prst="roundRect">
            <a:avLst>
              <a:gd name="adj" fmla="val 3077"/>
            </a:avLst>
          </a:prstGeom>
          <a:solidFill>
            <a:srgbClr val="EAF6FD"/>
          </a:solidFill>
          <a:ln w="12700">
            <a:solidFill>
              <a:srgbClr val="C9E6F5"/>
            </a:solidFill>
            <a:prstDash val="solid"/>
          </a:ln>
        </p:spPr>
      </p:sp>
      <p:sp>
        <p:nvSpPr>
          <p:cNvPr id="13" name="Text 11"/>
          <p:cNvSpPr txBox="1"/>
          <p:nvPr/>
        </p:nvSpPr>
        <p:spPr>
          <a:xfrm>
            <a:off x="6318504" y="1325880"/>
            <a:ext cx="2359152" cy="274320"/>
          </a:xfrm>
          <a:prstGeom prst="rect">
            <a:avLst/>
          </a:prstGeom>
          <a:noFill/>
          <a:ln/>
        </p:spPr>
        <p:txBody>
          <a:bodyPr wrap="square" lIns="0" tIns="0" rIns="0" bIns="0" rtlCol="0" anchor="ctr"/>
          <a:lstStyle/>
          <a:p>
            <a:pPr algn="l" indent="0" marL="0">
              <a:buNone/>
            </a:pPr>
            <a:r>
              <a:rPr lang="en-US" sz="1600" b="1" dirty="0">
                <a:solidFill>
                  <a:srgbClr val="00B0F0"/>
                </a:solidFill>
                <a:latin typeface="Meiryo" pitchFamily="34" charset="0"/>
                <a:ea typeface="Meiryo" pitchFamily="34" charset="-122"/>
                <a:cs typeface="Meiryo" pitchFamily="34" charset="-120"/>
              </a:rPr>
              <a:t>外国語</a:t>
            </a:r>
            <a:endParaRPr lang="en-US" sz="1600" dirty="0"/>
          </a:p>
        </p:txBody>
      </p:sp>
      <p:sp>
        <p:nvSpPr>
          <p:cNvPr id="14" name="Text 12"/>
          <p:cNvSpPr txBox="1"/>
          <p:nvPr/>
        </p:nvSpPr>
        <p:spPr>
          <a:xfrm>
            <a:off x="6318504" y="1600200"/>
            <a:ext cx="2359152" cy="237744"/>
          </a:xfrm>
          <a:prstGeom prst="rect">
            <a:avLst/>
          </a:prstGeom>
          <a:noFill/>
          <a:ln/>
        </p:spPr>
        <p:txBody>
          <a:bodyPr wrap="square" lIns="0" tIns="0" rIns="0" bIns="0" rtlCol="0" anchor="ctr"/>
          <a:lstStyle/>
          <a:p>
            <a:pPr algn="l" indent="0" marL="0">
              <a:buNone/>
            </a:pPr>
            <a:r>
              <a:rPr lang="en-US" sz="1100" b="1" dirty="0">
                <a:solidFill>
                  <a:srgbClr val="595959"/>
                </a:solidFill>
                <a:latin typeface="Meiryo" pitchFamily="34" charset="0"/>
                <a:ea typeface="Meiryo" pitchFamily="34" charset="-122"/>
                <a:cs typeface="Meiryo" pitchFamily="34" charset="-120"/>
              </a:rPr>
              <a:t>塚本　瑞穂　先生</a:t>
            </a:r>
            <a:endParaRPr lang="en-US" sz="1100" dirty="0"/>
          </a:p>
        </p:txBody>
      </p:sp>
      <p:sp>
        <p:nvSpPr>
          <p:cNvPr id="15" name="Text 13"/>
          <p:cNvSpPr txBox="1"/>
          <p:nvPr/>
        </p:nvSpPr>
        <p:spPr>
          <a:xfrm>
            <a:off x="6318504" y="1883664"/>
            <a:ext cx="2359152" cy="1572768"/>
          </a:xfrm>
          <a:prstGeom prst="rect">
            <a:avLst/>
          </a:prstGeom>
          <a:noFill/>
          <a:ln/>
        </p:spPr>
        <p:txBody>
          <a:bodyPr wrap="square" lIns="0" tIns="0" rIns="0" bIns="0" rtlCol="0" anchor="t"/>
          <a:lstStyle/>
          <a:p>
            <a:pPr algn="l" indent="0" marL="0">
              <a:lnSpc>
                <a:spcPct val="125000"/>
              </a:lnSpc>
              <a:buNone/>
            </a:pPr>
            <a:r>
              <a:rPr lang="en-US" sz="1350" b="1" dirty="0">
                <a:solidFill>
                  <a:srgbClr val="1A1A1A"/>
                </a:solidFill>
                <a:latin typeface="Meiryo" pitchFamily="34" charset="0"/>
                <a:ea typeface="Meiryo" pitchFamily="34" charset="-122"/>
                <a:cs typeface="Meiryo" pitchFamily="34" charset="-120"/>
              </a:rPr>
              <a:t>ペアでのやり取りから</a:t>
            </a:r>
            <a:endParaRPr lang="en-US" sz="1350" dirty="0"/>
          </a:p>
          <a:p>
            <a:pPr algn="l" indent="0" marL="0">
              <a:lnSpc>
                <a:spcPct val="125000"/>
              </a:lnSpc>
              <a:buNone/>
            </a:pPr>
            <a:r>
              <a:rPr lang="en-US" sz="1350" b="1" dirty="0">
                <a:solidFill>
                  <a:srgbClr val="EB6C15"/>
                </a:solidFill>
                <a:latin typeface="Meiryo" pitchFamily="34" charset="0"/>
                <a:ea typeface="Meiryo" pitchFamily="34" charset="-122"/>
                <a:cs typeface="Meiryo" pitchFamily="34" charset="-120"/>
              </a:rPr>
              <a:t>全体の学びへつなぐ。</a:t>
            </a:r>
            <a:endParaRPr lang="en-US" sz="1350" dirty="0"/>
          </a:p>
          <a:p>
            <a:pPr algn="l" indent="0" marL="0">
              <a:lnSpc>
                <a:spcPct val="125000"/>
              </a:lnSpc>
              <a:buNone/>
            </a:pPr>
            <a:r>
              <a:rPr lang="en-US" sz="1350" b="1" dirty="0">
                <a:solidFill>
                  <a:srgbClr val="1A1A1A"/>
                </a:solidFill>
                <a:latin typeface="Meiryo" pitchFamily="34" charset="0"/>
                <a:ea typeface="Meiryo" pitchFamily="34" charset="-122"/>
                <a:cs typeface="Meiryo" pitchFamily="34" charset="-120"/>
              </a:rPr>
              <a:t>音読も一人ではなく</a:t>
            </a:r>
            <a:endParaRPr lang="en-US" sz="1350" dirty="0"/>
          </a:p>
          <a:p>
            <a:pPr algn="l" indent="0" marL="0">
              <a:lnSpc>
                <a:spcPct val="125000"/>
              </a:lnSpc>
              <a:buNone/>
            </a:pPr>
            <a:r>
              <a:rPr lang="en-US" sz="1350" b="1" dirty="0">
                <a:solidFill>
                  <a:srgbClr val="EB6C15"/>
                </a:solidFill>
                <a:latin typeface="Meiryo" pitchFamily="34" charset="0"/>
                <a:ea typeface="Meiryo" pitchFamily="34" charset="-122"/>
                <a:cs typeface="Meiryo" pitchFamily="34" charset="-120"/>
              </a:rPr>
              <a:t>相手とともに行い、</a:t>
            </a:r>
            <a:endParaRPr lang="en-US" sz="1350" dirty="0"/>
          </a:p>
          <a:p>
            <a:pPr algn="l" indent="0" marL="0">
              <a:lnSpc>
                <a:spcPct val="125000"/>
              </a:lnSpc>
              <a:buNone/>
            </a:pPr>
            <a:r>
              <a:rPr lang="en-US" sz="1350" b="1" dirty="0">
                <a:solidFill>
                  <a:srgbClr val="1A1A1A"/>
                </a:solidFill>
                <a:latin typeface="Meiryo" pitchFamily="34" charset="0"/>
                <a:ea typeface="Meiryo" pitchFamily="34" charset="-122"/>
                <a:cs typeface="Meiryo" pitchFamily="34" charset="-120"/>
              </a:rPr>
              <a:t>表現を確かなものに</a:t>
            </a:r>
            <a:endParaRPr lang="en-US" sz="1350" dirty="0"/>
          </a:p>
          <a:p>
            <a:pPr algn="l" indent="0" marL="0">
              <a:lnSpc>
                <a:spcPct val="125000"/>
              </a:lnSpc>
              <a:buNone/>
            </a:pPr>
            <a:r>
              <a:rPr lang="en-US" sz="1350" b="1" dirty="0">
                <a:solidFill>
                  <a:srgbClr val="1A1A1A"/>
                </a:solidFill>
                <a:latin typeface="Meiryo" pitchFamily="34" charset="0"/>
                <a:ea typeface="Meiryo" pitchFamily="34" charset="-122"/>
                <a:cs typeface="Meiryo" pitchFamily="34" charset="-120"/>
              </a:rPr>
              <a:t>していた。</a:t>
            </a:r>
            <a:endParaRPr lang="en-US" sz="1350" dirty="0"/>
          </a:p>
        </p:txBody>
      </p:sp>
      <p:sp>
        <p:nvSpPr>
          <p:cNvPr id="16" name="Text 14"/>
          <p:cNvSpPr txBox="1"/>
          <p:nvPr/>
        </p:nvSpPr>
        <p:spPr>
          <a:xfrm>
            <a:off x="320040" y="3822192"/>
            <a:ext cx="8503920" cy="914400"/>
          </a:xfrm>
          <a:prstGeom prst="rect">
            <a:avLst/>
          </a:prstGeom>
          <a:noFill/>
          <a:ln/>
        </p:spPr>
        <p:txBody>
          <a:bodyPr wrap="square" lIns="0" tIns="0" rIns="0" bIns="0" rtlCol="0" anchor="t"/>
          <a:lstStyle/>
          <a:p>
            <a:pPr algn="l" indent="0" marL="0">
              <a:lnSpc>
                <a:spcPct val="130000"/>
              </a:lnSpc>
              <a:buNone/>
            </a:pPr>
            <a:r>
              <a:rPr lang="en-US" sz="1700" b="1" dirty="0">
                <a:solidFill>
                  <a:srgbClr val="1A1A1A"/>
                </a:solidFill>
                <a:latin typeface="Meiryo" pitchFamily="34" charset="0"/>
                <a:ea typeface="Meiryo" pitchFamily="34" charset="-122"/>
                <a:cs typeface="Meiryo" pitchFamily="34" charset="-120"/>
              </a:rPr>
              <a:t>教科は異なっても、共通していたのは</a:t>
            </a:r>
            <a:endParaRPr lang="en-US" sz="1700" dirty="0"/>
          </a:p>
          <a:p>
            <a:pPr algn="l" indent="0" marL="0">
              <a:lnSpc>
                <a:spcPct val="130000"/>
              </a:lnSpc>
              <a:buNone/>
            </a:pPr>
            <a:r>
              <a:rPr lang="en-US" sz="1700" b="1" dirty="0">
                <a:solidFill>
                  <a:srgbClr val="EB6C15"/>
                </a:solidFill>
                <a:latin typeface="Meiryo" pitchFamily="34" charset="0"/>
                <a:ea typeface="Meiryo" pitchFamily="34" charset="-122"/>
                <a:cs typeface="Meiryo" pitchFamily="34" charset="-120"/>
              </a:rPr>
              <a:t>「相手を通して自分を見つめる学び」</a:t>
            </a:r>
            <a:pPr algn="l" indent="0" marL="0">
              <a:lnSpc>
                <a:spcPct val="130000"/>
              </a:lnSpc>
              <a:buNone/>
            </a:pPr>
            <a:r>
              <a:rPr lang="en-US" sz="1700" b="1" dirty="0">
                <a:solidFill>
                  <a:srgbClr val="1A1A1A"/>
                </a:solidFill>
                <a:latin typeface="Meiryo" pitchFamily="34" charset="0"/>
                <a:ea typeface="Meiryo" pitchFamily="34" charset="-122"/>
                <a:cs typeface="Meiryo" pitchFamily="34" charset="-120"/>
              </a:rPr>
              <a:t>であった。</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0" y="0"/>
            <a:ext cx="9144000" cy="576072"/>
          </a:xfrm>
          <a:prstGeom prst="rect">
            <a:avLst/>
          </a:prstGeom>
          <a:solidFill>
            <a:srgbClr val="00B0F0"/>
          </a:solidFill>
          <a:ln/>
        </p:spPr>
        <p:txBody>
          <a:bodyPr wrap="square" lIns="0" tIns="0" rIns="0" bIns="0" rtlCol="0" anchor="ctr"/>
          <a:lstStyle/>
          <a:p>
            <a:pPr algn="l" indent="0" marL="0">
              <a:buNone/>
            </a:pPr>
            <a:r>
              <a:rPr lang="en-US" sz="2800" b="1" dirty="0">
                <a:solidFill>
                  <a:srgbClr val="FFFFFF"/>
                </a:solidFill>
                <a:latin typeface="Meiryo" pitchFamily="34" charset="0"/>
                <a:ea typeface="Meiryo" pitchFamily="34" charset="-122"/>
                <a:cs typeface="Meiryo" pitchFamily="34" charset="-120"/>
              </a:rPr>
              <a:t>　２　５校時の授業について</a:t>
            </a:r>
            <a:endParaRPr lang="en-US" sz="2800" dirty="0"/>
          </a:p>
        </p:txBody>
      </p:sp>
      <p:sp>
        <p:nvSpPr>
          <p:cNvPr id="3" name="Shape 1"/>
          <p:cNvSpPr/>
          <p:nvPr/>
        </p:nvSpPr>
        <p:spPr>
          <a:xfrm>
            <a:off x="640080" y="822960"/>
            <a:ext cx="548640" cy="548640"/>
          </a:xfrm>
          <a:prstGeom prst="ellipse">
            <a:avLst/>
          </a:prstGeom>
          <a:solidFill>
            <a:srgbClr val="EB6C15"/>
          </a:solidFill>
          <a:ln/>
        </p:spPr>
      </p:sp>
      <p:sp>
        <p:nvSpPr>
          <p:cNvPr id="4" name="Text 2"/>
          <p:cNvSpPr txBox="1"/>
          <p:nvPr/>
        </p:nvSpPr>
        <p:spPr>
          <a:xfrm>
            <a:off x="640080" y="822960"/>
            <a:ext cx="548640"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Meiryo" pitchFamily="34" charset="0"/>
                <a:ea typeface="Meiryo" pitchFamily="34" charset="-122"/>
                <a:cs typeface="Meiryo" pitchFamily="34" charset="-120"/>
              </a:rPr>
              <a:t>③</a:t>
            </a:r>
            <a:endParaRPr lang="en-US" sz="2800" dirty="0"/>
          </a:p>
        </p:txBody>
      </p:sp>
      <p:sp>
        <p:nvSpPr>
          <p:cNvPr id="5" name="Text 3"/>
          <p:cNvSpPr txBox="1"/>
          <p:nvPr/>
        </p:nvSpPr>
        <p:spPr>
          <a:xfrm>
            <a:off x="1325880" y="822960"/>
            <a:ext cx="7406640" cy="548640"/>
          </a:xfrm>
          <a:prstGeom prst="rect">
            <a:avLst/>
          </a:prstGeom>
          <a:noFill/>
          <a:ln/>
        </p:spPr>
        <p:txBody>
          <a:bodyPr wrap="square" lIns="0" tIns="0" rIns="0" bIns="0" rtlCol="0" anchor="ctr"/>
          <a:lstStyle/>
          <a:p>
            <a:pPr algn="l" indent="0" marL="0">
              <a:buNone/>
            </a:pPr>
            <a:r>
              <a:rPr lang="en-US" sz="2400" b="1" dirty="0">
                <a:solidFill>
                  <a:srgbClr val="00B0F0"/>
                </a:solidFill>
                <a:latin typeface="Meiryo" pitchFamily="34" charset="0"/>
                <a:ea typeface="Meiryo" pitchFamily="34" charset="-122"/>
                <a:cs typeface="Meiryo" pitchFamily="34" charset="-120"/>
              </a:rPr>
              <a:t>今日の授業から見えたもの　学習の自己調整</a:t>
            </a:r>
            <a:endParaRPr lang="en-US" sz="2400" dirty="0"/>
          </a:p>
        </p:txBody>
      </p:sp>
      <p:sp>
        <p:nvSpPr>
          <p:cNvPr id="6" name="Text 4"/>
          <p:cNvSpPr txBox="1"/>
          <p:nvPr/>
        </p:nvSpPr>
        <p:spPr>
          <a:xfrm>
            <a:off x="640080" y="1554480"/>
            <a:ext cx="8046720" cy="1234440"/>
          </a:xfrm>
          <a:prstGeom prst="rect">
            <a:avLst/>
          </a:prstGeom>
          <a:noFill/>
          <a:ln/>
        </p:spPr>
        <p:txBody>
          <a:bodyPr wrap="square" lIns="0" tIns="0" rIns="0" bIns="0" rtlCol="0" anchor="t"/>
          <a:lstStyle/>
          <a:p>
            <a:pPr algn="l" indent="0" marL="0">
              <a:lnSpc>
                <a:spcPct val="140000"/>
              </a:lnSpc>
              <a:buNone/>
            </a:pPr>
            <a:r>
              <a:rPr lang="en-US" sz="2200" b="1" dirty="0">
                <a:solidFill>
                  <a:srgbClr val="1A1A1A"/>
                </a:solidFill>
                <a:latin typeface="Meiryo" pitchFamily="34" charset="0"/>
                <a:ea typeface="Meiryo" pitchFamily="34" charset="-122"/>
                <a:cs typeface="Meiryo" pitchFamily="34" charset="-120"/>
              </a:rPr>
              <a:t>これから求められる子どもは、</a:t>
            </a:r>
            <a:endParaRPr lang="en-US" sz="2200" dirty="0"/>
          </a:p>
          <a:p>
            <a:pPr algn="l" indent="0" marL="0">
              <a:lnSpc>
                <a:spcPct val="140000"/>
              </a:lnSpc>
              <a:buNone/>
            </a:pPr>
            <a:r>
              <a:rPr lang="en-US" sz="2200" b="1" dirty="0">
                <a:solidFill>
                  <a:srgbClr val="1A1A1A"/>
                </a:solidFill>
                <a:latin typeface="Meiryo" pitchFamily="34" charset="0"/>
                <a:ea typeface="Meiryo" pitchFamily="34" charset="-122"/>
                <a:cs typeface="Meiryo" pitchFamily="34" charset="-120"/>
              </a:rPr>
              <a:t>　教えられたことを学ぶ子どもではなく、</a:t>
            </a:r>
            <a:endParaRPr lang="en-US" sz="2200" dirty="0"/>
          </a:p>
          <a:p>
            <a:pPr algn="l" indent="0" marL="0">
              <a:lnSpc>
                <a:spcPct val="140000"/>
              </a:lnSpc>
              <a:buNone/>
            </a:pPr>
            <a:r>
              <a:rPr lang="en-US" sz="2200" b="1" dirty="0">
                <a:solidFill>
                  <a:srgbClr val="1A1A1A"/>
                </a:solidFill>
                <a:latin typeface="Meiryo" pitchFamily="34" charset="0"/>
                <a:ea typeface="Meiryo" pitchFamily="34" charset="-122"/>
                <a:cs typeface="Meiryo" pitchFamily="34" charset="-120"/>
              </a:rPr>
              <a:t>　</a:t>
            </a:r>
            <a:pPr algn="l" indent="0" marL="0">
              <a:lnSpc>
                <a:spcPct val="140000"/>
              </a:lnSpc>
              <a:buNone/>
            </a:pPr>
            <a:r>
              <a:rPr lang="en-US" sz="2200" b="1" dirty="0">
                <a:solidFill>
                  <a:srgbClr val="EB6C15"/>
                </a:solidFill>
                <a:latin typeface="Meiryo" pitchFamily="34" charset="0"/>
                <a:ea typeface="Meiryo" pitchFamily="34" charset="-122"/>
                <a:cs typeface="Meiryo" pitchFamily="34" charset="-120"/>
              </a:rPr>
              <a:t>自分で学び続ける子ども</a:t>
            </a:r>
            <a:pPr algn="l" indent="0" marL="0">
              <a:lnSpc>
                <a:spcPct val="140000"/>
              </a:lnSpc>
              <a:buNone/>
            </a:pPr>
            <a:r>
              <a:rPr lang="en-US" sz="2200" b="1" dirty="0">
                <a:solidFill>
                  <a:srgbClr val="1A1A1A"/>
                </a:solidFill>
                <a:latin typeface="Meiryo" pitchFamily="34" charset="0"/>
                <a:ea typeface="Meiryo" pitchFamily="34" charset="-122"/>
                <a:cs typeface="Meiryo" pitchFamily="34" charset="-120"/>
              </a:rPr>
              <a:t>である。</a:t>
            </a:r>
            <a:endParaRPr lang="en-US" sz="2200" dirty="0"/>
          </a:p>
        </p:txBody>
      </p:sp>
      <p:sp>
        <p:nvSpPr>
          <p:cNvPr id="7" name="Text 5"/>
          <p:cNvSpPr txBox="1"/>
          <p:nvPr/>
        </p:nvSpPr>
        <p:spPr>
          <a:xfrm>
            <a:off x="640080" y="3154680"/>
            <a:ext cx="8046720" cy="548640"/>
          </a:xfrm>
          <a:prstGeom prst="rect">
            <a:avLst/>
          </a:prstGeom>
          <a:noFill/>
          <a:ln/>
        </p:spPr>
        <p:txBody>
          <a:bodyPr wrap="square" lIns="0" tIns="0" rIns="0" bIns="0" rtlCol="0" anchor="t"/>
          <a:lstStyle/>
          <a:p>
            <a:pPr algn="l" indent="0" marL="0">
              <a:lnSpc>
                <a:spcPct val="135000"/>
              </a:lnSpc>
              <a:buNone/>
            </a:pPr>
            <a:r>
              <a:rPr lang="en-US" sz="2200" b="1" dirty="0">
                <a:solidFill>
                  <a:srgbClr val="1A1A1A"/>
                </a:solidFill>
                <a:latin typeface="Meiryo" pitchFamily="34" charset="0"/>
                <a:ea typeface="Meiryo" pitchFamily="34" charset="-122"/>
                <a:cs typeface="Meiryo" pitchFamily="34" charset="-120"/>
              </a:rPr>
              <a:t>そのために必要なのが</a:t>
            </a:r>
            <a:pPr algn="l" indent="0" marL="0">
              <a:lnSpc>
                <a:spcPct val="135000"/>
              </a:lnSpc>
              <a:buNone/>
            </a:pPr>
            <a:r>
              <a:rPr lang="en-US" sz="2200" b="1" dirty="0">
                <a:solidFill>
                  <a:srgbClr val="EB6C15"/>
                </a:solidFill>
                <a:latin typeface="Meiryo" pitchFamily="34" charset="0"/>
                <a:ea typeface="Meiryo" pitchFamily="34" charset="-122"/>
                <a:cs typeface="Meiryo" pitchFamily="34" charset="-120"/>
              </a:rPr>
              <a:t>学習の自己調整</a:t>
            </a:r>
            <a:pPr algn="l" indent="0" marL="0">
              <a:lnSpc>
                <a:spcPct val="135000"/>
              </a:lnSpc>
              <a:buNone/>
            </a:pPr>
            <a:r>
              <a:rPr lang="en-US" sz="2200" b="1" dirty="0">
                <a:solidFill>
                  <a:srgbClr val="1A1A1A"/>
                </a:solidFill>
                <a:latin typeface="Meiryo" pitchFamily="34" charset="0"/>
                <a:ea typeface="Meiryo" pitchFamily="34" charset="-122"/>
                <a:cs typeface="Meiryo" pitchFamily="34" charset="-120"/>
              </a:rPr>
              <a:t>である。</a:t>
            </a:r>
            <a:endParaRPr lang="en-US" sz="2200" dirty="0"/>
          </a:p>
        </p:txBody>
      </p:sp>
      <p:sp>
        <p:nvSpPr>
          <p:cNvPr id="8" name="Shape 6"/>
          <p:cNvSpPr/>
          <p:nvPr/>
        </p:nvSpPr>
        <p:spPr>
          <a:xfrm>
            <a:off x="640080" y="3840480"/>
            <a:ext cx="7863840" cy="822960"/>
          </a:xfrm>
          <a:prstGeom prst="roundRect">
            <a:avLst>
              <a:gd name="adj" fmla="val 8889"/>
            </a:avLst>
          </a:prstGeom>
          <a:solidFill>
            <a:srgbClr val="EAF6FD"/>
          </a:solidFill>
          <a:ln w="12700">
            <a:solidFill>
              <a:srgbClr val="C9E6F5"/>
            </a:solidFill>
            <a:prstDash val="solid"/>
          </a:ln>
        </p:spPr>
      </p:sp>
      <p:sp>
        <p:nvSpPr>
          <p:cNvPr id="9" name="Text 7"/>
          <p:cNvSpPr txBox="1"/>
          <p:nvPr/>
        </p:nvSpPr>
        <p:spPr>
          <a:xfrm>
            <a:off x="868680" y="3840480"/>
            <a:ext cx="7406640" cy="822960"/>
          </a:xfrm>
          <a:prstGeom prst="rect">
            <a:avLst/>
          </a:prstGeom>
          <a:noFill/>
          <a:ln/>
        </p:spPr>
        <p:txBody>
          <a:bodyPr wrap="square" lIns="0" tIns="0" rIns="0" bIns="0" rtlCol="0" anchor="ctr"/>
          <a:lstStyle/>
          <a:p>
            <a:pPr algn="l" indent="0" marL="0">
              <a:buNone/>
            </a:pPr>
            <a:r>
              <a:rPr lang="en-US" sz="1700" b="1" dirty="0">
                <a:solidFill>
                  <a:srgbClr val="1A1A1A"/>
                </a:solidFill>
                <a:latin typeface="Meiryo" pitchFamily="34" charset="0"/>
                <a:ea typeface="Meiryo" pitchFamily="34" charset="-122"/>
                <a:cs typeface="Meiryo" pitchFamily="34" charset="-120"/>
              </a:rPr>
              <a:t>学習指導要領が示す「学びに向かう力」の中核をなす力である。</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0" y="0"/>
            <a:ext cx="9144000" cy="576072"/>
          </a:xfrm>
          <a:prstGeom prst="rect">
            <a:avLst/>
          </a:prstGeom>
          <a:solidFill>
            <a:srgbClr val="00B0F0"/>
          </a:solidFill>
          <a:ln/>
        </p:spPr>
        <p:txBody>
          <a:bodyPr wrap="square" lIns="0" tIns="0" rIns="0" bIns="0" rtlCol="0" anchor="ctr"/>
          <a:lstStyle/>
          <a:p>
            <a:pPr algn="l" indent="0" marL="0">
              <a:buNone/>
            </a:pPr>
            <a:r>
              <a:rPr lang="en-US" sz="2800" b="1" dirty="0">
                <a:solidFill>
                  <a:srgbClr val="FFFFFF"/>
                </a:solidFill>
                <a:latin typeface="Meiryo" pitchFamily="34" charset="0"/>
                <a:ea typeface="Meiryo" pitchFamily="34" charset="-122"/>
                <a:cs typeface="Meiryo" pitchFamily="34" charset="-120"/>
              </a:rPr>
              <a:t>　２　５校時の授業について</a:t>
            </a:r>
            <a:endParaRPr lang="en-US" sz="2800" dirty="0"/>
          </a:p>
        </p:txBody>
      </p:sp>
      <p:sp>
        <p:nvSpPr>
          <p:cNvPr id="3" name="Text 1"/>
          <p:cNvSpPr txBox="1"/>
          <p:nvPr/>
        </p:nvSpPr>
        <p:spPr>
          <a:xfrm>
            <a:off x="640080" y="713232"/>
            <a:ext cx="8046720" cy="411480"/>
          </a:xfrm>
          <a:prstGeom prst="rect">
            <a:avLst/>
          </a:prstGeom>
          <a:noFill/>
          <a:ln/>
        </p:spPr>
        <p:txBody>
          <a:bodyPr wrap="square" lIns="0" tIns="0" rIns="0" bIns="0" rtlCol="0" anchor="ctr"/>
          <a:lstStyle/>
          <a:p>
            <a:pPr algn="l" indent="0" marL="0">
              <a:buNone/>
            </a:pPr>
            <a:r>
              <a:rPr lang="en-US" sz="2100" b="1" dirty="0">
                <a:solidFill>
                  <a:srgbClr val="00B0F0"/>
                </a:solidFill>
                <a:latin typeface="Meiryo" pitchFamily="34" charset="0"/>
                <a:ea typeface="Meiryo" pitchFamily="34" charset="-122"/>
                <a:cs typeface="Meiryo" pitchFamily="34" charset="-120"/>
              </a:rPr>
              <a:t>③ 自己調整が行われていた授業</a:t>
            </a:r>
            <a:endParaRPr lang="en-US" sz="2100" dirty="0"/>
          </a:p>
        </p:txBody>
      </p:sp>
      <p:sp>
        <p:nvSpPr>
          <p:cNvPr id="4" name="Shape 2"/>
          <p:cNvSpPr/>
          <p:nvPr/>
        </p:nvSpPr>
        <p:spPr>
          <a:xfrm>
            <a:off x="320040" y="1188720"/>
            <a:ext cx="2011680" cy="548640"/>
          </a:xfrm>
          <a:prstGeom prst="roundRect">
            <a:avLst>
              <a:gd name="adj" fmla="val 16667"/>
            </a:avLst>
          </a:prstGeom>
          <a:solidFill>
            <a:srgbClr val="EB6C15"/>
          </a:solidFill>
          <a:ln/>
        </p:spPr>
      </p:sp>
      <p:sp>
        <p:nvSpPr>
          <p:cNvPr id="5" name="Text 3"/>
          <p:cNvSpPr txBox="1"/>
          <p:nvPr/>
        </p:nvSpPr>
        <p:spPr>
          <a:xfrm>
            <a:off x="320040" y="1188720"/>
            <a:ext cx="201168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本時の目標</a:t>
            </a:r>
            <a:endParaRPr lang="en-US" sz="1500" dirty="0"/>
          </a:p>
        </p:txBody>
      </p:sp>
      <p:sp>
        <p:nvSpPr>
          <p:cNvPr id="6" name="Shape 4"/>
          <p:cNvSpPr/>
          <p:nvPr/>
        </p:nvSpPr>
        <p:spPr>
          <a:xfrm>
            <a:off x="2514600" y="1188720"/>
            <a:ext cx="2011680" cy="548640"/>
          </a:xfrm>
          <a:prstGeom prst="roundRect">
            <a:avLst>
              <a:gd name="adj" fmla="val 16667"/>
            </a:avLst>
          </a:prstGeom>
          <a:solidFill>
            <a:srgbClr val="EB6C15"/>
          </a:solidFill>
          <a:ln/>
        </p:spPr>
      </p:sp>
      <p:sp>
        <p:nvSpPr>
          <p:cNvPr id="7" name="Text 5"/>
          <p:cNvSpPr txBox="1"/>
          <p:nvPr/>
        </p:nvSpPr>
        <p:spPr>
          <a:xfrm>
            <a:off x="2514600" y="1188720"/>
            <a:ext cx="201168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振り返り</a:t>
            </a:r>
            <a:endParaRPr lang="en-US" sz="1500" dirty="0"/>
          </a:p>
        </p:txBody>
      </p:sp>
      <p:sp>
        <p:nvSpPr>
          <p:cNvPr id="8" name="Shape 6"/>
          <p:cNvSpPr/>
          <p:nvPr/>
        </p:nvSpPr>
        <p:spPr>
          <a:xfrm>
            <a:off x="4709160" y="1188720"/>
            <a:ext cx="2011680" cy="548640"/>
          </a:xfrm>
          <a:prstGeom prst="roundRect">
            <a:avLst>
              <a:gd name="adj" fmla="val 16667"/>
            </a:avLst>
          </a:prstGeom>
          <a:solidFill>
            <a:srgbClr val="EB6C15"/>
          </a:solidFill>
          <a:ln/>
        </p:spPr>
      </p:sp>
      <p:sp>
        <p:nvSpPr>
          <p:cNvPr id="9" name="Text 7"/>
          <p:cNvSpPr txBox="1"/>
          <p:nvPr/>
        </p:nvSpPr>
        <p:spPr>
          <a:xfrm>
            <a:off x="4709160" y="1188720"/>
            <a:ext cx="201168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自己評価</a:t>
            </a:r>
            <a:endParaRPr lang="en-US" sz="1500" dirty="0"/>
          </a:p>
        </p:txBody>
      </p:sp>
      <p:sp>
        <p:nvSpPr>
          <p:cNvPr id="10" name="Shape 8"/>
          <p:cNvSpPr/>
          <p:nvPr/>
        </p:nvSpPr>
        <p:spPr>
          <a:xfrm>
            <a:off x="6903720" y="1188720"/>
            <a:ext cx="2011680" cy="548640"/>
          </a:xfrm>
          <a:prstGeom prst="roundRect">
            <a:avLst>
              <a:gd name="adj" fmla="val 16667"/>
            </a:avLst>
          </a:prstGeom>
          <a:solidFill>
            <a:srgbClr val="EB6C15"/>
          </a:solidFill>
          <a:ln/>
        </p:spPr>
      </p:sp>
      <p:sp>
        <p:nvSpPr>
          <p:cNvPr id="11" name="Text 9"/>
          <p:cNvSpPr txBox="1"/>
          <p:nvPr/>
        </p:nvSpPr>
        <p:spPr>
          <a:xfrm>
            <a:off x="6903720" y="1188720"/>
            <a:ext cx="201168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次時への見通し</a:t>
            </a:r>
            <a:endParaRPr lang="en-US" sz="1500" dirty="0"/>
          </a:p>
        </p:txBody>
      </p:sp>
      <p:sp>
        <p:nvSpPr>
          <p:cNvPr id="12" name="Text 10"/>
          <p:cNvSpPr txBox="1"/>
          <p:nvPr/>
        </p:nvSpPr>
        <p:spPr>
          <a:xfrm>
            <a:off x="320040" y="1847088"/>
            <a:ext cx="8503920" cy="347472"/>
          </a:xfrm>
          <a:prstGeom prst="rect">
            <a:avLst/>
          </a:prstGeom>
          <a:noFill/>
          <a:ln/>
        </p:spPr>
        <p:txBody>
          <a:bodyPr wrap="square" lIns="0" tIns="0" rIns="0" bIns="0" rtlCol="0" anchor="ctr"/>
          <a:lstStyle/>
          <a:p>
            <a:pPr algn="l" indent="0" marL="0">
              <a:buNone/>
            </a:pPr>
            <a:r>
              <a:rPr lang="en-US" sz="1400" b="1" dirty="0">
                <a:solidFill>
                  <a:srgbClr val="595959"/>
                </a:solidFill>
                <a:latin typeface="Meiryo" pitchFamily="34" charset="0"/>
                <a:ea typeface="Meiryo" pitchFamily="34" charset="-122"/>
                <a:cs typeface="Meiryo" pitchFamily="34" charset="-120"/>
              </a:rPr>
              <a:t>本日の授業では、この４点が大切にされていた。</a:t>
            </a:r>
            <a:endParaRPr lang="en-US" sz="1400" dirty="0"/>
          </a:p>
        </p:txBody>
      </p:sp>
      <p:sp>
        <p:nvSpPr>
          <p:cNvPr id="13" name="Text 11"/>
          <p:cNvSpPr txBox="1"/>
          <p:nvPr/>
        </p:nvSpPr>
        <p:spPr>
          <a:xfrm>
            <a:off x="320040" y="2286000"/>
            <a:ext cx="8503920" cy="1600200"/>
          </a:xfrm>
          <a:prstGeom prst="rect">
            <a:avLst/>
          </a:prstGeom>
          <a:noFill/>
          <a:ln/>
        </p:spPr>
        <p:txBody>
          <a:bodyPr wrap="square" lIns="0" tIns="0" rIns="0" bIns="0" rtlCol="0" anchor="t"/>
          <a:lstStyle/>
          <a:p>
            <a:pPr algn="l" indent="0" marL="0">
              <a:lnSpc>
                <a:spcPct val="155000"/>
              </a:lnSpc>
              <a:buNone/>
            </a:pPr>
            <a:r>
              <a:rPr lang="en-US" sz="1600" b="1" dirty="0">
                <a:solidFill>
                  <a:srgbClr val="1A1A1A"/>
                </a:solidFill>
                <a:latin typeface="Meiryo" pitchFamily="34" charset="0"/>
                <a:ea typeface="Meiryo" pitchFamily="34" charset="-122"/>
                <a:cs typeface="Meiryo" pitchFamily="34" charset="-120"/>
              </a:rPr>
              <a:t>・田口　先生　　着替えの前に目標と流れを確認し、</a:t>
            </a:r>
            <a:pPr algn="l" indent="0" marL="0">
              <a:lnSpc>
                <a:spcPct val="155000"/>
              </a:lnSpc>
              <a:buNone/>
            </a:pPr>
            <a:r>
              <a:rPr lang="en-US" sz="1600" b="1" dirty="0">
                <a:solidFill>
                  <a:srgbClr val="EB6C15"/>
                </a:solidFill>
                <a:latin typeface="Meiryo" pitchFamily="34" charset="0"/>
                <a:ea typeface="Meiryo" pitchFamily="34" charset="-122"/>
                <a:cs typeface="Meiryo" pitchFamily="34" charset="-120"/>
              </a:rPr>
              <a:t>学習カードで要点を振り返る</a:t>
            </a:r>
            <a:endParaRPr lang="en-US" sz="1600" dirty="0"/>
          </a:p>
          <a:p>
            <a:pPr algn="l" indent="0" marL="0">
              <a:lnSpc>
                <a:spcPct val="155000"/>
              </a:lnSpc>
              <a:buNone/>
            </a:pPr>
            <a:r>
              <a:rPr lang="en-US" sz="1600" b="1" dirty="0">
                <a:solidFill>
                  <a:srgbClr val="1A1A1A"/>
                </a:solidFill>
                <a:latin typeface="Meiryo" pitchFamily="34" charset="0"/>
                <a:ea typeface="Meiryo" pitchFamily="34" charset="-122"/>
                <a:cs typeface="Meiryo" pitchFamily="34" charset="-120"/>
              </a:rPr>
              <a:t>・塚本　先生　　Today’s Goal と Plan を提示し、</a:t>
            </a:r>
            <a:pPr algn="l" indent="0" marL="0">
              <a:lnSpc>
                <a:spcPct val="155000"/>
              </a:lnSpc>
              <a:buNone/>
            </a:pPr>
            <a:r>
              <a:rPr lang="en-US" sz="1600" b="1" dirty="0">
                <a:solidFill>
                  <a:srgbClr val="EB6C15"/>
                </a:solidFill>
                <a:latin typeface="Meiryo" pitchFamily="34" charset="0"/>
                <a:ea typeface="Meiryo" pitchFamily="34" charset="-122"/>
                <a:cs typeface="Meiryo" pitchFamily="34" charset="-120"/>
              </a:rPr>
              <a:t>振り返りをワークシートに記入</a:t>
            </a:r>
            <a:endParaRPr lang="en-US" sz="1600" dirty="0"/>
          </a:p>
          <a:p>
            <a:pPr algn="l" indent="0" marL="0">
              <a:lnSpc>
                <a:spcPct val="155000"/>
              </a:lnSpc>
              <a:buNone/>
            </a:pPr>
            <a:r>
              <a:rPr lang="en-US" sz="1600" b="1" dirty="0">
                <a:solidFill>
                  <a:srgbClr val="1A1A1A"/>
                </a:solidFill>
                <a:latin typeface="Meiryo" pitchFamily="34" charset="0"/>
                <a:ea typeface="Meiryo" pitchFamily="34" charset="-122"/>
                <a:cs typeface="Meiryo" pitchFamily="34" charset="-120"/>
              </a:rPr>
              <a:t>・東海林　先生　</a:t>
            </a:r>
            <a:pPr algn="l" indent="0" marL="0">
              <a:lnSpc>
                <a:spcPct val="155000"/>
              </a:lnSpc>
              <a:buNone/>
            </a:pPr>
            <a:r>
              <a:rPr lang="en-US" sz="1600" b="1" dirty="0">
                <a:solidFill>
                  <a:srgbClr val="EB6C15"/>
                </a:solidFill>
                <a:latin typeface="Meiryo" pitchFamily="34" charset="0"/>
                <a:ea typeface="Meiryo" pitchFamily="34" charset="-122"/>
                <a:cs typeface="Meiryo" pitchFamily="34" charset="-120"/>
              </a:rPr>
              <a:t>前時のワークシート</a:t>
            </a:r>
            <a:pPr algn="l" indent="0" marL="0">
              <a:lnSpc>
                <a:spcPct val="155000"/>
              </a:lnSpc>
              <a:buNone/>
            </a:pPr>
            <a:r>
              <a:rPr lang="en-US" sz="1600" b="1" dirty="0">
                <a:solidFill>
                  <a:srgbClr val="1A1A1A"/>
                </a:solidFill>
                <a:latin typeface="Meiryo" pitchFamily="34" charset="0"/>
                <a:ea typeface="Meiryo" pitchFamily="34" charset="-122"/>
                <a:cs typeface="Meiryo" pitchFamily="34" charset="-120"/>
              </a:rPr>
              <a:t>で自分の考えを確かめてから議論へ</a:t>
            </a:r>
            <a:endParaRPr lang="en-US" sz="1600" dirty="0"/>
          </a:p>
        </p:txBody>
      </p:sp>
      <p:sp>
        <p:nvSpPr>
          <p:cNvPr id="14" name="Shape 12"/>
          <p:cNvSpPr/>
          <p:nvPr/>
        </p:nvSpPr>
        <p:spPr>
          <a:xfrm>
            <a:off x="320040" y="3950208"/>
            <a:ext cx="8503920" cy="786384"/>
          </a:xfrm>
          <a:prstGeom prst="roundRect">
            <a:avLst>
              <a:gd name="adj" fmla="val 9302"/>
            </a:avLst>
          </a:prstGeom>
          <a:solidFill>
            <a:srgbClr val="EAF6FD"/>
          </a:solidFill>
          <a:ln w="12700">
            <a:solidFill>
              <a:srgbClr val="C9E6F5"/>
            </a:solidFill>
            <a:prstDash val="solid"/>
          </a:ln>
        </p:spPr>
      </p:sp>
      <p:sp>
        <p:nvSpPr>
          <p:cNvPr id="15" name="Text 13"/>
          <p:cNvSpPr txBox="1"/>
          <p:nvPr/>
        </p:nvSpPr>
        <p:spPr>
          <a:xfrm>
            <a:off x="502920" y="3950208"/>
            <a:ext cx="8138160" cy="786384"/>
          </a:xfrm>
          <a:prstGeom prst="rect">
            <a:avLst/>
          </a:prstGeom>
          <a:noFill/>
          <a:ln/>
        </p:spPr>
        <p:txBody>
          <a:bodyPr wrap="square" lIns="0" tIns="0" rIns="0" bIns="0" rtlCol="0" anchor="ctr"/>
          <a:lstStyle/>
          <a:p>
            <a:pPr algn="l" indent="0" marL="0">
              <a:buNone/>
            </a:pPr>
            <a:r>
              <a:rPr lang="en-US" sz="1800" b="1" dirty="0">
                <a:solidFill>
                  <a:srgbClr val="1A1A1A"/>
                </a:solidFill>
                <a:latin typeface="Meiryo" pitchFamily="34" charset="0"/>
                <a:ea typeface="Meiryo" pitchFamily="34" charset="-122"/>
                <a:cs typeface="Meiryo" pitchFamily="34" charset="-120"/>
              </a:rPr>
              <a:t>教師が管理する学習から　</a:t>
            </a:r>
            <a:pPr algn="l" indent="0" marL="0">
              <a:buNone/>
            </a:pPr>
            <a:r>
              <a:rPr lang="en-US" sz="1800" b="1" dirty="0">
                <a:solidFill>
                  <a:srgbClr val="EB6C15"/>
                </a:solidFill>
                <a:latin typeface="Meiryo" pitchFamily="34" charset="0"/>
                <a:ea typeface="Meiryo" pitchFamily="34" charset="-122"/>
                <a:cs typeface="Meiryo" pitchFamily="34" charset="-120"/>
              </a:rPr>
              <a:t>子どもが管理する学習へ</a:t>
            </a:r>
            <a:pPr algn="l" indent="0" marL="0">
              <a:buNone/>
            </a:pPr>
            <a:r>
              <a:rPr lang="en-US" sz="1800" b="1" dirty="0">
                <a:solidFill>
                  <a:srgbClr val="1A1A1A"/>
                </a:solidFill>
                <a:latin typeface="Meiryo" pitchFamily="34" charset="0"/>
                <a:ea typeface="Meiryo" pitchFamily="34" charset="-122"/>
                <a:cs typeface="Meiryo" pitchFamily="34" charset="-120"/>
              </a:rPr>
              <a:t>　着実に転換が進んでいる。</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0" y="0"/>
            <a:ext cx="9144000" cy="576072"/>
          </a:xfrm>
          <a:prstGeom prst="rect">
            <a:avLst/>
          </a:prstGeom>
          <a:solidFill>
            <a:srgbClr val="00B0F0"/>
          </a:solidFill>
          <a:ln/>
        </p:spPr>
        <p:txBody>
          <a:bodyPr wrap="square" lIns="0" tIns="0" rIns="0" bIns="0" rtlCol="0" anchor="ctr"/>
          <a:lstStyle/>
          <a:p>
            <a:pPr algn="l" indent="0" marL="0">
              <a:buNone/>
            </a:pPr>
            <a:r>
              <a:rPr lang="en-US" sz="2800" b="1" dirty="0">
                <a:solidFill>
                  <a:srgbClr val="FFFFFF"/>
                </a:solidFill>
                <a:latin typeface="Meiryo" pitchFamily="34" charset="0"/>
                <a:ea typeface="Meiryo" pitchFamily="34" charset="-122"/>
                <a:cs typeface="Meiryo" pitchFamily="34" charset="-120"/>
              </a:rPr>
              <a:t>　今後に向けて</a:t>
            </a:r>
            <a:endParaRPr lang="en-US" sz="2800" dirty="0"/>
          </a:p>
        </p:txBody>
      </p:sp>
      <p:sp>
        <p:nvSpPr>
          <p:cNvPr id="3" name="Text 1"/>
          <p:cNvSpPr txBox="1"/>
          <p:nvPr/>
        </p:nvSpPr>
        <p:spPr>
          <a:xfrm>
            <a:off x="640080" y="841248"/>
            <a:ext cx="8046720" cy="1143000"/>
          </a:xfrm>
          <a:prstGeom prst="rect">
            <a:avLst/>
          </a:prstGeom>
          <a:noFill/>
          <a:ln/>
        </p:spPr>
        <p:txBody>
          <a:bodyPr wrap="square" lIns="0" tIns="0" rIns="0" bIns="0" rtlCol="0" anchor="t"/>
          <a:lstStyle/>
          <a:p>
            <a:pPr algn="l" indent="0" marL="0">
              <a:lnSpc>
                <a:spcPct val="135000"/>
              </a:lnSpc>
              <a:buNone/>
            </a:pPr>
            <a:r>
              <a:rPr lang="en-US" sz="1900" b="1" dirty="0">
                <a:solidFill>
                  <a:srgbClr val="EB6C15"/>
                </a:solidFill>
                <a:latin typeface="Meiryo" pitchFamily="34" charset="0"/>
                <a:ea typeface="Meiryo" pitchFamily="34" charset="-122"/>
                <a:cs typeface="Meiryo" pitchFamily="34" charset="-120"/>
              </a:rPr>
              <a:t>学力調査結果</a:t>
            </a:r>
            <a:pPr algn="l" indent="0" marL="0">
              <a:lnSpc>
                <a:spcPct val="135000"/>
              </a:lnSpc>
              <a:buNone/>
            </a:pPr>
            <a:r>
              <a:rPr lang="en-US" sz="1900" b="1" dirty="0">
                <a:solidFill>
                  <a:srgbClr val="1A1A1A"/>
                </a:solidFill>
                <a:latin typeface="Meiryo" pitchFamily="34" charset="0"/>
                <a:ea typeface="Meiryo" pitchFamily="34" charset="-122"/>
                <a:cs typeface="Meiryo" pitchFamily="34" charset="-120"/>
              </a:rPr>
              <a:t>　と　</a:t>
            </a:r>
            <a:pPr algn="l" indent="0" marL="0">
              <a:lnSpc>
                <a:spcPct val="135000"/>
              </a:lnSpc>
              <a:buNone/>
            </a:pPr>
            <a:r>
              <a:rPr lang="en-US" sz="1900" b="1" dirty="0">
                <a:solidFill>
                  <a:srgbClr val="EB6C15"/>
                </a:solidFill>
                <a:latin typeface="Meiryo" pitchFamily="34" charset="0"/>
                <a:ea typeface="Meiryo" pitchFamily="34" charset="-122"/>
                <a:cs typeface="Meiryo" pitchFamily="34" charset="-120"/>
              </a:rPr>
              <a:t>今日の授業</a:t>
            </a:r>
            <a:pPr algn="l" indent="0" marL="0">
              <a:lnSpc>
                <a:spcPct val="135000"/>
              </a:lnSpc>
              <a:buNone/>
            </a:pPr>
            <a:r>
              <a:rPr lang="en-US" sz="1900" b="1" dirty="0">
                <a:solidFill>
                  <a:srgbClr val="1A1A1A"/>
                </a:solidFill>
                <a:latin typeface="Meiryo" pitchFamily="34" charset="0"/>
                <a:ea typeface="Meiryo" pitchFamily="34" charset="-122"/>
                <a:cs typeface="Meiryo" pitchFamily="34" charset="-120"/>
              </a:rPr>
              <a:t>　をつなげて考えると、</a:t>
            </a:r>
            <a:endParaRPr lang="en-US" sz="1900" dirty="0"/>
          </a:p>
          <a:p>
            <a:pPr algn="l" indent="0" marL="0">
              <a:lnSpc>
                <a:spcPct val="135000"/>
              </a:lnSpc>
              <a:buNone/>
            </a:pPr>
            <a:r>
              <a:rPr lang="en-US" sz="1900" b="1" dirty="0">
                <a:solidFill>
                  <a:srgbClr val="1A1A1A"/>
                </a:solidFill>
                <a:latin typeface="Meiryo" pitchFamily="34" charset="0"/>
                <a:ea typeface="Meiryo" pitchFamily="34" charset="-122"/>
                <a:cs typeface="Meiryo" pitchFamily="34" charset="-120"/>
              </a:rPr>
              <a:t>今後さらに伸ばしたいのは</a:t>
            </a:r>
            <a:endParaRPr lang="en-US" sz="1900" dirty="0"/>
          </a:p>
        </p:txBody>
      </p:sp>
      <p:sp>
        <p:nvSpPr>
          <p:cNvPr id="4" name="Shape 2"/>
          <p:cNvSpPr/>
          <p:nvPr/>
        </p:nvSpPr>
        <p:spPr>
          <a:xfrm>
            <a:off x="640080" y="1883664"/>
            <a:ext cx="7863840" cy="822960"/>
          </a:xfrm>
          <a:prstGeom prst="roundRect">
            <a:avLst>
              <a:gd name="adj" fmla="val 8889"/>
            </a:avLst>
          </a:prstGeom>
          <a:solidFill>
            <a:srgbClr val="EAF6FD"/>
          </a:solidFill>
          <a:ln w="12700">
            <a:solidFill>
              <a:srgbClr val="C9E6F5"/>
            </a:solidFill>
            <a:prstDash val="solid"/>
          </a:ln>
        </p:spPr>
      </p:sp>
      <p:sp>
        <p:nvSpPr>
          <p:cNvPr id="5" name="Text 3"/>
          <p:cNvSpPr txBox="1"/>
          <p:nvPr/>
        </p:nvSpPr>
        <p:spPr>
          <a:xfrm>
            <a:off x="822960" y="1883664"/>
            <a:ext cx="7498080" cy="822960"/>
          </a:xfrm>
          <a:prstGeom prst="rect">
            <a:avLst/>
          </a:prstGeom>
          <a:noFill/>
          <a:ln/>
        </p:spPr>
        <p:txBody>
          <a:bodyPr wrap="square" lIns="0" tIns="0" rIns="0" bIns="0" rtlCol="0" anchor="ctr"/>
          <a:lstStyle/>
          <a:p>
            <a:pPr algn="l" indent="0" marL="0">
              <a:buNone/>
            </a:pPr>
            <a:r>
              <a:rPr lang="en-US" sz="2400" b="1" dirty="0">
                <a:solidFill>
                  <a:srgbClr val="EB6C15"/>
                </a:solidFill>
                <a:latin typeface="Meiryo" pitchFamily="34" charset="0"/>
                <a:ea typeface="Meiryo" pitchFamily="34" charset="-122"/>
                <a:cs typeface="Meiryo" pitchFamily="34" charset="-120"/>
              </a:rPr>
              <a:t>「学びを自分事として捉える子ども」である。</a:t>
            </a:r>
            <a:endParaRPr lang="en-US" sz="2400" dirty="0"/>
          </a:p>
        </p:txBody>
      </p:sp>
      <p:sp>
        <p:nvSpPr>
          <p:cNvPr id="6" name="Text 4"/>
          <p:cNvSpPr txBox="1"/>
          <p:nvPr/>
        </p:nvSpPr>
        <p:spPr>
          <a:xfrm>
            <a:off x="640080" y="2852928"/>
            <a:ext cx="8046720" cy="347472"/>
          </a:xfrm>
          <a:prstGeom prst="rect">
            <a:avLst/>
          </a:prstGeom>
          <a:noFill/>
          <a:ln/>
        </p:spPr>
        <p:txBody>
          <a:bodyPr wrap="square" lIns="0" tIns="0" rIns="0" bIns="0" rtlCol="0" anchor="ctr"/>
          <a:lstStyle/>
          <a:p>
            <a:pPr algn="l" indent="0" marL="0">
              <a:buNone/>
            </a:pPr>
            <a:r>
              <a:rPr lang="en-US" sz="1600" b="1" dirty="0">
                <a:solidFill>
                  <a:srgbClr val="1A1A1A"/>
                </a:solidFill>
                <a:latin typeface="Meiryo" pitchFamily="34" charset="0"/>
                <a:ea typeface="Meiryo" pitchFamily="34" charset="-122"/>
                <a:cs typeface="Meiryo" pitchFamily="34" charset="-120"/>
              </a:rPr>
              <a:t>そのためには</a:t>
            </a:r>
            <a:endParaRPr lang="en-US" sz="1600" dirty="0"/>
          </a:p>
        </p:txBody>
      </p:sp>
      <p:sp>
        <p:nvSpPr>
          <p:cNvPr id="7" name="Shape 5"/>
          <p:cNvSpPr/>
          <p:nvPr/>
        </p:nvSpPr>
        <p:spPr>
          <a:xfrm>
            <a:off x="640080" y="3255264"/>
            <a:ext cx="2423160" cy="603504"/>
          </a:xfrm>
          <a:prstGeom prst="roundRect">
            <a:avLst>
              <a:gd name="adj" fmla="val 12121"/>
            </a:avLst>
          </a:prstGeom>
          <a:solidFill>
            <a:srgbClr val="EAF6FD"/>
          </a:solidFill>
          <a:ln w="12700">
            <a:solidFill>
              <a:srgbClr val="C9E6F5"/>
            </a:solidFill>
            <a:prstDash val="solid"/>
          </a:ln>
        </p:spPr>
      </p:sp>
      <p:sp>
        <p:nvSpPr>
          <p:cNvPr id="8" name="Text 6"/>
          <p:cNvSpPr txBox="1"/>
          <p:nvPr/>
        </p:nvSpPr>
        <p:spPr>
          <a:xfrm>
            <a:off x="640080" y="3255264"/>
            <a:ext cx="2423160" cy="603504"/>
          </a:xfrm>
          <a:prstGeom prst="rect">
            <a:avLst/>
          </a:prstGeom>
          <a:noFill/>
          <a:ln/>
        </p:spPr>
        <p:txBody>
          <a:bodyPr wrap="square" lIns="0" tIns="0" rIns="0" bIns="0" rtlCol="0" anchor="ctr"/>
          <a:lstStyle/>
          <a:p>
            <a:pPr algn="ctr" indent="0" marL="0">
              <a:buNone/>
            </a:pPr>
            <a:r>
              <a:rPr lang="en-US" sz="1700" b="1" dirty="0">
                <a:solidFill>
                  <a:srgbClr val="EB6C15"/>
                </a:solidFill>
                <a:latin typeface="Meiryo" pitchFamily="34" charset="0"/>
                <a:ea typeface="Meiryo" pitchFamily="34" charset="-122"/>
                <a:cs typeface="Meiryo" pitchFamily="34" charset="-120"/>
              </a:rPr>
              <a:t>自己肯定感</a:t>
            </a:r>
            <a:endParaRPr lang="en-US" sz="1700" dirty="0"/>
          </a:p>
        </p:txBody>
      </p:sp>
      <p:sp>
        <p:nvSpPr>
          <p:cNvPr id="9" name="Shape 7"/>
          <p:cNvSpPr/>
          <p:nvPr/>
        </p:nvSpPr>
        <p:spPr>
          <a:xfrm>
            <a:off x="3337560" y="3255264"/>
            <a:ext cx="2423160" cy="603504"/>
          </a:xfrm>
          <a:prstGeom prst="roundRect">
            <a:avLst>
              <a:gd name="adj" fmla="val 12121"/>
            </a:avLst>
          </a:prstGeom>
          <a:solidFill>
            <a:srgbClr val="EAF6FD"/>
          </a:solidFill>
          <a:ln w="12700">
            <a:solidFill>
              <a:srgbClr val="C9E6F5"/>
            </a:solidFill>
            <a:prstDash val="solid"/>
          </a:ln>
        </p:spPr>
      </p:sp>
      <p:sp>
        <p:nvSpPr>
          <p:cNvPr id="10" name="Text 8"/>
          <p:cNvSpPr txBox="1"/>
          <p:nvPr/>
        </p:nvSpPr>
        <p:spPr>
          <a:xfrm>
            <a:off x="3337560" y="3255264"/>
            <a:ext cx="2423160" cy="603504"/>
          </a:xfrm>
          <a:prstGeom prst="rect">
            <a:avLst/>
          </a:prstGeom>
          <a:noFill/>
          <a:ln/>
        </p:spPr>
        <p:txBody>
          <a:bodyPr wrap="square" lIns="0" tIns="0" rIns="0" bIns="0" rtlCol="0" anchor="ctr"/>
          <a:lstStyle/>
          <a:p>
            <a:pPr algn="ctr" indent="0" marL="0">
              <a:buNone/>
            </a:pPr>
            <a:r>
              <a:rPr lang="en-US" sz="1700" b="1" dirty="0">
                <a:solidFill>
                  <a:srgbClr val="EB6C15"/>
                </a:solidFill>
                <a:latin typeface="Meiryo" pitchFamily="34" charset="0"/>
                <a:ea typeface="Meiryo" pitchFamily="34" charset="-122"/>
                <a:cs typeface="Meiryo" pitchFamily="34" charset="-120"/>
              </a:rPr>
              <a:t>対話・協働</a:t>
            </a:r>
            <a:endParaRPr lang="en-US" sz="1700" dirty="0"/>
          </a:p>
        </p:txBody>
      </p:sp>
      <p:sp>
        <p:nvSpPr>
          <p:cNvPr id="11" name="Shape 9"/>
          <p:cNvSpPr/>
          <p:nvPr/>
        </p:nvSpPr>
        <p:spPr>
          <a:xfrm>
            <a:off x="6035040" y="3255264"/>
            <a:ext cx="2423160" cy="603504"/>
          </a:xfrm>
          <a:prstGeom prst="roundRect">
            <a:avLst>
              <a:gd name="adj" fmla="val 12121"/>
            </a:avLst>
          </a:prstGeom>
          <a:solidFill>
            <a:srgbClr val="EAF6FD"/>
          </a:solidFill>
          <a:ln w="12700">
            <a:solidFill>
              <a:srgbClr val="C9E6F5"/>
            </a:solidFill>
            <a:prstDash val="solid"/>
          </a:ln>
        </p:spPr>
      </p:sp>
      <p:sp>
        <p:nvSpPr>
          <p:cNvPr id="12" name="Text 10"/>
          <p:cNvSpPr txBox="1"/>
          <p:nvPr/>
        </p:nvSpPr>
        <p:spPr>
          <a:xfrm>
            <a:off x="6035040" y="3255264"/>
            <a:ext cx="2423160" cy="603504"/>
          </a:xfrm>
          <a:prstGeom prst="rect">
            <a:avLst/>
          </a:prstGeom>
          <a:noFill/>
          <a:ln/>
        </p:spPr>
        <p:txBody>
          <a:bodyPr wrap="square" lIns="0" tIns="0" rIns="0" bIns="0" rtlCol="0" anchor="ctr"/>
          <a:lstStyle/>
          <a:p>
            <a:pPr algn="ctr" indent="0" marL="0">
              <a:buNone/>
            </a:pPr>
            <a:r>
              <a:rPr lang="en-US" sz="1700" b="1" dirty="0">
                <a:solidFill>
                  <a:srgbClr val="EB6C15"/>
                </a:solidFill>
                <a:latin typeface="Meiryo" pitchFamily="34" charset="0"/>
                <a:ea typeface="Meiryo" pitchFamily="34" charset="-122"/>
                <a:cs typeface="Meiryo" pitchFamily="34" charset="-120"/>
              </a:rPr>
              <a:t>学習の自己調整</a:t>
            </a:r>
            <a:endParaRPr lang="en-US" sz="1700" dirty="0"/>
          </a:p>
        </p:txBody>
      </p:sp>
      <p:sp>
        <p:nvSpPr>
          <p:cNvPr id="13" name="Text 11"/>
          <p:cNvSpPr txBox="1"/>
          <p:nvPr/>
        </p:nvSpPr>
        <p:spPr>
          <a:xfrm>
            <a:off x="640080" y="4041648"/>
            <a:ext cx="8046720" cy="548640"/>
          </a:xfrm>
          <a:prstGeom prst="rect">
            <a:avLst/>
          </a:prstGeom>
          <a:noFill/>
          <a:ln/>
        </p:spPr>
        <p:txBody>
          <a:bodyPr wrap="square" lIns="0" tIns="0" rIns="0" bIns="0" rtlCol="0" anchor="ctr"/>
          <a:lstStyle/>
          <a:p>
            <a:pPr algn="l" indent="0" marL="0">
              <a:buNone/>
            </a:pPr>
            <a:r>
              <a:rPr lang="en-US" sz="1900" b="1" dirty="0">
                <a:solidFill>
                  <a:srgbClr val="1A1A1A"/>
                </a:solidFill>
                <a:latin typeface="Meiryo" pitchFamily="34" charset="0"/>
                <a:ea typeface="Meiryo" pitchFamily="34" charset="-122"/>
                <a:cs typeface="Meiryo" pitchFamily="34" charset="-120"/>
              </a:rPr>
              <a:t>を　</a:t>
            </a:r>
            <a:pPr algn="l" indent="0" marL="0">
              <a:buNone/>
            </a:pPr>
            <a:r>
              <a:rPr lang="en-US" sz="1900" b="1" dirty="0">
                <a:solidFill>
                  <a:srgbClr val="EB6C15"/>
                </a:solidFill>
                <a:latin typeface="Meiryo" pitchFamily="34" charset="0"/>
                <a:ea typeface="Meiryo" pitchFamily="34" charset="-122"/>
                <a:cs typeface="Meiryo" pitchFamily="34" charset="-120"/>
              </a:rPr>
              <a:t>９年間で系統的に</a:t>
            </a:r>
            <a:pPr algn="l" indent="0" marL="0">
              <a:buNone/>
            </a:pPr>
            <a:r>
              <a:rPr lang="en-US" sz="1900" b="1" dirty="0">
                <a:solidFill>
                  <a:srgbClr val="1A1A1A"/>
                </a:solidFill>
                <a:latin typeface="Meiryo" pitchFamily="34" charset="0"/>
                <a:ea typeface="Meiryo" pitchFamily="34" charset="-122"/>
                <a:cs typeface="Meiryo" pitchFamily="34" charset="-120"/>
              </a:rPr>
              <a:t>　育てていくことが重要である。</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0" y="0"/>
            <a:ext cx="9144000" cy="576072"/>
          </a:xfrm>
          <a:prstGeom prst="rect">
            <a:avLst/>
          </a:prstGeom>
          <a:solidFill>
            <a:srgbClr val="00B0F0"/>
          </a:solidFill>
          <a:ln/>
        </p:spPr>
        <p:txBody>
          <a:bodyPr wrap="square" lIns="0" tIns="0" rIns="0" bIns="0" rtlCol="0" anchor="ctr"/>
          <a:lstStyle/>
          <a:p>
            <a:pPr algn="l" indent="0" marL="0">
              <a:buNone/>
            </a:pPr>
            <a:r>
              <a:rPr lang="en-US" sz="2800" b="1" dirty="0">
                <a:solidFill>
                  <a:srgbClr val="FFFFFF"/>
                </a:solidFill>
                <a:latin typeface="Meiryo" pitchFamily="34" charset="0"/>
                <a:ea typeface="Meiryo" pitchFamily="34" charset="-122"/>
                <a:cs typeface="Meiryo" pitchFamily="34" charset="-120"/>
              </a:rPr>
              <a:t>　まとめ</a:t>
            </a:r>
            <a:endParaRPr lang="en-US" sz="2800" dirty="0"/>
          </a:p>
        </p:txBody>
      </p:sp>
      <p:sp>
        <p:nvSpPr>
          <p:cNvPr id="3" name="Text 1"/>
          <p:cNvSpPr txBox="1"/>
          <p:nvPr/>
        </p:nvSpPr>
        <p:spPr>
          <a:xfrm>
            <a:off x="640080" y="841248"/>
            <a:ext cx="8046720" cy="731520"/>
          </a:xfrm>
          <a:prstGeom prst="rect">
            <a:avLst/>
          </a:prstGeom>
          <a:noFill/>
          <a:ln/>
        </p:spPr>
        <p:txBody>
          <a:bodyPr wrap="square" lIns="0" tIns="0" rIns="0" bIns="0" rtlCol="0" anchor="t"/>
          <a:lstStyle/>
          <a:p>
            <a:pPr algn="l" indent="0" marL="0">
              <a:lnSpc>
                <a:spcPct val="130000"/>
              </a:lnSpc>
              <a:buNone/>
            </a:pPr>
            <a:r>
              <a:rPr lang="en-US" sz="1900" b="1" dirty="0">
                <a:solidFill>
                  <a:srgbClr val="1A1A1A"/>
                </a:solidFill>
                <a:latin typeface="Meiryo" pitchFamily="34" charset="0"/>
                <a:ea typeface="Meiryo" pitchFamily="34" charset="-122"/>
                <a:cs typeface="Meiryo" pitchFamily="34" charset="-120"/>
              </a:rPr>
              <a:t>学力向上は、</a:t>
            </a:r>
            <a:pPr algn="l" indent="0" marL="0">
              <a:lnSpc>
                <a:spcPct val="130000"/>
              </a:lnSpc>
              <a:buNone/>
            </a:pPr>
            <a:r>
              <a:rPr lang="en-US" sz="1900" b="1" dirty="0">
                <a:solidFill>
                  <a:srgbClr val="EB6C15"/>
                </a:solidFill>
                <a:latin typeface="Meiryo" pitchFamily="34" charset="0"/>
                <a:ea typeface="Meiryo" pitchFamily="34" charset="-122"/>
                <a:cs typeface="Meiryo" pitchFamily="34" charset="-120"/>
              </a:rPr>
              <a:t>知識の積み上げだけ</a:t>
            </a:r>
            <a:pPr algn="l" indent="0" marL="0">
              <a:lnSpc>
                <a:spcPct val="130000"/>
              </a:lnSpc>
              <a:buNone/>
            </a:pPr>
            <a:r>
              <a:rPr lang="en-US" sz="1900" b="1" dirty="0">
                <a:solidFill>
                  <a:srgbClr val="1A1A1A"/>
                </a:solidFill>
                <a:latin typeface="Meiryo" pitchFamily="34" charset="0"/>
                <a:ea typeface="Meiryo" pitchFamily="34" charset="-122"/>
                <a:cs typeface="Meiryo" pitchFamily="34" charset="-120"/>
              </a:rPr>
              <a:t>で実現するものではない。</a:t>
            </a:r>
            <a:endParaRPr lang="en-US" sz="1900" dirty="0"/>
          </a:p>
        </p:txBody>
      </p:sp>
      <p:sp>
        <p:nvSpPr>
          <p:cNvPr id="4" name="Text 2"/>
          <p:cNvSpPr txBox="1"/>
          <p:nvPr/>
        </p:nvSpPr>
        <p:spPr>
          <a:xfrm>
            <a:off x="640080" y="1517904"/>
            <a:ext cx="8046720" cy="347472"/>
          </a:xfrm>
          <a:prstGeom prst="rect">
            <a:avLst/>
          </a:prstGeom>
          <a:noFill/>
          <a:ln/>
        </p:spPr>
        <p:txBody>
          <a:bodyPr wrap="square" lIns="0" tIns="0" rIns="0" bIns="0" rtlCol="0" anchor="ctr"/>
          <a:lstStyle/>
          <a:p>
            <a:pPr algn="l" indent="0" marL="0">
              <a:buNone/>
            </a:pPr>
            <a:r>
              <a:rPr lang="en-US" sz="1500" b="1" dirty="0">
                <a:solidFill>
                  <a:srgbClr val="595959"/>
                </a:solidFill>
                <a:latin typeface="Meiryo" pitchFamily="34" charset="0"/>
                <a:ea typeface="Meiryo" pitchFamily="34" charset="-122"/>
                <a:cs typeface="Meiryo" pitchFamily="34" charset="-120"/>
              </a:rPr>
              <a:t>みらい青空学園では</a:t>
            </a:r>
            <a:endParaRPr lang="en-US" sz="1500" dirty="0"/>
          </a:p>
        </p:txBody>
      </p:sp>
      <p:sp>
        <p:nvSpPr>
          <p:cNvPr id="5" name="Shape 3"/>
          <p:cNvSpPr/>
          <p:nvPr/>
        </p:nvSpPr>
        <p:spPr>
          <a:xfrm>
            <a:off x="640080" y="1901952"/>
            <a:ext cx="2423160" cy="640080"/>
          </a:xfrm>
          <a:prstGeom prst="roundRect">
            <a:avLst>
              <a:gd name="adj" fmla="val 11429"/>
            </a:avLst>
          </a:prstGeom>
          <a:solidFill>
            <a:srgbClr val="EB6C15"/>
          </a:solidFill>
          <a:ln/>
        </p:spPr>
      </p:sp>
      <p:sp>
        <p:nvSpPr>
          <p:cNvPr id="6" name="Text 4"/>
          <p:cNvSpPr txBox="1"/>
          <p:nvPr/>
        </p:nvSpPr>
        <p:spPr>
          <a:xfrm>
            <a:off x="640080" y="1901952"/>
            <a:ext cx="242316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自己肯定感</a:t>
            </a:r>
            <a:endParaRPr lang="en-US" sz="1700" dirty="0"/>
          </a:p>
        </p:txBody>
      </p:sp>
      <p:sp>
        <p:nvSpPr>
          <p:cNvPr id="7" name="Shape 5"/>
          <p:cNvSpPr/>
          <p:nvPr/>
        </p:nvSpPr>
        <p:spPr>
          <a:xfrm>
            <a:off x="3337560" y="1901952"/>
            <a:ext cx="2423160" cy="640080"/>
          </a:xfrm>
          <a:prstGeom prst="roundRect">
            <a:avLst>
              <a:gd name="adj" fmla="val 11429"/>
            </a:avLst>
          </a:prstGeom>
          <a:solidFill>
            <a:srgbClr val="EB6C15"/>
          </a:solidFill>
          <a:ln/>
        </p:spPr>
      </p:sp>
      <p:sp>
        <p:nvSpPr>
          <p:cNvPr id="8" name="Text 6"/>
          <p:cNvSpPr txBox="1"/>
          <p:nvPr/>
        </p:nvSpPr>
        <p:spPr>
          <a:xfrm>
            <a:off x="3337560" y="1901952"/>
            <a:ext cx="242316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対話・協働</a:t>
            </a:r>
            <a:endParaRPr lang="en-US" sz="1700" dirty="0"/>
          </a:p>
        </p:txBody>
      </p:sp>
      <p:sp>
        <p:nvSpPr>
          <p:cNvPr id="9" name="Shape 7"/>
          <p:cNvSpPr/>
          <p:nvPr/>
        </p:nvSpPr>
        <p:spPr>
          <a:xfrm>
            <a:off x="6035040" y="1901952"/>
            <a:ext cx="2423160" cy="640080"/>
          </a:xfrm>
          <a:prstGeom prst="roundRect">
            <a:avLst>
              <a:gd name="adj" fmla="val 11429"/>
            </a:avLst>
          </a:prstGeom>
          <a:solidFill>
            <a:srgbClr val="EB6C15"/>
          </a:solidFill>
          <a:ln/>
        </p:spPr>
      </p:sp>
      <p:sp>
        <p:nvSpPr>
          <p:cNvPr id="10" name="Text 8"/>
          <p:cNvSpPr txBox="1"/>
          <p:nvPr/>
        </p:nvSpPr>
        <p:spPr>
          <a:xfrm>
            <a:off x="6035040" y="1901952"/>
            <a:ext cx="242316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学習の自己調整</a:t>
            </a:r>
            <a:endParaRPr lang="en-US" sz="1700" dirty="0"/>
          </a:p>
        </p:txBody>
      </p:sp>
      <p:sp>
        <p:nvSpPr>
          <p:cNvPr id="11" name="Text 9"/>
          <p:cNvSpPr txBox="1"/>
          <p:nvPr/>
        </p:nvSpPr>
        <p:spPr>
          <a:xfrm>
            <a:off x="640080" y="2651760"/>
            <a:ext cx="8046720" cy="365760"/>
          </a:xfrm>
          <a:prstGeom prst="rect">
            <a:avLst/>
          </a:prstGeom>
          <a:noFill/>
          <a:ln/>
        </p:spPr>
        <p:txBody>
          <a:bodyPr wrap="square" lIns="0" tIns="0" rIns="0" bIns="0" rtlCol="0" anchor="ctr"/>
          <a:lstStyle/>
          <a:p>
            <a:pPr algn="l" indent="0" marL="0">
              <a:buNone/>
            </a:pPr>
            <a:r>
              <a:rPr lang="en-US" sz="1700" b="1" dirty="0">
                <a:solidFill>
                  <a:srgbClr val="1A1A1A"/>
                </a:solidFill>
                <a:latin typeface="Meiryo" pitchFamily="34" charset="0"/>
                <a:ea typeface="Meiryo" pitchFamily="34" charset="-122"/>
                <a:cs typeface="Meiryo" pitchFamily="34" charset="-120"/>
              </a:rPr>
              <a:t>が着実に育成されている。</a:t>
            </a:r>
            <a:endParaRPr lang="en-US" sz="1700" dirty="0"/>
          </a:p>
        </p:txBody>
      </p:sp>
      <p:sp>
        <p:nvSpPr>
          <p:cNvPr id="12" name="Shape 10"/>
          <p:cNvSpPr/>
          <p:nvPr/>
        </p:nvSpPr>
        <p:spPr>
          <a:xfrm>
            <a:off x="640080" y="3127248"/>
            <a:ext cx="7863840" cy="932688"/>
          </a:xfrm>
          <a:prstGeom prst="roundRect">
            <a:avLst>
              <a:gd name="adj" fmla="val 7843"/>
            </a:avLst>
          </a:prstGeom>
          <a:solidFill>
            <a:srgbClr val="EAF6FD"/>
          </a:solidFill>
          <a:ln w="12700">
            <a:solidFill>
              <a:srgbClr val="C9E6F5"/>
            </a:solidFill>
            <a:prstDash val="solid"/>
          </a:ln>
        </p:spPr>
      </p:sp>
      <p:sp>
        <p:nvSpPr>
          <p:cNvPr id="13" name="Text 11"/>
          <p:cNvSpPr txBox="1"/>
          <p:nvPr/>
        </p:nvSpPr>
        <p:spPr>
          <a:xfrm>
            <a:off x="822960" y="3127248"/>
            <a:ext cx="7498080" cy="932688"/>
          </a:xfrm>
          <a:prstGeom prst="rect">
            <a:avLst/>
          </a:prstGeom>
          <a:noFill/>
          <a:ln/>
        </p:spPr>
        <p:txBody>
          <a:bodyPr wrap="square" lIns="0" tIns="0" rIns="0" bIns="0" rtlCol="0" anchor="ctr"/>
          <a:lstStyle/>
          <a:p>
            <a:pPr algn="l" indent="0" marL="0">
              <a:lnSpc>
                <a:spcPct val="125000"/>
              </a:lnSpc>
              <a:buNone/>
            </a:pPr>
            <a:r>
              <a:rPr lang="en-US" sz="1800" b="1" dirty="0">
                <a:solidFill>
                  <a:srgbClr val="1A1A1A"/>
                </a:solidFill>
                <a:latin typeface="Meiryo" pitchFamily="34" charset="0"/>
                <a:ea typeface="Meiryo" pitchFamily="34" charset="-122"/>
                <a:cs typeface="Meiryo" pitchFamily="34" charset="-120"/>
              </a:rPr>
              <a:t>これこそが、</a:t>
            </a:r>
            <a:endParaRPr lang="en-US" sz="1800" dirty="0"/>
          </a:p>
          <a:p>
            <a:pPr algn="l" indent="0" marL="0">
              <a:lnSpc>
                <a:spcPct val="125000"/>
              </a:lnSpc>
              <a:buNone/>
            </a:pPr>
            <a:r>
              <a:rPr lang="en-US" sz="1800" b="1" dirty="0">
                <a:solidFill>
                  <a:srgbClr val="EB6C15"/>
                </a:solidFill>
                <a:latin typeface="Meiryo" pitchFamily="34" charset="0"/>
                <a:ea typeface="Meiryo" pitchFamily="34" charset="-122"/>
                <a:cs typeface="Meiryo" pitchFamily="34" charset="-120"/>
              </a:rPr>
              <a:t>施設一体型小中一貫教育校としての最大の強み</a:t>
            </a:r>
            <a:pPr algn="l" indent="0" marL="0">
              <a:lnSpc>
                <a:spcPct val="125000"/>
              </a:lnSpc>
              <a:buNone/>
            </a:pPr>
            <a:r>
              <a:rPr lang="en-US" sz="1800" b="1" dirty="0">
                <a:solidFill>
                  <a:srgbClr val="1A1A1A"/>
                </a:solidFill>
                <a:latin typeface="Meiryo" pitchFamily="34" charset="0"/>
                <a:ea typeface="Meiryo" pitchFamily="34" charset="-122"/>
                <a:cs typeface="Meiryo" pitchFamily="34" charset="-120"/>
              </a:rPr>
              <a:t>である。</a:t>
            </a:r>
            <a:endParaRPr lang="en-US" sz="1800" dirty="0"/>
          </a:p>
        </p:txBody>
      </p:sp>
      <p:sp>
        <p:nvSpPr>
          <p:cNvPr id="14" name="Text 12"/>
          <p:cNvSpPr txBox="1"/>
          <p:nvPr/>
        </p:nvSpPr>
        <p:spPr>
          <a:xfrm>
            <a:off x="640080" y="4206240"/>
            <a:ext cx="8046720" cy="457200"/>
          </a:xfrm>
          <a:prstGeom prst="rect">
            <a:avLst/>
          </a:prstGeom>
          <a:noFill/>
          <a:ln/>
        </p:spPr>
        <p:txBody>
          <a:bodyPr wrap="square" lIns="0" tIns="0" rIns="0" bIns="0" rtlCol="0" anchor="ctr"/>
          <a:lstStyle/>
          <a:p>
            <a:pPr algn="l" indent="0" marL="0">
              <a:buNone/>
            </a:pPr>
            <a:r>
              <a:rPr lang="en-US" sz="1900" b="1" dirty="0">
                <a:solidFill>
                  <a:srgbClr val="1A1A1A"/>
                </a:solidFill>
                <a:latin typeface="Meiryo" pitchFamily="34" charset="0"/>
                <a:ea typeface="Meiryo" pitchFamily="34" charset="-122"/>
                <a:cs typeface="Meiryo" pitchFamily="34" charset="-120"/>
              </a:rPr>
              <a:t>今後も、９年間を見通した学びの充実に期待している。</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令和８年度 教育指導課訪問 ５校時 指導・講評資料（みらい青空学園）</dc:title>
  <dc:subject>PptxGenJS Presentation</dc:subject>
  <dc:creator>練馬区教育委員会</dc:creator>
  <cp:lastModifiedBy>練馬区教育委員会</cp:lastModifiedBy>
  <cp:revision>1</cp:revision>
  <dcterms:created xsi:type="dcterms:W3CDTF">2026-09-07T11:07:35Z</dcterms:created>
  <dcterms:modified xsi:type="dcterms:W3CDTF">2026-09-07T11:07:35Z</dcterms:modified>
</cp:coreProperties>
</file>