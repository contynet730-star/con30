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本日は、３名の先生方の授業を参観させていただきました。ありがとうございました。
１０分間、２点に絞ってお話しします。１点目は練馬区の小中一貫教育について、２点目は本時の授業について、主体的・対話的で深い学びの視点からの授業改善です。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講評の柱は２点です。あらかじめ流れをお示しします。はじめに、少しだけクイズにお付き合いください。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はじめにクイズを２問。令和８年度の全国学力・学習状況調査、質問紙調査の結果からです。
全国では、小学校から中学校にかけて下がる項目が多くあります。たとえば「英語の勉強は好きですか」。全国では小学校66.7％から中学校51.2％へ、15.5ポイント下がります。
では、本校ではどうだったでしょうか。
Q1「英語の勉強は好きですか」。本校の小学部６年は51.8％。中学部９年は。①約42、②約52、③約62パーセント。
Q2「自分には、よいところがあると思いますか」。本校の小学部６年は85.2％。中学部９年は。①約85、②約88、③約92パーセント。
（数秒、挙手や指名で予想を出してもらう）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答えは、いずれも③です。
「英語の勉強は好きですか」は、51.8％から61.7％へ、9.9ポイント上がっています。全国は15.5ポイント下がる項目です。小学部では全国を下回っていたものが、中学部では全国を10ポイント以上、上回りました。
「自分には、よいところがある」は、85.2％から91.5％へ、6.3ポイント上がっています。全国は1.6ポイント下がります。
全国も東京都も下がる項目で、本校は上がっている。これが本日の出発点です。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上がっているのは、この２項目だけではありません。
「友達や周りの人の考えを大切にして、協力しながら課題の解決に取り組んでいますか」は、85.1％から100％へ。中学部は全員が肯定的に答えています。
「話し合う活動を通じて、自分の考えを深めたり、新たな考え方に気付いたりすることができていますか」は、92.5％から97.9％へ。
「自分と違う意見について考えるのは楽しい」は、81.4％から87.2％へ。
９年間を見通した教育の成果が、数値に表れています。ここから本題に入ります。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練馬区教育委員会は「夢や希望を持ち困難を乗り越える力を備えた子どもたちの育成」を目標に掲げ、その施策の一つとして、区内全ての小中学校で９年間を見通した教育を進めています。
ねらいは、授業改善による学力・体力の向上、連携指導による豊かな人間性・社会性の育成、そして滑らかな接続による安定した学校生活の実現です。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施設一体型では、教員間の連携強化、異学年交流の活性化、指導の統一化により、さらに教育効果が高まることが期待されています。
本校は区内２校目の施設一体型として今年４月に開校しました。小竹小学校との校区別協議会も含め、「目指す１５歳の姿」を９年間で共有していただきたいと考えています。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まず授業そのものではなく、学力調査結果から見える子どもの姿について考えたいと思います。
本校では、学習規律、学習習慣、学びへの主体性が着実に育っていることが、調査結果から読み取れます。
※ここに本校の学力調査・意識調査のグラフを貼り付けてください。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こちらは、本校の数値と練馬区平均の比較です。
自己肯定感、対話・協働、学習の自己調整。本日お話しする３つの視点に対応する質問項目を並べました。
本校の数値は、練馬区平均を上回っています。これは調査の一時点の結果ですが、その背景には、本日の授業で拝見した先生方の手だての積み重ねがあると受け止めています。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調査結果はあくまで「結果」です。大切なのは、その結果を生み出している要因です。
本日の３つの授業から、自己肯定感、対話・協働、学習の自己調整という３つが見えてきました。順にお話しします。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ここからは、本日の授業を見ていきます。まず、３つの教室の様子です。
プールでは泳力別に分かれて、道徳では車座に近い形で、外国語ではペアで。
３つの教室に共通していたのは、子どもが動き、考え、伝える時間の多さでした。
（※当日の写真を貼り付けて使用する）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１点目は自己肯定感です。これからの学力向上の基盤になるものだと考えています。
ここでいう自己肯定感は「できる子になる」ことではありません。「成長できる自分を信じること」です。この違いが授業のつくり方を変えます。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田口先生は、泳力差の大きい集団に対して段階的な課題、泳力別のコース、バディでの確認活動を用意されていました。キックの確認の視点を３点示されたことで、子どもが自分の泳ぎを見る目をもてていました。
東海林先生は、安心して自分の考えを表現できる環境をつくられていました。前時の考えを大切にしつつ、意見が変わってもよいと保障されていた点が印象的でした。
塚本先生は、発表の前にペアで共有する時間を確保され、全員に発話の機会を用意されていました。
いずれも、子どもが「認められる」よりも「自分で成長を実感する」経験を積み重ねる授業でした。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２点目は対話・協働です。調査結果に表れた主体的な学びの土台は、一朝一夕にできるものではありません。
その背景には、日常的に積み重ねられている対話を通した学びがあると受け止めました。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保健体育では、バディで互いの泳ぎを見合い、改善点を考えていました。道徳では「嘘」をテーマに価値観の違いを議論していました。外国語では、ペアでのやり取りを全体の学びにつないでいました。
教科は異なりますが、共通していたのは「相手を通して自分を見つめる学び」です。これが対話・協働の本質だと考えます。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３点目は学習の自己調整です。これから求められる子どもは、教えられたことを学ぶ子どもではなく、自分で学び続ける子どもです。
そのために必要なのが、学習を自分で調整する力です。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本日の授業では、本時の目標、振り返り、自己評価、次時への見通しが大切にされていました。
田口先生は着替えの前に目標と流れを確認され、学習カードで要点を振り返らせていました。塚本先生は Today’s Goal と Today’s Plan を示し、振り返りをワークシートに記入させていました。東海林先生は前時のワークシートで自分の考えを確かめてから議論に入っていました。
教師が管理する学習から、子どもが管理する学習へ、着実に転換が進んでいます。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学力調査結果と今日の授業をつなげて考えると、今後さらに伸ばしたいのは「学びを自分事として捉える子ども」です。
そのためには、自己肯定感、対話・協働、学習の自己調整を、９年間で系統的に育てていくことが重要になります。学年や教科で終わらせず、９年間の系統として整理していただきたいと考えます。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まとめです。学力向上は、知識の積み上げだけで実現するものではありません。
みらい青空学園では、自己肯定感、対話・協働、学習の自己調整が着実に育成されています。これこそが、施設一体型小中一貫教育校としての最大の強みであり、学力調査結果を支える土台です。
今後も、９年間を見通した学びの充実に期待しています。本日はありがとうございました。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0" y="0"/>
            <a:ext cx="9144000" cy="2862072"/>
          </a:xfrm>
          <a:prstGeom prst="rect">
            <a:avLst/>
          </a:prstGeom>
          <a:solidFill>
            <a:srgbClr val="44C1A3"/>
          </a:solidFill>
          <a:ln/>
        </p:spPr>
        <p:txBody>
          <a:bodyPr wrap="square" lIns="0" tIns="0" rIns="0" bIns="0" rtlCol="0" anchor="ctr"/>
          <a:lstStyle/>
          <a:p>
            <a:pPr algn="l" indent="0" marL="0">
              <a:lnSpc>
                <a:spcPct val="120000"/>
              </a:lnSpc>
              <a:buNone/>
            </a:pPr>
            <a:r>
              <a:rPr lang="en-US" sz="4000" b="1" dirty="0">
                <a:solidFill>
                  <a:srgbClr val="FFFFFF"/>
                </a:solidFill>
                <a:latin typeface="游ゴシック" pitchFamily="34" charset="0"/>
                <a:ea typeface="游ゴシック" pitchFamily="34" charset="-122"/>
                <a:cs typeface="游ゴシック" pitchFamily="34" charset="-120"/>
              </a:rPr>
              <a:t>　練馬区立みらい青空学園</a:t>
            </a:r>
            <a:endParaRPr lang="en-US" sz="4000" dirty="0"/>
          </a:p>
          <a:p>
            <a:pPr algn="l" indent="0" marL="0">
              <a:lnSpc>
                <a:spcPct val="120000"/>
              </a:lnSpc>
              <a:buNone/>
            </a:pPr>
            <a:r>
              <a:rPr lang="en-US" sz="4000" b="1" dirty="0">
                <a:solidFill>
                  <a:srgbClr val="FFFFFF"/>
                </a:solidFill>
                <a:latin typeface="游ゴシック" pitchFamily="34" charset="0"/>
                <a:ea typeface="游ゴシック" pitchFamily="34" charset="-122"/>
                <a:cs typeface="游ゴシック" pitchFamily="34" charset="-120"/>
              </a:rPr>
              <a:t>　教育指導課訪問（５校時）</a:t>
            </a:r>
            <a:endParaRPr lang="en-US" sz="4000" dirty="0"/>
          </a:p>
        </p:txBody>
      </p:sp>
      <p:sp>
        <p:nvSpPr>
          <p:cNvPr id="3" name="Text 1"/>
          <p:cNvSpPr txBox="1"/>
          <p:nvPr/>
        </p:nvSpPr>
        <p:spPr>
          <a:xfrm>
            <a:off x="475488" y="3154680"/>
            <a:ext cx="4754880" cy="1188720"/>
          </a:xfrm>
          <a:prstGeom prst="rect">
            <a:avLst/>
          </a:prstGeom>
          <a:noFill/>
          <a:ln/>
        </p:spPr>
        <p:txBody>
          <a:bodyPr wrap="square" lIns="0" tIns="0" rIns="0" bIns="0" rtlCol="0" anchor="t"/>
          <a:lstStyle/>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授業者　塚本　瑞穂　先生（外国語・７年Ｂ組）</a:t>
            </a:r>
            <a:endParaRPr lang="en-US" sz="1350" dirty="0"/>
          </a:p>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　　　　田口　和磨　先生（保健体育・９年ＡＢ組）</a:t>
            </a:r>
            <a:endParaRPr lang="en-US" sz="1350" dirty="0"/>
          </a:p>
          <a:p>
            <a:pPr algn="l" indent="0" marL="0">
              <a:lnSpc>
                <a:spcPct val="135000"/>
              </a:lnSpc>
              <a:buNone/>
            </a:pPr>
            <a:r>
              <a:rPr lang="en-US" sz="1350" b="1" dirty="0">
                <a:solidFill>
                  <a:srgbClr val="595959"/>
                </a:solidFill>
                <a:latin typeface="メイリオ" pitchFamily="34" charset="0"/>
                <a:ea typeface="メイリオ" pitchFamily="34" charset="-122"/>
                <a:cs typeface="メイリオ" pitchFamily="34" charset="-120"/>
              </a:rPr>
              <a:t>　　　　東海林　静江　先生（道徳・特別支援学級Ｄ組）</a:t>
            </a:r>
            <a:endParaRPr lang="en-US" sz="1350" dirty="0"/>
          </a:p>
        </p:txBody>
      </p:sp>
      <p:sp>
        <p:nvSpPr>
          <p:cNvPr id="4" name="Text 2"/>
          <p:cNvSpPr txBox="1"/>
          <p:nvPr/>
        </p:nvSpPr>
        <p:spPr>
          <a:xfrm>
            <a:off x="5349240" y="3154680"/>
            <a:ext cx="3319272" cy="1280160"/>
          </a:xfrm>
          <a:prstGeom prst="rect">
            <a:avLst/>
          </a:prstGeom>
          <a:noFill/>
          <a:ln/>
        </p:spPr>
        <p:txBody>
          <a:bodyPr wrap="square" lIns="0" tIns="0" rIns="0" bIns="0" rtlCol="0" anchor="t"/>
          <a:lstStyle/>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令和８年９月９日（水）</a:t>
            </a:r>
            <a:endParaRPr lang="en-US" sz="1800" dirty="0"/>
          </a:p>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練馬区教育委員会</a:t>
            </a:r>
            <a:endParaRPr lang="en-US" sz="1800" dirty="0"/>
          </a:p>
          <a:p>
            <a:pPr algn="r" indent="0" marL="0">
              <a:lnSpc>
                <a:spcPct val="135000"/>
              </a:lnSpc>
              <a:buNone/>
            </a:pPr>
            <a:r>
              <a:rPr lang="en-US" sz="1800" b="1" dirty="0">
                <a:solidFill>
                  <a:srgbClr val="595959"/>
                </a:solidFill>
                <a:latin typeface="ＭＳ Ｐゴシック" pitchFamily="34" charset="0"/>
                <a:ea typeface="ＭＳ Ｐゴシック" pitchFamily="34" charset="-122"/>
                <a:cs typeface="ＭＳ Ｐゴシック" pitchFamily="34" charset="-120"/>
              </a:rPr>
              <a:t>指導主事　紺多　章一郎</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本日の講評</a:t>
            </a:r>
            <a:endParaRPr lang="en-US" sz="3000" dirty="0"/>
          </a:p>
        </p:txBody>
      </p:sp>
      <p:sp>
        <p:nvSpPr>
          <p:cNvPr id="3" name="Shape 1"/>
          <p:cNvSpPr/>
          <p:nvPr/>
        </p:nvSpPr>
        <p:spPr>
          <a:xfrm>
            <a:off x="658368" y="1060704"/>
            <a:ext cx="493776" cy="493776"/>
          </a:xfrm>
          <a:prstGeom prst="ellipse">
            <a:avLst/>
          </a:prstGeom>
          <a:solidFill>
            <a:srgbClr val="44C1A3"/>
          </a:solidFill>
          <a:ln/>
        </p:spPr>
      </p:sp>
      <p:sp>
        <p:nvSpPr>
          <p:cNvPr id="4" name="Text 2"/>
          <p:cNvSpPr txBox="1"/>
          <p:nvPr/>
        </p:nvSpPr>
        <p:spPr>
          <a:xfrm>
            <a:off x="658368" y="1060704"/>
            <a:ext cx="493776" cy="493776"/>
          </a:xfrm>
          <a:prstGeom prst="rect">
            <a:avLst/>
          </a:prstGeom>
          <a:noFill/>
          <a:ln/>
        </p:spPr>
        <p:txBody>
          <a:bodyPr wrap="square" lIns="0" tIns="0" rIns="0" bIns="0" rtlCol="0" anchor="ctr"/>
          <a:lstStyle/>
          <a:p>
            <a:pPr algn="ctr" indent="0" marL="0">
              <a:buNone/>
            </a:pPr>
            <a:r>
              <a:rPr lang="en-US" sz="2500" b="1" dirty="0">
                <a:solidFill>
                  <a:srgbClr val="FFFFFF"/>
                </a:solidFill>
                <a:latin typeface="メイリオ" pitchFamily="34" charset="0"/>
                <a:ea typeface="メイリオ" pitchFamily="34" charset="-122"/>
                <a:cs typeface="メイリオ" pitchFamily="34" charset="-120"/>
              </a:rPr>
              <a:t>０</a:t>
            </a:r>
            <a:endParaRPr lang="en-US" sz="2500" dirty="0"/>
          </a:p>
        </p:txBody>
      </p:sp>
      <p:sp>
        <p:nvSpPr>
          <p:cNvPr id="5" name="Text 3"/>
          <p:cNvSpPr txBox="1"/>
          <p:nvPr/>
        </p:nvSpPr>
        <p:spPr>
          <a:xfrm>
            <a:off x="1316736" y="1060704"/>
            <a:ext cx="7315200" cy="493776"/>
          </a:xfrm>
          <a:prstGeom prst="rect">
            <a:avLst/>
          </a:prstGeom>
          <a:noFill/>
          <a:ln/>
        </p:spPr>
        <p:txBody>
          <a:bodyPr wrap="square" lIns="0" tIns="0" rIns="0" bIns="0" rtlCol="0" anchor="ctr"/>
          <a:lstStyle/>
          <a:p>
            <a:pPr algn="l" indent="0" marL="0">
              <a:buNone/>
            </a:pPr>
            <a:r>
              <a:rPr lang="en-US" sz="2400" b="1" dirty="0">
                <a:solidFill>
                  <a:srgbClr val="595959"/>
                </a:solidFill>
                <a:latin typeface="メイリオ" pitchFamily="34" charset="0"/>
                <a:ea typeface="メイリオ" pitchFamily="34" charset="-122"/>
                <a:cs typeface="メイリオ" pitchFamily="34" charset="-120"/>
              </a:rPr>
              <a:t>アイスブレイク（クイズ）</a:t>
            </a:r>
            <a:endParaRPr lang="en-US" sz="2400" dirty="0"/>
          </a:p>
        </p:txBody>
      </p:sp>
      <p:sp>
        <p:nvSpPr>
          <p:cNvPr id="6" name="Shape 4"/>
          <p:cNvSpPr/>
          <p:nvPr/>
        </p:nvSpPr>
        <p:spPr>
          <a:xfrm>
            <a:off x="658368" y="1865376"/>
            <a:ext cx="493776" cy="493776"/>
          </a:xfrm>
          <a:prstGeom prst="ellipse">
            <a:avLst/>
          </a:prstGeom>
          <a:solidFill>
            <a:srgbClr val="44C1A3"/>
          </a:solidFill>
          <a:ln/>
        </p:spPr>
      </p:sp>
      <p:sp>
        <p:nvSpPr>
          <p:cNvPr id="7" name="Text 5"/>
          <p:cNvSpPr txBox="1"/>
          <p:nvPr/>
        </p:nvSpPr>
        <p:spPr>
          <a:xfrm>
            <a:off x="658368" y="1865376"/>
            <a:ext cx="493776" cy="493776"/>
          </a:xfrm>
          <a:prstGeom prst="rect">
            <a:avLst/>
          </a:prstGeom>
          <a:noFill/>
          <a:ln/>
        </p:spPr>
        <p:txBody>
          <a:bodyPr wrap="square" lIns="0" tIns="0" rIns="0" bIns="0" rtlCol="0" anchor="ctr"/>
          <a:lstStyle/>
          <a:p>
            <a:pPr algn="ctr" indent="0" marL="0">
              <a:buNone/>
            </a:pPr>
            <a:r>
              <a:rPr lang="en-US" sz="2500" b="1" dirty="0">
                <a:solidFill>
                  <a:srgbClr val="FFFFFF"/>
                </a:solidFill>
                <a:latin typeface="メイリオ" pitchFamily="34" charset="0"/>
                <a:ea typeface="メイリオ" pitchFamily="34" charset="-122"/>
                <a:cs typeface="メイリオ" pitchFamily="34" charset="-120"/>
              </a:rPr>
              <a:t>①</a:t>
            </a:r>
            <a:endParaRPr lang="en-US" sz="2500" dirty="0"/>
          </a:p>
        </p:txBody>
      </p:sp>
      <p:sp>
        <p:nvSpPr>
          <p:cNvPr id="8" name="Text 6"/>
          <p:cNvSpPr txBox="1"/>
          <p:nvPr/>
        </p:nvSpPr>
        <p:spPr>
          <a:xfrm>
            <a:off x="1316736" y="1865376"/>
            <a:ext cx="7315200" cy="493776"/>
          </a:xfrm>
          <a:prstGeom prst="rect">
            <a:avLst/>
          </a:prstGeom>
          <a:noFill/>
          <a:ln/>
        </p:spPr>
        <p:txBody>
          <a:bodyPr wrap="square" lIns="0" tIns="0" rIns="0" bIns="0" rtlCol="0" anchor="ctr"/>
          <a:lstStyle/>
          <a:p>
            <a:pPr algn="l" indent="0" marL="0">
              <a:buNone/>
            </a:pPr>
            <a:r>
              <a:rPr lang="en-US" sz="2400" b="1" dirty="0">
                <a:solidFill>
                  <a:srgbClr val="595959"/>
                </a:solidFill>
                <a:latin typeface="メイリオ" pitchFamily="34" charset="0"/>
                <a:ea typeface="メイリオ" pitchFamily="34" charset="-122"/>
                <a:cs typeface="メイリオ" pitchFamily="34" charset="-120"/>
              </a:rPr>
              <a:t>練馬区の小中一貫教育について</a:t>
            </a:r>
            <a:endParaRPr lang="en-US" sz="2400" dirty="0"/>
          </a:p>
        </p:txBody>
      </p:sp>
      <p:sp>
        <p:nvSpPr>
          <p:cNvPr id="9" name="Shape 7"/>
          <p:cNvSpPr/>
          <p:nvPr/>
        </p:nvSpPr>
        <p:spPr>
          <a:xfrm>
            <a:off x="658368" y="2670048"/>
            <a:ext cx="493776" cy="493776"/>
          </a:xfrm>
          <a:prstGeom prst="ellipse">
            <a:avLst/>
          </a:prstGeom>
          <a:solidFill>
            <a:srgbClr val="44C1A3"/>
          </a:solidFill>
          <a:ln/>
        </p:spPr>
      </p:sp>
      <p:sp>
        <p:nvSpPr>
          <p:cNvPr id="10" name="Text 8"/>
          <p:cNvSpPr txBox="1"/>
          <p:nvPr/>
        </p:nvSpPr>
        <p:spPr>
          <a:xfrm>
            <a:off x="658368" y="2670048"/>
            <a:ext cx="493776" cy="493776"/>
          </a:xfrm>
          <a:prstGeom prst="rect">
            <a:avLst/>
          </a:prstGeom>
          <a:noFill/>
          <a:ln/>
        </p:spPr>
        <p:txBody>
          <a:bodyPr wrap="square" lIns="0" tIns="0" rIns="0" bIns="0" rtlCol="0" anchor="ctr"/>
          <a:lstStyle/>
          <a:p>
            <a:pPr algn="ctr" indent="0" marL="0">
              <a:buNone/>
            </a:pPr>
            <a:r>
              <a:rPr lang="en-US" sz="2500" b="1" dirty="0">
                <a:solidFill>
                  <a:srgbClr val="FFFFFF"/>
                </a:solidFill>
                <a:latin typeface="メイリオ" pitchFamily="34" charset="0"/>
                <a:ea typeface="メイリオ" pitchFamily="34" charset="-122"/>
                <a:cs typeface="メイリオ" pitchFamily="34" charset="-120"/>
              </a:rPr>
              <a:t>②</a:t>
            </a:r>
            <a:endParaRPr lang="en-US" sz="2500" dirty="0"/>
          </a:p>
        </p:txBody>
      </p:sp>
      <p:sp>
        <p:nvSpPr>
          <p:cNvPr id="11" name="Text 9"/>
          <p:cNvSpPr txBox="1"/>
          <p:nvPr/>
        </p:nvSpPr>
        <p:spPr>
          <a:xfrm>
            <a:off x="1316736" y="2670048"/>
            <a:ext cx="7315200" cy="493776"/>
          </a:xfrm>
          <a:prstGeom prst="rect">
            <a:avLst/>
          </a:prstGeom>
          <a:noFill/>
          <a:ln/>
        </p:spPr>
        <p:txBody>
          <a:bodyPr wrap="square" lIns="0" tIns="0" rIns="0" bIns="0" rtlCol="0" anchor="ctr"/>
          <a:lstStyle/>
          <a:p>
            <a:pPr algn="l" indent="0" marL="0">
              <a:buNone/>
            </a:pPr>
            <a:r>
              <a:rPr lang="en-US" sz="2400" b="1" dirty="0">
                <a:solidFill>
                  <a:srgbClr val="595959"/>
                </a:solidFill>
                <a:latin typeface="メイリオ" pitchFamily="34" charset="0"/>
                <a:ea typeface="メイリオ" pitchFamily="34" charset="-122"/>
                <a:cs typeface="メイリオ" pitchFamily="34" charset="-120"/>
              </a:rPr>
              <a:t>本時の授業について</a:t>
            </a:r>
            <a:endParaRPr lang="en-US" sz="2400" dirty="0"/>
          </a:p>
        </p:txBody>
      </p:sp>
      <p:sp>
        <p:nvSpPr>
          <p:cNvPr id="12" name="Text 10"/>
          <p:cNvSpPr txBox="1"/>
          <p:nvPr/>
        </p:nvSpPr>
        <p:spPr>
          <a:xfrm>
            <a:off x="1316736" y="3218688"/>
            <a:ext cx="7315200" cy="384048"/>
          </a:xfrm>
          <a:prstGeom prst="rect">
            <a:avLst/>
          </a:prstGeom>
          <a:noFill/>
          <a:ln/>
        </p:spPr>
        <p:txBody>
          <a:bodyPr wrap="square" lIns="0" tIns="0" rIns="0" bIns="0" rtlCol="0" anchor="ctr"/>
          <a:lstStyle/>
          <a:p>
            <a:pPr algn="l" indent="0" marL="0">
              <a:buNone/>
            </a:pPr>
            <a:r>
              <a:rPr lang="en-US" sz="1800" b="1" dirty="0">
                <a:solidFill>
                  <a:srgbClr val="EE7B08"/>
                </a:solidFill>
                <a:latin typeface="メイリオ" pitchFamily="34" charset="0"/>
                <a:ea typeface="メイリオ" pitchFamily="34" charset="-122"/>
                <a:cs typeface="メイリオ" pitchFamily="34" charset="-120"/>
              </a:rPr>
              <a:t>主体的・対話的で深い学びの視点からの授業改善</a:t>
            </a:r>
            <a:endParaRPr lang="en-US" sz="1800" dirty="0"/>
          </a:p>
        </p:txBody>
      </p:sp>
      <p:sp>
        <p:nvSpPr>
          <p:cNvPr id="13" name="Shape 11"/>
          <p:cNvSpPr/>
          <p:nvPr/>
        </p:nvSpPr>
        <p:spPr>
          <a:xfrm>
            <a:off x="475488" y="3858768"/>
            <a:ext cx="8193024" cy="822960"/>
          </a:xfrm>
          <a:prstGeom prst="roundRect">
            <a:avLst>
              <a:gd name="adj" fmla="val 6667"/>
            </a:avLst>
          </a:prstGeom>
          <a:solidFill>
            <a:srgbClr val="E9F7F3"/>
          </a:solidFill>
          <a:ln w="12700">
            <a:solidFill>
              <a:srgbClr val="B9E5DA"/>
            </a:solidFill>
            <a:prstDash val="solid"/>
          </a:ln>
        </p:spPr>
      </p:sp>
      <p:sp>
        <p:nvSpPr>
          <p:cNvPr id="14" name="Text 12"/>
          <p:cNvSpPr txBox="1"/>
          <p:nvPr/>
        </p:nvSpPr>
        <p:spPr>
          <a:xfrm>
            <a:off x="731520" y="3858768"/>
            <a:ext cx="7680960" cy="822960"/>
          </a:xfrm>
          <a:prstGeom prst="rect">
            <a:avLst/>
          </a:prstGeom>
          <a:noFill/>
          <a:ln/>
        </p:spPr>
        <p:txBody>
          <a:bodyPr wrap="square" lIns="0" tIns="0" rIns="0" bIns="0" rtlCol="0" anchor="ctr"/>
          <a:lstStyle/>
          <a:p>
            <a:pPr algn="l" indent="0" marL="0">
              <a:lnSpc>
                <a:spcPct val="125000"/>
              </a:lnSpc>
              <a:buNone/>
            </a:pPr>
            <a:r>
              <a:rPr lang="en-US" sz="1600" b="1" dirty="0">
                <a:solidFill>
                  <a:srgbClr val="595959"/>
                </a:solidFill>
                <a:latin typeface="メイリオ" pitchFamily="34" charset="0"/>
                <a:ea typeface="メイリオ" pitchFamily="34" charset="-122"/>
                <a:cs typeface="メイリオ" pitchFamily="34" charset="-120"/>
              </a:rPr>
              <a:t>まず授業そのものではなく、</a:t>
            </a:r>
            <a:endParaRPr lang="en-US" sz="1600" dirty="0"/>
          </a:p>
          <a:p>
            <a:pPr algn="l" indent="0" marL="0">
              <a:lnSpc>
                <a:spcPct val="125000"/>
              </a:lnSpc>
              <a:buNone/>
            </a:pPr>
            <a:r>
              <a:rPr lang="en-US" sz="1600" b="1" dirty="0">
                <a:solidFill>
                  <a:srgbClr val="EE7B08"/>
                </a:solidFill>
                <a:latin typeface="メイリオ" pitchFamily="34" charset="0"/>
                <a:ea typeface="メイリオ" pitchFamily="34" charset="-122"/>
                <a:cs typeface="メイリオ" pitchFamily="34" charset="-120"/>
              </a:rPr>
              <a:t>「学力調査結果から見える子どもの姿」</a:t>
            </a:r>
            <a:pPr algn="l" indent="0" marL="0">
              <a:lnSpc>
                <a:spcPct val="125000"/>
              </a:lnSpc>
              <a:buNone/>
            </a:pPr>
            <a:r>
              <a:rPr lang="en-US" sz="1600" b="1" dirty="0">
                <a:solidFill>
                  <a:srgbClr val="595959"/>
                </a:solidFill>
                <a:latin typeface="メイリオ" pitchFamily="34" charset="0"/>
                <a:ea typeface="メイリオ" pitchFamily="34" charset="-122"/>
                <a:cs typeface="メイリオ" pitchFamily="34" charset="-120"/>
              </a:rPr>
              <a:t>から考えたい。</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０　アイスブレイク</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クイズ　本校の子どもたちは、どう変わったか</a:t>
            </a:r>
            <a:endParaRPr lang="en-US" sz="3000" dirty="0"/>
          </a:p>
        </p:txBody>
      </p:sp>
      <p:sp>
        <p:nvSpPr>
          <p:cNvPr id="3" name="Shape 1"/>
          <p:cNvSpPr/>
          <p:nvPr/>
        </p:nvSpPr>
        <p:spPr>
          <a:xfrm>
            <a:off x="320040" y="1371600"/>
            <a:ext cx="8503920" cy="914400"/>
          </a:xfrm>
          <a:prstGeom prst="roundRect">
            <a:avLst>
              <a:gd name="adj" fmla="val 6000"/>
            </a:avLst>
          </a:prstGeom>
          <a:solidFill>
            <a:srgbClr val="E9F7F3"/>
          </a:solidFill>
          <a:ln w="12700">
            <a:solidFill>
              <a:srgbClr val="B9E5DA"/>
            </a:solidFill>
            <a:prstDash val="solid"/>
          </a:ln>
        </p:spPr>
      </p:sp>
      <p:sp>
        <p:nvSpPr>
          <p:cNvPr id="4" name="Text 2"/>
          <p:cNvSpPr txBox="1"/>
          <p:nvPr/>
        </p:nvSpPr>
        <p:spPr>
          <a:xfrm>
            <a:off x="576072" y="1371600"/>
            <a:ext cx="7991856" cy="914400"/>
          </a:xfrm>
          <a:prstGeom prst="rect">
            <a:avLst/>
          </a:prstGeom>
          <a:noFill/>
          <a:ln/>
        </p:spPr>
        <p:txBody>
          <a:bodyPr wrap="square" lIns="0" tIns="0" rIns="0" bIns="0" rtlCol="0" anchor="ctr"/>
          <a:lstStyle/>
          <a:p>
            <a:pPr algn="l" indent="0" marL="0">
              <a:lnSpc>
                <a:spcPct val="130000"/>
              </a:lnSpc>
              <a:buNone/>
            </a:pPr>
            <a:r>
              <a:rPr lang="en-US" sz="1500" b="1" dirty="0">
                <a:solidFill>
                  <a:srgbClr val="595959"/>
                </a:solidFill>
                <a:latin typeface="メイリオ" pitchFamily="34" charset="0"/>
                <a:ea typeface="メイリオ" pitchFamily="34" charset="-122"/>
                <a:cs typeface="メイリオ" pitchFamily="34" charset="-120"/>
              </a:rPr>
              <a:t>全国では、小学校から中学校にかけて下がる項目が多い。</a:t>
            </a:r>
            <a:endParaRPr lang="en-US" sz="1500" dirty="0"/>
          </a:p>
          <a:p>
            <a:pPr algn="l" indent="0" marL="0">
              <a:lnSpc>
                <a:spcPct val="130000"/>
              </a:lnSpc>
              <a:buNone/>
            </a:pPr>
            <a:r>
              <a:rPr lang="en-US" sz="1500" b="1" dirty="0">
                <a:solidFill>
                  <a:srgbClr val="595959"/>
                </a:solidFill>
                <a:latin typeface="メイリオ" pitchFamily="34" charset="0"/>
                <a:ea typeface="メイリオ" pitchFamily="34" charset="-122"/>
                <a:cs typeface="メイリオ" pitchFamily="34" charset="-120"/>
              </a:rPr>
              <a:t>　例：「英語の勉強は好きですか」　全国　小 66.7％ → 中 51.2％　</a:t>
            </a:r>
            <a:pPr algn="l" indent="0" marL="0">
              <a:lnSpc>
                <a:spcPct val="130000"/>
              </a:lnSpc>
              <a:buNone/>
            </a:pPr>
            <a:r>
              <a:rPr lang="en-US" sz="1500" b="1" dirty="0">
                <a:solidFill>
                  <a:srgbClr val="EE7B08"/>
                </a:solidFill>
                <a:latin typeface="メイリオ" pitchFamily="34" charset="0"/>
                <a:ea typeface="メイリオ" pitchFamily="34" charset="-122"/>
                <a:cs typeface="メイリオ" pitchFamily="34" charset="-120"/>
              </a:rPr>
              <a:t>−15.5ポイント</a:t>
            </a:r>
            <a:endParaRPr lang="en-US" sz="1500" dirty="0"/>
          </a:p>
        </p:txBody>
      </p:sp>
      <p:sp>
        <p:nvSpPr>
          <p:cNvPr id="5" name="Text 3"/>
          <p:cNvSpPr txBox="1"/>
          <p:nvPr/>
        </p:nvSpPr>
        <p:spPr>
          <a:xfrm>
            <a:off x="320040" y="2377440"/>
            <a:ext cx="8503920" cy="292608"/>
          </a:xfrm>
          <a:prstGeom prst="rect">
            <a:avLst/>
          </a:prstGeom>
          <a:noFill/>
          <a:ln/>
        </p:spPr>
        <p:txBody>
          <a:bodyPr wrap="square" lIns="0" tIns="0" rIns="0" bIns="0" rtlCol="0" anchor="ctr"/>
          <a:lstStyle/>
          <a:p>
            <a:pPr algn="l" indent="0" marL="0">
              <a:buNone/>
            </a:pPr>
            <a:r>
              <a:rPr lang="en-US" sz="1300" b="1" dirty="0">
                <a:solidFill>
                  <a:srgbClr val="808080"/>
                </a:solidFill>
                <a:latin typeface="メイリオ" pitchFamily="34" charset="0"/>
                <a:ea typeface="メイリオ" pitchFamily="34" charset="-122"/>
                <a:cs typeface="メイリオ" pitchFamily="34" charset="-120"/>
              </a:rPr>
              <a:t>では、本校（旧旭丘小学校・旧旭丘中学校）はどうだったでしょうか。</a:t>
            </a:r>
            <a:endParaRPr lang="en-US" sz="1300" dirty="0"/>
          </a:p>
        </p:txBody>
      </p:sp>
      <p:sp>
        <p:nvSpPr>
          <p:cNvPr id="6" name="Shape 4"/>
          <p:cNvSpPr/>
          <p:nvPr/>
        </p:nvSpPr>
        <p:spPr>
          <a:xfrm>
            <a:off x="320040" y="2724912"/>
            <a:ext cx="8503920" cy="914400"/>
          </a:xfrm>
          <a:prstGeom prst="roundRect">
            <a:avLst>
              <a:gd name="adj" fmla="val 6000"/>
            </a:avLst>
          </a:prstGeom>
          <a:solidFill>
            <a:srgbClr val="E9F7F3"/>
          </a:solidFill>
          <a:ln w="12700">
            <a:solidFill>
              <a:srgbClr val="B9E5DA"/>
            </a:solidFill>
            <a:prstDash val="solid"/>
          </a:ln>
        </p:spPr>
      </p:sp>
      <p:sp>
        <p:nvSpPr>
          <p:cNvPr id="7" name="Text 5"/>
          <p:cNvSpPr txBox="1"/>
          <p:nvPr/>
        </p:nvSpPr>
        <p:spPr>
          <a:xfrm>
            <a:off x="576072" y="2779776"/>
            <a:ext cx="4800600" cy="292608"/>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Q1　</a:t>
            </a:r>
            <a:pPr algn="l" indent="0" marL="0">
              <a:buNone/>
            </a:pPr>
            <a:r>
              <a:rPr lang="en-US" sz="1500" b="1" dirty="0">
                <a:solidFill>
                  <a:srgbClr val="595959"/>
                </a:solidFill>
                <a:latin typeface="メイリオ" pitchFamily="34" charset="0"/>
                <a:ea typeface="メイリオ" pitchFamily="34" charset="-122"/>
                <a:cs typeface="メイリオ" pitchFamily="34" charset="-120"/>
              </a:rPr>
              <a:t>「英語の勉強は好きですか」</a:t>
            </a:r>
            <a:endParaRPr lang="en-US" sz="1500" dirty="0"/>
          </a:p>
        </p:txBody>
      </p:sp>
      <p:sp>
        <p:nvSpPr>
          <p:cNvPr id="8" name="Text 6"/>
          <p:cNvSpPr txBox="1"/>
          <p:nvPr/>
        </p:nvSpPr>
        <p:spPr>
          <a:xfrm>
            <a:off x="576072" y="3072384"/>
            <a:ext cx="4800600" cy="256032"/>
          </a:xfrm>
          <a:prstGeom prst="rect">
            <a:avLst/>
          </a:prstGeom>
          <a:noFill/>
          <a:ln/>
        </p:spPr>
        <p:txBody>
          <a:bodyPr wrap="square" lIns="0" tIns="0" rIns="0" bIns="0" rtlCol="0" anchor="ctr"/>
          <a:lstStyle/>
          <a:p>
            <a:pPr algn="l" indent="0" marL="0">
              <a:buNone/>
            </a:pPr>
            <a:r>
              <a:rPr lang="en-US" sz="1200" b="1" dirty="0">
                <a:solidFill>
                  <a:srgbClr val="808080"/>
                </a:solidFill>
                <a:latin typeface="メイリオ" pitchFamily="34" charset="0"/>
                <a:ea typeface="メイリオ" pitchFamily="34" charset="-122"/>
                <a:cs typeface="メイリオ" pitchFamily="34" charset="-120"/>
              </a:rPr>
              <a:t>本校の小学部６年は 51.8％。では、中学部９年は？</a:t>
            </a:r>
            <a:endParaRPr lang="en-US" sz="1200" dirty="0"/>
          </a:p>
        </p:txBody>
      </p:sp>
      <p:sp>
        <p:nvSpPr>
          <p:cNvPr id="9" name="Shape 7"/>
          <p:cNvSpPr/>
          <p:nvPr/>
        </p:nvSpPr>
        <p:spPr>
          <a:xfrm>
            <a:off x="5486400" y="2999232"/>
            <a:ext cx="969264" cy="365760"/>
          </a:xfrm>
          <a:prstGeom prst="roundRect">
            <a:avLst>
              <a:gd name="adj" fmla="val 15000"/>
            </a:avLst>
          </a:prstGeom>
          <a:solidFill>
            <a:srgbClr val="FFFFFF"/>
          </a:solidFill>
          <a:ln w="12700">
            <a:solidFill>
              <a:srgbClr val="44C1A3"/>
            </a:solidFill>
            <a:prstDash val="solid"/>
          </a:ln>
        </p:spPr>
      </p:sp>
      <p:sp>
        <p:nvSpPr>
          <p:cNvPr id="10" name="Text 8"/>
          <p:cNvSpPr txBox="1"/>
          <p:nvPr/>
        </p:nvSpPr>
        <p:spPr>
          <a:xfrm>
            <a:off x="5486400" y="2999232"/>
            <a:ext cx="969264" cy="365760"/>
          </a:xfrm>
          <a:prstGeom prst="rect">
            <a:avLst/>
          </a:prstGeom>
          <a:noFill/>
          <a:ln/>
        </p:spPr>
        <p:txBody>
          <a:bodyPr wrap="square" lIns="0" tIns="0" rIns="0" bIns="0" rtlCol="0" anchor="ctr"/>
          <a:lstStyle/>
          <a:p>
            <a:pPr algn="ctr" indent="0" marL="0">
              <a:buNone/>
            </a:pPr>
            <a:r>
              <a:rPr lang="en-US" sz="1100" b="1" dirty="0">
                <a:solidFill>
                  <a:srgbClr val="595959"/>
                </a:solidFill>
                <a:latin typeface="メイリオ" pitchFamily="34" charset="0"/>
                <a:ea typeface="メイリオ" pitchFamily="34" charset="-122"/>
                <a:cs typeface="メイリオ" pitchFamily="34" charset="-120"/>
              </a:rPr>
              <a:t>① 約 42％</a:t>
            </a:r>
            <a:endParaRPr lang="en-US" sz="1100" dirty="0"/>
          </a:p>
        </p:txBody>
      </p:sp>
      <p:sp>
        <p:nvSpPr>
          <p:cNvPr id="11" name="Shape 9"/>
          <p:cNvSpPr/>
          <p:nvPr/>
        </p:nvSpPr>
        <p:spPr>
          <a:xfrm>
            <a:off x="6547104" y="2999232"/>
            <a:ext cx="969264" cy="365760"/>
          </a:xfrm>
          <a:prstGeom prst="roundRect">
            <a:avLst>
              <a:gd name="adj" fmla="val 15000"/>
            </a:avLst>
          </a:prstGeom>
          <a:solidFill>
            <a:srgbClr val="FFFFFF"/>
          </a:solidFill>
          <a:ln w="12700">
            <a:solidFill>
              <a:srgbClr val="44C1A3"/>
            </a:solidFill>
            <a:prstDash val="solid"/>
          </a:ln>
        </p:spPr>
      </p:sp>
      <p:sp>
        <p:nvSpPr>
          <p:cNvPr id="12" name="Text 10"/>
          <p:cNvSpPr txBox="1"/>
          <p:nvPr/>
        </p:nvSpPr>
        <p:spPr>
          <a:xfrm>
            <a:off x="6547104" y="2999232"/>
            <a:ext cx="969264" cy="365760"/>
          </a:xfrm>
          <a:prstGeom prst="rect">
            <a:avLst/>
          </a:prstGeom>
          <a:noFill/>
          <a:ln/>
        </p:spPr>
        <p:txBody>
          <a:bodyPr wrap="square" lIns="0" tIns="0" rIns="0" bIns="0" rtlCol="0" anchor="ctr"/>
          <a:lstStyle/>
          <a:p>
            <a:pPr algn="ctr" indent="0" marL="0">
              <a:buNone/>
            </a:pPr>
            <a:r>
              <a:rPr lang="en-US" sz="1100" b="1" dirty="0">
                <a:solidFill>
                  <a:srgbClr val="595959"/>
                </a:solidFill>
                <a:latin typeface="メイリオ" pitchFamily="34" charset="0"/>
                <a:ea typeface="メイリオ" pitchFamily="34" charset="-122"/>
                <a:cs typeface="メイリオ" pitchFamily="34" charset="-120"/>
              </a:rPr>
              <a:t>② 約 52％</a:t>
            </a:r>
            <a:endParaRPr lang="en-US" sz="1100" dirty="0"/>
          </a:p>
        </p:txBody>
      </p:sp>
      <p:sp>
        <p:nvSpPr>
          <p:cNvPr id="13" name="Shape 11"/>
          <p:cNvSpPr/>
          <p:nvPr/>
        </p:nvSpPr>
        <p:spPr>
          <a:xfrm>
            <a:off x="7607808" y="2999232"/>
            <a:ext cx="969264" cy="365760"/>
          </a:xfrm>
          <a:prstGeom prst="roundRect">
            <a:avLst>
              <a:gd name="adj" fmla="val 15000"/>
            </a:avLst>
          </a:prstGeom>
          <a:solidFill>
            <a:srgbClr val="FFFFFF"/>
          </a:solidFill>
          <a:ln w="12700">
            <a:solidFill>
              <a:srgbClr val="44C1A3"/>
            </a:solidFill>
            <a:prstDash val="solid"/>
          </a:ln>
        </p:spPr>
      </p:sp>
      <p:sp>
        <p:nvSpPr>
          <p:cNvPr id="14" name="Text 12"/>
          <p:cNvSpPr txBox="1"/>
          <p:nvPr/>
        </p:nvSpPr>
        <p:spPr>
          <a:xfrm>
            <a:off x="7607808" y="2999232"/>
            <a:ext cx="969264" cy="365760"/>
          </a:xfrm>
          <a:prstGeom prst="rect">
            <a:avLst/>
          </a:prstGeom>
          <a:noFill/>
          <a:ln/>
        </p:spPr>
        <p:txBody>
          <a:bodyPr wrap="square" lIns="0" tIns="0" rIns="0" bIns="0" rtlCol="0" anchor="ctr"/>
          <a:lstStyle/>
          <a:p>
            <a:pPr algn="ctr" indent="0" marL="0">
              <a:buNone/>
            </a:pPr>
            <a:r>
              <a:rPr lang="en-US" sz="1100" b="1" dirty="0">
                <a:solidFill>
                  <a:srgbClr val="595959"/>
                </a:solidFill>
                <a:latin typeface="メイリオ" pitchFamily="34" charset="0"/>
                <a:ea typeface="メイリオ" pitchFamily="34" charset="-122"/>
                <a:cs typeface="メイリオ" pitchFamily="34" charset="-120"/>
              </a:rPr>
              <a:t>③ 約 62％</a:t>
            </a:r>
            <a:endParaRPr lang="en-US" sz="1100" dirty="0"/>
          </a:p>
        </p:txBody>
      </p:sp>
      <p:sp>
        <p:nvSpPr>
          <p:cNvPr id="15" name="Shape 13"/>
          <p:cNvSpPr/>
          <p:nvPr/>
        </p:nvSpPr>
        <p:spPr>
          <a:xfrm>
            <a:off x="320040" y="3749040"/>
            <a:ext cx="8503920" cy="914400"/>
          </a:xfrm>
          <a:prstGeom prst="roundRect">
            <a:avLst>
              <a:gd name="adj" fmla="val 6000"/>
            </a:avLst>
          </a:prstGeom>
          <a:solidFill>
            <a:srgbClr val="E9F7F3"/>
          </a:solidFill>
          <a:ln w="12700">
            <a:solidFill>
              <a:srgbClr val="B9E5DA"/>
            </a:solidFill>
            <a:prstDash val="solid"/>
          </a:ln>
        </p:spPr>
      </p:sp>
      <p:sp>
        <p:nvSpPr>
          <p:cNvPr id="16" name="Text 14"/>
          <p:cNvSpPr txBox="1"/>
          <p:nvPr/>
        </p:nvSpPr>
        <p:spPr>
          <a:xfrm>
            <a:off x="576072" y="3803904"/>
            <a:ext cx="4800600" cy="292608"/>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Q2　</a:t>
            </a:r>
            <a:pPr algn="l" indent="0" marL="0">
              <a:buNone/>
            </a:pPr>
            <a:r>
              <a:rPr lang="en-US" sz="1500" b="1" dirty="0">
                <a:solidFill>
                  <a:srgbClr val="595959"/>
                </a:solidFill>
                <a:latin typeface="メイリオ" pitchFamily="34" charset="0"/>
                <a:ea typeface="メイリオ" pitchFamily="34" charset="-122"/>
                <a:cs typeface="メイリオ" pitchFamily="34" charset="-120"/>
              </a:rPr>
              <a:t>「自分には、よいところがあると思いますか」</a:t>
            </a:r>
            <a:endParaRPr lang="en-US" sz="1500" dirty="0"/>
          </a:p>
        </p:txBody>
      </p:sp>
      <p:sp>
        <p:nvSpPr>
          <p:cNvPr id="17" name="Text 15"/>
          <p:cNvSpPr txBox="1"/>
          <p:nvPr/>
        </p:nvSpPr>
        <p:spPr>
          <a:xfrm>
            <a:off x="576072" y="4096512"/>
            <a:ext cx="4800600" cy="256032"/>
          </a:xfrm>
          <a:prstGeom prst="rect">
            <a:avLst/>
          </a:prstGeom>
          <a:noFill/>
          <a:ln/>
        </p:spPr>
        <p:txBody>
          <a:bodyPr wrap="square" lIns="0" tIns="0" rIns="0" bIns="0" rtlCol="0" anchor="ctr"/>
          <a:lstStyle/>
          <a:p>
            <a:pPr algn="l" indent="0" marL="0">
              <a:buNone/>
            </a:pPr>
            <a:r>
              <a:rPr lang="en-US" sz="1200" b="1" dirty="0">
                <a:solidFill>
                  <a:srgbClr val="808080"/>
                </a:solidFill>
                <a:latin typeface="メイリオ" pitchFamily="34" charset="0"/>
                <a:ea typeface="メイリオ" pitchFamily="34" charset="-122"/>
                <a:cs typeface="メイリオ" pitchFamily="34" charset="-120"/>
              </a:rPr>
              <a:t>本校の小学部６年は 85.2％。では、中学部９年は？</a:t>
            </a:r>
            <a:endParaRPr lang="en-US" sz="1200" dirty="0"/>
          </a:p>
        </p:txBody>
      </p:sp>
      <p:sp>
        <p:nvSpPr>
          <p:cNvPr id="18" name="Shape 16"/>
          <p:cNvSpPr/>
          <p:nvPr/>
        </p:nvSpPr>
        <p:spPr>
          <a:xfrm>
            <a:off x="5486400" y="4023360"/>
            <a:ext cx="969264" cy="365760"/>
          </a:xfrm>
          <a:prstGeom prst="roundRect">
            <a:avLst>
              <a:gd name="adj" fmla="val 15000"/>
            </a:avLst>
          </a:prstGeom>
          <a:solidFill>
            <a:srgbClr val="FFFFFF"/>
          </a:solidFill>
          <a:ln w="12700">
            <a:solidFill>
              <a:srgbClr val="44C1A3"/>
            </a:solidFill>
            <a:prstDash val="solid"/>
          </a:ln>
        </p:spPr>
      </p:sp>
      <p:sp>
        <p:nvSpPr>
          <p:cNvPr id="19" name="Text 17"/>
          <p:cNvSpPr txBox="1"/>
          <p:nvPr/>
        </p:nvSpPr>
        <p:spPr>
          <a:xfrm>
            <a:off x="5486400" y="4023360"/>
            <a:ext cx="969264" cy="365760"/>
          </a:xfrm>
          <a:prstGeom prst="rect">
            <a:avLst/>
          </a:prstGeom>
          <a:noFill/>
          <a:ln/>
        </p:spPr>
        <p:txBody>
          <a:bodyPr wrap="square" lIns="0" tIns="0" rIns="0" bIns="0" rtlCol="0" anchor="ctr"/>
          <a:lstStyle/>
          <a:p>
            <a:pPr algn="ctr" indent="0" marL="0">
              <a:buNone/>
            </a:pPr>
            <a:r>
              <a:rPr lang="en-US" sz="1100" b="1" dirty="0">
                <a:solidFill>
                  <a:srgbClr val="595959"/>
                </a:solidFill>
                <a:latin typeface="メイリオ" pitchFamily="34" charset="0"/>
                <a:ea typeface="メイリオ" pitchFamily="34" charset="-122"/>
                <a:cs typeface="メイリオ" pitchFamily="34" charset="-120"/>
              </a:rPr>
              <a:t>① 約 85％</a:t>
            </a:r>
            <a:endParaRPr lang="en-US" sz="1100" dirty="0"/>
          </a:p>
        </p:txBody>
      </p:sp>
      <p:sp>
        <p:nvSpPr>
          <p:cNvPr id="20" name="Shape 18"/>
          <p:cNvSpPr/>
          <p:nvPr/>
        </p:nvSpPr>
        <p:spPr>
          <a:xfrm>
            <a:off x="6547104" y="4023360"/>
            <a:ext cx="969264" cy="365760"/>
          </a:xfrm>
          <a:prstGeom prst="roundRect">
            <a:avLst>
              <a:gd name="adj" fmla="val 15000"/>
            </a:avLst>
          </a:prstGeom>
          <a:solidFill>
            <a:srgbClr val="FFFFFF"/>
          </a:solidFill>
          <a:ln w="12700">
            <a:solidFill>
              <a:srgbClr val="44C1A3"/>
            </a:solidFill>
            <a:prstDash val="solid"/>
          </a:ln>
        </p:spPr>
      </p:sp>
      <p:sp>
        <p:nvSpPr>
          <p:cNvPr id="21" name="Text 19"/>
          <p:cNvSpPr txBox="1"/>
          <p:nvPr/>
        </p:nvSpPr>
        <p:spPr>
          <a:xfrm>
            <a:off x="6547104" y="4023360"/>
            <a:ext cx="969264" cy="365760"/>
          </a:xfrm>
          <a:prstGeom prst="rect">
            <a:avLst/>
          </a:prstGeom>
          <a:noFill/>
          <a:ln/>
        </p:spPr>
        <p:txBody>
          <a:bodyPr wrap="square" lIns="0" tIns="0" rIns="0" bIns="0" rtlCol="0" anchor="ctr"/>
          <a:lstStyle/>
          <a:p>
            <a:pPr algn="ctr" indent="0" marL="0">
              <a:buNone/>
            </a:pPr>
            <a:r>
              <a:rPr lang="en-US" sz="1100" b="1" dirty="0">
                <a:solidFill>
                  <a:srgbClr val="595959"/>
                </a:solidFill>
                <a:latin typeface="メイリオ" pitchFamily="34" charset="0"/>
                <a:ea typeface="メイリオ" pitchFamily="34" charset="-122"/>
                <a:cs typeface="メイリオ" pitchFamily="34" charset="-120"/>
              </a:rPr>
              <a:t>② 約 88％</a:t>
            </a:r>
            <a:endParaRPr lang="en-US" sz="1100" dirty="0"/>
          </a:p>
        </p:txBody>
      </p:sp>
      <p:sp>
        <p:nvSpPr>
          <p:cNvPr id="22" name="Shape 20"/>
          <p:cNvSpPr/>
          <p:nvPr/>
        </p:nvSpPr>
        <p:spPr>
          <a:xfrm>
            <a:off x="7607808" y="4023360"/>
            <a:ext cx="969264" cy="365760"/>
          </a:xfrm>
          <a:prstGeom prst="roundRect">
            <a:avLst>
              <a:gd name="adj" fmla="val 15000"/>
            </a:avLst>
          </a:prstGeom>
          <a:solidFill>
            <a:srgbClr val="FFFFFF"/>
          </a:solidFill>
          <a:ln w="12700">
            <a:solidFill>
              <a:srgbClr val="44C1A3"/>
            </a:solidFill>
            <a:prstDash val="solid"/>
          </a:ln>
        </p:spPr>
      </p:sp>
      <p:sp>
        <p:nvSpPr>
          <p:cNvPr id="23" name="Text 21"/>
          <p:cNvSpPr txBox="1"/>
          <p:nvPr/>
        </p:nvSpPr>
        <p:spPr>
          <a:xfrm>
            <a:off x="7607808" y="4023360"/>
            <a:ext cx="969264" cy="365760"/>
          </a:xfrm>
          <a:prstGeom prst="rect">
            <a:avLst/>
          </a:prstGeom>
          <a:noFill/>
          <a:ln/>
        </p:spPr>
        <p:txBody>
          <a:bodyPr wrap="square" lIns="0" tIns="0" rIns="0" bIns="0" rtlCol="0" anchor="ctr"/>
          <a:lstStyle/>
          <a:p>
            <a:pPr algn="ctr" indent="0" marL="0">
              <a:buNone/>
            </a:pPr>
            <a:r>
              <a:rPr lang="en-US" sz="1100" b="1" dirty="0">
                <a:solidFill>
                  <a:srgbClr val="595959"/>
                </a:solidFill>
                <a:latin typeface="メイリオ" pitchFamily="34" charset="0"/>
                <a:ea typeface="メイリオ" pitchFamily="34" charset="-122"/>
                <a:cs typeface="メイリオ" pitchFamily="34" charset="-120"/>
              </a:rPr>
              <a:t>③ 約 92％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０　アイスブレイク</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答え　本校では、中学部で上がっている</a:t>
            </a:r>
            <a:endParaRPr lang="en-US" sz="3000" dirty="0"/>
          </a:p>
        </p:txBody>
      </p:sp>
      <p:sp>
        <p:nvSpPr>
          <p:cNvPr id="3" name="Shape 1"/>
          <p:cNvSpPr/>
          <p:nvPr/>
        </p:nvSpPr>
        <p:spPr>
          <a:xfrm>
            <a:off x="320040" y="1444752"/>
            <a:ext cx="8503920" cy="1325880"/>
          </a:xfrm>
          <a:prstGeom prst="roundRect">
            <a:avLst>
              <a:gd name="adj" fmla="val 4138"/>
            </a:avLst>
          </a:prstGeom>
          <a:solidFill>
            <a:srgbClr val="E9F7F3"/>
          </a:solidFill>
          <a:ln w="12700">
            <a:solidFill>
              <a:srgbClr val="B9E5DA"/>
            </a:solidFill>
            <a:prstDash val="solid"/>
          </a:ln>
        </p:spPr>
      </p:sp>
      <p:sp>
        <p:nvSpPr>
          <p:cNvPr id="4" name="Text 2"/>
          <p:cNvSpPr txBox="1"/>
          <p:nvPr/>
        </p:nvSpPr>
        <p:spPr>
          <a:xfrm>
            <a:off x="576072" y="1517904"/>
            <a:ext cx="5120640" cy="27432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Q1　「英語の勉強は好きですか」</a:t>
            </a:r>
            <a:endParaRPr lang="en-US" sz="1600" dirty="0"/>
          </a:p>
        </p:txBody>
      </p:sp>
      <p:sp>
        <p:nvSpPr>
          <p:cNvPr id="5" name="Text 3"/>
          <p:cNvSpPr txBox="1"/>
          <p:nvPr/>
        </p:nvSpPr>
        <p:spPr>
          <a:xfrm>
            <a:off x="5669280" y="1517904"/>
            <a:ext cx="2898648" cy="274320"/>
          </a:xfrm>
          <a:prstGeom prst="rect">
            <a:avLst/>
          </a:prstGeom>
          <a:noFill/>
          <a:ln/>
        </p:spPr>
        <p:txBody>
          <a:bodyPr wrap="square" lIns="0" tIns="0" rIns="0" bIns="0" rtlCol="0" anchor="ctr"/>
          <a:lstStyle/>
          <a:p>
            <a:pPr algn="r" indent="0" marL="0">
              <a:buNone/>
            </a:pPr>
            <a:r>
              <a:rPr lang="en-US" sz="1100" b="1" dirty="0">
                <a:solidFill>
                  <a:srgbClr val="808080"/>
                </a:solidFill>
                <a:latin typeface="メイリオ" pitchFamily="34" charset="0"/>
                <a:ea typeface="メイリオ" pitchFamily="34" charset="-122"/>
                <a:cs typeface="メイリオ" pitchFamily="34" charset="-120"/>
              </a:rPr>
              <a:t>全国は 66.7 → 51.2　−15.5ポイント</a:t>
            </a:r>
            <a:endParaRPr lang="en-US" sz="1100" dirty="0"/>
          </a:p>
        </p:txBody>
      </p:sp>
      <p:sp>
        <p:nvSpPr>
          <p:cNvPr id="6" name="Shape 4"/>
          <p:cNvSpPr/>
          <p:nvPr/>
        </p:nvSpPr>
        <p:spPr>
          <a:xfrm>
            <a:off x="576072" y="1956816"/>
            <a:ext cx="1463040" cy="438912"/>
          </a:xfrm>
          <a:prstGeom prst="roundRect">
            <a:avLst>
              <a:gd name="adj" fmla="val 14583"/>
            </a:avLst>
          </a:prstGeom>
          <a:solidFill>
            <a:srgbClr val="E9F7F3"/>
          </a:solidFill>
          <a:ln w="12700">
            <a:solidFill>
              <a:srgbClr val="B9E5DA"/>
            </a:solidFill>
            <a:prstDash val="solid"/>
          </a:ln>
        </p:spPr>
      </p:sp>
      <p:sp>
        <p:nvSpPr>
          <p:cNvPr id="7" name="Text 5"/>
          <p:cNvSpPr txBox="1"/>
          <p:nvPr/>
        </p:nvSpPr>
        <p:spPr>
          <a:xfrm>
            <a:off x="576072" y="1956816"/>
            <a:ext cx="1463040" cy="438912"/>
          </a:xfrm>
          <a:prstGeom prst="rect">
            <a:avLst/>
          </a:prstGeom>
          <a:noFill/>
          <a:ln/>
        </p:spPr>
        <p:txBody>
          <a:bodyPr wrap="square" lIns="0" tIns="0" rIns="0" bIns="0" rtlCol="0" anchor="ctr"/>
          <a:lstStyle/>
          <a:p>
            <a:pPr algn="ctr" indent="0" marL="0">
              <a:buNone/>
            </a:pPr>
            <a:r>
              <a:rPr lang="en-US" sz="1200" b="1" dirty="0">
                <a:solidFill>
                  <a:srgbClr val="44C1A3"/>
                </a:solidFill>
                <a:latin typeface="メイリオ" pitchFamily="34" charset="0"/>
                <a:ea typeface="メイリオ" pitchFamily="34" charset="-122"/>
                <a:cs typeface="メイリオ" pitchFamily="34" charset="-120"/>
              </a:rPr>
              <a:t>小学部（６年）</a:t>
            </a:r>
            <a:endParaRPr lang="en-US" sz="1200" dirty="0"/>
          </a:p>
        </p:txBody>
      </p:sp>
      <p:sp>
        <p:nvSpPr>
          <p:cNvPr id="8" name="Text 6"/>
          <p:cNvSpPr txBox="1"/>
          <p:nvPr/>
        </p:nvSpPr>
        <p:spPr>
          <a:xfrm>
            <a:off x="2130552" y="1883664"/>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51.8</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9" name="Text 7"/>
          <p:cNvSpPr txBox="1"/>
          <p:nvPr/>
        </p:nvSpPr>
        <p:spPr>
          <a:xfrm>
            <a:off x="3584448" y="1920240"/>
            <a:ext cx="457200" cy="512064"/>
          </a:xfrm>
          <a:prstGeom prst="rect">
            <a:avLst/>
          </a:prstGeom>
          <a:noFill/>
          <a:ln/>
        </p:spPr>
        <p:txBody>
          <a:bodyPr wrap="square" lIns="0" tIns="0" rIns="0" bIns="0" rtlCol="0" anchor="ctr"/>
          <a:lstStyle/>
          <a:p>
            <a:pPr algn="ctr" indent="0" marL="0">
              <a:buNone/>
            </a:pPr>
            <a:r>
              <a:rPr lang="en-US" sz="2600" b="1" dirty="0">
                <a:solidFill>
                  <a:srgbClr val="808080"/>
                </a:solidFill>
                <a:latin typeface="メイリオ" pitchFamily="34" charset="0"/>
                <a:ea typeface="メイリオ" pitchFamily="34" charset="-122"/>
                <a:cs typeface="メイリオ" pitchFamily="34" charset="-120"/>
              </a:rPr>
              <a:t>→</a:t>
            </a:r>
            <a:endParaRPr lang="en-US" sz="2600" dirty="0"/>
          </a:p>
        </p:txBody>
      </p:sp>
      <p:sp>
        <p:nvSpPr>
          <p:cNvPr id="10" name="Shape 8"/>
          <p:cNvSpPr/>
          <p:nvPr/>
        </p:nvSpPr>
        <p:spPr>
          <a:xfrm>
            <a:off x="4078224" y="1956816"/>
            <a:ext cx="1463040" cy="438912"/>
          </a:xfrm>
          <a:prstGeom prst="roundRect">
            <a:avLst>
              <a:gd name="adj" fmla="val 14583"/>
            </a:avLst>
          </a:prstGeom>
          <a:solidFill>
            <a:srgbClr val="44C1A3"/>
          </a:solidFill>
          <a:ln/>
        </p:spPr>
      </p:sp>
      <p:sp>
        <p:nvSpPr>
          <p:cNvPr id="11" name="Text 9"/>
          <p:cNvSpPr txBox="1"/>
          <p:nvPr/>
        </p:nvSpPr>
        <p:spPr>
          <a:xfrm>
            <a:off x="4078224" y="1956816"/>
            <a:ext cx="1463040"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メイリオ" pitchFamily="34" charset="0"/>
                <a:ea typeface="メイリオ" pitchFamily="34" charset="-122"/>
                <a:cs typeface="メイリオ" pitchFamily="34" charset="-120"/>
              </a:rPr>
              <a:t>中学部（９年）</a:t>
            </a:r>
            <a:endParaRPr lang="en-US" sz="1200" dirty="0"/>
          </a:p>
        </p:txBody>
      </p:sp>
      <p:sp>
        <p:nvSpPr>
          <p:cNvPr id="12" name="Text 10"/>
          <p:cNvSpPr txBox="1"/>
          <p:nvPr/>
        </p:nvSpPr>
        <p:spPr>
          <a:xfrm>
            <a:off x="5632704" y="1883664"/>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61.7</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13" name="Shape 11"/>
          <p:cNvSpPr/>
          <p:nvPr/>
        </p:nvSpPr>
        <p:spPr>
          <a:xfrm>
            <a:off x="7086600" y="1883664"/>
            <a:ext cx="1481328" cy="585216"/>
          </a:xfrm>
          <a:prstGeom prst="roundRect">
            <a:avLst>
              <a:gd name="adj" fmla="val 10938"/>
            </a:avLst>
          </a:prstGeom>
          <a:solidFill>
            <a:srgbClr val="FDF0E3"/>
          </a:solidFill>
          <a:ln w="12700">
            <a:solidFill>
              <a:srgbClr val="F6CFA4"/>
            </a:solidFill>
            <a:prstDash val="solid"/>
          </a:ln>
        </p:spPr>
      </p:sp>
      <p:sp>
        <p:nvSpPr>
          <p:cNvPr id="14" name="Text 12"/>
          <p:cNvSpPr txBox="1"/>
          <p:nvPr/>
        </p:nvSpPr>
        <p:spPr>
          <a:xfrm>
            <a:off x="7086600" y="1883664"/>
            <a:ext cx="1481328" cy="585216"/>
          </a:xfrm>
          <a:prstGeom prst="rect">
            <a:avLst/>
          </a:prstGeom>
          <a:noFill/>
          <a:ln/>
        </p:spPr>
        <p:txBody>
          <a:bodyPr wrap="square" lIns="0" tIns="0" rIns="0" bIns="0" rtlCol="0" anchor="ctr"/>
          <a:lstStyle/>
          <a:p>
            <a:pPr algn="ctr" indent="0" marL="0">
              <a:lnSpc>
                <a:spcPct val="100000"/>
              </a:lnSpc>
              <a:buNone/>
            </a:pPr>
            <a:r>
              <a:rPr lang="en-US" sz="2000" b="1" dirty="0">
                <a:solidFill>
                  <a:srgbClr val="EE7B08"/>
                </a:solidFill>
                <a:latin typeface="メイリオ" pitchFamily="34" charset="0"/>
                <a:ea typeface="メイリオ" pitchFamily="34" charset="-122"/>
                <a:cs typeface="メイリオ" pitchFamily="34" charset="-120"/>
              </a:rPr>
              <a:t>＋9.9</a:t>
            </a:r>
            <a:endParaRPr lang="en-US" sz="2000" dirty="0"/>
          </a:p>
          <a:p>
            <a:pPr algn="ctr" indent="0" marL="0">
              <a:lnSpc>
                <a:spcPct val="100000"/>
              </a:lnSpc>
              <a:buNone/>
            </a:pPr>
            <a:r>
              <a:rPr lang="en-US" sz="1100" b="1" dirty="0">
                <a:solidFill>
                  <a:srgbClr val="EE7B08"/>
                </a:solidFill>
                <a:latin typeface="メイリオ" pitchFamily="34" charset="0"/>
                <a:ea typeface="メイリオ" pitchFamily="34" charset="-122"/>
                <a:cs typeface="メイリオ" pitchFamily="34" charset="-120"/>
              </a:rPr>
              <a:t>ポイント</a:t>
            </a:r>
            <a:endParaRPr lang="en-US" sz="2000" dirty="0"/>
          </a:p>
        </p:txBody>
      </p:sp>
      <p:sp>
        <p:nvSpPr>
          <p:cNvPr id="15" name="Shape 13"/>
          <p:cNvSpPr/>
          <p:nvPr/>
        </p:nvSpPr>
        <p:spPr>
          <a:xfrm>
            <a:off x="320040" y="2907792"/>
            <a:ext cx="8503920" cy="1325880"/>
          </a:xfrm>
          <a:prstGeom prst="roundRect">
            <a:avLst>
              <a:gd name="adj" fmla="val 4138"/>
            </a:avLst>
          </a:prstGeom>
          <a:solidFill>
            <a:srgbClr val="E9F7F3"/>
          </a:solidFill>
          <a:ln w="12700">
            <a:solidFill>
              <a:srgbClr val="B9E5DA"/>
            </a:solidFill>
            <a:prstDash val="solid"/>
          </a:ln>
        </p:spPr>
      </p:sp>
      <p:sp>
        <p:nvSpPr>
          <p:cNvPr id="16" name="Text 14"/>
          <p:cNvSpPr txBox="1"/>
          <p:nvPr/>
        </p:nvSpPr>
        <p:spPr>
          <a:xfrm>
            <a:off x="576072" y="2980944"/>
            <a:ext cx="5120640" cy="27432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Q2　「自分には、よいところがあると思いますか」</a:t>
            </a:r>
            <a:endParaRPr lang="en-US" sz="1600" dirty="0"/>
          </a:p>
        </p:txBody>
      </p:sp>
      <p:sp>
        <p:nvSpPr>
          <p:cNvPr id="17" name="Text 15"/>
          <p:cNvSpPr txBox="1"/>
          <p:nvPr/>
        </p:nvSpPr>
        <p:spPr>
          <a:xfrm>
            <a:off x="5669280" y="2980944"/>
            <a:ext cx="2898648" cy="274320"/>
          </a:xfrm>
          <a:prstGeom prst="rect">
            <a:avLst/>
          </a:prstGeom>
          <a:noFill/>
          <a:ln/>
        </p:spPr>
        <p:txBody>
          <a:bodyPr wrap="square" lIns="0" tIns="0" rIns="0" bIns="0" rtlCol="0" anchor="ctr"/>
          <a:lstStyle/>
          <a:p>
            <a:pPr algn="r" indent="0" marL="0">
              <a:buNone/>
            </a:pPr>
            <a:r>
              <a:rPr lang="en-US" sz="1100" b="1" dirty="0">
                <a:solidFill>
                  <a:srgbClr val="808080"/>
                </a:solidFill>
                <a:latin typeface="メイリオ" pitchFamily="34" charset="0"/>
                <a:ea typeface="メイリオ" pitchFamily="34" charset="-122"/>
                <a:cs typeface="メイリオ" pitchFamily="34" charset="-120"/>
              </a:rPr>
              <a:t>全国は 85.6 → 84.0　−1.6ポイント</a:t>
            </a:r>
            <a:endParaRPr lang="en-US" sz="1100" dirty="0"/>
          </a:p>
        </p:txBody>
      </p:sp>
      <p:sp>
        <p:nvSpPr>
          <p:cNvPr id="18" name="Shape 16"/>
          <p:cNvSpPr/>
          <p:nvPr/>
        </p:nvSpPr>
        <p:spPr>
          <a:xfrm>
            <a:off x="576072" y="3419856"/>
            <a:ext cx="1463040" cy="438912"/>
          </a:xfrm>
          <a:prstGeom prst="roundRect">
            <a:avLst>
              <a:gd name="adj" fmla="val 14583"/>
            </a:avLst>
          </a:prstGeom>
          <a:solidFill>
            <a:srgbClr val="E9F7F3"/>
          </a:solidFill>
          <a:ln w="12700">
            <a:solidFill>
              <a:srgbClr val="B9E5DA"/>
            </a:solidFill>
            <a:prstDash val="solid"/>
          </a:ln>
        </p:spPr>
      </p:sp>
      <p:sp>
        <p:nvSpPr>
          <p:cNvPr id="19" name="Text 17"/>
          <p:cNvSpPr txBox="1"/>
          <p:nvPr/>
        </p:nvSpPr>
        <p:spPr>
          <a:xfrm>
            <a:off x="576072" y="3419856"/>
            <a:ext cx="1463040" cy="438912"/>
          </a:xfrm>
          <a:prstGeom prst="rect">
            <a:avLst/>
          </a:prstGeom>
          <a:noFill/>
          <a:ln/>
        </p:spPr>
        <p:txBody>
          <a:bodyPr wrap="square" lIns="0" tIns="0" rIns="0" bIns="0" rtlCol="0" anchor="ctr"/>
          <a:lstStyle/>
          <a:p>
            <a:pPr algn="ctr" indent="0" marL="0">
              <a:buNone/>
            </a:pPr>
            <a:r>
              <a:rPr lang="en-US" sz="1200" b="1" dirty="0">
                <a:solidFill>
                  <a:srgbClr val="44C1A3"/>
                </a:solidFill>
                <a:latin typeface="メイリオ" pitchFamily="34" charset="0"/>
                <a:ea typeface="メイリオ" pitchFamily="34" charset="-122"/>
                <a:cs typeface="メイリオ" pitchFamily="34" charset="-120"/>
              </a:rPr>
              <a:t>小学部（６年）</a:t>
            </a:r>
            <a:endParaRPr lang="en-US" sz="1200" dirty="0"/>
          </a:p>
        </p:txBody>
      </p:sp>
      <p:sp>
        <p:nvSpPr>
          <p:cNvPr id="20" name="Text 18"/>
          <p:cNvSpPr txBox="1"/>
          <p:nvPr/>
        </p:nvSpPr>
        <p:spPr>
          <a:xfrm>
            <a:off x="2130552" y="3346704"/>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85.2</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21" name="Text 19"/>
          <p:cNvSpPr txBox="1"/>
          <p:nvPr/>
        </p:nvSpPr>
        <p:spPr>
          <a:xfrm>
            <a:off x="3584448" y="3383280"/>
            <a:ext cx="457200" cy="512064"/>
          </a:xfrm>
          <a:prstGeom prst="rect">
            <a:avLst/>
          </a:prstGeom>
          <a:noFill/>
          <a:ln/>
        </p:spPr>
        <p:txBody>
          <a:bodyPr wrap="square" lIns="0" tIns="0" rIns="0" bIns="0" rtlCol="0" anchor="ctr"/>
          <a:lstStyle/>
          <a:p>
            <a:pPr algn="ctr" indent="0" marL="0">
              <a:buNone/>
            </a:pPr>
            <a:r>
              <a:rPr lang="en-US" sz="2600" b="1" dirty="0">
                <a:solidFill>
                  <a:srgbClr val="808080"/>
                </a:solidFill>
                <a:latin typeface="メイリオ" pitchFamily="34" charset="0"/>
                <a:ea typeface="メイリオ" pitchFamily="34" charset="-122"/>
                <a:cs typeface="メイリオ" pitchFamily="34" charset="-120"/>
              </a:rPr>
              <a:t>→</a:t>
            </a:r>
            <a:endParaRPr lang="en-US" sz="2600" dirty="0"/>
          </a:p>
        </p:txBody>
      </p:sp>
      <p:sp>
        <p:nvSpPr>
          <p:cNvPr id="22" name="Shape 20"/>
          <p:cNvSpPr/>
          <p:nvPr/>
        </p:nvSpPr>
        <p:spPr>
          <a:xfrm>
            <a:off x="4078224" y="3419856"/>
            <a:ext cx="1463040" cy="438912"/>
          </a:xfrm>
          <a:prstGeom prst="roundRect">
            <a:avLst>
              <a:gd name="adj" fmla="val 14583"/>
            </a:avLst>
          </a:prstGeom>
          <a:solidFill>
            <a:srgbClr val="44C1A3"/>
          </a:solidFill>
          <a:ln/>
        </p:spPr>
      </p:sp>
      <p:sp>
        <p:nvSpPr>
          <p:cNvPr id="23" name="Text 21"/>
          <p:cNvSpPr txBox="1"/>
          <p:nvPr/>
        </p:nvSpPr>
        <p:spPr>
          <a:xfrm>
            <a:off x="4078224" y="3419856"/>
            <a:ext cx="1463040"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メイリオ" pitchFamily="34" charset="0"/>
                <a:ea typeface="メイリオ" pitchFamily="34" charset="-122"/>
                <a:cs typeface="メイリオ" pitchFamily="34" charset="-120"/>
              </a:rPr>
              <a:t>中学部（９年）</a:t>
            </a:r>
            <a:endParaRPr lang="en-US" sz="1200" dirty="0"/>
          </a:p>
        </p:txBody>
      </p:sp>
      <p:sp>
        <p:nvSpPr>
          <p:cNvPr id="24" name="Text 22"/>
          <p:cNvSpPr txBox="1"/>
          <p:nvPr/>
        </p:nvSpPr>
        <p:spPr>
          <a:xfrm>
            <a:off x="5632704" y="3346704"/>
            <a:ext cx="1417320" cy="585216"/>
          </a:xfrm>
          <a:prstGeom prst="rect">
            <a:avLst/>
          </a:prstGeom>
          <a:noFill/>
          <a:ln/>
        </p:spPr>
        <p:txBody>
          <a:bodyPr wrap="square" lIns="0" tIns="0" rIns="0" bIns="0" rtlCol="0" anchor="ctr"/>
          <a:lstStyle/>
          <a:p>
            <a:pPr algn="l" indent="0" marL="0">
              <a:buNone/>
            </a:pPr>
            <a:r>
              <a:rPr lang="en-US" sz="3000" b="1" dirty="0">
                <a:solidFill>
                  <a:srgbClr val="3F3F3F"/>
                </a:solidFill>
                <a:latin typeface="メイリオ" pitchFamily="34" charset="0"/>
                <a:ea typeface="メイリオ" pitchFamily="34" charset="-122"/>
                <a:cs typeface="メイリオ" pitchFamily="34" charset="-120"/>
              </a:rPr>
              <a:t>91.5</a:t>
            </a:r>
            <a:pPr algn="l" indent="0" marL="0">
              <a:buNone/>
            </a:pPr>
            <a:r>
              <a:rPr lang="en-US" sz="1600" b="1" dirty="0">
                <a:solidFill>
                  <a:srgbClr val="3F3F3F"/>
                </a:solidFill>
                <a:latin typeface="メイリオ" pitchFamily="34" charset="0"/>
                <a:ea typeface="メイリオ" pitchFamily="34" charset="-122"/>
                <a:cs typeface="メイリオ" pitchFamily="34" charset="-120"/>
              </a:rPr>
              <a:t>％</a:t>
            </a:r>
            <a:endParaRPr lang="en-US" sz="3000" dirty="0"/>
          </a:p>
        </p:txBody>
      </p:sp>
      <p:sp>
        <p:nvSpPr>
          <p:cNvPr id="25" name="Shape 23"/>
          <p:cNvSpPr/>
          <p:nvPr/>
        </p:nvSpPr>
        <p:spPr>
          <a:xfrm>
            <a:off x="7086600" y="3346704"/>
            <a:ext cx="1481328" cy="585216"/>
          </a:xfrm>
          <a:prstGeom prst="roundRect">
            <a:avLst>
              <a:gd name="adj" fmla="val 10938"/>
            </a:avLst>
          </a:prstGeom>
          <a:solidFill>
            <a:srgbClr val="FDF0E3"/>
          </a:solidFill>
          <a:ln w="12700">
            <a:solidFill>
              <a:srgbClr val="F6CFA4"/>
            </a:solidFill>
            <a:prstDash val="solid"/>
          </a:ln>
        </p:spPr>
      </p:sp>
      <p:sp>
        <p:nvSpPr>
          <p:cNvPr id="26" name="Text 24"/>
          <p:cNvSpPr txBox="1"/>
          <p:nvPr/>
        </p:nvSpPr>
        <p:spPr>
          <a:xfrm>
            <a:off x="7086600" y="3346704"/>
            <a:ext cx="1481328" cy="585216"/>
          </a:xfrm>
          <a:prstGeom prst="rect">
            <a:avLst/>
          </a:prstGeom>
          <a:noFill/>
          <a:ln/>
        </p:spPr>
        <p:txBody>
          <a:bodyPr wrap="square" lIns="0" tIns="0" rIns="0" bIns="0" rtlCol="0" anchor="ctr"/>
          <a:lstStyle/>
          <a:p>
            <a:pPr algn="ctr" indent="0" marL="0">
              <a:lnSpc>
                <a:spcPct val="100000"/>
              </a:lnSpc>
              <a:buNone/>
            </a:pPr>
            <a:r>
              <a:rPr lang="en-US" sz="2000" b="1" dirty="0">
                <a:solidFill>
                  <a:srgbClr val="EE7B08"/>
                </a:solidFill>
                <a:latin typeface="メイリオ" pitchFamily="34" charset="0"/>
                <a:ea typeface="メイリオ" pitchFamily="34" charset="-122"/>
                <a:cs typeface="メイリオ" pitchFamily="34" charset="-120"/>
              </a:rPr>
              <a:t>＋6.3</a:t>
            </a:r>
            <a:endParaRPr lang="en-US" sz="2000" dirty="0"/>
          </a:p>
          <a:p>
            <a:pPr algn="ctr" indent="0" marL="0">
              <a:lnSpc>
                <a:spcPct val="100000"/>
              </a:lnSpc>
              <a:buNone/>
            </a:pPr>
            <a:r>
              <a:rPr lang="en-US" sz="1100" b="1" dirty="0">
                <a:solidFill>
                  <a:srgbClr val="EE7B08"/>
                </a:solidFill>
                <a:latin typeface="メイリオ" pitchFamily="34" charset="0"/>
                <a:ea typeface="メイリオ" pitchFamily="34" charset="-122"/>
                <a:cs typeface="メイリオ" pitchFamily="34" charset="-120"/>
              </a:rPr>
              <a:t>ポイント</a:t>
            </a:r>
            <a:endParaRPr lang="en-US" sz="2000" dirty="0"/>
          </a:p>
        </p:txBody>
      </p:sp>
      <p:sp>
        <p:nvSpPr>
          <p:cNvPr id="27" name="Text 25"/>
          <p:cNvSpPr txBox="1"/>
          <p:nvPr/>
        </p:nvSpPr>
        <p:spPr>
          <a:xfrm>
            <a:off x="320040" y="4315968"/>
            <a:ext cx="8503920" cy="347472"/>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全国も東京都も下がる項目で、本校は上がっている。</a:t>
            </a:r>
            <a:endParaRPr lang="en-US" sz="1800" dirty="0"/>
          </a:p>
        </p:txBody>
      </p:sp>
      <p:sp>
        <p:nvSpPr>
          <p:cNvPr id="28" name="Text 26"/>
          <p:cNvSpPr txBox="1"/>
          <p:nvPr/>
        </p:nvSpPr>
        <p:spPr>
          <a:xfrm>
            <a:off x="320040" y="4700016"/>
            <a:ext cx="8503920" cy="237744"/>
          </a:xfrm>
          <a:prstGeom prst="rect">
            <a:avLst/>
          </a:prstGeom>
          <a:noFill/>
          <a:ln/>
        </p:spPr>
        <p:txBody>
          <a:bodyPr wrap="square" lIns="0" tIns="0" rIns="0" bIns="0" rtlCol="0" anchor="ctr"/>
          <a:lstStyle/>
          <a:p>
            <a:pPr algn="l" indent="0" marL="0">
              <a:buNone/>
            </a:pPr>
            <a:r>
              <a:rPr lang="en-US" sz="950" b="1" dirty="0">
                <a:solidFill>
                  <a:srgbClr val="808080"/>
                </a:solidFill>
                <a:latin typeface="メイリオ" pitchFamily="34" charset="0"/>
                <a:ea typeface="メイリオ" pitchFamily="34" charset="-122"/>
                <a:cs typeface="メイリオ" pitchFamily="34" charset="-120"/>
              </a:rPr>
              <a:t>出典：令和８年度 全国学力・学習状況調査　回答結果集計表　肯定的回答の割合　本校 小学部27名・中学部47名</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０　アイスブレイク</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これが、小中一貫教育校の強みである</a:t>
            </a:r>
            <a:endParaRPr lang="en-US" sz="3000" dirty="0"/>
          </a:p>
        </p:txBody>
      </p:sp>
      <p:sp>
        <p:nvSpPr>
          <p:cNvPr id="3" name="Text 1"/>
          <p:cNvSpPr txBox="1"/>
          <p:nvPr/>
        </p:nvSpPr>
        <p:spPr>
          <a:xfrm>
            <a:off x="320040" y="1371600"/>
            <a:ext cx="8503920" cy="310896"/>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上がっているのは、この２項目だけではない。</a:t>
            </a:r>
            <a:endParaRPr lang="en-US" sz="1600" dirty="0"/>
          </a:p>
        </p:txBody>
      </p:sp>
      <p:sp>
        <p:nvSpPr>
          <p:cNvPr id="4" name="Shape 2"/>
          <p:cNvSpPr/>
          <p:nvPr/>
        </p:nvSpPr>
        <p:spPr>
          <a:xfrm>
            <a:off x="320040" y="1755648"/>
            <a:ext cx="2697480" cy="2103120"/>
          </a:xfrm>
          <a:prstGeom prst="roundRect">
            <a:avLst>
              <a:gd name="adj" fmla="val 2609"/>
            </a:avLst>
          </a:prstGeom>
          <a:solidFill>
            <a:srgbClr val="E9F7F3"/>
          </a:solidFill>
          <a:ln w="12700">
            <a:solidFill>
              <a:srgbClr val="B9E5DA"/>
            </a:solidFill>
            <a:prstDash val="solid"/>
          </a:ln>
        </p:spPr>
      </p:sp>
      <p:sp>
        <p:nvSpPr>
          <p:cNvPr id="5" name="Text 3"/>
          <p:cNvSpPr txBox="1"/>
          <p:nvPr/>
        </p:nvSpPr>
        <p:spPr>
          <a:xfrm>
            <a:off x="484632" y="1865376"/>
            <a:ext cx="2368296" cy="658368"/>
          </a:xfrm>
          <a:prstGeom prst="rect">
            <a:avLst/>
          </a:prstGeom>
          <a:noFill/>
          <a:ln/>
        </p:spPr>
        <p:txBody>
          <a:bodyPr wrap="square" lIns="0" tIns="0" rIns="0" bIns="0" rtlCol="0" anchor="t"/>
          <a:lstStyle/>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友達や周りの人の考えを</a:t>
            </a:r>
            <a:endParaRPr lang="en-US" sz="1200" dirty="0"/>
          </a:p>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大切にして、協力しながら</a:t>
            </a:r>
            <a:endParaRPr lang="en-US" sz="1200" dirty="0"/>
          </a:p>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課題の解決に取り組んでいる</a:t>
            </a:r>
            <a:endParaRPr lang="en-US" sz="1200" dirty="0"/>
          </a:p>
        </p:txBody>
      </p:sp>
      <p:sp>
        <p:nvSpPr>
          <p:cNvPr id="6" name="Text 4"/>
          <p:cNvSpPr txBox="1"/>
          <p:nvPr/>
        </p:nvSpPr>
        <p:spPr>
          <a:xfrm>
            <a:off x="484632" y="2670048"/>
            <a:ext cx="2368296" cy="402336"/>
          </a:xfrm>
          <a:prstGeom prst="rect">
            <a:avLst/>
          </a:prstGeom>
          <a:noFill/>
          <a:ln/>
        </p:spPr>
        <p:txBody>
          <a:bodyPr wrap="square" lIns="0" tIns="0" rIns="0" bIns="0" rtlCol="0" anchor="ctr"/>
          <a:lstStyle/>
          <a:p>
            <a:pPr algn="l" indent="0" marL="0">
              <a:buNone/>
            </a:pPr>
            <a:r>
              <a:rPr lang="en-US" sz="1100" b="1" dirty="0">
                <a:solidFill>
                  <a:srgbClr val="44C1A3"/>
                </a:solidFill>
                <a:latin typeface="メイリオ" pitchFamily="34" charset="0"/>
                <a:ea typeface="メイリオ" pitchFamily="34" charset="-122"/>
                <a:cs typeface="メイリオ" pitchFamily="34" charset="-120"/>
              </a:rPr>
              <a:t>小 </a:t>
            </a:r>
            <a:pPr algn="l" indent="0" marL="0">
              <a:buNone/>
            </a:pPr>
            <a:r>
              <a:rPr lang="en-US" sz="1700" b="1" dirty="0">
                <a:solidFill>
                  <a:srgbClr val="3F3F3F"/>
                </a:solidFill>
                <a:latin typeface="メイリオ" pitchFamily="34" charset="0"/>
                <a:ea typeface="メイリオ" pitchFamily="34" charset="-122"/>
                <a:cs typeface="メイリオ" pitchFamily="34" charset="-120"/>
              </a:rPr>
              <a:t>85.1</a:t>
            </a:r>
            <a:pPr algn="l" indent="0" marL="0">
              <a:buNone/>
            </a:pPr>
            <a:r>
              <a:rPr lang="en-US" sz="1300" b="1" dirty="0">
                <a:solidFill>
                  <a:srgbClr val="808080"/>
                </a:solidFill>
                <a:latin typeface="メイリオ" pitchFamily="34" charset="0"/>
                <a:ea typeface="メイリオ" pitchFamily="34" charset="-122"/>
                <a:cs typeface="メイリオ" pitchFamily="34" charset="-120"/>
              </a:rPr>
              <a:t> → </a:t>
            </a:r>
            <a:pPr algn="l" indent="0" marL="0">
              <a:buNone/>
            </a:pPr>
            <a:r>
              <a:rPr lang="en-US" sz="1100" b="1" dirty="0">
                <a:solidFill>
                  <a:srgbClr val="44C1A3"/>
                </a:solidFill>
                <a:latin typeface="メイリオ" pitchFamily="34" charset="0"/>
                <a:ea typeface="メイリオ" pitchFamily="34" charset="-122"/>
                <a:cs typeface="メイリオ" pitchFamily="34" charset="-120"/>
              </a:rPr>
              <a:t>中 </a:t>
            </a:r>
            <a:pPr algn="l" indent="0" marL="0">
              <a:buNone/>
            </a:pPr>
            <a:r>
              <a:rPr lang="en-US" sz="1700" b="1" dirty="0">
                <a:solidFill>
                  <a:srgbClr val="3F3F3F"/>
                </a:solidFill>
                <a:latin typeface="メイリオ" pitchFamily="34" charset="0"/>
                <a:ea typeface="メイリオ" pitchFamily="34" charset="-122"/>
                <a:cs typeface="メイリオ" pitchFamily="34" charset="-120"/>
              </a:rPr>
              <a:t>100.0</a:t>
            </a:r>
            <a:endParaRPr lang="en-US" sz="1100" dirty="0"/>
          </a:p>
        </p:txBody>
      </p:sp>
      <p:sp>
        <p:nvSpPr>
          <p:cNvPr id="7" name="Shape 5"/>
          <p:cNvSpPr/>
          <p:nvPr/>
        </p:nvSpPr>
        <p:spPr>
          <a:xfrm>
            <a:off x="484632" y="3163824"/>
            <a:ext cx="1444752" cy="402336"/>
          </a:xfrm>
          <a:prstGeom prst="roundRect">
            <a:avLst>
              <a:gd name="adj" fmla="val 13636"/>
            </a:avLst>
          </a:prstGeom>
          <a:solidFill>
            <a:srgbClr val="FDF0E3"/>
          </a:solidFill>
          <a:ln w="12700">
            <a:solidFill>
              <a:srgbClr val="F6CFA4"/>
            </a:solidFill>
            <a:prstDash val="solid"/>
          </a:ln>
        </p:spPr>
      </p:sp>
      <p:sp>
        <p:nvSpPr>
          <p:cNvPr id="8" name="Text 6"/>
          <p:cNvSpPr txBox="1"/>
          <p:nvPr/>
        </p:nvSpPr>
        <p:spPr>
          <a:xfrm>
            <a:off x="484632" y="3163824"/>
            <a:ext cx="1444752" cy="402336"/>
          </a:xfrm>
          <a:prstGeom prst="rect">
            <a:avLst/>
          </a:prstGeom>
          <a:noFill/>
          <a:ln/>
        </p:spPr>
        <p:txBody>
          <a:bodyPr wrap="square" lIns="0" tIns="0" rIns="0" bIns="0" rtlCol="0" anchor="ctr"/>
          <a:lstStyle/>
          <a:p>
            <a:pPr algn="ctr" indent="0" marL="0">
              <a:buNone/>
            </a:pPr>
            <a:r>
              <a:rPr lang="en-US" sz="1100" b="1" dirty="0">
                <a:solidFill>
                  <a:srgbClr val="EE7B08"/>
                </a:solidFill>
                <a:latin typeface="メイリオ" pitchFamily="34" charset="0"/>
                <a:ea typeface="メイリオ" pitchFamily="34" charset="-122"/>
                <a:cs typeface="メイリオ" pitchFamily="34" charset="-120"/>
              </a:rPr>
              <a:t>＋14.9 ポイント</a:t>
            </a:r>
            <a:endParaRPr lang="en-US" sz="1100" dirty="0"/>
          </a:p>
        </p:txBody>
      </p:sp>
      <p:sp>
        <p:nvSpPr>
          <p:cNvPr id="9" name="Shape 7"/>
          <p:cNvSpPr/>
          <p:nvPr/>
        </p:nvSpPr>
        <p:spPr>
          <a:xfrm>
            <a:off x="3227832" y="1755648"/>
            <a:ext cx="2697480" cy="2103120"/>
          </a:xfrm>
          <a:prstGeom prst="roundRect">
            <a:avLst>
              <a:gd name="adj" fmla="val 2609"/>
            </a:avLst>
          </a:prstGeom>
          <a:solidFill>
            <a:srgbClr val="E9F7F3"/>
          </a:solidFill>
          <a:ln w="12700">
            <a:solidFill>
              <a:srgbClr val="B9E5DA"/>
            </a:solidFill>
            <a:prstDash val="solid"/>
          </a:ln>
        </p:spPr>
      </p:sp>
      <p:sp>
        <p:nvSpPr>
          <p:cNvPr id="10" name="Text 8"/>
          <p:cNvSpPr txBox="1"/>
          <p:nvPr/>
        </p:nvSpPr>
        <p:spPr>
          <a:xfrm>
            <a:off x="3392424" y="1865376"/>
            <a:ext cx="2368296" cy="658368"/>
          </a:xfrm>
          <a:prstGeom prst="rect">
            <a:avLst/>
          </a:prstGeom>
          <a:noFill/>
          <a:ln/>
        </p:spPr>
        <p:txBody>
          <a:bodyPr wrap="square" lIns="0" tIns="0" rIns="0" bIns="0" rtlCol="0" anchor="t"/>
          <a:lstStyle/>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話し合う活動を通じて、</a:t>
            </a:r>
            <a:endParaRPr lang="en-US" sz="1200" dirty="0"/>
          </a:p>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自分の考えを深めたり、</a:t>
            </a:r>
            <a:endParaRPr lang="en-US" sz="1200" dirty="0"/>
          </a:p>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新たな考え方に気付ける</a:t>
            </a:r>
            <a:endParaRPr lang="en-US" sz="1200" dirty="0"/>
          </a:p>
        </p:txBody>
      </p:sp>
      <p:sp>
        <p:nvSpPr>
          <p:cNvPr id="11" name="Text 9"/>
          <p:cNvSpPr txBox="1"/>
          <p:nvPr/>
        </p:nvSpPr>
        <p:spPr>
          <a:xfrm>
            <a:off x="3392424" y="2670048"/>
            <a:ext cx="2368296" cy="402336"/>
          </a:xfrm>
          <a:prstGeom prst="rect">
            <a:avLst/>
          </a:prstGeom>
          <a:noFill/>
          <a:ln/>
        </p:spPr>
        <p:txBody>
          <a:bodyPr wrap="square" lIns="0" tIns="0" rIns="0" bIns="0" rtlCol="0" anchor="ctr"/>
          <a:lstStyle/>
          <a:p>
            <a:pPr algn="l" indent="0" marL="0">
              <a:buNone/>
            </a:pPr>
            <a:r>
              <a:rPr lang="en-US" sz="1100" b="1" dirty="0">
                <a:solidFill>
                  <a:srgbClr val="44C1A3"/>
                </a:solidFill>
                <a:latin typeface="メイリオ" pitchFamily="34" charset="0"/>
                <a:ea typeface="メイリオ" pitchFamily="34" charset="-122"/>
                <a:cs typeface="メイリオ" pitchFamily="34" charset="-120"/>
              </a:rPr>
              <a:t>小 </a:t>
            </a:r>
            <a:pPr algn="l" indent="0" marL="0">
              <a:buNone/>
            </a:pPr>
            <a:r>
              <a:rPr lang="en-US" sz="1700" b="1" dirty="0">
                <a:solidFill>
                  <a:srgbClr val="3F3F3F"/>
                </a:solidFill>
                <a:latin typeface="メイリオ" pitchFamily="34" charset="0"/>
                <a:ea typeface="メイリオ" pitchFamily="34" charset="-122"/>
                <a:cs typeface="メイリオ" pitchFamily="34" charset="-120"/>
              </a:rPr>
              <a:t>92.5</a:t>
            </a:r>
            <a:pPr algn="l" indent="0" marL="0">
              <a:buNone/>
            </a:pPr>
            <a:r>
              <a:rPr lang="en-US" sz="1300" b="1" dirty="0">
                <a:solidFill>
                  <a:srgbClr val="808080"/>
                </a:solidFill>
                <a:latin typeface="メイリオ" pitchFamily="34" charset="0"/>
                <a:ea typeface="メイリオ" pitchFamily="34" charset="-122"/>
                <a:cs typeface="メイリオ" pitchFamily="34" charset="-120"/>
              </a:rPr>
              <a:t> → </a:t>
            </a:r>
            <a:pPr algn="l" indent="0" marL="0">
              <a:buNone/>
            </a:pPr>
            <a:r>
              <a:rPr lang="en-US" sz="1100" b="1" dirty="0">
                <a:solidFill>
                  <a:srgbClr val="44C1A3"/>
                </a:solidFill>
                <a:latin typeface="メイリオ" pitchFamily="34" charset="0"/>
                <a:ea typeface="メイリオ" pitchFamily="34" charset="-122"/>
                <a:cs typeface="メイリオ" pitchFamily="34" charset="-120"/>
              </a:rPr>
              <a:t>中 </a:t>
            </a:r>
            <a:pPr algn="l" indent="0" marL="0">
              <a:buNone/>
            </a:pPr>
            <a:r>
              <a:rPr lang="en-US" sz="1700" b="1" dirty="0">
                <a:solidFill>
                  <a:srgbClr val="3F3F3F"/>
                </a:solidFill>
                <a:latin typeface="メイリオ" pitchFamily="34" charset="0"/>
                <a:ea typeface="メイリオ" pitchFamily="34" charset="-122"/>
                <a:cs typeface="メイリオ" pitchFamily="34" charset="-120"/>
              </a:rPr>
              <a:t>97.9</a:t>
            </a:r>
            <a:endParaRPr lang="en-US" sz="1100" dirty="0"/>
          </a:p>
        </p:txBody>
      </p:sp>
      <p:sp>
        <p:nvSpPr>
          <p:cNvPr id="12" name="Shape 10"/>
          <p:cNvSpPr/>
          <p:nvPr/>
        </p:nvSpPr>
        <p:spPr>
          <a:xfrm>
            <a:off x="3392424" y="3163824"/>
            <a:ext cx="1444752" cy="402336"/>
          </a:xfrm>
          <a:prstGeom prst="roundRect">
            <a:avLst>
              <a:gd name="adj" fmla="val 13636"/>
            </a:avLst>
          </a:prstGeom>
          <a:solidFill>
            <a:srgbClr val="FDF0E3"/>
          </a:solidFill>
          <a:ln w="12700">
            <a:solidFill>
              <a:srgbClr val="F6CFA4"/>
            </a:solidFill>
            <a:prstDash val="solid"/>
          </a:ln>
        </p:spPr>
      </p:sp>
      <p:sp>
        <p:nvSpPr>
          <p:cNvPr id="13" name="Text 11"/>
          <p:cNvSpPr txBox="1"/>
          <p:nvPr/>
        </p:nvSpPr>
        <p:spPr>
          <a:xfrm>
            <a:off x="3392424" y="3163824"/>
            <a:ext cx="1444752" cy="402336"/>
          </a:xfrm>
          <a:prstGeom prst="rect">
            <a:avLst/>
          </a:prstGeom>
          <a:noFill/>
          <a:ln/>
        </p:spPr>
        <p:txBody>
          <a:bodyPr wrap="square" lIns="0" tIns="0" rIns="0" bIns="0" rtlCol="0" anchor="ctr"/>
          <a:lstStyle/>
          <a:p>
            <a:pPr algn="ctr" indent="0" marL="0">
              <a:buNone/>
            </a:pPr>
            <a:r>
              <a:rPr lang="en-US" sz="1100" b="1" dirty="0">
                <a:solidFill>
                  <a:srgbClr val="EE7B08"/>
                </a:solidFill>
                <a:latin typeface="メイリオ" pitchFamily="34" charset="0"/>
                <a:ea typeface="メイリオ" pitchFamily="34" charset="-122"/>
                <a:cs typeface="メイリオ" pitchFamily="34" charset="-120"/>
              </a:rPr>
              <a:t>＋5.4 ポイント</a:t>
            </a:r>
            <a:endParaRPr lang="en-US" sz="1100" dirty="0"/>
          </a:p>
        </p:txBody>
      </p:sp>
      <p:sp>
        <p:nvSpPr>
          <p:cNvPr id="14" name="Shape 12"/>
          <p:cNvSpPr/>
          <p:nvPr/>
        </p:nvSpPr>
        <p:spPr>
          <a:xfrm>
            <a:off x="6135624" y="1755648"/>
            <a:ext cx="2697480" cy="2103120"/>
          </a:xfrm>
          <a:prstGeom prst="roundRect">
            <a:avLst>
              <a:gd name="adj" fmla="val 2609"/>
            </a:avLst>
          </a:prstGeom>
          <a:solidFill>
            <a:srgbClr val="E9F7F3"/>
          </a:solidFill>
          <a:ln w="12700">
            <a:solidFill>
              <a:srgbClr val="B9E5DA"/>
            </a:solidFill>
            <a:prstDash val="solid"/>
          </a:ln>
        </p:spPr>
      </p:sp>
      <p:sp>
        <p:nvSpPr>
          <p:cNvPr id="15" name="Text 13"/>
          <p:cNvSpPr txBox="1"/>
          <p:nvPr/>
        </p:nvSpPr>
        <p:spPr>
          <a:xfrm>
            <a:off x="6300216" y="1865376"/>
            <a:ext cx="2368296" cy="658368"/>
          </a:xfrm>
          <a:prstGeom prst="rect">
            <a:avLst/>
          </a:prstGeom>
          <a:noFill/>
          <a:ln/>
        </p:spPr>
        <p:txBody>
          <a:bodyPr wrap="square" lIns="0" tIns="0" rIns="0" bIns="0" rtlCol="0" anchor="t"/>
          <a:lstStyle/>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自分と違う意見について</a:t>
            </a:r>
            <a:endParaRPr lang="en-US" sz="1200" dirty="0"/>
          </a:p>
          <a:p>
            <a:pPr algn="l" indent="0" marL="0">
              <a:lnSpc>
                <a:spcPct val="115000"/>
              </a:lnSpc>
              <a:buNone/>
            </a:pPr>
            <a:r>
              <a:rPr lang="en-US" sz="1200" b="1" dirty="0">
                <a:solidFill>
                  <a:srgbClr val="595959"/>
                </a:solidFill>
                <a:latin typeface="メイリオ" pitchFamily="34" charset="0"/>
                <a:ea typeface="メイリオ" pitchFamily="34" charset="-122"/>
                <a:cs typeface="メイリオ" pitchFamily="34" charset="-120"/>
              </a:rPr>
              <a:t>考えるのは楽しい</a:t>
            </a:r>
            <a:endParaRPr lang="en-US" sz="1200" dirty="0"/>
          </a:p>
        </p:txBody>
      </p:sp>
      <p:sp>
        <p:nvSpPr>
          <p:cNvPr id="16" name="Text 14"/>
          <p:cNvSpPr txBox="1"/>
          <p:nvPr/>
        </p:nvSpPr>
        <p:spPr>
          <a:xfrm>
            <a:off x="6300216" y="2670048"/>
            <a:ext cx="2368296" cy="402336"/>
          </a:xfrm>
          <a:prstGeom prst="rect">
            <a:avLst/>
          </a:prstGeom>
          <a:noFill/>
          <a:ln/>
        </p:spPr>
        <p:txBody>
          <a:bodyPr wrap="square" lIns="0" tIns="0" rIns="0" bIns="0" rtlCol="0" anchor="ctr"/>
          <a:lstStyle/>
          <a:p>
            <a:pPr algn="l" indent="0" marL="0">
              <a:buNone/>
            </a:pPr>
            <a:r>
              <a:rPr lang="en-US" sz="1100" b="1" dirty="0">
                <a:solidFill>
                  <a:srgbClr val="44C1A3"/>
                </a:solidFill>
                <a:latin typeface="メイリオ" pitchFamily="34" charset="0"/>
                <a:ea typeface="メイリオ" pitchFamily="34" charset="-122"/>
                <a:cs typeface="メイリオ" pitchFamily="34" charset="-120"/>
              </a:rPr>
              <a:t>小 </a:t>
            </a:r>
            <a:pPr algn="l" indent="0" marL="0">
              <a:buNone/>
            </a:pPr>
            <a:r>
              <a:rPr lang="en-US" sz="1700" b="1" dirty="0">
                <a:solidFill>
                  <a:srgbClr val="3F3F3F"/>
                </a:solidFill>
                <a:latin typeface="メイリオ" pitchFamily="34" charset="0"/>
                <a:ea typeface="メイリオ" pitchFamily="34" charset="-122"/>
                <a:cs typeface="メイリオ" pitchFamily="34" charset="-120"/>
              </a:rPr>
              <a:t>81.4</a:t>
            </a:r>
            <a:pPr algn="l" indent="0" marL="0">
              <a:buNone/>
            </a:pPr>
            <a:r>
              <a:rPr lang="en-US" sz="1300" b="1" dirty="0">
                <a:solidFill>
                  <a:srgbClr val="808080"/>
                </a:solidFill>
                <a:latin typeface="メイリオ" pitchFamily="34" charset="0"/>
                <a:ea typeface="メイリオ" pitchFamily="34" charset="-122"/>
                <a:cs typeface="メイリオ" pitchFamily="34" charset="-120"/>
              </a:rPr>
              <a:t> → </a:t>
            </a:r>
            <a:pPr algn="l" indent="0" marL="0">
              <a:buNone/>
            </a:pPr>
            <a:r>
              <a:rPr lang="en-US" sz="1100" b="1" dirty="0">
                <a:solidFill>
                  <a:srgbClr val="44C1A3"/>
                </a:solidFill>
                <a:latin typeface="メイリオ" pitchFamily="34" charset="0"/>
                <a:ea typeface="メイリオ" pitchFamily="34" charset="-122"/>
                <a:cs typeface="メイリオ" pitchFamily="34" charset="-120"/>
              </a:rPr>
              <a:t>中 </a:t>
            </a:r>
            <a:pPr algn="l" indent="0" marL="0">
              <a:buNone/>
            </a:pPr>
            <a:r>
              <a:rPr lang="en-US" sz="1700" b="1" dirty="0">
                <a:solidFill>
                  <a:srgbClr val="3F3F3F"/>
                </a:solidFill>
                <a:latin typeface="メイリオ" pitchFamily="34" charset="0"/>
                <a:ea typeface="メイリオ" pitchFamily="34" charset="-122"/>
                <a:cs typeface="メイリオ" pitchFamily="34" charset="-120"/>
              </a:rPr>
              <a:t>87.2</a:t>
            </a:r>
            <a:endParaRPr lang="en-US" sz="1100" dirty="0"/>
          </a:p>
        </p:txBody>
      </p:sp>
      <p:sp>
        <p:nvSpPr>
          <p:cNvPr id="17" name="Shape 15"/>
          <p:cNvSpPr/>
          <p:nvPr/>
        </p:nvSpPr>
        <p:spPr>
          <a:xfrm>
            <a:off x="6300216" y="3163824"/>
            <a:ext cx="1444752" cy="402336"/>
          </a:xfrm>
          <a:prstGeom prst="roundRect">
            <a:avLst>
              <a:gd name="adj" fmla="val 13636"/>
            </a:avLst>
          </a:prstGeom>
          <a:solidFill>
            <a:srgbClr val="FDF0E3"/>
          </a:solidFill>
          <a:ln w="12700">
            <a:solidFill>
              <a:srgbClr val="F6CFA4"/>
            </a:solidFill>
            <a:prstDash val="solid"/>
          </a:ln>
        </p:spPr>
      </p:sp>
      <p:sp>
        <p:nvSpPr>
          <p:cNvPr id="18" name="Text 16"/>
          <p:cNvSpPr txBox="1"/>
          <p:nvPr/>
        </p:nvSpPr>
        <p:spPr>
          <a:xfrm>
            <a:off x="6300216" y="3163824"/>
            <a:ext cx="1444752" cy="402336"/>
          </a:xfrm>
          <a:prstGeom prst="rect">
            <a:avLst/>
          </a:prstGeom>
          <a:noFill/>
          <a:ln/>
        </p:spPr>
        <p:txBody>
          <a:bodyPr wrap="square" lIns="0" tIns="0" rIns="0" bIns="0" rtlCol="0" anchor="ctr"/>
          <a:lstStyle/>
          <a:p>
            <a:pPr algn="ctr" indent="0" marL="0">
              <a:buNone/>
            </a:pPr>
            <a:r>
              <a:rPr lang="en-US" sz="1100" b="1" dirty="0">
                <a:solidFill>
                  <a:srgbClr val="EE7B08"/>
                </a:solidFill>
                <a:latin typeface="メイリオ" pitchFamily="34" charset="0"/>
                <a:ea typeface="メイリオ" pitchFamily="34" charset="-122"/>
                <a:cs typeface="メイリオ" pitchFamily="34" charset="-120"/>
              </a:rPr>
              <a:t>＋5.8 ポイント</a:t>
            </a:r>
            <a:endParaRPr lang="en-US" sz="1100" dirty="0"/>
          </a:p>
        </p:txBody>
      </p:sp>
      <p:sp>
        <p:nvSpPr>
          <p:cNvPr id="19" name="Text 17"/>
          <p:cNvSpPr txBox="1"/>
          <p:nvPr/>
        </p:nvSpPr>
        <p:spPr>
          <a:xfrm>
            <a:off x="320040" y="4023360"/>
            <a:ext cx="8503920" cy="548640"/>
          </a:xfrm>
          <a:prstGeom prst="rect">
            <a:avLst/>
          </a:prstGeom>
          <a:noFill/>
          <a:ln/>
        </p:spPr>
        <p:txBody>
          <a:bodyPr wrap="square" lIns="0" tIns="0" rIns="0" bIns="0" rtlCol="0" anchor="t"/>
          <a:lstStyle/>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９年間を見通した教育の成果が、</a:t>
            </a:r>
            <a:pPr algn="l" indent="0" marL="0">
              <a:lnSpc>
                <a:spcPct val="120000"/>
              </a:lnSpc>
              <a:buNone/>
            </a:pPr>
            <a:r>
              <a:rPr lang="en-US" sz="1900" b="1" dirty="0">
                <a:solidFill>
                  <a:srgbClr val="EE7B08"/>
                </a:solidFill>
                <a:latin typeface="メイリオ" pitchFamily="34" charset="0"/>
                <a:ea typeface="メイリオ" pitchFamily="34" charset="-122"/>
                <a:cs typeface="メイリオ" pitchFamily="34" charset="-120"/>
              </a:rPr>
              <a:t>数値に表れている</a:t>
            </a:r>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a:t>
            </a:r>
            <a:endParaRPr lang="en-US" sz="1900" dirty="0"/>
          </a:p>
        </p:txBody>
      </p:sp>
      <p:sp>
        <p:nvSpPr>
          <p:cNvPr id="20" name="Text 18"/>
          <p:cNvSpPr txBox="1"/>
          <p:nvPr/>
        </p:nvSpPr>
        <p:spPr>
          <a:xfrm>
            <a:off x="320040" y="4700016"/>
            <a:ext cx="8503920" cy="237744"/>
          </a:xfrm>
          <a:prstGeom prst="rect">
            <a:avLst/>
          </a:prstGeom>
          <a:noFill/>
          <a:ln/>
        </p:spPr>
        <p:txBody>
          <a:bodyPr wrap="square" lIns="0" tIns="0" rIns="0" bIns="0" rtlCol="0" anchor="ctr"/>
          <a:lstStyle/>
          <a:p>
            <a:pPr algn="l" indent="0" marL="0">
              <a:buNone/>
            </a:pPr>
            <a:r>
              <a:rPr lang="en-US" sz="950" b="1" dirty="0">
                <a:solidFill>
                  <a:srgbClr val="808080"/>
                </a:solidFill>
                <a:latin typeface="メイリオ" pitchFamily="34" charset="0"/>
                <a:ea typeface="メイリオ" pitchFamily="34" charset="-122"/>
                <a:cs typeface="メイリオ" pitchFamily="34" charset="-120"/>
              </a:rPr>
              <a:t>出典：令和８年度 全国学力・学習状況調査　回答結果集計表　肯定的回答の割合</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１　練馬区の小中一貫教育</a:t>
            </a:r>
            <a:endParaRPr lang="en-US" sz="3000" dirty="0"/>
          </a:p>
        </p:txBody>
      </p:sp>
      <p:sp>
        <p:nvSpPr>
          <p:cNvPr id="3" name="Text 1"/>
          <p:cNvSpPr txBox="1"/>
          <p:nvPr/>
        </p:nvSpPr>
        <p:spPr>
          <a:xfrm>
            <a:off x="475488" y="1463040"/>
            <a:ext cx="8193024" cy="822960"/>
          </a:xfrm>
          <a:prstGeom prst="rect">
            <a:avLst/>
          </a:prstGeom>
          <a:noFill/>
          <a:ln/>
        </p:spPr>
        <p:txBody>
          <a:bodyPr wrap="square" lIns="0" tIns="0" rIns="0" bIns="0" rtlCol="0" anchor="t"/>
          <a:lstStyle/>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練馬区教育委員会の目標</a:t>
            </a:r>
            <a:endParaRPr lang="en-US" sz="2000" dirty="0"/>
          </a:p>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000" b="1" dirty="0">
                <a:solidFill>
                  <a:srgbClr val="EE7B08"/>
                </a:solidFill>
                <a:latin typeface="メイリオ" pitchFamily="34" charset="0"/>
                <a:ea typeface="メイリオ" pitchFamily="34" charset="-122"/>
                <a:cs typeface="メイリオ" pitchFamily="34" charset="-120"/>
              </a:rPr>
              <a:t>夢や希望をもち、困難を乗り越える力</a:t>
            </a:r>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の育成</a:t>
            </a:r>
            <a:endParaRPr lang="en-US" sz="2000" dirty="0"/>
          </a:p>
        </p:txBody>
      </p:sp>
      <p:sp>
        <p:nvSpPr>
          <p:cNvPr id="4" name="Text 2"/>
          <p:cNvSpPr txBox="1"/>
          <p:nvPr/>
        </p:nvSpPr>
        <p:spPr>
          <a:xfrm>
            <a:off x="475488" y="2423160"/>
            <a:ext cx="8193024" cy="822960"/>
          </a:xfrm>
          <a:prstGeom prst="rect">
            <a:avLst/>
          </a:prstGeom>
          <a:noFill/>
          <a:ln/>
        </p:spPr>
        <p:txBody>
          <a:bodyPr wrap="square" lIns="0" tIns="0" rIns="0" bIns="0" rtlCol="0" anchor="t"/>
          <a:lstStyle/>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その実現のための施策が</a:t>
            </a:r>
            <a:endParaRPr lang="en-US" sz="1900" dirty="0"/>
          </a:p>
          <a:p>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1900" b="1" dirty="0">
                <a:solidFill>
                  <a:srgbClr val="EE7B08"/>
                </a:solidFill>
                <a:latin typeface="メイリオ" pitchFamily="34" charset="0"/>
                <a:ea typeface="メイリオ" pitchFamily="34" charset="-122"/>
                <a:cs typeface="メイリオ" pitchFamily="34" charset="-120"/>
              </a:rPr>
              <a:t>９年間を見通した教育</a:t>
            </a:r>
            <a:pPr algn="l" indent="0" marL="0">
              <a:lnSpc>
                <a:spcPct val="120000"/>
              </a:lnSpc>
              <a:buNone/>
            </a:pPr>
            <a:r>
              <a:rPr lang="en-US" sz="1900" b="1" dirty="0">
                <a:solidFill>
                  <a:srgbClr val="595959"/>
                </a:solidFill>
                <a:latin typeface="メイリオ" pitchFamily="34" charset="0"/>
                <a:ea typeface="メイリオ" pitchFamily="34" charset="-122"/>
                <a:cs typeface="メイリオ" pitchFamily="34" charset="-120"/>
              </a:rPr>
              <a:t>（小学校６年間＋中学校３年間）</a:t>
            </a:r>
            <a:endParaRPr lang="en-US" sz="1900" dirty="0"/>
          </a:p>
        </p:txBody>
      </p:sp>
      <p:sp>
        <p:nvSpPr>
          <p:cNvPr id="5" name="Shape 3"/>
          <p:cNvSpPr/>
          <p:nvPr/>
        </p:nvSpPr>
        <p:spPr>
          <a:xfrm>
            <a:off x="475488" y="3401568"/>
            <a:ext cx="8193024" cy="1234440"/>
          </a:xfrm>
          <a:prstGeom prst="roundRect">
            <a:avLst>
              <a:gd name="adj" fmla="val 4444"/>
            </a:avLst>
          </a:prstGeom>
          <a:solidFill>
            <a:srgbClr val="E9F7F3"/>
          </a:solidFill>
          <a:ln w="12700">
            <a:solidFill>
              <a:srgbClr val="B9E5DA"/>
            </a:solidFill>
            <a:prstDash val="solid"/>
          </a:ln>
        </p:spPr>
      </p:sp>
      <p:sp>
        <p:nvSpPr>
          <p:cNvPr id="6" name="Text 4"/>
          <p:cNvSpPr txBox="1"/>
          <p:nvPr/>
        </p:nvSpPr>
        <p:spPr>
          <a:xfrm>
            <a:off x="658368" y="3529584"/>
            <a:ext cx="7827264" cy="1005840"/>
          </a:xfrm>
          <a:prstGeom prst="rect">
            <a:avLst/>
          </a:prstGeom>
          <a:noFill/>
          <a:ln/>
        </p:spPr>
        <p:txBody>
          <a:bodyPr wrap="square" lIns="0" tIns="0" rIns="0" bIns="0" rtlCol="0" anchor="t"/>
          <a:lstStyle/>
          <a:p>
            <a:pPr algn="l" indent="0" marL="0">
              <a:lnSpc>
                <a:spcPct val="130000"/>
              </a:lnSpc>
              <a:buNone/>
            </a:pPr>
            <a:r>
              <a:rPr lang="en-US" sz="1600" b="1" dirty="0">
                <a:solidFill>
                  <a:srgbClr val="44C1A3"/>
                </a:solidFill>
                <a:latin typeface="メイリオ" pitchFamily="34" charset="0"/>
                <a:ea typeface="メイリオ" pitchFamily="34" charset="-122"/>
                <a:cs typeface="メイリオ" pitchFamily="34" charset="-120"/>
              </a:rPr>
              <a:t>期待される効果</a:t>
            </a:r>
            <a:endParaRPr lang="en-US" sz="1600" dirty="0"/>
          </a:p>
          <a:p>
            <a:pPr algn="l" indent="0" marL="0">
              <a:lnSpc>
                <a:spcPct val="130000"/>
              </a:lnSpc>
              <a:buNone/>
            </a:pPr>
            <a:r>
              <a:rPr lang="en-US" sz="1600" b="1" dirty="0">
                <a:solidFill>
                  <a:srgbClr val="595959"/>
                </a:solidFill>
                <a:latin typeface="メイリオ" pitchFamily="34" charset="0"/>
                <a:ea typeface="メイリオ" pitchFamily="34" charset="-122"/>
                <a:cs typeface="メイリオ" pitchFamily="34" charset="-120"/>
              </a:rPr>
              <a:t>　授業改善による学力・体力の向上　／　豊かな人間性・社会性の育成</a:t>
            </a:r>
            <a:endParaRPr lang="en-US" sz="1600" dirty="0"/>
          </a:p>
          <a:p>
            <a:pPr algn="l" indent="0" marL="0">
              <a:lnSpc>
                <a:spcPct val="130000"/>
              </a:lnSpc>
              <a:buNone/>
            </a:pPr>
            <a:r>
              <a:rPr lang="en-US" sz="1600" b="1" dirty="0">
                <a:solidFill>
                  <a:srgbClr val="595959"/>
                </a:solidFill>
                <a:latin typeface="メイリオ" pitchFamily="34" charset="0"/>
                <a:ea typeface="メイリオ" pitchFamily="34" charset="-122"/>
                <a:cs typeface="メイリオ" pitchFamily="34" charset="-120"/>
              </a:rPr>
              <a:t>　滑らかな接続による安定した学校生活の実現</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１　練馬区の小中一貫教育</a:t>
            </a:r>
            <a:endParaRPr lang="en-US" sz="3000" dirty="0"/>
          </a:p>
        </p:txBody>
      </p:sp>
      <p:sp>
        <p:nvSpPr>
          <p:cNvPr id="3" name="Text 1"/>
          <p:cNvSpPr txBox="1"/>
          <p:nvPr/>
        </p:nvSpPr>
        <p:spPr>
          <a:xfrm>
            <a:off x="475488" y="1444752"/>
            <a:ext cx="8193024" cy="457200"/>
          </a:xfrm>
          <a:prstGeom prst="rect">
            <a:avLst/>
          </a:prstGeom>
          <a:noFill/>
          <a:ln/>
        </p:spPr>
        <p:txBody>
          <a:bodyPr wrap="square" lIns="0" tIns="0" rIns="0" bIns="0" rtlCol="0" anchor="ctr"/>
          <a:lstStyle/>
          <a:p>
            <a:pPr algn="l" indent="0" marL="0">
              <a:buNone/>
            </a:pPr>
            <a:r>
              <a:rPr lang="en-US" sz="2200" b="1" dirty="0">
                <a:solidFill>
                  <a:srgbClr val="44C1A3"/>
                </a:solidFill>
                <a:latin typeface="メイリオ" pitchFamily="34" charset="0"/>
                <a:ea typeface="メイリオ" pitchFamily="34" charset="-122"/>
                <a:cs typeface="メイリオ" pitchFamily="34" charset="-120"/>
              </a:rPr>
              <a:t>施設一体型だからこそ高まる教育効果</a:t>
            </a:r>
            <a:endParaRPr lang="en-US" sz="2200" dirty="0"/>
          </a:p>
        </p:txBody>
      </p:sp>
      <p:sp>
        <p:nvSpPr>
          <p:cNvPr id="4" name="Shape 2"/>
          <p:cNvSpPr/>
          <p:nvPr/>
        </p:nvSpPr>
        <p:spPr>
          <a:xfrm>
            <a:off x="475488" y="1993392"/>
            <a:ext cx="2468880" cy="1051560"/>
          </a:xfrm>
          <a:prstGeom prst="roundRect">
            <a:avLst>
              <a:gd name="adj" fmla="val 6087"/>
            </a:avLst>
          </a:prstGeom>
          <a:solidFill>
            <a:srgbClr val="E9F7F3"/>
          </a:solidFill>
          <a:ln w="12700">
            <a:solidFill>
              <a:srgbClr val="B9E5DA"/>
            </a:solidFill>
            <a:prstDash val="solid"/>
          </a:ln>
        </p:spPr>
      </p:sp>
      <p:sp>
        <p:nvSpPr>
          <p:cNvPr id="5" name="Text 3"/>
          <p:cNvSpPr txBox="1"/>
          <p:nvPr/>
        </p:nvSpPr>
        <p:spPr>
          <a:xfrm>
            <a:off x="4754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教員間の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連携強化</a:t>
            </a:r>
            <a:endParaRPr lang="en-US" sz="1700" dirty="0"/>
          </a:p>
        </p:txBody>
      </p:sp>
      <p:sp>
        <p:nvSpPr>
          <p:cNvPr id="6" name="Shape 4"/>
          <p:cNvSpPr/>
          <p:nvPr/>
        </p:nvSpPr>
        <p:spPr>
          <a:xfrm>
            <a:off x="3218688" y="1993392"/>
            <a:ext cx="2468880" cy="1051560"/>
          </a:xfrm>
          <a:prstGeom prst="roundRect">
            <a:avLst>
              <a:gd name="adj" fmla="val 6087"/>
            </a:avLst>
          </a:prstGeom>
          <a:solidFill>
            <a:srgbClr val="E9F7F3"/>
          </a:solidFill>
          <a:ln w="12700">
            <a:solidFill>
              <a:srgbClr val="B9E5DA"/>
            </a:solidFill>
            <a:prstDash val="solid"/>
          </a:ln>
        </p:spPr>
      </p:sp>
      <p:sp>
        <p:nvSpPr>
          <p:cNvPr id="7" name="Text 5"/>
          <p:cNvSpPr txBox="1"/>
          <p:nvPr/>
        </p:nvSpPr>
        <p:spPr>
          <a:xfrm>
            <a:off x="32186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異学年交流の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活性化</a:t>
            </a:r>
            <a:endParaRPr lang="en-US" sz="1700" dirty="0"/>
          </a:p>
        </p:txBody>
      </p:sp>
      <p:sp>
        <p:nvSpPr>
          <p:cNvPr id="8" name="Shape 6"/>
          <p:cNvSpPr/>
          <p:nvPr/>
        </p:nvSpPr>
        <p:spPr>
          <a:xfrm>
            <a:off x="5961888" y="1993392"/>
            <a:ext cx="2468880" cy="1051560"/>
          </a:xfrm>
          <a:prstGeom prst="roundRect">
            <a:avLst>
              <a:gd name="adj" fmla="val 6087"/>
            </a:avLst>
          </a:prstGeom>
          <a:solidFill>
            <a:srgbClr val="E9F7F3"/>
          </a:solidFill>
          <a:ln w="12700">
            <a:solidFill>
              <a:srgbClr val="B9E5DA"/>
            </a:solidFill>
            <a:prstDash val="solid"/>
          </a:ln>
        </p:spPr>
      </p:sp>
      <p:sp>
        <p:nvSpPr>
          <p:cNvPr id="9" name="Text 7"/>
          <p:cNvSpPr txBox="1"/>
          <p:nvPr/>
        </p:nvSpPr>
        <p:spPr>
          <a:xfrm>
            <a:off x="5961888" y="1993392"/>
            <a:ext cx="2468880" cy="1051560"/>
          </a:xfrm>
          <a:prstGeom prst="rect">
            <a:avLst/>
          </a:prstGeom>
          <a:noFill/>
          <a:ln/>
        </p:spPr>
        <p:txBody>
          <a:bodyPr wrap="square" lIns="0" tIns="0" rIns="0" bIns="0" rtlCol="0" anchor="ctr"/>
          <a:lstStyle/>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小中学校間の</a:t>
            </a:r>
            <a:endParaRPr lang="en-US" sz="1700" dirty="0"/>
          </a:p>
          <a:p>
            <a:pPr algn="ctr" indent="0" marL="0">
              <a:lnSpc>
                <a:spcPct val="115000"/>
              </a:lnSpc>
              <a:buNone/>
            </a:pPr>
            <a:r>
              <a:rPr lang="en-US" sz="1700" b="1" dirty="0">
                <a:solidFill>
                  <a:srgbClr val="595959"/>
                </a:solidFill>
                <a:latin typeface="メイリオ" pitchFamily="34" charset="0"/>
                <a:ea typeface="メイリオ" pitchFamily="34" charset="-122"/>
                <a:cs typeface="メイリオ" pitchFamily="34" charset="-120"/>
              </a:rPr>
              <a:t>指導の統一化</a:t>
            </a:r>
            <a:endParaRPr lang="en-US" sz="1700" dirty="0"/>
          </a:p>
        </p:txBody>
      </p:sp>
      <p:sp>
        <p:nvSpPr>
          <p:cNvPr id="10" name="Text 8"/>
          <p:cNvSpPr txBox="1"/>
          <p:nvPr/>
        </p:nvSpPr>
        <p:spPr>
          <a:xfrm>
            <a:off x="475488" y="3273552"/>
            <a:ext cx="8193024" cy="1371600"/>
          </a:xfrm>
          <a:prstGeom prst="rect">
            <a:avLst/>
          </a:prstGeom>
          <a:noFill/>
          <a:ln/>
        </p:spPr>
        <p:txBody>
          <a:bodyPr wrap="square" lIns="0" tIns="0" rIns="0" bIns="0" rtlCol="0" anchor="t"/>
          <a:lstStyle/>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みらい青空学園は、区内２校目の施設一体型として</a:t>
            </a:r>
            <a:endParaRPr lang="en-US" sz="1700" dirty="0"/>
          </a:p>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令和８年４月に開校した</a:t>
            </a:r>
            <a:pPr algn="l" indent="0" marL="0">
              <a:lnSpc>
                <a:spcPct val="120000"/>
              </a:lnSpc>
              <a:buNone/>
            </a:pPr>
            <a:r>
              <a:rPr lang="en-US" sz="1700" b="1" dirty="0">
                <a:solidFill>
                  <a:srgbClr val="EE7B08"/>
                </a:solidFill>
                <a:latin typeface="メイリオ" pitchFamily="34" charset="0"/>
                <a:ea typeface="メイリオ" pitchFamily="34" charset="-122"/>
                <a:cs typeface="メイリオ" pitchFamily="34" charset="-120"/>
              </a:rPr>
              <a:t>開校１年目</a:t>
            </a:r>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の学校である。</a:t>
            </a:r>
            <a:endParaRPr lang="en-US" sz="1700" dirty="0"/>
          </a:p>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１年生から９年生までが同じ学び舎で学ぶ強みを生かし、</a:t>
            </a:r>
            <a:endParaRPr lang="en-US" sz="1700" dirty="0"/>
          </a:p>
          <a:p>
            <a:pPr algn="l" indent="0" marL="0">
              <a:lnSpc>
                <a:spcPct val="120000"/>
              </a:lnSpc>
              <a:buNone/>
            </a:pPr>
            <a:r>
              <a:rPr lang="en-US" sz="1700" b="1" dirty="0">
                <a:solidFill>
                  <a:srgbClr val="EE7B08"/>
                </a:solidFill>
                <a:latin typeface="メイリオ" pitchFamily="34" charset="0"/>
                <a:ea typeface="メイリオ" pitchFamily="34" charset="-122"/>
                <a:cs typeface="メイリオ" pitchFamily="34" charset="-120"/>
              </a:rPr>
              <a:t>「目指す１５歳の姿」</a:t>
            </a:r>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を９年間で描いていくことに期待している。</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学力調査結果から見える強み</a:t>
            </a:r>
            <a:endParaRPr lang="en-US" sz="3000" dirty="0"/>
          </a:p>
        </p:txBody>
      </p:sp>
      <p:sp>
        <p:nvSpPr>
          <p:cNvPr id="3" name="Text 1"/>
          <p:cNvSpPr txBox="1"/>
          <p:nvPr/>
        </p:nvSpPr>
        <p:spPr>
          <a:xfrm>
            <a:off x="475488" y="1444752"/>
            <a:ext cx="4206240" cy="731520"/>
          </a:xfrm>
          <a:prstGeom prst="rect">
            <a:avLst/>
          </a:prstGeom>
          <a:noFill/>
          <a:ln/>
        </p:spPr>
        <p:txBody>
          <a:bodyPr wrap="square" lIns="0" tIns="0" rIns="0" bIns="0" rtlCol="0" anchor="t"/>
          <a:lstStyle/>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本校では、次の３点が</a:t>
            </a:r>
            <a:endParaRPr lang="en-US" sz="1800" dirty="0"/>
          </a:p>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着実に育っている。</a:t>
            </a:r>
            <a:endParaRPr lang="en-US" sz="1800" dirty="0"/>
          </a:p>
        </p:txBody>
      </p:sp>
      <p:sp>
        <p:nvSpPr>
          <p:cNvPr id="4" name="Shape 2"/>
          <p:cNvSpPr/>
          <p:nvPr/>
        </p:nvSpPr>
        <p:spPr>
          <a:xfrm>
            <a:off x="475488" y="2304288"/>
            <a:ext cx="4023360" cy="621792"/>
          </a:xfrm>
          <a:prstGeom prst="roundRect">
            <a:avLst>
              <a:gd name="adj" fmla="val 10294"/>
            </a:avLst>
          </a:prstGeom>
          <a:solidFill>
            <a:srgbClr val="E9F7F3"/>
          </a:solidFill>
          <a:ln w="12700">
            <a:solidFill>
              <a:srgbClr val="B9E5DA"/>
            </a:solidFill>
            <a:prstDash val="solid"/>
          </a:ln>
        </p:spPr>
      </p:sp>
      <p:sp>
        <p:nvSpPr>
          <p:cNvPr id="5" name="Text 3"/>
          <p:cNvSpPr txBox="1"/>
          <p:nvPr/>
        </p:nvSpPr>
        <p:spPr>
          <a:xfrm>
            <a:off x="475488" y="2304288"/>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学習規律</a:t>
            </a:r>
            <a:endParaRPr lang="en-US" sz="2100" dirty="0"/>
          </a:p>
        </p:txBody>
      </p:sp>
      <p:sp>
        <p:nvSpPr>
          <p:cNvPr id="6" name="Shape 4"/>
          <p:cNvSpPr/>
          <p:nvPr/>
        </p:nvSpPr>
        <p:spPr>
          <a:xfrm>
            <a:off x="475488" y="3072384"/>
            <a:ext cx="4023360" cy="621792"/>
          </a:xfrm>
          <a:prstGeom prst="roundRect">
            <a:avLst>
              <a:gd name="adj" fmla="val 10294"/>
            </a:avLst>
          </a:prstGeom>
          <a:solidFill>
            <a:srgbClr val="E9F7F3"/>
          </a:solidFill>
          <a:ln w="12700">
            <a:solidFill>
              <a:srgbClr val="B9E5DA"/>
            </a:solidFill>
            <a:prstDash val="solid"/>
          </a:ln>
        </p:spPr>
      </p:sp>
      <p:sp>
        <p:nvSpPr>
          <p:cNvPr id="7" name="Text 5"/>
          <p:cNvSpPr txBox="1"/>
          <p:nvPr/>
        </p:nvSpPr>
        <p:spPr>
          <a:xfrm>
            <a:off x="475488" y="3072384"/>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学習習慣</a:t>
            </a:r>
            <a:endParaRPr lang="en-US" sz="2100" dirty="0"/>
          </a:p>
        </p:txBody>
      </p:sp>
      <p:sp>
        <p:nvSpPr>
          <p:cNvPr id="8" name="Shape 6"/>
          <p:cNvSpPr/>
          <p:nvPr/>
        </p:nvSpPr>
        <p:spPr>
          <a:xfrm>
            <a:off x="475488" y="3840480"/>
            <a:ext cx="4023360" cy="621792"/>
          </a:xfrm>
          <a:prstGeom prst="roundRect">
            <a:avLst>
              <a:gd name="adj" fmla="val 10294"/>
            </a:avLst>
          </a:prstGeom>
          <a:solidFill>
            <a:srgbClr val="E9F7F3"/>
          </a:solidFill>
          <a:ln w="12700">
            <a:solidFill>
              <a:srgbClr val="B9E5DA"/>
            </a:solidFill>
            <a:prstDash val="solid"/>
          </a:ln>
        </p:spPr>
      </p:sp>
      <p:sp>
        <p:nvSpPr>
          <p:cNvPr id="9" name="Text 7"/>
          <p:cNvSpPr txBox="1"/>
          <p:nvPr/>
        </p:nvSpPr>
        <p:spPr>
          <a:xfrm>
            <a:off x="475488" y="3840480"/>
            <a:ext cx="4023360" cy="621792"/>
          </a:xfrm>
          <a:prstGeom prst="rect">
            <a:avLst/>
          </a:prstGeom>
          <a:noFill/>
          <a:ln/>
        </p:spPr>
        <p:txBody>
          <a:bodyPr wrap="square" lIns="0" tIns="0" rIns="0" bIns="0" rtlCol="0" anchor="ctr"/>
          <a:lstStyle/>
          <a:p>
            <a:pPr algn="ctr" indent="0" marL="0">
              <a:lnSpc>
                <a:spcPct val="115000"/>
              </a:lnSpc>
              <a:buNone/>
            </a:pPr>
            <a:r>
              <a:rPr lang="en-US" sz="2100" b="1" dirty="0">
                <a:solidFill>
                  <a:srgbClr val="595959"/>
                </a:solidFill>
                <a:latin typeface="メイリオ" pitchFamily="34" charset="0"/>
                <a:ea typeface="メイリオ" pitchFamily="34" charset="-122"/>
                <a:cs typeface="メイリオ" pitchFamily="34" charset="-120"/>
              </a:rPr>
              <a:t>学びへの主体性</a:t>
            </a:r>
            <a:endParaRPr lang="en-US" sz="2100" dirty="0"/>
          </a:p>
        </p:txBody>
      </p:sp>
      <p:sp>
        <p:nvSpPr>
          <p:cNvPr id="10" name="Shape 8"/>
          <p:cNvSpPr/>
          <p:nvPr/>
        </p:nvSpPr>
        <p:spPr>
          <a:xfrm>
            <a:off x="5074920" y="1444752"/>
            <a:ext cx="3593592" cy="3017520"/>
          </a:xfrm>
          <a:prstGeom prst="rect">
            <a:avLst/>
          </a:prstGeom>
          <a:solidFill>
            <a:srgbClr val="FBFEFD"/>
          </a:solidFill>
          <a:ln w="19050">
            <a:solidFill>
              <a:srgbClr val="44C1A3"/>
            </a:solidFill>
            <a:prstDash val="dash"/>
          </a:ln>
        </p:spPr>
      </p:sp>
      <p:sp>
        <p:nvSpPr>
          <p:cNvPr id="11" name="Text 9"/>
          <p:cNvSpPr txBox="1"/>
          <p:nvPr/>
        </p:nvSpPr>
        <p:spPr>
          <a:xfrm>
            <a:off x="5212080" y="1581912"/>
            <a:ext cx="3319272" cy="2743200"/>
          </a:xfrm>
          <a:prstGeom prst="rect">
            <a:avLst/>
          </a:prstGeom>
          <a:noFill/>
          <a:ln/>
        </p:spPr>
        <p:txBody>
          <a:bodyPr wrap="square" lIns="0" tIns="0" rIns="0" bIns="0" rtlCol="0" anchor="ctr"/>
          <a:lstStyle/>
          <a:p>
            <a:pPr algn="ctr" indent="0" marL="0">
              <a:lnSpc>
                <a:spcPct val="125000"/>
              </a:lnSpc>
              <a:buNone/>
            </a:pPr>
            <a:r>
              <a:rPr lang="en-US" sz="1600" b="1" dirty="0">
                <a:solidFill>
                  <a:srgbClr val="44C1A3"/>
                </a:solidFill>
                <a:latin typeface="メイリオ" pitchFamily="34" charset="0"/>
                <a:ea typeface="メイリオ" pitchFamily="34" charset="-122"/>
                <a:cs typeface="メイリオ" pitchFamily="34" charset="-120"/>
              </a:rPr>
              <a:t>学力調査・意識調査グラフ</a:t>
            </a:r>
            <a:endParaRPr lang="en-US" sz="1600" dirty="0"/>
          </a:p>
          <a:p>
            <a:pPr algn="ctr" indent="0" marL="0">
              <a:lnSpc>
                <a:spcPct val="125000"/>
              </a:lnSpc>
              <a:buNone/>
            </a:pPr>
            <a:r>
              <a:rPr lang="en-US" sz="1600" b="1" dirty="0">
                <a:solidFill>
                  <a:srgbClr val="44C1A3"/>
                </a:solidFill>
                <a:latin typeface="メイリオ" pitchFamily="34" charset="0"/>
                <a:ea typeface="メイリオ" pitchFamily="34" charset="-122"/>
                <a:cs typeface="メイリオ" pitchFamily="34" charset="-120"/>
              </a:rPr>
              <a:t>（貼付欄）</a:t>
            </a:r>
            <a:endParaRPr lang="en-US" sz="1600" dirty="0"/>
          </a:p>
          <a:p>
            <a:pPr algn="ctr" indent="0" marL="0">
              <a:lnSpc>
                <a:spcPct val="125000"/>
              </a:lnSpc>
              <a:buNone/>
            </a:pPr>
            <a:r>
              <a:rPr lang="en-US" sz="1000" b="1" dirty="0">
                <a:solidFill>
                  <a:srgbClr val="000000"/>
                </a:solidFill>
                <a:latin typeface="メイリオ" pitchFamily="34" charset="0"/>
                <a:ea typeface="メイリオ" pitchFamily="34" charset="-122"/>
                <a:cs typeface="メイリオ" pitchFamily="34" charset="-120"/>
              </a:rPr>
              <a:t> </a:t>
            </a:r>
            <a:endParaRPr lang="en-US" sz="1600" dirty="0"/>
          </a:p>
          <a:p>
            <a:pPr algn="ctr" indent="0" marL="0">
              <a:lnSpc>
                <a:spcPct val="125000"/>
              </a:lnSpc>
              <a:buNone/>
            </a:pPr>
            <a:r>
              <a:rPr lang="en-US" sz="1200" b="1" dirty="0">
                <a:solidFill>
                  <a:srgbClr val="808080"/>
                </a:solidFill>
                <a:latin typeface="メイリオ" pitchFamily="34" charset="0"/>
                <a:ea typeface="メイリオ" pitchFamily="34" charset="-122"/>
                <a:cs typeface="メイリオ" pitchFamily="34" charset="-120"/>
              </a:rPr>
              <a:t>全国学力・学習状況調査</a:t>
            </a:r>
            <a:endParaRPr lang="en-US" sz="1600" dirty="0"/>
          </a:p>
          <a:p>
            <a:pPr algn="ctr" indent="0" marL="0">
              <a:lnSpc>
                <a:spcPct val="125000"/>
              </a:lnSpc>
              <a:buNone/>
            </a:pPr>
            <a:r>
              <a:rPr lang="en-US" sz="1200" b="1" dirty="0">
                <a:solidFill>
                  <a:srgbClr val="808080"/>
                </a:solidFill>
                <a:latin typeface="メイリオ" pitchFamily="34" charset="0"/>
                <a:ea typeface="メイリオ" pitchFamily="34" charset="-122"/>
                <a:cs typeface="メイリオ" pitchFamily="34" charset="-120"/>
              </a:rPr>
              <a:t>児童・生徒質問紙調査　ほか</a:t>
            </a:r>
            <a:endParaRPr lang="en-US" sz="1600" dirty="0"/>
          </a:p>
        </p:txBody>
      </p:sp>
      <p:sp>
        <p:nvSpPr>
          <p:cNvPr id="12" name="Text 10"/>
          <p:cNvSpPr txBox="1"/>
          <p:nvPr/>
        </p:nvSpPr>
        <p:spPr>
          <a:xfrm>
            <a:off x="5074920" y="4526280"/>
            <a:ext cx="3593592" cy="274320"/>
          </a:xfrm>
          <a:prstGeom prst="rect">
            <a:avLst/>
          </a:prstGeom>
          <a:noFill/>
          <a:ln/>
        </p:spPr>
        <p:txBody>
          <a:bodyPr wrap="square" lIns="0" tIns="0" rIns="0" bIns="0" rtlCol="0" anchor="ctr"/>
          <a:lstStyle/>
          <a:p>
            <a:pPr algn="ctr" indent="0" marL="0">
              <a:buNone/>
            </a:pPr>
            <a:r>
              <a:rPr lang="en-US" sz="1000" b="1" dirty="0">
                <a:solidFill>
                  <a:srgbClr val="808080"/>
                </a:solidFill>
                <a:latin typeface="メイリオ" pitchFamily="34" charset="0"/>
                <a:ea typeface="メイリオ" pitchFamily="34" charset="-122"/>
                <a:cs typeface="メイリオ" pitchFamily="34" charset="-120"/>
              </a:rPr>
              <a:t>※ 本校の調査結果グラフを貼り付けてご使用ください。</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本校と練馬区の比較</a:t>
            </a:r>
            <a:endParaRPr lang="en-US" sz="3000" dirty="0"/>
          </a:p>
        </p:txBody>
      </p:sp>
      <p:sp>
        <p:nvSpPr>
          <p:cNvPr id="3" name="Shape 1"/>
          <p:cNvSpPr/>
          <p:nvPr/>
        </p:nvSpPr>
        <p:spPr>
          <a:xfrm>
            <a:off x="320040" y="1417320"/>
            <a:ext cx="2697480" cy="2560320"/>
          </a:xfrm>
          <a:prstGeom prst="roundRect">
            <a:avLst>
              <a:gd name="adj" fmla="val 2143"/>
            </a:avLst>
          </a:prstGeom>
          <a:solidFill>
            <a:srgbClr val="E9F7F3"/>
          </a:solidFill>
          <a:ln w="12700">
            <a:solidFill>
              <a:srgbClr val="B9E5DA"/>
            </a:solidFill>
            <a:prstDash val="solid"/>
          </a:ln>
        </p:spPr>
      </p:sp>
      <p:sp>
        <p:nvSpPr>
          <p:cNvPr id="4" name="Shape 2"/>
          <p:cNvSpPr/>
          <p:nvPr/>
        </p:nvSpPr>
        <p:spPr>
          <a:xfrm>
            <a:off x="466344" y="1517904"/>
            <a:ext cx="365760" cy="365760"/>
          </a:xfrm>
          <a:prstGeom prst="ellipse">
            <a:avLst/>
          </a:prstGeom>
          <a:solidFill>
            <a:srgbClr val="44C1A3"/>
          </a:solidFill>
          <a:ln/>
        </p:spPr>
      </p:sp>
      <p:sp>
        <p:nvSpPr>
          <p:cNvPr id="5" name="Text 3"/>
          <p:cNvSpPr txBox="1"/>
          <p:nvPr/>
        </p:nvSpPr>
        <p:spPr>
          <a:xfrm>
            <a:off x="466344" y="1517904"/>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メイリオ" pitchFamily="34" charset="0"/>
                <a:ea typeface="メイリオ" pitchFamily="34" charset="-122"/>
                <a:cs typeface="メイリオ" pitchFamily="34" charset="-120"/>
              </a:rPr>
              <a:t>①</a:t>
            </a:r>
            <a:endParaRPr lang="en-US" sz="1800" dirty="0"/>
          </a:p>
        </p:txBody>
      </p:sp>
      <p:sp>
        <p:nvSpPr>
          <p:cNvPr id="6" name="Text 4"/>
          <p:cNvSpPr txBox="1"/>
          <p:nvPr/>
        </p:nvSpPr>
        <p:spPr>
          <a:xfrm>
            <a:off x="886968" y="1517904"/>
            <a:ext cx="1984248" cy="365760"/>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自己肯定感</a:t>
            </a:r>
            <a:endParaRPr lang="en-US" sz="1500" dirty="0"/>
          </a:p>
        </p:txBody>
      </p:sp>
      <p:sp>
        <p:nvSpPr>
          <p:cNvPr id="7" name="Text 5"/>
          <p:cNvSpPr txBox="1"/>
          <p:nvPr/>
        </p:nvSpPr>
        <p:spPr>
          <a:xfrm>
            <a:off x="466344" y="1956816"/>
            <a:ext cx="2404872" cy="420624"/>
          </a:xfrm>
          <a:prstGeom prst="rect">
            <a:avLst/>
          </a:prstGeom>
          <a:noFill/>
          <a:ln/>
        </p:spPr>
        <p:txBody>
          <a:bodyPr wrap="square" lIns="0" tIns="0" rIns="0" bIns="0" rtlCol="0" anchor="t"/>
          <a:lstStyle/>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自分には、よいところが</a:t>
            </a:r>
            <a:endParaRPr lang="en-US" sz="1050" dirty="0"/>
          </a:p>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あると思いますか</a:t>
            </a:r>
            <a:endParaRPr lang="en-US" sz="1050" dirty="0"/>
          </a:p>
        </p:txBody>
      </p:sp>
      <p:sp>
        <p:nvSpPr>
          <p:cNvPr id="8" name="Text 6"/>
          <p:cNvSpPr txBox="1"/>
          <p:nvPr/>
        </p:nvSpPr>
        <p:spPr>
          <a:xfrm>
            <a:off x="466344" y="2450592"/>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小学部（６年）</a:t>
            </a:r>
            <a:endParaRPr lang="en-US" sz="1050" dirty="0"/>
          </a:p>
        </p:txBody>
      </p:sp>
      <p:sp>
        <p:nvSpPr>
          <p:cNvPr id="9" name="Text 7"/>
          <p:cNvSpPr txBox="1"/>
          <p:nvPr/>
        </p:nvSpPr>
        <p:spPr>
          <a:xfrm>
            <a:off x="466344" y="2651760"/>
            <a:ext cx="914400" cy="384048"/>
          </a:xfrm>
          <a:prstGeom prst="rect">
            <a:avLst/>
          </a:prstGeom>
          <a:noFill/>
          <a:ln/>
        </p:spPr>
        <p:txBody>
          <a:bodyPr wrap="square" lIns="0" tIns="0" rIns="0" bIns="0" rtlCol="0" anchor="ctr"/>
          <a:lstStyle/>
          <a:p>
            <a:pPr algn="l" indent="0" marL="0">
              <a:buNone/>
            </a:pPr>
            <a:r>
              <a:rPr lang="en-US" sz="2000" b="1" dirty="0">
                <a:solidFill>
                  <a:srgbClr val="3F3F3F"/>
                </a:solidFill>
                <a:latin typeface="メイリオ" pitchFamily="34" charset="0"/>
                <a:ea typeface="メイリオ" pitchFamily="34" charset="-122"/>
                <a:cs typeface="メイリオ" pitchFamily="34" charset="-120"/>
              </a:rPr>
              <a:t>85.2</a:t>
            </a:r>
            <a:pPr algn="l" indent="0" marL="0">
              <a:buNone/>
            </a:pPr>
            <a:r>
              <a:rPr lang="en-US" sz="1200" b="1" dirty="0">
                <a:solidFill>
                  <a:srgbClr val="3F3F3F"/>
                </a:solidFill>
                <a:latin typeface="メイリオ" pitchFamily="34" charset="0"/>
                <a:ea typeface="メイリオ" pitchFamily="34" charset="-122"/>
                <a:cs typeface="メイリオ" pitchFamily="34" charset="-120"/>
              </a:rPr>
              <a:t>％</a:t>
            </a:r>
            <a:endParaRPr lang="en-US" sz="2000" dirty="0"/>
          </a:p>
        </p:txBody>
      </p:sp>
      <p:sp>
        <p:nvSpPr>
          <p:cNvPr id="10" name="Text 8"/>
          <p:cNvSpPr txBox="1"/>
          <p:nvPr/>
        </p:nvSpPr>
        <p:spPr>
          <a:xfrm>
            <a:off x="1435608" y="2651760"/>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86.4</a:t>
            </a:r>
            <a:endParaRPr lang="en-US" sz="1100" dirty="0"/>
          </a:p>
        </p:txBody>
      </p:sp>
      <p:sp>
        <p:nvSpPr>
          <p:cNvPr id="11" name="Shape 9"/>
          <p:cNvSpPr/>
          <p:nvPr/>
        </p:nvSpPr>
        <p:spPr>
          <a:xfrm>
            <a:off x="2194560" y="2688336"/>
            <a:ext cx="676656" cy="310896"/>
          </a:xfrm>
          <a:prstGeom prst="roundRect">
            <a:avLst>
              <a:gd name="adj" fmla="val 14706"/>
            </a:avLst>
          </a:prstGeom>
          <a:solidFill>
            <a:srgbClr val="F2F2F2"/>
          </a:solidFill>
          <a:ln w="12700">
            <a:solidFill>
              <a:srgbClr val="DDDDDD"/>
            </a:solidFill>
            <a:prstDash val="solid"/>
          </a:ln>
        </p:spPr>
      </p:sp>
      <p:sp>
        <p:nvSpPr>
          <p:cNvPr id="12" name="Text 10"/>
          <p:cNvSpPr txBox="1"/>
          <p:nvPr/>
        </p:nvSpPr>
        <p:spPr>
          <a:xfrm>
            <a:off x="2194560" y="2688336"/>
            <a:ext cx="676656" cy="310896"/>
          </a:xfrm>
          <a:prstGeom prst="rect">
            <a:avLst/>
          </a:prstGeom>
          <a:noFill/>
          <a:ln/>
        </p:spPr>
        <p:txBody>
          <a:bodyPr wrap="square" lIns="0" tIns="0" rIns="0" bIns="0" rtlCol="0" anchor="ctr"/>
          <a:lstStyle/>
          <a:p>
            <a:pPr algn="ctr" indent="0" marL="0">
              <a:buNone/>
            </a:pPr>
            <a:r>
              <a:rPr lang="en-US" sz="1200" b="1" dirty="0">
                <a:solidFill>
                  <a:srgbClr val="808080"/>
                </a:solidFill>
                <a:latin typeface="メイリオ" pitchFamily="34" charset="0"/>
                <a:ea typeface="メイリオ" pitchFamily="34" charset="-122"/>
                <a:cs typeface="メイリオ" pitchFamily="34" charset="-120"/>
              </a:rPr>
              <a:t>-1.2</a:t>
            </a:r>
            <a:endParaRPr lang="en-US" sz="1200" dirty="0"/>
          </a:p>
        </p:txBody>
      </p:sp>
      <p:sp>
        <p:nvSpPr>
          <p:cNvPr id="13" name="Text 11"/>
          <p:cNvSpPr txBox="1"/>
          <p:nvPr/>
        </p:nvSpPr>
        <p:spPr>
          <a:xfrm>
            <a:off x="466344" y="3200400"/>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中学部（９年）</a:t>
            </a:r>
            <a:endParaRPr lang="en-US" sz="1050" dirty="0"/>
          </a:p>
        </p:txBody>
      </p:sp>
      <p:sp>
        <p:nvSpPr>
          <p:cNvPr id="14" name="Text 12"/>
          <p:cNvSpPr txBox="1"/>
          <p:nvPr/>
        </p:nvSpPr>
        <p:spPr>
          <a:xfrm>
            <a:off x="466344" y="3401568"/>
            <a:ext cx="914400" cy="384048"/>
          </a:xfrm>
          <a:prstGeom prst="rect">
            <a:avLst/>
          </a:prstGeom>
          <a:noFill/>
          <a:ln/>
        </p:spPr>
        <p:txBody>
          <a:bodyPr wrap="square" lIns="0" tIns="0" rIns="0" bIns="0" rtlCol="0" anchor="ctr"/>
          <a:lstStyle/>
          <a:p>
            <a:pPr algn="l" indent="0" marL="0">
              <a:buNone/>
            </a:pPr>
            <a:r>
              <a:rPr lang="en-US" sz="2000" b="1" dirty="0">
                <a:solidFill>
                  <a:srgbClr val="3F3F3F"/>
                </a:solidFill>
                <a:latin typeface="メイリオ" pitchFamily="34" charset="0"/>
                <a:ea typeface="メイリオ" pitchFamily="34" charset="-122"/>
                <a:cs typeface="メイリオ" pitchFamily="34" charset="-120"/>
              </a:rPr>
              <a:t>91.5</a:t>
            </a:r>
            <a:pPr algn="l" indent="0" marL="0">
              <a:buNone/>
            </a:pPr>
            <a:r>
              <a:rPr lang="en-US" sz="1200" b="1" dirty="0">
                <a:solidFill>
                  <a:srgbClr val="3F3F3F"/>
                </a:solidFill>
                <a:latin typeface="メイリオ" pitchFamily="34" charset="0"/>
                <a:ea typeface="メイリオ" pitchFamily="34" charset="-122"/>
                <a:cs typeface="メイリオ" pitchFamily="34" charset="-120"/>
              </a:rPr>
              <a:t>％</a:t>
            </a:r>
            <a:endParaRPr lang="en-US" sz="2000" dirty="0"/>
          </a:p>
        </p:txBody>
      </p:sp>
      <p:sp>
        <p:nvSpPr>
          <p:cNvPr id="15" name="Text 13"/>
          <p:cNvSpPr txBox="1"/>
          <p:nvPr/>
        </p:nvSpPr>
        <p:spPr>
          <a:xfrm>
            <a:off x="1435608" y="3401568"/>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83.3</a:t>
            </a:r>
            <a:endParaRPr lang="en-US" sz="1100" dirty="0"/>
          </a:p>
        </p:txBody>
      </p:sp>
      <p:sp>
        <p:nvSpPr>
          <p:cNvPr id="16" name="Shape 14"/>
          <p:cNvSpPr/>
          <p:nvPr/>
        </p:nvSpPr>
        <p:spPr>
          <a:xfrm>
            <a:off x="2194560" y="3438144"/>
            <a:ext cx="676656" cy="310896"/>
          </a:xfrm>
          <a:prstGeom prst="roundRect">
            <a:avLst>
              <a:gd name="adj" fmla="val 14706"/>
            </a:avLst>
          </a:prstGeom>
          <a:solidFill>
            <a:srgbClr val="FDF0E3"/>
          </a:solidFill>
          <a:ln w="12700">
            <a:solidFill>
              <a:srgbClr val="F6CFA4"/>
            </a:solidFill>
            <a:prstDash val="solid"/>
          </a:ln>
        </p:spPr>
      </p:sp>
      <p:sp>
        <p:nvSpPr>
          <p:cNvPr id="17" name="Text 15"/>
          <p:cNvSpPr txBox="1"/>
          <p:nvPr/>
        </p:nvSpPr>
        <p:spPr>
          <a:xfrm>
            <a:off x="2194560" y="3438144"/>
            <a:ext cx="676656" cy="310896"/>
          </a:xfrm>
          <a:prstGeom prst="rect">
            <a:avLst/>
          </a:prstGeom>
          <a:noFill/>
          <a:ln/>
        </p:spPr>
        <p:txBody>
          <a:bodyPr wrap="square" lIns="0" tIns="0" rIns="0" bIns="0" rtlCol="0" anchor="ctr"/>
          <a:lstStyle/>
          <a:p>
            <a:pPr algn="ctr" indent="0" marL="0">
              <a:buNone/>
            </a:pPr>
            <a:r>
              <a:rPr lang="en-US" sz="1200" b="1" dirty="0">
                <a:solidFill>
                  <a:srgbClr val="EE7B08"/>
                </a:solidFill>
                <a:latin typeface="メイリオ" pitchFamily="34" charset="0"/>
                <a:ea typeface="メイリオ" pitchFamily="34" charset="-122"/>
                <a:cs typeface="メイリオ" pitchFamily="34" charset="-120"/>
              </a:rPr>
              <a:t>＋8.2</a:t>
            </a:r>
            <a:endParaRPr lang="en-US" sz="1200" dirty="0"/>
          </a:p>
        </p:txBody>
      </p:sp>
      <p:sp>
        <p:nvSpPr>
          <p:cNvPr id="18" name="Shape 16"/>
          <p:cNvSpPr/>
          <p:nvPr/>
        </p:nvSpPr>
        <p:spPr>
          <a:xfrm>
            <a:off x="3227832" y="1417320"/>
            <a:ext cx="2697480" cy="2560320"/>
          </a:xfrm>
          <a:prstGeom prst="roundRect">
            <a:avLst>
              <a:gd name="adj" fmla="val 2143"/>
            </a:avLst>
          </a:prstGeom>
          <a:solidFill>
            <a:srgbClr val="E9F7F3"/>
          </a:solidFill>
          <a:ln w="12700">
            <a:solidFill>
              <a:srgbClr val="B9E5DA"/>
            </a:solidFill>
            <a:prstDash val="solid"/>
          </a:ln>
        </p:spPr>
      </p:sp>
      <p:sp>
        <p:nvSpPr>
          <p:cNvPr id="19" name="Shape 17"/>
          <p:cNvSpPr/>
          <p:nvPr/>
        </p:nvSpPr>
        <p:spPr>
          <a:xfrm>
            <a:off x="3374136" y="1517904"/>
            <a:ext cx="365760" cy="365760"/>
          </a:xfrm>
          <a:prstGeom prst="ellipse">
            <a:avLst/>
          </a:prstGeom>
          <a:solidFill>
            <a:srgbClr val="44C1A3"/>
          </a:solidFill>
          <a:ln/>
        </p:spPr>
      </p:sp>
      <p:sp>
        <p:nvSpPr>
          <p:cNvPr id="20" name="Text 18"/>
          <p:cNvSpPr txBox="1"/>
          <p:nvPr/>
        </p:nvSpPr>
        <p:spPr>
          <a:xfrm>
            <a:off x="3374136" y="1517904"/>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メイリオ" pitchFamily="34" charset="0"/>
                <a:ea typeface="メイリオ" pitchFamily="34" charset="-122"/>
                <a:cs typeface="メイリオ" pitchFamily="34" charset="-120"/>
              </a:rPr>
              <a:t>②</a:t>
            </a:r>
            <a:endParaRPr lang="en-US" sz="1800" dirty="0"/>
          </a:p>
        </p:txBody>
      </p:sp>
      <p:sp>
        <p:nvSpPr>
          <p:cNvPr id="21" name="Text 19"/>
          <p:cNvSpPr txBox="1"/>
          <p:nvPr/>
        </p:nvSpPr>
        <p:spPr>
          <a:xfrm>
            <a:off x="3794760" y="1517904"/>
            <a:ext cx="1984248" cy="365760"/>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対話・協働</a:t>
            </a:r>
            <a:endParaRPr lang="en-US" sz="1500" dirty="0"/>
          </a:p>
        </p:txBody>
      </p:sp>
      <p:sp>
        <p:nvSpPr>
          <p:cNvPr id="22" name="Text 20"/>
          <p:cNvSpPr txBox="1"/>
          <p:nvPr/>
        </p:nvSpPr>
        <p:spPr>
          <a:xfrm>
            <a:off x="3374136" y="1956816"/>
            <a:ext cx="2404872" cy="420624"/>
          </a:xfrm>
          <a:prstGeom prst="rect">
            <a:avLst/>
          </a:prstGeom>
          <a:noFill/>
          <a:ln/>
        </p:spPr>
        <p:txBody>
          <a:bodyPr wrap="square" lIns="0" tIns="0" rIns="0" bIns="0" rtlCol="0" anchor="t"/>
          <a:lstStyle/>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話し合う活動を通じて、</a:t>
            </a:r>
            <a:endParaRPr lang="en-US" sz="1050" dirty="0"/>
          </a:p>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考えを深められている</a:t>
            </a:r>
            <a:endParaRPr lang="en-US" sz="1050" dirty="0"/>
          </a:p>
        </p:txBody>
      </p:sp>
      <p:sp>
        <p:nvSpPr>
          <p:cNvPr id="23" name="Text 21"/>
          <p:cNvSpPr txBox="1"/>
          <p:nvPr/>
        </p:nvSpPr>
        <p:spPr>
          <a:xfrm>
            <a:off x="3374136" y="2450592"/>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小学部（６年）</a:t>
            </a:r>
            <a:endParaRPr lang="en-US" sz="1050" dirty="0"/>
          </a:p>
        </p:txBody>
      </p:sp>
      <p:sp>
        <p:nvSpPr>
          <p:cNvPr id="24" name="Text 22"/>
          <p:cNvSpPr txBox="1"/>
          <p:nvPr/>
        </p:nvSpPr>
        <p:spPr>
          <a:xfrm>
            <a:off x="3374136" y="2651760"/>
            <a:ext cx="914400" cy="384048"/>
          </a:xfrm>
          <a:prstGeom prst="rect">
            <a:avLst/>
          </a:prstGeom>
          <a:noFill/>
          <a:ln/>
        </p:spPr>
        <p:txBody>
          <a:bodyPr wrap="square" lIns="0" tIns="0" rIns="0" bIns="0" rtlCol="0" anchor="ctr"/>
          <a:lstStyle/>
          <a:p>
            <a:pPr algn="l" indent="0" marL="0">
              <a:buNone/>
            </a:pPr>
            <a:r>
              <a:rPr lang="en-US" sz="2000" b="1" dirty="0">
                <a:solidFill>
                  <a:srgbClr val="3F3F3F"/>
                </a:solidFill>
                <a:latin typeface="メイリオ" pitchFamily="34" charset="0"/>
                <a:ea typeface="メイリオ" pitchFamily="34" charset="-122"/>
                <a:cs typeface="メイリオ" pitchFamily="34" charset="-120"/>
              </a:rPr>
              <a:t>92.5</a:t>
            </a:r>
            <a:pPr algn="l" indent="0" marL="0">
              <a:buNone/>
            </a:pPr>
            <a:r>
              <a:rPr lang="en-US" sz="1200" b="1" dirty="0">
                <a:solidFill>
                  <a:srgbClr val="3F3F3F"/>
                </a:solidFill>
                <a:latin typeface="メイリオ" pitchFamily="34" charset="0"/>
                <a:ea typeface="メイリオ" pitchFamily="34" charset="-122"/>
                <a:cs typeface="メイリオ" pitchFamily="34" charset="-120"/>
              </a:rPr>
              <a:t>％</a:t>
            </a:r>
            <a:endParaRPr lang="en-US" sz="2000" dirty="0"/>
          </a:p>
        </p:txBody>
      </p:sp>
      <p:sp>
        <p:nvSpPr>
          <p:cNvPr id="25" name="Text 23"/>
          <p:cNvSpPr txBox="1"/>
          <p:nvPr/>
        </p:nvSpPr>
        <p:spPr>
          <a:xfrm>
            <a:off x="4343400" y="2651760"/>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87.0</a:t>
            </a:r>
            <a:endParaRPr lang="en-US" sz="1100" dirty="0"/>
          </a:p>
        </p:txBody>
      </p:sp>
      <p:sp>
        <p:nvSpPr>
          <p:cNvPr id="26" name="Shape 24"/>
          <p:cNvSpPr/>
          <p:nvPr/>
        </p:nvSpPr>
        <p:spPr>
          <a:xfrm>
            <a:off x="5102352" y="2688336"/>
            <a:ext cx="676656" cy="310896"/>
          </a:xfrm>
          <a:prstGeom prst="roundRect">
            <a:avLst>
              <a:gd name="adj" fmla="val 14706"/>
            </a:avLst>
          </a:prstGeom>
          <a:solidFill>
            <a:srgbClr val="FDF0E3"/>
          </a:solidFill>
          <a:ln w="12700">
            <a:solidFill>
              <a:srgbClr val="F6CFA4"/>
            </a:solidFill>
            <a:prstDash val="solid"/>
          </a:ln>
        </p:spPr>
      </p:sp>
      <p:sp>
        <p:nvSpPr>
          <p:cNvPr id="27" name="Text 25"/>
          <p:cNvSpPr txBox="1"/>
          <p:nvPr/>
        </p:nvSpPr>
        <p:spPr>
          <a:xfrm>
            <a:off x="5102352" y="2688336"/>
            <a:ext cx="676656" cy="310896"/>
          </a:xfrm>
          <a:prstGeom prst="rect">
            <a:avLst/>
          </a:prstGeom>
          <a:noFill/>
          <a:ln/>
        </p:spPr>
        <p:txBody>
          <a:bodyPr wrap="square" lIns="0" tIns="0" rIns="0" bIns="0" rtlCol="0" anchor="ctr"/>
          <a:lstStyle/>
          <a:p>
            <a:pPr algn="ctr" indent="0" marL="0">
              <a:buNone/>
            </a:pPr>
            <a:r>
              <a:rPr lang="en-US" sz="1200" b="1" dirty="0">
                <a:solidFill>
                  <a:srgbClr val="EE7B08"/>
                </a:solidFill>
                <a:latin typeface="メイリオ" pitchFamily="34" charset="0"/>
                <a:ea typeface="メイリオ" pitchFamily="34" charset="-122"/>
                <a:cs typeface="メイリオ" pitchFamily="34" charset="-120"/>
              </a:rPr>
              <a:t>＋5.5</a:t>
            </a:r>
            <a:endParaRPr lang="en-US" sz="1200" dirty="0"/>
          </a:p>
        </p:txBody>
      </p:sp>
      <p:sp>
        <p:nvSpPr>
          <p:cNvPr id="28" name="Text 26"/>
          <p:cNvSpPr txBox="1"/>
          <p:nvPr/>
        </p:nvSpPr>
        <p:spPr>
          <a:xfrm>
            <a:off x="3374136" y="3200400"/>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中学部（９年）</a:t>
            </a:r>
            <a:endParaRPr lang="en-US" sz="1050" dirty="0"/>
          </a:p>
        </p:txBody>
      </p:sp>
      <p:sp>
        <p:nvSpPr>
          <p:cNvPr id="29" name="Text 27"/>
          <p:cNvSpPr txBox="1"/>
          <p:nvPr/>
        </p:nvSpPr>
        <p:spPr>
          <a:xfrm>
            <a:off x="3374136" y="3401568"/>
            <a:ext cx="914400" cy="384048"/>
          </a:xfrm>
          <a:prstGeom prst="rect">
            <a:avLst/>
          </a:prstGeom>
          <a:noFill/>
          <a:ln/>
        </p:spPr>
        <p:txBody>
          <a:bodyPr wrap="square" lIns="0" tIns="0" rIns="0" bIns="0" rtlCol="0" anchor="ctr"/>
          <a:lstStyle/>
          <a:p>
            <a:pPr algn="l" indent="0" marL="0">
              <a:buNone/>
            </a:pPr>
            <a:r>
              <a:rPr lang="en-US" sz="2000" b="1" dirty="0">
                <a:solidFill>
                  <a:srgbClr val="3F3F3F"/>
                </a:solidFill>
                <a:latin typeface="メイリオ" pitchFamily="34" charset="0"/>
                <a:ea typeface="メイリオ" pitchFamily="34" charset="-122"/>
                <a:cs typeface="メイリオ" pitchFamily="34" charset="-120"/>
              </a:rPr>
              <a:t>97.9</a:t>
            </a:r>
            <a:pPr algn="l" indent="0" marL="0">
              <a:buNone/>
            </a:pPr>
            <a:r>
              <a:rPr lang="en-US" sz="1200" b="1" dirty="0">
                <a:solidFill>
                  <a:srgbClr val="3F3F3F"/>
                </a:solidFill>
                <a:latin typeface="メイリオ" pitchFamily="34" charset="0"/>
                <a:ea typeface="メイリオ" pitchFamily="34" charset="-122"/>
                <a:cs typeface="メイリオ" pitchFamily="34" charset="-120"/>
              </a:rPr>
              <a:t>％</a:t>
            </a:r>
            <a:endParaRPr lang="en-US" sz="2000" dirty="0"/>
          </a:p>
        </p:txBody>
      </p:sp>
      <p:sp>
        <p:nvSpPr>
          <p:cNvPr id="30" name="Text 28"/>
          <p:cNvSpPr txBox="1"/>
          <p:nvPr/>
        </p:nvSpPr>
        <p:spPr>
          <a:xfrm>
            <a:off x="4343400" y="3401568"/>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86.6</a:t>
            </a:r>
            <a:endParaRPr lang="en-US" sz="1100" dirty="0"/>
          </a:p>
        </p:txBody>
      </p:sp>
      <p:sp>
        <p:nvSpPr>
          <p:cNvPr id="31" name="Shape 29"/>
          <p:cNvSpPr/>
          <p:nvPr/>
        </p:nvSpPr>
        <p:spPr>
          <a:xfrm>
            <a:off x="5102352" y="3438144"/>
            <a:ext cx="676656" cy="310896"/>
          </a:xfrm>
          <a:prstGeom prst="roundRect">
            <a:avLst>
              <a:gd name="adj" fmla="val 14706"/>
            </a:avLst>
          </a:prstGeom>
          <a:solidFill>
            <a:srgbClr val="FDF0E3"/>
          </a:solidFill>
          <a:ln w="12700">
            <a:solidFill>
              <a:srgbClr val="F6CFA4"/>
            </a:solidFill>
            <a:prstDash val="solid"/>
          </a:ln>
        </p:spPr>
      </p:sp>
      <p:sp>
        <p:nvSpPr>
          <p:cNvPr id="32" name="Text 30"/>
          <p:cNvSpPr txBox="1"/>
          <p:nvPr/>
        </p:nvSpPr>
        <p:spPr>
          <a:xfrm>
            <a:off x="5102352" y="3438144"/>
            <a:ext cx="676656" cy="310896"/>
          </a:xfrm>
          <a:prstGeom prst="rect">
            <a:avLst/>
          </a:prstGeom>
          <a:noFill/>
          <a:ln/>
        </p:spPr>
        <p:txBody>
          <a:bodyPr wrap="square" lIns="0" tIns="0" rIns="0" bIns="0" rtlCol="0" anchor="ctr"/>
          <a:lstStyle/>
          <a:p>
            <a:pPr algn="ctr" indent="0" marL="0">
              <a:buNone/>
            </a:pPr>
            <a:r>
              <a:rPr lang="en-US" sz="1200" b="1" dirty="0">
                <a:solidFill>
                  <a:srgbClr val="EE7B08"/>
                </a:solidFill>
                <a:latin typeface="メイリオ" pitchFamily="34" charset="0"/>
                <a:ea typeface="メイリオ" pitchFamily="34" charset="-122"/>
                <a:cs typeface="メイリオ" pitchFamily="34" charset="-120"/>
              </a:rPr>
              <a:t>＋11.3</a:t>
            </a:r>
            <a:endParaRPr lang="en-US" sz="1200" dirty="0"/>
          </a:p>
        </p:txBody>
      </p:sp>
      <p:sp>
        <p:nvSpPr>
          <p:cNvPr id="33" name="Shape 31"/>
          <p:cNvSpPr/>
          <p:nvPr/>
        </p:nvSpPr>
        <p:spPr>
          <a:xfrm>
            <a:off x="6135624" y="1417320"/>
            <a:ext cx="2697480" cy="2560320"/>
          </a:xfrm>
          <a:prstGeom prst="roundRect">
            <a:avLst>
              <a:gd name="adj" fmla="val 2143"/>
            </a:avLst>
          </a:prstGeom>
          <a:solidFill>
            <a:srgbClr val="E9F7F3"/>
          </a:solidFill>
          <a:ln w="12700">
            <a:solidFill>
              <a:srgbClr val="B9E5DA"/>
            </a:solidFill>
            <a:prstDash val="solid"/>
          </a:ln>
        </p:spPr>
      </p:sp>
      <p:sp>
        <p:nvSpPr>
          <p:cNvPr id="34" name="Shape 32"/>
          <p:cNvSpPr/>
          <p:nvPr/>
        </p:nvSpPr>
        <p:spPr>
          <a:xfrm>
            <a:off x="6281928" y="1517904"/>
            <a:ext cx="365760" cy="365760"/>
          </a:xfrm>
          <a:prstGeom prst="ellipse">
            <a:avLst/>
          </a:prstGeom>
          <a:solidFill>
            <a:srgbClr val="44C1A3"/>
          </a:solidFill>
          <a:ln/>
        </p:spPr>
      </p:sp>
      <p:sp>
        <p:nvSpPr>
          <p:cNvPr id="35" name="Text 33"/>
          <p:cNvSpPr txBox="1"/>
          <p:nvPr/>
        </p:nvSpPr>
        <p:spPr>
          <a:xfrm>
            <a:off x="6281928" y="1517904"/>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メイリオ" pitchFamily="34" charset="0"/>
                <a:ea typeface="メイリオ" pitchFamily="34" charset="-122"/>
                <a:cs typeface="メイリオ" pitchFamily="34" charset="-120"/>
              </a:rPr>
              <a:t>③</a:t>
            </a:r>
            <a:endParaRPr lang="en-US" sz="1800" dirty="0"/>
          </a:p>
        </p:txBody>
      </p:sp>
      <p:sp>
        <p:nvSpPr>
          <p:cNvPr id="36" name="Text 34"/>
          <p:cNvSpPr txBox="1"/>
          <p:nvPr/>
        </p:nvSpPr>
        <p:spPr>
          <a:xfrm>
            <a:off x="6702552" y="1517904"/>
            <a:ext cx="1984248" cy="365760"/>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学習の自己調整</a:t>
            </a:r>
            <a:endParaRPr lang="en-US" sz="1500" dirty="0"/>
          </a:p>
        </p:txBody>
      </p:sp>
      <p:sp>
        <p:nvSpPr>
          <p:cNvPr id="37" name="Text 35"/>
          <p:cNvSpPr txBox="1"/>
          <p:nvPr/>
        </p:nvSpPr>
        <p:spPr>
          <a:xfrm>
            <a:off x="6281928" y="1956816"/>
            <a:ext cx="2404872" cy="420624"/>
          </a:xfrm>
          <a:prstGeom prst="rect">
            <a:avLst/>
          </a:prstGeom>
          <a:noFill/>
          <a:ln/>
        </p:spPr>
        <p:txBody>
          <a:bodyPr wrap="square" lIns="0" tIns="0" rIns="0" bIns="0" rtlCol="0" anchor="t"/>
          <a:lstStyle/>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分かった点・分からない点を</a:t>
            </a:r>
            <a:endParaRPr lang="en-US" sz="1050" dirty="0"/>
          </a:p>
          <a:p>
            <a:pPr algn="l" indent="0" marL="0">
              <a:lnSpc>
                <a:spcPct val="115000"/>
              </a:lnSpc>
              <a:buNone/>
            </a:pPr>
            <a:r>
              <a:rPr lang="en-US" sz="1050" b="1" dirty="0">
                <a:solidFill>
                  <a:srgbClr val="808080"/>
                </a:solidFill>
                <a:latin typeface="メイリオ" pitchFamily="34" charset="0"/>
                <a:ea typeface="メイリオ" pitchFamily="34" charset="-122"/>
                <a:cs typeface="メイリオ" pitchFamily="34" charset="-120"/>
              </a:rPr>
              <a:t>見直し、次につなげている</a:t>
            </a:r>
            <a:endParaRPr lang="en-US" sz="1050" dirty="0"/>
          </a:p>
        </p:txBody>
      </p:sp>
      <p:sp>
        <p:nvSpPr>
          <p:cNvPr id="38" name="Text 36"/>
          <p:cNvSpPr txBox="1"/>
          <p:nvPr/>
        </p:nvSpPr>
        <p:spPr>
          <a:xfrm>
            <a:off x="6281928" y="2450592"/>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小学部（６年）</a:t>
            </a:r>
            <a:endParaRPr lang="en-US" sz="1050" dirty="0"/>
          </a:p>
        </p:txBody>
      </p:sp>
      <p:sp>
        <p:nvSpPr>
          <p:cNvPr id="39" name="Text 37"/>
          <p:cNvSpPr txBox="1"/>
          <p:nvPr/>
        </p:nvSpPr>
        <p:spPr>
          <a:xfrm>
            <a:off x="6281928" y="2651760"/>
            <a:ext cx="914400" cy="384048"/>
          </a:xfrm>
          <a:prstGeom prst="rect">
            <a:avLst/>
          </a:prstGeom>
          <a:noFill/>
          <a:ln/>
        </p:spPr>
        <p:txBody>
          <a:bodyPr wrap="square" lIns="0" tIns="0" rIns="0" bIns="0" rtlCol="0" anchor="ctr"/>
          <a:lstStyle/>
          <a:p>
            <a:pPr algn="l" indent="0" marL="0">
              <a:buNone/>
            </a:pPr>
            <a:r>
              <a:rPr lang="en-US" sz="2000" b="1" dirty="0">
                <a:solidFill>
                  <a:srgbClr val="3F3F3F"/>
                </a:solidFill>
                <a:latin typeface="メイリオ" pitchFamily="34" charset="0"/>
                <a:ea typeface="メイリオ" pitchFamily="34" charset="-122"/>
                <a:cs typeface="メイリオ" pitchFamily="34" charset="-120"/>
              </a:rPr>
              <a:t>92.6</a:t>
            </a:r>
            <a:pPr algn="l" indent="0" marL="0">
              <a:buNone/>
            </a:pPr>
            <a:r>
              <a:rPr lang="en-US" sz="1200" b="1" dirty="0">
                <a:solidFill>
                  <a:srgbClr val="3F3F3F"/>
                </a:solidFill>
                <a:latin typeface="メイリオ" pitchFamily="34" charset="0"/>
                <a:ea typeface="メイリオ" pitchFamily="34" charset="-122"/>
                <a:cs typeface="メイリオ" pitchFamily="34" charset="-120"/>
              </a:rPr>
              <a:t>％</a:t>
            </a:r>
            <a:endParaRPr lang="en-US" sz="2000" dirty="0"/>
          </a:p>
        </p:txBody>
      </p:sp>
      <p:sp>
        <p:nvSpPr>
          <p:cNvPr id="40" name="Text 38"/>
          <p:cNvSpPr txBox="1"/>
          <p:nvPr/>
        </p:nvSpPr>
        <p:spPr>
          <a:xfrm>
            <a:off x="7251192" y="2651760"/>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79.0</a:t>
            </a:r>
            <a:endParaRPr lang="en-US" sz="1100" dirty="0"/>
          </a:p>
        </p:txBody>
      </p:sp>
      <p:sp>
        <p:nvSpPr>
          <p:cNvPr id="41" name="Shape 39"/>
          <p:cNvSpPr/>
          <p:nvPr/>
        </p:nvSpPr>
        <p:spPr>
          <a:xfrm>
            <a:off x="8010144" y="2688336"/>
            <a:ext cx="676656" cy="310896"/>
          </a:xfrm>
          <a:prstGeom prst="roundRect">
            <a:avLst>
              <a:gd name="adj" fmla="val 14706"/>
            </a:avLst>
          </a:prstGeom>
          <a:solidFill>
            <a:srgbClr val="FDF0E3"/>
          </a:solidFill>
          <a:ln w="12700">
            <a:solidFill>
              <a:srgbClr val="F6CFA4"/>
            </a:solidFill>
            <a:prstDash val="solid"/>
          </a:ln>
        </p:spPr>
      </p:sp>
      <p:sp>
        <p:nvSpPr>
          <p:cNvPr id="42" name="Text 40"/>
          <p:cNvSpPr txBox="1"/>
          <p:nvPr/>
        </p:nvSpPr>
        <p:spPr>
          <a:xfrm>
            <a:off x="8010144" y="2688336"/>
            <a:ext cx="676656" cy="310896"/>
          </a:xfrm>
          <a:prstGeom prst="rect">
            <a:avLst/>
          </a:prstGeom>
          <a:noFill/>
          <a:ln/>
        </p:spPr>
        <p:txBody>
          <a:bodyPr wrap="square" lIns="0" tIns="0" rIns="0" bIns="0" rtlCol="0" anchor="ctr"/>
          <a:lstStyle/>
          <a:p>
            <a:pPr algn="ctr" indent="0" marL="0">
              <a:buNone/>
            </a:pPr>
            <a:r>
              <a:rPr lang="en-US" sz="1200" b="1" dirty="0">
                <a:solidFill>
                  <a:srgbClr val="EE7B08"/>
                </a:solidFill>
                <a:latin typeface="メイリオ" pitchFamily="34" charset="0"/>
                <a:ea typeface="メイリオ" pitchFamily="34" charset="-122"/>
                <a:cs typeface="メイリオ" pitchFamily="34" charset="-120"/>
              </a:rPr>
              <a:t>＋13.6</a:t>
            </a:r>
            <a:endParaRPr lang="en-US" sz="1200" dirty="0"/>
          </a:p>
        </p:txBody>
      </p:sp>
      <p:sp>
        <p:nvSpPr>
          <p:cNvPr id="43" name="Text 41"/>
          <p:cNvSpPr txBox="1"/>
          <p:nvPr/>
        </p:nvSpPr>
        <p:spPr>
          <a:xfrm>
            <a:off x="6281928" y="3200400"/>
            <a:ext cx="2404872" cy="201168"/>
          </a:xfrm>
          <a:prstGeom prst="rect">
            <a:avLst/>
          </a:prstGeom>
          <a:noFill/>
          <a:ln/>
        </p:spPr>
        <p:txBody>
          <a:bodyPr wrap="square" lIns="0" tIns="0" rIns="0" bIns="0" rtlCol="0" anchor="ctr"/>
          <a:lstStyle/>
          <a:p>
            <a:pPr algn="l" indent="0" marL="0">
              <a:buNone/>
            </a:pPr>
            <a:r>
              <a:rPr lang="en-US" sz="1050" b="1" dirty="0">
                <a:solidFill>
                  <a:srgbClr val="808080"/>
                </a:solidFill>
                <a:latin typeface="メイリオ" pitchFamily="34" charset="0"/>
                <a:ea typeface="メイリオ" pitchFamily="34" charset="-122"/>
                <a:cs typeface="メイリオ" pitchFamily="34" charset="-120"/>
              </a:rPr>
              <a:t>中学部（９年）</a:t>
            </a:r>
            <a:endParaRPr lang="en-US" sz="1050" dirty="0"/>
          </a:p>
        </p:txBody>
      </p:sp>
      <p:sp>
        <p:nvSpPr>
          <p:cNvPr id="44" name="Text 42"/>
          <p:cNvSpPr txBox="1"/>
          <p:nvPr/>
        </p:nvSpPr>
        <p:spPr>
          <a:xfrm>
            <a:off x="6281928" y="3401568"/>
            <a:ext cx="914400" cy="384048"/>
          </a:xfrm>
          <a:prstGeom prst="rect">
            <a:avLst/>
          </a:prstGeom>
          <a:noFill/>
          <a:ln/>
        </p:spPr>
        <p:txBody>
          <a:bodyPr wrap="square" lIns="0" tIns="0" rIns="0" bIns="0" rtlCol="0" anchor="ctr"/>
          <a:lstStyle/>
          <a:p>
            <a:pPr algn="l" indent="0" marL="0">
              <a:buNone/>
            </a:pPr>
            <a:r>
              <a:rPr lang="en-US" sz="2000" b="1" dirty="0">
                <a:solidFill>
                  <a:srgbClr val="3F3F3F"/>
                </a:solidFill>
                <a:latin typeface="メイリオ" pitchFamily="34" charset="0"/>
                <a:ea typeface="メイリオ" pitchFamily="34" charset="-122"/>
                <a:cs typeface="メイリオ" pitchFamily="34" charset="-120"/>
              </a:rPr>
              <a:t>89.4</a:t>
            </a:r>
            <a:pPr algn="l" indent="0" marL="0">
              <a:buNone/>
            </a:pPr>
            <a:r>
              <a:rPr lang="en-US" sz="1200" b="1" dirty="0">
                <a:solidFill>
                  <a:srgbClr val="3F3F3F"/>
                </a:solidFill>
                <a:latin typeface="メイリオ" pitchFamily="34" charset="0"/>
                <a:ea typeface="メイリオ" pitchFamily="34" charset="-122"/>
                <a:cs typeface="メイリオ" pitchFamily="34" charset="-120"/>
              </a:rPr>
              <a:t>％</a:t>
            </a:r>
            <a:endParaRPr lang="en-US" sz="2000" dirty="0"/>
          </a:p>
        </p:txBody>
      </p:sp>
      <p:sp>
        <p:nvSpPr>
          <p:cNvPr id="45" name="Text 43"/>
          <p:cNvSpPr txBox="1"/>
          <p:nvPr/>
        </p:nvSpPr>
        <p:spPr>
          <a:xfrm>
            <a:off x="7251192" y="3401568"/>
            <a:ext cx="731520" cy="384048"/>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区 79.0</a:t>
            </a:r>
            <a:endParaRPr lang="en-US" sz="1100" dirty="0"/>
          </a:p>
        </p:txBody>
      </p:sp>
      <p:sp>
        <p:nvSpPr>
          <p:cNvPr id="46" name="Shape 44"/>
          <p:cNvSpPr/>
          <p:nvPr/>
        </p:nvSpPr>
        <p:spPr>
          <a:xfrm>
            <a:off x="8010144" y="3438144"/>
            <a:ext cx="676656" cy="310896"/>
          </a:xfrm>
          <a:prstGeom prst="roundRect">
            <a:avLst>
              <a:gd name="adj" fmla="val 14706"/>
            </a:avLst>
          </a:prstGeom>
          <a:solidFill>
            <a:srgbClr val="FDF0E3"/>
          </a:solidFill>
          <a:ln w="12700">
            <a:solidFill>
              <a:srgbClr val="F6CFA4"/>
            </a:solidFill>
            <a:prstDash val="solid"/>
          </a:ln>
        </p:spPr>
      </p:sp>
      <p:sp>
        <p:nvSpPr>
          <p:cNvPr id="47" name="Text 45"/>
          <p:cNvSpPr txBox="1"/>
          <p:nvPr/>
        </p:nvSpPr>
        <p:spPr>
          <a:xfrm>
            <a:off x="8010144" y="3438144"/>
            <a:ext cx="676656" cy="310896"/>
          </a:xfrm>
          <a:prstGeom prst="rect">
            <a:avLst/>
          </a:prstGeom>
          <a:noFill/>
          <a:ln/>
        </p:spPr>
        <p:txBody>
          <a:bodyPr wrap="square" lIns="0" tIns="0" rIns="0" bIns="0" rtlCol="0" anchor="ctr"/>
          <a:lstStyle/>
          <a:p>
            <a:pPr algn="ctr" indent="0" marL="0">
              <a:buNone/>
            </a:pPr>
            <a:r>
              <a:rPr lang="en-US" sz="1200" b="1" dirty="0">
                <a:solidFill>
                  <a:srgbClr val="EE7B08"/>
                </a:solidFill>
                <a:latin typeface="メイリオ" pitchFamily="34" charset="0"/>
                <a:ea typeface="メイリオ" pitchFamily="34" charset="-122"/>
                <a:cs typeface="メイリオ" pitchFamily="34" charset="-120"/>
              </a:rPr>
              <a:t>＋10.4</a:t>
            </a:r>
            <a:endParaRPr lang="en-US" sz="1200" dirty="0"/>
          </a:p>
        </p:txBody>
      </p:sp>
      <p:sp>
        <p:nvSpPr>
          <p:cNvPr id="48" name="Text 46"/>
          <p:cNvSpPr txBox="1"/>
          <p:nvPr/>
        </p:nvSpPr>
        <p:spPr>
          <a:xfrm>
            <a:off x="320040" y="4069080"/>
            <a:ext cx="8503920" cy="365760"/>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6項目中5項目で、</a:t>
            </a:r>
            <a:pPr algn="l" indent="0" marL="0">
              <a:buNone/>
            </a:pPr>
            <a:r>
              <a:rPr lang="en-US" sz="1800" b="1" dirty="0">
                <a:solidFill>
                  <a:srgbClr val="EE7B08"/>
                </a:solidFill>
                <a:latin typeface="メイリオ" pitchFamily="34" charset="0"/>
                <a:ea typeface="メイリオ" pitchFamily="34" charset="-122"/>
                <a:cs typeface="メイリオ" pitchFamily="34" charset="-120"/>
              </a:rPr>
              <a:t>本校は練馬区平均を上回っている</a:t>
            </a:r>
            <a:pPr algn="l" indent="0" marL="0">
              <a:buNone/>
            </a:pPr>
            <a:r>
              <a:rPr lang="en-US" sz="1800" b="1" dirty="0">
                <a:solidFill>
                  <a:srgbClr val="595959"/>
                </a:solidFill>
                <a:latin typeface="メイリオ" pitchFamily="34" charset="0"/>
                <a:ea typeface="メイリオ" pitchFamily="34" charset="-122"/>
                <a:cs typeface="メイリオ" pitchFamily="34" charset="-120"/>
              </a:rPr>
              <a:t>。</a:t>
            </a:r>
            <a:endParaRPr lang="en-US" sz="1800" dirty="0"/>
          </a:p>
        </p:txBody>
      </p:sp>
      <p:sp>
        <p:nvSpPr>
          <p:cNvPr id="49" name="Text 47"/>
          <p:cNvSpPr txBox="1"/>
          <p:nvPr/>
        </p:nvSpPr>
        <p:spPr>
          <a:xfrm>
            <a:off x="320040" y="4443984"/>
            <a:ext cx="8503920" cy="329184"/>
          </a:xfrm>
          <a:prstGeom prst="rect">
            <a:avLst/>
          </a:prstGeom>
          <a:noFill/>
          <a:ln/>
        </p:spPr>
        <p:txBody>
          <a:bodyPr wrap="square" lIns="0" tIns="0" rIns="0" bIns="0" rtlCol="0" anchor="ctr"/>
          <a:lstStyle/>
          <a:p>
            <a:pPr algn="l" indent="0" marL="0">
              <a:buNone/>
            </a:pPr>
            <a:r>
              <a:rPr lang="en-US" sz="1500" b="1" dirty="0">
                <a:solidFill>
                  <a:srgbClr val="595959"/>
                </a:solidFill>
                <a:latin typeface="メイリオ" pitchFamily="34" charset="0"/>
                <a:ea typeface="メイリオ" pitchFamily="34" charset="-122"/>
                <a:cs typeface="メイリオ" pitchFamily="34" charset="-120"/>
              </a:rPr>
              <a:t>本日の授業で見た手だての積み重ねが、この数値を支えている。</a:t>
            </a:r>
            <a:endParaRPr lang="en-US" sz="1500" dirty="0"/>
          </a:p>
        </p:txBody>
      </p:sp>
      <p:sp>
        <p:nvSpPr>
          <p:cNvPr id="50" name="Text 48"/>
          <p:cNvSpPr txBox="1"/>
          <p:nvPr/>
        </p:nvSpPr>
        <p:spPr>
          <a:xfrm>
            <a:off x="320040" y="4791456"/>
            <a:ext cx="8503920" cy="237744"/>
          </a:xfrm>
          <a:prstGeom prst="rect">
            <a:avLst/>
          </a:prstGeom>
          <a:noFill/>
          <a:ln/>
        </p:spPr>
        <p:txBody>
          <a:bodyPr wrap="square" lIns="0" tIns="0" rIns="0" bIns="0" rtlCol="0" anchor="ctr"/>
          <a:lstStyle/>
          <a:p>
            <a:pPr algn="l" indent="0" marL="0">
              <a:buNone/>
            </a:pPr>
            <a:r>
              <a:rPr lang="en-US" sz="950" b="1" dirty="0">
                <a:solidFill>
                  <a:srgbClr val="808080"/>
                </a:solidFill>
                <a:latin typeface="メイリオ" pitchFamily="34" charset="0"/>
                <a:ea typeface="メイリオ" pitchFamily="34" charset="-122"/>
                <a:cs typeface="メイリオ" pitchFamily="34" charset="-120"/>
              </a:rPr>
              <a:t>出典：練馬区は令和８年度 全国学力・学習状況調査（練馬区）　肯定的回答の割合</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指導・講評</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学力調査結果から見える強み</a:t>
            </a:r>
            <a:endParaRPr lang="en-US" sz="3000" dirty="0"/>
          </a:p>
        </p:txBody>
      </p:sp>
      <p:sp>
        <p:nvSpPr>
          <p:cNvPr id="3" name="Text 1"/>
          <p:cNvSpPr txBox="1"/>
          <p:nvPr/>
        </p:nvSpPr>
        <p:spPr>
          <a:xfrm>
            <a:off x="475488" y="1417320"/>
            <a:ext cx="8193024" cy="868680"/>
          </a:xfrm>
          <a:prstGeom prst="rect">
            <a:avLst/>
          </a:prstGeom>
          <a:noFill/>
          <a:ln/>
        </p:spPr>
        <p:txBody>
          <a:bodyPr wrap="square" lIns="0" tIns="0" rIns="0" bIns="0" rtlCol="0" anchor="t"/>
          <a:lstStyle/>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学力調査結果は「結果」である。</a:t>
            </a:r>
            <a:endParaRPr lang="en-US" sz="2000" dirty="0"/>
          </a:p>
          <a:p>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では、</a:t>
            </a:r>
            <a:pPr algn="l" indent="0" marL="0">
              <a:lnSpc>
                <a:spcPct val="120000"/>
              </a:lnSpc>
              <a:buNone/>
            </a:pPr>
            <a:r>
              <a:rPr lang="en-US" sz="2000" b="1" dirty="0">
                <a:solidFill>
                  <a:srgbClr val="EE7B08"/>
                </a:solidFill>
                <a:latin typeface="メイリオ" pitchFamily="34" charset="0"/>
                <a:ea typeface="メイリオ" pitchFamily="34" charset="-122"/>
                <a:cs typeface="メイリオ" pitchFamily="34" charset="-120"/>
              </a:rPr>
              <a:t>その結果を生み出した要因は何か</a:t>
            </a:r>
            <a:pPr algn="l" indent="0" marL="0">
              <a:lnSpc>
                <a:spcPct val="120000"/>
              </a:lnSpc>
              <a:buNone/>
            </a:pPr>
            <a:r>
              <a:rPr lang="en-US" sz="2000" b="1" dirty="0">
                <a:solidFill>
                  <a:srgbClr val="595959"/>
                </a:solidFill>
                <a:latin typeface="メイリオ" pitchFamily="34" charset="0"/>
                <a:ea typeface="メイリオ" pitchFamily="34" charset="-122"/>
                <a:cs typeface="メイリオ" pitchFamily="34" charset="-120"/>
              </a:rPr>
              <a:t>。</a:t>
            </a:r>
            <a:endParaRPr lang="en-US" sz="2000" dirty="0"/>
          </a:p>
        </p:txBody>
      </p:sp>
      <p:sp>
        <p:nvSpPr>
          <p:cNvPr id="4" name="Text 2"/>
          <p:cNvSpPr txBox="1"/>
          <p:nvPr/>
        </p:nvSpPr>
        <p:spPr>
          <a:xfrm>
            <a:off x="475488" y="2286000"/>
            <a:ext cx="8193024" cy="347472"/>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本日の授業から、次の３つが見えてきた。</a:t>
            </a:r>
            <a:endParaRPr lang="en-US" sz="1500" dirty="0"/>
          </a:p>
        </p:txBody>
      </p:sp>
      <p:sp>
        <p:nvSpPr>
          <p:cNvPr id="5" name="Shape 3"/>
          <p:cNvSpPr/>
          <p:nvPr/>
        </p:nvSpPr>
        <p:spPr>
          <a:xfrm>
            <a:off x="475488" y="2724912"/>
            <a:ext cx="2468880" cy="1417320"/>
          </a:xfrm>
          <a:prstGeom prst="roundRect">
            <a:avLst>
              <a:gd name="adj" fmla="val 3871"/>
            </a:avLst>
          </a:prstGeom>
          <a:solidFill>
            <a:srgbClr val="E9F7F3"/>
          </a:solidFill>
          <a:ln w="12700">
            <a:solidFill>
              <a:srgbClr val="B9E5DA"/>
            </a:solidFill>
            <a:prstDash val="solid"/>
          </a:ln>
        </p:spPr>
      </p:sp>
      <p:sp>
        <p:nvSpPr>
          <p:cNvPr id="6" name="Shape 4"/>
          <p:cNvSpPr/>
          <p:nvPr/>
        </p:nvSpPr>
        <p:spPr>
          <a:xfrm>
            <a:off x="1481328" y="2889504"/>
            <a:ext cx="457200" cy="457200"/>
          </a:xfrm>
          <a:prstGeom prst="ellipse">
            <a:avLst/>
          </a:prstGeom>
          <a:solidFill>
            <a:srgbClr val="44C1A3"/>
          </a:solidFill>
          <a:ln/>
        </p:spPr>
      </p:sp>
      <p:sp>
        <p:nvSpPr>
          <p:cNvPr id="7" name="Text 5"/>
          <p:cNvSpPr txBox="1"/>
          <p:nvPr/>
        </p:nvSpPr>
        <p:spPr>
          <a:xfrm>
            <a:off x="14813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①</a:t>
            </a:r>
            <a:endParaRPr lang="en-US" sz="2300" dirty="0"/>
          </a:p>
        </p:txBody>
      </p:sp>
      <p:sp>
        <p:nvSpPr>
          <p:cNvPr id="8" name="Text 6"/>
          <p:cNvSpPr txBox="1"/>
          <p:nvPr/>
        </p:nvSpPr>
        <p:spPr>
          <a:xfrm>
            <a:off x="5669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自己肯定感</a:t>
            </a:r>
            <a:endParaRPr lang="en-US" sz="1800" dirty="0"/>
          </a:p>
        </p:txBody>
      </p:sp>
      <p:sp>
        <p:nvSpPr>
          <p:cNvPr id="9" name="Shape 7"/>
          <p:cNvSpPr/>
          <p:nvPr/>
        </p:nvSpPr>
        <p:spPr>
          <a:xfrm>
            <a:off x="3218688" y="2724912"/>
            <a:ext cx="2468880" cy="1417320"/>
          </a:xfrm>
          <a:prstGeom prst="roundRect">
            <a:avLst>
              <a:gd name="adj" fmla="val 3871"/>
            </a:avLst>
          </a:prstGeom>
          <a:solidFill>
            <a:srgbClr val="E9F7F3"/>
          </a:solidFill>
          <a:ln w="12700">
            <a:solidFill>
              <a:srgbClr val="B9E5DA"/>
            </a:solidFill>
            <a:prstDash val="solid"/>
          </a:ln>
        </p:spPr>
      </p:sp>
      <p:sp>
        <p:nvSpPr>
          <p:cNvPr id="10" name="Shape 8"/>
          <p:cNvSpPr/>
          <p:nvPr/>
        </p:nvSpPr>
        <p:spPr>
          <a:xfrm>
            <a:off x="4224528" y="2889504"/>
            <a:ext cx="457200" cy="457200"/>
          </a:xfrm>
          <a:prstGeom prst="ellipse">
            <a:avLst/>
          </a:prstGeom>
          <a:solidFill>
            <a:srgbClr val="44C1A3"/>
          </a:solidFill>
          <a:ln/>
        </p:spPr>
      </p:sp>
      <p:sp>
        <p:nvSpPr>
          <p:cNvPr id="11" name="Text 9"/>
          <p:cNvSpPr txBox="1"/>
          <p:nvPr/>
        </p:nvSpPr>
        <p:spPr>
          <a:xfrm>
            <a:off x="42245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②</a:t>
            </a:r>
            <a:endParaRPr lang="en-US" sz="2300" dirty="0"/>
          </a:p>
        </p:txBody>
      </p:sp>
      <p:sp>
        <p:nvSpPr>
          <p:cNvPr id="12" name="Text 10"/>
          <p:cNvSpPr txBox="1"/>
          <p:nvPr/>
        </p:nvSpPr>
        <p:spPr>
          <a:xfrm>
            <a:off x="33101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対話・協働</a:t>
            </a:r>
            <a:endParaRPr lang="en-US" sz="1800" dirty="0"/>
          </a:p>
        </p:txBody>
      </p:sp>
      <p:sp>
        <p:nvSpPr>
          <p:cNvPr id="13" name="Shape 11"/>
          <p:cNvSpPr/>
          <p:nvPr/>
        </p:nvSpPr>
        <p:spPr>
          <a:xfrm>
            <a:off x="5961888" y="2724912"/>
            <a:ext cx="2468880" cy="1417320"/>
          </a:xfrm>
          <a:prstGeom prst="roundRect">
            <a:avLst>
              <a:gd name="adj" fmla="val 3871"/>
            </a:avLst>
          </a:prstGeom>
          <a:solidFill>
            <a:srgbClr val="E9F7F3"/>
          </a:solidFill>
          <a:ln w="12700">
            <a:solidFill>
              <a:srgbClr val="B9E5DA"/>
            </a:solidFill>
            <a:prstDash val="solid"/>
          </a:ln>
        </p:spPr>
      </p:sp>
      <p:sp>
        <p:nvSpPr>
          <p:cNvPr id="14" name="Shape 12"/>
          <p:cNvSpPr/>
          <p:nvPr/>
        </p:nvSpPr>
        <p:spPr>
          <a:xfrm>
            <a:off x="6967728" y="2889504"/>
            <a:ext cx="457200" cy="457200"/>
          </a:xfrm>
          <a:prstGeom prst="ellipse">
            <a:avLst/>
          </a:prstGeom>
          <a:solidFill>
            <a:srgbClr val="44C1A3"/>
          </a:solidFill>
          <a:ln/>
        </p:spPr>
      </p:sp>
      <p:sp>
        <p:nvSpPr>
          <p:cNvPr id="15" name="Text 13"/>
          <p:cNvSpPr txBox="1"/>
          <p:nvPr/>
        </p:nvSpPr>
        <p:spPr>
          <a:xfrm>
            <a:off x="6967728" y="2889504"/>
            <a:ext cx="45720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メイリオ" pitchFamily="34" charset="0"/>
                <a:ea typeface="メイリオ" pitchFamily="34" charset="-122"/>
                <a:cs typeface="メイリオ" pitchFamily="34" charset="-120"/>
              </a:rPr>
              <a:t>③</a:t>
            </a:r>
            <a:endParaRPr lang="en-US" sz="2300" dirty="0"/>
          </a:p>
        </p:txBody>
      </p:sp>
      <p:sp>
        <p:nvSpPr>
          <p:cNvPr id="16" name="Text 14"/>
          <p:cNvSpPr txBox="1"/>
          <p:nvPr/>
        </p:nvSpPr>
        <p:spPr>
          <a:xfrm>
            <a:off x="6053328" y="3438144"/>
            <a:ext cx="2286000" cy="502920"/>
          </a:xfrm>
          <a:prstGeom prst="rect">
            <a:avLst/>
          </a:prstGeom>
          <a:noFill/>
          <a:ln/>
        </p:spPr>
        <p:txBody>
          <a:bodyPr wrap="square" lIns="0" tIns="0" rIns="0" bIns="0" rtlCol="0" anchor="ctr"/>
          <a:lstStyle/>
          <a:p>
            <a:pPr algn="ctr" indent="0" marL="0">
              <a:buNone/>
            </a:pPr>
            <a:r>
              <a:rPr lang="en-US" sz="1800" b="1" dirty="0">
                <a:solidFill>
                  <a:srgbClr val="EE7B08"/>
                </a:solidFill>
                <a:latin typeface="メイリオ" pitchFamily="34" charset="0"/>
                <a:ea typeface="メイリオ" pitchFamily="34" charset="-122"/>
                <a:cs typeface="メイリオ" pitchFamily="34" charset="-120"/>
              </a:rPr>
              <a:t>学習の自己調整</a:t>
            </a:r>
            <a:endParaRPr lang="en-US" sz="1800" dirty="0"/>
          </a:p>
        </p:txBody>
      </p:sp>
      <p:sp>
        <p:nvSpPr>
          <p:cNvPr id="17" name="Text 15"/>
          <p:cNvSpPr txBox="1"/>
          <p:nvPr/>
        </p:nvSpPr>
        <p:spPr>
          <a:xfrm>
            <a:off x="475488" y="4261104"/>
            <a:ext cx="8193024" cy="347472"/>
          </a:xfrm>
          <a:prstGeom prst="rect">
            <a:avLst/>
          </a:prstGeom>
          <a:noFill/>
          <a:ln/>
        </p:spPr>
        <p:txBody>
          <a:bodyPr wrap="square" lIns="0" tIns="0" rIns="0" bIns="0" rtlCol="0" anchor="ctr"/>
          <a:lstStyle/>
          <a:p>
            <a:pPr algn="l" indent="0" marL="0">
              <a:buNone/>
            </a:pPr>
            <a:r>
              <a:rPr lang="en-US" sz="1500" b="1" dirty="0">
                <a:solidFill>
                  <a:srgbClr val="595959"/>
                </a:solidFill>
                <a:latin typeface="メイリオ" pitchFamily="34" charset="0"/>
                <a:ea typeface="メイリオ" pitchFamily="34" charset="-122"/>
                <a:cs typeface="メイリオ" pitchFamily="34" charset="-120"/>
              </a:rPr>
              <a:t>この３つが、学力調査結果を支える土台になっている。</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本日の授業から</a:t>
            </a:r>
            <a:endParaRPr lang="en-US" sz="3000" dirty="0"/>
          </a:p>
        </p:txBody>
      </p:sp>
      <p:sp>
        <p:nvSpPr>
          <p:cNvPr id="3" name="Shape 1"/>
          <p:cNvSpPr/>
          <p:nvPr/>
        </p:nvSpPr>
        <p:spPr>
          <a:xfrm>
            <a:off x="320040" y="1444752"/>
            <a:ext cx="2697480" cy="1993392"/>
          </a:xfrm>
          <a:prstGeom prst="rect">
            <a:avLst/>
          </a:prstGeom>
          <a:solidFill>
            <a:srgbClr val="FBFEFD"/>
          </a:solidFill>
          <a:ln w="19050">
            <a:solidFill>
              <a:srgbClr val="44C1A3"/>
            </a:solidFill>
            <a:prstDash val="dash"/>
          </a:ln>
        </p:spPr>
      </p:sp>
      <p:sp>
        <p:nvSpPr>
          <p:cNvPr id="4" name="Text 2"/>
          <p:cNvSpPr txBox="1"/>
          <p:nvPr/>
        </p:nvSpPr>
        <p:spPr>
          <a:xfrm>
            <a:off x="320040" y="1444752"/>
            <a:ext cx="2697480" cy="1993392"/>
          </a:xfrm>
          <a:prstGeom prst="rect">
            <a:avLst/>
          </a:prstGeom>
          <a:noFill/>
          <a:ln/>
        </p:spPr>
        <p:txBody>
          <a:bodyPr wrap="square" lIns="0" tIns="0" rIns="0" bIns="0" rtlCol="0" anchor="ctr"/>
          <a:lstStyle/>
          <a:p>
            <a:pPr algn="ctr" indent="0" marL="0">
              <a:lnSpc>
                <a:spcPct val="125000"/>
              </a:lnSpc>
              <a:buNone/>
            </a:pPr>
            <a:r>
              <a:rPr lang="en-US" sz="1500" b="1" dirty="0">
                <a:solidFill>
                  <a:srgbClr val="44C1A3"/>
                </a:solidFill>
                <a:latin typeface="メイリオ" pitchFamily="34" charset="0"/>
                <a:ea typeface="メイリオ" pitchFamily="34" charset="-122"/>
                <a:cs typeface="メイリオ" pitchFamily="34" charset="-120"/>
              </a:rPr>
              <a:t>授業写真</a:t>
            </a:r>
            <a:endParaRPr lang="en-US" sz="1500" dirty="0"/>
          </a:p>
          <a:p>
            <a:pPr algn="ctr" indent="0" marL="0">
              <a:lnSpc>
                <a:spcPct val="125000"/>
              </a:lnSpc>
              <a:buNone/>
            </a:pPr>
            <a:r>
              <a:rPr lang="en-US" sz="1500" b="1" dirty="0">
                <a:solidFill>
                  <a:srgbClr val="44C1A3"/>
                </a:solidFill>
                <a:latin typeface="メイリオ" pitchFamily="34" charset="0"/>
                <a:ea typeface="メイリオ" pitchFamily="34" charset="-122"/>
                <a:cs typeface="メイリオ" pitchFamily="34" charset="-120"/>
              </a:rPr>
              <a:t>（貼付欄）</a:t>
            </a:r>
            <a:endParaRPr lang="en-US" sz="1500" dirty="0"/>
          </a:p>
        </p:txBody>
      </p:sp>
      <p:sp>
        <p:nvSpPr>
          <p:cNvPr id="5" name="Text 3"/>
          <p:cNvSpPr txBox="1"/>
          <p:nvPr/>
        </p:nvSpPr>
        <p:spPr>
          <a:xfrm>
            <a:off x="320040" y="3511296"/>
            <a:ext cx="2697480" cy="274320"/>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田口　和磨　先生</a:t>
            </a:r>
            <a:endParaRPr lang="en-US" sz="1500" dirty="0"/>
          </a:p>
        </p:txBody>
      </p:sp>
      <p:sp>
        <p:nvSpPr>
          <p:cNvPr id="6" name="Text 4"/>
          <p:cNvSpPr txBox="1"/>
          <p:nvPr/>
        </p:nvSpPr>
        <p:spPr>
          <a:xfrm>
            <a:off x="320040" y="3785616"/>
            <a:ext cx="2697480"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保健体育・９年ＡＢ組／水泳</a:t>
            </a:r>
            <a:endParaRPr lang="en-US" sz="1100" dirty="0"/>
          </a:p>
        </p:txBody>
      </p:sp>
      <p:sp>
        <p:nvSpPr>
          <p:cNvPr id="7" name="Shape 5"/>
          <p:cNvSpPr/>
          <p:nvPr/>
        </p:nvSpPr>
        <p:spPr>
          <a:xfrm>
            <a:off x="3227832" y="1444752"/>
            <a:ext cx="2697480" cy="1993392"/>
          </a:xfrm>
          <a:prstGeom prst="rect">
            <a:avLst/>
          </a:prstGeom>
          <a:solidFill>
            <a:srgbClr val="FBFEFD"/>
          </a:solidFill>
          <a:ln w="19050">
            <a:solidFill>
              <a:srgbClr val="44C1A3"/>
            </a:solidFill>
            <a:prstDash val="dash"/>
          </a:ln>
        </p:spPr>
      </p:sp>
      <p:sp>
        <p:nvSpPr>
          <p:cNvPr id="8" name="Text 6"/>
          <p:cNvSpPr txBox="1"/>
          <p:nvPr/>
        </p:nvSpPr>
        <p:spPr>
          <a:xfrm>
            <a:off x="3227832" y="1444752"/>
            <a:ext cx="2697480" cy="1993392"/>
          </a:xfrm>
          <a:prstGeom prst="rect">
            <a:avLst/>
          </a:prstGeom>
          <a:noFill/>
          <a:ln/>
        </p:spPr>
        <p:txBody>
          <a:bodyPr wrap="square" lIns="0" tIns="0" rIns="0" bIns="0" rtlCol="0" anchor="ctr"/>
          <a:lstStyle/>
          <a:p>
            <a:pPr algn="ctr" indent="0" marL="0">
              <a:lnSpc>
                <a:spcPct val="125000"/>
              </a:lnSpc>
              <a:buNone/>
            </a:pPr>
            <a:r>
              <a:rPr lang="en-US" sz="1500" b="1" dirty="0">
                <a:solidFill>
                  <a:srgbClr val="44C1A3"/>
                </a:solidFill>
                <a:latin typeface="メイリオ" pitchFamily="34" charset="0"/>
                <a:ea typeface="メイリオ" pitchFamily="34" charset="-122"/>
                <a:cs typeface="メイリオ" pitchFamily="34" charset="-120"/>
              </a:rPr>
              <a:t>授業写真</a:t>
            </a:r>
            <a:endParaRPr lang="en-US" sz="1500" dirty="0"/>
          </a:p>
          <a:p>
            <a:pPr algn="ctr" indent="0" marL="0">
              <a:lnSpc>
                <a:spcPct val="125000"/>
              </a:lnSpc>
              <a:buNone/>
            </a:pPr>
            <a:r>
              <a:rPr lang="en-US" sz="1500" b="1" dirty="0">
                <a:solidFill>
                  <a:srgbClr val="44C1A3"/>
                </a:solidFill>
                <a:latin typeface="メイリオ" pitchFamily="34" charset="0"/>
                <a:ea typeface="メイリオ" pitchFamily="34" charset="-122"/>
                <a:cs typeface="メイリオ" pitchFamily="34" charset="-120"/>
              </a:rPr>
              <a:t>（貼付欄）</a:t>
            </a:r>
            <a:endParaRPr lang="en-US" sz="1500" dirty="0"/>
          </a:p>
        </p:txBody>
      </p:sp>
      <p:sp>
        <p:nvSpPr>
          <p:cNvPr id="9" name="Text 7"/>
          <p:cNvSpPr txBox="1"/>
          <p:nvPr/>
        </p:nvSpPr>
        <p:spPr>
          <a:xfrm>
            <a:off x="3227832" y="3511296"/>
            <a:ext cx="2697480" cy="274320"/>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東海林　静江　先生</a:t>
            </a:r>
            <a:endParaRPr lang="en-US" sz="1500" dirty="0"/>
          </a:p>
        </p:txBody>
      </p:sp>
      <p:sp>
        <p:nvSpPr>
          <p:cNvPr id="10" name="Text 8"/>
          <p:cNvSpPr txBox="1"/>
          <p:nvPr/>
        </p:nvSpPr>
        <p:spPr>
          <a:xfrm>
            <a:off x="3227832" y="3785616"/>
            <a:ext cx="2697480"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道徳・特別支援学級Ｄ組／うそ</a:t>
            </a:r>
            <a:endParaRPr lang="en-US" sz="1100" dirty="0"/>
          </a:p>
        </p:txBody>
      </p:sp>
      <p:sp>
        <p:nvSpPr>
          <p:cNvPr id="11" name="Shape 9"/>
          <p:cNvSpPr/>
          <p:nvPr/>
        </p:nvSpPr>
        <p:spPr>
          <a:xfrm>
            <a:off x="6135624" y="1444752"/>
            <a:ext cx="2697480" cy="1993392"/>
          </a:xfrm>
          <a:prstGeom prst="rect">
            <a:avLst/>
          </a:prstGeom>
          <a:solidFill>
            <a:srgbClr val="FBFEFD"/>
          </a:solidFill>
          <a:ln w="19050">
            <a:solidFill>
              <a:srgbClr val="44C1A3"/>
            </a:solidFill>
            <a:prstDash val="dash"/>
          </a:ln>
        </p:spPr>
      </p:sp>
      <p:sp>
        <p:nvSpPr>
          <p:cNvPr id="12" name="Text 10"/>
          <p:cNvSpPr txBox="1"/>
          <p:nvPr/>
        </p:nvSpPr>
        <p:spPr>
          <a:xfrm>
            <a:off x="6135624" y="1444752"/>
            <a:ext cx="2697480" cy="1993392"/>
          </a:xfrm>
          <a:prstGeom prst="rect">
            <a:avLst/>
          </a:prstGeom>
          <a:noFill/>
          <a:ln/>
        </p:spPr>
        <p:txBody>
          <a:bodyPr wrap="square" lIns="0" tIns="0" rIns="0" bIns="0" rtlCol="0" anchor="ctr"/>
          <a:lstStyle/>
          <a:p>
            <a:pPr algn="ctr" indent="0" marL="0">
              <a:lnSpc>
                <a:spcPct val="125000"/>
              </a:lnSpc>
              <a:buNone/>
            </a:pPr>
            <a:r>
              <a:rPr lang="en-US" sz="1500" b="1" dirty="0">
                <a:solidFill>
                  <a:srgbClr val="44C1A3"/>
                </a:solidFill>
                <a:latin typeface="メイリオ" pitchFamily="34" charset="0"/>
                <a:ea typeface="メイリオ" pitchFamily="34" charset="-122"/>
                <a:cs typeface="メイリオ" pitchFamily="34" charset="-120"/>
              </a:rPr>
              <a:t>授業写真</a:t>
            </a:r>
            <a:endParaRPr lang="en-US" sz="1500" dirty="0"/>
          </a:p>
          <a:p>
            <a:pPr algn="ctr" indent="0" marL="0">
              <a:lnSpc>
                <a:spcPct val="125000"/>
              </a:lnSpc>
              <a:buNone/>
            </a:pPr>
            <a:r>
              <a:rPr lang="en-US" sz="1500" b="1" dirty="0">
                <a:solidFill>
                  <a:srgbClr val="44C1A3"/>
                </a:solidFill>
                <a:latin typeface="メイリオ" pitchFamily="34" charset="0"/>
                <a:ea typeface="メイリオ" pitchFamily="34" charset="-122"/>
                <a:cs typeface="メイリオ" pitchFamily="34" charset="-120"/>
              </a:rPr>
              <a:t>（貼付欄）</a:t>
            </a:r>
            <a:endParaRPr lang="en-US" sz="1500" dirty="0"/>
          </a:p>
        </p:txBody>
      </p:sp>
      <p:sp>
        <p:nvSpPr>
          <p:cNvPr id="13" name="Text 11"/>
          <p:cNvSpPr txBox="1"/>
          <p:nvPr/>
        </p:nvSpPr>
        <p:spPr>
          <a:xfrm>
            <a:off x="6135624" y="3511296"/>
            <a:ext cx="2697480" cy="274320"/>
          </a:xfrm>
          <a:prstGeom prst="rect">
            <a:avLst/>
          </a:prstGeom>
          <a:noFill/>
          <a:ln/>
        </p:spPr>
        <p:txBody>
          <a:bodyPr wrap="square" lIns="0" tIns="0" rIns="0" bIns="0" rtlCol="0" anchor="ctr"/>
          <a:lstStyle/>
          <a:p>
            <a:pPr algn="l" indent="0" marL="0">
              <a:buNone/>
            </a:pPr>
            <a:r>
              <a:rPr lang="en-US" sz="1500" b="1" dirty="0">
                <a:solidFill>
                  <a:srgbClr val="44C1A3"/>
                </a:solidFill>
                <a:latin typeface="メイリオ" pitchFamily="34" charset="0"/>
                <a:ea typeface="メイリオ" pitchFamily="34" charset="-122"/>
                <a:cs typeface="メイリオ" pitchFamily="34" charset="-120"/>
              </a:rPr>
              <a:t>塚本　瑞穂　先生</a:t>
            </a:r>
            <a:endParaRPr lang="en-US" sz="1500" dirty="0"/>
          </a:p>
        </p:txBody>
      </p:sp>
      <p:sp>
        <p:nvSpPr>
          <p:cNvPr id="14" name="Text 12"/>
          <p:cNvSpPr txBox="1"/>
          <p:nvPr/>
        </p:nvSpPr>
        <p:spPr>
          <a:xfrm>
            <a:off x="6135624" y="3785616"/>
            <a:ext cx="2697480"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外国語・７年Ｂ組／Unit 4</a:t>
            </a:r>
            <a:endParaRPr lang="en-US" sz="1100" dirty="0"/>
          </a:p>
        </p:txBody>
      </p:sp>
      <p:sp>
        <p:nvSpPr>
          <p:cNvPr id="15" name="Text 13"/>
          <p:cNvSpPr txBox="1"/>
          <p:nvPr/>
        </p:nvSpPr>
        <p:spPr>
          <a:xfrm>
            <a:off x="320040" y="4206240"/>
            <a:ext cx="8503920" cy="548640"/>
          </a:xfrm>
          <a:prstGeom prst="rect">
            <a:avLst/>
          </a:prstGeom>
          <a:noFill/>
          <a:ln/>
        </p:spPr>
        <p:txBody>
          <a:bodyPr wrap="square" lIns="0" tIns="0" rIns="0" bIns="0" rtlCol="0" anchor="t"/>
          <a:lstStyle/>
          <a:p>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３つの教室に共通していたのは、</a:t>
            </a:r>
            <a:pPr algn="l" indent="0" marL="0">
              <a:lnSpc>
                <a:spcPct val="120000"/>
              </a:lnSpc>
              <a:buNone/>
            </a:pPr>
            <a:r>
              <a:rPr lang="en-US" sz="1700" b="1" dirty="0">
                <a:solidFill>
                  <a:srgbClr val="EE7B08"/>
                </a:solidFill>
                <a:latin typeface="メイリオ" pitchFamily="34" charset="0"/>
                <a:ea typeface="メイリオ" pitchFamily="34" charset="-122"/>
                <a:cs typeface="メイリオ" pitchFamily="34" charset="-120"/>
              </a:rPr>
              <a:t>子どもが動き、考え、伝える時間</a:t>
            </a:r>
            <a:pPr algn="l" indent="0" marL="0">
              <a:lnSpc>
                <a:spcPct val="120000"/>
              </a:lnSpc>
              <a:buNone/>
            </a:pPr>
            <a:r>
              <a:rPr lang="en-US" sz="1700" b="1" dirty="0">
                <a:solidFill>
                  <a:srgbClr val="595959"/>
                </a:solidFill>
                <a:latin typeface="メイリオ" pitchFamily="34" charset="0"/>
                <a:ea typeface="メイリオ" pitchFamily="34" charset="-122"/>
                <a:cs typeface="メイリオ" pitchFamily="34" charset="-120"/>
              </a:rPr>
              <a:t>の多さである。</a:t>
            </a:r>
            <a:endParaRPr lang="en-US" sz="1700" dirty="0"/>
          </a:p>
        </p:txBody>
      </p:sp>
      <p:sp>
        <p:nvSpPr>
          <p:cNvPr id="16" name="Text 14"/>
          <p:cNvSpPr txBox="1"/>
          <p:nvPr/>
        </p:nvSpPr>
        <p:spPr>
          <a:xfrm>
            <a:off x="320040" y="4754880"/>
            <a:ext cx="8503920" cy="237744"/>
          </a:xfrm>
          <a:prstGeom prst="rect">
            <a:avLst/>
          </a:prstGeom>
          <a:noFill/>
          <a:ln/>
        </p:spPr>
        <p:txBody>
          <a:bodyPr wrap="square" lIns="0" tIns="0" rIns="0" bIns="0" rtlCol="0" anchor="ctr"/>
          <a:lstStyle/>
          <a:p>
            <a:pPr algn="l" indent="0" marL="0">
              <a:buNone/>
            </a:pPr>
            <a:r>
              <a:rPr lang="en-US" sz="950" b="1" dirty="0">
                <a:solidFill>
                  <a:srgbClr val="808080"/>
                </a:solidFill>
                <a:latin typeface="メイリオ" pitchFamily="34" charset="0"/>
                <a:ea typeface="メイリオ" pitchFamily="34" charset="-122"/>
                <a:cs typeface="メイリオ" pitchFamily="34" charset="-120"/>
              </a:rPr>
              <a:t>※ 点線の枠に当日の授業写真を貼り付けてご使用ください。</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①　自己肯定感</a:t>
            </a:r>
            <a:endParaRPr lang="en-US" sz="3000" dirty="0"/>
          </a:p>
        </p:txBody>
      </p:sp>
      <p:sp>
        <p:nvSpPr>
          <p:cNvPr id="3" name="Text 1"/>
          <p:cNvSpPr txBox="1"/>
          <p:nvPr/>
        </p:nvSpPr>
        <p:spPr>
          <a:xfrm>
            <a:off x="475488" y="1481328"/>
            <a:ext cx="8193024" cy="1005840"/>
          </a:xfrm>
          <a:prstGeom prst="rect">
            <a:avLst/>
          </a:prstGeom>
          <a:noFill/>
          <a:ln/>
        </p:spPr>
        <p:txBody>
          <a:bodyPr wrap="square" lIns="0" tIns="0" rIns="0" bIns="0" rtlCol="0" anchor="t"/>
          <a:lstStyle/>
          <a:p>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これからの時代、学力向上の基盤となるのは</a:t>
            </a:r>
            <a:endParaRPr lang="en-US" sz="2400" dirty="0"/>
          </a:p>
          <a:p>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400" b="1" dirty="0">
                <a:solidFill>
                  <a:srgbClr val="EE7B08"/>
                </a:solidFill>
                <a:latin typeface="メイリオ" pitchFamily="34" charset="0"/>
                <a:ea typeface="メイリオ" pitchFamily="34" charset="-122"/>
                <a:cs typeface="メイリオ" pitchFamily="34" charset="-120"/>
              </a:rPr>
              <a:t>自己肯定感</a:t>
            </a:r>
            <a:pPr algn="l" indent="0" marL="0">
              <a:lnSpc>
                <a:spcPct val="120000"/>
              </a:lnSpc>
              <a:buNone/>
            </a:pPr>
            <a:r>
              <a:rPr lang="en-US" sz="2400" b="1" dirty="0">
                <a:solidFill>
                  <a:srgbClr val="595959"/>
                </a:solidFill>
                <a:latin typeface="メイリオ" pitchFamily="34" charset="0"/>
                <a:ea typeface="メイリオ" pitchFamily="34" charset="-122"/>
                <a:cs typeface="メイリオ" pitchFamily="34" charset="-120"/>
              </a:rPr>
              <a:t>である。</a:t>
            </a:r>
            <a:endParaRPr lang="en-US" sz="2400" dirty="0"/>
          </a:p>
        </p:txBody>
      </p:sp>
      <p:sp>
        <p:nvSpPr>
          <p:cNvPr id="4" name="Shape 2"/>
          <p:cNvSpPr/>
          <p:nvPr/>
        </p:nvSpPr>
        <p:spPr>
          <a:xfrm>
            <a:off x="475488" y="2697480"/>
            <a:ext cx="8193024" cy="1737360"/>
          </a:xfrm>
          <a:prstGeom prst="roundRect">
            <a:avLst>
              <a:gd name="adj" fmla="val 3158"/>
            </a:avLst>
          </a:prstGeom>
          <a:solidFill>
            <a:srgbClr val="E9F7F3"/>
          </a:solidFill>
          <a:ln w="12700">
            <a:solidFill>
              <a:srgbClr val="B9E5DA"/>
            </a:solidFill>
            <a:prstDash val="solid"/>
          </a:ln>
        </p:spPr>
      </p:sp>
      <p:sp>
        <p:nvSpPr>
          <p:cNvPr id="5" name="Text 3"/>
          <p:cNvSpPr txBox="1"/>
          <p:nvPr/>
        </p:nvSpPr>
        <p:spPr>
          <a:xfrm>
            <a:off x="731520" y="2852928"/>
            <a:ext cx="7680960" cy="1417320"/>
          </a:xfrm>
          <a:prstGeom prst="rect">
            <a:avLst/>
          </a:prstGeom>
          <a:noFill/>
          <a:ln/>
        </p:spPr>
        <p:txBody>
          <a:bodyPr wrap="square" lIns="0" tIns="0" rIns="0" bIns="0" rtlCol="0" anchor="t"/>
          <a:lstStyle/>
          <a:p>
            <a:pPr algn="l" indent="0" marL="0">
              <a:lnSpc>
                <a:spcPct val="130000"/>
              </a:lnSpc>
              <a:buNone/>
            </a:pPr>
            <a:r>
              <a:rPr lang="en-US" sz="1700" b="1" dirty="0">
                <a:solidFill>
                  <a:srgbClr val="44C1A3"/>
                </a:solidFill>
                <a:latin typeface="メイリオ" pitchFamily="34" charset="0"/>
                <a:ea typeface="メイリオ" pitchFamily="34" charset="-122"/>
                <a:cs typeface="メイリオ" pitchFamily="34" charset="-120"/>
              </a:rPr>
              <a:t>自己肯定感とは</a:t>
            </a:r>
            <a:endParaRPr lang="en-US" sz="1700" dirty="0"/>
          </a:p>
          <a:p>
            <a:pPr algn="l" indent="0" marL="0">
              <a:lnSpc>
                <a:spcPct val="130000"/>
              </a:lnSpc>
              <a:buNone/>
            </a:pPr>
            <a:r>
              <a:rPr lang="en-US" sz="2200" b="1" dirty="0">
                <a:solidFill>
                  <a:srgbClr val="595959"/>
                </a:solidFill>
                <a:latin typeface="メイリオ" pitchFamily="34" charset="0"/>
                <a:ea typeface="メイリオ" pitchFamily="34" charset="-122"/>
                <a:cs typeface="メイリオ" pitchFamily="34" charset="-120"/>
              </a:rPr>
              <a:t>「できる子になる」ことではなく、</a:t>
            </a:r>
            <a:endParaRPr lang="en-US" sz="1700" dirty="0"/>
          </a:p>
          <a:p>
            <a:pPr algn="l" indent="0" marL="0">
              <a:lnSpc>
                <a:spcPct val="130000"/>
              </a:lnSpc>
              <a:buNone/>
            </a:pPr>
            <a:r>
              <a:rPr lang="en-US" sz="2200" b="1" dirty="0">
                <a:solidFill>
                  <a:srgbClr val="EE7B08"/>
                </a:solidFill>
                <a:latin typeface="メイリオ" pitchFamily="34" charset="0"/>
                <a:ea typeface="メイリオ" pitchFamily="34" charset="-122"/>
                <a:cs typeface="メイリオ" pitchFamily="34" charset="-120"/>
              </a:rPr>
              <a:t>「成長できる自分を信じること」である。</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①　自己肯定感を育む授業</a:t>
            </a:r>
            <a:endParaRPr lang="en-US" sz="3000" dirty="0"/>
          </a:p>
        </p:txBody>
      </p:sp>
      <p:sp>
        <p:nvSpPr>
          <p:cNvPr id="3" name="Shape 1"/>
          <p:cNvSpPr/>
          <p:nvPr/>
        </p:nvSpPr>
        <p:spPr>
          <a:xfrm>
            <a:off x="320040" y="1417320"/>
            <a:ext cx="2697480" cy="2395728"/>
          </a:xfrm>
          <a:prstGeom prst="roundRect">
            <a:avLst>
              <a:gd name="adj" fmla="val 2290"/>
            </a:avLst>
          </a:prstGeom>
          <a:solidFill>
            <a:srgbClr val="E9F7F3"/>
          </a:solidFill>
          <a:ln w="12700">
            <a:solidFill>
              <a:srgbClr val="B9E5DA"/>
            </a:solidFill>
            <a:prstDash val="solid"/>
          </a:ln>
        </p:spPr>
      </p:sp>
      <p:sp>
        <p:nvSpPr>
          <p:cNvPr id="4" name="Text 2"/>
          <p:cNvSpPr txBox="1"/>
          <p:nvPr/>
        </p:nvSpPr>
        <p:spPr>
          <a:xfrm>
            <a:off x="466344"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田口　和磨　先生</a:t>
            </a:r>
            <a:endParaRPr lang="en-US" sz="1600" dirty="0"/>
          </a:p>
        </p:txBody>
      </p:sp>
      <p:sp>
        <p:nvSpPr>
          <p:cNvPr id="5" name="Text 3"/>
          <p:cNvSpPr txBox="1"/>
          <p:nvPr/>
        </p:nvSpPr>
        <p:spPr>
          <a:xfrm>
            <a:off x="466344"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保健体育・９年ＡＢ組／水泳</a:t>
            </a:r>
            <a:endParaRPr lang="en-US" sz="1100" dirty="0"/>
          </a:p>
        </p:txBody>
      </p:sp>
      <p:sp>
        <p:nvSpPr>
          <p:cNvPr id="6" name="Text 4"/>
          <p:cNvSpPr txBox="1"/>
          <p:nvPr/>
        </p:nvSpPr>
        <p:spPr>
          <a:xfrm>
            <a:off x="466344"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泳力差の大きい集団に</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・段階的な課題設定</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・泳力別のコース編成</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・バディでの確認活動</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確認の視点を３点示し、</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見る目を育てていた。</a:t>
            </a:r>
            <a:endParaRPr lang="en-US" sz="1350" dirty="0"/>
          </a:p>
        </p:txBody>
      </p:sp>
      <p:sp>
        <p:nvSpPr>
          <p:cNvPr id="7" name="Shape 5"/>
          <p:cNvSpPr/>
          <p:nvPr/>
        </p:nvSpPr>
        <p:spPr>
          <a:xfrm>
            <a:off x="3227832" y="1417320"/>
            <a:ext cx="2697480" cy="2395728"/>
          </a:xfrm>
          <a:prstGeom prst="roundRect">
            <a:avLst>
              <a:gd name="adj" fmla="val 2290"/>
            </a:avLst>
          </a:prstGeom>
          <a:solidFill>
            <a:srgbClr val="E9F7F3"/>
          </a:solidFill>
          <a:ln w="12700">
            <a:solidFill>
              <a:srgbClr val="B9E5DA"/>
            </a:solidFill>
            <a:prstDash val="solid"/>
          </a:ln>
        </p:spPr>
      </p:sp>
      <p:sp>
        <p:nvSpPr>
          <p:cNvPr id="8" name="Text 6"/>
          <p:cNvSpPr txBox="1"/>
          <p:nvPr/>
        </p:nvSpPr>
        <p:spPr>
          <a:xfrm>
            <a:off x="3374136"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東海林　静江　先生</a:t>
            </a:r>
            <a:endParaRPr lang="en-US" sz="1600" dirty="0"/>
          </a:p>
        </p:txBody>
      </p:sp>
      <p:sp>
        <p:nvSpPr>
          <p:cNvPr id="9" name="Text 7"/>
          <p:cNvSpPr txBox="1"/>
          <p:nvPr/>
        </p:nvSpPr>
        <p:spPr>
          <a:xfrm>
            <a:off x="3374136"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道徳・特別支援学級Ｄ組／うそ</a:t>
            </a:r>
            <a:endParaRPr lang="en-US" sz="1100" dirty="0"/>
          </a:p>
        </p:txBody>
      </p:sp>
      <p:sp>
        <p:nvSpPr>
          <p:cNvPr id="10" name="Text 8"/>
          <p:cNvSpPr txBox="1"/>
          <p:nvPr/>
        </p:nvSpPr>
        <p:spPr>
          <a:xfrm>
            <a:off x="3374136"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安心して自分の考えを</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表現できる環境</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・前時の考えを尊重</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・意見が変わってよい</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答えは一つではないと</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保障されていた。</a:t>
            </a:r>
            <a:endParaRPr lang="en-US" sz="1350" dirty="0"/>
          </a:p>
        </p:txBody>
      </p:sp>
      <p:sp>
        <p:nvSpPr>
          <p:cNvPr id="11" name="Shape 9"/>
          <p:cNvSpPr/>
          <p:nvPr/>
        </p:nvSpPr>
        <p:spPr>
          <a:xfrm>
            <a:off x="6135624" y="1417320"/>
            <a:ext cx="2697480" cy="2395728"/>
          </a:xfrm>
          <a:prstGeom prst="roundRect">
            <a:avLst>
              <a:gd name="adj" fmla="val 2290"/>
            </a:avLst>
          </a:prstGeom>
          <a:solidFill>
            <a:srgbClr val="E9F7F3"/>
          </a:solidFill>
          <a:ln w="12700">
            <a:solidFill>
              <a:srgbClr val="B9E5DA"/>
            </a:solidFill>
            <a:prstDash val="solid"/>
          </a:ln>
        </p:spPr>
      </p:sp>
      <p:sp>
        <p:nvSpPr>
          <p:cNvPr id="12" name="Text 10"/>
          <p:cNvSpPr txBox="1"/>
          <p:nvPr/>
        </p:nvSpPr>
        <p:spPr>
          <a:xfrm>
            <a:off x="6281928"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塚本　瑞穂　先生</a:t>
            </a:r>
            <a:endParaRPr lang="en-US" sz="1600" dirty="0"/>
          </a:p>
        </p:txBody>
      </p:sp>
      <p:sp>
        <p:nvSpPr>
          <p:cNvPr id="13" name="Text 11"/>
          <p:cNvSpPr txBox="1"/>
          <p:nvPr/>
        </p:nvSpPr>
        <p:spPr>
          <a:xfrm>
            <a:off x="6281928"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外国語・７年Ｂ組／Unit 4</a:t>
            </a:r>
            <a:endParaRPr lang="en-US" sz="1100" dirty="0"/>
          </a:p>
        </p:txBody>
      </p:sp>
      <p:sp>
        <p:nvSpPr>
          <p:cNvPr id="14" name="Text 12"/>
          <p:cNvSpPr txBox="1"/>
          <p:nvPr/>
        </p:nvSpPr>
        <p:spPr>
          <a:xfrm>
            <a:off x="6281928"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習熟度差の大きい学級で</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・発表前にペアで共有</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・全員に発話の機会</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不安を減らし、誰もが</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参加できる場をつくって</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いた。</a:t>
            </a:r>
            <a:endParaRPr lang="en-US" sz="1350" dirty="0"/>
          </a:p>
        </p:txBody>
      </p:sp>
      <p:sp>
        <p:nvSpPr>
          <p:cNvPr id="15" name="Text 13"/>
          <p:cNvSpPr txBox="1"/>
          <p:nvPr/>
        </p:nvSpPr>
        <p:spPr>
          <a:xfrm>
            <a:off x="320040" y="3977640"/>
            <a:ext cx="8503920" cy="822960"/>
          </a:xfrm>
          <a:prstGeom prst="rect">
            <a:avLst/>
          </a:prstGeom>
          <a:noFill/>
          <a:ln/>
        </p:spPr>
        <p:txBody>
          <a:bodyPr wrap="square" lIns="0" tIns="0" rIns="0" bIns="0" rtlCol="0" anchor="t"/>
          <a:lstStyle/>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子どもたちは「認められる」よりも、</a:t>
            </a:r>
            <a:pPr algn="l" indent="0" marL="0">
              <a:lnSpc>
                <a:spcPct val="120000"/>
              </a:lnSpc>
              <a:buNone/>
            </a:pPr>
            <a:r>
              <a:rPr lang="en-US" sz="1600" b="1" dirty="0">
                <a:solidFill>
                  <a:srgbClr val="EE7B08"/>
                </a:solidFill>
                <a:latin typeface="メイリオ" pitchFamily="34" charset="0"/>
                <a:ea typeface="メイリオ" pitchFamily="34" charset="-122"/>
                <a:cs typeface="メイリオ" pitchFamily="34" charset="-120"/>
              </a:rPr>
              <a:t>「自分で成長を実感する」</a:t>
            </a:r>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経験を</a:t>
            </a:r>
            <a:endParaRPr lang="en-US" sz="1600" dirty="0"/>
          </a:p>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積み重ねていた。</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②　対話・協働</a:t>
            </a:r>
            <a:endParaRPr lang="en-US" sz="3000" dirty="0"/>
          </a:p>
        </p:txBody>
      </p:sp>
      <p:sp>
        <p:nvSpPr>
          <p:cNvPr id="3" name="Text 1"/>
          <p:cNvSpPr txBox="1"/>
          <p:nvPr/>
        </p:nvSpPr>
        <p:spPr>
          <a:xfrm>
            <a:off x="475488" y="1444752"/>
            <a:ext cx="8193024" cy="868680"/>
          </a:xfrm>
          <a:prstGeom prst="rect">
            <a:avLst/>
          </a:prstGeom>
          <a:noFill/>
          <a:ln/>
        </p:spPr>
        <p:txBody>
          <a:bodyPr wrap="square" lIns="0" tIns="0" rIns="0" bIns="0" rtlCol="0" anchor="t"/>
          <a:lstStyle/>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本校の学力調査結果からは、</a:t>
            </a:r>
            <a:endParaRPr lang="en-US" sz="2200" dirty="0"/>
          </a:p>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200" b="1" dirty="0">
                <a:solidFill>
                  <a:srgbClr val="EE7B08"/>
                </a:solidFill>
                <a:latin typeface="メイリオ" pitchFamily="34" charset="0"/>
                <a:ea typeface="メイリオ" pitchFamily="34" charset="-122"/>
                <a:cs typeface="メイリオ" pitchFamily="34" charset="-120"/>
              </a:rPr>
              <a:t>主体的な学びの土台</a:t>
            </a:r>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が形成されていることが分かる。</a:t>
            </a:r>
            <a:endParaRPr lang="en-US" sz="2200" dirty="0"/>
          </a:p>
        </p:txBody>
      </p:sp>
      <p:sp>
        <p:nvSpPr>
          <p:cNvPr id="4" name="Text 2"/>
          <p:cNvSpPr txBox="1"/>
          <p:nvPr/>
        </p:nvSpPr>
        <p:spPr>
          <a:xfrm>
            <a:off x="475488" y="2514600"/>
            <a:ext cx="8193024" cy="868680"/>
          </a:xfrm>
          <a:prstGeom prst="rect">
            <a:avLst/>
          </a:prstGeom>
          <a:noFill/>
          <a:ln/>
        </p:spPr>
        <p:txBody>
          <a:bodyPr wrap="square" lIns="0" tIns="0" rIns="0" bIns="0" rtlCol="0" anchor="t"/>
          <a:lstStyle/>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その背景にあるのは、日常的に行われている</a:t>
            </a:r>
            <a:endParaRPr lang="en-US" sz="2200" dirty="0"/>
          </a:p>
          <a:p>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200" b="1" dirty="0">
                <a:solidFill>
                  <a:srgbClr val="EE7B08"/>
                </a:solidFill>
                <a:latin typeface="メイリオ" pitchFamily="34" charset="0"/>
                <a:ea typeface="メイリオ" pitchFamily="34" charset="-122"/>
                <a:cs typeface="メイリオ" pitchFamily="34" charset="-120"/>
              </a:rPr>
              <a:t>「対話を通した学び」</a:t>
            </a:r>
            <a:pPr algn="l" indent="0" marL="0">
              <a:lnSpc>
                <a:spcPct val="120000"/>
              </a:lnSpc>
              <a:buNone/>
            </a:pPr>
            <a:r>
              <a:rPr lang="en-US" sz="2200" b="1" dirty="0">
                <a:solidFill>
                  <a:srgbClr val="595959"/>
                </a:solidFill>
                <a:latin typeface="メイリオ" pitchFamily="34" charset="0"/>
                <a:ea typeface="メイリオ" pitchFamily="34" charset="-122"/>
                <a:cs typeface="メイリオ" pitchFamily="34" charset="-120"/>
              </a:rPr>
              <a:t>である。</a:t>
            </a:r>
            <a:endParaRPr lang="en-US" sz="2200" dirty="0"/>
          </a:p>
        </p:txBody>
      </p:sp>
      <p:sp>
        <p:nvSpPr>
          <p:cNvPr id="5" name="Shape 3"/>
          <p:cNvSpPr/>
          <p:nvPr/>
        </p:nvSpPr>
        <p:spPr>
          <a:xfrm>
            <a:off x="475488" y="3611880"/>
            <a:ext cx="8193024" cy="822960"/>
          </a:xfrm>
          <a:prstGeom prst="roundRect">
            <a:avLst>
              <a:gd name="adj" fmla="val 6667"/>
            </a:avLst>
          </a:prstGeom>
          <a:solidFill>
            <a:srgbClr val="E9F7F3"/>
          </a:solidFill>
          <a:ln w="12700">
            <a:solidFill>
              <a:srgbClr val="B9E5DA"/>
            </a:solidFill>
            <a:prstDash val="solid"/>
          </a:ln>
        </p:spPr>
      </p:sp>
      <p:sp>
        <p:nvSpPr>
          <p:cNvPr id="6" name="Text 4"/>
          <p:cNvSpPr txBox="1"/>
          <p:nvPr/>
        </p:nvSpPr>
        <p:spPr>
          <a:xfrm>
            <a:off x="731520" y="3611880"/>
            <a:ext cx="7680960" cy="82296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本日の３つの授業にも、対話が学びを深める場面が表れていた。</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②　対話によって学びは深まる</a:t>
            </a:r>
            <a:endParaRPr lang="en-US" sz="3000" dirty="0"/>
          </a:p>
        </p:txBody>
      </p:sp>
      <p:sp>
        <p:nvSpPr>
          <p:cNvPr id="3" name="Shape 1"/>
          <p:cNvSpPr/>
          <p:nvPr/>
        </p:nvSpPr>
        <p:spPr>
          <a:xfrm>
            <a:off x="320040" y="1417320"/>
            <a:ext cx="2697480" cy="2395728"/>
          </a:xfrm>
          <a:prstGeom prst="roundRect">
            <a:avLst>
              <a:gd name="adj" fmla="val 2290"/>
            </a:avLst>
          </a:prstGeom>
          <a:solidFill>
            <a:srgbClr val="E9F7F3"/>
          </a:solidFill>
          <a:ln w="12700">
            <a:solidFill>
              <a:srgbClr val="B9E5DA"/>
            </a:solidFill>
            <a:prstDash val="solid"/>
          </a:ln>
        </p:spPr>
      </p:sp>
      <p:sp>
        <p:nvSpPr>
          <p:cNvPr id="4" name="Text 2"/>
          <p:cNvSpPr txBox="1"/>
          <p:nvPr/>
        </p:nvSpPr>
        <p:spPr>
          <a:xfrm>
            <a:off x="466344"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保健体育</a:t>
            </a:r>
            <a:endParaRPr lang="en-US" sz="1600" dirty="0"/>
          </a:p>
        </p:txBody>
      </p:sp>
      <p:sp>
        <p:nvSpPr>
          <p:cNvPr id="5" name="Text 3"/>
          <p:cNvSpPr txBox="1"/>
          <p:nvPr/>
        </p:nvSpPr>
        <p:spPr>
          <a:xfrm>
            <a:off x="466344"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田口　和磨　先生</a:t>
            </a:r>
            <a:endParaRPr lang="en-US" sz="1100" dirty="0"/>
          </a:p>
        </p:txBody>
      </p:sp>
      <p:sp>
        <p:nvSpPr>
          <p:cNvPr id="6" name="Text 4"/>
          <p:cNvSpPr txBox="1"/>
          <p:nvPr/>
        </p:nvSpPr>
        <p:spPr>
          <a:xfrm>
            <a:off x="466344"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バディ同士で</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互いの泳ぎを見て</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改善点を考えていた。</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得意な生徒が助言役を</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担い、全員に役割が</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あった。</a:t>
            </a:r>
            <a:endParaRPr lang="en-US" sz="1350" dirty="0"/>
          </a:p>
        </p:txBody>
      </p:sp>
      <p:sp>
        <p:nvSpPr>
          <p:cNvPr id="7" name="Shape 5"/>
          <p:cNvSpPr/>
          <p:nvPr/>
        </p:nvSpPr>
        <p:spPr>
          <a:xfrm>
            <a:off x="3227832" y="1417320"/>
            <a:ext cx="2697480" cy="2395728"/>
          </a:xfrm>
          <a:prstGeom prst="roundRect">
            <a:avLst>
              <a:gd name="adj" fmla="val 2290"/>
            </a:avLst>
          </a:prstGeom>
          <a:solidFill>
            <a:srgbClr val="E9F7F3"/>
          </a:solidFill>
          <a:ln w="12700">
            <a:solidFill>
              <a:srgbClr val="B9E5DA"/>
            </a:solidFill>
            <a:prstDash val="solid"/>
          </a:ln>
        </p:spPr>
      </p:sp>
      <p:sp>
        <p:nvSpPr>
          <p:cNvPr id="8" name="Text 6"/>
          <p:cNvSpPr txBox="1"/>
          <p:nvPr/>
        </p:nvSpPr>
        <p:spPr>
          <a:xfrm>
            <a:off x="3374136"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道徳</a:t>
            </a:r>
            <a:endParaRPr lang="en-US" sz="1600" dirty="0"/>
          </a:p>
        </p:txBody>
      </p:sp>
      <p:sp>
        <p:nvSpPr>
          <p:cNvPr id="9" name="Text 7"/>
          <p:cNvSpPr txBox="1"/>
          <p:nvPr/>
        </p:nvSpPr>
        <p:spPr>
          <a:xfrm>
            <a:off x="3374136"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東海林　静江　先生</a:t>
            </a:r>
            <a:endParaRPr lang="en-US" sz="1100" dirty="0"/>
          </a:p>
        </p:txBody>
      </p:sp>
      <p:sp>
        <p:nvSpPr>
          <p:cNvPr id="10" name="Text 8"/>
          <p:cNvSpPr txBox="1"/>
          <p:nvPr/>
        </p:nvSpPr>
        <p:spPr>
          <a:xfrm>
            <a:off x="3374136"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「嘘」をテーマに、</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価値観の違いについて</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議論していた。</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発表より議論の時間を</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重視した構成だった。</a:t>
            </a:r>
            <a:endParaRPr lang="en-US" sz="1350" dirty="0"/>
          </a:p>
        </p:txBody>
      </p:sp>
      <p:sp>
        <p:nvSpPr>
          <p:cNvPr id="11" name="Shape 9"/>
          <p:cNvSpPr/>
          <p:nvPr/>
        </p:nvSpPr>
        <p:spPr>
          <a:xfrm>
            <a:off x="6135624" y="1417320"/>
            <a:ext cx="2697480" cy="2395728"/>
          </a:xfrm>
          <a:prstGeom prst="roundRect">
            <a:avLst>
              <a:gd name="adj" fmla="val 2290"/>
            </a:avLst>
          </a:prstGeom>
          <a:solidFill>
            <a:srgbClr val="E9F7F3"/>
          </a:solidFill>
          <a:ln w="12700">
            <a:solidFill>
              <a:srgbClr val="B9E5DA"/>
            </a:solidFill>
            <a:prstDash val="solid"/>
          </a:ln>
        </p:spPr>
      </p:sp>
      <p:sp>
        <p:nvSpPr>
          <p:cNvPr id="12" name="Text 10"/>
          <p:cNvSpPr txBox="1"/>
          <p:nvPr/>
        </p:nvSpPr>
        <p:spPr>
          <a:xfrm>
            <a:off x="6281928" y="1527048"/>
            <a:ext cx="2404872" cy="274320"/>
          </a:xfrm>
          <a:prstGeom prst="rect">
            <a:avLst/>
          </a:prstGeom>
          <a:noFill/>
          <a:ln/>
        </p:spPr>
        <p:txBody>
          <a:bodyPr wrap="square" lIns="0" tIns="0" rIns="0" bIns="0" rtlCol="0" anchor="ctr"/>
          <a:lstStyle/>
          <a:p>
            <a:pPr algn="l" indent="0" marL="0">
              <a:buNone/>
            </a:pPr>
            <a:r>
              <a:rPr lang="en-US" sz="1600" b="1" dirty="0">
                <a:solidFill>
                  <a:srgbClr val="44C1A3"/>
                </a:solidFill>
                <a:latin typeface="メイリオ" pitchFamily="34" charset="0"/>
                <a:ea typeface="メイリオ" pitchFamily="34" charset="-122"/>
                <a:cs typeface="メイリオ" pitchFamily="34" charset="-120"/>
              </a:rPr>
              <a:t>外国語</a:t>
            </a:r>
            <a:endParaRPr lang="en-US" sz="1600" dirty="0"/>
          </a:p>
        </p:txBody>
      </p:sp>
      <p:sp>
        <p:nvSpPr>
          <p:cNvPr id="13" name="Text 11"/>
          <p:cNvSpPr txBox="1"/>
          <p:nvPr/>
        </p:nvSpPr>
        <p:spPr>
          <a:xfrm>
            <a:off x="6281928" y="1801368"/>
            <a:ext cx="2404872" cy="237744"/>
          </a:xfrm>
          <a:prstGeom prst="rect">
            <a:avLst/>
          </a:prstGeom>
          <a:noFill/>
          <a:ln/>
        </p:spPr>
        <p:txBody>
          <a:bodyPr wrap="square" lIns="0" tIns="0" rIns="0" bIns="0" rtlCol="0" anchor="ctr"/>
          <a:lstStyle/>
          <a:p>
            <a:pPr algn="l" indent="0" marL="0">
              <a:buNone/>
            </a:pPr>
            <a:r>
              <a:rPr lang="en-US" sz="1100" b="1" dirty="0">
                <a:solidFill>
                  <a:srgbClr val="808080"/>
                </a:solidFill>
                <a:latin typeface="メイリオ" pitchFamily="34" charset="0"/>
                <a:ea typeface="メイリオ" pitchFamily="34" charset="-122"/>
                <a:cs typeface="メイリオ" pitchFamily="34" charset="-120"/>
              </a:rPr>
              <a:t>塚本　瑞穂　先生</a:t>
            </a:r>
            <a:endParaRPr lang="en-US" sz="1100" dirty="0"/>
          </a:p>
        </p:txBody>
      </p:sp>
      <p:sp>
        <p:nvSpPr>
          <p:cNvPr id="14" name="Text 12"/>
          <p:cNvSpPr txBox="1"/>
          <p:nvPr/>
        </p:nvSpPr>
        <p:spPr>
          <a:xfrm>
            <a:off x="6281928" y="2075688"/>
            <a:ext cx="2404872" cy="1609344"/>
          </a:xfrm>
          <a:prstGeom prst="rect">
            <a:avLst/>
          </a:prstGeom>
          <a:noFill/>
          <a:ln/>
        </p:spPr>
        <p:txBody>
          <a:bodyPr wrap="square" lIns="0" tIns="0" rIns="0" bIns="0" rtlCol="0" anchor="t"/>
          <a:lstStyle/>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ペアでのやり取りから</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全体の学びへつなぐ。</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音読も一人ではなく</a:t>
            </a:r>
            <a:endParaRPr lang="en-US" sz="1350" dirty="0"/>
          </a:p>
          <a:p>
            <a:pPr algn="l" indent="0" marL="0">
              <a:lnSpc>
                <a:spcPct val="125000"/>
              </a:lnSpc>
              <a:buNone/>
            </a:pPr>
            <a:r>
              <a:rPr lang="en-US" sz="1350" b="1" dirty="0">
                <a:solidFill>
                  <a:srgbClr val="EE7B08"/>
                </a:solidFill>
                <a:latin typeface="メイリオ" pitchFamily="34" charset="0"/>
                <a:ea typeface="メイリオ" pitchFamily="34" charset="-122"/>
                <a:cs typeface="メイリオ" pitchFamily="34" charset="-120"/>
              </a:rPr>
              <a:t>相手とともに行い、</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表現を確かなものに</a:t>
            </a:r>
            <a:endParaRPr lang="en-US" sz="1350" dirty="0"/>
          </a:p>
          <a:p>
            <a:pPr algn="l" indent="0" marL="0">
              <a:lnSpc>
                <a:spcPct val="125000"/>
              </a:lnSpc>
              <a:buNone/>
            </a:pPr>
            <a:r>
              <a:rPr lang="en-US" sz="1350" b="1" dirty="0">
                <a:solidFill>
                  <a:srgbClr val="595959"/>
                </a:solidFill>
                <a:latin typeface="メイリオ" pitchFamily="34" charset="0"/>
                <a:ea typeface="メイリオ" pitchFamily="34" charset="-122"/>
                <a:cs typeface="メイリオ" pitchFamily="34" charset="-120"/>
              </a:rPr>
              <a:t>していた。</a:t>
            </a:r>
            <a:endParaRPr lang="en-US" sz="1350" dirty="0"/>
          </a:p>
        </p:txBody>
      </p:sp>
      <p:sp>
        <p:nvSpPr>
          <p:cNvPr id="15" name="Text 13"/>
          <p:cNvSpPr txBox="1"/>
          <p:nvPr/>
        </p:nvSpPr>
        <p:spPr>
          <a:xfrm>
            <a:off x="320040" y="3977640"/>
            <a:ext cx="8503920" cy="822960"/>
          </a:xfrm>
          <a:prstGeom prst="rect">
            <a:avLst/>
          </a:prstGeom>
          <a:noFill/>
          <a:ln/>
        </p:spPr>
        <p:txBody>
          <a:bodyPr wrap="square" lIns="0" tIns="0" rIns="0" bIns="0" rtlCol="0" anchor="t"/>
          <a:lstStyle/>
          <a:p>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教科は異なっても、共通していたのは</a:t>
            </a:r>
            <a:endParaRPr lang="en-US" sz="1600" dirty="0"/>
          </a:p>
          <a:p>
            <a:pPr algn="l" indent="0" marL="0">
              <a:lnSpc>
                <a:spcPct val="120000"/>
              </a:lnSpc>
              <a:buNone/>
            </a:pPr>
            <a:r>
              <a:rPr lang="en-US" sz="1600" b="1" dirty="0">
                <a:solidFill>
                  <a:srgbClr val="EE7B08"/>
                </a:solidFill>
                <a:latin typeface="メイリオ" pitchFamily="34" charset="0"/>
                <a:ea typeface="メイリオ" pitchFamily="34" charset="-122"/>
                <a:cs typeface="メイリオ" pitchFamily="34" charset="-120"/>
              </a:rPr>
              <a:t>「相手を通して自分を見つめる学び」</a:t>
            </a:r>
            <a:pPr algn="l" indent="0" marL="0">
              <a:lnSpc>
                <a:spcPct val="120000"/>
              </a:lnSpc>
              <a:buNone/>
            </a:pPr>
            <a:r>
              <a:rPr lang="en-US" sz="1600" b="1" dirty="0">
                <a:solidFill>
                  <a:srgbClr val="595959"/>
                </a:solidFill>
                <a:latin typeface="メイリオ" pitchFamily="34" charset="0"/>
                <a:ea typeface="メイリオ" pitchFamily="34" charset="-122"/>
                <a:cs typeface="メイリオ" pitchFamily="34" charset="-120"/>
              </a:rPr>
              <a:t>であった。</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③　学習の自己調整</a:t>
            </a:r>
            <a:endParaRPr lang="en-US" sz="3000" dirty="0"/>
          </a:p>
        </p:txBody>
      </p:sp>
      <p:sp>
        <p:nvSpPr>
          <p:cNvPr id="3" name="Text 1"/>
          <p:cNvSpPr txBox="1"/>
          <p:nvPr/>
        </p:nvSpPr>
        <p:spPr>
          <a:xfrm>
            <a:off x="475488" y="1444752"/>
            <a:ext cx="8193024" cy="1280160"/>
          </a:xfrm>
          <a:prstGeom prst="rect">
            <a:avLst/>
          </a:prstGeom>
          <a:noFill/>
          <a:ln/>
        </p:spPr>
        <p:txBody>
          <a:bodyPr wrap="square" lIns="0" tIns="0" rIns="0" bIns="0" rtlCol="0" anchor="t"/>
          <a:lstStyle/>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これから求められる子どもは、</a:t>
            </a:r>
            <a:endParaRPr lang="en-US" sz="2100" dirty="0"/>
          </a:p>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　教えられたことを学ぶ子どもではなく、</a:t>
            </a:r>
            <a:endParaRPr lang="en-US" sz="2100" dirty="0"/>
          </a:p>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　</a:t>
            </a:r>
            <a:pPr algn="l" indent="0" marL="0">
              <a:lnSpc>
                <a:spcPct val="120000"/>
              </a:lnSpc>
              <a:buNone/>
            </a:pPr>
            <a:r>
              <a:rPr lang="en-US" sz="2100" b="1" dirty="0">
                <a:solidFill>
                  <a:srgbClr val="EE7B08"/>
                </a:solidFill>
                <a:latin typeface="メイリオ" pitchFamily="34" charset="0"/>
                <a:ea typeface="メイリオ" pitchFamily="34" charset="-122"/>
                <a:cs typeface="メイリオ" pitchFamily="34" charset="-120"/>
              </a:rPr>
              <a:t>自分で学び続ける子ども</a:t>
            </a:r>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である。</a:t>
            </a:r>
            <a:endParaRPr lang="en-US" sz="2100" dirty="0"/>
          </a:p>
        </p:txBody>
      </p:sp>
      <p:sp>
        <p:nvSpPr>
          <p:cNvPr id="4" name="Text 2"/>
          <p:cNvSpPr txBox="1"/>
          <p:nvPr/>
        </p:nvSpPr>
        <p:spPr>
          <a:xfrm>
            <a:off x="475488" y="2880360"/>
            <a:ext cx="8193024" cy="502920"/>
          </a:xfrm>
          <a:prstGeom prst="rect">
            <a:avLst/>
          </a:prstGeom>
          <a:noFill/>
          <a:ln/>
        </p:spPr>
        <p:txBody>
          <a:bodyPr wrap="square" lIns="0" tIns="0" rIns="0" bIns="0" rtlCol="0" anchor="t"/>
          <a:lstStyle/>
          <a:p>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そのために必要なのが</a:t>
            </a:r>
            <a:pPr algn="l" indent="0" marL="0">
              <a:lnSpc>
                <a:spcPct val="120000"/>
              </a:lnSpc>
              <a:buNone/>
            </a:pPr>
            <a:r>
              <a:rPr lang="en-US" sz="2100" b="1" dirty="0">
                <a:solidFill>
                  <a:srgbClr val="EE7B08"/>
                </a:solidFill>
                <a:latin typeface="メイリオ" pitchFamily="34" charset="0"/>
                <a:ea typeface="メイリオ" pitchFamily="34" charset="-122"/>
                <a:cs typeface="メイリオ" pitchFamily="34" charset="-120"/>
              </a:rPr>
              <a:t>学習の自己調整</a:t>
            </a:r>
            <a:pPr algn="l" indent="0" marL="0">
              <a:lnSpc>
                <a:spcPct val="120000"/>
              </a:lnSpc>
              <a:buNone/>
            </a:pPr>
            <a:r>
              <a:rPr lang="en-US" sz="2100" b="1" dirty="0">
                <a:solidFill>
                  <a:srgbClr val="595959"/>
                </a:solidFill>
                <a:latin typeface="メイリオ" pitchFamily="34" charset="0"/>
                <a:ea typeface="メイリオ" pitchFamily="34" charset="-122"/>
                <a:cs typeface="メイリオ" pitchFamily="34" charset="-120"/>
              </a:rPr>
              <a:t>である。</a:t>
            </a:r>
            <a:endParaRPr lang="en-US" sz="2100" dirty="0"/>
          </a:p>
        </p:txBody>
      </p:sp>
      <p:sp>
        <p:nvSpPr>
          <p:cNvPr id="5" name="Shape 3"/>
          <p:cNvSpPr/>
          <p:nvPr/>
        </p:nvSpPr>
        <p:spPr>
          <a:xfrm>
            <a:off x="475488" y="3611880"/>
            <a:ext cx="8193024" cy="822960"/>
          </a:xfrm>
          <a:prstGeom prst="roundRect">
            <a:avLst>
              <a:gd name="adj" fmla="val 6667"/>
            </a:avLst>
          </a:prstGeom>
          <a:solidFill>
            <a:srgbClr val="E9F7F3"/>
          </a:solidFill>
          <a:ln w="12700">
            <a:solidFill>
              <a:srgbClr val="B9E5DA"/>
            </a:solidFill>
            <a:prstDash val="solid"/>
          </a:ln>
        </p:spPr>
      </p:sp>
      <p:sp>
        <p:nvSpPr>
          <p:cNvPr id="6" name="Text 4"/>
          <p:cNvSpPr txBox="1"/>
          <p:nvPr/>
        </p:nvSpPr>
        <p:spPr>
          <a:xfrm>
            <a:off x="731520" y="3611880"/>
            <a:ext cx="7680960" cy="822960"/>
          </a:xfrm>
          <a:prstGeom prst="rect">
            <a:avLst/>
          </a:prstGeom>
          <a:noFill/>
          <a:ln/>
        </p:spPr>
        <p:txBody>
          <a:bodyPr wrap="square" lIns="0" tIns="0" rIns="0" bIns="0" rtlCol="0" anchor="ctr"/>
          <a:lstStyle/>
          <a:p>
            <a:pPr algn="l" indent="0" marL="0">
              <a:buNone/>
            </a:pPr>
            <a:r>
              <a:rPr lang="en-US" sz="1600" b="1" dirty="0">
                <a:solidFill>
                  <a:srgbClr val="595959"/>
                </a:solidFill>
                <a:latin typeface="メイリオ" pitchFamily="34" charset="0"/>
                <a:ea typeface="メイリオ" pitchFamily="34" charset="-122"/>
                <a:cs typeface="メイリオ" pitchFamily="34" charset="-120"/>
              </a:rPr>
              <a:t>学習指導要領が示す「学びに向かう力」の中核をなす力である。</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0" y="-9144"/>
            <a:ext cx="9144000" cy="116128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２　５校時の授業について</a:t>
            </a:r>
            <a:endParaRPr lang="en-US" sz="3000" dirty="0"/>
          </a:p>
          <a:p>
            <a:pPr algn="l" indent="0" marL="0">
              <a:lnSpc>
                <a:spcPct val="120000"/>
              </a:lnSpc>
              <a:buNone/>
            </a:pPr>
            <a:r>
              <a:rPr lang="en-US" sz="2800" b="1" dirty="0">
                <a:solidFill>
                  <a:srgbClr val="FFFFFF"/>
                </a:solidFill>
                <a:latin typeface="メイリオ" pitchFamily="34" charset="0"/>
                <a:ea typeface="メイリオ" pitchFamily="34" charset="-122"/>
                <a:cs typeface="メイリオ" pitchFamily="34" charset="-120"/>
              </a:rPr>
              <a:t>　③　自己調整が行われていた授業</a:t>
            </a:r>
            <a:endParaRPr lang="en-US" sz="3000" dirty="0"/>
          </a:p>
        </p:txBody>
      </p:sp>
      <p:sp>
        <p:nvSpPr>
          <p:cNvPr id="3" name="Shape 1"/>
          <p:cNvSpPr/>
          <p:nvPr/>
        </p:nvSpPr>
        <p:spPr>
          <a:xfrm>
            <a:off x="320040" y="1444752"/>
            <a:ext cx="2011680" cy="530352"/>
          </a:xfrm>
          <a:prstGeom prst="roundRect">
            <a:avLst>
              <a:gd name="adj" fmla="val 12069"/>
            </a:avLst>
          </a:prstGeom>
          <a:solidFill>
            <a:srgbClr val="44C1A3"/>
          </a:solidFill>
          <a:ln/>
        </p:spPr>
      </p:sp>
      <p:sp>
        <p:nvSpPr>
          <p:cNvPr id="4" name="Text 2"/>
          <p:cNvSpPr txBox="1"/>
          <p:nvPr/>
        </p:nvSpPr>
        <p:spPr>
          <a:xfrm>
            <a:off x="32004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本時の目標</a:t>
            </a:r>
            <a:endParaRPr lang="en-US" sz="1500" dirty="0"/>
          </a:p>
        </p:txBody>
      </p:sp>
      <p:sp>
        <p:nvSpPr>
          <p:cNvPr id="5" name="Shape 3"/>
          <p:cNvSpPr/>
          <p:nvPr/>
        </p:nvSpPr>
        <p:spPr>
          <a:xfrm>
            <a:off x="2514600" y="1444752"/>
            <a:ext cx="2011680" cy="530352"/>
          </a:xfrm>
          <a:prstGeom prst="roundRect">
            <a:avLst>
              <a:gd name="adj" fmla="val 12069"/>
            </a:avLst>
          </a:prstGeom>
          <a:solidFill>
            <a:srgbClr val="44C1A3"/>
          </a:solidFill>
          <a:ln/>
        </p:spPr>
      </p:sp>
      <p:sp>
        <p:nvSpPr>
          <p:cNvPr id="6" name="Text 4"/>
          <p:cNvSpPr txBox="1"/>
          <p:nvPr/>
        </p:nvSpPr>
        <p:spPr>
          <a:xfrm>
            <a:off x="251460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振り返り</a:t>
            </a:r>
            <a:endParaRPr lang="en-US" sz="1500" dirty="0"/>
          </a:p>
        </p:txBody>
      </p:sp>
      <p:sp>
        <p:nvSpPr>
          <p:cNvPr id="7" name="Shape 5"/>
          <p:cNvSpPr/>
          <p:nvPr/>
        </p:nvSpPr>
        <p:spPr>
          <a:xfrm>
            <a:off x="4709160" y="1444752"/>
            <a:ext cx="2011680" cy="530352"/>
          </a:xfrm>
          <a:prstGeom prst="roundRect">
            <a:avLst>
              <a:gd name="adj" fmla="val 12069"/>
            </a:avLst>
          </a:prstGeom>
          <a:solidFill>
            <a:srgbClr val="44C1A3"/>
          </a:solidFill>
          <a:ln/>
        </p:spPr>
      </p:sp>
      <p:sp>
        <p:nvSpPr>
          <p:cNvPr id="8" name="Text 6"/>
          <p:cNvSpPr txBox="1"/>
          <p:nvPr/>
        </p:nvSpPr>
        <p:spPr>
          <a:xfrm>
            <a:off x="470916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自己評価</a:t>
            </a:r>
            <a:endParaRPr lang="en-US" sz="1500" dirty="0"/>
          </a:p>
        </p:txBody>
      </p:sp>
      <p:sp>
        <p:nvSpPr>
          <p:cNvPr id="9" name="Shape 7"/>
          <p:cNvSpPr/>
          <p:nvPr/>
        </p:nvSpPr>
        <p:spPr>
          <a:xfrm>
            <a:off x="6903720" y="1444752"/>
            <a:ext cx="2011680" cy="530352"/>
          </a:xfrm>
          <a:prstGeom prst="roundRect">
            <a:avLst>
              <a:gd name="adj" fmla="val 12069"/>
            </a:avLst>
          </a:prstGeom>
          <a:solidFill>
            <a:srgbClr val="44C1A3"/>
          </a:solidFill>
          <a:ln/>
        </p:spPr>
      </p:sp>
      <p:sp>
        <p:nvSpPr>
          <p:cNvPr id="10" name="Text 8"/>
          <p:cNvSpPr txBox="1"/>
          <p:nvPr/>
        </p:nvSpPr>
        <p:spPr>
          <a:xfrm>
            <a:off x="6903720" y="1444752"/>
            <a:ext cx="2011680" cy="530352"/>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メイリオ" pitchFamily="34" charset="0"/>
                <a:ea typeface="メイリオ" pitchFamily="34" charset="-122"/>
                <a:cs typeface="メイリオ" pitchFamily="34" charset="-120"/>
              </a:rPr>
              <a:t>次時への見通し</a:t>
            </a:r>
            <a:endParaRPr lang="en-US" sz="1500" dirty="0"/>
          </a:p>
        </p:txBody>
      </p:sp>
      <p:sp>
        <p:nvSpPr>
          <p:cNvPr id="11" name="Text 9"/>
          <p:cNvSpPr txBox="1"/>
          <p:nvPr/>
        </p:nvSpPr>
        <p:spPr>
          <a:xfrm>
            <a:off x="320040" y="2066544"/>
            <a:ext cx="8503920" cy="320040"/>
          </a:xfrm>
          <a:prstGeom prst="rect">
            <a:avLst/>
          </a:prstGeom>
          <a:noFill/>
          <a:ln/>
        </p:spPr>
        <p:txBody>
          <a:bodyPr wrap="square" lIns="0" tIns="0" rIns="0" bIns="0" rtlCol="0" anchor="ctr"/>
          <a:lstStyle/>
          <a:p>
            <a:pPr algn="l" indent="0" marL="0">
              <a:buNone/>
            </a:pPr>
            <a:r>
              <a:rPr lang="en-US" sz="1400" b="1" dirty="0">
                <a:solidFill>
                  <a:srgbClr val="808080"/>
                </a:solidFill>
                <a:latin typeface="メイリオ" pitchFamily="34" charset="0"/>
                <a:ea typeface="メイリオ" pitchFamily="34" charset="-122"/>
                <a:cs typeface="メイリオ" pitchFamily="34" charset="-120"/>
              </a:rPr>
              <a:t>本日の授業では、この４点が大切にされていた。</a:t>
            </a:r>
            <a:endParaRPr lang="en-US" sz="1400" dirty="0"/>
          </a:p>
        </p:txBody>
      </p:sp>
      <p:sp>
        <p:nvSpPr>
          <p:cNvPr id="12" name="Text 10"/>
          <p:cNvSpPr txBox="1"/>
          <p:nvPr/>
        </p:nvSpPr>
        <p:spPr>
          <a:xfrm>
            <a:off x="320040" y="2468880"/>
            <a:ext cx="8503920" cy="1188720"/>
          </a:xfrm>
          <a:prstGeom prst="rect">
            <a:avLst/>
          </a:prstGeom>
          <a:noFill/>
          <a:ln/>
        </p:spPr>
        <p:txBody>
          <a:bodyPr wrap="square" lIns="0" tIns="0" rIns="0" bIns="0" rtlCol="0" anchor="t"/>
          <a:lstStyle/>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・田口　先生　　着替えの前に目標と流れを確認し、</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学習カードで要点を振り返る</a:t>
            </a:r>
            <a:endParaRPr lang="en-US" sz="1500" dirty="0"/>
          </a:p>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・塚本　先生　　Today’s Goal と Plan を提示し、</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振り返りをワークシートに記入</a:t>
            </a:r>
            <a:endParaRPr lang="en-US" sz="1500" dirty="0"/>
          </a:p>
          <a:p>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・東海林　先生　</a:t>
            </a:r>
            <a:pPr algn="l" indent="0" marL="0">
              <a:lnSpc>
                <a:spcPct val="150000"/>
              </a:lnSpc>
              <a:buNone/>
            </a:pPr>
            <a:r>
              <a:rPr lang="en-US" sz="1500" b="1" dirty="0">
                <a:solidFill>
                  <a:srgbClr val="EE7B08"/>
                </a:solidFill>
                <a:latin typeface="メイリオ" pitchFamily="34" charset="0"/>
                <a:ea typeface="メイリオ" pitchFamily="34" charset="-122"/>
                <a:cs typeface="メイリオ" pitchFamily="34" charset="-120"/>
              </a:rPr>
              <a:t>前時のワークシート</a:t>
            </a:r>
            <a:pPr algn="l" indent="0" marL="0">
              <a:lnSpc>
                <a:spcPct val="150000"/>
              </a:lnSpc>
              <a:buNone/>
            </a:pPr>
            <a:r>
              <a:rPr lang="en-US" sz="1500" b="1" dirty="0">
                <a:solidFill>
                  <a:srgbClr val="595959"/>
                </a:solidFill>
                <a:latin typeface="メイリオ" pitchFamily="34" charset="0"/>
                <a:ea typeface="メイリオ" pitchFamily="34" charset="-122"/>
                <a:cs typeface="メイリオ" pitchFamily="34" charset="-120"/>
              </a:rPr>
              <a:t>で自分の考えを確かめてから議論へ</a:t>
            </a:r>
            <a:endParaRPr lang="en-US" sz="1500" dirty="0"/>
          </a:p>
        </p:txBody>
      </p:sp>
      <p:sp>
        <p:nvSpPr>
          <p:cNvPr id="13" name="Shape 11"/>
          <p:cNvSpPr/>
          <p:nvPr/>
        </p:nvSpPr>
        <p:spPr>
          <a:xfrm>
            <a:off x="320040" y="3794760"/>
            <a:ext cx="8503920" cy="777240"/>
          </a:xfrm>
          <a:prstGeom prst="roundRect">
            <a:avLst>
              <a:gd name="adj" fmla="val 7059"/>
            </a:avLst>
          </a:prstGeom>
          <a:solidFill>
            <a:srgbClr val="E9F7F3"/>
          </a:solidFill>
          <a:ln w="12700">
            <a:solidFill>
              <a:srgbClr val="B9E5DA"/>
            </a:solidFill>
            <a:prstDash val="solid"/>
          </a:ln>
        </p:spPr>
      </p:sp>
      <p:sp>
        <p:nvSpPr>
          <p:cNvPr id="14" name="Text 12"/>
          <p:cNvSpPr txBox="1"/>
          <p:nvPr/>
        </p:nvSpPr>
        <p:spPr>
          <a:xfrm>
            <a:off x="576072" y="3794760"/>
            <a:ext cx="7991856" cy="777240"/>
          </a:xfrm>
          <a:prstGeom prst="rect">
            <a:avLst/>
          </a:prstGeom>
          <a:noFill/>
          <a:ln/>
        </p:spPr>
        <p:txBody>
          <a:bodyPr wrap="square" lIns="0" tIns="0" rIns="0" bIns="0" rtlCol="0" anchor="ctr"/>
          <a:lstStyle/>
          <a:p>
            <a:pPr algn="l" indent="0" marL="0">
              <a:buNone/>
            </a:pPr>
            <a:r>
              <a:rPr lang="en-US" sz="1700" b="1" dirty="0">
                <a:solidFill>
                  <a:srgbClr val="595959"/>
                </a:solidFill>
                <a:latin typeface="メイリオ" pitchFamily="34" charset="0"/>
                <a:ea typeface="メイリオ" pitchFamily="34" charset="-122"/>
                <a:cs typeface="メイリオ" pitchFamily="34" charset="-120"/>
              </a:rPr>
              <a:t>教師が管理する学習から　</a:t>
            </a:r>
            <a:pPr algn="l" indent="0" marL="0">
              <a:buNone/>
            </a:pPr>
            <a:r>
              <a:rPr lang="en-US" sz="1700" b="1" dirty="0">
                <a:solidFill>
                  <a:srgbClr val="EE7B08"/>
                </a:solidFill>
                <a:latin typeface="メイリオ" pitchFamily="34" charset="0"/>
                <a:ea typeface="メイリオ" pitchFamily="34" charset="-122"/>
                <a:cs typeface="メイリオ" pitchFamily="34" charset="-120"/>
              </a:rPr>
              <a:t>子どもが管理する学習へ</a:t>
            </a:r>
            <a:pPr algn="l" indent="0" marL="0">
              <a:buNone/>
            </a:pPr>
            <a:r>
              <a:rPr lang="en-US" sz="1700" b="1" dirty="0">
                <a:solidFill>
                  <a:srgbClr val="595959"/>
                </a:solidFill>
                <a:latin typeface="メイリオ" pitchFamily="34" charset="0"/>
                <a:ea typeface="メイリオ" pitchFamily="34" charset="-122"/>
                <a:cs typeface="メイリオ" pitchFamily="34" charset="-120"/>
              </a:rPr>
              <a:t>　着実に転換が進んでいる。</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今後に向けて</a:t>
            </a:r>
            <a:endParaRPr lang="en-US" sz="3000" dirty="0"/>
          </a:p>
        </p:txBody>
      </p:sp>
      <p:sp>
        <p:nvSpPr>
          <p:cNvPr id="3" name="Text 1"/>
          <p:cNvSpPr txBox="1"/>
          <p:nvPr/>
        </p:nvSpPr>
        <p:spPr>
          <a:xfrm>
            <a:off x="475488" y="896112"/>
            <a:ext cx="8193024" cy="777240"/>
          </a:xfrm>
          <a:prstGeom prst="rect">
            <a:avLst/>
          </a:prstGeom>
          <a:noFill/>
          <a:ln/>
        </p:spPr>
        <p:txBody>
          <a:bodyPr wrap="square" lIns="0" tIns="0" rIns="0" bIns="0" rtlCol="0" anchor="t"/>
          <a:lstStyle/>
          <a:p>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学力調査結果</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　と　</a:t>
            </a:r>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今日の授業</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　をつなげて考えると、</a:t>
            </a:r>
            <a:endParaRPr lang="en-US" sz="1800" dirty="0"/>
          </a:p>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今後さらに伸ばしたいのは</a:t>
            </a:r>
            <a:endParaRPr lang="en-US" sz="1800" dirty="0"/>
          </a:p>
        </p:txBody>
      </p:sp>
      <p:sp>
        <p:nvSpPr>
          <p:cNvPr id="4" name="Shape 2"/>
          <p:cNvSpPr/>
          <p:nvPr/>
        </p:nvSpPr>
        <p:spPr>
          <a:xfrm>
            <a:off x="475488" y="1755648"/>
            <a:ext cx="8193024" cy="777240"/>
          </a:xfrm>
          <a:prstGeom prst="roundRect">
            <a:avLst>
              <a:gd name="adj" fmla="val 7059"/>
            </a:avLst>
          </a:prstGeom>
          <a:solidFill>
            <a:srgbClr val="E9F7F3"/>
          </a:solidFill>
          <a:ln w="12700">
            <a:solidFill>
              <a:srgbClr val="B9E5DA"/>
            </a:solidFill>
            <a:prstDash val="solid"/>
          </a:ln>
        </p:spPr>
      </p:sp>
      <p:sp>
        <p:nvSpPr>
          <p:cNvPr id="5" name="Text 3"/>
          <p:cNvSpPr txBox="1"/>
          <p:nvPr/>
        </p:nvSpPr>
        <p:spPr>
          <a:xfrm>
            <a:off x="731520" y="1755648"/>
            <a:ext cx="7680960" cy="777240"/>
          </a:xfrm>
          <a:prstGeom prst="rect">
            <a:avLst/>
          </a:prstGeom>
          <a:noFill/>
          <a:ln/>
        </p:spPr>
        <p:txBody>
          <a:bodyPr wrap="square" lIns="0" tIns="0" rIns="0" bIns="0" rtlCol="0" anchor="ctr"/>
          <a:lstStyle/>
          <a:p>
            <a:pPr algn="l" indent="0" marL="0">
              <a:buNone/>
            </a:pPr>
            <a:r>
              <a:rPr lang="en-US" sz="2300" b="1" dirty="0">
                <a:solidFill>
                  <a:srgbClr val="EE7B08"/>
                </a:solidFill>
                <a:latin typeface="メイリオ" pitchFamily="34" charset="0"/>
                <a:ea typeface="メイリオ" pitchFamily="34" charset="-122"/>
                <a:cs typeface="メイリオ" pitchFamily="34" charset="-120"/>
              </a:rPr>
              <a:t>「学びを自分事として捉える子ども」である。</a:t>
            </a:r>
            <a:endParaRPr lang="en-US" sz="2300" dirty="0"/>
          </a:p>
        </p:txBody>
      </p:sp>
      <p:sp>
        <p:nvSpPr>
          <p:cNvPr id="6" name="Text 4"/>
          <p:cNvSpPr txBox="1"/>
          <p:nvPr/>
        </p:nvSpPr>
        <p:spPr>
          <a:xfrm>
            <a:off x="475488" y="2670048"/>
            <a:ext cx="8193024" cy="320040"/>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そのためには</a:t>
            </a:r>
            <a:endParaRPr lang="en-US" sz="1500" dirty="0"/>
          </a:p>
        </p:txBody>
      </p:sp>
      <p:sp>
        <p:nvSpPr>
          <p:cNvPr id="7" name="Shape 5"/>
          <p:cNvSpPr/>
          <p:nvPr/>
        </p:nvSpPr>
        <p:spPr>
          <a:xfrm>
            <a:off x="475488" y="3054096"/>
            <a:ext cx="2468880" cy="585216"/>
          </a:xfrm>
          <a:prstGeom prst="roundRect">
            <a:avLst>
              <a:gd name="adj" fmla="val 10938"/>
            </a:avLst>
          </a:prstGeom>
          <a:solidFill>
            <a:srgbClr val="E9F7F3"/>
          </a:solidFill>
          <a:ln w="12700">
            <a:solidFill>
              <a:srgbClr val="B9E5DA"/>
            </a:solidFill>
            <a:prstDash val="solid"/>
          </a:ln>
        </p:spPr>
      </p:sp>
      <p:sp>
        <p:nvSpPr>
          <p:cNvPr id="8" name="Text 6"/>
          <p:cNvSpPr txBox="1"/>
          <p:nvPr/>
        </p:nvSpPr>
        <p:spPr>
          <a:xfrm>
            <a:off x="4754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自己肯定感</a:t>
            </a:r>
            <a:endParaRPr lang="en-US" sz="1600" dirty="0"/>
          </a:p>
        </p:txBody>
      </p:sp>
      <p:sp>
        <p:nvSpPr>
          <p:cNvPr id="9" name="Shape 7"/>
          <p:cNvSpPr/>
          <p:nvPr/>
        </p:nvSpPr>
        <p:spPr>
          <a:xfrm>
            <a:off x="3218688" y="3054096"/>
            <a:ext cx="2468880" cy="585216"/>
          </a:xfrm>
          <a:prstGeom prst="roundRect">
            <a:avLst>
              <a:gd name="adj" fmla="val 10938"/>
            </a:avLst>
          </a:prstGeom>
          <a:solidFill>
            <a:srgbClr val="E9F7F3"/>
          </a:solidFill>
          <a:ln w="12700">
            <a:solidFill>
              <a:srgbClr val="B9E5DA"/>
            </a:solidFill>
            <a:prstDash val="solid"/>
          </a:ln>
        </p:spPr>
      </p:sp>
      <p:sp>
        <p:nvSpPr>
          <p:cNvPr id="10" name="Text 8"/>
          <p:cNvSpPr txBox="1"/>
          <p:nvPr/>
        </p:nvSpPr>
        <p:spPr>
          <a:xfrm>
            <a:off x="32186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対話・協働</a:t>
            </a:r>
            <a:endParaRPr lang="en-US" sz="1600" dirty="0"/>
          </a:p>
        </p:txBody>
      </p:sp>
      <p:sp>
        <p:nvSpPr>
          <p:cNvPr id="11" name="Shape 9"/>
          <p:cNvSpPr/>
          <p:nvPr/>
        </p:nvSpPr>
        <p:spPr>
          <a:xfrm>
            <a:off x="5961888" y="3054096"/>
            <a:ext cx="2468880" cy="585216"/>
          </a:xfrm>
          <a:prstGeom prst="roundRect">
            <a:avLst>
              <a:gd name="adj" fmla="val 10938"/>
            </a:avLst>
          </a:prstGeom>
          <a:solidFill>
            <a:srgbClr val="E9F7F3"/>
          </a:solidFill>
          <a:ln w="12700">
            <a:solidFill>
              <a:srgbClr val="B9E5DA"/>
            </a:solidFill>
            <a:prstDash val="solid"/>
          </a:ln>
        </p:spPr>
      </p:sp>
      <p:sp>
        <p:nvSpPr>
          <p:cNvPr id="12" name="Text 10"/>
          <p:cNvSpPr txBox="1"/>
          <p:nvPr/>
        </p:nvSpPr>
        <p:spPr>
          <a:xfrm>
            <a:off x="5961888" y="3054096"/>
            <a:ext cx="2468880" cy="585216"/>
          </a:xfrm>
          <a:prstGeom prst="rect">
            <a:avLst/>
          </a:prstGeom>
          <a:noFill/>
          <a:ln/>
        </p:spPr>
        <p:txBody>
          <a:bodyPr wrap="square" lIns="0" tIns="0" rIns="0" bIns="0" rtlCol="0" anchor="ctr"/>
          <a:lstStyle/>
          <a:p>
            <a:pPr algn="ctr" indent="0" marL="0">
              <a:lnSpc>
                <a:spcPct val="115000"/>
              </a:lnSpc>
              <a:buNone/>
            </a:pPr>
            <a:r>
              <a:rPr lang="en-US" sz="1600" b="1" dirty="0">
                <a:solidFill>
                  <a:srgbClr val="595959"/>
                </a:solidFill>
                <a:latin typeface="メイリオ" pitchFamily="34" charset="0"/>
                <a:ea typeface="メイリオ" pitchFamily="34" charset="-122"/>
                <a:cs typeface="メイリオ" pitchFamily="34" charset="-120"/>
              </a:rPr>
              <a:t>学習の自己調整</a:t>
            </a:r>
            <a:endParaRPr lang="en-US" sz="1600" dirty="0"/>
          </a:p>
        </p:txBody>
      </p:sp>
      <p:sp>
        <p:nvSpPr>
          <p:cNvPr id="13" name="Text 11"/>
          <p:cNvSpPr txBox="1"/>
          <p:nvPr/>
        </p:nvSpPr>
        <p:spPr>
          <a:xfrm>
            <a:off x="475488" y="3840480"/>
            <a:ext cx="8193024" cy="502920"/>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を　</a:t>
            </a:r>
            <a:pPr algn="l" indent="0" marL="0">
              <a:buNone/>
            </a:pPr>
            <a:r>
              <a:rPr lang="en-US" sz="1800" b="1" dirty="0">
                <a:solidFill>
                  <a:srgbClr val="EE7B08"/>
                </a:solidFill>
                <a:latin typeface="メイリオ" pitchFamily="34" charset="0"/>
                <a:ea typeface="メイリオ" pitchFamily="34" charset="-122"/>
                <a:cs typeface="メイリオ" pitchFamily="34" charset="-120"/>
              </a:rPr>
              <a:t>９年間で系統的に</a:t>
            </a:r>
            <a:pPr algn="l" indent="0" marL="0">
              <a:buNone/>
            </a:pPr>
            <a:r>
              <a:rPr lang="en-US" sz="1800" b="1" dirty="0">
                <a:solidFill>
                  <a:srgbClr val="595959"/>
                </a:solidFill>
                <a:latin typeface="メイリオ" pitchFamily="34" charset="0"/>
                <a:ea typeface="メイリオ" pitchFamily="34" charset="-122"/>
                <a:cs typeface="メイリオ" pitchFamily="34" charset="-120"/>
              </a:rPr>
              <a:t>　育てていくことが重要である。</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0" y="-9144"/>
            <a:ext cx="9144000" cy="612648"/>
          </a:xfrm>
          <a:prstGeom prst="rect">
            <a:avLst/>
          </a:prstGeom>
          <a:solidFill>
            <a:srgbClr val="44C1A3"/>
          </a:solidFill>
          <a:ln/>
        </p:spPr>
        <p:txBody>
          <a:bodyPr wrap="square" lIns="0" tIns="0" rIns="0" bIns="0" rtlCol="0" anchor="ctr"/>
          <a:lstStyle/>
          <a:p>
            <a:pPr algn="l" indent="0" marL="0">
              <a:lnSpc>
                <a:spcPct val="120000"/>
              </a:lnSpc>
              <a:buNone/>
            </a:pPr>
            <a:r>
              <a:rPr lang="en-US" sz="3000" b="1" dirty="0">
                <a:solidFill>
                  <a:srgbClr val="FFFFFF"/>
                </a:solidFill>
                <a:latin typeface="メイリオ" pitchFamily="34" charset="0"/>
                <a:ea typeface="メイリオ" pitchFamily="34" charset="-122"/>
                <a:cs typeface="メイリオ" pitchFamily="34" charset="-120"/>
              </a:rPr>
              <a:t>　まとめ</a:t>
            </a:r>
            <a:endParaRPr lang="en-US" sz="3000" dirty="0"/>
          </a:p>
        </p:txBody>
      </p:sp>
      <p:sp>
        <p:nvSpPr>
          <p:cNvPr id="3" name="Text 1"/>
          <p:cNvSpPr txBox="1"/>
          <p:nvPr/>
        </p:nvSpPr>
        <p:spPr>
          <a:xfrm>
            <a:off x="475488" y="896112"/>
            <a:ext cx="8193024" cy="457200"/>
          </a:xfrm>
          <a:prstGeom prst="rect">
            <a:avLst/>
          </a:prstGeom>
          <a:noFill/>
          <a:ln/>
        </p:spPr>
        <p:txBody>
          <a:bodyPr wrap="square" lIns="0" tIns="0" rIns="0" bIns="0" rtlCol="0" anchor="t"/>
          <a:lstStyle/>
          <a:p>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学力向上は、</a:t>
            </a:r>
            <a:pPr algn="l" indent="0" marL="0">
              <a:lnSpc>
                <a:spcPct val="120000"/>
              </a:lnSpc>
              <a:buNone/>
            </a:pPr>
            <a:r>
              <a:rPr lang="en-US" sz="1800" b="1" dirty="0">
                <a:solidFill>
                  <a:srgbClr val="EE7B08"/>
                </a:solidFill>
                <a:latin typeface="メイリオ" pitchFamily="34" charset="0"/>
                <a:ea typeface="メイリオ" pitchFamily="34" charset="-122"/>
                <a:cs typeface="メイリオ" pitchFamily="34" charset="-120"/>
              </a:rPr>
              <a:t>知識の積み上げだけ</a:t>
            </a:r>
            <a:pPr algn="l" indent="0" marL="0">
              <a:lnSpc>
                <a:spcPct val="120000"/>
              </a:lnSpc>
              <a:buNone/>
            </a:pPr>
            <a:r>
              <a:rPr lang="en-US" sz="1800" b="1" dirty="0">
                <a:solidFill>
                  <a:srgbClr val="595959"/>
                </a:solidFill>
                <a:latin typeface="メイリオ" pitchFamily="34" charset="0"/>
                <a:ea typeface="メイリオ" pitchFamily="34" charset="-122"/>
                <a:cs typeface="メイリオ" pitchFamily="34" charset="-120"/>
              </a:rPr>
              <a:t>で実現するものではない。</a:t>
            </a:r>
            <a:endParaRPr lang="en-US" sz="1800" dirty="0"/>
          </a:p>
        </p:txBody>
      </p:sp>
      <p:sp>
        <p:nvSpPr>
          <p:cNvPr id="4" name="Text 2"/>
          <p:cNvSpPr txBox="1"/>
          <p:nvPr/>
        </p:nvSpPr>
        <p:spPr>
          <a:xfrm>
            <a:off x="475488" y="1444752"/>
            <a:ext cx="8193024" cy="320040"/>
          </a:xfrm>
          <a:prstGeom prst="rect">
            <a:avLst/>
          </a:prstGeom>
          <a:noFill/>
          <a:ln/>
        </p:spPr>
        <p:txBody>
          <a:bodyPr wrap="square" lIns="0" tIns="0" rIns="0" bIns="0" rtlCol="0" anchor="ctr"/>
          <a:lstStyle/>
          <a:p>
            <a:pPr algn="l" indent="0" marL="0">
              <a:buNone/>
            </a:pPr>
            <a:r>
              <a:rPr lang="en-US" sz="1500" b="1" dirty="0">
                <a:solidFill>
                  <a:srgbClr val="808080"/>
                </a:solidFill>
                <a:latin typeface="メイリオ" pitchFamily="34" charset="0"/>
                <a:ea typeface="メイリオ" pitchFamily="34" charset="-122"/>
                <a:cs typeface="メイリオ" pitchFamily="34" charset="-120"/>
              </a:rPr>
              <a:t>みらい青空学園では</a:t>
            </a:r>
            <a:endParaRPr lang="en-US" sz="1500" dirty="0"/>
          </a:p>
        </p:txBody>
      </p:sp>
      <p:sp>
        <p:nvSpPr>
          <p:cNvPr id="5" name="Shape 3"/>
          <p:cNvSpPr/>
          <p:nvPr/>
        </p:nvSpPr>
        <p:spPr>
          <a:xfrm>
            <a:off x="475488" y="1828800"/>
            <a:ext cx="2468880" cy="621792"/>
          </a:xfrm>
          <a:prstGeom prst="roundRect">
            <a:avLst>
              <a:gd name="adj" fmla="val 10294"/>
            </a:avLst>
          </a:prstGeom>
          <a:solidFill>
            <a:srgbClr val="44C1A3"/>
          </a:solidFill>
          <a:ln/>
        </p:spPr>
      </p:sp>
      <p:sp>
        <p:nvSpPr>
          <p:cNvPr id="6" name="Text 4"/>
          <p:cNvSpPr txBox="1"/>
          <p:nvPr/>
        </p:nvSpPr>
        <p:spPr>
          <a:xfrm>
            <a:off x="4754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自己肯定感</a:t>
            </a:r>
            <a:endParaRPr lang="en-US" sz="1700" dirty="0"/>
          </a:p>
        </p:txBody>
      </p:sp>
      <p:sp>
        <p:nvSpPr>
          <p:cNvPr id="7" name="Shape 5"/>
          <p:cNvSpPr/>
          <p:nvPr/>
        </p:nvSpPr>
        <p:spPr>
          <a:xfrm>
            <a:off x="3218688" y="1828800"/>
            <a:ext cx="2468880" cy="621792"/>
          </a:xfrm>
          <a:prstGeom prst="roundRect">
            <a:avLst>
              <a:gd name="adj" fmla="val 10294"/>
            </a:avLst>
          </a:prstGeom>
          <a:solidFill>
            <a:srgbClr val="44C1A3"/>
          </a:solidFill>
          <a:ln/>
        </p:spPr>
      </p:sp>
      <p:sp>
        <p:nvSpPr>
          <p:cNvPr id="8" name="Text 6"/>
          <p:cNvSpPr txBox="1"/>
          <p:nvPr/>
        </p:nvSpPr>
        <p:spPr>
          <a:xfrm>
            <a:off x="32186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対話・協働</a:t>
            </a:r>
            <a:endParaRPr lang="en-US" sz="1700" dirty="0"/>
          </a:p>
        </p:txBody>
      </p:sp>
      <p:sp>
        <p:nvSpPr>
          <p:cNvPr id="9" name="Shape 7"/>
          <p:cNvSpPr/>
          <p:nvPr/>
        </p:nvSpPr>
        <p:spPr>
          <a:xfrm>
            <a:off x="5961888" y="1828800"/>
            <a:ext cx="2468880" cy="621792"/>
          </a:xfrm>
          <a:prstGeom prst="roundRect">
            <a:avLst>
              <a:gd name="adj" fmla="val 10294"/>
            </a:avLst>
          </a:prstGeom>
          <a:solidFill>
            <a:srgbClr val="44C1A3"/>
          </a:solidFill>
          <a:ln/>
        </p:spPr>
      </p:sp>
      <p:sp>
        <p:nvSpPr>
          <p:cNvPr id="10" name="Text 8"/>
          <p:cNvSpPr txBox="1"/>
          <p:nvPr/>
        </p:nvSpPr>
        <p:spPr>
          <a:xfrm>
            <a:off x="5961888" y="1828800"/>
            <a:ext cx="2468880" cy="621792"/>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メイリオ" pitchFamily="34" charset="0"/>
                <a:ea typeface="メイリオ" pitchFamily="34" charset="-122"/>
                <a:cs typeface="メイリオ" pitchFamily="34" charset="-120"/>
              </a:rPr>
              <a:t>学習の自己調整</a:t>
            </a:r>
            <a:endParaRPr lang="en-US" sz="1700" dirty="0"/>
          </a:p>
        </p:txBody>
      </p:sp>
      <p:sp>
        <p:nvSpPr>
          <p:cNvPr id="11" name="Text 9"/>
          <p:cNvSpPr txBox="1"/>
          <p:nvPr/>
        </p:nvSpPr>
        <p:spPr>
          <a:xfrm>
            <a:off x="475488" y="2560320"/>
            <a:ext cx="8193024" cy="365760"/>
          </a:xfrm>
          <a:prstGeom prst="rect">
            <a:avLst/>
          </a:prstGeom>
          <a:noFill/>
          <a:ln/>
        </p:spPr>
        <p:txBody>
          <a:bodyPr wrap="square" lIns="0" tIns="0" rIns="0" bIns="0" rtlCol="0" anchor="ctr"/>
          <a:lstStyle/>
          <a:p>
            <a:pPr algn="l" indent="0" marL="0">
              <a:buNone/>
            </a:pPr>
            <a:r>
              <a:rPr lang="en-US" sz="1700" b="1" dirty="0">
                <a:solidFill>
                  <a:srgbClr val="595959"/>
                </a:solidFill>
                <a:latin typeface="メイリオ" pitchFamily="34" charset="0"/>
                <a:ea typeface="メイリオ" pitchFamily="34" charset="-122"/>
                <a:cs typeface="メイリオ" pitchFamily="34" charset="-120"/>
              </a:rPr>
              <a:t>が着実に育成されている。</a:t>
            </a:r>
            <a:endParaRPr lang="en-US" sz="1700" dirty="0"/>
          </a:p>
        </p:txBody>
      </p:sp>
      <p:sp>
        <p:nvSpPr>
          <p:cNvPr id="12" name="Shape 10"/>
          <p:cNvSpPr/>
          <p:nvPr/>
        </p:nvSpPr>
        <p:spPr>
          <a:xfrm>
            <a:off x="475488" y="3035808"/>
            <a:ext cx="8193024" cy="914400"/>
          </a:xfrm>
          <a:prstGeom prst="roundRect">
            <a:avLst>
              <a:gd name="adj" fmla="val 6000"/>
            </a:avLst>
          </a:prstGeom>
          <a:solidFill>
            <a:srgbClr val="E9F7F3"/>
          </a:solidFill>
          <a:ln w="12700">
            <a:solidFill>
              <a:srgbClr val="B9E5DA"/>
            </a:solidFill>
            <a:prstDash val="solid"/>
          </a:ln>
        </p:spPr>
      </p:sp>
      <p:sp>
        <p:nvSpPr>
          <p:cNvPr id="13" name="Text 11"/>
          <p:cNvSpPr txBox="1"/>
          <p:nvPr/>
        </p:nvSpPr>
        <p:spPr>
          <a:xfrm>
            <a:off x="731520" y="3035808"/>
            <a:ext cx="7680960" cy="914400"/>
          </a:xfrm>
          <a:prstGeom prst="rect">
            <a:avLst/>
          </a:prstGeom>
          <a:noFill/>
          <a:ln/>
        </p:spPr>
        <p:txBody>
          <a:bodyPr wrap="square" lIns="0" tIns="0" rIns="0" bIns="0" rtlCol="0" anchor="ctr"/>
          <a:lstStyle/>
          <a:p>
            <a:pPr algn="l" indent="0" marL="0">
              <a:lnSpc>
                <a:spcPct val="125000"/>
              </a:lnSpc>
              <a:buNone/>
            </a:pPr>
            <a:r>
              <a:rPr lang="en-US" sz="1700" b="1" dirty="0">
                <a:solidFill>
                  <a:srgbClr val="595959"/>
                </a:solidFill>
                <a:latin typeface="メイリオ" pitchFamily="34" charset="0"/>
                <a:ea typeface="メイリオ" pitchFamily="34" charset="-122"/>
                <a:cs typeface="メイリオ" pitchFamily="34" charset="-120"/>
              </a:rPr>
              <a:t>これこそが、</a:t>
            </a:r>
            <a:endParaRPr lang="en-US" sz="1700" dirty="0"/>
          </a:p>
          <a:p>
            <a:pPr algn="l" indent="0" marL="0">
              <a:lnSpc>
                <a:spcPct val="125000"/>
              </a:lnSpc>
              <a:buNone/>
            </a:pPr>
            <a:r>
              <a:rPr lang="en-US" sz="1700" b="1" dirty="0">
                <a:solidFill>
                  <a:srgbClr val="EE7B08"/>
                </a:solidFill>
                <a:latin typeface="メイリオ" pitchFamily="34" charset="0"/>
                <a:ea typeface="メイリオ" pitchFamily="34" charset="-122"/>
                <a:cs typeface="メイリオ" pitchFamily="34" charset="-120"/>
              </a:rPr>
              <a:t>施設一体型小中一貫教育校としての最大の強み</a:t>
            </a:r>
            <a:pPr algn="l" indent="0" marL="0">
              <a:lnSpc>
                <a:spcPct val="125000"/>
              </a:lnSpc>
              <a:buNone/>
            </a:pPr>
            <a:r>
              <a:rPr lang="en-US" sz="1700" b="1" dirty="0">
                <a:solidFill>
                  <a:srgbClr val="595959"/>
                </a:solidFill>
                <a:latin typeface="メイリオ" pitchFamily="34" charset="0"/>
                <a:ea typeface="メイリオ" pitchFamily="34" charset="-122"/>
                <a:cs typeface="メイリオ" pitchFamily="34" charset="-120"/>
              </a:rPr>
              <a:t>である。</a:t>
            </a:r>
            <a:endParaRPr lang="en-US" sz="1700" dirty="0"/>
          </a:p>
        </p:txBody>
      </p:sp>
      <p:sp>
        <p:nvSpPr>
          <p:cNvPr id="14" name="Text 12"/>
          <p:cNvSpPr txBox="1"/>
          <p:nvPr/>
        </p:nvSpPr>
        <p:spPr>
          <a:xfrm>
            <a:off x="475488" y="4114800"/>
            <a:ext cx="8193024" cy="457200"/>
          </a:xfrm>
          <a:prstGeom prst="rect">
            <a:avLst/>
          </a:prstGeom>
          <a:noFill/>
          <a:ln/>
        </p:spPr>
        <p:txBody>
          <a:bodyPr wrap="square" lIns="0" tIns="0" rIns="0" bIns="0" rtlCol="0" anchor="ctr"/>
          <a:lstStyle/>
          <a:p>
            <a:pPr algn="l" indent="0" marL="0">
              <a:buNone/>
            </a:pPr>
            <a:r>
              <a:rPr lang="en-US" sz="1800" b="1" dirty="0">
                <a:solidFill>
                  <a:srgbClr val="595959"/>
                </a:solidFill>
                <a:latin typeface="メイリオ" pitchFamily="34" charset="0"/>
                <a:ea typeface="メイリオ" pitchFamily="34" charset="-122"/>
                <a:cs typeface="メイリオ" pitchFamily="34" charset="-120"/>
              </a:rPr>
              <a:t>今後も、９年間を見通した学びの充実に期待している。</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令和８年度 教育指導課訪問 ５校時 指導・講評資料（みらい青空学園）</dc:title>
  <dc:subject>PptxGenJS Presentation</dc:subject>
  <dc:creator>練馬区教育委員会</dc:creator>
  <cp:lastModifiedBy>練馬区教育委員会</cp:lastModifiedBy>
  <cp:revision>1</cp:revision>
  <dcterms:created xsi:type="dcterms:W3CDTF">2026-09-08T12:29:00Z</dcterms:created>
  <dcterms:modified xsi:type="dcterms:W3CDTF">2026-09-08T12:29:00Z</dcterms:modified>
</cp:coreProperties>
</file>