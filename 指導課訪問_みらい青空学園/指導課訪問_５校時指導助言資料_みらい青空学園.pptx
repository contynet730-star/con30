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本日は、３名の先生方の授業を参観させていただきました。ありがとうございました。
１０分間、２点に絞ってお話しします。１点目は練馬区の小中一貫教育について、２点目は本時の授業について、主体的・対話的で深い学びの視点からの授業改善です。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講評の柱は２点です。あらかじめ流れをお示しします。はじめに、少しだけクイズにお付き合いください。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はじめにクイズを２問。練馬区の令和８年度全国学力・学習状況調査、質問紙調査の結果からです。
Q1「将来の夢や目標を持っていますか」。小学校６年生は80.3％が肯定的に答えています。では中学校３年生は何％でしょうか。①約80％、②約73％、③約66％。
Q2「英語の勉強は好きですか」。小学校６年生は68.2％。中学校３年生は。①約68％、②約61％、③約55％。
（数秒、挙手や指名で予想を出してもらう）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答えは、Q1が③の65.5％、Q2が③の54.7％です。
小学校から中学校へ、夢や目標をもつ子どもは14.8ポイント、英語が好きな子どもは13.5ポイント減っています。
同じ子どもが、３年の間にこれだけ変わる。これがいわゆる中１ギャップと呼ばれる段差です。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ただし、この段差は必然ではありません。
練馬区では「学校に行くのは楽しい」が小88.9％、中87.2％。「自分と違う意見について考えるのは楽しい」が小80.6％、中79.8％。いずれも小・中ともに東京都・全国を上回り、落差もわずかです。
つまり、つなぎ方次第で段差はなだらかにできる。その仕組みが、９年間を見通した教育、すなわち小中一貫教育です。ここから本題に入ります。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練馬区教育委員会は「夢や希望を持ち困難を乗り越える力を備えた子どもたちの育成」を目標に掲げ、その施策の一つとして、区内全ての小中学校で９年間を見通した教育を進めています。
ねらいは、授業改善による学力・体力の向上、連携指導による豊かな人間性・社会性の育成、そして滑らかな接続による安定した学校生活の実現です。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施設一体型では、教員間の連携強化、異学年交流の活性化、指導の統一化により、さらに教育効果が高まることが期待されています。
本校は区内２校目の施設一体型として今年４月に開校しました。小竹小学校との校区別協議会も含め、「目指す１５歳の姿」を９年間で共有していただきたいと考えています。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まず授業そのものではなく、学力調査結果から見える子どもの姿について考えたいと思います。
本校では、学習規律、学習習慣、学びへの主体性が着実に育っていることが、調査結果から読み取れます。
※ここに本校の学力調査・意識調査のグラフを貼り付けてください。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調査結果はあくまで「結果」です。大切なのは、その結果を生み出している要因です。
本日の３つの授業から、自己肯定感、対話・協働、学習の自己調整という３つが見えてきました。順にお話しします。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１点目は自己肯定感です。これからの学力向上の基盤になるものだと考えています。
ここでいう自己肯定感は「できる子になる」ことではありません。「成長できる自分を信じること」です。この違いが授業のつくり方を変えます。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田口先生は、泳力差の大きい集団に対して段階的な課題、泳力別のコース、バディでの確認活動を用意されていました。キックの確認の視点を３点示されたことで、子どもが自分の泳ぎを見る目をもてていました。
東海林先生は、安心して自分の考えを表現できる環境をつくられていました。前時の考えを大切にしつつ、意見が変わってもよいと保障されていた点が印象的でした。
塚本先生は、発表の前にペアで共有する時間を確保され、全員に発話の機会を用意されていました。
いずれも、子どもが「認められる」よりも「自分で成長を実感する」経験を積み重ねる授業でした。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２点目は対話・協働です。調査結果に表れた主体的な学びの土台は、一朝一夕にできるものではありません。
その背景には、日常的に積み重ねられている対話を通した学びがあると受け止めました。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保健体育では、バディで互いの泳ぎを見合い、改善点を考えていました。道徳では「嘘」をテーマに価値観の違いを議論していました。外国語では、ペアでのやり取りを全体の学びにつないでいました。
教科は異なりますが、共通していたのは「相手を通して自分を見つめる学び」です。これが対話・協働の本質だと考えます。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３点目は学習の自己調整です。これから求められる子どもは、教えられたことを学ぶ子どもではなく、自分で学び続ける子どもです。
そのために必要なのが、学習を自分で調整する力です。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本日の授業では、本時の目標、振り返り、自己評価、次時への見通しが大切にされていました。
田口先生は着替えの前に目標と流れを確認され、学習カードで要点を振り返らせていました。塚本先生は Today’s Goal と Today’s Plan を示し、振り返りをワークシートに記入させていました。東海林先生は前時のワークシートで自分の考えを確かめてから議論に入っていました。
教師が管理する学習から、子どもが管理する学習へ、着実に転換が進んでいます。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学力調査結果と今日の授業をつなげて考えると、今後さらに伸ばしたいのは「学びを自分事として捉える子ども」です。
そのためには、自己肯定感、対話・協働、学習の自己調整を、９年間で系統的に育てていくことが重要になります。学年や教科で終わらせず、９年間の系統として整理していただきたいと考えます。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まとめです。学力向上は、知識の積み上げだけで実現するものではありません。
みらい青空学園では、自己肯定感、対話・協働、学習の自己調整が着実に育成されています。これこそが、施設一体型小中一貫教育校としての最大の強みであり、学力調査結果を支える土台です。
今後も、９年間を見通した学びの充実に期待しています。本日はありがとうございました。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0" y="0"/>
            <a:ext cx="9144000" cy="2862072"/>
          </a:xfrm>
          <a:prstGeom prst="rect">
            <a:avLst/>
          </a:prstGeom>
          <a:solidFill>
            <a:srgbClr val="44C1A3"/>
          </a:solidFill>
          <a:ln/>
        </p:spPr>
        <p:txBody>
          <a:bodyPr wrap="square" lIns="0" tIns="0" rIns="0" bIns="0" rtlCol="0" anchor="ctr"/>
          <a:lstStyle/>
          <a:p>
            <a:pPr algn="l" indent="0" marL="0">
              <a:lnSpc>
                <a:spcPct val="120000"/>
              </a:lnSpc>
              <a:buNone/>
            </a:pPr>
            <a:r>
              <a:rPr lang="en-US" sz="4000" b="1" dirty="0">
                <a:solidFill>
                  <a:srgbClr val="FFFFFF"/>
                </a:solidFill>
                <a:latin typeface="游ゴシック" pitchFamily="34" charset="0"/>
                <a:ea typeface="游ゴシック" pitchFamily="34" charset="-122"/>
                <a:cs typeface="游ゴシック" pitchFamily="34" charset="-120"/>
              </a:rPr>
              <a:t>　練馬区立みらい青空学園</a:t>
            </a:r>
            <a:endParaRPr lang="en-US" sz="4000" dirty="0"/>
          </a:p>
          <a:p>
            <a:pPr algn="l" indent="0" marL="0">
              <a:lnSpc>
                <a:spcPct val="120000"/>
              </a:lnSpc>
              <a:buNone/>
            </a:pPr>
            <a:r>
              <a:rPr lang="en-US" sz="4000" b="1" dirty="0">
                <a:solidFill>
                  <a:srgbClr val="FFFFFF"/>
                </a:solidFill>
                <a:latin typeface="游ゴシック" pitchFamily="34" charset="0"/>
                <a:ea typeface="游ゴシック" pitchFamily="34" charset="-122"/>
                <a:cs typeface="游ゴシック" pitchFamily="34" charset="-120"/>
              </a:rPr>
              <a:t>　教育指導課訪問（５校時）</a:t>
            </a:r>
            <a:endParaRPr lang="en-US" sz="4000" dirty="0"/>
          </a:p>
        </p:txBody>
      </p:sp>
      <p:sp>
        <p:nvSpPr>
          <p:cNvPr id="3" name="Text 1"/>
          <p:cNvSpPr txBox="1"/>
          <p:nvPr/>
        </p:nvSpPr>
        <p:spPr>
          <a:xfrm>
            <a:off x="475488" y="3154680"/>
            <a:ext cx="4754880" cy="1188720"/>
          </a:xfrm>
          <a:prstGeom prst="rect">
            <a:avLst/>
          </a:prstGeom>
          <a:noFill/>
          <a:ln/>
        </p:spPr>
        <p:txBody>
          <a:bodyPr wrap="square" lIns="0" tIns="0" rIns="0" bIns="0" rtlCol="0" anchor="t"/>
          <a:lstStyle/>
          <a:p>
            <a:pPr algn="l" indent="0" marL="0">
              <a:lnSpc>
                <a:spcPct val="135000"/>
              </a:lnSpc>
              <a:buNone/>
            </a:pPr>
            <a:r>
              <a:rPr lang="en-US" sz="1350" b="1" dirty="0">
                <a:solidFill>
                  <a:srgbClr val="595959"/>
                </a:solidFill>
                <a:latin typeface="メイリオ" pitchFamily="34" charset="0"/>
                <a:ea typeface="メイリオ" pitchFamily="34" charset="-122"/>
                <a:cs typeface="メイリオ" pitchFamily="34" charset="-120"/>
              </a:rPr>
              <a:t>授業者　塚本　瑞穂　先生（外国語・７年Ｂ組）</a:t>
            </a:r>
            <a:endParaRPr lang="en-US" sz="1350" dirty="0"/>
          </a:p>
          <a:p>
            <a:pPr algn="l" indent="0" marL="0">
              <a:lnSpc>
                <a:spcPct val="135000"/>
              </a:lnSpc>
              <a:buNone/>
            </a:pPr>
            <a:r>
              <a:rPr lang="en-US" sz="1350" b="1" dirty="0">
                <a:solidFill>
                  <a:srgbClr val="595959"/>
                </a:solidFill>
                <a:latin typeface="メイリオ" pitchFamily="34" charset="0"/>
                <a:ea typeface="メイリオ" pitchFamily="34" charset="-122"/>
                <a:cs typeface="メイリオ" pitchFamily="34" charset="-120"/>
              </a:rPr>
              <a:t>　　　　田口　和磨　先生（保健体育・９年ＡＢ組）</a:t>
            </a:r>
            <a:endParaRPr lang="en-US" sz="1350" dirty="0"/>
          </a:p>
          <a:p>
            <a:pPr algn="l" indent="0" marL="0">
              <a:lnSpc>
                <a:spcPct val="135000"/>
              </a:lnSpc>
              <a:buNone/>
            </a:pPr>
            <a:r>
              <a:rPr lang="en-US" sz="1350" b="1" dirty="0">
                <a:solidFill>
                  <a:srgbClr val="595959"/>
                </a:solidFill>
                <a:latin typeface="メイリオ" pitchFamily="34" charset="0"/>
                <a:ea typeface="メイリオ" pitchFamily="34" charset="-122"/>
                <a:cs typeface="メイリオ" pitchFamily="34" charset="-120"/>
              </a:rPr>
              <a:t>　　　　東海林　静江　先生（道徳・特別支援学級Ｄ組）</a:t>
            </a:r>
            <a:endParaRPr lang="en-US" sz="1350" dirty="0"/>
          </a:p>
        </p:txBody>
      </p:sp>
      <p:sp>
        <p:nvSpPr>
          <p:cNvPr id="4" name="Text 2"/>
          <p:cNvSpPr txBox="1"/>
          <p:nvPr/>
        </p:nvSpPr>
        <p:spPr>
          <a:xfrm>
            <a:off x="5349240" y="3154680"/>
            <a:ext cx="3319272" cy="1280160"/>
          </a:xfrm>
          <a:prstGeom prst="rect">
            <a:avLst/>
          </a:prstGeom>
          <a:noFill/>
          <a:ln/>
        </p:spPr>
        <p:txBody>
          <a:bodyPr wrap="square" lIns="0" tIns="0" rIns="0" bIns="0" rtlCol="0" anchor="t"/>
          <a:lstStyle/>
          <a:p>
            <a:pPr algn="r" indent="0" marL="0">
              <a:lnSpc>
                <a:spcPct val="135000"/>
              </a:lnSpc>
              <a:buNone/>
            </a:pPr>
            <a:r>
              <a:rPr lang="en-US" sz="1800" b="1" dirty="0">
                <a:solidFill>
                  <a:srgbClr val="595959"/>
                </a:solidFill>
                <a:latin typeface="ＭＳ Ｐゴシック" pitchFamily="34" charset="0"/>
                <a:ea typeface="ＭＳ Ｐゴシック" pitchFamily="34" charset="-122"/>
                <a:cs typeface="ＭＳ Ｐゴシック" pitchFamily="34" charset="-120"/>
              </a:rPr>
              <a:t>令和８年９月９日（水）</a:t>
            </a:r>
            <a:endParaRPr lang="en-US" sz="1800" dirty="0"/>
          </a:p>
          <a:p>
            <a:pPr algn="r" indent="0" marL="0">
              <a:lnSpc>
                <a:spcPct val="135000"/>
              </a:lnSpc>
              <a:buNone/>
            </a:pPr>
            <a:r>
              <a:rPr lang="en-US" sz="1800" b="1" dirty="0">
                <a:solidFill>
                  <a:srgbClr val="595959"/>
                </a:solidFill>
                <a:latin typeface="ＭＳ Ｐゴシック" pitchFamily="34" charset="0"/>
                <a:ea typeface="ＭＳ Ｐゴシック" pitchFamily="34" charset="-122"/>
                <a:cs typeface="ＭＳ Ｐゴシック" pitchFamily="34" charset="-120"/>
              </a:rPr>
              <a:t>練馬区教育委員会</a:t>
            </a:r>
            <a:endParaRPr lang="en-US" sz="1800" dirty="0"/>
          </a:p>
          <a:p>
            <a:pPr algn="r" indent="0" marL="0">
              <a:lnSpc>
                <a:spcPct val="135000"/>
              </a:lnSpc>
              <a:buNone/>
            </a:pPr>
            <a:r>
              <a:rPr lang="en-US" sz="1800" b="1" dirty="0">
                <a:solidFill>
                  <a:srgbClr val="595959"/>
                </a:solidFill>
                <a:latin typeface="ＭＳ Ｐゴシック" pitchFamily="34" charset="0"/>
                <a:ea typeface="ＭＳ Ｐゴシック" pitchFamily="34" charset="-122"/>
                <a:cs typeface="ＭＳ Ｐゴシック" pitchFamily="34" charset="-120"/>
              </a:rPr>
              <a:t>指導主事　紺多　章一郎</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0" y="-9144"/>
            <a:ext cx="9144000" cy="612648"/>
          </a:xfrm>
          <a:prstGeom prst="rect">
            <a:avLst/>
          </a:prstGeom>
          <a:solidFill>
            <a:srgbClr val="44C1A3"/>
          </a:solidFill>
          <a:ln/>
        </p:spPr>
        <p:txBody>
          <a:bodyPr wrap="square" lIns="0" tIns="0" rIns="0" bIns="0" rtlCol="0" anchor="ctr"/>
          <a:lstStyle/>
          <a:p>
            <a:pPr algn="l" indent="0" marL="0">
              <a:lnSpc>
                <a:spcPct val="120000"/>
              </a:lnSpc>
              <a:buNone/>
            </a:pPr>
            <a:r>
              <a:rPr lang="en-US" sz="3000" b="1" dirty="0">
                <a:solidFill>
                  <a:srgbClr val="FFFFFF"/>
                </a:solidFill>
                <a:latin typeface="メイリオ" pitchFamily="34" charset="0"/>
                <a:ea typeface="メイリオ" pitchFamily="34" charset="-122"/>
                <a:cs typeface="メイリオ" pitchFamily="34" charset="-120"/>
              </a:rPr>
              <a:t>　本日の講評</a:t>
            </a:r>
            <a:endParaRPr lang="en-US" sz="3000" dirty="0"/>
          </a:p>
        </p:txBody>
      </p:sp>
      <p:sp>
        <p:nvSpPr>
          <p:cNvPr id="3" name="Shape 1"/>
          <p:cNvSpPr/>
          <p:nvPr/>
        </p:nvSpPr>
        <p:spPr>
          <a:xfrm>
            <a:off x="658368" y="1060704"/>
            <a:ext cx="493776" cy="493776"/>
          </a:xfrm>
          <a:prstGeom prst="ellipse">
            <a:avLst/>
          </a:prstGeom>
          <a:solidFill>
            <a:srgbClr val="44C1A3"/>
          </a:solidFill>
          <a:ln/>
        </p:spPr>
      </p:sp>
      <p:sp>
        <p:nvSpPr>
          <p:cNvPr id="4" name="Text 2"/>
          <p:cNvSpPr txBox="1"/>
          <p:nvPr/>
        </p:nvSpPr>
        <p:spPr>
          <a:xfrm>
            <a:off x="658368" y="1060704"/>
            <a:ext cx="493776" cy="493776"/>
          </a:xfrm>
          <a:prstGeom prst="rect">
            <a:avLst/>
          </a:prstGeom>
          <a:noFill/>
          <a:ln/>
        </p:spPr>
        <p:txBody>
          <a:bodyPr wrap="square" lIns="0" tIns="0" rIns="0" bIns="0" rtlCol="0" anchor="ctr"/>
          <a:lstStyle/>
          <a:p>
            <a:pPr algn="ctr" indent="0" marL="0">
              <a:buNone/>
            </a:pPr>
            <a:r>
              <a:rPr lang="en-US" sz="2500" b="1" dirty="0">
                <a:solidFill>
                  <a:srgbClr val="FFFFFF"/>
                </a:solidFill>
                <a:latin typeface="メイリオ" pitchFamily="34" charset="0"/>
                <a:ea typeface="メイリオ" pitchFamily="34" charset="-122"/>
                <a:cs typeface="メイリオ" pitchFamily="34" charset="-120"/>
              </a:rPr>
              <a:t>０</a:t>
            </a:r>
            <a:endParaRPr lang="en-US" sz="2500" dirty="0"/>
          </a:p>
        </p:txBody>
      </p:sp>
      <p:sp>
        <p:nvSpPr>
          <p:cNvPr id="5" name="Text 3"/>
          <p:cNvSpPr txBox="1"/>
          <p:nvPr/>
        </p:nvSpPr>
        <p:spPr>
          <a:xfrm>
            <a:off x="1316736" y="1060704"/>
            <a:ext cx="7315200" cy="493776"/>
          </a:xfrm>
          <a:prstGeom prst="rect">
            <a:avLst/>
          </a:prstGeom>
          <a:noFill/>
          <a:ln/>
        </p:spPr>
        <p:txBody>
          <a:bodyPr wrap="square" lIns="0" tIns="0" rIns="0" bIns="0" rtlCol="0" anchor="ctr"/>
          <a:lstStyle/>
          <a:p>
            <a:pPr algn="l" indent="0" marL="0">
              <a:buNone/>
            </a:pPr>
            <a:r>
              <a:rPr lang="en-US" sz="2400" b="1" dirty="0">
                <a:solidFill>
                  <a:srgbClr val="595959"/>
                </a:solidFill>
                <a:latin typeface="メイリオ" pitchFamily="34" charset="0"/>
                <a:ea typeface="メイリオ" pitchFamily="34" charset="-122"/>
                <a:cs typeface="メイリオ" pitchFamily="34" charset="-120"/>
              </a:rPr>
              <a:t>アイスブレイク（クイズ）</a:t>
            </a:r>
            <a:endParaRPr lang="en-US" sz="2400" dirty="0"/>
          </a:p>
        </p:txBody>
      </p:sp>
      <p:sp>
        <p:nvSpPr>
          <p:cNvPr id="6" name="Shape 4"/>
          <p:cNvSpPr/>
          <p:nvPr/>
        </p:nvSpPr>
        <p:spPr>
          <a:xfrm>
            <a:off x="658368" y="1865376"/>
            <a:ext cx="493776" cy="493776"/>
          </a:xfrm>
          <a:prstGeom prst="ellipse">
            <a:avLst/>
          </a:prstGeom>
          <a:solidFill>
            <a:srgbClr val="44C1A3"/>
          </a:solidFill>
          <a:ln/>
        </p:spPr>
      </p:sp>
      <p:sp>
        <p:nvSpPr>
          <p:cNvPr id="7" name="Text 5"/>
          <p:cNvSpPr txBox="1"/>
          <p:nvPr/>
        </p:nvSpPr>
        <p:spPr>
          <a:xfrm>
            <a:off x="658368" y="1865376"/>
            <a:ext cx="493776" cy="493776"/>
          </a:xfrm>
          <a:prstGeom prst="rect">
            <a:avLst/>
          </a:prstGeom>
          <a:noFill/>
          <a:ln/>
        </p:spPr>
        <p:txBody>
          <a:bodyPr wrap="square" lIns="0" tIns="0" rIns="0" bIns="0" rtlCol="0" anchor="ctr"/>
          <a:lstStyle/>
          <a:p>
            <a:pPr algn="ctr" indent="0" marL="0">
              <a:buNone/>
            </a:pPr>
            <a:r>
              <a:rPr lang="en-US" sz="2500" b="1" dirty="0">
                <a:solidFill>
                  <a:srgbClr val="FFFFFF"/>
                </a:solidFill>
                <a:latin typeface="メイリオ" pitchFamily="34" charset="0"/>
                <a:ea typeface="メイリオ" pitchFamily="34" charset="-122"/>
                <a:cs typeface="メイリオ" pitchFamily="34" charset="-120"/>
              </a:rPr>
              <a:t>①</a:t>
            </a:r>
            <a:endParaRPr lang="en-US" sz="2500" dirty="0"/>
          </a:p>
        </p:txBody>
      </p:sp>
      <p:sp>
        <p:nvSpPr>
          <p:cNvPr id="8" name="Text 6"/>
          <p:cNvSpPr txBox="1"/>
          <p:nvPr/>
        </p:nvSpPr>
        <p:spPr>
          <a:xfrm>
            <a:off x="1316736" y="1865376"/>
            <a:ext cx="7315200" cy="493776"/>
          </a:xfrm>
          <a:prstGeom prst="rect">
            <a:avLst/>
          </a:prstGeom>
          <a:noFill/>
          <a:ln/>
        </p:spPr>
        <p:txBody>
          <a:bodyPr wrap="square" lIns="0" tIns="0" rIns="0" bIns="0" rtlCol="0" anchor="ctr"/>
          <a:lstStyle/>
          <a:p>
            <a:pPr algn="l" indent="0" marL="0">
              <a:buNone/>
            </a:pPr>
            <a:r>
              <a:rPr lang="en-US" sz="2400" b="1" dirty="0">
                <a:solidFill>
                  <a:srgbClr val="595959"/>
                </a:solidFill>
                <a:latin typeface="メイリオ" pitchFamily="34" charset="0"/>
                <a:ea typeface="メイリオ" pitchFamily="34" charset="-122"/>
                <a:cs typeface="メイリオ" pitchFamily="34" charset="-120"/>
              </a:rPr>
              <a:t>練馬区の小中一貫教育について</a:t>
            </a:r>
            <a:endParaRPr lang="en-US" sz="2400" dirty="0"/>
          </a:p>
        </p:txBody>
      </p:sp>
      <p:sp>
        <p:nvSpPr>
          <p:cNvPr id="9" name="Shape 7"/>
          <p:cNvSpPr/>
          <p:nvPr/>
        </p:nvSpPr>
        <p:spPr>
          <a:xfrm>
            <a:off x="658368" y="2670048"/>
            <a:ext cx="493776" cy="493776"/>
          </a:xfrm>
          <a:prstGeom prst="ellipse">
            <a:avLst/>
          </a:prstGeom>
          <a:solidFill>
            <a:srgbClr val="44C1A3"/>
          </a:solidFill>
          <a:ln/>
        </p:spPr>
      </p:sp>
      <p:sp>
        <p:nvSpPr>
          <p:cNvPr id="10" name="Text 8"/>
          <p:cNvSpPr txBox="1"/>
          <p:nvPr/>
        </p:nvSpPr>
        <p:spPr>
          <a:xfrm>
            <a:off x="658368" y="2670048"/>
            <a:ext cx="493776" cy="493776"/>
          </a:xfrm>
          <a:prstGeom prst="rect">
            <a:avLst/>
          </a:prstGeom>
          <a:noFill/>
          <a:ln/>
        </p:spPr>
        <p:txBody>
          <a:bodyPr wrap="square" lIns="0" tIns="0" rIns="0" bIns="0" rtlCol="0" anchor="ctr"/>
          <a:lstStyle/>
          <a:p>
            <a:pPr algn="ctr" indent="0" marL="0">
              <a:buNone/>
            </a:pPr>
            <a:r>
              <a:rPr lang="en-US" sz="2500" b="1" dirty="0">
                <a:solidFill>
                  <a:srgbClr val="FFFFFF"/>
                </a:solidFill>
                <a:latin typeface="メイリオ" pitchFamily="34" charset="0"/>
                <a:ea typeface="メイリオ" pitchFamily="34" charset="-122"/>
                <a:cs typeface="メイリオ" pitchFamily="34" charset="-120"/>
              </a:rPr>
              <a:t>②</a:t>
            </a:r>
            <a:endParaRPr lang="en-US" sz="2500" dirty="0"/>
          </a:p>
        </p:txBody>
      </p:sp>
      <p:sp>
        <p:nvSpPr>
          <p:cNvPr id="11" name="Text 9"/>
          <p:cNvSpPr txBox="1"/>
          <p:nvPr/>
        </p:nvSpPr>
        <p:spPr>
          <a:xfrm>
            <a:off x="1316736" y="2670048"/>
            <a:ext cx="7315200" cy="493776"/>
          </a:xfrm>
          <a:prstGeom prst="rect">
            <a:avLst/>
          </a:prstGeom>
          <a:noFill/>
          <a:ln/>
        </p:spPr>
        <p:txBody>
          <a:bodyPr wrap="square" lIns="0" tIns="0" rIns="0" bIns="0" rtlCol="0" anchor="ctr"/>
          <a:lstStyle/>
          <a:p>
            <a:pPr algn="l" indent="0" marL="0">
              <a:buNone/>
            </a:pPr>
            <a:r>
              <a:rPr lang="en-US" sz="2400" b="1" dirty="0">
                <a:solidFill>
                  <a:srgbClr val="595959"/>
                </a:solidFill>
                <a:latin typeface="メイリオ" pitchFamily="34" charset="0"/>
                <a:ea typeface="メイリオ" pitchFamily="34" charset="-122"/>
                <a:cs typeface="メイリオ" pitchFamily="34" charset="-120"/>
              </a:rPr>
              <a:t>本時の授業について</a:t>
            </a:r>
            <a:endParaRPr lang="en-US" sz="2400" dirty="0"/>
          </a:p>
        </p:txBody>
      </p:sp>
      <p:sp>
        <p:nvSpPr>
          <p:cNvPr id="12" name="Text 10"/>
          <p:cNvSpPr txBox="1"/>
          <p:nvPr/>
        </p:nvSpPr>
        <p:spPr>
          <a:xfrm>
            <a:off x="1316736" y="3218688"/>
            <a:ext cx="7315200" cy="384048"/>
          </a:xfrm>
          <a:prstGeom prst="rect">
            <a:avLst/>
          </a:prstGeom>
          <a:noFill/>
          <a:ln/>
        </p:spPr>
        <p:txBody>
          <a:bodyPr wrap="square" lIns="0" tIns="0" rIns="0" bIns="0" rtlCol="0" anchor="ctr"/>
          <a:lstStyle/>
          <a:p>
            <a:pPr algn="l" indent="0" marL="0">
              <a:buNone/>
            </a:pPr>
            <a:r>
              <a:rPr lang="en-US" sz="1800" b="1" dirty="0">
                <a:solidFill>
                  <a:srgbClr val="EE7B08"/>
                </a:solidFill>
                <a:latin typeface="メイリオ" pitchFamily="34" charset="0"/>
                <a:ea typeface="メイリオ" pitchFamily="34" charset="-122"/>
                <a:cs typeface="メイリオ" pitchFamily="34" charset="-120"/>
              </a:rPr>
              <a:t>主体的・対話的で深い学びの視点からの授業改善</a:t>
            </a:r>
            <a:endParaRPr lang="en-US" sz="1800" dirty="0"/>
          </a:p>
        </p:txBody>
      </p:sp>
      <p:sp>
        <p:nvSpPr>
          <p:cNvPr id="13" name="Shape 11"/>
          <p:cNvSpPr/>
          <p:nvPr/>
        </p:nvSpPr>
        <p:spPr>
          <a:xfrm>
            <a:off x="475488" y="3858768"/>
            <a:ext cx="8193024" cy="822960"/>
          </a:xfrm>
          <a:prstGeom prst="roundRect">
            <a:avLst>
              <a:gd name="adj" fmla="val 6667"/>
            </a:avLst>
          </a:prstGeom>
          <a:solidFill>
            <a:srgbClr val="E9F7F3"/>
          </a:solidFill>
          <a:ln w="12700">
            <a:solidFill>
              <a:srgbClr val="B9E5DA"/>
            </a:solidFill>
            <a:prstDash val="solid"/>
          </a:ln>
        </p:spPr>
      </p:sp>
      <p:sp>
        <p:nvSpPr>
          <p:cNvPr id="14" name="Text 12"/>
          <p:cNvSpPr txBox="1"/>
          <p:nvPr/>
        </p:nvSpPr>
        <p:spPr>
          <a:xfrm>
            <a:off x="731520" y="3858768"/>
            <a:ext cx="7680960" cy="822960"/>
          </a:xfrm>
          <a:prstGeom prst="rect">
            <a:avLst/>
          </a:prstGeom>
          <a:noFill/>
          <a:ln/>
        </p:spPr>
        <p:txBody>
          <a:bodyPr wrap="square" lIns="0" tIns="0" rIns="0" bIns="0" rtlCol="0" anchor="ctr"/>
          <a:lstStyle/>
          <a:p>
            <a:pPr algn="l" indent="0" marL="0">
              <a:lnSpc>
                <a:spcPct val="125000"/>
              </a:lnSpc>
              <a:buNone/>
            </a:pPr>
            <a:r>
              <a:rPr lang="en-US" sz="1600" b="1" dirty="0">
                <a:solidFill>
                  <a:srgbClr val="595959"/>
                </a:solidFill>
                <a:latin typeface="メイリオ" pitchFamily="34" charset="0"/>
                <a:ea typeface="メイリオ" pitchFamily="34" charset="-122"/>
                <a:cs typeface="メイリオ" pitchFamily="34" charset="-120"/>
              </a:rPr>
              <a:t>まず授業そのものではなく、</a:t>
            </a:r>
            <a:endParaRPr lang="en-US" sz="1600" dirty="0"/>
          </a:p>
          <a:p>
            <a:pPr algn="l" indent="0" marL="0">
              <a:lnSpc>
                <a:spcPct val="125000"/>
              </a:lnSpc>
              <a:buNone/>
            </a:pPr>
            <a:r>
              <a:rPr lang="en-US" sz="1600" b="1" dirty="0">
                <a:solidFill>
                  <a:srgbClr val="EE7B08"/>
                </a:solidFill>
                <a:latin typeface="メイリオ" pitchFamily="34" charset="0"/>
                <a:ea typeface="メイリオ" pitchFamily="34" charset="-122"/>
                <a:cs typeface="メイリオ" pitchFamily="34" charset="-120"/>
              </a:rPr>
              <a:t>「学力調査結果から見える子どもの姿」</a:t>
            </a:r>
            <a:pPr algn="l" indent="0" marL="0">
              <a:lnSpc>
                <a:spcPct val="125000"/>
              </a:lnSpc>
              <a:buNone/>
            </a:pPr>
            <a:r>
              <a:rPr lang="en-US" sz="1600" b="1" dirty="0">
                <a:solidFill>
                  <a:srgbClr val="595959"/>
                </a:solidFill>
                <a:latin typeface="メイリオ" pitchFamily="34" charset="0"/>
                <a:ea typeface="メイリオ" pitchFamily="34" charset="-122"/>
                <a:cs typeface="メイリオ" pitchFamily="34" charset="-120"/>
              </a:rPr>
              <a:t>から考えたい。</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0" y="-9144"/>
            <a:ext cx="9144000" cy="1161288"/>
          </a:xfrm>
          <a:prstGeom prst="rect">
            <a:avLst/>
          </a:prstGeom>
          <a:solidFill>
            <a:srgbClr val="44C1A3"/>
          </a:solidFill>
          <a:ln/>
        </p:spPr>
        <p:txBody>
          <a:bodyPr wrap="square" lIns="0" tIns="0" rIns="0" bIns="0" rtlCol="0" anchor="ctr"/>
          <a:lstStyle/>
          <a:p>
            <a:pPr algn="l" indent="0" marL="0">
              <a:lnSpc>
                <a:spcPct val="120000"/>
              </a:lnSpc>
              <a:buNone/>
            </a:pPr>
            <a:r>
              <a:rPr lang="en-US" sz="3000" b="1" dirty="0">
                <a:solidFill>
                  <a:srgbClr val="FFFFFF"/>
                </a:solidFill>
                <a:latin typeface="メイリオ" pitchFamily="34" charset="0"/>
                <a:ea typeface="メイリオ" pitchFamily="34" charset="-122"/>
                <a:cs typeface="メイリオ" pitchFamily="34" charset="-120"/>
              </a:rPr>
              <a:t>　０　アイスブレイク</a:t>
            </a:r>
            <a:endParaRPr lang="en-US" sz="3000" dirty="0"/>
          </a:p>
          <a:p>
            <a:pPr algn="l" indent="0" marL="0">
              <a:lnSpc>
                <a:spcPct val="120000"/>
              </a:lnSpc>
              <a:buNone/>
            </a:pPr>
            <a:r>
              <a:rPr lang="en-US" sz="2800" b="1" dirty="0">
                <a:solidFill>
                  <a:srgbClr val="FFFFFF"/>
                </a:solidFill>
                <a:latin typeface="メイリオ" pitchFamily="34" charset="0"/>
                <a:ea typeface="メイリオ" pitchFamily="34" charset="-122"/>
                <a:cs typeface="メイリオ" pitchFamily="34" charset="-120"/>
              </a:rPr>
              <a:t>　クイズ　小学校から中学校へ、答えはどう変わる？</a:t>
            </a:r>
            <a:endParaRPr lang="en-US" sz="3000" dirty="0"/>
          </a:p>
        </p:txBody>
      </p:sp>
      <p:sp>
        <p:nvSpPr>
          <p:cNvPr id="3" name="Text 1"/>
          <p:cNvSpPr txBox="1"/>
          <p:nvPr/>
        </p:nvSpPr>
        <p:spPr>
          <a:xfrm>
            <a:off x="320040" y="1389888"/>
            <a:ext cx="8503920" cy="292608"/>
          </a:xfrm>
          <a:prstGeom prst="rect">
            <a:avLst/>
          </a:prstGeom>
          <a:noFill/>
          <a:ln/>
        </p:spPr>
        <p:txBody>
          <a:bodyPr wrap="square" lIns="0" tIns="0" rIns="0" bIns="0" rtlCol="0" anchor="ctr"/>
          <a:lstStyle/>
          <a:p>
            <a:pPr algn="l" indent="0" marL="0">
              <a:buNone/>
            </a:pPr>
            <a:r>
              <a:rPr lang="en-US" sz="1300" b="1" dirty="0">
                <a:solidFill>
                  <a:srgbClr val="808080"/>
                </a:solidFill>
                <a:latin typeface="メイリオ" pitchFamily="34" charset="0"/>
                <a:ea typeface="メイリオ" pitchFamily="34" charset="-122"/>
                <a:cs typeface="メイリオ" pitchFamily="34" charset="-120"/>
              </a:rPr>
              <a:t>令和８年度　全国学力・学習状況調査（練馬区・質問紙調査）から</a:t>
            </a:r>
            <a:endParaRPr lang="en-US" sz="1300" dirty="0"/>
          </a:p>
        </p:txBody>
      </p:sp>
      <p:sp>
        <p:nvSpPr>
          <p:cNvPr id="4" name="Shape 2"/>
          <p:cNvSpPr/>
          <p:nvPr/>
        </p:nvSpPr>
        <p:spPr>
          <a:xfrm>
            <a:off x="320040" y="1755648"/>
            <a:ext cx="8503920" cy="1325880"/>
          </a:xfrm>
          <a:prstGeom prst="roundRect">
            <a:avLst>
              <a:gd name="adj" fmla="val 4138"/>
            </a:avLst>
          </a:prstGeom>
          <a:solidFill>
            <a:srgbClr val="E9F7F3"/>
          </a:solidFill>
          <a:ln w="12700">
            <a:solidFill>
              <a:srgbClr val="B9E5DA"/>
            </a:solidFill>
            <a:prstDash val="solid"/>
          </a:ln>
        </p:spPr>
      </p:sp>
      <p:sp>
        <p:nvSpPr>
          <p:cNvPr id="5" name="Text 3"/>
          <p:cNvSpPr txBox="1"/>
          <p:nvPr/>
        </p:nvSpPr>
        <p:spPr>
          <a:xfrm>
            <a:off x="576072" y="1865376"/>
            <a:ext cx="7991856" cy="329184"/>
          </a:xfrm>
          <a:prstGeom prst="rect">
            <a:avLst/>
          </a:prstGeom>
          <a:noFill/>
          <a:ln/>
        </p:spPr>
        <p:txBody>
          <a:bodyPr wrap="square" lIns="0" tIns="0" rIns="0" bIns="0" rtlCol="0" anchor="ctr"/>
          <a:lstStyle/>
          <a:p>
            <a:pPr algn="l" indent="0" marL="0">
              <a:buNone/>
            </a:pPr>
            <a:r>
              <a:rPr lang="en-US" sz="1800" b="1" dirty="0">
                <a:solidFill>
                  <a:srgbClr val="44C1A3"/>
                </a:solidFill>
                <a:latin typeface="メイリオ" pitchFamily="34" charset="0"/>
                <a:ea typeface="メイリオ" pitchFamily="34" charset="-122"/>
                <a:cs typeface="メイリオ" pitchFamily="34" charset="-120"/>
              </a:rPr>
              <a:t>Q1　</a:t>
            </a:r>
            <a:pPr algn="l" indent="0" marL="0">
              <a:buNone/>
            </a:pPr>
            <a:r>
              <a:rPr lang="en-US" sz="1800" b="1" dirty="0">
                <a:solidFill>
                  <a:srgbClr val="595959"/>
                </a:solidFill>
                <a:latin typeface="メイリオ" pitchFamily="34" charset="0"/>
                <a:ea typeface="メイリオ" pitchFamily="34" charset="-122"/>
                <a:cs typeface="メイリオ" pitchFamily="34" charset="-120"/>
              </a:rPr>
              <a:t>「将来の夢や目標を持っていますか」</a:t>
            </a:r>
            <a:endParaRPr lang="en-US" sz="1800" dirty="0"/>
          </a:p>
        </p:txBody>
      </p:sp>
      <p:sp>
        <p:nvSpPr>
          <p:cNvPr id="6" name="Text 4"/>
          <p:cNvSpPr txBox="1"/>
          <p:nvPr/>
        </p:nvSpPr>
        <p:spPr>
          <a:xfrm>
            <a:off x="576072" y="2231136"/>
            <a:ext cx="7991856" cy="274320"/>
          </a:xfrm>
          <a:prstGeom prst="rect">
            <a:avLst/>
          </a:prstGeom>
          <a:noFill/>
          <a:ln/>
        </p:spPr>
        <p:txBody>
          <a:bodyPr wrap="square" lIns="0" tIns="0" rIns="0" bIns="0" rtlCol="0" anchor="ctr"/>
          <a:lstStyle/>
          <a:p>
            <a:pPr algn="l" indent="0" marL="0">
              <a:buNone/>
            </a:pPr>
            <a:r>
              <a:rPr lang="en-US" sz="1400" b="1" dirty="0">
                <a:solidFill>
                  <a:srgbClr val="808080"/>
                </a:solidFill>
                <a:latin typeface="メイリオ" pitchFamily="34" charset="0"/>
                <a:ea typeface="メイリオ" pitchFamily="34" charset="-122"/>
                <a:cs typeface="メイリオ" pitchFamily="34" charset="-120"/>
              </a:rPr>
              <a:t>小学校６年生は 80.3％。では、中学校３年生は？</a:t>
            </a:r>
            <a:endParaRPr lang="en-US" sz="1400" dirty="0"/>
          </a:p>
        </p:txBody>
      </p:sp>
      <p:sp>
        <p:nvSpPr>
          <p:cNvPr id="7" name="Shape 5"/>
          <p:cNvSpPr/>
          <p:nvPr/>
        </p:nvSpPr>
        <p:spPr>
          <a:xfrm>
            <a:off x="685800" y="2578608"/>
            <a:ext cx="2057400" cy="384048"/>
          </a:xfrm>
          <a:prstGeom prst="roundRect">
            <a:avLst>
              <a:gd name="adj" fmla="val 16667"/>
            </a:avLst>
          </a:prstGeom>
          <a:solidFill>
            <a:srgbClr val="FFFFFF"/>
          </a:solidFill>
          <a:ln w="12700">
            <a:solidFill>
              <a:srgbClr val="44C1A3"/>
            </a:solidFill>
            <a:prstDash val="solid"/>
          </a:ln>
        </p:spPr>
      </p:sp>
      <p:sp>
        <p:nvSpPr>
          <p:cNvPr id="8" name="Text 6"/>
          <p:cNvSpPr txBox="1"/>
          <p:nvPr/>
        </p:nvSpPr>
        <p:spPr>
          <a:xfrm>
            <a:off x="685800" y="2578608"/>
            <a:ext cx="2057400" cy="384048"/>
          </a:xfrm>
          <a:prstGeom prst="rect">
            <a:avLst/>
          </a:prstGeom>
          <a:noFill/>
          <a:ln/>
        </p:spPr>
        <p:txBody>
          <a:bodyPr wrap="square" lIns="0" tIns="0" rIns="0" bIns="0" rtlCol="0" anchor="ctr"/>
          <a:lstStyle/>
          <a:p>
            <a:pPr algn="ctr" indent="0" marL="0">
              <a:buNone/>
            </a:pPr>
            <a:r>
              <a:rPr lang="en-US" sz="1500" b="1" dirty="0">
                <a:solidFill>
                  <a:srgbClr val="595959"/>
                </a:solidFill>
                <a:latin typeface="メイリオ" pitchFamily="34" charset="0"/>
                <a:ea typeface="メイリオ" pitchFamily="34" charset="-122"/>
                <a:cs typeface="メイリオ" pitchFamily="34" charset="-120"/>
              </a:rPr>
              <a:t>① 約 80％</a:t>
            </a:r>
            <a:endParaRPr lang="en-US" sz="1500" dirty="0"/>
          </a:p>
        </p:txBody>
      </p:sp>
      <p:sp>
        <p:nvSpPr>
          <p:cNvPr id="9" name="Shape 7"/>
          <p:cNvSpPr/>
          <p:nvPr/>
        </p:nvSpPr>
        <p:spPr>
          <a:xfrm>
            <a:off x="2926080" y="2578608"/>
            <a:ext cx="2057400" cy="384048"/>
          </a:xfrm>
          <a:prstGeom prst="roundRect">
            <a:avLst>
              <a:gd name="adj" fmla="val 16667"/>
            </a:avLst>
          </a:prstGeom>
          <a:solidFill>
            <a:srgbClr val="FFFFFF"/>
          </a:solidFill>
          <a:ln w="12700">
            <a:solidFill>
              <a:srgbClr val="44C1A3"/>
            </a:solidFill>
            <a:prstDash val="solid"/>
          </a:ln>
        </p:spPr>
      </p:sp>
      <p:sp>
        <p:nvSpPr>
          <p:cNvPr id="10" name="Text 8"/>
          <p:cNvSpPr txBox="1"/>
          <p:nvPr/>
        </p:nvSpPr>
        <p:spPr>
          <a:xfrm>
            <a:off x="2926080" y="2578608"/>
            <a:ext cx="2057400" cy="384048"/>
          </a:xfrm>
          <a:prstGeom prst="rect">
            <a:avLst/>
          </a:prstGeom>
          <a:noFill/>
          <a:ln/>
        </p:spPr>
        <p:txBody>
          <a:bodyPr wrap="square" lIns="0" tIns="0" rIns="0" bIns="0" rtlCol="0" anchor="ctr"/>
          <a:lstStyle/>
          <a:p>
            <a:pPr algn="ctr" indent="0" marL="0">
              <a:buNone/>
            </a:pPr>
            <a:r>
              <a:rPr lang="en-US" sz="1500" b="1" dirty="0">
                <a:solidFill>
                  <a:srgbClr val="595959"/>
                </a:solidFill>
                <a:latin typeface="メイリオ" pitchFamily="34" charset="0"/>
                <a:ea typeface="メイリオ" pitchFamily="34" charset="-122"/>
                <a:cs typeface="メイリオ" pitchFamily="34" charset="-120"/>
              </a:rPr>
              <a:t>② 約 73％</a:t>
            </a:r>
            <a:endParaRPr lang="en-US" sz="1500" dirty="0"/>
          </a:p>
        </p:txBody>
      </p:sp>
      <p:sp>
        <p:nvSpPr>
          <p:cNvPr id="11" name="Shape 9"/>
          <p:cNvSpPr/>
          <p:nvPr/>
        </p:nvSpPr>
        <p:spPr>
          <a:xfrm>
            <a:off x="5166360" y="2578608"/>
            <a:ext cx="2057400" cy="384048"/>
          </a:xfrm>
          <a:prstGeom prst="roundRect">
            <a:avLst>
              <a:gd name="adj" fmla="val 16667"/>
            </a:avLst>
          </a:prstGeom>
          <a:solidFill>
            <a:srgbClr val="FFFFFF"/>
          </a:solidFill>
          <a:ln w="12700">
            <a:solidFill>
              <a:srgbClr val="44C1A3"/>
            </a:solidFill>
            <a:prstDash val="solid"/>
          </a:ln>
        </p:spPr>
      </p:sp>
      <p:sp>
        <p:nvSpPr>
          <p:cNvPr id="12" name="Text 10"/>
          <p:cNvSpPr txBox="1"/>
          <p:nvPr/>
        </p:nvSpPr>
        <p:spPr>
          <a:xfrm>
            <a:off x="5166360" y="2578608"/>
            <a:ext cx="2057400" cy="384048"/>
          </a:xfrm>
          <a:prstGeom prst="rect">
            <a:avLst/>
          </a:prstGeom>
          <a:noFill/>
          <a:ln/>
        </p:spPr>
        <p:txBody>
          <a:bodyPr wrap="square" lIns="0" tIns="0" rIns="0" bIns="0" rtlCol="0" anchor="ctr"/>
          <a:lstStyle/>
          <a:p>
            <a:pPr algn="ctr" indent="0" marL="0">
              <a:buNone/>
            </a:pPr>
            <a:r>
              <a:rPr lang="en-US" sz="1500" b="1" dirty="0">
                <a:solidFill>
                  <a:srgbClr val="595959"/>
                </a:solidFill>
                <a:latin typeface="メイリオ" pitchFamily="34" charset="0"/>
                <a:ea typeface="メイリオ" pitchFamily="34" charset="-122"/>
                <a:cs typeface="メイリオ" pitchFamily="34" charset="-120"/>
              </a:rPr>
              <a:t>③ 約 66％</a:t>
            </a:r>
            <a:endParaRPr lang="en-US" sz="1500" dirty="0"/>
          </a:p>
        </p:txBody>
      </p:sp>
      <p:sp>
        <p:nvSpPr>
          <p:cNvPr id="13" name="Shape 11"/>
          <p:cNvSpPr/>
          <p:nvPr/>
        </p:nvSpPr>
        <p:spPr>
          <a:xfrm>
            <a:off x="320040" y="3218688"/>
            <a:ext cx="8503920" cy="1325880"/>
          </a:xfrm>
          <a:prstGeom prst="roundRect">
            <a:avLst>
              <a:gd name="adj" fmla="val 4138"/>
            </a:avLst>
          </a:prstGeom>
          <a:solidFill>
            <a:srgbClr val="E9F7F3"/>
          </a:solidFill>
          <a:ln w="12700">
            <a:solidFill>
              <a:srgbClr val="B9E5DA"/>
            </a:solidFill>
            <a:prstDash val="solid"/>
          </a:ln>
        </p:spPr>
      </p:sp>
      <p:sp>
        <p:nvSpPr>
          <p:cNvPr id="14" name="Text 12"/>
          <p:cNvSpPr txBox="1"/>
          <p:nvPr/>
        </p:nvSpPr>
        <p:spPr>
          <a:xfrm>
            <a:off x="576072" y="3328416"/>
            <a:ext cx="7991856" cy="329184"/>
          </a:xfrm>
          <a:prstGeom prst="rect">
            <a:avLst/>
          </a:prstGeom>
          <a:noFill/>
          <a:ln/>
        </p:spPr>
        <p:txBody>
          <a:bodyPr wrap="square" lIns="0" tIns="0" rIns="0" bIns="0" rtlCol="0" anchor="ctr"/>
          <a:lstStyle/>
          <a:p>
            <a:pPr algn="l" indent="0" marL="0">
              <a:buNone/>
            </a:pPr>
            <a:r>
              <a:rPr lang="en-US" sz="1800" b="1" dirty="0">
                <a:solidFill>
                  <a:srgbClr val="44C1A3"/>
                </a:solidFill>
                <a:latin typeface="メイリオ" pitchFamily="34" charset="0"/>
                <a:ea typeface="メイリオ" pitchFamily="34" charset="-122"/>
                <a:cs typeface="メイリオ" pitchFamily="34" charset="-120"/>
              </a:rPr>
              <a:t>Q2　</a:t>
            </a:r>
            <a:pPr algn="l" indent="0" marL="0">
              <a:buNone/>
            </a:pPr>
            <a:r>
              <a:rPr lang="en-US" sz="1800" b="1" dirty="0">
                <a:solidFill>
                  <a:srgbClr val="595959"/>
                </a:solidFill>
                <a:latin typeface="メイリオ" pitchFamily="34" charset="0"/>
                <a:ea typeface="メイリオ" pitchFamily="34" charset="-122"/>
                <a:cs typeface="メイリオ" pitchFamily="34" charset="-120"/>
              </a:rPr>
              <a:t>「英語の勉強は好きですか」</a:t>
            </a:r>
            <a:endParaRPr lang="en-US" sz="1800" dirty="0"/>
          </a:p>
        </p:txBody>
      </p:sp>
      <p:sp>
        <p:nvSpPr>
          <p:cNvPr id="15" name="Text 13"/>
          <p:cNvSpPr txBox="1"/>
          <p:nvPr/>
        </p:nvSpPr>
        <p:spPr>
          <a:xfrm>
            <a:off x="576072" y="3694176"/>
            <a:ext cx="7991856" cy="274320"/>
          </a:xfrm>
          <a:prstGeom prst="rect">
            <a:avLst/>
          </a:prstGeom>
          <a:noFill/>
          <a:ln/>
        </p:spPr>
        <p:txBody>
          <a:bodyPr wrap="square" lIns="0" tIns="0" rIns="0" bIns="0" rtlCol="0" anchor="ctr"/>
          <a:lstStyle/>
          <a:p>
            <a:pPr algn="l" indent="0" marL="0">
              <a:buNone/>
            </a:pPr>
            <a:r>
              <a:rPr lang="en-US" sz="1400" b="1" dirty="0">
                <a:solidFill>
                  <a:srgbClr val="808080"/>
                </a:solidFill>
                <a:latin typeface="メイリオ" pitchFamily="34" charset="0"/>
                <a:ea typeface="メイリオ" pitchFamily="34" charset="-122"/>
                <a:cs typeface="メイリオ" pitchFamily="34" charset="-120"/>
              </a:rPr>
              <a:t>小学校６年生は 68.2％。では、中学校３年生は？</a:t>
            </a:r>
            <a:endParaRPr lang="en-US" sz="1400" dirty="0"/>
          </a:p>
        </p:txBody>
      </p:sp>
      <p:sp>
        <p:nvSpPr>
          <p:cNvPr id="16" name="Shape 14"/>
          <p:cNvSpPr/>
          <p:nvPr/>
        </p:nvSpPr>
        <p:spPr>
          <a:xfrm>
            <a:off x="685800" y="4041648"/>
            <a:ext cx="2057400" cy="384048"/>
          </a:xfrm>
          <a:prstGeom prst="roundRect">
            <a:avLst>
              <a:gd name="adj" fmla="val 16667"/>
            </a:avLst>
          </a:prstGeom>
          <a:solidFill>
            <a:srgbClr val="FFFFFF"/>
          </a:solidFill>
          <a:ln w="12700">
            <a:solidFill>
              <a:srgbClr val="44C1A3"/>
            </a:solidFill>
            <a:prstDash val="solid"/>
          </a:ln>
        </p:spPr>
      </p:sp>
      <p:sp>
        <p:nvSpPr>
          <p:cNvPr id="17" name="Text 15"/>
          <p:cNvSpPr txBox="1"/>
          <p:nvPr/>
        </p:nvSpPr>
        <p:spPr>
          <a:xfrm>
            <a:off x="685800" y="4041648"/>
            <a:ext cx="2057400" cy="384048"/>
          </a:xfrm>
          <a:prstGeom prst="rect">
            <a:avLst/>
          </a:prstGeom>
          <a:noFill/>
          <a:ln/>
        </p:spPr>
        <p:txBody>
          <a:bodyPr wrap="square" lIns="0" tIns="0" rIns="0" bIns="0" rtlCol="0" anchor="ctr"/>
          <a:lstStyle/>
          <a:p>
            <a:pPr algn="ctr" indent="0" marL="0">
              <a:buNone/>
            </a:pPr>
            <a:r>
              <a:rPr lang="en-US" sz="1500" b="1" dirty="0">
                <a:solidFill>
                  <a:srgbClr val="595959"/>
                </a:solidFill>
                <a:latin typeface="メイリオ" pitchFamily="34" charset="0"/>
                <a:ea typeface="メイリオ" pitchFamily="34" charset="-122"/>
                <a:cs typeface="メイリオ" pitchFamily="34" charset="-120"/>
              </a:rPr>
              <a:t>① 約 68％</a:t>
            </a:r>
            <a:endParaRPr lang="en-US" sz="1500" dirty="0"/>
          </a:p>
        </p:txBody>
      </p:sp>
      <p:sp>
        <p:nvSpPr>
          <p:cNvPr id="18" name="Shape 16"/>
          <p:cNvSpPr/>
          <p:nvPr/>
        </p:nvSpPr>
        <p:spPr>
          <a:xfrm>
            <a:off x="2926080" y="4041648"/>
            <a:ext cx="2057400" cy="384048"/>
          </a:xfrm>
          <a:prstGeom prst="roundRect">
            <a:avLst>
              <a:gd name="adj" fmla="val 16667"/>
            </a:avLst>
          </a:prstGeom>
          <a:solidFill>
            <a:srgbClr val="FFFFFF"/>
          </a:solidFill>
          <a:ln w="12700">
            <a:solidFill>
              <a:srgbClr val="44C1A3"/>
            </a:solidFill>
            <a:prstDash val="solid"/>
          </a:ln>
        </p:spPr>
      </p:sp>
      <p:sp>
        <p:nvSpPr>
          <p:cNvPr id="19" name="Text 17"/>
          <p:cNvSpPr txBox="1"/>
          <p:nvPr/>
        </p:nvSpPr>
        <p:spPr>
          <a:xfrm>
            <a:off x="2926080" y="4041648"/>
            <a:ext cx="2057400" cy="384048"/>
          </a:xfrm>
          <a:prstGeom prst="rect">
            <a:avLst/>
          </a:prstGeom>
          <a:noFill/>
          <a:ln/>
        </p:spPr>
        <p:txBody>
          <a:bodyPr wrap="square" lIns="0" tIns="0" rIns="0" bIns="0" rtlCol="0" anchor="ctr"/>
          <a:lstStyle/>
          <a:p>
            <a:pPr algn="ctr" indent="0" marL="0">
              <a:buNone/>
            </a:pPr>
            <a:r>
              <a:rPr lang="en-US" sz="1500" b="1" dirty="0">
                <a:solidFill>
                  <a:srgbClr val="595959"/>
                </a:solidFill>
                <a:latin typeface="メイリオ" pitchFamily="34" charset="0"/>
                <a:ea typeface="メイリオ" pitchFamily="34" charset="-122"/>
                <a:cs typeface="メイリオ" pitchFamily="34" charset="-120"/>
              </a:rPr>
              <a:t>② 約 61％</a:t>
            </a:r>
            <a:endParaRPr lang="en-US" sz="1500" dirty="0"/>
          </a:p>
        </p:txBody>
      </p:sp>
      <p:sp>
        <p:nvSpPr>
          <p:cNvPr id="20" name="Shape 18"/>
          <p:cNvSpPr/>
          <p:nvPr/>
        </p:nvSpPr>
        <p:spPr>
          <a:xfrm>
            <a:off x="5166360" y="4041648"/>
            <a:ext cx="2057400" cy="384048"/>
          </a:xfrm>
          <a:prstGeom prst="roundRect">
            <a:avLst>
              <a:gd name="adj" fmla="val 16667"/>
            </a:avLst>
          </a:prstGeom>
          <a:solidFill>
            <a:srgbClr val="FFFFFF"/>
          </a:solidFill>
          <a:ln w="12700">
            <a:solidFill>
              <a:srgbClr val="44C1A3"/>
            </a:solidFill>
            <a:prstDash val="solid"/>
          </a:ln>
        </p:spPr>
      </p:sp>
      <p:sp>
        <p:nvSpPr>
          <p:cNvPr id="21" name="Text 19"/>
          <p:cNvSpPr txBox="1"/>
          <p:nvPr/>
        </p:nvSpPr>
        <p:spPr>
          <a:xfrm>
            <a:off x="5166360" y="4041648"/>
            <a:ext cx="2057400" cy="384048"/>
          </a:xfrm>
          <a:prstGeom prst="rect">
            <a:avLst/>
          </a:prstGeom>
          <a:noFill/>
          <a:ln/>
        </p:spPr>
        <p:txBody>
          <a:bodyPr wrap="square" lIns="0" tIns="0" rIns="0" bIns="0" rtlCol="0" anchor="ctr"/>
          <a:lstStyle/>
          <a:p>
            <a:pPr algn="ctr" indent="0" marL="0">
              <a:buNone/>
            </a:pPr>
            <a:r>
              <a:rPr lang="en-US" sz="1500" b="1" dirty="0">
                <a:solidFill>
                  <a:srgbClr val="595959"/>
                </a:solidFill>
                <a:latin typeface="メイリオ" pitchFamily="34" charset="0"/>
                <a:ea typeface="メイリオ" pitchFamily="34" charset="-122"/>
                <a:cs typeface="メイリオ" pitchFamily="34" charset="-120"/>
              </a:rPr>
              <a:t>③ 約 55％</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0" y="-9144"/>
            <a:ext cx="9144000" cy="1161288"/>
          </a:xfrm>
          <a:prstGeom prst="rect">
            <a:avLst/>
          </a:prstGeom>
          <a:solidFill>
            <a:srgbClr val="44C1A3"/>
          </a:solidFill>
          <a:ln/>
        </p:spPr>
        <p:txBody>
          <a:bodyPr wrap="square" lIns="0" tIns="0" rIns="0" bIns="0" rtlCol="0" anchor="ctr"/>
          <a:lstStyle/>
          <a:p>
            <a:pPr algn="l" indent="0" marL="0">
              <a:lnSpc>
                <a:spcPct val="120000"/>
              </a:lnSpc>
              <a:buNone/>
            </a:pPr>
            <a:r>
              <a:rPr lang="en-US" sz="3000" b="1" dirty="0">
                <a:solidFill>
                  <a:srgbClr val="FFFFFF"/>
                </a:solidFill>
                <a:latin typeface="メイリオ" pitchFamily="34" charset="0"/>
                <a:ea typeface="メイリオ" pitchFamily="34" charset="-122"/>
                <a:cs typeface="メイリオ" pitchFamily="34" charset="-120"/>
              </a:rPr>
              <a:t>　０　アイスブレイク</a:t>
            </a:r>
            <a:endParaRPr lang="en-US" sz="3000" dirty="0"/>
          </a:p>
          <a:p>
            <a:pPr algn="l" indent="0" marL="0">
              <a:lnSpc>
                <a:spcPct val="120000"/>
              </a:lnSpc>
              <a:buNone/>
            </a:pPr>
            <a:r>
              <a:rPr lang="en-US" sz="2800" b="1" dirty="0">
                <a:solidFill>
                  <a:srgbClr val="FFFFFF"/>
                </a:solidFill>
                <a:latin typeface="メイリオ" pitchFamily="34" charset="0"/>
                <a:ea typeface="メイリオ" pitchFamily="34" charset="-122"/>
                <a:cs typeface="メイリオ" pitchFamily="34" charset="-120"/>
              </a:rPr>
              <a:t>　答え　小学校から中学校で、大きく下がる</a:t>
            </a:r>
            <a:endParaRPr lang="en-US" sz="3000" dirty="0"/>
          </a:p>
        </p:txBody>
      </p:sp>
      <p:sp>
        <p:nvSpPr>
          <p:cNvPr id="3" name="Shape 1"/>
          <p:cNvSpPr/>
          <p:nvPr/>
        </p:nvSpPr>
        <p:spPr>
          <a:xfrm>
            <a:off x="320040" y="1463040"/>
            <a:ext cx="8503920" cy="1325880"/>
          </a:xfrm>
          <a:prstGeom prst="roundRect">
            <a:avLst>
              <a:gd name="adj" fmla="val 4138"/>
            </a:avLst>
          </a:prstGeom>
          <a:solidFill>
            <a:srgbClr val="E9F7F3"/>
          </a:solidFill>
          <a:ln w="12700">
            <a:solidFill>
              <a:srgbClr val="B9E5DA"/>
            </a:solidFill>
            <a:prstDash val="solid"/>
          </a:ln>
        </p:spPr>
      </p:sp>
      <p:sp>
        <p:nvSpPr>
          <p:cNvPr id="4" name="Text 2"/>
          <p:cNvSpPr txBox="1"/>
          <p:nvPr/>
        </p:nvSpPr>
        <p:spPr>
          <a:xfrm>
            <a:off x="576072" y="1554480"/>
            <a:ext cx="7991856" cy="292608"/>
          </a:xfrm>
          <a:prstGeom prst="rect">
            <a:avLst/>
          </a:prstGeom>
          <a:noFill/>
          <a:ln/>
        </p:spPr>
        <p:txBody>
          <a:bodyPr wrap="square" lIns="0" tIns="0" rIns="0" bIns="0" rtlCol="0" anchor="ctr"/>
          <a:lstStyle/>
          <a:p>
            <a:pPr algn="l" indent="0" marL="0">
              <a:buNone/>
            </a:pPr>
            <a:r>
              <a:rPr lang="en-US" sz="1600" b="1" dirty="0">
                <a:solidFill>
                  <a:srgbClr val="595959"/>
                </a:solidFill>
                <a:latin typeface="メイリオ" pitchFamily="34" charset="0"/>
                <a:ea typeface="メイリオ" pitchFamily="34" charset="-122"/>
                <a:cs typeface="メイリオ" pitchFamily="34" charset="-120"/>
              </a:rPr>
              <a:t>Q1　「将来の夢や目標を持っていますか」</a:t>
            </a:r>
            <a:endParaRPr lang="en-US" sz="1600" dirty="0"/>
          </a:p>
        </p:txBody>
      </p:sp>
      <p:sp>
        <p:nvSpPr>
          <p:cNvPr id="5" name="Shape 3"/>
          <p:cNvSpPr/>
          <p:nvPr/>
        </p:nvSpPr>
        <p:spPr>
          <a:xfrm>
            <a:off x="576072" y="1975104"/>
            <a:ext cx="1463040" cy="438912"/>
          </a:xfrm>
          <a:prstGeom prst="roundRect">
            <a:avLst>
              <a:gd name="adj" fmla="val 14583"/>
            </a:avLst>
          </a:prstGeom>
          <a:solidFill>
            <a:srgbClr val="44C1A3"/>
          </a:solidFill>
          <a:ln/>
        </p:spPr>
      </p:sp>
      <p:sp>
        <p:nvSpPr>
          <p:cNvPr id="6" name="Text 4"/>
          <p:cNvSpPr txBox="1"/>
          <p:nvPr/>
        </p:nvSpPr>
        <p:spPr>
          <a:xfrm>
            <a:off x="576072" y="1975104"/>
            <a:ext cx="1463040" cy="438912"/>
          </a:xfrm>
          <a:prstGeom prst="rect">
            <a:avLst/>
          </a:prstGeom>
          <a:noFill/>
          <a:ln/>
        </p:spPr>
        <p:txBody>
          <a:bodyPr wrap="square" lIns="0" tIns="0" rIns="0" bIns="0" rtlCol="0" anchor="ctr"/>
          <a:lstStyle/>
          <a:p>
            <a:pPr algn="ctr" indent="0" marL="0">
              <a:buNone/>
            </a:pPr>
            <a:r>
              <a:rPr lang="en-US" sz="1300" b="1" dirty="0">
                <a:solidFill>
                  <a:srgbClr val="FFFFFF"/>
                </a:solidFill>
                <a:latin typeface="メイリオ" pitchFamily="34" charset="0"/>
                <a:ea typeface="メイリオ" pitchFamily="34" charset="-122"/>
                <a:cs typeface="メイリオ" pitchFamily="34" charset="-120"/>
              </a:rPr>
              <a:t>小学校６年生</a:t>
            </a:r>
            <a:endParaRPr lang="en-US" sz="1300" dirty="0"/>
          </a:p>
        </p:txBody>
      </p:sp>
      <p:sp>
        <p:nvSpPr>
          <p:cNvPr id="7" name="Text 5"/>
          <p:cNvSpPr txBox="1"/>
          <p:nvPr/>
        </p:nvSpPr>
        <p:spPr>
          <a:xfrm>
            <a:off x="2130552" y="1901952"/>
            <a:ext cx="1417320" cy="585216"/>
          </a:xfrm>
          <a:prstGeom prst="rect">
            <a:avLst/>
          </a:prstGeom>
          <a:noFill/>
          <a:ln/>
        </p:spPr>
        <p:txBody>
          <a:bodyPr wrap="square" lIns="0" tIns="0" rIns="0" bIns="0" rtlCol="0" anchor="ctr"/>
          <a:lstStyle/>
          <a:p>
            <a:pPr algn="l" indent="0" marL="0">
              <a:buNone/>
            </a:pPr>
            <a:r>
              <a:rPr lang="en-US" sz="3000" b="1" dirty="0">
                <a:solidFill>
                  <a:srgbClr val="3F3F3F"/>
                </a:solidFill>
                <a:latin typeface="メイリオ" pitchFamily="34" charset="0"/>
                <a:ea typeface="メイリオ" pitchFamily="34" charset="-122"/>
                <a:cs typeface="メイリオ" pitchFamily="34" charset="-120"/>
              </a:rPr>
              <a:t>80.3</a:t>
            </a:r>
            <a:pPr algn="l" indent="0" marL="0">
              <a:buNone/>
            </a:pPr>
            <a:r>
              <a:rPr lang="en-US" sz="1600" b="1" dirty="0">
                <a:solidFill>
                  <a:srgbClr val="3F3F3F"/>
                </a:solidFill>
                <a:latin typeface="メイリオ" pitchFamily="34" charset="0"/>
                <a:ea typeface="メイリオ" pitchFamily="34" charset="-122"/>
                <a:cs typeface="メイリオ" pitchFamily="34" charset="-120"/>
              </a:rPr>
              <a:t>％</a:t>
            </a:r>
            <a:endParaRPr lang="en-US" sz="3000" dirty="0"/>
          </a:p>
        </p:txBody>
      </p:sp>
      <p:sp>
        <p:nvSpPr>
          <p:cNvPr id="8" name="Text 6"/>
          <p:cNvSpPr txBox="1"/>
          <p:nvPr/>
        </p:nvSpPr>
        <p:spPr>
          <a:xfrm>
            <a:off x="3584448" y="1938528"/>
            <a:ext cx="457200" cy="512064"/>
          </a:xfrm>
          <a:prstGeom prst="rect">
            <a:avLst/>
          </a:prstGeom>
          <a:noFill/>
          <a:ln/>
        </p:spPr>
        <p:txBody>
          <a:bodyPr wrap="square" lIns="0" tIns="0" rIns="0" bIns="0" rtlCol="0" anchor="ctr"/>
          <a:lstStyle/>
          <a:p>
            <a:pPr algn="ctr" indent="0" marL="0">
              <a:buNone/>
            </a:pPr>
            <a:r>
              <a:rPr lang="en-US" sz="2600" b="1" dirty="0">
                <a:solidFill>
                  <a:srgbClr val="808080"/>
                </a:solidFill>
                <a:latin typeface="メイリオ" pitchFamily="34" charset="0"/>
                <a:ea typeface="メイリオ" pitchFamily="34" charset="-122"/>
                <a:cs typeface="メイリオ" pitchFamily="34" charset="-120"/>
              </a:rPr>
              <a:t>→</a:t>
            </a:r>
            <a:endParaRPr lang="en-US" sz="2600" dirty="0"/>
          </a:p>
        </p:txBody>
      </p:sp>
      <p:sp>
        <p:nvSpPr>
          <p:cNvPr id="9" name="Shape 7"/>
          <p:cNvSpPr/>
          <p:nvPr/>
        </p:nvSpPr>
        <p:spPr>
          <a:xfrm>
            <a:off x="4078224" y="1975104"/>
            <a:ext cx="1463040" cy="438912"/>
          </a:xfrm>
          <a:prstGeom prst="roundRect">
            <a:avLst>
              <a:gd name="adj" fmla="val 14583"/>
            </a:avLst>
          </a:prstGeom>
          <a:solidFill>
            <a:srgbClr val="EE7B08"/>
          </a:solidFill>
          <a:ln/>
        </p:spPr>
      </p:sp>
      <p:sp>
        <p:nvSpPr>
          <p:cNvPr id="10" name="Text 8"/>
          <p:cNvSpPr txBox="1"/>
          <p:nvPr/>
        </p:nvSpPr>
        <p:spPr>
          <a:xfrm>
            <a:off x="4078224" y="1975104"/>
            <a:ext cx="1463040" cy="438912"/>
          </a:xfrm>
          <a:prstGeom prst="rect">
            <a:avLst/>
          </a:prstGeom>
          <a:noFill/>
          <a:ln/>
        </p:spPr>
        <p:txBody>
          <a:bodyPr wrap="square" lIns="0" tIns="0" rIns="0" bIns="0" rtlCol="0" anchor="ctr"/>
          <a:lstStyle/>
          <a:p>
            <a:pPr algn="ctr" indent="0" marL="0">
              <a:buNone/>
            </a:pPr>
            <a:r>
              <a:rPr lang="en-US" sz="1300" b="1" dirty="0">
                <a:solidFill>
                  <a:srgbClr val="FFFFFF"/>
                </a:solidFill>
                <a:latin typeface="メイリオ" pitchFamily="34" charset="0"/>
                <a:ea typeface="メイリオ" pitchFamily="34" charset="-122"/>
                <a:cs typeface="メイリオ" pitchFamily="34" charset="-120"/>
              </a:rPr>
              <a:t>中学校３年生</a:t>
            </a:r>
            <a:endParaRPr lang="en-US" sz="1300" dirty="0"/>
          </a:p>
        </p:txBody>
      </p:sp>
      <p:sp>
        <p:nvSpPr>
          <p:cNvPr id="11" name="Text 9"/>
          <p:cNvSpPr txBox="1"/>
          <p:nvPr/>
        </p:nvSpPr>
        <p:spPr>
          <a:xfrm>
            <a:off x="5632704" y="1901952"/>
            <a:ext cx="1417320" cy="585216"/>
          </a:xfrm>
          <a:prstGeom prst="rect">
            <a:avLst/>
          </a:prstGeom>
          <a:noFill/>
          <a:ln/>
        </p:spPr>
        <p:txBody>
          <a:bodyPr wrap="square" lIns="0" tIns="0" rIns="0" bIns="0" rtlCol="0" anchor="ctr"/>
          <a:lstStyle/>
          <a:p>
            <a:pPr algn="l" indent="0" marL="0">
              <a:buNone/>
            </a:pPr>
            <a:r>
              <a:rPr lang="en-US" sz="3000" b="1" dirty="0">
                <a:solidFill>
                  <a:srgbClr val="3F3F3F"/>
                </a:solidFill>
                <a:latin typeface="メイリオ" pitchFamily="34" charset="0"/>
                <a:ea typeface="メイリオ" pitchFamily="34" charset="-122"/>
                <a:cs typeface="メイリオ" pitchFamily="34" charset="-120"/>
              </a:rPr>
              <a:t>65.5</a:t>
            </a:r>
            <a:pPr algn="l" indent="0" marL="0">
              <a:buNone/>
            </a:pPr>
            <a:r>
              <a:rPr lang="en-US" sz="1600" b="1" dirty="0">
                <a:solidFill>
                  <a:srgbClr val="3F3F3F"/>
                </a:solidFill>
                <a:latin typeface="メイリオ" pitchFamily="34" charset="0"/>
                <a:ea typeface="メイリオ" pitchFamily="34" charset="-122"/>
                <a:cs typeface="メイリオ" pitchFamily="34" charset="-120"/>
              </a:rPr>
              <a:t>％</a:t>
            </a:r>
            <a:endParaRPr lang="en-US" sz="3000" dirty="0"/>
          </a:p>
        </p:txBody>
      </p:sp>
      <p:sp>
        <p:nvSpPr>
          <p:cNvPr id="12" name="Shape 10"/>
          <p:cNvSpPr/>
          <p:nvPr/>
        </p:nvSpPr>
        <p:spPr>
          <a:xfrm>
            <a:off x="7086600" y="1901952"/>
            <a:ext cx="1481328" cy="585216"/>
          </a:xfrm>
          <a:prstGeom prst="roundRect">
            <a:avLst>
              <a:gd name="adj" fmla="val 10938"/>
            </a:avLst>
          </a:prstGeom>
          <a:solidFill>
            <a:srgbClr val="FDF0E3"/>
          </a:solidFill>
          <a:ln w="12700">
            <a:solidFill>
              <a:srgbClr val="F6CFA4"/>
            </a:solidFill>
            <a:prstDash val="solid"/>
          </a:ln>
        </p:spPr>
      </p:sp>
      <p:sp>
        <p:nvSpPr>
          <p:cNvPr id="13" name="Text 11"/>
          <p:cNvSpPr txBox="1"/>
          <p:nvPr/>
        </p:nvSpPr>
        <p:spPr>
          <a:xfrm>
            <a:off x="7086600" y="1901952"/>
            <a:ext cx="1481328" cy="585216"/>
          </a:xfrm>
          <a:prstGeom prst="rect">
            <a:avLst/>
          </a:prstGeom>
          <a:noFill/>
          <a:ln/>
        </p:spPr>
        <p:txBody>
          <a:bodyPr wrap="square" lIns="0" tIns="0" rIns="0" bIns="0" rtlCol="0" anchor="ctr"/>
          <a:lstStyle/>
          <a:p>
            <a:pPr algn="ctr" indent="0" marL="0">
              <a:lnSpc>
                <a:spcPct val="100000"/>
              </a:lnSpc>
              <a:buNone/>
            </a:pPr>
            <a:r>
              <a:rPr lang="en-US" sz="2000" b="1" dirty="0">
                <a:solidFill>
                  <a:srgbClr val="EE7B08"/>
                </a:solidFill>
                <a:latin typeface="メイリオ" pitchFamily="34" charset="0"/>
                <a:ea typeface="メイリオ" pitchFamily="34" charset="-122"/>
                <a:cs typeface="メイリオ" pitchFamily="34" charset="-120"/>
              </a:rPr>
              <a:t>−14.8</a:t>
            </a:r>
            <a:endParaRPr lang="en-US" sz="2000" dirty="0"/>
          </a:p>
          <a:p>
            <a:pPr algn="ctr" indent="0" marL="0">
              <a:lnSpc>
                <a:spcPct val="100000"/>
              </a:lnSpc>
              <a:buNone/>
            </a:pPr>
            <a:r>
              <a:rPr lang="en-US" sz="1100" b="1" dirty="0">
                <a:solidFill>
                  <a:srgbClr val="EE7B08"/>
                </a:solidFill>
                <a:latin typeface="メイリオ" pitchFamily="34" charset="0"/>
                <a:ea typeface="メイリオ" pitchFamily="34" charset="-122"/>
                <a:cs typeface="メイリオ" pitchFamily="34" charset="-120"/>
              </a:rPr>
              <a:t>ポイント</a:t>
            </a:r>
            <a:endParaRPr lang="en-US" sz="2000" dirty="0"/>
          </a:p>
        </p:txBody>
      </p:sp>
      <p:sp>
        <p:nvSpPr>
          <p:cNvPr id="14" name="Shape 12"/>
          <p:cNvSpPr/>
          <p:nvPr/>
        </p:nvSpPr>
        <p:spPr>
          <a:xfrm>
            <a:off x="320040" y="2926080"/>
            <a:ext cx="8503920" cy="1325880"/>
          </a:xfrm>
          <a:prstGeom prst="roundRect">
            <a:avLst>
              <a:gd name="adj" fmla="val 4138"/>
            </a:avLst>
          </a:prstGeom>
          <a:solidFill>
            <a:srgbClr val="E9F7F3"/>
          </a:solidFill>
          <a:ln w="12700">
            <a:solidFill>
              <a:srgbClr val="B9E5DA"/>
            </a:solidFill>
            <a:prstDash val="solid"/>
          </a:ln>
        </p:spPr>
      </p:sp>
      <p:sp>
        <p:nvSpPr>
          <p:cNvPr id="15" name="Text 13"/>
          <p:cNvSpPr txBox="1"/>
          <p:nvPr/>
        </p:nvSpPr>
        <p:spPr>
          <a:xfrm>
            <a:off x="576072" y="3017520"/>
            <a:ext cx="7991856" cy="292608"/>
          </a:xfrm>
          <a:prstGeom prst="rect">
            <a:avLst/>
          </a:prstGeom>
          <a:noFill/>
          <a:ln/>
        </p:spPr>
        <p:txBody>
          <a:bodyPr wrap="square" lIns="0" tIns="0" rIns="0" bIns="0" rtlCol="0" anchor="ctr"/>
          <a:lstStyle/>
          <a:p>
            <a:pPr algn="l" indent="0" marL="0">
              <a:buNone/>
            </a:pPr>
            <a:r>
              <a:rPr lang="en-US" sz="1600" b="1" dirty="0">
                <a:solidFill>
                  <a:srgbClr val="595959"/>
                </a:solidFill>
                <a:latin typeface="メイリオ" pitchFamily="34" charset="0"/>
                <a:ea typeface="メイリオ" pitchFamily="34" charset="-122"/>
                <a:cs typeface="メイリオ" pitchFamily="34" charset="-120"/>
              </a:rPr>
              <a:t>Q2　「英語の勉強は好きですか」</a:t>
            </a:r>
            <a:endParaRPr lang="en-US" sz="1600" dirty="0"/>
          </a:p>
        </p:txBody>
      </p:sp>
      <p:sp>
        <p:nvSpPr>
          <p:cNvPr id="16" name="Shape 14"/>
          <p:cNvSpPr/>
          <p:nvPr/>
        </p:nvSpPr>
        <p:spPr>
          <a:xfrm>
            <a:off x="576072" y="3438144"/>
            <a:ext cx="1463040" cy="438912"/>
          </a:xfrm>
          <a:prstGeom prst="roundRect">
            <a:avLst>
              <a:gd name="adj" fmla="val 14583"/>
            </a:avLst>
          </a:prstGeom>
          <a:solidFill>
            <a:srgbClr val="44C1A3"/>
          </a:solidFill>
          <a:ln/>
        </p:spPr>
      </p:sp>
      <p:sp>
        <p:nvSpPr>
          <p:cNvPr id="17" name="Text 15"/>
          <p:cNvSpPr txBox="1"/>
          <p:nvPr/>
        </p:nvSpPr>
        <p:spPr>
          <a:xfrm>
            <a:off x="576072" y="3438144"/>
            <a:ext cx="1463040" cy="438912"/>
          </a:xfrm>
          <a:prstGeom prst="rect">
            <a:avLst/>
          </a:prstGeom>
          <a:noFill/>
          <a:ln/>
        </p:spPr>
        <p:txBody>
          <a:bodyPr wrap="square" lIns="0" tIns="0" rIns="0" bIns="0" rtlCol="0" anchor="ctr"/>
          <a:lstStyle/>
          <a:p>
            <a:pPr algn="ctr" indent="0" marL="0">
              <a:buNone/>
            </a:pPr>
            <a:r>
              <a:rPr lang="en-US" sz="1300" b="1" dirty="0">
                <a:solidFill>
                  <a:srgbClr val="FFFFFF"/>
                </a:solidFill>
                <a:latin typeface="メイリオ" pitchFamily="34" charset="0"/>
                <a:ea typeface="メイリオ" pitchFamily="34" charset="-122"/>
                <a:cs typeface="メイリオ" pitchFamily="34" charset="-120"/>
              </a:rPr>
              <a:t>小学校６年生</a:t>
            </a:r>
            <a:endParaRPr lang="en-US" sz="1300" dirty="0"/>
          </a:p>
        </p:txBody>
      </p:sp>
      <p:sp>
        <p:nvSpPr>
          <p:cNvPr id="18" name="Text 16"/>
          <p:cNvSpPr txBox="1"/>
          <p:nvPr/>
        </p:nvSpPr>
        <p:spPr>
          <a:xfrm>
            <a:off x="2130552" y="3364992"/>
            <a:ext cx="1417320" cy="585216"/>
          </a:xfrm>
          <a:prstGeom prst="rect">
            <a:avLst/>
          </a:prstGeom>
          <a:noFill/>
          <a:ln/>
        </p:spPr>
        <p:txBody>
          <a:bodyPr wrap="square" lIns="0" tIns="0" rIns="0" bIns="0" rtlCol="0" anchor="ctr"/>
          <a:lstStyle/>
          <a:p>
            <a:pPr algn="l" indent="0" marL="0">
              <a:buNone/>
            </a:pPr>
            <a:r>
              <a:rPr lang="en-US" sz="3000" b="1" dirty="0">
                <a:solidFill>
                  <a:srgbClr val="3F3F3F"/>
                </a:solidFill>
                <a:latin typeface="メイリオ" pitchFamily="34" charset="0"/>
                <a:ea typeface="メイリオ" pitchFamily="34" charset="-122"/>
                <a:cs typeface="メイリオ" pitchFamily="34" charset="-120"/>
              </a:rPr>
              <a:t>68.2</a:t>
            </a:r>
            <a:pPr algn="l" indent="0" marL="0">
              <a:buNone/>
            </a:pPr>
            <a:r>
              <a:rPr lang="en-US" sz="1600" b="1" dirty="0">
                <a:solidFill>
                  <a:srgbClr val="3F3F3F"/>
                </a:solidFill>
                <a:latin typeface="メイリオ" pitchFamily="34" charset="0"/>
                <a:ea typeface="メイリオ" pitchFamily="34" charset="-122"/>
                <a:cs typeface="メイリオ" pitchFamily="34" charset="-120"/>
              </a:rPr>
              <a:t>％</a:t>
            </a:r>
            <a:endParaRPr lang="en-US" sz="3000" dirty="0"/>
          </a:p>
        </p:txBody>
      </p:sp>
      <p:sp>
        <p:nvSpPr>
          <p:cNvPr id="19" name="Text 17"/>
          <p:cNvSpPr txBox="1"/>
          <p:nvPr/>
        </p:nvSpPr>
        <p:spPr>
          <a:xfrm>
            <a:off x="3584448" y="3401568"/>
            <a:ext cx="457200" cy="512064"/>
          </a:xfrm>
          <a:prstGeom prst="rect">
            <a:avLst/>
          </a:prstGeom>
          <a:noFill/>
          <a:ln/>
        </p:spPr>
        <p:txBody>
          <a:bodyPr wrap="square" lIns="0" tIns="0" rIns="0" bIns="0" rtlCol="0" anchor="ctr"/>
          <a:lstStyle/>
          <a:p>
            <a:pPr algn="ctr" indent="0" marL="0">
              <a:buNone/>
            </a:pPr>
            <a:r>
              <a:rPr lang="en-US" sz="2600" b="1" dirty="0">
                <a:solidFill>
                  <a:srgbClr val="808080"/>
                </a:solidFill>
                <a:latin typeface="メイリオ" pitchFamily="34" charset="0"/>
                <a:ea typeface="メイリオ" pitchFamily="34" charset="-122"/>
                <a:cs typeface="メイリオ" pitchFamily="34" charset="-120"/>
              </a:rPr>
              <a:t>→</a:t>
            </a:r>
            <a:endParaRPr lang="en-US" sz="2600" dirty="0"/>
          </a:p>
        </p:txBody>
      </p:sp>
      <p:sp>
        <p:nvSpPr>
          <p:cNvPr id="20" name="Shape 18"/>
          <p:cNvSpPr/>
          <p:nvPr/>
        </p:nvSpPr>
        <p:spPr>
          <a:xfrm>
            <a:off x="4078224" y="3438144"/>
            <a:ext cx="1463040" cy="438912"/>
          </a:xfrm>
          <a:prstGeom prst="roundRect">
            <a:avLst>
              <a:gd name="adj" fmla="val 14583"/>
            </a:avLst>
          </a:prstGeom>
          <a:solidFill>
            <a:srgbClr val="EE7B08"/>
          </a:solidFill>
          <a:ln/>
        </p:spPr>
      </p:sp>
      <p:sp>
        <p:nvSpPr>
          <p:cNvPr id="21" name="Text 19"/>
          <p:cNvSpPr txBox="1"/>
          <p:nvPr/>
        </p:nvSpPr>
        <p:spPr>
          <a:xfrm>
            <a:off x="4078224" y="3438144"/>
            <a:ext cx="1463040" cy="438912"/>
          </a:xfrm>
          <a:prstGeom prst="rect">
            <a:avLst/>
          </a:prstGeom>
          <a:noFill/>
          <a:ln/>
        </p:spPr>
        <p:txBody>
          <a:bodyPr wrap="square" lIns="0" tIns="0" rIns="0" bIns="0" rtlCol="0" anchor="ctr"/>
          <a:lstStyle/>
          <a:p>
            <a:pPr algn="ctr" indent="0" marL="0">
              <a:buNone/>
            </a:pPr>
            <a:r>
              <a:rPr lang="en-US" sz="1300" b="1" dirty="0">
                <a:solidFill>
                  <a:srgbClr val="FFFFFF"/>
                </a:solidFill>
                <a:latin typeface="メイリオ" pitchFamily="34" charset="0"/>
                <a:ea typeface="メイリオ" pitchFamily="34" charset="-122"/>
                <a:cs typeface="メイリオ" pitchFamily="34" charset="-120"/>
              </a:rPr>
              <a:t>中学校３年生</a:t>
            </a:r>
            <a:endParaRPr lang="en-US" sz="1300" dirty="0"/>
          </a:p>
        </p:txBody>
      </p:sp>
      <p:sp>
        <p:nvSpPr>
          <p:cNvPr id="22" name="Text 20"/>
          <p:cNvSpPr txBox="1"/>
          <p:nvPr/>
        </p:nvSpPr>
        <p:spPr>
          <a:xfrm>
            <a:off x="5632704" y="3364992"/>
            <a:ext cx="1417320" cy="585216"/>
          </a:xfrm>
          <a:prstGeom prst="rect">
            <a:avLst/>
          </a:prstGeom>
          <a:noFill/>
          <a:ln/>
        </p:spPr>
        <p:txBody>
          <a:bodyPr wrap="square" lIns="0" tIns="0" rIns="0" bIns="0" rtlCol="0" anchor="ctr"/>
          <a:lstStyle/>
          <a:p>
            <a:pPr algn="l" indent="0" marL="0">
              <a:buNone/>
            </a:pPr>
            <a:r>
              <a:rPr lang="en-US" sz="3000" b="1" dirty="0">
                <a:solidFill>
                  <a:srgbClr val="3F3F3F"/>
                </a:solidFill>
                <a:latin typeface="メイリオ" pitchFamily="34" charset="0"/>
                <a:ea typeface="メイリオ" pitchFamily="34" charset="-122"/>
                <a:cs typeface="メイリオ" pitchFamily="34" charset="-120"/>
              </a:rPr>
              <a:t>54.7</a:t>
            </a:r>
            <a:pPr algn="l" indent="0" marL="0">
              <a:buNone/>
            </a:pPr>
            <a:r>
              <a:rPr lang="en-US" sz="1600" b="1" dirty="0">
                <a:solidFill>
                  <a:srgbClr val="3F3F3F"/>
                </a:solidFill>
                <a:latin typeface="メイリオ" pitchFamily="34" charset="0"/>
                <a:ea typeface="メイリオ" pitchFamily="34" charset="-122"/>
                <a:cs typeface="メイリオ" pitchFamily="34" charset="-120"/>
              </a:rPr>
              <a:t>％</a:t>
            </a:r>
            <a:endParaRPr lang="en-US" sz="3000" dirty="0"/>
          </a:p>
        </p:txBody>
      </p:sp>
      <p:sp>
        <p:nvSpPr>
          <p:cNvPr id="23" name="Shape 21"/>
          <p:cNvSpPr/>
          <p:nvPr/>
        </p:nvSpPr>
        <p:spPr>
          <a:xfrm>
            <a:off x="7086600" y="3364992"/>
            <a:ext cx="1481328" cy="585216"/>
          </a:xfrm>
          <a:prstGeom prst="roundRect">
            <a:avLst>
              <a:gd name="adj" fmla="val 10938"/>
            </a:avLst>
          </a:prstGeom>
          <a:solidFill>
            <a:srgbClr val="FDF0E3"/>
          </a:solidFill>
          <a:ln w="12700">
            <a:solidFill>
              <a:srgbClr val="F6CFA4"/>
            </a:solidFill>
            <a:prstDash val="solid"/>
          </a:ln>
        </p:spPr>
      </p:sp>
      <p:sp>
        <p:nvSpPr>
          <p:cNvPr id="24" name="Text 22"/>
          <p:cNvSpPr txBox="1"/>
          <p:nvPr/>
        </p:nvSpPr>
        <p:spPr>
          <a:xfrm>
            <a:off x="7086600" y="3364992"/>
            <a:ext cx="1481328" cy="585216"/>
          </a:xfrm>
          <a:prstGeom prst="rect">
            <a:avLst/>
          </a:prstGeom>
          <a:noFill/>
          <a:ln/>
        </p:spPr>
        <p:txBody>
          <a:bodyPr wrap="square" lIns="0" tIns="0" rIns="0" bIns="0" rtlCol="0" anchor="ctr"/>
          <a:lstStyle/>
          <a:p>
            <a:pPr algn="ctr" indent="0" marL="0">
              <a:lnSpc>
                <a:spcPct val="100000"/>
              </a:lnSpc>
              <a:buNone/>
            </a:pPr>
            <a:r>
              <a:rPr lang="en-US" sz="2000" b="1" dirty="0">
                <a:solidFill>
                  <a:srgbClr val="EE7B08"/>
                </a:solidFill>
                <a:latin typeface="メイリオ" pitchFamily="34" charset="0"/>
                <a:ea typeface="メイリオ" pitchFamily="34" charset="-122"/>
                <a:cs typeface="メイリオ" pitchFamily="34" charset="-120"/>
              </a:rPr>
              <a:t>−13.5</a:t>
            </a:r>
            <a:endParaRPr lang="en-US" sz="2000" dirty="0"/>
          </a:p>
          <a:p>
            <a:pPr algn="ctr" indent="0" marL="0">
              <a:lnSpc>
                <a:spcPct val="100000"/>
              </a:lnSpc>
              <a:buNone/>
            </a:pPr>
            <a:r>
              <a:rPr lang="en-US" sz="1100" b="1" dirty="0">
                <a:solidFill>
                  <a:srgbClr val="EE7B08"/>
                </a:solidFill>
                <a:latin typeface="メイリオ" pitchFamily="34" charset="0"/>
                <a:ea typeface="メイリオ" pitchFamily="34" charset="-122"/>
                <a:cs typeface="メイリオ" pitchFamily="34" charset="-120"/>
              </a:rPr>
              <a:t>ポイント</a:t>
            </a:r>
            <a:endParaRPr lang="en-US" sz="2000" dirty="0"/>
          </a:p>
        </p:txBody>
      </p:sp>
      <p:sp>
        <p:nvSpPr>
          <p:cNvPr id="25" name="Text 23"/>
          <p:cNvSpPr txBox="1"/>
          <p:nvPr/>
        </p:nvSpPr>
        <p:spPr>
          <a:xfrm>
            <a:off x="320040" y="4389120"/>
            <a:ext cx="8503920" cy="274320"/>
          </a:xfrm>
          <a:prstGeom prst="rect">
            <a:avLst/>
          </a:prstGeom>
          <a:noFill/>
          <a:ln/>
        </p:spPr>
        <p:txBody>
          <a:bodyPr wrap="square" lIns="0" tIns="0" rIns="0" bIns="0" rtlCol="0" anchor="ctr"/>
          <a:lstStyle/>
          <a:p>
            <a:pPr algn="l" indent="0" marL="0">
              <a:buNone/>
            </a:pPr>
            <a:r>
              <a:rPr lang="en-US" sz="1100" b="1" dirty="0">
                <a:solidFill>
                  <a:srgbClr val="808080"/>
                </a:solidFill>
                <a:latin typeface="メイリオ" pitchFamily="34" charset="0"/>
                <a:ea typeface="メイリオ" pitchFamily="34" charset="-122"/>
                <a:cs typeface="メイリオ" pitchFamily="34" charset="-120"/>
              </a:rPr>
              <a:t>出典：令和８年度 全国学力・学習状況調査（練馬区）　質問紙調査　肯定的回答の割合</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0" y="-9144"/>
            <a:ext cx="9144000" cy="1161288"/>
          </a:xfrm>
          <a:prstGeom prst="rect">
            <a:avLst/>
          </a:prstGeom>
          <a:solidFill>
            <a:srgbClr val="44C1A3"/>
          </a:solidFill>
          <a:ln/>
        </p:spPr>
        <p:txBody>
          <a:bodyPr wrap="square" lIns="0" tIns="0" rIns="0" bIns="0" rtlCol="0" anchor="ctr"/>
          <a:lstStyle/>
          <a:p>
            <a:pPr algn="l" indent="0" marL="0">
              <a:lnSpc>
                <a:spcPct val="120000"/>
              </a:lnSpc>
              <a:buNone/>
            </a:pPr>
            <a:r>
              <a:rPr lang="en-US" sz="3000" b="1" dirty="0">
                <a:solidFill>
                  <a:srgbClr val="FFFFFF"/>
                </a:solidFill>
                <a:latin typeface="メイリオ" pitchFamily="34" charset="0"/>
                <a:ea typeface="メイリオ" pitchFamily="34" charset="-122"/>
                <a:cs typeface="メイリオ" pitchFamily="34" charset="-120"/>
              </a:rPr>
              <a:t>　０　アイスブレイク</a:t>
            </a:r>
            <a:endParaRPr lang="en-US" sz="3000" dirty="0"/>
          </a:p>
          <a:p>
            <a:pPr algn="l" indent="0" marL="0">
              <a:lnSpc>
                <a:spcPct val="120000"/>
              </a:lnSpc>
              <a:buNone/>
            </a:pPr>
            <a:r>
              <a:rPr lang="en-US" sz="2800" b="1" dirty="0">
                <a:solidFill>
                  <a:srgbClr val="FFFFFF"/>
                </a:solidFill>
                <a:latin typeface="メイリオ" pitchFamily="34" charset="0"/>
                <a:ea typeface="メイリオ" pitchFamily="34" charset="-122"/>
                <a:cs typeface="メイリオ" pitchFamily="34" charset="-120"/>
              </a:rPr>
              <a:t>　この段差は、必然ではない</a:t>
            </a:r>
            <a:endParaRPr lang="en-US" sz="3000" dirty="0"/>
          </a:p>
        </p:txBody>
      </p:sp>
      <p:sp>
        <p:nvSpPr>
          <p:cNvPr id="3" name="Text 1"/>
          <p:cNvSpPr txBox="1"/>
          <p:nvPr/>
        </p:nvSpPr>
        <p:spPr>
          <a:xfrm>
            <a:off x="475488" y="1444752"/>
            <a:ext cx="8193024" cy="777240"/>
          </a:xfrm>
          <a:prstGeom prst="rect">
            <a:avLst/>
          </a:prstGeom>
          <a:noFill/>
          <a:ln/>
        </p:spPr>
        <p:txBody>
          <a:bodyPr wrap="square" lIns="0" tIns="0" rIns="0" bIns="0" rtlCol="0" anchor="t"/>
          <a:lstStyle/>
          <a:p>
            <a:pPr algn="l" indent="0" marL="0">
              <a:lnSpc>
                <a:spcPct val="120000"/>
              </a:lnSpc>
              <a:buNone/>
            </a:pPr>
            <a:r>
              <a:rPr lang="en-US" sz="1800" b="1" dirty="0">
                <a:solidFill>
                  <a:srgbClr val="595959"/>
                </a:solidFill>
                <a:latin typeface="メイリオ" pitchFamily="34" charset="0"/>
                <a:ea typeface="メイリオ" pitchFamily="34" charset="-122"/>
                <a:cs typeface="メイリオ" pitchFamily="34" charset="-120"/>
              </a:rPr>
              <a:t>小学校から中学校へ。多くの項目で肯定的な回答は下がる。</a:t>
            </a:r>
            <a:endParaRPr lang="en-US" sz="1800" dirty="0"/>
          </a:p>
          <a:p>
            <a:pPr algn="l" indent="0" marL="0">
              <a:lnSpc>
                <a:spcPct val="120000"/>
              </a:lnSpc>
              <a:buNone/>
            </a:pPr>
            <a:r>
              <a:rPr lang="en-US" sz="1800" b="1" dirty="0">
                <a:solidFill>
                  <a:srgbClr val="595959"/>
                </a:solidFill>
                <a:latin typeface="メイリオ" pitchFamily="34" charset="0"/>
                <a:ea typeface="メイリオ" pitchFamily="34" charset="-122"/>
                <a:cs typeface="メイリオ" pitchFamily="34" charset="-120"/>
              </a:rPr>
              <a:t>しかし、</a:t>
            </a:r>
            <a:pPr algn="l" indent="0" marL="0">
              <a:lnSpc>
                <a:spcPct val="120000"/>
              </a:lnSpc>
              <a:buNone/>
            </a:pPr>
            <a:r>
              <a:rPr lang="en-US" sz="1800" b="1" dirty="0">
                <a:solidFill>
                  <a:srgbClr val="EE7B08"/>
                </a:solidFill>
                <a:latin typeface="メイリオ" pitchFamily="34" charset="0"/>
                <a:ea typeface="メイリオ" pitchFamily="34" charset="-122"/>
                <a:cs typeface="メイリオ" pitchFamily="34" charset="-120"/>
              </a:rPr>
              <a:t>下がらない項目</a:t>
            </a:r>
            <a:pPr algn="l" indent="0" marL="0">
              <a:lnSpc>
                <a:spcPct val="120000"/>
              </a:lnSpc>
              <a:buNone/>
            </a:pPr>
            <a:r>
              <a:rPr lang="en-US" sz="1800" b="1" dirty="0">
                <a:solidFill>
                  <a:srgbClr val="595959"/>
                </a:solidFill>
                <a:latin typeface="メイリオ" pitchFamily="34" charset="0"/>
                <a:ea typeface="メイリオ" pitchFamily="34" charset="-122"/>
                <a:cs typeface="メイリオ" pitchFamily="34" charset="-120"/>
              </a:rPr>
              <a:t>もある。</a:t>
            </a:r>
            <a:endParaRPr lang="en-US" sz="1800" dirty="0"/>
          </a:p>
        </p:txBody>
      </p:sp>
      <p:sp>
        <p:nvSpPr>
          <p:cNvPr id="4" name="Shape 2"/>
          <p:cNvSpPr/>
          <p:nvPr/>
        </p:nvSpPr>
        <p:spPr>
          <a:xfrm>
            <a:off x="320040" y="2377440"/>
            <a:ext cx="4160520" cy="1417320"/>
          </a:xfrm>
          <a:prstGeom prst="roundRect">
            <a:avLst>
              <a:gd name="adj" fmla="val 3871"/>
            </a:avLst>
          </a:prstGeom>
          <a:solidFill>
            <a:srgbClr val="E9F7F3"/>
          </a:solidFill>
          <a:ln w="12700">
            <a:solidFill>
              <a:srgbClr val="B9E5DA"/>
            </a:solidFill>
            <a:prstDash val="solid"/>
          </a:ln>
        </p:spPr>
      </p:sp>
      <p:sp>
        <p:nvSpPr>
          <p:cNvPr id="5" name="Text 3"/>
          <p:cNvSpPr txBox="1"/>
          <p:nvPr/>
        </p:nvSpPr>
        <p:spPr>
          <a:xfrm>
            <a:off x="521208" y="2487168"/>
            <a:ext cx="3758184" cy="502920"/>
          </a:xfrm>
          <a:prstGeom prst="rect">
            <a:avLst/>
          </a:prstGeom>
          <a:noFill/>
          <a:ln/>
        </p:spPr>
        <p:txBody>
          <a:bodyPr wrap="square" lIns="0" tIns="0" rIns="0" bIns="0" rtlCol="0" anchor="t"/>
          <a:lstStyle/>
          <a:p>
            <a:pPr algn="l" indent="0" marL="0">
              <a:lnSpc>
                <a:spcPct val="115000"/>
              </a:lnSpc>
              <a:buNone/>
            </a:pPr>
            <a:r>
              <a:rPr lang="en-US" sz="1500" b="1" dirty="0">
                <a:solidFill>
                  <a:srgbClr val="595959"/>
                </a:solidFill>
                <a:latin typeface="メイリオ" pitchFamily="34" charset="0"/>
                <a:ea typeface="メイリオ" pitchFamily="34" charset="-122"/>
                <a:cs typeface="メイリオ" pitchFamily="34" charset="-120"/>
              </a:rPr>
              <a:t>学校に行くのは楽しい</a:t>
            </a:r>
            <a:endParaRPr lang="en-US" sz="1500" dirty="0"/>
          </a:p>
        </p:txBody>
      </p:sp>
      <p:sp>
        <p:nvSpPr>
          <p:cNvPr id="6" name="Text 4"/>
          <p:cNvSpPr txBox="1"/>
          <p:nvPr/>
        </p:nvSpPr>
        <p:spPr>
          <a:xfrm>
            <a:off x="521208" y="3054096"/>
            <a:ext cx="3758184" cy="411480"/>
          </a:xfrm>
          <a:prstGeom prst="rect">
            <a:avLst/>
          </a:prstGeom>
          <a:noFill/>
          <a:ln/>
        </p:spPr>
        <p:txBody>
          <a:bodyPr wrap="square" lIns="0" tIns="0" rIns="0" bIns="0" rtlCol="0" anchor="ctr"/>
          <a:lstStyle/>
          <a:p>
            <a:pPr algn="l" indent="0" marL="0">
              <a:buNone/>
            </a:pPr>
            <a:r>
              <a:rPr lang="en-US" sz="1400" b="1" dirty="0">
                <a:solidFill>
                  <a:srgbClr val="44C1A3"/>
                </a:solidFill>
                <a:latin typeface="メイリオ" pitchFamily="34" charset="0"/>
                <a:ea typeface="メイリオ" pitchFamily="34" charset="-122"/>
                <a:cs typeface="メイリオ" pitchFamily="34" charset="-120"/>
              </a:rPr>
              <a:t>小 </a:t>
            </a:r>
            <a:pPr algn="l" indent="0" marL="0">
              <a:buNone/>
            </a:pPr>
            <a:r>
              <a:rPr lang="en-US" sz="2100" b="1" dirty="0">
                <a:solidFill>
                  <a:srgbClr val="3F3F3F"/>
                </a:solidFill>
                <a:latin typeface="メイリオ" pitchFamily="34" charset="0"/>
                <a:ea typeface="メイリオ" pitchFamily="34" charset="-122"/>
                <a:cs typeface="メイリオ" pitchFamily="34" charset="-120"/>
              </a:rPr>
              <a:t>88.9</a:t>
            </a:r>
            <a:pPr algn="l" indent="0" marL="0">
              <a:buNone/>
            </a:pPr>
            <a:r>
              <a:rPr lang="en-US" sz="1300" b="1" dirty="0">
                <a:solidFill>
                  <a:srgbClr val="3F3F3F"/>
                </a:solidFill>
                <a:latin typeface="メイリオ" pitchFamily="34" charset="0"/>
                <a:ea typeface="メイリオ" pitchFamily="34" charset="-122"/>
                <a:cs typeface="メイリオ" pitchFamily="34" charset="-120"/>
              </a:rPr>
              <a:t>％</a:t>
            </a:r>
            <a:pPr algn="l" indent="0" marL="0">
              <a:buNone/>
            </a:pPr>
            <a:r>
              <a:rPr lang="en-US" sz="1600" b="1" dirty="0">
                <a:solidFill>
                  <a:srgbClr val="808080"/>
                </a:solidFill>
                <a:latin typeface="メイリオ" pitchFamily="34" charset="0"/>
                <a:ea typeface="メイリオ" pitchFamily="34" charset="-122"/>
                <a:cs typeface="メイリオ" pitchFamily="34" charset="-120"/>
              </a:rPr>
              <a:t>　→　</a:t>
            </a:r>
            <a:pPr algn="l" indent="0" marL="0">
              <a:buNone/>
            </a:pPr>
            <a:r>
              <a:rPr lang="en-US" sz="1400" b="1" dirty="0">
                <a:solidFill>
                  <a:srgbClr val="EE7B08"/>
                </a:solidFill>
                <a:latin typeface="メイリオ" pitchFamily="34" charset="0"/>
                <a:ea typeface="メイリオ" pitchFamily="34" charset="-122"/>
                <a:cs typeface="メイリオ" pitchFamily="34" charset="-120"/>
              </a:rPr>
              <a:t>中 </a:t>
            </a:r>
            <a:pPr algn="l" indent="0" marL="0">
              <a:buNone/>
            </a:pPr>
            <a:r>
              <a:rPr lang="en-US" sz="2100" b="1" dirty="0">
                <a:solidFill>
                  <a:srgbClr val="3F3F3F"/>
                </a:solidFill>
                <a:latin typeface="メイリオ" pitchFamily="34" charset="0"/>
                <a:ea typeface="メイリオ" pitchFamily="34" charset="-122"/>
                <a:cs typeface="メイリオ" pitchFamily="34" charset="-120"/>
              </a:rPr>
              <a:t>87.2</a:t>
            </a:r>
            <a:pPr algn="l" indent="0" marL="0">
              <a:buNone/>
            </a:pPr>
            <a:r>
              <a:rPr lang="en-US" sz="1300" b="1" dirty="0">
                <a:solidFill>
                  <a:srgbClr val="3F3F3F"/>
                </a:solidFill>
                <a:latin typeface="メイリオ" pitchFamily="34" charset="0"/>
                <a:ea typeface="メイリオ" pitchFamily="34" charset="-122"/>
                <a:cs typeface="メイリオ" pitchFamily="34" charset="-120"/>
              </a:rPr>
              <a:t>％</a:t>
            </a:r>
            <a:endParaRPr lang="en-US" sz="1400" dirty="0"/>
          </a:p>
        </p:txBody>
      </p:sp>
      <p:sp>
        <p:nvSpPr>
          <p:cNvPr id="7" name="Text 5"/>
          <p:cNvSpPr txBox="1"/>
          <p:nvPr/>
        </p:nvSpPr>
        <p:spPr>
          <a:xfrm>
            <a:off x="521208" y="3474720"/>
            <a:ext cx="3758184" cy="237744"/>
          </a:xfrm>
          <a:prstGeom prst="rect">
            <a:avLst/>
          </a:prstGeom>
          <a:noFill/>
          <a:ln/>
        </p:spPr>
        <p:txBody>
          <a:bodyPr wrap="square" lIns="0" tIns="0" rIns="0" bIns="0" rtlCol="0" anchor="ctr"/>
          <a:lstStyle/>
          <a:p>
            <a:pPr algn="l" indent="0" marL="0">
              <a:buNone/>
            </a:pPr>
            <a:r>
              <a:rPr lang="en-US" sz="1100" b="1" dirty="0">
                <a:solidFill>
                  <a:srgbClr val="808080"/>
                </a:solidFill>
                <a:latin typeface="メイリオ" pitchFamily="34" charset="0"/>
                <a:ea typeface="メイリオ" pitchFamily="34" charset="-122"/>
                <a:cs typeface="メイリオ" pitchFamily="34" charset="-120"/>
              </a:rPr>
              <a:t>小・中とも東京都・全国を上回る</a:t>
            </a:r>
            <a:endParaRPr lang="en-US" sz="1100" dirty="0"/>
          </a:p>
        </p:txBody>
      </p:sp>
      <p:sp>
        <p:nvSpPr>
          <p:cNvPr id="8" name="Shape 6"/>
          <p:cNvSpPr/>
          <p:nvPr/>
        </p:nvSpPr>
        <p:spPr>
          <a:xfrm>
            <a:off x="4663440" y="2377440"/>
            <a:ext cx="4160520" cy="1417320"/>
          </a:xfrm>
          <a:prstGeom prst="roundRect">
            <a:avLst>
              <a:gd name="adj" fmla="val 3871"/>
            </a:avLst>
          </a:prstGeom>
          <a:solidFill>
            <a:srgbClr val="E9F7F3"/>
          </a:solidFill>
          <a:ln w="12700">
            <a:solidFill>
              <a:srgbClr val="B9E5DA"/>
            </a:solidFill>
            <a:prstDash val="solid"/>
          </a:ln>
        </p:spPr>
      </p:sp>
      <p:sp>
        <p:nvSpPr>
          <p:cNvPr id="9" name="Text 7"/>
          <p:cNvSpPr txBox="1"/>
          <p:nvPr/>
        </p:nvSpPr>
        <p:spPr>
          <a:xfrm>
            <a:off x="4864608" y="2487168"/>
            <a:ext cx="3758184" cy="502920"/>
          </a:xfrm>
          <a:prstGeom prst="rect">
            <a:avLst/>
          </a:prstGeom>
          <a:noFill/>
          <a:ln/>
        </p:spPr>
        <p:txBody>
          <a:bodyPr wrap="square" lIns="0" tIns="0" rIns="0" bIns="0" rtlCol="0" anchor="t"/>
          <a:lstStyle/>
          <a:p>
            <a:pPr algn="l" indent="0" marL="0">
              <a:lnSpc>
                <a:spcPct val="115000"/>
              </a:lnSpc>
              <a:buNone/>
            </a:pPr>
            <a:r>
              <a:rPr lang="en-US" sz="1500" b="1" dirty="0">
                <a:solidFill>
                  <a:srgbClr val="595959"/>
                </a:solidFill>
                <a:latin typeface="メイリオ" pitchFamily="34" charset="0"/>
                <a:ea typeface="メイリオ" pitchFamily="34" charset="-122"/>
                <a:cs typeface="メイリオ" pitchFamily="34" charset="-120"/>
              </a:rPr>
              <a:t>自分と違う意見について</a:t>
            </a:r>
            <a:endParaRPr lang="en-US" sz="1500" dirty="0"/>
          </a:p>
          <a:p>
            <a:pPr algn="l" indent="0" marL="0">
              <a:lnSpc>
                <a:spcPct val="115000"/>
              </a:lnSpc>
              <a:buNone/>
            </a:pPr>
            <a:r>
              <a:rPr lang="en-US" sz="1500" b="1" dirty="0">
                <a:solidFill>
                  <a:srgbClr val="595959"/>
                </a:solidFill>
                <a:latin typeface="メイリオ" pitchFamily="34" charset="0"/>
                <a:ea typeface="メイリオ" pitchFamily="34" charset="-122"/>
                <a:cs typeface="メイリオ" pitchFamily="34" charset="-120"/>
              </a:rPr>
              <a:t>考えるのは楽しい</a:t>
            </a:r>
            <a:endParaRPr lang="en-US" sz="1500" dirty="0"/>
          </a:p>
        </p:txBody>
      </p:sp>
      <p:sp>
        <p:nvSpPr>
          <p:cNvPr id="10" name="Text 8"/>
          <p:cNvSpPr txBox="1"/>
          <p:nvPr/>
        </p:nvSpPr>
        <p:spPr>
          <a:xfrm>
            <a:off x="4864608" y="3054096"/>
            <a:ext cx="3758184" cy="411480"/>
          </a:xfrm>
          <a:prstGeom prst="rect">
            <a:avLst/>
          </a:prstGeom>
          <a:noFill/>
          <a:ln/>
        </p:spPr>
        <p:txBody>
          <a:bodyPr wrap="square" lIns="0" tIns="0" rIns="0" bIns="0" rtlCol="0" anchor="ctr"/>
          <a:lstStyle/>
          <a:p>
            <a:pPr algn="l" indent="0" marL="0">
              <a:buNone/>
            </a:pPr>
            <a:r>
              <a:rPr lang="en-US" sz="1400" b="1" dirty="0">
                <a:solidFill>
                  <a:srgbClr val="44C1A3"/>
                </a:solidFill>
                <a:latin typeface="メイリオ" pitchFamily="34" charset="0"/>
                <a:ea typeface="メイリオ" pitchFamily="34" charset="-122"/>
                <a:cs typeface="メイリオ" pitchFamily="34" charset="-120"/>
              </a:rPr>
              <a:t>小 </a:t>
            </a:r>
            <a:pPr algn="l" indent="0" marL="0">
              <a:buNone/>
            </a:pPr>
            <a:r>
              <a:rPr lang="en-US" sz="2100" b="1" dirty="0">
                <a:solidFill>
                  <a:srgbClr val="3F3F3F"/>
                </a:solidFill>
                <a:latin typeface="メイリオ" pitchFamily="34" charset="0"/>
                <a:ea typeface="メイリオ" pitchFamily="34" charset="-122"/>
                <a:cs typeface="メイリオ" pitchFamily="34" charset="-120"/>
              </a:rPr>
              <a:t>80.6</a:t>
            </a:r>
            <a:pPr algn="l" indent="0" marL="0">
              <a:buNone/>
            </a:pPr>
            <a:r>
              <a:rPr lang="en-US" sz="1300" b="1" dirty="0">
                <a:solidFill>
                  <a:srgbClr val="3F3F3F"/>
                </a:solidFill>
                <a:latin typeface="メイリオ" pitchFamily="34" charset="0"/>
                <a:ea typeface="メイリオ" pitchFamily="34" charset="-122"/>
                <a:cs typeface="メイリオ" pitchFamily="34" charset="-120"/>
              </a:rPr>
              <a:t>％</a:t>
            </a:r>
            <a:pPr algn="l" indent="0" marL="0">
              <a:buNone/>
            </a:pPr>
            <a:r>
              <a:rPr lang="en-US" sz="1600" b="1" dirty="0">
                <a:solidFill>
                  <a:srgbClr val="808080"/>
                </a:solidFill>
                <a:latin typeface="メイリオ" pitchFamily="34" charset="0"/>
                <a:ea typeface="メイリオ" pitchFamily="34" charset="-122"/>
                <a:cs typeface="メイリオ" pitchFamily="34" charset="-120"/>
              </a:rPr>
              <a:t>　→　</a:t>
            </a:r>
            <a:pPr algn="l" indent="0" marL="0">
              <a:buNone/>
            </a:pPr>
            <a:r>
              <a:rPr lang="en-US" sz="1400" b="1" dirty="0">
                <a:solidFill>
                  <a:srgbClr val="EE7B08"/>
                </a:solidFill>
                <a:latin typeface="メイリオ" pitchFamily="34" charset="0"/>
                <a:ea typeface="メイリオ" pitchFamily="34" charset="-122"/>
                <a:cs typeface="メイリオ" pitchFamily="34" charset="-120"/>
              </a:rPr>
              <a:t>中 </a:t>
            </a:r>
            <a:pPr algn="l" indent="0" marL="0">
              <a:buNone/>
            </a:pPr>
            <a:r>
              <a:rPr lang="en-US" sz="2100" b="1" dirty="0">
                <a:solidFill>
                  <a:srgbClr val="3F3F3F"/>
                </a:solidFill>
                <a:latin typeface="メイリオ" pitchFamily="34" charset="0"/>
                <a:ea typeface="メイリオ" pitchFamily="34" charset="-122"/>
                <a:cs typeface="メイリオ" pitchFamily="34" charset="-120"/>
              </a:rPr>
              <a:t>79.8</a:t>
            </a:r>
            <a:pPr algn="l" indent="0" marL="0">
              <a:buNone/>
            </a:pPr>
            <a:r>
              <a:rPr lang="en-US" sz="1300" b="1" dirty="0">
                <a:solidFill>
                  <a:srgbClr val="3F3F3F"/>
                </a:solidFill>
                <a:latin typeface="メイリオ" pitchFamily="34" charset="0"/>
                <a:ea typeface="メイリオ" pitchFamily="34" charset="-122"/>
                <a:cs typeface="メイリオ" pitchFamily="34" charset="-120"/>
              </a:rPr>
              <a:t>％</a:t>
            </a:r>
            <a:endParaRPr lang="en-US" sz="1400" dirty="0"/>
          </a:p>
        </p:txBody>
      </p:sp>
      <p:sp>
        <p:nvSpPr>
          <p:cNvPr id="11" name="Text 9"/>
          <p:cNvSpPr txBox="1"/>
          <p:nvPr/>
        </p:nvSpPr>
        <p:spPr>
          <a:xfrm>
            <a:off x="4864608" y="3474720"/>
            <a:ext cx="3758184" cy="237744"/>
          </a:xfrm>
          <a:prstGeom prst="rect">
            <a:avLst/>
          </a:prstGeom>
          <a:noFill/>
          <a:ln/>
        </p:spPr>
        <p:txBody>
          <a:bodyPr wrap="square" lIns="0" tIns="0" rIns="0" bIns="0" rtlCol="0" anchor="ctr"/>
          <a:lstStyle/>
          <a:p>
            <a:pPr algn="l" indent="0" marL="0">
              <a:buNone/>
            </a:pPr>
            <a:r>
              <a:rPr lang="en-US" sz="1100" b="1" dirty="0">
                <a:solidFill>
                  <a:srgbClr val="808080"/>
                </a:solidFill>
                <a:latin typeface="メイリオ" pitchFamily="34" charset="0"/>
                <a:ea typeface="メイリオ" pitchFamily="34" charset="-122"/>
                <a:cs typeface="メイリオ" pitchFamily="34" charset="-120"/>
              </a:rPr>
              <a:t>小・中とも東京都・全国を上回る</a:t>
            </a:r>
            <a:endParaRPr lang="en-US" sz="1100" dirty="0"/>
          </a:p>
        </p:txBody>
      </p:sp>
      <p:sp>
        <p:nvSpPr>
          <p:cNvPr id="12" name="Text 10"/>
          <p:cNvSpPr txBox="1"/>
          <p:nvPr/>
        </p:nvSpPr>
        <p:spPr>
          <a:xfrm>
            <a:off x="475488" y="3950208"/>
            <a:ext cx="8193024" cy="548640"/>
          </a:xfrm>
          <a:prstGeom prst="rect">
            <a:avLst/>
          </a:prstGeom>
          <a:noFill/>
          <a:ln/>
        </p:spPr>
        <p:txBody>
          <a:bodyPr wrap="square" lIns="0" tIns="0" rIns="0" bIns="0" rtlCol="0" anchor="t"/>
          <a:lstStyle/>
          <a:p>
            <a:pPr algn="l" indent="0" marL="0">
              <a:lnSpc>
                <a:spcPct val="120000"/>
              </a:lnSpc>
              <a:buNone/>
            </a:pPr>
            <a:r>
              <a:rPr lang="en-US" sz="1900" b="1" dirty="0">
                <a:solidFill>
                  <a:srgbClr val="595959"/>
                </a:solidFill>
                <a:latin typeface="メイリオ" pitchFamily="34" charset="0"/>
                <a:ea typeface="メイリオ" pitchFamily="34" charset="-122"/>
                <a:cs typeface="メイリオ" pitchFamily="34" charset="-120"/>
              </a:rPr>
              <a:t>段差をなだらかにするのが、</a:t>
            </a:r>
            <a:pPr algn="l" indent="0" marL="0">
              <a:lnSpc>
                <a:spcPct val="120000"/>
              </a:lnSpc>
              <a:buNone/>
            </a:pPr>
            <a:r>
              <a:rPr lang="en-US" sz="1900" b="1" dirty="0">
                <a:solidFill>
                  <a:srgbClr val="EE7B08"/>
                </a:solidFill>
                <a:latin typeface="メイリオ" pitchFamily="34" charset="0"/>
                <a:ea typeface="メイリオ" pitchFamily="34" charset="-122"/>
                <a:cs typeface="メイリオ" pitchFamily="34" charset="-120"/>
              </a:rPr>
              <a:t>９年間を見通した教育</a:t>
            </a:r>
            <a:pPr algn="l" indent="0" marL="0">
              <a:lnSpc>
                <a:spcPct val="120000"/>
              </a:lnSpc>
              <a:buNone/>
            </a:pPr>
            <a:r>
              <a:rPr lang="en-US" sz="1900" b="1" dirty="0">
                <a:solidFill>
                  <a:srgbClr val="595959"/>
                </a:solidFill>
                <a:latin typeface="メイリオ" pitchFamily="34" charset="0"/>
                <a:ea typeface="メイリオ" pitchFamily="34" charset="-122"/>
                <a:cs typeface="メイリオ" pitchFamily="34" charset="-120"/>
              </a:rPr>
              <a:t>である。</a:t>
            </a:r>
            <a:endParaRPr lang="en-US" sz="1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0" y="-9144"/>
            <a:ext cx="9144000" cy="1161288"/>
          </a:xfrm>
          <a:prstGeom prst="rect">
            <a:avLst/>
          </a:prstGeom>
          <a:solidFill>
            <a:srgbClr val="44C1A3"/>
          </a:solidFill>
          <a:ln/>
        </p:spPr>
        <p:txBody>
          <a:bodyPr wrap="square" lIns="0" tIns="0" rIns="0" bIns="0" rtlCol="0" anchor="ctr"/>
          <a:lstStyle/>
          <a:p>
            <a:pPr algn="l" indent="0" marL="0">
              <a:lnSpc>
                <a:spcPct val="120000"/>
              </a:lnSpc>
              <a:buNone/>
            </a:pPr>
            <a:r>
              <a:rPr lang="en-US" sz="3000" b="1" dirty="0">
                <a:solidFill>
                  <a:srgbClr val="FFFFFF"/>
                </a:solidFill>
                <a:latin typeface="メイリオ" pitchFamily="34" charset="0"/>
                <a:ea typeface="メイリオ" pitchFamily="34" charset="-122"/>
                <a:cs typeface="メイリオ" pitchFamily="34" charset="-120"/>
              </a:rPr>
              <a:t>　指導・講評</a:t>
            </a:r>
            <a:endParaRPr lang="en-US" sz="3000" dirty="0"/>
          </a:p>
          <a:p>
            <a:pPr algn="l" indent="0" marL="0">
              <a:lnSpc>
                <a:spcPct val="120000"/>
              </a:lnSpc>
              <a:buNone/>
            </a:pPr>
            <a:r>
              <a:rPr lang="en-US" sz="2800" b="1" dirty="0">
                <a:solidFill>
                  <a:srgbClr val="FFFFFF"/>
                </a:solidFill>
                <a:latin typeface="メイリオ" pitchFamily="34" charset="0"/>
                <a:ea typeface="メイリオ" pitchFamily="34" charset="-122"/>
                <a:cs typeface="メイリオ" pitchFamily="34" charset="-120"/>
              </a:rPr>
              <a:t>　１　練馬区の小中一貫教育</a:t>
            </a:r>
            <a:endParaRPr lang="en-US" sz="3000" dirty="0"/>
          </a:p>
        </p:txBody>
      </p:sp>
      <p:sp>
        <p:nvSpPr>
          <p:cNvPr id="3" name="Text 1"/>
          <p:cNvSpPr txBox="1"/>
          <p:nvPr/>
        </p:nvSpPr>
        <p:spPr>
          <a:xfrm>
            <a:off x="475488" y="1463040"/>
            <a:ext cx="8193024" cy="822960"/>
          </a:xfrm>
          <a:prstGeom prst="rect">
            <a:avLst/>
          </a:prstGeom>
          <a:noFill/>
          <a:ln/>
        </p:spPr>
        <p:txBody>
          <a:bodyPr wrap="square" lIns="0" tIns="0" rIns="0" bIns="0" rtlCol="0" anchor="t"/>
          <a:lstStyle/>
          <a:p>
            <a:pPr algn="l" indent="0" marL="0">
              <a:lnSpc>
                <a:spcPct val="120000"/>
              </a:lnSpc>
              <a:buNone/>
            </a:pPr>
            <a:r>
              <a:rPr lang="en-US" sz="2000" b="1" dirty="0">
                <a:solidFill>
                  <a:srgbClr val="595959"/>
                </a:solidFill>
                <a:latin typeface="メイリオ" pitchFamily="34" charset="0"/>
                <a:ea typeface="メイリオ" pitchFamily="34" charset="-122"/>
                <a:cs typeface="メイリオ" pitchFamily="34" charset="-120"/>
              </a:rPr>
              <a:t>練馬区教育委員会の目標</a:t>
            </a:r>
            <a:endParaRPr lang="en-US" sz="2000" dirty="0"/>
          </a:p>
          <a:p>
            <a:pPr algn="l" indent="0" marL="0">
              <a:lnSpc>
                <a:spcPct val="120000"/>
              </a:lnSpc>
              <a:buNone/>
            </a:pPr>
            <a:r>
              <a:rPr lang="en-US" sz="2000" b="1" dirty="0">
                <a:solidFill>
                  <a:srgbClr val="595959"/>
                </a:solidFill>
                <a:latin typeface="メイリオ" pitchFamily="34" charset="0"/>
                <a:ea typeface="メイリオ" pitchFamily="34" charset="-122"/>
                <a:cs typeface="メイリオ" pitchFamily="34" charset="-120"/>
              </a:rPr>
              <a:t>　</a:t>
            </a:r>
            <a:pPr algn="l" indent="0" marL="0">
              <a:lnSpc>
                <a:spcPct val="120000"/>
              </a:lnSpc>
              <a:buNone/>
            </a:pPr>
            <a:r>
              <a:rPr lang="en-US" sz="2000" b="1" dirty="0">
                <a:solidFill>
                  <a:srgbClr val="EE7B08"/>
                </a:solidFill>
                <a:latin typeface="メイリオ" pitchFamily="34" charset="0"/>
                <a:ea typeface="メイリオ" pitchFamily="34" charset="-122"/>
                <a:cs typeface="メイリオ" pitchFamily="34" charset="-120"/>
              </a:rPr>
              <a:t>夢や希望をもち、困難を乗り越える力</a:t>
            </a:r>
            <a:pPr algn="l" indent="0" marL="0">
              <a:lnSpc>
                <a:spcPct val="120000"/>
              </a:lnSpc>
              <a:buNone/>
            </a:pPr>
            <a:r>
              <a:rPr lang="en-US" sz="2000" b="1" dirty="0">
                <a:solidFill>
                  <a:srgbClr val="595959"/>
                </a:solidFill>
                <a:latin typeface="メイリオ" pitchFamily="34" charset="0"/>
                <a:ea typeface="メイリオ" pitchFamily="34" charset="-122"/>
                <a:cs typeface="メイリオ" pitchFamily="34" charset="-120"/>
              </a:rPr>
              <a:t>の育成</a:t>
            </a:r>
            <a:endParaRPr lang="en-US" sz="2000" dirty="0"/>
          </a:p>
        </p:txBody>
      </p:sp>
      <p:sp>
        <p:nvSpPr>
          <p:cNvPr id="4" name="Text 2"/>
          <p:cNvSpPr txBox="1"/>
          <p:nvPr/>
        </p:nvSpPr>
        <p:spPr>
          <a:xfrm>
            <a:off x="475488" y="2423160"/>
            <a:ext cx="8193024" cy="822960"/>
          </a:xfrm>
          <a:prstGeom prst="rect">
            <a:avLst/>
          </a:prstGeom>
          <a:noFill/>
          <a:ln/>
        </p:spPr>
        <p:txBody>
          <a:bodyPr wrap="square" lIns="0" tIns="0" rIns="0" bIns="0" rtlCol="0" anchor="t"/>
          <a:lstStyle/>
          <a:p>
            <a:pPr algn="l" indent="0" marL="0">
              <a:lnSpc>
                <a:spcPct val="120000"/>
              </a:lnSpc>
              <a:buNone/>
            </a:pPr>
            <a:r>
              <a:rPr lang="en-US" sz="1900" b="1" dirty="0">
                <a:solidFill>
                  <a:srgbClr val="595959"/>
                </a:solidFill>
                <a:latin typeface="メイリオ" pitchFamily="34" charset="0"/>
                <a:ea typeface="メイリオ" pitchFamily="34" charset="-122"/>
                <a:cs typeface="メイリオ" pitchFamily="34" charset="-120"/>
              </a:rPr>
              <a:t>その実現のための施策が</a:t>
            </a:r>
            <a:endParaRPr lang="en-US" sz="1900" dirty="0"/>
          </a:p>
          <a:p>
            <a:pPr algn="l" indent="0" marL="0">
              <a:lnSpc>
                <a:spcPct val="120000"/>
              </a:lnSpc>
              <a:buNone/>
            </a:pPr>
            <a:r>
              <a:rPr lang="en-US" sz="1900" b="1" dirty="0">
                <a:solidFill>
                  <a:srgbClr val="595959"/>
                </a:solidFill>
                <a:latin typeface="メイリオ" pitchFamily="34" charset="0"/>
                <a:ea typeface="メイリオ" pitchFamily="34" charset="-122"/>
                <a:cs typeface="メイリオ" pitchFamily="34" charset="-120"/>
              </a:rPr>
              <a:t>　</a:t>
            </a:r>
            <a:pPr algn="l" indent="0" marL="0">
              <a:lnSpc>
                <a:spcPct val="120000"/>
              </a:lnSpc>
              <a:buNone/>
            </a:pPr>
            <a:r>
              <a:rPr lang="en-US" sz="1900" b="1" dirty="0">
                <a:solidFill>
                  <a:srgbClr val="EE7B08"/>
                </a:solidFill>
                <a:latin typeface="メイリオ" pitchFamily="34" charset="0"/>
                <a:ea typeface="メイリオ" pitchFamily="34" charset="-122"/>
                <a:cs typeface="メイリオ" pitchFamily="34" charset="-120"/>
              </a:rPr>
              <a:t>９年間を見通した教育</a:t>
            </a:r>
            <a:pPr algn="l" indent="0" marL="0">
              <a:lnSpc>
                <a:spcPct val="120000"/>
              </a:lnSpc>
              <a:buNone/>
            </a:pPr>
            <a:r>
              <a:rPr lang="en-US" sz="1900" b="1" dirty="0">
                <a:solidFill>
                  <a:srgbClr val="595959"/>
                </a:solidFill>
                <a:latin typeface="メイリオ" pitchFamily="34" charset="0"/>
                <a:ea typeface="メイリオ" pitchFamily="34" charset="-122"/>
                <a:cs typeface="メイリオ" pitchFamily="34" charset="-120"/>
              </a:rPr>
              <a:t>（小学校６年間＋中学校３年間）</a:t>
            </a:r>
            <a:endParaRPr lang="en-US" sz="1900" dirty="0"/>
          </a:p>
        </p:txBody>
      </p:sp>
      <p:sp>
        <p:nvSpPr>
          <p:cNvPr id="5" name="Shape 3"/>
          <p:cNvSpPr/>
          <p:nvPr/>
        </p:nvSpPr>
        <p:spPr>
          <a:xfrm>
            <a:off x="475488" y="3401568"/>
            <a:ext cx="8193024" cy="1234440"/>
          </a:xfrm>
          <a:prstGeom prst="roundRect">
            <a:avLst>
              <a:gd name="adj" fmla="val 4444"/>
            </a:avLst>
          </a:prstGeom>
          <a:solidFill>
            <a:srgbClr val="E9F7F3"/>
          </a:solidFill>
          <a:ln w="12700">
            <a:solidFill>
              <a:srgbClr val="B9E5DA"/>
            </a:solidFill>
            <a:prstDash val="solid"/>
          </a:ln>
        </p:spPr>
      </p:sp>
      <p:sp>
        <p:nvSpPr>
          <p:cNvPr id="6" name="Text 4"/>
          <p:cNvSpPr txBox="1"/>
          <p:nvPr/>
        </p:nvSpPr>
        <p:spPr>
          <a:xfrm>
            <a:off x="658368" y="3529584"/>
            <a:ext cx="7827264" cy="1005840"/>
          </a:xfrm>
          <a:prstGeom prst="rect">
            <a:avLst/>
          </a:prstGeom>
          <a:noFill/>
          <a:ln/>
        </p:spPr>
        <p:txBody>
          <a:bodyPr wrap="square" lIns="0" tIns="0" rIns="0" bIns="0" rtlCol="0" anchor="t"/>
          <a:lstStyle/>
          <a:p>
            <a:pPr algn="l" indent="0" marL="0">
              <a:lnSpc>
                <a:spcPct val="130000"/>
              </a:lnSpc>
              <a:buNone/>
            </a:pPr>
            <a:r>
              <a:rPr lang="en-US" sz="1600" b="1" dirty="0">
                <a:solidFill>
                  <a:srgbClr val="44C1A3"/>
                </a:solidFill>
                <a:latin typeface="メイリオ" pitchFamily="34" charset="0"/>
                <a:ea typeface="メイリオ" pitchFamily="34" charset="-122"/>
                <a:cs typeface="メイリオ" pitchFamily="34" charset="-120"/>
              </a:rPr>
              <a:t>期待される効果</a:t>
            </a:r>
            <a:endParaRPr lang="en-US" sz="1600" dirty="0"/>
          </a:p>
          <a:p>
            <a:pPr algn="l" indent="0" marL="0">
              <a:lnSpc>
                <a:spcPct val="130000"/>
              </a:lnSpc>
              <a:buNone/>
            </a:pPr>
            <a:r>
              <a:rPr lang="en-US" sz="1600" b="1" dirty="0">
                <a:solidFill>
                  <a:srgbClr val="595959"/>
                </a:solidFill>
                <a:latin typeface="メイリオ" pitchFamily="34" charset="0"/>
                <a:ea typeface="メイリオ" pitchFamily="34" charset="-122"/>
                <a:cs typeface="メイリオ" pitchFamily="34" charset="-120"/>
              </a:rPr>
              <a:t>　授業改善による学力・体力の向上　／　豊かな人間性・社会性の育成</a:t>
            </a:r>
            <a:endParaRPr lang="en-US" sz="1600" dirty="0"/>
          </a:p>
          <a:p>
            <a:pPr algn="l" indent="0" marL="0">
              <a:lnSpc>
                <a:spcPct val="130000"/>
              </a:lnSpc>
              <a:buNone/>
            </a:pPr>
            <a:r>
              <a:rPr lang="en-US" sz="1600" b="1" dirty="0">
                <a:solidFill>
                  <a:srgbClr val="595959"/>
                </a:solidFill>
                <a:latin typeface="メイリオ" pitchFamily="34" charset="0"/>
                <a:ea typeface="メイリオ" pitchFamily="34" charset="-122"/>
                <a:cs typeface="メイリオ" pitchFamily="34" charset="-120"/>
              </a:rPr>
              <a:t>　滑らかな接続による安定した学校生活の実現</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0" y="-9144"/>
            <a:ext cx="9144000" cy="1161288"/>
          </a:xfrm>
          <a:prstGeom prst="rect">
            <a:avLst/>
          </a:prstGeom>
          <a:solidFill>
            <a:srgbClr val="44C1A3"/>
          </a:solidFill>
          <a:ln/>
        </p:spPr>
        <p:txBody>
          <a:bodyPr wrap="square" lIns="0" tIns="0" rIns="0" bIns="0" rtlCol="0" anchor="ctr"/>
          <a:lstStyle/>
          <a:p>
            <a:pPr algn="l" indent="0" marL="0">
              <a:lnSpc>
                <a:spcPct val="120000"/>
              </a:lnSpc>
              <a:buNone/>
            </a:pPr>
            <a:r>
              <a:rPr lang="en-US" sz="3000" b="1" dirty="0">
                <a:solidFill>
                  <a:srgbClr val="FFFFFF"/>
                </a:solidFill>
                <a:latin typeface="メイリオ" pitchFamily="34" charset="0"/>
                <a:ea typeface="メイリオ" pitchFamily="34" charset="-122"/>
                <a:cs typeface="メイリオ" pitchFamily="34" charset="-120"/>
              </a:rPr>
              <a:t>　指導・講評</a:t>
            </a:r>
            <a:endParaRPr lang="en-US" sz="3000" dirty="0"/>
          </a:p>
          <a:p>
            <a:pPr algn="l" indent="0" marL="0">
              <a:lnSpc>
                <a:spcPct val="120000"/>
              </a:lnSpc>
              <a:buNone/>
            </a:pPr>
            <a:r>
              <a:rPr lang="en-US" sz="2800" b="1" dirty="0">
                <a:solidFill>
                  <a:srgbClr val="FFFFFF"/>
                </a:solidFill>
                <a:latin typeface="メイリオ" pitchFamily="34" charset="0"/>
                <a:ea typeface="メイリオ" pitchFamily="34" charset="-122"/>
                <a:cs typeface="メイリオ" pitchFamily="34" charset="-120"/>
              </a:rPr>
              <a:t>　１　練馬区の小中一貫教育</a:t>
            </a:r>
            <a:endParaRPr lang="en-US" sz="3000" dirty="0"/>
          </a:p>
        </p:txBody>
      </p:sp>
      <p:sp>
        <p:nvSpPr>
          <p:cNvPr id="3" name="Text 1"/>
          <p:cNvSpPr txBox="1"/>
          <p:nvPr/>
        </p:nvSpPr>
        <p:spPr>
          <a:xfrm>
            <a:off x="475488" y="1444752"/>
            <a:ext cx="8193024" cy="457200"/>
          </a:xfrm>
          <a:prstGeom prst="rect">
            <a:avLst/>
          </a:prstGeom>
          <a:noFill/>
          <a:ln/>
        </p:spPr>
        <p:txBody>
          <a:bodyPr wrap="square" lIns="0" tIns="0" rIns="0" bIns="0" rtlCol="0" anchor="ctr"/>
          <a:lstStyle/>
          <a:p>
            <a:pPr algn="l" indent="0" marL="0">
              <a:buNone/>
            </a:pPr>
            <a:r>
              <a:rPr lang="en-US" sz="2200" b="1" dirty="0">
                <a:solidFill>
                  <a:srgbClr val="44C1A3"/>
                </a:solidFill>
                <a:latin typeface="メイリオ" pitchFamily="34" charset="0"/>
                <a:ea typeface="メイリオ" pitchFamily="34" charset="-122"/>
                <a:cs typeface="メイリオ" pitchFamily="34" charset="-120"/>
              </a:rPr>
              <a:t>施設一体型だからこそ高まる教育効果</a:t>
            </a:r>
            <a:endParaRPr lang="en-US" sz="2200" dirty="0"/>
          </a:p>
        </p:txBody>
      </p:sp>
      <p:sp>
        <p:nvSpPr>
          <p:cNvPr id="4" name="Shape 2"/>
          <p:cNvSpPr/>
          <p:nvPr/>
        </p:nvSpPr>
        <p:spPr>
          <a:xfrm>
            <a:off x="475488" y="1993392"/>
            <a:ext cx="2468880" cy="1051560"/>
          </a:xfrm>
          <a:prstGeom prst="roundRect">
            <a:avLst>
              <a:gd name="adj" fmla="val 6087"/>
            </a:avLst>
          </a:prstGeom>
          <a:solidFill>
            <a:srgbClr val="E9F7F3"/>
          </a:solidFill>
          <a:ln w="12700">
            <a:solidFill>
              <a:srgbClr val="B9E5DA"/>
            </a:solidFill>
            <a:prstDash val="solid"/>
          </a:ln>
        </p:spPr>
      </p:sp>
      <p:sp>
        <p:nvSpPr>
          <p:cNvPr id="5" name="Text 3"/>
          <p:cNvSpPr txBox="1"/>
          <p:nvPr/>
        </p:nvSpPr>
        <p:spPr>
          <a:xfrm>
            <a:off x="475488" y="1993392"/>
            <a:ext cx="2468880" cy="1051560"/>
          </a:xfrm>
          <a:prstGeom prst="rect">
            <a:avLst/>
          </a:prstGeom>
          <a:noFill/>
          <a:ln/>
        </p:spPr>
        <p:txBody>
          <a:bodyPr wrap="square" lIns="0" tIns="0" rIns="0" bIns="0" rtlCol="0" anchor="ctr"/>
          <a:lstStyle/>
          <a:p>
            <a:pPr algn="ctr" indent="0" marL="0">
              <a:lnSpc>
                <a:spcPct val="115000"/>
              </a:lnSpc>
              <a:buNone/>
            </a:pPr>
            <a:r>
              <a:rPr lang="en-US" sz="1700" b="1" dirty="0">
                <a:solidFill>
                  <a:srgbClr val="595959"/>
                </a:solidFill>
                <a:latin typeface="メイリオ" pitchFamily="34" charset="0"/>
                <a:ea typeface="メイリオ" pitchFamily="34" charset="-122"/>
                <a:cs typeface="メイリオ" pitchFamily="34" charset="-120"/>
              </a:rPr>
              <a:t>教員間の</a:t>
            </a:r>
            <a:endParaRPr lang="en-US" sz="1700" dirty="0"/>
          </a:p>
          <a:p>
            <a:pPr algn="ctr" indent="0" marL="0">
              <a:lnSpc>
                <a:spcPct val="115000"/>
              </a:lnSpc>
              <a:buNone/>
            </a:pPr>
            <a:r>
              <a:rPr lang="en-US" sz="1700" b="1" dirty="0">
                <a:solidFill>
                  <a:srgbClr val="595959"/>
                </a:solidFill>
                <a:latin typeface="メイリオ" pitchFamily="34" charset="0"/>
                <a:ea typeface="メイリオ" pitchFamily="34" charset="-122"/>
                <a:cs typeface="メイリオ" pitchFamily="34" charset="-120"/>
              </a:rPr>
              <a:t>連携強化</a:t>
            </a:r>
            <a:endParaRPr lang="en-US" sz="1700" dirty="0"/>
          </a:p>
        </p:txBody>
      </p:sp>
      <p:sp>
        <p:nvSpPr>
          <p:cNvPr id="6" name="Shape 4"/>
          <p:cNvSpPr/>
          <p:nvPr/>
        </p:nvSpPr>
        <p:spPr>
          <a:xfrm>
            <a:off x="3218688" y="1993392"/>
            <a:ext cx="2468880" cy="1051560"/>
          </a:xfrm>
          <a:prstGeom prst="roundRect">
            <a:avLst>
              <a:gd name="adj" fmla="val 6087"/>
            </a:avLst>
          </a:prstGeom>
          <a:solidFill>
            <a:srgbClr val="E9F7F3"/>
          </a:solidFill>
          <a:ln w="12700">
            <a:solidFill>
              <a:srgbClr val="B9E5DA"/>
            </a:solidFill>
            <a:prstDash val="solid"/>
          </a:ln>
        </p:spPr>
      </p:sp>
      <p:sp>
        <p:nvSpPr>
          <p:cNvPr id="7" name="Text 5"/>
          <p:cNvSpPr txBox="1"/>
          <p:nvPr/>
        </p:nvSpPr>
        <p:spPr>
          <a:xfrm>
            <a:off x="3218688" y="1993392"/>
            <a:ext cx="2468880" cy="1051560"/>
          </a:xfrm>
          <a:prstGeom prst="rect">
            <a:avLst/>
          </a:prstGeom>
          <a:noFill/>
          <a:ln/>
        </p:spPr>
        <p:txBody>
          <a:bodyPr wrap="square" lIns="0" tIns="0" rIns="0" bIns="0" rtlCol="0" anchor="ctr"/>
          <a:lstStyle/>
          <a:p>
            <a:pPr algn="ctr" indent="0" marL="0">
              <a:lnSpc>
                <a:spcPct val="115000"/>
              </a:lnSpc>
              <a:buNone/>
            </a:pPr>
            <a:r>
              <a:rPr lang="en-US" sz="1700" b="1" dirty="0">
                <a:solidFill>
                  <a:srgbClr val="595959"/>
                </a:solidFill>
                <a:latin typeface="メイリオ" pitchFamily="34" charset="0"/>
                <a:ea typeface="メイリオ" pitchFamily="34" charset="-122"/>
                <a:cs typeface="メイリオ" pitchFamily="34" charset="-120"/>
              </a:rPr>
              <a:t>異学年交流の</a:t>
            </a:r>
            <a:endParaRPr lang="en-US" sz="1700" dirty="0"/>
          </a:p>
          <a:p>
            <a:pPr algn="ctr" indent="0" marL="0">
              <a:lnSpc>
                <a:spcPct val="115000"/>
              </a:lnSpc>
              <a:buNone/>
            </a:pPr>
            <a:r>
              <a:rPr lang="en-US" sz="1700" b="1" dirty="0">
                <a:solidFill>
                  <a:srgbClr val="595959"/>
                </a:solidFill>
                <a:latin typeface="メイリオ" pitchFamily="34" charset="0"/>
                <a:ea typeface="メイリオ" pitchFamily="34" charset="-122"/>
                <a:cs typeface="メイリオ" pitchFamily="34" charset="-120"/>
              </a:rPr>
              <a:t>活性化</a:t>
            </a:r>
            <a:endParaRPr lang="en-US" sz="1700" dirty="0"/>
          </a:p>
        </p:txBody>
      </p:sp>
      <p:sp>
        <p:nvSpPr>
          <p:cNvPr id="8" name="Shape 6"/>
          <p:cNvSpPr/>
          <p:nvPr/>
        </p:nvSpPr>
        <p:spPr>
          <a:xfrm>
            <a:off x="5961888" y="1993392"/>
            <a:ext cx="2468880" cy="1051560"/>
          </a:xfrm>
          <a:prstGeom prst="roundRect">
            <a:avLst>
              <a:gd name="adj" fmla="val 6087"/>
            </a:avLst>
          </a:prstGeom>
          <a:solidFill>
            <a:srgbClr val="E9F7F3"/>
          </a:solidFill>
          <a:ln w="12700">
            <a:solidFill>
              <a:srgbClr val="B9E5DA"/>
            </a:solidFill>
            <a:prstDash val="solid"/>
          </a:ln>
        </p:spPr>
      </p:sp>
      <p:sp>
        <p:nvSpPr>
          <p:cNvPr id="9" name="Text 7"/>
          <p:cNvSpPr txBox="1"/>
          <p:nvPr/>
        </p:nvSpPr>
        <p:spPr>
          <a:xfrm>
            <a:off x="5961888" y="1993392"/>
            <a:ext cx="2468880" cy="1051560"/>
          </a:xfrm>
          <a:prstGeom prst="rect">
            <a:avLst/>
          </a:prstGeom>
          <a:noFill/>
          <a:ln/>
        </p:spPr>
        <p:txBody>
          <a:bodyPr wrap="square" lIns="0" tIns="0" rIns="0" bIns="0" rtlCol="0" anchor="ctr"/>
          <a:lstStyle/>
          <a:p>
            <a:pPr algn="ctr" indent="0" marL="0">
              <a:lnSpc>
                <a:spcPct val="115000"/>
              </a:lnSpc>
              <a:buNone/>
            </a:pPr>
            <a:r>
              <a:rPr lang="en-US" sz="1700" b="1" dirty="0">
                <a:solidFill>
                  <a:srgbClr val="595959"/>
                </a:solidFill>
                <a:latin typeface="メイリオ" pitchFamily="34" charset="0"/>
                <a:ea typeface="メイリオ" pitchFamily="34" charset="-122"/>
                <a:cs typeface="メイリオ" pitchFamily="34" charset="-120"/>
              </a:rPr>
              <a:t>小中学校間の</a:t>
            </a:r>
            <a:endParaRPr lang="en-US" sz="1700" dirty="0"/>
          </a:p>
          <a:p>
            <a:pPr algn="ctr" indent="0" marL="0">
              <a:lnSpc>
                <a:spcPct val="115000"/>
              </a:lnSpc>
              <a:buNone/>
            </a:pPr>
            <a:r>
              <a:rPr lang="en-US" sz="1700" b="1" dirty="0">
                <a:solidFill>
                  <a:srgbClr val="595959"/>
                </a:solidFill>
                <a:latin typeface="メイリオ" pitchFamily="34" charset="0"/>
                <a:ea typeface="メイリオ" pitchFamily="34" charset="-122"/>
                <a:cs typeface="メイリオ" pitchFamily="34" charset="-120"/>
              </a:rPr>
              <a:t>指導の統一化</a:t>
            </a:r>
            <a:endParaRPr lang="en-US" sz="1700" dirty="0"/>
          </a:p>
        </p:txBody>
      </p:sp>
      <p:sp>
        <p:nvSpPr>
          <p:cNvPr id="10" name="Text 8"/>
          <p:cNvSpPr txBox="1"/>
          <p:nvPr/>
        </p:nvSpPr>
        <p:spPr>
          <a:xfrm>
            <a:off x="475488" y="3273552"/>
            <a:ext cx="8193024" cy="1371600"/>
          </a:xfrm>
          <a:prstGeom prst="rect">
            <a:avLst/>
          </a:prstGeom>
          <a:noFill/>
          <a:ln/>
        </p:spPr>
        <p:txBody>
          <a:bodyPr wrap="square" lIns="0" tIns="0" rIns="0" bIns="0" rtlCol="0" anchor="t"/>
          <a:lstStyle/>
          <a:p>
            <a:pPr algn="l" indent="0" marL="0">
              <a:lnSpc>
                <a:spcPct val="120000"/>
              </a:lnSpc>
              <a:buNone/>
            </a:pPr>
            <a:r>
              <a:rPr lang="en-US" sz="1700" b="1" dirty="0">
                <a:solidFill>
                  <a:srgbClr val="595959"/>
                </a:solidFill>
                <a:latin typeface="メイリオ" pitchFamily="34" charset="0"/>
                <a:ea typeface="メイリオ" pitchFamily="34" charset="-122"/>
                <a:cs typeface="メイリオ" pitchFamily="34" charset="-120"/>
              </a:rPr>
              <a:t>みらい青空学園は、区内２校目の施設一体型として</a:t>
            </a:r>
            <a:endParaRPr lang="en-US" sz="1700" dirty="0"/>
          </a:p>
          <a:p>
            <a:pPr algn="l" indent="0" marL="0">
              <a:lnSpc>
                <a:spcPct val="120000"/>
              </a:lnSpc>
              <a:buNone/>
            </a:pPr>
            <a:r>
              <a:rPr lang="en-US" sz="1700" b="1" dirty="0">
                <a:solidFill>
                  <a:srgbClr val="595959"/>
                </a:solidFill>
                <a:latin typeface="メイリオ" pitchFamily="34" charset="0"/>
                <a:ea typeface="メイリオ" pitchFamily="34" charset="-122"/>
                <a:cs typeface="メイリオ" pitchFamily="34" charset="-120"/>
              </a:rPr>
              <a:t>令和８年４月に開校した</a:t>
            </a:r>
            <a:pPr algn="l" indent="0" marL="0">
              <a:lnSpc>
                <a:spcPct val="120000"/>
              </a:lnSpc>
              <a:buNone/>
            </a:pPr>
            <a:r>
              <a:rPr lang="en-US" sz="1700" b="1" dirty="0">
                <a:solidFill>
                  <a:srgbClr val="EE7B08"/>
                </a:solidFill>
                <a:latin typeface="メイリオ" pitchFamily="34" charset="0"/>
                <a:ea typeface="メイリオ" pitchFamily="34" charset="-122"/>
                <a:cs typeface="メイリオ" pitchFamily="34" charset="-120"/>
              </a:rPr>
              <a:t>開校１年目</a:t>
            </a:r>
            <a:pPr algn="l" indent="0" marL="0">
              <a:lnSpc>
                <a:spcPct val="120000"/>
              </a:lnSpc>
              <a:buNone/>
            </a:pPr>
            <a:r>
              <a:rPr lang="en-US" sz="1700" b="1" dirty="0">
                <a:solidFill>
                  <a:srgbClr val="595959"/>
                </a:solidFill>
                <a:latin typeface="メイリオ" pitchFamily="34" charset="0"/>
                <a:ea typeface="メイリオ" pitchFamily="34" charset="-122"/>
                <a:cs typeface="メイリオ" pitchFamily="34" charset="-120"/>
              </a:rPr>
              <a:t>の学校である。</a:t>
            </a:r>
            <a:endParaRPr lang="en-US" sz="1700" dirty="0"/>
          </a:p>
          <a:p>
            <a:pPr algn="l" indent="0" marL="0">
              <a:lnSpc>
                <a:spcPct val="120000"/>
              </a:lnSpc>
              <a:buNone/>
            </a:pPr>
            <a:r>
              <a:rPr lang="en-US" sz="1700" b="1" dirty="0">
                <a:solidFill>
                  <a:srgbClr val="595959"/>
                </a:solidFill>
                <a:latin typeface="メイリオ" pitchFamily="34" charset="0"/>
                <a:ea typeface="メイリオ" pitchFamily="34" charset="-122"/>
                <a:cs typeface="メイリオ" pitchFamily="34" charset="-120"/>
              </a:rPr>
              <a:t>１年生から９年生までが同じ学び舎で学ぶ強みを生かし、</a:t>
            </a:r>
            <a:endParaRPr lang="en-US" sz="1700" dirty="0"/>
          </a:p>
          <a:p>
            <a:pPr algn="l" indent="0" marL="0">
              <a:lnSpc>
                <a:spcPct val="120000"/>
              </a:lnSpc>
              <a:buNone/>
            </a:pPr>
            <a:r>
              <a:rPr lang="en-US" sz="1700" b="1" dirty="0">
                <a:solidFill>
                  <a:srgbClr val="EE7B08"/>
                </a:solidFill>
                <a:latin typeface="メイリオ" pitchFamily="34" charset="0"/>
                <a:ea typeface="メイリオ" pitchFamily="34" charset="-122"/>
                <a:cs typeface="メイリオ" pitchFamily="34" charset="-120"/>
              </a:rPr>
              <a:t>「目指す１５歳の姿」</a:t>
            </a:r>
            <a:pPr algn="l" indent="0" marL="0">
              <a:lnSpc>
                <a:spcPct val="120000"/>
              </a:lnSpc>
              <a:buNone/>
            </a:pPr>
            <a:r>
              <a:rPr lang="en-US" sz="1700" b="1" dirty="0">
                <a:solidFill>
                  <a:srgbClr val="595959"/>
                </a:solidFill>
                <a:latin typeface="メイリオ" pitchFamily="34" charset="0"/>
                <a:ea typeface="メイリオ" pitchFamily="34" charset="-122"/>
                <a:cs typeface="メイリオ" pitchFamily="34" charset="-120"/>
              </a:rPr>
              <a:t>を９年間で描いていくことに期待している。</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0" y="-9144"/>
            <a:ext cx="9144000" cy="1161288"/>
          </a:xfrm>
          <a:prstGeom prst="rect">
            <a:avLst/>
          </a:prstGeom>
          <a:solidFill>
            <a:srgbClr val="44C1A3"/>
          </a:solidFill>
          <a:ln/>
        </p:spPr>
        <p:txBody>
          <a:bodyPr wrap="square" lIns="0" tIns="0" rIns="0" bIns="0" rtlCol="0" anchor="ctr"/>
          <a:lstStyle/>
          <a:p>
            <a:pPr algn="l" indent="0" marL="0">
              <a:lnSpc>
                <a:spcPct val="120000"/>
              </a:lnSpc>
              <a:buNone/>
            </a:pPr>
            <a:r>
              <a:rPr lang="en-US" sz="3000" b="1" dirty="0">
                <a:solidFill>
                  <a:srgbClr val="FFFFFF"/>
                </a:solidFill>
                <a:latin typeface="メイリオ" pitchFamily="34" charset="0"/>
                <a:ea typeface="メイリオ" pitchFamily="34" charset="-122"/>
                <a:cs typeface="メイリオ" pitchFamily="34" charset="-120"/>
              </a:rPr>
              <a:t>　指導・講評</a:t>
            </a:r>
            <a:endParaRPr lang="en-US" sz="3000" dirty="0"/>
          </a:p>
          <a:p>
            <a:pPr algn="l" indent="0" marL="0">
              <a:lnSpc>
                <a:spcPct val="120000"/>
              </a:lnSpc>
              <a:buNone/>
            </a:pPr>
            <a:r>
              <a:rPr lang="en-US" sz="2800" b="1" dirty="0">
                <a:solidFill>
                  <a:srgbClr val="FFFFFF"/>
                </a:solidFill>
                <a:latin typeface="メイリオ" pitchFamily="34" charset="0"/>
                <a:ea typeface="メイリオ" pitchFamily="34" charset="-122"/>
                <a:cs typeface="メイリオ" pitchFamily="34" charset="-120"/>
              </a:rPr>
              <a:t>　学力調査結果から見える強み</a:t>
            </a:r>
            <a:endParaRPr lang="en-US" sz="3000" dirty="0"/>
          </a:p>
        </p:txBody>
      </p:sp>
      <p:sp>
        <p:nvSpPr>
          <p:cNvPr id="3" name="Text 1"/>
          <p:cNvSpPr txBox="1"/>
          <p:nvPr/>
        </p:nvSpPr>
        <p:spPr>
          <a:xfrm>
            <a:off x="475488" y="1444752"/>
            <a:ext cx="4206240" cy="731520"/>
          </a:xfrm>
          <a:prstGeom prst="rect">
            <a:avLst/>
          </a:prstGeom>
          <a:noFill/>
          <a:ln/>
        </p:spPr>
        <p:txBody>
          <a:bodyPr wrap="square" lIns="0" tIns="0" rIns="0" bIns="0" rtlCol="0" anchor="t"/>
          <a:lstStyle/>
          <a:p>
            <a:pPr algn="l" indent="0" marL="0">
              <a:lnSpc>
                <a:spcPct val="120000"/>
              </a:lnSpc>
              <a:buNone/>
            </a:pPr>
            <a:r>
              <a:rPr lang="en-US" sz="1800" b="1" dirty="0">
                <a:solidFill>
                  <a:srgbClr val="595959"/>
                </a:solidFill>
                <a:latin typeface="メイリオ" pitchFamily="34" charset="0"/>
                <a:ea typeface="メイリオ" pitchFamily="34" charset="-122"/>
                <a:cs typeface="メイリオ" pitchFamily="34" charset="-120"/>
              </a:rPr>
              <a:t>本校では、次の３点が</a:t>
            </a:r>
            <a:endParaRPr lang="en-US" sz="1800" dirty="0"/>
          </a:p>
          <a:p>
            <a:pPr algn="l" indent="0" marL="0">
              <a:lnSpc>
                <a:spcPct val="120000"/>
              </a:lnSpc>
              <a:buNone/>
            </a:pPr>
            <a:r>
              <a:rPr lang="en-US" sz="1800" b="1" dirty="0">
                <a:solidFill>
                  <a:srgbClr val="595959"/>
                </a:solidFill>
                <a:latin typeface="メイリオ" pitchFamily="34" charset="0"/>
                <a:ea typeface="メイリオ" pitchFamily="34" charset="-122"/>
                <a:cs typeface="メイリオ" pitchFamily="34" charset="-120"/>
              </a:rPr>
              <a:t>着実に育っている。</a:t>
            </a:r>
            <a:endParaRPr lang="en-US" sz="1800" dirty="0"/>
          </a:p>
        </p:txBody>
      </p:sp>
      <p:sp>
        <p:nvSpPr>
          <p:cNvPr id="4" name="Shape 2"/>
          <p:cNvSpPr/>
          <p:nvPr/>
        </p:nvSpPr>
        <p:spPr>
          <a:xfrm>
            <a:off x="475488" y="2304288"/>
            <a:ext cx="4023360" cy="621792"/>
          </a:xfrm>
          <a:prstGeom prst="roundRect">
            <a:avLst>
              <a:gd name="adj" fmla="val 10294"/>
            </a:avLst>
          </a:prstGeom>
          <a:solidFill>
            <a:srgbClr val="E9F7F3"/>
          </a:solidFill>
          <a:ln w="12700">
            <a:solidFill>
              <a:srgbClr val="B9E5DA"/>
            </a:solidFill>
            <a:prstDash val="solid"/>
          </a:ln>
        </p:spPr>
      </p:sp>
      <p:sp>
        <p:nvSpPr>
          <p:cNvPr id="5" name="Text 3"/>
          <p:cNvSpPr txBox="1"/>
          <p:nvPr/>
        </p:nvSpPr>
        <p:spPr>
          <a:xfrm>
            <a:off x="475488" y="2304288"/>
            <a:ext cx="4023360" cy="621792"/>
          </a:xfrm>
          <a:prstGeom prst="rect">
            <a:avLst/>
          </a:prstGeom>
          <a:noFill/>
          <a:ln/>
        </p:spPr>
        <p:txBody>
          <a:bodyPr wrap="square" lIns="0" tIns="0" rIns="0" bIns="0" rtlCol="0" anchor="ctr"/>
          <a:lstStyle/>
          <a:p>
            <a:pPr algn="ctr" indent="0" marL="0">
              <a:lnSpc>
                <a:spcPct val="115000"/>
              </a:lnSpc>
              <a:buNone/>
            </a:pPr>
            <a:r>
              <a:rPr lang="en-US" sz="2100" b="1" dirty="0">
                <a:solidFill>
                  <a:srgbClr val="595959"/>
                </a:solidFill>
                <a:latin typeface="メイリオ" pitchFamily="34" charset="0"/>
                <a:ea typeface="メイリオ" pitchFamily="34" charset="-122"/>
                <a:cs typeface="メイリオ" pitchFamily="34" charset="-120"/>
              </a:rPr>
              <a:t>学習規律</a:t>
            </a:r>
            <a:endParaRPr lang="en-US" sz="2100" dirty="0"/>
          </a:p>
        </p:txBody>
      </p:sp>
      <p:sp>
        <p:nvSpPr>
          <p:cNvPr id="6" name="Shape 4"/>
          <p:cNvSpPr/>
          <p:nvPr/>
        </p:nvSpPr>
        <p:spPr>
          <a:xfrm>
            <a:off x="475488" y="3072384"/>
            <a:ext cx="4023360" cy="621792"/>
          </a:xfrm>
          <a:prstGeom prst="roundRect">
            <a:avLst>
              <a:gd name="adj" fmla="val 10294"/>
            </a:avLst>
          </a:prstGeom>
          <a:solidFill>
            <a:srgbClr val="E9F7F3"/>
          </a:solidFill>
          <a:ln w="12700">
            <a:solidFill>
              <a:srgbClr val="B9E5DA"/>
            </a:solidFill>
            <a:prstDash val="solid"/>
          </a:ln>
        </p:spPr>
      </p:sp>
      <p:sp>
        <p:nvSpPr>
          <p:cNvPr id="7" name="Text 5"/>
          <p:cNvSpPr txBox="1"/>
          <p:nvPr/>
        </p:nvSpPr>
        <p:spPr>
          <a:xfrm>
            <a:off x="475488" y="3072384"/>
            <a:ext cx="4023360" cy="621792"/>
          </a:xfrm>
          <a:prstGeom prst="rect">
            <a:avLst/>
          </a:prstGeom>
          <a:noFill/>
          <a:ln/>
        </p:spPr>
        <p:txBody>
          <a:bodyPr wrap="square" lIns="0" tIns="0" rIns="0" bIns="0" rtlCol="0" anchor="ctr"/>
          <a:lstStyle/>
          <a:p>
            <a:pPr algn="ctr" indent="0" marL="0">
              <a:lnSpc>
                <a:spcPct val="115000"/>
              </a:lnSpc>
              <a:buNone/>
            </a:pPr>
            <a:r>
              <a:rPr lang="en-US" sz="2100" b="1" dirty="0">
                <a:solidFill>
                  <a:srgbClr val="595959"/>
                </a:solidFill>
                <a:latin typeface="メイリオ" pitchFamily="34" charset="0"/>
                <a:ea typeface="メイリオ" pitchFamily="34" charset="-122"/>
                <a:cs typeface="メイリオ" pitchFamily="34" charset="-120"/>
              </a:rPr>
              <a:t>学習習慣</a:t>
            </a:r>
            <a:endParaRPr lang="en-US" sz="2100" dirty="0"/>
          </a:p>
        </p:txBody>
      </p:sp>
      <p:sp>
        <p:nvSpPr>
          <p:cNvPr id="8" name="Shape 6"/>
          <p:cNvSpPr/>
          <p:nvPr/>
        </p:nvSpPr>
        <p:spPr>
          <a:xfrm>
            <a:off x="475488" y="3840480"/>
            <a:ext cx="4023360" cy="621792"/>
          </a:xfrm>
          <a:prstGeom prst="roundRect">
            <a:avLst>
              <a:gd name="adj" fmla="val 10294"/>
            </a:avLst>
          </a:prstGeom>
          <a:solidFill>
            <a:srgbClr val="E9F7F3"/>
          </a:solidFill>
          <a:ln w="12700">
            <a:solidFill>
              <a:srgbClr val="B9E5DA"/>
            </a:solidFill>
            <a:prstDash val="solid"/>
          </a:ln>
        </p:spPr>
      </p:sp>
      <p:sp>
        <p:nvSpPr>
          <p:cNvPr id="9" name="Text 7"/>
          <p:cNvSpPr txBox="1"/>
          <p:nvPr/>
        </p:nvSpPr>
        <p:spPr>
          <a:xfrm>
            <a:off x="475488" y="3840480"/>
            <a:ext cx="4023360" cy="621792"/>
          </a:xfrm>
          <a:prstGeom prst="rect">
            <a:avLst/>
          </a:prstGeom>
          <a:noFill/>
          <a:ln/>
        </p:spPr>
        <p:txBody>
          <a:bodyPr wrap="square" lIns="0" tIns="0" rIns="0" bIns="0" rtlCol="0" anchor="ctr"/>
          <a:lstStyle/>
          <a:p>
            <a:pPr algn="ctr" indent="0" marL="0">
              <a:lnSpc>
                <a:spcPct val="115000"/>
              </a:lnSpc>
              <a:buNone/>
            </a:pPr>
            <a:r>
              <a:rPr lang="en-US" sz="2100" b="1" dirty="0">
                <a:solidFill>
                  <a:srgbClr val="595959"/>
                </a:solidFill>
                <a:latin typeface="メイリオ" pitchFamily="34" charset="0"/>
                <a:ea typeface="メイリオ" pitchFamily="34" charset="-122"/>
                <a:cs typeface="メイリオ" pitchFamily="34" charset="-120"/>
              </a:rPr>
              <a:t>学びへの主体性</a:t>
            </a:r>
            <a:endParaRPr lang="en-US" sz="2100" dirty="0"/>
          </a:p>
        </p:txBody>
      </p:sp>
      <p:sp>
        <p:nvSpPr>
          <p:cNvPr id="10" name="Shape 8"/>
          <p:cNvSpPr/>
          <p:nvPr/>
        </p:nvSpPr>
        <p:spPr>
          <a:xfrm>
            <a:off x="5074920" y="1444752"/>
            <a:ext cx="3593592" cy="3017520"/>
          </a:xfrm>
          <a:prstGeom prst="rect">
            <a:avLst/>
          </a:prstGeom>
          <a:solidFill>
            <a:srgbClr val="FBFEFD"/>
          </a:solidFill>
          <a:ln w="19050">
            <a:solidFill>
              <a:srgbClr val="44C1A3"/>
            </a:solidFill>
            <a:prstDash val="dash"/>
          </a:ln>
        </p:spPr>
      </p:sp>
      <p:sp>
        <p:nvSpPr>
          <p:cNvPr id="11" name="Text 9"/>
          <p:cNvSpPr txBox="1"/>
          <p:nvPr/>
        </p:nvSpPr>
        <p:spPr>
          <a:xfrm>
            <a:off x="5212080" y="1581912"/>
            <a:ext cx="3319272" cy="2743200"/>
          </a:xfrm>
          <a:prstGeom prst="rect">
            <a:avLst/>
          </a:prstGeom>
          <a:noFill/>
          <a:ln/>
        </p:spPr>
        <p:txBody>
          <a:bodyPr wrap="square" lIns="0" tIns="0" rIns="0" bIns="0" rtlCol="0" anchor="ctr"/>
          <a:lstStyle/>
          <a:p>
            <a:pPr algn="ctr" indent="0" marL="0">
              <a:lnSpc>
                <a:spcPct val="125000"/>
              </a:lnSpc>
              <a:buNone/>
            </a:pPr>
            <a:r>
              <a:rPr lang="en-US" sz="1600" b="1" dirty="0">
                <a:solidFill>
                  <a:srgbClr val="44C1A3"/>
                </a:solidFill>
                <a:latin typeface="メイリオ" pitchFamily="34" charset="0"/>
                <a:ea typeface="メイリオ" pitchFamily="34" charset="-122"/>
                <a:cs typeface="メイリオ" pitchFamily="34" charset="-120"/>
              </a:rPr>
              <a:t>学力調査・意識調査グラフ</a:t>
            </a:r>
            <a:endParaRPr lang="en-US" sz="1600" dirty="0"/>
          </a:p>
          <a:p>
            <a:pPr algn="ctr" indent="0" marL="0">
              <a:lnSpc>
                <a:spcPct val="125000"/>
              </a:lnSpc>
              <a:buNone/>
            </a:pPr>
            <a:r>
              <a:rPr lang="en-US" sz="1600" b="1" dirty="0">
                <a:solidFill>
                  <a:srgbClr val="44C1A3"/>
                </a:solidFill>
                <a:latin typeface="メイリオ" pitchFamily="34" charset="0"/>
                <a:ea typeface="メイリオ" pitchFamily="34" charset="-122"/>
                <a:cs typeface="メイリオ" pitchFamily="34" charset="-120"/>
              </a:rPr>
              <a:t>（貼付欄）</a:t>
            </a:r>
            <a:endParaRPr lang="en-US" sz="1600" dirty="0"/>
          </a:p>
          <a:p>
            <a:pPr algn="ctr" indent="0" marL="0">
              <a:lnSpc>
                <a:spcPct val="125000"/>
              </a:lnSpc>
              <a:buNone/>
            </a:pPr>
            <a:r>
              <a:rPr lang="en-US" sz="1000" b="1" dirty="0">
                <a:solidFill>
                  <a:srgbClr val="000000"/>
                </a:solidFill>
                <a:latin typeface="メイリオ" pitchFamily="34" charset="0"/>
                <a:ea typeface="メイリオ" pitchFamily="34" charset="-122"/>
                <a:cs typeface="メイリオ" pitchFamily="34" charset="-120"/>
              </a:rPr>
              <a:t> </a:t>
            </a:r>
            <a:endParaRPr lang="en-US" sz="1600" dirty="0"/>
          </a:p>
          <a:p>
            <a:pPr algn="ctr" indent="0" marL="0">
              <a:lnSpc>
                <a:spcPct val="125000"/>
              </a:lnSpc>
              <a:buNone/>
            </a:pPr>
            <a:r>
              <a:rPr lang="en-US" sz="1200" b="1" dirty="0">
                <a:solidFill>
                  <a:srgbClr val="808080"/>
                </a:solidFill>
                <a:latin typeface="メイリオ" pitchFamily="34" charset="0"/>
                <a:ea typeface="メイリオ" pitchFamily="34" charset="-122"/>
                <a:cs typeface="メイリオ" pitchFamily="34" charset="-120"/>
              </a:rPr>
              <a:t>全国学力・学習状況調査</a:t>
            </a:r>
            <a:endParaRPr lang="en-US" sz="1600" dirty="0"/>
          </a:p>
          <a:p>
            <a:pPr algn="ctr" indent="0" marL="0">
              <a:lnSpc>
                <a:spcPct val="125000"/>
              </a:lnSpc>
              <a:buNone/>
            </a:pPr>
            <a:r>
              <a:rPr lang="en-US" sz="1200" b="1" dirty="0">
                <a:solidFill>
                  <a:srgbClr val="808080"/>
                </a:solidFill>
                <a:latin typeface="メイリオ" pitchFamily="34" charset="0"/>
                <a:ea typeface="メイリオ" pitchFamily="34" charset="-122"/>
                <a:cs typeface="メイリオ" pitchFamily="34" charset="-120"/>
              </a:rPr>
              <a:t>児童・生徒質問紙調査　ほか</a:t>
            </a:r>
            <a:endParaRPr lang="en-US" sz="1600" dirty="0"/>
          </a:p>
        </p:txBody>
      </p:sp>
      <p:sp>
        <p:nvSpPr>
          <p:cNvPr id="12" name="Text 10"/>
          <p:cNvSpPr txBox="1"/>
          <p:nvPr/>
        </p:nvSpPr>
        <p:spPr>
          <a:xfrm>
            <a:off x="5074920" y="4526280"/>
            <a:ext cx="3593592" cy="274320"/>
          </a:xfrm>
          <a:prstGeom prst="rect">
            <a:avLst/>
          </a:prstGeom>
          <a:noFill/>
          <a:ln/>
        </p:spPr>
        <p:txBody>
          <a:bodyPr wrap="square" lIns="0" tIns="0" rIns="0" bIns="0" rtlCol="0" anchor="ctr"/>
          <a:lstStyle/>
          <a:p>
            <a:pPr algn="ctr" indent="0" marL="0">
              <a:buNone/>
            </a:pPr>
            <a:r>
              <a:rPr lang="en-US" sz="1000" b="1" dirty="0">
                <a:solidFill>
                  <a:srgbClr val="808080"/>
                </a:solidFill>
                <a:latin typeface="メイリオ" pitchFamily="34" charset="0"/>
                <a:ea typeface="メイリオ" pitchFamily="34" charset="-122"/>
                <a:cs typeface="メイリオ" pitchFamily="34" charset="-120"/>
              </a:rPr>
              <a:t>※ 本校の調査結果グラフを貼り付けてご使用ください。</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0" y="-9144"/>
            <a:ext cx="9144000" cy="1161288"/>
          </a:xfrm>
          <a:prstGeom prst="rect">
            <a:avLst/>
          </a:prstGeom>
          <a:solidFill>
            <a:srgbClr val="44C1A3"/>
          </a:solidFill>
          <a:ln/>
        </p:spPr>
        <p:txBody>
          <a:bodyPr wrap="square" lIns="0" tIns="0" rIns="0" bIns="0" rtlCol="0" anchor="ctr"/>
          <a:lstStyle/>
          <a:p>
            <a:pPr algn="l" indent="0" marL="0">
              <a:lnSpc>
                <a:spcPct val="120000"/>
              </a:lnSpc>
              <a:buNone/>
            </a:pPr>
            <a:r>
              <a:rPr lang="en-US" sz="3000" b="1" dirty="0">
                <a:solidFill>
                  <a:srgbClr val="FFFFFF"/>
                </a:solidFill>
                <a:latin typeface="メイリオ" pitchFamily="34" charset="0"/>
                <a:ea typeface="メイリオ" pitchFamily="34" charset="-122"/>
                <a:cs typeface="メイリオ" pitchFamily="34" charset="-120"/>
              </a:rPr>
              <a:t>　指導・講評</a:t>
            </a:r>
            <a:endParaRPr lang="en-US" sz="3000" dirty="0"/>
          </a:p>
          <a:p>
            <a:pPr algn="l" indent="0" marL="0">
              <a:lnSpc>
                <a:spcPct val="120000"/>
              </a:lnSpc>
              <a:buNone/>
            </a:pPr>
            <a:r>
              <a:rPr lang="en-US" sz="2800" b="1" dirty="0">
                <a:solidFill>
                  <a:srgbClr val="FFFFFF"/>
                </a:solidFill>
                <a:latin typeface="メイリオ" pitchFamily="34" charset="0"/>
                <a:ea typeface="メイリオ" pitchFamily="34" charset="-122"/>
                <a:cs typeface="メイリオ" pitchFamily="34" charset="-120"/>
              </a:rPr>
              <a:t>　学力調査結果から見える強み</a:t>
            </a:r>
            <a:endParaRPr lang="en-US" sz="3000" dirty="0"/>
          </a:p>
        </p:txBody>
      </p:sp>
      <p:sp>
        <p:nvSpPr>
          <p:cNvPr id="3" name="Text 1"/>
          <p:cNvSpPr txBox="1"/>
          <p:nvPr/>
        </p:nvSpPr>
        <p:spPr>
          <a:xfrm>
            <a:off x="475488" y="1417320"/>
            <a:ext cx="8193024" cy="868680"/>
          </a:xfrm>
          <a:prstGeom prst="rect">
            <a:avLst/>
          </a:prstGeom>
          <a:noFill/>
          <a:ln/>
        </p:spPr>
        <p:txBody>
          <a:bodyPr wrap="square" lIns="0" tIns="0" rIns="0" bIns="0" rtlCol="0" anchor="t"/>
          <a:lstStyle/>
          <a:p>
            <a:pPr algn="l" indent="0" marL="0">
              <a:lnSpc>
                <a:spcPct val="120000"/>
              </a:lnSpc>
              <a:buNone/>
            </a:pPr>
            <a:r>
              <a:rPr lang="en-US" sz="2000" b="1" dirty="0">
                <a:solidFill>
                  <a:srgbClr val="595959"/>
                </a:solidFill>
                <a:latin typeface="メイリオ" pitchFamily="34" charset="0"/>
                <a:ea typeface="メイリオ" pitchFamily="34" charset="-122"/>
                <a:cs typeface="メイリオ" pitchFamily="34" charset="-120"/>
              </a:rPr>
              <a:t>学力調査結果は「結果」である。</a:t>
            </a:r>
            <a:endParaRPr lang="en-US" sz="2000" dirty="0"/>
          </a:p>
          <a:p>
            <a:pPr algn="l" indent="0" marL="0">
              <a:lnSpc>
                <a:spcPct val="120000"/>
              </a:lnSpc>
              <a:buNone/>
            </a:pPr>
            <a:r>
              <a:rPr lang="en-US" sz="2000" b="1" dirty="0">
                <a:solidFill>
                  <a:srgbClr val="595959"/>
                </a:solidFill>
                <a:latin typeface="メイリオ" pitchFamily="34" charset="0"/>
                <a:ea typeface="メイリオ" pitchFamily="34" charset="-122"/>
                <a:cs typeface="メイリオ" pitchFamily="34" charset="-120"/>
              </a:rPr>
              <a:t>では、</a:t>
            </a:r>
            <a:pPr algn="l" indent="0" marL="0">
              <a:lnSpc>
                <a:spcPct val="120000"/>
              </a:lnSpc>
              <a:buNone/>
            </a:pPr>
            <a:r>
              <a:rPr lang="en-US" sz="2000" b="1" dirty="0">
                <a:solidFill>
                  <a:srgbClr val="EE7B08"/>
                </a:solidFill>
                <a:latin typeface="メイリオ" pitchFamily="34" charset="0"/>
                <a:ea typeface="メイリオ" pitchFamily="34" charset="-122"/>
                <a:cs typeface="メイリオ" pitchFamily="34" charset="-120"/>
              </a:rPr>
              <a:t>その結果を生み出した要因は何か</a:t>
            </a:r>
            <a:pPr algn="l" indent="0" marL="0">
              <a:lnSpc>
                <a:spcPct val="120000"/>
              </a:lnSpc>
              <a:buNone/>
            </a:pPr>
            <a:r>
              <a:rPr lang="en-US" sz="2000" b="1" dirty="0">
                <a:solidFill>
                  <a:srgbClr val="595959"/>
                </a:solidFill>
                <a:latin typeface="メイリオ" pitchFamily="34" charset="0"/>
                <a:ea typeface="メイリオ" pitchFamily="34" charset="-122"/>
                <a:cs typeface="メイリオ" pitchFamily="34" charset="-120"/>
              </a:rPr>
              <a:t>。</a:t>
            </a:r>
            <a:endParaRPr lang="en-US" sz="2000" dirty="0"/>
          </a:p>
        </p:txBody>
      </p:sp>
      <p:sp>
        <p:nvSpPr>
          <p:cNvPr id="4" name="Text 2"/>
          <p:cNvSpPr txBox="1"/>
          <p:nvPr/>
        </p:nvSpPr>
        <p:spPr>
          <a:xfrm>
            <a:off x="475488" y="2286000"/>
            <a:ext cx="8193024" cy="347472"/>
          </a:xfrm>
          <a:prstGeom prst="rect">
            <a:avLst/>
          </a:prstGeom>
          <a:noFill/>
          <a:ln/>
        </p:spPr>
        <p:txBody>
          <a:bodyPr wrap="square" lIns="0" tIns="0" rIns="0" bIns="0" rtlCol="0" anchor="ctr"/>
          <a:lstStyle/>
          <a:p>
            <a:pPr algn="l" indent="0" marL="0">
              <a:buNone/>
            </a:pPr>
            <a:r>
              <a:rPr lang="en-US" sz="1500" b="1" dirty="0">
                <a:solidFill>
                  <a:srgbClr val="808080"/>
                </a:solidFill>
                <a:latin typeface="メイリオ" pitchFamily="34" charset="0"/>
                <a:ea typeface="メイリオ" pitchFamily="34" charset="-122"/>
                <a:cs typeface="メイリオ" pitchFamily="34" charset="-120"/>
              </a:rPr>
              <a:t>本日の授業から、次の３つが見えてきた。</a:t>
            </a:r>
            <a:endParaRPr lang="en-US" sz="1500" dirty="0"/>
          </a:p>
        </p:txBody>
      </p:sp>
      <p:sp>
        <p:nvSpPr>
          <p:cNvPr id="5" name="Shape 3"/>
          <p:cNvSpPr/>
          <p:nvPr/>
        </p:nvSpPr>
        <p:spPr>
          <a:xfrm>
            <a:off x="475488" y="2724912"/>
            <a:ext cx="2468880" cy="1417320"/>
          </a:xfrm>
          <a:prstGeom prst="roundRect">
            <a:avLst>
              <a:gd name="adj" fmla="val 3871"/>
            </a:avLst>
          </a:prstGeom>
          <a:solidFill>
            <a:srgbClr val="E9F7F3"/>
          </a:solidFill>
          <a:ln w="12700">
            <a:solidFill>
              <a:srgbClr val="B9E5DA"/>
            </a:solidFill>
            <a:prstDash val="solid"/>
          </a:ln>
        </p:spPr>
      </p:sp>
      <p:sp>
        <p:nvSpPr>
          <p:cNvPr id="6" name="Shape 4"/>
          <p:cNvSpPr/>
          <p:nvPr/>
        </p:nvSpPr>
        <p:spPr>
          <a:xfrm>
            <a:off x="1481328" y="2889504"/>
            <a:ext cx="457200" cy="457200"/>
          </a:xfrm>
          <a:prstGeom prst="ellipse">
            <a:avLst/>
          </a:prstGeom>
          <a:solidFill>
            <a:srgbClr val="44C1A3"/>
          </a:solidFill>
          <a:ln/>
        </p:spPr>
      </p:sp>
      <p:sp>
        <p:nvSpPr>
          <p:cNvPr id="7" name="Text 5"/>
          <p:cNvSpPr txBox="1"/>
          <p:nvPr/>
        </p:nvSpPr>
        <p:spPr>
          <a:xfrm>
            <a:off x="1481328" y="2889504"/>
            <a:ext cx="457200" cy="457200"/>
          </a:xfrm>
          <a:prstGeom prst="rect">
            <a:avLst/>
          </a:prstGeom>
          <a:noFill/>
          <a:ln/>
        </p:spPr>
        <p:txBody>
          <a:bodyPr wrap="square" lIns="0" tIns="0" rIns="0" bIns="0" rtlCol="0" anchor="ctr"/>
          <a:lstStyle/>
          <a:p>
            <a:pPr algn="ctr" indent="0" marL="0">
              <a:buNone/>
            </a:pPr>
            <a:r>
              <a:rPr lang="en-US" sz="2300" b="1" dirty="0">
                <a:solidFill>
                  <a:srgbClr val="FFFFFF"/>
                </a:solidFill>
                <a:latin typeface="メイリオ" pitchFamily="34" charset="0"/>
                <a:ea typeface="メイリオ" pitchFamily="34" charset="-122"/>
                <a:cs typeface="メイリオ" pitchFamily="34" charset="-120"/>
              </a:rPr>
              <a:t>①</a:t>
            </a:r>
            <a:endParaRPr lang="en-US" sz="2300" dirty="0"/>
          </a:p>
        </p:txBody>
      </p:sp>
      <p:sp>
        <p:nvSpPr>
          <p:cNvPr id="8" name="Text 6"/>
          <p:cNvSpPr txBox="1"/>
          <p:nvPr/>
        </p:nvSpPr>
        <p:spPr>
          <a:xfrm>
            <a:off x="566928" y="3438144"/>
            <a:ext cx="2286000" cy="502920"/>
          </a:xfrm>
          <a:prstGeom prst="rect">
            <a:avLst/>
          </a:prstGeom>
          <a:noFill/>
          <a:ln/>
        </p:spPr>
        <p:txBody>
          <a:bodyPr wrap="square" lIns="0" tIns="0" rIns="0" bIns="0" rtlCol="0" anchor="ctr"/>
          <a:lstStyle/>
          <a:p>
            <a:pPr algn="ctr" indent="0" marL="0">
              <a:buNone/>
            </a:pPr>
            <a:r>
              <a:rPr lang="en-US" sz="1800" b="1" dirty="0">
                <a:solidFill>
                  <a:srgbClr val="EE7B08"/>
                </a:solidFill>
                <a:latin typeface="メイリオ" pitchFamily="34" charset="0"/>
                <a:ea typeface="メイリオ" pitchFamily="34" charset="-122"/>
                <a:cs typeface="メイリオ" pitchFamily="34" charset="-120"/>
              </a:rPr>
              <a:t>自己肯定感</a:t>
            </a:r>
            <a:endParaRPr lang="en-US" sz="1800" dirty="0"/>
          </a:p>
        </p:txBody>
      </p:sp>
      <p:sp>
        <p:nvSpPr>
          <p:cNvPr id="9" name="Shape 7"/>
          <p:cNvSpPr/>
          <p:nvPr/>
        </p:nvSpPr>
        <p:spPr>
          <a:xfrm>
            <a:off x="3218688" y="2724912"/>
            <a:ext cx="2468880" cy="1417320"/>
          </a:xfrm>
          <a:prstGeom prst="roundRect">
            <a:avLst>
              <a:gd name="adj" fmla="val 3871"/>
            </a:avLst>
          </a:prstGeom>
          <a:solidFill>
            <a:srgbClr val="E9F7F3"/>
          </a:solidFill>
          <a:ln w="12700">
            <a:solidFill>
              <a:srgbClr val="B9E5DA"/>
            </a:solidFill>
            <a:prstDash val="solid"/>
          </a:ln>
        </p:spPr>
      </p:sp>
      <p:sp>
        <p:nvSpPr>
          <p:cNvPr id="10" name="Shape 8"/>
          <p:cNvSpPr/>
          <p:nvPr/>
        </p:nvSpPr>
        <p:spPr>
          <a:xfrm>
            <a:off x="4224528" y="2889504"/>
            <a:ext cx="457200" cy="457200"/>
          </a:xfrm>
          <a:prstGeom prst="ellipse">
            <a:avLst/>
          </a:prstGeom>
          <a:solidFill>
            <a:srgbClr val="44C1A3"/>
          </a:solidFill>
          <a:ln/>
        </p:spPr>
      </p:sp>
      <p:sp>
        <p:nvSpPr>
          <p:cNvPr id="11" name="Text 9"/>
          <p:cNvSpPr txBox="1"/>
          <p:nvPr/>
        </p:nvSpPr>
        <p:spPr>
          <a:xfrm>
            <a:off x="4224528" y="2889504"/>
            <a:ext cx="457200" cy="457200"/>
          </a:xfrm>
          <a:prstGeom prst="rect">
            <a:avLst/>
          </a:prstGeom>
          <a:noFill/>
          <a:ln/>
        </p:spPr>
        <p:txBody>
          <a:bodyPr wrap="square" lIns="0" tIns="0" rIns="0" bIns="0" rtlCol="0" anchor="ctr"/>
          <a:lstStyle/>
          <a:p>
            <a:pPr algn="ctr" indent="0" marL="0">
              <a:buNone/>
            </a:pPr>
            <a:r>
              <a:rPr lang="en-US" sz="2300" b="1" dirty="0">
                <a:solidFill>
                  <a:srgbClr val="FFFFFF"/>
                </a:solidFill>
                <a:latin typeface="メイリオ" pitchFamily="34" charset="0"/>
                <a:ea typeface="メイリオ" pitchFamily="34" charset="-122"/>
                <a:cs typeface="メイリオ" pitchFamily="34" charset="-120"/>
              </a:rPr>
              <a:t>②</a:t>
            </a:r>
            <a:endParaRPr lang="en-US" sz="2300" dirty="0"/>
          </a:p>
        </p:txBody>
      </p:sp>
      <p:sp>
        <p:nvSpPr>
          <p:cNvPr id="12" name="Text 10"/>
          <p:cNvSpPr txBox="1"/>
          <p:nvPr/>
        </p:nvSpPr>
        <p:spPr>
          <a:xfrm>
            <a:off x="3310128" y="3438144"/>
            <a:ext cx="2286000" cy="502920"/>
          </a:xfrm>
          <a:prstGeom prst="rect">
            <a:avLst/>
          </a:prstGeom>
          <a:noFill/>
          <a:ln/>
        </p:spPr>
        <p:txBody>
          <a:bodyPr wrap="square" lIns="0" tIns="0" rIns="0" bIns="0" rtlCol="0" anchor="ctr"/>
          <a:lstStyle/>
          <a:p>
            <a:pPr algn="ctr" indent="0" marL="0">
              <a:buNone/>
            </a:pPr>
            <a:r>
              <a:rPr lang="en-US" sz="1800" b="1" dirty="0">
                <a:solidFill>
                  <a:srgbClr val="EE7B08"/>
                </a:solidFill>
                <a:latin typeface="メイリオ" pitchFamily="34" charset="0"/>
                <a:ea typeface="メイリオ" pitchFamily="34" charset="-122"/>
                <a:cs typeface="メイリオ" pitchFamily="34" charset="-120"/>
              </a:rPr>
              <a:t>対話・協働</a:t>
            </a:r>
            <a:endParaRPr lang="en-US" sz="1800" dirty="0"/>
          </a:p>
        </p:txBody>
      </p:sp>
      <p:sp>
        <p:nvSpPr>
          <p:cNvPr id="13" name="Shape 11"/>
          <p:cNvSpPr/>
          <p:nvPr/>
        </p:nvSpPr>
        <p:spPr>
          <a:xfrm>
            <a:off x="5961888" y="2724912"/>
            <a:ext cx="2468880" cy="1417320"/>
          </a:xfrm>
          <a:prstGeom prst="roundRect">
            <a:avLst>
              <a:gd name="adj" fmla="val 3871"/>
            </a:avLst>
          </a:prstGeom>
          <a:solidFill>
            <a:srgbClr val="E9F7F3"/>
          </a:solidFill>
          <a:ln w="12700">
            <a:solidFill>
              <a:srgbClr val="B9E5DA"/>
            </a:solidFill>
            <a:prstDash val="solid"/>
          </a:ln>
        </p:spPr>
      </p:sp>
      <p:sp>
        <p:nvSpPr>
          <p:cNvPr id="14" name="Shape 12"/>
          <p:cNvSpPr/>
          <p:nvPr/>
        </p:nvSpPr>
        <p:spPr>
          <a:xfrm>
            <a:off x="6967728" y="2889504"/>
            <a:ext cx="457200" cy="457200"/>
          </a:xfrm>
          <a:prstGeom prst="ellipse">
            <a:avLst/>
          </a:prstGeom>
          <a:solidFill>
            <a:srgbClr val="44C1A3"/>
          </a:solidFill>
          <a:ln/>
        </p:spPr>
      </p:sp>
      <p:sp>
        <p:nvSpPr>
          <p:cNvPr id="15" name="Text 13"/>
          <p:cNvSpPr txBox="1"/>
          <p:nvPr/>
        </p:nvSpPr>
        <p:spPr>
          <a:xfrm>
            <a:off x="6967728" y="2889504"/>
            <a:ext cx="457200" cy="457200"/>
          </a:xfrm>
          <a:prstGeom prst="rect">
            <a:avLst/>
          </a:prstGeom>
          <a:noFill/>
          <a:ln/>
        </p:spPr>
        <p:txBody>
          <a:bodyPr wrap="square" lIns="0" tIns="0" rIns="0" bIns="0" rtlCol="0" anchor="ctr"/>
          <a:lstStyle/>
          <a:p>
            <a:pPr algn="ctr" indent="0" marL="0">
              <a:buNone/>
            </a:pPr>
            <a:r>
              <a:rPr lang="en-US" sz="2300" b="1" dirty="0">
                <a:solidFill>
                  <a:srgbClr val="FFFFFF"/>
                </a:solidFill>
                <a:latin typeface="メイリオ" pitchFamily="34" charset="0"/>
                <a:ea typeface="メイリオ" pitchFamily="34" charset="-122"/>
                <a:cs typeface="メイリオ" pitchFamily="34" charset="-120"/>
              </a:rPr>
              <a:t>③</a:t>
            </a:r>
            <a:endParaRPr lang="en-US" sz="2300" dirty="0"/>
          </a:p>
        </p:txBody>
      </p:sp>
      <p:sp>
        <p:nvSpPr>
          <p:cNvPr id="16" name="Text 14"/>
          <p:cNvSpPr txBox="1"/>
          <p:nvPr/>
        </p:nvSpPr>
        <p:spPr>
          <a:xfrm>
            <a:off x="6053328" y="3438144"/>
            <a:ext cx="2286000" cy="502920"/>
          </a:xfrm>
          <a:prstGeom prst="rect">
            <a:avLst/>
          </a:prstGeom>
          <a:noFill/>
          <a:ln/>
        </p:spPr>
        <p:txBody>
          <a:bodyPr wrap="square" lIns="0" tIns="0" rIns="0" bIns="0" rtlCol="0" anchor="ctr"/>
          <a:lstStyle/>
          <a:p>
            <a:pPr algn="ctr" indent="0" marL="0">
              <a:buNone/>
            </a:pPr>
            <a:r>
              <a:rPr lang="en-US" sz="1800" b="1" dirty="0">
                <a:solidFill>
                  <a:srgbClr val="EE7B08"/>
                </a:solidFill>
                <a:latin typeface="メイリオ" pitchFamily="34" charset="0"/>
                <a:ea typeface="メイリオ" pitchFamily="34" charset="-122"/>
                <a:cs typeface="メイリオ" pitchFamily="34" charset="-120"/>
              </a:rPr>
              <a:t>学習の自己調整</a:t>
            </a:r>
            <a:endParaRPr lang="en-US" sz="1800" dirty="0"/>
          </a:p>
        </p:txBody>
      </p:sp>
      <p:sp>
        <p:nvSpPr>
          <p:cNvPr id="17" name="Text 15"/>
          <p:cNvSpPr txBox="1"/>
          <p:nvPr/>
        </p:nvSpPr>
        <p:spPr>
          <a:xfrm>
            <a:off x="475488" y="4261104"/>
            <a:ext cx="8193024" cy="347472"/>
          </a:xfrm>
          <a:prstGeom prst="rect">
            <a:avLst/>
          </a:prstGeom>
          <a:noFill/>
          <a:ln/>
        </p:spPr>
        <p:txBody>
          <a:bodyPr wrap="square" lIns="0" tIns="0" rIns="0" bIns="0" rtlCol="0" anchor="ctr"/>
          <a:lstStyle/>
          <a:p>
            <a:pPr algn="l" indent="0" marL="0">
              <a:buNone/>
            </a:pPr>
            <a:r>
              <a:rPr lang="en-US" sz="1500" b="1" dirty="0">
                <a:solidFill>
                  <a:srgbClr val="595959"/>
                </a:solidFill>
                <a:latin typeface="メイリオ" pitchFamily="34" charset="0"/>
                <a:ea typeface="メイリオ" pitchFamily="34" charset="-122"/>
                <a:cs typeface="メイリオ" pitchFamily="34" charset="-120"/>
              </a:rPr>
              <a:t>この３つが、学力調査結果を支える土台になっている。</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0" y="-9144"/>
            <a:ext cx="9144000" cy="1161288"/>
          </a:xfrm>
          <a:prstGeom prst="rect">
            <a:avLst/>
          </a:prstGeom>
          <a:solidFill>
            <a:srgbClr val="44C1A3"/>
          </a:solidFill>
          <a:ln/>
        </p:spPr>
        <p:txBody>
          <a:bodyPr wrap="square" lIns="0" tIns="0" rIns="0" bIns="0" rtlCol="0" anchor="ctr"/>
          <a:lstStyle/>
          <a:p>
            <a:pPr algn="l" indent="0" marL="0">
              <a:lnSpc>
                <a:spcPct val="120000"/>
              </a:lnSpc>
              <a:buNone/>
            </a:pPr>
            <a:r>
              <a:rPr lang="en-US" sz="3000" b="1" dirty="0">
                <a:solidFill>
                  <a:srgbClr val="FFFFFF"/>
                </a:solidFill>
                <a:latin typeface="メイリオ" pitchFamily="34" charset="0"/>
                <a:ea typeface="メイリオ" pitchFamily="34" charset="-122"/>
                <a:cs typeface="メイリオ" pitchFamily="34" charset="-120"/>
              </a:rPr>
              <a:t>　２　５校時の授業について</a:t>
            </a:r>
            <a:endParaRPr lang="en-US" sz="3000" dirty="0"/>
          </a:p>
          <a:p>
            <a:pPr algn="l" indent="0" marL="0">
              <a:lnSpc>
                <a:spcPct val="120000"/>
              </a:lnSpc>
              <a:buNone/>
            </a:pPr>
            <a:r>
              <a:rPr lang="en-US" sz="2800" b="1" dirty="0">
                <a:solidFill>
                  <a:srgbClr val="FFFFFF"/>
                </a:solidFill>
                <a:latin typeface="メイリオ" pitchFamily="34" charset="0"/>
                <a:ea typeface="メイリオ" pitchFamily="34" charset="-122"/>
                <a:cs typeface="メイリオ" pitchFamily="34" charset="-120"/>
              </a:rPr>
              <a:t>　①　自己肯定感</a:t>
            </a:r>
            <a:endParaRPr lang="en-US" sz="3000" dirty="0"/>
          </a:p>
        </p:txBody>
      </p:sp>
      <p:sp>
        <p:nvSpPr>
          <p:cNvPr id="3" name="Text 1"/>
          <p:cNvSpPr txBox="1"/>
          <p:nvPr/>
        </p:nvSpPr>
        <p:spPr>
          <a:xfrm>
            <a:off x="475488" y="1481328"/>
            <a:ext cx="8193024" cy="1005840"/>
          </a:xfrm>
          <a:prstGeom prst="rect">
            <a:avLst/>
          </a:prstGeom>
          <a:noFill/>
          <a:ln/>
        </p:spPr>
        <p:txBody>
          <a:bodyPr wrap="square" lIns="0" tIns="0" rIns="0" bIns="0" rtlCol="0" anchor="t"/>
          <a:lstStyle/>
          <a:p>
            <a:pPr algn="l" indent="0" marL="0">
              <a:lnSpc>
                <a:spcPct val="120000"/>
              </a:lnSpc>
              <a:buNone/>
            </a:pPr>
            <a:r>
              <a:rPr lang="en-US" sz="2400" b="1" dirty="0">
                <a:solidFill>
                  <a:srgbClr val="595959"/>
                </a:solidFill>
                <a:latin typeface="メイリオ" pitchFamily="34" charset="0"/>
                <a:ea typeface="メイリオ" pitchFamily="34" charset="-122"/>
                <a:cs typeface="メイリオ" pitchFamily="34" charset="-120"/>
              </a:rPr>
              <a:t>これからの時代、学力向上の基盤となるのは</a:t>
            </a:r>
            <a:endParaRPr lang="en-US" sz="2400" dirty="0"/>
          </a:p>
          <a:p>
            <a:pPr algn="l" indent="0" marL="0">
              <a:lnSpc>
                <a:spcPct val="120000"/>
              </a:lnSpc>
              <a:buNone/>
            </a:pPr>
            <a:r>
              <a:rPr lang="en-US" sz="2400" b="1" dirty="0">
                <a:solidFill>
                  <a:srgbClr val="595959"/>
                </a:solidFill>
                <a:latin typeface="メイリオ" pitchFamily="34" charset="0"/>
                <a:ea typeface="メイリオ" pitchFamily="34" charset="-122"/>
                <a:cs typeface="メイリオ" pitchFamily="34" charset="-120"/>
              </a:rPr>
              <a:t>　</a:t>
            </a:r>
            <a:pPr algn="l" indent="0" marL="0">
              <a:lnSpc>
                <a:spcPct val="120000"/>
              </a:lnSpc>
              <a:buNone/>
            </a:pPr>
            <a:r>
              <a:rPr lang="en-US" sz="2400" b="1" dirty="0">
                <a:solidFill>
                  <a:srgbClr val="EE7B08"/>
                </a:solidFill>
                <a:latin typeface="メイリオ" pitchFamily="34" charset="0"/>
                <a:ea typeface="メイリオ" pitchFamily="34" charset="-122"/>
                <a:cs typeface="メイリオ" pitchFamily="34" charset="-120"/>
              </a:rPr>
              <a:t>自己肯定感</a:t>
            </a:r>
            <a:pPr algn="l" indent="0" marL="0">
              <a:lnSpc>
                <a:spcPct val="120000"/>
              </a:lnSpc>
              <a:buNone/>
            </a:pPr>
            <a:r>
              <a:rPr lang="en-US" sz="2400" b="1" dirty="0">
                <a:solidFill>
                  <a:srgbClr val="595959"/>
                </a:solidFill>
                <a:latin typeface="メイリオ" pitchFamily="34" charset="0"/>
                <a:ea typeface="メイリオ" pitchFamily="34" charset="-122"/>
                <a:cs typeface="メイリオ" pitchFamily="34" charset="-120"/>
              </a:rPr>
              <a:t>である。</a:t>
            </a:r>
            <a:endParaRPr lang="en-US" sz="2400" dirty="0"/>
          </a:p>
        </p:txBody>
      </p:sp>
      <p:sp>
        <p:nvSpPr>
          <p:cNvPr id="4" name="Shape 2"/>
          <p:cNvSpPr/>
          <p:nvPr/>
        </p:nvSpPr>
        <p:spPr>
          <a:xfrm>
            <a:off x="475488" y="2697480"/>
            <a:ext cx="8193024" cy="1737360"/>
          </a:xfrm>
          <a:prstGeom prst="roundRect">
            <a:avLst>
              <a:gd name="adj" fmla="val 3158"/>
            </a:avLst>
          </a:prstGeom>
          <a:solidFill>
            <a:srgbClr val="E9F7F3"/>
          </a:solidFill>
          <a:ln w="12700">
            <a:solidFill>
              <a:srgbClr val="B9E5DA"/>
            </a:solidFill>
            <a:prstDash val="solid"/>
          </a:ln>
        </p:spPr>
      </p:sp>
      <p:sp>
        <p:nvSpPr>
          <p:cNvPr id="5" name="Text 3"/>
          <p:cNvSpPr txBox="1"/>
          <p:nvPr/>
        </p:nvSpPr>
        <p:spPr>
          <a:xfrm>
            <a:off x="731520" y="2852928"/>
            <a:ext cx="7680960" cy="1417320"/>
          </a:xfrm>
          <a:prstGeom prst="rect">
            <a:avLst/>
          </a:prstGeom>
          <a:noFill/>
          <a:ln/>
        </p:spPr>
        <p:txBody>
          <a:bodyPr wrap="square" lIns="0" tIns="0" rIns="0" bIns="0" rtlCol="0" anchor="t"/>
          <a:lstStyle/>
          <a:p>
            <a:pPr algn="l" indent="0" marL="0">
              <a:lnSpc>
                <a:spcPct val="130000"/>
              </a:lnSpc>
              <a:buNone/>
            </a:pPr>
            <a:r>
              <a:rPr lang="en-US" sz="1700" b="1" dirty="0">
                <a:solidFill>
                  <a:srgbClr val="44C1A3"/>
                </a:solidFill>
                <a:latin typeface="メイリオ" pitchFamily="34" charset="0"/>
                <a:ea typeface="メイリオ" pitchFamily="34" charset="-122"/>
                <a:cs typeface="メイリオ" pitchFamily="34" charset="-120"/>
              </a:rPr>
              <a:t>自己肯定感とは</a:t>
            </a:r>
            <a:endParaRPr lang="en-US" sz="1700" dirty="0"/>
          </a:p>
          <a:p>
            <a:pPr algn="l" indent="0" marL="0">
              <a:lnSpc>
                <a:spcPct val="130000"/>
              </a:lnSpc>
              <a:buNone/>
            </a:pPr>
            <a:r>
              <a:rPr lang="en-US" sz="2200" b="1" dirty="0">
                <a:solidFill>
                  <a:srgbClr val="595959"/>
                </a:solidFill>
                <a:latin typeface="メイリオ" pitchFamily="34" charset="0"/>
                <a:ea typeface="メイリオ" pitchFamily="34" charset="-122"/>
                <a:cs typeface="メイリオ" pitchFamily="34" charset="-120"/>
              </a:rPr>
              <a:t>「できる子になる」ことではなく、</a:t>
            </a:r>
            <a:endParaRPr lang="en-US" sz="1700" dirty="0"/>
          </a:p>
          <a:p>
            <a:pPr algn="l" indent="0" marL="0">
              <a:lnSpc>
                <a:spcPct val="130000"/>
              </a:lnSpc>
              <a:buNone/>
            </a:pPr>
            <a:r>
              <a:rPr lang="en-US" sz="2200" b="1" dirty="0">
                <a:solidFill>
                  <a:srgbClr val="EE7B08"/>
                </a:solidFill>
                <a:latin typeface="メイリオ" pitchFamily="34" charset="0"/>
                <a:ea typeface="メイリオ" pitchFamily="34" charset="-122"/>
                <a:cs typeface="メイリオ" pitchFamily="34" charset="-120"/>
              </a:rPr>
              <a:t>「成長できる自分を信じること」である。</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0" y="-9144"/>
            <a:ext cx="9144000" cy="1161288"/>
          </a:xfrm>
          <a:prstGeom prst="rect">
            <a:avLst/>
          </a:prstGeom>
          <a:solidFill>
            <a:srgbClr val="44C1A3"/>
          </a:solidFill>
          <a:ln/>
        </p:spPr>
        <p:txBody>
          <a:bodyPr wrap="square" lIns="0" tIns="0" rIns="0" bIns="0" rtlCol="0" anchor="ctr"/>
          <a:lstStyle/>
          <a:p>
            <a:pPr algn="l" indent="0" marL="0">
              <a:lnSpc>
                <a:spcPct val="120000"/>
              </a:lnSpc>
              <a:buNone/>
            </a:pPr>
            <a:r>
              <a:rPr lang="en-US" sz="3000" b="1" dirty="0">
                <a:solidFill>
                  <a:srgbClr val="FFFFFF"/>
                </a:solidFill>
                <a:latin typeface="メイリオ" pitchFamily="34" charset="0"/>
                <a:ea typeface="メイリオ" pitchFamily="34" charset="-122"/>
                <a:cs typeface="メイリオ" pitchFamily="34" charset="-120"/>
              </a:rPr>
              <a:t>　２　５校時の授業について</a:t>
            </a:r>
            <a:endParaRPr lang="en-US" sz="3000" dirty="0"/>
          </a:p>
          <a:p>
            <a:pPr algn="l" indent="0" marL="0">
              <a:lnSpc>
                <a:spcPct val="120000"/>
              </a:lnSpc>
              <a:buNone/>
            </a:pPr>
            <a:r>
              <a:rPr lang="en-US" sz="2800" b="1" dirty="0">
                <a:solidFill>
                  <a:srgbClr val="FFFFFF"/>
                </a:solidFill>
                <a:latin typeface="メイリオ" pitchFamily="34" charset="0"/>
                <a:ea typeface="メイリオ" pitchFamily="34" charset="-122"/>
                <a:cs typeface="メイリオ" pitchFamily="34" charset="-120"/>
              </a:rPr>
              <a:t>　①　自己肯定感を育む授業</a:t>
            </a:r>
            <a:endParaRPr lang="en-US" sz="3000" dirty="0"/>
          </a:p>
        </p:txBody>
      </p:sp>
      <p:sp>
        <p:nvSpPr>
          <p:cNvPr id="3" name="Shape 1"/>
          <p:cNvSpPr/>
          <p:nvPr/>
        </p:nvSpPr>
        <p:spPr>
          <a:xfrm>
            <a:off x="320040" y="1417320"/>
            <a:ext cx="2697480" cy="2395728"/>
          </a:xfrm>
          <a:prstGeom prst="roundRect">
            <a:avLst>
              <a:gd name="adj" fmla="val 2290"/>
            </a:avLst>
          </a:prstGeom>
          <a:solidFill>
            <a:srgbClr val="E9F7F3"/>
          </a:solidFill>
          <a:ln w="12700">
            <a:solidFill>
              <a:srgbClr val="B9E5DA"/>
            </a:solidFill>
            <a:prstDash val="solid"/>
          </a:ln>
        </p:spPr>
      </p:sp>
      <p:sp>
        <p:nvSpPr>
          <p:cNvPr id="4" name="Text 2"/>
          <p:cNvSpPr txBox="1"/>
          <p:nvPr/>
        </p:nvSpPr>
        <p:spPr>
          <a:xfrm>
            <a:off x="466344" y="1527048"/>
            <a:ext cx="2404872" cy="274320"/>
          </a:xfrm>
          <a:prstGeom prst="rect">
            <a:avLst/>
          </a:prstGeom>
          <a:noFill/>
          <a:ln/>
        </p:spPr>
        <p:txBody>
          <a:bodyPr wrap="square" lIns="0" tIns="0" rIns="0" bIns="0" rtlCol="0" anchor="ctr"/>
          <a:lstStyle/>
          <a:p>
            <a:pPr algn="l" indent="0" marL="0">
              <a:buNone/>
            </a:pPr>
            <a:r>
              <a:rPr lang="en-US" sz="1600" b="1" dirty="0">
                <a:solidFill>
                  <a:srgbClr val="44C1A3"/>
                </a:solidFill>
                <a:latin typeface="メイリオ" pitchFamily="34" charset="0"/>
                <a:ea typeface="メイリオ" pitchFamily="34" charset="-122"/>
                <a:cs typeface="メイリオ" pitchFamily="34" charset="-120"/>
              </a:rPr>
              <a:t>田口　和磨　先生</a:t>
            </a:r>
            <a:endParaRPr lang="en-US" sz="1600" dirty="0"/>
          </a:p>
        </p:txBody>
      </p:sp>
      <p:sp>
        <p:nvSpPr>
          <p:cNvPr id="5" name="Text 3"/>
          <p:cNvSpPr txBox="1"/>
          <p:nvPr/>
        </p:nvSpPr>
        <p:spPr>
          <a:xfrm>
            <a:off x="466344" y="1801368"/>
            <a:ext cx="2404872" cy="237744"/>
          </a:xfrm>
          <a:prstGeom prst="rect">
            <a:avLst/>
          </a:prstGeom>
          <a:noFill/>
          <a:ln/>
        </p:spPr>
        <p:txBody>
          <a:bodyPr wrap="square" lIns="0" tIns="0" rIns="0" bIns="0" rtlCol="0" anchor="ctr"/>
          <a:lstStyle/>
          <a:p>
            <a:pPr algn="l" indent="0" marL="0">
              <a:buNone/>
            </a:pPr>
            <a:r>
              <a:rPr lang="en-US" sz="1100" b="1" dirty="0">
                <a:solidFill>
                  <a:srgbClr val="808080"/>
                </a:solidFill>
                <a:latin typeface="メイリオ" pitchFamily="34" charset="0"/>
                <a:ea typeface="メイリオ" pitchFamily="34" charset="-122"/>
                <a:cs typeface="メイリオ" pitchFamily="34" charset="-120"/>
              </a:rPr>
              <a:t>保健体育・９年ＡＢ組／水泳</a:t>
            </a:r>
            <a:endParaRPr lang="en-US" sz="1100" dirty="0"/>
          </a:p>
        </p:txBody>
      </p:sp>
      <p:sp>
        <p:nvSpPr>
          <p:cNvPr id="6" name="Text 4"/>
          <p:cNvSpPr txBox="1"/>
          <p:nvPr/>
        </p:nvSpPr>
        <p:spPr>
          <a:xfrm>
            <a:off x="466344" y="2075688"/>
            <a:ext cx="2404872" cy="1609344"/>
          </a:xfrm>
          <a:prstGeom prst="rect">
            <a:avLst/>
          </a:prstGeom>
          <a:noFill/>
          <a:ln/>
        </p:spPr>
        <p:txBody>
          <a:bodyPr wrap="square" lIns="0" tIns="0" rIns="0" bIns="0" rtlCol="0" anchor="t"/>
          <a:lstStyle/>
          <a:p>
            <a:pPr algn="l" indent="0" marL="0">
              <a:lnSpc>
                <a:spcPct val="125000"/>
              </a:lnSpc>
              <a:buNone/>
            </a:pPr>
            <a:r>
              <a:rPr lang="en-US" sz="1350" b="1" dirty="0">
                <a:solidFill>
                  <a:srgbClr val="595959"/>
                </a:solidFill>
                <a:latin typeface="メイリオ" pitchFamily="34" charset="0"/>
                <a:ea typeface="メイリオ" pitchFamily="34" charset="-122"/>
                <a:cs typeface="メイリオ" pitchFamily="34" charset="-120"/>
              </a:rPr>
              <a:t>泳力差の大きい集団に</a:t>
            </a:r>
            <a:endParaRPr lang="en-US" sz="1350" dirty="0"/>
          </a:p>
          <a:p>
            <a:pPr algn="l" indent="0" marL="0">
              <a:lnSpc>
                <a:spcPct val="125000"/>
              </a:lnSpc>
              <a:buNone/>
            </a:pPr>
            <a:r>
              <a:rPr lang="en-US" sz="1350" b="1" dirty="0">
                <a:solidFill>
                  <a:srgbClr val="EE7B08"/>
                </a:solidFill>
                <a:latin typeface="メイリオ" pitchFamily="34" charset="0"/>
                <a:ea typeface="メイリオ" pitchFamily="34" charset="-122"/>
                <a:cs typeface="メイリオ" pitchFamily="34" charset="-120"/>
              </a:rPr>
              <a:t>・段階的な課題設定</a:t>
            </a:r>
            <a:endParaRPr lang="en-US" sz="1350" dirty="0"/>
          </a:p>
          <a:p>
            <a:pPr algn="l" indent="0" marL="0">
              <a:lnSpc>
                <a:spcPct val="125000"/>
              </a:lnSpc>
              <a:buNone/>
            </a:pPr>
            <a:r>
              <a:rPr lang="en-US" sz="1350" b="1" dirty="0">
                <a:solidFill>
                  <a:srgbClr val="EE7B08"/>
                </a:solidFill>
                <a:latin typeface="メイリオ" pitchFamily="34" charset="0"/>
                <a:ea typeface="メイリオ" pitchFamily="34" charset="-122"/>
                <a:cs typeface="メイリオ" pitchFamily="34" charset="-120"/>
              </a:rPr>
              <a:t>・泳力別のコース編成</a:t>
            </a:r>
            <a:endParaRPr lang="en-US" sz="1350" dirty="0"/>
          </a:p>
          <a:p>
            <a:pPr algn="l" indent="0" marL="0">
              <a:lnSpc>
                <a:spcPct val="125000"/>
              </a:lnSpc>
              <a:buNone/>
            </a:pPr>
            <a:r>
              <a:rPr lang="en-US" sz="1350" b="1" dirty="0">
                <a:solidFill>
                  <a:srgbClr val="EE7B08"/>
                </a:solidFill>
                <a:latin typeface="メイリオ" pitchFamily="34" charset="0"/>
                <a:ea typeface="メイリオ" pitchFamily="34" charset="-122"/>
                <a:cs typeface="メイリオ" pitchFamily="34" charset="-120"/>
              </a:rPr>
              <a:t>・バディでの確認活動</a:t>
            </a:r>
            <a:endParaRPr lang="en-US" sz="1350" dirty="0"/>
          </a:p>
          <a:p>
            <a:pPr algn="l" indent="0" marL="0">
              <a:lnSpc>
                <a:spcPct val="125000"/>
              </a:lnSpc>
              <a:buNone/>
            </a:pPr>
            <a:r>
              <a:rPr lang="en-US" sz="1350" b="1" dirty="0">
                <a:solidFill>
                  <a:srgbClr val="595959"/>
                </a:solidFill>
                <a:latin typeface="メイリオ" pitchFamily="34" charset="0"/>
                <a:ea typeface="メイリオ" pitchFamily="34" charset="-122"/>
                <a:cs typeface="メイリオ" pitchFamily="34" charset="-120"/>
              </a:rPr>
              <a:t>確認の視点を３点示し、</a:t>
            </a:r>
            <a:endParaRPr lang="en-US" sz="1350" dirty="0"/>
          </a:p>
          <a:p>
            <a:pPr algn="l" indent="0" marL="0">
              <a:lnSpc>
                <a:spcPct val="125000"/>
              </a:lnSpc>
              <a:buNone/>
            </a:pPr>
            <a:r>
              <a:rPr lang="en-US" sz="1350" b="1" dirty="0">
                <a:solidFill>
                  <a:srgbClr val="595959"/>
                </a:solidFill>
                <a:latin typeface="メイリオ" pitchFamily="34" charset="0"/>
                <a:ea typeface="メイリオ" pitchFamily="34" charset="-122"/>
                <a:cs typeface="メイリオ" pitchFamily="34" charset="-120"/>
              </a:rPr>
              <a:t>見る目を育てていた。</a:t>
            </a:r>
            <a:endParaRPr lang="en-US" sz="1350" dirty="0"/>
          </a:p>
        </p:txBody>
      </p:sp>
      <p:sp>
        <p:nvSpPr>
          <p:cNvPr id="7" name="Shape 5"/>
          <p:cNvSpPr/>
          <p:nvPr/>
        </p:nvSpPr>
        <p:spPr>
          <a:xfrm>
            <a:off x="3227832" y="1417320"/>
            <a:ext cx="2697480" cy="2395728"/>
          </a:xfrm>
          <a:prstGeom prst="roundRect">
            <a:avLst>
              <a:gd name="adj" fmla="val 2290"/>
            </a:avLst>
          </a:prstGeom>
          <a:solidFill>
            <a:srgbClr val="E9F7F3"/>
          </a:solidFill>
          <a:ln w="12700">
            <a:solidFill>
              <a:srgbClr val="B9E5DA"/>
            </a:solidFill>
            <a:prstDash val="solid"/>
          </a:ln>
        </p:spPr>
      </p:sp>
      <p:sp>
        <p:nvSpPr>
          <p:cNvPr id="8" name="Text 6"/>
          <p:cNvSpPr txBox="1"/>
          <p:nvPr/>
        </p:nvSpPr>
        <p:spPr>
          <a:xfrm>
            <a:off x="3374136" y="1527048"/>
            <a:ext cx="2404872" cy="274320"/>
          </a:xfrm>
          <a:prstGeom prst="rect">
            <a:avLst/>
          </a:prstGeom>
          <a:noFill/>
          <a:ln/>
        </p:spPr>
        <p:txBody>
          <a:bodyPr wrap="square" lIns="0" tIns="0" rIns="0" bIns="0" rtlCol="0" anchor="ctr"/>
          <a:lstStyle/>
          <a:p>
            <a:pPr algn="l" indent="0" marL="0">
              <a:buNone/>
            </a:pPr>
            <a:r>
              <a:rPr lang="en-US" sz="1600" b="1" dirty="0">
                <a:solidFill>
                  <a:srgbClr val="44C1A3"/>
                </a:solidFill>
                <a:latin typeface="メイリオ" pitchFamily="34" charset="0"/>
                <a:ea typeface="メイリオ" pitchFamily="34" charset="-122"/>
                <a:cs typeface="メイリオ" pitchFamily="34" charset="-120"/>
              </a:rPr>
              <a:t>東海林　静江　先生</a:t>
            </a:r>
            <a:endParaRPr lang="en-US" sz="1600" dirty="0"/>
          </a:p>
        </p:txBody>
      </p:sp>
      <p:sp>
        <p:nvSpPr>
          <p:cNvPr id="9" name="Text 7"/>
          <p:cNvSpPr txBox="1"/>
          <p:nvPr/>
        </p:nvSpPr>
        <p:spPr>
          <a:xfrm>
            <a:off x="3374136" y="1801368"/>
            <a:ext cx="2404872" cy="237744"/>
          </a:xfrm>
          <a:prstGeom prst="rect">
            <a:avLst/>
          </a:prstGeom>
          <a:noFill/>
          <a:ln/>
        </p:spPr>
        <p:txBody>
          <a:bodyPr wrap="square" lIns="0" tIns="0" rIns="0" bIns="0" rtlCol="0" anchor="ctr"/>
          <a:lstStyle/>
          <a:p>
            <a:pPr algn="l" indent="0" marL="0">
              <a:buNone/>
            </a:pPr>
            <a:r>
              <a:rPr lang="en-US" sz="1100" b="1" dirty="0">
                <a:solidFill>
                  <a:srgbClr val="808080"/>
                </a:solidFill>
                <a:latin typeface="メイリオ" pitchFamily="34" charset="0"/>
                <a:ea typeface="メイリオ" pitchFamily="34" charset="-122"/>
                <a:cs typeface="メイリオ" pitchFamily="34" charset="-120"/>
              </a:rPr>
              <a:t>道徳・特別支援学級Ｄ組／うそ</a:t>
            </a:r>
            <a:endParaRPr lang="en-US" sz="1100" dirty="0"/>
          </a:p>
        </p:txBody>
      </p:sp>
      <p:sp>
        <p:nvSpPr>
          <p:cNvPr id="10" name="Text 8"/>
          <p:cNvSpPr txBox="1"/>
          <p:nvPr/>
        </p:nvSpPr>
        <p:spPr>
          <a:xfrm>
            <a:off x="3374136" y="2075688"/>
            <a:ext cx="2404872" cy="1609344"/>
          </a:xfrm>
          <a:prstGeom prst="rect">
            <a:avLst/>
          </a:prstGeom>
          <a:noFill/>
          <a:ln/>
        </p:spPr>
        <p:txBody>
          <a:bodyPr wrap="square" lIns="0" tIns="0" rIns="0" bIns="0" rtlCol="0" anchor="t"/>
          <a:lstStyle/>
          <a:p>
            <a:pPr algn="l" indent="0" marL="0">
              <a:lnSpc>
                <a:spcPct val="125000"/>
              </a:lnSpc>
              <a:buNone/>
            </a:pPr>
            <a:r>
              <a:rPr lang="en-US" sz="1350" b="1" dirty="0">
                <a:solidFill>
                  <a:srgbClr val="595959"/>
                </a:solidFill>
                <a:latin typeface="メイリオ" pitchFamily="34" charset="0"/>
                <a:ea typeface="メイリオ" pitchFamily="34" charset="-122"/>
                <a:cs typeface="メイリオ" pitchFamily="34" charset="-120"/>
              </a:rPr>
              <a:t>安心して自分の考えを</a:t>
            </a:r>
            <a:endParaRPr lang="en-US" sz="1350" dirty="0"/>
          </a:p>
          <a:p>
            <a:pPr algn="l" indent="0" marL="0">
              <a:lnSpc>
                <a:spcPct val="125000"/>
              </a:lnSpc>
              <a:buNone/>
            </a:pPr>
            <a:r>
              <a:rPr lang="en-US" sz="1350" b="1" dirty="0">
                <a:solidFill>
                  <a:srgbClr val="EE7B08"/>
                </a:solidFill>
                <a:latin typeface="メイリオ" pitchFamily="34" charset="0"/>
                <a:ea typeface="メイリオ" pitchFamily="34" charset="-122"/>
                <a:cs typeface="メイリオ" pitchFamily="34" charset="-120"/>
              </a:rPr>
              <a:t>表現できる環境</a:t>
            </a:r>
            <a:endParaRPr lang="en-US" sz="1350" dirty="0"/>
          </a:p>
          <a:p>
            <a:pPr algn="l" indent="0" marL="0">
              <a:lnSpc>
                <a:spcPct val="125000"/>
              </a:lnSpc>
              <a:buNone/>
            </a:pPr>
            <a:r>
              <a:rPr lang="en-US" sz="1350" b="1" dirty="0">
                <a:solidFill>
                  <a:srgbClr val="595959"/>
                </a:solidFill>
                <a:latin typeface="メイリオ" pitchFamily="34" charset="0"/>
                <a:ea typeface="メイリオ" pitchFamily="34" charset="-122"/>
                <a:cs typeface="メイリオ" pitchFamily="34" charset="-120"/>
              </a:rPr>
              <a:t>・前時の考えを尊重</a:t>
            </a:r>
            <a:endParaRPr lang="en-US" sz="1350" dirty="0"/>
          </a:p>
          <a:p>
            <a:pPr algn="l" indent="0" marL="0">
              <a:lnSpc>
                <a:spcPct val="125000"/>
              </a:lnSpc>
              <a:buNone/>
            </a:pPr>
            <a:r>
              <a:rPr lang="en-US" sz="1350" b="1" dirty="0">
                <a:solidFill>
                  <a:srgbClr val="EE7B08"/>
                </a:solidFill>
                <a:latin typeface="メイリオ" pitchFamily="34" charset="0"/>
                <a:ea typeface="メイリオ" pitchFamily="34" charset="-122"/>
                <a:cs typeface="メイリオ" pitchFamily="34" charset="-120"/>
              </a:rPr>
              <a:t>・意見が変わってよい</a:t>
            </a:r>
            <a:endParaRPr lang="en-US" sz="1350" dirty="0"/>
          </a:p>
          <a:p>
            <a:pPr algn="l" indent="0" marL="0">
              <a:lnSpc>
                <a:spcPct val="125000"/>
              </a:lnSpc>
              <a:buNone/>
            </a:pPr>
            <a:r>
              <a:rPr lang="en-US" sz="1350" b="1" dirty="0">
                <a:solidFill>
                  <a:srgbClr val="595959"/>
                </a:solidFill>
                <a:latin typeface="メイリオ" pitchFamily="34" charset="0"/>
                <a:ea typeface="メイリオ" pitchFamily="34" charset="-122"/>
                <a:cs typeface="メイリオ" pitchFamily="34" charset="-120"/>
              </a:rPr>
              <a:t>答えは一つではないと</a:t>
            </a:r>
            <a:endParaRPr lang="en-US" sz="1350" dirty="0"/>
          </a:p>
          <a:p>
            <a:pPr algn="l" indent="0" marL="0">
              <a:lnSpc>
                <a:spcPct val="125000"/>
              </a:lnSpc>
              <a:buNone/>
            </a:pPr>
            <a:r>
              <a:rPr lang="en-US" sz="1350" b="1" dirty="0">
                <a:solidFill>
                  <a:srgbClr val="595959"/>
                </a:solidFill>
                <a:latin typeface="メイリオ" pitchFamily="34" charset="0"/>
                <a:ea typeface="メイリオ" pitchFamily="34" charset="-122"/>
                <a:cs typeface="メイリオ" pitchFamily="34" charset="-120"/>
              </a:rPr>
              <a:t>保障されていた。</a:t>
            </a:r>
            <a:endParaRPr lang="en-US" sz="1350" dirty="0"/>
          </a:p>
        </p:txBody>
      </p:sp>
      <p:sp>
        <p:nvSpPr>
          <p:cNvPr id="11" name="Shape 9"/>
          <p:cNvSpPr/>
          <p:nvPr/>
        </p:nvSpPr>
        <p:spPr>
          <a:xfrm>
            <a:off x="6135624" y="1417320"/>
            <a:ext cx="2697480" cy="2395728"/>
          </a:xfrm>
          <a:prstGeom prst="roundRect">
            <a:avLst>
              <a:gd name="adj" fmla="val 2290"/>
            </a:avLst>
          </a:prstGeom>
          <a:solidFill>
            <a:srgbClr val="E9F7F3"/>
          </a:solidFill>
          <a:ln w="12700">
            <a:solidFill>
              <a:srgbClr val="B9E5DA"/>
            </a:solidFill>
            <a:prstDash val="solid"/>
          </a:ln>
        </p:spPr>
      </p:sp>
      <p:sp>
        <p:nvSpPr>
          <p:cNvPr id="12" name="Text 10"/>
          <p:cNvSpPr txBox="1"/>
          <p:nvPr/>
        </p:nvSpPr>
        <p:spPr>
          <a:xfrm>
            <a:off x="6281928" y="1527048"/>
            <a:ext cx="2404872" cy="274320"/>
          </a:xfrm>
          <a:prstGeom prst="rect">
            <a:avLst/>
          </a:prstGeom>
          <a:noFill/>
          <a:ln/>
        </p:spPr>
        <p:txBody>
          <a:bodyPr wrap="square" lIns="0" tIns="0" rIns="0" bIns="0" rtlCol="0" anchor="ctr"/>
          <a:lstStyle/>
          <a:p>
            <a:pPr algn="l" indent="0" marL="0">
              <a:buNone/>
            </a:pPr>
            <a:r>
              <a:rPr lang="en-US" sz="1600" b="1" dirty="0">
                <a:solidFill>
                  <a:srgbClr val="44C1A3"/>
                </a:solidFill>
                <a:latin typeface="メイリオ" pitchFamily="34" charset="0"/>
                <a:ea typeface="メイリオ" pitchFamily="34" charset="-122"/>
                <a:cs typeface="メイリオ" pitchFamily="34" charset="-120"/>
              </a:rPr>
              <a:t>塚本　瑞穂　先生</a:t>
            </a:r>
            <a:endParaRPr lang="en-US" sz="1600" dirty="0"/>
          </a:p>
        </p:txBody>
      </p:sp>
      <p:sp>
        <p:nvSpPr>
          <p:cNvPr id="13" name="Text 11"/>
          <p:cNvSpPr txBox="1"/>
          <p:nvPr/>
        </p:nvSpPr>
        <p:spPr>
          <a:xfrm>
            <a:off x="6281928" y="1801368"/>
            <a:ext cx="2404872" cy="237744"/>
          </a:xfrm>
          <a:prstGeom prst="rect">
            <a:avLst/>
          </a:prstGeom>
          <a:noFill/>
          <a:ln/>
        </p:spPr>
        <p:txBody>
          <a:bodyPr wrap="square" lIns="0" tIns="0" rIns="0" bIns="0" rtlCol="0" anchor="ctr"/>
          <a:lstStyle/>
          <a:p>
            <a:pPr algn="l" indent="0" marL="0">
              <a:buNone/>
            </a:pPr>
            <a:r>
              <a:rPr lang="en-US" sz="1100" b="1" dirty="0">
                <a:solidFill>
                  <a:srgbClr val="808080"/>
                </a:solidFill>
                <a:latin typeface="メイリオ" pitchFamily="34" charset="0"/>
                <a:ea typeface="メイリオ" pitchFamily="34" charset="-122"/>
                <a:cs typeface="メイリオ" pitchFamily="34" charset="-120"/>
              </a:rPr>
              <a:t>外国語・７年Ｂ組／Unit 4</a:t>
            </a:r>
            <a:endParaRPr lang="en-US" sz="1100" dirty="0"/>
          </a:p>
        </p:txBody>
      </p:sp>
      <p:sp>
        <p:nvSpPr>
          <p:cNvPr id="14" name="Text 12"/>
          <p:cNvSpPr txBox="1"/>
          <p:nvPr/>
        </p:nvSpPr>
        <p:spPr>
          <a:xfrm>
            <a:off x="6281928" y="2075688"/>
            <a:ext cx="2404872" cy="1609344"/>
          </a:xfrm>
          <a:prstGeom prst="rect">
            <a:avLst/>
          </a:prstGeom>
          <a:noFill/>
          <a:ln/>
        </p:spPr>
        <p:txBody>
          <a:bodyPr wrap="square" lIns="0" tIns="0" rIns="0" bIns="0" rtlCol="0" anchor="t"/>
          <a:lstStyle/>
          <a:p>
            <a:pPr algn="l" indent="0" marL="0">
              <a:lnSpc>
                <a:spcPct val="125000"/>
              </a:lnSpc>
              <a:buNone/>
            </a:pPr>
            <a:r>
              <a:rPr lang="en-US" sz="1350" b="1" dirty="0">
                <a:solidFill>
                  <a:srgbClr val="595959"/>
                </a:solidFill>
                <a:latin typeface="メイリオ" pitchFamily="34" charset="0"/>
                <a:ea typeface="メイリオ" pitchFamily="34" charset="-122"/>
                <a:cs typeface="メイリオ" pitchFamily="34" charset="-120"/>
              </a:rPr>
              <a:t>習熟度差の大きい学級で</a:t>
            </a:r>
            <a:endParaRPr lang="en-US" sz="1350" dirty="0"/>
          </a:p>
          <a:p>
            <a:pPr algn="l" indent="0" marL="0">
              <a:lnSpc>
                <a:spcPct val="125000"/>
              </a:lnSpc>
              <a:buNone/>
            </a:pPr>
            <a:r>
              <a:rPr lang="en-US" sz="1350" b="1" dirty="0">
                <a:solidFill>
                  <a:srgbClr val="EE7B08"/>
                </a:solidFill>
                <a:latin typeface="メイリオ" pitchFamily="34" charset="0"/>
                <a:ea typeface="メイリオ" pitchFamily="34" charset="-122"/>
                <a:cs typeface="メイリオ" pitchFamily="34" charset="-120"/>
              </a:rPr>
              <a:t>・発表前にペアで共有</a:t>
            </a:r>
            <a:endParaRPr lang="en-US" sz="1350" dirty="0"/>
          </a:p>
          <a:p>
            <a:pPr algn="l" indent="0" marL="0">
              <a:lnSpc>
                <a:spcPct val="125000"/>
              </a:lnSpc>
              <a:buNone/>
            </a:pPr>
            <a:r>
              <a:rPr lang="en-US" sz="1350" b="1" dirty="0">
                <a:solidFill>
                  <a:srgbClr val="EE7B08"/>
                </a:solidFill>
                <a:latin typeface="メイリオ" pitchFamily="34" charset="0"/>
                <a:ea typeface="メイリオ" pitchFamily="34" charset="-122"/>
                <a:cs typeface="メイリオ" pitchFamily="34" charset="-120"/>
              </a:rPr>
              <a:t>・全員に発話の機会</a:t>
            </a:r>
            <a:endParaRPr lang="en-US" sz="1350" dirty="0"/>
          </a:p>
          <a:p>
            <a:pPr algn="l" indent="0" marL="0">
              <a:lnSpc>
                <a:spcPct val="125000"/>
              </a:lnSpc>
              <a:buNone/>
            </a:pPr>
            <a:r>
              <a:rPr lang="en-US" sz="1350" b="1" dirty="0">
                <a:solidFill>
                  <a:srgbClr val="595959"/>
                </a:solidFill>
                <a:latin typeface="メイリオ" pitchFamily="34" charset="0"/>
                <a:ea typeface="メイリオ" pitchFamily="34" charset="-122"/>
                <a:cs typeface="メイリオ" pitchFamily="34" charset="-120"/>
              </a:rPr>
              <a:t>不安を減らし、誰もが</a:t>
            </a:r>
            <a:endParaRPr lang="en-US" sz="1350" dirty="0"/>
          </a:p>
          <a:p>
            <a:pPr algn="l" indent="0" marL="0">
              <a:lnSpc>
                <a:spcPct val="125000"/>
              </a:lnSpc>
              <a:buNone/>
            </a:pPr>
            <a:r>
              <a:rPr lang="en-US" sz="1350" b="1" dirty="0">
                <a:solidFill>
                  <a:srgbClr val="595959"/>
                </a:solidFill>
                <a:latin typeface="メイリオ" pitchFamily="34" charset="0"/>
                <a:ea typeface="メイリオ" pitchFamily="34" charset="-122"/>
                <a:cs typeface="メイリオ" pitchFamily="34" charset="-120"/>
              </a:rPr>
              <a:t>参加できる場をつくって</a:t>
            </a:r>
            <a:endParaRPr lang="en-US" sz="1350" dirty="0"/>
          </a:p>
          <a:p>
            <a:pPr algn="l" indent="0" marL="0">
              <a:lnSpc>
                <a:spcPct val="125000"/>
              </a:lnSpc>
              <a:buNone/>
            </a:pPr>
            <a:r>
              <a:rPr lang="en-US" sz="1350" b="1" dirty="0">
                <a:solidFill>
                  <a:srgbClr val="595959"/>
                </a:solidFill>
                <a:latin typeface="メイリオ" pitchFamily="34" charset="0"/>
                <a:ea typeface="メイリオ" pitchFamily="34" charset="-122"/>
                <a:cs typeface="メイリオ" pitchFamily="34" charset="-120"/>
              </a:rPr>
              <a:t>いた。</a:t>
            </a:r>
            <a:endParaRPr lang="en-US" sz="1350" dirty="0"/>
          </a:p>
        </p:txBody>
      </p:sp>
      <p:sp>
        <p:nvSpPr>
          <p:cNvPr id="15" name="Text 13"/>
          <p:cNvSpPr txBox="1"/>
          <p:nvPr/>
        </p:nvSpPr>
        <p:spPr>
          <a:xfrm>
            <a:off x="320040" y="3977640"/>
            <a:ext cx="8503920" cy="822960"/>
          </a:xfrm>
          <a:prstGeom prst="rect">
            <a:avLst/>
          </a:prstGeom>
          <a:noFill/>
          <a:ln/>
        </p:spPr>
        <p:txBody>
          <a:bodyPr wrap="square" lIns="0" tIns="0" rIns="0" bIns="0" rtlCol="0" anchor="t"/>
          <a:lstStyle/>
          <a:p>
            <a:pPr algn="l" indent="0" marL="0">
              <a:lnSpc>
                <a:spcPct val="120000"/>
              </a:lnSpc>
              <a:buNone/>
            </a:pPr>
            <a:r>
              <a:rPr lang="en-US" sz="1600" b="1" dirty="0">
                <a:solidFill>
                  <a:srgbClr val="595959"/>
                </a:solidFill>
                <a:latin typeface="メイリオ" pitchFamily="34" charset="0"/>
                <a:ea typeface="メイリオ" pitchFamily="34" charset="-122"/>
                <a:cs typeface="メイリオ" pitchFamily="34" charset="-120"/>
              </a:rPr>
              <a:t>子どもたちは「認められる」よりも、</a:t>
            </a:r>
            <a:pPr algn="l" indent="0" marL="0">
              <a:lnSpc>
                <a:spcPct val="120000"/>
              </a:lnSpc>
              <a:buNone/>
            </a:pPr>
            <a:r>
              <a:rPr lang="en-US" sz="1600" b="1" dirty="0">
                <a:solidFill>
                  <a:srgbClr val="EE7B08"/>
                </a:solidFill>
                <a:latin typeface="メイリオ" pitchFamily="34" charset="0"/>
                <a:ea typeface="メイリオ" pitchFamily="34" charset="-122"/>
                <a:cs typeface="メイリオ" pitchFamily="34" charset="-120"/>
              </a:rPr>
              <a:t>「自分で成長を実感する」</a:t>
            </a:r>
            <a:pPr algn="l" indent="0" marL="0">
              <a:lnSpc>
                <a:spcPct val="120000"/>
              </a:lnSpc>
              <a:buNone/>
            </a:pPr>
            <a:r>
              <a:rPr lang="en-US" sz="1600" b="1" dirty="0">
                <a:solidFill>
                  <a:srgbClr val="595959"/>
                </a:solidFill>
                <a:latin typeface="メイリオ" pitchFamily="34" charset="0"/>
                <a:ea typeface="メイリオ" pitchFamily="34" charset="-122"/>
                <a:cs typeface="メイリオ" pitchFamily="34" charset="-120"/>
              </a:rPr>
              <a:t>経験を</a:t>
            </a:r>
            <a:endParaRPr lang="en-US" sz="1600" dirty="0"/>
          </a:p>
          <a:p>
            <a:pPr algn="l" indent="0" marL="0">
              <a:lnSpc>
                <a:spcPct val="120000"/>
              </a:lnSpc>
              <a:buNone/>
            </a:pPr>
            <a:r>
              <a:rPr lang="en-US" sz="1600" b="1" dirty="0">
                <a:solidFill>
                  <a:srgbClr val="595959"/>
                </a:solidFill>
                <a:latin typeface="メイリオ" pitchFamily="34" charset="0"/>
                <a:ea typeface="メイリオ" pitchFamily="34" charset="-122"/>
                <a:cs typeface="メイリオ" pitchFamily="34" charset="-120"/>
              </a:rPr>
              <a:t>積み重ねていた。</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0" y="-9144"/>
            <a:ext cx="9144000" cy="1161288"/>
          </a:xfrm>
          <a:prstGeom prst="rect">
            <a:avLst/>
          </a:prstGeom>
          <a:solidFill>
            <a:srgbClr val="44C1A3"/>
          </a:solidFill>
          <a:ln/>
        </p:spPr>
        <p:txBody>
          <a:bodyPr wrap="square" lIns="0" tIns="0" rIns="0" bIns="0" rtlCol="0" anchor="ctr"/>
          <a:lstStyle/>
          <a:p>
            <a:pPr algn="l" indent="0" marL="0">
              <a:lnSpc>
                <a:spcPct val="120000"/>
              </a:lnSpc>
              <a:buNone/>
            </a:pPr>
            <a:r>
              <a:rPr lang="en-US" sz="3000" b="1" dirty="0">
                <a:solidFill>
                  <a:srgbClr val="FFFFFF"/>
                </a:solidFill>
                <a:latin typeface="メイリオ" pitchFamily="34" charset="0"/>
                <a:ea typeface="メイリオ" pitchFamily="34" charset="-122"/>
                <a:cs typeface="メイリオ" pitchFamily="34" charset="-120"/>
              </a:rPr>
              <a:t>　２　５校時の授業について</a:t>
            </a:r>
            <a:endParaRPr lang="en-US" sz="3000" dirty="0"/>
          </a:p>
          <a:p>
            <a:pPr algn="l" indent="0" marL="0">
              <a:lnSpc>
                <a:spcPct val="120000"/>
              </a:lnSpc>
              <a:buNone/>
            </a:pPr>
            <a:r>
              <a:rPr lang="en-US" sz="2800" b="1" dirty="0">
                <a:solidFill>
                  <a:srgbClr val="FFFFFF"/>
                </a:solidFill>
                <a:latin typeface="メイリオ" pitchFamily="34" charset="0"/>
                <a:ea typeface="メイリオ" pitchFamily="34" charset="-122"/>
                <a:cs typeface="メイリオ" pitchFamily="34" charset="-120"/>
              </a:rPr>
              <a:t>　②　対話・協働</a:t>
            </a:r>
            <a:endParaRPr lang="en-US" sz="3000" dirty="0"/>
          </a:p>
        </p:txBody>
      </p:sp>
      <p:sp>
        <p:nvSpPr>
          <p:cNvPr id="3" name="Text 1"/>
          <p:cNvSpPr txBox="1"/>
          <p:nvPr/>
        </p:nvSpPr>
        <p:spPr>
          <a:xfrm>
            <a:off x="475488" y="1444752"/>
            <a:ext cx="8193024" cy="868680"/>
          </a:xfrm>
          <a:prstGeom prst="rect">
            <a:avLst/>
          </a:prstGeom>
          <a:noFill/>
          <a:ln/>
        </p:spPr>
        <p:txBody>
          <a:bodyPr wrap="square" lIns="0" tIns="0" rIns="0" bIns="0" rtlCol="0" anchor="t"/>
          <a:lstStyle/>
          <a:p>
            <a:pPr algn="l" indent="0" marL="0">
              <a:lnSpc>
                <a:spcPct val="120000"/>
              </a:lnSpc>
              <a:buNone/>
            </a:pPr>
            <a:r>
              <a:rPr lang="en-US" sz="2200" b="1" dirty="0">
                <a:solidFill>
                  <a:srgbClr val="595959"/>
                </a:solidFill>
                <a:latin typeface="メイリオ" pitchFamily="34" charset="0"/>
                <a:ea typeface="メイリオ" pitchFamily="34" charset="-122"/>
                <a:cs typeface="メイリオ" pitchFamily="34" charset="-120"/>
              </a:rPr>
              <a:t>本校の学力調査結果からは、</a:t>
            </a:r>
            <a:endParaRPr lang="en-US" sz="2200" dirty="0"/>
          </a:p>
          <a:p>
            <a:pPr algn="l" indent="0" marL="0">
              <a:lnSpc>
                <a:spcPct val="120000"/>
              </a:lnSpc>
              <a:buNone/>
            </a:pPr>
            <a:r>
              <a:rPr lang="en-US" sz="2200" b="1" dirty="0">
                <a:solidFill>
                  <a:srgbClr val="595959"/>
                </a:solidFill>
                <a:latin typeface="メイリオ" pitchFamily="34" charset="0"/>
                <a:ea typeface="メイリオ" pitchFamily="34" charset="-122"/>
                <a:cs typeface="メイリオ" pitchFamily="34" charset="-120"/>
              </a:rPr>
              <a:t>　</a:t>
            </a:r>
            <a:pPr algn="l" indent="0" marL="0">
              <a:lnSpc>
                <a:spcPct val="120000"/>
              </a:lnSpc>
              <a:buNone/>
            </a:pPr>
            <a:r>
              <a:rPr lang="en-US" sz="2200" b="1" dirty="0">
                <a:solidFill>
                  <a:srgbClr val="EE7B08"/>
                </a:solidFill>
                <a:latin typeface="メイリオ" pitchFamily="34" charset="0"/>
                <a:ea typeface="メイリオ" pitchFamily="34" charset="-122"/>
                <a:cs typeface="メイリオ" pitchFamily="34" charset="-120"/>
              </a:rPr>
              <a:t>主体的な学びの土台</a:t>
            </a:r>
            <a:pPr algn="l" indent="0" marL="0">
              <a:lnSpc>
                <a:spcPct val="120000"/>
              </a:lnSpc>
              <a:buNone/>
            </a:pPr>
            <a:r>
              <a:rPr lang="en-US" sz="2200" b="1" dirty="0">
                <a:solidFill>
                  <a:srgbClr val="595959"/>
                </a:solidFill>
                <a:latin typeface="メイリオ" pitchFamily="34" charset="0"/>
                <a:ea typeface="メイリオ" pitchFamily="34" charset="-122"/>
                <a:cs typeface="メイリオ" pitchFamily="34" charset="-120"/>
              </a:rPr>
              <a:t>が形成されていることが分かる。</a:t>
            </a:r>
            <a:endParaRPr lang="en-US" sz="2200" dirty="0"/>
          </a:p>
        </p:txBody>
      </p:sp>
      <p:sp>
        <p:nvSpPr>
          <p:cNvPr id="4" name="Text 2"/>
          <p:cNvSpPr txBox="1"/>
          <p:nvPr/>
        </p:nvSpPr>
        <p:spPr>
          <a:xfrm>
            <a:off x="475488" y="2514600"/>
            <a:ext cx="8193024" cy="868680"/>
          </a:xfrm>
          <a:prstGeom prst="rect">
            <a:avLst/>
          </a:prstGeom>
          <a:noFill/>
          <a:ln/>
        </p:spPr>
        <p:txBody>
          <a:bodyPr wrap="square" lIns="0" tIns="0" rIns="0" bIns="0" rtlCol="0" anchor="t"/>
          <a:lstStyle/>
          <a:p>
            <a:pPr algn="l" indent="0" marL="0">
              <a:lnSpc>
                <a:spcPct val="120000"/>
              </a:lnSpc>
              <a:buNone/>
            </a:pPr>
            <a:r>
              <a:rPr lang="en-US" sz="2200" b="1" dirty="0">
                <a:solidFill>
                  <a:srgbClr val="595959"/>
                </a:solidFill>
                <a:latin typeface="メイリオ" pitchFamily="34" charset="0"/>
                <a:ea typeface="メイリオ" pitchFamily="34" charset="-122"/>
                <a:cs typeface="メイリオ" pitchFamily="34" charset="-120"/>
              </a:rPr>
              <a:t>その背景にあるのは、日常的に行われている</a:t>
            </a:r>
            <a:endParaRPr lang="en-US" sz="2200" dirty="0"/>
          </a:p>
          <a:p>
            <a:pPr algn="l" indent="0" marL="0">
              <a:lnSpc>
                <a:spcPct val="120000"/>
              </a:lnSpc>
              <a:buNone/>
            </a:pPr>
            <a:r>
              <a:rPr lang="en-US" sz="2200" b="1" dirty="0">
                <a:solidFill>
                  <a:srgbClr val="595959"/>
                </a:solidFill>
                <a:latin typeface="メイリオ" pitchFamily="34" charset="0"/>
                <a:ea typeface="メイリオ" pitchFamily="34" charset="-122"/>
                <a:cs typeface="メイリオ" pitchFamily="34" charset="-120"/>
              </a:rPr>
              <a:t>　</a:t>
            </a:r>
            <a:pPr algn="l" indent="0" marL="0">
              <a:lnSpc>
                <a:spcPct val="120000"/>
              </a:lnSpc>
              <a:buNone/>
            </a:pPr>
            <a:r>
              <a:rPr lang="en-US" sz="2200" b="1" dirty="0">
                <a:solidFill>
                  <a:srgbClr val="EE7B08"/>
                </a:solidFill>
                <a:latin typeface="メイリオ" pitchFamily="34" charset="0"/>
                <a:ea typeface="メイリオ" pitchFamily="34" charset="-122"/>
                <a:cs typeface="メイリオ" pitchFamily="34" charset="-120"/>
              </a:rPr>
              <a:t>「対話を通した学び」</a:t>
            </a:r>
            <a:pPr algn="l" indent="0" marL="0">
              <a:lnSpc>
                <a:spcPct val="120000"/>
              </a:lnSpc>
              <a:buNone/>
            </a:pPr>
            <a:r>
              <a:rPr lang="en-US" sz="2200" b="1" dirty="0">
                <a:solidFill>
                  <a:srgbClr val="595959"/>
                </a:solidFill>
                <a:latin typeface="メイリオ" pitchFamily="34" charset="0"/>
                <a:ea typeface="メイリオ" pitchFamily="34" charset="-122"/>
                <a:cs typeface="メイリオ" pitchFamily="34" charset="-120"/>
              </a:rPr>
              <a:t>である。</a:t>
            </a:r>
            <a:endParaRPr lang="en-US" sz="2200" dirty="0"/>
          </a:p>
        </p:txBody>
      </p:sp>
      <p:sp>
        <p:nvSpPr>
          <p:cNvPr id="5" name="Shape 3"/>
          <p:cNvSpPr/>
          <p:nvPr/>
        </p:nvSpPr>
        <p:spPr>
          <a:xfrm>
            <a:off x="475488" y="3611880"/>
            <a:ext cx="8193024" cy="822960"/>
          </a:xfrm>
          <a:prstGeom prst="roundRect">
            <a:avLst>
              <a:gd name="adj" fmla="val 6667"/>
            </a:avLst>
          </a:prstGeom>
          <a:solidFill>
            <a:srgbClr val="E9F7F3"/>
          </a:solidFill>
          <a:ln w="12700">
            <a:solidFill>
              <a:srgbClr val="B9E5DA"/>
            </a:solidFill>
            <a:prstDash val="solid"/>
          </a:ln>
        </p:spPr>
      </p:sp>
      <p:sp>
        <p:nvSpPr>
          <p:cNvPr id="6" name="Text 4"/>
          <p:cNvSpPr txBox="1"/>
          <p:nvPr/>
        </p:nvSpPr>
        <p:spPr>
          <a:xfrm>
            <a:off x="731520" y="3611880"/>
            <a:ext cx="7680960" cy="822960"/>
          </a:xfrm>
          <a:prstGeom prst="rect">
            <a:avLst/>
          </a:prstGeom>
          <a:noFill/>
          <a:ln/>
        </p:spPr>
        <p:txBody>
          <a:bodyPr wrap="square" lIns="0" tIns="0" rIns="0" bIns="0" rtlCol="0" anchor="ctr"/>
          <a:lstStyle/>
          <a:p>
            <a:pPr algn="l" indent="0" marL="0">
              <a:buNone/>
            </a:pPr>
            <a:r>
              <a:rPr lang="en-US" sz="1600" b="1" dirty="0">
                <a:solidFill>
                  <a:srgbClr val="595959"/>
                </a:solidFill>
                <a:latin typeface="メイリオ" pitchFamily="34" charset="0"/>
                <a:ea typeface="メイリオ" pitchFamily="34" charset="-122"/>
                <a:cs typeface="メイリオ" pitchFamily="34" charset="-120"/>
              </a:rPr>
              <a:t>本日の３つの授業にも、対話が学びを深める場面が表れていた。</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0" y="-9144"/>
            <a:ext cx="9144000" cy="1161288"/>
          </a:xfrm>
          <a:prstGeom prst="rect">
            <a:avLst/>
          </a:prstGeom>
          <a:solidFill>
            <a:srgbClr val="44C1A3"/>
          </a:solidFill>
          <a:ln/>
        </p:spPr>
        <p:txBody>
          <a:bodyPr wrap="square" lIns="0" tIns="0" rIns="0" bIns="0" rtlCol="0" anchor="ctr"/>
          <a:lstStyle/>
          <a:p>
            <a:pPr algn="l" indent="0" marL="0">
              <a:lnSpc>
                <a:spcPct val="120000"/>
              </a:lnSpc>
              <a:buNone/>
            </a:pPr>
            <a:r>
              <a:rPr lang="en-US" sz="3000" b="1" dirty="0">
                <a:solidFill>
                  <a:srgbClr val="FFFFFF"/>
                </a:solidFill>
                <a:latin typeface="メイリオ" pitchFamily="34" charset="0"/>
                <a:ea typeface="メイリオ" pitchFamily="34" charset="-122"/>
                <a:cs typeface="メイリオ" pitchFamily="34" charset="-120"/>
              </a:rPr>
              <a:t>　２　５校時の授業について</a:t>
            </a:r>
            <a:endParaRPr lang="en-US" sz="3000" dirty="0"/>
          </a:p>
          <a:p>
            <a:pPr algn="l" indent="0" marL="0">
              <a:lnSpc>
                <a:spcPct val="120000"/>
              </a:lnSpc>
              <a:buNone/>
            </a:pPr>
            <a:r>
              <a:rPr lang="en-US" sz="2800" b="1" dirty="0">
                <a:solidFill>
                  <a:srgbClr val="FFFFFF"/>
                </a:solidFill>
                <a:latin typeface="メイリオ" pitchFamily="34" charset="0"/>
                <a:ea typeface="メイリオ" pitchFamily="34" charset="-122"/>
                <a:cs typeface="メイリオ" pitchFamily="34" charset="-120"/>
              </a:rPr>
              <a:t>　②　対話によって学びは深まる</a:t>
            </a:r>
            <a:endParaRPr lang="en-US" sz="3000" dirty="0"/>
          </a:p>
        </p:txBody>
      </p:sp>
      <p:sp>
        <p:nvSpPr>
          <p:cNvPr id="3" name="Shape 1"/>
          <p:cNvSpPr/>
          <p:nvPr/>
        </p:nvSpPr>
        <p:spPr>
          <a:xfrm>
            <a:off x="320040" y="1417320"/>
            <a:ext cx="2697480" cy="2395728"/>
          </a:xfrm>
          <a:prstGeom prst="roundRect">
            <a:avLst>
              <a:gd name="adj" fmla="val 2290"/>
            </a:avLst>
          </a:prstGeom>
          <a:solidFill>
            <a:srgbClr val="E9F7F3"/>
          </a:solidFill>
          <a:ln w="12700">
            <a:solidFill>
              <a:srgbClr val="B9E5DA"/>
            </a:solidFill>
            <a:prstDash val="solid"/>
          </a:ln>
        </p:spPr>
      </p:sp>
      <p:sp>
        <p:nvSpPr>
          <p:cNvPr id="4" name="Text 2"/>
          <p:cNvSpPr txBox="1"/>
          <p:nvPr/>
        </p:nvSpPr>
        <p:spPr>
          <a:xfrm>
            <a:off x="466344" y="1527048"/>
            <a:ext cx="2404872" cy="274320"/>
          </a:xfrm>
          <a:prstGeom prst="rect">
            <a:avLst/>
          </a:prstGeom>
          <a:noFill/>
          <a:ln/>
        </p:spPr>
        <p:txBody>
          <a:bodyPr wrap="square" lIns="0" tIns="0" rIns="0" bIns="0" rtlCol="0" anchor="ctr"/>
          <a:lstStyle/>
          <a:p>
            <a:pPr algn="l" indent="0" marL="0">
              <a:buNone/>
            </a:pPr>
            <a:r>
              <a:rPr lang="en-US" sz="1600" b="1" dirty="0">
                <a:solidFill>
                  <a:srgbClr val="44C1A3"/>
                </a:solidFill>
                <a:latin typeface="メイリオ" pitchFamily="34" charset="0"/>
                <a:ea typeface="メイリオ" pitchFamily="34" charset="-122"/>
                <a:cs typeface="メイリオ" pitchFamily="34" charset="-120"/>
              </a:rPr>
              <a:t>保健体育</a:t>
            </a:r>
            <a:endParaRPr lang="en-US" sz="1600" dirty="0"/>
          </a:p>
        </p:txBody>
      </p:sp>
      <p:sp>
        <p:nvSpPr>
          <p:cNvPr id="5" name="Text 3"/>
          <p:cNvSpPr txBox="1"/>
          <p:nvPr/>
        </p:nvSpPr>
        <p:spPr>
          <a:xfrm>
            <a:off x="466344" y="1801368"/>
            <a:ext cx="2404872" cy="237744"/>
          </a:xfrm>
          <a:prstGeom prst="rect">
            <a:avLst/>
          </a:prstGeom>
          <a:noFill/>
          <a:ln/>
        </p:spPr>
        <p:txBody>
          <a:bodyPr wrap="square" lIns="0" tIns="0" rIns="0" bIns="0" rtlCol="0" anchor="ctr"/>
          <a:lstStyle/>
          <a:p>
            <a:pPr algn="l" indent="0" marL="0">
              <a:buNone/>
            </a:pPr>
            <a:r>
              <a:rPr lang="en-US" sz="1100" b="1" dirty="0">
                <a:solidFill>
                  <a:srgbClr val="808080"/>
                </a:solidFill>
                <a:latin typeface="メイリオ" pitchFamily="34" charset="0"/>
                <a:ea typeface="メイリオ" pitchFamily="34" charset="-122"/>
                <a:cs typeface="メイリオ" pitchFamily="34" charset="-120"/>
              </a:rPr>
              <a:t>田口　和磨　先生</a:t>
            </a:r>
            <a:endParaRPr lang="en-US" sz="1100" dirty="0"/>
          </a:p>
        </p:txBody>
      </p:sp>
      <p:sp>
        <p:nvSpPr>
          <p:cNvPr id="6" name="Text 4"/>
          <p:cNvSpPr txBox="1"/>
          <p:nvPr/>
        </p:nvSpPr>
        <p:spPr>
          <a:xfrm>
            <a:off x="466344" y="2075688"/>
            <a:ext cx="2404872" cy="1609344"/>
          </a:xfrm>
          <a:prstGeom prst="rect">
            <a:avLst/>
          </a:prstGeom>
          <a:noFill/>
          <a:ln/>
        </p:spPr>
        <p:txBody>
          <a:bodyPr wrap="square" lIns="0" tIns="0" rIns="0" bIns="0" rtlCol="0" anchor="t"/>
          <a:lstStyle/>
          <a:p>
            <a:pPr algn="l" indent="0" marL="0">
              <a:lnSpc>
                <a:spcPct val="125000"/>
              </a:lnSpc>
              <a:buNone/>
            </a:pPr>
            <a:r>
              <a:rPr lang="en-US" sz="1350" b="1" dirty="0">
                <a:solidFill>
                  <a:srgbClr val="595959"/>
                </a:solidFill>
                <a:latin typeface="メイリオ" pitchFamily="34" charset="0"/>
                <a:ea typeface="メイリオ" pitchFamily="34" charset="-122"/>
                <a:cs typeface="メイリオ" pitchFamily="34" charset="-120"/>
              </a:rPr>
              <a:t>バディ同士で</a:t>
            </a:r>
            <a:endParaRPr lang="en-US" sz="1350" dirty="0"/>
          </a:p>
          <a:p>
            <a:pPr algn="l" indent="0" marL="0">
              <a:lnSpc>
                <a:spcPct val="125000"/>
              </a:lnSpc>
              <a:buNone/>
            </a:pPr>
            <a:r>
              <a:rPr lang="en-US" sz="1350" b="1" dirty="0">
                <a:solidFill>
                  <a:srgbClr val="EE7B08"/>
                </a:solidFill>
                <a:latin typeface="メイリオ" pitchFamily="34" charset="0"/>
                <a:ea typeface="メイリオ" pitchFamily="34" charset="-122"/>
                <a:cs typeface="メイリオ" pitchFamily="34" charset="-120"/>
              </a:rPr>
              <a:t>互いの泳ぎを見て</a:t>
            </a:r>
            <a:endParaRPr lang="en-US" sz="1350" dirty="0"/>
          </a:p>
          <a:p>
            <a:pPr algn="l" indent="0" marL="0">
              <a:lnSpc>
                <a:spcPct val="125000"/>
              </a:lnSpc>
              <a:buNone/>
            </a:pPr>
            <a:r>
              <a:rPr lang="en-US" sz="1350" b="1" dirty="0">
                <a:solidFill>
                  <a:srgbClr val="EE7B08"/>
                </a:solidFill>
                <a:latin typeface="メイリオ" pitchFamily="34" charset="0"/>
                <a:ea typeface="メイリオ" pitchFamily="34" charset="-122"/>
                <a:cs typeface="メイリオ" pitchFamily="34" charset="-120"/>
              </a:rPr>
              <a:t>改善点を考えていた。</a:t>
            </a:r>
            <a:endParaRPr lang="en-US" sz="1350" dirty="0"/>
          </a:p>
          <a:p>
            <a:pPr algn="l" indent="0" marL="0">
              <a:lnSpc>
                <a:spcPct val="125000"/>
              </a:lnSpc>
              <a:buNone/>
            </a:pPr>
            <a:r>
              <a:rPr lang="en-US" sz="1350" b="1" dirty="0">
                <a:solidFill>
                  <a:srgbClr val="595959"/>
                </a:solidFill>
                <a:latin typeface="メイリオ" pitchFamily="34" charset="0"/>
                <a:ea typeface="メイリオ" pitchFamily="34" charset="-122"/>
                <a:cs typeface="メイリオ" pitchFamily="34" charset="-120"/>
              </a:rPr>
              <a:t>得意な生徒が助言役を</a:t>
            </a:r>
            <a:endParaRPr lang="en-US" sz="1350" dirty="0"/>
          </a:p>
          <a:p>
            <a:pPr algn="l" indent="0" marL="0">
              <a:lnSpc>
                <a:spcPct val="125000"/>
              </a:lnSpc>
              <a:buNone/>
            </a:pPr>
            <a:r>
              <a:rPr lang="en-US" sz="1350" b="1" dirty="0">
                <a:solidFill>
                  <a:srgbClr val="595959"/>
                </a:solidFill>
                <a:latin typeface="メイリオ" pitchFamily="34" charset="0"/>
                <a:ea typeface="メイリオ" pitchFamily="34" charset="-122"/>
                <a:cs typeface="メイリオ" pitchFamily="34" charset="-120"/>
              </a:rPr>
              <a:t>担い、全員に役割が</a:t>
            </a:r>
            <a:endParaRPr lang="en-US" sz="1350" dirty="0"/>
          </a:p>
          <a:p>
            <a:pPr algn="l" indent="0" marL="0">
              <a:lnSpc>
                <a:spcPct val="125000"/>
              </a:lnSpc>
              <a:buNone/>
            </a:pPr>
            <a:r>
              <a:rPr lang="en-US" sz="1350" b="1" dirty="0">
                <a:solidFill>
                  <a:srgbClr val="595959"/>
                </a:solidFill>
                <a:latin typeface="メイリオ" pitchFamily="34" charset="0"/>
                <a:ea typeface="メイリオ" pitchFamily="34" charset="-122"/>
                <a:cs typeface="メイリオ" pitchFamily="34" charset="-120"/>
              </a:rPr>
              <a:t>あった。</a:t>
            </a:r>
            <a:endParaRPr lang="en-US" sz="1350" dirty="0"/>
          </a:p>
        </p:txBody>
      </p:sp>
      <p:sp>
        <p:nvSpPr>
          <p:cNvPr id="7" name="Shape 5"/>
          <p:cNvSpPr/>
          <p:nvPr/>
        </p:nvSpPr>
        <p:spPr>
          <a:xfrm>
            <a:off x="3227832" y="1417320"/>
            <a:ext cx="2697480" cy="2395728"/>
          </a:xfrm>
          <a:prstGeom prst="roundRect">
            <a:avLst>
              <a:gd name="adj" fmla="val 2290"/>
            </a:avLst>
          </a:prstGeom>
          <a:solidFill>
            <a:srgbClr val="E9F7F3"/>
          </a:solidFill>
          <a:ln w="12700">
            <a:solidFill>
              <a:srgbClr val="B9E5DA"/>
            </a:solidFill>
            <a:prstDash val="solid"/>
          </a:ln>
        </p:spPr>
      </p:sp>
      <p:sp>
        <p:nvSpPr>
          <p:cNvPr id="8" name="Text 6"/>
          <p:cNvSpPr txBox="1"/>
          <p:nvPr/>
        </p:nvSpPr>
        <p:spPr>
          <a:xfrm>
            <a:off x="3374136" y="1527048"/>
            <a:ext cx="2404872" cy="274320"/>
          </a:xfrm>
          <a:prstGeom prst="rect">
            <a:avLst/>
          </a:prstGeom>
          <a:noFill/>
          <a:ln/>
        </p:spPr>
        <p:txBody>
          <a:bodyPr wrap="square" lIns="0" tIns="0" rIns="0" bIns="0" rtlCol="0" anchor="ctr"/>
          <a:lstStyle/>
          <a:p>
            <a:pPr algn="l" indent="0" marL="0">
              <a:buNone/>
            </a:pPr>
            <a:r>
              <a:rPr lang="en-US" sz="1600" b="1" dirty="0">
                <a:solidFill>
                  <a:srgbClr val="44C1A3"/>
                </a:solidFill>
                <a:latin typeface="メイリオ" pitchFamily="34" charset="0"/>
                <a:ea typeface="メイリオ" pitchFamily="34" charset="-122"/>
                <a:cs typeface="メイリオ" pitchFamily="34" charset="-120"/>
              </a:rPr>
              <a:t>道徳</a:t>
            </a:r>
            <a:endParaRPr lang="en-US" sz="1600" dirty="0"/>
          </a:p>
        </p:txBody>
      </p:sp>
      <p:sp>
        <p:nvSpPr>
          <p:cNvPr id="9" name="Text 7"/>
          <p:cNvSpPr txBox="1"/>
          <p:nvPr/>
        </p:nvSpPr>
        <p:spPr>
          <a:xfrm>
            <a:off x="3374136" y="1801368"/>
            <a:ext cx="2404872" cy="237744"/>
          </a:xfrm>
          <a:prstGeom prst="rect">
            <a:avLst/>
          </a:prstGeom>
          <a:noFill/>
          <a:ln/>
        </p:spPr>
        <p:txBody>
          <a:bodyPr wrap="square" lIns="0" tIns="0" rIns="0" bIns="0" rtlCol="0" anchor="ctr"/>
          <a:lstStyle/>
          <a:p>
            <a:pPr algn="l" indent="0" marL="0">
              <a:buNone/>
            </a:pPr>
            <a:r>
              <a:rPr lang="en-US" sz="1100" b="1" dirty="0">
                <a:solidFill>
                  <a:srgbClr val="808080"/>
                </a:solidFill>
                <a:latin typeface="メイリオ" pitchFamily="34" charset="0"/>
                <a:ea typeface="メイリオ" pitchFamily="34" charset="-122"/>
                <a:cs typeface="メイリオ" pitchFamily="34" charset="-120"/>
              </a:rPr>
              <a:t>東海林　静江　先生</a:t>
            </a:r>
            <a:endParaRPr lang="en-US" sz="1100" dirty="0"/>
          </a:p>
        </p:txBody>
      </p:sp>
      <p:sp>
        <p:nvSpPr>
          <p:cNvPr id="10" name="Text 8"/>
          <p:cNvSpPr txBox="1"/>
          <p:nvPr/>
        </p:nvSpPr>
        <p:spPr>
          <a:xfrm>
            <a:off x="3374136" y="2075688"/>
            <a:ext cx="2404872" cy="1609344"/>
          </a:xfrm>
          <a:prstGeom prst="rect">
            <a:avLst/>
          </a:prstGeom>
          <a:noFill/>
          <a:ln/>
        </p:spPr>
        <p:txBody>
          <a:bodyPr wrap="square" lIns="0" tIns="0" rIns="0" bIns="0" rtlCol="0" anchor="t"/>
          <a:lstStyle/>
          <a:p>
            <a:pPr algn="l" indent="0" marL="0">
              <a:lnSpc>
                <a:spcPct val="125000"/>
              </a:lnSpc>
              <a:buNone/>
            </a:pPr>
            <a:r>
              <a:rPr lang="en-US" sz="1350" b="1" dirty="0">
                <a:solidFill>
                  <a:srgbClr val="595959"/>
                </a:solidFill>
                <a:latin typeface="メイリオ" pitchFamily="34" charset="0"/>
                <a:ea typeface="メイリオ" pitchFamily="34" charset="-122"/>
                <a:cs typeface="メイリオ" pitchFamily="34" charset="-120"/>
              </a:rPr>
              <a:t>「嘘」をテーマに、</a:t>
            </a:r>
            <a:endParaRPr lang="en-US" sz="1350" dirty="0"/>
          </a:p>
          <a:p>
            <a:pPr algn="l" indent="0" marL="0">
              <a:lnSpc>
                <a:spcPct val="125000"/>
              </a:lnSpc>
              <a:buNone/>
            </a:pPr>
            <a:r>
              <a:rPr lang="en-US" sz="1350" b="1" dirty="0">
                <a:solidFill>
                  <a:srgbClr val="EE7B08"/>
                </a:solidFill>
                <a:latin typeface="メイリオ" pitchFamily="34" charset="0"/>
                <a:ea typeface="メイリオ" pitchFamily="34" charset="-122"/>
                <a:cs typeface="メイリオ" pitchFamily="34" charset="-120"/>
              </a:rPr>
              <a:t>価値観の違いについて</a:t>
            </a:r>
            <a:endParaRPr lang="en-US" sz="1350" dirty="0"/>
          </a:p>
          <a:p>
            <a:pPr algn="l" indent="0" marL="0">
              <a:lnSpc>
                <a:spcPct val="125000"/>
              </a:lnSpc>
              <a:buNone/>
            </a:pPr>
            <a:r>
              <a:rPr lang="en-US" sz="1350" b="1" dirty="0">
                <a:solidFill>
                  <a:srgbClr val="EE7B08"/>
                </a:solidFill>
                <a:latin typeface="メイリオ" pitchFamily="34" charset="0"/>
                <a:ea typeface="メイリオ" pitchFamily="34" charset="-122"/>
                <a:cs typeface="メイリオ" pitchFamily="34" charset="-120"/>
              </a:rPr>
              <a:t>議論していた。</a:t>
            </a:r>
            <a:endParaRPr lang="en-US" sz="1350" dirty="0"/>
          </a:p>
          <a:p>
            <a:pPr algn="l" indent="0" marL="0">
              <a:lnSpc>
                <a:spcPct val="125000"/>
              </a:lnSpc>
              <a:buNone/>
            </a:pPr>
            <a:r>
              <a:rPr lang="en-US" sz="1350" b="1" dirty="0">
                <a:solidFill>
                  <a:srgbClr val="595959"/>
                </a:solidFill>
                <a:latin typeface="メイリオ" pitchFamily="34" charset="0"/>
                <a:ea typeface="メイリオ" pitchFamily="34" charset="-122"/>
                <a:cs typeface="メイリオ" pitchFamily="34" charset="-120"/>
              </a:rPr>
              <a:t>発表より議論の時間を</a:t>
            </a:r>
            <a:endParaRPr lang="en-US" sz="1350" dirty="0"/>
          </a:p>
          <a:p>
            <a:pPr algn="l" indent="0" marL="0">
              <a:lnSpc>
                <a:spcPct val="125000"/>
              </a:lnSpc>
              <a:buNone/>
            </a:pPr>
            <a:r>
              <a:rPr lang="en-US" sz="1350" b="1" dirty="0">
                <a:solidFill>
                  <a:srgbClr val="595959"/>
                </a:solidFill>
                <a:latin typeface="メイリオ" pitchFamily="34" charset="0"/>
                <a:ea typeface="メイリオ" pitchFamily="34" charset="-122"/>
                <a:cs typeface="メイリオ" pitchFamily="34" charset="-120"/>
              </a:rPr>
              <a:t>重視した構成だった。</a:t>
            </a:r>
            <a:endParaRPr lang="en-US" sz="1350" dirty="0"/>
          </a:p>
        </p:txBody>
      </p:sp>
      <p:sp>
        <p:nvSpPr>
          <p:cNvPr id="11" name="Shape 9"/>
          <p:cNvSpPr/>
          <p:nvPr/>
        </p:nvSpPr>
        <p:spPr>
          <a:xfrm>
            <a:off x="6135624" y="1417320"/>
            <a:ext cx="2697480" cy="2395728"/>
          </a:xfrm>
          <a:prstGeom prst="roundRect">
            <a:avLst>
              <a:gd name="adj" fmla="val 2290"/>
            </a:avLst>
          </a:prstGeom>
          <a:solidFill>
            <a:srgbClr val="E9F7F3"/>
          </a:solidFill>
          <a:ln w="12700">
            <a:solidFill>
              <a:srgbClr val="B9E5DA"/>
            </a:solidFill>
            <a:prstDash val="solid"/>
          </a:ln>
        </p:spPr>
      </p:sp>
      <p:sp>
        <p:nvSpPr>
          <p:cNvPr id="12" name="Text 10"/>
          <p:cNvSpPr txBox="1"/>
          <p:nvPr/>
        </p:nvSpPr>
        <p:spPr>
          <a:xfrm>
            <a:off x="6281928" y="1527048"/>
            <a:ext cx="2404872" cy="274320"/>
          </a:xfrm>
          <a:prstGeom prst="rect">
            <a:avLst/>
          </a:prstGeom>
          <a:noFill/>
          <a:ln/>
        </p:spPr>
        <p:txBody>
          <a:bodyPr wrap="square" lIns="0" tIns="0" rIns="0" bIns="0" rtlCol="0" anchor="ctr"/>
          <a:lstStyle/>
          <a:p>
            <a:pPr algn="l" indent="0" marL="0">
              <a:buNone/>
            </a:pPr>
            <a:r>
              <a:rPr lang="en-US" sz="1600" b="1" dirty="0">
                <a:solidFill>
                  <a:srgbClr val="44C1A3"/>
                </a:solidFill>
                <a:latin typeface="メイリオ" pitchFamily="34" charset="0"/>
                <a:ea typeface="メイリオ" pitchFamily="34" charset="-122"/>
                <a:cs typeface="メイリオ" pitchFamily="34" charset="-120"/>
              </a:rPr>
              <a:t>外国語</a:t>
            </a:r>
            <a:endParaRPr lang="en-US" sz="1600" dirty="0"/>
          </a:p>
        </p:txBody>
      </p:sp>
      <p:sp>
        <p:nvSpPr>
          <p:cNvPr id="13" name="Text 11"/>
          <p:cNvSpPr txBox="1"/>
          <p:nvPr/>
        </p:nvSpPr>
        <p:spPr>
          <a:xfrm>
            <a:off x="6281928" y="1801368"/>
            <a:ext cx="2404872" cy="237744"/>
          </a:xfrm>
          <a:prstGeom prst="rect">
            <a:avLst/>
          </a:prstGeom>
          <a:noFill/>
          <a:ln/>
        </p:spPr>
        <p:txBody>
          <a:bodyPr wrap="square" lIns="0" tIns="0" rIns="0" bIns="0" rtlCol="0" anchor="ctr"/>
          <a:lstStyle/>
          <a:p>
            <a:pPr algn="l" indent="0" marL="0">
              <a:buNone/>
            </a:pPr>
            <a:r>
              <a:rPr lang="en-US" sz="1100" b="1" dirty="0">
                <a:solidFill>
                  <a:srgbClr val="808080"/>
                </a:solidFill>
                <a:latin typeface="メイリオ" pitchFamily="34" charset="0"/>
                <a:ea typeface="メイリオ" pitchFamily="34" charset="-122"/>
                <a:cs typeface="メイリオ" pitchFamily="34" charset="-120"/>
              </a:rPr>
              <a:t>塚本　瑞穂　先生</a:t>
            </a:r>
            <a:endParaRPr lang="en-US" sz="1100" dirty="0"/>
          </a:p>
        </p:txBody>
      </p:sp>
      <p:sp>
        <p:nvSpPr>
          <p:cNvPr id="14" name="Text 12"/>
          <p:cNvSpPr txBox="1"/>
          <p:nvPr/>
        </p:nvSpPr>
        <p:spPr>
          <a:xfrm>
            <a:off x="6281928" y="2075688"/>
            <a:ext cx="2404872" cy="1609344"/>
          </a:xfrm>
          <a:prstGeom prst="rect">
            <a:avLst/>
          </a:prstGeom>
          <a:noFill/>
          <a:ln/>
        </p:spPr>
        <p:txBody>
          <a:bodyPr wrap="square" lIns="0" tIns="0" rIns="0" bIns="0" rtlCol="0" anchor="t"/>
          <a:lstStyle/>
          <a:p>
            <a:pPr algn="l" indent="0" marL="0">
              <a:lnSpc>
                <a:spcPct val="125000"/>
              </a:lnSpc>
              <a:buNone/>
            </a:pPr>
            <a:r>
              <a:rPr lang="en-US" sz="1350" b="1" dirty="0">
                <a:solidFill>
                  <a:srgbClr val="595959"/>
                </a:solidFill>
                <a:latin typeface="メイリオ" pitchFamily="34" charset="0"/>
                <a:ea typeface="メイリオ" pitchFamily="34" charset="-122"/>
                <a:cs typeface="メイリオ" pitchFamily="34" charset="-120"/>
              </a:rPr>
              <a:t>ペアでのやり取りから</a:t>
            </a:r>
            <a:endParaRPr lang="en-US" sz="1350" dirty="0"/>
          </a:p>
          <a:p>
            <a:pPr algn="l" indent="0" marL="0">
              <a:lnSpc>
                <a:spcPct val="125000"/>
              </a:lnSpc>
              <a:buNone/>
            </a:pPr>
            <a:r>
              <a:rPr lang="en-US" sz="1350" b="1" dirty="0">
                <a:solidFill>
                  <a:srgbClr val="EE7B08"/>
                </a:solidFill>
                <a:latin typeface="メイリオ" pitchFamily="34" charset="0"/>
                <a:ea typeface="メイリオ" pitchFamily="34" charset="-122"/>
                <a:cs typeface="メイリオ" pitchFamily="34" charset="-120"/>
              </a:rPr>
              <a:t>全体の学びへつなぐ。</a:t>
            </a:r>
            <a:endParaRPr lang="en-US" sz="1350" dirty="0"/>
          </a:p>
          <a:p>
            <a:pPr algn="l" indent="0" marL="0">
              <a:lnSpc>
                <a:spcPct val="125000"/>
              </a:lnSpc>
              <a:buNone/>
            </a:pPr>
            <a:r>
              <a:rPr lang="en-US" sz="1350" b="1" dirty="0">
                <a:solidFill>
                  <a:srgbClr val="595959"/>
                </a:solidFill>
                <a:latin typeface="メイリオ" pitchFamily="34" charset="0"/>
                <a:ea typeface="メイリオ" pitchFamily="34" charset="-122"/>
                <a:cs typeface="メイリオ" pitchFamily="34" charset="-120"/>
              </a:rPr>
              <a:t>音読も一人ではなく</a:t>
            </a:r>
            <a:endParaRPr lang="en-US" sz="1350" dirty="0"/>
          </a:p>
          <a:p>
            <a:pPr algn="l" indent="0" marL="0">
              <a:lnSpc>
                <a:spcPct val="125000"/>
              </a:lnSpc>
              <a:buNone/>
            </a:pPr>
            <a:r>
              <a:rPr lang="en-US" sz="1350" b="1" dirty="0">
                <a:solidFill>
                  <a:srgbClr val="EE7B08"/>
                </a:solidFill>
                <a:latin typeface="メイリオ" pitchFamily="34" charset="0"/>
                <a:ea typeface="メイリオ" pitchFamily="34" charset="-122"/>
                <a:cs typeface="メイリオ" pitchFamily="34" charset="-120"/>
              </a:rPr>
              <a:t>相手とともに行い、</a:t>
            </a:r>
            <a:endParaRPr lang="en-US" sz="1350" dirty="0"/>
          </a:p>
          <a:p>
            <a:pPr algn="l" indent="0" marL="0">
              <a:lnSpc>
                <a:spcPct val="125000"/>
              </a:lnSpc>
              <a:buNone/>
            </a:pPr>
            <a:r>
              <a:rPr lang="en-US" sz="1350" b="1" dirty="0">
                <a:solidFill>
                  <a:srgbClr val="595959"/>
                </a:solidFill>
                <a:latin typeface="メイリオ" pitchFamily="34" charset="0"/>
                <a:ea typeface="メイリオ" pitchFamily="34" charset="-122"/>
                <a:cs typeface="メイリオ" pitchFamily="34" charset="-120"/>
              </a:rPr>
              <a:t>表現を確かなものに</a:t>
            </a:r>
            <a:endParaRPr lang="en-US" sz="1350" dirty="0"/>
          </a:p>
          <a:p>
            <a:pPr algn="l" indent="0" marL="0">
              <a:lnSpc>
                <a:spcPct val="125000"/>
              </a:lnSpc>
              <a:buNone/>
            </a:pPr>
            <a:r>
              <a:rPr lang="en-US" sz="1350" b="1" dirty="0">
                <a:solidFill>
                  <a:srgbClr val="595959"/>
                </a:solidFill>
                <a:latin typeface="メイリオ" pitchFamily="34" charset="0"/>
                <a:ea typeface="メイリオ" pitchFamily="34" charset="-122"/>
                <a:cs typeface="メイリオ" pitchFamily="34" charset="-120"/>
              </a:rPr>
              <a:t>していた。</a:t>
            </a:r>
            <a:endParaRPr lang="en-US" sz="1350" dirty="0"/>
          </a:p>
        </p:txBody>
      </p:sp>
      <p:sp>
        <p:nvSpPr>
          <p:cNvPr id="15" name="Text 13"/>
          <p:cNvSpPr txBox="1"/>
          <p:nvPr/>
        </p:nvSpPr>
        <p:spPr>
          <a:xfrm>
            <a:off x="320040" y="3977640"/>
            <a:ext cx="8503920" cy="822960"/>
          </a:xfrm>
          <a:prstGeom prst="rect">
            <a:avLst/>
          </a:prstGeom>
          <a:noFill/>
          <a:ln/>
        </p:spPr>
        <p:txBody>
          <a:bodyPr wrap="square" lIns="0" tIns="0" rIns="0" bIns="0" rtlCol="0" anchor="t"/>
          <a:lstStyle/>
          <a:p>
            <a:pPr algn="l" indent="0" marL="0">
              <a:lnSpc>
                <a:spcPct val="120000"/>
              </a:lnSpc>
              <a:buNone/>
            </a:pPr>
            <a:r>
              <a:rPr lang="en-US" sz="1600" b="1" dirty="0">
                <a:solidFill>
                  <a:srgbClr val="595959"/>
                </a:solidFill>
                <a:latin typeface="メイリオ" pitchFamily="34" charset="0"/>
                <a:ea typeface="メイリオ" pitchFamily="34" charset="-122"/>
                <a:cs typeface="メイリオ" pitchFamily="34" charset="-120"/>
              </a:rPr>
              <a:t>教科は異なっても、共通していたのは</a:t>
            </a:r>
            <a:endParaRPr lang="en-US" sz="1600" dirty="0"/>
          </a:p>
          <a:p>
            <a:pPr algn="l" indent="0" marL="0">
              <a:lnSpc>
                <a:spcPct val="120000"/>
              </a:lnSpc>
              <a:buNone/>
            </a:pPr>
            <a:r>
              <a:rPr lang="en-US" sz="1600" b="1" dirty="0">
                <a:solidFill>
                  <a:srgbClr val="EE7B08"/>
                </a:solidFill>
                <a:latin typeface="メイリオ" pitchFamily="34" charset="0"/>
                <a:ea typeface="メイリオ" pitchFamily="34" charset="-122"/>
                <a:cs typeface="メイリオ" pitchFamily="34" charset="-120"/>
              </a:rPr>
              <a:t>「相手を通して自分を見つめる学び」</a:t>
            </a:r>
            <a:pPr algn="l" indent="0" marL="0">
              <a:lnSpc>
                <a:spcPct val="120000"/>
              </a:lnSpc>
              <a:buNone/>
            </a:pPr>
            <a:r>
              <a:rPr lang="en-US" sz="1600" b="1" dirty="0">
                <a:solidFill>
                  <a:srgbClr val="595959"/>
                </a:solidFill>
                <a:latin typeface="メイリオ" pitchFamily="34" charset="0"/>
                <a:ea typeface="メイリオ" pitchFamily="34" charset="-122"/>
                <a:cs typeface="メイリオ" pitchFamily="34" charset="-120"/>
              </a:rPr>
              <a:t>であった。</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0" y="-9144"/>
            <a:ext cx="9144000" cy="1161288"/>
          </a:xfrm>
          <a:prstGeom prst="rect">
            <a:avLst/>
          </a:prstGeom>
          <a:solidFill>
            <a:srgbClr val="44C1A3"/>
          </a:solidFill>
          <a:ln/>
        </p:spPr>
        <p:txBody>
          <a:bodyPr wrap="square" lIns="0" tIns="0" rIns="0" bIns="0" rtlCol="0" anchor="ctr"/>
          <a:lstStyle/>
          <a:p>
            <a:pPr algn="l" indent="0" marL="0">
              <a:lnSpc>
                <a:spcPct val="120000"/>
              </a:lnSpc>
              <a:buNone/>
            </a:pPr>
            <a:r>
              <a:rPr lang="en-US" sz="3000" b="1" dirty="0">
                <a:solidFill>
                  <a:srgbClr val="FFFFFF"/>
                </a:solidFill>
                <a:latin typeface="メイリオ" pitchFamily="34" charset="0"/>
                <a:ea typeface="メイリオ" pitchFamily="34" charset="-122"/>
                <a:cs typeface="メイリオ" pitchFamily="34" charset="-120"/>
              </a:rPr>
              <a:t>　２　５校時の授業について</a:t>
            </a:r>
            <a:endParaRPr lang="en-US" sz="3000" dirty="0"/>
          </a:p>
          <a:p>
            <a:pPr algn="l" indent="0" marL="0">
              <a:lnSpc>
                <a:spcPct val="120000"/>
              </a:lnSpc>
              <a:buNone/>
            </a:pPr>
            <a:r>
              <a:rPr lang="en-US" sz="2800" b="1" dirty="0">
                <a:solidFill>
                  <a:srgbClr val="FFFFFF"/>
                </a:solidFill>
                <a:latin typeface="メイリオ" pitchFamily="34" charset="0"/>
                <a:ea typeface="メイリオ" pitchFamily="34" charset="-122"/>
                <a:cs typeface="メイリオ" pitchFamily="34" charset="-120"/>
              </a:rPr>
              <a:t>　③　学習の自己調整</a:t>
            </a:r>
            <a:endParaRPr lang="en-US" sz="3000" dirty="0"/>
          </a:p>
        </p:txBody>
      </p:sp>
      <p:sp>
        <p:nvSpPr>
          <p:cNvPr id="3" name="Text 1"/>
          <p:cNvSpPr txBox="1"/>
          <p:nvPr/>
        </p:nvSpPr>
        <p:spPr>
          <a:xfrm>
            <a:off x="475488" y="1444752"/>
            <a:ext cx="8193024" cy="1280160"/>
          </a:xfrm>
          <a:prstGeom prst="rect">
            <a:avLst/>
          </a:prstGeom>
          <a:noFill/>
          <a:ln/>
        </p:spPr>
        <p:txBody>
          <a:bodyPr wrap="square" lIns="0" tIns="0" rIns="0" bIns="0" rtlCol="0" anchor="t"/>
          <a:lstStyle/>
          <a:p>
            <a:pPr algn="l" indent="0" marL="0">
              <a:lnSpc>
                <a:spcPct val="120000"/>
              </a:lnSpc>
              <a:buNone/>
            </a:pPr>
            <a:r>
              <a:rPr lang="en-US" sz="2100" b="1" dirty="0">
                <a:solidFill>
                  <a:srgbClr val="595959"/>
                </a:solidFill>
                <a:latin typeface="メイリオ" pitchFamily="34" charset="0"/>
                <a:ea typeface="メイリオ" pitchFamily="34" charset="-122"/>
                <a:cs typeface="メイリオ" pitchFamily="34" charset="-120"/>
              </a:rPr>
              <a:t>これから求められる子どもは、</a:t>
            </a:r>
            <a:endParaRPr lang="en-US" sz="2100" dirty="0"/>
          </a:p>
          <a:p>
            <a:pPr algn="l" indent="0" marL="0">
              <a:lnSpc>
                <a:spcPct val="120000"/>
              </a:lnSpc>
              <a:buNone/>
            </a:pPr>
            <a:r>
              <a:rPr lang="en-US" sz="2100" b="1" dirty="0">
                <a:solidFill>
                  <a:srgbClr val="595959"/>
                </a:solidFill>
                <a:latin typeface="メイリオ" pitchFamily="34" charset="0"/>
                <a:ea typeface="メイリオ" pitchFamily="34" charset="-122"/>
                <a:cs typeface="メイリオ" pitchFamily="34" charset="-120"/>
              </a:rPr>
              <a:t>　教えられたことを学ぶ子どもではなく、</a:t>
            </a:r>
            <a:endParaRPr lang="en-US" sz="2100" dirty="0"/>
          </a:p>
          <a:p>
            <a:pPr algn="l" indent="0" marL="0">
              <a:lnSpc>
                <a:spcPct val="120000"/>
              </a:lnSpc>
              <a:buNone/>
            </a:pPr>
            <a:r>
              <a:rPr lang="en-US" sz="2100" b="1" dirty="0">
                <a:solidFill>
                  <a:srgbClr val="595959"/>
                </a:solidFill>
                <a:latin typeface="メイリオ" pitchFamily="34" charset="0"/>
                <a:ea typeface="メイリオ" pitchFamily="34" charset="-122"/>
                <a:cs typeface="メイリオ" pitchFamily="34" charset="-120"/>
              </a:rPr>
              <a:t>　</a:t>
            </a:r>
            <a:pPr algn="l" indent="0" marL="0">
              <a:lnSpc>
                <a:spcPct val="120000"/>
              </a:lnSpc>
              <a:buNone/>
            </a:pPr>
            <a:r>
              <a:rPr lang="en-US" sz="2100" b="1" dirty="0">
                <a:solidFill>
                  <a:srgbClr val="EE7B08"/>
                </a:solidFill>
                <a:latin typeface="メイリオ" pitchFamily="34" charset="0"/>
                <a:ea typeface="メイリオ" pitchFamily="34" charset="-122"/>
                <a:cs typeface="メイリオ" pitchFamily="34" charset="-120"/>
              </a:rPr>
              <a:t>自分で学び続ける子ども</a:t>
            </a:r>
            <a:pPr algn="l" indent="0" marL="0">
              <a:lnSpc>
                <a:spcPct val="120000"/>
              </a:lnSpc>
              <a:buNone/>
            </a:pPr>
            <a:r>
              <a:rPr lang="en-US" sz="2100" b="1" dirty="0">
                <a:solidFill>
                  <a:srgbClr val="595959"/>
                </a:solidFill>
                <a:latin typeface="メイリオ" pitchFamily="34" charset="0"/>
                <a:ea typeface="メイリオ" pitchFamily="34" charset="-122"/>
                <a:cs typeface="メイリオ" pitchFamily="34" charset="-120"/>
              </a:rPr>
              <a:t>である。</a:t>
            </a:r>
            <a:endParaRPr lang="en-US" sz="2100" dirty="0"/>
          </a:p>
        </p:txBody>
      </p:sp>
      <p:sp>
        <p:nvSpPr>
          <p:cNvPr id="4" name="Text 2"/>
          <p:cNvSpPr txBox="1"/>
          <p:nvPr/>
        </p:nvSpPr>
        <p:spPr>
          <a:xfrm>
            <a:off x="475488" y="2880360"/>
            <a:ext cx="8193024" cy="502920"/>
          </a:xfrm>
          <a:prstGeom prst="rect">
            <a:avLst/>
          </a:prstGeom>
          <a:noFill/>
          <a:ln/>
        </p:spPr>
        <p:txBody>
          <a:bodyPr wrap="square" lIns="0" tIns="0" rIns="0" bIns="0" rtlCol="0" anchor="t"/>
          <a:lstStyle/>
          <a:p>
            <a:pPr algn="l" indent="0" marL="0">
              <a:lnSpc>
                <a:spcPct val="120000"/>
              </a:lnSpc>
              <a:buNone/>
            </a:pPr>
            <a:r>
              <a:rPr lang="en-US" sz="2100" b="1" dirty="0">
                <a:solidFill>
                  <a:srgbClr val="595959"/>
                </a:solidFill>
                <a:latin typeface="メイリオ" pitchFamily="34" charset="0"/>
                <a:ea typeface="メイリオ" pitchFamily="34" charset="-122"/>
                <a:cs typeface="メイリオ" pitchFamily="34" charset="-120"/>
              </a:rPr>
              <a:t>そのために必要なのが</a:t>
            </a:r>
            <a:pPr algn="l" indent="0" marL="0">
              <a:lnSpc>
                <a:spcPct val="120000"/>
              </a:lnSpc>
              <a:buNone/>
            </a:pPr>
            <a:r>
              <a:rPr lang="en-US" sz="2100" b="1" dirty="0">
                <a:solidFill>
                  <a:srgbClr val="EE7B08"/>
                </a:solidFill>
                <a:latin typeface="メイリオ" pitchFamily="34" charset="0"/>
                <a:ea typeface="メイリオ" pitchFamily="34" charset="-122"/>
                <a:cs typeface="メイリオ" pitchFamily="34" charset="-120"/>
              </a:rPr>
              <a:t>学習の自己調整</a:t>
            </a:r>
            <a:pPr algn="l" indent="0" marL="0">
              <a:lnSpc>
                <a:spcPct val="120000"/>
              </a:lnSpc>
              <a:buNone/>
            </a:pPr>
            <a:r>
              <a:rPr lang="en-US" sz="2100" b="1" dirty="0">
                <a:solidFill>
                  <a:srgbClr val="595959"/>
                </a:solidFill>
                <a:latin typeface="メイリオ" pitchFamily="34" charset="0"/>
                <a:ea typeface="メイリオ" pitchFamily="34" charset="-122"/>
                <a:cs typeface="メイリオ" pitchFamily="34" charset="-120"/>
              </a:rPr>
              <a:t>である。</a:t>
            </a:r>
            <a:endParaRPr lang="en-US" sz="2100" dirty="0"/>
          </a:p>
        </p:txBody>
      </p:sp>
      <p:sp>
        <p:nvSpPr>
          <p:cNvPr id="5" name="Shape 3"/>
          <p:cNvSpPr/>
          <p:nvPr/>
        </p:nvSpPr>
        <p:spPr>
          <a:xfrm>
            <a:off x="475488" y="3611880"/>
            <a:ext cx="8193024" cy="822960"/>
          </a:xfrm>
          <a:prstGeom prst="roundRect">
            <a:avLst>
              <a:gd name="adj" fmla="val 6667"/>
            </a:avLst>
          </a:prstGeom>
          <a:solidFill>
            <a:srgbClr val="E9F7F3"/>
          </a:solidFill>
          <a:ln w="12700">
            <a:solidFill>
              <a:srgbClr val="B9E5DA"/>
            </a:solidFill>
            <a:prstDash val="solid"/>
          </a:ln>
        </p:spPr>
      </p:sp>
      <p:sp>
        <p:nvSpPr>
          <p:cNvPr id="6" name="Text 4"/>
          <p:cNvSpPr txBox="1"/>
          <p:nvPr/>
        </p:nvSpPr>
        <p:spPr>
          <a:xfrm>
            <a:off x="731520" y="3611880"/>
            <a:ext cx="7680960" cy="822960"/>
          </a:xfrm>
          <a:prstGeom prst="rect">
            <a:avLst/>
          </a:prstGeom>
          <a:noFill/>
          <a:ln/>
        </p:spPr>
        <p:txBody>
          <a:bodyPr wrap="square" lIns="0" tIns="0" rIns="0" bIns="0" rtlCol="0" anchor="ctr"/>
          <a:lstStyle/>
          <a:p>
            <a:pPr algn="l" indent="0" marL="0">
              <a:buNone/>
            </a:pPr>
            <a:r>
              <a:rPr lang="en-US" sz="1600" b="1" dirty="0">
                <a:solidFill>
                  <a:srgbClr val="595959"/>
                </a:solidFill>
                <a:latin typeface="メイリオ" pitchFamily="34" charset="0"/>
                <a:ea typeface="メイリオ" pitchFamily="34" charset="-122"/>
                <a:cs typeface="メイリオ" pitchFamily="34" charset="-120"/>
              </a:rPr>
              <a:t>学習指導要領が示す「学びに向かう力」の中核をなす力である。</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0" y="-9144"/>
            <a:ext cx="9144000" cy="1161288"/>
          </a:xfrm>
          <a:prstGeom prst="rect">
            <a:avLst/>
          </a:prstGeom>
          <a:solidFill>
            <a:srgbClr val="44C1A3"/>
          </a:solidFill>
          <a:ln/>
        </p:spPr>
        <p:txBody>
          <a:bodyPr wrap="square" lIns="0" tIns="0" rIns="0" bIns="0" rtlCol="0" anchor="ctr"/>
          <a:lstStyle/>
          <a:p>
            <a:pPr algn="l" indent="0" marL="0">
              <a:lnSpc>
                <a:spcPct val="120000"/>
              </a:lnSpc>
              <a:buNone/>
            </a:pPr>
            <a:r>
              <a:rPr lang="en-US" sz="3000" b="1" dirty="0">
                <a:solidFill>
                  <a:srgbClr val="FFFFFF"/>
                </a:solidFill>
                <a:latin typeface="メイリオ" pitchFamily="34" charset="0"/>
                <a:ea typeface="メイリオ" pitchFamily="34" charset="-122"/>
                <a:cs typeface="メイリオ" pitchFamily="34" charset="-120"/>
              </a:rPr>
              <a:t>　２　５校時の授業について</a:t>
            </a:r>
            <a:endParaRPr lang="en-US" sz="3000" dirty="0"/>
          </a:p>
          <a:p>
            <a:pPr algn="l" indent="0" marL="0">
              <a:lnSpc>
                <a:spcPct val="120000"/>
              </a:lnSpc>
              <a:buNone/>
            </a:pPr>
            <a:r>
              <a:rPr lang="en-US" sz="2800" b="1" dirty="0">
                <a:solidFill>
                  <a:srgbClr val="FFFFFF"/>
                </a:solidFill>
                <a:latin typeface="メイリオ" pitchFamily="34" charset="0"/>
                <a:ea typeface="メイリオ" pitchFamily="34" charset="-122"/>
                <a:cs typeface="メイリオ" pitchFamily="34" charset="-120"/>
              </a:rPr>
              <a:t>　③　自己調整が行われていた授業</a:t>
            </a:r>
            <a:endParaRPr lang="en-US" sz="3000" dirty="0"/>
          </a:p>
        </p:txBody>
      </p:sp>
      <p:sp>
        <p:nvSpPr>
          <p:cNvPr id="3" name="Shape 1"/>
          <p:cNvSpPr/>
          <p:nvPr/>
        </p:nvSpPr>
        <p:spPr>
          <a:xfrm>
            <a:off x="320040" y="1444752"/>
            <a:ext cx="2011680" cy="530352"/>
          </a:xfrm>
          <a:prstGeom prst="roundRect">
            <a:avLst>
              <a:gd name="adj" fmla="val 12069"/>
            </a:avLst>
          </a:prstGeom>
          <a:solidFill>
            <a:srgbClr val="44C1A3"/>
          </a:solidFill>
          <a:ln/>
        </p:spPr>
      </p:sp>
      <p:sp>
        <p:nvSpPr>
          <p:cNvPr id="4" name="Text 2"/>
          <p:cNvSpPr txBox="1"/>
          <p:nvPr/>
        </p:nvSpPr>
        <p:spPr>
          <a:xfrm>
            <a:off x="320040" y="1444752"/>
            <a:ext cx="2011680" cy="530352"/>
          </a:xfrm>
          <a:prstGeom prst="rect">
            <a:avLst/>
          </a:prstGeom>
          <a:noFill/>
          <a:ln/>
        </p:spPr>
        <p:txBody>
          <a:bodyPr wrap="square" lIns="0" tIns="0" rIns="0" bIns="0" rtlCol="0" anchor="ctr"/>
          <a:lstStyle/>
          <a:p>
            <a:pPr algn="ctr" indent="0" marL="0">
              <a:lnSpc>
                <a:spcPct val="115000"/>
              </a:lnSpc>
              <a:buNone/>
            </a:pPr>
            <a:r>
              <a:rPr lang="en-US" sz="1500" b="1" dirty="0">
                <a:solidFill>
                  <a:srgbClr val="FFFFFF"/>
                </a:solidFill>
                <a:latin typeface="メイリオ" pitchFamily="34" charset="0"/>
                <a:ea typeface="メイリオ" pitchFamily="34" charset="-122"/>
                <a:cs typeface="メイリオ" pitchFamily="34" charset="-120"/>
              </a:rPr>
              <a:t>本時の目標</a:t>
            </a:r>
            <a:endParaRPr lang="en-US" sz="1500" dirty="0"/>
          </a:p>
        </p:txBody>
      </p:sp>
      <p:sp>
        <p:nvSpPr>
          <p:cNvPr id="5" name="Shape 3"/>
          <p:cNvSpPr/>
          <p:nvPr/>
        </p:nvSpPr>
        <p:spPr>
          <a:xfrm>
            <a:off x="2514600" y="1444752"/>
            <a:ext cx="2011680" cy="530352"/>
          </a:xfrm>
          <a:prstGeom prst="roundRect">
            <a:avLst>
              <a:gd name="adj" fmla="val 12069"/>
            </a:avLst>
          </a:prstGeom>
          <a:solidFill>
            <a:srgbClr val="44C1A3"/>
          </a:solidFill>
          <a:ln/>
        </p:spPr>
      </p:sp>
      <p:sp>
        <p:nvSpPr>
          <p:cNvPr id="6" name="Text 4"/>
          <p:cNvSpPr txBox="1"/>
          <p:nvPr/>
        </p:nvSpPr>
        <p:spPr>
          <a:xfrm>
            <a:off x="2514600" y="1444752"/>
            <a:ext cx="2011680" cy="530352"/>
          </a:xfrm>
          <a:prstGeom prst="rect">
            <a:avLst/>
          </a:prstGeom>
          <a:noFill/>
          <a:ln/>
        </p:spPr>
        <p:txBody>
          <a:bodyPr wrap="square" lIns="0" tIns="0" rIns="0" bIns="0" rtlCol="0" anchor="ctr"/>
          <a:lstStyle/>
          <a:p>
            <a:pPr algn="ctr" indent="0" marL="0">
              <a:lnSpc>
                <a:spcPct val="115000"/>
              </a:lnSpc>
              <a:buNone/>
            </a:pPr>
            <a:r>
              <a:rPr lang="en-US" sz="1500" b="1" dirty="0">
                <a:solidFill>
                  <a:srgbClr val="FFFFFF"/>
                </a:solidFill>
                <a:latin typeface="メイリオ" pitchFamily="34" charset="0"/>
                <a:ea typeface="メイリオ" pitchFamily="34" charset="-122"/>
                <a:cs typeface="メイリオ" pitchFamily="34" charset="-120"/>
              </a:rPr>
              <a:t>振り返り</a:t>
            </a:r>
            <a:endParaRPr lang="en-US" sz="1500" dirty="0"/>
          </a:p>
        </p:txBody>
      </p:sp>
      <p:sp>
        <p:nvSpPr>
          <p:cNvPr id="7" name="Shape 5"/>
          <p:cNvSpPr/>
          <p:nvPr/>
        </p:nvSpPr>
        <p:spPr>
          <a:xfrm>
            <a:off x="4709160" y="1444752"/>
            <a:ext cx="2011680" cy="530352"/>
          </a:xfrm>
          <a:prstGeom prst="roundRect">
            <a:avLst>
              <a:gd name="adj" fmla="val 12069"/>
            </a:avLst>
          </a:prstGeom>
          <a:solidFill>
            <a:srgbClr val="44C1A3"/>
          </a:solidFill>
          <a:ln/>
        </p:spPr>
      </p:sp>
      <p:sp>
        <p:nvSpPr>
          <p:cNvPr id="8" name="Text 6"/>
          <p:cNvSpPr txBox="1"/>
          <p:nvPr/>
        </p:nvSpPr>
        <p:spPr>
          <a:xfrm>
            <a:off x="4709160" y="1444752"/>
            <a:ext cx="2011680" cy="530352"/>
          </a:xfrm>
          <a:prstGeom prst="rect">
            <a:avLst/>
          </a:prstGeom>
          <a:noFill/>
          <a:ln/>
        </p:spPr>
        <p:txBody>
          <a:bodyPr wrap="square" lIns="0" tIns="0" rIns="0" bIns="0" rtlCol="0" anchor="ctr"/>
          <a:lstStyle/>
          <a:p>
            <a:pPr algn="ctr" indent="0" marL="0">
              <a:lnSpc>
                <a:spcPct val="115000"/>
              </a:lnSpc>
              <a:buNone/>
            </a:pPr>
            <a:r>
              <a:rPr lang="en-US" sz="1500" b="1" dirty="0">
                <a:solidFill>
                  <a:srgbClr val="FFFFFF"/>
                </a:solidFill>
                <a:latin typeface="メイリオ" pitchFamily="34" charset="0"/>
                <a:ea typeface="メイリオ" pitchFamily="34" charset="-122"/>
                <a:cs typeface="メイリオ" pitchFamily="34" charset="-120"/>
              </a:rPr>
              <a:t>自己評価</a:t>
            </a:r>
            <a:endParaRPr lang="en-US" sz="1500" dirty="0"/>
          </a:p>
        </p:txBody>
      </p:sp>
      <p:sp>
        <p:nvSpPr>
          <p:cNvPr id="9" name="Shape 7"/>
          <p:cNvSpPr/>
          <p:nvPr/>
        </p:nvSpPr>
        <p:spPr>
          <a:xfrm>
            <a:off x="6903720" y="1444752"/>
            <a:ext cx="2011680" cy="530352"/>
          </a:xfrm>
          <a:prstGeom prst="roundRect">
            <a:avLst>
              <a:gd name="adj" fmla="val 12069"/>
            </a:avLst>
          </a:prstGeom>
          <a:solidFill>
            <a:srgbClr val="44C1A3"/>
          </a:solidFill>
          <a:ln/>
        </p:spPr>
      </p:sp>
      <p:sp>
        <p:nvSpPr>
          <p:cNvPr id="10" name="Text 8"/>
          <p:cNvSpPr txBox="1"/>
          <p:nvPr/>
        </p:nvSpPr>
        <p:spPr>
          <a:xfrm>
            <a:off x="6903720" y="1444752"/>
            <a:ext cx="2011680" cy="530352"/>
          </a:xfrm>
          <a:prstGeom prst="rect">
            <a:avLst/>
          </a:prstGeom>
          <a:noFill/>
          <a:ln/>
        </p:spPr>
        <p:txBody>
          <a:bodyPr wrap="square" lIns="0" tIns="0" rIns="0" bIns="0" rtlCol="0" anchor="ctr"/>
          <a:lstStyle/>
          <a:p>
            <a:pPr algn="ctr" indent="0" marL="0">
              <a:lnSpc>
                <a:spcPct val="115000"/>
              </a:lnSpc>
              <a:buNone/>
            </a:pPr>
            <a:r>
              <a:rPr lang="en-US" sz="1500" b="1" dirty="0">
                <a:solidFill>
                  <a:srgbClr val="FFFFFF"/>
                </a:solidFill>
                <a:latin typeface="メイリオ" pitchFamily="34" charset="0"/>
                <a:ea typeface="メイリオ" pitchFamily="34" charset="-122"/>
                <a:cs typeface="メイリオ" pitchFamily="34" charset="-120"/>
              </a:rPr>
              <a:t>次時への見通し</a:t>
            </a:r>
            <a:endParaRPr lang="en-US" sz="1500" dirty="0"/>
          </a:p>
        </p:txBody>
      </p:sp>
      <p:sp>
        <p:nvSpPr>
          <p:cNvPr id="11" name="Text 9"/>
          <p:cNvSpPr txBox="1"/>
          <p:nvPr/>
        </p:nvSpPr>
        <p:spPr>
          <a:xfrm>
            <a:off x="320040" y="2066544"/>
            <a:ext cx="8503920" cy="320040"/>
          </a:xfrm>
          <a:prstGeom prst="rect">
            <a:avLst/>
          </a:prstGeom>
          <a:noFill/>
          <a:ln/>
        </p:spPr>
        <p:txBody>
          <a:bodyPr wrap="square" lIns="0" tIns="0" rIns="0" bIns="0" rtlCol="0" anchor="ctr"/>
          <a:lstStyle/>
          <a:p>
            <a:pPr algn="l" indent="0" marL="0">
              <a:buNone/>
            </a:pPr>
            <a:r>
              <a:rPr lang="en-US" sz="1400" b="1" dirty="0">
                <a:solidFill>
                  <a:srgbClr val="808080"/>
                </a:solidFill>
                <a:latin typeface="メイリオ" pitchFamily="34" charset="0"/>
                <a:ea typeface="メイリオ" pitchFamily="34" charset="-122"/>
                <a:cs typeface="メイリオ" pitchFamily="34" charset="-120"/>
              </a:rPr>
              <a:t>本日の授業では、この４点が大切にされていた。</a:t>
            </a:r>
            <a:endParaRPr lang="en-US" sz="1400" dirty="0"/>
          </a:p>
        </p:txBody>
      </p:sp>
      <p:sp>
        <p:nvSpPr>
          <p:cNvPr id="12" name="Text 10"/>
          <p:cNvSpPr txBox="1"/>
          <p:nvPr/>
        </p:nvSpPr>
        <p:spPr>
          <a:xfrm>
            <a:off x="320040" y="2468880"/>
            <a:ext cx="8503920" cy="1188720"/>
          </a:xfrm>
          <a:prstGeom prst="rect">
            <a:avLst/>
          </a:prstGeom>
          <a:noFill/>
          <a:ln/>
        </p:spPr>
        <p:txBody>
          <a:bodyPr wrap="square" lIns="0" tIns="0" rIns="0" bIns="0" rtlCol="0" anchor="t"/>
          <a:lstStyle/>
          <a:p>
            <a:pPr algn="l" indent="0" marL="0">
              <a:lnSpc>
                <a:spcPct val="150000"/>
              </a:lnSpc>
              <a:buNone/>
            </a:pPr>
            <a:r>
              <a:rPr lang="en-US" sz="1500" b="1" dirty="0">
                <a:solidFill>
                  <a:srgbClr val="595959"/>
                </a:solidFill>
                <a:latin typeface="メイリオ" pitchFamily="34" charset="0"/>
                <a:ea typeface="メイリオ" pitchFamily="34" charset="-122"/>
                <a:cs typeface="メイリオ" pitchFamily="34" charset="-120"/>
              </a:rPr>
              <a:t>・田口　先生　　着替えの前に目標と流れを確認し、</a:t>
            </a:r>
            <a:pPr algn="l" indent="0" marL="0">
              <a:lnSpc>
                <a:spcPct val="150000"/>
              </a:lnSpc>
              <a:buNone/>
            </a:pPr>
            <a:r>
              <a:rPr lang="en-US" sz="1500" b="1" dirty="0">
                <a:solidFill>
                  <a:srgbClr val="EE7B08"/>
                </a:solidFill>
                <a:latin typeface="メイリオ" pitchFamily="34" charset="0"/>
                <a:ea typeface="メイリオ" pitchFamily="34" charset="-122"/>
                <a:cs typeface="メイリオ" pitchFamily="34" charset="-120"/>
              </a:rPr>
              <a:t>学習カードで要点を振り返る</a:t>
            </a:r>
            <a:endParaRPr lang="en-US" sz="1500" dirty="0"/>
          </a:p>
          <a:p>
            <a:pPr algn="l" indent="0" marL="0">
              <a:lnSpc>
                <a:spcPct val="150000"/>
              </a:lnSpc>
              <a:buNone/>
            </a:pPr>
            <a:r>
              <a:rPr lang="en-US" sz="1500" b="1" dirty="0">
                <a:solidFill>
                  <a:srgbClr val="595959"/>
                </a:solidFill>
                <a:latin typeface="メイリオ" pitchFamily="34" charset="0"/>
                <a:ea typeface="メイリオ" pitchFamily="34" charset="-122"/>
                <a:cs typeface="メイリオ" pitchFamily="34" charset="-120"/>
              </a:rPr>
              <a:t>・塚本　先生　　Today’s Goal と Plan を提示し、</a:t>
            </a:r>
            <a:pPr algn="l" indent="0" marL="0">
              <a:lnSpc>
                <a:spcPct val="150000"/>
              </a:lnSpc>
              <a:buNone/>
            </a:pPr>
            <a:r>
              <a:rPr lang="en-US" sz="1500" b="1" dirty="0">
                <a:solidFill>
                  <a:srgbClr val="EE7B08"/>
                </a:solidFill>
                <a:latin typeface="メイリオ" pitchFamily="34" charset="0"/>
                <a:ea typeface="メイリオ" pitchFamily="34" charset="-122"/>
                <a:cs typeface="メイリオ" pitchFamily="34" charset="-120"/>
              </a:rPr>
              <a:t>振り返りをワークシートに記入</a:t>
            </a:r>
            <a:endParaRPr lang="en-US" sz="1500" dirty="0"/>
          </a:p>
          <a:p>
            <a:pPr algn="l" indent="0" marL="0">
              <a:lnSpc>
                <a:spcPct val="150000"/>
              </a:lnSpc>
              <a:buNone/>
            </a:pPr>
            <a:r>
              <a:rPr lang="en-US" sz="1500" b="1" dirty="0">
                <a:solidFill>
                  <a:srgbClr val="595959"/>
                </a:solidFill>
                <a:latin typeface="メイリオ" pitchFamily="34" charset="0"/>
                <a:ea typeface="メイリオ" pitchFamily="34" charset="-122"/>
                <a:cs typeface="メイリオ" pitchFamily="34" charset="-120"/>
              </a:rPr>
              <a:t>・東海林　先生　</a:t>
            </a:r>
            <a:pPr algn="l" indent="0" marL="0">
              <a:lnSpc>
                <a:spcPct val="150000"/>
              </a:lnSpc>
              <a:buNone/>
            </a:pPr>
            <a:r>
              <a:rPr lang="en-US" sz="1500" b="1" dirty="0">
                <a:solidFill>
                  <a:srgbClr val="EE7B08"/>
                </a:solidFill>
                <a:latin typeface="メイリオ" pitchFamily="34" charset="0"/>
                <a:ea typeface="メイリオ" pitchFamily="34" charset="-122"/>
                <a:cs typeface="メイリオ" pitchFamily="34" charset="-120"/>
              </a:rPr>
              <a:t>前時のワークシート</a:t>
            </a:r>
            <a:pPr algn="l" indent="0" marL="0">
              <a:lnSpc>
                <a:spcPct val="150000"/>
              </a:lnSpc>
              <a:buNone/>
            </a:pPr>
            <a:r>
              <a:rPr lang="en-US" sz="1500" b="1" dirty="0">
                <a:solidFill>
                  <a:srgbClr val="595959"/>
                </a:solidFill>
                <a:latin typeface="メイリオ" pitchFamily="34" charset="0"/>
                <a:ea typeface="メイリオ" pitchFamily="34" charset="-122"/>
                <a:cs typeface="メイリオ" pitchFamily="34" charset="-120"/>
              </a:rPr>
              <a:t>で自分の考えを確かめてから議論へ</a:t>
            </a:r>
            <a:endParaRPr lang="en-US" sz="1500" dirty="0"/>
          </a:p>
        </p:txBody>
      </p:sp>
      <p:sp>
        <p:nvSpPr>
          <p:cNvPr id="13" name="Shape 11"/>
          <p:cNvSpPr/>
          <p:nvPr/>
        </p:nvSpPr>
        <p:spPr>
          <a:xfrm>
            <a:off x="320040" y="3794760"/>
            <a:ext cx="8503920" cy="777240"/>
          </a:xfrm>
          <a:prstGeom prst="roundRect">
            <a:avLst>
              <a:gd name="adj" fmla="val 7059"/>
            </a:avLst>
          </a:prstGeom>
          <a:solidFill>
            <a:srgbClr val="E9F7F3"/>
          </a:solidFill>
          <a:ln w="12700">
            <a:solidFill>
              <a:srgbClr val="B9E5DA"/>
            </a:solidFill>
            <a:prstDash val="solid"/>
          </a:ln>
        </p:spPr>
      </p:sp>
      <p:sp>
        <p:nvSpPr>
          <p:cNvPr id="14" name="Text 12"/>
          <p:cNvSpPr txBox="1"/>
          <p:nvPr/>
        </p:nvSpPr>
        <p:spPr>
          <a:xfrm>
            <a:off x="576072" y="3794760"/>
            <a:ext cx="7991856" cy="777240"/>
          </a:xfrm>
          <a:prstGeom prst="rect">
            <a:avLst/>
          </a:prstGeom>
          <a:noFill/>
          <a:ln/>
        </p:spPr>
        <p:txBody>
          <a:bodyPr wrap="square" lIns="0" tIns="0" rIns="0" bIns="0" rtlCol="0" anchor="ctr"/>
          <a:lstStyle/>
          <a:p>
            <a:pPr algn="l" indent="0" marL="0">
              <a:buNone/>
            </a:pPr>
            <a:r>
              <a:rPr lang="en-US" sz="1700" b="1" dirty="0">
                <a:solidFill>
                  <a:srgbClr val="595959"/>
                </a:solidFill>
                <a:latin typeface="メイリオ" pitchFamily="34" charset="0"/>
                <a:ea typeface="メイリオ" pitchFamily="34" charset="-122"/>
                <a:cs typeface="メイリオ" pitchFamily="34" charset="-120"/>
              </a:rPr>
              <a:t>教師が管理する学習から　</a:t>
            </a:r>
            <a:pPr algn="l" indent="0" marL="0">
              <a:buNone/>
            </a:pPr>
            <a:r>
              <a:rPr lang="en-US" sz="1700" b="1" dirty="0">
                <a:solidFill>
                  <a:srgbClr val="EE7B08"/>
                </a:solidFill>
                <a:latin typeface="メイリオ" pitchFamily="34" charset="0"/>
                <a:ea typeface="メイリオ" pitchFamily="34" charset="-122"/>
                <a:cs typeface="メイリオ" pitchFamily="34" charset="-120"/>
              </a:rPr>
              <a:t>子どもが管理する学習へ</a:t>
            </a:r>
            <a:pPr algn="l" indent="0" marL="0">
              <a:buNone/>
            </a:pPr>
            <a:r>
              <a:rPr lang="en-US" sz="1700" b="1" dirty="0">
                <a:solidFill>
                  <a:srgbClr val="595959"/>
                </a:solidFill>
                <a:latin typeface="メイリオ" pitchFamily="34" charset="0"/>
                <a:ea typeface="メイリオ" pitchFamily="34" charset="-122"/>
                <a:cs typeface="メイリオ" pitchFamily="34" charset="-120"/>
              </a:rPr>
              <a:t>　着実に転換が進んでいる。</a:t>
            </a:r>
            <a:endParaRPr lang="en-US" sz="1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0" y="-9144"/>
            <a:ext cx="9144000" cy="612648"/>
          </a:xfrm>
          <a:prstGeom prst="rect">
            <a:avLst/>
          </a:prstGeom>
          <a:solidFill>
            <a:srgbClr val="44C1A3"/>
          </a:solidFill>
          <a:ln/>
        </p:spPr>
        <p:txBody>
          <a:bodyPr wrap="square" lIns="0" tIns="0" rIns="0" bIns="0" rtlCol="0" anchor="ctr"/>
          <a:lstStyle/>
          <a:p>
            <a:pPr algn="l" indent="0" marL="0">
              <a:lnSpc>
                <a:spcPct val="120000"/>
              </a:lnSpc>
              <a:buNone/>
            </a:pPr>
            <a:r>
              <a:rPr lang="en-US" sz="3000" b="1" dirty="0">
                <a:solidFill>
                  <a:srgbClr val="FFFFFF"/>
                </a:solidFill>
                <a:latin typeface="メイリオ" pitchFamily="34" charset="0"/>
                <a:ea typeface="メイリオ" pitchFamily="34" charset="-122"/>
                <a:cs typeface="メイリオ" pitchFamily="34" charset="-120"/>
              </a:rPr>
              <a:t>　今後に向けて</a:t>
            </a:r>
            <a:endParaRPr lang="en-US" sz="3000" dirty="0"/>
          </a:p>
        </p:txBody>
      </p:sp>
      <p:sp>
        <p:nvSpPr>
          <p:cNvPr id="3" name="Text 1"/>
          <p:cNvSpPr txBox="1"/>
          <p:nvPr/>
        </p:nvSpPr>
        <p:spPr>
          <a:xfrm>
            <a:off x="475488" y="896112"/>
            <a:ext cx="8193024" cy="777240"/>
          </a:xfrm>
          <a:prstGeom prst="rect">
            <a:avLst/>
          </a:prstGeom>
          <a:noFill/>
          <a:ln/>
        </p:spPr>
        <p:txBody>
          <a:bodyPr wrap="square" lIns="0" tIns="0" rIns="0" bIns="0" rtlCol="0" anchor="t"/>
          <a:lstStyle/>
          <a:p>
            <a:pPr algn="l" indent="0" marL="0">
              <a:lnSpc>
                <a:spcPct val="120000"/>
              </a:lnSpc>
              <a:buNone/>
            </a:pPr>
            <a:r>
              <a:rPr lang="en-US" sz="1800" b="1" dirty="0">
                <a:solidFill>
                  <a:srgbClr val="EE7B08"/>
                </a:solidFill>
                <a:latin typeface="メイリオ" pitchFamily="34" charset="0"/>
                <a:ea typeface="メイリオ" pitchFamily="34" charset="-122"/>
                <a:cs typeface="メイリオ" pitchFamily="34" charset="-120"/>
              </a:rPr>
              <a:t>学力調査結果</a:t>
            </a:r>
            <a:pPr algn="l" indent="0" marL="0">
              <a:lnSpc>
                <a:spcPct val="120000"/>
              </a:lnSpc>
              <a:buNone/>
            </a:pPr>
            <a:r>
              <a:rPr lang="en-US" sz="1800" b="1" dirty="0">
                <a:solidFill>
                  <a:srgbClr val="595959"/>
                </a:solidFill>
                <a:latin typeface="メイリオ" pitchFamily="34" charset="0"/>
                <a:ea typeface="メイリオ" pitchFamily="34" charset="-122"/>
                <a:cs typeface="メイリオ" pitchFamily="34" charset="-120"/>
              </a:rPr>
              <a:t>　と　</a:t>
            </a:r>
            <a:pPr algn="l" indent="0" marL="0">
              <a:lnSpc>
                <a:spcPct val="120000"/>
              </a:lnSpc>
              <a:buNone/>
            </a:pPr>
            <a:r>
              <a:rPr lang="en-US" sz="1800" b="1" dirty="0">
                <a:solidFill>
                  <a:srgbClr val="EE7B08"/>
                </a:solidFill>
                <a:latin typeface="メイリオ" pitchFamily="34" charset="0"/>
                <a:ea typeface="メイリオ" pitchFamily="34" charset="-122"/>
                <a:cs typeface="メイリオ" pitchFamily="34" charset="-120"/>
              </a:rPr>
              <a:t>今日の授業</a:t>
            </a:r>
            <a:pPr algn="l" indent="0" marL="0">
              <a:lnSpc>
                <a:spcPct val="120000"/>
              </a:lnSpc>
              <a:buNone/>
            </a:pPr>
            <a:r>
              <a:rPr lang="en-US" sz="1800" b="1" dirty="0">
                <a:solidFill>
                  <a:srgbClr val="595959"/>
                </a:solidFill>
                <a:latin typeface="メイリオ" pitchFamily="34" charset="0"/>
                <a:ea typeface="メイリオ" pitchFamily="34" charset="-122"/>
                <a:cs typeface="メイリオ" pitchFamily="34" charset="-120"/>
              </a:rPr>
              <a:t>　をつなげて考えると、</a:t>
            </a:r>
            <a:endParaRPr lang="en-US" sz="1800" dirty="0"/>
          </a:p>
          <a:p>
            <a:pPr algn="l" indent="0" marL="0">
              <a:lnSpc>
                <a:spcPct val="120000"/>
              </a:lnSpc>
              <a:buNone/>
            </a:pPr>
            <a:r>
              <a:rPr lang="en-US" sz="1800" b="1" dirty="0">
                <a:solidFill>
                  <a:srgbClr val="595959"/>
                </a:solidFill>
                <a:latin typeface="メイリオ" pitchFamily="34" charset="0"/>
                <a:ea typeface="メイリオ" pitchFamily="34" charset="-122"/>
                <a:cs typeface="メイリオ" pitchFamily="34" charset="-120"/>
              </a:rPr>
              <a:t>今後さらに伸ばしたいのは</a:t>
            </a:r>
            <a:endParaRPr lang="en-US" sz="1800" dirty="0"/>
          </a:p>
        </p:txBody>
      </p:sp>
      <p:sp>
        <p:nvSpPr>
          <p:cNvPr id="4" name="Shape 2"/>
          <p:cNvSpPr/>
          <p:nvPr/>
        </p:nvSpPr>
        <p:spPr>
          <a:xfrm>
            <a:off x="475488" y="1755648"/>
            <a:ext cx="8193024" cy="777240"/>
          </a:xfrm>
          <a:prstGeom prst="roundRect">
            <a:avLst>
              <a:gd name="adj" fmla="val 7059"/>
            </a:avLst>
          </a:prstGeom>
          <a:solidFill>
            <a:srgbClr val="E9F7F3"/>
          </a:solidFill>
          <a:ln w="12700">
            <a:solidFill>
              <a:srgbClr val="B9E5DA"/>
            </a:solidFill>
            <a:prstDash val="solid"/>
          </a:ln>
        </p:spPr>
      </p:sp>
      <p:sp>
        <p:nvSpPr>
          <p:cNvPr id="5" name="Text 3"/>
          <p:cNvSpPr txBox="1"/>
          <p:nvPr/>
        </p:nvSpPr>
        <p:spPr>
          <a:xfrm>
            <a:off x="731520" y="1755648"/>
            <a:ext cx="7680960" cy="777240"/>
          </a:xfrm>
          <a:prstGeom prst="rect">
            <a:avLst/>
          </a:prstGeom>
          <a:noFill/>
          <a:ln/>
        </p:spPr>
        <p:txBody>
          <a:bodyPr wrap="square" lIns="0" tIns="0" rIns="0" bIns="0" rtlCol="0" anchor="ctr"/>
          <a:lstStyle/>
          <a:p>
            <a:pPr algn="l" indent="0" marL="0">
              <a:buNone/>
            </a:pPr>
            <a:r>
              <a:rPr lang="en-US" sz="2300" b="1" dirty="0">
                <a:solidFill>
                  <a:srgbClr val="EE7B08"/>
                </a:solidFill>
                <a:latin typeface="メイリオ" pitchFamily="34" charset="0"/>
                <a:ea typeface="メイリオ" pitchFamily="34" charset="-122"/>
                <a:cs typeface="メイリオ" pitchFamily="34" charset="-120"/>
              </a:rPr>
              <a:t>「学びを自分事として捉える子ども」である。</a:t>
            </a:r>
            <a:endParaRPr lang="en-US" sz="2300" dirty="0"/>
          </a:p>
        </p:txBody>
      </p:sp>
      <p:sp>
        <p:nvSpPr>
          <p:cNvPr id="6" name="Text 4"/>
          <p:cNvSpPr txBox="1"/>
          <p:nvPr/>
        </p:nvSpPr>
        <p:spPr>
          <a:xfrm>
            <a:off x="475488" y="2670048"/>
            <a:ext cx="8193024" cy="320040"/>
          </a:xfrm>
          <a:prstGeom prst="rect">
            <a:avLst/>
          </a:prstGeom>
          <a:noFill/>
          <a:ln/>
        </p:spPr>
        <p:txBody>
          <a:bodyPr wrap="square" lIns="0" tIns="0" rIns="0" bIns="0" rtlCol="0" anchor="ctr"/>
          <a:lstStyle/>
          <a:p>
            <a:pPr algn="l" indent="0" marL="0">
              <a:buNone/>
            </a:pPr>
            <a:r>
              <a:rPr lang="en-US" sz="1500" b="1" dirty="0">
                <a:solidFill>
                  <a:srgbClr val="808080"/>
                </a:solidFill>
                <a:latin typeface="メイリオ" pitchFamily="34" charset="0"/>
                <a:ea typeface="メイリオ" pitchFamily="34" charset="-122"/>
                <a:cs typeface="メイリオ" pitchFamily="34" charset="-120"/>
              </a:rPr>
              <a:t>そのためには</a:t>
            </a:r>
            <a:endParaRPr lang="en-US" sz="1500" dirty="0"/>
          </a:p>
        </p:txBody>
      </p:sp>
      <p:sp>
        <p:nvSpPr>
          <p:cNvPr id="7" name="Shape 5"/>
          <p:cNvSpPr/>
          <p:nvPr/>
        </p:nvSpPr>
        <p:spPr>
          <a:xfrm>
            <a:off x="475488" y="3054096"/>
            <a:ext cx="2468880" cy="585216"/>
          </a:xfrm>
          <a:prstGeom prst="roundRect">
            <a:avLst>
              <a:gd name="adj" fmla="val 10938"/>
            </a:avLst>
          </a:prstGeom>
          <a:solidFill>
            <a:srgbClr val="E9F7F3"/>
          </a:solidFill>
          <a:ln w="12700">
            <a:solidFill>
              <a:srgbClr val="B9E5DA"/>
            </a:solidFill>
            <a:prstDash val="solid"/>
          </a:ln>
        </p:spPr>
      </p:sp>
      <p:sp>
        <p:nvSpPr>
          <p:cNvPr id="8" name="Text 6"/>
          <p:cNvSpPr txBox="1"/>
          <p:nvPr/>
        </p:nvSpPr>
        <p:spPr>
          <a:xfrm>
            <a:off x="475488" y="3054096"/>
            <a:ext cx="2468880" cy="585216"/>
          </a:xfrm>
          <a:prstGeom prst="rect">
            <a:avLst/>
          </a:prstGeom>
          <a:noFill/>
          <a:ln/>
        </p:spPr>
        <p:txBody>
          <a:bodyPr wrap="square" lIns="0" tIns="0" rIns="0" bIns="0" rtlCol="0" anchor="ctr"/>
          <a:lstStyle/>
          <a:p>
            <a:pPr algn="ctr" indent="0" marL="0">
              <a:lnSpc>
                <a:spcPct val="115000"/>
              </a:lnSpc>
              <a:buNone/>
            </a:pPr>
            <a:r>
              <a:rPr lang="en-US" sz="1600" b="1" dirty="0">
                <a:solidFill>
                  <a:srgbClr val="595959"/>
                </a:solidFill>
                <a:latin typeface="メイリオ" pitchFamily="34" charset="0"/>
                <a:ea typeface="メイリオ" pitchFamily="34" charset="-122"/>
                <a:cs typeface="メイリオ" pitchFamily="34" charset="-120"/>
              </a:rPr>
              <a:t>自己肯定感</a:t>
            </a:r>
            <a:endParaRPr lang="en-US" sz="1600" dirty="0"/>
          </a:p>
        </p:txBody>
      </p:sp>
      <p:sp>
        <p:nvSpPr>
          <p:cNvPr id="9" name="Shape 7"/>
          <p:cNvSpPr/>
          <p:nvPr/>
        </p:nvSpPr>
        <p:spPr>
          <a:xfrm>
            <a:off x="3218688" y="3054096"/>
            <a:ext cx="2468880" cy="585216"/>
          </a:xfrm>
          <a:prstGeom prst="roundRect">
            <a:avLst>
              <a:gd name="adj" fmla="val 10938"/>
            </a:avLst>
          </a:prstGeom>
          <a:solidFill>
            <a:srgbClr val="E9F7F3"/>
          </a:solidFill>
          <a:ln w="12700">
            <a:solidFill>
              <a:srgbClr val="B9E5DA"/>
            </a:solidFill>
            <a:prstDash val="solid"/>
          </a:ln>
        </p:spPr>
      </p:sp>
      <p:sp>
        <p:nvSpPr>
          <p:cNvPr id="10" name="Text 8"/>
          <p:cNvSpPr txBox="1"/>
          <p:nvPr/>
        </p:nvSpPr>
        <p:spPr>
          <a:xfrm>
            <a:off x="3218688" y="3054096"/>
            <a:ext cx="2468880" cy="585216"/>
          </a:xfrm>
          <a:prstGeom prst="rect">
            <a:avLst/>
          </a:prstGeom>
          <a:noFill/>
          <a:ln/>
        </p:spPr>
        <p:txBody>
          <a:bodyPr wrap="square" lIns="0" tIns="0" rIns="0" bIns="0" rtlCol="0" anchor="ctr"/>
          <a:lstStyle/>
          <a:p>
            <a:pPr algn="ctr" indent="0" marL="0">
              <a:lnSpc>
                <a:spcPct val="115000"/>
              </a:lnSpc>
              <a:buNone/>
            </a:pPr>
            <a:r>
              <a:rPr lang="en-US" sz="1600" b="1" dirty="0">
                <a:solidFill>
                  <a:srgbClr val="595959"/>
                </a:solidFill>
                <a:latin typeface="メイリオ" pitchFamily="34" charset="0"/>
                <a:ea typeface="メイリオ" pitchFamily="34" charset="-122"/>
                <a:cs typeface="メイリオ" pitchFamily="34" charset="-120"/>
              </a:rPr>
              <a:t>対話・協働</a:t>
            </a:r>
            <a:endParaRPr lang="en-US" sz="1600" dirty="0"/>
          </a:p>
        </p:txBody>
      </p:sp>
      <p:sp>
        <p:nvSpPr>
          <p:cNvPr id="11" name="Shape 9"/>
          <p:cNvSpPr/>
          <p:nvPr/>
        </p:nvSpPr>
        <p:spPr>
          <a:xfrm>
            <a:off x="5961888" y="3054096"/>
            <a:ext cx="2468880" cy="585216"/>
          </a:xfrm>
          <a:prstGeom prst="roundRect">
            <a:avLst>
              <a:gd name="adj" fmla="val 10938"/>
            </a:avLst>
          </a:prstGeom>
          <a:solidFill>
            <a:srgbClr val="E9F7F3"/>
          </a:solidFill>
          <a:ln w="12700">
            <a:solidFill>
              <a:srgbClr val="B9E5DA"/>
            </a:solidFill>
            <a:prstDash val="solid"/>
          </a:ln>
        </p:spPr>
      </p:sp>
      <p:sp>
        <p:nvSpPr>
          <p:cNvPr id="12" name="Text 10"/>
          <p:cNvSpPr txBox="1"/>
          <p:nvPr/>
        </p:nvSpPr>
        <p:spPr>
          <a:xfrm>
            <a:off x="5961888" y="3054096"/>
            <a:ext cx="2468880" cy="585216"/>
          </a:xfrm>
          <a:prstGeom prst="rect">
            <a:avLst/>
          </a:prstGeom>
          <a:noFill/>
          <a:ln/>
        </p:spPr>
        <p:txBody>
          <a:bodyPr wrap="square" lIns="0" tIns="0" rIns="0" bIns="0" rtlCol="0" anchor="ctr"/>
          <a:lstStyle/>
          <a:p>
            <a:pPr algn="ctr" indent="0" marL="0">
              <a:lnSpc>
                <a:spcPct val="115000"/>
              </a:lnSpc>
              <a:buNone/>
            </a:pPr>
            <a:r>
              <a:rPr lang="en-US" sz="1600" b="1" dirty="0">
                <a:solidFill>
                  <a:srgbClr val="595959"/>
                </a:solidFill>
                <a:latin typeface="メイリオ" pitchFamily="34" charset="0"/>
                <a:ea typeface="メイリオ" pitchFamily="34" charset="-122"/>
                <a:cs typeface="メイリオ" pitchFamily="34" charset="-120"/>
              </a:rPr>
              <a:t>学習の自己調整</a:t>
            </a:r>
            <a:endParaRPr lang="en-US" sz="1600" dirty="0"/>
          </a:p>
        </p:txBody>
      </p:sp>
      <p:sp>
        <p:nvSpPr>
          <p:cNvPr id="13" name="Text 11"/>
          <p:cNvSpPr txBox="1"/>
          <p:nvPr/>
        </p:nvSpPr>
        <p:spPr>
          <a:xfrm>
            <a:off x="475488" y="3840480"/>
            <a:ext cx="8193024" cy="502920"/>
          </a:xfrm>
          <a:prstGeom prst="rect">
            <a:avLst/>
          </a:prstGeom>
          <a:noFill/>
          <a:ln/>
        </p:spPr>
        <p:txBody>
          <a:bodyPr wrap="square" lIns="0" tIns="0" rIns="0" bIns="0" rtlCol="0" anchor="ctr"/>
          <a:lstStyle/>
          <a:p>
            <a:pPr algn="l" indent="0" marL="0">
              <a:buNone/>
            </a:pPr>
            <a:r>
              <a:rPr lang="en-US" sz="1800" b="1" dirty="0">
                <a:solidFill>
                  <a:srgbClr val="595959"/>
                </a:solidFill>
                <a:latin typeface="メイリオ" pitchFamily="34" charset="0"/>
                <a:ea typeface="メイリオ" pitchFamily="34" charset="-122"/>
                <a:cs typeface="メイリオ" pitchFamily="34" charset="-120"/>
              </a:rPr>
              <a:t>を　</a:t>
            </a:r>
            <a:pPr algn="l" indent="0" marL="0">
              <a:buNone/>
            </a:pPr>
            <a:r>
              <a:rPr lang="en-US" sz="1800" b="1" dirty="0">
                <a:solidFill>
                  <a:srgbClr val="EE7B08"/>
                </a:solidFill>
                <a:latin typeface="メイリオ" pitchFamily="34" charset="0"/>
                <a:ea typeface="メイリオ" pitchFamily="34" charset="-122"/>
                <a:cs typeface="メイリオ" pitchFamily="34" charset="-120"/>
              </a:rPr>
              <a:t>９年間で系統的に</a:t>
            </a:r>
            <a:pPr algn="l" indent="0" marL="0">
              <a:buNone/>
            </a:pPr>
            <a:r>
              <a:rPr lang="en-US" sz="1800" b="1" dirty="0">
                <a:solidFill>
                  <a:srgbClr val="595959"/>
                </a:solidFill>
                <a:latin typeface="メイリオ" pitchFamily="34" charset="0"/>
                <a:ea typeface="メイリオ" pitchFamily="34" charset="-122"/>
                <a:cs typeface="メイリオ" pitchFamily="34" charset="-120"/>
              </a:rPr>
              <a:t>　育てていくことが重要である。</a:t>
            </a:r>
            <a:endParaRPr lang="en-US" sz="1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0" y="-9144"/>
            <a:ext cx="9144000" cy="612648"/>
          </a:xfrm>
          <a:prstGeom prst="rect">
            <a:avLst/>
          </a:prstGeom>
          <a:solidFill>
            <a:srgbClr val="44C1A3"/>
          </a:solidFill>
          <a:ln/>
        </p:spPr>
        <p:txBody>
          <a:bodyPr wrap="square" lIns="0" tIns="0" rIns="0" bIns="0" rtlCol="0" anchor="ctr"/>
          <a:lstStyle/>
          <a:p>
            <a:pPr algn="l" indent="0" marL="0">
              <a:lnSpc>
                <a:spcPct val="120000"/>
              </a:lnSpc>
              <a:buNone/>
            </a:pPr>
            <a:r>
              <a:rPr lang="en-US" sz="3000" b="1" dirty="0">
                <a:solidFill>
                  <a:srgbClr val="FFFFFF"/>
                </a:solidFill>
                <a:latin typeface="メイリオ" pitchFamily="34" charset="0"/>
                <a:ea typeface="メイリオ" pitchFamily="34" charset="-122"/>
                <a:cs typeface="メイリオ" pitchFamily="34" charset="-120"/>
              </a:rPr>
              <a:t>　まとめ</a:t>
            </a:r>
            <a:endParaRPr lang="en-US" sz="3000" dirty="0"/>
          </a:p>
        </p:txBody>
      </p:sp>
      <p:sp>
        <p:nvSpPr>
          <p:cNvPr id="3" name="Text 1"/>
          <p:cNvSpPr txBox="1"/>
          <p:nvPr/>
        </p:nvSpPr>
        <p:spPr>
          <a:xfrm>
            <a:off x="475488" y="896112"/>
            <a:ext cx="8193024" cy="457200"/>
          </a:xfrm>
          <a:prstGeom prst="rect">
            <a:avLst/>
          </a:prstGeom>
          <a:noFill/>
          <a:ln/>
        </p:spPr>
        <p:txBody>
          <a:bodyPr wrap="square" lIns="0" tIns="0" rIns="0" bIns="0" rtlCol="0" anchor="t"/>
          <a:lstStyle/>
          <a:p>
            <a:pPr algn="l" indent="0" marL="0">
              <a:lnSpc>
                <a:spcPct val="120000"/>
              </a:lnSpc>
              <a:buNone/>
            </a:pPr>
            <a:r>
              <a:rPr lang="en-US" sz="1800" b="1" dirty="0">
                <a:solidFill>
                  <a:srgbClr val="595959"/>
                </a:solidFill>
                <a:latin typeface="メイリオ" pitchFamily="34" charset="0"/>
                <a:ea typeface="メイリオ" pitchFamily="34" charset="-122"/>
                <a:cs typeface="メイリオ" pitchFamily="34" charset="-120"/>
              </a:rPr>
              <a:t>学力向上は、</a:t>
            </a:r>
            <a:pPr algn="l" indent="0" marL="0">
              <a:lnSpc>
                <a:spcPct val="120000"/>
              </a:lnSpc>
              <a:buNone/>
            </a:pPr>
            <a:r>
              <a:rPr lang="en-US" sz="1800" b="1" dirty="0">
                <a:solidFill>
                  <a:srgbClr val="EE7B08"/>
                </a:solidFill>
                <a:latin typeface="メイリオ" pitchFamily="34" charset="0"/>
                <a:ea typeface="メイリオ" pitchFamily="34" charset="-122"/>
                <a:cs typeface="メイリオ" pitchFamily="34" charset="-120"/>
              </a:rPr>
              <a:t>知識の積み上げだけ</a:t>
            </a:r>
            <a:pPr algn="l" indent="0" marL="0">
              <a:lnSpc>
                <a:spcPct val="120000"/>
              </a:lnSpc>
              <a:buNone/>
            </a:pPr>
            <a:r>
              <a:rPr lang="en-US" sz="1800" b="1" dirty="0">
                <a:solidFill>
                  <a:srgbClr val="595959"/>
                </a:solidFill>
                <a:latin typeface="メイリオ" pitchFamily="34" charset="0"/>
                <a:ea typeface="メイリオ" pitchFamily="34" charset="-122"/>
                <a:cs typeface="メイリオ" pitchFamily="34" charset="-120"/>
              </a:rPr>
              <a:t>で実現するものではない。</a:t>
            </a:r>
            <a:endParaRPr lang="en-US" sz="1800" dirty="0"/>
          </a:p>
        </p:txBody>
      </p:sp>
      <p:sp>
        <p:nvSpPr>
          <p:cNvPr id="4" name="Text 2"/>
          <p:cNvSpPr txBox="1"/>
          <p:nvPr/>
        </p:nvSpPr>
        <p:spPr>
          <a:xfrm>
            <a:off x="475488" y="1444752"/>
            <a:ext cx="8193024" cy="320040"/>
          </a:xfrm>
          <a:prstGeom prst="rect">
            <a:avLst/>
          </a:prstGeom>
          <a:noFill/>
          <a:ln/>
        </p:spPr>
        <p:txBody>
          <a:bodyPr wrap="square" lIns="0" tIns="0" rIns="0" bIns="0" rtlCol="0" anchor="ctr"/>
          <a:lstStyle/>
          <a:p>
            <a:pPr algn="l" indent="0" marL="0">
              <a:buNone/>
            </a:pPr>
            <a:r>
              <a:rPr lang="en-US" sz="1500" b="1" dirty="0">
                <a:solidFill>
                  <a:srgbClr val="808080"/>
                </a:solidFill>
                <a:latin typeface="メイリオ" pitchFamily="34" charset="0"/>
                <a:ea typeface="メイリオ" pitchFamily="34" charset="-122"/>
                <a:cs typeface="メイリオ" pitchFamily="34" charset="-120"/>
              </a:rPr>
              <a:t>みらい青空学園では</a:t>
            </a:r>
            <a:endParaRPr lang="en-US" sz="1500" dirty="0"/>
          </a:p>
        </p:txBody>
      </p:sp>
      <p:sp>
        <p:nvSpPr>
          <p:cNvPr id="5" name="Shape 3"/>
          <p:cNvSpPr/>
          <p:nvPr/>
        </p:nvSpPr>
        <p:spPr>
          <a:xfrm>
            <a:off x="475488" y="1828800"/>
            <a:ext cx="2468880" cy="621792"/>
          </a:xfrm>
          <a:prstGeom prst="roundRect">
            <a:avLst>
              <a:gd name="adj" fmla="val 10294"/>
            </a:avLst>
          </a:prstGeom>
          <a:solidFill>
            <a:srgbClr val="44C1A3"/>
          </a:solidFill>
          <a:ln/>
        </p:spPr>
      </p:sp>
      <p:sp>
        <p:nvSpPr>
          <p:cNvPr id="6" name="Text 4"/>
          <p:cNvSpPr txBox="1"/>
          <p:nvPr/>
        </p:nvSpPr>
        <p:spPr>
          <a:xfrm>
            <a:off x="475488" y="1828800"/>
            <a:ext cx="2468880" cy="621792"/>
          </a:xfrm>
          <a:prstGeom prst="rect">
            <a:avLst/>
          </a:prstGeom>
          <a:noFill/>
          <a:ln/>
        </p:spPr>
        <p:txBody>
          <a:bodyPr wrap="square" lIns="0" tIns="0" rIns="0" bIns="0" rtlCol="0" anchor="ctr"/>
          <a:lstStyle/>
          <a:p>
            <a:pPr algn="ctr" indent="0" marL="0">
              <a:lnSpc>
                <a:spcPct val="115000"/>
              </a:lnSpc>
              <a:buNone/>
            </a:pPr>
            <a:r>
              <a:rPr lang="en-US" sz="1700" b="1" dirty="0">
                <a:solidFill>
                  <a:srgbClr val="FFFFFF"/>
                </a:solidFill>
                <a:latin typeface="メイリオ" pitchFamily="34" charset="0"/>
                <a:ea typeface="メイリオ" pitchFamily="34" charset="-122"/>
                <a:cs typeface="メイリオ" pitchFamily="34" charset="-120"/>
              </a:rPr>
              <a:t>自己肯定感</a:t>
            </a:r>
            <a:endParaRPr lang="en-US" sz="1700" dirty="0"/>
          </a:p>
        </p:txBody>
      </p:sp>
      <p:sp>
        <p:nvSpPr>
          <p:cNvPr id="7" name="Shape 5"/>
          <p:cNvSpPr/>
          <p:nvPr/>
        </p:nvSpPr>
        <p:spPr>
          <a:xfrm>
            <a:off x="3218688" y="1828800"/>
            <a:ext cx="2468880" cy="621792"/>
          </a:xfrm>
          <a:prstGeom prst="roundRect">
            <a:avLst>
              <a:gd name="adj" fmla="val 10294"/>
            </a:avLst>
          </a:prstGeom>
          <a:solidFill>
            <a:srgbClr val="44C1A3"/>
          </a:solidFill>
          <a:ln/>
        </p:spPr>
      </p:sp>
      <p:sp>
        <p:nvSpPr>
          <p:cNvPr id="8" name="Text 6"/>
          <p:cNvSpPr txBox="1"/>
          <p:nvPr/>
        </p:nvSpPr>
        <p:spPr>
          <a:xfrm>
            <a:off x="3218688" y="1828800"/>
            <a:ext cx="2468880" cy="621792"/>
          </a:xfrm>
          <a:prstGeom prst="rect">
            <a:avLst/>
          </a:prstGeom>
          <a:noFill/>
          <a:ln/>
        </p:spPr>
        <p:txBody>
          <a:bodyPr wrap="square" lIns="0" tIns="0" rIns="0" bIns="0" rtlCol="0" anchor="ctr"/>
          <a:lstStyle/>
          <a:p>
            <a:pPr algn="ctr" indent="0" marL="0">
              <a:lnSpc>
                <a:spcPct val="115000"/>
              </a:lnSpc>
              <a:buNone/>
            </a:pPr>
            <a:r>
              <a:rPr lang="en-US" sz="1700" b="1" dirty="0">
                <a:solidFill>
                  <a:srgbClr val="FFFFFF"/>
                </a:solidFill>
                <a:latin typeface="メイリオ" pitchFamily="34" charset="0"/>
                <a:ea typeface="メイリオ" pitchFamily="34" charset="-122"/>
                <a:cs typeface="メイリオ" pitchFamily="34" charset="-120"/>
              </a:rPr>
              <a:t>対話・協働</a:t>
            </a:r>
            <a:endParaRPr lang="en-US" sz="1700" dirty="0"/>
          </a:p>
        </p:txBody>
      </p:sp>
      <p:sp>
        <p:nvSpPr>
          <p:cNvPr id="9" name="Shape 7"/>
          <p:cNvSpPr/>
          <p:nvPr/>
        </p:nvSpPr>
        <p:spPr>
          <a:xfrm>
            <a:off x="5961888" y="1828800"/>
            <a:ext cx="2468880" cy="621792"/>
          </a:xfrm>
          <a:prstGeom prst="roundRect">
            <a:avLst>
              <a:gd name="adj" fmla="val 10294"/>
            </a:avLst>
          </a:prstGeom>
          <a:solidFill>
            <a:srgbClr val="44C1A3"/>
          </a:solidFill>
          <a:ln/>
        </p:spPr>
      </p:sp>
      <p:sp>
        <p:nvSpPr>
          <p:cNvPr id="10" name="Text 8"/>
          <p:cNvSpPr txBox="1"/>
          <p:nvPr/>
        </p:nvSpPr>
        <p:spPr>
          <a:xfrm>
            <a:off x="5961888" y="1828800"/>
            <a:ext cx="2468880" cy="621792"/>
          </a:xfrm>
          <a:prstGeom prst="rect">
            <a:avLst/>
          </a:prstGeom>
          <a:noFill/>
          <a:ln/>
        </p:spPr>
        <p:txBody>
          <a:bodyPr wrap="square" lIns="0" tIns="0" rIns="0" bIns="0" rtlCol="0" anchor="ctr"/>
          <a:lstStyle/>
          <a:p>
            <a:pPr algn="ctr" indent="0" marL="0">
              <a:lnSpc>
                <a:spcPct val="115000"/>
              </a:lnSpc>
              <a:buNone/>
            </a:pPr>
            <a:r>
              <a:rPr lang="en-US" sz="1700" b="1" dirty="0">
                <a:solidFill>
                  <a:srgbClr val="FFFFFF"/>
                </a:solidFill>
                <a:latin typeface="メイリオ" pitchFamily="34" charset="0"/>
                <a:ea typeface="メイリオ" pitchFamily="34" charset="-122"/>
                <a:cs typeface="メイリオ" pitchFamily="34" charset="-120"/>
              </a:rPr>
              <a:t>学習の自己調整</a:t>
            </a:r>
            <a:endParaRPr lang="en-US" sz="1700" dirty="0"/>
          </a:p>
        </p:txBody>
      </p:sp>
      <p:sp>
        <p:nvSpPr>
          <p:cNvPr id="11" name="Text 9"/>
          <p:cNvSpPr txBox="1"/>
          <p:nvPr/>
        </p:nvSpPr>
        <p:spPr>
          <a:xfrm>
            <a:off x="475488" y="2560320"/>
            <a:ext cx="8193024" cy="365760"/>
          </a:xfrm>
          <a:prstGeom prst="rect">
            <a:avLst/>
          </a:prstGeom>
          <a:noFill/>
          <a:ln/>
        </p:spPr>
        <p:txBody>
          <a:bodyPr wrap="square" lIns="0" tIns="0" rIns="0" bIns="0" rtlCol="0" anchor="ctr"/>
          <a:lstStyle/>
          <a:p>
            <a:pPr algn="l" indent="0" marL="0">
              <a:buNone/>
            </a:pPr>
            <a:r>
              <a:rPr lang="en-US" sz="1700" b="1" dirty="0">
                <a:solidFill>
                  <a:srgbClr val="595959"/>
                </a:solidFill>
                <a:latin typeface="メイリオ" pitchFamily="34" charset="0"/>
                <a:ea typeface="メイリオ" pitchFamily="34" charset="-122"/>
                <a:cs typeface="メイリオ" pitchFamily="34" charset="-120"/>
              </a:rPr>
              <a:t>が着実に育成されている。</a:t>
            </a:r>
            <a:endParaRPr lang="en-US" sz="1700" dirty="0"/>
          </a:p>
        </p:txBody>
      </p:sp>
      <p:sp>
        <p:nvSpPr>
          <p:cNvPr id="12" name="Shape 10"/>
          <p:cNvSpPr/>
          <p:nvPr/>
        </p:nvSpPr>
        <p:spPr>
          <a:xfrm>
            <a:off x="475488" y="3035808"/>
            <a:ext cx="8193024" cy="914400"/>
          </a:xfrm>
          <a:prstGeom prst="roundRect">
            <a:avLst>
              <a:gd name="adj" fmla="val 6000"/>
            </a:avLst>
          </a:prstGeom>
          <a:solidFill>
            <a:srgbClr val="E9F7F3"/>
          </a:solidFill>
          <a:ln w="12700">
            <a:solidFill>
              <a:srgbClr val="B9E5DA"/>
            </a:solidFill>
            <a:prstDash val="solid"/>
          </a:ln>
        </p:spPr>
      </p:sp>
      <p:sp>
        <p:nvSpPr>
          <p:cNvPr id="13" name="Text 11"/>
          <p:cNvSpPr txBox="1"/>
          <p:nvPr/>
        </p:nvSpPr>
        <p:spPr>
          <a:xfrm>
            <a:off x="731520" y="3035808"/>
            <a:ext cx="7680960" cy="914400"/>
          </a:xfrm>
          <a:prstGeom prst="rect">
            <a:avLst/>
          </a:prstGeom>
          <a:noFill/>
          <a:ln/>
        </p:spPr>
        <p:txBody>
          <a:bodyPr wrap="square" lIns="0" tIns="0" rIns="0" bIns="0" rtlCol="0" anchor="ctr"/>
          <a:lstStyle/>
          <a:p>
            <a:pPr algn="l" indent="0" marL="0">
              <a:lnSpc>
                <a:spcPct val="125000"/>
              </a:lnSpc>
              <a:buNone/>
            </a:pPr>
            <a:r>
              <a:rPr lang="en-US" sz="1700" b="1" dirty="0">
                <a:solidFill>
                  <a:srgbClr val="595959"/>
                </a:solidFill>
                <a:latin typeface="メイリオ" pitchFamily="34" charset="0"/>
                <a:ea typeface="メイリオ" pitchFamily="34" charset="-122"/>
                <a:cs typeface="メイリオ" pitchFamily="34" charset="-120"/>
              </a:rPr>
              <a:t>これこそが、</a:t>
            </a:r>
            <a:endParaRPr lang="en-US" sz="1700" dirty="0"/>
          </a:p>
          <a:p>
            <a:pPr algn="l" indent="0" marL="0">
              <a:lnSpc>
                <a:spcPct val="125000"/>
              </a:lnSpc>
              <a:buNone/>
            </a:pPr>
            <a:r>
              <a:rPr lang="en-US" sz="1700" b="1" dirty="0">
                <a:solidFill>
                  <a:srgbClr val="EE7B08"/>
                </a:solidFill>
                <a:latin typeface="メイリオ" pitchFamily="34" charset="0"/>
                <a:ea typeface="メイリオ" pitchFamily="34" charset="-122"/>
                <a:cs typeface="メイリオ" pitchFamily="34" charset="-120"/>
              </a:rPr>
              <a:t>施設一体型小中一貫教育校としての最大の強み</a:t>
            </a:r>
            <a:pPr algn="l" indent="0" marL="0">
              <a:lnSpc>
                <a:spcPct val="125000"/>
              </a:lnSpc>
              <a:buNone/>
            </a:pPr>
            <a:r>
              <a:rPr lang="en-US" sz="1700" b="1" dirty="0">
                <a:solidFill>
                  <a:srgbClr val="595959"/>
                </a:solidFill>
                <a:latin typeface="メイリオ" pitchFamily="34" charset="0"/>
                <a:ea typeface="メイリオ" pitchFamily="34" charset="-122"/>
                <a:cs typeface="メイリオ" pitchFamily="34" charset="-120"/>
              </a:rPr>
              <a:t>である。</a:t>
            </a:r>
            <a:endParaRPr lang="en-US" sz="1700" dirty="0"/>
          </a:p>
        </p:txBody>
      </p:sp>
      <p:sp>
        <p:nvSpPr>
          <p:cNvPr id="14" name="Text 12"/>
          <p:cNvSpPr txBox="1"/>
          <p:nvPr/>
        </p:nvSpPr>
        <p:spPr>
          <a:xfrm>
            <a:off x="475488" y="4114800"/>
            <a:ext cx="8193024" cy="457200"/>
          </a:xfrm>
          <a:prstGeom prst="rect">
            <a:avLst/>
          </a:prstGeom>
          <a:noFill/>
          <a:ln/>
        </p:spPr>
        <p:txBody>
          <a:bodyPr wrap="square" lIns="0" tIns="0" rIns="0" bIns="0" rtlCol="0" anchor="ctr"/>
          <a:lstStyle/>
          <a:p>
            <a:pPr algn="l" indent="0" marL="0">
              <a:buNone/>
            </a:pPr>
            <a:r>
              <a:rPr lang="en-US" sz="1800" b="1" dirty="0">
                <a:solidFill>
                  <a:srgbClr val="595959"/>
                </a:solidFill>
                <a:latin typeface="メイリオ" pitchFamily="34" charset="0"/>
                <a:ea typeface="メイリオ" pitchFamily="34" charset="-122"/>
                <a:cs typeface="メイリオ" pitchFamily="34" charset="-120"/>
              </a:rPr>
              <a:t>今後も、９年間を見通した学びの充実に期待している。</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令和８年度 教育指導課訪問 ５校時 指導・講評資料（みらい青空学園）</dc:title>
  <dc:subject>PptxGenJS Presentation</dc:subject>
  <dc:creator>練馬区教育委員会</dc:creator>
  <cp:lastModifiedBy>練馬区教育委員会</cp:lastModifiedBy>
  <cp:revision>1</cp:revision>
  <dcterms:created xsi:type="dcterms:W3CDTF">2026-09-07T11:28:47Z</dcterms:created>
  <dcterms:modified xsi:type="dcterms:W3CDTF">2026-09-07T11:28:47Z</dcterms:modified>
</cp:coreProperties>
</file>