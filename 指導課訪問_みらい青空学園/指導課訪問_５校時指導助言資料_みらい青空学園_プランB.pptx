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本日は、貴重な授業を参観させていただき、誠にありがとうございました。練馬区教育委員会指導課の紺多と申します。
１０分間、お時間をいただきます。本日申し上げたいことは、この一文に尽きます。「違い」を生かす授業が、９年間の学びをつなぐ。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本日は三点でお話しします。はじめにクイズと、みらい青空学園の現状。次に、３人の先生の授業から。最後に、今後に向けてです。
３人の先生の指導案を手がかりに、本日の授業を読み解いてまいります。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はじめにクイズを２問。令和８年度の全国学力・学習状況調査、質問紙調査の結果からです。
全国では、小学校から中学校にかけて下がる項目が多くあります。たとえば「英語の勉強は好きですか」。全国では小学校66.7％から中学校51.2％へ、15.5ポイント下がります。
では、本校ではどうだったでしょうか。
Q1「英語の勉強は好きですか」。本校の小学部６年は51.8％。中学部９年は。①約42、②約52、③約62パーセント。
Q2「自分には、よいところがあると思いますか」。本校の小学部６年は85.2％。中学部９年は。①約85、②約88、③約92パーセント。
（数秒、挙手や指名で予想を出してもらう）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答えは、いずれも③です。
「英語の勉強は好きですか」は、51.8％から61.7％へ、9.9ポイント上がっています。全国は15.5ポイント下がる項目です。小学部では全国を下回っていたものが、中学部では全国を10ポイント以上、上回りました。
「自分には、よいところがある」は、85.2％から91.5％へ、6.3ポイント上がっています。全国は1.6ポイント下がります。
全国も東京都も下がる項目で、本校は上がっている。これが本日の出発点です。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みらい青空学園の現状です。対話と協働に関わる項目が、小学部から中学部にかけて伸びています。
「友達や周りの人の考えを大切にして、協力しながら課題の解決に取り組んでいますか」は、85.1％から100％へ。中学部は全員が肯定的に答えています。
「話し合う活動を通じて、自分の考えを深めたり、新たな考え方に気付いたりすることができていますか」は、92.5％から97.9％へ。
「自分と違う意見について考えるのは楽しい」は、81.4％から87.2％へ。
９年間を見通した教育の成果が、数値に表れています。ここから本題に入ります。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３人の指導案を読ませていただきました。学級はまったく違いますが、共通して書かれていたことがあります。
水泳は泳力差が顕著、外国語は習熟度差が大きい、道徳は特別支援学級。３つの学級は、いずれも一人一人の差が大きい集団です。
その差にどう向き合うか。指導案には、視点Ⅰ 見通しをもたせる、視点Ⅱ 一人一人の違いに応じる、視点Ⅲ 対話で考えを深める、という手だてが書かれていました。この３つを手がかりに、３人の授業を見てまいります。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田口　和磨　先生の授業です。保健体育・第９学年ＡＢ組／水泳（全10時間中の第３時）　バタフライのキック。
指導案には、学級の実態がこう書かれていました。コロナ禍と校舎改築で水泳の授業回数が少ない。苦手意識や水への恐怖心をもつ生徒と、スイミングスクール経験者が混在し、泳力差が顕著。
そのうえで打たれた手だてが、こちらです。着替えの前に、本時の目標と授業の流れを確認する。泳力別に３段階でコースを分け、補助具の使用を認める。得意な生徒に、他の生徒へのアドバイスを担当させる。バディで互いのキックを確認し合う。
参観して、確認の視点を３点示し、子どもが自分の泳ぎを見る目をもてていた。（写真に触れながら）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東海林　静江　先生の授業です。道徳・特別支援学級Ｄ組／「ついていい嘘とついてはいけない嘘はどう違うのか？」。
指導案には、学級の実態がこう書かれていました。将来の就労を見据えた「報告・連絡・相談」を大切にしている学級。「嘘はつくなと言われているけど、これは嘘がうまくないと勝てない」という生徒の発言が出発点。
そのうえで打たれた手だてが、こちらです。前時「いいこと・わるいこと」と２週続きで組み立てる。前時のワークシートを活用し、考えが変わってもよいと保障する。自己との対話で整理してから、グループで交流し議論へ。発表よりも議論の時間を重視する。
参観して、全員が自分の考えをもって議論に入れていた。（写真に触れながら）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塚本　瑞穂　先生の授業です。外国語・第７学年Ｂ組／Unit 4 Our New Friend（全９時間中の第２時）。
指導案には、学級の実態がこう書かれていました。小学校時から苦手意識のある生徒、母語が英語の生徒、英検２級レベルの生徒まで混在。習熟度の差が大きい。
そのうえで打たれた手だてが、こちらです。Today’s Goal と Today’s Plan を提示する。単元末はＡＬＴへの発表。目的と相手が明確なゴールを置く。発表の前にペアで共有し、発表時の不安を軽減する。くじで指名し、１時間で全員に発話の機会をつくる。
参観して、板書を手がかりに、誰もが一文をつくれるようにしていた。（写真に触れながら）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３つの授業を並べると、このようになります。
見通しは、着替えの前の確認、２週続きの構成、Today’s Goal。
違いに応じる手だては、泳力別のコース、前時のワークシート、発表前のペア共有。
対話は、バディでの確認、自己内対話のあとの議論、ペアから全体へ。
教科も学年も違いますが、３人とも、差を埋めるのではなく、差を前提に授業を設計されていました。これが本校の強みだと受け止めました。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３つの手だては、子どもに何を育てるのでしょうか。二つあると考えます。
一つは自己肯定感です。「できる子になる」ことではなく、「成長できる自分を信じること」。自分の段階で挑戦でき、考えが変わってもよいと保障されることで育ちます。
もう一つが、学習の自己調整です。学習指導要領が示す「学びに向かう力」の中核をなす力です。見通しをもち、振り返り、次につなげる経験の積み重ねで育ちます。
本日の授業には、この二つが育つ場面がありました。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とくに学習の自己調整について申し上げます。「学びに向かう力」を支える「主体的に学習に取り組む態度」は、粘り強く取り組む側面と、自らの学習を調整しようとする側面の二つで捉えます。
田口先生は、着替えの前に本時の目標と流れを確認され、学習カードで要点を振り返らせていました。
塚本先生は、授業のはじめに Today’s Goal と Plan を示し、振り返りをワークシートに記入させていました。
東海林先生は、議論に入る前に前時のワークシートで自分の考えを確かめさせ、本時の考えを書き残させていました。
いずれも、目標と振り返りが一対で置かれています。
教師が管理する学習から、子どもが管理する学習へ。（間をおく）本日の授業から見えた、いちばん大きな変化です。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今後に向けてです。本日見えた３つの視点は、学年や教科を越えて使えます。
学校経営計画に掲げられた「主体的・対話的で深い学びの実現に向けた授業改善」「個に応じたきめ細やかな指導・支援の充実」とも重なります。
この３つを、９年間の共通の言葉にしていただきたい。学年ごと、教科ごとに閉じない。同じ言葉で語れることが、９年間をつなぎます。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もう一点、今後に向けてです。
本日の３つの授業は、保健体育の９年、道徳のＤ組、外国語の７年。教科も学年も違います。それでも、同じ３つの視点で語ることができました。
だから、教科を越えて見合えます。ここが施設一体型のいちばんの強みだと考えます。
小学部の教員が中学部を、中学部の教員が小学部を見る。９年後の子どもの姿と、９年前の子どもの姿を、同じ校舎で見られる学校です。見る観点は、見通し、違いに応じる、対話。この３つで足ります。
学校経営計画に掲げられた「乗り入れ授業」「相互の実践に生かす」を、この３つの観点で動かしていただきたいと思います。
子どもが学習を調整するように、教師も授業を調整する。その具体が、互いに見合うことだと考えます。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まとめます。３人とも、一人一人の差を学びの出発点にされていました。
見通し、違いに応じること、対話。その先に育つのが、自己肯定感と、学習の自己調整です。この積み重ねが、９年間を見通した学びの充実につながります。
「違い」を生かす授業が、９年間の学びをつなぐ。９年間を見通した学びの充実に期待しております。本日は誠にありがとうございました。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0"/>
            <a:ext cx="9144000" cy="248716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練馬区立みらい青空学園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教育指導課訪問（５校時）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2487168"/>
            <a:ext cx="9144000" cy="658368"/>
          </a:xfrm>
          <a:prstGeom prst="roundRect">
            <a:avLst>
              <a:gd name="adj" fmla="val 833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" y="2487168"/>
            <a:ext cx="81930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3401568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授業者　塚本　瑞穂　先生（外国語・７年Ｂ組）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田口　和磨　先生（保健体育・９年ＡＢ組）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　　　東海林　静江　先生（道徳・特別支援学級Ｄ組）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3401568"/>
            <a:ext cx="3319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令和８年９月９日（水）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練馬区教育委員会</a:t>
            </a:r>
            <a:endParaRPr lang="en-US" sz="1800" dirty="0"/>
          </a:p>
          <a:p>
            <a:pPr algn="r"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ＭＳ Ｐゴシック" pitchFamily="34" charset="0"/>
                <a:ea typeface="ＭＳ Ｐゴシック" pitchFamily="34" charset="-122"/>
                <a:cs typeface="ＭＳ Ｐゴシック" pitchFamily="34" charset="-120"/>
              </a:rPr>
              <a:t>指導主事　紺多　章一郎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本日の講評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14400"/>
            <a:ext cx="8193024" cy="868680"/>
          </a:xfrm>
          <a:prstGeom prst="roundRect">
            <a:avLst>
              <a:gd name="adj" fmla="val 6316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144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01168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1168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アイスブレイク　みらい青空学園の現状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58368" y="278892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7889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78892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３人の授業から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58368" y="3566160"/>
            <a:ext cx="493776" cy="493776"/>
          </a:xfrm>
          <a:prstGeom prst="ellipse">
            <a:avLst/>
          </a:prstGeom>
          <a:solidFill>
            <a:srgbClr val="44C1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5661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566160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今後に向けて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" y="4279392"/>
            <a:ext cx="8193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３人の先生の指導案を手がかりに、本日の授業を読み解きます。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クイズ　本校の子どもたちは、どう変わったか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71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71600"/>
            <a:ext cx="7991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全国では、小学校から中学校にかけて下がる項目が多い。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例：「英語の勉強は好きですか」　全国　小 66.7％ → 中 51.2％　</a:t>
            </a:r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−15.5ポイント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37744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では、本校（旧旭丘小学校・旧旭丘中学校）はどうだったでしょうか。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7249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7797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「英語の勉強は好きですか」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76072" y="3072384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51.8％。では、中学部９年は？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0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42％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47104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47104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52％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07808" y="2999232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07808" y="2999232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62％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3749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38039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</a:t>
            </a:r>
            <a:pPr algn="l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「自分には、よいところがあると思いますか」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4096512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本校の小学部６年は 85.2％。では、中学部９年は？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0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① 約 85％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47104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② 約 88％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07808" y="4023360"/>
            <a:ext cx="969264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44C1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07808" y="402336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③ 約 92％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アイスブレイク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答え　本校では、中学部で上がっている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44475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Q1　「英語の勉強は好きですか」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669280" y="151790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66.7 → 51.2　−15.5ポイント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76072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51.8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192024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078224" y="195681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78224" y="195681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32704" y="188366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61.7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086600" y="188366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86600" y="188366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＋9.9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0040" y="2907792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" y="2980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Q2　「自分には、よいところがあると思いますか」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2980944"/>
            <a:ext cx="2898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全国は 85.6 → 84.0　−1.6ポイント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小学部（６年）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30552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85.2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3584448" y="33832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78224" y="3419856"/>
            <a:ext cx="1463040" cy="438912"/>
          </a:xfrm>
          <a:prstGeom prst="roundRect">
            <a:avLst>
              <a:gd name="adj" fmla="val 14583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078224" y="341985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中学部（９年）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32704" y="334670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91.5</a:t>
            </a:r>
            <a:pPr algn="l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％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7086600" y="3346704"/>
            <a:ext cx="1481328" cy="585216"/>
          </a:xfrm>
          <a:prstGeom prst="roundRect">
            <a:avLst>
              <a:gd name="adj" fmla="val 10938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86600" y="3346704"/>
            <a:ext cx="1481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＋6.3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ポイント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" y="43159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全国も東京都も下がる項目で、本校は上がっている。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4700016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　本校 小学部27名・中学部47名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①　みらい青空学園の現状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質問紙調査から見える強み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37160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対話と協働に関わる項目が、小学部から中学部にかけて伸びている。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友達や周りの人の考えを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大切にして、協力しながら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課題の解決に取り組んでいる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85.1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100.0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＋14.9 ポイント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中学部は全国 92.4 を上回る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7832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92424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話し合う活動を通じて、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自分の考えを深めたり、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新たな考え方に気付ける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92424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92.5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97.9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92424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2424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＋5.4 ポイント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392424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86.6 を上回る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755648"/>
            <a:ext cx="2697480" cy="2395728"/>
          </a:xfrm>
          <a:prstGeom prst="roundRect">
            <a:avLst>
              <a:gd name="adj" fmla="val 229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865376"/>
            <a:ext cx="2368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自分と違う意見について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考えるのは楽しい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670048"/>
            <a:ext cx="236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81.4</a:t>
            </a:r>
            <a:pPr algn="l" indent="0" marL="0">
              <a:buNone/>
            </a:pPr>
            <a:r>
              <a:rPr lang="en-US" sz="13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→ </a:t>
            </a:r>
            <a:pPr algn="l" indent="0" marL="0">
              <a:buNone/>
            </a:pPr>
            <a:r>
              <a:rPr lang="en-US" sz="11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 </a:t>
            </a:r>
            <a:pPr algn="l" indent="0" marL="0">
              <a:buNone/>
            </a:pPr>
            <a:r>
              <a:rPr lang="en-US" sz="1700" b="1" dirty="0">
                <a:solidFill>
                  <a:srgbClr val="3F3F3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87.2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0216" y="3163824"/>
            <a:ext cx="1444752" cy="402336"/>
          </a:xfrm>
          <a:prstGeom prst="roundRect">
            <a:avLst>
              <a:gd name="adj" fmla="val 13636"/>
            </a:avLst>
          </a:prstGeom>
          <a:solidFill>
            <a:srgbClr val="FDF0E3"/>
          </a:solidFill>
          <a:ln w="12700">
            <a:solidFill>
              <a:srgbClr val="F6CFA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3163824"/>
            <a:ext cx="1444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＋5.8 ポイント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639312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中学部は練馬区 79.8 を上回る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4315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対話し、協働する力が、９年間を通じて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確かに育っている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09744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出典：令和８年度 全国学力・学習状況調査　回答結果集計表　肯定的回答の割合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３つの指導案に、共通して書かれていたこと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３つの学級は、いずれも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一人一人の差が大きい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その差にどう向き合うかが、３つの指導案に書かれていた。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4632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見通しをもたせる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目標と流れ、単元のゴールを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子どもと共有する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27832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92424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92424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92424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一人一人の課題・活動・支援に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選べる幅をもたせる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35624" y="2395728"/>
            <a:ext cx="2697480" cy="1691640"/>
          </a:xfrm>
          <a:prstGeom prst="roundRect">
            <a:avLst>
              <a:gd name="adj" fmla="val 3243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0216" y="2523744"/>
            <a:ext cx="420624" cy="302849"/>
          </a:xfrm>
          <a:prstGeom prst="roundRect">
            <a:avLst>
              <a:gd name="adj" fmla="val 15097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0216" y="2523744"/>
            <a:ext cx="420624" cy="302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93992" y="25054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対話で考えを深める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962656"/>
            <a:ext cx="2368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自分の考えをもってから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他者と交わす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42245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この３つを手がかりに、３人の授業を見ていく。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田口　和磨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保健体育・第９学年ＡＢ組／水泳（全10時間中の第３時）　バタフライのキック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コロナ禍と校舎改築で水泳の授業回数が少ない。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苦手意識や水への恐怖心をもつ生徒と、スイミングスクール経験者が混在し、泳力差が顕著。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着替えの前に、本時の目標と授業の流れを確認する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泳力別に３段階でコースを分け、補助具の使用を認める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得意な生徒に、他の生徒へのアドバイスを担当させる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バディで互いのキックを確認し合う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確認の視点を３点示し、子どもが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自分の泳ぎを見る目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をもてていた。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東海林　静江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道徳・特別支援学級Ｄ組／「ついていい嘘とついてはいけない嘘はどう違うのか？」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将来の就労を見据えた「報告・連絡・相談」を大切にしている学級。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「嘘はつくなと言われているけど、これは嘘がうまくないと勝てない」という生徒の発言が出発点。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前時「いいこと・わるいこと」と２週続きで組み立てる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前時のワークシートを活用し、考えが変わってもよいと保障する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自己との対話で整理してから、グループで交流し議論へ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発表よりも議論の時間を重視する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全員が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自分の考えをもって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議論に入れていた。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塚本　瑞穂　先生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298448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外国語・第７学年Ｂ組／Unit 4 Our New Friend（全９時間中の第２時）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solidFill>
            <a:srgbClr val="FBFEFD"/>
          </a:solidFill>
          <a:ln w="19050">
            <a:solidFill>
              <a:srgbClr val="44C1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20040" y="1645920"/>
            <a:ext cx="379476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授業写真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（貼付欄）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15968" y="1645920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学級の実態（指導案より）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15968" y="1920240"/>
            <a:ext cx="4507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小学校時から苦手意識のある生徒、母語が英語の生徒、英検２級レベルの生徒まで混在。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習熟度の差が大きい。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315968" y="2688336"/>
            <a:ext cx="4507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指導案に書かれていた手だて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15968" y="2999232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15968" y="2999232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2980944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Today’s Plan を提示する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15968" y="3300984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15968" y="3300984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718304" y="3282696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単元末はＡＬＴへの発表。目的と相手が明確なゴールを置く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15968" y="3602736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15968" y="3602736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18304" y="3584448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発表の前にペアで共有し、発表時の不安を軽減する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3904488"/>
            <a:ext cx="310896" cy="223845"/>
          </a:xfrm>
          <a:prstGeom prst="roundRect">
            <a:avLst>
              <a:gd name="adj" fmla="val 20425"/>
            </a:avLst>
          </a:prstGeom>
          <a:solidFill>
            <a:srgbClr val="44C1A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315968" y="3904488"/>
            <a:ext cx="310896" cy="22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718304" y="388620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くじで指名し、１時間で全員に発話の機会をつくる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261104"/>
            <a:ext cx="8503920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" y="4352544"/>
            <a:ext cx="7991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参観して　板書を手がかりに、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誰もが一文をつくれる</a:t>
            </a:r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ようにしていた。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" y="4882896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※ 点線の枠に当日の授業写真を貼り付けてご使用ください。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３つの授業に共通していたこと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810512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215384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20256" y="129844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627632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0040" y="1627632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810512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01952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目標と流れを確認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15384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06824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前時と２週続きで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組み立てる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20256" y="162763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6276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Plan の提示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" y="2532888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3288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違いに応じる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810512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01952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泳力別の３コース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補助具を認める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15384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06824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意見が変わってよい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20256" y="2532888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11696" y="25328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発表前のペア共有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くじ指名で全員発話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0040" y="3438144"/>
            <a:ext cx="1417320" cy="822960"/>
          </a:xfrm>
          <a:prstGeom prst="roundRect">
            <a:avLst>
              <a:gd name="adj" fmla="val 5556"/>
            </a:avLst>
          </a:prstGeom>
          <a:solidFill>
            <a:srgbClr val="44C1A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0040" y="3438144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対話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10512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01952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バディで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互いのキックを確認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15384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自己内対話のあと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議論を重視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20256" y="3438144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11696" y="343814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ペアで確かめてから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全体へ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20040" y="43891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３人とも、差を埋めるのではなく、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差を前提に授業を設計</a:t>
            </a:r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していた。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この手だては、子どもに何を育てるか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27832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27832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35624" y="1353312"/>
            <a:ext cx="2697480" cy="493776"/>
          </a:xfrm>
          <a:prstGeom prst="roundRect">
            <a:avLst>
              <a:gd name="adj" fmla="val 12963"/>
            </a:avLst>
          </a:prstGeom>
          <a:solidFill>
            <a:srgbClr val="44C1A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35624" y="135331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883664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00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「できる子になる」ことではなく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「成長できる自分を信じること」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自分の段階で挑戦でき、考えが変わってよいと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保障されることで育つ。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2231136"/>
            <a:ext cx="4160520" cy="1810512"/>
          </a:xfrm>
          <a:prstGeom prst="roundRect">
            <a:avLst>
              <a:gd name="adj" fmla="val 303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64608" y="2340864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706624"/>
            <a:ext cx="37581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学習指導要領が示す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「学びに向かう力」の中核をなす力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見通しをもち、振り返り、次につなげる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経験の積み重ねで育つ。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2062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本日の授業には、この二つが育つ場面があった。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②　３人の授業から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学習の自己調整が育っていた場面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353312"/>
            <a:ext cx="8503920" cy="786384"/>
          </a:xfrm>
          <a:prstGeom prst="roundRect">
            <a:avLst>
              <a:gd name="adj" fmla="val 69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76072" y="1353312"/>
            <a:ext cx="79918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「学びに向かう力」を支える「主体的に学習に取り組む態度」は、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粘り強く取り組む側面　と　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自らの学習を調整しようとする側面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で捉える。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224942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22494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田口　先生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10512" y="224942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93392" y="224942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着替えの前に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本時の目標と流れを確認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学習カードで要点を振り返る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88950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塚本　先生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810512" y="288950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93392" y="288950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授業のはじめに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Today’s Goal と Plan を提示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振り返りをワークシートに記入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529584"/>
            <a:ext cx="1417320" cy="566928"/>
          </a:xfrm>
          <a:prstGeom prst="roundRect">
            <a:avLst>
              <a:gd name="adj" fmla="val 8065"/>
            </a:avLst>
          </a:prstGeom>
          <a:solidFill>
            <a:srgbClr val="44C1A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352958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東海林　先生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10512" y="3529584"/>
            <a:ext cx="7013448" cy="566928"/>
          </a:xfrm>
          <a:prstGeom prst="roundRect">
            <a:avLst>
              <a:gd name="adj" fmla="val 967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93392" y="3529584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議論に入る前に　</a:t>
            </a:r>
            <a:pPr algn="l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前時のワークシートで自分の考えを確認</a:t>
            </a:r>
            <a:pPr algn="l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→　</a:t>
            </a:r>
            <a:pPr algn="l" indent="0" marL="0">
              <a:buNone/>
            </a:pPr>
            <a:r>
              <a:rPr lang="en-US" sz="13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本時の考えを書き残す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224528"/>
            <a:ext cx="8503920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" y="4224528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教師が管理する学習から、</a:t>
            </a:r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子どもが管理する学習へ。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この３つを、９年間の共通の言葉に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417320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本日見えた３つの視点は、学年や教科を越えて使える。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754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186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186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61888" y="2066544"/>
            <a:ext cx="2468880" cy="603504"/>
          </a:xfrm>
          <a:prstGeom prst="roundRect">
            <a:avLst>
              <a:gd name="adj" fmla="val 10606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61888" y="206654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" y="2907792"/>
            <a:ext cx="8193024" cy="1207008"/>
          </a:xfrm>
          <a:prstGeom prst="roundRect">
            <a:avLst>
              <a:gd name="adj" fmla="val 454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0358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学校経営計画とも重なる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・主体的・対話的で深い学びの実現に向けた授業改善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・個に応じたきめ細やかな指導・支援の充実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4261104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学年ごと、教科ごとに閉じない。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同じ言葉で語れること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が、９年間をつなぐ。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116128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③　今後に向けて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その言葉で、互いの授業を見合う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" y="1389888"/>
            <a:ext cx="8193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本日の３つの授業は、保健体育の９年、道徳のＤ組、外国語の７年。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教科も学年も違うのに、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同じ３つの視点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で語ることができた。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75488" y="2157984"/>
            <a:ext cx="8193024" cy="713232"/>
          </a:xfrm>
          <a:prstGeom prst="roundRect">
            <a:avLst>
              <a:gd name="adj" fmla="val 8974"/>
            </a:avLst>
          </a:prstGeom>
          <a:solidFill>
            <a:srgbClr val="FDF0E3"/>
          </a:solidFill>
          <a:ln w="19050">
            <a:solidFill>
              <a:srgbClr val="F6CFA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" y="2157984"/>
            <a:ext cx="81930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だから、教科を越えて見合える。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5488" y="2999232"/>
            <a:ext cx="8193024" cy="1207008"/>
          </a:xfrm>
          <a:prstGeom prst="roundRect">
            <a:avLst>
              <a:gd name="adj" fmla="val 4545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108960"/>
            <a:ext cx="76809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44C1A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施設一体型だからこそできること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・小学部の教員が中学部を、中学部の教員が小学部を見る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・９年後の子どもの姿と、９年前の子どもの姿を、同じ校舎で見られる</a:t>
            </a:r>
            <a:endParaRPr lang="en-US" sz="1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・見る観点は、Ⅰ見通し／Ⅱ違いに応じる／Ⅲ対話　の３つでよい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4334256"/>
            <a:ext cx="8193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学校経営計画の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「乗り入れ授業」「相互の実践に生かす」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を、この３つで動かしたい。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-9144"/>
            <a:ext cx="9144000" cy="612648"/>
          </a:xfrm>
          <a:prstGeom prst="rect">
            <a:avLst/>
          </a:prstGeom>
          <a:solidFill>
            <a:srgbClr val="44C1A3"/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　まとめ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960120"/>
            <a:ext cx="8193024" cy="1051560"/>
          </a:xfrm>
          <a:prstGeom prst="roundRect">
            <a:avLst>
              <a:gd name="adj" fmla="val 5217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9601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「違い」を生かす授業</a:t>
            </a:r>
            <a:pPr algn="l" indent="0" marL="0">
              <a:buNone/>
            </a:pPr>
            <a:r>
              <a:rPr lang="en-US" sz="26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が、９年間の学びをつなぐ。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2194560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３人とも、一人一人の差を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EE7B08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学びの出発点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にしていた。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54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Ⅰ　見通し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186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2186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Ⅱ　違いに応じる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61888" y="2706624"/>
            <a:ext cx="2468880" cy="512064"/>
          </a:xfrm>
          <a:prstGeom prst="roundRect">
            <a:avLst>
              <a:gd name="adj" fmla="val 12500"/>
            </a:avLst>
          </a:prstGeom>
          <a:solidFill>
            <a:srgbClr val="44C1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27066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Ⅲ　対話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" y="3273552"/>
            <a:ext cx="819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808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↓　その先に育つのが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844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自己肯定感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1728" y="3602736"/>
            <a:ext cx="3108960" cy="512064"/>
          </a:xfrm>
          <a:prstGeom prst="roundRect">
            <a:avLst>
              <a:gd name="adj" fmla="val 12500"/>
            </a:avLst>
          </a:prstGeom>
          <a:solidFill>
            <a:srgbClr val="E9F7F3"/>
          </a:solidFill>
          <a:ln w="12700">
            <a:solidFill>
              <a:srgbClr val="B9E5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36027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学習の自己調整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279392"/>
            <a:ext cx="8193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59595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この積み重ねが、９年間を見通した学びの充実につながる。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令和８年度 教育指導課訪問 ５校時 指導・講評資料（みらい青空学園）プランＢ</dc:title>
  <dc:subject>PptxGenJS Presentation</dc:subject>
  <dc:creator>練馬区教育委員会</dc:creator>
  <cp:lastModifiedBy>練馬区教育委員会</cp:lastModifiedBy>
  <cp:revision>1</cp:revision>
  <dcterms:created xsi:type="dcterms:W3CDTF">2026-09-08T20:06:33Z</dcterms:created>
  <dcterms:modified xsi:type="dcterms:W3CDTF">2026-09-08T20:06:33Z</dcterms:modified>
</cp:coreProperties>
</file>