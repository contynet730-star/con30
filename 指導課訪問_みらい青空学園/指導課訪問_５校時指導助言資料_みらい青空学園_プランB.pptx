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本日は、貴重な授業を参観させていただき、誠にありがとうございました。練馬区教育委員会指導課の紺多と申します。
１０分間、お時間をいただきます。本日申し上げたいことは、この一文に尽きます。「違い」を生かす授業が、９年間の学びをつなぐ。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本日は三点でお話しします。はじめにクイズと、みらい青空学園の現状。次に、３人の先生の授業から。最後に、今後に向けてです。
３人の先生の指導案を手がかりに、本日の授業を読み解いてまいります。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はじめにクイズを２問。令和８年度の全国学力・学習状況調査、質問紙調査の結果からです。
全国では、小学校から中学校にかけて下がる項目が多くあります。たとえば「英語の勉強は好きですか」。全国では小学校66.7％から中学校51.2％へ、15.5ポイント下がります。
では、本校ではどうだったでしょうか。
Q1「英語の勉強は好きですか」。本校の小学部６年は51.8％。中学部９年は。①約42、②約52、③約62パーセント。
Q2「自分には、よいところがあると思いますか」。本校の小学部６年は85.2％。中学部９年は。①約85、②約88、③約92パーセント。
（数秒、挙手や指名で予想を出してもらう）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答えは、いずれも③です。
「英語の勉強は好きですか」は、51.8％から61.7％へ、9.9ポイント上がっています。全国は15.5ポイント下がる項目です。小学部では全国を下回っていたものが、中学部では全国を10ポイント以上、上回りました。
「自分には、よいところがある」は、85.2％から91.5％へ、6.3ポイント上がっています。全国は1.6ポイント下がります。
全国も東京都も下がる項目で、本校は上がっている。これが本日の出発点です。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みらい青空学園の現状です。対話と協働に関わる項目が、小学部から中学部にかけて伸びています。
「友達や周りの人の考えを大切にして、協力しながら課題の解決に取り組んでいますか」は、85.1％から100％へ。中学部は全員が肯定的に答えています。
「話し合う活動を通じて、自分の考えを深めたり、新たな考え方に気付いたりすることができていますか」は、92.5％から97.9％へ。
「自分と違う意見について考えるのは楽しい」は、81.4％から87.2％へ。
９年間を見通した教育の成果が、数値に表れています。ここから本題に入ります。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３人の指導案を読ませていただきました。学級はまったく違いますが、共通して書かれていたことがあります。
水泳は泳力差が顕著、外国語は習熟度差が大きい、道徳は特別支援学級。３つの学級は、いずれも一人一人の差が大きい集団です。
その差にどう向き合うか。指導案には、視点Ⅰ 見通しをもたせる、視点Ⅱ 一人一人の違いに応じる、視点Ⅲ 対話で考えを深める、という手だてが書かれていました。この３つを手がかりに、３人の授業を見てまいります。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田口　和磨　先生の授業です。保健体育・第９学年ＡＢ組／水泳（全10時間中の第３時）　バタフライのキック。
指導案には、学級の実態がこう書かれていました。コロナ禍と校舎改築で水泳の授業回数が少ない。苦手意識や水への恐怖心をもつ生徒と、スイミングスクール経験者が混在し、泳力差が顕著。
そのうえで打たれた手だてが、こちらです。着替えの前に、本時の目標と授業の流れを確認する。泳力別に３段階でコースを分け、補助具の使用を認める。得意な生徒に、他の生徒へのアドバイスを担当させる。バディで互いのキックを確認し合う。
参観して、確認の視点を３点示し、子どもが自分の泳ぎを見る目をもてていた。（写真に触れながら）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東海林　静江　先生の授業です。道徳・特別支援学級Ｄ組／「ついていい嘘とついてはいけない嘘はどう違うのか？」。
指導案には、学級の実態がこう書かれていました。将来の就労を見据えた「報告・連絡・相談」を大切にしている学級。「嘘はつくなと言われているけど、これは嘘がうまくないと勝てない」という生徒の発言が出発点。
そのうえで打たれた手だてが、こちらです。前時「いいこと・わるいこと」と２週続きで組み立てる。前時のワークシートを活用し、考えが変わってもよいと保障する。自己との対話で整理してから、グループで交流し議論へ。発表よりも議論の時間を重視する。
参観して、全員が自分の考えをもって議論に入れていた。（写真に触れながら）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塚本　瑞穂　先生の授業です。外国語・第７学年Ｂ組／Unit 4 Our New Friend（全９時間中の第２時）。
指導案には、学級の実態がこう書かれていました。小学校時から苦手意識のある生徒、母語が英語の生徒、英検２級レベルの生徒まで混在。習熟度の差が大きい。
そのうえで打たれた手だてが、こちらです。Today’s Goal と Today’s Plan を提示する。単元末はＡＬＴへの発表。目的と相手が明確なゴールを置く。発表の前にペアで共有し、発表時の不安を軽減する。くじで指名し、１時間で全員に発話の機会をつくる。
参観して、板書を手がかりに、誰もが一文をつくれるようにしていた。（写真に触れながら）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３つの授業を並べると、このようになります。
見通しは、着替えの前の確認、２週続きの構成、Today’s Goal。
違いに応じる手だては、泳力別のコース、前時のワークシート、発表前のペア共有。
対話は、バディでの確認、自己内対話のあとの議論、ペアから全体へ。
教科も学年も違いますが、３人とも、差を埋めるのではなく、差を前提に授業を設計されていました。これが本校の強みだと受け止めました。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今後に向けてです。本日見えた３つの視点は、学年や教科を越えて使えます。
学校経営計画に掲げられた「主体的・対話的で深い学びの実現に向けた授業改善」「個に応じたきめ細やかな指導・支援の充実」とも重なります。
この３つを、９年間の共通の言葉にしていただきたい。小竹小学校との校区別協議会でも、「目指す１５歳の姿」として共有できるはずです。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もう一点。田口先生の指導案の「授業観察の視点」に、こう書かれていました。「指導に当たっての手立ては有効であったか」。
この問いを、授業のあとに必ず置いていただきたい。手だてを決め、授業で試し、子どもの姿を見て、次の授業に生かす。
教師が管理する学習から、子どもが管理する学習へ。その転換を支えるのが、この振り返りです。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まとめます。本日の３つの授業は、いずれも一人一人の差が大きい集団でした。そして３人とも、その差を学びの出発点にされていました。
見通し、違いに応じること、対話。この３つを９年間で積み上げることが、施設一体型小中一貫教育校としての本校の最大の強みになります。
「違い」を生かす授業が、９年間の学びをつなぐ。９年間を見通した学びの充実に期待しております。本日は誠にありがとうございました。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0"/>
            <a:ext cx="9144000" cy="2487168"/>
          </a:xfrm>
          <a:prstGeom prst="rect">
            <a:avLst/>
          </a:prstGeom>
          <a:solidFill>
            <a:srgbClr val="44C1A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練馬区立みらい青空学園</a:t>
            </a:r>
            <a:endParaRPr lang="en-US" sz="4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　教育指導課訪問（５校時）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0" y="2487168"/>
            <a:ext cx="9144000" cy="658368"/>
          </a:xfrm>
          <a:prstGeom prst="roundRect">
            <a:avLst>
              <a:gd name="adj" fmla="val 8333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75488" y="2487168"/>
            <a:ext cx="81930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「違い」を生かす授業</a:t>
            </a:r>
            <a:pPr algn="l" indent="0" marL="0">
              <a:buNone/>
            </a:pPr>
            <a:r>
              <a:rPr lang="en-US" sz="22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が、９年間の学びをつなぐ。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3401568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授業者　塚本　瑞穂　先生（外国語・７年Ｂ組）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　　　田口　和磨　先生（保健体育・９年ＡＢ組）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　　　東海林　静江　先生（道徳・特別支援学級Ｄ組）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5349240" y="3401568"/>
            <a:ext cx="331927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595959"/>
                </a:solidFill>
                <a:latin typeface="ＭＳ Ｐゴシック" pitchFamily="34" charset="0"/>
                <a:ea typeface="ＭＳ Ｐゴシック" pitchFamily="34" charset="-122"/>
                <a:cs typeface="ＭＳ Ｐゴシック" pitchFamily="34" charset="-120"/>
              </a:rPr>
              <a:t>令和８年９月９日（水）</a:t>
            </a:r>
            <a:endParaRPr lang="en-US" sz="18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595959"/>
                </a:solidFill>
                <a:latin typeface="ＭＳ Ｐゴシック" pitchFamily="34" charset="0"/>
                <a:ea typeface="ＭＳ Ｐゴシック" pitchFamily="34" charset="-122"/>
                <a:cs typeface="ＭＳ Ｐゴシック" pitchFamily="34" charset="-120"/>
              </a:rPr>
              <a:t>練馬区教育委員会</a:t>
            </a:r>
            <a:endParaRPr lang="en-US" sz="1800" dirty="0"/>
          </a:p>
          <a:p>
            <a:pPr algn="r"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595959"/>
                </a:solidFill>
                <a:latin typeface="ＭＳ Ｐゴシック" pitchFamily="34" charset="0"/>
                <a:ea typeface="ＭＳ Ｐゴシック" pitchFamily="34" charset="-122"/>
                <a:cs typeface="ＭＳ Ｐゴシック" pitchFamily="34" charset="-120"/>
              </a:rPr>
              <a:t>指導主事　紺多　章一郎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9144"/>
            <a:ext cx="9144000" cy="612648"/>
          </a:xfrm>
          <a:prstGeom prst="rect">
            <a:avLst/>
          </a:prstGeom>
          <a:solidFill>
            <a:srgbClr val="44C1A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本日の講評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914400"/>
            <a:ext cx="8193024" cy="868680"/>
          </a:xfrm>
          <a:prstGeom prst="roundRect">
            <a:avLst>
              <a:gd name="adj" fmla="val 6316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9144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「違い」を生かす授業</a:t>
            </a:r>
            <a:pPr algn="l" indent="0" marL="0">
              <a:buNone/>
            </a:pPr>
            <a:r>
              <a:rPr lang="en-US" sz="24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が、９年間の学びをつなぐ。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58368" y="2011680"/>
            <a:ext cx="493776" cy="493776"/>
          </a:xfrm>
          <a:prstGeom prst="ellipse">
            <a:avLst/>
          </a:prstGeom>
          <a:solidFill>
            <a:srgbClr val="44C1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201168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①</a:t>
            </a:r>
            <a:endParaRPr lang="en-US" sz="2500" dirty="0"/>
          </a:p>
        </p:txBody>
      </p:sp>
      <p:sp>
        <p:nvSpPr>
          <p:cNvPr id="7" name="Text 5"/>
          <p:cNvSpPr txBox="1"/>
          <p:nvPr/>
        </p:nvSpPr>
        <p:spPr>
          <a:xfrm>
            <a:off x="1316736" y="201168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アイスブレイク　みらい青空学園の現状</a:t>
            </a:r>
            <a:endParaRPr lang="en-US" sz="2300" dirty="0"/>
          </a:p>
        </p:txBody>
      </p:sp>
      <p:sp>
        <p:nvSpPr>
          <p:cNvPr id="8" name="Shape 6"/>
          <p:cNvSpPr/>
          <p:nvPr/>
        </p:nvSpPr>
        <p:spPr>
          <a:xfrm>
            <a:off x="658368" y="2788920"/>
            <a:ext cx="493776" cy="493776"/>
          </a:xfrm>
          <a:prstGeom prst="ellipse">
            <a:avLst/>
          </a:prstGeom>
          <a:solidFill>
            <a:srgbClr val="44C1A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58368" y="278892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②</a:t>
            </a:r>
            <a:endParaRPr lang="en-US" sz="2500" dirty="0"/>
          </a:p>
        </p:txBody>
      </p:sp>
      <p:sp>
        <p:nvSpPr>
          <p:cNvPr id="10" name="Text 8"/>
          <p:cNvSpPr txBox="1"/>
          <p:nvPr/>
        </p:nvSpPr>
        <p:spPr>
          <a:xfrm>
            <a:off x="1316736" y="278892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３人の授業から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658368" y="3566160"/>
            <a:ext cx="493776" cy="493776"/>
          </a:xfrm>
          <a:prstGeom prst="ellipse">
            <a:avLst/>
          </a:prstGeom>
          <a:solidFill>
            <a:srgbClr val="44C1A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58368" y="35661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③</a:t>
            </a:r>
            <a:endParaRPr lang="en-US" sz="2500" dirty="0"/>
          </a:p>
        </p:txBody>
      </p:sp>
      <p:sp>
        <p:nvSpPr>
          <p:cNvPr id="13" name="Text 11"/>
          <p:cNvSpPr txBox="1"/>
          <p:nvPr/>
        </p:nvSpPr>
        <p:spPr>
          <a:xfrm>
            <a:off x="1316736" y="3566160"/>
            <a:ext cx="7315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今後に向けて</a:t>
            </a:r>
            <a:endParaRPr lang="en-US" sz="2300" dirty="0"/>
          </a:p>
        </p:txBody>
      </p:sp>
      <p:sp>
        <p:nvSpPr>
          <p:cNvPr id="14" name="Text 12"/>
          <p:cNvSpPr txBox="1"/>
          <p:nvPr/>
        </p:nvSpPr>
        <p:spPr>
          <a:xfrm>
            <a:off x="475488" y="4279392"/>
            <a:ext cx="8193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３人の先生の指導案を手がかりに、本日の授業を読み解きます。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9144"/>
            <a:ext cx="9144000" cy="1161288"/>
          </a:xfrm>
          <a:prstGeom prst="rect">
            <a:avLst/>
          </a:prstGeom>
          <a:solidFill>
            <a:srgbClr val="44C1A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①　アイスブレイク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クイズ　本校の子どもたちは、どう変わったか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37160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371600"/>
            <a:ext cx="79918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全国では、小学校から中学校にかけて下がる項目が多い。</a:t>
            </a:r>
            <a:endParaRPr lang="en-US" sz="15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例：「英語の勉強は好きですか」　全国　小 66.7％ → 中 51.2％　</a:t>
            </a:r>
            <a:pPr algn="l"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−15.5ポイント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320040" y="237744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では、本校（旧旭丘小学校・旧旭丘中学校）はどうだったでしょうか。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2724912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2779776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Q1　</a:t>
            </a:r>
            <a:pPr algn="l"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「英語の勉強は好きですか」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76072" y="3072384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本校の小学部６年は 51.8％。では、中学部９年は？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2999232"/>
            <a:ext cx="96926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44C1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0" y="299923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① 約 42％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547104" y="2999232"/>
            <a:ext cx="96926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44C1A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47104" y="299923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② 約 52％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607808" y="2999232"/>
            <a:ext cx="96926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44C1A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07808" y="299923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③ 約 62％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8503920" cy="914400"/>
          </a:xfrm>
          <a:prstGeom prst="roundRect">
            <a:avLst>
              <a:gd name="adj" fmla="val 6000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3803904"/>
            <a:ext cx="4800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Q2　</a:t>
            </a:r>
            <a:pPr algn="l"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「自分には、よいところがあると思いますか」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76072" y="4096512"/>
            <a:ext cx="4800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本校の小学部６年は 85.2％。では、中学部９年は？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0" y="4023360"/>
            <a:ext cx="96926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44C1A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0" y="402336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① 約 85％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47104" y="4023360"/>
            <a:ext cx="96926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44C1A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547104" y="402336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② 約 88％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07808" y="4023360"/>
            <a:ext cx="969264" cy="36576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44C1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07808" y="4023360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③ 約 92％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9144"/>
            <a:ext cx="9144000" cy="1161288"/>
          </a:xfrm>
          <a:prstGeom prst="rect">
            <a:avLst/>
          </a:prstGeom>
          <a:solidFill>
            <a:srgbClr val="44C1A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①　アイスブレイク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答え　本校では、中学部で上がっている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1444752"/>
            <a:ext cx="8503920" cy="1325880"/>
          </a:xfrm>
          <a:prstGeom prst="roundRect">
            <a:avLst>
              <a:gd name="adj" fmla="val 4138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76072" y="151790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Q1　「英語の勉強は好きですか」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669280" y="1517904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全国は 66.7 → 51.2　−15.5ポイント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76072" y="1956816"/>
            <a:ext cx="1463040" cy="438912"/>
          </a:xfrm>
          <a:prstGeom prst="roundRect">
            <a:avLst>
              <a:gd name="adj" fmla="val 14583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6072" y="195681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小学部（６年）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130552" y="188366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3F3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51.8</a:t>
            </a:r>
            <a:pPr algn="l" indent="0" marL="0">
              <a:buNone/>
            </a:pPr>
            <a:r>
              <a:rPr lang="en-US" sz="1600" b="1" dirty="0">
                <a:solidFill>
                  <a:srgbClr val="3F3F3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％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192024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078224" y="1956816"/>
            <a:ext cx="1463040" cy="438912"/>
          </a:xfrm>
          <a:prstGeom prst="roundRect">
            <a:avLst>
              <a:gd name="adj" fmla="val 14583"/>
            </a:avLst>
          </a:prstGeom>
          <a:solidFill>
            <a:srgbClr val="44C1A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078224" y="195681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中学部（９年）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632704" y="188366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3F3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61.7</a:t>
            </a:r>
            <a:pPr algn="l" indent="0" marL="0">
              <a:buNone/>
            </a:pPr>
            <a:r>
              <a:rPr lang="en-US" sz="1600" b="1" dirty="0">
                <a:solidFill>
                  <a:srgbClr val="3F3F3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％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7086600" y="1883664"/>
            <a:ext cx="1481328" cy="585216"/>
          </a:xfrm>
          <a:prstGeom prst="roundRect">
            <a:avLst>
              <a:gd name="adj" fmla="val 10938"/>
            </a:avLst>
          </a:prstGeom>
          <a:solidFill>
            <a:srgbClr val="FDF0E3"/>
          </a:solidFill>
          <a:ln w="12700">
            <a:solidFill>
              <a:srgbClr val="F6CF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086600" y="1883664"/>
            <a:ext cx="1481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＋9.9</a:t>
            </a:r>
            <a:endParaRPr lang="en-US" sz="2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20040" y="2907792"/>
            <a:ext cx="8503920" cy="1325880"/>
          </a:xfrm>
          <a:prstGeom prst="roundRect">
            <a:avLst>
              <a:gd name="adj" fmla="val 4138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2980944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Q2　「自分には、よいところがあると思いますか」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669280" y="2980944"/>
            <a:ext cx="28986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全国は 85.6 → 84.0　−1.6ポイント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" y="3419856"/>
            <a:ext cx="1463040" cy="438912"/>
          </a:xfrm>
          <a:prstGeom prst="roundRect">
            <a:avLst>
              <a:gd name="adj" fmla="val 14583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76072" y="341985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小学部（６年）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2130552" y="334670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3F3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85.2</a:t>
            </a:r>
            <a:pPr algn="l" indent="0" marL="0">
              <a:buNone/>
            </a:pPr>
            <a:r>
              <a:rPr lang="en-US" sz="1600" b="1" dirty="0">
                <a:solidFill>
                  <a:srgbClr val="3F3F3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％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3584448" y="338328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</a:t>
            </a:r>
            <a:endParaRPr lang="en-US" sz="2600" dirty="0"/>
          </a:p>
        </p:txBody>
      </p:sp>
      <p:sp>
        <p:nvSpPr>
          <p:cNvPr id="22" name="Shape 20"/>
          <p:cNvSpPr/>
          <p:nvPr/>
        </p:nvSpPr>
        <p:spPr>
          <a:xfrm>
            <a:off x="4078224" y="3419856"/>
            <a:ext cx="1463040" cy="438912"/>
          </a:xfrm>
          <a:prstGeom prst="roundRect">
            <a:avLst>
              <a:gd name="adj" fmla="val 14583"/>
            </a:avLst>
          </a:prstGeom>
          <a:solidFill>
            <a:srgbClr val="44C1A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078224" y="3419856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中学部（９年）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5632704" y="3346704"/>
            <a:ext cx="1417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F3F3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91.5</a:t>
            </a:r>
            <a:pPr algn="l" indent="0" marL="0">
              <a:buNone/>
            </a:pPr>
            <a:r>
              <a:rPr lang="en-US" sz="1600" b="1" dirty="0">
                <a:solidFill>
                  <a:srgbClr val="3F3F3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％</a:t>
            </a:r>
            <a:endParaRPr lang="en-US" sz="3000" dirty="0"/>
          </a:p>
        </p:txBody>
      </p:sp>
      <p:sp>
        <p:nvSpPr>
          <p:cNvPr id="25" name="Shape 23"/>
          <p:cNvSpPr/>
          <p:nvPr/>
        </p:nvSpPr>
        <p:spPr>
          <a:xfrm>
            <a:off x="7086600" y="3346704"/>
            <a:ext cx="1481328" cy="585216"/>
          </a:xfrm>
          <a:prstGeom prst="roundRect">
            <a:avLst>
              <a:gd name="adj" fmla="val 10938"/>
            </a:avLst>
          </a:prstGeom>
          <a:solidFill>
            <a:srgbClr val="FDF0E3"/>
          </a:solidFill>
          <a:ln w="12700">
            <a:solidFill>
              <a:srgbClr val="F6CFA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086600" y="3346704"/>
            <a:ext cx="14813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＋6.3</a:t>
            </a:r>
            <a:endParaRPr lang="en-US" sz="20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ポイント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320040" y="43159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全国も東京都も下がる項目で、本校は上がっている。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320040" y="4700016"/>
            <a:ext cx="8503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出典：令和８年度 全国学力・学習状況調査　回答結果集計表　肯定的回答の割合　本校 小学部27名・中学部47名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9144"/>
            <a:ext cx="9144000" cy="1161288"/>
          </a:xfrm>
          <a:prstGeom prst="rect">
            <a:avLst/>
          </a:prstGeom>
          <a:solidFill>
            <a:srgbClr val="44C1A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①　みらい青空学園の現状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質問紙調査から見える強み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20040" y="1371600"/>
            <a:ext cx="8503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対話と協働に関わる項目が、小学部から中学部にかけて伸びている。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20040" y="1755648"/>
            <a:ext cx="2697480" cy="2395728"/>
          </a:xfrm>
          <a:prstGeom prst="roundRect">
            <a:avLst>
              <a:gd name="adj" fmla="val 2290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84632" y="186537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友達や周りの人の考えを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大切にして、協力しながら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課題の解決に取り組んでいる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84632" y="2670048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小 </a:t>
            </a:r>
            <a:pPr algn="l" indent="0" marL="0">
              <a:buNone/>
            </a:pPr>
            <a:r>
              <a:rPr lang="en-US" sz="1700" b="1" dirty="0">
                <a:solidFill>
                  <a:srgbClr val="3F3F3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85.1</a:t>
            </a:r>
            <a:pPr algn="l" indent="0" marL="0">
              <a:buNone/>
            </a:pPr>
            <a:r>
              <a:rPr lang="en-US" sz="13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→ </a:t>
            </a:r>
            <a:pPr algn="l" indent="0" marL="0">
              <a:buNone/>
            </a:pPr>
            <a:r>
              <a:rPr lang="en-US" sz="11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中 </a:t>
            </a:r>
            <a:pPr algn="l" indent="0" marL="0">
              <a:buNone/>
            </a:pPr>
            <a:r>
              <a:rPr lang="en-US" sz="1700" b="1" dirty="0">
                <a:solidFill>
                  <a:srgbClr val="3F3F3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100.0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" y="3163824"/>
            <a:ext cx="1444752" cy="402336"/>
          </a:xfrm>
          <a:prstGeom prst="roundRect">
            <a:avLst>
              <a:gd name="adj" fmla="val 13636"/>
            </a:avLst>
          </a:prstGeom>
          <a:solidFill>
            <a:srgbClr val="FDF0E3"/>
          </a:solidFill>
          <a:ln w="12700">
            <a:solidFill>
              <a:srgbClr val="F6CFA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" y="3163824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＋14.9 ポイント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484632" y="3639312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中学部は全国 92.4 を上回る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27832" y="1755648"/>
            <a:ext cx="2697480" cy="2395728"/>
          </a:xfrm>
          <a:prstGeom prst="roundRect">
            <a:avLst>
              <a:gd name="adj" fmla="val 2290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392424" y="186537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話し合う活動を通じて、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自分の考えを深めたり、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新たな考え方に気付ける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392424" y="2670048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小 </a:t>
            </a:r>
            <a:pPr algn="l" indent="0" marL="0">
              <a:buNone/>
            </a:pPr>
            <a:r>
              <a:rPr lang="en-US" sz="1700" b="1" dirty="0">
                <a:solidFill>
                  <a:srgbClr val="3F3F3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92.5</a:t>
            </a:r>
            <a:pPr algn="l" indent="0" marL="0">
              <a:buNone/>
            </a:pPr>
            <a:r>
              <a:rPr lang="en-US" sz="13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→ </a:t>
            </a:r>
            <a:pPr algn="l" indent="0" marL="0">
              <a:buNone/>
            </a:pPr>
            <a:r>
              <a:rPr lang="en-US" sz="11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中 </a:t>
            </a:r>
            <a:pPr algn="l" indent="0" marL="0">
              <a:buNone/>
            </a:pPr>
            <a:r>
              <a:rPr lang="en-US" sz="1700" b="1" dirty="0">
                <a:solidFill>
                  <a:srgbClr val="3F3F3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97.9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92424" y="3163824"/>
            <a:ext cx="1444752" cy="402336"/>
          </a:xfrm>
          <a:prstGeom prst="roundRect">
            <a:avLst>
              <a:gd name="adj" fmla="val 13636"/>
            </a:avLst>
          </a:prstGeom>
          <a:solidFill>
            <a:srgbClr val="FDF0E3"/>
          </a:solidFill>
          <a:ln w="12700">
            <a:solidFill>
              <a:srgbClr val="F6CFA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92424" y="3163824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＋5.4 ポイント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392424" y="3639312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中学部は練馬区 86.6 を上回る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35624" y="1755648"/>
            <a:ext cx="2697480" cy="2395728"/>
          </a:xfrm>
          <a:prstGeom prst="roundRect">
            <a:avLst>
              <a:gd name="adj" fmla="val 2290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00216" y="1865376"/>
            <a:ext cx="2368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自分と違う意見について</a:t>
            </a:r>
            <a:endParaRPr lang="en-US" sz="1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考えるのは楽しい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2670048"/>
            <a:ext cx="236829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小 </a:t>
            </a:r>
            <a:pPr algn="l" indent="0" marL="0">
              <a:buNone/>
            </a:pPr>
            <a:r>
              <a:rPr lang="en-US" sz="1700" b="1" dirty="0">
                <a:solidFill>
                  <a:srgbClr val="3F3F3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81.4</a:t>
            </a:r>
            <a:pPr algn="l" indent="0" marL="0">
              <a:buNone/>
            </a:pPr>
            <a:r>
              <a:rPr lang="en-US" sz="13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 → </a:t>
            </a:r>
            <a:pPr algn="l" indent="0" marL="0">
              <a:buNone/>
            </a:pPr>
            <a:r>
              <a:rPr lang="en-US" sz="11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中 </a:t>
            </a:r>
            <a:pPr algn="l" indent="0" marL="0">
              <a:buNone/>
            </a:pPr>
            <a:r>
              <a:rPr lang="en-US" sz="1700" b="1" dirty="0">
                <a:solidFill>
                  <a:srgbClr val="3F3F3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87.2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0216" y="3163824"/>
            <a:ext cx="1444752" cy="402336"/>
          </a:xfrm>
          <a:prstGeom prst="roundRect">
            <a:avLst>
              <a:gd name="adj" fmla="val 13636"/>
            </a:avLst>
          </a:prstGeom>
          <a:solidFill>
            <a:srgbClr val="FDF0E3"/>
          </a:solidFill>
          <a:ln w="12700">
            <a:solidFill>
              <a:srgbClr val="F6CFA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00216" y="3163824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＋5.8 ポイント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00216" y="3639312"/>
            <a:ext cx="23682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中学部は練馬区 79.8 を上回る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20040" y="431596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対話し、協働する力が、９年間を通じて</a:t>
            </a:r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確かに育っている</a:t>
            </a:r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。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" y="4809744"/>
            <a:ext cx="8503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出典：令和８年度 全国学力・学習状況調査　回答結果集計表　肯定的回答の割合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9144"/>
            <a:ext cx="9144000" cy="1161288"/>
          </a:xfrm>
          <a:prstGeom prst="rect">
            <a:avLst/>
          </a:prstGeom>
          <a:solidFill>
            <a:srgbClr val="44C1A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②　３人の授業から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３つの指導案に、共通して書かれていたこと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1417320"/>
            <a:ext cx="8193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３つの学級は、いずれも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一人一人の差が大きい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。</a:t>
            </a:r>
            <a:endParaRPr lang="en-US" sz="1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その差にどう向き合うかが、３つの指導案に書かれていた。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320040" y="2395728"/>
            <a:ext cx="2697480" cy="1691640"/>
          </a:xfrm>
          <a:prstGeom prst="roundRect">
            <a:avLst>
              <a:gd name="adj" fmla="val 3243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4632" y="2523744"/>
            <a:ext cx="420624" cy="302849"/>
          </a:xfrm>
          <a:prstGeom prst="roundRect">
            <a:avLst>
              <a:gd name="adj" fmla="val 15097"/>
            </a:avLst>
          </a:prstGeom>
          <a:solidFill>
            <a:srgbClr val="44C1A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484632" y="2523744"/>
            <a:ext cx="420624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Ⅰ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978408" y="25054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見通しをもたせる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" y="2962656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目標と流れ、単元のゴールを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子どもと共有する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27832" y="2395728"/>
            <a:ext cx="2697480" cy="1691640"/>
          </a:xfrm>
          <a:prstGeom prst="roundRect">
            <a:avLst>
              <a:gd name="adj" fmla="val 3243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2424" y="2523744"/>
            <a:ext cx="420624" cy="302849"/>
          </a:xfrm>
          <a:prstGeom prst="roundRect">
            <a:avLst>
              <a:gd name="adj" fmla="val 15097"/>
            </a:avLst>
          </a:prstGeom>
          <a:solidFill>
            <a:srgbClr val="44C1A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392424" y="2523744"/>
            <a:ext cx="420624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Ⅱ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25054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違いに応じる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392424" y="2962656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一人一人の課題・活動・支援に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選べる幅をもたせる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35624" y="2395728"/>
            <a:ext cx="2697480" cy="1691640"/>
          </a:xfrm>
          <a:prstGeom prst="roundRect">
            <a:avLst>
              <a:gd name="adj" fmla="val 3243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0216" y="2523744"/>
            <a:ext cx="420624" cy="302849"/>
          </a:xfrm>
          <a:prstGeom prst="roundRect">
            <a:avLst>
              <a:gd name="adj" fmla="val 15097"/>
            </a:avLst>
          </a:prstGeom>
          <a:solidFill>
            <a:srgbClr val="44C1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00216" y="2523744"/>
            <a:ext cx="420624" cy="3028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Ⅲ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793992" y="25054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対話で考えを深める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00216" y="2962656"/>
            <a:ext cx="23682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自分の考えをもってから</a:t>
            </a:r>
            <a:endParaRPr lang="en-US" sz="13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他者と交わす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20040" y="4224528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この３つを手がかりに、３人の授業を見ていく。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9144"/>
            <a:ext cx="9144000" cy="1161288"/>
          </a:xfrm>
          <a:prstGeom prst="rect">
            <a:avLst/>
          </a:prstGeom>
          <a:solidFill>
            <a:srgbClr val="44C1A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②　３人の授業から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田口　和磨　先生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1298448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保健体育・第９学年ＡＢ組／水泳（全10時間中の第３時）　バタフライのキック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645920"/>
            <a:ext cx="3794760" cy="2487168"/>
          </a:xfrm>
          <a:prstGeom prst="rect">
            <a:avLst/>
          </a:prstGeom>
          <a:solidFill>
            <a:srgbClr val="FBFEFD"/>
          </a:solidFill>
          <a:ln w="19050">
            <a:solidFill>
              <a:srgbClr val="44C1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20040" y="1645920"/>
            <a:ext cx="37947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授業写真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（貼付欄）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315968" y="164592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学級の実態（指導案より）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315968" y="1920240"/>
            <a:ext cx="4507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コロナ禍と校舎改築で水泳の授業回数が少ない。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苦手意識や水への恐怖心をもつ生徒と、スイミングスクール経験者が混在し、泳力差が顕著。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315968" y="2688336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指導案に書かれていた手だて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2999232"/>
            <a:ext cx="310896" cy="223845"/>
          </a:xfrm>
          <a:prstGeom prst="roundRect">
            <a:avLst>
              <a:gd name="adj" fmla="val 20425"/>
            </a:avLst>
          </a:prstGeom>
          <a:solidFill>
            <a:srgbClr val="44C1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15968" y="2999232"/>
            <a:ext cx="310896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Ⅰ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2980944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着替えの前に、本時の目標と授業の流れを確認する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15968" y="3300984"/>
            <a:ext cx="310896" cy="223845"/>
          </a:xfrm>
          <a:prstGeom prst="roundRect">
            <a:avLst>
              <a:gd name="adj" fmla="val 20425"/>
            </a:avLst>
          </a:prstGeom>
          <a:solidFill>
            <a:srgbClr val="44C1A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15968" y="3300984"/>
            <a:ext cx="310896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Ⅱ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3282696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泳力別に３段階でコースを分け、補助具の使用を認める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15968" y="3602736"/>
            <a:ext cx="310896" cy="223845"/>
          </a:xfrm>
          <a:prstGeom prst="roundRect">
            <a:avLst>
              <a:gd name="adj" fmla="val 20425"/>
            </a:avLst>
          </a:prstGeom>
          <a:solidFill>
            <a:srgbClr val="44C1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15968" y="3602736"/>
            <a:ext cx="310896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Ⅱ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18304" y="3584448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得意な生徒に、他の生徒へのアドバイスを担当させる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15968" y="3904488"/>
            <a:ext cx="310896" cy="223845"/>
          </a:xfrm>
          <a:prstGeom prst="roundRect">
            <a:avLst>
              <a:gd name="adj" fmla="val 20425"/>
            </a:avLst>
          </a:prstGeom>
          <a:solidFill>
            <a:srgbClr val="44C1A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15968" y="3904488"/>
            <a:ext cx="310896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Ⅲ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18304" y="3886200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バディで互いのキックを確認し合う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4261104"/>
            <a:ext cx="8503920" cy="566928"/>
          </a:xfrm>
          <a:prstGeom prst="roundRect">
            <a:avLst>
              <a:gd name="adj" fmla="val 9677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" y="4352544"/>
            <a:ext cx="7991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参観して　確認の視点を３点示し、子どもが</a:t>
            </a:r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自分の泳ぎを見る目</a:t>
            </a:r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をもてていた。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" y="488289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※ 点線の枠に当日の授業写真を貼り付けてご使用ください。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9144"/>
            <a:ext cx="9144000" cy="1161288"/>
          </a:xfrm>
          <a:prstGeom prst="rect">
            <a:avLst/>
          </a:prstGeom>
          <a:solidFill>
            <a:srgbClr val="44C1A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②　３人の授業から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東海林　静江　先生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1298448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道徳・特別支援学級Ｄ組／「ついていい嘘とついてはいけない嘘はどう違うのか？」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645920"/>
            <a:ext cx="3794760" cy="2487168"/>
          </a:xfrm>
          <a:prstGeom prst="rect">
            <a:avLst/>
          </a:prstGeom>
          <a:solidFill>
            <a:srgbClr val="FBFEFD"/>
          </a:solidFill>
          <a:ln w="19050">
            <a:solidFill>
              <a:srgbClr val="44C1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20040" y="1645920"/>
            <a:ext cx="37947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授業写真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（貼付欄）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315968" y="164592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学級の実態（指導案より）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315968" y="1920240"/>
            <a:ext cx="4507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将来の就労を見据えた「報告・連絡・相談」を大切にしている学級。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「嘘はつくなと言われているけど、これは嘘がうまくないと勝てない」という生徒の発言が出発点。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315968" y="2688336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指導案に書かれていた手だて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2999232"/>
            <a:ext cx="310896" cy="223845"/>
          </a:xfrm>
          <a:prstGeom prst="roundRect">
            <a:avLst>
              <a:gd name="adj" fmla="val 20425"/>
            </a:avLst>
          </a:prstGeom>
          <a:solidFill>
            <a:srgbClr val="44C1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15968" y="2999232"/>
            <a:ext cx="310896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Ⅰ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2980944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前時「いいこと・わるいこと」と２週続きで組み立てる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15968" y="3300984"/>
            <a:ext cx="310896" cy="223845"/>
          </a:xfrm>
          <a:prstGeom prst="roundRect">
            <a:avLst>
              <a:gd name="adj" fmla="val 20425"/>
            </a:avLst>
          </a:prstGeom>
          <a:solidFill>
            <a:srgbClr val="44C1A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15968" y="3300984"/>
            <a:ext cx="310896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Ⅱ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3282696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前時のワークシートを活用し、考えが変わってもよいと保障する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15968" y="3602736"/>
            <a:ext cx="310896" cy="223845"/>
          </a:xfrm>
          <a:prstGeom prst="roundRect">
            <a:avLst>
              <a:gd name="adj" fmla="val 20425"/>
            </a:avLst>
          </a:prstGeom>
          <a:solidFill>
            <a:srgbClr val="44C1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15968" y="3602736"/>
            <a:ext cx="310896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Ⅲ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18304" y="3584448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自己との対話で整理してから、グループで交流し議論へ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15968" y="3904488"/>
            <a:ext cx="310896" cy="223845"/>
          </a:xfrm>
          <a:prstGeom prst="roundRect">
            <a:avLst>
              <a:gd name="adj" fmla="val 20425"/>
            </a:avLst>
          </a:prstGeom>
          <a:solidFill>
            <a:srgbClr val="44C1A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15968" y="3904488"/>
            <a:ext cx="310896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Ⅲ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18304" y="3886200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発表よりも議論の時間を重視する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4261104"/>
            <a:ext cx="8503920" cy="566928"/>
          </a:xfrm>
          <a:prstGeom prst="roundRect">
            <a:avLst>
              <a:gd name="adj" fmla="val 9677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" y="4352544"/>
            <a:ext cx="7991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参観して　全員が</a:t>
            </a:r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自分の考えをもって</a:t>
            </a:r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議論に入れていた。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" y="488289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※ 点線の枠に当日の授業写真を貼り付けてご使用ください。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9144"/>
            <a:ext cx="9144000" cy="1161288"/>
          </a:xfrm>
          <a:prstGeom prst="rect">
            <a:avLst/>
          </a:prstGeom>
          <a:solidFill>
            <a:srgbClr val="44C1A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②　３人の授業から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塚本　瑞穂　先生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1298448"/>
            <a:ext cx="8193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外国語・第７学年Ｂ組／Unit 4 Our New Friend（全９時間中の第２時）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1645920"/>
            <a:ext cx="3794760" cy="2487168"/>
          </a:xfrm>
          <a:prstGeom prst="rect">
            <a:avLst/>
          </a:prstGeom>
          <a:solidFill>
            <a:srgbClr val="FBFEFD"/>
          </a:solidFill>
          <a:ln w="19050">
            <a:solidFill>
              <a:srgbClr val="44C1A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320040" y="1645920"/>
            <a:ext cx="3794760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授業写真</a:t>
            </a:r>
            <a:endParaRPr lang="en-US" sz="15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（貼付欄）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315968" y="1645920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学級の実態（指導案より）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315968" y="1920240"/>
            <a:ext cx="450799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小学校時から苦手意識のある生徒、母語が英語の生徒、英検２級レベルの生徒まで混在。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習熟度の差が大きい。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4315968" y="2688336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指導案に書かれていた手だて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15968" y="2999232"/>
            <a:ext cx="310896" cy="223845"/>
          </a:xfrm>
          <a:prstGeom prst="roundRect">
            <a:avLst>
              <a:gd name="adj" fmla="val 20425"/>
            </a:avLst>
          </a:prstGeom>
          <a:solidFill>
            <a:srgbClr val="44C1A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15968" y="2999232"/>
            <a:ext cx="310896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Ⅰ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718304" y="2980944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Today’s Goal と Today’s Plan を提示する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15968" y="3300984"/>
            <a:ext cx="310896" cy="223845"/>
          </a:xfrm>
          <a:prstGeom prst="roundRect">
            <a:avLst>
              <a:gd name="adj" fmla="val 20425"/>
            </a:avLst>
          </a:prstGeom>
          <a:solidFill>
            <a:srgbClr val="44C1A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15968" y="3300984"/>
            <a:ext cx="310896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Ⅰ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718304" y="3282696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単元末はＡＬＴへの発表。目的と相手が明確なゴールを置く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15968" y="3602736"/>
            <a:ext cx="310896" cy="223845"/>
          </a:xfrm>
          <a:prstGeom prst="roundRect">
            <a:avLst>
              <a:gd name="adj" fmla="val 20425"/>
            </a:avLst>
          </a:prstGeom>
          <a:solidFill>
            <a:srgbClr val="44C1A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315968" y="3602736"/>
            <a:ext cx="310896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Ⅱ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718304" y="3584448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発表の前にペアで共有し、発表時の不安を軽減する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315968" y="3904488"/>
            <a:ext cx="310896" cy="223845"/>
          </a:xfrm>
          <a:prstGeom prst="roundRect">
            <a:avLst>
              <a:gd name="adj" fmla="val 20425"/>
            </a:avLst>
          </a:prstGeom>
          <a:solidFill>
            <a:srgbClr val="44C1A3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315968" y="3904488"/>
            <a:ext cx="310896" cy="2238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Ⅱ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718304" y="3886200"/>
            <a:ext cx="41056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くじで指名し、１時間で全員に発話の機会をつくる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20040" y="4261104"/>
            <a:ext cx="8503920" cy="566928"/>
          </a:xfrm>
          <a:prstGeom prst="roundRect">
            <a:avLst>
              <a:gd name="adj" fmla="val 9677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76072" y="4352544"/>
            <a:ext cx="79918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参観して　板書を手がかりに、</a:t>
            </a:r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誰もが一文をつくれる</a:t>
            </a:r>
            <a:pPr algn="l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ようにしていた。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" y="4882896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※ 点線の枠に当日の授業写真を貼り付けてご使用ください。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9144"/>
            <a:ext cx="9144000" cy="1161288"/>
          </a:xfrm>
          <a:prstGeom prst="rect">
            <a:avLst/>
          </a:prstGeom>
          <a:solidFill>
            <a:srgbClr val="44C1A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②　３人の授業から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３つの授業に共通していたこと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1810512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田口　先生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215384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東海林　先生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620256" y="12984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塚本　先生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627632"/>
            <a:ext cx="1417320" cy="822960"/>
          </a:xfrm>
          <a:prstGeom prst="roundRect">
            <a:avLst>
              <a:gd name="adj" fmla="val 5556"/>
            </a:avLst>
          </a:prstGeom>
          <a:solidFill>
            <a:srgbClr val="44C1A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" y="1627632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Ⅰ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見通し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810512" y="1627632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901952" y="16276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着替えの前に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目標と流れを確認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15384" y="1627632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06824" y="16276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前時と２週続きで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組み立てる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620256" y="1627632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11696" y="1627632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Today’s Goal と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Plan の提示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" y="2532888"/>
            <a:ext cx="1417320" cy="822960"/>
          </a:xfrm>
          <a:prstGeom prst="roundRect">
            <a:avLst>
              <a:gd name="adj" fmla="val 5556"/>
            </a:avLst>
          </a:prstGeom>
          <a:solidFill>
            <a:srgbClr val="44C1A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0040" y="2532888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Ⅱ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違いに応じる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810512" y="2532888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901952" y="253288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泳力別の３コース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補助具を認める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15384" y="2532888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306824" y="253288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前時のワークシート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意見が変わってよい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620256" y="2532888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711696" y="2532888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発表前のペア共有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くじ指名で全員発話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438144"/>
            <a:ext cx="1417320" cy="822960"/>
          </a:xfrm>
          <a:prstGeom prst="roundRect">
            <a:avLst>
              <a:gd name="adj" fmla="val 5556"/>
            </a:avLst>
          </a:prstGeom>
          <a:solidFill>
            <a:srgbClr val="44C1A3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0040" y="3438144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Ⅲ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対話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810512" y="3438144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901952" y="3438144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バディで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互いのキックを確認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215384" y="3438144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06824" y="3438144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自己内対話のあと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議論を重視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620256" y="3438144"/>
            <a:ext cx="2331720" cy="822960"/>
          </a:xfrm>
          <a:prstGeom prst="roundRect">
            <a:avLst>
              <a:gd name="adj" fmla="val 6667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711696" y="3438144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ペアで確かめてから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全体へ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320040" y="43891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３人とも、差を埋めるのではなく、</a:t>
            </a:r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差を前提に授業を設計</a:t>
            </a:r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していた。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9144"/>
            <a:ext cx="9144000" cy="1161288"/>
          </a:xfrm>
          <a:prstGeom prst="rect">
            <a:avLst/>
          </a:prstGeom>
          <a:solidFill>
            <a:srgbClr val="44C1A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③　今後に向けて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この３つを、９年間の共通の言葉に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1417320"/>
            <a:ext cx="8193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本日見えた３つの視点は、学年や教科を越えて使える。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75488" y="2029968"/>
            <a:ext cx="2468880" cy="566928"/>
          </a:xfrm>
          <a:prstGeom prst="roundRect">
            <a:avLst>
              <a:gd name="adj" fmla="val 11290"/>
            </a:avLst>
          </a:prstGeom>
          <a:solidFill>
            <a:srgbClr val="44C1A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75488" y="20299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Ⅰ　見通し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18688" y="2029968"/>
            <a:ext cx="2468880" cy="566928"/>
          </a:xfrm>
          <a:prstGeom prst="roundRect">
            <a:avLst>
              <a:gd name="adj" fmla="val 11290"/>
            </a:avLst>
          </a:prstGeom>
          <a:solidFill>
            <a:srgbClr val="44C1A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18688" y="20299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Ⅱ　違いに応じる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61888" y="2029968"/>
            <a:ext cx="2468880" cy="566928"/>
          </a:xfrm>
          <a:prstGeom prst="roundRect">
            <a:avLst>
              <a:gd name="adj" fmla="val 11290"/>
            </a:avLst>
          </a:prstGeom>
          <a:solidFill>
            <a:srgbClr val="44C1A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61888" y="202996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Ⅲ　対話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75488" y="2798064"/>
            <a:ext cx="8193024" cy="1188720"/>
          </a:xfrm>
          <a:prstGeom prst="roundRect">
            <a:avLst>
              <a:gd name="adj" fmla="val 4615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907792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44C1A3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学校経営計画とも重なる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・主体的・対話的で深い学びの実現に向けた授業改善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・個に応じたきめ細やかな指導・支援の充実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" y="4114800"/>
            <a:ext cx="8193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小竹小学校との校区別協議会で、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「目指す１５歳の姿」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として共有したい。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9144"/>
            <a:ext cx="9144000" cy="1161288"/>
          </a:xfrm>
          <a:prstGeom prst="rect">
            <a:avLst/>
          </a:prstGeom>
          <a:solidFill>
            <a:srgbClr val="44C1A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③　今後に向けて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手だての有効性を、確かめ続ける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75488" y="1389888"/>
            <a:ext cx="8193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田口先生の指導案「授業観察の視点」には、こう書かれていた。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5488" y="1755648"/>
            <a:ext cx="8193024" cy="731520"/>
          </a:xfrm>
          <a:prstGeom prst="roundRect">
            <a:avLst>
              <a:gd name="adj" fmla="val 7500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5564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「指導に当たっての手立ては有効であったか」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475488" y="2670048"/>
            <a:ext cx="8193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この問いを、授業のあとに必ず置く。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" y="3182112"/>
            <a:ext cx="2011680" cy="530352"/>
          </a:xfrm>
          <a:prstGeom prst="roundRect">
            <a:avLst>
              <a:gd name="adj" fmla="val 12069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0040" y="31821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手だてを決める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331720" y="3182112"/>
            <a:ext cx="182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514600" y="3182112"/>
            <a:ext cx="2011680" cy="530352"/>
          </a:xfrm>
          <a:prstGeom prst="roundRect">
            <a:avLst>
              <a:gd name="adj" fmla="val 12069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14600" y="31821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授業で試す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182112"/>
            <a:ext cx="182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09160" y="3182112"/>
            <a:ext cx="2011680" cy="530352"/>
          </a:xfrm>
          <a:prstGeom prst="roundRect">
            <a:avLst>
              <a:gd name="adj" fmla="val 12069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09160" y="31821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子どもの姿を見る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720840" y="3182112"/>
            <a:ext cx="182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808080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903720" y="3182112"/>
            <a:ext cx="2011680" cy="530352"/>
          </a:xfrm>
          <a:prstGeom prst="roundRect">
            <a:avLst>
              <a:gd name="adj" fmla="val 12069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03720" y="31821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次の授業に生かす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75488" y="3950208"/>
            <a:ext cx="8193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教師が管理する学習から、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子どもが管理する学習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へ。</a:t>
            </a:r>
            <a:endParaRPr lang="en-US" sz="1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その転換を支えるのが、この振り返りである。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-9144"/>
            <a:ext cx="9144000" cy="612648"/>
          </a:xfrm>
          <a:prstGeom prst="rect">
            <a:avLst/>
          </a:prstGeom>
          <a:solidFill>
            <a:srgbClr val="44C1A3"/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　まとめ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75488" y="960120"/>
            <a:ext cx="8193024" cy="1051560"/>
          </a:xfrm>
          <a:prstGeom prst="roundRect">
            <a:avLst>
              <a:gd name="adj" fmla="val 5217"/>
            </a:avLst>
          </a:prstGeom>
          <a:solidFill>
            <a:srgbClr val="E9F7F3"/>
          </a:solidFill>
          <a:ln w="12700">
            <a:solidFill>
              <a:srgbClr val="B9E5D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960120"/>
            <a:ext cx="7680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「違い」を生かす授業</a:t>
            </a:r>
            <a:pPr algn="l" indent="0" marL="0">
              <a:buNone/>
            </a:pPr>
            <a:r>
              <a:rPr lang="en-US" sz="26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が、９年間の学びをつなぐ。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475488" y="2240280"/>
            <a:ext cx="8193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本日の３つの授業は、いずれも一人一人の差が大きい集団だった。</a:t>
            </a:r>
            <a:endParaRPr lang="en-US" sz="1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３人とも、その差を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EE7B08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学びの出発点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にしていた。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75488" y="3218688"/>
            <a:ext cx="2468880" cy="566928"/>
          </a:xfrm>
          <a:prstGeom prst="roundRect">
            <a:avLst>
              <a:gd name="adj" fmla="val 11290"/>
            </a:avLst>
          </a:prstGeom>
          <a:solidFill>
            <a:srgbClr val="44C1A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5488" y="32186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Ⅰ　見通し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18688" y="3218688"/>
            <a:ext cx="2468880" cy="566928"/>
          </a:xfrm>
          <a:prstGeom prst="roundRect">
            <a:avLst>
              <a:gd name="adj" fmla="val 11290"/>
            </a:avLst>
          </a:prstGeom>
          <a:solidFill>
            <a:srgbClr val="44C1A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218688" y="32186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Ⅱ　違いに応じる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61888" y="3218688"/>
            <a:ext cx="2468880" cy="566928"/>
          </a:xfrm>
          <a:prstGeom prst="roundRect">
            <a:avLst>
              <a:gd name="adj" fmla="val 11290"/>
            </a:avLst>
          </a:prstGeom>
          <a:solidFill>
            <a:srgbClr val="44C1A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961888" y="3218688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Ⅲ　対話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" y="4023360"/>
            <a:ext cx="8193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この３つを９年間で積み上げることが、本校の最大の強みになる。</a:t>
            </a:r>
            <a:endParaRPr lang="en-US" sz="17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595959"/>
                </a:solidFill>
                <a:latin typeface="メイリオ" pitchFamily="34" charset="0"/>
                <a:ea typeface="メイリオ" pitchFamily="34" charset="-122"/>
                <a:cs typeface="メイリオ" pitchFamily="34" charset="-120"/>
              </a:rPr>
              <a:t>９年間を見通した学びの充実に期待している。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令和８年度 教育指導課訪問 ５校時 指導・講評資料（みらい青空学園）プランＢ</dc:title>
  <dc:subject>PptxGenJS Presentation</dc:subject>
  <dc:creator>練馬区教育委員会</dc:creator>
  <cp:lastModifiedBy>練馬区教育委員会</cp:lastModifiedBy>
  <cp:revision>1</cp:revision>
  <dcterms:created xsi:type="dcterms:W3CDTF">2026-09-08T19:41:51Z</dcterms:created>
  <dcterms:modified xsi:type="dcterms:W3CDTF">2026-09-08T19:41:51Z</dcterms:modified>
</cp:coreProperties>
</file>