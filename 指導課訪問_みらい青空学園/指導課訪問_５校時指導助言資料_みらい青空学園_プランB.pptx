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本日は、貴重な授業を参観させていただき、誠にありがとうございました。練馬区教育委員会指導課の紺多と申します。
１０分間、お時間をいただきます。本日申し上げたいことは、この一文に尽きます。「違い」を生かす授業が、９年間の学びをつなぐ。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本日は三点でお話しします。はじめにクイズと、みらい青空学園の現状。次に、３人の先生の授業から。最後に、今後に向けてです。
３人の先生の指導案を手がかりに、本日の授業を読み解いてまいります。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はじめにクイズを２問。令和８年度の全国学力・学習状況調査、質問紙調査の結果からです。
全国では、小学校から中学校にかけて下がる項目が多くあります。たとえば「英語の勉強は好きですか」。全国では小学校66.7％から中学校51.2％へ、15.5ポイント下がります。
では、本校ではどうだったでしょうか。
Q1「英語の勉強は好きですか」。本校の小学部６年は51.8％。中学部９年は。①約42、②約52、③約62パーセント。
Q2「自分には、よいところがあると思いますか」。本校の小学部６年は85.2％。中学部９年は。①約85、②約88、③約92パーセント。
（数秒、挙手や指名で予想を出してもらう）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答えは、いずれも③です。
「英語の勉強は好きですか」は、51.8％から61.7％へ、9.9ポイント上がっています。全国は15.5ポイント下がる項目です。小学部では全国を下回っていたものが、中学部では全国を10ポイント以上、上回りました。
「自分には、よいところがある」は、85.2％から91.5％へ、6.3ポイント上がっています。全国は1.6ポイント下がります。
全国も東京都も下がる項目で、本校は上がっている。これが本日の出発点です。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みらい青空学園の現状です。対話と協働に関わる項目が、小学部から中学部にかけて伸びています。
「友達や周りの人の考えを大切にして、協力しながら課題の解決に取り組んでいますか」は、85.1％から100％へ。中学部は全員が肯定的に答えています。
「話し合う活動を通じて、自分の考えを深めたり、新たな考え方に気付いたりすることができていますか」は、92.5％から97.9％へ。
「自分と違う意見について考えるのは楽しい」は、81.4％から87.2％へ。
９年間を見通した教育の成果が、数値に表れています。ここから本題に入ります。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３人の指導案を読ませていただきました。学級はまったく違いますが、共通して書かれていたことがあります。
水泳は泳力差が顕著、外国語は習熟度差が大きい、道徳は特別支援学級。３つの学級は、いずれも一人一人の差が大きい集団です。
その差にどう向き合うか。指導案には、視点Ⅰ 見通しをもたせる、視点Ⅱ 一人一人の違いに応じる、視点Ⅲ 対話で考えを深める、という手だてが書かれていました。この３つを手がかりに、３人の授業を見てまいります。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田口　和磨　先生の授業です。保健体育・第９学年ＡＢ組／水泳（全10時間中の第３時）　バタフライのキック。
指導案には、学級の実態がこう書かれていました。コロナ禍と校舎改築で水泳の授業回数が少ない。苦手意識や水への恐怖心をもつ生徒と、スイミングスクール経験者が混在し、泳力差が顕著。
そのうえで打たれた手だてが、こちらです。着替えの前に、本時の目標と授業の流れを確認する。泳力別に３段階でコースを分け、補助具の使用を認める。得意な生徒に、他の生徒へのアドバイスを担当させる。バディで互いのキックを確認し合う。
参観して、確認の視点を３点示し、子どもが自分の泳ぎを見る目をもてていた。（写真に触れながら）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東海林　静江　先生の授業です。道徳・特別支援学級Ｄ組／「ついていい嘘とついてはいけない嘘はどう違うのか？」。
指導案には、学級の実態がこう書かれていました。将来の就労を見据えた「報告・連絡・相談」を大切にしている学級。「嘘はつくなと言われているけど、これは嘘がうまくないと勝てない」という生徒の発言が出発点。
そのうえで打たれた手だてが、こちらです。前時「いいこと・わるいこと」と２週続きで組み立てる。前時のワークシートを活用し、考えが変わってもよいと保障する。自己との対話で整理してから、グループで交流し議論へ。発表よりも議論の時間を重視する。
参観して、全員が自分の考えをもって議論に入れていた。（写真に触れながら）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塚本　瑞穂　先生の授業です。外国語・第７学年Ｂ組／Unit 4 Our New Friend（全９時間中の第２時）。
指導案には、学級の実態がこう書かれていました。小学校時から苦手意識のある生徒、母語が英語の生徒、英検２級レベルの生徒まで混在。習熟度の差が大きい。
そのうえで打たれた手だてが、こちらです。Today’s Goal と Today’s Plan を提示する。単元末はＡＬＴへの発表。目的と相手が明確なゴールを置く。発表の前にペアで共有し、発表時の不安を軽減する。くじで指名し、１時間で全員に発話の機会をつくる。
参観して、板書を手がかりに、誰もが一文をつくれるようにしていた。（写真に触れながら）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３つの授業を並べると、このようになります。
見通しは、着替えの前の確認、２週続きの構成、Today’s Goal。
違いに応じる手だては、泳力別のコース、前時のワークシート、発表前のペア共有。
対話は、バディでの確認、自己内対話のあとの議論、ペアから全体へ。
教科も学年も違いますが、３人とも、差を埋めるのではなく、差を前提に授業を設計されていました。これが本校の強みだと受け止めました。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３つの手だては、子どもに何を育てるのでしょうか。二つあると考えます。
一つは自己肯定感です。「できる子になる」ことではなく、「成長できる自分を信じること」。自分の段階で挑戦でき、考えが変わってもよいと保障されることで育ちます。
もう一つが、学習の自己調整です。学習指導要領が示す「学びに向かう力」の中核をなす力です。見通しをもち、振り返り、次につなげる経験の積み重ねで育ちます。
本日の授業には、この二つが育つ場面がありました。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とくに学習の自己調整について申し上げます。「学びに向かう力」を支える「主体的に学習に取り組む態度」は、粘り強く取り組む側面と、自らの学習を調整しようとする側面の二つで捉えます。
田口先生は、着替えの前に本時の目標と流れを確認され、学習カードで要点を振り返らせていました。
塚本先生は、授業のはじめに Today’s Goal と Plan を示し、振り返りをワークシートに記入させていました。
東海林先生は、議論に入る前に前時のワークシートで自分の考えを確かめさせ、本時の考えを書き残させていました。
いずれも、目標と振り返りが一対で置かれています。教師が管理する学習から、子どもが管理する学習へ。着実に転換が進んでいます。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今後に向けてです。本日見えた３つの視点は、学年や教科を越えて使えます。
学校経営計画に掲げられた「主体的・対話的で深い学びの実現に向けた授業改善」「個に応じたきめ細やかな指導・支援の充実」とも重なります。
この３つを、９年間の共通の言葉にしていただきたい。小竹小学校との校区別協議会でも、「目指す１５歳の姿」として共有できるはずです。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もう一点。田口先生の指導案の「授業観察の視点」に、こう書かれていました。「指導に当たっての手立ては有効であったか」。
子どもが学習を調整するように、教師も授業を調整する。手だてを決め、授業で試し、子どもの姿を見て、次の授業に生かす。
子どもの自己調整と、教師の授業改善。この往還が、９年間の学びを支えていきます。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まとめます。３人とも、一人一人の差を学びの出発点にされていました。
見通し、違いに応じること、対話。その先に育つのが、自己肯定感と、学習の自己調整です。この積み重ねが、９年間を見通した学びの充実につながります。
「違い」を生かす授業が、９年間の学びをつなぐ。９年間を見通した学びの充実に期待しております。本日は誠にありがとうございました。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9144000" cy="248716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練馬区立みらい青空学園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教育指導課訪問（５校時）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2487168"/>
            <a:ext cx="9144000" cy="658368"/>
          </a:xfrm>
          <a:prstGeom prst="roundRect">
            <a:avLst>
              <a:gd name="adj" fmla="val 833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2487168"/>
            <a:ext cx="8193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340156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授業者　塚本　瑞穂　先生（外国語・７年Ｂ組）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田口　和磨　先生（保健体育・９年ＡＢ組）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東海林　静江　先生（道徳・特別支援学級Ｄ組）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3401568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令和８年９月９日（水）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練馬区教育委員会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指導主事　紺多　章一郎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本日の講評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14400"/>
            <a:ext cx="8193024" cy="868680"/>
          </a:xfrm>
          <a:prstGeom prst="roundRect">
            <a:avLst>
              <a:gd name="adj" fmla="val 6316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1168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アイスブレイク　みらい青空学園の現状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278892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78892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３人の授業から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5661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56616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今後に向けて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4279392"/>
            <a:ext cx="8193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３人の先生の指導案を手がかりに、本日の授業を読み解きます。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クイズ　本校の子どもたちは、どう変わったか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71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71600"/>
            <a:ext cx="7991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全国では、小学校から中学校にかけて下がる項目が多い。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例：「英語の勉強は好きですか」　全国　小 66.7％ → 中 51.2％　</a:t>
            </a:r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−15.5ポイント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377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では、本校（旧旭丘小学校・旧旭丘中学校）はどうだったでしょうか。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7249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7797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「英語の勉強は好きですか」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307238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51.8％。では、中学部９年は？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0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42％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47104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52％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07808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62％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49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38039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「自分には、よいところがあると思いますか」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409651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85.2％。では、中学部９年は？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85％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47104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88％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7808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92％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答え　本校では、中学部で上がっている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44475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「英語の勉強は好きですか」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51790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66.7 → 51.2　−15.5ポイント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51.8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19202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78224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78224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32704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61.7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086600" y="188366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188366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＋9.9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2980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「自分には、よいところがあると思いますか」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98094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85.6 → 84.0　−1.6ポイント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30552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85.2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584448" y="3383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78224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32704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91.5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7086600" y="334670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334670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＋6.3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全国も東京都も下がる項目で、本校は上がっている。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470001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　本校 小学部27名・中学部47名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みらい青空学園の現状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質問紙調査から見える強み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37160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対話と協働に関わる項目が、小学部から中学部にかけて伸びている。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友達や周りの人の考えを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大切にして、協力しながら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課題の解決に取り組んでいる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85.1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100.0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＋14.9 ポイント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中学部は全国 92.4 を上回る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92424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話し合う活動を通じて、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自分の考えを深めたり、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新たな考え方に気付ける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92.5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97.9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92424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2424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＋5.4 ポイント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86.6 を上回る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自分と違う意見について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考えるのは楽しい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81.4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87.2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0216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＋5.8 ポイント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79.8 を上回る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対話し、協働する力が、９年間を通じて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確かに育っている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３つの指導案に、共通して書かれていたこと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３つの学級は、いずれも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一人一人の差が大きい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その差にどう向き合うかが、３つの指導案に書かれていた。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見通しをもたせる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目標と流れ、単元のゴールを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子どもと共有する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27832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92424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一人一人の課題・活動・支援に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選べる幅をもたせる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0216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対話で考えを深める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自分の考えをもってから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他者と交わす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42245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この３つを手がかりに、３人の授業を見ていく。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田口　和磨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保健体育・第９学年ＡＢ組／水泳（全10時間中の第３時）　バタフライのキック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コロナ禍と校舎改築で水泳の授業回数が少ない。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苦手意識や水への恐怖心をもつ生徒と、スイミングスクール経験者が混在し、泳力差が顕著。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着替えの前に、本時の目標と授業の流れを確認する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泳力別に３段階でコースを分け、補助具の使用を認める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得意な生徒に、他の生徒へのアドバイスを担当させる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バディで互いのキックを確認し合う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確認の視点を３点示し、子どもが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自分の泳ぎを見る目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をもてていた。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東海林　静江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道徳・特別支援学級Ｄ組／「ついていい嘘とついてはいけない嘘はどう違うのか？」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将来の就労を見据えた「報告・連絡・相談」を大切にしている学級。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「嘘はつくなと言われているけど、これは嘘がうまくないと勝てない」という生徒の発言が出発点。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前時「いいこと・わるいこと」と２週続きで組み立てる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前時のワークシートを活用し、考えが変わってもよいと保障する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自己との対話で整理してから、グループで交流し議論へ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発表よりも議論の時間を重視する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全員が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議論に入れていた。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塚本　瑞穂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外国語・第７学年Ｂ組／Unit 4 Our New Friend（全９時間中の第２時）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小学校時から苦手意識のある生徒、母語が英語の生徒、英検２級レベルの生徒まで混在。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習熟度の差が大きい。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Today’s Plan を提示する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単元末はＡＬＴへの発表。目的と相手が明確なゴールを置く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発表の前にペアで共有し、発表時の不安を軽減する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くじで指名し、１時間で全員に発話の機会をつくる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板書を手がかりに、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誰もが一文をつくれる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ようにしていた。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３つの授業に共通していたこと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810512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1538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20256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627632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" y="1627632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10512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01952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目標と流れを確認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15384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06824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前時と２週続きで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20256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Plan の提示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53288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3288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10512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01952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泳力別の３コース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補助具を認める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15384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6824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意見が変わってよい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20256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11696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発表前のペア共有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くじ指名で全員発話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38144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" y="343814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10512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01952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互いのキックを確認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15384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自己内対話のあと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議論を重視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20256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11696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ペアで確かめてから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全体へ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" y="4389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３人とも、差を埋めるのではなく、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差を前提に授業を設計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していた。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この手だては、子どもに何を育てるか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27832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7832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35624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35624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883664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「できる子になる」ことではなく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「成長できる自分を信じること」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自分の段階で挑戦でき、考えが変わってよいと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保障されることで育つ。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46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学習指導要領が示す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「学びに向かう力」の中核をなす力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見通しをもち、振り返り、次につなげる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経験の積み重ねで育つ。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本日の授業には、この二つが育つ場面があった。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学習の自己調整が育っていた場面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8503920" cy="786384"/>
          </a:xfrm>
          <a:prstGeom prst="roundRect">
            <a:avLst>
              <a:gd name="adj" fmla="val 69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53312"/>
            <a:ext cx="7991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「学びに向かう力」を支える「主体的に学習に取り組む態度」は、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粘り強く取り組む側面　と　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自らの学習を調整しようとする側面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で捉える。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2304288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23042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10512" y="2304288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93392" y="2304288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本時の目標と流れを確認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学習カードで要点を振り返る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962656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296265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10512" y="2962656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93392" y="2962656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授業のはじめに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Plan を提示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振り返りをワークシートに記入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62102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36210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362102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93392" y="362102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議論に入る前に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前時のワークシートで自分の考えを確認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本時の考えを書き残す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" y="4352544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教師が管理する学習から、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子どもが管理する学習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へ。着実に転換が進んでいる。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この３つを、９年間の共通の言葉に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本日見えた３つの視点は、学年や教科を越えて使える。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54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186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186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61888" y="2029968"/>
            <a:ext cx="2468880" cy="566928"/>
          </a:xfrm>
          <a:prstGeom prst="roundRect">
            <a:avLst>
              <a:gd name="adj" fmla="val 1129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61888" y="20299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" y="2798064"/>
            <a:ext cx="8193024" cy="1188720"/>
          </a:xfrm>
          <a:prstGeom prst="roundRect">
            <a:avLst>
              <a:gd name="adj" fmla="val 461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90779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学校経営計画とも重なる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・主体的・対話的で深い学びの実現に向けた授業改善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・個に応じたきめ細やかな指導・支援の充実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411480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小竹小学校との校区別協議会で、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「目指す１５歳の姿」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として共有したい。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教師も、自らの授業を調整する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389888"/>
            <a:ext cx="8193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田口先生の指導案「授業観察の視点」には、こう書かれていた。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75488" y="1755648"/>
            <a:ext cx="8193024" cy="731520"/>
          </a:xfrm>
          <a:prstGeom prst="roundRect">
            <a:avLst>
              <a:gd name="adj" fmla="val 7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5564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「指導に当たっての手立ては有効であったか」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2670048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子どもが学習を調整するように、教師も授業を調整する。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004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手だてを決める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授業で試す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子どもの姿を見る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82112"/>
            <a:ext cx="182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82112"/>
            <a:ext cx="2011680" cy="530352"/>
          </a:xfrm>
          <a:prstGeom prst="roundRect">
            <a:avLst>
              <a:gd name="adj" fmla="val 12069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1821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次の授業に生かす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" y="3950208"/>
            <a:ext cx="8193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子どもの自己調整と、教師の授業改善。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往還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が、９年間の学びを支えていく。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まとめ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60120"/>
            <a:ext cx="8193024" cy="1051560"/>
          </a:xfrm>
          <a:prstGeom prst="roundRect">
            <a:avLst>
              <a:gd name="adj" fmla="val 521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601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194560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３人とも、一人一人の差を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学びの出発点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にしていた。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54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186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186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18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3273552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　その先に育つのが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172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279392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この積み重ねが、９年間を見通した学びの充実につながる。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令和８年度 教育指導課訪問 ５校時 指導・講評資料（みらい青空学園）プランＢ</dc:title>
  <dc:subject>PptxGenJS Presentation</dc:subject>
  <dc:creator>練馬区教育委員会</dc:creator>
  <cp:lastModifiedBy>練馬区教育委員会</cp:lastModifiedBy>
  <cp:revision>1</cp:revision>
  <dcterms:created xsi:type="dcterms:W3CDTF">2026-09-08T19:53:20Z</dcterms:created>
  <dcterms:modified xsi:type="dcterms:W3CDTF">2026-09-08T19:53:20Z</dcterms:modified>
</cp:coreProperties>
</file>