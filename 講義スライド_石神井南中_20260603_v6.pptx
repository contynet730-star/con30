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29"/>
  </p:notesMasterIdLst>
  <p:handoutMasterIdLst>
    <p:handoutMasterId r:id="rId30"/>
  </p:handoutMasterIdLst>
  <p:sldIdLst>
    <p:sldId id="256" r:id="rId2"/>
    <p:sldId id="282" r:id="rId3"/>
    <p:sldId id="319" r:id="rId4"/>
    <p:sldId id="647" r:id="rId5"/>
    <p:sldId id="651" r:id="rId35"/>
    <p:sldId id="261" r:id="rId6"/>
    <p:sldId id="262" r:id="rId7"/>
    <p:sldId id="648" r:id="rId8"/>
    <p:sldId id="264" r:id="rId9"/>
    <p:sldId id="265" r:id="rId10"/>
    <p:sldId id="266" r:id="rId11"/>
    <p:sldId id="321" r:id="rId12"/>
    <p:sldId id="303" r:id="rId13"/>
    <p:sldId id="305" r:id="rId14"/>
    <p:sldId id="652" r:id="rId36"/>
    <p:sldId id="291" r:id="rId15"/>
    <p:sldId id="284" r:id="rId16"/>
    <p:sldId id="306" r:id="rId17"/>
    <p:sldId id="307" r:id="rId18"/>
    <p:sldId id="308" r:id="rId19"/>
    <p:sldId id="327" r:id="rId20"/>
    <p:sldId id="326" r:id="rId21"/>
    <p:sldId id="332" r:id="rId22"/>
    <p:sldId id="280" r:id="rId23"/>
    <p:sldId id="281" r:id="rId24"/>
    <p:sldId id="649" r:id="rId25"/>
    <p:sldId id="283" r:id="rId26"/>
    <p:sldId id="653" r:id="rId37"/>
    <p:sldId id="650" r:id="rId27"/>
    <p:sldId id="278" r:id="rId28"/>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897" autoAdjust="0"/>
    <p:restoredTop sz="94660"/>
  </p:normalViewPr>
  <p:slideViewPr>
    <p:cSldViewPr snapToGrid="0">
      <p:cViewPr varScale="1">
        <p:scale>
          <a:sx n="103" d="100"/>
          <a:sy n="103" d="100"/>
        </p:scale>
        <p:origin x="114"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2026/5/27</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2026/5/27</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4</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20</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2026/5/27</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2026/5/27</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r>
              <a:rPr lang="ja-JP" altLang="en-US" sz="4400" b="1" dirty="0">
                <a:latin typeface="メイリオ"/>
                <a:ea typeface="メイリオ"/>
                <a:cs typeface="メイリオ"/>
              </a:rPr>
              <a:t/>
            </a:r>
            <a:r>
              <a:rPr lang="en-US" altLang="ja-JP" sz="4400" b="1" dirty="0">
                <a:latin typeface="メイリオ"/>
                <a:ea typeface="メイリオ"/>
                <a:cs typeface="メイリオ"/>
              </a:rPr>
              <a:t/>
            </a:r>
            <a:r>
              <a:rPr lang="ja-JP" altLang="en-US" sz="4400" b="1" dirty="0">
                <a:latin typeface="メイリオ"/>
                <a:ea typeface="メイリオ"/>
                <a:cs typeface="メイリオ"/>
              </a:rPr>
              <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授業改善について</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研修内容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1734985214"/>
              </p:ext>
            </p:extLst>
          </p:nvPr>
        </p:nvGraphicFramePr>
        <p:xfrm>
          <a:off x="888647" y="1705704"/>
          <a:ext cx="8028000" cy="3644162"/>
        </p:xfrm>
        <a:graphic>
          <a:graphicData uri="http://schemas.openxmlformats.org/drawingml/2006/table">
            <a:tbl>
              <a:tblPr firstRow="1" bandRow="1">
                <a:tableStyleId>{616DA210-FB5B-4158-B5E0-FEB733F419BA}</a:tableStyleId>
              </a:tblPr>
              <a:tblGrid>
                <a:gridCol w="614550">
                  <a:extLst>
                    <a:ext uri="{9D8B030D-6E8A-4147-A177-3AD203B41FA5}">
                      <a16:colId xmlns:a16="http://schemas.microsoft.com/office/drawing/2014/main" val="1889472123"/>
                    </a:ext>
                  </a:extLst>
                </a:gridCol>
                <a:gridCol w="1482690">
                  <a:extLst>
                    <a:ext uri="{9D8B030D-6E8A-4147-A177-3AD203B41FA5}">
                      <a16:colId xmlns:a16="http://schemas.microsoft.com/office/drawing/2014/main" val="980164369"/>
                    </a:ext>
                  </a:extLst>
                </a:gridCol>
                <a:gridCol w="1482690">
                  <a:extLst>
                    <a:ext uri="{9D8B030D-6E8A-4147-A177-3AD203B41FA5}">
                      <a16:colId xmlns:a16="http://schemas.microsoft.com/office/drawing/2014/main" val="4100679345"/>
                    </a:ext>
                  </a:extLst>
                </a:gridCol>
                <a:gridCol w="1482690">
                  <a:extLst>
                    <a:ext uri="{9D8B030D-6E8A-4147-A177-3AD203B41FA5}">
                      <a16:colId xmlns:a16="http://schemas.microsoft.com/office/drawing/2014/main" val="391346200"/>
                    </a:ext>
                  </a:extLst>
                </a:gridCol>
                <a:gridCol w="1482690">
                  <a:extLst>
                    <a:ext uri="{9D8B030D-6E8A-4147-A177-3AD203B41FA5}">
                      <a16:colId xmlns:a16="http://schemas.microsoft.com/office/drawing/2014/main" val="1997047567"/>
                    </a:ext>
                  </a:extLst>
                </a:gridCol>
                <a:gridCol w="1482690">
                  <a:extLst>
                    <a:ext uri="{9D8B030D-6E8A-4147-A177-3AD203B41FA5}">
                      <a16:colId xmlns:a16="http://schemas.microsoft.com/office/drawing/2014/main" val="365566380"/>
                    </a:ext>
                  </a:extLst>
                </a:gridCol>
              </a:tblGrid>
              <a:tr h="99332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A</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30.3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4800" b="1" dirty="0">
                          <a:solidFill>
                            <a:schemeClr val="tx1"/>
                          </a:solidFill>
                          <a:latin typeface="メイリオ"/>
                          <a:ea typeface="メイリオ"/>
                          <a:cs typeface="メイリオ"/>
                        </a:rPr>
                        <a:t>22.5</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33.8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11.3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337143">
                <a:tc>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4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938384">
                <a:tc>
                  <a:txBody>
                    <a:bodyPr/>
                    <a:lstStyle/>
                    <a:p>
                      <a:pPr algn="ctr"/>
                      <a:r>
                        <a:rPr kumimoji="1" lang="en-US" altLang="ja-JP" sz="4800" b="1" dirty="0">
                          <a:solidFill>
                            <a:schemeClr val="tx1"/>
                          </a:solidFill>
                          <a:latin typeface="メイリオ"/>
                          <a:ea typeface="メイリオ"/>
                          <a:cs typeface="メイリオ"/>
                        </a:rPr>
                        <a:t>B</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2.1</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10.7</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24.3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1.4</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396175">
                <a:tc>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16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979135">
                <a:tc>
                  <a:txBody>
                    <a:bodyPr/>
                    <a:lstStyle/>
                    <a:p>
                      <a:pPr algn="ctr"/>
                      <a:r>
                        <a:rPr kumimoji="1" lang="en-US" altLang="ja-JP" sz="4800" b="1" dirty="0">
                          <a:solidFill>
                            <a:schemeClr val="tx1"/>
                          </a:solidFill>
                          <a:latin typeface="メイリオ"/>
                          <a:ea typeface="メイリオ"/>
                          <a:cs typeface="メイリオ"/>
                        </a:rPr>
                        <a:t>C</a:t>
                      </a:r>
                      <a:endParaRPr kumimoji="1" lang="ja-JP" altLang="en-US" sz="48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16.9</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49.3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20.3</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4800" b="1" dirty="0">
                          <a:solidFill>
                            <a:schemeClr val="tx1"/>
                          </a:solidFill>
                          <a:latin typeface="メイリオ"/>
                          <a:ea typeface="メイリオ"/>
                          <a:cs typeface="メイリオ"/>
                        </a:rPr>
                        <a:t>6.8</a:t>
                      </a:r>
                      <a:endParaRPr kumimoji="1" lang="ja-JP" altLang="en-US" sz="48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latin typeface="メイリオ"/>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230133"/>
            <a:ext cx="2644140" cy="1295977"/>
          </a:xfrm>
          <a:prstGeom prst="wedgeRoundRectCallout">
            <a:avLst>
              <a:gd name="adj1" fmla="val -71331"/>
              <a:gd name="adj2" fmla="val -266"/>
              <a:gd name="adj3" fmla="val 16667"/>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主体的・対話的で深い学びの実現に向けた授業改善について</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主体的・対話的で深い学びの実現に向けた授業改善について</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互いの考えを比べ、共に考えを創り上げる</a:t>
            </a: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知識・技能を活用・概念化し、新たなものを創る</a:t>
            </a: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授業改善の視点 → </a:t>
            </a:r>
            <a:r>
              <a:rPr sz="2600" b="1">
                <a:solidFill>
                  <a:srgbClr val="EB6C15"/>
                </a:solidFill>
                <a:latin typeface="メイリオ"/>
                <a:ea typeface="メイリオ"/>
                <a:cs typeface="メイリオ"/>
              </a:rPr>
              <a:t>生徒に見せたい「学びの姿」</a:t>
            </a:r>
          </a:p>
          <a:p>
            <a:pPr algn="l">
              <a:lnSpc>
                <a:spcPct val="140000"/>
              </a:lnSpc>
            </a:pPr>
            <a:r>
              <a:rPr sz="2200" b="1">
                <a:solidFill>
                  <a:srgbClr val="000000"/>
                </a:solidFill>
                <a:latin typeface="メイリオ"/>
                <a:ea typeface="メイリオ"/>
                <a:cs typeface="メイリオ"/>
              </a:rPr>
              <a:t>　 が </a:t>
            </a:r>
            <a:r>
              <a:rPr sz="2600" b="1">
                <a:solidFill>
                  <a:srgbClr val="EB6C15"/>
                </a:solidFill>
                <a:latin typeface="メイリオ"/>
                <a:ea typeface="メイリオ"/>
                <a:cs typeface="メイリオ"/>
              </a:rPr>
              <a:t>評価の対象</a:t>
            </a:r>
            <a:r>
              <a:rPr sz="2200" b="1">
                <a:solidFill>
                  <a:srgbClr val="000000"/>
                </a:solidFill>
                <a:latin typeface="メイリオ"/>
                <a:ea typeface="メイリオ"/>
                <a:cs typeface="メイリオ"/>
              </a:rPr>
              <a:t>（特に「主体的に取り組む態度」）</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主体的・対話的で深い学びの実現に向けた授業改善について</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自分と結び
付ける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000000"/>
                </a:solidFill>
                <a:latin typeface="メイリオ"/>
                <a:ea typeface="メイリオ"/>
                <a:cs typeface="メイリオ"/>
              </a:rPr>
              <a:t>これらが </a:t>
            </a:r>
            <a:r>
              <a:rPr sz="2400" b="1">
                <a:solidFill>
                  <a:srgbClr val="EB6C15"/>
                </a:solidFill>
                <a:latin typeface="メイリオ"/>
                <a:ea typeface="メイリオ"/>
                <a:cs typeface="メイリオ"/>
              </a:rPr>
              <a:t>単元の中で実際に見えるか</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主体的・対話的で深い学びの実現に向けた授業改善について</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主体的・対話的で深い学びの実現に向けた授業改善について</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a:latin typeface="メイリオ"/>
                <a:ea typeface="メイリオ"/>
                <a:cs typeface="メイリオ"/>
              </a:rPr>
              <a:t>１　主体的・対話的で深い学びの実現に向けた授業改善について</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①生徒の学習改善につながるものにしていくこと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②教師の指導改善につながるものにしていくこと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必要性・妥当性が認められないものは見直していくこと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2"/>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447981"/>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6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■「主体的に学習に取り組む態度」の評価の工夫</a:t>
            </a:r>
          </a:p>
        </p:txBody>
      </p:sp>
      <p:sp>
        <p:nvSpPr>
          <p:cNvPr id="2" name="角丸四角形 1"/>
          <p:cNvSpPr/>
          <p:nvPr/>
        </p:nvSpPr>
        <p:spPr>
          <a:xfrm>
            <a:off x="313897" y="832514"/>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832514"/>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183639"/>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183639"/>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364009"/>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364009"/>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544379"/>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544379"/>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5895504"/>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正方形/長方形 14"/>
          <p:cNvSpPr/>
          <p:nvPr/>
        </p:nvSpPr>
        <p:spPr>
          <a:xfrm>
            <a:off x="0" y="0"/>
            <a:ext cx="12192000" cy="720000"/>
          </a:xfrm>
          <a:prstGeom prst="rect">
            <a:avLst/>
          </a:prstGeom>
          <a:solidFill>
            <a:schemeClr val="accent1">
              <a:lumMod val="60000"/>
              <a:lumOff val="40000"/>
            </a:schemeClr>
          </a:solidFill>
          <a:ln>
            <a:solidFill>
              <a:schemeClr val="tx2">
                <a:lumMod val="40000"/>
                <a:lumOff val="60000"/>
              </a:schemeClr>
            </a:solid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6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■「主体的に学習に取り組む態度」の評価の工夫</a:t>
            </a:r>
          </a:p>
        </p:txBody>
      </p:sp>
      <p:sp>
        <p:nvSpPr>
          <p:cNvPr id="8" name="角丸四角形 7"/>
          <p:cNvSpPr/>
          <p:nvPr/>
        </p:nvSpPr>
        <p:spPr>
          <a:xfrm>
            <a:off x="309349" y="944065"/>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170463"/>
            <a:ext cx="2186565" cy="3470739"/>
          </a:xfrm>
          <a:prstGeom prst="rect">
            <a:avLst/>
          </a:prstGeom>
        </p:spPr>
      </p:pic>
      <p:sp>
        <p:nvSpPr>
          <p:cNvPr id="3" name="角丸四角形吹き出し 2"/>
          <p:cNvSpPr/>
          <p:nvPr/>
        </p:nvSpPr>
        <p:spPr>
          <a:xfrm>
            <a:off x="1001486" y="3346653"/>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346653"/>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007428"/>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p:cNvSpPr txBox="1">
            <a:spLocks/>
          </p:cNvSpPr>
          <p:nvPr/>
        </p:nvSpPr>
        <p:spPr>
          <a:xfrm>
            <a:off x="1047730" y="1943191"/>
            <a:ext cx="10697580" cy="491480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3200" b="1" dirty="0">
                <a:latin typeface="メイリオ"/>
                <a:ea typeface="メイリオ"/>
                <a:cs typeface="メイリオ"/>
              </a:rPr>
              <a:t>『</a:t>
            </a:r>
            <a:r>
              <a:rPr lang="ja-JP" altLang="en-US" sz="3200" b="1" dirty="0">
                <a:latin typeface="メイリオ"/>
                <a:ea typeface="メイリオ"/>
                <a:cs typeface="メイリオ"/>
              </a:rPr>
              <a:t>主体的に学習に取り組む態度</a:t>
            </a:r>
            <a:r>
              <a:rPr lang="en-US" altLang="ja-JP" sz="3200" b="1" dirty="0">
                <a:latin typeface="メイリオ"/>
                <a:ea typeface="メイリオ"/>
                <a:cs typeface="メイリオ"/>
              </a:rPr>
              <a:t>』</a:t>
            </a:r>
            <a:r>
              <a:rPr lang="ja-JP" altLang="en-US" sz="3200" b="1" dirty="0">
                <a:latin typeface="メイリオ"/>
                <a:ea typeface="メイリオ"/>
                <a:cs typeface="メイリオ"/>
              </a:rPr>
              <a:t>の評価</a:t>
            </a:r>
            <a:endParaRPr lang="en-US" altLang="ja-JP" sz="3200" b="1" dirty="0"/>
          </a:p>
          <a:p>
            <a:pPr marL="0" indent="0">
              <a:buNone/>
            </a:pPr>
            <a:endParaRPr lang="en-US" altLang="ja-JP" sz="3200" b="1" dirty="0"/>
          </a:p>
          <a:p>
            <a:pPr marL="0" indent="0">
              <a:buNone/>
            </a:pPr>
            <a:r>
              <a:rPr lang="en-US" altLang="ja-JP" sz="3200" b="1" dirty="0">
                <a:latin typeface="メイリオ"/>
                <a:ea typeface="メイリオ"/>
                <a:cs typeface="メイリオ"/>
              </a:rPr>
              <a:t> </a:t>
            </a:r>
            <a:r>
              <a:rPr lang="ja-JP" altLang="en-US" b="1" dirty="0">
                <a:solidFill>
                  <a:srgbClr val="00B050"/>
                </a:solidFill>
                <a:latin typeface="メイリオ"/>
                <a:ea typeface="メイリオ"/>
                <a:cs typeface="メイリオ"/>
              </a:rPr>
              <a:t>「指導と評価の一体化」のための学習評価に 関する参考資料</a:t>
            </a:r>
          </a:p>
          <a:p>
            <a:pPr marL="0" indent="0">
              <a:buNone/>
            </a:pPr>
            <a:r>
              <a:rPr lang="ja-JP" altLang="en-US" sz="3600" b="1" dirty="0">
                <a:solidFill>
                  <a:srgbClr val="00B050"/>
                </a:solidFill>
                <a:latin typeface="メイリオ"/>
                <a:ea typeface="メイリオ"/>
                <a:cs typeface="メイリオ"/>
              </a:rPr>
              <a:t>  </a:t>
            </a:r>
            <a:r>
              <a:rPr lang="ja-JP" altLang="en-US" b="1" dirty="0">
                <a:solidFill>
                  <a:srgbClr val="00B050"/>
                </a:solidFill>
                <a:latin typeface="メイリオ"/>
                <a:ea typeface="メイリオ"/>
                <a:cs typeface="メイリオ"/>
              </a:rPr>
              <a:t>文部科学省　国立教育政策研究所教育課程研究センター</a:t>
            </a:r>
          </a:p>
          <a:p>
            <a:pPr marL="0" indent="0">
              <a:buNone/>
            </a:pPr>
            <a:endParaRPr lang="en-US" altLang="ja-JP" sz="3200" b="1" dirty="0"/>
          </a:p>
          <a:p>
            <a:pPr marL="0" indent="0">
              <a:buNone/>
            </a:pPr>
            <a:r>
              <a:rPr lang="en-US" altLang="ja-JP" sz="3200" b="1" dirty="0">
                <a:latin typeface="メイリオ"/>
                <a:ea typeface="メイリオ"/>
                <a:cs typeface="メイリオ"/>
              </a:rPr>
              <a:t>          </a:t>
            </a:r>
            <a:r>
              <a:rPr lang="ja-JP" altLang="en-US" sz="3200" b="1" dirty="0">
                <a:solidFill>
                  <a:srgbClr val="00B050"/>
                </a:solidFill>
                <a:latin typeface="メイリオ"/>
                <a:ea typeface="メイリオ"/>
                <a:cs typeface="メイリオ"/>
              </a:rPr>
              <a:t>１　理科　　</a:t>
            </a:r>
            <a:r>
              <a:rPr lang="en-US" altLang="ja-JP" sz="3200" b="1" dirty="0">
                <a:solidFill>
                  <a:srgbClr val="00B050"/>
                </a:solidFill>
                <a:latin typeface="メイリオ"/>
                <a:ea typeface="メイリオ"/>
                <a:cs typeface="メイリオ"/>
              </a:rPr>
              <a:t>  </a:t>
            </a:r>
            <a:r>
              <a:rPr lang="ja-JP" altLang="en-US" sz="3200" b="1" dirty="0">
                <a:solidFill>
                  <a:srgbClr val="00B050"/>
                </a:solidFill>
                <a:latin typeface="メイリオ"/>
                <a:ea typeface="メイリオ"/>
                <a:cs typeface="メイリオ"/>
              </a:rPr>
              <a:t>２　音楽</a:t>
            </a:r>
            <a:r>
              <a:rPr lang="en-US" altLang="ja-JP" sz="3200" b="1" dirty="0">
                <a:solidFill>
                  <a:srgbClr val="00B050"/>
                </a:solidFill>
                <a:latin typeface="メイリオ"/>
                <a:ea typeface="メイリオ"/>
                <a:cs typeface="メイリオ"/>
              </a:rPr>
              <a:t>          </a:t>
            </a:r>
            <a:r>
              <a:rPr lang="ja-JP" altLang="en-US" sz="3200" b="1" dirty="0">
                <a:solidFill>
                  <a:srgbClr val="00B050"/>
                </a:solidFill>
                <a:latin typeface="メイリオ"/>
                <a:ea typeface="メイリオ"/>
                <a:cs typeface="メイリオ"/>
              </a:rPr>
              <a:t>３　体育</a:t>
            </a:r>
            <a:endParaRPr lang="en-US" altLang="ja-JP" sz="3200" b="1" dirty="0">
              <a:solidFill>
                <a:srgbClr val="00B050"/>
              </a:solidFill>
            </a:endParaRPr>
          </a:p>
          <a:p>
            <a:pPr marL="0" indent="0">
              <a:buNone/>
            </a:pPr>
            <a:endParaRPr lang="en-US" altLang="ja-JP" sz="3200" b="1" dirty="0"/>
          </a:p>
          <a:p>
            <a:pPr marL="0" indent="0">
              <a:buNone/>
            </a:pPr>
            <a:endParaRPr lang="en-US" altLang="ja-JP" sz="3200" b="1" dirty="0"/>
          </a:p>
          <a:p>
            <a:pPr marL="0" indent="0">
              <a:buNone/>
            </a:pPr>
            <a:endParaRPr lang="en-US" altLang="ja-JP" sz="3200" b="1" dirty="0"/>
          </a:p>
          <a:p>
            <a:pPr marL="0" indent="0">
              <a:buNone/>
            </a:pPr>
            <a:endParaRPr lang="en-US" altLang="ja-JP" sz="3200" b="1" dirty="0"/>
          </a:p>
          <a:p>
            <a:pPr marL="0" indent="0">
              <a:buNone/>
            </a:pPr>
            <a:endParaRPr lang="ja-JP" altLang="en-US" sz="3200" b="1" dirty="0"/>
          </a:p>
        </p:txBody>
      </p:sp>
      <p:sp>
        <p:nvSpPr>
          <p:cNvPr id="2" name="Rectangle 1">
            <a:extLst>
              <a:ext uri="{FF2B5EF4-FFF2-40B4-BE49-F238E27FC236}">
                <a16:creationId xmlns:a16="http://schemas.microsoft.com/office/drawing/2014/main" id="{2D919B56-D003-27C9-4B96-D9D0E3BE7BE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FA948427-3A91-A1A5-197E-77BB40A0642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事例から考える</a:t>
            </a:r>
          </a:p>
        </p:txBody>
      </p:sp>
    </p:spTree>
    <p:extLst>
      <p:ext uri="{BB962C8B-B14F-4D97-AF65-F5344CB8AC3E}">
        <p14:creationId xmlns:p14="http://schemas.microsoft.com/office/powerpoint/2010/main" val="608790962"/>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endParaRPr sz="2400" b="1" dirty="0">
              <a:solidFill>
                <a:srgbClr val="EB6C15"/>
              </a:solidFill>
              <a:latin typeface="メイリオ"/>
            </a:endParaRPr>
          </a:p>
          <a:p>
            <a:pPr algn="l">
              <a:lnSpc>
                <a:spcPct val="130000"/>
              </a:lnSpc>
            </a:pP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a:t>
            </a:r>
            <a:r>
              <a:rPr sz="1800" b="1" dirty="0">
                <a:solidFill>
                  <a:srgbClr val="404040"/>
                </a:solidFill>
                <a:latin typeface="メイリオ"/>
                <a:ea typeface="メイリオ"/>
                <a:cs typeface="メイリオ"/>
              </a:rPr>
              <a:t>」</a:t>
            </a: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000" b="1">
                <a:solidFill>
                  <a:srgbClr val="000000"/>
                </a:solidFill>
                <a:latin typeface="メイリオ"/>
                <a:ea typeface="メイリオ"/>
                <a:cs typeface="メイリオ"/>
              </a:rPr>
              <a:t>誰が評価しても</a:t>
            </a:r>
          </a:p>
          <a:p>
            <a:pPr algn="l">
              <a:lnSpc>
                <a:spcPct val="130000"/>
              </a:lnSpc>
            </a:pPr>
            <a:r>
              <a:rPr sz="2000" b="1">
                <a:solidFill>
                  <a:srgbClr val="000000"/>
                </a:solidFill>
                <a:latin typeface="メイリオ"/>
                <a:ea typeface="メイリオ"/>
                <a:cs typeface="メイリオ"/>
              </a:rPr>
              <a:t>　</a:t>
            </a:r>
            <a:r>
              <a:rPr sz="2400" b="1">
                <a:solidFill>
                  <a:srgbClr val="EB6C15"/>
                </a:solidFill>
                <a:latin typeface="メイリオ"/>
                <a:ea typeface="メイリオ"/>
                <a:cs typeface="メイリオ"/>
              </a:rPr>
              <a:t>同じ結果になる</a:t>
            </a:r>
          </a:p>
          <a:p>
            <a:pPr algn="l">
              <a:lnSpc>
                <a:spcPct val="130000"/>
              </a:lnSpc>
            </a:pPr>
            <a:r>
              <a:rPr sz="2000" b="1">
                <a:solidFill>
                  <a:srgbClr val="000000"/>
                </a:solidFill>
                <a:latin typeface="メイリオ"/>
                <a:ea typeface="メイリオ"/>
                <a:cs typeface="メイリオ"/>
              </a:rPr>
              <a:t>こと</a:t>
            </a:r>
          </a:p>
          <a:p>
            <a:pPr algn="l">
              <a:lnSpc>
                <a:spcPct val="130000"/>
              </a:lnSpc>
            </a:pPr>
            <a:endParaRPr sz="20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（教師の主観だけに</a:t>
            </a:r>
          </a:p>
          <a:p>
            <a:pPr algn="l">
              <a:lnSpc>
                <a:spcPct val="130000"/>
              </a:lnSpc>
            </a:pPr>
            <a:r>
              <a:rPr sz="1800" b="1">
                <a:solidFill>
                  <a:srgbClr val="404040"/>
                </a:solidFill>
                <a:latin typeface="メイリオ"/>
                <a:ea typeface="メイリオ"/>
                <a:cs typeface="メイリオ"/>
              </a:rPr>
              <a:t>　 流されない）</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l"/>
            <a:r>
              <a:rPr sz="1300">
                <a:solidFill>
                  <a:srgbClr val="404040"/>
                </a:solidFill>
                <a:latin typeface="メイリオ"/>
                <a:ea typeface="メイリオ"/>
                <a:cs typeface="メイリオ"/>
              </a:rPr>
              <a:t>出典：令和２年９月 東京都教育委員会「指導と評価の一体化を目指して」</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教科会で揃える3つ（ばらつき対策）</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Bの姿</a:t>
            </a:r>
          </a:p>
          <a:p>
            <a:pPr algn="l">
              <a:lnSpc>
                <a:spcPct val="120000"/>
              </a:lnSpc>
            </a:pPr>
            <a:r>
              <a:rPr sz="2000" b="1">
                <a:solidFill>
                  <a:srgbClr val="1F3A6E"/>
                </a:solidFill>
                <a:latin typeface="メイリオ"/>
                <a:ea typeface="メイリオ"/>
                <a:cs typeface="メイリオ"/>
              </a:rPr>
              <a:t>観点別評価で「B」と判断する具体的な姿</a:t>
            </a: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出典：東京都教育委員会「指導と評価の一体化を目指して」</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単元計画に「記録」欄を1列足す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8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「いつ／何で／どう見取るか」を可視化</a:t>
            </a:r>
          </a:p>
        </p:txBody>
      </p:sp>
      <p:sp>
        <p:nvSpPr>
          <p:cNvPr id="7" name="Rectangle 6"/>
          <p:cNvSpPr/>
          <p:nvPr/>
        </p:nvSpPr>
        <p:spPr>
          <a:xfrm>
            <a:off x="400000" y="2900000"/>
            <a:ext cx="1100000" cy="600000"/>
          </a:xfrm>
          <a:prstGeom prst="rect">
            <a:avLst/>
          </a:prstGeom>
          <a:solidFill>
            <a:srgbClr val="2A96C2"/>
          </a:solidFill>
          <a:ln w="1905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200" b="1">
                <a:solidFill>
                  <a:srgbClr val="FFFFFF"/>
                </a:solidFill>
                <a:latin typeface="メイリオ"/>
                <a:ea typeface="メイリオ"/>
                <a:cs typeface="メイリオ"/>
              </a:rPr>
              <a:t>時</a:t>
            </a:r>
          </a:p>
        </p:txBody>
      </p:sp>
      <p:sp>
        <p:nvSpPr>
          <p:cNvPr id="8" name="Rectangle 7"/>
          <p:cNvSpPr/>
          <p:nvPr/>
        </p:nvSpPr>
        <p:spPr>
          <a:xfrm>
            <a:off x="1500000" y="2900000"/>
            <a:ext cx="4500000" cy="600000"/>
          </a:xfrm>
          <a:prstGeom prst="rect">
            <a:avLst/>
          </a:prstGeom>
          <a:solidFill>
            <a:srgbClr val="2A96C2"/>
          </a:solidFill>
          <a:ln w="1905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200" b="1">
                <a:solidFill>
                  <a:srgbClr val="FFFFFF"/>
                </a:solidFill>
                <a:latin typeface="メイリオ"/>
                <a:ea typeface="メイリオ"/>
                <a:cs typeface="メイリオ"/>
              </a:rPr>
              <a:t>学習内容</a:t>
            </a:r>
          </a:p>
        </p:txBody>
      </p:sp>
      <p:sp>
        <p:nvSpPr>
          <p:cNvPr id="9" name="Rectangle 8"/>
          <p:cNvSpPr/>
          <p:nvPr/>
        </p:nvSpPr>
        <p:spPr>
          <a:xfrm>
            <a:off x="6000000" y="2900000"/>
            <a:ext cx="2000000" cy="600000"/>
          </a:xfrm>
          <a:prstGeom prst="rect">
            <a:avLst/>
          </a:prstGeom>
          <a:solidFill>
            <a:srgbClr val="2A96C2"/>
          </a:solidFill>
          <a:ln w="1905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200" b="1">
                <a:solidFill>
                  <a:srgbClr val="FFFFFF"/>
                </a:solidFill>
                <a:latin typeface="メイリオ"/>
                <a:ea typeface="メイリオ"/>
                <a:cs typeface="メイリオ"/>
              </a:rPr>
              <a:t>観点</a:t>
            </a:r>
          </a:p>
        </p:txBody>
      </p:sp>
      <p:sp>
        <p:nvSpPr>
          <p:cNvPr id="10" name="Rectangle 9"/>
          <p:cNvSpPr/>
          <p:nvPr/>
        </p:nvSpPr>
        <p:spPr>
          <a:xfrm>
            <a:off x="8000000" y="2900000"/>
            <a:ext cx="3800000" cy="600000"/>
          </a:xfrm>
          <a:prstGeom prst="rect">
            <a:avLst/>
          </a:prstGeom>
          <a:solidFill>
            <a:srgbClr val="2A96C2"/>
          </a:solidFill>
          <a:ln w="1905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200" b="1">
                <a:solidFill>
                  <a:srgbClr val="FFFFFF"/>
                </a:solidFill>
                <a:latin typeface="メイリオ"/>
                <a:ea typeface="メイリオ"/>
                <a:cs typeface="メイリオ"/>
              </a:rPr>
              <a:t>評価方法・場面</a:t>
            </a:r>
          </a:p>
        </p:txBody>
      </p:sp>
      <p:sp>
        <p:nvSpPr>
          <p:cNvPr id="11" name="Rectangle 10"/>
          <p:cNvSpPr/>
          <p:nvPr/>
        </p:nvSpPr>
        <p:spPr>
          <a:xfrm>
            <a:off x="400000" y="3550000"/>
            <a:ext cx="11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3-4</a:t>
            </a:r>
          </a:p>
        </p:txBody>
      </p:sp>
      <p:sp>
        <p:nvSpPr>
          <p:cNvPr id="12" name="Rectangle 11"/>
          <p:cNvSpPr/>
          <p:nvPr/>
        </p:nvSpPr>
        <p:spPr>
          <a:xfrm>
            <a:off x="1500000" y="3550000"/>
            <a:ext cx="45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気付きの記述</a:t>
            </a:r>
          </a:p>
        </p:txBody>
      </p:sp>
      <p:sp>
        <p:nvSpPr>
          <p:cNvPr id="13" name="Rectangle 12"/>
          <p:cNvSpPr/>
          <p:nvPr/>
        </p:nvSpPr>
        <p:spPr>
          <a:xfrm>
            <a:off x="6000000" y="3550000"/>
            <a:ext cx="20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態度</a:t>
            </a:r>
          </a:p>
        </p:txBody>
      </p:sp>
      <p:sp>
        <p:nvSpPr>
          <p:cNvPr id="14" name="Rectangle 13"/>
          <p:cNvSpPr/>
          <p:nvPr/>
        </p:nvSpPr>
        <p:spPr>
          <a:xfrm>
            <a:off x="8000000" y="3550000"/>
            <a:ext cx="38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学習シート</a:t>
            </a:r>
          </a:p>
        </p:txBody>
      </p:sp>
      <p:sp>
        <p:nvSpPr>
          <p:cNvPr id="15" name="Rectangle 14"/>
          <p:cNvSpPr/>
          <p:nvPr/>
        </p:nvSpPr>
        <p:spPr>
          <a:xfrm>
            <a:off x="400000" y="4280000"/>
            <a:ext cx="11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7</a:t>
            </a:r>
          </a:p>
        </p:txBody>
      </p:sp>
      <p:sp>
        <p:nvSpPr>
          <p:cNvPr id="16" name="Rectangle 15"/>
          <p:cNvSpPr/>
          <p:nvPr/>
        </p:nvSpPr>
        <p:spPr>
          <a:xfrm>
            <a:off x="1500000" y="4280000"/>
            <a:ext cx="45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ペーパーテスト</a:t>
            </a:r>
          </a:p>
        </p:txBody>
      </p:sp>
      <p:sp>
        <p:nvSpPr>
          <p:cNvPr id="17" name="Rectangle 16"/>
          <p:cNvSpPr/>
          <p:nvPr/>
        </p:nvSpPr>
        <p:spPr>
          <a:xfrm>
            <a:off x="6000000" y="4280000"/>
            <a:ext cx="20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知技</a:t>
            </a:r>
          </a:p>
        </p:txBody>
      </p:sp>
      <p:sp>
        <p:nvSpPr>
          <p:cNvPr id="18" name="Rectangle 17"/>
          <p:cNvSpPr/>
          <p:nvPr/>
        </p:nvSpPr>
        <p:spPr>
          <a:xfrm>
            <a:off x="8000000" y="4280000"/>
            <a:ext cx="3800000" cy="700000"/>
          </a:xfrm>
          <a:prstGeom prst="rect">
            <a:avLst/>
          </a:prstGeom>
          <a:solidFill>
            <a:srgbClr val="FFFFFF"/>
          </a:solidFill>
          <a:ln w="190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小テスト</a:t>
            </a:r>
          </a:p>
        </p:txBody>
      </p:sp>
      <p:sp>
        <p:nvSpPr>
          <p:cNvPr id="19" name="Rectangle 18"/>
          <p:cNvSpPr/>
          <p:nvPr/>
        </p:nvSpPr>
        <p:spPr>
          <a:xfrm>
            <a:off x="400000" y="5550000"/>
            <a:ext cx="11400000" cy="64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全部記録しなくていい ─ 単元の節目で1観点ずつ</a:t>
            </a:r>
          </a:p>
        </p:txBody>
      </p:sp>
      <p:sp>
        <p:nvSpPr>
          <p:cNvPr id="20" name="TextBox 19"/>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出典：国立教育政策研究所「指導と評価の一体化のための参考資料」より作成</a:t>
            </a:r>
            <a:endParaRPr sz="1300" dirty="0">
              <a:solidFill>
                <a:srgbClr val="404040"/>
              </a:solidFill>
              <a:latin typeface="メイリオ"/>
            </a:endParaRPr>
          </a:p>
        </p:txBody>
      </p:sp>
      <p:sp>
        <p:nvSpPr>
          <p:cNvPr id="21" name="Rectangle 1">
            <a:extLst>
              <a:ext uri="{FF2B5EF4-FFF2-40B4-BE49-F238E27FC236}">
                <a16:creationId xmlns:a16="http://schemas.microsoft.com/office/drawing/2014/main" id="{D5BBD2B6-7E25-3B77-0811-9CEE2D71C9A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3000" b="1" dirty="0" err="1">
                <a:solidFill>
                  <a:srgbClr val="FFFFFF"/>
                </a:solidFill>
                <a:latin typeface="メイリオ"/>
                <a:ea typeface="メイリオ"/>
                <a:cs typeface="メイリオ"/>
              </a:rPr>
              <a:t>まとめ</a:t>
            </a:r>
            <a:endParaRPr sz="3000" b="1" dirty="0">
              <a:solidFill>
                <a:srgbClr val="FFFFFF"/>
              </a:solidFill>
              <a:latin typeface="メイリオ"/>
            </a:endParaRP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明日からできること ── 1つ選んでください</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8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1F3A6E"/>
                </a:solidFill>
                <a:latin typeface="メイリオ"/>
                <a:ea typeface="メイリオ"/>
                <a:cs typeface="メイリオ"/>
              </a:rPr>
              <a:t>□ 次の単元の指導計画に「記録」欄を1列足す</a:t>
            </a:r>
          </a:p>
        </p:txBody>
      </p:sp>
      <p:sp>
        <p:nvSpPr>
          <p:cNvPr id="7" name="Rectangle 6"/>
          <p:cNvSpPr/>
          <p:nvPr/>
        </p:nvSpPr>
        <p:spPr>
          <a:xfrm>
            <a:off x="400000" y="2870000"/>
            <a:ext cx="11400000" cy="8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1F3A6E"/>
                </a:solidFill>
                <a:latin typeface="メイリオ"/>
                <a:ea typeface="メイリオ"/>
                <a:cs typeface="メイリオ"/>
              </a:rPr>
              <a:t>□ 教科会で「Bの姿」を1つ言語化して揃える</a:t>
            </a:r>
          </a:p>
        </p:txBody>
      </p:sp>
      <p:sp>
        <p:nvSpPr>
          <p:cNvPr id="8" name="Rectangle 7"/>
          <p:cNvSpPr/>
          <p:nvPr/>
        </p:nvSpPr>
        <p:spPr>
          <a:xfrm>
            <a:off x="400000" y="3840000"/>
            <a:ext cx="11400000" cy="8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1F3A6E"/>
                </a:solidFill>
                <a:latin typeface="メイリオ"/>
                <a:ea typeface="メイリオ"/>
                <a:cs typeface="メイリオ"/>
              </a:rPr>
              <a:t>□ 評価の工夫（行動観察・発問・自己評価）から1つ選んで授業に入れる</a:t>
            </a:r>
          </a:p>
        </p:txBody>
      </p:sp>
      <p:sp>
        <p:nvSpPr>
          <p:cNvPr id="9" name="Rectangle 8"/>
          <p:cNvSpPr/>
          <p:nvPr/>
        </p:nvSpPr>
        <p:spPr>
          <a:xfrm>
            <a:off x="400000" y="4810000"/>
            <a:ext cx="11400000" cy="8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1F3A6E"/>
                </a:solidFill>
                <a:latin typeface="メイリオ"/>
                <a:ea typeface="メイリオ"/>
                <a:cs typeface="メイリオ"/>
              </a:rPr>
              <a:t>□ 振り返りシート／自己評価の機会を1回入れる</a:t>
            </a:r>
          </a:p>
        </p:txBody>
      </p:sp>
      <p:sp>
        <p:nvSpPr>
          <p:cNvPr id="10" name="Rectangle 9"/>
          <p:cNvSpPr/>
          <p:nvPr/>
        </p:nvSpPr>
        <p:spPr>
          <a:xfrm>
            <a:off x="400000" y="5800000"/>
            <a:ext cx="11400000" cy="50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77500" lnSpcReduction="20000"/>
          </a:bodyPr>
          <a:lstStyle/>
          <a:p>
            <a:pPr algn="ctr">
              <a:lnSpc>
                <a:spcPct val="14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グループ化 6"/>
          <p:cNvGrpSpPr/>
          <p:nvPr/>
        </p:nvGrpSpPr>
        <p:grpSpPr>
          <a:xfrm>
            <a:off x="888647" y="360617"/>
            <a:ext cx="10400764" cy="373487"/>
            <a:chOff x="888641" y="360609"/>
            <a:chExt cx="10400764" cy="373486"/>
          </a:xfrm>
        </p:grpSpPr>
        <p:cxnSp>
          <p:nvCxnSpPr>
            <p:cNvPr id="8" name="直線コネクタ 7"/>
            <p:cNvCxnSpPr/>
            <p:nvPr/>
          </p:nvCxnSpPr>
          <p:spPr>
            <a:xfrm>
              <a:off x="888642" y="734095"/>
              <a:ext cx="10400763" cy="0"/>
            </a:xfrm>
            <a:prstGeom prst="line">
              <a:avLst/>
            </a:prstGeom>
            <a:ln w="38100"/>
          </p:spPr>
          <p:style>
            <a:lnRef idx="1">
              <a:schemeClr val="dk1"/>
            </a:lnRef>
            <a:fillRef idx="0">
              <a:schemeClr val="dk1"/>
            </a:fillRef>
            <a:effectRef idx="0">
              <a:schemeClr val="dk1"/>
            </a:effectRef>
            <a:fontRef idx="minor">
              <a:schemeClr val="tx1"/>
            </a:fontRef>
          </p:style>
        </p:cxnSp>
        <p:sp>
          <p:nvSpPr>
            <p:cNvPr id="9" name="正方形/長方形 8"/>
            <p:cNvSpPr/>
            <p:nvPr/>
          </p:nvSpPr>
          <p:spPr>
            <a:xfrm>
              <a:off x="888641" y="360609"/>
              <a:ext cx="5676923" cy="2967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b="1" dirty="0">
                  <a:solidFill>
                    <a:schemeClr val="tx1"/>
                  </a:solidFill>
                  <a:latin typeface="メイリオ"/>
                  <a:ea typeface="メイリオ"/>
                  <a:cs typeface="メイリオ"/>
                </a:rPr>
                <a:t>参考資料</a:t>
              </a:r>
              <a:endParaRPr lang="en-US" altLang="ja-JP" b="1" dirty="0">
                <a:solidFill>
                  <a:schemeClr val="tx1"/>
                </a:solidFill>
              </a:endParaRPr>
            </a:p>
          </p:txBody>
        </p:sp>
      </p:grpSp>
      <p:sp>
        <p:nvSpPr>
          <p:cNvPr id="45" name="コンテンツ プレースホルダー 2"/>
          <p:cNvSpPr>
            <a:spLocks noGrp="1"/>
          </p:cNvSpPr>
          <p:nvPr>
            <p:ph idx="1"/>
          </p:nvPr>
        </p:nvSpPr>
        <p:spPr>
          <a:xfrm>
            <a:off x="888647" y="1040431"/>
            <a:ext cx="10400764" cy="1545407"/>
          </a:xfrm>
        </p:spPr>
        <p:txBody>
          <a:bodyPr>
            <a:normAutofit/>
          </a:bodyPr>
          <a:lstStyle/>
          <a:p>
            <a:pPr marL="0" indent="0">
              <a:buNone/>
            </a:pPr>
            <a:r>
              <a:rPr lang="ja-JP" altLang="en-US" b="1" dirty="0">
                <a:latin typeface="メイリオ"/>
                <a:ea typeface="メイリオ"/>
                <a:cs typeface="メイリオ"/>
              </a:rPr>
              <a:t>●「子供たちに未来の創り手となるために必要な資質・能力を</a:t>
            </a:r>
            <a:endParaRPr lang="en-US" altLang="ja-JP" b="1" dirty="0"/>
          </a:p>
          <a:p>
            <a:pPr marL="0" indent="0">
              <a:buNone/>
            </a:pPr>
            <a:r>
              <a:rPr lang="ja-JP" altLang="en-US" b="1" dirty="0">
                <a:latin typeface="メイリオ"/>
                <a:ea typeface="メイリオ"/>
                <a:cs typeface="メイリオ"/>
              </a:rPr>
              <a:t>　　育む指導と評価の一体化を目指して」</a:t>
            </a:r>
            <a:r>
              <a:rPr lang="en-US" altLang="ja-JP" b="1" dirty="0">
                <a:latin typeface="メイリオ"/>
                <a:ea typeface="メイリオ"/>
                <a:cs typeface="メイリオ"/>
              </a:rPr>
              <a:t>Ⅰ</a:t>
            </a:r>
            <a:r>
              <a:rPr lang="ja-JP" altLang="en-US" b="1" dirty="0">
                <a:latin typeface="メイリオ"/>
                <a:ea typeface="メイリオ"/>
                <a:cs typeface="メイリオ"/>
              </a:rPr>
              <a:t>理論編　</a:t>
            </a:r>
            <a:r>
              <a:rPr lang="en-US" altLang="ja-JP" b="1" dirty="0">
                <a:latin typeface="メイリオ"/>
                <a:ea typeface="メイリオ"/>
                <a:cs typeface="メイリオ"/>
              </a:rPr>
              <a:t>Ⅱ</a:t>
            </a:r>
            <a:r>
              <a:rPr lang="ja-JP" altLang="en-US" b="1" dirty="0">
                <a:latin typeface="メイリオ"/>
                <a:ea typeface="メイリオ"/>
                <a:cs typeface="メイリオ"/>
              </a:rPr>
              <a:t>実践編</a:t>
            </a:r>
            <a:endParaRPr lang="en-US" altLang="ja-JP" b="1" dirty="0"/>
          </a:p>
          <a:p>
            <a:pPr marL="0" indent="0">
              <a:buNone/>
            </a:pPr>
            <a:r>
              <a:rPr lang="ja-JP" altLang="en-US" b="1" dirty="0">
                <a:latin typeface="メイリオ"/>
                <a:ea typeface="メイリオ"/>
                <a:cs typeface="メイリオ"/>
              </a:rPr>
              <a:t>　　　　　　　　　　　　　　　　東京都教育委員会作成資料</a:t>
            </a:r>
            <a:endParaRPr lang="en-US" altLang="ja-JP" b="1" dirty="0"/>
          </a:p>
          <a:p>
            <a:pPr marL="0" indent="0">
              <a:buNone/>
            </a:pPr>
            <a:endParaRPr lang="en-US" altLang="ja-JP" sz="3600" b="1" dirty="0"/>
          </a:p>
          <a:p>
            <a:pPr marL="0" indent="0">
              <a:buNone/>
            </a:pPr>
            <a:endParaRPr lang="ja-JP" altLang="en-US" sz="3600" b="1" dirty="0"/>
          </a:p>
        </p:txBody>
      </p:sp>
      <p:sp>
        <p:nvSpPr>
          <p:cNvPr id="46" name="コンテンツ プレースホルダー 2"/>
          <p:cNvSpPr txBox="1">
            <a:spLocks/>
          </p:cNvSpPr>
          <p:nvPr/>
        </p:nvSpPr>
        <p:spPr>
          <a:xfrm>
            <a:off x="888647" y="2650234"/>
            <a:ext cx="10400764" cy="121919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●学習評価の在り方ハンドブック</a:t>
            </a:r>
          </a:p>
          <a:p>
            <a:pPr marL="0" indent="0">
              <a:buNone/>
            </a:pPr>
            <a:r>
              <a:rPr lang="ja-JP" altLang="en-US" b="1" dirty="0">
                <a:latin typeface="メイリオ"/>
                <a:ea typeface="メイリオ"/>
                <a:cs typeface="メイリオ"/>
              </a:rPr>
              <a:t>　　　文部科学省　国立教育政策研究所教育課程研究センター</a:t>
            </a:r>
          </a:p>
          <a:p>
            <a:pPr marL="0" indent="0">
              <a:buNone/>
            </a:pPr>
            <a:endParaRPr lang="ja-JP" altLang="en-US" b="1" dirty="0"/>
          </a:p>
        </p:txBody>
      </p:sp>
      <p:sp>
        <p:nvSpPr>
          <p:cNvPr id="47" name="コンテンツ プレースホルダー 2"/>
          <p:cNvSpPr txBox="1">
            <a:spLocks/>
          </p:cNvSpPr>
          <p:nvPr/>
        </p:nvSpPr>
        <p:spPr>
          <a:xfrm>
            <a:off x="888645" y="4073486"/>
            <a:ext cx="10635699" cy="1219199"/>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●「指導と評価の一体化」のための学習評価に関する参考資料</a:t>
            </a:r>
            <a:endParaRPr lang="en-US" altLang="ja-JP" b="1" dirty="0"/>
          </a:p>
          <a:p>
            <a:pPr marL="0" indent="0">
              <a:buNone/>
            </a:pPr>
            <a:r>
              <a:rPr lang="ja-JP" altLang="en-US" b="1" dirty="0">
                <a:latin typeface="メイリオ"/>
                <a:ea typeface="メイリオ"/>
                <a:cs typeface="メイリオ"/>
              </a:rPr>
              <a:t>　　　文部科学省　国立教育政策研究所教育課程研究センター</a:t>
            </a:r>
          </a:p>
          <a:p>
            <a:pPr marL="0" indent="0">
              <a:buNone/>
            </a:pPr>
            <a:endParaRPr lang="ja-JP" altLang="en-US" sz="3200" b="1" dirty="0"/>
          </a:p>
        </p:txBody>
      </p:sp>
      <p:sp>
        <p:nvSpPr>
          <p:cNvPr id="2" name="コンテンツ プレースホルダー 2">
            <a:extLst>
              <a:ext uri="{FF2B5EF4-FFF2-40B4-BE49-F238E27FC236}">
                <a16:creationId xmlns:a16="http://schemas.microsoft.com/office/drawing/2014/main" id="{9FDC9BD8-7EBE-54BA-2DD0-907608991ECC}"/>
              </a:ext>
            </a:extLst>
          </p:cNvPr>
          <p:cNvSpPr txBox="1">
            <a:spLocks/>
          </p:cNvSpPr>
          <p:nvPr/>
        </p:nvSpPr>
        <p:spPr>
          <a:xfrm>
            <a:off x="932757" y="5185804"/>
            <a:ext cx="10635699" cy="1219199"/>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solidFill>
                  <a:schemeClr val="bg1"/>
                </a:solidFill>
                <a:latin typeface="メイリオ"/>
                <a:ea typeface="メイリオ"/>
                <a:cs typeface="メイリオ"/>
              </a:rPr>
              <a:t>●特別支援学校小学部・中学部　学習評価参考資料 </a:t>
            </a:r>
            <a:endParaRPr lang="en-US" altLang="ja-JP" b="1" dirty="0">
              <a:solidFill>
                <a:schemeClr val="bg1"/>
              </a:solidFill>
            </a:endParaRPr>
          </a:p>
          <a:p>
            <a:pPr marL="0" indent="0">
              <a:buNone/>
            </a:pPr>
            <a:r>
              <a:rPr lang="ja-JP" altLang="en-US" b="1" dirty="0">
                <a:solidFill>
                  <a:schemeClr val="bg1"/>
                </a:solidFill>
                <a:latin typeface="メイリオ"/>
                <a:ea typeface="メイリオ"/>
                <a:cs typeface="メイリオ"/>
              </a:rPr>
              <a:t>　　　文部科学省</a:t>
            </a:r>
          </a:p>
          <a:p>
            <a:pPr marL="0" indent="0">
              <a:buNone/>
            </a:pPr>
            <a:endParaRPr lang="ja-JP" altLang="en-US" sz="3200" b="1" dirty="0"/>
          </a:p>
        </p:txBody>
      </p:sp>
    </p:spTree>
    <p:extLst>
      <p:ext uri="{BB962C8B-B14F-4D97-AF65-F5344CB8AC3E}">
        <p14:creationId xmlns:p14="http://schemas.microsoft.com/office/powerpoint/2010/main" val="1829974466"/>
      </p:ext>
    </p:extLst>
  </p:cSld>
  <p:clrMapOvr>
    <a:masterClrMapping/>
  </p:clrMapOvr>
  <p:transition spd="slow">
    <p:cover/>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「指導と評価の一体化」とは ─ 本研修の土台</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5000"/>
              </a:lnSpc>
            </a:pPr>
            <a:r>
              <a:rPr sz="2200" b="1">
                <a:solidFill>
                  <a:srgbClr val="EB6C15"/>
                </a:solidFill>
                <a:latin typeface="メイリオ"/>
                <a:ea typeface="メイリオ"/>
                <a:cs typeface="メイリオ"/>
              </a:rPr>
              <a:t>「正当な評価」</a:t>
            </a:r>
            <a:r>
              <a:rPr sz="2000" b="1">
                <a:solidFill>
                  <a:srgbClr val="000000"/>
                </a:solidFill>
                <a:latin typeface="メイリオ"/>
                <a:ea typeface="メイリオ"/>
                <a:cs typeface="メイリオ"/>
              </a:rPr>
              <a:t>のために授業と評価を一体で設計し、</a:t>
            </a:r>
            <a:r>
              <a:rPr sz="2200" b="1">
                <a:solidFill>
                  <a:srgbClr val="EB6C15"/>
                </a:solidFill>
                <a:latin typeface="メイリオ"/>
                <a:ea typeface="メイリオ"/>
                <a:cs typeface="メイリオ"/>
              </a:rPr>
              <a:t>「授業改善につながる評価」</a:t>
            </a:r>
            <a:r>
              <a:rPr sz="2000" b="1">
                <a:solidFill>
                  <a:srgbClr val="000000"/>
                </a:solidFill>
                <a:latin typeface="メイリオ"/>
                <a:ea typeface="メイリオ"/>
                <a:cs typeface="メイリオ"/>
              </a:rPr>
              <a:t>にする</a:t>
            </a:r>
          </a:p>
          <a:p>
            <a:pPr algn="ctr">
              <a:lnSpc>
                <a:spcPct val="135000"/>
              </a:lnSpc>
            </a:pPr>
            <a:r>
              <a:rPr sz="1800" b="1">
                <a:solidFill>
                  <a:srgbClr val="000000"/>
                </a:solidFill>
                <a:latin typeface="メイリオ"/>
                <a:ea typeface="メイリオ"/>
                <a:cs typeface="メイリオ"/>
              </a:rPr>
              <a:t>本研修は</a:t>
            </a:r>
            <a:r>
              <a:rPr sz="2000" b="1">
                <a:solidFill>
                  <a:srgbClr val="1F3A6E"/>
                </a:solidFill>
                <a:latin typeface="メイリオ"/>
                <a:ea typeface="メイリオ"/>
                <a:cs typeface="メイリオ"/>
              </a:rPr>
              <a:t>3観点すべて</a:t>
            </a:r>
            <a:r>
              <a:rPr sz="1800" b="1">
                <a:solidFill>
                  <a:srgbClr val="000000"/>
                </a:solidFill>
                <a:latin typeface="メイリオ"/>
                <a:ea typeface="メイリオ"/>
                <a:cs typeface="メイリオ"/>
              </a:rPr>
              <a:t>を対象とし、特に見取りが難しい</a:t>
            </a:r>
            <a:r>
              <a:rPr sz="2000" b="1">
                <a:solidFill>
                  <a:srgbClr val="1F3A6E"/>
                </a:solidFill>
                <a:latin typeface="メイリオ"/>
                <a:ea typeface="メイリオ"/>
                <a:cs typeface="メイリオ"/>
              </a:rPr>
              <a:t>「主体的に学習に取り組む態度」を重点</a:t>
            </a:r>
            <a:r>
              <a:rPr sz="1800" b="1">
                <a:solidFill>
                  <a:srgbClr val="000000"/>
                </a:solidFill>
                <a:latin typeface="メイリオ"/>
                <a:ea typeface="メイリオ"/>
                <a:cs typeface="メイリオ"/>
              </a:rPr>
              <a:t>的に扱う</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評価には2つの役割：</a:t>
            </a:r>
            <a:r>
              <a:rPr sz="1900" b="1">
                <a:solidFill>
                  <a:srgbClr val="404040"/>
                </a:solidFill>
                <a:latin typeface="メイリオ"/>
                <a:ea typeface="メイリオ"/>
                <a:cs typeface="メイリオ"/>
              </a:rPr>
              <a:t>①記録・評定のため（総括的）</a:t>
            </a:r>
            <a:r>
              <a:rPr sz="1900" b="1">
                <a:solidFill>
                  <a:srgbClr val="000000"/>
                </a:solidFill>
                <a:latin typeface="メイリオ"/>
                <a:ea typeface="メイリオ"/>
                <a:cs typeface="メイリオ"/>
              </a:rPr>
              <a:t>　／　</a:t>
            </a:r>
            <a:r>
              <a:rPr sz="2000" b="1">
                <a:solidFill>
                  <a:srgbClr val="EB6C15"/>
                </a:solidFill>
                <a:latin typeface="メイリオ"/>
                <a:ea typeface="メイリオ"/>
                <a:cs typeface="メイリオ"/>
              </a:rPr>
              <a:t>②指導改善のため（形成的）</a:t>
            </a:r>
            <a:r>
              <a:rPr sz="1900" b="1">
                <a:solidFill>
                  <a:srgbClr val="C04040"/>
                </a:solidFill>
                <a:latin typeface="メイリオ"/>
                <a:ea typeface="メイリオ"/>
                <a:cs typeface="メイリオ"/>
              </a:rPr>
              <a:t>　← 校長が重視</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000000"/>
                </a:solidFill>
                <a:latin typeface="メイリオ"/>
                <a:ea typeface="メイリオ"/>
                <a:cs typeface="メイリオ"/>
              </a:rPr>
              <a:t>評価は</a:t>
            </a:r>
            <a:r>
              <a:rPr sz="2300" b="1">
                <a:solidFill>
                  <a:srgbClr val="EB6C15"/>
                </a:solidFill>
                <a:latin typeface="メイリオ"/>
                <a:ea typeface="メイリオ"/>
                <a:cs typeface="メイリオ"/>
              </a:rPr>
              <a:t>“つける”だけでなく“生かす”</a:t>
            </a:r>
            <a:r>
              <a:rPr sz="2100" b="1">
                <a:solidFill>
                  <a:srgbClr val="000000"/>
                </a:solidFill>
                <a:latin typeface="メイリオ"/>
                <a:ea typeface="メイリオ"/>
                <a:cs typeface="メイリオ"/>
              </a:rPr>
              <a:t>。これが校長の言う「授業改善につながる評価」</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100000" tIns="20000" bIns="20000">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rtlCol="0" anchor="ctr" wrap="square" lIns="300000" rIns="200000" tIns="20000" bIns="20000">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rtlCol="0" anchor="ctr" wrap="square" lIns="140000" rIns="140000" tIns="80000" bIns="80000">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1609</Words>
  <Application>Microsoft Office PowerPoint</Application>
  <PresentationFormat>ワイド画面</PresentationFormat>
  <Paragraphs>278</Paragraphs>
  <Slides>27</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27</vt:i4>
      </vt:variant>
    </vt:vector>
  </HeadingPairs>
  <TitlesOfParts>
    <vt:vector size="34" baseType="lpstr">
      <vt:lpstr>ＭＳ ゴシック</vt:lpstr>
      <vt:lpstr>UD デジタル 教科書体 NK-B</vt:lpstr>
      <vt:lpstr>メイリオ</vt:lpstr>
      <vt:lpstr>游ゴシック</vt:lpstr>
      <vt:lpstr>游ゴシック Light</vt:lpstr>
      <vt:lpstr>Arial</vt:lpstr>
      <vt:lpstr>Office テーマ</vt:lpstr>
      <vt:lpstr>『主体的に学習に取り組む態度』の評価</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紺多　章一郎</cp:lastModifiedBy>
  <cp:revision>13</cp:revision>
  <cp:lastPrinted>2023-06-08T03:11:23Z</cp:lastPrinted>
  <dcterms:modified xsi:type="dcterms:W3CDTF">2026-05-27T10:09:35Z</dcterms:modified>
</cp:coreProperties>
</file>