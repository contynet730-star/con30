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754" r:id="rId4"/>
    <p:sldMasterId id="2147483766" r:id="rId5"/>
  </p:sldMasterIdLst>
  <p:notesMasterIdLst>
    <p:notesMasterId r:id="rId13"/>
  </p:notesMasterIdLst>
  <p:sldIdLst>
    <p:sldId id="267" r:id="rId6"/>
    <p:sldId id="268" r:id="rId12"/>
    <p:sldId id="269" r:id="rId11"/>
    <p:sldId id="270" r:id="rId10"/>
    <p:sldId id="271" r:id="rId9"/>
    <p:sldId id="272" r:id="rId8"/>
  </p:sldIdLst>
  <p:sldSz cx="9144000" cy="5143500" type="screen16x9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3" userDrawn="1">
          <p15:clr>
            <a:srgbClr val="A4A3A4"/>
          </p15:clr>
        </p15:guide>
        <p15:guide id="2" pos="2903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408A347-A5D9-7F50-001B-8D70A7ED5806}" name="太田　実来" initials="太田　実来" userId="S::OOTA-M3M@city.nerima.tokyo.jp::a2cfc3ee-8c8b-4bc0-9371-52a63c6f0e7f" providerId="AD"/>
  <p188:author id="{49DA6057-59C2-0C20-3A01-E675D12AE0FA}" name="岡島　弘晃" initials="岡島　弘晃" userId="S::OKAZIMA-H4G@city.nerima.tokyo.jp::ff5459f7-6b5f-4284-a29a-daaeaa00465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F7E1"/>
    <a:srgbClr val="E8F7F9"/>
    <a:srgbClr val="FFFBC1"/>
    <a:srgbClr val="FBE3D6"/>
    <a:srgbClr val="FDF1FA"/>
    <a:srgbClr val="F9E7F7"/>
    <a:srgbClr val="EAF2FA"/>
    <a:srgbClr val="F4FCF2"/>
    <a:srgbClr val="F2F2F2"/>
    <a:srgbClr val="CFEE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921" autoAdjust="0"/>
  </p:normalViewPr>
  <p:slideViewPr>
    <p:cSldViewPr snapToGrid="0" showGuides="1">
      <p:cViewPr varScale="1">
        <p:scale>
          <a:sx n="131" d="100"/>
          <a:sy n="131" d="100"/>
        </p:scale>
        <p:origin x="1002" y="120"/>
      </p:cViewPr>
      <p:guideLst>
        <p:guide orient="horz" pos="1643"/>
        <p:guide pos="29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0521" y="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/>
          <a:lstStyle>
            <a:lvl1pPr algn="r">
              <a:defRPr sz="1200"/>
            </a:lvl1pPr>
          </a:lstStyle>
          <a:p>
            <a:fld id="{FBA4DB10-740F-463F-9A1F-41926601B892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39838"/>
            <a:ext cx="5956300" cy="33512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080" tIns="46040" rIns="92080" bIns="4604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127" y="4777304"/>
            <a:ext cx="5439421" cy="3908703"/>
          </a:xfrm>
          <a:prstGeom prst="rect">
            <a:avLst/>
          </a:prstGeom>
        </p:spPr>
        <p:txBody>
          <a:bodyPr vert="horz" lIns="92080" tIns="46040" rIns="92080" bIns="4604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2847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0521" y="942847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 anchor="b"/>
          <a:lstStyle>
            <a:lvl1pPr algn="r">
              <a:defRPr sz="1200"/>
            </a:lvl1pPr>
          </a:lstStyle>
          <a:p>
            <a:fld id="{CDFA013B-61E2-42C1-8F75-B9550158478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34560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1pPr>
    <a:lvl2pPr marL="244922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2pPr>
    <a:lvl3pPr marL="489844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3pPr>
    <a:lvl4pPr marL="734766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4pPr>
    <a:lvl5pPr marL="979688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5pPr>
    <a:lvl6pPr marL="1224610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6pPr>
    <a:lvl7pPr marL="1469532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7pPr>
    <a:lvl8pPr marL="1714454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8pPr>
    <a:lvl9pPr marL="1959376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3398"/>
            <a:ext cx="6858000" cy="1790700"/>
          </a:xfrm>
        </p:spPr>
        <p:txBody>
          <a:bodyPr anchor="b">
            <a:normAutofit/>
          </a:bodyPr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B14F79-5628-48FA-821B-753E290D4591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2965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5F27-F5A1-4A59-8E3D-25C2B34DC99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587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4317"/>
            <a:ext cx="7886700" cy="2138406"/>
          </a:xfrm>
        </p:spPr>
        <p:txBody>
          <a:bodyPr anchor="b">
            <a:normAutofit/>
          </a:bodyPr>
          <a:lstStyle>
            <a:lvl1pPr>
              <a:defRPr sz="45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14475"/>
            <a:ext cx="7886700" cy="1125140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B7FDA-78E1-46D5-A32C-8360FB779569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0866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3845" y="1371600"/>
            <a:ext cx="3886200" cy="32635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71600"/>
            <a:ext cx="3886200" cy="32635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3A143-CD97-4004-858F-EC0594FA2F40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5701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261388"/>
            <a:ext cx="3867150" cy="619274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45" y="1880663"/>
            <a:ext cx="3867150" cy="27603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1388"/>
            <a:ext cx="3886201" cy="619274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80663"/>
            <a:ext cx="3886201" cy="27603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3BD2-0AB7-4BF4-B4F9-8E68094F69EC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08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92F8F-A16B-492F-97C8-BB3B96F5C62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920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68C8B-E51E-49DB-A805-E15C25117D47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984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48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49"/>
            <a:ext cx="2948940" cy="28575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BC003-D688-45A1-B650-11FC068F229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896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50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50"/>
            <a:ext cx="2948940" cy="28575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110EC-B4F0-4960-B4FA-D7507E6B7BA1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5130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AD97-5EF7-4F79-B7C1-C95C4B90D7EB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9421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0271"/>
            <a:ext cx="1971675" cy="4358879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0272"/>
            <a:ext cx="5800725" cy="435887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9EF24-F27E-4EBB-BB80-8EEF912276D5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95538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B7C3FE-CB76-E0BC-BB59-0C719DFBA0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0C09C8C-0C19-63F1-31DC-59A5B561D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F8DF01-7302-FE62-ABB4-3197871AF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24583-19A6-4914-A85C-F2A7C15ED42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D4F3FE-9C4E-194F-FAA5-A9E75BE7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DF6C1E-CCBD-C030-14DF-CC53ADED5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28571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6D7A66-B458-2C1E-0190-C258796E5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BB5D699-285F-6CA9-E651-25264BC01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5A2823-9EDA-E741-6C47-C207277F0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11B94-566E-44AB-A63E-6A7A3A4DB8F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BEDCDB-4728-FDC9-7A8B-37C6E103A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0ADB7F-1B4C-1187-297C-D3DC44681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6091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D4893C-9F5B-A58A-122E-5688012AA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C33841-A2A1-A3E3-6FB7-1D372AD28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7D4811-1721-F76C-046A-39A9137BF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94838-6BA3-4635-BFC2-111AD9165D23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7438BF-F677-6358-0E9E-461312B7C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B75309-14D9-ADD8-B0C1-71A7AD05F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52347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8A6C6E-7C17-341A-F898-B325CBB87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896B12-B579-C39E-D99C-2EA1986CF5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0DBD557-7B65-B3BF-B556-7A25ED8C9D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8D3EF7A-8381-F3FF-7454-ECAD0CF6E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EAD87-8B80-4F9D-91FA-6CC935AFD9EE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8338CDD-8379-DB7A-0158-12C689E01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CA1398-3D66-9FDC-0D38-73397D2ED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114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E3A898-2564-AC6B-A2D0-7E20CFEAF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82D45B0-8B9C-7882-3709-D3FA9EBED2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6859361-76BC-2B06-62DE-91F107ABDD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DED88B6-465D-3B6D-415E-B53C242947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7F295E5-BB17-89F0-C785-A8638C55C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5904DCA-090F-D37C-45CF-FB1BD0AFA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C38F0-3071-4A69-B611-D28C85F40659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C1D50FE-BD29-5F06-FB04-8688C66F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77F9E67-AF28-768A-3764-3080D0910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45995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68ECA4-6D6D-4886-6380-ADD825010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F9BCE2B-F3FB-797B-EBD1-4307CBBD3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E7B6F-0EFB-4EB1-BE98-3FB672A2489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EBE7DF3-13B1-9CC8-B813-AFCCDDBE5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7308980-7049-CFB7-7019-B00B72B9F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6840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CA39B48-3314-ED01-FE13-2D9F37B5A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FD448-D864-4886-B10A-5FB9E611FC2E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E8381E2-B04B-BDD5-446D-E9287344A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61A312C-15C1-B056-8541-FAC4BEE84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6150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4984EA-3812-B720-F89C-5172D9D8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AD9070-9186-3AE2-B95C-88B7CCFE8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8538F73-BD1E-2DA9-4587-1033B63581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DA3ECDB-349A-84F1-110C-5D957A6DA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96501-E632-4803-A724-079D87F5B106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BEF44E-C2D6-2AC6-DB93-6DC4246FE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4778EDB-511D-45E3-F10C-DA18E9D71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517445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278FDB-AAB5-9D91-A3F4-5753EFF7C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E1BDC5B-5010-5848-40C4-0F687285C3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CBD0947-E1F0-46EB-C9B0-B31B8CA87E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86DB52-7599-2FF8-4210-FA5B1605A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4626C-E3B0-4C19-BB17-D9EE0BAFADBA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1565185-0360-344F-88C8-F2F7FDE42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4CAD155-C807-1402-4A54-D25D71A26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751863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3D22BD-4A24-17EC-9E55-D015FB484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C831E0C-56EE-46F1-DE59-BE1D53B7BF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A1690B-5C70-1DEB-44C5-829C7D92F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8995-9934-48A5-974A-007DC0491753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7F285E-A0AF-80E7-F2B4-7131F05A9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E45FD56-5318-9811-2D1C-1C27F96BF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33764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34BE060-C14B-2346-C3C9-FE30824D7C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7C3ABB6-789B-3CA6-2BD1-F9AA44FF44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7777A6-26C1-EA12-B82A-34E11EC5C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13326-301A-47E7-9521-464C74127CE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A0C8FE4-4FFD-E529-A8E4-48A3E6D6A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B16C92-BE1F-8484-55AF-1561B4555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4079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3845" y="274320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371600"/>
            <a:ext cx="788670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53C2EA3E-4F57-4079-ADA3-F428183E44D8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63145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8189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 2" pitchFamily="18" charset="2"/>
        <a:buChar char="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272E5D8-AD24-6018-E7B1-0D74FF8A1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A5EA9E-ABAB-AE58-4493-B01851C953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DE3DA8-B4A3-960B-2F44-90A7F7A6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28806B-D730-4555-8814-89E351BEA64C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90311B-9A52-D7D1-F85F-9525DE55B8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429EB8-4D49-81AC-5938-BE00C6BCCF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797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Triangle 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2501900"/>
            <a:ext cx="2468880" cy="2400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467456"/>
            <a:ext cx="8178790" cy="4205911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B181140-D393-47BA-C072-C5104D352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330" y="467456"/>
            <a:ext cx="6923558" cy="1148590"/>
          </a:xfrm>
          <a:noFill/>
        </p:spPr>
        <p:txBody>
          <a:bodyPr vert="horz" lIns="91440" tIns="45720" rIns="91440" bIns="45720" rtlCol="0" anchor="t">
            <a:normAutofit fontScale="90000"/>
          </a:bodyPr>
          <a:lstStyle/>
          <a:p>
            <a:pPr algn="ctr" defTabSz="914400"/>
            <a:br>
              <a:rPr lang="en-US" altLang="ja-JP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小中一貫教育（大泉桜学園）について</a:t>
            </a:r>
            <a:br>
              <a:rPr lang="en-US" altLang="ja-JP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endParaRPr lang="ja-JP" altLang="en-US" sz="3600" kern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EF22026-1010-05A2-60BA-65362F934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44020" y="4869656"/>
            <a:ext cx="2057400" cy="273844"/>
          </a:xfrm>
        </p:spPr>
        <p:txBody>
          <a:bodyPr/>
          <a:lstStyle/>
          <a:p>
            <a:fld id="{3F1BB9BB-BFB0-430A-9945-B5C50936C920}" type="slidenum">
              <a:rPr kumimoji="1" lang="ja-JP" altLang="en-US" smtClean="0"/>
              <a:t>0</a:t>
            </a:fld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0EBC7B-CD5F-10BF-6D0F-D6E7943C9BA7}"/>
              </a:ext>
            </a:extLst>
          </p:cNvPr>
          <p:cNvSpPr txBox="1"/>
          <p:nvPr/>
        </p:nvSpPr>
        <p:spPr>
          <a:xfrm>
            <a:off x="702723" y="4022340"/>
            <a:ext cx="3518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ja-JP" altLang="en-US" sz="2400" dirty="0">
                <a:latin typeface="Meiryo UI" panose="020B0604030504040204" pitchFamily="50" charset="-128"/>
                <a:ea typeface="Meiryo UI" panose="020B0604030504040204" pitchFamily="50" charset="-128"/>
              </a:rPr>
              <a:t>教育振興部教育指導課</a:t>
            </a:r>
            <a:endParaRPr lang="en-US" altLang="ja-JP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2980680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桜学園・小中一貫教育で目指すもの／成果と課題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- 1 -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87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目指すもの ― 基本方針(H20.11)　＊大泉桜学園：H23.4開校（今年度15年目）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①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一貫した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教育課程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9年間を見通した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学習・生活指導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45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②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滑らかな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接続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5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中1ギャップ解消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不登校の減少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③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異年齢集団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活動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1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人間性・社会性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の育成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75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④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教員の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相互協力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75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学力・体力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向上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⑤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地域社会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連携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学校と地域社会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の活性化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" y="2050000"/>
            <a:ext cx="4350000" cy="28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検証で確認された主な成果 ― H27検証報告書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000" y="2380000"/>
            <a:ext cx="4350000" cy="1500000"/>
          </a:xfrm>
          <a:prstGeom prst="rect">
            <a:avLst/>
          </a:prstGeom>
          <a:solidFill>
            <a:srgbClr val="ECF3FA"/>
          </a:solidFill>
          <a:ln w="6350">
            <a:solidFill>
              <a:srgbClr val="4F81B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9年間の系統性を意識した指導改善（教員80%）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全教職員で全児童生徒を見守る体制（保護者84%）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4-3-2区切りで子供が成長（4年生がリーダー経験）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一部教科担任制が成長に合致（保護者89%）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学校に楽しく通っている児童生徒 93%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0000" y="2050000"/>
            <a:ext cx="4350000" cy="28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検証で確認された課題 ― H27検証報告書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0000" y="2380000"/>
            <a:ext cx="4350000" cy="1500000"/>
          </a:xfrm>
          <a:prstGeom prst="rect">
            <a:avLst/>
          </a:prstGeom>
          <a:solidFill>
            <a:srgbClr val="FDF1E3"/>
          </a:solidFill>
          <a:ln w="6350">
            <a:solidFill>
              <a:srgbClr val="E69B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7年生外部入学者の保護者に不安が残る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体育施設・特別教室の小中共用に課題（体格差）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5・6年生の部活動参加は活発化57%にとどまる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活用力を問う学力では課題が残る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定量的な教育効果のエビデンスは限定的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0000" y="4050000"/>
            <a:ext cx="8780000" cy="26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本資料は以下の10専門分野の知見を踏まえて作成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0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教育社会学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教育経済学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42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教育統計学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23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教育心理学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04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学校経営学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85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発達心理学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66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比較教育学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7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政策評価学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8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特別支援教育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09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教育行政学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「効果」と「課題」が併記されており、定量的な教育効果のエビデンスは限定的。次ページ以降で大泉桜学園の現状データを確認する。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児童生徒数の推移／他自治体・全国動向との比較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- 2 -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435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大泉桜学園 小→中進学状況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0000" y="960000"/>
          <a:ext cx="4350000" cy="18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000"/>
                <a:gridCol w="610000"/>
                <a:gridCol w="610000"/>
                <a:gridCol w="610000"/>
                <a:gridCol w="610000"/>
                <a:gridCol w="610000"/>
              </a:tblGrid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区立(桜中)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区立(桜中以外)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区立外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合計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9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桜中進学率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80%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78%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70%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67%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610000" y="670000"/>
            <a:ext cx="43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（参考）区内全体 指定校進学状況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10000" y="960000"/>
          <a:ext cx="4350000" cy="18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000"/>
                <a:gridCol w="590000"/>
                <a:gridCol w="590000"/>
                <a:gridCol w="590000"/>
                <a:gridCol w="590000"/>
                <a:gridCol w="590000"/>
              </a:tblGrid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区内全体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区立(指定校)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3,855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3,636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3,723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3,565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3,562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区立(指定校以外)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4,500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4,300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4,427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4,152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4,267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区立外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1,374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1,395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1,500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1,418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1,455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合計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5,874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5,695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5,927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5,570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5,722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9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指定校進学率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66%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180000" y="2870000"/>
            <a:ext cx="2150000" cy="26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桜中進学率は下降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0000" y="3140000"/>
            <a:ext cx="2150000" cy="360000"/>
          </a:xfrm>
          <a:prstGeom prst="rect">
            <a:avLst/>
          </a:prstGeom>
          <a:solidFill>
            <a:srgbClr val="FDF1E3"/>
          </a:solidFill>
          <a:ln w="6350">
            <a:solidFill>
              <a:srgbClr val="E69B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80%(R3) → 67%(R7)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▲13ポイント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0000" y="2870000"/>
            <a:ext cx="21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区全体は安定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90000" y="3140000"/>
            <a:ext cx="2150000" cy="3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指定校 66 → 62%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減少幅は小さい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00000" y="2870000"/>
            <a:ext cx="21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区将来人口推計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00000" y="3140000"/>
            <a:ext cx="2150000" cy="3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今後20年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大きな増減なし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0000" y="2870000"/>
            <a:ext cx="21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部活動休部が進行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0000" y="3140000"/>
            <a:ext cx="2150000" cy="36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C0504D"/>
                </a:solidFill>
                <a:ea typeface="Meiryo UI"/>
                <a:latin typeface="Meiryo UI"/>
              </a:rPr>
              <a:t>バスケR6夏休部</a:t>
            </a:r>
          </a:p>
          <a:p>
            <a:pPr algn="ctr"/>
            <a:r>
              <a:rPr sz="900" b="0">
                <a:solidFill>
                  <a:srgbClr val="C0504D"/>
                </a:solidFill>
                <a:ea typeface="Meiryo UI"/>
                <a:latin typeface="Meiryo UI"/>
              </a:rPr>
              <a:t>野球R7夏休部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0000" y="3580000"/>
            <a:ext cx="8780000" cy="26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他自治体・全国動向との比較 ― 比較教育学・政策評価学の視点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80000" y="3880000"/>
          <a:ext cx="8780000" cy="9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1800000"/>
                <a:gridCol w="3680000"/>
                <a:gridCol w="1800000"/>
              </a:tblGrid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6F5A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区立校数（一貫型）</a:t>
                      </a:r>
                    </a:p>
                  </a:txBody>
                  <a:tcPr marL="36000" marR="36000" marT="18000" marB="18000">
                    <a:solidFill>
                      <a:srgbClr val="6F5A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主な方針・実績</a:t>
                      </a:r>
                    </a:p>
                  </a:txBody>
                  <a:tcPr marL="36000" marR="36000" marT="18000" marB="18000">
                    <a:solidFill>
                      <a:srgbClr val="6F5A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教訓</a:t>
                      </a:r>
                    </a:p>
                  </a:txBody>
                  <a:tcPr marL="36000" marR="36000" marT="18000" marB="18000">
                    <a:solidFill>
                      <a:srgbClr val="6F5A9C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全国（文科省）</a:t>
                      </a:r>
                    </a:p>
                  </a:txBody>
                  <a:tcPr marL="36000" marR="36000" marT="18000" marB="18000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義務教育学校 約207校（R5）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全国学テで一貫校が通常校を有意に上回る結果は確認されず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施設一体型の優位性は限定的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世田谷区</a:t>
                      </a:r>
                    </a:p>
                  </a:txBody>
                  <a:tcPr marL="36000" marR="36000" marT="18000" marB="18000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施設一体型：限定的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「世田谷9年教育」連携型を全校で展開。一体型新設は推進せず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連携型でも目標は達成可能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品川区</a:t>
                      </a:r>
                    </a:p>
                  </a:txBody>
                  <a:tcPr marL="36000" marR="36000" marT="18000" marB="18000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施設一体型：6校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H18開設後、学力向上効果は地区差あり。中1ギャップ解消も限定的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新設の費用対効果に課題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三鷹市</a:t>
                      </a:r>
                    </a:p>
                  </a:txBody>
                  <a:tcPr marL="36000" marR="36000" marT="18000" marB="18000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施設一体型：限定的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コミュニティ・スクール＋連携型小中一貫教育を全市展開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地域連携型でも効果あり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桜学園データ＋全国・他自治体動向：施設一体型小中一貫教育校は、小規模校化の解決策にも、学力・生徒数の増加策にもなっていない。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大泉桜学園の現状（学力・体力・不登校）＋R7最新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- 3 -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4350000" cy="24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学力調査（国語：平均正答率%）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0000" y="940000"/>
          <a:ext cx="4350000" cy="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国語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大泉桜学園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練馬区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東京都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65.6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67.2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67.7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69.8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58.1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610000" y="670000"/>
            <a:ext cx="4350000" cy="24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学力調査（算数・数学：平均正答率%）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10000" y="940000"/>
          <a:ext cx="4350000" cy="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算数/数学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大泉桜学園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55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練馬区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東京都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63.2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62.5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63.4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51.4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52.5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180000" y="1810000"/>
            <a:ext cx="4350000" cy="24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学力合計点 区内順位（年度推移）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80000" y="2080000"/>
          <a:ext cx="4350000" cy="4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0000"/>
                <a:gridCol w="527000"/>
                <a:gridCol w="527000"/>
                <a:gridCol w="527000"/>
                <a:gridCol w="527000"/>
                <a:gridCol w="527000"/>
                <a:gridCol w="527000"/>
                <a:gridCol w="528000"/>
              </a:tblGrid>
              <a:tr h="14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H29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H30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R1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4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小(/65)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63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4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中(/33)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25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4610000" y="1810000"/>
            <a:ext cx="4350000" cy="2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不登校児童生徒数（人）／出現率(中%) ★R7=34名 過去最多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610000" y="2080000"/>
          <a:ext cx="3968000" cy="1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000"/>
                <a:gridCol w="382000"/>
                <a:gridCol w="382000"/>
                <a:gridCol w="382000"/>
                <a:gridCol w="382000"/>
                <a:gridCol w="382000"/>
                <a:gridCol w="382000"/>
                <a:gridCol w="382000"/>
                <a:gridCol w="382000"/>
                <a:gridCol w="382000"/>
              </a:tblGrid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H29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H30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R元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R2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小学部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17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中学部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18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17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全体計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32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34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中桜%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5.93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3.52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5.63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10.50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11.11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10.40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中区%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3.20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3.26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4.35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4.80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6.90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中都%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3.78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4.93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6.85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7.80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180000" y="2610000"/>
            <a:ext cx="4350000" cy="2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体力テスト R6→R7 順位推移 ★R7改善傾向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80000" y="2880000"/>
          <a:ext cx="4350000" cy="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0000"/>
                <a:gridCol w="600000"/>
                <a:gridCol w="750000"/>
                <a:gridCol w="600000"/>
                <a:gridCol w="750000"/>
                <a:gridCol w="950000"/>
              </a:tblGrid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対象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R6点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R6順位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R7点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R7順位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変化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小5男子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50.89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45/65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53.58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↑33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小5女子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50.57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52.21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33/65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↑25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中2男子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41.08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43.67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↑2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中2女子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42.58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28/33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49.36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9/33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↑19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4610000" y="3210000"/>
            <a:ext cx="4350000" cy="2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R5→R6→R7 推移：いじめ・暴力（件数）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10000" y="3480000"/>
          <a:ext cx="4350000" cy="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550000"/>
                <a:gridCol w="550000"/>
                <a:gridCol w="550000"/>
                <a:gridCol w="1200000"/>
              </a:tblGrid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項目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傾向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いじめ認知（小）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↑急増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いじめ認知（中）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↑増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暴力行為（小）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─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暴力行為（中）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↑増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180000" y="3830000"/>
            <a:ext cx="4350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R7最新データの総合所見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000" y="4080000"/>
            <a:ext cx="4350000" cy="480000"/>
          </a:xfrm>
          <a:prstGeom prst="rect">
            <a:avLst/>
          </a:prstGeom>
          <a:solidFill>
            <a:srgbClr val="F7F7F7"/>
          </a:solidFill>
          <a:ln w="6350">
            <a:solidFill>
              <a:srgbClr val="6F5A9C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不登校R7=34名で過去最多更新（小17・中17）</a:t>
            </a:r>
          </a:p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R6中3単独では不登校2名（区内4位＝少ない側）</a:t>
            </a:r>
          </a:p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体力R7改善も学年差・年度変動が大きく要観察</a:t>
            </a:r>
          </a:p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いじめ・暴力もR6→R7で増加傾向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不登校はR7=34名で過去最多更新（小17・中17）。体力はR7改善も学力・小規模化の課題は継続。一貫教育の総合的優位性は依然として確認されず。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学校の自己評価と改善計画（R6・R7）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- 4 -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878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学校教育目標／ビジョン　※令和6・7年度 学校経営計画より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000" y="960000"/>
            <a:ext cx="878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5B9BD5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目指す学校像 ─ 「笑顔あふれる学校 ～感動の共有～」　／　校長：渡邊重幸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桜学精神　1～4学年：元気・チャレンジ・思いやり　／　5～9学年：桜の花よりも華ある人・時機を知る人・愛される人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0000" y="1490000"/>
            <a:ext cx="8780000" cy="26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4領域での成果と課題　※学校関係者評価委員会（評議員11名）による外部評価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000" y="1790000"/>
            <a:ext cx="215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① 確かな学力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000" y="2080000"/>
            <a:ext cx="2150000" cy="1300000"/>
          </a:xfrm>
          <a:prstGeom prst="rect">
            <a:avLst/>
          </a:prstGeom>
          <a:solidFill>
            <a:srgbClr val="F7F7F7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2000" rIns="72000" tIns="36000" bIns="36000" wrap="square"/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ICT機器（Canva・Padlet・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Kahoot!等）を積極活用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思考・判断・表現力育成のた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め意見記入欄を設定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△ ICT活用が「楽しさ」優先で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本質的学習に繋がらない場面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0000" y="1790000"/>
            <a:ext cx="2150000" cy="28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② 豊かな心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0000" y="2080000"/>
            <a:ext cx="2150000" cy="1300000"/>
          </a:xfrm>
          <a:prstGeom prst="rect">
            <a:avLst/>
          </a:prstGeom>
          <a:solidFill>
            <a:srgbClr val="F7F7F7"/>
          </a:solidFill>
          <a:ln w="63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2000" rIns="72000" tIns="36000" bIns="36000" wrap="square"/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SC・SSW・心のふれあい相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談員と密に連携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ふれあい月間アンケートで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潜在的いじめを早期察知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△ 一部児童生徒に話し合い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参加が偏る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0000" y="1790000"/>
            <a:ext cx="2150000" cy="28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③ 健康な生活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00000" y="2080000"/>
            <a:ext cx="2150000" cy="1300000"/>
          </a:xfrm>
          <a:prstGeom prst="rect">
            <a:avLst/>
          </a:prstGeom>
          <a:solidFill>
            <a:srgbClr val="F7F7F7"/>
          </a:solidFill>
          <a:ln w="6350">
            <a:solidFill>
              <a:srgbClr val="E69B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2000" rIns="72000" tIns="36000" bIns="36000" wrap="square"/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トップアスリート招聘等で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体力向上を図る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食育指導計画に基づき給食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指導を充実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△ 体育施設・特別教室の小中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共用に体格差課題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0000" y="1790000"/>
            <a:ext cx="2150000" cy="28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④ 開かれた学校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0000" y="2080000"/>
            <a:ext cx="2150000" cy="1300000"/>
          </a:xfrm>
          <a:prstGeom prst="rect">
            <a:avLst/>
          </a:prstGeom>
          <a:solidFill>
            <a:srgbClr val="F7F7F7"/>
          </a:solidFill>
          <a:ln w="6350">
            <a:solidFill>
              <a:srgbClr val="6F5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2000" rIns="72000" tIns="36000" bIns="36000" wrap="square"/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学年・学級・委員会だより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で授業様子を発信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HP・たより・学校公開で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教育活動を公開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△ 家庭・地域への啓発を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更に強化する必要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" y="3470000"/>
            <a:ext cx="4350000" cy="26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R7 改善計画（具体策）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000" y="3760000"/>
            <a:ext cx="4350000" cy="900000"/>
          </a:xfrm>
          <a:prstGeom prst="rect">
            <a:avLst/>
          </a:prstGeom>
          <a:solidFill>
            <a:srgbClr val="ECF3FA"/>
          </a:solidFill>
          <a:ln w="6350">
            <a:solidFill>
              <a:srgbClr val="4F81B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悉皆研修・OJTで全教員のICTスキル統一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AI集計で授業アンケート分析→PDCA高速化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週3回いじめ防止対策会議を継続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Slack等で児童生徒変化をリアルタイム共有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「空白の時間・場所」を物理的に減らす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0000" y="3470000"/>
            <a:ext cx="435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校長の見解（次年度改善に向けて）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0000" y="3760000"/>
            <a:ext cx="4350000" cy="900000"/>
          </a:xfrm>
          <a:prstGeom prst="rect">
            <a:avLst/>
          </a:prstGeom>
          <a:solidFill>
            <a:srgbClr val="F7F7F7"/>
          </a:solidFill>
          <a:ln w="6350">
            <a:solidFill>
              <a:srgbClr val="1F4E79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「小中一貫教育校である本校は地域の期待も大きい。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 期待に応えるためにも今年度の反省をもとに考えた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 改善策を、まずは確実に実行していく。PDCAサイクル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 を活かして、年度途中でも改善策の妥当性を吟味し、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 必要に応じて修正していく。」（R6・R7報告書より要約）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学校は PDCA を回し改善努力を継続中。ただし統計データの傾向は単年の努力では覆らず、施設一体型化の構造的優位性は依然として未確認。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結論：新規開設の効果なし／代替施策と費用対効果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- 5 -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878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大泉桜学園 開校15年（H23.4〜）R7最新データ反映：3観点で「効果なし」／1観点で「部分改善」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970000"/>
            <a:ext cx="43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① 学力向上効果（教育統計学）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" y="1230000"/>
            <a:ext cx="435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区・都平均を継続的に下回る項目が多数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R6中：国語60(区62)、数学55(区60)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区内順位 中学校R6=25位（R5=3位から急落）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小学校R6=63位（直近最低水準）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開校15年経過も学力向上の効果なし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0000" y="970000"/>
            <a:ext cx="440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② 不登校・中1ギャップ解消（教育心理学）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0000" y="1230000"/>
            <a:ext cx="440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中学部不登校率R5=10.40%（区6.90%・都7.80%）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不登校総数：H28=13→R5=28→R6=32→R7=34（過去最多）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いじめ・暴力行為もR6→R7で増加傾向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「滑らかな接続」効果はデータ上未確認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R7も悪化継続。一貫校化の主要目的が未達成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0000" y="2090000"/>
            <a:ext cx="43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③ 小規模校化対応（教育社会学・人口統計）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000" y="2350000"/>
            <a:ext cx="435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桜中進学率 80%(R3)→67%(R7) と低下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中学部入学者：89人(R4)→61人(R7)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部活動の休部が進行（バスケR6夏・野球R7夏）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区全体は安定／区人口は今後20年大きな増減なし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一貫校化しても流出と小規模化は止まらず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10000" y="2090000"/>
            <a:ext cx="4400000" cy="26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④ 体力・運営・コスト（一部肯定／コスト課題継続）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0000" y="2350000"/>
            <a:ext cx="4400000" cy="780000"/>
          </a:xfrm>
          <a:prstGeom prst="rect">
            <a:avLst/>
          </a:prstGeom>
          <a:solidFill>
            <a:srgbClr val="FDF1E3"/>
          </a:solidFill>
          <a:ln w="6350">
            <a:solidFill>
              <a:srgbClr val="E69B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体力R7：小5男45→12位、中2女28→9位と改善傾向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△ ただし学年差・年度差大きく中長期で要検証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体育施設・特別教室は体格差で運用課題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新設費用（用地・改築）と運営負荷は継続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体力面の効果も既存校連携で再現可能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0000" y="3240000"/>
            <a:ext cx="8780000" cy="26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推奨される代替施策と費用対効果 ― 教育経済学・教育行政学の試算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80000" y="3540000"/>
          <a:ext cx="8780000" cy="1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200000"/>
                <a:gridCol w="2780000"/>
                <a:gridCol w="1000000"/>
              </a:tblGrid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施策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想定費用（区負担）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期待効果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実施期間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新規小中一貫教育校1校開設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用地・改築・整備：数十億円規模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本資料の通り明確な優位性なし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5～10年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既存校の小中連携協議会拡充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数百万円／年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中1ギャップ対策・進学情報共有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即時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教員加配・教科担任制（高学年）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1校あたり年数百万円～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学習面の連続性確保・学力向上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1～2年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ICT活用による9年間カリキュラム連携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数千万円／全区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全区児童生徒へ均等に普及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1～3年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スクールカウンセラー・SSW増配置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1人あたり年数百万円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不登校・特別支援ニーズ対応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即時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180000" y="4620000"/>
            <a:ext cx="8780000" cy="24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【教育委員会提言】R7最新データ反映後も新規開設の総合的効果・費用対効果は確認されず。体力改善は要因分析の上、低コスト施策で全区展開を。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aa989f2-4f24-4115-80d0-4b427f33fe26" xsi:nil="true"/>
    <lcf76f155ced4ddcb4097134ff3c332f xmlns="cd550872-52b3-404b-9d46-a3b4a694ae19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A35E67A365C3745BE3012373B810583" ma:contentTypeVersion="15" ma:contentTypeDescription="新しいドキュメントを作成します。" ma:contentTypeScope="" ma:versionID="02ca84a8e582c3e5970d179293281e54">
  <xsd:schema xmlns:xsd="http://www.w3.org/2001/XMLSchema" xmlns:xs="http://www.w3.org/2001/XMLSchema" xmlns:p="http://schemas.microsoft.com/office/2006/metadata/properties" xmlns:ns2="cd550872-52b3-404b-9d46-a3b4a694ae19" xmlns:ns3="4aa989f2-4f24-4115-80d0-4b427f33fe26" targetNamespace="http://schemas.microsoft.com/office/2006/metadata/properties" ma:root="true" ma:fieldsID="1a715c918518d21b9772170beef79984" ns2:_="" ns3:_="">
    <xsd:import namespace="cd550872-52b3-404b-9d46-a3b4a694ae19"/>
    <xsd:import namespace="4aa989f2-4f24-4115-80d0-4b427f33fe2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550872-52b3-404b-9d46-a3b4a694ae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3959c720-f9d9-4eba-b64c-74427fd13a9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a989f2-4f24-4115-80d0-4b427f33fe2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66197a3-bf49-4c3c-b93c-2e9d5048c940}" ma:internalName="TaxCatchAll" ma:showField="CatchAllData" ma:web="4aa989f2-4f24-4115-80d0-4b427f33fe2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7785AF8-D12D-4D8D-86F0-F20FFEB18186}">
  <ds:schemaRefs>
    <ds:schemaRef ds:uri="cd550872-52b3-404b-9d46-a3b4a694ae19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4aa989f2-4f24-4115-80d0-4b427f33fe26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88A1D99-C7D1-4DD4-8D7B-D9BF01C90CEC}">
  <ds:schemaRefs>
    <ds:schemaRef ds:uri="4aa989f2-4f24-4115-80d0-4b427f33fe26"/>
    <ds:schemaRef ds:uri="cd550872-52b3-404b-9d46-a3b4a694ae1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E09BD97-97B3-411B-8247-3E829DA990A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TM02900720[[fn=インテグラル]]</Template>
  <TotalTime>24</TotalTime>
  <Words>1147</Words>
  <Application>Microsoft Office PowerPoint</Application>
  <PresentationFormat>画面に合わせる (16:9)</PresentationFormat>
  <Paragraphs>115</Paragraphs>
  <Slides>7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10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9" baseType="lpstr">
      <vt:lpstr>BIZ UDPゴシック</vt:lpstr>
      <vt:lpstr>HGP創英角ｺﾞｼｯｸUB</vt:lpstr>
      <vt:lpstr>Meiryo UI</vt:lpstr>
      <vt:lpstr>メイリオ</vt:lpstr>
      <vt:lpstr>游ゴシック</vt:lpstr>
      <vt:lpstr>游ゴシック Light</vt:lpstr>
      <vt:lpstr>Arial</vt:lpstr>
      <vt:lpstr>Calibri</vt:lpstr>
      <vt:lpstr>Calibri Light</vt:lpstr>
      <vt:lpstr>Wingdings 2</vt:lpstr>
      <vt:lpstr>HDOfficeLightV0</vt:lpstr>
      <vt:lpstr>Office テーマ</vt:lpstr>
      <vt:lpstr> 小中一貫教育（大泉桜学園）について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澁谷　悠万</dc:creator>
  <cp:lastModifiedBy>紺多　章一郎</cp:lastModifiedBy>
  <cp:revision>6</cp:revision>
  <cp:lastPrinted>2026-05-12T05:32:54Z</cp:lastPrinted>
  <dcterms:created xsi:type="dcterms:W3CDTF">2022-06-22T00:35:16Z</dcterms:created>
  <dcterms:modified xsi:type="dcterms:W3CDTF">2026-05-22T08:15:57Z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0x010100EA35E67A365C3745BE3012373B810583</vt:lpwstr>
  </property>
  <property fmtid="{D5CDD505-2E9C-101B-9397-08002B2CF9AE}" pid="3" name="MediaServiceImageTags">
    <vt:lpwstr/>
  </property>
</Properties>
</file>