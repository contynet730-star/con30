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54" r:id="rId4"/>
    <p:sldMasterId id="2147483766" r:id="rId5"/>
  </p:sldMasterIdLst>
  <p:notesMasterIdLst>
    <p:notesMasterId r:id="rId13"/>
  </p:notesMasterIdLst>
  <p:sldIdLst>
    <p:sldId id="267" r:id="rId6"/>
    <p:sldId id="268" r:id="rId12"/>
    <p:sldId id="269" r:id="rId11"/>
    <p:sldId id="270" r:id="rId10"/>
    <p:sldId id="271" r:id="rId9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408A347-A5D9-7F50-001B-8D70A7ED5806}" name="太田　実来" initials="太田　実来" userId="S::OOTA-M3M@city.nerima.tokyo.jp::a2cfc3ee-8c8b-4bc0-9371-52a63c6f0e7f" providerId="AD"/>
  <p188:author id="{49DA6057-59C2-0C20-3A01-E675D12AE0FA}" name="岡島　弘晃" initials="岡島　弘晃" userId="S::OKAZIMA-H4G@city.nerima.tokyo.jp::ff5459f7-6b5f-4284-a29a-daaeaa00465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E1"/>
    <a:srgbClr val="E8F7F9"/>
    <a:srgbClr val="FFFBC1"/>
    <a:srgbClr val="FBE3D6"/>
    <a:srgbClr val="FDF1FA"/>
    <a:srgbClr val="F9E7F7"/>
    <a:srgbClr val="EAF2FA"/>
    <a:srgbClr val="F4FCF2"/>
    <a:srgbClr val="F2F2F2"/>
    <a:srgbClr val="CFE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21" autoAdjust="0"/>
  </p:normalViewPr>
  <p:slideViewPr>
    <p:cSldViewPr snapToGrid="0" showGuides="1">
      <p:cViewPr varScale="1">
        <p:scale>
          <a:sx n="131" d="100"/>
          <a:sy n="131" d="100"/>
        </p:scale>
        <p:origin x="1002" y="120"/>
      </p:cViewPr>
      <p:guideLst>
        <p:guide orient="horz" pos="1643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521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r">
              <a:defRPr sz="1200"/>
            </a:lvl1pPr>
          </a:lstStyle>
          <a:p>
            <a:fld id="{FBA4DB10-740F-463F-9A1F-41926601B892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80" tIns="46040" rIns="92080" bIns="4604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127" y="4777304"/>
            <a:ext cx="5439421" cy="3908703"/>
          </a:xfrm>
          <a:prstGeom prst="rect">
            <a:avLst/>
          </a:prstGeom>
        </p:spPr>
        <p:txBody>
          <a:bodyPr vert="horz" lIns="92080" tIns="46040" rIns="92080" bIns="4604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521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r">
              <a:defRPr sz="1200"/>
            </a:lvl1pPr>
          </a:lstStyle>
          <a:p>
            <a:fld id="{CDFA013B-61E2-42C1-8F75-B955015847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45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1pPr>
    <a:lvl2pPr marL="24492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2pPr>
    <a:lvl3pPr marL="48984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3pPr>
    <a:lvl4pPr marL="73476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4pPr>
    <a:lvl5pPr marL="979688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5pPr>
    <a:lvl6pPr marL="122461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6pPr>
    <a:lvl7pPr marL="146953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7pPr>
    <a:lvl8pPr marL="171445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8pPr>
    <a:lvl9pPr marL="195937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B14F79-5628-48FA-821B-753E290D459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2965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5F27-F5A1-4A59-8E3D-25C2B34DC9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87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B7FDA-78E1-46D5-A32C-8360FB77956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86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3A143-CD97-4004-858F-EC0594FA2F40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701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3BD2-0AB7-4BF4-B4F9-8E68094F69E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92F8F-A16B-492F-97C8-BB3B96F5C6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92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68C8B-E51E-49DB-A805-E15C25117D47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98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BC003-D688-45A1-B650-11FC068F22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896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110EC-B4F0-4960-B4FA-D7507E6B7BA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13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AD97-5EF7-4F79-B7C1-C95C4B90D7EB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42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9EF24-F27E-4EBB-BB80-8EEF912276D5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553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C3FE-CB76-E0BC-BB59-0C719DFBA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0C09C8C-0C19-63F1-31DC-59A5B561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F8DF01-7302-FE62-ABB4-3197871A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24583-19A6-4914-A85C-F2A7C15ED4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D4F3FE-9C4E-194F-FAA5-A9E75BE7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DF6C1E-CCBD-C030-14DF-CC53ADED5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857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6D7A66-B458-2C1E-0190-C258796E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B5D699-285F-6CA9-E651-25264BC01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5A2823-9EDA-E741-6C47-C207277F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11B94-566E-44AB-A63E-6A7A3A4DB8F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EDCDB-4728-FDC9-7A8B-37C6E103A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0ADB7F-1B4C-1187-297C-D3DC44681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091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D4893C-9F5B-A58A-122E-5688012AA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C33841-A2A1-A3E3-6FB7-1D372AD2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7D4811-1721-F76C-046A-39A9137BF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94838-6BA3-4635-BFC2-111AD9165D2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7438BF-F677-6358-0E9E-461312B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75309-14D9-ADD8-B0C1-71A7AD05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234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A6C6E-7C17-341A-F898-B325CBB8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96B12-B579-C39E-D99C-2EA1986CF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DBD557-7B65-B3BF-B556-7A25ED8C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3EF7A-8381-F3FF-7454-ECAD0CF6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EAD87-8B80-4F9D-91FA-6CC935AFD9E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338CDD-8379-DB7A-0158-12C689E01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CA1398-3D66-9FDC-0D38-73397D2E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14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E3A898-2564-AC6B-A2D0-7E20CFEAF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2D45B0-8B9C-7882-3709-D3FA9EBED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859361-76BC-2B06-62DE-91F107ABD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DED88B6-465D-3B6D-415E-B53C24294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295E5-BB17-89F0-C785-A8638C55C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904DCA-090F-D37C-45CF-FB1BD0AF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C38F0-3071-4A69-B611-D28C85F4065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1D50FE-BD29-5F06-FB04-8688C66F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77F9E67-AF28-768A-3764-3080D091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599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8ECA4-6D6D-4886-6380-ADD82501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9BCE2B-F3FB-797B-EBD1-4307CBB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E7B6F-0EFB-4EB1-BE98-3FB672A2489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EBE7DF3-13B1-9CC8-B813-AFCCDDBE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308980-7049-CFB7-7019-B00B72B9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8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A39B48-3314-ED01-FE13-2D9F37B5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FD448-D864-4886-B10A-5FB9E611FC2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8381E2-B04B-BDD5-446D-E9287344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1A312C-15C1-B056-8541-FAC4BEE8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615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984EA-3812-B720-F89C-5172D9D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D9070-9186-3AE2-B95C-88B7CCFE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538F73-BD1E-2DA9-4587-1033B6358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A3ECDB-349A-84F1-110C-5D957A6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96501-E632-4803-A724-079D87F5B106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BEF44E-C2D6-2AC6-DB93-6DC4246F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778EDB-511D-45E3-F10C-DA18E9D7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1744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278FDB-AAB5-9D91-A3F4-5753EFF7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1BDC5B-5010-5848-40C4-0F687285C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BD0947-E1F0-46EB-C9B0-B31B8CA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86DB52-7599-2FF8-4210-FA5B1605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4626C-E3B0-4C19-BB17-D9EE0BAFADBA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1565185-0360-344F-88C8-F2F7FDE42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CAD155-C807-1402-4A54-D25D71A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5186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22BD-4A24-17EC-9E55-D015FB48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831E0C-56EE-46F1-DE59-BE1D53B7B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1690B-5C70-1DEB-44C5-829C7D92F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8995-9934-48A5-974A-007DC049175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F285E-A0AF-80E7-F2B4-7131F05A9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5FD56-5318-9811-2D1C-1C27F96B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376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4BE060-C14B-2346-C3C9-FE30824D7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C3ABB6-789B-3CA6-2BD1-F9AA44FF4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777A6-26C1-EA12-B82A-34E11EC5C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13326-301A-47E7-9521-464C74127CE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0C8FE4-4FFD-E529-A8E4-48A3E6D6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B16C92-BE1F-8484-55AF-1561B455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07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3C2EA3E-4F57-4079-ADA3-F428183E44D8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18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72E5D8-AD24-6018-E7B1-0D74FF8A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A5EA9E-ABAB-AE58-4493-B01851C95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DE3DA8-B4A3-960B-2F44-90A7F7A6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28806B-D730-4555-8814-89E351BEA64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90311B-9A52-D7D1-F85F-9525DE55B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29EB8-4D49-81AC-5938-BE00C6BC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79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181140-D393-47BA-C072-C5104D352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467456"/>
            <a:ext cx="6923558" cy="1148590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 defTabSz="914400"/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小中一貫教育（大泉桜学園）について</a:t>
            </a:r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ja-JP" altLang="en-US" sz="3600" kern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EF22026-1010-05A2-60BA-65362F93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44020" y="4869656"/>
            <a:ext cx="2057400" cy="273844"/>
          </a:xfrm>
        </p:spPr>
        <p:txBody>
          <a:bodyPr/>
          <a:lstStyle/>
          <a:p>
            <a:fld id="{3F1BB9BB-BFB0-430A-9945-B5C50936C920}" type="slidenum">
              <a:rPr kumimoji="1" lang="ja-JP" altLang="en-US" smtClean="0"/>
              <a:t>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EBC7B-CD5F-10BF-6D0F-D6E7943C9BA7}"/>
              </a:ext>
            </a:extLst>
          </p:cNvPr>
          <p:cNvSpPr txBox="1"/>
          <p:nvPr/>
        </p:nvSpPr>
        <p:spPr>
          <a:xfrm>
            <a:off x="702723" y="4022340"/>
            <a:ext cx="3518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rPr>
              <a:t>教育振興部教育指導課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8068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桜学園・小中一貫教育で目指すもの／成果と課題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- 1 -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目指すもの ― 基本方針(H20.11)　＊大泉桜学園：H23.4開校（今年度15年目）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①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一貫した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教育課程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9年間を見通した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学習・生活指導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②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滑らかな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接続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中1ギャップ解消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不登校の減少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③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異年齢集団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活動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1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人間性・社会性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の育成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7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教員の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相互協力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7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学力・体力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⑤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地域社会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連携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学校と地域社会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の活性化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2050000"/>
            <a:ext cx="43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検証で確認された主な成果 ― H27検証報告書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2380000"/>
            <a:ext cx="4350000" cy="15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9年間の系統性を意識した指導改善（教員80%）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全教職員で全児童生徒を見守る体制（保護者84%）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4-3-2区切りで子供が成長（4年生がリーダー経験）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一部教科担任制が成長に合致（保護者89%）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学校に楽しく通っている児童生徒 93%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2050000"/>
            <a:ext cx="43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検証で確認された課題 ― H27検証報告書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2380000"/>
            <a:ext cx="4350000" cy="150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7年生外部入学者の保護者に不安が残る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体育施設・特別教室の小中共用に課題（体格差）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5・6年生の部活動参加は活発化57%にとどまる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活用力を問う学力では課題が残る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定量的な教育効果のエビデンスは限定的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「効果」と「課題」が併記されており、定量的な教育効果のエビデンスは限定的。次ページ以降で大泉桜学園の現状データを確認する。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児童生徒数の推移／桜中進学率と区全体動向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- 2 -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大泉桜学園 小→中進学状況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610000"/>
                <a:gridCol w="610000"/>
                <a:gridCol w="610000"/>
                <a:gridCol w="610000"/>
                <a:gridCol w="61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（参考）区内全体 指定校進学状況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590000"/>
                <a:gridCol w="590000"/>
                <a:gridCol w="590000"/>
                <a:gridCol w="590000"/>
                <a:gridCol w="59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区内全体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3,855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3,636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3,723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4,300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4,427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4,152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4,267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5,874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5,695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5,927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5,570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5,722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指定校進学率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2870000"/>
            <a:ext cx="215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3140000"/>
            <a:ext cx="2150000" cy="36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80%(R3) → 67%(R7)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▲13ポイント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区全体は安定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指定校 66 → 62%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減少幅は小さい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区将来人口推計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今後20年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大きな増減なし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870000"/>
            <a:ext cx="21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部活動休部が進行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0000" y="3140000"/>
            <a:ext cx="2150000" cy="36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バスケR6夏休部</a:t>
            </a:r>
          </a:p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野球R7夏休部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58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追加観察：桜中入学者の構成変化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80000" y="3880000"/>
          <a:ext cx="878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550000"/>
                <a:gridCol w="550000"/>
                <a:gridCol w="4530000"/>
              </a:tblGrid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年度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概況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合計入学者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R4ピーク後 減少傾向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うち区立外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区立外への流出はほぼ横ばい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うち区立(桜中以外)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近年 区立内他校への進学が増加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▲13ポイント下降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桜中進学率は5年で80%→67%へ。区全体は概ね安定する一方、桜学園のみで小規模校化が進行している。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大泉桜学園の現状（学力・体力・不登校）＋R7最新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- 3 -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学力調査（国語：平均正答率%）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国語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65.6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58.1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学力調査（算数・数学：平均正答率%）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算数/数学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1810000"/>
            <a:ext cx="4350000" cy="24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学力合計点 区内順位（年度推移）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0000" y="2080000"/>
          <a:ext cx="4350000" cy="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000"/>
                <a:gridCol w="527000"/>
                <a:gridCol w="527000"/>
                <a:gridCol w="527000"/>
                <a:gridCol w="527000"/>
                <a:gridCol w="527000"/>
                <a:gridCol w="527000"/>
                <a:gridCol w="528000"/>
              </a:tblGrid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R1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小(/65)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63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中(/33)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610000" y="18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不登校児童生徒数（人）／出現率(中%) ★R7=34名 過去最多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610000" y="2080000"/>
          <a:ext cx="3968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</a:tblGrid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R元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R2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18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全体計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中桜%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5.63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10.50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11.11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10.40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中区%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6.90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中都%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6.85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0000" y="2610000"/>
            <a:ext cx="4350000" cy="2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体力テスト R6→R7 順位推移 ★R7改善傾向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80000" y="28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600000"/>
                <a:gridCol w="750000"/>
                <a:gridCol w="600000"/>
                <a:gridCol w="750000"/>
                <a:gridCol w="95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対象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変化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45/65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↑33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↑25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41.08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43.67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42.58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49.36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↑19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610000" y="32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R5→R6→R7 推移：いじめ・暴力（件数）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10000" y="34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120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項目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傾向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↑急増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─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180000" y="3830000"/>
            <a:ext cx="4350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R7最新データの総合所見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4080000"/>
            <a:ext cx="4350000" cy="4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不登校R7=34名で過去最多更新（小17・中17）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R6中3単独では不登校2名（区内4位＝少ない側）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体力R7改善も学年差・年度変動が大きく要観察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いじめ・暴力もR6→R7で増加傾向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不登校はR7=34名で過去最多更新（小17・中17）。体力はR7改善も学力・小規模化の課題は継続。一貫教育の総合的優位性は依然として確認されず。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結論：新規開設の効果なし／代替施策と費用対効果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- 4 -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大泉桜学園 開校15年（H23.4〜）R7最新データ反映：3観点で「効果なし」／1観点で「部分改善」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97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学力向上効果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23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区・都平均を継続的に下回る項目が多数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R6中：国語60(区62)、数学55(区60)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区内順位 中学校R6=25位（R5=3位から急落）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小学校R6=63位（直近最低水準）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開校15年経過も学力向上の効果なし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0000" y="970000"/>
            <a:ext cx="440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不登校・中1ギャップ解消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000" y="1230000"/>
            <a:ext cx="440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中学部不登校率R5=10.40%（区6.90%・都7.80%）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不登校総数：H28=13→R5=28→R6=32→R7=34（過去最多）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いじめ・暴力行為もR6→R7で増加傾向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「滑らかな接続」効果はデータ上未確認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R7も悪化継続。一貫校化の主要目的が未達成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209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小規模校化対応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" y="235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桜中進学率 80%(R3)→67%(R7) と低下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中学部入学者：89人(R4)→61人(R7)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部活動の休部が進行（バスケR6夏・野球R7夏）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区全体は安定／区人口は今後20年大きな増減なし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一貫校化しても流出と小規模化は止まらず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0000" y="2090000"/>
            <a:ext cx="440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体力・運営・コスト（一部肯定／コスト課題継続）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000" y="2350000"/>
            <a:ext cx="4400000" cy="78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体力R7：小5男45→12位、中2女28→9位と改善傾向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ただし学年差・年度差大きく中長期で要検証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体育施設・特別教室は体格差で運用課題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新設費用（用地・改築）と運営負荷は継続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体力面の効果も既存校連携で再現可能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0000" y="324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推奨される代替施策と費用対効果（試算）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80000" y="3540000"/>
          <a:ext cx="8780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780000"/>
                <a:gridCol w="1000000"/>
              </a:tblGrid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施策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想定費用（区負担）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期待効果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実施期間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新規小中一貫教育校1校開設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用地・改築・整備：数十億円規模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本資料の通り明確な優位性なし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5～10年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既存校の小中連携協議会拡充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数百万円／年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中1ギャップ対策・進学情報共有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教員加配・教科担任制（高学年）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1校あたり年数百万円～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学習面の連続性確保・学力向上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1～2年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ICT活用による9年間カリキュラム連携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数千万円／全区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全区児童生徒へ均等に普及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1～3年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スクールカウンセラー・SSW増配置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1人あたり年数百万円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不登校・特別支援ニーズ対応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180000" y="4620000"/>
            <a:ext cx="878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【教育委員会提言】R7最新データ反映後も新規開設の総合的効果・費用対効果は確認されず。体力改善は要因分析の上、低コスト施策で全区展開を。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a989f2-4f24-4115-80d0-4b427f33fe26" xsi:nil="true"/>
    <lcf76f155ced4ddcb4097134ff3c332f xmlns="cd550872-52b3-404b-9d46-a3b4a694ae1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A35E67A365C3745BE3012373B810583" ma:contentTypeVersion="15" ma:contentTypeDescription="新しいドキュメントを作成します。" ma:contentTypeScope="" ma:versionID="02ca84a8e582c3e5970d179293281e54">
  <xsd:schema xmlns:xsd="http://www.w3.org/2001/XMLSchema" xmlns:xs="http://www.w3.org/2001/XMLSchema" xmlns:p="http://schemas.microsoft.com/office/2006/metadata/properties" xmlns:ns2="cd550872-52b3-404b-9d46-a3b4a694ae19" xmlns:ns3="4aa989f2-4f24-4115-80d0-4b427f33fe26" targetNamespace="http://schemas.microsoft.com/office/2006/metadata/properties" ma:root="true" ma:fieldsID="1a715c918518d21b9772170beef79984" ns2:_="" ns3:_="">
    <xsd:import namespace="cd550872-52b3-404b-9d46-a3b4a694ae19"/>
    <xsd:import namespace="4aa989f2-4f24-4115-80d0-4b427f33fe2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550872-52b3-404b-9d46-a3b4a694ae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959c720-f9d9-4eba-b64c-74427fd13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a989f2-4f24-4115-80d0-4b427f33fe2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66197a3-bf49-4c3c-b93c-2e9d5048c940}" ma:internalName="TaxCatchAll" ma:showField="CatchAllData" ma:web="4aa989f2-4f24-4115-80d0-4b427f33fe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785AF8-D12D-4D8D-86F0-F20FFEB18186}">
  <ds:schemaRefs>
    <ds:schemaRef ds:uri="cd550872-52b3-404b-9d46-a3b4a694ae19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4aa989f2-4f24-4115-80d0-4b427f33fe2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88A1D99-C7D1-4DD4-8D7B-D9BF01C90CEC}">
  <ds:schemaRefs>
    <ds:schemaRef ds:uri="4aa989f2-4f24-4115-80d0-4b427f33fe26"/>
    <ds:schemaRef ds:uri="cd550872-52b3-404b-9d46-a3b4a694ae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E09BD97-97B3-411B-8247-3E829DA990A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24</TotalTime>
  <Words>1147</Words>
  <Application>Microsoft Office PowerPoint</Application>
  <PresentationFormat>画面に合わせる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9" baseType="lpstr">
      <vt:lpstr>BIZ UDPゴシック</vt:lpstr>
      <vt:lpstr>HGP創英角ｺﾞｼｯｸUB</vt:lpstr>
      <vt:lpstr>Meiryo UI</vt:lpstr>
      <vt:lpstr>メイリオ</vt:lpstr>
      <vt:lpstr>游ゴシック</vt:lpstr>
      <vt:lpstr>游ゴシック Light</vt:lpstr>
      <vt:lpstr>Arial</vt:lpstr>
      <vt:lpstr>Calibri</vt:lpstr>
      <vt:lpstr>Calibri Light</vt:lpstr>
      <vt:lpstr>Wingdings 2</vt:lpstr>
      <vt:lpstr>HDOfficeLightV0</vt:lpstr>
      <vt:lpstr>Office テーマ</vt:lpstr>
      <vt:lpstr> 小中一貫教育（大泉桜学園）について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澁谷　悠万</dc:creator>
  <cp:lastModifiedBy>紺多　章一郎</cp:lastModifiedBy>
  <cp:revision>6</cp:revision>
  <cp:lastPrinted>2026-05-12T05:32:54Z</cp:lastPrinted>
  <dcterms:created xsi:type="dcterms:W3CDTF">2022-06-22T00:35:16Z</dcterms:created>
  <dcterms:modified xsi:type="dcterms:W3CDTF">2026-05-22T08:15:57Z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0x010100EA35E67A365C3745BE3012373B810583</vt:lpwstr>
  </property>
  <property fmtid="{D5CDD505-2E9C-101B-9397-08002B2CF9AE}" pid="3" name="MediaServiceImageTags">
    <vt:lpwstr/>
  </property>
</Properties>
</file>