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754" r:id="rId4"/>
    <p:sldMasterId id="2147483766" r:id="rId5"/>
  </p:sldMasterIdLst>
  <p:notesMasterIdLst>
    <p:notesMasterId r:id="rId13"/>
  </p:notesMasterIdLst>
  <p:sldIdLst>
    <p:sldId id="267" r:id="rId6"/>
    <p:sldId id="268" r:id="rId12"/>
    <p:sldId id="269" r:id="rId11"/>
    <p:sldId id="270" r:id="rId10"/>
    <p:sldId id="271" r:id="rId9"/>
  </p:sldIdLst>
  <p:sldSz cx="9144000" cy="5143500" type="screen16x9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43" userDrawn="1">
          <p15:clr>
            <a:srgbClr val="A4A3A4"/>
          </p15:clr>
        </p15:guide>
        <p15:guide id="2" pos="2903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408A347-A5D9-7F50-001B-8D70A7ED5806}" name="太田　実来" initials="太田　実来" userId="S::OOTA-M3M@city.nerima.tokyo.jp::a2cfc3ee-8c8b-4bc0-9371-52a63c6f0e7f" providerId="AD"/>
  <p188:author id="{49DA6057-59C2-0C20-3A01-E675D12AE0FA}" name="岡島　弘晃" initials="岡島　弘晃" userId="S::OKAZIMA-H4G@city.nerima.tokyo.jp::ff5459f7-6b5f-4284-a29a-daaeaa00465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F7E1"/>
    <a:srgbClr val="E8F7F9"/>
    <a:srgbClr val="FFFBC1"/>
    <a:srgbClr val="FBE3D6"/>
    <a:srgbClr val="FDF1FA"/>
    <a:srgbClr val="F9E7F7"/>
    <a:srgbClr val="EAF2FA"/>
    <a:srgbClr val="F4FCF2"/>
    <a:srgbClr val="F2F2F2"/>
    <a:srgbClr val="CFEE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9921" autoAdjust="0"/>
  </p:normalViewPr>
  <p:slideViewPr>
    <p:cSldViewPr snapToGrid="0" showGuides="1">
      <p:cViewPr varScale="1">
        <p:scale>
          <a:sx n="131" d="100"/>
          <a:sy n="131" d="100"/>
        </p:scale>
        <p:origin x="1002" y="120"/>
      </p:cViewPr>
      <p:guideLst>
        <p:guide orient="horz" pos="1643"/>
        <p:guide pos="290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9" Type="http://schemas.openxmlformats.org/officeDocument/2006/relationships/slide" Target="slides/slide5.xml"/><Relationship Id="rId10" Type="http://schemas.openxmlformats.org/officeDocument/2006/relationships/slide" Target="slides/slide4.xml"/><Relationship Id="rId11" Type="http://schemas.openxmlformats.org/officeDocument/2006/relationships/slide" Target="slides/slide3.xml"/><Relationship Id="rId12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553" cy="498168"/>
          </a:xfrm>
          <a:prstGeom prst="rect">
            <a:avLst/>
          </a:prstGeom>
        </p:spPr>
        <p:txBody>
          <a:bodyPr vert="horz" lIns="92080" tIns="46040" rIns="92080" bIns="4604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0521" y="0"/>
            <a:ext cx="2945553" cy="498168"/>
          </a:xfrm>
          <a:prstGeom prst="rect">
            <a:avLst/>
          </a:prstGeom>
        </p:spPr>
        <p:txBody>
          <a:bodyPr vert="horz" lIns="92080" tIns="46040" rIns="92080" bIns="46040" rtlCol="0"/>
          <a:lstStyle>
            <a:lvl1pPr algn="r">
              <a:defRPr sz="1200"/>
            </a:lvl1pPr>
          </a:lstStyle>
          <a:p>
            <a:fld id="{FBA4DB10-740F-463F-9A1F-41926601B892}" type="datetimeFigureOut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420688" y="1239838"/>
            <a:ext cx="5956300" cy="33512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080" tIns="46040" rIns="92080" bIns="4604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79127" y="4777304"/>
            <a:ext cx="5439421" cy="3908703"/>
          </a:xfrm>
          <a:prstGeom prst="rect">
            <a:avLst/>
          </a:prstGeom>
        </p:spPr>
        <p:txBody>
          <a:bodyPr vert="horz" lIns="92080" tIns="46040" rIns="92080" bIns="4604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428470"/>
            <a:ext cx="2945553" cy="498168"/>
          </a:xfrm>
          <a:prstGeom prst="rect">
            <a:avLst/>
          </a:prstGeom>
        </p:spPr>
        <p:txBody>
          <a:bodyPr vert="horz" lIns="92080" tIns="46040" rIns="92080" bIns="4604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0521" y="9428470"/>
            <a:ext cx="2945553" cy="498168"/>
          </a:xfrm>
          <a:prstGeom prst="rect">
            <a:avLst/>
          </a:prstGeom>
        </p:spPr>
        <p:txBody>
          <a:bodyPr vert="horz" lIns="92080" tIns="46040" rIns="92080" bIns="46040" rtlCol="0" anchor="b"/>
          <a:lstStyle>
            <a:lvl1pPr algn="r">
              <a:defRPr sz="1200"/>
            </a:lvl1pPr>
          </a:lstStyle>
          <a:p>
            <a:fld id="{CDFA013B-61E2-42C1-8F75-B9550158478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34560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89844" rtl="0" eaLnBrk="1" latinLnBrk="0" hangingPunct="1">
      <a:defRPr kumimoji="1" sz="643" kern="1200">
        <a:solidFill>
          <a:schemeClr val="tx1"/>
        </a:solidFill>
        <a:latin typeface="+mn-lt"/>
        <a:ea typeface="+mn-ea"/>
        <a:cs typeface="+mn-cs"/>
      </a:defRPr>
    </a:lvl1pPr>
    <a:lvl2pPr marL="244922" algn="l" defTabSz="489844" rtl="0" eaLnBrk="1" latinLnBrk="0" hangingPunct="1">
      <a:defRPr kumimoji="1" sz="643" kern="1200">
        <a:solidFill>
          <a:schemeClr val="tx1"/>
        </a:solidFill>
        <a:latin typeface="+mn-lt"/>
        <a:ea typeface="+mn-ea"/>
        <a:cs typeface="+mn-cs"/>
      </a:defRPr>
    </a:lvl2pPr>
    <a:lvl3pPr marL="489844" algn="l" defTabSz="489844" rtl="0" eaLnBrk="1" latinLnBrk="0" hangingPunct="1">
      <a:defRPr kumimoji="1" sz="643" kern="1200">
        <a:solidFill>
          <a:schemeClr val="tx1"/>
        </a:solidFill>
        <a:latin typeface="+mn-lt"/>
        <a:ea typeface="+mn-ea"/>
        <a:cs typeface="+mn-cs"/>
      </a:defRPr>
    </a:lvl3pPr>
    <a:lvl4pPr marL="734766" algn="l" defTabSz="489844" rtl="0" eaLnBrk="1" latinLnBrk="0" hangingPunct="1">
      <a:defRPr kumimoji="1" sz="643" kern="1200">
        <a:solidFill>
          <a:schemeClr val="tx1"/>
        </a:solidFill>
        <a:latin typeface="+mn-lt"/>
        <a:ea typeface="+mn-ea"/>
        <a:cs typeface="+mn-cs"/>
      </a:defRPr>
    </a:lvl4pPr>
    <a:lvl5pPr marL="979688" algn="l" defTabSz="489844" rtl="0" eaLnBrk="1" latinLnBrk="0" hangingPunct="1">
      <a:defRPr kumimoji="1" sz="643" kern="1200">
        <a:solidFill>
          <a:schemeClr val="tx1"/>
        </a:solidFill>
        <a:latin typeface="+mn-lt"/>
        <a:ea typeface="+mn-ea"/>
        <a:cs typeface="+mn-cs"/>
      </a:defRPr>
    </a:lvl5pPr>
    <a:lvl6pPr marL="1224610" algn="l" defTabSz="489844" rtl="0" eaLnBrk="1" latinLnBrk="0" hangingPunct="1">
      <a:defRPr kumimoji="1" sz="643" kern="1200">
        <a:solidFill>
          <a:schemeClr val="tx1"/>
        </a:solidFill>
        <a:latin typeface="+mn-lt"/>
        <a:ea typeface="+mn-ea"/>
        <a:cs typeface="+mn-cs"/>
      </a:defRPr>
    </a:lvl6pPr>
    <a:lvl7pPr marL="1469532" algn="l" defTabSz="489844" rtl="0" eaLnBrk="1" latinLnBrk="0" hangingPunct="1">
      <a:defRPr kumimoji="1" sz="643" kern="1200">
        <a:solidFill>
          <a:schemeClr val="tx1"/>
        </a:solidFill>
        <a:latin typeface="+mn-lt"/>
        <a:ea typeface="+mn-ea"/>
        <a:cs typeface="+mn-cs"/>
      </a:defRPr>
    </a:lvl7pPr>
    <a:lvl8pPr marL="1714454" algn="l" defTabSz="489844" rtl="0" eaLnBrk="1" latinLnBrk="0" hangingPunct="1">
      <a:defRPr kumimoji="1" sz="643" kern="1200">
        <a:solidFill>
          <a:schemeClr val="tx1"/>
        </a:solidFill>
        <a:latin typeface="+mn-lt"/>
        <a:ea typeface="+mn-ea"/>
        <a:cs typeface="+mn-cs"/>
      </a:defRPr>
    </a:lvl8pPr>
    <a:lvl9pPr marL="1959376" algn="l" defTabSz="489844" rtl="0" eaLnBrk="1" latinLnBrk="0" hangingPunct="1">
      <a:defRPr kumimoji="1" sz="643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3398"/>
            <a:ext cx="6858000" cy="1790700"/>
          </a:xfrm>
        </p:spPr>
        <p:txBody>
          <a:bodyPr anchor="b">
            <a:normAutofit/>
          </a:bodyPr>
          <a:lstStyle>
            <a:lvl1pPr algn="ctr">
              <a:defRPr sz="450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ja-JP" altLang="en-US"/>
              <a:t>マスター サブタイトルの書式設定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B14F79-5628-48FA-821B-753E290D4591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29651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65F27-F5A1-4A59-8E3D-25C2B34DC994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55870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4317"/>
            <a:ext cx="7886700" cy="2138406"/>
          </a:xfrm>
        </p:spPr>
        <p:txBody>
          <a:bodyPr anchor="b">
            <a:normAutofit/>
          </a:bodyPr>
          <a:lstStyle>
            <a:lvl1pPr>
              <a:defRPr sz="4500" b="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14475"/>
            <a:ext cx="7886700" cy="1125140"/>
          </a:xfrm>
        </p:spPr>
        <p:txBody>
          <a:bodyPr anchor="t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B7FDA-78E1-46D5-A32C-8360FB779569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108662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33845" y="1371600"/>
            <a:ext cx="3886200" cy="326350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71600"/>
            <a:ext cx="3886200" cy="326350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3A143-CD97-4004-858F-EC0594FA2F40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057014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3845" y="1261388"/>
            <a:ext cx="3867150" cy="619274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45" y="1880663"/>
            <a:ext cx="3867150" cy="276039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1388"/>
            <a:ext cx="3886201" cy="619274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80663"/>
            <a:ext cx="3886201" cy="276039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543BD2-0AB7-4BF4-B4F9-8E68094F69EC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084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A92F8F-A16B-492F-97C8-BB3B96F5C624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09205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B68C8B-E51E-49DB-A805-E15C25117D47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149845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342900"/>
            <a:ext cx="2948940" cy="1200148"/>
          </a:xfrm>
        </p:spPr>
        <p:txBody>
          <a:bodyPr anchor="b">
            <a:normAutofit/>
          </a:bodyPr>
          <a:lstStyle>
            <a:lvl1pPr>
              <a:defRPr sz="2400" b="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6200" y="742950"/>
            <a:ext cx="4629150" cy="36576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936" y="1543049"/>
            <a:ext cx="2948940" cy="285750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DBC003-D688-45A1-B650-11FC068F2294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88960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342900"/>
            <a:ext cx="2948940" cy="1200150"/>
          </a:xfrm>
        </p:spPr>
        <p:txBody>
          <a:bodyPr anchor="b">
            <a:normAutofit/>
          </a:bodyPr>
          <a:lstStyle>
            <a:lvl1pPr>
              <a:defRPr sz="2400" b="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6200" y="742950"/>
            <a:ext cx="4629150" cy="36576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ja-JP" altLang="en-US"/>
              <a:t>アイコンをクリックして図を追加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936" y="1543050"/>
            <a:ext cx="2948940" cy="28575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110EC-B4F0-4960-B4FA-D7507E6B7BA1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151305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AD97-5EF7-4F79-B7C1-C95C4B90D7EB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094216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0271"/>
            <a:ext cx="1971675" cy="4358879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0272"/>
            <a:ext cx="5800725" cy="435887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9EF24-F27E-4EBB-BB80-8EEF912276D5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095538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0B7C3FE-CB76-E0BC-BB59-0C719DFBA0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0C09C8C-0C19-63F1-31DC-59A5B561D3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1F8DF01-7302-FE62-ABB4-3197871AFF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F24583-19A6-4914-A85C-F2A7C15ED424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DD4F3FE-9C4E-194F-FAA5-A9E75BE7E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DF6C1E-CCBD-C030-14DF-CC53ADED5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228571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36D7A66-B458-2C1E-0190-C258796E5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BB5D699-285F-6CA9-E651-25264BC01A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45A2823-9EDA-E741-6C47-C207277F0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11B94-566E-44AB-A63E-6A7A3A4DB8F2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BEDCDB-4728-FDC9-7A8B-37C6E103A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20ADB7F-1B4C-1187-297C-D3DC44681A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60914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2D4893C-9F5B-A58A-122E-5688012AA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0C33841-A2A1-A3E3-6FB7-1D372AD280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27D4811-1721-F76C-046A-39A9137BF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B94838-6BA3-4635-BFC2-111AD9165D23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B7438BF-F677-6358-0E9E-461312B7CD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7B75309-14D9-ADD8-B0C1-71A7AD05F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5523472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8A6C6E-7C17-341A-F898-B325CBB87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8896B12-B579-C39E-D99C-2EA1986CF5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0DBD557-7B65-B3BF-B556-7A25ED8C9D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8D3EF7A-8381-F3FF-7454-ECAD0CF6E4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6EAD87-8B80-4F9D-91FA-6CC935AFD9EE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8338CDD-8379-DB7A-0158-12C689E01C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ECA1398-3D66-9FDC-0D38-73397D2ED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1143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AE3A898-2564-AC6B-A2D0-7E20CFEAF7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82D45B0-8B9C-7882-3709-D3FA9EBED2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6859361-76BC-2B06-62DE-91F107ABDD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DED88B6-465D-3B6D-415E-B53C242947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87F295E5-BB17-89F0-C785-A8638C55C0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5904DCA-090F-D37C-45CF-FB1BD0AFAE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C38F0-3071-4A69-B611-D28C85F40659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C1D50FE-BD29-5F06-FB04-8688C66F0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77F9E67-AF28-768A-3764-3080D0910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045995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B68ECA4-6D6D-4886-6380-ADD825010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DF9BCE2B-F3FB-797B-EBD1-4307CBBD3C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E7B6F-0EFB-4EB1-BE98-3FB672A24892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BEBE7DF3-13B1-9CC8-B813-AFCCDDBE58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7308980-7049-CFB7-7019-B00B72B9FF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1068406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ACA39B48-3314-ED01-FE13-2D9F37B5A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FD448-D864-4886-B10A-5FB9E611FC2E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E8381E2-B04B-BDD5-446D-E9287344AC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61A312C-15C1-B056-8541-FAC4BEE84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561501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04984EA-3812-B720-F89C-5172D9D8F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3AD9070-9186-3AE2-B95C-88B7CCFE82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8538F73-BD1E-2DA9-4587-1033B63581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DA3ECDB-349A-84F1-110C-5D957A6DA8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D96501-E632-4803-A724-079D87F5B106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1BEF44E-C2D6-2AC6-DB93-6DC4246FE5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4778EDB-511D-45E3-F10C-DA18E9D71D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517445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6278FDB-AAB5-9D91-A3F4-5753EFF7C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E1BDC5B-5010-5848-40C4-0F687285C34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CBD0947-E1F0-46EB-C9B0-B31B8CA87E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886DB52-7599-2FF8-4210-FA5B1605A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B4626C-E3B0-4C19-BB17-D9EE0BAFADBA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1565185-0360-344F-88C8-F2F7FDE42C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4CAD155-C807-1402-4A54-D25D71A26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751863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B3D22BD-4A24-17EC-9E55-D015FB4841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C831E0C-56EE-46F1-DE59-BE1D53B7BF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DA1690B-5C70-1DEB-44C5-829C7D92F4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C98995-9934-48A5-974A-007DC0491753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77F285E-A0AF-80E7-F2B4-7131F05A93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E45FD56-5318-9811-2D1C-1C27F96BF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337645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A34BE060-C14B-2346-C3C9-FE30824D7CD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7C3ABB6-789B-3CA6-2BD1-F9AA44FF44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57777A6-26C1-EA12-B82A-34E11EC5C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13326-301A-47E7-9521-464C74127CE2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A0C8FE4-4FFD-E529-A8E4-48A3E6D6A9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CB16C92-BE1F-8484-55AF-1561B4555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240793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33845" y="274320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3845" y="1371600"/>
            <a:ext cx="7886700" cy="32635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25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53C2EA3E-4F57-4079-ADA3-F428183E44D8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25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63145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2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18189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5" r:id="rId1"/>
    <p:sldLayoutId id="2147483756" r:id="rId2"/>
    <p:sldLayoutId id="2147483757" r:id="rId3"/>
    <p:sldLayoutId id="2147483758" r:id="rId4"/>
    <p:sldLayoutId id="2147483759" r:id="rId5"/>
    <p:sldLayoutId id="2147483760" r:id="rId6"/>
    <p:sldLayoutId id="2147483761" r:id="rId7"/>
    <p:sldLayoutId id="2147483762" r:id="rId8"/>
    <p:sldLayoutId id="2147483763" r:id="rId9"/>
    <p:sldLayoutId id="2147483764" r:id="rId10"/>
    <p:sldLayoutId id="2147483765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Wingdings 2" pitchFamily="18" charset="2"/>
        <a:buChar char="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 2" pitchFamily="18" charset="2"/>
        <a:buChar char="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 2" pitchFamily="18" charset="2"/>
        <a:buChar char="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 2" pitchFamily="18" charset="2"/>
        <a:buChar char="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 2" pitchFamily="18" charset="2"/>
        <a:buChar char="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spcBef>
          <a:spcPct val="20000"/>
        </a:spcBef>
        <a:buFont typeface="Wingdings 2" pitchFamily="18" charset="2"/>
        <a:buChar char="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Wingdings 2" pitchFamily="18" charset="2"/>
        <a:buChar char="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Wingdings 2" pitchFamily="18" charset="2"/>
        <a:buChar char="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Wingdings 2" pitchFamily="18" charset="2"/>
        <a:buChar char="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272E5D8-AD24-6018-E7B1-0D74FF8A1E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5A5EA9E-ABAB-AE58-4493-B01851C953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1DE3DA8-B4A3-960B-2F44-90A7F7A6CD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28806B-D730-4555-8814-89E351BEA64C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D90311B-9A52-D7D1-F85F-9525DE55B8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E429EB8-4D49-81AC-5938-BE00C6BCCF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27979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7" r:id="rId1"/>
    <p:sldLayoutId id="2147483768" r:id="rId2"/>
    <p:sldLayoutId id="2147483769" r:id="rId3"/>
    <p:sldLayoutId id="2147483770" r:id="rId4"/>
    <p:sldLayoutId id="2147483771" r:id="rId5"/>
    <p:sldLayoutId id="2147483772" r:id="rId6"/>
    <p:sldLayoutId id="2147483773" r:id="rId7"/>
    <p:sldLayoutId id="2147483774" r:id="rId8"/>
    <p:sldLayoutId id="2147483775" r:id="rId9"/>
    <p:sldLayoutId id="2147483776" r:id="rId10"/>
    <p:sldLayoutId id="2147483777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6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ight Triangle 8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2501900"/>
            <a:ext cx="2468880" cy="24003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10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467456"/>
            <a:ext cx="8178790" cy="4205911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BB181140-D393-47BA-C072-C5104D352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330" y="467456"/>
            <a:ext cx="6923558" cy="1148590"/>
          </a:xfrm>
          <a:noFill/>
        </p:spPr>
        <p:txBody>
          <a:bodyPr vert="horz" lIns="91440" tIns="45720" rIns="91440" bIns="45720" rtlCol="0" anchor="t">
            <a:normAutofit fontScale="90000"/>
          </a:bodyPr>
          <a:lstStyle/>
          <a:p>
            <a:pPr algn="ctr" defTabSz="914400"/>
            <a:br>
              <a:rPr lang="en-US" altLang="ja-JP" sz="3600" kern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3600" kern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小中一貫教育（大泉桜学園）について</a:t>
            </a:r>
            <a:br>
              <a:rPr lang="en-US" altLang="ja-JP" sz="3600" kern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endParaRPr lang="ja-JP" altLang="en-US" sz="3600" kern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EEF22026-1010-05A2-60BA-65362F934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44020" y="4869656"/>
            <a:ext cx="2057400" cy="273844"/>
          </a:xfrm>
        </p:spPr>
        <p:txBody>
          <a:bodyPr/>
          <a:lstStyle/>
          <a:p>
            <a:fld id="{3F1BB9BB-BFB0-430A-9945-B5C50936C920}" type="slidenum">
              <a:rPr kumimoji="1" lang="ja-JP" altLang="en-US" smtClean="0"/>
              <a:t>0</a:t>
            </a:fld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C0EBC7B-CD5F-10BF-6D0F-D6E7943C9BA7}"/>
              </a:ext>
            </a:extLst>
          </p:cNvPr>
          <p:cNvSpPr txBox="1"/>
          <p:nvPr/>
        </p:nvSpPr>
        <p:spPr>
          <a:xfrm>
            <a:off x="702723" y="4022340"/>
            <a:ext cx="35180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ja-JP" altLang="en-US" sz="2400" dirty="0">
                <a:latin typeface="Meiryo UI" panose="020B0604030504040204" pitchFamily="50" charset="-128"/>
                <a:ea typeface="Meiryo UI" panose="020B0604030504040204" pitchFamily="50" charset="-128"/>
              </a:rPr>
              <a:t>教育振興部教育指導課</a:t>
            </a:r>
            <a:endParaRPr lang="en-US" altLang="ja-JP" sz="2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2980680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0000" y="180000"/>
            <a:ext cx="280000" cy="28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ea typeface="Meiryo UI"/>
                <a:latin typeface="Meiryo U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0000" y="150000"/>
            <a:ext cx="7800000" cy="340000"/>
          </a:xfrm>
          <a:prstGeom prst="rect">
            <a:avLst/>
          </a:prstGeom>
          <a:noFill/>
        </p:spPr>
        <p:txBody>
          <a:bodyPr wrap="none" lIns="36000" tIns="0" bIns="0" anchor="ctr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  <a:ea typeface="Meiryo UI"/>
                <a:latin typeface="Meiryo UI"/>
              </a:rPr>
              <a:t>桜学園・小中一貫教育で目指すもの／成果と課題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180000" y="510000"/>
            <a:ext cx="8780000" cy="1500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920000"/>
            <a:ext cx="3000000" cy="1800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800" b="0">
                <a:solidFill>
                  <a:srgbClr val="767676"/>
                </a:solidFill>
                <a:ea typeface="Meiryo UI"/>
                <a:latin typeface="Meiryo UI"/>
              </a:rPr>
              <a:t>練馬区教育委員会 教育振興部教育指導課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40000" y="4920000"/>
            <a:ext cx="280000" cy="1800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r"/>
            <a:r>
              <a:rPr sz="800" b="0">
                <a:solidFill>
                  <a:srgbClr val="767676"/>
                </a:solidFill>
                <a:ea typeface="Meiryo UI"/>
                <a:latin typeface="Meiryo UI"/>
              </a:rPr>
              <a:t>- 1 -</a:t>
            </a:r>
          </a:p>
        </p:txBody>
      </p:sp>
      <p:sp>
        <p:nvSpPr>
          <p:cNvPr id="8" name="Rectangle 7"/>
          <p:cNvSpPr/>
          <p:nvPr/>
        </p:nvSpPr>
        <p:spPr>
          <a:xfrm>
            <a:off x="180000" y="670000"/>
            <a:ext cx="8780000" cy="28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1100" b="1">
                <a:solidFill>
                  <a:srgbClr val="FFFFFF"/>
                </a:solidFill>
                <a:ea typeface="Meiryo UI"/>
                <a:latin typeface="Meiryo UI"/>
              </a:rPr>
              <a:t>  目指すもの ― 基本方針(H20.11)　＊大泉桜学園：H23.4開校（今年度15年目）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180000" y="1010000"/>
            <a:ext cx="1720000" cy="44000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①</a:t>
            </a:r>
          </a:p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一貫した</a:t>
            </a:r>
          </a:p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教育課程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0000" y="1450000"/>
            <a:ext cx="1720000" cy="460000"/>
          </a:xfrm>
          <a:prstGeom prst="rect">
            <a:avLst/>
          </a:prstGeom>
          <a:solidFill>
            <a:srgbClr val="ECF3FA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9年間を見通した</a:t>
            </a:r>
          </a:p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学習・生活指導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45000" y="1010000"/>
            <a:ext cx="1720000" cy="44000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②</a:t>
            </a:r>
          </a:p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滑らかな</a:t>
            </a:r>
          </a:p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接続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45000" y="1450000"/>
            <a:ext cx="1720000" cy="460000"/>
          </a:xfrm>
          <a:prstGeom prst="rect">
            <a:avLst/>
          </a:prstGeom>
          <a:solidFill>
            <a:srgbClr val="ECF3FA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中1ギャップ解消</a:t>
            </a:r>
          </a:p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不登校の減少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10000" y="1010000"/>
            <a:ext cx="1720000" cy="44000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③</a:t>
            </a:r>
          </a:p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異年齢集団</a:t>
            </a:r>
          </a:p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活動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10000" y="1450000"/>
            <a:ext cx="1720000" cy="460000"/>
          </a:xfrm>
          <a:prstGeom prst="rect">
            <a:avLst/>
          </a:prstGeom>
          <a:solidFill>
            <a:srgbClr val="ECF3FA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人間性・社会性</a:t>
            </a:r>
          </a:p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の育成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75000" y="1010000"/>
            <a:ext cx="1720000" cy="44000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④</a:t>
            </a:r>
          </a:p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教員の</a:t>
            </a:r>
          </a:p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相互協力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75000" y="1450000"/>
            <a:ext cx="1720000" cy="460000"/>
          </a:xfrm>
          <a:prstGeom prst="rect">
            <a:avLst/>
          </a:prstGeom>
          <a:solidFill>
            <a:srgbClr val="ECF3FA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学力・体力</a:t>
            </a:r>
          </a:p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向上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40000" y="1010000"/>
            <a:ext cx="1720000" cy="44000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⑤</a:t>
            </a:r>
          </a:p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地域社会</a:t>
            </a:r>
          </a:p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連携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40000" y="1450000"/>
            <a:ext cx="1720000" cy="460000"/>
          </a:xfrm>
          <a:prstGeom prst="rect">
            <a:avLst/>
          </a:prstGeom>
          <a:solidFill>
            <a:srgbClr val="ECF3FA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学校と地域社会</a:t>
            </a:r>
          </a:p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の活性化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0000" y="2050000"/>
            <a:ext cx="4350000" cy="28000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  検証で確認された主な成果 ― H27検証報告書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0000" y="2380000"/>
            <a:ext cx="4350000" cy="1500000"/>
          </a:xfrm>
          <a:prstGeom prst="rect">
            <a:avLst/>
          </a:prstGeom>
          <a:solidFill>
            <a:srgbClr val="ECF3FA"/>
          </a:solidFill>
          <a:ln w="6350">
            <a:solidFill>
              <a:srgbClr val="4F81BD"/>
            </a:solidFill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ea typeface="Meiryo UI"/>
                <a:latin typeface="Meiryo UI"/>
              </a:rPr>
              <a:t>○ 9年間の系統性を意識した指導改善（教員80%）</a:t>
            </a:r>
          </a:p>
          <a:p>
            <a:pPr algn="l"/>
            <a:r>
              <a:rPr sz="1000" b="0">
                <a:solidFill>
                  <a:srgbClr val="333333"/>
                </a:solidFill>
                <a:ea typeface="Meiryo UI"/>
                <a:latin typeface="Meiryo UI"/>
              </a:rPr>
              <a:t>○ 全教職員で全児童生徒を見守る体制（保護者84%）</a:t>
            </a:r>
          </a:p>
          <a:p>
            <a:pPr algn="l"/>
            <a:r>
              <a:rPr sz="1000" b="0">
                <a:solidFill>
                  <a:srgbClr val="333333"/>
                </a:solidFill>
                <a:ea typeface="Meiryo UI"/>
                <a:latin typeface="Meiryo UI"/>
              </a:rPr>
              <a:t>○ 4-3-2区切りで子供が成長（4年生がリーダー経験）</a:t>
            </a:r>
          </a:p>
          <a:p>
            <a:pPr algn="l"/>
            <a:r>
              <a:rPr sz="1000" b="0">
                <a:solidFill>
                  <a:srgbClr val="333333"/>
                </a:solidFill>
                <a:ea typeface="Meiryo UI"/>
                <a:latin typeface="Meiryo UI"/>
              </a:rPr>
              <a:t>○ 一部教科担任制が成長に合致（保護者89%）</a:t>
            </a:r>
          </a:p>
          <a:p>
            <a:pPr algn="l"/>
            <a:r>
              <a:rPr sz="1000" b="0">
                <a:solidFill>
                  <a:srgbClr val="333333"/>
                </a:solidFill>
                <a:ea typeface="Meiryo UI"/>
                <a:latin typeface="Meiryo UI"/>
              </a:rPr>
              <a:t>○ 学校に楽しく通っている児童生徒 93%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10000" y="2050000"/>
            <a:ext cx="4350000" cy="280000"/>
          </a:xfrm>
          <a:prstGeom prst="rect">
            <a:avLst/>
          </a:prstGeom>
          <a:solidFill>
            <a:srgbClr val="E69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  検証で確認された課題 ― H27検証報告書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0000" y="2380000"/>
            <a:ext cx="4350000" cy="1500000"/>
          </a:xfrm>
          <a:prstGeom prst="rect">
            <a:avLst/>
          </a:prstGeom>
          <a:solidFill>
            <a:srgbClr val="FDF1E3"/>
          </a:solidFill>
          <a:ln w="6350">
            <a:solidFill>
              <a:srgbClr val="E69B4D"/>
            </a:solidFill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ea typeface="Meiryo UI"/>
                <a:latin typeface="Meiryo UI"/>
              </a:rPr>
              <a:t>△ 7年生外部入学者の保護者に不安が残る</a:t>
            </a:r>
          </a:p>
          <a:p>
            <a:pPr algn="l"/>
            <a:r>
              <a:rPr sz="1000" b="0">
                <a:solidFill>
                  <a:srgbClr val="333333"/>
                </a:solidFill>
                <a:ea typeface="Meiryo UI"/>
                <a:latin typeface="Meiryo UI"/>
              </a:rPr>
              <a:t>△ 体育施設・特別教室の小中共用に課題（体格差）</a:t>
            </a:r>
          </a:p>
          <a:p>
            <a:pPr algn="l"/>
            <a:r>
              <a:rPr sz="1000" b="0">
                <a:solidFill>
                  <a:srgbClr val="333333"/>
                </a:solidFill>
                <a:ea typeface="Meiryo UI"/>
                <a:latin typeface="Meiryo UI"/>
              </a:rPr>
              <a:t>△ 5・6年生の部活動参加は活発化57%にとどまる</a:t>
            </a:r>
          </a:p>
          <a:p>
            <a:pPr algn="l"/>
            <a:r>
              <a:rPr sz="1000" b="0">
                <a:solidFill>
                  <a:srgbClr val="333333"/>
                </a:solidFill>
                <a:ea typeface="Meiryo UI"/>
                <a:latin typeface="Meiryo UI"/>
              </a:rPr>
              <a:t>△ 活用力を問う学力では課題が残る</a:t>
            </a:r>
          </a:p>
          <a:p>
            <a:pPr algn="l"/>
            <a:r>
              <a:rPr sz="1000" b="0">
                <a:solidFill>
                  <a:srgbClr val="333333"/>
                </a:solidFill>
                <a:ea typeface="Meiryo UI"/>
                <a:latin typeface="Meiryo UI"/>
              </a:rPr>
              <a:t>△ 定量的な教育効果のエビデンスは限定的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0000" y="4660000"/>
            <a:ext cx="8780000" cy="18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「効果」と「課題」が併記されており、定量的な教育効果のエビデンスは限定的。次ページ以降で大泉桜学園の現状データを確認する。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0000" y="180000"/>
            <a:ext cx="280000" cy="28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ea typeface="Meiryo UI"/>
                <a:latin typeface="Meiryo U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0000" y="150000"/>
            <a:ext cx="7800000" cy="340000"/>
          </a:xfrm>
          <a:prstGeom prst="rect">
            <a:avLst/>
          </a:prstGeom>
          <a:noFill/>
        </p:spPr>
        <p:txBody>
          <a:bodyPr wrap="none" lIns="36000" tIns="0" bIns="0" anchor="ctr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  <a:ea typeface="Meiryo UI"/>
                <a:latin typeface="Meiryo UI"/>
              </a:rPr>
              <a:t>児童生徒数の推移／桜中進学率と区全体動向</a:t>
            </a:r>
          </a:p>
        </p:txBody>
      </p:sp>
      <p:sp>
        <p:nvSpPr>
          <p:cNvPr id="5" name="Rectangle 4"/>
          <p:cNvSpPr/>
          <p:nvPr/>
        </p:nvSpPr>
        <p:spPr>
          <a:xfrm>
            <a:off x="180000" y="510000"/>
            <a:ext cx="8780000" cy="1500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920000"/>
            <a:ext cx="3000000" cy="1800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800" b="0">
                <a:solidFill>
                  <a:srgbClr val="767676"/>
                </a:solidFill>
                <a:ea typeface="Meiryo UI"/>
                <a:latin typeface="Meiryo UI"/>
              </a:rPr>
              <a:t>練馬区教育委員会 教育振興部教育指導課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40000" y="4920000"/>
            <a:ext cx="280000" cy="1800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r"/>
            <a:r>
              <a:rPr sz="800" b="0">
                <a:solidFill>
                  <a:srgbClr val="767676"/>
                </a:solidFill>
                <a:ea typeface="Meiryo UI"/>
                <a:latin typeface="Meiryo UI"/>
              </a:rPr>
              <a:t>- 2 -</a:t>
            </a:r>
          </a:p>
        </p:txBody>
      </p:sp>
      <p:sp>
        <p:nvSpPr>
          <p:cNvPr id="8" name="Rectangle 7"/>
          <p:cNvSpPr/>
          <p:nvPr/>
        </p:nvSpPr>
        <p:spPr>
          <a:xfrm>
            <a:off x="180000" y="670000"/>
            <a:ext cx="4350000" cy="26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  大泉桜学園 小→中進学状況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80000" y="960000"/>
          <a:ext cx="4350000" cy="18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0000"/>
                <a:gridCol w="610000"/>
                <a:gridCol w="610000"/>
                <a:gridCol w="610000"/>
                <a:gridCol w="610000"/>
                <a:gridCol w="610000"/>
              </a:tblGrid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/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R3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R4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R5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R6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R7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</a:tr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区立(桜中)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区立(桜中以外)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区立計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区立外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合計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89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6429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桜中進学率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80%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82%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78%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70%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67%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610000" y="670000"/>
            <a:ext cx="4350000" cy="26000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  （参考）区内全体 指定校進学状況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610000" y="960000"/>
          <a:ext cx="4350000" cy="18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0000"/>
                <a:gridCol w="590000"/>
                <a:gridCol w="590000"/>
                <a:gridCol w="590000"/>
                <a:gridCol w="590000"/>
                <a:gridCol w="590000"/>
              </a:tblGrid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区内全体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R3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R4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R5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R6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R7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</a:tr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区立(指定校)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3,855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3,636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3,723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3,565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3,562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区立(指定校以外)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645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664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704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587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705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区立計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4,500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4,300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4,427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4,152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4,267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区立外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1,374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1,395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1,500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1,418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1,455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合計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5,874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5,695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5,927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5,570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5,722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6429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指定校進学率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66%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64%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63%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64%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62%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180000" y="2870000"/>
            <a:ext cx="2150000" cy="260000"/>
          </a:xfrm>
          <a:prstGeom prst="rect">
            <a:avLst/>
          </a:prstGeom>
          <a:solidFill>
            <a:srgbClr val="E69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桜中進学率は下降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0000" y="3140000"/>
            <a:ext cx="2150000" cy="360000"/>
          </a:xfrm>
          <a:prstGeom prst="rect">
            <a:avLst/>
          </a:prstGeom>
          <a:solidFill>
            <a:srgbClr val="FDF1E3"/>
          </a:solidFill>
          <a:ln w="6350">
            <a:solidFill>
              <a:srgbClr val="E69B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80%(R3) → 67%(R7)</a:t>
            </a:r>
          </a:p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▲13ポイント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90000" y="2870000"/>
            <a:ext cx="2150000" cy="26000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区全体は安定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90000" y="3140000"/>
            <a:ext cx="2150000" cy="360000"/>
          </a:xfrm>
          <a:prstGeom prst="rect">
            <a:avLst/>
          </a:prstGeom>
          <a:solidFill>
            <a:srgbClr val="ECF3FA"/>
          </a:solidFill>
          <a:ln w="635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指定校 66 → 62%</a:t>
            </a:r>
          </a:p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減少幅は小さい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00000" y="2870000"/>
            <a:ext cx="2150000" cy="26000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区将来人口推計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00000" y="3140000"/>
            <a:ext cx="2150000" cy="360000"/>
          </a:xfrm>
          <a:prstGeom prst="rect">
            <a:avLst/>
          </a:prstGeom>
          <a:solidFill>
            <a:srgbClr val="ECF3FA"/>
          </a:solidFill>
          <a:ln w="635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今後20年</a:t>
            </a:r>
          </a:p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大きな増減なし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10000" y="2870000"/>
            <a:ext cx="2150000" cy="26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部活動休部が進行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10000" y="3140000"/>
            <a:ext cx="2150000" cy="360000"/>
          </a:xfrm>
          <a:prstGeom prst="rect">
            <a:avLst/>
          </a:prstGeom>
          <a:solidFill>
            <a:srgbClr val="FBEEED"/>
          </a:solidFill>
          <a:ln w="6350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900" b="0">
                <a:solidFill>
                  <a:srgbClr val="C0504D"/>
                </a:solidFill>
                <a:ea typeface="Meiryo UI"/>
                <a:latin typeface="Meiryo UI"/>
              </a:rPr>
              <a:t>バスケR6夏休部</a:t>
            </a:r>
          </a:p>
          <a:p>
            <a:pPr algn="ctr"/>
            <a:r>
              <a:rPr sz="900" b="0">
                <a:solidFill>
                  <a:srgbClr val="C0504D"/>
                </a:solidFill>
                <a:ea typeface="Meiryo UI"/>
                <a:latin typeface="Meiryo UI"/>
              </a:rPr>
              <a:t>野球R7夏休部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0000" y="3580000"/>
            <a:ext cx="8780000" cy="26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  追加観察：桜中入学者の構成変化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80000" y="3880000"/>
          <a:ext cx="8780000" cy="7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0000"/>
                <a:gridCol w="550000"/>
                <a:gridCol w="550000"/>
                <a:gridCol w="550000"/>
                <a:gridCol w="550000"/>
                <a:gridCol w="550000"/>
                <a:gridCol w="4530000"/>
              </a:tblGrid>
              <a:tr h="144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年度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R3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R4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R5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R6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R7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概況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</a:tr>
              <a:tr h="144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合計入学者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89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R4ピーク後 減少傾向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44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うち区立外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区立外への流出はほぼ横ばい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44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うち区立(桜中以外)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近年 区立内他校への進学が増加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44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桜中進学率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80%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82%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78%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70%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67%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▲13ポイント下降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Rectangle 21"/>
          <p:cNvSpPr/>
          <p:nvPr/>
        </p:nvSpPr>
        <p:spPr>
          <a:xfrm>
            <a:off x="180000" y="4660000"/>
            <a:ext cx="8780000" cy="18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桜中進学率は5年で80%→67%へ。区全体は概ね安定する一方、桜学園のみで小規模校化が進行している。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0000" y="180000"/>
            <a:ext cx="280000" cy="28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ea typeface="Meiryo UI"/>
                <a:latin typeface="Meiryo U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0000" y="150000"/>
            <a:ext cx="7800000" cy="340000"/>
          </a:xfrm>
          <a:prstGeom prst="rect">
            <a:avLst/>
          </a:prstGeom>
          <a:noFill/>
        </p:spPr>
        <p:txBody>
          <a:bodyPr wrap="none" lIns="36000" tIns="0" bIns="0" anchor="ctr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  <a:ea typeface="Meiryo UI"/>
                <a:latin typeface="Meiryo UI"/>
              </a:rPr>
              <a:t>大泉桜学園の現状（学力・体力・不登校）＋R7最新</a:t>
            </a:r>
          </a:p>
        </p:txBody>
      </p:sp>
      <p:sp>
        <p:nvSpPr>
          <p:cNvPr id="5" name="Rectangle 4"/>
          <p:cNvSpPr/>
          <p:nvPr/>
        </p:nvSpPr>
        <p:spPr>
          <a:xfrm>
            <a:off x="180000" y="510000"/>
            <a:ext cx="8780000" cy="1500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920000"/>
            <a:ext cx="3000000" cy="1800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800" b="0">
                <a:solidFill>
                  <a:srgbClr val="767676"/>
                </a:solidFill>
                <a:ea typeface="Meiryo UI"/>
                <a:latin typeface="Meiryo UI"/>
              </a:rPr>
              <a:t>練馬区教育委員会 教育振興部教育指導課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40000" y="4920000"/>
            <a:ext cx="280000" cy="1800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r"/>
            <a:r>
              <a:rPr sz="800" b="0">
                <a:solidFill>
                  <a:srgbClr val="767676"/>
                </a:solidFill>
                <a:ea typeface="Meiryo UI"/>
                <a:latin typeface="Meiryo UI"/>
              </a:rPr>
              <a:t>- 3 -</a:t>
            </a:r>
          </a:p>
        </p:txBody>
      </p:sp>
      <p:sp>
        <p:nvSpPr>
          <p:cNvPr id="8" name="Rectangle 7"/>
          <p:cNvSpPr/>
          <p:nvPr/>
        </p:nvSpPr>
        <p:spPr>
          <a:xfrm>
            <a:off x="180000" y="670000"/>
            <a:ext cx="4350000" cy="24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900" b="1">
                <a:solidFill>
                  <a:srgbClr val="FFFFFF"/>
                </a:solidFill>
                <a:ea typeface="Meiryo UI"/>
                <a:latin typeface="Meiryo UI"/>
              </a:rPr>
              <a:t>  学力調査（国語：平均正答率%）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80000" y="940000"/>
          <a:ext cx="4350000" cy="8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000"/>
                <a:gridCol w="437000"/>
                <a:gridCol w="437000"/>
                <a:gridCol w="437000"/>
                <a:gridCol w="437000"/>
                <a:gridCol w="437000"/>
                <a:gridCol w="437000"/>
                <a:gridCol w="437000"/>
                <a:gridCol w="441000"/>
              </a:tblGrid>
              <a:tr h="164000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国語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小R4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小R5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小R6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小R7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中R4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中R5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中R6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中R7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</a:tr>
              <a:tr h="164000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大泉桜学園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60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62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65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60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56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</a:tr>
              <a:tr h="164000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練馬区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64000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東京都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64000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全国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65.6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67.2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67.7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66.8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69.8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58.1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54.3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610000" y="670000"/>
            <a:ext cx="4350000" cy="24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900" b="1">
                <a:solidFill>
                  <a:srgbClr val="FFFFFF"/>
                </a:solidFill>
                <a:ea typeface="Meiryo UI"/>
                <a:latin typeface="Meiryo UI"/>
              </a:rPr>
              <a:t>  学力調査（算数・数学：平均正答率%）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610000" y="940000"/>
          <a:ext cx="4350000" cy="8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000"/>
                <a:gridCol w="437000"/>
                <a:gridCol w="437000"/>
                <a:gridCol w="437000"/>
                <a:gridCol w="437000"/>
                <a:gridCol w="437000"/>
                <a:gridCol w="437000"/>
                <a:gridCol w="437000"/>
                <a:gridCol w="441000"/>
              </a:tblGrid>
              <a:tr h="164000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算数/数学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小R4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小R5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小R6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小R7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中R4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中R5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中R6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中R7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</a:tr>
              <a:tr h="164000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大泉桜学園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62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56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52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55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52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</a:tr>
              <a:tr h="164000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練馬区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64000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東京都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64000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全国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63.2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62.5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63.4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51.4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52.5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48.3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180000" y="1810000"/>
            <a:ext cx="4350000" cy="240000"/>
          </a:xfrm>
          <a:prstGeom prst="rect">
            <a:avLst/>
          </a:prstGeom>
          <a:solidFill>
            <a:srgbClr val="E69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900" b="1">
                <a:solidFill>
                  <a:srgbClr val="FFFFFF"/>
                </a:solidFill>
                <a:ea typeface="Meiryo UI"/>
                <a:latin typeface="Meiryo UI"/>
              </a:rPr>
              <a:t>  学力合計点 区内順位（年度推移）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80000" y="2080000"/>
          <a:ext cx="4350000" cy="4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0000"/>
                <a:gridCol w="468000"/>
                <a:gridCol w="468000"/>
                <a:gridCol w="468000"/>
                <a:gridCol w="468000"/>
                <a:gridCol w="468000"/>
                <a:gridCol w="468000"/>
                <a:gridCol w="468000"/>
                <a:gridCol w="474000"/>
              </a:tblGrid>
              <a:tr h="14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/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H29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H30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R1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R3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R4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R5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R6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R7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</a:tr>
              <a:tr h="14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小(/65)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63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64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</a:tr>
              <a:tr h="14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中(/33)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22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25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22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4610000" y="1810000"/>
            <a:ext cx="4350000" cy="24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900" b="1">
                <a:solidFill>
                  <a:srgbClr val="FFFFFF"/>
                </a:solidFill>
                <a:ea typeface="Meiryo UI"/>
                <a:latin typeface="Meiryo UI"/>
              </a:rPr>
              <a:t>  不登校児童生徒数（人）／出現率(中%) ★R7=34名 過去最多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610000" y="2080000"/>
          <a:ext cx="3968000" cy="10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0000"/>
                <a:gridCol w="382000"/>
                <a:gridCol w="382000"/>
                <a:gridCol w="382000"/>
                <a:gridCol w="382000"/>
                <a:gridCol w="382000"/>
                <a:gridCol w="382000"/>
                <a:gridCol w="382000"/>
                <a:gridCol w="382000"/>
                <a:gridCol w="382000"/>
              </a:tblGrid>
              <a:tr h="15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/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H29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H30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R元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R2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R3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R4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R5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R6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R7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</a:tr>
              <a:tr h="150000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小学部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14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17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</a:tr>
              <a:tr h="150000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中学部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21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23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21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18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17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</a:tr>
              <a:tr h="150000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全体計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26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28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32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34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</a:tr>
              <a:tr h="150000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中桜%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5.13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5.93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3.52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5.63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10.50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11.11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10.40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-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-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50000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中区%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3.20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3.26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4.35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4.80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5.23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6.13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6.90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-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-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50000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中都%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3.78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4.33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4.76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4.93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5.76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6.85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7.80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-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-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180000" y="2610000"/>
            <a:ext cx="4350000" cy="24000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900" b="1">
                <a:solidFill>
                  <a:srgbClr val="FFFFFF"/>
                </a:solidFill>
                <a:ea typeface="Meiryo UI"/>
                <a:latin typeface="Meiryo UI"/>
              </a:rPr>
              <a:t>  体力テスト R6→R7 順位推移 ★R7改善傾向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80000" y="2880000"/>
          <a:ext cx="4350000" cy="9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0000"/>
                <a:gridCol w="600000"/>
                <a:gridCol w="750000"/>
                <a:gridCol w="600000"/>
                <a:gridCol w="750000"/>
                <a:gridCol w="950000"/>
              </a:tblGrid>
              <a:tr h="18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対象</a:t>
                      </a:r>
                    </a:p>
                  </a:txBody>
                  <a:tcPr marL="36000" marR="36000" marT="18000" marB="18000">
                    <a:solidFill>
                      <a:srgbClr val="4F81B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R6点</a:t>
                      </a:r>
                    </a:p>
                  </a:txBody>
                  <a:tcPr marL="36000" marR="36000" marT="18000" marB="18000">
                    <a:solidFill>
                      <a:srgbClr val="4F81B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R6順位</a:t>
                      </a:r>
                    </a:p>
                  </a:txBody>
                  <a:tcPr marL="36000" marR="36000" marT="18000" marB="18000">
                    <a:solidFill>
                      <a:srgbClr val="4F81B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R7点</a:t>
                      </a:r>
                    </a:p>
                  </a:txBody>
                  <a:tcPr marL="36000" marR="36000" marT="18000" marB="18000">
                    <a:solidFill>
                      <a:srgbClr val="4F81B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R7順位</a:t>
                      </a:r>
                    </a:p>
                  </a:txBody>
                  <a:tcPr marL="36000" marR="36000" marT="18000" marB="18000">
                    <a:solidFill>
                      <a:srgbClr val="4F81B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変化</a:t>
                      </a:r>
                    </a:p>
                  </a:txBody>
                  <a:tcPr marL="36000" marR="36000" marT="18000" marB="18000">
                    <a:solidFill>
                      <a:srgbClr val="4F81BD"/>
                    </a:solidFill>
                  </a:tcPr>
                </a:tc>
              </a:tr>
              <a:tr h="18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小5男子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50.89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45/65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53.58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12/65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4F81BD"/>
                          </a:solidFill>
                          <a:ea typeface="Meiryo UI"/>
                          <a:latin typeface="Meiryo UI"/>
                        </a:rPr>
                        <a:t>↑33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</a:tr>
              <a:tr h="18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小5女子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50.57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58/65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52.21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33/65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4F81BD"/>
                          </a:solidFill>
                          <a:ea typeface="Meiryo UI"/>
                          <a:latin typeface="Meiryo UI"/>
                        </a:rPr>
                        <a:t>↑25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</a:tr>
              <a:tr h="18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中2男子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41.08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12/33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43.67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10/33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4F81BD"/>
                          </a:solidFill>
                          <a:ea typeface="Meiryo UI"/>
                          <a:latin typeface="Meiryo UI"/>
                        </a:rPr>
                        <a:t>↑2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</a:tr>
              <a:tr h="18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中2女子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42.58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28/33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49.36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9/33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4F81BD"/>
                          </a:solidFill>
                          <a:ea typeface="Meiryo UI"/>
                          <a:latin typeface="Meiryo UI"/>
                        </a:rPr>
                        <a:t>↑19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</a:tr>
            </a:tbl>
          </a:graphicData>
        </a:graphic>
      </p:graphicFrame>
      <p:sp>
        <p:nvSpPr>
          <p:cNvPr id="18" name="Rectangle 17"/>
          <p:cNvSpPr/>
          <p:nvPr/>
        </p:nvSpPr>
        <p:spPr>
          <a:xfrm>
            <a:off x="4610000" y="3210000"/>
            <a:ext cx="4350000" cy="24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900" b="1">
                <a:solidFill>
                  <a:srgbClr val="FFFFFF"/>
                </a:solidFill>
                <a:ea typeface="Meiryo UI"/>
                <a:latin typeface="Meiryo UI"/>
              </a:rPr>
              <a:t>  R5→R6→R7 推移：いじめ・暴力（件数）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610000" y="3480000"/>
          <a:ext cx="4350000" cy="9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0000"/>
                <a:gridCol w="550000"/>
                <a:gridCol w="550000"/>
                <a:gridCol w="550000"/>
                <a:gridCol w="1200000"/>
              </a:tblGrid>
              <a:tr h="18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項目</a:t>
                      </a:r>
                    </a:p>
                  </a:txBody>
                  <a:tcPr marL="36000" marR="36000" marT="18000" marB="18000">
                    <a:solidFill>
                      <a:srgbClr val="C050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R5</a:t>
                      </a:r>
                    </a:p>
                  </a:txBody>
                  <a:tcPr marL="36000" marR="36000" marT="18000" marB="18000">
                    <a:solidFill>
                      <a:srgbClr val="C050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R6</a:t>
                      </a:r>
                    </a:p>
                  </a:txBody>
                  <a:tcPr marL="36000" marR="36000" marT="18000" marB="18000">
                    <a:solidFill>
                      <a:srgbClr val="C050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R7</a:t>
                      </a:r>
                    </a:p>
                  </a:txBody>
                  <a:tcPr marL="36000" marR="36000" marT="18000" marB="18000">
                    <a:solidFill>
                      <a:srgbClr val="C050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傾向</a:t>
                      </a:r>
                    </a:p>
                  </a:txBody>
                  <a:tcPr marL="36000" marR="36000" marT="18000" marB="18000">
                    <a:solidFill>
                      <a:srgbClr val="C0504D"/>
                    </a:solidFill>
                  </a:tcPr>
                </a:tc>
              </a:tr>
              <a:tr h="18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いじめ認知（小）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↑急増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</a:tr>
              <a:tr h="18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いじめ認知（中）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↑増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</a:tr>
              <a:tr h="18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暴力行為（小）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─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8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暴力行為（中）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↑増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180000" y="3830000"/>
            <a:ext cx="4350000" cy="22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900" b="1">
                <a:solidFill>
                  <a:srgbClr val="FFFFFF"/>
                </a:solidFill>
                <a:ea typeface="Meiryo UI"/>
                <a:latin typeface="Meiryo UI"/>
              </a:rPr>
              <a:t>  R7最新データの総合所見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000" y="4080000"/>
            <a:ext cx="4350000" cy="480000"/>
          </a:xfrm>
          <a:prstGeom prst="rect">
            <a:avLst/>
          </a:prstGeom>
          <a:solidFill>
            <a:srgbClr val="F7F7F7"/>
          </a:solidFill>
          <a:ln w="6350">
            <a:solidFill>
              <a:srgbClr val="1F4E79"/>
            </a:solidFill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800" b="0">
                <a:solidFill>
                  <a:srgbClr val="333333"/>
                </a:solidFill>
                <a:ea typeface="Meiryo UI"/>
                <a:latin typeface="Meiryo UI"/>
              </a:rPr>
              <a:t>● 学力R7：小は国語65・算数52、中は国語56・数学52</a:t>
            </a:r>
          </a:p>
          <a:p>
            <a:pPr algn="l"/>
            <a:r>
              <a:rPr sz="800" b="0">
                <a:solidFill>
                  <a:srgbClr val="333333"/>
                </a:solidFill>
                <a:ea typeface="Meiryo UI"/>
                <a:latin typeface="Meiryo UI"/>
              </a:rPr>
              <a:t>  ─ 区平均・都平均を大きく下回り、小は区最下位水準</a:t>
            </a:r>
          </a:p>
          <a:p>
            <a:pPr algn="l"/>
            <a:r>
              <a:rPr sz="800" b="0">
                <a:solidFill>
                  <a:srgbClr val="333333"/>
                </a:solidFill>
                <a:ea typeface="Meiryo UI"/>
                <a:latin typeface="Meiryo UI"/>
              </a:rPr>
              <a:t>● 不登校R7=34名で過去最多更新（小17・中17）</a:t>
            </a:r>
          </a:p>
          <a:p>
            <a:pPr algn="l"/>
            <a:r>
              <a:rPr sz="800" b="0">
                <a:solidFill>
                  <a:srgbClr val="333333"/>
                </a:solidFill>
                <a:ea typeface="Meiryo UI"/>
                <a:latin typeface="Meiryo UI"/>
              </a:rPr>
              <a:t>● 体力R7改善も学年差・年度変動が大きく要観察</a:t>
            </a:r>
          </a:p>
          <a:p>
            <a:pPr algn="l"/>
            <a:r>
              <a:rPr sz="800" b="0">
                <a:solidFill>
                  <a:srgbClr val="333333"/>
                </a:solidFill>
                <a:ea typeface="Meiryo UI"/>
                <a:latin typeface="Meiryo UI"/>
              </a:rPr>
              <a:t>● いじめ・暴力もR6→R7で増加傾向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0000" y="4660000"/>
            <a:ext cx="8780000" cy="18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不登校はR7=34名で過去最多更新（小17・中17）。体力はR7改善も学力・小規模化の課題は継続。一貫教育の総合的優位性は依然として確認されず。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0000" y="180000"/>
            <a:ext cx="280000" cy="28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ea typeface="Meiryo UI"/>
                <a:latin typeface="Meiryo U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0000" y="150000"/>
            <a:ext cx="7800000" cy="340000"/>
          </a:xfrm>
          <a:prstGeom prst="rect">
            <a:avLst/>
          </a:prstGeom>
          <a:noFill/>
        </p:spPr>
        <p:txBody>
          <a:bodyPr wrap="none" lIns="36000" tIns="0" bIns="0" anchor="ctr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  <a:ea typeface="Meiryo UI"/>
                <a:latin typeface="Meiryo UI"/>
              </a:rPr>
              <a:t>結論：新規開設の効果なし／代替施策と費用対効果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180000" y="510000"/>
            <a:ext cx="8780000" cy="1500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920000"/>
            <a:ext cx="3000000" cy="1800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800" b="0">
                <a:solidFill>
                  <a:srgbClr val="767676"/>
                </a:solidFill>
                <a:ea typeface="Meiryo UI"/>
                <a:latin typeface="Meiryo UI"/>
              </a:rPr>
              <a:t>練馬区教育委員会 教育振興部教育指導課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40000" y="4920000"/>
            <a:ext cx="280000" cy="1800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r"/>
            <a:r>
              <a:rPr sz="800" b="0">
                <a:solidFill>
                  <a:srgbClr val="767676"/>
                </a:solidFill>
                <a:ea typeface="Meiryo UI"/>
                <a:latin typeface="Meiryo UI"/>
              </a:rPr>
              <a:t>- 4 -</a:t>
            </a:r>
          </a:p>
        </p:txBody>
      </p:sp>
      <p:sp>
        <p:nvSpPr>
          <p:cNvPr id="8" name="Rectangle 7"/>
          <p:cNvSpPr/>
          <p:nvPr/>
        </p:nvSpPr>
        <p:spPr>
          <a:xfrm>
            <a:off x="180000" y="670000"/>
            <a:ext cx="8780000" cy="26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1100" b="1">
                <a:solidFill>
                  <a:srgbClr val="FFFFFF"/>
                </a:solidFill>
                <a:ea typeface="Meiryo UI"/>
                <a:latin typeface="Meiryo UI"/>
              </a:rPr>
              <a:t>  大泉桜学園 開校15年（H23.4〜）R7最新データ反映：3観点で「効果なし」／1観点で「部分改善」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180000" y="970000"/>
            <a:ext cx="4350000" cy="26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100" b="1">
                <a:solidFill>
                  <a:srgbClr val="FFFFFF"/>
                </a:solidFill>
                <a:ea typeface="Meiryo UI"/>
                <a:latin typeface="Meiryo UI"/>
              </a:rPr>
              <a:t>① 学力向上効果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0000" y="1230000"/>
            <a:ext cx="4350000" cy="780000"/>
          </a:xfrm>
          <a:prstGeom prst="rect">
            <a:avLst/>
          </a:prstGeom>
          <a:solidFill>
            <a:srgbClr val="FBEEED"/>
          </a:solidFill>
          <a:ln w="6350">
            <a:solidFill>
              <a:srgbClr val="C0504D"/>
            </a:solidFill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区・都平均を継続的に下回る項目が多数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R6中：国語60(区62)、数学55(区60)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区内順位 中学校R6=25位（R5=3位から急落）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小学校R6=63位（直近最低水準）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→ 開校15年経過も学力向上の効果なし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10000" y="970000"/>
            <a:ext cx="4400000" cy="26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100" b="1">
                <a:solidFill>
                  <a:srgbClr val="FFFFFF"/>
                </a:solidFill>
                <a:ea typeface="Meiryo UI"/>
                <a:latin typeface="Meiryo UI"/>
              </a:rPr>
              <a:t>② 不登校・中1ギャップ解消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0000" y="1230000"/>
            <a:ext cx="4400000" cy="780000"/>
          </a:xfrm>
          <a:prstGeom prst="rect">
            <a:avLst/>
          </a:prstGeom>
          <a:solidFill>
            <a:srgbClr val="FBEEED"/>
          </a:solidFill>
          <a:ln w="6350">
            <a:solidFill>
              <a:srgbClr val="C0504D"/>
            </a:solidFill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中学部不登校率R5=10.40%（区6.90%・都7.80%）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不登校総数：H28=13→R5=28→R6=32→R7=34（過去最多）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いじめ・暴力行為もR6→R7で増加傾向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「滑らかな接続」効果はデータ上未確認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→ R7も悪化継続。一貫校化の主要目的が未達成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0000" y="2090000"/>
            <a:ext cx="4350000" cy="26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100" b="1">
                <a:solidFill>
                  <a:srgbClr val="FFFFFF"/>
                </a:solidFill>
                <a:ea typeface="Meiryo UI"/>
                <a:latin typeface="Meiryo UI"/>
              </a:rPr>
              <a:t>③ 小規模校化対応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0000" y="2350000"/>
            <a:ext cx="4350000" cy="780000"/>
          </a:xfrm>
          <a:prstGeom prst="rect">
            <a:avLst/>
          </a:prstGeom>
          <a:solidFill>
            <a:srgbClr val="FBEEED"/>
          </a:solidFill>
          <a:ln w="6350">
            <a:solidFill>
              <a:srgbClr val="C0504D"/>
            </a:solidFill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桜中進学率 80%(R3)→67%(R7) と低下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中学部入学者：89人(R4)→61人(R7)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部活動の休部が進行（バスケR6夏・野球R7夏）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区全体は安定／区人口は今後20年大きな増減なし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→ 一貫校化しても流出と小規模化は止まらず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10000" y="2090000"/>
            <a:ext cx="4400000" cy="260000"/>
          </a:xfrm>
          <a:prstGeom prst="rect">
            <a:avLst/>
          </a:prstGeom>
          <a:solidFill>
            <a:srgbClr val="E69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100" b="1">
                <a:solidFill>
                  <a:srgbClr val="FFFFFF"/>
                </a:solidFill>
                <a:ea typeface="Meiryo UI"/>
                <a:latin typeface="Meiryo UI"/>
              </a:rPr>
              <a:t>④ 体力・運営・コスト（一部肯定／コスト課題継続）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0000" y="2350000"/>
            <a:ext cx="4400000" cy="780000"/>
          </a:xfrm>
          <a:prstGeom prst="rect">
            <a:avLst/>
          </a:prstGeom>
          <a:solidFill>
            <a:srgbClr val="FDF1E3"/>
          </a:solidFill>
          <a:ln w="6350">
            <a:solidFill>
              <a:srgbClr val="E69B4D"/>
            </a:solidFill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○ 体力R7：小5男45→12位、中2女28→9位と改善傾向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△ ただし学年差・年度差大きく中長期で要検証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体育施設・特別教室は体格差で運用課題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新設費用（用地・改築）と運営負荷は継続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→ 体力面の効果も既存校連携で再現可能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0000" y="3240000"/>
            <a:ext cx="8780000" cy="26000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1100" b="1">
                <a:solidFill>
                  <a:srgbClr val="FFFFFF"/>
                </a:solidFill>
                <a:ea typeface="Meiryo UI"/>
                <a:latin typeface="Meiryo UI"/>
              </a:rPr>
              <a:t>  推奨される代替施策と費用対効果（試算）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180000" y="3540000"/>
          <a:ext cx="8780000" cy="10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00"/>
                <a:gridCol w="2200000"/>
                <a:gridCol w="2780000"/>
                <a:gridCol w="1000000"/>
              </a:tblGrid>
              <a:tr h="175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施策</a:t>
                      </a:r>
                    </a:p>
                  </a:txBody>
                  <a:tcPr marL="36000" marR="36000" marT="18000" marB="18000">
                    <a:solidFill>
                      <a:srgbClr val="4F81B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想定費用（区負担）</a:t>
                      </a:r>
                    </a:p>
                  </a:txBody>
                  <a:tcPr marL="36000" marR="36000" marT="18000" marB="18000">
                    <a:solidFill>
                      <a:srgbClr val="4F81B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期待効果</a:t>
                      </a:r>
                    </a:p>
                  </a:txBody>
                  <a:tcPr marL="36000" marR="36000" marT="18000" marB="18000">
                    <a:solidFill>
                      <a:srgbClr val="4F81B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実施期間</a:t>
                      </a:r>
                    </a:p>
                  </a:txBody>
                  <a:tcPr marL="36000" marR="36000" marT="18000" marB="18000">
                    <a:solidFill>
                      <a:srgbClr val="4F81BD"/>
                    </a:solidFill>
                  </a:tcPr>
                </a:tc>
              </a:tr>
              <a:tr h="175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新規小中一貫教育校1校開設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用地・改築・整備：数十億円規模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本資料の通り明確な優位性なし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5～10年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75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既存校の小中連携協議会拡充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数百万円／年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中1ギャップ対策・進学情報共有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即時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75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教員加配・教科担任制（高学年）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1校あたり年数百万円～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学習面の連続性確保・学力向上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1～2年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75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ICT活用による9年間カリキュラム連携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数千万円／全区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全区児童生徒へ均等に普及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1～3年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75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スクールカウンセラー・SSW増配置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1人あたり年数百万円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不登校・特別支援ニーズ対応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即時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Rectangle 18"/>
          <p:cNvSpPr/>
          <p:nvPr/>
        </p:nvSpPr>
        <p:spPr>
          <a:xfrm>
            <a:off x="180000" y="4620000"/>
            <a:ext cx="8780000" cy="24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【教育委員会提言】R7最新データ反映後も新規開設の総合的効果・費用対効果は確認されず。体力改善は要因分析の上、低コスト施策で全区展開を。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DOfficeLightV0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4aa989f2-4f24-4115-80d0-4b427f33fe26" xsi:nil="true"/>
    <lcf76f155ced4ddcb4097134ff3c332f xmlns="cd550872-52b3-404b-9d46-a3b4a694ae19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EA35E67A365C3745BE3012373B810583" ma:contentTypeVersion="15" ma:contentTypeDescription="新しいドキュメントを作成します。" ma:contentTypeScope="" ma:versionID="02ca84a8e582c3e5970d179293281e54">
  <xsd:schema xmlns:xsd="http://www.w3.org/2001/XMLSchema" xmlns:xs="http://www.w3.org/2001/XMLSchema" xmlns:p="http://schemas.microsoft.com/office/2006/metadata/properties" xmlns:ns2="cd550872-52b3-404b-9d46-a3b4a694ae19" xmlns:ns3="4aa989f2-4f24-4115-80d0-4b427f33fe26" targetNamespace="http://schemas.microsoft.com/office/2006/metadata/properties" ma:root="true" ma:fieldsID="1a715c918518d21b9772170beef79984" ns2:_="" ns3:_="">
    <xsd:import namespace="cd550872-52b3-404b-9d46-a3b4a694ae19"/>
    <xsd:import namespace="4aa989f2-4f24-4115-80d0-4b427f33fe2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LengthInSecond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d550872-52b3-404b-9d46-a3b4a694ae1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3" nillable="true" ma:taxonomy="true" ma:internalName="lcf76f155ced4ddcb4097134ff3c332f" ma:taxonomyFieldName="MediaServiceImageTags" ma:displayName="画像タグ" ma:readOnly="false" ma:fieldId="{5cf76f15-5ced-4ddc-b409-7134ff3c332f}" ma:taxonomyMulti="true" ma:sspId="3959c720-f9d9-4eba-b64c-74427fd13a9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aa989f2-4f24-4115-80d0-4b427f33fe26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d66197a3-bf49-4c3c-b93c-2e9d5048c940}" ma:internalName="TaxCatchAll" ma:showField="CatchAllData" ma:web="4aa989f2-4f24-4115-80d0-4b427f33fe2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7785AF8-D12D-4D8D-86F0-F20FFEB18186}">
  <ds:schemaRefs>
    <ds:schemaRef ds:uri="cd550872-52b3-404b-9d46-a3b4a694ae19"/>
    <ds:schemaRef ds:uri="http://schemas.microsoft.com/office/2006/metadata/properties"/>
    <ds:schemaRef ds:uri="http://purl.org/dc/elements/1.1/"/>
    <ds:schemaRef ds:uri="http://schemas.microsoft.com/office/infopath/2007/PartnerControls"/>
    <ds:schemaRef ds:uri="http://schemas.microsoft.com/office/2006/documentManagement/types"/>
    <ds:schemaRef ds:uri="http://schemas.openxmlformats.org/package/2006/metadata/core-properties"/>
    <ds:schemaRef ds:uri="http://www.w3.org/XML/1998/namespace"/>
    <ds:schemaRef ds:uri="4aa989f2-4f24-4115-80d0-4b427f33fe26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B88A1D99-C7D1-4DD4-8D7B-D9BF01C90CEC}">
  <ds:schemaRefs>
    <ds:schemaRef ds:uri="4aa989f2-4f24-4115-80d0-4b427f33fe26"/>
    <ds:schemaRef ds:uri="cd550872-52b3-404b-9d46-a3b4a694ae19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0E09BD97-97B3-411B-8247-3E829DA990A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TM02900720[[fn=インテグラル]]</Template>
  <TotalTime>24</TotalTime>
  <Words>1147</Words>
  <Application>Microsoft Office PowerPoint</Application>
  <PresentationFormat>画面に合わせる (16:9)</PresentationFormat>
  <Paragraphs>115</Paragraphs>
  <Slides>7</Slides>
  <Notes>6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10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7</vt:i4>
      </vt:variant>
    </vt:vector>
  </HeadingPairs>
  <TitlesOfParts>
    <vt:vector size="19" baseType="lpstr">
      <vt:lpstr>BIZ UDPゴシック</vt:lpstr>
      <vt:lpstr>HGP創英角ｺﾞｼｯｸUB</vt:lpstr>
      <vt:lpstr>Meiryo UI</vt:lpstr>
      <vt:lpstr>メイリオ</vt:lpstr>
      <vt:lpstr>游ゴシック</vt:lpstr>
      <vt:lpstr>游ゴシック Light</vt:lpstr>
      <vt:lpstr>Arial</vt:lpstr>
      <vt:lpstr>Calibri</vt:lpstr>
      <vt:lpstr>Calibri Light</vt:lpstr>
      <vt:lpstr>Wingdings 2</vt:lpstr>
      <vt:lpstr>HDOfficeLightV0</vt:lpstr>
      <vt:lpstr>Office テーマ</vt:lpstr>
      <vt:lpstr> 小中一貫教育（大泉桜学園）について 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澁谷　悠万</dc:creator>
  <cp:lastModifiedBy>紺多　章一郎</cp:lastModifiedBy>
  <cp:revision>6</cp:revision>
  <cp:lastPrinted>2026-05-12T05:32:54Z</cp:lastPrinted>
  <dcterms:created xsi:type="dcterms:W3CDTF">2022-06-22T00:35:16Z</dcterms:created>
  <dcterms:modified xsi:type="dcterms:W3CDTF">2026-05-22T08:15:57Z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0x010100EA35E67A365C3745BE3012373B810583</vt:lpwstr>
  </property>
  <property fmtid="{D5CDD505-2E9C-101B-9397-08002B2CF9AE}" pid="3" name="MediaServiceImageTags">
    <vt:lpwstr/>
  </property>
</Properties>
</file>