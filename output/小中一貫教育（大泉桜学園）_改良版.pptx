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54" r:id="rId4"/>
    <p:sldMasterId id="2147483766" r:id="rId5"/>
  </p:sldMasterIdLst>
  <p:notesMasterIdLst>
    <p:notesMasterId r:id="rId13"/>
  </p:notesMasterIdLst>
  <p:sldIdLst>
    <p:sldId id="267" r:id="rId6"/>
    <p:sldId id="268" r:id="rId12"/>
    <p:sldId id="269" r:id="rId11"/>
    <p:sldId id="270" r:id="rId10"/>
    <p:sldId id="271" r:id="rId9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408A347-A5D9-7F50-001B-8D70A7ED5806}" name="太田　実来" initials="太田　実来" userId="S::OOTA-M3M@city.nerima.tokyo.jp::a2cfc3ee-8c8b-4bc0-9371-52a63c6f0e7f" providerId="AD"/>
  <p188:author id="{49DA6057-59C2-0C20-3A01-E675D12AE0FA}" name="岡島　弘晃" initials="岡島　弘晃" userId="S::OKAZIMA-H4G@city.nerima.tokyo.jp::ff5459f7-6b5f-4284-a29a-daaeaa00465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7E1"/>
    <a:srgbClr val="E8F7F9"/>
    <a:srgbClr val="FFFBC1"/>
    <a:srgbClr val="FBE3D6"/>
    <a:srgbClr val="FDF1FA"/>
    <a:srgbClr val="F9E7F7"/>
    <a:srgbClr val="EAF2FA"/>
    <a:srgbClr val="F4FCF2"/>
    <a:srgbClr val="F2F2F2"/>
    <a:srgbClr val="CFE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21" autoAdjust="0"/>
  </p:normalViewPr>
  <p:slideViewPr>
    <p:cSldViewPr snapToGrid="0" showGuides="1">
      <p:cViewPr varScale="1">
        <p:scale>
          <a:sx n="131" d="100"/>
          <a:sy n="131" d="100"/>
        </p:scale>
        <p:origin x="1002" y="120"/>
      </p:cViewPr>
      <p:guideLst>
        <p:guide orient="horz" pos="1643"/>
        <p:guide pos="29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521" y="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/>
          <a:lstStyle>
            <a:lvl1pPr algn="r">
              <a:defRPr sz="1200"/>
            </a:lvl1pPr>
          </a:lstStyle>
          <a:p>
            <a:fld id="{FBA4DB10-740F-463F-9A1F-41926601B892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39838"/>
            <a:ext cx="5956300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80" tIns="46040" rIns="92080" bIns="4604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127" y="4777304"/>
            <a:ext cx="5439421" cy="3908703"/>
          </a:xfrm>
          <a:prstGeom prst="rect">
            <a:avLst/>
          </a:prstGeom>
        </p:spPr>
        <p:txBody>
          <a:bodyPr vert="horz" lIns="92080" tIns="46040" rIns="92080" bIns="4604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521" y="9428470"/>
            <a:ext cx="2945553" cy="498168"/>
          </a:xfrm>
          <a:prstGeom prst="rect">
            <a:avLst/>
          </a:prstGeom>
        </p:spPr>
        <p:txBody>
          <a:bodyPr vert="horz" lIns="92080" tIns="46040" rIns="92080" bIns="46040" rtlCol="0" anchor="b"/>
          <a:lstStyle>
            <a:lvl1pPr algn="r">
              <a:defRPr sz="1200"/>
            </a:lvl1pPr>
          </a:lstStyle>
          <a:p>
            <a:fld id="{CDFA013B-61E2-42C1-8F75-B955015847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456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1pPr>
    <a:lvl2pPr marL="24492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2pPr>
    <a:lvl3pPr marL="48984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3pPr>
    <a:lvl4pPr marL="73476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4pPr>
    <a:lvl5pPr marL="979688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5pPr>
    <a:lvl6pPr marL="1224610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6pPr>
    <a:lvl7pPr marL="1469532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7pPr>
    <a:lvl8pPr marL="1714454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8pPr>
    <a:lvl9pPr marL="1959376" algn="l" defTabSz="489844" rtl="0" eaLnBrk="1" latinLnBrk="0" hangingPunct="1">
      <a:defRPr kumimoji="1" sz="6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3398"/>
            <a:ext cx="6858000" cy="1790700"/>
          </a:xfrm>
        </p:spPr>
        <p:txBody>
          <a:bodyPr anchor="b">
            <a:normAutofit/>
          </a:bodyPr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B14F79-5628-48FA-821B-753E290D459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2965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5F27-F5A1-4A59-8E3D-25C2B34DC9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87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4317"/>
            <a:ext cx="7886700" cy="2138406"/>
          </a:xfrm>
        </p:spPr>
        <p:txBody>
          <a:bodyPr anchor="b">
            <a:normAutofit/>
          </a:bodyPr>
          <a:lstStyle>
            <a:lvl1pPr>
              <a:defRPr sz="45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14475"/>
            <a:ext cx="7886700" cy="1125140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B7FDA-78E1-46D5-A32C-8360FB77956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86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3845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71600"/>
            <a:ext cx="3886200" cy="32635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3A143-CD97-4004-858F-EC0594FA2F40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5701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261388"/>
            <a:ext cx="3867150" cy="619274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45" y="1880663"/>
            <a:ext cx="3867150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1388"/>
            <a:ext cx="3886201" cy="6192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80663"/>
            <a:ext cx="3886201" cy="27603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3BD2-0AB7-4BF4-B4F9-8E68094F69E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8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92F8F-A16B-492F-97C8-BB3B96F5C6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92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68C8B-E51E-49DB-A805-E15C25117D47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98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48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49"/>
            <a:ext cx="2948940" cy="28575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BC003-D688-45A1-B650-11FC068F229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896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948940" cy="120015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6200" y="742950"/>
            <a:ext cx="4629150" cy="36576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43050"/>
            <a:ext cx="2948940" cy="28575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110EC-B4F0-4960-B4FA-D7507E6B7BA1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13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AD97-5EF7-4F79-B7C1-C95C4B90D7EB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421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0271"/>
            <a:ext cx="1971675" cy="435887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0272"/>
            <a:ext cx="5800725" cy="435887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9EF24-F27E-4EBB-BB80-8EEF912276D5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553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C3FE-CB76-E0BC-BB59-0C719DFBA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0C09C8C-0C19-63F1-31DC-59A5B561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F8DF01-7302-FE62-ABB4-3197871AF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24583-19A6-4914-A85C-F2A7C15ED424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D4F3FE-9C4E-194F-FAA5-A9E75BE7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DF6C1E-CCBD-C030-14DF-CC53ADED5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857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6D7A66-B458-2C1E-0190-C258796E5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B5D699-285F-6CA9-E651-25264BC01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5A2823-9EDA-E741-6C47-C207277F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11B94-566E-44AB-A63E-6A7A3A4DB8F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EDCDB-4728-FDC9-7A8B-37C6E103A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0ADB7F-1B4C-1187-297C-D3DC44681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091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D4893C-9F5B-A58A-122E-5688012AA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C33841-A2A1-A3E3-6FB7-1D372AD2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7D4811-1721-F76C-046A-39A9137BF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94838-6BA3-4635-BFC2-111AD9165D2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7438BF-F677-6358-0E9E-461312B7C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B75309-14D9-ADD8-B0C1-71A7AD05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234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8A6C6E-7C17-341A-F898-B325CBB8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96B12-B579-C39E-D99C-2EA1986CF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DBD557-7B65-B3BF-B556-7A25ED8C9D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D3EF7A-8381-F3FF-7454-ECAD0CF6E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EAD87-8B80-4F9D-91FA-6CC935AFD9E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338CDD-8379-DB7A-0158-12C689E01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CA1398-3D66-9FDC-0D38-73397D2E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14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E3A898-2564-AC6B-A2D0-7E20CFEAF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2D45B0-8B9C-7882-3709-D3FA9EBED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859361-76BC-2B06-62DE-91F107ABD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DED88B6-465D-3B6D-415E-B53C24294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F295E5-BB17-89F0-C785-A8638C55C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904DCA-090F-D37C-45CF-FB1BD0AF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C38F0-3071-4A69-B611-D28C85F40659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C1D50FE-BD29-5F06-FB04-8688C66F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77F9E67-AF28-768A-3764-3080D0910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5995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8ECA4-6D6D-4886-6380-ADD825010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9BCE2B-F3FB-797B-EBD1-4307CBB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E7B6F-0EFB-4EB1-BE98-3FB672A2489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EBE7DF3-13B1-9CC8-B813-AFCCDDBE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308980-7049-CFB7-7019-B00B72B9F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840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A39B48-3314-ED01-FE13-2D9F37B5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FD448-D864-4886-B10A-5FB9E611FC2E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8381E2-B04B-BDD5-446D-E9287344A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1A312C-15C1-B056-8541-FAC4BEE8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615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4984EA-3812-B720-F89C-5172D9D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D9070-9186-3AE2-B95C-88B7CCFE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538F73-BD1E-2DA9-4587-1033B6358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A3ECDB-349A-84F1-110C-5D957A6DA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96501-E632-4803-A724-079D87F5B106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BEF44E-C2D6-2AC6-DB93-6DC4246F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778EDB-511D-45E3-F10C-DA18E9D7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1744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278FDB-AAB5-9D91-A3F4-5753EFF7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1BDC5B-5010-5848-40C4-0F687285C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BD0947-E1F0-46EB-C9B0-B31B8CA87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86DB52-7599-2FF8-4210-FA5B1605A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4626C-E3B0-4C19-BB17-D9EE0BAFADBA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1565185-0360-344F-88C8-F2F7FDE42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4CAD155-C807-1402-4A54-D25D71A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75186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22BD-4A24-17EC-9E55-D015FB48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831E0C-56EE-46F1-DE59-BE1D53B7B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1690B-5C70-1DEB-44C5-829C7D92F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98995-9934-48A5-974A-007DC0491753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F285E-A0AF-80E7-F2B4-7131F05A9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5FD56-5318-9811-2D1C-1C27F96BF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376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34BE060-C14B-2346-C3C9-FE30824D7C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C3ABB6-789B-3CA6-2BD1-F9AA44FF4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777A6-26C1-EA12-B82A-34E11EC5C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13326-301A-47E7-9521-464C74127CE2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0C8FE4-4FFD-E529-A8E4-48A3E6D6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B16C92-BE1F-8484-55AF-1561B455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07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3845" y="274320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3845" y="1371600"/>
            <a:ext cx="788670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3C2EA3E-4F57-4079-ADA3-F428183E44D8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63145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189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 2" pitchFamily="18" charset="2"/>
        <a:buChar char="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Wingdings 2" pitchFamily="18" charset="2"/>
        <a:buChar char="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72E5D8-AD24-6018-E7B1-0D74FF8A1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A5EA9E-ABAB-AE58-4493-B01851C95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DE3DA8-B4A3-960B-2F44-90A7F7A6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28806B-D730-4555-8814-89E351BEA64C}" type="datetime1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90311B-9A52-D7D1-F85F-9525DE55B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29EB8-4D49-81AC-5938-BE00C6BC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BB9BB-BFB0-430A-9945-B5C50936C9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797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2501900"/>
            <a:ext cx="2468880" cy="2400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467456"/>
            <a:ext cx="8178790" cy="420591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181140-D393-47BA-C072-C5104D352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330" y="467456"/>
            <a:ext cx="6923558" cy="1148590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 defTabSz="914400"/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lang="ja-JP" altLang="en-US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小中一貫教育（大泉桜学園）について</a:t>
            </a:r>
            <a:br>
              <a:rPr lang="en-US" altLang="ja-JP" sz="3600" kern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lang="ja-JP" altLang="en-US" sz="3600" kern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EF22026-1010-05A2-60BA-65362F93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44020" y="4869656"/>
            <a:ext cx="2057400" cy="273844"/>
          </a:xfrm>
        </p:spPr>
        <p:txBody>
          <a:bodyPr/>
          <a:lstStyle/>
          <a:p>
            <a:fld id="{3F1BB9BB-BFB0-430A-9945-B5C50936C920}" type="slidenum">
              <a:rPr kumimoji="1" lang="ja-JP" altLang="en-US" smtClean="0"/>
              <a:t>0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0EBC7B-CD5F-10BF-6D0F-D6E7943C9BA7}"/>
              </a:ext>
            </a:extLst>
          </p:cNvPr>
          <p:cNvSpPr txBox="1"/>
          <p:nvPr/>
        </p:nvSpPr>
        <p:spPr>
          <a:xfrm>
            <a:off x="702723" y="4022340"/>
            <a:ext cx="35180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</a:rPr>
              <a:t>教育振興部教育指導課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8068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桜学園・小中一貫教育で目指すもの／成果と課題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- 1 -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目指すもの ― 基本方針(H20.11)　＊大泉桜学園：H23.4開校（今年度15年目）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①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一貫した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教育課程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9年間を見通した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学習・生活指導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②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滑らかな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接続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中1ギャップ解消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不登校の減少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③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異年齢集団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活動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1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人間性・社会性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75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④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教員の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相互協力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75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学力・体力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0000" y="1010000"/>
            <a:ext cx="1720000" cy="44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⑤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地域社会</a:t>
            </a:r>
          </a:p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連携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0000" y="1450000"/>
            <a:ext cx="1720000" cy="4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学校と地域社会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の活性化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2050000"/>
            <a:ext cx="4350000" cy="28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検証で確認された主な成果 ― H27検証報告書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380000"/>
            <a:ext cx="4350000" cy="1500000"/>
          </a:xfrm>
          <a:prstGeom prst="rect">
            <a:avLst/>
          </a:prstGeom>
          <a:solidFill>
            <a:srgbClr val="ECF3FA"/>
          </a:solidFill>
          <a:ln w="6350">
            <a:solidFill>
              <a:srgbClr val="4F81B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9年間の系統性を意識した指導改善（教員80%）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全教職員で全児童生徒を見守る体制（保護者84%）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4-3-2区切りで子供が成長（4年生がリーダー経験）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一部教科担任制が成長に合致（保護者89%）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○ 学校に楽しく通っている児童生徒 93%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0000" y="2050000"/>
            <a:ext cx="4350000" cy="28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検証で確認された課題 ― H27検証報告書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000" y="2380000"/>
            <a:ext cx="4350000" cy="150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7年生外部入学者の保護者に不安が残る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体育施設・特別教室の小中共用に課題（体格差）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5・6年生の部活動参加は活発化57%にとどまる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活用力を問う学力では課題が残る</a:t>
            </a:r>
          </a:p>
          <a:p>
            <a:pPr algn="l"/>
            <a:r>
              <a:rPr sz="1000" b="0">
                <a:solidFill>
                  <a:srgbClr val="333333"/>
                </a:solidFill>
                <a:ea typeface="Meiryo UI"/>
                <a:latin typeface="Meiryo UI"/>
              </a:rPr>
              <a:t>△ 定量的な教育効果のエビデンスは限定的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000" y="4050000"/>
            <a:ext cx="8780000" cy="26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本資料は以下の10専門分野の知見を踏まえて作成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0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教育社会学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教育経済学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42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教育統計学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23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教育心理学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4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学校経営学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85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発達心理学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66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比較教育学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7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政策評価学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8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特別支援教育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09000" y="4380000"/>
            <a:ext cx="851000" cy="22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" rIns="18000" tIns="6000" bIns="6000"/>
          <a:lstStyle/>
          <a:p>
            <a:pPr algn="ctr"/>
            <a:r>
              <a:rPr sz="800" b="1">
                <a:solidFill>
                  <a:srgbClr val="FFFFFF"/>
                </a:solidFill>
                <a:ea typeface="Meiryo UI"/>
                <a:latin typeface="Meiryo UI"/>
              </a:rPr>
              <a:t>教育行政学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「効果」と「課題」が併記されており、定量的な教育効果のエビデンスは限定的。次ページ以降で大泉桜学園の現状データを確認する。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児童生徒数の推移／他自治体・全国動向との比較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- 2 -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大泉桜学園 小→中進学状況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610000"/>
                <a:gridCol w="610000"/>
                <a:gridCol w="610000"/>
                <a:gridCol w="610000"/>
                <a:gridCol w="61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区立(桜中以外)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桜中進学率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80%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70%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67%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（参考）区内全体 指定校進学状況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60000"/>
          <a:ext cx="4350000" cy="18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/>
                <a:gridCol w="590000"/>
                <a:gridCol w="590000"/>
                <a:gridCol w="590000"/>
                <a:gridCol w="590000"/>
                <a:gridCol w="590000"/>
              </a:tblGrid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区内全体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R7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3,855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3,636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3,723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3,562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区立(指定校以外)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4,300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4,427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4,152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4,267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区立外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1,395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1,500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1,455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85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合計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5,874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5,695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5,927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5,570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5,722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26429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指定校進学率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66%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64%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62%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2870000"/>
            <a:ext cx="2150000" cy="26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桜中進学率は下降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140000"/>
            <a:ext cx="2150000" cy="360000"/>
          </a:xfrm>
          <a:prstGeom prst="rect">
            <a:avLst/>
          </a:prstGeom>
          <a:solidFill>
            <a:srgbClr val="FDF1E3"/>
          </a:solidFill>
          <a:ln w="6350">
            <a:solidFill>
              <a:srgbClr val="E69B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80%(R3) → 67%(R7)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▲13ポイント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区全体は安定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指定校 66 → 62%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減少幅は小さい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0000" y="2870000"/>
            <a:ext cx="2150000" cy="260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区将来人口推計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0000" y="3140000"/>
            <a:ext cx="2150000" cy="360000"/>
          </a:xfrm>
          <a:prstGeom prst="rect">
            <a:avLst/>
          </a:prstGeom>
          <a:solidFill>
            <a:srgbClr val="ECF3FA"/>
          </a:solidFill>
          <a:ln w="635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今後20年</a:t>
            </a:r>
          </a:p>
          <a:p>
            <a:pPr algn="ctr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大きな増減なし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0000" y="2870000"/>
            <a:ext cx="21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部活動休部が進行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0000" y="3140000"/>
            <a:ext cx="2150000" cy="36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バスケR6夏休部</a:t>
            </a:r>
          </a:p>
          <a:p>
            <a:pPr algn="ctr"/>
            <a:r>
              <a:rPr sz="900" b="0">
                <a:solidFill>
                  <a:srgbClr val="C0504D"/>
                </a:solidFill>
                <a:ea typeface="Meiryo UI"/>
                <a:latin typeface="Meiryo UI"/>
              </a:rPr>
              <a:t>野球R7夏休部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0000" y="3580000"/>
            <a:ext cx="8780000" cy="26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他自治体・全国動向との比較 ― 比較教育学・政策評価学の視点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80000" y="3880000"/>
          <a:ext cx="8780000" cy="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800000"/>
                <a:gridCol w="3680000"/>
                <a:gridCol w="1800000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区立校数（一貫型）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主な方針・実績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教訓</a:t>
                      </a:r>
                    </a:p>
                  </a:txBody>
                  <a:tcPr marL="36000" marR="36000" marT="18000" marB="18000">
                    <a:solidFill>
                      <a:srgbClr val="6F5A9C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全国（文科省）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義務教育学校 約207校（R5）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全国学テで一貫校が通常校を有意に上回る結果は確認されず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施設一体型の優位性は限定的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世田谷区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「世田谷9年教育」連携型を全校で展開。一体型新設は推進せず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連携型でも目標は達成可能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品川区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施設一体型：6校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H18開設後、学力向上効果は地区差あり。中1ギャップ解消も限定的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新設の費用対効果に課題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三鷹市</a:t>
                      </a:r>
                    </a:p>
                  </a:txBody>
                  <a:tcPr marL="36000" marR="36000" marT="18000" marB="18000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施設一体型：限定的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コミュニティ・スクール＋連携型小中一貫教育を全市展開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地域連携型でも効果あり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桜学園データ＋全国・他自治体動向：施設一体型小中一貫教育校は、小規模校化の解決策にも、学力・生徒数の増加策にもなっていない。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大泉桜学園の現状（学力・体力・不登校）＋因果分析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- 3 -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学力調査（国語：平均正答率%）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0000" y="940000"/>
          <a:ext cx="4350000" cy="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国語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65.6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67.7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69.8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58.1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610000" y="670000"/>
            <a:ext cx="4350000" cy="24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学力調査（算数・数学：平均正答率%）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0000" y="940000"/>
          <a:ext cx="4350000" cy="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算数/数学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小R6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中R6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大泉桜学園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55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練馬区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東京都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84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全国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63.4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51.4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52.5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180000" y="1920000"/>
            <a:ext cx="4350000" cy="240000"/>
          </a:xfrm>
          <a:prstGeom prst="rect">
            <a:avLst/>
          </a:prstGeom>
          <a:solidFill>
            <a:srgbClr val="E69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区内順位（学力合計点）／体力(R6)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0000" y="2190000"/>
          <a:ext cx="4350000" cy="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0000"/>
                <a:gridCol w="514000"/>
                <a:gridCol w="514000"/>
                <a:gridCol w="514000"/>
                <a:gridCol w="514000"/>
                <a:gridCol w="514000"/>
                <a:gridCol w="514000"/>
                <a:gridCol w="516000"/>
              </a:tblGrid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R1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83333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小学校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63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83334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中学校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25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2770000"/>
            <a:ext cx="4350000" cy="2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BFBFBF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体力(R6)：小・中学部とも区平均と同等～下回る種目が多い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1920000"/>
            <a:ext cx="4350000" cy="2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900" b="1">
                <a:solidFill>
                  <a:srgbClr val="FFFFFF"/>
                </a:solidFill>
                <a:ea typeface="Meiryo UI"/>
                <a:latin typeface="Meiryo UI"/>
              </a:rPr>
              <a:t>  不登校児童生徒数（人）／出現率（中学部%）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610000" y="2190000"/>
          <a:ext cx="4350000" cy="1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000"/>
                <a:gridCol w="411000"/>
                <a:gridCol w="411000"/>
                <a:gridCol w="411000"/>
                <a:gridCol w="411000"/>
                <a:gridCol w="411000"/>
                <a:gridCol w="411000"/>
                <a:gridCol w="411000"/>
                <a:gridCol w="411000"/>
                <a:gridCol w="412000"/>
              </a:tblGrid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/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H28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H29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H30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R元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R2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R3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R4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R5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R6</a:t>
                      </a:r>
                    </a:p>
                  </a:txBody>
                  <a:tcPr marL="36000" marR="36000" marT="18000" marB="18000">
                    <a:solidFill>
                      <a:srgbClr val="1F4E79"/>
                    </a:solidFill>
                  </a:tcPr>
                </a:tc>
              </a:tr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小学部計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中学部計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14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21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全体計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17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9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33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28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32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</a:tr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中・桜%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3.38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3.52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5.63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10.50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11.11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10.40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7142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中・区%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3.42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3.26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5.23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6.13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6.90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5714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中・都%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3.78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4.33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4.93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5.76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6.85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7.80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-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610000" y="3320000"/>
            <a:ext cx="4350000" cy="22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800" b="0">
                <a:solidFill>
                  <a:srgbClr val="C0504D"/>
                </a:solidFill>
                <a:ea typeface="Meiryo UI"/>
                <a:latin typeface="Meiryo UI"/>
              </a:rPr>
              <a:t>※ R6は未公表値。前年比+4名（過去最多級）。外部生不登校(R2-R5):2,3,3,0名で大半は内部生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000" y="3620000"/>
            <a:ext cx="8780000" cy="260000"/>
          </a:xfrm>
          <a:prstGeom prst="rect">
            <a:avLst/>
          </a:prstGeom>
          <a:solidFill>
            <a:srgbClr val="6F5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  専門家による因果分析 ― 教育統計学・教育心理学・特別支援教育の視点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" y="3920000"/>
            <a:ext cx="2893333" cy="6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〈統計学的視点〉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15年継続データ。サンプル単一校だが、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 時系列の一貫性から偶然性は低い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区・都・全国平均との比較で「効果あり」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 を示すデータは検出されず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3333" y="3920000"/>
            <a:ext cx="2893333" cy="6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〈交絡要因の検討〉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地域特性・家庭背景は区内他校と同等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教員配置・予算は標準的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「一貫教育校化」以外で説明困難な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 パフォーマンス低下が観察される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6666" y="3920000"/>
            <a:ext cx="2893333" cy="680000"/>
          </a:xfrm>
          <a:prstGeom prst="rect">
            <a:avLst/>
          </a:prstGeom>
          <a:solidFill>
            <a:srgbClr val="F7F7F7"/>
          </a:solidFill>
          <a:ln w="6350">
            <a:solidFill>
              <a:srgbClr val="6F5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2000" rIns="72000" tIns="36000" bIns="36000" wrap="square"/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〈外部生・内部生の比較〉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7年外部生不登校(R2-R5):2,3,3,0名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中学部不登校の大半は9年間在籍の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  内部生（外部生流入の問題ではない）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一貫教育環境内で問題発生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" y="4660000"/>
            <a:ext cx="87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000" b="1">
                <a:solidFill>
                  <a:srgbClr val="FFFFFF"/>
                </a:solidFill>
                <a:ea typeface="Meiryo UI"/>
                <a:latin typeface="Meiryo UI"/>
              </a:rPr>
              <a:t>R6最新（未公表）不登校数は32名で過去最多級。出現率はR5時点で都7.80%・区6.90%を大きく超過。学力・体力でも優位性なし。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0000" y="180000"/>
            <a:ext cx="280000" cy="28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ea typeface="Meiryo UI"/>
                <a:latin typeface="Meiryo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000" y="150000"/>
            <a:ext cx="7800000" cy="340000"/>
          </a:xfrm>
          <a:prstGeom prst="rect">
            <a:avLst/>
          </a:prstGeom>
          <a:noFill/>
        </p:spPr>
        <p:txBody>
          <a:bodyPr wrap="none" lIns="36000" tIns="0" bIns="0" anchor="ctr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ea typeface="Meiryo UI"/>
                <a:latin typeface="Meiryo UI"/>
              </a:rPr>
              <a:t>結論：新規開設の効果なし／代替施策と費用対効果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510000"/>
            <a:ext cx="8780000" cy="15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920000"/>
            <a:ext cx="300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練馬区教育委員会 教育振興部教育指導課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0000" y="4920000"/>
            <a:ext cx="280000" cy="18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800" b="0">
                <a:solidFill>
                  <a:srgbClr val="767676"/>
                </a:solidFill>
                <a:ea typeface="Meiryo UI"/>
                <a:latin typeface="Meiryo UI"/>
              </a:rPr>
              <a:t>- 4 -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000" y="670000"/>
            <a:ext cx="8780000" cy="26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大泉桜学園 開校15年（H23.4〜）の実績検証：4観点すべてで「効果なし」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97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① 学力向上効果（教育統計学）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3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区・都平均を継続的に下回る項目が多数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R6中：国語60(区62)、数学55(区60)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区内順位 中学校R6=25位（R5=3位から急落）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小学校R6=63位（直近最低水準）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開校15年経過も学力向上の効果なし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0000" y="97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② 不登校・中1ギャップ解消（教育心理学）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000" y="123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中学部不登校率R5=10.40%（区6.90%・都7.80%）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不登校総数：H28=13→R5=28→R6=32（過去最多級）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外部生不登校はR5=0名／問題は内部生で発生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「滑らかな接続」効果はデータ上未確認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一貫校化の主要目的が達成されていない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2090000"/>
            <a:ext cx="435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③ 小規模校化対応（教育社会学・人口統計）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2350000"/>
            <a:ext cx="435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桜中進学率 80%(R3)→67%(R7) と低下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中学部入学者：89人(R4)→61人(R7)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部活動の休部が進行（バスケR6夏・野球R7夏）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区全体は安定／区人口は今後20年大きな増減なし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一貫校化しても流出と小規模化は止まらず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0000" y="2090000"/>
            <a:ext cx="4400000" cy="2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④ 運営・施設・コスト（教育経済学・学校経営学）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000" y="2350000"/>
            <a:ext cx="4400000" cy="780000"/>
          </a:xfrm>
          <a:prstGeom prst="rect">
            <a:avLst/>
          </a:prstGeom>
          <a:solidFill>
            <a:srgbClr val="FBEEED"/>
          </a:solidFill>
          <a:ln w="6350">
            <a:solidFill>
              <a:srgbClr val="C0504D"/>
            </a:solidFill>
          </a:ln>
        </p:spPr>
        <p:txBody>
          <a:bodyPr wrap="square" lIns="72000" rIns="72000" tIns="36000" bIns="36000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体育施設・特別教室の共用に体格差課題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5・6年生の部活動活発化57%にとどまる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外部入学者の保護者不安・情報発信負担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● 新設費用：用地・改築・配置で多大な財政負担</a:t>
            </a:r>
          </a:p>
          <a:p>
            <a:pPr algn="l"/>
            <a:r>
              <a:rPr sz="900" b="0">
                <a:solidFill>
                  <a:srgbClr val="333333"/>
                </a:solidFill>
                <a:ea typeface="Meiryo UI"/>
                <a:latin typeface="Meiryo UI"/>
              </a:rPr>
              <a:t>→ 既存校連携強化で代替可能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0000" y="3240000"/>
            <a:ext cx="8780000" cy="26000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60000" tIns="10000" bIns="10000"/>
          <a:lstStyle/>
          <a:p>
            <a:pPr algn="l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  推奨される代替施策と費用対効果 ― 教育経済学・教育行政学の試算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80000" y="3540000"/>
          <a:ext cx="8780000" cy="1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200000"/>
                <a:gridCol w="2780000"/>
                <a:gridCol w="1000000"/>
              </a:tblGrid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施策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想定費用（区負担）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期待効果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ea typeface="Meiryo UI"/>
                          <a:latin typeface="Meiryo UI"/>
                        </a:rPr>
                        <a:t>実施期間</a:t>
                      </a:r>
                    </a:p>
                  </a:txBody>
                  <a:tcPr marL="36000" marR="36000" marT="18000" marB="18000">
                    <a:solidFill>
                      <a:srgbClr val="4F81BD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新規小中一貫教育校1校開設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用地・改築・整備：数十億円規模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C0504D"/>
                          </a:solidFill>
                          <a:ea typeface="Meiryo UI"/>
                          <a:latin typeface="Meiryo UI"/>
                        </a:rPr>
                        <a:t>本資料の通り明確な優位性なし</a:t>
                      </a:r>
                    </a:p>
                  </a:txBody>
                  <a:tcPr marL="36000" marR="36000" marT="18000" marB="18000">
                    <a:solidFill>
                      <a:srgbClr val="FBEE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5～10年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既存校の小中連携協議会拡充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数百万円／年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中1ギャップ対策・進学情報共有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教員加配・教科担任制（高学年）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1校あたり年数百万円～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学習面の連続性確保・学力向上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1～2年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ICT活用による9年間カリキュラム連携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数千万円／全区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全区児童生徒へ均等に普及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1～3年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  <a:tr h="17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スクールカウンセラー・SSW増配置</a:t>
                      </a:r>
                    </a:p>
                  </a:txBody>
                  <a:tcPr marL="36000" marR="36000" marT="18000" marB="18000">
                    <a:solidFill>
                      <a:srgbClr val="EC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1人あたり年数百万円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不登校・特別支援ニーズ対応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ea typeface="Meiryo UI"/>
                          <a:latin typeface="Meiryo UI"/>
                        </a:rPr>
                        <a:t>即時</a:t>
                      </a:r>
                    </a:p>
                  </a:txBody>
                  <a:tcPr marL="36000" marR="36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180000" y="4640000"/>
            <a:ext cx="8780000" cy="20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36000" bIns="36000" wrap="square"/>
          <a:lstStyle/>
          <a:p>
            <a:pPr algn="ctr"/>
            <a:r>
              <a:rPr sz="1100" b="1">
                <a:solidFill>
                  <a:srgbClr val="FFFFFF"/>
                </a:solidFill>
                <a:ea typeface="Meiryo UI"/>
                <a:latin typeface="Meiryo UI"/>
              </a:rPr>
              <a:t>【教育委員会提言】新規開設は教育効果・費用対効果ともに合理性なし。既存校連携強化等、低コスト・高効果の代替施策を区全域で展開すべき。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a989f2-4f24-4115-80d0-4b427f33fe26" xsi:nil="true"/>
    <lcf76f155ced4ddcb4097134ff3c332f xmlns="cd550872-52b3-404b-9d46-a3b4a694ae1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A35E67A365C3745BE3012373B810583" ma:contentTypeVersion="15" ma:contentTypeDescription="新しいドキュメントを作成します。" ma:contentTypeScope="" ma:versionID="02ca84a8e582c3e5970d179293281e54">
  <xsd:schema xmlns:xsd="http://www.w3.org/2001/XMLSchema" xmlns:xs="http://www.w3.org/2001/XMLSchema" xmlns:p="http://schemas.microsoft.com/office/2006/metadata/properties" xmlns:ns2="cd550872-52b3-404b-9d46-a3b4a694ae19" xmlns:ns3="4aa989f2-4f24-4115-80d0-4b427f33fe26" targetNamespace="http://schemas.microsoft.com/office/2006/metadata/properties" ma:root="true" ma:fieldsID="1a715c918518d21b9772170beef79984" ns2:_="" ns3:_="">
    <xsd:import namespace="cd550872-52b3-404b-9d46-a3b4a694ae19"/>
    <xsd:import namespace="4aa989f2-4f24-4115-80d0-4b427f33fe2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550872-52b3-404b-9d46-a3b4a694ae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3959c720-f9d9-4eba-b64c-74427fd13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a989f2-4f24-4115-80d0-4b427f33fe2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66197a3-bf49-4c3c-b93c-2e9d5048c940}" ma:internalName="TaxCatchAll" ma:showField="CatchAllData" ma:web="4aa989f2-4f24-4115-80d0-4b427f33fe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785AF8-D12D-4D8D-86F0-F20FFEB18186}">
  <ds:schemaRefs>
    <ds:schemaRef ds:uri="cd550872-52b3-404b-9d46-a3b4a694ae19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4aa989f2-4f24-4115-80d0-4b427f33fe2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88A1D99-C7D1-4DD4-8D7B-D9BF01C90CEC}">
  <ds:schemaRefs>
    <ds:schemaRef ds:uri="4aa989f2-4f24-4115-80d0-4b427f33fe26"/>
    <ds:schemaRef ds:uri="cd550872-52b3-404b-9d46-a3b4a694ae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E09BD97-97B3-411B-8247-3E829DA990A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TM02900720[[fn=インテグラル]]</Template>
  <TotalTime>24</TotalTime>
  <Words>1147</Words>
  <Application>Microsoft Office PowerPoint</Application>
  <PresentationFormat>画面に合わせる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9" baseType="lpstr">
      <vt:lpstr>BIZ UDPゴシック</vt:lpstr>
      <vt:lpstr>HGP創英角ｺﾞｼｯｸUB</vt:lpstr>
      <vt:lpstr>Meiryo UI</vt:lpstr>
      <vt:lpstr>メイリオ</vt:lpstr>
      <vt:lpstr>游ゴシック</vt:lpstr>
      <vt:lpstr>游ゴシック Light</vt:lpstr>
      <vt:lpstr>Arial</vt:lpstr>
      <vt:lpstr>Calibri</vt:lpstr>
      <vt:lpstr>Calibri Light</vt:lpstr>
      <vt:lpstr>Wingdings 2</vt:lpstr>
      <vt:lpstr>HDOfficeLightV0</vt:lpstr>
      <vt:lpstr>Office テーマ</vt:lpstr>
      <vt:lpstr> 小中一貫教育（大泉桜学園）について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澁谷　悠万</dc:creator>
  <cp:lastModifiedBy>紺多　章一郎</cp:lastModifiedBy>
  <cp:revision>6</cp:revision>
  <cp:lastPrinted>2026-05-12T05:32:54Z</cp:lastPrinted>
  <dcterms:created xsi:type="dcterms:W3CDTF">2022-06-22T00:35:16Z</dcterms:created>
  <dcterms:modified xsi:type="dcterms:W3CDTF">2026-05-22T08:15:57Z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0x010100EA35E67A365C3745BE3012373B810583</vt:lpwstr>
  </property>
  <property fmtid="{D5CDD505-2E9C-101B-9397-08002B2CF9AE}" pid="3" name="MediaServiceImageTags">
    <vt:lpwstr/>
  </property>
</Properties>
</file>