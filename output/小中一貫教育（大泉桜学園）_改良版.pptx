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54" r:id="rId4"/>
    <p:sldMasterId id="2147483766" r:id="rId5"/>
  </p:sldMasterIdLst>
  <p:notesMasterIdLst>
    <p:notesMasterId r:id="rId13"/>
  </p:notesMasterIdLst>
  <p:sldIdLst>
    <p:sldId id="267" r:id="rId6"/>
    <p:sldId id="268" r:id="rId12"/>
    <p:sldId id="269" r:id="rId11"/>
    <p:sldId id="270" r:id="rId10"/>
    <p:sldId id="271" r:id="rId9"/>
  </p:sldIdLst>
  <p:sldSz cx="9144000" cy="5143500" type="screen16x9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08A347-A5D9-7F50-001B-8D70A7ED5806}" name="太田　実来" initials="太田　実来" userId="S::OOTA-M3M@city.nerima.tokyo.jp::a2cfc3ee-8c8b-4bc0-9371-52a63c6f0e7f" providerId="AD"/>
  <p188:author id="{49DA6057-59C2-0C20-3A01-E675D12AE0FA}" name="岡島　弘晃" initials="岡島　弘晃" userId="S::OKAZIMA-H4G@city.nerima.tokyo.jp::ff5459f7-6b5f-4284-a29a-daaeaa00465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7E1"/>
    <a:srgbClr val="E8F7F9"/>
    <a:srgbClr val="FFFBC1"/>
    <a:srgbClr val="FBE3D6"/>
    <a:srgbClr val="FDF1FA"/>
    <a:srgbClr val="F9E7F7"/>
    <a:srgbClr val="EAF2FA"/>
    <a:srgbClr val="F4FCF2"/>
    <a:srgbClr val="F2F2F2"/>
    <a:srgbClr val="CFE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921" autoAdjust="0"/>
  </p:normalViewPr>
  <p:slideViewPr>
    <p:cSldViewPr snapToGrid="0" showGuides="1">
      <p:cViewPr varScale="1">
        <p:scale>
          <a:sx n="131" d="100"/>
          <a:sy n="131" d="100"/>
        </p:scale>
        <p:origin x="1002" y="120"/>
      </p:cViewPr>
      <p:guideLst>
        <p:guide orient="horz" pos="1643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553" cy="498168"/>
          </a:xfrm>
          <a:prstGeom prst="rect">
            <a:avLst/>
          </a:prstGeom>
        </p:spPr>
        <p:txBody>
          <a:bodyPr vert="horz" lIns="92080" tIns="46040" rIns="92080" bIns="4604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521" y="0"/>
            <a:ext cx="2945553" cy="498168"/>
          </a:xfrm>
          <a:prstGeom prst="rect">
            <a:avLst/>
          </a:prstGeom>
        </p:spPr>
        <p:txBody>
          <a:bodyPr vert="horz" lIns="92080" tIns="46040" rIns="92080" bIns="46040" rtlCol="0"/>
          <a:lstStyle>
            <a:lvl1pPr algn="r">
              <a:defRPr sz="1200"/>
            </a:lvl1pPr>
          </a:lstStyle>
          <a:p>
            <a:fld id="{FBA4DB10-740F-463F-9A1F-41926601B892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080" tIns="46040" rIns="92080" bIns="4604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127" y="4777304"/>
            <a:ext cx="5439421" cy="3908703"/>
          </a:xfrm>
          <a:prstGeom prst="rect">
            <a:avLst/>
          </a:prstGeom>
        </p:spPr>
        <p:txBody>
          <a:bodyPr vert="horz" lIns="92080" tIns="46040" rIns="92080" bIns="4604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470"/>
            <a:ext cx="2945553" cy="498168"/>
          </a:xfrm>
          <a:prstGeom prst="rect">
            <a:avLst/>
          </a:prstGeom>
        </p:spPr>
        <p:txBody>
          <a:bodyPr vert="horz" lIns="92080" tIns="46040" rIns="92080" bIns="4604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521" y="9428470"/>
            <a:ext cx="2945553" cy="498168"/>
          </a:xfrm>
          <a:prstGeom prst="rect">
            <a:avLst/>
          </a:prstGeom>
        </p:spPr>
        <p:txBody>
          <a:bodyPr vert="horz" lIns="92080" tIns="46040" rIns="92080" bIns="46040" rtlCol="0" anchor="b"/>
          <a:lstStyle>
            <a:lvl1pPr algn="r">
              <a:defRPr sz="1200"/>
            </a:lvl1pPr>
          </a:lstStyle>
          <a:p>
            <a:fld id="{CDFA013B-61E2-42C1-8F75-B955015847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45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1pPr>
    <a:lvl2pPr marL="244922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2pPr>
    <a:lvl3pPr marL="489844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3pPr>
    <a:lvl4pPr marL="734766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4pPr>
    <a:lvl5pPr marL="979688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5pPr>
    <a:lvl6pPr marL="1224610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6pPr>
    <a:lvl7pPr marL="1469532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7pPr>
    <a:lvl8pPr marL="1714454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8pPr>
    <a:lvl9pPr marL="1959376" algn="l" defTabSz="489844" rtl="0" eaLnBrk="1" latinLnBrk="0" hangingPunct="1">
      <a:defRPr kumimoji="1" sz="6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3398"/>
            <a:ext cx="6858000" cy="17907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14F79-5628-48FA-821B-753E290D4591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96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5F27-F5A1-4A59-8E3D-25C2B34DC994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8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17"/>
            <a:ext cx="7886700" cy="2138406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14475"/>
            <a:ext cx="78867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B7FDA-78E1-46D5-A32C-8360FB779569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86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371600"/>
            <a:ext cx="3886200" cy="32635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3886200" cy="32635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3A143-CD97-4004-858F-EC0594FA2F40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5701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261388"/>
            <a:ext cx="3867150" cy="6192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1880663"/>
            <a:ext cx="3867150" cy="27603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1388"/>
            <a:ext cx="3886201" cy="6192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663"/>
            <a:ext cx="3886201" cy="27603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43BD2-0AB7-4BF4-B4F9-8E68094F69EC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92F8F-A16B-492F-97C8-BB3B96F5C624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2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68C8B-E51E-49DB-A805-E15C25117D47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98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48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49"/>
            <a:ext cx="2948940" cy="28575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BC003-D688-45A1-B650-11FC068F2294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896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5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50"/>
            <a:ext cx="2948940" cy="2857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110EC-B4F0-4960-B4FA-D7507E6B7BA1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513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3AD97-5EF7-4F79-B7C1-C95C4B90D7EB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42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0271"/>
            <a:ext cx="1971675" cy="435887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0272"/>
            <a:ext cx="5800725" cy="435887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9EF24-F27E-4EBB-BB80-8EEF912276D5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553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B7C3FE-CB76-E0BC-BB59-0C719DFBA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0C09C8C-0C19-63F1-31DC-59A5B561D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F8DF01-7302-FE62-ABB4-3197871A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4583-19A6-4914-A85C-F2A7C15ED424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D4F3FE-9C4E-194F-FAA5-A9E75BE7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DF6C1E-CCBD-C030-14DF-CC53ADED5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28571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D7A66-B458-2C1E-0190-C258796E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B5D699-285F-6CA9-E651-25264BC01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5A2823-9EDA-E741-6C47-C207277F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11B94-566E-44AB-A63E-6A7A3A4DB8F2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BEDCDB-4728-FDC9-7A8B-37C6E103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0ADB7F-1B4C-1187-297C-D3DC4468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6091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D4893C-9F5B-A58A-122E-5688012AA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C33841-A2A1-A3E3-6FB7-1D372AD28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7D4811-1721-F76C-046A-39A9137B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94838-6BA3-4635-BFC2-111AD9165D23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7438BF-F677-6358-0E9E-461312B7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B75309-14D9-ADD8-B0C1-71A7AD05F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234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8A6C6E-7C17-341A-F898-B325CBB8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896B12-B579-C39E-D99C-2EA1986CF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DBD557-7B65-B3BF-B556-7A25ED8C9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D3EF7A-8381-F3FF-7454-ECAD0CF6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EAD87-8B80-4F9D-91FA-6CC935AFD9EE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338CDD-8379-DB7A-0158-12C689E0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CA1398-3D66-9FDC-0D38-73397D2E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114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E3A898-2564-AC6B-A2D0-7E20CFEA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2D45B0-8B9C-7882-3709-D3FA9EBED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859361-76BC-2B06-62DE-91F107ABD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ED88B6-465D-3B6D-415E-B53C24294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7F295E5-BB17-89F0-C785-A8638C55C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904DCA-090F-D37C-45CF-FB1BD0AF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38F0-3071-4A69-B611-D28C85F40659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C1D50FE-BD29-5F06-FB04-8688C66F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7F9E67-AF28-768A-3764-3080D0910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599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68ECA4-6D6D-4886-6380-ADD82501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9BCE2B-F3FB-797B-EBD1-4307CBBD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7B6F-0EFB-4EB1-BE98-3FB672A24892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EBE7DF3-13B1-9CC8-B813-AFCCDDBE5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7308980-7049-CFB7-7019-B00B72B9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6840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A39B48-3314-ED01-FE13-2D9F37B5A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D448-D864-4886-B10A-5FB9E611FC2E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8381E2-B04B-BDD5-446D-E9287344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1A312C-15C1-B056-8541-FAC4BEE8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5615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4984EA-3812-B720-F89C-5172D9D8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AD9070-9186-3AE2-B95C-88B7CCFE8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538F73-BD1E-2DA9-4587-1033B6358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A3ECDB-349A-84F1-110C-5D957A6D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96501-E632-4803-A724-079D87F5B106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BEF44E-C2D6-2AC6-DB93-6DC4246F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778EDB-511D-45E3-F10C-DA18E9D7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174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278FDB-AAB5-9D91-A3F4-5753EFF7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E1BDC5B-5010-5848-40C4-0F687285C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BD0947-E1F0-46EB-C9B0-B31B8CA87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86DB52-7599-2FF8-4210-FA5B1605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4626C-E3B0-4C19-BB17-D9EE0BAFADBA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565185-0360-344F-88C8-F2F7FDE4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CAD155-C807-1402-4A54-D25D71A2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75186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D22BD-4A24-17EC-9E55-D015FB484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831E0C-56EE-46F1-DE59-BE1D53B7B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A1690B-5C70-1DEB-44C5-829C7D92F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8995-9934-48A5-974A-007DC0491753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7F285E-A0AF-80E7-F2B4-7131F05A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45FD56-5318-9811-2D1C-1C27F96B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376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34BE060-C14B-2346-C3C9-FE30824D7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C3ABB6-789B-3CA6-2BD1-F9AA44FF4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7777A6-26C1-EA12-B82A-34E11EC5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13326-301A-47E7-9521-464C74127CE2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0C8FE4-4FFD-E529-A8E4-48A3E6D6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B16C92-BE1F-8484-55AF-1561B455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07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3C2EA3E-4F57-4079-ADA3-F428183E44D8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18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272E5D8-AD24-6018-E7B1-0D74FF8A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A5EA9E-ABAB-AE58-4493-B01851C95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DE3DA8-B4A3-960B-2F44-90A7F7A6C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8806B-D730-4555-8814-89E351BEA64C}" type="datetime1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90311B-9A52-D7D1-F85F-9525DE55B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429EB8-4D49-81AC-5938-BE00C6BCC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BB9BB-BFB0-430A-9945-B5C50936C9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797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501900"/>
            <a:ext cx="2468880" cy="2400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467456"/>
            <a:ext cx="8178790" cy="420591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181140-D393-47BA-C072-C5104D35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330" y="467456"/>
            <a:ext cx="6923558" cy="1148590"/>
          </a:xfrm>
          <a:noFill/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 defTabSz="914400"/>
            <a:br>
              <a:rPr lang="en-US" altLang="ja-JP" sz="3600" kern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3600" kern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小中一貫教育（大泉桜学園）について</a:t>
            </a:r>
            <a:br>
              <a:rPr lang="en-US" altLang="ja-JP" sz="3600" kern="12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lang="ja-JP" altLang="en-US" sz="3600" kern="12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F22026-1010-05A2-60BA-65362F93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44020" y="4869656"/>
            <a:ext cx="2057400" cy="273844"/>
          </a:xfrm>
        </p:spPr>
        <p:txBody>
          <a:bodyPr/>
          <a:lstStyle/>
          <a:p>
            <a:fld id="{3F1BB9BB-BFB0-430A-9945-B5C50936C920}" type="slidenum">
              <a:rPr kumimoji="1" lang="ja-JP" altLang="en-US" smtClean="0"/>
              <a:t>0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C0EBC7B-CD5F-10BF-6D0F-D6E7943C9BA7}"/>
              </a:ext>
            </a:extLst>
          </p:cNvPr>
          <p:cNvSpPr txBox="1"/>
          <p:nvPr/>
        </p:nvSpPr>
        <p:spPr>
          <a:xfrm>
            <a:off x="702723" y="4022340"/>
            <a:ext cx="3518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教育振興部教育指導課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980680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0" y="42000"/>
            <a:ext cx="9144000" cy="461000"/>
          </a:xfrm>
          <a:prstGeom prst="homePlate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20000" bIns="20000"/>
          <a:lstStyle/>
          <a:p>
            <a:pPr algn="l"/>
            <a:r>
              <a:rPr sz="2200" b="1">
                <a:solidFill>
                  <a:srgbClr val="FFFFFF"/>
                </a:solidFill>
                <a:ea typeface="Meiryo UI"/>
                <a:latin typeface="Meiryo UI"/>
              </a:rPr>
              <a:t>１　桜学園・小中一貫教育で目指すもの／成果と課題（声）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50000" y="4830000"/>
            <a:ext cx="1380000" cy="260000"/>
          </a:xfrm>
          <a:prstGeom prst="round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000" bIns="10000"/>
          <a:lstStyle/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教育振興部教育指導課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0000" y="4830000"/>
            <a:ext cx="280000" cy="26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ea typeface="Meiryo UI"/>
                <a:latin typeface="Meiryo UI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580000"/>
            <a:ext cx="4200000" cy="32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■ 小中一貫教育校設置の効果（基本方針 H20.11）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950000"/>
            <a:ext cx="4200000" cy="1500000"/>
          </a:xfrm>
          <a:prstGeom prst="rect">
            <a:avLst/>
          </a:prstGeom>
          <a:solidFill>
            <a:srgbClr val="E8F7F9"/>
          </a:solidFill>
          <a:ln w="9525">
            <a:solidFill>
              <a:srgbClr val="0F9ED5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① 一貫した教育課程（9年間を見通した学習・生活指導の充実）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② 滑らかな接続（中1ギャップの解消、不登校等の減少）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③ 異年齢集団活動（豊かな人間性・社会性の育成）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④ 教員の相互協力（学力・体力の向上等の高い教育効果）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⑤ 地域社会との連携（学校と地域社会の活性化）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2550000"/>
            <a:ext cx="4200000" cy="320000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■ 子供・保護者・教職員の声（肯定的回答率）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0000" y="2900000"/>
          <a:ext cx="4200000" cy="1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1100000"/>
                <a:gridCol w="1000000"/>
              </a:tblGrid>
              <a:tr h="28333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項目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対象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肯定率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28333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学校に楽しく通っている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児童生徒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93%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8333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授業改善につながった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教員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80%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8333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9年間継続した指導・見守り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保護者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84%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83333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異年齢交流が人間性育成に有効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保護者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91%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83335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7年進級時の選択肢があるとよい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保護者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88%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50000" y="580000"/>
            <a:ext cx="4400000" cy="320000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■ 検証で確認された主な成果（H27検証報告書）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0000" y="950000"/>
            <a:ext cx="4400000" cy="1500000"/>
          </a:xfrm>
          <a:prstGeom prst="rect">
            <a:avLst/>
          </a:prstGeom>
          <a:solidFill>
            <a:srgbClr val="E8F7F9"/>
          </a:solidFill>
          <a:ln w="9525">
            <a:solidFill>
              <a:srgbClr val="0F9ED5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○ 9年間の系統性を意識した指導の改善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○ 全教職員で全児童生徒を見守る体制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○ 4-3-2区切りで子供たちが成長（4年生がリーダー経験）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○ 一部教科担任制が成長に合致（保護者89% 関係者90%）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○ PTA・町会と窓口一本化で地域連携が進展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0000" y="2550000"/>
            <a:ext cx="4400000" cy="320000"/>
          </a:xfrm>
          <a:prstGeom prst="round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■ 検証で確認された課題（H27検証報告書）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000" y="2900000"/>
            <a:ext cx="4400000" cy="1700000"/>
          </a:xfrm>
          <a:prstGeom prst="rect">
            <a:avLst/>
          </a:prstGeom>
          <a:solidFill>
            <a:srgbClr val="FFFBC1"/>
          </a:solidFill>
          <a:ln w="9525">
            <a:solidFill>
              <a:srgbClr val="FFC000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△ 7年生から外部入学する生徒の保護者に不安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△ 体育施設・特別教室の小中共用に課題（体格差・教材の違い）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△ 5・6年生が部活動に入る活動は限定的（活発化57%）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△ 活用力を問う学力では課題（基礎学力は概ね定着）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△ 異学年交流の効果は質的には認められるが、定量的な学力・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　体力向上効果のエビデンスは限定的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" y="4680000"/>
            <a:ext cx="8780000" cy="360000"/>
          </a:xfrm>
          <a:prstGeom prst="round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Meiryo UI"/>
                <a:latin typeface="Meiryo UI"/>
              </a:rPr>
              <a:t>検証報告書では「効果」と「課題」が併記されており、定量的な教育効果のエビデンスは限定的。次スライド以降で大泉桜学園の現状データを確認する。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0" y="42000"/>
            <a:ext cx="9144000" cy="461000"/>
          </a:xfrm>
          <a:prstGeom prst="homePlate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20000" bIns="20000"/>
          <a:lstStyle/>
          <a:p>
            <a:pPr algn="l"/>
            <a:r>
              <a:rPr sz="2200" b="1">
                <a:solidFill>
                  <a:srgbClr val="FFFFFF"/>
                </a:solidFill>
                <a:ea typeface="Meiryo UI"/>
                <a:latin typeface="Meiryo UI"/>
              </a:rPr>
              <a:t>２　児童生徒数の推移（小規模校化は解決していない）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50000" y="4830000"/>
            <a:ext cx="1380000" cy="260000"/>
          </a:xfrm>
          <a:prstGeom prst="round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000" bIns="10000"/>
          <a:lstStyle/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教育振興部教育指導課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0000" y="4830000"/>
            <a:ext cx="280000" cy="26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ea typeface="Meiryo UI"/>
                <a:latin typeface="Meiryo U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580000"/>
            <a:ext cx="4400000" cy="32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■ 大泉桜学園 小→中進学状況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950000"/>
          <a:ext cx="44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620000"/>
                <a:gridCol w="620000"/>
                <a:gridCol w="620000"/>
                <a:gridCol w="620000"/>
                <a:gridCol w="620000"/>
              </a:tblGrid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/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R3入学
(現高2)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R4入学
(現高1)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R5入学
(現中3)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R6入学
(現中2)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R7入学
(現中1)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区立(桜中)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区立(桜中以外)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区立計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区立外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合計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桜中進学率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80%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82%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78%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70%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67%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750000" y="580000"/>
            <a:ext cx="4200000" cy="320000"/>
          </a:xfrm>
          <a:prstGeom prst="roundRect">
            <a:avLst/>
          </a:prstGeom>
          <a:solidFill>
            <a:srgbClr val="E8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■ 区内全体（指定校）進学状況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0000" y="950000"/>
          <a:ext cx="42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560000"/>
                <a:gridCol w="560000"/>
                <a:gridCol w="560000"/>
                <a:gridCol w="560000"/>
                <a:gridCol w="560000"/>
              </a:tblGrid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（参考）区内全体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R3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R6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R7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区立(指定校)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3,855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3,636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3,723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3,565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3,562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区立(指定校以外)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645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664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704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587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705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区立計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4,500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4,300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4,427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4,152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4,267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区立外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1,374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1,395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1,500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1,418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1,455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7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合計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5,874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5,695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5,927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5,570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5,722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34285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指定校進学率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66%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64%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63%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64%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62%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80000" y="3500000"/>
            <a:ext cx="2870000" cy="700000"/>
          </a:xfrm>
          <a:prstGeom prst="roundRect">
            <a:avLst/>
          </a:prstGeom>
          <a:solidFill>
            <a:srgbClr val="FFFBC1"/>
          </a:solidFill>
          <a:ln w="952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① 桜中進学率は下降</a:t>
            </a:r>
          </a:p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80%(R3)→67%(R7)　▲13ポイント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0000" y="3500000"/>
            <a:ext cx="2870000" cy="700000"/>
          </a:xfrm>
          <a:prstGeom prst="roundRect">
            <a:avLst/>
          </a:prstGeom>
          <a:solidFill>
            <a:srgbClr val="FFFBC1"/>
          </a:solidFill>
          <a:ln w="952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② 区全体の指定校進学率は安定</a:t>
            </a:r>
          </a:p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（66→62%、2-4ポイント減）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0000" y="3500000"/>
            <a:ext cx="2900000" cy="700000"/>
          </a:xfrm>
          <a:prstGeom prst="roundRect">
            <a:avLst/>
          </a:prstGeom>
          <a:solidFill>
            <a:srgbClr val="FFFBC1"/>
          </a:solidFill>
          <a:ln w="9525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③ 人口推計（区将来人口）</a:t>
            </a:r>
          </a:p>
          <a:p>
            <a:pPr algn="ctr"/>
            <a:r>
              <a:rPr sz="1100" b="1">
                <a:solidFill>
                  <a:srgbClr val="404040"/>
                </a:solidFill>
                <a:ea typeface="Meiryo UI"/>
                <a:latin typeface="Meiryo UI"/>
              </a:rPr>
              <a:t>今後20年大きな増減なし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22000" y="4280000"/>
            <a:ext cx="500000" cy="280000"/>
          </a:xfrm>
          <a:prstGeom prst="downArrow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0000" y="4620000"/>
            <a:ext cx="8780000" cy="42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100" b="1">
                <a:solidFill>
                  <a:srgbClr val="FFFFFF"/>
                </a:solidFill>
                <a:ea typeface="Meiryo UI"/>
                <a:latin typeface="Meiryo UI"/>
              </a:rPr>
              <a:t>小中一貫教育校化しても、桜中進学率はむしろ低下傾向。区全体より進学率の減少幅が大きい。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Meiryo UI"/>
                <a:latin typeface="Meiryo UI"/>
              </a:rPr>
              <a:t>小規模校化（中学校生徒数の減少）の課題は、小中一貫教育では解決できていない。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0" y="42000"/>
            <a:ext cx="9144000" cy="461000"/>
          </a:xfrm>
          <a:prstGeom prst="homePlate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20000" bIns="20000"/>
          <a:lstStyle/>
          <a:p>
            <a:pPr algn="l"/>
            <a:r>
              <a:rPr sz="2200" b="1">
                <a:solidFill>
                  <a:srgbClr val="FFFFFF"/>
                </a:solidFill>
                <a:ea typeface="Meiryo UI"/>
                <a:latin typeface="Meiryo UI"/>
              </a:rPr>
              <a:t>３　大泉桜学園の現状（学力・体力・不登校）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50000" y="4830000"/>
            <a:ext cx="1380000" cy="260000"/>
          </a:xfrm>
          <a:prstGeom prst="round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000" bIns="10000"/>
          <a:lstStyle/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教育振興部教育指導課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0000" y="4830000"/>
            <a:ext cx="280000" cy="26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ea typeface="Meiryo UI"/>
                <a:latin typeface="Meiryo U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580000"/>
            <a:ext cx="4200000" cy="28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000" b="1">
                <a:solidFill>
                  <a:srgbClr val="404040"/>
                </a:solidFill>
                <a:ea typeface="Meiryo UI"/>
                <a:latin typeface="Meiryo UI"/>
              </a:rPr>
              <a:t>■ 学力調査（国語：平均正答率%）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00" y="880000"/>
          <a:ext cx="4200000" cy="1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520000"/>
                <a:gridCol w="520000"/>
                <a:gridCol w="520000"/>
                <a:gridCol w="520000"/>
                <a:gridCol w="520000"/>
                <a:gridCol w="520000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国語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小R4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小R5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小R6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中R4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中R5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中R6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大泉桜学園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60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62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60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練馬区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東京都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全国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65.6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67.2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67.7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69.8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58.1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00000" y="580000"/>
            <a:ext cx="4450000" cy="28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000" b="1">
                <a:solidFill>
                  <a:srgbClr val="404040"/>
                </a:solidFill>
                <a:ea typeface="Meiryo UI"/>
                <a:latin typeface="Meiryo UI"/>
              </a:rPr>
              <a:t>■ 学力調査（算数・数学：平均正答率%）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00000" y="880000"/>
          <a:ext cx="4448000" cy="1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000"/>
                <a:gridCol w="553000"/>
                <a:gridCol w="553000"/>
                <a:gridCol w="553000"/>
                <a:gridCol w="553000"/>
                <a:gridCol w="553000"/>
                <a:gridCol w="553000"/>
              </a:tblGrid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算数/数学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小R4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小R5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小R6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中R4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中R5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中R6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大泉桜学園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62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56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55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練馬区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東京都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全国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63.2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62.5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63.4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51.4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52.5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180000" y="2050000"/>
            <a:ext cx="4200000" cy="280000"/>
          </a:xfrm>
          <a:prstGeom prst="round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000" b="1">
                <a:solidFill>
                  <a:srgbClr val="404040"/>
                </a:solidFill>
                <a:ea typeface="Meiryo UI"/>
                <a:latin typeface="Meiryo UI"/>
              </a:rPr>
              <a:t>■ 区内順位（学力調査合計点）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0000" y="2350000"/>
          <a:ext cx="4200000" cy="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497000"/>
                <a:gridCol w="497000"/>
                <a:gridCol w="497000"/>
                <a:gridCol w="497000"/>
                <a:gridCol w="497000"/>
                <a:gridCol w="497000"/>
                <a:gridCol w="498000"/>
              </a:tblGrid>
              <a:tr h="233333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/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H29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H30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R1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R3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R6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233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小学校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63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</a:tr>
              <a:tr h="23333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中学校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25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00000" y="2050000"/>
            <a:ext cx="4450000" cy="280000"/>
          </a:xfrm>
          <a:prstGeom prst="round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000" b="1">
                <a:solidFill>
                  <a:srgbClr val="404040"/>
                </a:solidFill>
                <a:ea typeface="Meiryo UI"/>
                <a:latin typeface="Meiryo UI"/>
              </a:rPr>
              <a:t>■ 体力調査（R6 参考）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0" y="2350000"/>
            <a:ext cx="44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CE4E4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小学部：男女ともに区平均と概ね同等または下回る種目が多い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中学部：男女とも握力・持久走で都平均を下回る傾向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→ 小中一貫教育の「体力向上」効果は明確に確認できず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" y="3150000"/>
            <a:ext cx="4200000" cy="28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■ 不登校児童生徒数（人）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80000" y="3450000"/>
          <a:ext cx="4200000" cy="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000"/>
                <a:gridCol w="420000"/>
                <a:gridCol w="420000"/>
                <a:gridCol w="420000"/>
                <a:gridCol w="420000"/>
                <a:gridCol w="420000"/>
                <a:gridCol w="420000"/>
                <a:gridCol w="420000"/>
                <a:gridCol w="420000"/>
              </a:tblGrid>
              <a:tr h="2375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/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H28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H29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H30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R元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R2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R3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2375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小学部計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375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中学部計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2375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全体計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26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33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28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500000" y="3150000"/>
            <a:ext cx="4450000" cy="28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■ 不登校出現率（%）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00000" y="3450000"/>
          <a:ext cx="4450000" cy="1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  <a:gridCol w="480000"/>
              </a:tblGrid>
              <a:tr h="183333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/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H28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H29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H30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R元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R2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R3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R4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ea typeface="Meiryo UI"/>
                          <a:latin typeface="Meiryo UI"/>
                        </a:rPr>
                        <a:t>R5</a:t>
                      </a:r>
                    </a:p>
                  </a:txBody>
                  <a:tcPr marL="36000" marR="36000" marT="18000" marB="18000">
                    <a:solidFill>
                      <a:srgbClr val="0F9ED5"/>
                    </a:solidFill>
                  </a:tcPr>
                </a:tc>
              </a:tr>
              <a:tr h="183333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桜・小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1.32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0.22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0.68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0.24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0.99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1.28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2.77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2.02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183333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区(小)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0.68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0.61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0.82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1.00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1.12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1.31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1.67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2.14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183333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桜・中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3.38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5.13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5.93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3.52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5.63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10.50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11.11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  <a:ea typeface="Meiryo UI"/>
                          <a:latin typeface="Meiryo UI"/>
                        </a:rPr>
                        <a:t>10.40</a:t>
                      </a:r>
                    </a:p>
                  </a:txBody>
                  <a:tcPr marL="36000" marR="36000" marT="18000" marB="18000">
                    <a:solidFill>
                      <a:srgbClr val="FFFBC1"/>
                    </a:solidFill>
                  </a:tcPr>
                </a:tc>
              </a:tr>
              <a:tr h="183333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区(中)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3.42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3.20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3.26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4.35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4.80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5.23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6.13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6.90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  <a:tr h="183335"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都(中)</a:t>
                      </a:r>
                    </a:p>
                  </a:txBody>
                  <a:tcPr marL="36000" marR="36000" marT="18000" marB="18000">
                    <a:solidFill>
                      <a:srgbClr val="E8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3.6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3.78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4.33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4.76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4.93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5.76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6.85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404040"/>
                          </a:solidFill>
                          <a:ea typeface="Meiryo UI"/>
                          <a:latin typeface="Meiryo UI"/>
                        </a:rPr>
                        <a:t>7.80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80000" y="4620000"/>
            <a:ext cx="8780000" cy="42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主な要因：学力不足、コミュニケーションスキル不足による集団不適応／本人の特性（発達障害・情緒的課題等）の可能性</a:t>
            </a:r>
          </a:p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→ 中学部不登校出現率10.40%（R5）は、東京都平均7.80%・練馬区平均6.90%を大きく上回る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0" y="42000"/>
            <a:ext cx="9144000" cy="461000"/>
          </a:xfrm>
          <a:prstGeom prst="homePlate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tIns="20000" bIns="20000"/>
          <a:lstStyle/>
          <a:p>
            <a:pPr algn="l"/>
            <a:r>
              <a:rPr sz="2200" b="1">
                <a:solidFill>
                  <a:srgbClr val="FFFFFF"/>
                </a:solidFill>
                <a:ea typeface="Meiryo UI"/>
                <a:latin typeface="Meiryo UI"/>
              </a:rPr>
              <a:t>４　結論：新規の小中一貫教育校開設は効果がない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50000" y="4830000"/>
            <a:ext cx="1380000" cy="260000"/>
          </a:xfrm>
          <a:prstGeom prst="round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0000" bIns="10000"/>
          <a:lstStyle/>
          <a:p>
            <a:pPr algn="ctr"/>
            <a:r>
              <a:rPr sz="1000" b="1">
                <a:solidFill>
                  <a:srgbClr val="FFFFFF"/>
                </a:solidFill>
                <a:ea typeface="Meiryo UI"/>
                <a:latin typeface="Meiryo UI"/>
              </a:rPr>
              <a:t>教育振興部教育指導課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40000" y="4830000"/>
            <a:ext cx="280000" cy="2600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ea typeface="Meiryo UI"/>
                <a:latin typeface="Meiryo U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580000"/>
            <a:ext cx="8780000" cy="320000"/>
          </a:xfrm>
          <a:prstGeom prst="round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15000" bIns="15000"/>
          <a:lstStyle/>
          <a:p>
            <a:pPr algn="ctr"/>
            <a:r>
              <a:rPr sz="1300" b="1">
                <a:solidFill>
                  <a:srgbClr val="FFFFFF"/>
                </a:solidFill>
                <a:ea typeface="Meiryo UI"/>
                <a:latin typeface="Meiryo UI"/>
              </a:rPr>
              <a:t>■ 大泉桜学園15年の実績から見る「小中一貫教育校」の効果検証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950000"/>
            <a:ext cx="4400000" cy="38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Meiryo UI"/>
                <a:latin typeface="Meiryo UI"/>
              </a:rPr>
              <a:t>① 学力向上効果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1330000"/>
            <a:ext cx="4400000" cy="1120000"/>
          </a:xfrm>
          <a:prstGeom prst="rect">
            <a:avLst/>
          </a:prstGeom>
          <a:solidFill>
            <a:srgbClr val="FFFBC1"/>
          </a:solidFill>
          <a:ln w="9525">
            <a:solidFill>
              <a:srgbClr val="C00000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学力調査は区・都平均を継続的に下回る項目が多い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R6中学校：国語60(区62)、数学55(区60)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区内順位：中学校R6=25位（R5=3位から急落）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小学校R6=63位（直近年で最低水準）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→ 9年間一貫指導でも、学力向上の明確な効果なし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0000" y="950000"/>
            <a:ext cx="4200000" cy="38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Meiryo UI"/>
                <a:latin typeface="Meiryo UI"/>
              </a:rPr>
              <a:t>② 不登校（中1ギャップ）の解消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0000" y="1330000"/>
            <a:ext cx="4200000" cy="1120000"/>
          </a:xfrm>
          <a:prstGeom prst="rect">
            <a:avLst/>
          </a:prstGeom>
          <a:solidFill>
            <a:srgbClr val="FFFBC1"/>
          </a:solidFill>
          <a:ln w="9525">
            <a:solidFill>
              <a:srgbClr val="C00000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中学部不登校率：R5=10.40%（区6.90%・都7.80%）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全体の不登校児童生徒数はH28=13人→R5=28人と倍増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小中一貫の最大目的「中1ギャップ解消」は未達成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第8・9学年で不登校が集中（R5：第9学年11人）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→ 「滑らかな接続」の効果は、データ上確認できない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000" y="2530000"/>
            <a:ext cx="4400000" cy="38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Meiryo UI"/>
                <a:latin typeface="Meiryo UI"/>
              </a:rPr>
              <a:t>③ 小規模校化への対応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" y="2910000"/>
            <a:ext cx="4400000" cy="1120000"/>
          </a:xfrm>
          <a:prstGeom prst="rect">
            <a:avLst/>
          </a:prstGeom>
          <a:solidFill>
            <a:srgbClr val="FFFBC1"/>
          </a:solidFill>
          <a:ln w="9525">
            <a:solidFill>
              <a:srgbClr val="C00000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桜中進学率：80%(R3)→67%(R7)と低下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中学部入学者数：89人(R4)→61人(R7)へ減少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区全体は安定（指定校進学率62-66%で推移）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今後20年区人口は大きな増減なし＝外的要因ではない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→ 一貫教育校化しても、生徒流出は止まっていない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0000" y="2530000"/>
            <a:ext cx="4200000" cy="380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300" b="1">
                <a:solidFill>
                  <a:srgbClr val="FFFFFF"/>
                </a:solidFill>
                <a:ea typeface="Meiryo UI"/>
                <a:latin typeface="Meiryo UI"/>
              </a:rPr>
              <a:t>④ 運営面・施設面の課題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0000" y="2910000"/>
            <a:ext cx="4200000" cy="1120000"/>
          </a:xfrm>
          <a:prstGeom prst="rect">
            <a:avLst/>
          </a:prstGeom>
          <a:solidFill>
            <a:srgbClr val="FFFBC1"/>
          </a:solidFill>
          <a:ln w="9525">
            <a:solidFill>
              <a:srgbClr val="C00000"/>
            </a:solidFill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体育施設・特別教室の小中共用に課題（体格差等）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5・6年生の部活動参加活発化は57%にとどまる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外部入学者の保護者に不安。情報発信の追加負担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● 新規開設には、用地確保・改築・教員配置の高コスト</a:t>
            </a:r>
          </a:p>
          <a:p>
            <a:pPr algn="l"/>
            <a:r>
              <a:rPr sz="1000" b="0">
                <a:solidFill>
                  <a:srgbClr val="404040"/>
                </a:solidFill>
                <a:ea typeface="Meiryo UI"/>
                <a:latin typeface="Meiryo UI"/>
              </a:rPr>
              <a:t>→ 既存中学校の連携強化等、代替策の検討余地あり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322000" y="4090000"/>
            <a:ext cx="500000" cy="220000"/>
          </a:xfrm>
          <a:prstGeom prst="downArrow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0000" y="4360000"/>
            <a:ext cx="8780000" cy="6800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18000" bIns="18000" wrap="square"/>
          <a:lstStyle/>
          <a:p>
            <a:pPr algn="ctr"/>
            <a:r>
              <a:rPr sz="1200" b="1">
                <a:solidFill>
                  <a:srgbClr val="FFFFFF"/>
                </a:solidFill>
                <a:ea typeface="Meiryo UI"/>
                <a:latin typeface="Meiryo UI"/>
              </a:rPr>
              <a:t>【結論】 新規の小中一貫教育校開設は、教育的効果の観点から積極的に推進すべき施策ではない。</a:t>
            </a:r>
          </a:p>
          <a:p>
            <a:pPr algn="ctr"/>
            <a:r>
              <a:rPr sz="1200" b="1">
                <a:solidFill>
                  <a:srgbClr val="FFFFFF"/>
                </a:solidFill>
                <a:ea typeface="Meiryo UI"/>
                <a:latin typeface="Meiryo UI"/>
              </a:rPr>
              <a:t>大泉桜学園15年の検証データは、学力・不登校・小規模校対策のいずれにおいても明確な優位性を示していない。</a:t>
            </a:r>
          </a:p>
          <a:p>
            <a:pPr algn="ctr"/>
            <a:r>
              <a:rPr sz="1200" b="1">
                <a:solidFill>
                  <a:srgbClr val="FFFFFF"/>
                </a:solidFill>
                <a:ea typeface="Meiryo UI"/>
                <a:latin typeface="Meiryo UI"/>
              </a:rPr>
              <a:t>既存校の小中連携強化、教員加配、ICT・少人数指導の充実等、より費用対効果の高い施策を優先すべき。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a989f2-4f24-4115-80d0-4b427f33fe26" xsi:nil="true"/>
    <lcf76f155ced4ddcb4097134ff3c332f xmlns="cd550872-52b3-404b-9d46-a3b4a694ae1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A35E67A365C3745BE3012373B810583" ma:contentTypeVersion="15" ma:contentTypeDescription="新しいドキュメントを作成します。" ma:contentTypeScope="" ma:versionID="02ca84a8e582c3e5970d179293281e54">
  <xsd:schema xmlns:xsd="http://www.w3.org/2001/XMLSchema" xmlns:xs="http://www.w3.org/2001/XMLSchema" xmlns:p="http://schemas.microsoft.com/office/2006/metadata/properties" xmlns:ns2="cd550872-52b3-404b-9d46-a3b4a694ae19" xmlns:ns3="4aa989f2-4f24-4115-80d0-4b427f33fe26" targetNamespace="http://schemas.microsoft.com/office/2006/metadata/properties" ma:root="true" ma:fieldsID="1a715c918518d21b9772170beef79984" ns2:_="" ns3:_="">
    <xsd:import namespace="cd550872-52b3-404b-9d46-a3b4a694ae19"/>
    <xsd:import namespace="4aa989f2-4f24-4115-80d0-4b427f33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50872-52b3-404b-9d46-a3b4a694ae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3959c720-f9d9-4eba-b64c-74427fd13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a989f2-4f24-4115-80d0-4b427f33fe2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66197a3-bf49-4c3c-b93c-2e9d5048c940}" ma:internalName="TaxCatchAll" ma:showField="CatchAllData" ma:web="4aa989f2-4f24-4115-80d0-4b427f33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785AF8-D12D-4D8D-86F0-F20FFEB18186}">
  <ds:schemaRefs>
    <ds:schemaRef ds:uri="cd550872-52b3-404b-9d46-a3b4a694ae19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4aa989f2-4f24-4115-80d0-4b427f33fe2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88A1D99-C7D1-4DD4-8D7B-D9BF01C90CEC}">
  <ds:schemaRefs>
    <ds:schemaRef ds:uri="4aa989f2-4f24-4115-80d0-4b427f33fe26"/>
    <ds:schemaRef ds:uri="cd550872-52b3-404b-9d46-a3b4a694ae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09BD97-97B3-411B-8247-3E829DA990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TM02900720[[fn=インテグラル]]</Template>
  <TotalTime>24</TotalTime>
  <Words>1147</Words>
  <Application>Microsoft Office PowerPoint</Application>
  <PresentationFormat>画面に合わせる (16:9)</PresentationFormat>
  <Paragraphs>115</Paragraphs>
  <Slides>7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9" baseType="lpstr">
      <vt:lpstr>BIZ UDPゴシック</vt:lpstr>
      <vt:lpstr>HGP創英角ｺﾞｼｯｸUB</vt:lpstr>
      <vt:lpstr>Meiryo UI</vt:lpstr>
      <vt:lpstr>メイリオ</vt:lpstr>
      <vt:lpstr>游ゴシック</vt:lpstr>
      <vt:lpstr>游ゴシック Light</vt:lpstr>
      <vt:lpstr>Arial</vt:lpstr>
      <vt:lpstr>Calibri</vt:lpstr>
      <vt:lpstr>Calibri Light</vt:lpstr>
      <vt:lpstr>Wingdings 2</vt:lpstr>
      <vt:lpstr>HDOfficeLightV0</vt:lpstr>
      <vt:lpstr>Office テーマ</vt:lpstr>
      <vt:lpstr> 小中一貫教育（大泉桜学園）について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澁谷　悠万</dc:creator>
  <cp:lastModifiedBy>紺多　章一郎</cp:lastModifiedBy>
  <cp:revision>6</cp:revision>
  <cp:lastPrinted>2026-05-12T05:32:54Z</cp:lastPrinted>
  <dcterms:created xsi:type="dcterms:W3CDTF">2022-06-22T00:35:16Z</dcterms:created>
  <dcterms:modified xsi:type="dcterms:W3CDTF">2026-05-22T08:15:57Z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0x010100EA35E67A365C3745BE3012373B810583</vt:lpwstr>
  </property>
  <property fmtid="{D5CDD505-2E9C-101B-9397-08002B2CF9AE}" pid="3" name="MediaServiceImageTags">
    <vt:lpwstr/>
  </property>
</Properties>
</file>