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754" r:id="rId4"/>
    <p:sldMasterId id="2147483766" r:id="rId5"/>
  </p:sldMasterIdLst>
  <p:notesMasterIdLst>
    <p:notesMasterId r:id="rId13"/>
  </p:notesMasterIdLst>
  <p:sldIdLst>
    <p:sldId id="267" r:id="rId6"/>
    <p:sldId id="354" r:id="rId7"/>
    <p:sldId id="355" r:id="rId8"/>
    <p:sldId id="356" r:id="rId9"/>
    <p:sldId id="342" r:id="rId10"/>
    <p:sldId id="359" r:id="rId11"/>
    <p:sldId id="361" r:id="rId12"/>
  </p:sldIdLst>
  <p:sldSz cx="9144000" cy="5143500" type="screen16x9"/>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3" userDrawn="1">
          <p15:clr>
            <a:srgbClr val="A4A3A4"/>
          </p15:clr>
        </p15:guide>
        <p15:guide id="2" pos="290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08A347-A5D9-7F50-001B-8D70A7ED5806}" name="太田　実来" initials="太田　実来" userId="S::OOTA-M3M@city.nerima.tokyo.jp::a2cfc3ee-8c8b-4bc0-9371-52a63c6f0e7f" providerId="AD"/>
  <p188:author id="{49DA6057-59C2-0C20-3A01-E675D12AE0FA}" name="岡島　弘晃" initials="岡島　弘晃" userId="S::OKAZIMA-H4G@city.nerima.tokyo.jp::ff5459f7-6b5f-4284-a29a-daaeaa00465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7E1"/>
    <a:srgbClr val="E8F7F9"/>
    <a:srgbClr val="FFFBC1"/>
    <a:srgbClr val="FBE3D6"/>
    <a:srgbClr val="FDF1FA"/>
    <a:srgbClr val="F9E7F7"/>
    <a:srgbClr val="EAF2FA"/>
    <a:srgbClr val="F4FCF2"/>
    <a:srgbClr val="F2F2F2"/>
    <a:srgbClr val="CFEE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921" autoAdjust="0"/>
  </p:normalViewPr>
  <p:slideViewPr>
    <p:cSldViewPr snapToGrid="0" showGuides="1">
      <p:cViewPr varScale="1">
        <p:scale>
          <a:sx n="131" d="100"/>
          <a:sy n="131" d="100"/>
        </p:scale>
        <p:origin x="1002" y="120"/>
      </p:cViewPr>
      <p:guideLst>
        <p:guide orient="horz" pos="1643"/>
        <p:guide pos="290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553" cy="498168"/>
          </a:xfrm>
          <a:prstGeom prst="rect">
            <a:avLst/>
          </a:prstGeom>
        </p:spPr>
        <p:txBody>
          <a:bodyPr vert="horz" lIns="92080" tIns="46040" rIns="92080" bIns="4604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0521" y="0"/>
            <a:ext cx="2945553" cy="498168"/>
          </a:xfrm>
          <a:prstGeom prst="rect">
            <a:avLst/>
          </a:prstGeom>
        </p:spPr>
        <p:txBody>
          <a:bodyPr vert="horz" lIns="92080" tIns="46040" rIns="92080" bIns="46040" rtlCol="0"/>
          <a:lstStyle>
            <a:lvl1pPr algn="r">
              <a:defRPr sz="1200"/>
            </a:lvl1pPr>
          </a:lstStyle>
          <a:p>
            <a:fld id="{FBA4DB10-740F-463F-9A1F-41926601B892}" type="datetimeFigureOut">
              <a:rPr kumimoji="1" lang="ja-JP" altLang="en-US" smtClean="0"/>
              <a:t>2026/5/22</a:t>
            </a:fld>
            <a:endParaRPr kumimoji="1" lang="ja-JP" altLang="en-US"/>
          </a:p>
        </p:txBody>
      </p:sp>
      <p:sp>
        <p:nvSpPr>
          <p:cNvPr id="4" name="スライド イメージ プレースホルダー 3"/>
          <p:cNvSpPr>
            <a:spLocks noGrp="1" noRot="1" noChangeAspect="1"/>
          </p:cNvSpPr>
          <p:nvPr>
            <p:ph type="sldImg" idx="2"/>
          </p:nvPr>
        </p:nvSpPr>
        <p:spPr>
          <a:xfrm>
            <a:off x="420688" y="1239838"/>
            <a:ext cx="5956300" cy="3351212"/>
          </a:xfrm>
          <a:prstGeom prst="rect">
            <a:avLst/>
          </a:prstGeom>
          <a:noFill/>
          <a:ln w="12700">
            <a:solidFill>
              <a:prstClr val="black"/>
            </a:solidFill>
          </a:ln>
        </p:spPr>
        <p:txBody>
          <a:bodyPr vert="horz" lIns="92080" tIns="46040" rIns="92080" bIns="46040" rtlCol="0" anchor="ctr"/>
          <a:lstStyle/>
          <a:p>
            <a:endParaRPr lang="ja-JP" altLang="en-US"/>
          </a:p>
        </p:txBody>
      </p:sp>
      <p:sp>
        <p:nvSpPr>
          <p:cNvPr id="5" name="ノート プレースホルダー 4"/>
          <p:cNvSpPr>
            <a:spLocks noGrp="1"/>
          </p:cNvSpPr>
          <p:nvPr>
            <p:ph type="body" sz="quarter" idx="3"/>
          </p:nvPr>
        </p:nvSpPr>
        <p:spPr>
          <a:xfrm>
            <a:off x="679127" y="4777304"/>
            <a:ext cx="5439421" cy="3908703"/>
          </a:xfrm>
          <a:prstGeom prst="rect">
            <a:avLst/>
          </a:prstGeom>
        </p:spPr>
        <p:txBody>
          <a:bodyPr vert="horz" lIns="92080" tIns="46040" rIns="92080" bIns="4604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470"/>
            <a:ext cx="2945553" cy="498168"/>
          </a:xfrm>
          <a:prstGeom prst="rect">
            <a:avLst/>
          </a:prstGeom>
        </p:spPr>
        <p:txBody>
          <a:bodyPr vert="horz" lIns="92080" tIns="46040" rIns="92080" bIns="4604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0521" y="9428470"/>
            <a:ext cx="2945553" cy="498168"/>
          </a:xfrm>
          <a:prstGeom prst="rect">
            <a:avLst/>
          </a:prstGeom>
        </p:spPr>
        <p:txBody>
          <a:bodyPr vert="horz" lIns="92080" tIns="46040" rIns="92080" bIns="46040" rtlCol="0" anchor="b"/>
          <a:lstStyle>
            <a:lvl1pPr algn="r">
              <a:defRPr sz="1200"/>
            </a:lvl1pPr>
          </a:lstStyle>
          <a:p>
            <a:fld id="{CDFA013B-61E2-42C1-8F75-B95501584786}" type="slidenum">
              <a:rPr kumimoji="1" lang="ja-JP" altLang="en-US" smtClean="0"/>
              <a:t>‹#›</a:t>
            </a:fld>
            <a:endParaRPr kumimoji="1" lang="ja-JP" altLang="en-US"/>
          </a:p>
        </p:txBody>
      </p:sp>
    </p:spTree>
    <p:extLst>
      <p:ext uri="{BB962C8B-B14F-4D97-AF65-F5344CB8AC3E}">
        <p14:creationId xmlns:p14="http://schemas.microsoft.com/office/powerpoint/2010/main" val="1293456094"/>
      </p:ext>
    </p:extLst>
  </p:cSld>
  <p:clrMap bg1="lt1" tx1="dk1" bg2="lt2" tx2="dk2" accent1="accent1" accent2="accent2" accent3="accent3" accent4="accent4" accent5="accent5" accent6="accent6" hlink="hlink" folHlink="folHlink"/>
  <p:notesStyle>
    <a:lvl1pPr marL="0" algn="l" defTabSz="489844" rtl="0" eaLnBrk="1" latinLnBrk="0" hangingPunct="1">
      <a:defRPr kumimoji="1" sz="643" kern="1200">
        <a:solidFill>
          <a:schemeClr val="tx1"/>
        </a:solidFill>
        <a:latin typeface="+mn-lt"/>
        <a:ea typeface="+mn-ea"/>
        <a:cs typeface="+mn-cs"/>
      </a:defRPr>
    </a:lvl1pPr>
    <a:lvl2pPr marL="244922" algn="l" defTabSz="489844" rtl="0" eaLnBrk="1" latinLnBrk="0" hangingPunct="1">
      <a:defRPr kumimoji="1" sz="643" kern="1200">
        <a:solidFill>
          <a:schemeClr val="tx1"/>
        </a:solidFill>
        <a:latin typeface="+mn-lt"/>
        <a:ea typeface="+mn-ea"/>
        <a:cs typeface="+mn-cs"/>
      </a:defRPr>
    </a:lvl2pPr>
    <a:lvl3pPr marL="489844" algn="l" defTabSz="489844" rtl="0" eaLnBrk="1" latinLnBrk="0" hangingPunct="1">
      <a:defRPr kumimoji="1" sz="643" kern="1200">
        <a:solidFill>
          <a:schemeClr val="tx1"/>
        </a:solidFill>
        <a:latin typeface="+mn-lt"/>
        <a:ea typeface="+mn-ea"/>
        <a:cs typeface="+mn-cs"/>
      </a:defRPr>
    </a:lvl3pPr>
    <a:lvl4pPr marL="734766" algn="l" defTabSz="489844" rtl="0" eaLnBrk="1" latinLnBrk="0" hangingPunct="1">
      <a:defRPr kumimoji="1" sz="643" kern="1200">
        <a:solidFill>
          <a:schemeClr val="tx1"/>
        </a:solidFill>
        <a:latin typeface="+mn-lt"/>
        <a:ea typeface="+mn-ea"/>
        <a:cs typeface="+mn-cs"/>
      </a:defRPr>
    </a:lvl4pPr>
    <a:lvl5pPr marL="979688" algn="l" defTabSz="489844" rtl="0" eaLnBrk="1" latinLnBrk="0" hangingPunct="1">
      <a:defRPr kumimoji="1" sz="643" kern="1200">
        <a:solidFill>
          <a:schemeClr val="tx1"/>
        </a:solidFill>
        <a:latin typeface="+mn-lt"/>
        <a:ea typeface="+mn-ea"/>
        <a:cs typeface="+mn-cs"/>
      </a:defRPr>
    </a:lvl5pPr>
    <a:lvl6pPr marL="1224610" algn="l" defTabSz="489844" rtl="0" eaLnBrk="1" latinLnBrk="0" hangingPunct="1">
      <a:defRPr kumimoji="1" sz="643" kern="1200">
        <a:solidFill>
          <a:schemeClr val="tx1"/>
        </a:solidFill>
        <a:latin typeface="+mn-lt"/>
        <a:ea typeface="+mn-ea"/>
        <a:cs typeface="+mn-cs"/>
      </a:defRPr>
    </a:lvl6pPr>
    <a:lvl7pPr marL="1469532" algn="l" defTabSz="489844" rtl="0" eaLnBrk="1" latinLnBrk="0" hangingPunct="1">
      <a:defRPr kumimoji="1" sz="643" kern="1200">
        <a:solidFill>
          <a:schemeClr val="tx1"/>
        </a:solidFill>
        <a:latin typeface="+mn-lt"/>
        <a:ea typeface="+mn-ea"/>
        <a:cs typeface="+mn-cs"/>
      </a:defRPr>
    </a:lvl7pPr>
    <a:lvl8pPr marL="1714454" algn="l" defTabSz="489844" rtl="0" eaLnBrk="1" latinLnBrk="0" hangingPunct="1">
      <a:defRPr kumimoji="1" sz="643" kern="1200">
        <a:solidFill>
          <a:schemeClr val="tx1"/>
        </a:solidFill>
        <a:latin typeface="+mn-lt"/>
        <a:ea typeface="+mn-ea"/>
        <a:cs typeface="+mn-cs"/>
      </a:defRPr>
    </a:lvl8pPr>
    <a:lvl9pPr marL="1959376" algn="l" defTabSz="489844" rtl="0" eaLnBrk="1" latinLnBrk="0" hangingPunct="1">
      <a:defRPr kumimoji="1" sz="64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E5300-207C-C243-B8E8-C17F5DEB74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07F4533-27A6-3768-D783-2C388DBF8F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643C6F-2139-063A-4180-00D5D2DFFB3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ED49245-2358-4041-6FFC-CF6500FB398C}"/>
              </a:ext>
            </a:extLst>
          </p:cNvPr>
          <p:cNvSpPr>
            <a:spLocks noGrp="1"/>
          </p:cNvSpPr>
          <p:nvPr>
            <p:ph type="sldNum" sz="quarter" idx="5"/>
          </p:nvPr>
        </p:nvSpPr>
        <p:spPr/>
        <p:txBody>
          <a:bodyPr/>
          <a:lstStyle/>
          <a:p>
            <a:fld id="{CDFA013B-61E2-42C1-8F75-B95501584786}" type="slidenum">
              <a:rPr kumimoji="1" lang="ja-JP" altLang="en-US" smtClean="0"/>
              <a:t>1</a:t>
            </a:fld>
            <a:endParaRPr kumimoji="1" lang="ja-JP" altLang="en-US"/>
          </a:p>
        </p:txBody>
      </p:sp>
    </p:spTree>
    <p:extLst>
      <p:ext uri="{BB962C8B-B14F-4D97-AF65-F5344CB8AC3E}">
        <p14:creationId xmlns:p14="http://schemas.microsoft.com/office/powerpoint/2010/main" val="3670379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F14A-8F22-0CCB-B9CF-750E2A2ABD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7D54DC-670B-FC13-E228-F6B09F83C2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43DDCF8-5A34-60C3-6CE5-6945501F748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1016CB4-C6B0-424C-3527-00C0D59F5DF0}"/>
              </a:ext>
            </a:extLst>
          </p:cNvPr>
          <p:cNvSpPr>
            <a:spLocks noGrp="1"/>
          </p:cNvSpPr>
          <p:nvPr>
            <p:ph type="sldNum" sz="quarter" idx="5"/>
          </p:nvPr>
        </p:nvSpPr>
        <p:spPr/>
        <p:txBody>
          <a:bodyPr/>
          <a:lstStyle/>
          <a:p>
            <a:fld id="{CDFA013B-61E2-42C1-8F75-B95501584786}" type="slidenum">
              <a:rPr kumimoji="1" lang="ja-JP" altLang="en-US" smtClean="0"/>
              <a:t>2</a:t>
            </a:fld>
            <a:endParaRPr kumimoji="1" lang="ja-JP" altLang="en-US"/>
          </a:p>
        </p:txBody>
      </p:sp>
    </p:spTree>
    <p:extLst>
      <p:ext uri="{BB962C8B-B14F-4D97-AF65-F5344CB8AC3E}">
        <p14:creationId xmlns:p14="http://schemas.microsoft.com/office/powerpoint/2010/main" val="2112570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5AE96-7BFB-434F-3C43-E25DD1E60F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E0E3CF9-F73B-9D01-4957-10ABB1C830E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4466A6-85A7-E330-A047-87BAE5CBFB0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7F4DB9B-A3CE-6EFC-62B3-B88385E6409B}"/>
              </a:ext>
            </a:extLst>
          </p:cNvPr>
          <p:cNvSpPr>
            <a:spLocks noGrp="1"/>
          </p:cNvSpPr>
          <p:nvPr>
            <p:ph type="sldNum" sz="quarter" idx="5"/>
          </p:nvPr>
        </p:nvSpPr>
        <p:spPr/>
        <p:txBody>
          <a:bodyPr/>
          <a:lstStyle/>
          <a:p>
            <a:fld id="{CDFA013B-61E2-42C1-8F75-B95501584786}" type="slidenum">
              <a:rPr kumimoji="1" lang="ja-JP" altLang="en-US" smtClean="0"/>
              <a:t>3</a:t>
            </a:fld>
            <a:endParaRPr kumimoji="1" lang="ja-JP" altLang="en-US"/>
          </a:p>
        </p:txBody>
      </p:sp>
    </p:spTree>
    <p:extLst>
      <p:ext uri="{BB962C8B-B14F-4D97-AF65-F5344CB8AC3E}">
        <p14:creationId xmlns:p14="http://schemas.microsoft.com/office/powerpoint/2010/main" val="1242296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009B4-546B-01A9-4FEC-B0087BB0999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024224-DCE7-DB0C-7A18-1ADE101653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9EA9E3-9850-B52F-16D1-594783660E5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25AD97A-5781-0D96-447C-7C460F2CB6E8}"/>
              </a:ext>
            </a:extLst>
          </p:cNvPr>
          <p:cNvSpPr>
            <a:spLocks noGrp="1"/>
          </p:cNvSpPr>
          <p:nvPr>
            <p:ph type="sldNum" sz="quarter" idx="5"/>
          </p:nvPr>
        </p:nvSpPr>
        <p:spPr/>
        <p:txBody>
          <a:bodyPr/>
          <a:lstStyle/>
          <a:p>
            <a:fld id="{CDFA013B-61E2-42C1-8F75-B95501584786}" type="slidenum">
              <a:rPr kumimoji="1" lang="ja-JP" altLang="en-US" smtClean="0"/>
              <a:t>4</a:t>
            </a:fld>
            <a:endParaRPr kumimoji="1" lang="ja-JP" altLang="en-US"/>
          </a:p>
        </p:txBody>
      </p:sp>
    </p:spTree>
    <p:extLst>
      <p:ext uri="{BB962C8B-B14F-4D97-AF65-F5344CB8AC3E}">
        <p14:creationId xmlns:p14="http://schemas.microsoft.com/office/powerpoint/2010/main" val="2287999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7059D-73C7-13CB-EB17-B53DC1E0C9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D1163E-8295-76AD-4215-35F54F12DF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2C6DC4-B175-6DC6-473B-4FE9B9E1400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F2F3E8C-78F8-1B4C-42AA-4EF77BEB8B34}"/>
              </a:ext>
            </a:extLst>
          </p:cNvPr>
          <p:cNvSpPr>
            <a:spLocks noGrp="1"/>
          </p:cNvSpPr>
          <p:nvPr>
            <p:ph type="sldNum" sz="quarter" idx="5"/>
          </p:nvPr>
        </p:nvSpPr>
        <p:spPr/>
        <p:txBody>
          <a:bodyPr/>
          <a:lstStyle/>
          <a:p>
            <a:fld id="{CDFA013B-61E2-42C1-8F75-B95501584786}" type="slidenum">
              <a:rPr kumimoji="1" lang="ja-JP" altLang="en-US" smtClean="0"/>
              <a:t>5</a:t>
            </a:fld>
            <a:endParaRPr kumimoji="1" lang="ja-JP" altLang="en-US"/>
          </a:p>
        </p:txBody>
      </p:sp>
    </p:spTree>
    <p:extLst>
      <p:ext uri="{BB962C8B-B14F-4D97-AF65-F5344CB8AC3E}">
        <p14:creationId xmlns:p14="http://schemas.microsoft.com/office/powerpoint/2010/main" val="4239439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E94F0-DBAA-C95E-C940-F95AFB5EB5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9B78CBB-09DD-C018-8E49-4EF8BF46D2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4BE899-DB06-8CE9-B436-5697B13297B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C4971C6-445F-E81E-57FF-F4718DD87D4F}"/>
              </a:ext>
            </a:extLst>
          </p:cNvPr>
          <p:cNvSpPr>
            <a:spLocks noGrp="1"/>
          </p:cNvSpPr>
          <p:nvPr>
            <p:ph type="sldNum" sz="quarter" idx="5"/>
          </p:nvPr>
        </p:nvSpPr>
        <p:spPr/>
        <p:txBody>
          <a:bodyPr/>
          <a:lstStyle/>
          <a:p>
            <a:fld id="{CDFA013B-61E2-42C1-8F75-B95501584786}" type="slidenum">
              <a:rPr kumimoji="1" lang="ja-JP" altLang="en-US" smtClean="0"/>
              <a:t>6</a:t>
            </a:fld>
            <a:endParaRPr kumimoji="1" lang="ja-JP" altLang="en-US"/>
          </a:p>
        </p:txBody>
      </p:sp>
    </p:spTree>
    <p:extLst>
      <p:ext uri="{BB962C8B-B14F-4D97-AF65-F5344CB8AC3E}">
        <p14:creationId xmlns:p14="http://schemas.microsoft.com/office/powerpoint/2010/main" val="2018785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3398"/>
            <a:ext cx="6858000" cy="1790700"/>
          </a:xfrm>
        </p:spPr>
        <p:txBody>
          <a:bodyPr anchor="b">
            <a:normAutofit/>
          </a:bodyPr>
          <a:lstStyle>
            <a:lvl1pPr algn="ctr">
              <a:defRPr sz="4500"/>
            </a:lvl1pPr>
          </a:lstStyle>
          <a:p>
            <a:r>
              <a:rPr lang="ja-JP" altLang="en-US"/>
              <a:t>マスター タイトルの書式設定</a:t>
            </a:r>
            <a:endParaRPr lang="en-US"/>
          </a:p>
        </p:txBody>
      </p:sp>
      <p:sp>
        <p:nvSpPr>
          <p:cNvPr id="3" name="Subtitle 2"/>
          <p:cNvSpPr>
            <a:spLocks noGrp="1"/>
          </p:cNvSpPr>
          <p:nvPr>
            <p:ph type="subTitle" idx="1"/>
          </p:nvPr>
        </p:nvSpPr>
        <p:spPr>
          <a:xfrm>
            <a:off x="1143000" y="2701528"/>
            <a:ext cx="6858000" cy="124182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70B14F79-5628-48FA-821B-753E290D4591}" type="datetime1">
              <a:rPr kumimoji="1" lang="ja-JP" altLang="en-US" smtClean="0"/>
              <a:t>2026/5/22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4122965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40965F27-F5A1-4A59-8E3D-25C2B34DC994}" type="datetime1">
              <a:rPr kumimoji="1" lang="ja-JP" altLang="en-US" smtClean="0"/>
              <a:t>2026/5/22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415587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284317"/>
            <a:ext cx="7886700" cy="2138406"/>
          </a:xfrm>
        </p:spPr>
        <p:txBody>
          <a:bodyPr anchor="b">
            <a:normAutofit/>
          </a:bodyPr>
          <a:lstStyle>
            <a:lvl1pPr>
              <a:defRPr sz="4500" b="0"/>
            </a:lvl1pPr>
          </a:lstStyle>
          <a:p>
            <a:r>
              <a:rPr lang="ja-JP" altLang="en-US"/>
              <a:t>マスター タイトルの書式設定</a:t>
            </a:r>
            <a:endParaRPr lang="en-US"/>
          </a:p>
        </p:txBody>
      </p:sp>
      <p:sp>
        <p:nvSpPr>
          <p:cNvPr id="3" name="Text Placeholder 2"/>
          <p:cNvSpPr>
            <a:spLocks noGrp="1"/>
          </p:cNvSpPr>
          <p:nvPr>
            <p:ph type="body" idx="1"/>
          </p:nvPr>
        </p:nvSpPr>
        <p:spPr>
          <a:xfrm>
            <a:off x="623888" y="3414475"/>
            <a:ext cx="7886700" cy="1125140"/>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A8B7FDA-78E1-46D5-A32C-8360FB779569}" type="datetime1">
              <a:rPr kumimoji="1" lang="ja-JP" altLang="en-US" smtClean="0"/>
              <a:t>2026/5/22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610866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633845" y="1371600"/>
            <a:ext cx="3886200" cy="326350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4629150" y="1371600"/>
            <a:ext cx="3886200" cy="326350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99B3A143-CD97-4004-858F-EC0594FA2F40}" type="datetime1">
              <a:rPr kumimoji="1" lang="ja-JP" altLang="en-US" smtClean="0"/>
              <a:t>2026/5/22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3305701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261388"/>
            <a:ext cx="3867150" cy="619274"/>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633845" y="1880663"/>
            <a:ext cx="3867150" cy="276039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4629150" y="1261388"/>
            <a:ext cx="3886201" cy="619274"/>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4629150" y="1880663"/>
            <a:ext cx="3886201" cy="276039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D1543BD2-0AB7-4BF4-B4F9-8E68094F69EC}" type="datetime1">
              <a:rPr kumimoji="1" lang="ja-JP" altLang="en-US" smtClean="0"/>
              <a:t>2026/5/22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219208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6A92F8F-A16B-492F-97C8-BB3B96F5C624}" type="datetime1">
              <a:rPr kumimoji="1" lang="ja-JP" altLang="en-US" smtClean="0"/>
              <a:t>2026/5/22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2830920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B68C8B-E51E-49DB-A805-E15C25117D47}" type="datetime1">
              <a:rPr kumimoji="1" lang="ja-JP" altLang="en-US" smtClean="0"/>
              <a:t>2026/5/22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3614984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30936" y="342900"/>
            <a:ext cx="2948940" cy="1200148"/>
          </a:xfrm>
        </p:spPr>
        <p:txBody>
          <a:bodyPr anchor="b">
            <a:normAutofit/>
          </a:bodyPr>
          <a:lstStyle>
            <a:lvl1pPr>
              <a:defRPr sz="2400" b="0"/>
            </a:lvl1pPr>
          </a:lstStyle>
          <a:p>
            <a:r>
              <a:rPr lang="ja-JP" altLang="en-US"/>
              <a:t>マスター タイトルの書式設定</a:t>
            </a:r>
            <a:endParaRPr lang="en-US"/>
          </a:p>
        </p:txBody>
      </p:sp>
      <p:sp>
        <p:nvSpPr>
          <p:cNvPr id="3" name="Content Placeholder 2"/>
          <p:cNvSpPr>
            <a:spLocks noGrp="1"/>
          </p:cNvSpPr>
          <p:nvPr>
            <p:ph idx="1"/>
          </p:nvPr>
        </p:nvSpPr>
        <p:spPr>
          <a:xfrm>
            <a:off x="3886200" y="742950"/>
            <a:ext cx="4629150" cy="36576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630936" y="1543049"/>
            <a:ext cx="2948940" cy="28575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6DBC003-D688-45A1-B650-11FC068F2294}" type="datetime1">
              <a:rPr kumimoji="1" lang="ja-JP" altLang="en-US" smtClean="0"/>
              <a:t>2026/5/22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2778896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30936" y="342900"/>
            <a:ext cx="2948940" cy="1200150"/>
          </a:xfrm>
        </p:spPr>
        <p:txBody>
          <a:bodyPr anchor="b">
            <a:normAutofit/>
          </a:bodyPr>
          <a:lstStyle>
            <a:lvl1pPr>
              <a:defRPr sz="2400" b="0"/>
            </a:lvl1pPr>
          </a:lstStyle>
          <a:p>
            <a:r>
              <a:rPr lang="ja-JP" altLang="en-US"/>
              <a:t>マスター タイトルの書式設定</a:t>
            </a:r>
            <a:endParaRPr lang="en-US"/>
          </a:p>
        </p:txBody>
      </p:sp>
      <p:sp>
        <p:nvSpPr>
          <p:cNvPr id="3" name="Picture Placeholder 2"/>
          <p:cNvSpPr>
            <a:spLocks noGrp="1"/>
          </p:cNvSpPr>
          <p:nvPr>
            <p:ph type="pic" idx="1"/>
          </p:nvPr>
        </p:nvSpPr>
        <p:spPr>
          <a:xfrm>
            <a:off x="3886200" y="742950"/>
            <a:ext cx="4629150" cy="3657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30936" y="1543050"/>
            <a:ext cx="2948940" cy="28575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AA110EC-B4F0-4960-B4FA-D7507E6B7BA1}" type="datetime1">
              <a:rPr kumimoji="1" lang="ja-JP" altLang="en-US" smtClean="0"/>
              <a:t>2026/5/22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1015130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923AD97-5EF7-4F79-B7C1-C95C4B90D7EB}" type="datetime1">
              <a:rPr kumimoji="1" lang="ja-JP" altLang="en-US" smtClean="0"/>
              <a:t>2026/5/22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2309421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0271"/>
            <a:ext cx="1971675" cy="4358879"/>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28650" y="270272"/>
            <a:ext cx="5800725" cy="435887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EF09EF24-F27E-4EBB-BB80-8EEF912276D5}" type="datetime1">
              <a:rPr kumimoji="1" lang="ja-JP" altLang="en-US" smtClean="0"/>
              <a:t>2026/5/22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709553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B7C3FE-CB76-E0BC-BB59-0C719DFBA03A}"/>
              </a:ext>
            </a:extLst>
          </p:cNvPr>
          <p:cNvSpPr>
            <a:spLocks noGrp="1"/>
          </p:cNvSpPr>
          <p:nvPr>
            <p:ph type="ctrTitle"/>
          </p:nvPr>
        </p:nvSpPr>
        <p:spPr>
          <a:xfrm>
            <a:off x="1143000" y="841772"/>
            <a:ext cx="6858000" cy="17907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0C09C8C-0C19-63F1-31DC-59A5B561D30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1F8DF01-7302-FE62-ABB4-3197871AFF51}"/>
              </a:ext>
            </a:extLst>
          </p:cNvPr>
          <p:cNvSpPr>
            <a:spLocks noGrp="1"/>
          </p:cNvSpPr>
          <p:nvPr>
            <p:ph type="dt" sz="half" idx="10"/>
          </p:nvPr>
        </p:nvSpPr>
        <p:spPr/>
        <p:txBody>
          <a:bodyPr/>
          <a:lstStyle/>
          <a:p>
            <a:fld id="{07F24583-19A6-4914-A85C-F2A7C15ED424}"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CDD4F3FE-9C4E-194F-FAA5-A9E75BE7E4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DF6C1E-CCBD-C030-14DF-CC53ADED5928}"/>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3322857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6D7A66-B458-2C1E-0190-C258796E506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B5D699-285F-6CA9-E651-25264BC01A2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5A2823-9EDA-E741-6C47-C207277F0950}"/>
              </a:ext>
            </a:extLst>
          </p:cNvPr>
          <p:cNvSpPr>
            <a:spLocks noGrp="1"/>
          </p:cNvSpPr>
          <p:nvPr>
            <p:ph type="dt" sz="half" idx="10"/>
          </p:nvPr>
        </p:nvSpPr>
        <p:spPr/>
        <p:txBody>
          <a:bodyPr/>
          <a:lstStyle/>
          <a:p>
            <a:fld id="{3DB11B94-566E-44AB-A63E-6A7A3A4DB8F2}"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CCBEDCDB-4728-FDC9-7A8B-37C6E103AE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20ADB7F-1B4C-1187-297C-D3DC44681A31}"/>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1936091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D4893C-9F5B-A58A-122E-5688012AA182}"/>
              </a:ext>
            </a:extLst>
          </p:cNvPr>
          <p:cNvSpPr>
            <a:spLocks noGrp="1"/>
          </p:cNvSpPr>
          <p:nvPr>
            <p:ph type="title"/>
          </p:nvPr>
        </p:nvSpPr>
        <p:spPr>
          <a:xfrm>
            <a:off x="623888" y="1282304"/>
            <a:ext cx="7886700" cy="2139553"/>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0C33841-A2A1-A3E3-6FB7-1D372AD280FB}"/>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27D4811-1721-F76C-046A-39A9137BF7F2}"/>
              </a:ext>
            </a:extLst>
          </p:cNvPr>
          <p:cNvSpPr>
            <a:spLocks noGrp="1"/>
          </p:cNvSpPr>
          <p:nvPr>
            <p:ph type="dt" sz="half" idx="10"/>
          </p:nvPr>
        </p:nvSpPr>
        <p:spPr/>
        <p:txBody>
          <a:bodyPr/>
          <a:lstStyle/>
          <a:p>
            <a:fld id="{59B94838-6BA3-4635-BFC2-111AD9165D23}"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2B7438BF-F677-6358-0E9E-461312B7CD2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B75309-14D9-ADD8-B0C1-71A7AD05FD46}"/>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2555234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8A6C6E-7C17-341A-F898-B325CBB8728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8896B12-B579-C39E-D99C-2EA1986CF5C3}"/>
              </a:ext>
            </a:extLst>
          </p:cNvPr>
          <p:cNvSpPr>
            <a:spLocks noGrp="1"/>
          </p:cNvSpPr>
          <p:nvPr>
            <p:ph sz="half" idx="1"/>
          </p:nvPr>
        </p:nvSpPr>
        <p:spPr>
          <a:xfrm>
            <a:off x="628650" y="1369219"/>
            <a:ext cx="3886200" cy="326350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0DBD557-7B65-B3BF-B556-7A25ED8C9D6F}"/>
              </a:ext>
            </a:extLst>
          </p:cNvPr>
          <p:cNvSpPr>
            <a:spLocks noGrp="1"/>
          </p:cNvSpPr>
          <p:nvPr>
            <p:ph sz="half" idx="2"/>
          </p:nvPr>
        </p:nvSpPr>
        <p:spPr>
          <a:xfrm>
            <a:off x="4629150" y="1369219"/>
            <a:ext cx="3886200" cy="326350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8D3EF7A-8381-F3FF-7454-ECAD0CF6E49D}"/>
              </a:ext>
            </a:extLst>
          </p:cNvPr>
          <p:cNvSpPr>
            <a:spLocks noGrp="1"/>
          </p:cNvSpPr>
          <p:nvPr>
            <p:ph type="dt" sz="half" idx="10"/>
          </p:nvPr>
        </p:nvSpPr>
        <p:spPr/>
        <p:txBody>
          <a:bodyPr/>
          <a:lstStyle/>
          <a:p>
            <a:fld id="{8F6EAD87-8B80-4F9D-91FA-6CC935AFD9EE}" type="datetime1">
              <a:rPr kumimoji="1" lang="ja-JP" altLang="en-US" smtClean="0"/>
              <a:t>2026/5/22</a:t>
            </a:fld>
            <a:endParaRPr kumimoji="1" lang="ja-JP" altLang="en-US"/>
          </a:p>
        </p:txBody>
      </p:sp>
      <p:sp>
        <p:nvSpPr>
          <p:cNvPr id="6" name="フッター プレースホルダー 5">
            <a:extLst>
              <a:ext uri="{FF2B5EF4-FFF2-40B4-BE49-F238E27FC236}">
                <a16:creationId xmlns:a16="http://schemas.microsoft.com/office/drawing/2014/main" id="{C8338CDD-8379-DB7A-0158-12C689E01C1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ECA1398-3D66-9FDC-0D38-73397D2EDF9C}"/>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55114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E3A898-2564-AC6B-A2D0-7E20CFEAF7B1}"/>
              </a:ext>
            </a:extLst>
          </p:cNvPr>
          <p:cNvSpPr>
            <a:spLocks noGrp="1"/>
          </p:cNvSpPr>
          <p:nvPr>
            <p:ph type="title"/>
          </p:nvPr>
        </p:nvSpPr>
        <p:spPr>
          <a:xfrm>
            <a:off x="629841" y="273844"/>
            <a:ext cx="7886700" cy="994172"/>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2D45B0-8B9C-7882-3709-D3FA9EBED27E}"/>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6859361-76BC-2B06-62DE-91F107ABDDA9}"/>
              </a:ext>
            </a:extLst>
          </p:cNvPr>
          <p:cNvSpPr>
            <a:spLocks noGrp="1"/>
          </p:cNvSpPr>
          <p:nvPr>
            <p:ph sz="half" idx="2"/>
          </p:nvPr>
        </p:nvSpPr>
        <p:spPr>
          <a:xfrm>
            <a:off x="629842" y="1878806"/>
            <a:ext cx="3868340" cy="276344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ED88B6-465D-3B6D-415E-B53C2429472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7F295E5-BB17-89F0-C785-A8638C55C054}"/>
              </a:ext>
            </a:extLst>
          </p:cNvPr>
          <p:cNvSpPr>
            <a:spLocks noGrp="1"/>
          </p:cNvSpPr>
          <p:nvPr>
            <p:ph sz="quarter" idx="4"/>
          </p:nvPr>
        </p:nvSpPr>
        <p:spPr>
          <a:xfrm>
            <a:off x="4629150" y="1878806"/>
            <a:ext cx="3887391" cy="276344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5904DCA-090F-D37C-45CF-FB1BD0AFAEFC}"/>
              </a:ext>
            </a:extLst>
          </p:cNvPr>
          <p:cNvSpPr>
            <a:spLocks noGrp="1"/>
          </p:cNvSpPr>
          <p:nvPr>
            <p:ph type="dt" sz="half" idx="10"/>
          </p:nvPr>
        </p:nvSpPr>
        <p:spPr/>
        <p:txBody>
          <a:bodyPr/>
          <a:lstStyle/>
          <a:p>
            <a:fld id="{B96C38F0-3071-4A69-B611-D28C85F40659}" type="datetime1">
              <a:rPr kumimoji="1" lang="ja-JP" altLang="en-US" smtClean="0"/>
              <a:t>2026/5/22</a:t>
            </a:fld>
            <a:endParaRPr kumimoji="1" lang="ja-JP" altLang="en-US"/>
          </a:p>
        </p:txBody>
      </p:sp>
      <p:sp>
        <p:nvSpPr>
          <p:cNvPr id="8" name="フッター プレースホルダー 7">
            <a:extLst>
              <a:ext uri="{FF2B5EF4-FFF2-40B4-BE49-F238E27FC236}">
                <a16:creationId xmlns:a16="http://schemas.microsoft.com/office/drawing/2014/main" id="{AC1D50FE-BD29-5F06-FB04-8688C66F007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77F9E67-AF28-768A-3764-3080D0910EF8}"/>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19045995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68ECA4-6D6D-4886-6380-ADD8250104F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F9BCE2B-F3FB-797B-EBD1-4307CBBD3C06}"/>
              </a:ext>
            </a:extLst>
          </p:cNvPr>
          <p:cNvSpPr>
            <a:spLocks noGrp="1"/>
          </p:cNvSpPr>
          <p:nvPr>
            <p:ph type="dt" sz="half" idx="10"/>
          </p:nvPr>
        </p:nvSpPr>
        <p:spPr/>
        <p:txBody>
          <a:bodyPr/>
          <a:lstStyle/>
          <a:p>
            <a:fld id="{B1EE7B6F-0EFB-4EB1-BE98-3FB672A24892}" type="datetime1">
              <a:rPr kumimoji="1" lang="ja-JP" altLang="en-US" smtClean="0"/>
              <a:t>2026/5/22</a:t>
            </a:fld>
            <a:endParaRPr kumimoji="1" lang="ja-JP" altLang="en-US"/>
          </a:p>
        </p:txBody>
      </p:sp>
      <p:sp>
        <p:nvSpPr>
          <p:cNvPr id="4" name="フッター プレースホルダー 3">
            <a:extLst>
              <a:ext uri="{FF2B5EF4-FFF2-40B4-BE49-F238E27FC236}">
                <a16:creationId xmlns:a16="http://schemas.microsoft.com/office/drawing/2014/main" id="{BEBE7DF3-13B1-9CC8-B813-AFCCDDBE580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7308980-7049-CFB7-7019-B00B72B9FF8A}"/>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9106840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CA39B48-3314-ED01-FE13-2D9F37B5A0D2}"/>
              </a:ext>
            </a:extLst>
          </p:cNvPr>
          <p:cNvSpPr>
            <a:spLocks noGrp="1"/>
          </p:cNvSpPr>
          <p:nvPr>
            <p:ph type="dt" sz="half" idx="10"/>
          </p:nvPr>
        </p:nvSpPr>
        <p:spPr/>
        <p:txBody>
          <a:bodyPr/>
          <a:lstStyle/>
          <a:p>
            <a:fld id="{FF7FD448-D864-4886-B10A-5FB9E611FC2E}" type="datetime1">
              <a:rPr kumimoji="1" lang="ja-JP" altLang="en-US" smtClean="0"/>
              <a:t>2026/5/22</a:t>
            </a:fld>
            <a:endParaRPr kumimoji="1" lang="ja-JP" altLang="en-US"/>
          </a:p>
        </p:txBody>
      </p:sp>
      <p:sp>
        <p:nvSpPr>
          <p:cNvPr id="3" name="フッター プレースホルダー 2">
            <a:extLst>
              <a:ext uri="{FF2B5EF4-FFF2-40B4-BE49-F238E27FC236}">
                <a16:creationId xmlns:a16="http://schemas.microsoft.com/office/drawing/2014/main" id="{0E8381E2-B04B-BDD5-446D-E9287344AC7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1A312C-15C1-B056-8541-FAC4BEE84FB0}"/>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11356150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4984EA-3812-B720-F89C-5172D9D8FE82}"/>
              </a:ext>
            </a:extLst>
          </p:cNvPr>
          <p:cNvSpPr>
            <a:spLocks noGrp="1"/>
          </p:cNvSpPr>
          <p:nvPr>
            <p:ph type="title"/>
          </p:nvPr>
        </p:nvSpPr>
        <p:spPr>
          <a:xfrm>
            <a:off x="629841" y="342900"/>
            <a:ext cx="2949178" cy="120015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3AD9070-9186-3AE2-B95C-88B7CCFE82F5}"/>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8538F73-BD1E-2DA9-4587-1033B63581C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DA3ECDB-349A-84F1-110C-5D957A6DA8FF}"/>
              </a:ext>
            </a:extLst>
          </p:cNvPr>
          <p:cNvSpPr>
            <a:spLocks noGrp="1"/>
          </p:cNvSpPr>
          <p:nvPr>
            <p:ph type="dt" sz="half" idx="10"/>
          </p:nvPr>
        </p:nvSpPr>
        <p:spPr/>
        <p:txBody>
          <a:bodyPr/>
          <a:lstStyle/>
          <a:p>
            <a:fld id="{99D96501-E632-4803-A724-079D87F5B106}" type="datetime1">
              <a:rPr kumimoji="1" lang="ja-JP" altLang="en-US" smtClean="0"/>
              <a:t>2026/5/22</a:t>
            </a:fld>
            <a:endParaRPr kumimoji="1" lang="ja-JP" altLang="en-US"/>
          </a:p>
        </p:txBody>
      </p:sp>
      <p:sp>
        <p:nvSpPr>
          <p:cNvPr id="6" name="フッター プレースホルダー 5">
            <a:extLst>
              <a:ext uri="{FF2B5EF4-FFF2-40B4-BE49-F238E27FC236}">
                <a16:creationId xmlns:a16="http://schemas.microsoft.com/office/drawing/2014/main" id="{01BEF44E-C2D6-2AC6-DB93-6DC4246FE51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778EDB-511D-45E3-F10C-DA18E9D71DA8}"/>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13151744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278FDB-AAB5-9D91-A3F4-5753EFF7C9CC}"/>
              </a:ext>
            </a:extLst>
          </p:cNvPr>
          <p:cNvSpPr>
            <a:spLocks noGrp="1"/>
          </p:cNvSpPr>
          <p:nvPr>
            <p:ph type="title"/>
          </p:nvPr>
        </p:nvSpPr>
        <p:spPr>
          <a:xfrm>
            <a:off x="629841" y="342900"/>
            <a:ext cx="2949178" cy="120015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E1BDC5B-5010-5848-40C4-0F687285C34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8CBD0947-E1F0-46EB-C9B0-B31B8CA87E7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886DB52-7599-2FF8-4210-FA5B1605A1E6}"/>
              </a:ext>
            </a:extLst>
          </p:cNvPr>
          <p:cNvSpPr>
            <a:spLocks noGrp="1"/>
          </p:cNvSpPr>
          <p:nvPr>
            <p:ph type="dt" sz="half" idx="10"/>
          </p:nvPr>
        </p:nvSpPr>
        <p:spPr/>
        <p:txBody>
          <a:bodyPr/>
          <a:lstStyle/>
          <a:p>
            <a:fld id="{63B4626C-E3B0-4C19-BB17-D9EE0BAFADBA}" type="datetime1">
              <a:rPr kumimoji="1" lang="ja-JP" altLang="en-US" smtClean="0"/>
              <a:t>2026/5/22</a:t>
            </a:fld>
            <a:endParaRPr kumimoji="1" lang="ja-JP" altLang="en-US"/>
          </a:p>
        </p:txBody>
      </p:sp>
      <p:sp>
        <p:nvSpPr>
          <p:cNvPr id="6" name="フッター プレースホルダー 5">
            <a:extLst>
              <a:ext uri="{FF2B5EF4-FFF2-40B4-BE49-F238E27FC236}">
                <a16:creationId xmlns:a16="http://schemas.microsoft.com/office/drawing/2014/main" id="{51565185-0360-344F-88C8-F2F7FDE42CE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CAD155-C807-1402-4A54-D25D71A26BCE}"/>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27575186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3D22BD-4A24-17EC-9E55-D015FB48412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C831E0C-56EE-46F1-DE59-BE1D53B7BF8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DA1690B-5C70-1DEB-44C5-829C7D92F42C}"/>
              </a:ext>
            </a:extLst>
          </p:cNvPr>
          <p:cNvSpPr>
            <a:spLocks noGrp="1"/>
          </p:cNvSpPr>
          <p:nvPr>
            <p:ph type="dt" sz="half" idx="10"/>
          </p:nvPr>
        </p:nvSpPr>
        <p:spPr/>
        <p:txBody>
          <a:bodyPr/>
          <a:lstStyle/>
          <a:p>
            <a:fld id="{6FC98995-9934-48A5-974A-007DC0491753}"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077F285E-A0AF-80E7-F2B4-7131F05A939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45FD56-5318-9811-2D1C-1C27F96BF4A7}"/>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12933764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34BE060-C14B-2346-C3C9-FE30824D7CD0}"/>
              </a:ext>
            </a:extLst>
          </p:cNvPr>
          <p:cNvSpPr>
            <a:spLocks noGrp="1"/>
          </p:cNvSpPr>
          <p:nvPr>
            <p:ph type="title" orient="vert"/>
          </p:nvPr>
        </p:nvSpPr>
        <p:spPr>
          <a:xfrm>
            <a:off x="6543675" y="273844"/>
            <a:ext cx="1971675" cy="4358879"/>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7C3ABB6-789B-3CA6-2BD1-F9AA44FF4409}"/>
              </a:ext>
            </a:extLst>
          </p:cNvPr>
          <p:cNvSpPr>
            <a:spLocks noGrp="1"/>
          </p:cNvSpPr>
          <p:nvPr>
            <p:ph type="body" orient="vert" idx="1"/>
          </p:nvPr>
        </p:nvSpPr>
        <p:spPr>
          <a:xfrm>
            <a:off x="628650" y="273844"/>
            <a:ext cx="5800725" cy="4358879"/>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57777A6-26C1-EA12-B82A-34E11EC5CEC0}"/>
              </a:ext>
            </a:extLst>
          </p:cNvPr>
          <p:cNvSpPr>
            <a:spLocks noGrp="1"/>
          </p:cNvSpPr>
          <p:nvPr>
            <p:ph type="dt" sz="half" idx="10"/>
          </p:nvPr>
        </p:nvSpPr>
        <p:spPr/>
        <p:txBody>
          <a:bodyPr/>
          <a:lstStyle/>
          <a:p>
            <a:fld id="{97613326-301A-47E7-9521-464C74127CE2}"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4A0C8FE4-4FFD-E529-A8E4-48A3E6D6A9D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CB16C92-BE1F-8484-55AF-1561B4555837}"/>
              </a:ext>
            </a:extLst>
          </p:cNvPr>
          <p:cNvSpPr>
            <a:spLocks noGrp="1"/>
          </p:cNvSpPr>
          <p:nvPr>
            <p:ph type="sldNum" sz="quarter" idx="12"/>
          </p:nvPr>
        </p:nvSpPr>
        <p:spPr/>
        <p:txBody>
          <a:body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322407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274320"/>
            <a:ext cx="7886700" cy="994172"/>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33845" y="1371600"/>
            <a:ext cx="7886700" cy="326350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53C2EA3E-4F57-4079-ADA3-F428183E44D8}" type="datetime1">
              <a:rPr kumimoji="1" lang="ja-JP" altLang="en-US" smtClean="0"/>
              <a:t>2026/5/22</a:t>
            </a:fld>
            <a:endParaRPr kumimoji="1" lang="ja-JP"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6463145" y="4767263"/>
            <a:ext cx="2057400" cy="273844"/>
          </a:xfrm>
          <a:prstGeom prst="rect">
            <a:avLst/>
          </a:prstGeom>
        </p:spPr>
        <p:txBody>
          <a:bodyPr vert="horz" lIns="91440" tIns="45720" rIns="91440" bIns="45720" rtlCol="0" anchor="ctr"/>
          <a:lstStyle>
            <a:lvl1pPr algn="r">
              <a:defRPr sz="825">
                <a:solidFill>
                  <a:schemeClr val="tx1">
                    <a:tint val="75000"/>
                  </a:schemeClr>
                </a:solidFill>
              </a:defRPr>
            </a:lvl1p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3518189938"/>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kumimoji="1"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kumimoji="1"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kumimoji="1"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kumimoji="1"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272E5D8-AD24-6018-E7B1-0D74FF8A1E1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5A5EA9E-ABAB-AE58-4493-B01851C9538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1DE3DA8-B4A3-960B-2F44-90A7F7A6CDD4}"/>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4328806B-D730-4555-8814-89E351BEA64C}"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D90311B-9A52-D7D1-F85F-9525DE55B8BF}"/>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E429EB8-4D49-81AC-5938-BE00C6BCCF53}"/>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3F1BB9BB-BFB0-430A-9945-B5C50936C920}" type="slidenum">
              <a:rPr kumimoji="1" lang="ja-JP" altLang="en-US" smtClean="0"/>
              <a:t>‹#›</a:t>
            </a:fld>
            <a:endParaRPr kumimoji="1" lang="ja-JP" altLang="en-US"/>
          </a:p>
        </p:txBody>
      </p:sp>
    </p:spTree>
    <p:extLst>
      <p:ext uri="{BB962C8B-B14F-4D97-AF65-F5344CB8AC3E}">
        <p14:creationId xmlns:p14="http://schemas.microsoft.com/office/powerpoint/2010/main" val="3092797985"/>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hf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250190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467456"/>
            <a:ext cx="8178790" cy="420591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B181140-D393-47BA-C072-C5104D352236}"/>
              </a:ext>
            </a:extLst>
          </p:cNvPr>
          <p:cNvSpPr>
            <a:spLocks noGrp="1"/>
          </p:cNvSpPr>
          <p:nvPr>
            <p:ph type="title"/>
          </p:nvPr>
        </p:nvSpPr>
        <p:spPr>
          <a:xfrm>
            <a:off x="481330" y="467456"/>
            <a:ext cx="6923558" cy="1148590"/>
          </a:xfrm>
          <a:noFill/>
        </p:spPr>
        <p:txBody>
          <a:bodyPr vert="horz" lIns="91440" tIns="45720" rIns="91440" bIns="45720" rtlCol="0" anchor="t">
            <a:normAutofit fontScale="90000"/>
          </a:bodyPr>
          <a:lstStyle/>
          <a:p>
            <a:pPr algn="ctr" defTabSz="914400"/>
            <a:br>
              <a:rPr lang="en-US" altLang="ja-JP" sz="3600" kern="1200" dirty="0">
                <a:solidFill>
                  <a:schemeClr val="tx1"/>
                </a:solidFill>
                <a:latin typeface="Meiryo UI" panose="020B0604030504040204" pitchFamily="50" charset="-128"/>
                <a:ea typeface="Meiryo UI" panose="020B0604030504040204" pitchFamily="50" charset="-128"/>
              </a:rPr>
            </a:br>
            <a:r>
              <a:rPr lang="ja-JP" altLang="en-US" sz="3600" kern="1200" dirty="0">
                <a:solidFill>
                  <a:schemeClr val="tx1"/>
                </a:solidFill>
                <a:latin typeface="Meiryo UI" panose="020B0604030504040204" pitchFamily="50" charset="-128"/>
                <a:ea typeface="Meiryo UI" panose="020B0604030504040204" pitchFamily="50" charset="-128"/>
              </a:rPr>
              <a:t>小中一貫教育（大泉桜学園）について</a:t>
            </a:r>
            <a:br>
              <a:rPr lang="en-US" altLang="ja-JP" sz="3600" kern="1200" dirty="0">
                <a:solidFill>
                  <a:schemeClr val="tx1"/>
                </a:solidFill>
                <a:latin typeface="Meiryo UI" panose="020B0604030504040204" pitchFamily="50" charset="-128"/>
                <a:ea typeface="Meiryo UI" panose="020B0604030504040204" pitchFamily="50" charset="-128"/>
              </a:rPr>
            </a:br>
            <a:endParaRPr lang="ja-JP" altLang="en-US" sz="3600" kern="1200" dirty="0">
              <a:solidFill>
                <a:schemeClr val="tx1"/>
              </a:solidFill>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EF22026-1010-05A2-60BA-65362F934706}"/>
              </a:ext>
            </a:extLst>
          </p:cNvPr>
          <p:cNvSpPr>
            <a:spLocks noGrp="1"/>
          </p:cNvSpPr>
          <p:nvPr>
            <p:ph type="sldNum" sz="quarter" idx="12"/>
          </p:nvPr>
        </p:nvSpPr>
        <p:spPr>
          <a:xfrm>
            <a:off x="6844020" y="4869656"/>
            <a:ext cx="2057400" cy="273844"/>
          </a:xfrm>
        </p:spPr>
        <p:txBody>
          <a:bodyPr/>
          <a:lstStyle/>
          <a:p>
            <a:fld id="{3F1BB9BB-BFB0-430A-9945-B5C50936C920}" type="slidenum">
              <a:rPr kumimoji="1" lang="ja-JP" altLang="en-US" smtClean="0"/>
              <a:t>0</a:t>
            </a:fld>
            <a:endParaRPr kumimoji="1" lang="ja-JP" altLang="en-US"/>
          </a:p>
        </p:txBody>
      </p:sp>
      <p:sp>
        <p:nvSpPr>
          <p:cNvPr id="4" name="テキスト ボックス 3">
            <a:extLst>
              <a:ext uri="{FF2B5EF4-FFF2-40B4-BE49-F238E27FC236}">
                <a16:creationId xmlns:a16="http://schemas.microsoft.com/office/drawing/2014/main" id="{3C0EBC7B-CD5F-10BF-6D0F-D6E7943C9BA7}"/>
              </a:ext>
            </a:extLst>
          </p:cNvPr>
          <p:cNvSpPr txBox="1"/>
          <p:nvPr/>
        </p:nvSpPr>
        <p:spPr>
          <a:xfrm>
            <a:off x="702723" y="4022340"/>
            <a:ext cx="3518015" cy="461665"/>
          </a:xfrm>
          <a:prstGeom prst="rect">
            <a:avLst/>
          </a:prstGeom>
          <a:noFill/>
        </p:spPr>
        <p:txBody>
          <a:bodyPr wrap="square">
            <a:spAutoFit/>
          </a:bodyPr>
          <a:lstStyle/>
          <a:p>
            <a:pPr marL="0" indent="0">
              <a:buNone/>
            </a:pPr>
            <a:r>
              <a:rPr lang="ja-JP" altLang="en-US" sz="2400" dirty="0">
                <a:latin typeface="Meiryo UI" panose="020B0604030504040204" pitchFamily="50" charset="-128"/>
                <a:ea typeface="Meiryo UI" panose="020B0604030504040204" pitchFamily="50" charset="-128"/>
              </a:rPr>
              <a:t>教育振興部教育指導課</a:t>
            </a:r>
            <a:endParaRPr lang="en-US" altLang="ja-JP" sz="2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29806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D336-495F-0245-0F95-36D4B01F54B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C0DCC18-A846-8957-BC59-AC440C5B70A4}"/>
              </a:ext>
            </a:extLst>
          </p:cNvPr>
          <p:cNvSpPr>
            <a:spLocks noGrp="1"/>
          </p:cNvSpPr>
          <p:nvPr>
            <p:ph type="sldNum" sz="quarter" idx="12"/>
          </p:nvPr>
        </p:nvSpPr>
        <p:spPr>
          <a:xfrm>
            <a:off x="7200900" y="5143976"/>
            <a:ext cx="2057400" cy="273844"/>
          </a:xfrm>
        </p:spPr>
        <p:txBody>
          <a:bodyPr/>
          <a:lstStyle/>
          <a:p>
            <a:fld id="{3F1BB9BB-BFB0-430A-9945-B5C50936C920}" type="slidenum">
              <a:rPr kumimoji="1" lang="ja-JP" altLang="en-US" smtClean="0"/>
              <a:t>1</a:t>
            </a:fld>
            <a:endParaRPr kumimoji="1" lang="ja-JP" altLang="en-US"/>
          </a:p>
        </p:txBody>
      </p:sp>
      <p:sp>
        <p:nvSpPr>
          <p:cNvPr id="3" name="テキスト ボックス 2">
            <a:extLst>
              <a:ext uri="{FF2B5EF4-FFF2-40B4-BE49-F238E27FC236}">
                <a16:creationId xmlns:a16="http://schemas.microsoft.com/office/drawing/2014/main" id="{A0B0C887-618C-16B0-92C5-3F8ECAB4EA88}"/>
              </a:ext>
            </a:extLst>
          </p:cNvPr>
          <p:cNvSpPr txBox="1"/>
          <p:nvPr/>
        </p:nvSpPr>
        <p:spPr>
          <a:xfrm>
            <a:off x="0" y="42148"/>
            <a:ext cx="9144000" cy="461665"/>
          </a:xfrm>
          <a:prstGeom prst="homePlate">
            <a:avLst>
              <a:gd name="adj" fmla="val 0"/>
            </a:avLst>
          </a:prstGeom>
          <a:solidFill>
            <a:srgbClr val="0F9ED5"/>
          </a:solidFill>
          <a:ln>
            <a:noFill/>
          </a:ln>
        </p:spPr>
        <p:txBody>
          <a:bodyPr wrap="square" rtlCol="0" anchor="ctr">
            <a:spAutoFit/>
          </a:bodyPr>
          <a:lstStyle/>
          <a:p>
            <a:r>
              <a:rPr lang="ja-JP" altLang="en-US" sz="2400">
                <a:solidFill>
                  <a:schemeClr val="bg1"/>
                </a:solidFill>
                <a:latin typeface="Meiryo UI" panose="020B0604030504040204" pitchFamily="50" charset="-128"/>
                <a:ea typeface="Meiryo UI" panose="020B0604030504040204" pitchFamily="50" charset="-128"/>
              </a:rPr>
              <a:t>１　現状（経緯）</a:t>
            </a:r>
            <a:endParaRPr lang="ja-JP" altLang="ja-JP" sz="2400">
              <a:solidFill>
                <a:schemeClr val="bg1"/>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363E5C07-B41D-A9DF-641D-4043DC7C0F1F}"/>
              </a:ext>
            </a:extLst>
          </p:cNvPr>
          <p:cNvSpPr/>
          <p:nvPr/>
        </p:nvSpPr>
        <p:spPr>
          <a:xfrm>
            <a:off x="144606" y="1210139"/>
            <a:ext cx="8136729" cy="36286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b="1">
                <a:solidFill>
                  <a:schemeClr val="tx1"/>
                </a:solidFill>
                <a:latin typeface="游ゴシック" panose="020B0400000000000000" pitchFamily="50" charset="-128"/>
                <a:ea typeface="游ゴシック" panose="020B0400000000000000" pitchFamily="50" charset="-128"/>
              </a:rPr>
              <a:t>区長レクの結果、「世田谷区方式」に倣って検討を進めることとなった。</a:t>
            </a:r>
          </a:p>
        </p:txBody>
      </p:sp>
      <p:pic>
        <p:nvPicPr>
          <p:cNvPr id="5" name="図 4">
            <a:extLst>
              <a:ext uri="{FF2B5EF4-FFF2-40B4-BE49-F238E27FC236}">
                <a16:creationId xmlns:a16="http://schemas.microsoft.com/office/drawing/2014/main" id="{53F3A960-AC8E-F2FC-F831-8EF073E225D9}"/>
              </a:ext>
            </a:extLst>
          </p:cNvPr>
          <p:cNvPicPr>
            <a:picLocks noChangeAspect="1"/>
          </p:cNvPicPr>
          <p:nvPr/>
        </p:nvPicPr>
        <p:blipFill>
          <a:blip r:embed="rId3"/>
          <a:srcRect b="31505"/>
          <a:stretch>
            <a:fillRect/>
          </a:stretch>
        </p:blipFill>
        <p:spPr>
          <a:xfrm>
            <a:off x="144606" y="2504946"/>
            <a:ext cx="8854787" cy="2348249"/>
          </a:xfrm>
          <a:prstGeom prst="rect">
            <a:avLst/>
          </a:prstGeom>
        </p:spPr>
      </p:pic>
      <p:sp>
        <p:nvSpPr>
          <p:cNvPr id="4" name="テキスト ボックス 3">
            <a:extLst>
              <a:ext uri="{FF2B5EF4-FFF2-40B4-BE49-F238E27FC236}">
                <a16:creationId xmlns:a16="http://schemas.microsoft.com/office/drawing/2014/main" id="{C655B2FE-5695-50A6-0814-D6B9F08B7636}"/>
              </a:ext>
            </a:extLst>
          </p:cNvPr>
          <p:cNvSpPr txBox="1"/>
          <p:nvPr/>
        </p:nvSpPr>
        <p:spPr>
          <a:xfrm>
            <a:off x="6600234" y="1752500"/>
            <a:ext cx="2173606" cy="461665"/>
          </a:xfrm>
          <a:prstGeom prst="rect">
            <a:avLst/>
          </a:prstGeom>
          <a:solidFill>
            <a:srgbClr val="E8F7F9"/>
          </a:solidFill>
          <a:ln w="19050">
            <a:solidFill>
              <a:schemeClr val="bg1">
                <a:lumMod val="50000"/>
              </a:schemeClr>
            </a:solidFill>
          </a:ln>
        </p:spPr>
        <p:txBody>
          <a:bodyPr wrap="square" rtlCol="0">
            <a:spAutoFit/>
          </a:bodyPr>
          <a:lstStyle/>
          <a:p>
            <a:pPr algn="ctr"/>
            <a:r>
              <a:rPr kumimoji="1" lang="ja-JP" altLang="en-US" sz="2400">
                <a:latin typeface="Meiryo UI" panose="020B0604030504040204" pitchFamily="50" charset="-128"/>
                <a:ea typeface="Meiryo UI" panose="020B0604030504040204" pitchFamily="50" charset="-128"/>
              </a:rPr>
              <a:t>成績要件なし</a:t>
            </a:r>
            <a:endParaRPr kumimoji="1" lang="en-US" altLang="ja-JP" sz="240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51B88FC2-B29E-35C2-550C-5C57C81EC045}"/>
              </a:ext>
            </a:extLst>
          </p:cNvPr>
          <p:cNvSpPr txBox="1"/>
          <p:nvPr/>
        </p:nvSpPr>
        <p:spPr>
          <a:xfrm>
            <a:off x="574563" y="1752500"/>
            <a:ext cx="5237522" cy="461665"/>
          </a:xfrm>
          <a:prstGeom prst="rect">
            <a:avLst/>
          </a:prstGeom>
          <a:solidFill>
            <a:srgbClr val="E8F7F9"/>
          </a:solidFill>
          <a:ln w="19050">
            <a:solidFill>
              <a:schemeClr val="bg1">
                <a:lumMod val="50000"/>
              </a:schemeClr>
            </a:solidFill>
          </a:ln>
        </p:spPr>
        <p:txBody>
          <a:bodyPr wrap="square" rtlCol="0">
            <a:spAutoFit/>
          </a:bodyPr>
          <a:lstStyle/>
          <a:p>
            <a:pPr algn="ctr"/>
            <a:r>
              <a:rPr kumimoji="1" lang="ja-JP" altLang="en-US" sz="2400">
                <a:latin typeface="Meiryo UI" panose="020B0604030504040204" pitchFamily="50" charset="-128"/>
                <a:ea typeface="Meiryo UI" panose="020B0604030504040204" pitchFamily="50" charset="-128"/>
              </a:rPr>
              <a:t>貧困世帯（生保世帯・社会的養護等）</a:t>
            </a:r>
            <a:endParaRPr kumimoji="1" lang="en-US" altLang="ja-JP" sz="2400">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a16="http://schemas.microsoft.com/office/drawing/2014/main" id="{4BC71C00-6185-72FF-618B-FE549235B39A}"/>
              </a:ext>
            </a:extLst>
          </p:cNvPr>
          <p:cNvSpPr/>
          <p:nvPr/>
        </p:nvSpPr>
        <p:spPr>
          <a:xfrm>
            <a:off x="144606" y="657093"/>
            <a:ext cx="4769495" cy="321638"/>
          </a:xfrm>
          <a:prstGeom prst="roundRect">
            <a:avLst/>
          </a:prstGeom>
          <a:solidFill>
            <a:srgbClr val="FFFBC1"/>
          </a:solidFill>
          <a:ln>
            <a:solidFill>
              <a:schemeClr val="bg1">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r>
              <a:rPr kumimoji="1" lang="ja-JP" altLang="en-US" sz="1600">
                <a:latin typeface="Meiryo UI" panose="020B0604030504040204" pitchFamily="50" charset="-128"/>
                <a:ea typeface="Meiryo UI" panose="020B0604030504040204" pitchFamily="50" charset="-128"/>
              </a:rPr>
              <a:t>　練馬区における検討の経過</a:t>
            </a:r>
          </a:p>
        </p:txBody>
      </p:sp>
      <p:sp>
        <p:nvSpPr>
          <p:cNvPr id="8" name="正方形/長方形 7">
            <a:extLst>
              <a:ext uri="{FF2B5EF4-FFF2-40B4-BE49-F238E27FC236}">
                <a16:creationId xmlns:a16="http://schemas.microsoft.com/office/drawing/2014/main" id="{8BCBDEC2-0E86-E453-0CC6-E922ED746081}"/>
              </a:ext>
            </a:extLst>
          </p:cNvPr>
          <p:cNvSpPr/>
          <p:nvPr/>
        </p:nvSpPr>
        <p:spPr>
          <a:xfrm>
            <a:off x="5984655" y="1752500"/>
            <a:ext cx="443009" cy="36286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sz="2400" b="1">
                <a:solidFill>
                  <a:schemeClr val="tx1"/>
                </a:solidFill>
                <a:latin typeface="HGP創英角ｺﾞｼｯｸUB" panose="020B0900000000000000" pitchFamily="50" charset="-128"/>
                <a:ea typeface="HGP創英角ｺﾞｼｯｸUB" panose="020B0900000000000000" pitchFamily="50" charset="-128"/>
              </a:rPr>
              <a:t>＋</a:t>
            </a:r>
          </a:p>
        </p:txBody>
      </p:sp>
      <p:sp>
        <p:nvSpPr>
          <p:cNvPr id="9" name="四角形: 角を丸くする 8">
            <a:extLst>
              <a:ext uri="{FF2B5EF4-FFF2-40B4-BE49-F238E27FC236}">
                <a16:creationId xmlns:a16="http://schemas.microsoft.com/office/drawing/2014/main" id="{06041BC3-079B-2BF0-C415-2705D9CF7887}"/>
              </a:ext>
            </a:extLst>
          </p:cNvPr>
          <p:cNvSpPr/>
          <p:nvPr/>
        </p:nvSpPr>
        <p:spPr>
          <a:xfrm>
            <a:off x="9258300" y="113317"/>
            <a:ext cx="1229946" cy="362863"/>
          </a:xfrm>
          <a:prstGeom prst="roundRect">
            <a:avLst>
              <a:gd name="adj" fmla="val 0"/>
            </a:avLst>
          </a:prstGeom>
          <a:solidFill>
            <a:srgbClr val="FFC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教育振興部</a:t>
            </a:r>
          </a:p>
        </p:txBody>
      </p:sp>
    </p:spTree>
    <p:extLst>
      <p:ext uri="{BB962C8B-B14F-4D97-AF65-F5344CB8AC3E}">
        <p14:creationId xmlns:p14="http://schemas.microsoft.com/office/powerpoint/2010/main" val="1959711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12695-DFD8-8264-C056-7DFFF6BD9AE9}"/>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75A8CEE-A1FE-47B7-CB24-5A495A724011}"/>
              </a:ext>
            </a:extLst>
          </p:cNvPr>
          <p:cNvSpPr txBox="1"/>
          <p:nvPr/>
        </p:nvSpPr>
        <p:spPr>
          <a:xfrm>
            <a:off x="0" y="42148"/>
            <a:ext cx="9144000" cy="461665"/>
          </a:xfrm>
          <a:prstGeom prst="homePlate">
            <a:avLst>
              <a:gd name="adj" fmla="val 0"/>
            </a:avLst>
          </a:prstGeom>
          <a:solidFill>
            <a:srgbClr val="0F9ED5"/>
          </a:solidFill>
          <a:ln>
            <a:noFill/>
          </a:ln>
        </p:spPr>
        <p:txBody>
          <a:bodyPr wrap="square" rtlCol="0" anchor="ctr">
            <a:spAutoFit/>
          </a:bodyPr>
          <a:lstStyle/>
          <a:p>
            <a:r>
              <a:rPr lang="ja-JP" altLang="en-US" sz="2400">
                <a:solidFill>
                  <a:schemeClr val="bg1"/>
                </a:solidFill>
                <a:latin typeface="Meiryo UI" panose="020B0604030504040204" pitchFamily="50" charset="-128"/>
                <a:ea typeface="Meiryo UI" panose="020B0604030504040204" pitchFamily="50" charset="-128"/>
              </a:rPr>
              <a:t>１　現状（経緯）</a:t>
            </a:r>
            <a:endParaRPr lang="ja-JP" altLang="ja-JP" sz="2400">
              <a:solidFill>
                <a:schemeClr val="bg1"/>
              </a:solidFill>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a16="http://schemas.microsoft.com/office/drawing/2014/main" id="{2421AB64-DA3E-35EA-FE7E-E54A464283E9}"/>
              </a:ext>
            </a:extLst>
          </p:cNvPr>
          <p:cNvSpPr/>
          <p:nvPr/>
        </p:nvSpPr>
        <p:spPr>
          <a:xfrm>
            <a:off x="144606" y="657093"/>
            <a:ext cx="4769495" cy="321638"/>
          </a:xfrm>
          <a:prstGeom prst="roundRect">
            <a:avLst/>
          </a:prstGeom>
          <a:solidFill>
            <a:srgbClr val="FFFBC1"/>
          </a:solidFill>
          <a:ln>
            <a:solidFill>
              <a:schemeClr val="bg1">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r>
              <a:rPr kumimoji="1" lang="ja-JP" altLang="en-US" sz="1600">
                <a:latin typeface="Meiryo UI" panose="020B0604030504040204" pitchFamily="50" charset="-128"/>
                <a:ea typeface="Meiryo UI" panose="020B0604030504040204" pitchFamily="50" charset="-128"/>
              </a:rPr>
              <a:t>　修正事項１　金額</a:t>
            </a:r>
          </a:p>
        </p:txBody>
      </p:sp>
      <p:sp>
        <p:nvSpPr>
          <p:cNvPr id="22" name="正方形/長方形 21">
            <a:extLst>
              <a:ext uri="{FF2B5EF4-FFF2-40B4-BE49-F238E27FC236}">
                <a16:creationId xmlns:a16="http://schemas.microsoft.com/office/drawing/2014/main" id="{ED0065CB-D2D3-A0C9-F775-2D49ED119EE6}"/>
              </a:ext>
            </a:extLst>
          </p:cNvPr>
          <p:cNvSpPr/>
          <p:nvPr/>
        </p:nvSpPr>
        <p:spPr>
          <a:xfrm>
            <a:off x="144606" y="1144915"/>
            <a:ext cx="6639148" cy="36286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b="1">
                <a:solidFill>
                  <a:schemeClr val="tx1"/>
                </a:solidFill>
                <a:latin typeface="游ゴシック" panose="020B0400000000000000" pitchFamily="50" charset="-128"/>
                <a:ea typeface="游ゴシック" panose="020B0400000000000000" pitchFamily="50" charset="-128"/>
              </a:rPr>
              <a:t>・ 前回資料の世田谷区の金額部分は、２学年分の金額。</a:t>
            </a:r>
            <a:endParaRPr kumimoji="1" lang="en-US" altLang="ja-JP" b="1">
              <a:solidFill>
                <a:schemeClr val="tx1"/>
              </a:solidFill>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0102FB72-7D73-5755-4EB9-F2153C206191}"/>
              </a:ext>
            </a:extLst>
          </p:cNvPr>
          <p:cNvSpPr/>
          <p:nvPr/>
        </p:nvSpPr>
        <p:spPr>
          <a:xfrm>
            <a:off x="144606" y="3074523"/>
            <a:ext cx="6849752" cy="36286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b="1">
                <a:solidFill>
                  <a:schemeClr val="tx1"/>
                </a:solidFill>
                <a:latin typeface="游ゴシック" panose="020B0400000000000000" pitchFamily="50" charset="-128"/>
                <a:ea typeface="游ゴシック" panose="020B0400000000000000" pitchFamily="50" charset="-128"/>
              </a:rPr>
              <a:t>⇒ 世田谷区と練馬区との人口比（</a:t>
            </a:r>
            <a:r>
              <a:rPr kumimoji="1" lang="en-US" altLang="ja-JP" b="1">
                <a:solidFill>
                  <a:schemeClr val="tx1"/>
                </a:solidFill>
                <a:latin typeface="游ゴシック" panose="020B0400000000000000" pitchFamily="50" charset="-128"/>
                <a:ea typeface="游ゴシック" panose="020B0400000000000000" pitchFamily="50" charset="-128"/>
              </a:rPr>
              <a:t>80.7</a:t>
            </a:r>
            <a:r>
              <a:rPr kumimoji="1" lang="ja-JP" altLang="en-US" b="1">
                <a:solidFill>
                  <a:schemeClr val="tx1"/>
                </a:solidFill>
                <a:latin typeface="游ゴシック" panose="020B0400000000000000" pitchFamily="50" charset="-128"/>
                <a:ea typeface="游ゴシック" panose="020B0400000000000000" pitchFamily="50" charset="-128"/>
              </a:rPr>
              <a:t>％）で計算した場合は、</a:t>
            </a:r>
            <a:endParaRPr kumimoji="1" lang="en-US" altLang="ja-JP" b="1">
              <a:solidFill>
                <a:schemeClr val="tx1"/>
              </a:solidFill>
              <a:latin typeface="游ゴシック" panose="020B0400000000000000" pitchFamily="50" charset="-128"/>
              <a:ea typeface="游ゴシック" panose="020B0400000000000000" pitchFamily="50" charset="-128"/>
            </a:endParaRPr>
          </a:p>
        </p:txBody>
      </p:sp>
      <p:pic>
        <p:nvPicPr>
          <p:cNvPr id="10" name="図 9">
            <a:extLst>
              <a:ext uri="{FF2B5EF4-FFF2-40B4-BE49-F238E27FC236}">
                <a16:creationId xmlns:a16="http://schemas.microsoft.com/office/drawing/2014/main" id="{73FBFD7C-352A-3BDF-D4C0-F1CF695AFE79}"/>
              </a:ext>
            </a:extLst>
          </p:cNvPr>
          <p:cNvPicPr>
            <a:picLocks noChangeAspect="1"/>
          </p:cNvPicPr>
          <p:nvPr/>
        </p:nvPicPr>
        <p:blipFill>
          <a:blip r:embed="rId3"/>
          <a:stretch>
            <a:fillRect/>
          </a:stretch>
        </p:blipFill>
        <p:spPr>
          <a:xfrm>
            <a:off x="9289197" y="2081026"/>
            <a:ext cx="7459980" cy="1356360"/>
          </a:xfrm>
          <a:prstGeom prst="rect">
            <a:avLst/>
          </a:prstGeom>
        </p:spPr>
      </p:pic>
      <p:pic>
        <p:nvPicPr>
          <p:cNvPr id="29" name="図 28">
            <a:extLst>
              <a:ext uri="{FF2B5EF4-FFF2-40B4-BE49-F238E27FC236}">
                <a16:creationId xmlns:a16="http://schemas.microsoft.com/office/drawing/2014/main" id="{05632500-32E5-0EF0-A515-BE883DBA9FAE}"/>
              </a:ext>
            </a:extLst>
          </p:cNvPr>
          <p:cNvPicPr>
            <a:picLocks noChangeAspect="1"/>
          </p:cNvPicPr>
          <p:nvPr/>
        </p:nvPicPr>
        <p:blipFill>
          <a:blip r:embed="rId4"/>
          <a:stretch>
            <a:fillRect/>
          </a:stretch>
        </p:blipFill>
        <p:spPr>
          <a:xfrm>
            <a:off x="144606" y="3565667"/>
            <a:ext cx="8841029" cy="1033055"/>
          </a:xfrm>
          <a:prstGeom prst="rect">
            <a:avLst/>
          </a:prstGeom>
        </p:spPr>
      </p:pic>
      <p:pic>
        <p:nvPicPr>
          <p:cNvPr id="32" name="図 31">
            <a:extLst>
              <a:ext uri="{FF2B5EF4-FFF2-40B4-BE49-F238E27FC236}">
                <a16:creationId xmlns:a16="http://schemas.microsoft.com/office/drawing/2014/main" id="{25382BA7-4640-4829-4007-759A3A169E0E}"/>
              </a:ext>
            </a:extLst>
          </p:cNvPr>
          <p:cNvPicPr>
            <a:picLocks noChangeAspect="1"/>
          </p:cNvPicPr>
          <p:nvPr/>
        </p:nvPicPr>
        <p:blipFill>
          <a:blip r:embed="rId5"/>
          <a:stretch>
            <a:fillRect/>
          </a:stretch>
        </p:blipFill>
        <p:spPr>
          <a:xfrm>
            <a:off x="472789" y="1635555"/>
            <a:ext cx="7415566" cy="1033054"/>
          </a:xfrm>
          <a:prstGeom prst="rect">
            <a:avLst/>
          </a:prstGeom>
        </p:spPr>
      </p:pic>
      <p:sp>
        <p:nvSpPr>
          <p:cNvPr id="33" name="正方形/長方形 32">
            <a:extLst>
              <a:ext uri="{FF2B5EF4-FFF2-40B4-BE49-F238E27FC236}">
                <a16:creationId xmlns:a16="http://schemas.microsoft.com/office/drawing/2014/main" id="{6CA79115-C289-23EC-DA9A-AD8978EFDA2D}"/>
              </a:ext>
            </a:extLst>
          </p:cNvPr>
          <p:cNvSpPr/>
          <p:nvPr/>
        </p:nvSpPr>
        <p:spPr>
          <a:xfrm>
            <a:off x="4685648" y="4598722"/>
            <a:ext cx="4313746" cy="30367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r"/>
            <a:r>
              <a:rPr kumimoji="1" lang="en-US" altLang="ja-JP" sz="900">
                <a:solidFill>
                  <a:schemeClr val="tx1"/>
                </a:solidFill>
                <a:latin typeface="Meiryo UI" panose="020B0604030504040204" pitchFamily="50" charset="-128"/>
                <a:ea typeface="Meiryo UI" panose="020B0604030504040204" pitchFamily="50" charset="-128"/>
              </a:rPr>
              <a:t>※【R8.4.1</a:t>
            </a:r>
            <a:r>
              <a:rPr kumimoji="1" lang="ja-JP" altLang="en-US" sz="900">
                <a:solidFill>
                  <a:schemeClr val="tx1"/>
                </a:solidFill>
                <a:latin typeface="Meiryo UI" panose="020B0604030504040204" pitchFamily="50" charset="-128"/>
                <a:ea typeface="Meiryo UI" panose="020B0604030504040204" pitchFamily="50" charset="-128"/>
              </a:rPr>
              <a:t>時点人口</a:t>
            </a:r>
            <a:r>
              <a:rPr kumimoji="1" lang="en-US" altLang="ja-JP" sz="900">
                <a:solidFill>
                  <a:schemeClr val="tx1"/>
                </a:solidFill>
                <a:latin typeface="Meiryo UI" panose="020B0604030504040204" pitchFamily="50" charset="-128"/>
                <a:ea typeface="Meiryo UI" panose="020B0604030504040204" pitchFamily="50" charset="-128"/>
              </a:rPr>
              <a:t>】</a:t>
            </a:r>
            <a:r>
              <a:rPr kumimoji="1" lang="ja-JP" altLang="en-US" sz="900">
                <a:solidFill>
                  <a:schemeClr val="tx1"/>
                </a:solidFill>
                <a:latin typeface="Meiryo UI" panose="020B0604030504040204" pitchFamily="50" charset="-128"/>
                <a:ea typeface="Meiryo UI" panose="020B0604030504040204" pitchFamily="50" charset="-128"/>
              </a:rPr>
              <a:t>練馬区：</a:t>
            </a:r>
            <a:r>
              <a:rPr kumimoji="1" lang="en-US" altLang="ja-JP" sz="900">
                <a:solidFill>
                  <a:schemeClr val="tx1"/>
                </a:solidFill>
                <a:latin typeface="Meiryo UI" panose="020B0604030504040204" pitchFamily="50" charset="-128"/>
                <a:ea typeface="Meiryo UI" panose="020B0604030504040204" pitchFamily="50" charset="-128"/>
              </a:rPr>
              <a:t>751,465</a:t>
            </a:r>
            <a:r>
              <a:rPr kumimoji="1" lang="ja-JP" altLang="en-US" sz="900">
                <a:solidFill>
                  <a:schemeClr val="tx1"/>
                </a:solidFill>
                <a:latin typeface="Meiryo UI" panose="020B0604030504040204" pitchFamily="50" charset="-128"/>
                <a:ea typeface="Meiryo UI" panose="020B0604030504040204" pitchFamily="50" charset="-128"/>
              </a:rPr>
              <a:t>人　　世田谷区：</a:t>
            </a:r>
            <a:r>
              <a:rPr kumimoji="1" lang="en-US" altLang="ja-JP" sz="900">
                <a:solidFill>
                  <a:schemeClr val="tx1"/>
                </a:solidFill>
                <a:latin typeface="Meiryo UI" panose="020B0604030504040204" pitchFamily="50" charset="-128"/>
                <a:ea typeface="Meiryo UI" panose="020B0604030504040204" pitchFamily="50" charset="-128"/>
              </a:rPr>
              <a:t>931,090</a:t>
            </a:r>
            <a:r>
              <a:rPr kumimoji="1" lang="ja-JP" altLang="en-US" sz="900">
                <a:solidFill>
                  <a:schemeClr val="tx1"/>
                </a:solidFill>
                <a:latin typeface="Meiryo UI" panose="020B0604030504040204" pitchFamily="50" charset="-128"/>
                <a:ea typeface="Meiryo UI" panose="020B0604030504040204" pitchFamily="50" charset="-128"/>
              </a:rPr>
              <a:t>人</a:t>
            </a:r>
            <a:endParaRPr kumimoji="1" lang="en-US" altLang="ja-JP" sz="900">
              <a:solidFill>
                <a:schemeClr val="tx1"/>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529045D1-600D-BAB3-58D4-0DC05C086896}"/>
              </a:ext>
            </a:extLst>
          </p:cNvPr>
          <p:cNvSpPr/>
          <p:nvPr/>
        </p:nvSpPr>
        <p:spPr>
          <a:xfrm>
            <a:off x="4671889" y="2676095"/>
            <a:ext cx="4313746" cy="30367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r"/>
            <a:r>
              <a:rPr kumimoji="1" lang="en-US" altLang="ja-JP" sz="900">
                <a:solidFill>
                  <a:schemeClr val="tx1"/>
                </a:solidFill>
                <a:latin typeface="Meiryo UI" panose="020B0604030504040204" pitchFamily="50" charset="-128"/>
                <a:ea typeface="Meiryo UI" panose="020B0604030504040204" pitchFamily="50" charset="-128"/>
              </a:rPr>
              <a:t>※</a:t>
            </a:r>
            <a:r>
              <a:rPr kumimoji="1" lang="ja-JP" altLang="en-US" sz="900">
                <a:solidFill>
                  <a:schemeClr val="tx1"/>
                </a:solidFill>
                <a:latin typeface="Meiryo UI" panose="020B0604030504040204" pitchFamily="50" charset="-128"/>
                <a:ea typeface="Meiryo UI" panose="020B0604030504040204" pitchFamily="50" charset="-128"/>
              </a:rPr>
              <a:t>１学年それぞれ</a:t>
            </a:r>
            <a:r>
              <a:rPr kumimoji="1" lang="en-US" altLang="ja-JP" sz="900">
                <a:solidFill>
                  <a:schemeClr val="tx1"/>
                </a:solidFill>
                <a:latin typeface="Meiryo UI" panose="020B0604030504040204" pitchFamily="50" charset="-128"/>
                <a:ea typeface="Meiryo UI" panose="020B0604030504040204" pitchFamily="50" charset="-128"/>
              </a:rPr>
              <a:t>2,125</a:t>
            </a:r>
            <a:r>
              <a:rPr kumimoji="1" lang="ja-JP" altLang="en-US" sz="900">
                <a:solidFill>
                  <a:schemeClr val="tx1"/>
                </a:solidFill>
                <a:latin typeface="Meiryo UI" panose="020B0604030504040204" pitchFamily="50" charset="-128"/>
                <a:ea typeface="Meiryo UI" panose="020B0604030504040204" pitchFamily="50" charset="-128"/>
              </a:rPr>
              <a:t>万円、</a:t>
            </a:r>
            <a:r>
              <a:rPr kumimoji="1" lang="en-US" altLang="ja-JP" sz="900">
                <a:solidFill>
                  <a:schemeClr val="tx1"/>
                </a:solidFill>
                <a:latin typeface="Meiryo UI" panose="020B0604030504040204" pitchFamily="50" charset="-128"/>
                <a:ea typeface="Meiryo UI" panose="020B0604030504040204" pitchFamily="50" charset="-128"/>
              </a:rPr>
              <a:t>700</a:t>
            </a:r>
            <a:r>
              <a:rPr kumimoji="1" lang="ja-JP" altLang="en-US" sz="900">
                <a:solidFill>
                  <a:schemeClr val="tx1"/>
                </a:solidFill>
                <a:latin typeface="Meiryo UI" panose="020B0604030504040204" pitchFamily="50" charset="-128"/>
                <a:ea typeface="Meiryo UI" panose="020B0604030504040204" pitchFamily="50" charset="-128"/>
              </a:rPr>
              <a:t>万円に学年数を乗算</a:t>
            </a:r>
            <a:endParaRPr kumimoji="1" lang="en-US" altLang="ja-JP" sz="900">
              <a:solidFill>
                <a:schemeClr val="tx1"/>
              </a:solidFill>
              <a:latin typeface="Meiryo UI" panose="020B0604030504040204" pitchFamily="50" charset="-128"/>
              <a:ea typeface="Meiryo UI" panose="020B0604030504040204" pitchFamily="50" charset="-128"/>
            </a:endParaRPr>
          </a:p>
        </p:txBody>
      </p:sp>
      <p:pic>
        <p:nvPicPr>
          <p:cNvPr id="6" name="図 5">
            <a:extLst>
              <a:ext uri="{FF2B5EF4-FFF2-40B4-BE49-F238E27FC236}">
                <a16:creationId xmlns:a16="http://schemas.microsoft.com/office/drawing/2014/main" id="{23D6132D-FB1F-F937-7503-0502838FEFF3}"/>
              </a:ext>
            </a:extLst>
          </p:cNvPr>
          <p:cNvPicPr>
            <a:picLocks noChangeAspect="1"/>
          </p:cNvPicPr>
          <p:nvPr/>
        </p:nvPicPr>
        <p:blipFill>
          <a:blip r:embed="rId6"/>
          <a:stretch>
            <a:fillRect/>
          </a:stretch>
        </p:blipFill>
        <p:spPr>
          <a:xfrm>
            <a:off x="9289197" y="3512624"/>
            <a:ext cx="7056120" cy="1356360"/>
          </a:xfrm>
          <a:prstGeom prst="rect">
            <a:avLst/>
          </a:prstGeom>
        </p:spPr>
      </p:pic>
      <p:sp>
        <p:nvSpPr>
          <p:cNvPr id="4" name="四角形: 角を丸くする 3">
            <a:extLst>
              <a:ext uri="{FF2B5EF4-FFF2-40B4-BE49-F238E27FC236}">
                <a16:creationId xmlns:a16="http://schemas.microsoft.com/office/drawing/2014/main" id="{2446D62D-33EC-114B-9445-A2AD0E387CE0}"/>
              </a:ext>
            </a:extLst>
          </p:cNvPr>
          <p:cNvSpPr/>
          <p:nvPr/>
        </p:nvSpPr>
        <p:spPr>
          <a:xfrm>
            <a:off x="9258300" y="113317"/>
            <a:ext cx="1361574" cy="362863"/>
          </a:xfrm>
          <a:prstGeom prst="roundRect">
            <a:avLst>
              <a:gd name="adj" fmla="val 0"/>
            </a:avLst>
          </a:prstGeom>
          <a:solidFill>
            <a:srgbClr val="FFC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教育振興部</a:t>
            </a:r>
          </a:p>
        </p:txBody>
      </p:sp>
    </p:spTree>
    <p:extLst>
      <p:ext uri="{BB962C8B-B14F-4D97-AF65-F5344CB8AC3E}">
        <p14:creationId xmlns:p14="http://schemas.microsoft.com/office/powerpoint/2010/main" val="323820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DD2F6-7015-A7EA-230A-232DDE7F6A3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A00F371-55F1-7985-4AD6-196355E1AC3B}"/>
              </a:ext>
            </a:extLst>
          </p:cNvPr>
          <p:cNvSpPr txBox="1"/>
          <p:nvPr/>
        </p:nvSpPr>
        <p:spPr>
          <a:xfrm>
            <a:off x="0" y="42148"/>
            <a:ext cx="9144000" cy="461665"/>
          </a:xfrm>
          <a:prstGeom prst="homePlate">
            <a:avLst>
              <a:gd name="adj" fmla="val 0"/>
            </a:avLst>
          </a:prstGeom>
          <a:solidFill>
            <a:srgbClr val="0F9ED5"/>
          </a:solidFill>
          <a:ln>
            <a:noFill/>
          </a:ln>
        </p:spPr>
        <p:txBody>
          <a:bodyPr wrap="square" rtlCol="0" anchor="ctr">
            <a:spAutoFit/>
          </a:bodyPr>
          <a:lstStyle/>
          <a:p>
            <a:r>
              <a:rPr kumimoji="1" lang="ja-JP" altLang="en-US" sz="2400">
                <a:solidFill>
                  <a:schemeClr val="bg1"/>
                </a:solidFill>
                <a:latin typeface="Meiryo UI" panose="020B0604030504040204" pitchFamily="50" charset="-128"/>
                <a:ea typeface="Meiryo UI" panose="020B0604030504040204" pitchFamily="50" charset="-128"/>
              </a:rPr>
              <a:t>１　現状（経緯）</a:t>
            </a:r>
            <a:endParaRPr lang="ja-JP" altLang="ja-JP" sz="2400">
              <a:solidFill>
                <a:schemeClr val="bg1"/>
              </a:solidFill>
              <a:latin typeface="Meiryo UI" panose="020B0604030504040204" pitchFamily="50" charset="-128"/>
              <a:ea typeface="Meiryo UI" panose="020B0604030504040204" pitchFamily="50" charset="-128"/>
            </a:endParaRPr>
          </a:p>
        </p:txBody>
      </p:sp>
      <p:sp>
        <p:nvSpPr>
          <p:cNvPr id="12" name="四角形: 角を丸くする 11">
            <a:extLst>
              <a:ext uri="{FF2B5EF4-FFF2-40B4-BE49-F238E27FC236}">
                <a16:creationId xmlns:a16="http://schemas.microsoft.com/office/drawing/2014/main" id="{04025C54-1A39-C535-9638-955D817EF21A}"/>
              </a:ext>
            </a:extLst>
          </p:cNvPr>
          <p:cNvSpPr/>
          <p:nvPr/>
        </p:nvSpPr>
        <p:spPr>
          <a:xfrm>
            <a:off x="148650" y="621950"/>
            <a:ext cx="4769495" cy="321638"/>
          </a:xfrm>
          <a:prstGeom prst="roundRect">
            <a:avLst/>
          </a:prstGeom>
          <a:solidFill>
            <a:srgbClr val="FFFBC1"/>
          </a:solidFill>
          <a:ln>
            <a:solidFill>
              <a:schemeClr val="bg1">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r>
              <a:rPr kumimoji="1" lang="ja-JP" altLang="en-US" sz="1600">
                <a:latin typeface="Meiryo UI" panose="020B0604030504040204" pitchFamily="50" charset="-128"/>
                <a:ea typeface="Meiryo UI" panose="020B0604030504040204" pitchFamily="50" charset="-128"/>
              </a:rPr>
              <a:t>　修正事項２　陳情不採択</a:t>
            </a:r>
          </a:p>
        </p:txBody>
      </p:sp>
      <p:sp>
        <p:nvSpPr>
          <p:cNvPr id="64" name="四角形: 角を丸くする 63">
            <a:extLst>
              <a:ext uri="{FF2B5EF4-FFF2-40B4-BE49-F238E27FC236}">
                <a16:creationId xmlns:a16="http://schemas.microsoft.com/office/drawing/2014/main" id="{BBD9E656-AC57-3362-9D55-A0E62BC0DC88}"/>
              </a:ext>
            </a:extLst>
          </p:cNvPr>
          <p:cNvSpPr/>
          <p:nvPr/>
        </p:nvSpPr>
        <p:spPr>
          <a:xfrm>
            <a:off x="148650" y="995856"/>
            <a:ext cx="8444524" cy="1619323"/>
          </a:xfrm>
          <a:prstGeom prst="roundRect">
            <a:avLst>
              <a:gd name="adj" fmla="val 0"/>
            </a:avLst>
          </a:prstGeom>
          <a:noFill/>
          <a:ln>
            <a:noFill/>
          </a:ln>
        </p:spPr>
        <p:style>
          <a:lnRef idx="1">
            <a:schemeClr val="accent6"/>
          </a:lnRef>
          <a:fillRef idx="2">
            <a:schemeClr val="accent6"/>
          </a:fillRef>
          <a:effectRef idx="1">
            <a:schemeClr val="accent6"/>
          </a:effectRef>
          <a:fontRef idx="minor">
            <a:schemeClr val="dk1"/>
          </a:fontRef>
        </p:style>
        <p:txBody>
          <a:bodyPr rtlCol="0" anchor="t" anchorCtr="0"/>
          <a:lstStyle/>
          <a:p>
            <a:r>
              <a:rPr kumimoji="1" lang="ja-JP" altLang="en-US" sz="1600">
                <a:latin typeface="Meiryo UI" panose="020B0604030504040204" pitchFamily="50" charset="-128"/>
                <a:ea typeface="Meiryo UI" panose="020B0604030504040204" pitchFamily="50" charset="-128"/>
              </a:rPr>
              <a:t>　令和６年１月</a:t>
            </a:r>
            <a:r>
              <a:rPr kumimoji="1" lang="en-US" altLang="ja-JP" sz="1600">
                <a:latin typeface="Meiryo UI" panose="020B0604030504040204" pitchFamily="50" charset="-128"/>
                <a:ea typeface="Meiryo UI" panose="020B0604030504040204" pitchFamily="50" charset="-128"/>
              </a:rPr>
              <a:t>30</a:t>
            </a:r>
            <a:r>
              <a:rPr kumimoji="1" lang="ja-JP" altLang="en-US" sz="1600">
                <a:latin typeface="Meiryo UI" panose="020B0604030504040204" pitchFamily="50" charset="-128"/>
                <a:ea typeface="Meiryo UI" panose="020B0604030504040204" pitchFamily="50" charset="-128"/>
              </a:rPr>
              <a:t>日（質疑）、２月</a:t>
            </a:r>
            <a:r>
              <a:rPr kumimoji="1" lang="en-US" altLang="ja-JP" sz="1600">
                <a:latin typeface="Meiryo UI" panose="020B0604030504040204" pitchFamily="50" charset="-128"/>
                <a:ea typeface="Meiryo UI" panose="020B0604030504040204" pitchFamily="50" charset="-128"/>
              </a:rPr>
              <a:t>15</a:t>
            </a:r>
            <a:r>
              <a:rPr kumimoji="1" lang="ja-JP" altLang="en-US" sz="1600">
                <a:latin typeface="Meiryo UI" panose="020B0604030504040204" pitchFamily="50" charset="-128"/>
                <a:ea typeface="Meiryo UI" panose="020B0604030504040204" pitchFamily="50" charset="-128"/>
              </a:rPr>
              <a:t>日（審査）　保健福祉委員会　　</a:t>
            </a:r>
            <a:endParaRPr kumimoji="1" lang="en-US" altLang="ja-JP" sz="1600">
              <a:latin typeface="Meiryo UI" panose="020B0604030504040204" pitchFamily="50" charset="-128"/>
              <a:ea typeface="Meiryo UI" panose="020B0604030504040204" pitchFamily="50" charset="-128"/>
            </a:endParaRPr>
          </a:p>
          <a:p>
            <a:r>
              <a:rPr kumimoji="1" lang="ja-JP" altLang="en-US" sz="1600">
                <a:latin typeface="Meiryo UI" panose="020B0604030504040204" pitchFamily="50" charset="-128"/>
                <a:ea typeface="Meiryo UI" panose="020B0604030504040204" pitchFamily="50" charset="-128"/>
              </a:rPr>
              <a:t>　　陳情第</a:t>
            </a:r>
            <a:r>
              <a:rPr kumimoji="1" lang="en-US" altLang="ja-JP" sz="1600">
                <a:latin typeface="Meiryo UI" panose="020B0604030504040204" pitchFamily="50" charset="-128"/>
                <a:ea typeface="Meiryo UI" panose="020B0604030504040204" pitchFamily="50" charset="-128"/>
              </a:rPr>
              <a:t>39</a:t>
            </a:r>
            <a:r>
              <a:rPr kumimoji="1" lang="ja-JP" altLang="en-US" sz="1600">
                <a:latin typeface="Meiryo UI" panose="020B0604030504040204" pitchFamily="50" charset="-128"/>
                <a:ea typeface="Meiryo UI" panose="020B0604030504040204" pitchFamily="50" charset="-128"/>
              </a:rPr>
              <a:t>号 子どもの貧困に対する福祉対策の強化等を求めることについて</a:t>
            </a:r>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第３項</a:t>
            </a:r>
            <a:r>
              <a:rPr kumimoji="1" lang="en-US" altLang="ja-JP" sz="1600">
                <a:latin typeface="Meiryo UI" panose="020B0604030504040204" pitchFamily="50" charset="-128"/>
                <a:ea typeface="Meiryo UI" panose="020B0604030504040204" pitchFamily="50" charset="-128"/>
              </a:rPr>
              <a:t>〕</a:t>
            </a:r>
          </a:p>
          <a:p>
            <a:r>
              <a:rPr kumimoji="1" lang="ja-JP" altLang="en-US" sz="1600">
                <a:latin typeface="Meiryo UI" panose="020B0604030504040204" pitchFamily="50" charset="-128"/>
                <a:ea typeface="Meiryo UI" panose="020B0604030504040204" pitchFamily="50" charset="-128"/>
              </a:rPr>
              <a:t>　　</a:t>
            </a:r>
            <a:r>
              <a:rPr kumimoji="1" lang="ja-JP" altLang="en-US" sz="1600" b="1">
                <a:latin typeface="Meiryo UI" panose="020B0604030504040204" pitchFamily="50" charset="-128"/>
                <a:ea typeface="Meiryo UI" panose="020B0604030504040204" pitchFamily="50" charset="-128"/>
              </a:rPr>
              <a:t>「貧困に苦しむ高校生、大学生に対して、区独自で返済不要の奨学金制度を創設してください。」 </a:t>
            </a:r>
            <a:endParaRPr kumimoji="1" lang="en-US" altLang="ja-JP" sz="900" b="1">
              <a:latin typeface="Meiryo UI" panose="020B0604030504040204" pitchFamily="50" charset="-128"/>
              <a:ea typeface="Meiryo UI" panose="020B0604030504040204" pitchFamily="50" charset="-128"/>
            </a:endParaRPr>
          </a:p>
          <a:p>
            <a:r>
              <a:rPr kumimoji="1" lang="ja-JP" altLang="en-US">
                <a:latin typeface="Meiryo UI" panose="020B0604030504040204" pitchFamily="50" charset="-128"/>
                <a:ea typeface="Meiryo UI" panose="020B0604030504040204" pitchFamily="50" charset="-128"/>
              </a:rPr>
              <a:t>　　</a:t>
            </a:r>
            <a:r>
              <a:rPr kumimoji="1" lang="ja-JP" altLang="en-US" sz="1600">
                <a:latin typeface="Meiryo UI" panose="020B0604030504040204" pitchFamily="50" charset="-128"/>
                <a:ea typeface="Meiryo UI" panose="020B0604030504040204" pitchFamily="50" charset="-128"/>
              </a:rPr>
              <a:t>⇒</a:t>
            </a:r>
            <a:r>
              <a:rPr kumimoji="1" lang="en-US" altLang="ja-JP" sz="1600">
                <a:latin typeface="Meiryo UI" panose="020B0604030504040204" pitchFamily="50" charset="-128"/>
                <a:ea typeface="Meiryo UI" panose="020B0604030504040204" pitchFamily="50" charset="-128"/>
              </a:rPr>
              <a:t> </a:t>
            </a:r>
            <a:r>
              <a:rPr kumimoji="1" lang="ja-JP" altLang="en-US" sz="1600">
                <a:latin typeface="Meiryo UI" panose="020B0604030504040204" pitchFamily="50" charset="-128"/>
                <a:ea typeface="Meiryo UI" panose="020B0604030504040204" pitchFamily="50" charset="-128"/>
              </a:rPr>
              <a:t>挙手少数により、</a:t>
            </a:r>
            <a:r>
              <a:rPr kumimoji="1" lang="ja-JP" altLang="en-US" sz="1600">
                <a:solidFill>
                  <a:schemeClr val="tx1"/>
                </a:solidFill>
                <a:latin typeface="Meiryo UI" panose="020B0604030504040204" pitchFamily="50" charset="-128"/>
                <a:ea typeface="Meiryo UI" panose="020B0604030504040204" pitchFamily="50" charset="-128"/>
              </a:rPr>
              <a:t>（福祉対策としては）</a:t>
            </a:r>
            <a:r>
              <a:rPr kumimoji="1" lang="ja-JP" altLang="en-US" sz="1600" b="1">
                <a:solidFill>
                  <a:srgbClr val="FF0000"/>
                </a:solidFill>
                <a:latin typeface="Meiryo UI" panose="020B0604030504040204" pitchFamily="50" charset="-128"/>
                <a:ea typeface="Meiryo UI" panose="020B0604030504040204" pitchFamily="50" charset="-128"/>
              </a:rPr>
              <a:t>不採択</a:t>
            </a:r>
            <a:endParaRPr kumimoji="1" lang="en-US" altLang="ja-JP" sz="1600" b="1">
              <a:solidFill>
                <a:srgbClr val="FF0000"/>
              </a:solidFill>
              <a:latin typeface="Meiryo UI" panose="020B0604030504040204" pitchFamily="50" charset="-128"/>
              <a:ea typeface="Meiryo UI" panose="020B0604030504040204" pitchFamily="50" charset="-128"/>
            </a:endParaRPr>
          </a:p>
        </p:txBody>
      </p:sp>
      <p:pic>
        <p:nvPicPr>
          <p:cNvPr id="22" name="図 21">
            <a:extLst>
              <a:ext uri="{FF2B5EF4-FFF2-40B4-BE49-F238E27FC236}">
                <a16:creationId xmlns:a16="http://schemas.microsoft.com/office/drawing/2014/main" id="{C4386C5C-3121-84F1-7219-E04FE5F86923}"/>
              </a:ext>
            </a:extLst>
          </p:cNvPr>
          <p:cNvPicPr>
            <a:picLocks noChangeAspect="1"/>
          </p:cNvPicPr>
          <p:nvPr/>
        </p:nvPicPr>
        <p:blipFill>
          <a:blip r:embed="rId3"/>
          <a:stretch>
            <a:fillRect/>
          </a:stretch>
        </p:blipFill>
        <p:spPr>
          <a:xfrm>
            <a:off x="1005671" y="2108107"/>
            <a:ext cx="7132656" cy="810168"/>
          </a:xfrm>
          <a:prstGeom prst="rect">
            <a:avLst/>
          </a:prstGeom>
        </p:spPr>
      </p:pic>
      <p:sp>
        <p:nvSpPr>
          <p:cNvPr id="5" name="四角形: 角を丸くする 4">
            <a:extLst>
              <a:ext uri="{FF2B5EF4-FFF2-40B4-BE49-F238E27FC236}">
                <a16:creationId xmlns:a16="http://schemas.microsoft.com/office/drawing/2014/main" id="{3AE72D6F-A157-71C7-F44F-6AAF31E174A1}"/>
              </a:ext>
            </a:extLst>
          </p:cNvPr>
          <p:cNvSpPr/>
          <p:nvPr/>
        </p:nvSpPr>
        <p:spPr>
          <a:xfrm>
            <a:off x="324043" y="3335302"/>
            <a:ext cx="8594768" cy="275060"/>
          </a:xfrm>
          <a:prstGeom prst="round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eiryo UI" panose="020B0604030504040204" pitchFamily="50" charset="-128"/>
                <a:ea typeface="Meiryo UI" panose="020B0604030504040204" pitchFamily="50" charset="-128"/>
              </a:rPr>
              <a:t>不採択の理由の一つとして、</a:t>
            </a:r>
            <a:r>
              <a:rPr kumimoji="1" lang="ja-JP" altLang="en-US" sz="2000" b="1">
                <a:solidFill>
                  <a:schemeClr val="tx1"/>
                </a:solidFill>
                <a:latin typeface="Meiryo UI" panose="020B0604030504040204" pitchFamily="50" charset="-128"/>
                <a:ea typeface="Meiryo UI" panose="020B0604030504040204" pitchFamily="50" charset="-128"/>
              </a:rPr>
              <a:t>「実態およびニーズの把握・調査不足」</a:t>
            </a:r>
            <a:r>
              <a:rPr kumimoji="1" lang="ja-JP" altLang="en-US" sz="2000">
                <a:solidFill>
                  <a:schemeClr val="tx1"/>
                </a:solidFill>
                <a:latin typeface="Meiryo UI" panose="020B0604030504040204" pitchFamily="50" charset="-128"/>
                <a:ea typeface="Meiryo UI" panose="020B0604030504040204" pitchFamily="50" charset="-128"/>
              </a:rPr>
              <a:t>が挙げられる。</a:t>
            </a:r>
            <a:endParaRPr kumimoji="1" lang="en-US" altLang="ja-JP" sz="2000">
              <a:solidFill>
                <a:srgbClr val="FF0000"/>
              </a:solidFill>
              <a:latin typeface="Meiryo UI" panose="020B0604030504040204" pitchFamily="50" charset="-128"/>
              <a:ea typeface="Meiryo UI" panose="020B0604030504040204" pitchFamily="50" charset="-128"/>
            </a:endParaRPr>
          </a:p>
        </p:txBody>
      </p:sp>
      <p:sp>
        <p:nvSpPr>
          <p:cNvPr id="6" name="二等辺三角形 5">
            <a:extLst>
              <a:ext uri="{FF2B5EF4-FFF2-40B4-BE49-F238E27FC236}">
                <a16:creationId xmlns:a16="http://schemas.microsoft.com/office/drawing/2014/main" id="{38EC8AE5-161A-D31E-57BA-7FC4B0FE0B2A}"/>
              </a:ext>
            </a:extLst>
          </p:cNvPr>
          <p:cNvSpPr/>
          <p:nvPr/>
        </p:nvSpPr>
        <p:spPr>
          <a:xfrm rot="10800000">
            <a:off x="3707989" y="3000614"/>
            <a:ext cx="1826876" cy="21321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DEDE0B45-624B-655A-7C02-A2056B9C02A4}"/>
              </a:ext>
            </a:extLst>
          </p:cNvPr>
          <p:cNvSpPr/>
          <p:nvPr/>
        </p:nvSpPr>
        <p:spPr>
          <a:xfrm>
            <a:off x="459070" y="3727430"/>
            <a:ext cx="8134104" cy="1304778"/>
          </a:xfrm>
          <a:prstGeom prst="rect">
            <a:avLst/>
          </a:prstGeom>
          <a:solidFill>
            <a:srgbClr val="ECF9FE"/>
          </a:solidFill>
          <a:ln w="12700" cap="flat" cmpd="sng" algn="ctr">
            <a:solidFill>
              <a:schemeClr val="bg1">
                <a:lumMod val="85000"/>
              </a:schemeClr>
            </a:solidFill>
            <a:prstDash val="solid"/>
            <a:miter lim="800000"/>
          </a:ln>
          <a:effectLst/>
        </p:spPr>
        <p:txBody>
          <a:bodyPr rot="0" spcFirstLastPara="0" vert="horz" wrap="square" lIns="48986" tIns="24493" rIns="48986" bIns="24493" numCol="1" spcCol="0" rtlCol="0" fromWordArt="0" anchor="t" anchorCtr="0" forceAA="0" compatLnSpc="1">
            <a:prstTxWarp prst="textNoShape">
              <a:avLst/>
            </a:prstTxWarp>
            <a:noAutofit/>
          </a:bodyPr>
          <a:lstStyle/>
          <a:p>
            <a:r>
              <a:rPr kumimoji="1" lang="ja-JP" altLang="en-US" sz="1600" b="1">
                <a:latin typeface="Meiryo UI" panose="020B0604030504040204" pitchFamily="50" charset="-128"/>
                <a:ea typeface="Meiryo UI" panose="020B0604030504040204" pitchFamily="50" charset="-128"/>
              </a:rPr>
              <a:t>・ </a:t>
            </a:r>
            <a:r>
              <a:rPr kumimoji="1" lang="ja-JP" altLang="en-US" sz="1600">
                <a:latin typeface="Meiryo UI" panose="020B0604030504040204" pitchFamily="50" charset="-128"/>
                <a:ea typeface="Meiryo UI" panose="020B0604030504040204" pitchFamily="50" charset="-128"/>
              </a:rPr>
              <a:t>実態把握をしっかりしていく必要がある。練馬区で必要とされる方がどのくらいいて、実態として、</a:t>
            </a:r>
            <a:endParaRPr kumimoji="1" lang="en-US" altLang="ja-JP" sz="1600">
              <a:latin typeface="Meiryo UI" panose="020B0604030504040204" pitchFamily="50" charset="-128"/>
              <a:ea typeface="Meiryo UI" panose="020B0604030504040204" pitchFamily="50" charset="-128"/>
            </a:endParaRPr>
          </a:p>
          <a:p>
            <a:r>
              <a:rPr kumimoji="1" lang="ja-JP" altLang="en-US" sz="1600">
                <a:latin typeface="Meiryo UI" panose="020B0604030504040204" pitchFamily="50" charset="-128"/>
                <a:ea typeface="Meiryo UI" panose="020B0604030504040204" pitchFamily="50" charset="-128"/>
              </a:rPr>
              <a:t>  国の支援で十分かどうか把握する機会を持ったうえで検討を。</a:t>
            </a:r>
            <a:endParaRPr kumimoji="1" lang="en-US" altLang="ja-JP" sz="1600">
              <a:latin typeface="Meiryo UI" panose="020B0604030504040204" pitchFamily="50" charset="-128"/>
              <a:ea typeface="Meiryo UI" panose="020B0604030504040204" pitchFamily="50" charset="-128"/>
            </a:endParaRPr>
          </a:p>
          <a:p>
            <a:r>
              <a:rPr kumimoji="1" lang="ja-JP" altLang="en-US" sz="1600" b="1">
                <a:latin typeface="Meiryo UI" panose="020B0604030504040204" pitchFamily="50" charset="-128"/>
                <a:ea typeface="Meiryo UI" panose="020B0604030504040204" pitchFamily="50" charset="-128"/>
              </a:rPr>
              <a:t>・ </a:t>
            </a:r>
            <a:r>
              <a:rPr kumimoji="1" lang="ja-JP" altLang="en-US" sz="1600">
                <a:latin typeface="Meiryo UI" panose="020B0604030504040204" pitchFamily="50" charset="-128"/>
                <a:ea typeface="Meiryo UI" panose="020B0604030504040204" pitchFamily="50" charset="-128"/>
              </a:rPr>
              <a:t>支援も、大学が個々にやったり、民間の団体のものもある。そういうものを含めて、実際にどうかを</a:t>
            </a:r>
            <a:endParaRPr kumimoji="1" lang="en-US" altLang="ja-JP" sz="1600">
              <a:latin typeface="Meiryo UI" panose="020B0604030504040204" pitchFamily="50" charset="-128"/>
              <a:ea typeface="Meiryo UI" panose="020B0604030504040204" pitchFamily="50" charset="-128"/>
            </a:endParaRPr>
          </a:p>
          <a:p>
            <a:r>
              <a:rPr kumimoji="1" lang="en-US" altLang="ja-JP" sz="1600">
                <a:latin typeface="Meiryo UI" panose="020B0604030504040204" pitchFamily="50" charset="-128"/>
                <a:ea typeface="Meiryo UI" panose="020B0604030504040204" pitchFamily="50" charset="-128"/>
              </a:rPr>
              <a:t>  </a:t>
            </a:r>
            <a:r>
              <a:rPr kumimoji="1" lang="ja-JP" altLang="en-US" sz="1600">
                <a:latin typeface="Meiryo UI" panose="020B0604030504040204" pitchFamily="50" charset="-128"/>
                <a:ea typeface="Meiryo UI" panose="020B0604030504040204" pitchFamily="50" charset="-128"/>
              </a:rPr>
              <a:t>深堀りして把握して、かつ自治体がやる必要性についても、そういう実態を踏まえた上で検討していく</a:t>
            </a:r>
            <a:endParaRPr kumimoji="1" lang="en-US" altLang="ja-JP" sz="1600">
              <a:latin typeface="Meiryo UI" panose="020B0604030504040204" pitchFamily="50" charset="-128"/>
              <a:ea typeface="Meiryo UI" panose="020B0604030504040204" pitchFamily="50" charset="-128"/>
            </a:endParaRPr>
          </a:p>
          <a:p>
            <a:r>
              <a:rPr kumimoji="1" lang="en-US" altLang="ja-JP" sz="1600">
                <a:latin typeface="Meiryo UI" panose="020B0604030504040204" pitchFamily="50" charset="-128"/>
                <a:ea typeface="Meiryo UI" panose="020B0604030504040204" pitchFamily="50" charset="-128"/>
              </a:rPr>
              <a:t>  </a:t>
            </a:r>
            <a:r>
              <a:rPr kumimoji="1" lang="ja-JP" altLang="en-US" sz="1600">
                <a:latin typeface="Meiryo UI" panose="020B0604030504040204" pitchFamily="50" charset="-128"/>
                <a:ea typeface="Meiryo UI" panose="020B0604030504040204" pitchFamily="50" charset="-128"/>
              </a:rPr>
              <a:t>必要があるのではないか。</a:t>
            </a:r>
            <a:endParaRPr kumimoji="1" lang="en-US" altLang="ja-JP" sz="1600">
              <a:latin typeface="Meiryo UI" panose="020B0604030504040204" pitchFamily="50" charset="-128"/>
              <a:ea typeface="Meiryo UI" panose="020B0604030504040204" pitchFamily="50" charset="-128"/>
            </a:endParaRPr>
          </a:p>
          <a:p>
            <a:endParaRPr kumimoji="1" lang="ja-JP" altLang="en-US" sz="1600">
              <a:latin typeface="Meiryo UI" panose="020B0604030504040204" pitchFamily="50" charset="-128"/>
              <a:ea typeface="Meiryo UI" panose="020B0604030504040204" pitchFamily="50" charset="-128"/>
            </a:endParaRPr>
          </a:p>
        </p:txBody>
      </p:sp>
      <p:sp>
        <p:nvSpPr>
          <p:cNvPr id="4" name="四角形: 角を丸くする 3">
            <a:extLst>
              <a:ext uri="{FF2B5EF4-FFF2-40B4-BE49-F238E27FC236}">
                <a16:creationId xmlns:a16="http://schemas.microsoft.com/office/drawing/2014/main" id="{79F30700-C0B9-AE3F-DED3-5CBDABA20246}"/>
              </a:ext>
            </a:extLst>
          </p:cNvPr>
          <p:cNvSpPr/>
          <p:nvPr/>
        </p:nvSpPr>
        <p:spPr>
          <a:xfrm>
            <a:off x="9258300" y="113317"/>
            <a:ext cx="1082395" cy="362863"/>
          </a:xfrm>
          <a:prstGeom prst="roundRect">
            <a:avLst>
              <a:gd name="adj" fmla="val 0"/>
            </a:avLst>
          </a:prstGeom>
          <a:solidFill>
            <a:srgbClr val="FFC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福祉部</a:t>
            </a:r>
          </a:p>
        </p:txBody>
      </p:sp>
    </p:spTree>
    <p:extLst>
      <p:ext uri="{BB962C8B-B14F-4D97-AF65-F5344CB8AC3E}">
        <p14:creationId xmlns:p14="http://schemas.microsoft.com/office/powerpoint/2010/main" val="3916941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27127-FF06-C6FE-8C77-98FB778C3013}"/>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17C90EB7-7F09-0D69-EA3E-47071CC4E33C}"/>
              </a:ext>
            </a:extLst>
          </p:cNvPr>
          <p:cNvSpPr txBox="1"/>
          <p:nvPr/>
        </p:nvSpPr>
        <p:spPr>
          <a:xfrm>
            <a:off x="553664" y="2440652"/>
            <a:ext cx="8431061" cy="1323439"/>
          </a:xfrm>
          <a:prstGeom prst="rect">
            <a:avLst/>
          </a:prstGeom>
          <a:noFill/>
        </p:spPr>
        <p:txBody>
          <a:bodyPr wrap="square" rtlCol="0">
            <a:spAutoFit/>
          </a:bodyPr>
          <a:lstStyle/>
          <a:p>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区のこれまでの対応</a:t>
            </a:r>
            <a:r>
              <a:rPr kumimoji="1" lang="en-US" altLang="ja-JP" sz="1600">
                <a:latin typeface="Meiryo UI" panose="020B0604030504040204" pitchFamily="50" charset="-128"/>
                <a:ea typeface="Meiryo UI" panose="020B0604030504040204" pitchFamily="50" charset="-128"/>
              </a:rPr>
              <a:t>】</a:t>
            </a:r>
          </a:p>
          <a:p>
            <a:r>
              <a:rPr kumimoji="1" lang="ja-JP" altLang="en-US" sz="1600">
                <a:latin typeface="Meiryo UI" panose="020B0604030504040204" pitchFamily="50" charset="-128"/>
                <a:ea typeface="Meiryo UI" panose="020B0604030504040204" pitchFamily="50" charset="-128"/>
              </a:rPr>
              <a:t>（１）受給世帯への支援</a:t>
            </a:r>
            <a:endParaRPr kumimoji="1" lang="en-US" altLang="ja-JP" sz="1600">
              <a:latin typeface="Meiryo UI" panose="020B0604030504040204" pitchFamily="50" charset="-128"/>
              <a:ea typeface="Meiryo UI" panose="020B0604030504040204" pitchFamily="50" charset="-128"/>
            </a:endParaRPr>
          </a:p>
          <a:p>
            <a:r>
              <a:rPr kumimoji="1" lang="ja-JP" altLang="en-US" sz="1600">
                <a:latin typeface="Meiryo UI" panose="020B0604030504040204" pitchFamily="50" charset="-128"/>
                <a:ea typeface="Meiryo UI" panose="020B0604030504040204" pitchFamily="50" charset="-128"/>
              </a:rPr>
              <a:t>・ 大学進学時の子どもの世帯分離は、あくまで例外的な取り扱い。（</a:t>
            </a:r>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高卒後に就職する子もいる）</a:t>
            </a:r>
          </a:p>
          <a:p>
            <a:r>
              <a:rPr kumimoji="1" lang="ja-JP" altLang="en-US" sz="1600">
                <a:latin typeface="Meiryo UI" panose="020B0604030504040204" pitchFamily="50" charset="-128"/>
                <a:ea typeface="Meiryo UI" panose="020B0604030504040204" pitchFamily="50" charset="-128"/>
              </a:rPr>
              <a:t>・ これまで区の福祉施策は、国の臨時給付金以外の</a:t>
            </a:r>
            <a:r>
              <a:rPr kumimoji="1" lang="ja-JP" altLang="en-US" sz="1600">
                <a:solidFill>
                  <a:srgbClr val="FF0000"/>
                </a:solidFill>
                <a:latin typeface="Meiryo UI" panose="020B0604030504040204" pitchFamily="50" charset="-128"/>
                <a:ea typeface="Meiryo UI" panose="020B0604030504040204" pitchFamily="50" charset="-128"/>
              </a:rPr>
              <a:t>区独自の金銭・現物給付は行っていない</a:t>
            </a:r>
            <a:r>
              <a:rPr kumimoji="1" lang="ja-JP" altLang="en-US" sz="1600">
                <a:latin typeface="Meiryo UI" panose="020B0604030504040204" pitchFamily="50" charset="-128"/>
                <a:ea typeface="Meiryo UI" panose="020B0604030504040204" pitchFamily="50" charset="-128"/>
              </a:rPr>
              <a:t>。</a:t>
            </a:r>
            <a:endParaRPr kumimoji="1" lang="en-US" altLang="ja-JP" sz="1600">
              <a:latin typeface="Meiryo UI" panose="020B0604030504040204" pitchFamily="50" charset="-128"/>
              <a:ea typeface="Meiryo UI" panose="020B0604030504040204" pitchFamily="50" charset="-128"/>
            </a:endParaRPr>
          </a:p>
          <a:p>
            <a:endParaRPr kumimoji="1" lang="ja-JP" altLang="en-US" sz="160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28BBDEFD-2B4A-A82C-60BA-0D5AC836B8BB}"/>
              </a:ext>
            </a:extLst>
          </p:cNvPr>
          <p:cNvSpPr txBox="1"/>
          <p:nvPr/>
        </p:nvSpPr>
        <p:spPr>
          <a:xfrm>
            <a:off x="0" y="42148"/>
            <a:ext cx="9144000" cy="461665"/>
          </a:xfrm>
          <a:prstGeom prst="homePlate">
            <a:avLst>
              <a:gd name="adj" fmla="val 0"/>
            </a:avLst>
          </a:prstGeom>
          <a:solidFill>
            <a:srgbClr val="0F9ED5"/>
          </a:solidFill>
          <a:ln>
            <a:noFill/>
          </a:ln>
        </p:spPr>
        <p:txBody>
          <a:bodyPr wrap="square" rtlCol="0" anchor="ctr">
            <a:spAutoFit/>
          </a:bodyPr>
          <a:lstStyle/>
          <a:p>
            <a:r>
              <a:rPr kumimoji="1" lang="ja-JP" altLang="en-US" sz="2400">
                <a:solidFill>
                  <a:schemeClr val="bg1"/>
                </a:solidFill>
                <a:latin typeface="Meiryo UI" panose="020B0604030504040204" pitchFamily="50" charset="-128"/>
                <a:ea typeface="Meiryo UI" panose="020B0604030504040204" pitchFamily="50" charset="-128"/>
              </a:rPr>
              <a:t>２　懸案事項</a:t>
            </a:r>
            <a:endParaRPr lang="ja-JP" altLang="ja-JP" sz="2400">
              <a:solidFill>
                <a:schemeClr val="bg1"/>
              </a:solidFill>
              <a:latin typeface="Meiryo UI" panose="020B0604030504040204" pitchFamily="50" charset="-128"/>
              <a:ea typeface="Meiryo UI" panose="020B0604030504040204" pitchFamily="50" charset="-128"/>
            </a:endParaRPr>
          </a:p>
        </p:txBody>
      </p:sp>
      <p:sp>
        <p:nvSpPr>
          <p:cNvPr id="2" name="四角形: 角を丸くする 1">
            <a:extLst>
              <a:ext uri="{FF2B5EF4-FFF2-40B4-BE49-F238E27FC236}">
                <a16:creationId xmlns:a16="http://schemas.microsoft.com/office/drawing/2014/main" id="{6D33B3CF-395B-0E13-6529-FF100BB65C2E}"/>
              </a:ext>
            </a:extLst>
          </p:cNvPr>
          <p:cNvSpPr/>
          <p:nvPr/>
        </p:nvSpPr>
        <p:spPr>
          <a:xfrm>
            <a:off x="377573" y="625257"/>
            <a:ext cx="8499308" cy="4322426"/>
          </a:xfrm>
          <a:prstGeom prst="roundRect">
            <a:avLst>
              <a:gd name="adj" fmla="val 3464"/>
            </a:avLst>
          </a:prstGeom>
          <a:noFill/>
          <a:ln>
            <a:solidFill>
              <a:schemeClr val="bg1">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endParaRPr kumimoji="1" lang="ja-JP" altLang="en-US" sz="1600" b="1"/>
          </a:p>
        </p:txBody>
      </p:sp>
      <p:sp>
        <p:nvSpPr>
          <p:cNvPr id="8" name="テキスト ボックス 7">
            <a:extLst>
              <a:ext uri="{FF2B5EF4-FFF2-40B4-BE49-F238E27FC236}">
                <a16:creationId xmlns:a16="http://schemas.microsoft.com/office/drawing/2014/main" id="{37F13162-4823-A25E-E0F6-030B9406A62C}"/>
              </a:ext>
            </a:extLst>
          </p:cNvPr>
          <p:cNvSpPr txBox="1"/>
          <p:nvPr/>
        </p:nvSpPr>
        <p:spPr>
          <a:xfrm>
            <a:off x="535943" y="3856523"/>
            <a:ext cx="8122777" cy="1323439"/>
          </a:xfrm>
          <a:prstGeom prst="rect">
            <a:avLst/>
          </a:prstGeom>
          <a:noFill/>
        </p:spPr>
        <p:txBody>
          <a:bodyPr wrap="square" rtlCol="0">
            <a:spAutoFit/>
          </a:bodyPr>
          <a:lstStyle/>
          <a:p>
            <a:r>
              <a:rPr kumimoji="1" lang="ja-JP" altLang="en-US" sz="1600">
                <a:latin typeface="Meiryo UI" panose="020B0604030504040204" pitchFamily="50" charset="-128"/>
                <a:ea typeface="Meiryo UI" panose="020B0604030504040204" pitchFamily="50" charset="-128"/>
              </a:rPr>
              <a:t>（２）子どもへの支援</a:t>
            </a:r>
            <a:endParaRPr kumimoji="1" lang="en-US" altLang="ja-JP" sz="1600">
              <a:latin typeface="Meiryo UI" panose="020B0604030504040204" pitchFamily="50" charset="-128"/>
              <a:ea typeface="Meiryo UI" panose="020B0604030504040204" pitchFamily="50" charset="-128"/>
            </a:endParaRPr>
          </a:p>
          <a:p>
            <a:r>
              <a:rPr kumimoji="1" lang="ja-JP" altLang="en-US" sz="1600">
                <a:latin typeface="Meiryo UI" panose="020B0604030504040204" pitchFamily="50" charset="-128"/>
                <a:ea typeface="Meiryo UI" panose="020B0604030504040204" pitchFamily="50" charset="-128"/>
              </a:rPr>
              <a:t>・ これまでの低所得世帯への区の進学支援は、基礎学力をつけさせることが目的。</a:t>
            </a:r>
            <a:endParaRPr kumimoji="1" lang="en-US" altLang="ja-JP" sz="1600">
              <a:latin typeface="Meiryo UI" panose="020B0604030504040204" pitchFamily="50" charset="-128"/>
              <a:ea typeface="Meiryo UI" panose="020B0604030504040204" pitchFamily="50" charset="-128"/>
            </a:endParaRPr>
          </a:p>
          <a:p>
            <a:endParaRPr kumimoji="1" lang="en-US" altLang="ja-JP" sz="1600">
              <a:latin typeface="Meiryo UI" panose="020B0604030504040204" pitchFamily="50" charset="-128"/>
              <a:ea typeface="Meiryo UI" panose="020B0604030504040204" pitchFamily="50" charset="-128"/>
            </a:endParaRPr>
          </a:p>
          <a:p>
            <a:endParaRPr kumimoji="1" lang="en-US" altLang="ja-JP" sz="1600">
              <a:latin typeface="Meiryo UI" panose="020B0604030504040204" pitchFamily="50" charset="-128"/>
              <a:ea typeface="Meiryo UI" panose="020B0604030504040204" pitchFamily="50" charset="-128"/>
            </a:endParaRPr>
          </a:p>
          <a:p>
            <a:endParaRPr kumimoji="1" lang="en-US" altLang="ja-JP" sz="1600">
              <a:latin typeface="Meiryo UI" panose="020B0604030504040204" pitchFamily="50" charset="-128"/>
              <a:ea typeface="Meiryo UI" panose="020B0604030504040204" pitchFamily="50" charset="-128"/>
            </a:endParaRPr>
          </a:p>
        </p:txBody>
      </p:sp>
      <p:sp>
        <p:nvSpPr>
          <p:cNvPr id="25" name="テキスト ボックス 24">
            <a:extLst>
              <a:ext uri="{FF2B5EF4-FFF2-40B4-BE49-F238E27FC236}">
                <a16:creationId xmlns:a16="http://schemas.microsoft.com/office/drawing/2014/main" id="{0E4B95C7-CEDC-1CF1-86BD-0722C59BAA41}"/>
              </a:ext>
            </a:extLst>
          </p:cNvPr>
          <p:cNvSpPr txBox="1"/>
          <p:nvPr/>
        </p:nvSpPr>
        <p:spPr>
          <a:xfrm>
            <a:off x="1262301" y="3494706"/>
            <a:ext cx="2820474" cy="338554"/>
          </a:xfrm>
          <a:prstGeom prst="rect">
            <a:avLst/>
          </a:prstGeom>
          <a:solidFill>
            <a:srgbClr val="E8F7F9"/>
          </a:solidFill>
          <a:ln w="19050">
            <a:solidFill>
              <a:schemeClr val="bg1">
                <a:lumMod val="50000"/>
              </a:schemeClr>
            </a:solidFill>
          </a:ln>
        </p:spPr>
        <p:txBody>
          <a:bodyPr wrap="square" rtlCol="0">
            <a:spAutoFit/>
          </a:bodyPr>
          <a:lstStyle/>
          <a:p>
            <a:r>
              <a:rPr kumimoji="1" lang="ja-JP" altLang="en-US" sz="1600">
                <a:latin typeface="Meiryo UI" panose="020B0604030504040204" pitchFamily="50" charset="-128"/>
                <a:ea typeface="Meiryo UI" panose="020B0604030504040204" pitchFamily="50" charset="-128"/>
              </a:rPr>
              <a:t>⇒　既存の政策との整合性は？</a:t>
            </a:r>
            <a:endParaRPr kumimoji="1" lang="en-US" altLang="ja-JP" sz="1600">
              <a:latin typeface="Meiryo UI" panose="020B0604030504040204" pitchFamily="50" charset="-128"/>
              <a:ea typeface="Meiryo UI" panose="020B0604030504040204" pitchFamily="50" charset="-128"/>
            </a:endParaRPr>
          </a:p>
        </p:txBody>
      </p:sp>
      <p:sp>
        <p:nvSpPr>
          <p:cNvPr id="13" name="四角形: 角を丸くする 12">
            <a:extLst>
              <a:ext uri="{FF2B5EF4-FFF2-40B4-BE49-F238E27FC236}">
                <a16:creationId xmlns:a16="http://schemas.microsoft.com/office/drawing/2014/main" id="{BBF6E31E-D2EC-D5D7-B4F6-E31064BB3022}"/>
              </a:ext>
            </a:extLst>
          </p:cNvPr>
          <p:cNvSpPr/>
          <p:nvPr/>
        </p:nvSpPr>
        <p:spPr>
          <a:xfrm>
            <a:off x="366014" y="620058"/>
            <a:ext cx="8145414" cy="268834"/>
          </a:xfrm>
          <a:prstGeom prst="roundRect">
            <a:avLst/>
          </a:prstGeom>
          <a:solidFill>
            <a:srgbClr val="FFFBC1"/>
          </a:solidFill>
          <a:ln>
            <a:solidFill>
              <a:schemeClr val="bg1">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r>
              <a:rPr kumimoji="1" lang="ja-JP" altLang="en-US" sz="1600">
                <a:latin typeface="Meiryo UI" panose="020B0604030504040204" pitchFamily="50" charset="-128"/>
                <a:ea typeface="Meiryo UI" panose="020B0604030504040204" pitchFamily="50" charset="-128"/>
              </a:rPr>
              <a:t>生活保護受給世帯を支援対象とすることについて</a:t>
            </a:r>
          </a:p>
        </p:txBody>
      </p:sp>
      <p:sp>
        <p:nvSpPr>
          <p:cNvPr id="9" name="四角形: 角を丸くする 8">
            <a:extLst>
              <a:ext uri="{FF2B5EF4-FFF2-40B4-BE49-F238E27FC236}">
                <a16:creationId xmlns:a16="http://schemas.microsoft.com/office/drawing/2014/main" id="{8C87537E-0858-B227-26BE-97E3BD97F84F}"/>
              </a:ext>
            </a:extLst>
          </p:cNvPr>
          <p:cNvSpPr/>
          <p:nvPr/>
        </p:nvSpPr>
        <p:spPr>
          <a:xfrm>
            <a:off x="485418" y="980569"/>
            <a:ext cx="8323216" cy="3867878"/>
          </a:xfrm>
          <a:prstGeom prst="roundRect">
            <a:avLst>
              <a:gd name="adj" fmla="val 3464"/>
            </a:avLst>
          </a:prstGeom>
          <a:noFill/>
          <a:ln>
            <a:solidFill>
              <a:schemeClr val="bg1">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endParaRPr kumimoji="1" lang="ja-JP" altLang="en-US" sz="1600" b="1"/>
          </a:p>
        </p:txBody>
      </p:sp>
      <p:sp>
        <p:nvSpPr>
          <p:cNvPr id="10" name="テキスト ボックス 9">
            <a:extLst>
              <a:ext uri="{FF2B5EF4-FFF2-40B4-BE49-F238E27FC236}">
                <a16:creationId xmlns:a16="http://schemas.microsoft.com/office/drawing/2014/main" id="{851307B2-5C2B-40AE-7F3C-BF8CBB89EF13}"/>
              </a:ext>
            </a:extLst>
          </p:cNvPr>
          <p:cNvSpPr txBox="1"/>
          <p:nvPr/>
        </p:nvSpPr>
        <p:spPr>
          <a:xfrm>
            <a:off x="756253" y="1047338"/>
            <a:ext cx="7755175" cy="584775"/>
          </a:xfrm>
          <a:prstGeom prst="rect">
            <a:avLst/>
          </a:prstGeom>
          <a:noFill/>
          <a:ln w="19050">
            <a:noFill/>
          </a:ln>
        </p:spPr>
        <p:txBody>
          <a:bodyPr wrap="square" rtlCol="0">
            <a:spAutoFit/>
          </a:bodyPr>
          <a:lstStyle/>
          <a:p>
            <a:r>
              <a:rPr kumimoji="1" lang="ja-JP" altLang="en-US" sz="1600">
                <a:latin typeface="Meiryo UI" panose="020B0604030504040204" pitchFamily="50" charset="-128"/>
                <a:ea typeface="Meiryo UI" panose="020B0604030504040204" pitchFamily="50" charset="-128"/>
              </a:rPr>
              <a:t>○生活保護法の目的は、「住まいや生活に困窮する全ての方に対し、その状況に応じ、必要な</a:t>
            </a:r>
            <a:endParaRPr kumimoji="1" lang="en-US" altLang="ja-JP" sz="1600">
              <a:latin typeface="Meiryo UI" panose="020B0604030504040204" pitchFamily="50" charset="-128"/>
              <a:ea typeface="Meiryo UI" panose="020B0604030504040204" pitchFamily="50" charset="-128"/>
            </a:endParaRPr>
          </a:p>
          <a:p>
            <a:r>
              <a:rPr kumimoji="1" lang="ja-JP" altLang="en-US" sz="1600">
                <a:latin typeface="Meiryo UI" panose="020B0604030504040204" pitchFamily="50" charset="-128"/>
                <a:ea typeface="Meiryo UI" panose="020B0604030504040204" pitchFamily="50" charset="-128"/>
              </a:rPr>
              <a:t>　保護を行い、最低限度の生活保障と自立支援を行うこと」である。</a:t>
            </a:r>
            <a:endParaRPr kumimoji="1" lang="en-US" altLang="ja-JP" sz="1600">
              <a:latin typeface="Meiryo UI" panose="020B0604030504040204" pitchFamily="50" charset="-128"/>
              <a:ea typeface="Meiryo UI" panose="020B0604030504040204" pitchFamily="50" charset="-128"/>
            </a:endParaRPr>
          </a:p>
        </p:txBody>
      </p:sp>
      <p:sp>
        <p:nvSpPr>
          <p:cNvPr id="11" name="二等辺三角形 10">
            <a:extLst>
              <a:ext uri="{FF2B5EF4-FFF2-40B4-BE49-F238E27FC236}">
                <a16:creationId xmlns:a16="http://schemas.microsoft.com/office/drawing/2014/main" id="{C3B6A580-12AD-6528-46C6-E635B3869F2C}"/>
              </a:ext>
            </a:extLst>
          </p:cNvPr>
          <p:cNvSpPr/>
          <p:nvPr/>
        </p:nvSpPr>
        <p:spPr>
          <a:xfrm rot="10800000">
            <a:off x="3873795" y="1666978"/>
            <a:ext cx="1396410" cy="17669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9E36B3C-BCEB-F879-3348-DCA7E44DB577}"/>
              </a:ext>
            </a:extLst>
          </p:cNvPr>
          <p:cNvSpPr txBox="1"/>
          <p:nvPr/>
        </p:nvSpPr>
        <p:spPr>
          <a:xfrm>
            <a:off x="567334" y="1820939"/>
            <a:ext cx="7770111" cy="584775"/>
          </a:xfrm>
          <a:prstGeom prst="rect">
            <a:avLst/>
          </a:prstGeom>
          <a:noFill/>
        </p:spPr>
        <p:txBody>
          <a:bodyPr wrap="square" rtlCol="0">
            <a:spAutoFit/>
          </a:bodyPr>
          <a:lstStyle/>
          <a:p>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国の動向</a:t>
            </a:r>
            <a:r>
              <a:rPr kumimoji="1" lang="en-US" altLang="ja-JP" sz="1600">
                <a:latin typeface="Meiryo UI" panose="020B0604030504040204" pitchFamily="50" charset="-128"/>
                <a:ea typeface="Meiryo UI" panose="020B0604030504040204" pitchFamily="50" charset="-128"/>
              </a:rPr>
              <a:t>】</a:t>
            </a:r>
          </a:p>
          <a:p>
            <a:r>
              <a:rPr kumimoji="1" lang="ja-JP" altLang="en-US" sz="1600">
                <a:latin typeface="Meiryo UI" panose="020B0604030504040204" pitchFamily="50" charset="-128"/>
                <a:ea typeface="Meiryo UI" panose="020B0604030504040204" pitchFamily="50" charset="-128"/>
              </a:rPr>
              <a:t>・ 社会保障審議会において、大学を生活保護費の対象とする検討したが、実現していない。</a:t>
            </a:r>
          </a:p>
        </p:txBody>
      </p:sp>
      <p:sp>
        <p:nvSpPr>
          <p:cNvPr id="16" name="テキスト ボックス 15">
            <a:extLst>
              <a:ext uri="{FF2B5EF4-FFF2-40B4-BE49-F238E27FC236}">
                <a16:creationId xmlns:a16="http://schemas.microsoft.com/office/drawing/2014/main" id="{8A100858-8334-4944-53E4-CB44A02200FC}"/>
              </a:ext>
            </a:extLst>
          </p:cNvPr>
          <p:cNvSpPr txBox="1"/>
          <p:nvPr/>
        </p:nvSpPr>
        <p:spPr>
          <a:xfrm>
            <a:off x="1262301" y="4435029"/>
            <a:ext cx="7345756" cy="338554"/>
          </a:xfrm>
          <a:prstGeom prst="rect">
            <a:avLst/>
          </a:prstGeom>
          <a:solidFill>
            <a:srgbClr val="E8F7F9"/>
          </a:solidFill>
          <a:ln w="19050">
            <a:solidFill>
              <a:schemeClr val="bg1">
                <a:lumMod val="50000"/>
              </a:schemeClr>
            </a:solidFill>
          </a:ln>
        </p:spPr>
        <p:txBody>
          <a:bodyPr wrap="square" rtlCol="0">
            <a:spAutoFit/>
          </a:bodyPr>
          <a:lstStyle/>
          <a:p>
            <a:r>
              <a:rPr kumimoji="1" lang="ja-JP" altLang="en-US" sz="1600">
                <a:latin typeface="Meiryo UI" panose="020B0604030504040204" pitchFamily="50" charset="-128"/>
                <a:ea typeface="Meiryo UI" panose="020B0604030504040204" pitchFamily="50" charset="-128"/>
              </a:rPr>
              <a:t>⇒　連続性を持たせるには、どうにもできない部分に対して支援を実施すべきでは。</a:t>
            </a:r>
          </a:p>
        </p:txBody>
      </p:sp>
      <p:sp>
        <p:nvSpPr>
          <p:cNvPr id="17" name="テキスト ボックス 16">
            <a:extLst>
              <a:ext uri="{FF2B5EF4-FFF2-40B4-BE49-F238E27FC236}">
                <a16:creationId xmlns:a16="http://schemas.microsoft.com/office/drawing/2014/main" id="{A94EB993-C351-0797-6C0A-12D46F198FE4}"/>
              </a:ext>
            </a:extLst>
          </p:cNvPr>
          <p:cNvSpPr txBox="1"/>
          <p:nvPr/>
        </p:nvSpPr>
        <p:spPr>
          <a:xfrm>
            <a:off x="4351462" y="3494706"/>
            <a:ext cx="4375504" cy="338554"/>
          </a:xfrm>
          <a:prstGeom prst="rect">
            <a:avLst/>
          </a:prstGeom>
          <a:solidFill>
            <a:srgbClr val="E8F7F9"/>
          </a:solidFill>
          <a:ln w="19050">
            <a:solidFill>
              <a:schemeClr val="bg1">
                <a:lumMod val="50000"/>
              </a:schemeClr>
            </a:solidFill>
          </a:ln>
        </p:spPr>
        <p:txBody>
          <a:bodyPr wrap="square" rtlCol="0">
            <a:spAutoFit/>
          </a:bodyPr>
          <a:lstStyle/>
          <a:p>
            <a:r>
              <a:rPr kumimoji="1" lang="ja-JP" altLang="en-US" sz="1600">
                <a:latin typeface="Meiryo UI" panose="020B0604030504040204" pitchFamily="50" charset="-128"/>
                <a:ea typeface="Meiryo UI" panose="020B0604030504040204" pitchFamily="50" charset="-128"/>
              </a:rPr>
              <a:t>⇒　議会に説明できる必要性や根拠が必要では？</a:t>
            </a:r>
            <a:endParaRPr kumimoji="1" lang="en-US" altLang="ja-JP" sz="1600">
              <a:latin typeface="Meiryo UI" panose="020B0604030504040204" pitchFamily="50" charset="-128"/>
              <a:ea typeface="Meiryo UI" panose="020B0604030504040204" pitchFamily="50" charset="-128"/>
            </a:endParaRPr>
          </a:p>
        </p:txBody>
      </p:sp>
      <p:sp>
        <p:nvSpPr>
          <p:cNvPr id="4" name="四角形: 角を丸くする 3">
            <a:extLst>
              <a:ext uri="{FF2B5EF4-FFF2-40B4-BE49-F238E27FC236}">
                <a16:creationId xmlns:a16="http://schemas.microsoft.com/office/drawing/2014/main" id="{9293B7D6-AD63-86D5-7510-0245BED2F7AF}"/>
              </a:ext>
            </a:extLst>
          </p:cNvPr>
          <p:cNvSpPr/>
          <p:nvPr/>
        </p:nvSpPr>
        <p:spPr>
          <a:xfrm>
            <a:off x="9258300" y="113317"/>
            <a:ext cx="1082395" cy="362863"/>
          </a:xfrm>
          <a:prstGeom prst="roundRect">
            <a:avLst>
              <a:gd name="adj" fmla="val 0"/>
            </a:avLst>
          </a:prstGeom>
          <a:solidFill>
            <a:srgbClr val="FFC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福祉部</a:t>
            </a:r>
          </a:p>
        </p:txBody>
      </p:sp>
    </p:spTree>
    <p:extLst>
      <p:ext uri="{BB962C8B-B14F-4D97-AF65-F5344CB8AC3E}">
        <p14:creationId xmlns:p14="http://schemas.microsoft.com/office/powerpoint/2010/main" val="3181010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B6766-4AEE-3A0E-8997-E7FD5FB58FBA}"/>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9FD5BAF6-0454-486A-B975-6C7328AEA25B}"/>
              </a:ext>
            </a:extLst>
          </p:cNvPr>
          <p:cNvSpPr txBox="1"/>
          <p:nvPr/>
        </p:nvSpPr>
        <p:spPr>
          <a:xfrm>
            <a:off x="0" y="42148"/>
            <a:ext cx="9144000" cy="461665"/>
          </a:xfrm>
          <a:prstGeom prst="homePlate">
            <a:avLst>
              <a:gd name="adj" fmla="val 0"/>
            </a:avLst>
          </a:prstGeom>
          <a:solidFill>
            <a:srgbClr val="0F9ED5"/>
          </a:solidFill>
          <a:ln>
            <a:noFill/>
          </a:ln>
        </p:spPr>
        <p:txBody>
          <a:bodyPr wrap="square" rtlCol="0" anchor="ctr">
            <a:spAutoFit/>
          </a:bodyPr>
          <a:lstStyle/>
          <a:p>
            <a:r>
              <a:rPr kumimoji="1" lang="ja-JP" altLang="en-US" sz="2400">
                <a:solidFill>
                  <a:schemeClr val="bg1"/>
                </a:solidFill>
                <a:latin typeface="Meiryo UI" panose="020B0604030504040204" pitchFamily="50" charset="-128"/>
                <a:ea typeface="Meiryo UI" panose="020B0604030504040204" pitchFamily="50" charset="-128"/>
              </a:rPr>
              <a:t>２　懸案事項</a:t>
            </a:r>
            <a:endParaRPr lang="ja-JP" altLang="ja-JP" sz="2400">
              <a:solidFill>
                <a:schemeClr val="bg1"/>
              </a:solidFill>
              <a:latin typeface="Meiryo UI" panose="020B0604030504040204" pitchFamily="50" charset="-128"/>
              <a:ea typeface="Meiryo UI" panose="020B0604030504040204" pitchFamily="50" charset="-128"/>
            </a:endParaRPr>
          </a:p>
        </p:txBody>
      </p:sp>
      <p:sp>
        <p:nvSpPr>
          <p:cNvPr id="2" name="四角形: 角を丸くする 1">
            <a:extLst>
              <a:ext uri="{FF2B5EF4-FFF2-40B4-BE49-F238E27FC236}">
                <a16:creationId xmlns:a16="http://schemas.microsoft.com/office/drawing/2014/main" id="{4428EA19-0EDB-1780-E130-13A0F7483B27}"/>
              </a:ext>
            </a:extLst>
          </p:cNvPr>
          <p:cNvSpPr/>
          <p:nvPr/>
        </p:nvSpPr>
        <p:spPr>
          <a:xfrm>
            <a:off x="377573" y="625257"/>
            <a:ext cx="8499308" cy="4322426"/>
          </a:xfrm>
          <a:prstGeom prst="roundRect">
            <a:avLst>
              <a:gd name="adj" fmla="val 3464"/>
            </a:avLst>
          </a:prstGeom>
          <a:noFill/>
          <a:ln>
            <a:solidFill>
              <a:schemeClr val="bg1">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endParaRPr kumimoji="1" lang="ja-JP" altLang="en-US" sz="1600" b="1"/>
          </a:p>
        </p:txBody>
      </p:sp>
      <p:sp>
        <p:nvSpPr>
          <p:cNvPr id="8" name="テキスト ボックス 7">
            <a:extLst>
              <a:ext uri="{FF2B5EF4-FFF2-40B4-BE49-F238E27FC236}">
                <a16:creationId xmlns:a16="http://schemas.microsoft.com/office/drawing/2014/main" id="{8EB8670F-8013-0404-F8B6-53A6F6D7E3B6}"/>
              </a:ext>
            </a:extLst>
          </p:cNvPr>
          <p:cNvSpPr txBox="1"/>
          <p:nvPr/>
        </p:nvSpPr>
        <p:spPr>
          <a:xfrm>
            <a:off x="498511" y="704311"/>
            <a:ext cx="8122777" cy="1077218"/>
          </a:xfrm>
          <a:prstGeom prst="rect">
            <a:avLst/>
          </a:prstGeom>
          <a:noFill/>
        </p:spPr>
        <p:txBody>
          <a:bodyPr wrap="square" rtlCol="0">
            <a:spAutoFit/>
          </a:bodyPr>
          <a:lstStyle/>
          <a:p>
            <a:r>
              <a:rPr kumimoji="1" lang="ja-JP" altLang="en-US" sz="1600">
                <a:latin typeface="Meiryo UI" panose="020B0604030504040204" pitchFamily="50" charset="-128"/>
                <a:ea typeface="Meiryo UI" panose="020B0604030504040204" pitchFamily="50" charset="-128"/>
              </a:rPr>
              <a:t>（３）具体的な支援内容</a:t>
            </a:r>
            <a:endParaRPr kumimoji="1" lang="en-US" altLang="ja-JP" sz="1600">
              <a:latin typeface="Meiryo UI" panose="020B0604030504040204" pitchFamily="50" charset="-128"/>
              <a:ea typeface="Meiryo UI" panose="020B0604030504040204" pitchFamily="50" charset="-128"/>
            </a:endParaRPr>
          </a:p>
          <a:p>
            <a:endParaRPr kumimoji="1" lang="en-US" altLang="ja-JP" sz="1600">
              <a:latin typeface="Meiryo UI" panose="020B0604030504040204" pitchFamily="50" charset="-128"/>
              <a:ea typeface="Meiryo UI" panose="020B0604030504040204" pitchFamily="50" charset="-128"/>
            </a:endParaRPr>
          </a:p>
          <a:p>
            <a:endParaRPr kumimoji="1" lang="en-US" altLang="ja-JP" sz="1600">
              <a:latin typeface="Meiryo UI" panose="020B0604030504040204" pitchFamily="50" charset="-128"/>
              <a:ea typeface="Meiryo UI" panose="020B0604030504040204" pitchFamily="50" charset="-128"/>
            </a:endParaRPr>
          </a:p>
          <a:p>
            <a:endParaRPr kumimoji="1" lang="en-US" altLang="ja-JP" sz="1600">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9E0B99FA-5CF6-46FA-47F2-53203A64C668}"/>
              </a:ext>
            </a:extLst>
          </p:cNvPr>
          <p:cNvSpPr txBox="1"/>
          <p:nvPr/>
        </p:nvSpPr>
        <p:spPr>
          <a:xfrm>
            <a:off x="4207666" y="2983897"/>
            <a:ext cx="2934828" cy="338554"/>
          </a:xfrm>
          <a:prstGeom prst="rect">
            <a:avLst/>
          </a:prstGeom>
          <a:noFill/>
        </p:spPr>
        <p:txBody>
          <a:bodyPr wrap="square" rtlCol="0">
            <a:spAutoFit/>
          </a:bodyPr>
          <a:lstStyle/>
          <a:p>
            <a:r>
              <a:rPr kumimoji="1" lang="en-US" altLang="ja-JP" sz="1600">
                <a:latin typeface="Meiryo UI" panose="020B0604030504040204" pitchFamily="50" charset="-128"/>
                <a:ea typeface="Meiryo UI" panose="020B0604030504040204" pitchFamily="50" charset="-128"/>
              </a:rPr>
              <a:t>【</a:t>
            </a:r>
            <a:r>
              <a:rPr kumimoji="1" lang="ja-JP" altLang="en-US" sz="1600">
                <a:latin typeface="Meiryo UI" panose="020B0604030504040204" pitchFamily="50" charset="-128"/>
                <a:ea typeface="Meiryo UI" panose="020B0604030504040204" pitchFamily="50" charset="-128"/>
              </a:rPr>
              <a:t>参考</a:t>
            </a:r>
            <a:r>
              <a:rPr kumimoji="1" lang="en-US" altLang="ja-JP" sz="1600">
                <a:latin typeface="Meiryo UI" panose="020B0604030504040204" pitchFamily="50" charset="-128"/>
                <a:ea typeface="Meiryo UI" panose="020B0604030504040204" pitchFamily="50" charset="-128"/>
              </a:rPr>
              <a:t>】</a:t>
            </a:r>
          </a:p>
        </p:txBody>
      </p:sp>
      <p:sp>
        <p:nvSpPr>
          <p:cNvPr id="16" name="テキスト ボックス 15">
            <a:extLst>
              <a:ext uri="{FF2B5EF4-FFF2-40B4-BE49-F238E27FC236}">
                <a16:creationId xmlns:a16="http://schemas.microsoft.com/office/drawing/2014/main" id="{383E7E6B-EE47-3D4D-117E-BCF32E33B6AC}"/>
              </a:ext>
            </a:extLst>
          </p:cNvPr>
          <p:cNvSpPr txBox="1"/>
          <p:nvPr/>
        </p:nvSpPr>
        <p:spPr>
          <a:xfrm>
            <a:off x="4439841" y="3340603"/>
            <a:ext cx="4204865" cy="1440000"/>
          </a:xfrm>
          <a:prstGeom prst="rect">
            <a:avLst/>
          </a:prstGeom>
          <a:solidFill>
            <a:srgbClr val="FFC000"/>
          </a:solidFill>
          <a:ln w="19050">
            <a:solidFill>
              <a:schemeClr val="bg1">
                <a:lumMod val="50000"/>
              </a:schemeClr>
            </a:solidFill>
          </a:ln>
        </p:spPr>
        <p:txBody>
          <a:bodyPr wrap="square" rtlCol="0">
            <a:spAutoFit/>
          </a:bodyPr>
          <a:lstStyle/>
          <a:p>
            <a:r>
              <a:rPr kumimoji="1" lang="en-US" altLang="ja-JP" sz="1600" b="1">
                <a:latin typeface="Meiryo UI" panose="020B0604030504040204" pitchFamily="50" charset="-128"/>
                <a:ea typeface="Meiryo UI" panose="020B0604030504040204" pitchFamily="50" charset="-128"/>
              </a:rPr>
              <a:t>【</a:t>
            </a:r>
            <a:r>
              <a:rPr kumimoji="1" lang="ja-JP" altLang="en-US" sz="1600" b="1">
                <a:latin typeface="Meiryo UI" panose="020B0604030504040204" pitchFamily="50" charset="-128"/>
                <a:ea typeface="Meiryo UI" panose="020B0604030504040204" pitchFamily="50" charset="-128"/>
              </a:rPr>
              <a:t>受験生チャレンジ支援貸付事業（都事業）</a:t>
            </a:r>
            <a:r>
              <a:rPr kumimoji="1" lang="en-US" altLang="ja-JP" sz="1600" b="1">
                <a:latin typeface="Meiryo UI" panose="020B0604030504040204" pitchFamily="50" charset="-128"/>
                <a:ea typeface="Meiryo UI" panose="020B0604030504040204" pitchFamily="50" charset="-128"/>
              </a:rPr>
              <a:t>】</a:t>
            </a:r>
          </a:p>
          <a:p>
            <a:r>
              <a:rPr kumimoji="1" lang="ja-JP" altLang="en-US" sz="1400" b="1">
                <a:latin typeface="Meiryo UI" panose="020B0604030504040204" pitchFamily="50" charset="-128"/>
                <a:ea typeface="Meiryo UI" panose="020B0604030504040204" pitchFamily="50" charset="-128"/>
              </a:rPr>
              <a:t>●対象</a:t>
            </a:r>
            <a:r>
              <a:rPr kumimoji="1" lang="ja-JP" altLang="en-US" sz="1400">
                <a:latin typeface="Meiryo UI" panose="020B0604030504040204" pitchFamily="50" charset="-128"/>
                <a:ea typeface="Meiryo UI" panose="020B0604030504040204" pitchFamily="50" charset="-128"/>
              </a:rPr>
              <a:t>：一定所得以下の家庭の中学３年生および</a:t>
            </a:r>
            <a:endParaRPr kumimoji="1" lang="en-US" altLang="ja-JP" sz="1400">
              <a:latin typeface="Meiryo UI" panose="020B0604030504040204" pitchFamily="50" charset="-128"/>
              <a:ea typeface="Meiryo UI" panose="020B0604030504040204" pitchFamily="50" charset="-128"/>
            </a:endParaRPr>
          </a:p>
          <a:p>
            <a:r>
              <a:rPr kumimoji="1" lang="ja-JP" altLang="en-US" sz="1400">
                <a:latin typeface="Meiryo UI" panose="020B0604030504040204" pitchFamily="50" charset="-128"/>
                <a:ea typeface="Meiryo UI" panose="020B0604030504040204" pitchFamily="50" charset="-128"/>
              </a:rPr>
              <a:t>高校３年生</a:t>
            </a:r>
            <a:endParaRPr kumimoji="1" lang="en-US" altLang="ja-JP" sz="1600">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●支援内容</a:t>
            </a:r>
            <a:r>
              <a:rPr kumimoji="1" lang="ja-JP" altLang="en-US" sz="1400">
                <a:latin typeface="Meiryo UI" panose="020B0604030504040204" pitchFamily="50" charset="-128"/>
                <a:ea typeface="Meiryo UI" panose="020B0604030504040204" pitchFamily="50" charset="-128"/>
              </a:rPr>
              <a:t>：学習塾などの費用や、高校や大学などの受験費用について貸付を行うことにより、子どもたちの学習意欲をサポート</a:t>
            </a:r>
            <a:r>
              <a:rPr kumimoji="1" lang="ja-JP" altLang="en-US" sz="1400" b="1">
                <a:latin typeface="Meiryo UI" panose="020B0604030504040204" pitchFamily="50" charset="-128"/>
                <a:ea typeface="Meiryo UI" panose="020B0604030504040204" pitchFamily="50" charset="-128"/>
              </a:rPr>
              <a:t>（入学した場合は返済免除）</a:t>
            </a:r>
            <a:endParaRPr kumimoji="1" lang="ja-JP" altLang="en-US" sz="1600" b="1">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36B14C25-C918-B6E6-933F-6E2553DA533C}"/>
              </a:ext>
            </a:extLst>
          </p:cNvPr>
          <p:cNvSpPr txBox="1"/>
          <p:nvPr/>
        </p:nvSpPr>
        <p:spPr>
          <a:xfrm>
            <a:off x="499294" y="3339690"/>
            <a:ext cx="3789229" cy="1440000"/>
          </a:xfrm>
          <a:prstGeom prst="rect">
            <a:avLst/>
          </a:prstGeom>
          <a:solidFill>
            <a:srgbClr val="E8F7F9"/>
          </a:solidFill>
          <a:ln w="19050">
            <a:solidFill>
              <a:schemeClr val="bg1">
                <a:lumMod val="50000"/>
              </a:schemeClr>
            </a:solidFill>
          </a:ln>
        </p:spPr>
        <p:txBody>
          <a:bodyPr wrap="square" rtlCol="0">
            <a:spAutoFit/>
          </a:bodyPr>
          <a:lstStyle/>
          <a:p>
            <a:r>
              <a:rPr kumimoji="1" lang="en-US" altLang="ja-JP" sz="1600" b="1">
                <a:latin typeface="Meiryo UI" panose="020B0604030504040204" pitchFamily="50" charset="-128"/>
                <a:ea typeface="Meiryo UI" panose="020B0604030504040204" pitchFamily="50" charset="-128"/>
              </a:rPr>
              <a:t>【</a:t>
            </a:r>
            <a:r>
              <a:rPr kumimoji="1" lang="ja-JP" altLang="en-US" sz="1600" b="1">
                <a:latin typeface="Meiryo UI" panose="020B0604030504040204" pitchFamily="50" charset="-128"/>
                <a:ea typeface="Meiryo UI" panose="020B0604030504040204" pitchFamily="50" charset="-128"/>
              </a:rPr>
              <a:t>中３勉強会</a:t>
            </a:r>
            <a:r>
              <a:rPr kumimoji="1" lang="en-US" altLang="ja-JP" sz="1600" b="1">
                <a:latin typeface="Meiryo UI" panose="020B0604030504040204" pitchFamily="50" charset="-128"/>
                <a:ea typeface="Meiryo UI" panose="020B0604030504040204" pitchFamily="50" charset="-128"/>
              </a:rPr>
              <a:t>】</a:t>
            </a:r>
          </a:p>
          <a:p>
            <a:r>
              <a:rPr kumimoji="1" lang="ja-JP" altLang="en-US" sz="1400" b="1">
                <a:latin typeface="Meiryo UI" panose="020B0604030504040204" pitchFamily="50" charset="-128"/>
                <a:ea typeface="Meiryo UI" panose="020B0604030504040204" pitchFamily="50" charset="-128"/>
              </a:rPr>
              <a:t>●対象</a:t>
            </a:r>
            <a:r>
              <a:rPr kumimoji="1" lang="ja-JP" altLang="en-US" sz="1400">
                <a:latin typeface="Meiryo UI" panose="020B0604030504040204" pitchFamily="50" charset="-128"/>
                <a:ea typeface="Meiryo UI" panose="020B0604030504040204" pitchFamily="50" charset="-128"/>
              </a:rPr>
              <a:t>：生活保護受給世帯または就学援助を受けている準要保護世帯の中学３年生</a:t>
            </a:r>
            <a:endParaRPr kumimoji="1" lang="en-US" altLang="ja-JP" sz="1400">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●支援内容</a:t>
            </a:r>
            <a:r>
              <a:rPr kumimoji="1" lang="ja-JP" altLang="en-US" sz="1400">
                <a:latin typeface="Meiryo UI" panose="020B0604030504040204" pitchFamily="50" charset="-128"/>
                <a:ea typeface="Meiryo UI" panose="020B0604030504040204" pitchFamily="50" charset="-128"/>
              </a:rPr>
              <a:t>：高校の入学試験科目を中心に基礎的な学力を身につけるための勉強会。学習や進路に関する相談にも対応</a:t>
            </a:r>
            <a:endParaRPr kumimoji="1" lang="en-US" altLang="ja-JP" sz="140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9C75A3E8-3773-C2C1-5BBD-718C70812F86}"/>
              </a:ext>
            </a:extLst>
          </p:cNvPr>
          <p:cNvSpPr txBox="1"/>
          <p:nvPr/>
        </p:nvSpPr>
        <p:spPr>
          <a:xfrm>
            <a:off x="522712" y="1101163"/>
            <a:ext cx="3789229" cy="1800000"/>
          </a:xfrm>
          <a:prstGeom prst="rect">
            <a:avLst/>
          </a:prstGeom>
          <a:solidFill>
            <a:schemeClr val="accent3">
              <a:lumMod val="40000"/>
              <a:lumOff val="60000"/>
            </a:schemeClr>
          </a:solidFill>
          <a:ln w="19050">
            <a:solidFill>
              <a:schemeClr val="bg1">
                <a:lumMod val="50000"/>
              </a:schemeClr>
            </a:solidFill>
          </a:ln>
        </p:spPr>
        <p:txBody>
          <a:bodyPr wrap="square" rtlCol="0">
            <a:spAutoFit/>
          </a:bodyPr>
          <a:lstStyle/>
          <a:p>
            <a:r>
              <a:rPr kumimoji="1" lang="en-US" altLang="ja-JP" sz="1600" b="1">
                <a:latin typeface="Meiryo UI" panose="020B0604030504040204" pitchFamily="50" charset="-128"/>
                <a:ea typeface="Meiryo UI" panose="020B0604030504040204" pitchFamily="50" charset="-128"/>
              </a:rPr>
              <a:t>【</a:t>
            </a:r>
            <a:r>
              <a:rPr kumimoji="1" lang="ja-JP" altLang="en-US" sz="1600" b="1">
                <a:latin typeface="Meiryo UI" panose="020B0604030504040204" pitchFamily="50" charset="-128"/>
                <a:ea typeface="Meiryo UI" panose="020B0604030504040204" pitchFamily="50" charset="-128"/>
              </a:rPr>
              <a:t>練馬区ひとり親家庭向け学習支援事業　　</a:t>
            </a:r>
            <a:endParaRPr kumimoji="1" lang="en-US" altLang="ja-JP" sz="1600" b="1">
              <a:latin typeface="Meiryo UI" panose="020B0604030504040204" pitchFamily="50" charset="-128"/>
              <a:ea typeface="Meiryo UI" panose="020B0604030504040204" pitchFamily="50" charset="-128"/>
            </a:endParaRPr>
          </a:p>
          <a:p>
            <a:r>
              <a:rPr kumimoji="1" lang="ja-JP" altLang="en-US" sz="1600" b="1">
                <a:latin typeface="Meiryo UI" panose="020B0604030504040204" pitchFamily="50" charset="-128"/>
                <a:ea typeface="Meiryo UI" panose="020B0604030504040204" pitchFamily="50" charset="-128"/>
              </a:rPr>
              <a:t>　　　　　　　　　　　　　　（学習クーポン）</a:t>
            </a:r>
            <a:r>
              <a:rPr kumimoji="1" lang="en-US" altLang="ja-JP" sz="1600" b="1">
                <a:latin typeface="Meiryo UI" panose="020B0604030504040204" pitchFamily="50" charset="-128"/>
                <a:ea typeface="Meiryo UI" panose="020B0604030504040204" pitchFamily="50" charset="-128"/>
              </a:rPr>
              <a:t>】</a:t>
            </a:r>
          </a:p>
          <a:p>
            <a:pPr>
              <a:lnSpc>
                <a:spcPts val="600"/>
              </a:lnSpc>
            </a:pPr>
            <a:endParaRPr kumimoji="1" lang="en-US" altLang="ja-JP" sz="1600" b="1">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●対象</a:t>
            </a:r>
            <a:r>
              <a:rPr kumimoji="1" lang="ja-JP" altLang="en-US" sz="1400">
                <a:latin typeface="Meiryo UI" panose="020B0604030504040204" pitchFamily="50" charset="-128"/>
                <a:ea typeface="Meiryo UI" panose="020B0604030504040204" pitchFamily="50" charset="-128"/>
              </a:rPr>
              <a:t>：低所得のひとり親家庭の中学１・２年生、　</a:t>
            </a:r>
            <a:endParaRPr kumimoji="1" lang="en-US" altLang="ja-JP" sz="1400">
              <a:latin typeface="Meiryo UI" panose="020B0604030504040204" pitchFamily="50" charset="-128"/>
              <a:ea typeface="Meiryo UI" panose="020B0604030504040204" pitchFamily="50" charset="-128"/>
            </a:endParaRPr>
          </a:p>
          <a:p>
            <a:r>
              <a:rPr kumimoji="1" lang="ja-JP" altLang="en-US" sz="1400">
                <a:latin typeface="Meiryo UI" panose="020B0604030504040204" pitchFamily="50" charset="-128"/>
                <a:ea typeface="Meiryo UI" panose="020B0604030504040204" pitchFamily="50" charset="-128"/>
              </a:rPr>
              <a:t>　高校１・２年生</a:t>
            </a:r>
            <a:endParaRPr kumimoji="1" lang="en-US" altLang="ja-JP" sz="1400">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●支援内容：</a:t>
            </a:r>
            <a:r>
              <a:rPr kumimoji="1" lang="ja-JP" altLang="en-US" sz="1400">
                <a:latin typeface="Meiryo UI" panose="020B0604030504040204" pitchFamily="50" charset="-128"/>
                <a:ea typeface="Meiryo UI" panose="020B0604030504040204" pitchFamily="50" charset="-128"/>
              </a:rPr>
              <a:t>学習塾や家庭教師などに利用でき</a:t>
            </a:r>
            <a:endParaRPr kumimoji="1" lang="en-US" altLang="ja-JP" sz="1400">
              <a:latin typeface="Meiryo UI" panose="020B0604030504040204" pitchFamily="50" charset="-128"/>
              <a:ea typeface="Meiryo UI" panose="020B0604030504040204" pitchFamily="50" charset="-128"/>
            </a:endParaRPr>
          </a:p>
          <a:p>
            <a:r>
              <a:rPr kumimoji="1" lang="ja-JP" altLang="en-US" sz="1400">
                <a:latin typeface="Meiryo UI" panose="020B0604030504040204" pitchFamily="50" charset="-128"/>
                <a:ea typeface="Meiryo UI" panose="020B0604030504040204" pitchFamily="50" charset="-128"/>
              </a:rPr>
              <a:t>　る学習クーポン（子ども１人あたり、中学生</a:t>
            </a:r>
            <a:r>
              <a:rPr kumimoji="1" lang="en-US" altLang="ja-JP" sz="1400">
                <a:latin typeface="Meiryo UI" panose="020B0604030504040204" pitchFamily="50" charset="-128"/>
                <a:ea typeface="Meiryo UI" panose="020B0604030504040204" pitchFamily="50" charset="-128"/>
              </a:rPr>
              <a:t>10</a:t>
            </a:r>
            <a:r>
              <a:rPr kumimoji="1" lang="ja-JP" altLang="en-US" sz="1400">
                <a:latin typeface="Meiryo UI" panose="020B0604030504040204" pitchFamily="50" charset="-128"/>
                <a:ea typeface="Meiryo UI" panose="020B0604030504040204" pitchFamily="50" charset="-128"/>
              </a:rPr>
              <a:t>万　</a:t>
            </a:r>
            <a:endParaRPr kumimoji="1" lang="en-US" altLang="ja-JP" sz="1400">
              <a:latin typeface="Meiryo UI" panose="020B0604030504040204" pitchFamily="50" charset="-128"/>
              <a:ea typeface="Meiryo UI" panose="020B0604030504040204" pitchFamily="50" charset="-128"/>
            </a:endParaRPr>
          </a:p>
          <a:p>
            <a:r>
              <a:rPr kumimoji="1" lang="ja-JP" altLang="en-US" sz="1400">
                <a:latin typeface="Meiryo UI" panose="020B0604030504040204" pitchFamily="50" charset="-128"/>
                <a:ea typeface="Meiryo UI" panose="020B0604030504040204" pitchFamily="50" charset="-128"/>
              </a:rPr>
              <a:t>　円分、高校生</a:t>
            </a:r>
            <a:r>
              <a:rPr kumimoji="1" lang="en-US" altLang="ja-JP" sz="1400">
                <a:latin typeface="Meiryo UI" panose="020B0604030504040204" pitchFamily="50" charset="-128"/>
                <a:ea typeface="Meiryo UI" panose="020B0604030504040204" pitchFamily="50" charset="-128"/>
              </a:rPr>
              <a:t>15</a:t>
            </a:r>
            <a:r>
              <a:rPr kumimoji="1" lang="ja-JP" altLang="en-US" sz="1400">
                <a:latin typeface="Meiryo UI" panose="020B0604030504040204" pitchFamily="50" charset="-128"/>
                <a:ea typeface="Meiryo UI" panose="020B0604030504040204" pitchFamily="50" charset="-128"/>
              </a:rPr>
              <a:t>万円分）を助成。</a:t>
            </a:r>
            <a:endParaRPr kumimoji="1" lang="en-US" altLang="ja-JP" sz="1400">
              <a:latin typeface="Meiryo UI" panose="020B0604030504040204" pitchFamily="50" charset="-128"/>
              <a:ea typeface="Meiryo UI" panose="020B0604030504040204" pitchFamily="50" charset="-128"/>
            </a:endParaRPr>
          </a:p>
        </p:txBody>
      </p:sp>
      <p:sp>
        <p:nvSpPr>
          <p:cNvPr id="14" name="テキスト ボックス 13">
            <a:extLst>
              <a:ext uri="{FF2B5EF4-FFF2-40B4-BE49-F238E27FC236}">
                <a16:creationId xmlns:a16="http://schemas.microsoft.com/office/drawing/2014/main" id="{5E837EFB-3F2E-1207-C01D-6D22A715D760}"/>
              </a:ext>
            </a:extLst>
          </p:cNvPr>
          <p:cNvSpPr txBox="1"/>
          <p:nvPr/>
        </p:nvSpPr>
        <p:spPr>
          <a:xfrm>
            <a:off x="4457080" y="1105428"/>
            <a:ext cx="4187626" cy="1800000"/>
          </a:xfrm>
          <a:prstGeom prst="rect">
            <a:avLst/>
          </a:prstGeom>
          <a:solidFill>
            <a:schemeClr val="accent3">
              <a:lumMod val="40000"/>
              <a:lumOff val="60000"/>
            </a:schemeClr>
          </a:solidFill>
          <a:ln w="19050">
            <a:solidFill>
              <a:schemeClr val="bg1">
                <a:lumMod val="50000"/>
              </a:schemeClr>
            </a:solidFill>
          </a:ln>
        </p:spPr>
        <p:txBody>
          <a:bodyPr wrap="square" rtlCol="0">
            <a:spAutoFit/>
          </a:bodyPr>
          <a:lstStyle/>
          <a:p>
            <a:r>
              <a:rPr kumimoji="1" lang="en-US" altLang="ja-JP" sz="1600" b="1">
                <a:latin typeface="Meiryo UI" panose="020B0604030504040204" pitchFamily="50" charset="-128"/>
                <a:ea typeface="Meiryo UI" panose="020B0604030504040204" pitchFamily="50" charset="-128"/>
              </a:rPr>
              <a:t>【</a:t>
            </a:r>
            <a:r>
              <a:rPr kumimoji="1" lang="ja-JP" altLang="en-US" sz="1600" b="1">
                <a:latin typeface="Meiryo UI" panose="020B0604030504040204" pitchFamily="50" charset="-128"/>
                <a:ea typeface="Meiryo UI" panose="020B0604030504040204" pitchFamily="50" charset="-128"/>
              </a:rPr>
              <a:t>ひとり親家庭向け家庭訪問型学習支援事業</a:t>
            </a:r>
            <a:r>
              <a:rPr kumimoji="1" lang="en-US" altLang="ja-JP" sz="1600" b="1">
                <a:latin typeface="Meiryo UI" panose="020B0604030504040204" pitchFamily="50" charset="-128"/>
                <a:ea typeface="Meiryo UI" panose="020B0604030504040204" pitchFamily="50" charset="-128"/>
              </a:rPr>
              <a:t>】</a:t>
            </a:r>
          </a:p>
          <a:p>
            <a:pPr>
              <a:lnSpc>
                <a:spcPts val="600"/>
              </a:lnSpc>
            </a:pPr>
            <a:endParaRPr kumimoji="1" lang="en-US" altLang="ja-JP" sz="1600" b="1">
              <a:latin typeface="Meiryo UI" panose="020B0604030504040204" pitchFamily="50" charset="-128"/>
              <a:ea typeface="Meiryo UI" panose="020B0604030504040204" pitchFamily="50" charset="-128"/>
            </a:endParaRPr>
          </a:p>
          <a:p>
            <a:endParaRPr kumimoji="1" lang="en-US" altLang="ja-JP" sz="400" b="1">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●対象</a:t>
            </a:r>
            <a:r>
              <a:rPr kumimoji="1" lang="ja-JP" altLang="en-US" sz="1400">
                <a:latin typeface="Meiryo UI" panose="020B0604030504040204" pitchFamily="50" charset="-128"/>
                <a:ea typeface="Meiryo UI" panose="020B0604030504040204" pitchFamily="50" charset="-128"/>
              </a:rPr>
              <a:t>：低所得のひとり親家庭の小学１年生から中学</a:t>
            </a:r>
            <a:endParaRPr kumimoji="1" lang="en-US" altLang="ja-JP" sz="1400">
              <a:latin typeface="Meiryo UI" panose="020B0604030504040204" pitchFamily="50" charset="-128"/>
              <a:ea typeface="Meiryo UI" panose="020B0604030504040204" pitchFamily="50" charset="-128"/>
            </a:endParaRPr>
          </a:p>
          <a:p>
            <a:r>
              <a:rPr kumimoji="1" lang="ja-JP" altLang="en-US" sz="1400">
                <a:latin typeface="Meiryo UI" panose="020B0604030504040204" pitchFamily="50" charset="-128"/>
                <a:ea typeface="Meiryo UI" panose="020B0604030504040204" pitchFamily="50" charset="-128"/>
              </a:rPr>
              <a:t>　２年生までの児童・生徒</a:t>
            </a:r>
            <a:endParaRPr kumimoji="1" lang="en-US" altLang="ja-JP" sz="1400">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●支援内容：</a:t>
            </a:r>
            <a:r>
              <a:rPr kumimoji="1" lang="ja-JP" altLang="en-US" sz="1400">
                <a:latin typeface="Meiryo UI" panose="020B0604030504040204" pitchFamily="50" charset="-128"/>
                <a:ea typeface="Meiryo UI" panose="020B0604030504040204" pitchFamily="50" charset="-128"/>
              </a:rPr>
              <a:t>ひとり親家庭の自宅に学習支援員を派遣</a:t>
            </a:r>
            <a:endParaRPr kumimoji="1" lang="en-US" altLang="ja-JP" sz="1400">
              <a:latin typeface="Meiryo UI" panose="020B0604030504040204" pitchFamily="50" charset="-128"/>
              <a:ea typeface="Meiryo UI" panose="020B0604030504040204" pitchFamily="50" charset="-128"/>
            </a:endParaRPr>
          </a:p>
          <a:p>
            <a:r>
              <a:rPr kumimoji="1" lang="ja-JP" altLang="en-US" sz="1400">
                <a:latin typeface="Meiryo UI" panose="020B0604030504040204" pitchFamily="50" charset="-128"/>
                <a:ea typeface="Meiryo UI" panose="020B0604030504040204" pitchFamily="50" charset="-128"/>
              </a:rPr>
              <a:t>　し、学習習慣を身につけ、基礎学力の定着を図る。令</a:t>
            </a:r>
            <a:endParaRPr kumimoji="1" lang="en-US" altLang="ja-JP" sz="1400">
              <a:latin typeface="Meiryo UI" panose="020B0604030504040204" pitchFamily="50" charset="-128"/>
              <a:ea typeface="Meiryo UI" panose="020B0604030504040204" pitchFamily="50" charset="-128"/>
            </a:endParaRPr>
          </a:p>
          <a:p>
            <a:r>
              <a:rPr kumimoji="1" lang="ja-JP" altLang="en-US" sz="1400">
                <a:latin typeface="Meiryo UI" panose="020B0604030504040204" pitchFamily="50" charset="-128"/>
                <a:ea typeface="Meiryo UI" panose="020B0604030504040204" pitchFamily="50" charset="-128"/>
              </a:rPr>
              <a:t>　和</a:t>
            </a:r>
            <a:r>
              <a:rPr kumimoji="1" lang="en-US" altLang="ja-JP" sz="1400">
                <a:latin typeface="Meiryo UI" panose="020B0604030504040204" pitchFamily="50" charset="-128"/>
                <a:ea typeface="Meiryo UI" panose="020B0604030504040204" pitchFamily="50" charset="-128"/>
              </a:rPr>
              <a:t>8</a:t>
            </a:r>
            <a:r>
              <a:rPr kumimoji="1" lang="ja-JP" altLang="en-US" sz="1400">
                <a:latin typeface="Meiryo UI" panose="020B0604030504040204" pitchFamily="50" charset="-128"/>
                <a:ea typeface="Meiryo UI" panose="020B0604030504040204" pitchFamily="50" charset="-128"/>
              </a:rPr>
              <a:t>年</a:t>
            </a:r>
            <a:r>
              <a:rPr kumimoji="1" lang="en-US" altLang="ja-JP" sz="1400">
                <a:latin typeface="Meiryo UI" panose="020B0604030504040204" pitchFamily="50" charset="-128"/>
                <a:ea typeface="Meiryo UI" panose="020B0604030504040204" pitchFamily="50" charset="-128"/>
              </a:rPr>
              <a:t>8</a:t>
            </a:r>
            <a:r>
              <a:rPr kumimoji="1" lang="ja-JP" altLang="en-US" sz="1400">
                <a:latin typeface="Meiryo UI" panose="020B0604030504040204" pitchFamily="50" charset="-128"/>
                <a:ea typeface="Meiryo UI" panose="020B0604030504040204" pitchFamily="50" charset="-128"/>
              </a:rPr>
              <a:t>月から令和</a:t>
            </a:r>
            <a:r>
              <a:rPr kumimoji="1" lang="en-US" altLang="ja-JP" sz="1400">
                <a:latin typeface="Meiryo UI" panose="020B0604030504040204" pitchFamily="50" charset="-128"/>
                <a:ea typeface="Meiryo UI" panose="020B0604030504040204" pitchFamily="50" charset="-128"/>
              </a:rPr>
              <a:t>9</a:t>
            </a:r>
            <a:r>
              <a:rPr kumimoji="1" lang="ja-JP" altLang="en-US" sz="1400">
                <a:latin typeface="Meiryo UI" panose="020B0604030504040204" pitchFamily="50" charset="-128"/>
                <a:ea typeface="Meiryo UI" panose="020B0604030504040204" pitchFamily="50" charset="-128"/>
              </a:rPr>
              <a:t>年</a:t>
            </a:r>
            <a:r>
              <a:rPr kumimoji="1" lang="en-US" altLang="ja-JP" sz="1400">
                <a:latin typeface="Meiryo UI" panose="020B0604030504040204" pitchFamily="50" charset="-128"/>
                <a:ea typeface="Meiryo UI" panose="020B0604030504040204" pitchFamily="50" charset="-128"/>
              </a:rPr>
              <a:t>3</a:t>
            </a:r>
            <a:r>
              <a:rPr kumimoji="1" lang="ja-JP" altLang="en-US" sz="1400">
                <a:latin typeface="Meiryo UI" panose="020B0604030504040204" pitchFamily="50" charset="-128"/>
                <a:ea typeface="Meiryo UI" panose="020B0604030504040204" pitchFamily="50" charset="-128"/>
              </a:rPr>
              <a:t>月までのうち、計</a:t>
            </a:r>
            <a:r>
              <a:rPr kumimoji="1" lang="en-US" altLang="ja-JP" sz="1400">
                <a:latin typeface="Meiryo UI" panose="020B0604030504040204" pitchFamily="50" charset="-128"/>
                <a:ea typeface="Meiryo UI" panose="020B0604030504040204" pitchFamily="50" charset="-128"/>
              </a:rPr>
              <a:t>24</a:t>
            </a:r>
            <a:r>
              <a:rPr kumimoji="1" lang="ja-JP" altLang="en-US" sz="1400">
                <a:latin typeface="Meiryo UI" panose="020B0604030504040204" pitchFamily="50" charset="-128"/>
                <a:ea typeface="Meiryo UI" panose="020B0604030504040204" pitchFamily="50" charset="-128"/>
              </a:rPr>
              <a:t>回（月</a:t>
            </a:r>
            <a:r>
              <a:rPr kumimoji="1" lang="en-US" altLang="ja-JP" sz="1400">
                <a:latin typeface="Meiryo UI" panose="020B0604030504040204" pitchFamily="50" charset="-128"/>
                <a:ea typeface="Meiryo UI" panose="020B0604030504040204" pitchFamily="50" charset="-128"/>
              </a:rPr>
              <a:t>3</a:t>
            </a:r>
          </a:p>
          <a:p>
            <a:r>
              <a:rPr kumimoji="1" lang="ja-JP" altLang="en-US" sz="1400">
                <a:latin typeface="Meiryo UI" panose="020B0604030504040204" pitchFamily="50" charset="-128"/>
                <a:ea typeface="Meiryo UI" panose="020B0604030504040204" pitchFamily="50" charset="-128"/>
              </a:rPr>
              <a:t>　回）、</a:t>
            </a:r>
            <a:r>
              <a:rPr kumimoji="1" lang="en-US" altLang="ja-JP" sz="1400">
                <a:latin typeface="Meiryo UI" panose="020B0604030504040204" pitchFamily="50" charset="-128"/>
                <a:ea typeface="Meiryo UI" panose="020B0604030504040204" pitchFamily="50" charset="-128"/>
              </a:rPr>
              <a:t>2</a:t>
            </a:r>
            <a:r>
              <a:rPr kumimoji="1" lang="ja-JP" altLang="en-US" sz="1400">
                <a:latin typeface="Meiryo UI" panose="020B0604030504040204" pitchFamily="50" charset="-128"/>
                <a:ea typeface="Meiryo UI" panose="020B0604030504040204" pitchFamily="50" charset="-128"/>
              </a:rPr>
              <a:t>時間</a:t>
            </a:r>
            <a:r>
              <a:rPr kumimoji="1" lang="en-US" altLang="ja-JP" sz="1400">
                <a:latin typeface="Meiryo UI" panose="020B0604030504040204" pitchFamily="50" charset="-128"/>
                <a:ea typeface="Meiryo UI" panose="020B0604030504040204" pitchFamily="50" charset="-128"/>
              </a:rPr>
              <a:t>/</a:t>
            </a:r>
            <a:r>
              <a:rPr kumimoji="1" lang="ja-JP" altLang="en-US" sz="1400">
                <a:latin typeface="Meiryo UI" panose="020B0604030504040204" pitchFamily="50" charset="-128"/>
                <a:ea typeface="Meiryo UI" panose="020B0604030504040204" pitchFamily="50" charset="-128"/>
              </a:rPr>
              <a:t>回の支援。</a:t>
            </a:r>
            <a:endParaRPr kumimoji="1" lang="en-US" altLang="ja-JP" sz="1400">
              <a:latin typeface="Meiryo UI" panose="020B0604030504040204" pitchFamily="50" charset="-128"/>
              <a:ea typeface="Meiryo UI" panose="020B0604030504040204" pitchFamily="50" charset="-128"/>
            </a:endParaRPr>
          </a:p>
        </p:txBody>
      </p:sp>
      <p:sp>
        <p:nvSpPr>
          <p:cNvPr id="4" name="四角形: 角を丸くする 3">
            <a:extLst>
              <a:ext uri="{FF2B5EF4-FFF2-40B4-BE49-F238E27FC236}">
                <a16:creationId xmlns:a16="http://schemas.microsoft.com/office/drawing/2014/main" id="{D89519EE-8235-020C-9260-BB7F314967D9}"/>
              </a:ext>
            </a:extLst>
          </p:cNvPr>
          <p:cNvSpPr/>
          <p:nvPr/>
        </p:nvSpPr>
        <p:spPr>
          <a:xfrm>
            <a:off x="9258300" y="113317"/>
            <a:ext cx="1082395" cy="362863"/>
          </a:xfrm>
          <a:prstGeom prst="roundRect">
            <a:avLst>
              <a:gd name="adj" fmla="val 0"/>
            </a:avLst>
          </a:prstGeom>
          <a:solidFill>
            <a:srgbClr val="FFC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福祉部</a:t>
            </a:r>
          </a:p>
        </p:txBody>
      </p:sp>
    </p:spTree>
    <p:extLst>
      <p:ext uri="{BB962C8B-B14F-4D97-AF65-F5344CB8AC3E}">
        <p14:creationId xmlns:p14="http://schemas.microsoft.com/office/powerpoint/2010/main" val="339055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D6FD1-5976-52D4-89E8-4A087EA64338}"/>
            </a:ext>
          </a:extLst>
        </p:cNvPr>
        <p:cNvGrpSpPr/>
        <p:nvPr/>
      </p:nvGrpSpPr>
      <p:grpSpPr>
        <a:xfrm>
          <a:off x="0" y="0"/>
          <a:ext cx="0" cy="0"/>
          <a:chOff x="0" y="0"/>
          <a:chExt cx="0" cy="0"/>
        </a:xfrm>
      </p:grpSpPr>
      <p:sp>
        <p:nvSpPr>
          <p:cNvPr id="13" name="矢印: 下 12">
            <a:extLst>
              <a:ext uri="{FF2B5EF4-FFF2-40B4-BE49-F238E27FC236}">
                <a16:creationId xmlns:a16="http://schemas.microsoft.com/office/drawing/2014/main" id="{23365DAD-FC3D-2220-0278-FDE4A473B1E9}"/>
              </a:ext>
            </a:extLst>
          </p:cNvPr>
          <p:cNvSpPr/>
          <p:nvPr/>
        </p:nvSpPr>
        <p:spPr>
          <a:xfrm>
            <a:off x="3940635" y="2033205"/>
            <a:ext cx="697177" cy="1855203"/>
          </a:xfrm>
          <a:prstGeom prst="downArrow">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47444003-D8E3-35F1-3E44-D0AB04D7429C}"/>
              </a:ext>
            </a:extLst>
          </p:cNvPr>
          <p:cNvSpPr/>
          <p:nvPr/>
        </p:nvSpPr>
        <p:spPr>
          <a:xfrm>
            <a:off x="4872543" y="616808"/>
            <a:ext cx="4046868" cy="792000"/>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lumMod val="95000"/>
                </a:schemeClr>
              </a:solidFill>
            </a:endParaRPr>
          </a:p>
        </p:txBody>
      </p:sp>
      <p:sp>
        <p:nvSpPr>
          <p:cNvPr id="33" name="正方形/長方形 32">
            <a:extLst>
              <a:ext uri="{FF2B5EF4-FFF2-40B4-BE49-F238E27FC236}">
                <a16:creationId xmlns:a16="http://schemas.microsoft.com/office/drawing/2014/main" id="{E9D1246F-E79C-4162-E418-C183226DA653}"/>
              </a:ext>
            </a:extLst>
          </p:cNvPr>
          <p:cNvSpPr/>
          <p:nvPr/>
        </p:nvSpPr>
        <p:spPr>
          <a:xfrm>
            <a:off x="114815" y="616807"/>
            <a:ext cx="2275697" cy="792000"/>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lumMod val="95000"/>
                </a:schemeClr>
              </a:solidFill>
            </a:endParaRPr>
          </a:p>
        </p:txBody>
      </p:sp>
      <p:sp>
        <p:nvSpPr>
          <p:cNvPr id="30" name="正方形/長方形 29">
            <a:extLst>
              <a:ext uri="{FF2B5EF4-FFF2-40B4-BE49-F238E27FC236}">
                <a16:creationId xmlns:a16="http://schemas.microsoft.com/office/drawing/2014/main" id="{A72EB4D1-B80D-A8DA-E573-B9547751491D}"/>
              </a:ext>
            </a:extLst>
          </p:cNvPr>
          <p:cNvSpPr/>
          <p:nvPr/>
        </p:nvSpPr>
        <p:spPr>
          <a:xfrm>
            <a:off x="2546671" y="618279"/>
            <a:ext cx="2199141" cy="792000"/>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lumMod val="95000"/>
                </a:schemeClr>
              </a:solidFill>
            </a:endParaRPr>
          </a:p>
        </p:txBody>
      </p:sp>
      <p:pic>
        <p:nvPicPr>
          <p:cNvPr id="5" name="図 4">
            <a:extLst>
              <a:ext uri="{FF2B5EF4-FFF2-40B4-BE49-F238E27FC236}">
                <a16:creationId xmlns:a16="http://schemas.microsoft.com/office/drawing/2014/main" id="{C0155544-EA8A-8243-FEF8-282080D793A2}"/>
              </a:ext>
            </a:extLst>
          </p:cNvPr>
          <p:cNvPicPr>
            <a:picLocks noChangeAspect="1"/>
          </p:cNvPicPr>
          <p:nvPr/>
        </p:nvPicPr>
        <p:blipFill>
          <a:blip r:embed="rId3"/>
          <a:stretch>
            <a:fillRect/>
          </a:stretch>
        </p:blipFill>
        <p:spPr>
          <a:xfrm>
            <a:off x="377638" y="3888409"/>
            <a:ext cx="8577724" cy="1176555"/>
          </a:xfrm>
          <a:prstGeom prst="rect">
            <a:avLst/>
          </a:prstGeom>
        </p:spPr>
      </p:pic>
      <p:sp>
        <p:nvSpPr>
          <p:cNvPr id="3" name="テキスト ボックス 2">
            <a:extLst>
              <a:ext uri="{FF2B5EF4-FFF2-40B4-BE49-F238E27FC236}">
                <a16:creationId xmlns:a16="http://schemas.microsoft.com/office/drawing/2014/main" id="{63022BAC-DCBB-A395-C485-AECB5BC8D12E}"/>
              </a:ext>
            </a:extLst>
          </p:cNvPr>
          <p:cNvSpPr txBox="1"/>
          <p:nvPr/>
        </p:nvSpPr>
        <p:spPr>
          <a:xfrm>
            <a:off x="0" y="42148"/>
            <a:ext cx="9144000" cy="461665"/>
          </a:xfrm>
          <a:prstGeom prst="homePlate">
            <a:avLst>
              <a:gd name="adj" fmla="val 0"/>
            </a:avLst>
          </a:prstGeom>
          <a:solidFill>
            <a:srgbClr val="0F9ED5"/>
          </a:solidFill>
          <a:ln>
            <a:noFill/>
          </a:ln>
        </p:spPr>
        <p:txBody>
          <a:bodyPr wrap="square" rtlCol="0" anchor="ctr">
            <a:spAutoFit/>
          </a:bodyPr>
          <a:lstStyle/>
          <a:p>
            <a:r>
              <a:rPr kumimoji="1" lang="ja-JP" altLang="en-US" sz="2400">
                <a:solidFill>
                  <a:schemeClr val="bg1"/>
                </a:solidFill>
                <a:latin typeface="Meiryo UI" panose="020B0604030504040204" pitchFamily="50" charset="-128"/>
                <a:ea typeface="Meiryo UI" panose="020B0604030504040204" pitchFamily="50" charset="-128"/>
              </a:rPr>
              <a:t>４　検討事項</a:t>
            </a:r>
            <a:endParaRPr lang="ja-JP" altLang="ja-JP" sz="2400">
              <a:solidFill>
                <a:schemeClr val="bg1"/>
              </a:solidFill>
              <a:latin typeface="Meiryo UI" panose="020B0604030504040204" pitchFamily="50" charset="-128"/>
              <a:ea typeface="Meiryo UI" panose="020B0604030504040204" pitchFamily="50" charset="-128"/>
            </a:endParaRPr>
          </a:p>
        </p:txBody>
      </p:sp>
      <p:sp>
        <p:nvSpPr>
          <p:cNvPr id="16" name="四角形: 角を丸くする 15">
            <a:extLst>
              <a:ext uri="{FF2B5EF4-FFF2-40B4-BE49-F238E27FC236}">
                <a16:creationId xmlns:a16="http://schemas.microsoft.com/office/drawing/2014/main" id="{3D3F4B3E-0592-39FD-821F-EB004088A7E5}"/>
              </a:ext>
            </a:extLst>
          </p:cNvPr>
          <p:cNvSpPr/>
          <p:nvPr/>
        </p:nvSpPr>
        <p:spPr>
          <a:xfrm>
            <a:off x="7546169" y="4251631"/>
            <a:ext cx="715182" cy="275061"/>
          </a:xfrm>
          <a:prstGeom prst="roundRect">
            <a:avLst/>
          </a:prstGeom>
          <a:solidFill>
            <a:srgbClr val="FFFBC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BIZ UDPゴシック" panose="020B0400000000000000" pitchFamily="50" charset="-128"/>
                <a:ea typeface="BIZ UDPゴシック" panose="020B0400000000000000" pitchFamily="50" charset="-128"/>
              </a:rPr>
              <a:t>開始</a:t>
            </a:r>
          </a:p>
        </p:txBody>
      </p:sp>
      <p:sp>
        <p:nvSpPr>
          <p:cNvPr id="17" name="四角形: 角を丸くする 16">
            <a:extLst>
              <a:ext uri="{FF2B5EF4-FFF2-40B4-BE49-F238E27FC236}">
                <a16:creationId xmlns:a16="http://schemas.microsoft.com/office/drawing/2014/main" id="{826E394D-C680-C96E-ADCE-A8F9A1BCE81D}"/>
              </a:ext>
            </a:extLst>
          </p:cNvPr>
          <p:cNvSpPr/>
          <p:nvPr/>
        </p:nvSpPr>
        <p:spPr>
          <a:xfrm>
            <a:off x="1941095" y="4265964"/>
            <a:ext cx="3507205" cy="282316"/>
          </a:xfrm>
          <a:prstGeom prst="roundRect">
            <a:avLst/>
          </a:prstGeom>
          <a:solidFill>
            <a:srgbClr val="E8F7F9"/>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BIZ UDPゴシック" panose="020B0400000000000000" pitchFamily="50" charset="-128"/>
                <a:ea typeface="BIZ UDPゴシック" panose="020B0400000000000000" pitchFamily="50" charset="-128"/>
              </a:rPr>
              <a:t>　調査（施設関係者や民間支援団体、当事者など）</a:t>
            </a:r>
          </a:p>
        </p:txBody>
      </p:sp>
      <p:sp>
        <p:nvSpPr>
          <p:cNvPr id="42" name="四角形: 角を丸くする 41">
            <a:extLst>
              <a:ext uri="{FF2B5EF4-FFF2-40B4-BE49-F238E27FC236}">
                <a16:creationId xmlns:a16="http://schemas.microsoft.com/office/drawing/2014/main" id="{1C0DE8FB-F1B7-A451-13E3-B0FE3B66EE92}"/>
              </a:ext>
            </a:extLst>
          </p:cNvPr>
          <p:cNvSpPr/>
          <p:nvPr/>
        </p:nvSpPr>
        <p:spPr>
          <a:xfrm>
            <a:off x="1941095" y="4720152"/>
            <a:ext cx="6914147" cy="227314"/>
          </a:xfrm>
          <a:prstGeom prst="roundRect">
            <a:avLst/>
          </a:prstGeom>
          <a:solidFill>
            <a:srgbClr val="E8F7F9"/>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00">
                <a:solidFill>
                  <a:schemeClr val="tx1"/>
                </a:solidFill>
                <a:latin typeface="BIZ UDPゴシック" panose="020B0400000000000000" pitchFamily="50" charset="-128"/>
                <a:ea typeface="BIZ UDPゴシック" panose="020B0400000000000000" pitchFamily="50" charset="-128"/>
              </a:rPr>
              <a:t>　　　　　その他の支援層の検討・調査</a:t>
            </a:r>
          </a:p>
        </p:txBody>
      </p:sp>
      <p:sp>
        <p:nvSpPr>
          <p:cNvPr id="24" name="四角形: 角を丸くする 23">
            <a:extLst>
              <a:ext uri="{FF2B5EF4-FFF2-40B4-BE49-F238E27FC236}">
                <a16:creationId xmlns:a16="http://schemas.microsoft.com/office/drawing/2014/main" id="{209157A4-DC33-65CE-53C8-382FA156277E}"/>
              </a:ext>
            </a:extLst>
          </p:cNvPr>
          <p:cNvSpPr/>
          <p:nvPr/>
        </p:nvSpPr>
        <p:spPr>
          <a:xfrm>
            <a:off x="4913415" y="4195148"/>
            <a:ext cx="280595" cy="823941"/>
          </a:xfrm>
          <a:prstGeom prst="roundRect">
            <a:avLst/>
          </a:prstGeom>
          <a:solidFill>
            <a:srgbClr val="F9E7F7"/>
          </a:solidFill>
          <a:ln w="25400"/>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200">
                <a:solidFill>
                  <a:schemeClr val="tx1"/>
                </a:solidFill>
                <a:latin typeface="BIZ UDPゴシック" panose="020B0400000000000000" pitchFamily="50" charset="-128"/>
                <a:ea typeface="BIZ UDPゴシック" panose="020B0400000000000000" pitchFamily="50" charset="-128"/>
              </a:rPr>
              <a:t>区議選挙</a:t>
            </a:r>
            <a:endParaRPr kumimoji="1" lang="en-US" altLang="ja-JP" sz="1200">
              <a:solidFill>
                <a:schemeClr val="tx1"/>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1682832F-3B34-E1F6-788C-D6A3A54EEA94}"/>
              </a:ext>
            </a:extLst>
          </p:cNvPr>
          <p:cNvSpPr/>
          <p:nvPr/>
        </p:nvSpPr>
        <p:spPr>
          <a:xfrm>
            <a:off x="124518" y="1072895"/>
            <a:ext cx="2174378" cy="36286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sz="1600" b="1">
                <a:solidFill>
                  <a:schemeClr val="tx1"/>
                </a:solidFill>
                <a:latin typeface="游ゴシック" panose="020B0400000000000000" pitchFamily="50" charset="-128"/>
                <a:ea typeface="游ゴシック" panose="020B0400000000000000" pitchFamily="50" charset="-128"/>
              </a:rPr>
              <a:t>・合計で約</a:t>
            </a:r>
            <a:r>
              <a:rPr kumimoji="1" lang="en-US" altLang="ja-JP" sz="1600" b="1">
                <a:solidFill>
                  <a:schemeClr val="tx1"/>
                </a:solidFill>
                <a:latin typeface="游ゴシック" panose="020B0400000000000000" pitchFamily="50" charset="-128"/>
                <a:ea typeface="游ゴシック" panose="020B0400000000000000" pitchFamily="50" charset="-128"/>
              </a:rPr>
              <a:t>9,120</a:t>
            </a:r>
            <a:r>
              <a:rPr kumimoji="1" lang="ja-JP" altLang="en-US" sz="1600" b="1">
                <a:solidFill>
                  <a:schemeClr val="tx1"/>
                </a:solidFill>
                <a:latin typeface="游ゴシック" panose="020B0400000000000000" pitchFamily="50" charset="-128"/>
                <a:ea typeface="游ゴシック" panose="020B0400000000000000" pitchFamily="50" charset="-128"/>
              </a:rPr>
              <a:t>万円 </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6" name="四角形: 角を丸くする 5">
            <a:extLst>
              <a:ext uri="{FF2B5EF4-FFF2-40B4-BE49-F238E27FC236}">
                <a16:creationId xmlns:a16="http://schemas.microsoft.com/office/drawing/2014/main" id="{98351A1E-C513-0F74-EFB5-64D9A55285AF}"/>
              </a:ext>
            </a:extLst>
          </p:cNvPr>
          <p:cNvSpPr/>
          <p:nvPr/>
        </p:nvSpPr>
        <p:spPr>
          <a:xfrm>
            <a:off x="2776301" y="732352"/>
            <a:ext cx="1816435" cy="370450"/>
          </a:xfrm>
          <a:prstGeom prst="roundRect">
            <a:avLst/>
          </a:prstGeom>
          <a:solidFill>
            <a:srgbClr val="FFFBC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ja-JP" altLang="en-US">
                <a:solidFill>
                  <a:schemeClr val="tx1"/>
                </a:solidFill>
                <a:latin typeface="Meiryo UI" panose="020B0604030504040204" pitchFamily="50" charset="-128"/>
                <a:ea typeface="Meiryo UI" panose="020B0604030504040204" pitchFamily="50" charset="-128"/>
              </a:rPr>
              <a:t>陳情不採択</a:t>
            </a:r>
            <a:endParaRPr kumimoji="1" lang="en-US" altLang="ja-JP">
              <a:solidFill>
                <a:schemeClr val="tx1"/>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E6CC89AF-C54E-4319-E61B-054F38C92EBE}"/>
              </a:ext>
            </a:extLst>
          </p:cNvPr>
          <p:cNvSpPr/>
          <p:nvPr/>
        </p:nvSpPr>
        <p:spPr>
          <a:xfrm>
            <a:off x="4975443" y="724274"/>
            <a:ext cx="3879800" cy="370451"/>
          </a:xfrm>
          <a:prstGeom prst="roundRect">
            <a:avLst/>
          </a:prstGeom>
          <a:solidFill>
            <a:srgbClr val="FFFBC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ja-JP" altLang="en-US">
                <a:solidFill>
                  <a:schemeClr val="tx1"/>
                </a:solidFill>
                <a:latin typeface="Meiryo UI" panose="020B0604030504040204" pitchFamily="50" charset="-128"/>
                <a:ea typeface="Meiryo UI" panose="020B0604030504040204" pitchFamily="50" charset="-128"/>
              </a:rPr>
              <a:t>生保世帯を更に支援することの抵抗感</a:t>
            </a:r>
            <a:endParaRPr kumimoji="1" lang="en-US" altLang="ja-JP">
              <a:solidFill>
                <a:schemeClr val="tx1"/>
              </a:solidFill>
              <a:latin typeface="Meiryo UI" panose="020B0604030504040204" pitchFamily="50" charset="-128"/>
              <a:ea typeface="Meiryo UI" panose="020B0604030504040204" pitchFamily="50" charset="-128"/>
            </a:endParaRPr>
          </a:p>
        </p:txBody>
      </p:sp>
      <p:sp>
        <p:nvSpPr>
          <p:cNvPr id="11" name="四角形: 角を丸くする 10">
            <a:extLst>
              <a:ext uri="{FF2B5EF4-FFF2-40B4-BE49-F238E27FC236}">
                <a16:creationId xmlns:a16="http://schemas.microsoft.com/office/drawing/2014/main" id="{A6B124CC-631D-BBE9-5F68-416144E2E8B9}"/>
              </a:ext>
            </a:extLst>
          </p:cNvPr>
          <p:cNvSpPr/>
          <p:nvPr/>
        </p:nvSpPr>
        <p:spPr>
          <a:xfrm>
            <a:off x="471120" y="695692"/>
            <a:ext cx="1471108" cy="376424"/>
          </a:xfrm>
          <a:prstGeom prst="roundRect">
            <a:avLst/>
          </a:prstGeom>
          <a:solidFill>
            <a:srgbClr val="FFFBC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ja-JP" altLang="en-US">
                <a:solidFill>
                  <a:schemeClr val="tx1"/>
                </a:solidFill>
                <a:latin typeface="Meiryo UI" panose="020B0604030504040204" pitchFamily="50" charset="-128"/>
                <a:ea typeface="Meiryo UI" panose="020B0604030504040204" pitchFamily="50" charset="-128"/>
              </a:rPr>
              <a:t>金額面</a:t>
            </a:r>
            <a:endParaRPr kumimoji="1" lang="en-US" altLang="ja-JP">
              <a:solidFill>
                <a:schemeClr val="tx1"/>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2EBC2918-0003-D5C4-23F4-BC507CB2C31C}"/>
              </a:ext>
            </a:extLst>
          </p:cNvPr>
          <p:cNvSpPr/>
          <p:nvPr/>
        </p:nvSpPr>
        <p:spPr>
          <a:xfrm>
            <a:off x="-24438" y="1397458"/>
            <a:ext cx="4313746" cy="30367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en-US" altLang="ja-JP" sz="900">
              <a:solidFill>
                <a:schemeClr val="tx1"/>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209D6A1F-76DA-3518-3037-D42A86C4119F}"/>
              </a:ext>
            </a:extLst>
          </p:cNvPr>
          <p:cNvSpPr/>
          <p:nvPr/>
        </p:nvSpPr>
        <p:spPr>
          <a:xfrm>
            <a:off x="4890569" y="1096726"/>
            <a:ext cx="3805976" cy="36286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sz="1600" b="1">
                <a:solidFill>
                  <a:schemeClr val="tx1"/>
                </a:solidFill>
                <a:latin typeface="游ゴシック" panose="020B0400000000000000" pitchFamily="50" charset="-128"/>
                <a:ea typeface="游ゴシック" panose="020B0400000000000000" pitchFamily="50" charset="-128"/>
              </a:rPr>
              <a:t>・非生保の生活困窮家庭との不公平感</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35" name="正方形/長方形 34">
            <a:extLst>
              <a:ext uri="{FF2B5EF4-FFF2-40B4-BE49-F238E27FC236}">
                <a16:creationId xmlns:a16="http://schemas.microsoft.com/office/drawing/2014/main" id="{2896E5C9-7ABB-FD29-0F94-F4AA9F26AB04}"/>
              </a:ext>
            </a:extLst>
          </p:cNvPr>
          <p:cNvSpPr/>
          <p:nvPr/>
        </p:nvSpPr>
        <p:spPr>
          <a:xfrm>
            <a:off x="2496498" y="1103912"/>
            <a:ext cx="2325871" cy="362863"/>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sz="1600" b="1">
                <a:solidFill>
                  <a:schemeClr val="tx1"/>
                </a:solidFill>
                <a:latin typeface="游ゴシック" panose="020B0400000000000000" pitchFamily="50" charset="-128"/>
                <a:ea typeface="游ゴシック" panose="020B0400000000000000" pitchFamily="50" charset="-128"/>
              </a:rPr>
              <a:t>・実態やニーズが不明</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2" name="四角形: 角を丸くする 1">
            <a:extLst>
              <a:ext uri="{FF2B5EF4-FFF2-40B4-BE49-F238E27FC236}">
                <a16:creationId xmlns:a16="http://schemas.microsoft.com/office/drawing/2014/main" id="{AD4A2357-79A6-3DE8-9999-33781F0BCD1E}"/>
              </a:ext>
            </a:extLst>
          </p:cNvPr>
          <p:cNvSpPr/>
          <p:nvPr/>
        </p:nvSpPr>
        <p:spPr>
          <a:xfrm>
            <a:off x="124518" y="1642275"/>
            <a:ext cx="8941105" cy="1842146"/>
          </a:xfrm>
          <a:prstGeom prst="roundRect">
            <a:avLst>
              <a:gd name="adj" fmla="val 8013"/>
            </a:avLst>
          </a:prstGeom>
          <a:solidFill>
            <a:schemeClr val="accent2">
              <a:lumMod val="20000"/>
              <a:lumOff val="80000"/>
            </a:schemeClr>
          </a:solidFill>
          <a:ln>
            <a:solidFill>
              <a:schemeClr val="accent2">
                <a:lumMod val="20000"/>
                <a:lumOff val="80000"/>
              </a:schemeClr>
            </a:solidFill>
          </a:ln>
        </p:spPr>
        <p:style>
          <a:lnRef idx="1">
            <a:schemeClr val="accent6"/>
          </a:lnRef>
          <a:fillRef idx="2">
            <a:schemeClr val="accent6"/>
          </a:fillRef>
          <a:effectRef idx="1">
            <a:schemeClr val="accent6"/>
          </a:effectRef>
          <a:fontRef idx="minor">
            <a:schemeClr val="dk1"/>
          </a:fontRef>
        </p:style>
        <p:txBody>
          <a:bodyPr rtlCol="0" anchor="t" anchorCtr="0"/>
          <a:lstStyle/>
          <a:p>
            <a:pPr algn="ctr"/>
            <a:r>
              <a:rPr kumimoji="1" lang="ja-JP" altLang="en-US" dirty="0">
                <a:solidFill>
                  <a:schemeClr val="tx1"/>
                </a:solidFill>
                <a:latin typeface="Meiryo UI" panose="020B0604030504040204" pitchFamily="50" charset="-128"/>
                <a:ea typeface="Meiryo UI" panose="020B0604030504040204" pitchFamily="50" charset="-128"/>
              </a:rPr>
              <a:t>　　社会的養護経験者向け事業開始　その他については、国や他自治体の動向を踏まえて検討</a:t>
            </a:r>
            <a:endParaRPr kumimoji="1" lang="en-US" altLang="ja-JP" dirty="0">
              <a:solidFill>
                <a:schemeClr val="tx1"/>
              </a:solidFill>
              <a:latin typeface="Meiryo UI" panose="020B0604030504040204" pitchFamily="50" charset="-128"/>
              <a:ea typeface="Meiryo UI" panose="020B0604030504040204" pitchFamily="50" charset="-128"/>
            </a:endParaRPr>
          </a:p>
        </p:txBody>
      </p:sp>
      <p:sp>
        <p:nvSpPr>
          <p:cNvPr id="14" name="二等辺三角形 13">
            <a:extLst>
              <a:ext uri="{FF2B5EF4-FFF2-40B4-BE49-F238E27FC236}">
                <a16:creationId xmlns:a16="http://schemas.microsoft.com/office/drawing/2014/main" id="{DB5A2EEB-55E2-0932-39ED-1EA23F2589CE}"/>
              </a:ext>
            </a:extLst>
          </p:cNvPr>
          <p:cNvSpPr/>
          <p:nvPr/>
        </p:nvSpPr>
        <p:spPr>
          <a:xfrm rot="10800000">
            <a:off x="3588298" y="1434586"/>
            <a:ext cx="1396410" cy="176692"/>
          </a:xfrm>
          <a:prstGeom prst="triangl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B5555321-0AB6-8F67-D758-91C4B889FB7A}"/>
              </a:ext>
            </a:extLst>
          </p:cNvPr>
          <p:cNvSpPr txBox="1"/>
          <p:nvPr/>
        </p:nvSpPr>
        <p:spPr>
          <a:xfrm>
            <a:off x="169608" y="1742602"/>
            <a:ext cx="338923" cy="288000"/>
          </a:xfrm>
          <a:prstGeom prst="rect">
            <a:avLst/>
          </a:prstGeom>
          <a:solidFill>
            <a:srgbClr val="0F9ED5"/>
          </a:solidFill>
        </p:spPr>
        <p:txBody>
          <a:bodyPr wrap="square" lIns="0" tIns="72000" rIns="0" bIns="0" rtlCol="0" anchor="ctr">
            <a:noAutofit/>
          </a:bodyPr>
          <a:lstStyle/>
          <a:p>
            <a:pPr algn="ctr">
              <a:lnSpc>
                <a:spcPts val="700"/>
              </a:lnSpc>
            </a:pPr>
            <a:endParaRPr kumimoji="1" lang="en-US" altLang="ja-JP" sz="600" b="1">
              <a:solidFill>
                <a:srgbClr val="FF3300"/>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1D12197F-35F5-9383-3F88-A4A4A66BAE90}"/>
              </a:ext>
            </a:extLst>
          </p:cNvPr>
          <p:cNvSpPr txBox="1"/>
          <p:nvPr/>
        </p:nvSpPr>
        <p:spPr>
          <a:xfrm>
            <a:off x="156490" y="1812795"/>
            <a:ext cx="365157" cy="173831"/>
          </a:xfrm>
          <a:prstGeom prst="rect">
            <a:avLst/>
          </a:prstGeom>
          <a:noFill/>
        </p:spPr>
        <p:txBody>
          <a:bodyPr wrap="square" lIns="0" tIns="72000" rIns="0" bIns="0" rtlCol="0" anchor="ctr">
            <a:noAutofit/>
          </a:bodyPr>
          <a:lstStyle/>
          <a:p>
            <a:pPr algn="ctr">
              <a:lnSpc>
                <a:spcPts val="700"/>
              </a:lnSpc>
            </a:pPr>
            <a:r>
              <a:rPr kumimoji="1" lang="ja-JP" altLang="en-US" sz="1000" b="1" dirty="0">
                <a:solidFill>
                  <a:schemeClr val="bg1"/>
                </a:solidFill>
                <a:latin typeface="メイリオ" panose="020B0604030504040204" pitchFamily="50" charset="-128"/>
                <a:ea typeface="メイリオ" panose="020B0604030504040204" pitchFamily="50" charset="-128"/>
              </a:rPr>
              <a:t>対象</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43" name="四角形: 角を丸くする 42">
            <a:extLst>
              <a:ext uri="{FF2B5EF4-FFF2-40B4-BE49-F238E27FC236}">
                <a16:creationId xmlns:a16="http://schemas.microsoft.com/office/drawing/2014/main" id="{6C89995C-4936-5E5E-D851-D8081239DE4F}"/>
              </a:ext>
            </a:extLst>
          </p:cNvPr>
          <p:cNvSpPr/>
          <p:nvPr/>
        </p:nvSpPr>
        <p:spPr>
          <a:xfrm>
            <a:off x="169608" y="2105119"/>
            <a:ext cx="3574288" cy="1244239"/>
          </a:xfrm>
          <a:prstGeom prst="roundRect">
            <a:avLst>
              <a:gd name="adj" fmla="val 8013"/>
            </a:avLst>
          </a:prstGeom>
          <a:solidFill>
            <a:schemeClr val="bg1"/>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nchorCtr="0"/>
          <a:lstStyle/>
          <a:p>
            <a:pPr algn="ctr"/>
            <a:endParaRPr kumimoji="1" lang="en-US" altLang="ja-JP">
              <a:solidFill>
                <a:schemeClr val="tx1"/>
              </a:solidFill>
              <a:latin typeface="Meiryo UI" panose="020B0604030504040204" pitchFamily="50" charset="-128"/>
              <a:ea typeface="Meiryo UI" panose="020B0604030504040204" pitchFamily="50" charset="-128"/>
            </a:endParaRPr>
          </a:p>
        </p:txBody>
      </p:sp>
      <p:sp>
        <p:nvSpPr>
          <p:cNvPr id="44" name="テキスト ボックス 43">
            <a:extLst>
              <a:ext uri="{FF2B5EF4-FFF2-40B4-BE49-F238E27FC236}">
                <a16:creationId xmlns:a16="http://schemas.microsoft.com/office/drawing/2014/main" id="{ECB27DA2-AE5A-625D-C7D7-C4CC6F29AF70}"/>
              </a:ext>
            </a:extLst>
          </p:cNvPr>
          <p:cNvSpPr txBox="1"/>
          <p:nvPr/>
        </p:nvSpPr>
        <p:spPr>
          <a:xfrm>
            <a:off x="235809" y="2210306"/>
            <a:ext cx="338923" cy="288000"/>
          </a:xfrm>
          <a:prstGeom prst="rect">
            <a:avLst/>
          </a:prstGeom>
          <a:solidFill>
            <a:srgbClr val="0F9ED5"/>
          </a:solidFill>
        </p:spPr>
        <p:txBody>
          <a:bodyPr wrap="square" lIns="0" tIns="72000" rIns="0" bIns="0" rtlCol="0" anchor="ctr">
            <a:noAutofit/>
          </a:bodyPr>
          <a:lstStyle/>
          <a:p>
            <a:pPr algn="ctr">
              <a:lnSpc>
                <a:spcPts val="700"/>
              </a:lnSpc>
            </a:pPr>
            <a:endParaRPr kumimoji="1" lang="en-US" altLang="ja-JP" sz="600" b="1">
              <a:solidFill>
                <a:srgbClr val="FF3300"/>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8F8A6518-9AEF-D3B2-2504-9D86C8BDC5C8}"/>
              </a:ext>
            </a:extLst>
          </p:cNvPr>
          <p:cNvSpPr txBox="1"/>
          <p:nvPr/>
        </p:nvSpPr>
        <p:spPr>
          <a:xfrm>
            <a:off x="217030" y="2273839"/>
            <a:ext cx="365157" cy="173831"/>
          </a:xfrm>
          <a:prstGeom prst="rect">
            <a:avLst/>
          </a:prstGeom>
          <a:noFill/>
        </p:spPr>
        <p:txBody>
          <a:bodyPr wrap="square" lIns="0" tIns="72000" rIns="0" bIns="0" rtlCol="0" anchor="ctr">
            <a:noAutofit/>
          </a:bodyPr>
          <a:lstStyle/>
          <a:p>
            <a:pPr algn="ctr">
              <a:lnSpc>
                <a:spcPts val="700"/>
              </a:lnSpc>
            </a:pPr>
            <a:r>
              <a:rPr kumimoji="1" lang="ja-JP" altLang="en-US" sz="1000" b="1">
                <a:solidFill>
                  <a:schemeClr val="bg1"/>
                </a:solidFill>
                <a:latin typeface="メイリオ" panose="020B0604030504040204" pitchFamily="50" charset="-128"/>
                <a:ea typeface="メイリオ" panose="020B0604030504040204" pitchFamily="50" charset="-128"/>
              </a:rPr>
              <a:t>予算</a:t>
            </a:r>
            <a:endParaRPr kumimoji="1" lang="en-US" altLang="ja-JP" sz="1000" b="1">
              <a:solidFill>
                <a:schemeClr val="bg1"/>
              </a:solidFill>
              <a:latin typeface="メイリオ" panose="020B0604030504040204" pitchFamily="50" charset="-128"/>
              <a:ea typeface="メイリオ" panose="020B0604030504040204" pitchFamily="50" charset="-128"/>
            </a:endParaRPr>
          </a:p>
        </p:txBody>
      </p:sp>
      <p:sp>
        <p:nvSpPr>
          <p:cNvPr id="47" name="四角形: 角を丸くする 46">
            <a:extLst>
              <a:ext uri="{FF2B5EF4-FFF2-40B4-BE49-F238E27FC236}">
                <a16:creationId xmlns:a16="http://schemas.microsoft.com/office/drawing/2014/main" id="{230FDF89-E6C5-D785-ECDC-8456C511311D}"/>
              </a:ext>
            </a:extLst>
          </p:cNvPr>
          <p:cNvSpPr/>
          <p:nvPr/>
        </p:nvSpPr>
        <p:spPr>
          <a:xfrm>
            <a:off x="12425066" y="3694403"/>
            <a:ext cx="3683808" cy="857877"/>
          </a:xfrm>
          <a:prstGeom prst="roundRect">
            <a:avLst>
              <a:gd name="adj" fmla="val 8013"/>
            </a:avLst>
          </a:prstGeom>
          <a:noFill/>
          <a:ln>
            <a:noFill/>
          </a:ln>
        </p:spPr>
        <p:style>
          <a:lnRef idx="1">
            <a:schemeClr val="accent6"/>
          </a:lnRef>
          <a:fillRef idx="2">
            <a:schemeClr val="accent6"/>
          </a:fillRef>
          <a:effectRef idx="1">
            <a:schemeClr val="accent6"/>
          </a:effectRef>
          <a:fontRef idx="minor">
            <a:schemeClr val="dk1"/>
          </a:fontRef>
        </p:style>
        <p:txBody>
          <a:bodyPr rtlCol="0" anchor="ctr" anchorCtr="0"/>
          <a:lstStyle/>
          <a:p>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49" name="四角形: 角を丸くする 48">
            <a:extLst>
              <a:ext uri="{FF2B5EF4-FFF2-40B4-BE49-F238E27FC236}">
                <a16:creationId xmlns:a16="http://schemas.microsoft.com/office/drawing/2014/main" id="{7445CB02-ADCF-2B19-CCBA-0B8C161EF1B6}"/>
              </a:ext>
            </a:extLst>
          </p:cNvPr>
          <p:cNvSpPr/>
          <p:nvPr/>
        </p:nvSpPr>
        <p:spPr>
          <a:xfrm>
            <a:off x="569071" y="2206500"/>
            <a:ext cx="3808930" cy="412133"/>
          </a:xfrm>
          <a:prstGeom prst="roundRect">
            <a:avLst>
              <a:gd name="adj" fmla="val 8013"/>
            </a:avLst>
          </a:prstGeom>
          <a:noFill/>
          <a:ln>
            <a:noFill/>
          </a:ln>
        </p:spPr>
        <p:style>
          <a:lnRef idx="1">
            <a:schemeClr val="accent6"/>
          </a:lnRef>
          <a:fillRef idx="2">
            <a:schemeClr val="accent6"/>
          </a:fillRef>
          <a:effectRef idx="1">
            <a:schemeClr val="accent6"/>
          </a:effectRef>
          <a:fontRef idx="minor">
            <a:schemeClr val="dk1"/>
          </a:fontRef>
        </p:style>
        <p:txBody>
          <a:bodyPr rtlCol="0" anchor="ctr" anchorCtr="0"/>
          <a:lstStyle/>
          <a:p>
            <a:r>
              <a:rPr kumimoji="1" lang="en-US" altLang="ja-JP" sz="1200">
                <a:solidFill>
                  <a:schemeClr val="tx1"/>
                </a:solidFill>
                <a:latin typeface="Meiryo UI" panose="020B0604030504040204" pitchFamily="50" charset="-128"/>
                <a:ea typeface="Meiryo UI" panose="020B0604030504040204" pitchFamily="50" charset="-128"/>
              </a:rPr>
              <a:t>R6</a:t>
            </a:r>
            <a:r>
              <a:rPr kumimoji="1" lang="ja-JP" altLang="en-US" sz="1200">
                <a:solidFill>
                  <a:schemeClr val="tx1"/>
                </a:solidFill>
                <a:latin typeface="Meiryo UI" panose="020B0604030504040204" pitchFamily="50" charset="-128"/>
                <a:ea typeface="Meiryo UI" panose="020B0604030504040204" pitchFamily="50" charset="-128"/>
              </a:rPr>
              <a:t>年度実績（世田谷区</a:t>
            </a:r>
            <a:r>
              <a:rPr kumimoji="1" lang="ja-JP" altLang="en-US" sz="900">
                <a:solidFill>
                  <a:schemeClr val="tx1"/>
                </a:solidFill>
                <a:latin typeface="Meiryo UI" panose="020B0604030504040204" pitchFamily="50" charset="-128"/>
                <a:ea typeface="Meiryo UI" panose="020B0604030504040204" pitchFamily="50" charset="-128"/>
              </a:rPr>
              <a:t>（社会的養護経験者支援）</a:t>
            </a:r>
            <a:r>
              <a:rPr kumimoji="1" lang="ja-JP" altLang="en-US" sz="1200">
                <a:solidFill>
                  <a:schemeClr val="tx1"/>
                </a:solidFill>
                <a:latin typeface="Meiryo UI" panose="020B0604030504040204" pitchFamily="50" charset="-128"/>
                <a:ea typeface="Meiryo UI" panose="020B0604030504040204" pitchFamily="50" charset="-128"/>
              </a:rPr>
              <a:t>）</a:t>
            </a:r>
            <a:endParaRPr kumimoji="1" lang="en-US" altLang="ja-JP" sz="1200">
              <a:solidFill>
                <a:schemeClr val="tx1"/>
              </a:solidFill>
              <a:latin typeface="Meiryo UI" panose="020B0604030504040204" pitchFamily="50" charset="-128"/>
              <a:ea typeface="Meiryo UI" panose="020B0604030504040204" pitchFamily="50" charset="-128"/>
            </a:endParaRPr>
          </a:p>
          <a:p>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32</a:t>
            </a:r>
            <a:r>
              <a:rPr kumimoji="1" lang="ja-JP" altLang="en-US" sz="1200">
                <a:solidFill>
                  <a:schemeClr val="tx1"/>
                </a:solidFill>
                <a:latin typeface="Meiryo UI" panose="020B0604030504040204" pitchFamily="50" charset="-128"/>
                <a:ea typeface="Meiryo UI" panose="020B0604030504040204" pitchFamily="50" charset="-128"/>
              </a:rPr>
              <a:t>名・約</a:t>
            </a:r>
            <a:r>
              <a:rPr kumimoji="1" lang="en-US" altLang="ja-JP" sz="1200">
                <a:solidFill>
                  <a:schemeClr val="tx1"/>
                </a:solidFill>
                <a:latin typeface="Meiryo UI" panose="020B0604030504040204" pitchFamily="50" charset="-128"/>
                <a:ea typeface="Meiryo UI" panose="020B0604030504040204" pitchFamily="50" charset="-128"/>
              </a:rPr>
              <a:t>1,100</a:t>
            </a:r>
            <a:r>
              <a:rPr kumimoji="1" lang="ja-JP" altLang="en-US" sz="1200">
                <a:solidFill>
                  <a:schemeClr val="tx1"/>
                </a:solidFill>
                <a:latin typeface="Meiryo UI" panose="020B0604030504040204" pitchFamily="50" charset="-128"/>
                <a:ea typeface="Meiryo UI" panose="020B0604030504040204" pitchFamily="50" charset="-128"/>
              </a:rPr>
              <a:t>万円（</a:t>
            </a:r>
            <a:r>
              <a:rPr kumimoji="1" lang="en-US" altLang="ja-JP" sz="1200">
                <a:solidFill>
                  <a:schemeClr val="tx1"/>
                </a:solidFill>
                <a:latin typeface="Meiryo UI" panose="020B0604030504040204" pitchFamily="50" charset="-128"/>
                <a:ea typeface="Meiryo UI" panose="020B0604030504040204" pitchFamily="50" charset="-128"/>
              </a:rPr>
              <a:t>34.4</a:t>
            </a:r>
            <a:r>
              <a:rPr kumimoji="1" lang="ja-JP" altLang="en-US" sz="1200">
                <a:solidFill>
                  <a:schemeClr val="tx1"/>
                </a:solidFill>
                <a:latin typeface="Meiryo UI" panose="020B0604030504040204" pitchFamily="50" charset="-128"/>
                <a:ea typeface="Meiryo UI" panose="020B0604030504040204" pitchFamily="50" charset="-128"/>
              </a:rPr>
              <a:t>万円／名）</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AA042240-6625-F2B7-230D-36F9C0D510C4}"/>
              </a:ext>
            </a:extLst>
          </p:cNvPr>
          <p:cNvSpPr/>
          <p:nvPr/>
        </p:nvSpPr>
        <p:spPr>
          <a:xfrm>
            <a:off x="502896" y="2622706"/>
            <a:ext cx="3351629" cy="412133"/>
          </a:xfrm>
          <a:prstGeom prst="roundRect">
            <a:avLst>
              <a:gd name="adj" fmla="val 8013"/>
            </a:avLst>
          </a:prstGeom>
          <a:noFill/>
          <a:ln>
            <a:noFill/>
          </a:ln>
        </p:spPr>
        <p:style>
          <a:lnRef idx="1">
            <a:schemeClr val="accent6"/>
          </a:lnRef>
          <a:fillRef idx="2">
            <a:schemeClr val="accent6"/>
          </a:fillRef>
          <a:effectRef idx="1">
            <a:schemeClr val="accent6"/>
          </a:effectRef>
          <a:fontRef idx="minor">
            <a:schemeClr val="dk1"/>
          </a:fontRef>
        </p:style>
        <p:txBody>
          <a:bodyPr rtlCol="0" anchor="ctr" anchorCtr="0"/>
          <a:lstStyle/>
          <a:p>
            <a:r>
              <a:rPr kumimoji="1" lang="ja-JP" altLang="en-US" sz="1200">
                <a:solidFill>
                  <a:schemeClr val="tx1"/>
                </a:solidFill>
                <a:latin typeface="Meiryo UI" panose="020B0604030504040204" pitchFamily="50" charset="-128"/>
                <a:ea typeface="Meiryo UI" panose="020B0604030504040204" pitchFamily="50" charset="-128"/>
              </a:rPr>
              <a:t>●練馬区の場合</a:t>
            </a:r>
            <a:endParaRPr kumimoji="1" lang="en-US" altLang="ja-JP" sz="1200">
              <a:solidFill>
                <a:schemeClr val="tx1"/>
              </a:solidFill>
              <a:latin typeface="Meiryo UI" panose="020B0604030504040204" pitchFamily="50" charset="-128"/>
              <a:ea typeface="Meiryo UI" panose="020B0604030504040204" pitchFamily="50" charset="-128"/>
            </a:endParaRPr>
          </a:p>
          <a:p>
            <a:r>
              <a:rPr kumimoji="1" lang="ja-JP" altLang="en-US" sz="1200">
                <a:solidFill>
                  <a:schemeClr val="tx1"/>
                </a:solidFill>
                <a:latin typeface="Meiryo UI" panose="020B0604030504040204" pitchFamily="50" charset="-128"/>
                <a:ea typeface="Meiryo UI" panose="020B0604030504040204" pitchFamily="50" charset="-128"/>
              </a:rPr>
              <a:t>　 区内関連３施設からの進学予定</a:t>
            </a:r>
            <a:r>
              <a:rPr kumimoji="1" lang="en-US" altLang="ja-JP" sz="1200">
                <a:solidFill>
                  <a:schemeClr val="tx1"/>
                </a:solidFill>
                <a:latin typeface="Meiryo UI" panose="020B0604030504040204" pitchFamily="50" charset="-128"/>
                <a:ea typeface="Meiryo UI" panose="020B0604030504040204" pitchFamily="50" charset="-128"/>
              </a:rPr>
              <a:t>10</a:t>
            </a:r>
            <a:r>
              <a:rPr kumimoji="1" lang="ja-JP" altLang="en-US" sz="1200">
                <a:solidFill>
                  <a:schemeClr val="tx1"/>
                </a:solidFill>
                <a:latin typeface="Meiryo UI" panose="020B0604030504040204" pitchFamily="50" charset="-128"/>
                <a:ea typeface="Meiryo UI" panose="020B0604030504040204" pitchFamily="50" charset="-128"/>
              </a:rPr>
              <a:t>名程度／年</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52" name="矢印: 右 51">
            <a:extLst>
              <a:ext uri="{FF2B5EF4-FFF2-40B4-BE49-F238E27FC236}">
                <a16:creationId xmlns:a16="http://schemas.microsoft.com/office/drawing/2014/main" id="{EE647DB7-FBD8-33C6-8D52-FC928B7AC956}"/>
              </a:ext>
            </a:extLst>
          </p:cNvPr>
          <p:cNvSpPr/>
          <p:nvPr/>
        </p:nvSpPr>
        <p:spPr>
          <a:xfrm>
            <a:off x="554075" y="2993968"/>
            <a:ext cx="156442" cy="298743"/>
          </a:xfrm>
          <a:prstGeom prst="rightArrow">
            <a:avLst/>
          </a:prstGeom>
          <a:solidFill>
            <a:srgbClr val="0F9E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1AEE02B4-9F88-2D32-5D3F-4637D8E82687}"/>
              </a:ext>
            </a:extLst>
          </p:cNvPr>
          <p:cNvSpPr/>
          <p:nvPr/>
        </p:nvSpPr>
        <p:spPr>
          <a:xfrm>
            <a:off x="668221" y="3024830"/>
            <a:ext cx="3478126" cy="242910"/>
          </a:xfrm>
          <a:prstGeom prst="roundRect">
            <a:avLst>
              <a:gd name="adj" fmla="val 8013"/>
            </a:avLst>
          </a:prstGeom>
          <a:noFill/>
          <a:ln>
            <a:noFill/>
          </a:ln>
        </p:spPr>
        <p:style>
          <a:lnRef idx="1">
            <a:schemeClr val="accent6"/>
          </a:lnRef>
          <a:fillRef idx="2">
            <a:schemeClr val="accent6"/>
          </a:fillRef>
          <a:effectRef idx="1">
            <a:schemeClr val="accent6"/>
          </a:effectRef>
          <a:fontRef idx="minor">
            <a:schemeClr val="dk1"/>
          </a:fontRef>
        </p:style>
        <p:txBody>
          <a:bodyPr rtlCol="0" anchor="ctr" anchorCtr="0"/>
          <a:lstStyle/>
          <a:p>
            <a:r>
              <a:rPr kumimoji="1" lang="en-US" altLang="ja-JP" sz="1200">
                <a:solidFill>
                  <a:schemeClr val="tx1"/>
                </a:solidFill>
                <a:latin typeface="Meiryo UI" panose="020B0604030504040204" pitchFamily="50" charset="-128"/>
                <a:ea typeface="Meiryo UI" panose="020B0604030504040204" pitchFamily="50" charset="-128"/>
              </a:rPr>
              <a:t>34.4</a:t>
            </a:r>
            <a:r>
              <a:rPr kumimoji="1" lang="ja-JP" altLang="en-US" sz="1200">
                <a:solidFill>
                  <a:schemeClr val="tx1"/>
                </a:solidFill>
                <a:latin typeface="Meiryo UI" panose="020B0604030504040204" pitchFamily="50" charset="-128"/>
                <a:ea typeface="Meiryo UI" panose="020B0604030504040204" pitchFamily="50" charset="-128"/>
              </a:rPr>
              <a:t>万円</a:t>
            </a:r>
            <a:r>
              <a:rPr kumimoji="1" lang="en-US" altLang="ja-JP" sz="1200">
                <a:solidFill>
                  <a:schemeClr val="tx1"/>
                </a:solidFill>
                <a:latin typeface="Meiryo UI" panose="020B0604030504040204" pitchFamily="50" charset="-128"/>
                <a:ea typeface="Meiryo UI" panose="020B0604030504040204" pitchFamily="50" charset="-128"/>
              </a:rPr>
              <a:t>×10</a:t>
            </a:r>
            <a:r>
              <a:rPr kumimoji="1" lang="ja-JP" altLang="en-US" sz="1200">
                <a:solidFill>
                  <a:schemeClr val="tx1"/>
                </a:solidFill>
                <a:latin typeface="Meiryo UI" panose="020B0604030504040204" pitchFamily="50" charset="-128"/>
                <a:ea typeface="Meiryo UI" panose="020B0604030504040204" pitchFamily="50" charset="-128"/>
              </a:rPr>
              <a:t>名</a:t>
            </a:r>
            <a:r>
              <a:rPr kumimoji="1" lang="en-US" altLang="ja-JP" sz="1200">
                <a:solidFill>
                  <a:schemeClr val="tx1"/>
                </a:solidFill>
                <a:latin typeface="Meiryo UI" panose="020B0604030504040204" pitchFamily="50" charset="-128"/>
                <a:ea typeface="Meiryo UI" panose="020B0604030504040204" pitchFamily="50" charset="-128"/>
              </a:rPr>
              <a:t>×</a:t>
            </a:r>
            <a:r>
              <a:rPr kumimoji="1" lang="ja-JP" altLang="en-US" sz="1200">
                <a:solidFill>
                  <a:schemeClr val="tx1"/>
                </a:solidFill>
                <a:latin typeface="Meiryo UI" panose="020B0604030504040204" pitchFamily="50" charset="-128"/>
                <a:ea typeface="Meiryo UI" panose="020B0604030504040204" pitchFamily="50" charset="-128"/>
              </a:rPr>
              <a:t>４学年分＝</a:t>
            </a:r>
            <a:r>
              <a:rPr kumimoji="1" lang="en-US" altLang="ja-JP" sz="1200" b="1">
                <a:solidFill>
                  <a:srgbClr val="FF0000"/>
                </a:solidFill>
                <a:latin typeface="Meiryo UI" panose="020B0604030504040204" pitchFamily="50" charset="-128"/>
                <a:ea typeface="Meiryo UI" panose="020B0604030504040204" pitchFamily="50" charset="-128"/>
              </a:rPr>
              <a:t>1,376</a:t>
            </a:r>
            <a:r>
              <a:rPr kumimoji="1" lang="ja-JP" altLang="en-US" sz="1200">
                <a:solidFill>
                  <a:schemeClr val="tx1"/>
                </a:solidFill>
                <a:latin typeface="Meiryo UI" panose="020B0604030504040204" pitchFamily="50" charset="-128"/>
                <a:ea typeface="Meiryo UI" panose="020B0604030504040204" pitchFamily="50" charset="-128"/>
              </a:rPr>
              <a:t>万円</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54" name="四角形: 角を丸くする 53">
            <a:extLst>
              <a:ext uri="{FF2B5EF4-FFF2-40B4-BE49-F238E27FC236}">
                <a16:creationId xmlns:a16="http://schemas.microsoft.com/office/drawing/2014/main" id="{D3FBC2B5-1C93-B738-DA9D-0AE67C6FC161}"/>
              </a:ext>
            </a:extLst>
          </p:cNvPr>
          <p:cNvSpPr/>
          <p:nvPr/>
        </p:nvSpPr>
        <p:spPr>
          <a:xfrm>
            <a:off x="2602224" y="3197406"/>
            <a:ext cx="863571" cy="242910"/>
          </a:xfrm>
          <a:prstGeom prst="roundRect">
            <a:avLst>
              <a:gd name="adj" fmla="val 8013"/>
            </a:avLst>
          </a:prstGeom>
          <a:noFill/>
          <a:ln>
            <a:noFill/>
          </a:ln>
        </p:spPr>
        <p:style>
          <a:lnRef idx="1">
            <a:schemeClr val="accent6"/>
          </a:lnRef>
          <a:fillRef idx="2">
            <a:schemeClr val="accent6"/>
          </a:fillRef>
          <a:effectRef idx="1">
            <a:schemeClr val="accent6"/>
          </a:effectRef>
          <a:fontRef idx="minor">
            <a:schemeClr val="dk1"/>
          </a:fontRef>
        </p:style>
        <p:txBody>
          <a:bodyPr rtlCol="0" anchor="ctr" anchorCtr="0"/>
          <a:lstStyle/>
          <a:p>
            <a:r>
              <a:rPr kumimoji="1" lang="ja-JP" altLang="en-US" sz="1200">
                <a:solidFill>
                  <a:schemeClr val="tx1"/>
                </a:solidFill>
                <a:latin typeface="Meiryo UI" panose="020B0604030504040204" pitchFamily="50" charset="-128"/>
                <a:ea typeface="Meiryo UI" panose="020B0604030504040204" pitchFamily="50" charset="-128"/>
              </a:rPr>
              <a:t>（見込）</a:t>
            </a:r>
            <a:endParaRPr kumimoji="1" lang="en-US" altLang="ja-JP" sz="1200">
              <a:solidFill>
                <a:schemeClr val="tx1"/>
              </a:solidFill>
              <a:latin typeface="Meiryo UI" panose="020B0604030504040204" pitchFamily="50" charset="-128"/>
              <a:ea typeface="Meiryo UI" panose="020B0604030504040204" pitchFamily="50" charset="-128"/>
            </a:endParaRPr>
          </a:p>
        </p:txBody>
      </p:sp>
      <p:sp>
        <p:nvSpPr>
          <p:cNvPr id="4" name="四角形: 角を丸くする 3">
            <a:extLst>
              <a:ext uri="{FF2B5EF4-FFF2-40B4-BE49-F238E27FC236}">
                <a16:creationId xmlns:a16="http://schemas.microsoft.com/office/drawing/2014/main" id="{77A4357A-D7BA-1EE5-1526-CC95B6979BA3}"/>
              </a:ext>
            </a:extLst>
          </p:cNvPr>
          <p:cNvSpPr/>
          <p:nvPr/>
        </p:nvSpPr>
        <p:spPr>
          <a:xfrm>
            <a:off x="3841466" y="2159617"/>
            <a:ext cx="5013775" cy="1244240"/>
          </a:xfrm>
          <a:prstGeom prst="roundRect">
            <a:avLst>
              <a:gd name="adj" fmla="val 8013"/>
            </a:avLst>
          </a:prstGeom>
          <a:solidFill>
            <a:schemeClr val="bg1"/>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nchorCtr="0"/>
          <a:lstStyle/>
          <a:p>
            <a:pPr algn="ctr"/>
            <a:endParaRPr kumimoji="1" lang="en-US" altLang="ja-JP">
              <a:solidFill>
                <a:schemeClr val="tx1"/>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368CD4E5-FBFC-0E32-BA4D-8035DD85F47B}"/>
              </a:ext>
            </a:extLst>
          </p:cNvPr>
          <p:cNvSpPr txBox="1"/>
          <p:nvPr/>
        </p:nvSpPr>
        <p:spPr>
          <a:xfrm>
            <a:off x="3923138" y="2206499"/>
            <a:ext cx="366170" cy="288000"/>
          </a:xfrm>
          <a:prstGeom prst="rect">
            <a:avLst/>
          </a:prstGeom>
          <a:solidFill>
            <a:srgbClr val="0F9ED5"/>
          </a:solidFill>
        </p:spPr>
        <p:txBody>
          <a:bodyPr wrap="square" lIns="0" tIns="72000" rIns="0" bIns="0" rtlCol="0" anchor="ctr">
            <a:noAutofit/>
          </a:bodyPr>
          <a:lstStyle/>
          <a:p>
            <a:pPr algn="ctr">
              <a:lnSpc>
                <a:spcPts val="700"/>
              </a:lnSpc>
            </a:pPr>
            <a:endParaRPr kumimoji="1" lang="en-US" altLang="ja-JP" sz="600" b="1">
              <a:solidFill>
                <a:srgbClr val="FF33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9447FF4D-9C82-4816-2042-7D2CFAD1B069}"/>
              </a:ext>
            </a:extLst>
          </p:cNvPr>
          <p:cNvSpPr txBox="1"/>
          <p:nvPr/>
        </p:nvSpPr>
        <p:spPr>
          <a:xfrm>
            <a:off x="3903583" y="2265384"/>
            <a:ext cx="396422" cy="173831"/>
          </a:xfrm>
          <a:prstGeom prst="rect">
            <a:avLst/>
          </a:prstGeom>
          <a:noFill/>
        </p:spPr>
        <p:txBody>
          <a:bodyPr wrap="square" lIns="0" tIns="72000" rIns="0" bIns="0" rtlCol="0" anchor="ctr">
            <a:noAutofit/>
          </a:bodyPr>
          <a:lstStyle/>
          <a:p>
            <a:pPr algn="ctr">
              <a:lnSpc>
                <a:spcPts val="700"/>
              </a:lnSpc>
            </a:pPr>
            <a:r>
              <a:rPr kumimoji="1" lang="ja-JP" altLang="en-US" sz="1000" b="1">
                <a:solidFill>
                  <a:schemeClr val="bg1"/>
                </a:solidFill>
                <a:latin typeface="メイリオ" panose="020B0604030504040204" pitchFamily="50" charset="-128"/>
                <a:ea typeface="メイリオ" panose="020B0604030504040204" pitchFamily="50" charset="-128"/>
              </a:rPr>
              <a:t>課題</a:t>
            </a:r>
            <a:endParaRPr kumimoji="1" lang="en-US" altLang="ja-JP" sz="1000" b="1">
              <a:solidFill>
                <a:schemeClr val="bg1"/>
              </a:solidFill>
              <a:latin typeface="メイリオ" panose="020B0604030504040204" pitchFamily="50" charset="-128"/>
              <a:ea typeface="メイリオ" panose="020B0604030504040204" pitchFamily="50" charset="-128"/>
            </a:endParaRPr>
          </a:p>
        </p:txBody>
      </p:sp>
      <p:sp>
        <p:nvSpPr>
          <p:cNvPr id="26" name="四角形: 角を丸くする 25">
            <a:extLst>
              <a:ext uri="{FF2B5EF4-FFF2-40B4-BE49-F238E27FC236}">
                <a16:creationId xmlns:a16="http://schemas.microsoft.com/office/drawing/2014/main" id="{AEDEC452-E578-E607-C122-9D328E92175C}"/>
              </a:ext>
            </a:extLst>
          </p:cNvPr>
          <p:cNvSpPr/>
          <p:nvPr/>
        </p:nvSpPr>
        <p:spPr>
          <a:xfrm>
            <a:off x="4220825" y="2247195"/>
            <a:ext cx="4595951" cy="1062798"/>
          </a:xfrm>
          <a:prstGeom prst="roundRect">
            <a:avLst>
              <a:gd name="adj" fmla="val 8013"/>
            </a:avLst>
          </a:prstGeom>
          <a:noFill/>
          <a:ln>
            <a:noFill/>
          </a:ln>
        </p:spPr>
        <p:style>
          <a:lnRef idx="1">
            <a:schemeClr val="accent6"/>
          </a:lnRef>
          <a:fillRef idx="2">
            <a:schemeClr val="accent6"/>
          </a:fillRef>
          <a:effectRef idx="1">
            <a:schemeClr val="accent6"/>
          </a:effectRef>
          <a:fontRef idx="minor">
            <a:schemeClr val="dk1"/>
          </a:fontRef>
        </p:style>
        <p:txBody>
          <a:bodyPr rtlCol="0" anchor="ctr" anchorCtr="0"/>
          <a:lstStyle/>
          <a:p>
            <a:r>
              <a:rPr kumimoji="1" lang="ja-JP" altLang="en-US" sz="1200">
                <a:solidFill>
                  <a:schemeClr val="tx1"/>
                </a:solidFill>
                <a:latin typeface="Meiryo UI" panose="020B0604030504040204" pitchFamily="50" charset="-128"/>
                <a:ea typeface="Meiryo UI" panose="020B0604030504040204" pitchFamily="50" charset="-128"/>
              </a:rPr>
              <a:t>●社会的養護経験者に対する支援のあり方（給付方法）については、</a:t>
            </a:r>
          </a:p>
          <a:p>
            <a:r>
              <a:rPr kumimoji="1" lang="ja-JP" altLang="en-US" sz="1200">
                <a:solidFill>
                  <a:schemeClr val="tx1"/>
                </a:solidFill>
                <a:latin typeface="Meiryo UI" panose="020B0604030504040204" pitchFamily="50" charset="-128"/>
                <a:ea typeface="Meiryo UI" panose="020B0604030504040204" pitchFamily="50" charset="-128"/>
              </a:rPr>
              <a:t>　</a:t>
            </a:r>
            <a:r>
              <a:rPr kumimoji="1" lang="ja-JP" altLang="en-US" sz="1200" b="1">
                <a:solidFill>
                  <a:srgbClr val="FF0000"/>
                </a:solidFill>
                <a:latin typeface="Meiryo UI" panose="020B0604030504040204" pitchFamily="50" charset="-128"/>
                <a:ea typeface="Meiryo UI" panose="020B0604030504040204" pitchFamily="50" charset="-128"/>
              </a:rPr>
              <a:t>一般に比べ中退者が多い</a:t>
            </a:r>
            <a:r>
              <a:rPr kumimoji="1" lang="ja-JP" altLang="en-US" sz="1200">
                <a:solidFill>
                  <a:schemeClr val="tx1"/>
                </a:solidFill>
                <a:latin typeface="Meiryo UI" panose="020B0604030504040204" pitchFamily="50" charset="-128"/>
                <a:ea typeface="Meiryo UI" panose="020B0604030504040204" pitchFamily="50" charset="-128"/>
              </a:rPr>
              <a:t>ことから</a:t>
            </a:r>
            <a:r>
              <a:rPr kumimoji="1" lang="ja-JP" altLang="en-US" sz="1200" b="1">
                <a:solidFill>
                  <a:srgbClr val="FF0000"/>
                </a:solidFill>
                <a:latin typeface="Meiryo UI" panose="020B0604030504040204" pitchFamily="50" charset="-128"/>
                <a:ea typeface="Meiryo UI" panose="020B0604030504040204" pitchFamily="50" charset="-128"/>
              </a:rPr>
              <a:t>毎年の給付支援</a:t>
            </a:r>
            <a:r>
              <a:rPr kumimoji="1" lang="ja-JP" altLang="en-US" sz="1200">
                <a:solidFill>
                  <a:schemeClr val="tx1"/>
                </a:solidFill>
                <a:latin typeface="Meiryo UI" panose="020B0604030504040204" pitchFamily="50" charset="-128"/>
                <a:ea typeface="Meiryo UI" panose="020B0604030504040204" pitchFamily="50" charset="-128"/>
              </a:rPr>
              <a:t>か、卒業後の</a:t>
            </a:r>
          </a:p>
          <a:p>
            <a:r>
              <a:rPr kumimoji="1" lang="ja-JP" altLang="en-US" sz="1200">
                <a:solidFill>
                  <a:schemeClr val="tx1"/>
                </a:solidFill>
                <a:latin typeface="Meiryo UI" panose="020B0604030504040204" pitchFamily="50" charset="-128"/>
                <a:ea typeface="Meiryo UI" panose="020B0604030504040204" pitchFamily="50" charset="-128"/>
              </a:rPr>
              <a:t>　奨学金</a:t>
            </a:r>
            <a:r>
              <a:rPr kumimoji="1" lang="ja-JP" altLang="en-US" sz="1200" b="1">
                <a:solidFill>
                  <a:srgbClr val="FF0000"/>
                </a:solidFill>
                <a:latin typeface="Meiryo UI" panose="020B0604030504040204" pitchFamily="50" charset="-128"/>
                <a:ea typeface="Meiryo UI" panose="020B0604030504040204" pitchFamily="50" charset="-128"/>
              </a:rPr>
              <a:t>返済時期の負担軽減</a:t>
            </a:r>
            <a:r>
              <a:rPr kumimoji="1" lang="ja-JP" altLang="en-US" sz="1200">
                <a:solidFill>
                  <a:schemeClr val="tx1"/>
                </a:solidFill>
                <a:latin typeface="Meiryo UI" panose="020B0604030504040204" pitchFamily="50" charset="-128"/>
                <a:ea typeface="Meiryo UI" panose="020B0604030504040204" pitchFamily="50" charset="-128"/>
              </a:rPr>
              <a:t>のどちらが有効、であるのか検討が必要</a:t>
            </a:r>
          </a:p>
          <a:p>
            <a:endParaRPr kumimoji="1" lang="en-US" altLang="ja-JP" sz="1200">
              <a:solidFill>
                <a:schemeClr val="tx1"/>
              </a:solidFill>
              <a:latin typeface="Meiryo UI" panose="020B0604030504040204" pitchFamily="50" charset="-128"/>
              <a:ea typeface="Meiryo UI" panose="020B0604030504040204" pitchFamily="50" charset="-128"/>
            </a:endParaRPr>
          </a:p>
          <a:p>
            <a:r>
              <a:rPr kumimoji="1" lang="ja-JP" altLang="en-US" sz="1200">
                <a:solidFill>
                  <a:schemeClr val="tx1"/>
                </a:solidFill>
                <a:latin typeface="Meiryo UI" panose="020B0604030504040204" pitchFamily="50" charset="-128"/>
                <a:ea typeface="Meiryo UI" panose="020B0604030504040204" pitchFamily="50" charset="-128"/>
              </a:rPr>
              <a:t>●在学期間中の心理的支援や生活支援といった</a:t>
            </a:r>
            <a:r>
              <a:rPr kumimoji="1" lang="ja-JP" altLang="en-US" sz="1200" b="1">
                <a:solidFill>
                  <a:srgbClr val="FF0000"/>
                </a:solidFill>
                <a:latin typeface="Meiryo UI" panose="020B0604030504040204" pitchFamily="50" charset="-128"/>
                <a:ea typeface="Meiryo UI" panose="020B0604030504040204" pitchFamily="50" charset="-128"/>
              </a:rPr>
              <a:t>付帯的な支援</a:t>
            </a:r>
            <a:r>
              <a:rPr kumimoji="1" lang="ja-JP" altLang="en-US" sz="1200">
                <a:solidFill>
                  <a:schemeClr val="tx1"/>
                </a:solidFill>
                <a:latin typeface="Meiryo UI" panose="020B0604030504040204" pitchFamily="50" charset="-128"/>
                <a:ea typeface="Meiryo UI" panose="020B0604030504040204" pitchFamily="50" charset="-128"/>
              </a:rPr>
              <a:t>が、</a:t>
            </a:r>
            <a:endParaRPr kumimoji="1" lang="en-US" altLang="ja-JP" sz="1200">
              <a:solidFill>
                <a:schemeClr val="tx1"/>
              </a:solidFill>
              <a:latin typeface="Meiryo UI" panose="020B0604030504040204" pitchFamily="50" charset="-128"/>
              <a:ea typeface="Meiryo UI" panose="020B0604030504040204" pitchFamily="50" charset="-128"/>
            </a:endParaRPr>
          </a:p>
          <a:p>
            <a:r>
              <a:rPr kumimoji="1" lang="ja-JP" altLang="en-US" sz="1200">
                <a:solidFill>
                  <a:schemeClr val="tx1"/>
                </a:solidFill>
                <a:latin typeface="Meiryo UI" panose="020B0604030504040204" pitchFamily="50" charset="-128"/>
                <a:ea typeface="Meiryo UI" panose="020B0604030504040204" pitchFamily="50" charset="-128"/>
              </a:rPr>
              <a:t>　 どの程度求められているのかについて、十分に整理されていない</a:t>
            </a:r>
          </a:p>
        </p:txBody>
      </p:sp>
      <p:sp>
        <p:nvSpPr>
          <p:cNvPr id="60" name="四角形: 角を丸くする 59">
            <a:extLst>
              <a:ext uri="{FF2B5EF4-FFF2-40B4-BE49-F238E27FC236}">
                <a16:creationId xmlns:a16="http://schemas.microsoft.com/office/drawing/2014/main" id="{A126A155-0874-A3F7-CCF9-3E0F875E5E11}"/>
              </a:ext>
            </a:extLst>
          </p:cNvPr>
          <p:cNvSpPr/>
          <p:nvPr/>
        </p:nvSpPr>
        <p:spPr>
          <a:xfrm>
            <a:off x="5526861" y="4269591"/>
            <a:ext cx="1404111" cy="275061"/>
          </a:xfrm>
          <a:prstGeom prst="roundRect">
            <a:avLst/>
          </a:prstGeom>
          <a:solidFill>
            <a:srgbClr val="FFFBC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tx1"/>
                </a:solidFill>
                <a:latin typeface="BIZ UDPゴシック" panose="020B0400000000000000" pitchFamily="50" charset="-128"/>
                <a:ea typeface="BIZ UDPゴシック" panose="020B0400000000000000" pitchFamily="50" charset="-128"/>
              </a:rPr>
              <a:t>予算要求</a:t>
            </a:r>
            <a:r>
              <a:rPr kumimoji="1" lang="ja-JP" altLang="en-US" sz="600">
                <a:solidFill>
                  <a:schemeClr val="tx1"/>
                </a:solidFill>
                <a:latin typeface="BIZ UDPゴシック" panose="020B0400000000000000" pitchFamily="50" charset="-128"/>
                <a:ea typeface="BIZ UDPゴシック" panose="020B0400000000000000" pitchFamily="50" charset="-128"/>
              </a:rPr>
              <a:t>（給付方法による）</a:t>
            </a:r>
            <a:endParaRPr kumimoji="1" lang="ja-JP" altLang="en-US" sz="1050">
              <a:solidFill>
                <a:schemeClr val="tx1"/>
              </a:solidFill>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4660EA3C-E4C2-B6CB-9928-E66C8F35AAB2}"/>
              </a:ext>
            </a:extLst>
          </p:cNvPr>
          <p:cNvSpPr/>
          <p:nvPr/>
        </p:nvSpPr>
        <p:spPr>
          <a:xfrm>
            <a:off x="471120" y="4228821"/>
            <a:ext cx="1053285" cy="3598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eiryo UI" panose="020B0604030504040204" pitchFamily="50" charset="-128"/>
                <a:ea typeface="Meiryo UI" panose="020B0604030504040204" pitchFamily="50" charset="-128"/>
              </a:rPr>
              <a:t>社会的養護経験者</a:t>
            </a:r>
          </a:p>
        </p:txBody>
      </p:sp>
      <p:sp>
        <p:nvSpPr>
          <p:cNvPr id="7" name="四角形: 角を丸くする 6">
            <a:extLst>
              <a:ext uri="{FF2B5EF4-FFF2-40B4-BE49-F238E27FC236}">
                <a16:creationId xmlns:a16="http://schemas.microsoft.com/office/drawing/2014/main" id="{1C8AD013-227B-2D52-CC62-36F7204E1F7F}"/>
              </a:ext>
            </a:extLst>
          </p:cNvPr>
          <p:cNvSpPr/>
          <p:nvPr/>
        </p:nvSpPr>
        <p:spPr>
          <a:xfrm>
            <a:off x="9405695" y="673711"/>
            <a:ext cx="1425742" cy="362863"/>
          </a:xfrm>
          <a:prstGeom prst="roundRect">
            <a:avLst>
              <a:gd name="adj" fmla="val 0"/>
            </a:avLst>
          </a:prstGeom>
          <a:solidFill>
            <a:srgbClr val="FFC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こども家庭部</a:t>
            </a:r>
          </a:p>
        </p:txBody>
      </p:sp>
      <p:sp>
        <p:nvSpPr>
          <p:cNvPr id="8" name="四角形: 角を丸くする 7">
            <a:extLst>
              <a:ext uri="{FF2B5EF4-FFF2-40B4-BE49-F238E27FC236}">
                <a16:creationId xmlns:a16="http://schemas.microsoft.com/office/drawing/2014/main" id="{8FA8AE7B-89A3-CF8E-48F3-431EE6230AE5}"/>
              </a:ext>
            </a:extLst>
          </p:cNvPr>
          <p:cNvSpPr/>
          <p:nvPr/>
        </p:nvSpPr>
        <p:spPr>
          <a:xfrm>
            <a:off x="9410700" y="265717"/>
            <a:ext cx="1425742" cy="362863"/>
          </a:xfrm>
          <a:prstGeom prst="roundRect">
            <a:avLst>
              <a:gd name="adj" fmla="val 0"/>
            </a:avLst>
          </a:prstGeom>
          <a:solidFill>
            <a:srgbClr val="FFC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教育振興部</a:t>
            </a:r>
          </a:p>
        </p:txBody>
      </p:sp>
      <p:sp>
        <p:nvSpPr>
          <p:cNvPr id="15" name="四角形: 角を丸くする 14">
            <a:extLst>
              <a:ext uri="{FF2B5EF4-FFF2-40B4-BE49-F238E27FC236}">
                <a16:creationId xmlns:a16="http://schemas.microsoft.com/office/drawing/2014/main" id="{B753FC12-DB59-FF00-5D34-EF9C29EFC4CC}"/>
              </a:ext>
            </a:extLst>
          </p:cNvPr>
          <p:cNvSpPr/>
          <p:nvPr/>
        </p:nvSpPr>
        <p:spPr>
          <a:xfrm>
            <a:off x="140629" y="2021401"/>
            <a:ext cx="8767562" cy="244766"/>
          </a:xfrm>
          <a:prstGeom prst="roundRect">
            <a:avLst>
              <a:gd name="adj" fmla="val 0"/>
            </a:avLst>
          </a:prstGeom>
          <a:solidFill>
            <a:srgbClr val="FFC000">
              <a:alpha val="65000"/>
            </a:srgb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BIZ UDPゴシック" panose="020B0400000000000000" pitchFamily="50" charset="-128"/>
                <a:ea typeface="BIZ UDPゴシック" panose="020B0400000000000000" pitchFamily="50" charset="-128"/>
              </a:rPr>
              <a:t>こども家庭部にて修正中</a:t>
            </a:r>
          </a:p>
        </p:txBody>
      </p:sp>
    </p:spTree>
    <p:extLst>
      <p:ext uri="{BB962C8B-B14F-4D97-AF65-F5344CB8AC3E}">
        <p14:creationId xmlns:p14="http://schemas.microsoft.com/office/powerpoint/2010/main" val="355862245"/>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aa989f2-4f24-4115-80d0-4b427f33fe26" xsi:nil="true"/>
    <lcf76f155ced4ddcb4097134ff3c332f xmlns="cd550872-52b3-404b-9d46-a3b4a694ae1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A35E67A365C3745BE3012373B810583" ma:contentTypeVersion="15" ma:contentTypeDescription="新しいドキュメントを作成します。" ma:contentTypeScope="" ma:versionID="02ca84a8e582c3e5970d179293281e54">
  <xsd:schema xmlns:xsd="http://www.w3.org/2001/XMLSchema" xmlns:xs="http://www.w3.org/2001/XMLSchema" xmlns:p="http://schemas.microsoft.com/office/2006/metadata/properties" xmlns:ns2="cd550872-52b3-404b-9d46-a3b4a694ae19" xmlns:ns3="4aa989f2-4f24-4115-80d0-4b427f33fe26" targetNamespace="http://schemas.microsoft.com/office/2006/metadata/properties" ma:root="true" ma:fieldsID="1a715c918518d21b9772170beef79984" ns2:_="" ns3:_="">
    <xsd:import namespace="cd550872-52b3-404b-9d46-a3b4a694ae19"/>
    <xsd:import namespace="4aa989f2-4f24-4115-80d0-4b427f33fe2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550872-52b3-404b-9d46-a3b4a694ae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3959c720-f9d9-4eba-b64c-74427fd13a9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aa989f2-4f24-4115-80d0-4b427f33fe2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66197a3-bf49-4c3c-b93c-2e9d5048c940}" ma:internalName="TaxCatchAll" ma:showField="CatchAllData" ma:web="4aa989f2-4f24-4115-80d0-4b427f33fe26">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785AF8-D12D-4D8D-86F0-F20FFEB18186}">
  <ds:schemaRefs>
    <ds:schemaRef ds:uri="cd550872-52b3-404b-9d46-a3b4a694ae19"/>
    <ds:schemaRef ds:uri="http://schemas.microsoft.com/office/2006/metadata/propertie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4aa989f2-4f24-4115-80d0-4b427f33fe26"/>
    <ds:schemaRef ds:uri="http://purl.org/dc/dcmitype/"/>
    <ds:schemaRef ds:uri="http://purl.org/dc/terms/"/>
  </ds:schemaRefs>
</ds:datastoreItem>
</file>

<file path=customXml/itemProps2.xml><?xml version="1.0" encoding="utf-8"?>
<ds:datastoreItem xmlns:ds="http://schemas.openxmlformats.org/officeDocument/2006/customXml" ds:itemID="{B88A1D99-C7D1-4DD4-8D7B-D9BF01C90CEC}">
  <ds:schemaRefs>
    <ds:schemaRef ds:uri="4aa989f2-4f24-4115-80d0-4b427f33fe26"/>
    <ds:schemaRef ds:uri="cd550872-52b3-404b-9d46-a3b4a694ae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E09BD97-97B3-411B-8247-3E829DA990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TM02900720[[fn=インテグラル]]</Template>
  <TotalTime>24</TotalTime>
  <Words>1147</Words>
  <Application>Microsoft Office PowerPoint</Application>
  <PresentationFormat>画面に合わせる (16:9)</PresentationFormat>
  <Paragraphs>115</Paragraphs>
  <Slides>7</Slides>
  <Notes>6</Notes>
  <HiddenSlides>0</HiddenSlides>
  <MMClips>0</MMClips>
  <ScaleCrop>false</ScaleCrop>
  <HeadingPairs>
    <vt:vector size="6" baseType="variant">
      <vt:variant>
        <vt:lpstr>使用されているフォント</vt:lpstr>
      </vt:variant>
      <vt:variant>
        <vt:i4>10</vt:i4>
      </vt:variant>
      <vt:variant>
        <vt:lpstr>テーマ</vt:lpstr>
      </vt:variant>
      <vt:variant>
        <vt:i4>2</vt:i4>
      </vt:variant>
      <vt:variant>
        <vt:lpstr>スライド タイトル</vt:lpstr>
      </vt:variant>
      <vt:variant>
        <vt:i4>7</vt:i4>
      </vt:variant>
    </vt:vector>
  </HeadingPairs>
  <TitlesOfParts>
    <vt:vector size="19" baseType="lpstr">
      <vt:lpstr>BIZ UDPゴシック</vt:lpstr>
      <vt:lpstr>HGP創英角ｺﾞｼｯｸUB</vt:lpstr>
      <vt:lpstr>Meiryo UI</vt:lpstr>
      <vt:lpstr>メイリオ</vt:lpstr>
      <vt:lpstr>游ゴシック</vt:lpstr>
      <vt:lpstr>游ゴシック Light</vt:lpstr>
      <vt:lpstr>Arial</vt:lpstr>
      <vt:lpstr>Calibri</vt:lpstr>
      <vt:lpstr>Calibri Light</vt:lpstr>
      <vt:lpstr>Wingdings 2</vt:lpstr>
      <vt:lpstr>HDOfficeLightV0</vt:lpstr>
      <vt:lpstr>Office テーマ</vt:lpstr>
      <vt:lpstr> 小中一貫教育（大泉桜学園）について </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澁谷　悠万</dc:creator>
  <cp:lastModifiedBy>紺多　章一郎</cp:lastModifiedBy>
  <cp:revision>6</cp:revision>
  <cp:lastPrinted>2026-05-12T05:32:54Z</cp:lastPrinted>
  <dcterms:created xsi:type="dcterms:W3CDTF">2022-06-22T00:35:16Z</dcterms:created>
  <dcterms:modified xsi:type="dcterms:W3CDTF">2026-05-22T08:15:57Z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0x010100EA35E67A365C3745BE3012373B810583</vt:lpwstr>
  </property>
  <property fmtid="{D5CDD505-2E9C-101B-9397-08002B2CF9AE}" pid="3" name="MediaServiceImageTags">
    <vt:lpwstr/>
  </property>
</Properties>
</file>