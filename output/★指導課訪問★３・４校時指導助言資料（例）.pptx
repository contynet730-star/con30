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0" r:id="rId1"/>
  </p:sldMasterIdLst>
  <p:notesMasterIdLst>
    <p:notesMasterId r:id="rId10"/>
  </p:notesMasterIdLst>
  <p:handoutMasterIdLst>
    <p:handoutMasterId r:id="rId11"/>
  </p:handoutMasterIdLst>
  <p:sldIdLst>
    <p:sldId id="256" r:id="rId2"/>
    <p:sldId id="525" r:id="rId3"/>
    <p:sldId id="519" r:id="rId4"/>
    <p:sldId id="515" r:id="rId5"/>
    <p:sldId id="526" r:id="rId6"/>
    <p:sldId id="527" r:id="rId7"/>
    <p:sldId id="528" r:id="rId8"/>
    <p:sldId id="521" r:id="rId9"/>
  </p:sldIdLst>
  <p:sldSz cx="9144000" cy="5143500" type="screen16x9"/>
  <p:notesSz cx="9869488" cy="673735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6C15"/>
    <a:srgbClr val="07A973"/>
    <a:srgbClr val="08B87D"/>
    <a:srgbClr val="08CE8C"/>
    <a:srgbClr val="08DA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E291C43-1532-4610-ABD8-C8CECD27156B}">
  <a:tblStyle styleId="{0E291C43-1532-4610-ABD8-C8CECD27156B}" styleName="Table_0">
    <a:wholeTbl>
      <a:tcTxStyle b="off" i="off">
        <a:font>
          <a:latin typeface="游ゴシック"/>
          <a:ea typeface="游ゴシック"/>
          <a:cs typeface="游ゴシック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E6E6"/>
          </a:solidFill>
        </a:fill>
      </a:tcStyle>
    </a:wholeTbl>
    <a:band1H>
      <a:tcTxStyle/>
      <a:tcStyle>
        <a:tcBdr/>
        <a:fill>
          <a:solidFill>
            <a:srgbClr val="CACAC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CACA"/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508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E6E6E6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游ゴシック"/>
          <a:ea typeface="游ゴシック"/>
          <a:cs typeface="游ゴシック"/>
        </a:font>
        <a:schemeClr val="lt1"/>
      </a:tcTxStyle>
      <a:tcStyle>
        <a:tcBdr/>
        <a:fill>
          <a:solidFill>
            <a:schemeClr val="dk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5758FB7-9AC5-4552-8A53-C91805E547FA}" styleName="テーマ スタイル 1 - アクセント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3C2FFA5D-87B4-456A-9821-1D502468CF0F}" styleName="テーマ スタイル 1 - アクセント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08FB837D-C827-4EFA-A057-4D05807E0F7C}" styleName="テーマ スタイル 1 - アクセント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18603FDC-E32A-4AB5-989C-0864C3EAD2B8}" styleName="テーマ スタイル 2 - アクセント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テーマ スタイル 2 - アクセント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38B1855-1B75-4FBE-930C-398BA8C253C6}" styleName="テーマ スタイル 2 - アクセント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8D230F3-CF80-4859-8CE7-A43EE81993B5}" styleName="淡色スタイル 1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23" autoAdjust="0"/>
    <p:restoredTop sz="93447" autoAdjust="0"/>
  </p:normalViewPr>
  <p:slideViewPr>
    <p:cSldViewPr snapToGrid="0">
      <p:cViewPr varScale="1">
        <p:scale>
          <a:sx n="136" d="100"/>
          <a:sy n="136" d="100"/>
        </p:scale>
        <p:origin x="1026" y="12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256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6778" cy="3380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5590426" y="0"/>
            <a:ext cx="4276778" cy="3380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2A2779-45BC-43BE-9EC8-D38CFB0D7052}" type="datetimeFigureOut">
              <a:rPr kumimoji="1" lang="ja-JP" altLang="en-US" smtClean="0"/>
              <a:t>2026/4/9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6399313"/>
            <a:ext cx="4276778" cy="3380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5590426" y="6399313"/>
            <a:ext cx="4276778" cy="3380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F93DD2-1020-4EE0-ACDE-AC71370277F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633609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687638" y="504825"/>
            <a:ext cx="4494212" cy="25273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86949" y="3200241"/>
            <a:ext cx="7895590" cy="3031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170099d0ae5_2_75:notes"/>
          <p:cNvSpPr txBox="1">
            <a:spLocks noGrp="1"/>
          </p:cNvSpPr>
          <p:nvPr>
            <p:ph type="body" idx="1"/>
          </p:nvPr>
        </p:nvSpPr>
        <p:spPr>
          <a:xfrm>
            <a:off x="987428" y="3241675"/>
            <a:ext cx="7894648" cy="265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7" name="Google Shape;127;g170099d0ae5_2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914650" y="842963"/>
            <a:ext cx="4040188" cy="22733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60613-BE72-B48C-D9D2-81B291EED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D2881E2-F05A-B6A0-F53F-57798F348F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4FE4DE2-3DE6-CCDD-9EC3-1DCAFE8DF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0F2272A-49A3-EB6D-57CD-1F67A42D2B8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AA84D45-ADE3-FA57-62A0-C4510B5D87D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4458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B818C-DCD6-C1A3-E536-631953127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45B2EFE-A1E7-53BF-5EA9-F91F66DC15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6A152E4-9228-ECF8-64A1-CE3F00BCBE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6769C6E-489D-D023-4FA1-572E96F20C9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F8483C7-05C1-1061-989F-C345A8CEAC0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59601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10366-2681-9BA3-87A8-939553402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D3C8D4B-618A-F5BD-B65B-9EEB32DDA7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BB3FC3C-8F3C-0976-47E3-F9CCB6A5F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>
                <a:latin typeface="メイリオ"/>
              </a:rPr>
              <a:t>【①関心 補足ポイント】</a:t>
            </a:r>
          </a:p>
          <a:p>
            <a:r>
              <a:rPr sz="1400">
                <a:latin typeface="メイリオ"/>
              </a:rPr>
              <a:t>・単元名で心を掴む（１年体育「ボールをなげるのだ！あてるのだ！たおすのだ！」）</a:t>
            </a:r>
          </a:p>
          <a:p>
            <a:r>
              <a:rPr sz="1400">
                <a:latin typeface="メイリオ"/>
              </a:rPr>
              <a:t>・３つの場で「やってみたい」を引き出す（フラフープ・ターゲット／段ボール倒し／ロケット投げ）</a:t>
            </a:r>
          </a:p>
          <a:p>
            <a:r>
              <a:rPr sz="1400">
                <a:latin typeface="メイリオ"/>
              </a:rPr>
              <a:t>・教材との出会いが関心の質を決める（５年図工「オナマエアート」）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5BC1266-B627-334F-1314-258195CCB47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4B351BE-54F6-605E-1164-2835FF1FE5A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77314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DE484-FE70-3BE3-5414-90CDC1ED0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F9A51B1-2F78-6823-0412-10A0B91C3F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5F4752A-EC3E-9619-08D1-31263B2B18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AD16B86-007C-AAB3-694C-F49E4A24467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3657DDD-14A7-3D7E-7CE1-F9F27A8CE33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06205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A00FD-F612-E8E7-05E3-102F14DC2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BA4B4B2-CC24-CB51-EE1B-3BB541B4E7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25E240A-5B0D-D9C0-AC28-A11F14DB87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126E187-F221-A474-479C-74ECACF325D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8E54726-C38E-F9DB-5818-42888C79950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13924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AEB8E-C70D-5074-A72B-09CA3EF7C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E14791D-A483-6832-B02D-2AD2C3140D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BC278DB-6293-AEFF-1360-8DB4106CAE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9825AF5-118E-41D2-EC0D-8E018B9EBD9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40B3CB6-2DE6-7F82-9AFF-CA86B41E327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32215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287E78-44DE-2A20-A6AE-89EEA38E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CDBD9E5-D7BE-00C8-1052-4030E3A1EE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0D73994-14EE-4D23-8910-38A32DD0CA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8CBB6B2-776E-F92E-1FBB-D8F94A1AEED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FCCF6C3-8655-85C8-088D-AAF3E0A292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60414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/>
          <p:nvPr/>
        </p:nvSpPr>
        <p:spPr>
          <a:xfrm rot="10800000">
            <a:off x="505557" y="544530"/>
            <a:ext cx="8532056" cy="1980955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1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25"/>
          <p:cNvSpPr/>
          <p:nvPr/>
        </p:nvSpPr>
        <p:spPr>
          <a:xfrm>
            <a:off x="6038044" y="3232858"/>
            <a:ext cx="2795442" cy="1478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dist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sym typeface="Arial"/>
                <a:latin typeface="メイリオ"/>
                <a:ea typeface="メイリオ"/>
                <a:cs typeface="メイリオ"/>
              </a:rPr>
              <a:t>令和８年５月27日（水）</a:t>
            </a:r>
            <a:endParaRPr lang="en-US" altLang="ja" sz="2000" b="1" dirty="0">
              <a:solidFill>
                <a:schemeClr val="tx1">
                  <a:lumMod val="65000"/>
                  <a:lumOff val="35000"/>
                </a:schemeClr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  <a:sym typeface="Arial"/>
            </a:endParaRPr>
          </a:p>
          <a:p>
            <a:pPr marL="0" marR="0" lvl="0" indent="0" algn="dist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 sz="2000" b="1" dirty="0">
                <a:solidFill>
                  <a:schemeClr val="tx1">
                    <a:lumMod val="65000"/>
                    <a:lumOff val="35000"/>
                  </a:schemeClr>
                </a:solidFill>
                <a:sym typeface="Arial"/>
                <a:latin typeface="メイリオ"/>
                <a:ea typeface="メイリオ"/>
                <a:cs typeface="メイリオ"/>
              </a:rPr>
              <a:t>練馬区教育委員会</a:t>
            </a:r>
            <a:endParaRPr sz="2000" b="1" dirty="0">
              <a:solidFill>
                <a:schemeClr val="tx1">
                  <a:lumMod val="65000"/>
                  <a:lumOff val="35000"/>
                </a:schemeClr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  <a:sym typeface="Arial"/>
            </a:endParaRPr>
          </a:p>
          <a:p>
            <a:pPr marL="0" marR="0" lvl="0" indent="0" algn="dist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 sz="2000" b="1" dirty="0">
                <a:solidFill>
                  <a:schemeClr val="tx1">
                    <a:lumMod val="65000"/>
                    <a:lumOff val="35000"/>
                  </a:schemeClr>
                </a:solidFill>
                <a:sym typeface="Arial"/>
                <a:latin typeface="メイリオ"/>
                <a:ea typeface="メイリオ"/>
                <a:cs typeface="メイリオ"/>
              </a:rPr>
              <a:t>指導主事　</a:t>
            </a:r>
            <a:r>
              <a:rPr lang="ja-JP" alt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紺多　章一郎</a:t>
            </a:r>
            <a:endParaRPr sz="2000" b="1" dirty="0">
              <a:solidFill>
                <a:schemeClr val="tx1">
                  <a:lumMod val="65000"/>
                  <a:lumOff val="35000"/>
                </a:schemeClr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  <a:sym typeface="Arial"/>
            </a:endParaRPr>
          </a:p>
        </p:txBody>
      </p:sp>
      <p:sp>
        <p:nvSpPr>
          <p:cNvPr id="6" name="タイトル 1"/>
          <p:cNvSpPr>
            <a:spLocks noGrp="1"/>
          </p:cNvSpPr>
          <p:nvPr>
            <p:ph type="ctrTitle"/>
          </p:nvPr>
        </p:nvSpPr>
        <p:spPr>
          <a:xfrm>
            <a:off x="0" y="0"/>
            <a:ext cx="9144000" cy="2865663"/>
          </a:xfrm>
          <a:solidFill>
            <a:srgbClr val="5B9BD5"/>
          </a:solidFill>
        </p:spPr>
        <p:txBody>
          <a:bodyPr anchor="t">
            <a:noAutofit/>
          </a:bodyPr>
          <a:lstStyle/>
          <a:p>
            <a:pPr algn="l"/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</a:t>
            </a:r>
            <a:br>
              <a:rPr lang="en-US" altLang="ja-JP" sz="2800" b="1" dirty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</a:br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練馬区立向山小学校</a:t>
            </a:r>
            <a:br>
              <a:rPr lang="en-US" altLang="ja-JP" sz="4000" b="1" dirty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</a:br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教育指導課訪問（３・４校時）</a:t>
            </a:r>
            <a:br>
              <a:rPr lang="en-US" altLang="ja-JP" sz="2800" b="1" dirty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</a:br>
            <a:br>
              <a:rPr lang="en-US" altLang="ja-JP" sz="2800" b="1" dirty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</a:br>
            <a:endParaRPr kumimoji="1" lang="ja-JP" altLang="en-US" sz="2400" b="1" dirty="0">
              <a:solidFill>
                <a:schemeClr val="bg1"/>
              </a:solidFill>
              <a:latin typeface="+mn-ea"/>
              <a:ea typeface="+mn-ea"/>
            </a:endParaRPr>
          </a:p>
        </p:txBody>
      </p:sp>
      <p:pic>
        <p:nvPicPr>
          <p:cNvPr id="2" name="図 1" descr="抽象, 挿絵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379B1C8B-579E-B03D-E60F-6F86A97CFE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995" y="3009900"/>
            <a:ext cx="3211398" cy="2133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1D3C9-DA06-2360-20FE-D74FEFB05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83CEDA9-7196-12AB-8B24-555D95D63C5D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45391DB-BFA8-70BC-47AF-C870A4F9A906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３・４校時の授業について　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242ACF5-38B3-DDF6-38BA-9842170ED879}"/>
              </a:ext>
            </a:extLst>
          </p:cNvPr>
          <p:cNvSpPr/>
          <p:nvPr/>
        </p:nvSpPr>
        <p:spPr bwMode="white">
          <a:xfrm>
            <a:off x="470947" y="970565"/>
            <a:ext cx="8019225" cy="27238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3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本日の２つの視点</a:t>
            </a:r>
            <a:endParaRPr lang="en-US" altLang="ja-JP" sz="3600" b="1" u="sng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r>
              <a:rPr lang="ja-JP" sz="2400" b="1" dirty="0">
                <a:latin typeface="メイリオ"/>
                <a:ea typeface="メイリオ"/>
                <a:cs typeface="メイリオ"/>
              </a:rPr>
              <a:t>〜授業の事実から学びを語る〜</a:t>
            </a: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・「主体的・対話的で深い学び」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・研究主題の具現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12740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ACCFB-11A9-A167-FC3C-2B1CFB996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53072CC-638E-F6B3-3AFC-C1FC2B03597D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5754C457-EAA5-6979-2193-2CF285EC2BD5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３・４校時の授業について　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A251EF3-8BF8-CF13-1EDD-BB47337CA447}"/>
              </a:ext>
            </a:extLst>
          </p:cNvPr>
          <p:cNvSpPr/>
          <p:nvPr/>
        </p:nvSpPr>
        <p:spPr bwMode="white">
          <a:xfrm>
            <a:off x="470947" y="970565"/>
            <a:ext cx="8019225" cy="27238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研究主題の具現に向けた３つの視点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　①自ら関心をもち（教材との出会い）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　②考え（委ねる時間と戻る場）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　③行動しようとする（学びを次へ）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161899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B79F4-05D2-BF79-07BC-ED7DCF57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2D3125A-579A-5C8B-1BAC-E2491CBE01AA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1D217E0A-F267-CC5F-AAEF-3CC0E0E7BA77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３・４校時の授業について　①関心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7876903-AD43-5597-093C-B3A30EBDBD14}"/>
              </a:ext>
            </a:extLst>
          </p:cNvPr>
          <p:cNvSpPr/>
          <p:nvPr/>
        </p:nvSpPr>
        <p:spPr bwMode="white">
          <a:xfrm>
            <a:off x="489758" y="803740"/>
            <a:ext cx="3628642" cy="517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1-全　体育（髙井他）</a:t>
            </a:r>
            <a:endParaRPr lang="en-US" altLang="ja-JP" sz="24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85A74E2-1D9E-0368-1A5B-0CDBA4352FC1}"/>
              </a:ext>
            </a:extLst>
          </p:cNvPr>
          <p:cNvSpPr/>
          <p:nvPr/>
        </p:nvSpPr>
        <p:spPr>
          <a:xfrm>
            <a:off x="489758" y="1434268"/>
            <a:ext cx="3628642" cy="27489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200" dirty="0">
                <a:latin typeface="メイリオ"/>
                <a:ea typeface="メイリオ"/>
                <a:cs typeface="メイリオ"/>
              </a:rPr>
              <a:t>写真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19BE3AD-40B7-C3E5-338E-DF2FB57229DB}"/>
              </a:ext>
            </a:extLst>
          </p:cNvPr>
          <p:cNvSpPr/>
          <p:nvPr/>
        </p:nvSpPr>
        <p:spPr bwMode="white">
          <a:xfrm>
            <a:off x="4983758" y="803740"/>
            <a:ext cx="3571042" cy="517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5-1　図工（鈴木寛明）</a:t>
            </a:r>
            <a:endParaRPr lang="en-US" altLang="ja-JP" sz="24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280738D-FE28-ADBF-BF48-A9DCFE692FDE}"/>
              </a:ext>
            </a:extLst>
          </p:cNvPr>
          <p:cNvSpPr/>
          <p:nvPr/>
        </p:nvSpPr>
        <p:spPr>
          <a:xfrm>
            <a:off x="4926158" y="1434268"/>
            <a:ext cx="3628642" cy="27489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200" dirty="0">
                <a:latin typeface="メイリオ"/>
                <a:ea typeface="メイリオ"/>
                <a:cs typeface="メイリオ"/>
              </a:rPr>
              <a:t>写真</a:t>
            </a:r>
          </a:p>
        </p:txBody>
      </p:sp>
    </p:spTree>
    <p:extLst>
      <p:ext uri="{BB962C8B-B14F-4D97-AF65-F5344CB8AC3E}">
        <p14:creationId xmlns:p14="http://schemas.microsoft.com/office/powerpoint/2010/main" val="24242940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5304E-5B76-C7D3-FF30-435E1F2E4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49D3D17-D1C5-E481-ABD6-61E04CC72B25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C1E4B49-1192-695F-8291-48C66874AC46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３・４校時の授業について　②考え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871D856-5C1D-8BEB-D3E7-9B8F19D3E72D}"/>
              </a:ext>
            </a:extLst>
          </p:cNvPr>
          <p:cNvSpPr/>
          <p:nvPr/>
        </p:nvSpPr>
        <p:spPr bwMode="white">
          <a:xfrm>
            <a:off x="489758" y="900000"/>
            <a:ext cx="4000000" cy="517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2-1　算数（岩佐）</a:t>
            </a:r>
            <a:endParaRPr lang="en-US" altLang="ja-JP" sz="24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4539BEB-F3C9-6597-FF8D-13F6493EAAA1}"/>
              </a:ext>
            </a:extLst>
          </p:cNvPr>
          <p:cNvSpPr/>
          <p:nvPr/>
        </p:nvSpPr>
        <p:spPr bwMode="white">
          <a:xfrm>
            <a:off x="4700000" y="900000"/>
            <a:ext cx="4000000" cy="517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5-3　社会（小松）</a:t>
            </a:r>
            <a:endParaRPr lang="en-US" altLang="ja-JP" sz="24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E8968C1-738E-5797-EEAA-8EC7DE30B3AE}"/>
              </a:ext>
            </a:extLst>
          </p:cNvPr>
          <p:cNvSpPr/>
          <p:nvPr/>
        </p:nvSpPr>
        <p:spPr bwMode="white">
          <a:xfrm>
            <a:off x="489758" y="2700000"/>
            <a:ext cx="4000000" cy="517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4-2　国語（工藤）</a:t>
            </a:r>
            <a:endParaRPr lang="en-US" altLang="ja-JP" sz="24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D58072C-8A99-B42C-4A03-380C420A0218}"/>
              </a:ext>
            </a:extLst>
          </p:cNvPr>
          <p:cNvSpPr/>
          <p:nvPr/>
        </p:nvSpPr>
        <p:spPr bwMode="white">
          <a:xfrm>
            <a:off x="4700000" y="2700000"/>
            <a:ext cx="4000000" cy="517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6-3　道徳（松田）</a:t>
            </a:r>
            <a:endParaRPr lang="en-US" altLang="ja-JP" sz="24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600579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B42D7-2122-C921-2C93-C06AF6E3D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D724A89-2580-D591-20FE-044E5BEFBAE5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4D9C61A6-0D7D-D7A1-EB3A-F1D29C27CCA7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３・４校時の授業について　③行動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5D3743F-9B80-8301-2727-28B24CEB585F}"/>
              </a:ext>
            </a:extLst>
          </p:cNvPr>
          <p:cNvSpPr/>
          <p:nvPr/>
        </p:nvSpPr>
        <p:spPr bwMode="white">
          <a:xfrm>
            <a:off x="489758" y="900000"/>
            <a:ext cx="4000000" cy="517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4-1　社会（三井）</a:t>
            </a:r>
            <a:endParaRPr lang="en-US" altLang="ja-JP" sz="24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E270405-A8B6-2B0E-EA8E-6FC8C7CBA1D9}"/>
              </a:ext>
            </a:extLst>
          </p:cNvPr>
          <p:cNvSpPr/>
          <p:nvPr/>
        </p:nvSpPr>
        <p:spPr bwMode="white">
          <a:xfrm>
            <a:off x="4700000" y="900000"/>
            <a:ext cx="4000000" cy="517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5-2　体育（古江）</a:t>
            </a:r>
            <a:endParaRPr lang="en-US" altLang="ja-JP" sz="24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1044BF6-66AC-7531-FFD7-AE2565339A18}"/>
              </a:ext>
            </a:extLst>
          </p:cNvPr>
          <p:cNvSpPr/>
          <p:nvPr/>
        </p:nvSpPr>
        <p:spPr bwMode="white">
          <a:xfrm>
            <a:off x="489758" y="2700000"/>
            <a:ext cx="4000000" cy="517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6-2　外国語（木下）</a:t>
            </a:r>
            <a:endParaRPr lang="en-US" altLang="ja-JP" sz="24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4877F31-44E4-C62E-AC94-341DD920F663}"/>
              </a:ext>
            </a:extLst>
          </p:cNvPr>
          <p:cNvSpPr/>
          <p:nvPr/>
        </p:nvSpPr>
        <p:spPr bwMode="white">
          <a:xfrm>
            <a:off x="4700000" y="2700000"/>
            <a:ext cx="4000000" cy="517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2-2　道徳（中牧）</a:t>
            </a:r>
            <a:endParaRPr lang="en-US" altLang="ja-JP" sz="24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57664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F3127-9088-B933-F3B3-92060C2A5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8A278EE-C276-19D9-FDFA-E4CE17C40DBB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81A3B47-DC4E-4EA8-7D06-13C72654739F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３・４校時の授業について　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91E7600-9230-47CF-B47C-3B1B6F7C35BA}"/>
              </a:ext>
            </a:extLst>
          </p:cNvPr>
          <p:cNvSpPr/>
          <p:nvPr/>
        </p:nvSpPr>
        <p:spPr bwMode="white">
          <a:xfrm>
            <a:off x="470947" y="970565"/>
            <a:ext cx="8019225" cy="27238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研究主題の具現に向けた３つの視点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　①自ら関心をもち（教材との出会い）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　②考え（委ねる時間と戻る場）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　③行動しようとする（学びを次へ）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68909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973C5-949A-0B47-375C-47B674A7E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556DA15-1216-AE2D-19F4-BE0E23E4579F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1CF88AA8-D5AA-2FFC-B5F9-8677ACCDECF3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３・４校時の授業について　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79F7953-85A4-8E6B-482F-C62C34E3940C}"/>
              </a:ext>
            </a:extLst>
          </p:cNvPr>
          <p:cNvSpPr/>
          <p:nvPr/>
        </p:nvSpPr>
        <p:spPr bwMode="white">
          <a:xfrm>
            <a:off x="562387" y="606813"/>
            <a:ext cx="8019225" cy="6586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今後に向けて</a:t>
            </a:r>
            <a:endParaRPr lang="en-US" altLang="ja-JP" sz="32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11F27B4-4610-6AB1-6927-2CFCFD115F37}"/>
              </a:ext>
            </a:extLst>
          </p:cNvPr>
          <p:cNvSpPr/>
          <p:nvPr/>
        </p:nvSpPr>
        <p:spPr bwMode="white">
          <a:xfrm>
            <a:off x="562387" y="1356032"/>
            <a:ext cx="8019225" cy="24314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32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本日の視点を、明日の授業改善へ</a:t>
            </a:r>
            <a:endParaRPr lang="en-US" altLang="ja-JP" sz="3200" b="1" u="sng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・深い学びと研究主題は地続き</a:t>
            </a:r>
            <a:endParaRPr lang="en-US" altLang="ja-JP" sz="32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・「好き」を育み「得意」を伸ばす</a:t>
            </a:r>
            <a:r>
              <a:rPr lang="en-US" altLang="ja-JP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/>
            </a:r>
            <a:r>
              <a:rPr lang="ja-JP" altLang="en-US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/>
            </a:r>
            <a:endParaRPr lang="en-US" altLang="ja-JP" sz="32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・「幸せな学校はみんながつくる」</a:t>
            </a:r>
            <a:endParaRPr lang="en-US" altLang="ja-JP" sz="32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99701922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2189</TotalTime>
  <Words>301</Words>
  <Application>Microsoft Office PowerPoint</Application>
  <PresentationFormat>画面に合わせる (16:9)</PresentationFormat>
  <Paragraphs>57</Paragraphs>
  <Slides>8</Slides>
  <Notes>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3" baseType="lpstr">
      <vt:lpstr>ＭＳ Ｐゴシック</vt:lpstr>
      <vt:lpstr>メイリオ</vt:lpstr>
      <vt:lpstr>游ゴシック</vt:lpstr>
      <vt:lpstr>Arial</vt:lpstr>
      <vt:lpstr>Simple Light</vt:lpstr>
      <vt:lpstr>　 　練馬区立●●学校 　教育指導課訪問（３・４校時）  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髙橋　庸介</dc:creator>
  <cp:lastModifiedBy>岩本　祐樹</cp:lastModifiedBy>
  <cp:revision>238</cp:revision>
  <cp:lastPrinted>2026-01-16T08:09:16Z</cp:lastPrinted>
  <dcterms:modified xsi:type="dcterms:W3CDTF">2026-04-09T05:24:34Z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2024-11-05T11:38:43Z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a2ab2787-c1e7-407f-a903-ef94d39b46a6</vt:lpwstr>
  </property>
  <property fmtid="{D5CDD505-2E9C-101B-9397-08002B2CF9AE}" pid="7" name="MSIP_Label_defa4170-0d19-0005-0004-bc88714345d2_ActionId">
    <vt:lpwstr>944b954c-8c97-4a3f-a932-afe242b54cb8</vt:lpwstr>
  </property>
  <property fmtid="{D5CDD505-2E9C-101B-9397-08002B2CF9AE}" pid="8" name="MSIP_Label_defa4170-0d19-0005-0004-bc88714345d2_ContentBits">
    <vt:lpwstr>0</vt:lpwstr>
  </property>
</Properties>
</file>