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0" r:id="rId1"/>
  </p:sldMasterIdLst>
  <p:notesMasterIdLst>
    <p:notesMasterId r:id="rId16"/>
  </p:notesMasterIdLst>
  <p:handoutMasterIdLst>
    <p:handoutMasterId r:id="rId17"/>
  </p:handoutMasterIdLst>
  <p:sldIdLst>
    <p:sldId id="256" r:id="rId2"/>
    <p:sldId id="539" r:id="rId3"/>
    <p:sldId id="731" r:id="rId4"/>
    <p:sldId id="525" r:id="rId5"/>
    <p:sldId id="262" r:id="rId6"/>
    <p:sldId id="519" r:id="rId7"/>
    <p:sldId id="515" r:id="rId8"/>
    <p:sldId id="732" r:id="rId22"/>
    <p:sldId id="526" r:id="rId9"/>
    <p:sldId id="527" r:id="rId10"/>
    <p:sldId id="729" r:id="rId11"/>
    <p:sldId id="521" r:id="rId12"/>
    <p:sldId id="728" r:id="rId13"/>
    <p:sldId id="355" r:id="rId14"/>
    <p:sldId id="727" r:id="rId15"/>
  </p:sldIdLst>
  <p:sldSz cx="9144000" cy="5143500" type="screen16x9"/>
  <p:notesSz cx="9869488" cy="673735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6C15"/>
    <a:srgbClr val="07A973"/>
    <a:srgbClr val="08B87D"/>
    <a:srgbClr val="08CE8C"/>
    <a:srgbClr val="08DA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E291C43-1532-4610-ABD8-C8CECD27156B}">
  <a:tblStyle styleId="{0E291C43-1532-4610-ABD8-C8CECD27156B}" styleName="Table_0">
    <a:wholeTbl>
      <a:tcTxStyle b="off" i="off">
        <a:font>
          <a:latin typeface="游ゴシック"/>
          <a:ea typeface="游ゴシック"/>
          <a:cs typeface="游ゴシック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6E6"/>
          </a:solidFill>
        </a:fill>
      </a:tcStyle>
    </a:wholeTbl>
    <a:band1H>
      <a:tcTxStyle/>
      <a:tcStyle>
        <a:tcBdr/>
        <a:fill>
          <a:solidFill>
            <a:srgbClr val="CACAC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CACA"/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E6E6E6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游ゴシック"/>
          <a:ea typeface="游ゴシック"/>
          <a:cs typeface="游ゴシック"/>
        </a:font>
        <a:schemeClr val="lt1"/>
      </a:tcTxStyle>
      <a:tcStyle>
        <a:tcBdr/>
        <a:fill>
          <a:solidFill>
            <a:schemeClr val="dk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5758FB7-9AC5-4552-8A53-C91805E547FA}" styleName="テーマ スタイル 1 - アクセント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08FB837D-C827-4EFA-A057-4D05807E0F7C}" styleName="テーマ スタイル 1 - アクセント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8603FDC-E32A-4AB5-989C-0864C3EAD2B8}" styleName="テーマ スタイル 2 - アクセント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テーマ スタイル 2 - アクセント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淡色スタイル 1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23" autoAdjust="0"/>
    <p:restoredTop sz="93447" autoAdjust="0"/>
  </p:normalViewPr>
  <p:slideViewPr>
    <p:cSldViewPr snapToGrid="0">
      <p:cViewPr varScale="1">
        <p:scale>
          <a:sx n="136" d="100"/>
          <a:sy n="136" d="100"/>
        </p:scale>
        <p:origin x="354" y="13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256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notesMaster" Target="notesMasters/notesMaster1.xml"/><Relationship Id="rId17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6778" cy="338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5590426" y="0"/>
            <a:ext cx="4276778" cy="3380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2A2779-45BC-43BE-9EC8-D38CFB0D7052}" type="datetimeFigureOut">
              <a:rPr kumimoji="1" lang="ja-JP" altLang="en-US" smtClean="0"/>
              <a:t>2026/5/26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6399313"/>
            <a:ext cx="4276778" cy="338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5590426" y="6399313"/>
            <a:ext cx="4276778" cy="3380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F93DD2-1020-4EE0-ACDE-AC71370277F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633609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687638" y="504825"/>
            <a:ext cx="4494212" cy="25273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86949" y="3200241"/>
            <a:ext cx="7895590" cy="3031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170099d0ae5_2_75:notes"/>
          <p:cNvSpPr txBox="1">
            <a:spLocks noGrp="1"/>
          </p:cNvSpPr>
          <p:nvPr>
            <p:ph type="body" idx="1"/>
          </p:nvPr>
        </p:nvSpPr>
        <p:spPr>
          <a:xfrm>
            <a:off x="987428" y="3241675"/>
            <a:ext cx="7894648" cy="265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7" name="Google Shape;127;g170099d0ae5_2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914650" y="842963"/>
            <a:ext cx="4040188" cy="22733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689DA-6814-B492-6FDF-C05F1C91C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9136912-A6DC-16A6-101E-28B4F903A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CC83917-F4B1-8D5B-2907-CA280858F8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92F5D5-E114-67BC-5235-48FE9499E7A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FDC4779-E3E4-D0E2-0270-A3D0989834C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82705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7B0F6-9B25-69C1-F3EE-E7ABC1D98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24F5D6A-7954-8C34-4C25-62A42168A0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5E541D3-0CC8-5C55-CC7E-AE51865365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900251E-AF94-B6B1-E5A4-FE7FAAC60ED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763A965-C0B8-39AD-D221-9120317A05A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64441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60613-BE72-B48C-D9D2-81B291EED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D2881E2-F05A-B6A0-F53F-57798F348F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4FE4DE2-3DE6-CCDD-9EC3-1DCAFE8DF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0F2272A-49A3-EB6D-57CD-1F67A42D2B8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AA84D45-ADE3-FA57-62A0-C4510B5D87D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44586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B818C-DCD6-C1A3-E536-631953127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45B2EFE-A1E7-53BF-5EA9-F91F66DC15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6A152E4-9228-ECF8-64A1-CE3F00BCBE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6769C6E-489D-D023-4FA1-572E96F20C9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F8483C7-05C1-1061-989F-C345A8CEAC0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59601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10366-2681-9BA3-87A8-939553402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D3C8D4B-618A-F5BD-B65B-9EEB32DDA7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BB3FC3C-8F3C-0976-47E3-F9CCB6A5F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>
                <a:latin typeface="メイリオ"/>
              </a:rPr>
              <a:t>【①関心 補足ポイント】</a:t>
            </a:r>
          </a:p>
          <a:p>
            <a:r>
              <a:rPr sz="1400">
                <a:latin typeface="メイリオ"/>
              </a:rPr>
              <a:t>・単元名で心を掴む（１年体育「ボールをなげるのだ！あてるのだ！たおすのだ！」）</a:t>
            </a:r>
          </a:p>
          <a:p>
            <a:r>
              <a:rPr sz="1400">
                <a:latin typeface="メイリオ"/>
              </a:rPr>
              <a:t>・３つの場で「やってみたい」を引き出す（フラフープ・ターゲット／段ボール倒し／ロケット投げ）</a:t>
            </a:r>
          </a:p>
          <a:p>
            <a:r>
              <a:rPr sz="1400">
                <a:latin typeface="メイリオ"/>
              </a:rPr>
              <a:t>・教材との出会いが関心の質を決める（５年図工「オナマエアート」）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5BC1266-B627-334F-1314-258195CCB47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4B351BE-54F6-605E-1164-2835FF1FE5A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77314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DE484-FE70-3BE3-5414-90CDC1ED0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F9A51B1-2F78-6823-0412-10A0B91C3F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5F4752A-EC3E-9619-08D1-31263B2B18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AD16B86-007C-AAB3-694C-F49E4A24467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3657DDD-14A7-3D7E-7CE1-F9F27A8CE33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06205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A00FD-F612-E8E7-05E3-102F14DC2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BA4B4B2-CC24-CB51-EE1B-3BB541B4E7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25E240A-5B0D-D9C0-AC28-A11F14DB87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126E187-F221-A474-479C-74ECACF325D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8E54726-C38E-F9DB-5818-42888C7995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13924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1A904-9A28-623C-46D8-ACDCE0748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C2FC816-1A51-77D4-E12B-F43542A897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C88BACE-30CA-8B9D-D857-9804D98F91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62D9CC-22BC-706B-F61F-33C902E1E44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A3CB5FF-281C-C6EE-BA87-3FBE2698F20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96057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87E78-44DE-2A20-A6AE-89EEA38E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CDBD9E5-D7BE-00C8-1052-4030E3A1EE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0D73994-14EE-4D23-8910-38A32DD0CA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8CBB6B2-776E-F92E-1FBB-D8F94A1AEED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r>
              <a:rPr kumimoji="1" lang="en-US" altLang="ja-JP" dirty="0"/>
              <a:t>2021/3/24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FCCF6C3-8655-85C8-088D-AAF3E0A292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F652ED-4E8E-4FA7-8EF4-2DDF6FB21FCE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6041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169ca163b2d_2_83:notes"/>
          <p:cNvSpPr txBox="1">
            <a:spLocks noGrp="1"/>
          </p:cNvSpPr>
          <p:nvPr>
            <p:ph type="body" idx="1"/>
          </p:nvPr>
        </p:nvSpPr>
        <p:spPr>
          <a:xfrm>
            <a:off x="464041" y="6907189"/>
            <a:ext cx="3712315" cy="65436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7" name="Google Shape;237;g169ca163b2d_2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2525713" y="1090613"/>
            <a:ext cx="9693276" cy="54530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04995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>
          <a:extLst>
            <a:ext uri="{FF2B5EF4-FFF2-40B4-BE49-F238E27FC236}">
              <a16:creationId xmlns:a16="http://schemas.microsoft.com/office/drawing/2014/main" id="{19C153A2-599A-E891-D131-D38888C3E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169ca163b2d_2_83:notes">
            <a:extLst>
              <a:ext uri="{FF2B5EF4-FFF2-40B4-BE49-F238E27FC236}">
                <a16:creationId xmlns:a16="http://schemas.microsoft.com/office/drawing/2014/main" id="{4011F2C0-815A-DDDC-1C16-F6EE9F1656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64041" y="6907189"/>
            <a:ext cx="3712315" cy="65436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7" name="Google Shape;237;g169ca163b2d_2_83:notes">
            <a:extLst>
              <a:ext uri="{FF2B5EF4-FFF2-40B4-BE49-F238E27FC236}">
                <a16:creationId xmlns:a16="http://schemas.microsoft.com/office/drawing/2014/main" id="{D3C5D57B-F659-D016-EE00-617C927661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2525713" y="1090613"/>
            <a:ext cx="9693276" cy="54530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1726863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8DB18-F118-4E03-B042-5FAD6EB649E2}" type="datetime1">
              <a:rPr kumimoji="1" lang="ja-JP" altLang="en-US" smtClean="0"/>
              <a:t>2026/5/26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B46D6-F21A-4DD7-8FBA-FBACCF13E10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881346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71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/>
          <p:nvPr/>
        </p:nvSpPr>
        <p:spPr>
          <a:xfrm rot="10800000">
            <a:off x="505557" y="544530"/>
            <a:ext cx="8532056" cy="1980955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5"/>
          <p:cNvSpPr/>
          <p:nvPr/>
        </p:nvSpPr>
        <p:spPr>
          <a:xfrm>
            <a:off x="5690382" y="3718193"/>
            <a:ext cx="3143104" cy="1036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dist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sym typeface="Arial"/>
              </a:rPr>
              <a:t>令和８年５月27日（水）</a:t>
            </a:r>
            <a:endParaRPr lang="en-US" altLang="ja" sz="2000" b="1" dirty="0">
              <a:solidFill>
                <a:schemeClr val="tx1">
                  <a:lumMod val="65000"/>
                  <a:lumOff val="35000"/>
                </a:schemeClr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  <a:sym typeface="Arial"/>
            </a:endParaRPr>
          </a:p>
          <a:p>
            <a:pPr marL="0" marR="0" lvl="0" indent="0" algn="dist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 sz="2000" b="1" dirty="0">
                <a:solidFill>
                  <a:schemeClr val="tx1">
                    <a:lumMod val="65000"/>
                    <a:lumOff val="35000"/>
                  </a:schemeClr>
                </a:solidFill>
                <a:sym typeface="Arial"/>
              </a:rPr>
              <a:t>練馬区教育委員会</a:t>
            </a:r>
            <a:endParaRPr sz="2000" b="1" dirty="0">
              <a:solidFill>
                <a:schemeClr val="tx1">
                  <a:lumMod val="65000"/>
                  <a:lumOff val="35000"/>
                </a:schemeClr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  <a:sym typeface="Arial"/>
            </a:endParaRPr>
          </a:p>
          <a:p>
            <a:pPr marL="0" marR="0" lvl="0" indent="0" algn="dist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 sz="2000" b="1" dirty="0">
                <a:solidFill>
                  <a:schemeClr val="tx1">
                    <a:lumMod val="65000"/>
                    <a:lumOff val="35000"/>
                  </a:schemeClr>
                </a:solidFill>
                <a:sym typeface="Arial"/>
              </a:rPr>
              <a:t>指導主事　</a:t>
            </a:r>
            <a:r>
              <a:rPr lang="ja-JP" altLang="en-US" sz="2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紺多　章一郎</a:t>
            </a:r>
            <a:endParaRPr sz="2000" b="1" dirty="0">
              <a:solidFill>
                <a:schemeClr val="tx1">
                  <a:lumMod val="65000"/>
                  <a:lumOff val="35000"/>
                </a:schemeClr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  <a:sym typeface="Arial"/>
            </a:endParaRPr>
          </a:p>
        </p:txBody>
      </p:sp>
      <p:sp>
        <p:nvSpPr>
          <p:cNvPr id="6" name="タイトル 1"/>
          <p:cNvSpPr>
            <a:spLocks noGrp="1"/>
          </p:cNvSpPr>
          <p:nvPr>
            <p:ph type="ctrTitle"/>
          </p:nvPr>
        </p:nvSpPr>
        <p:spPr>
          <a:xfrm>
            <a:off x="0" y="0"/>
            <a:ext cx="9144000" cy="2865663"/>
          </a:xfrm>
          <a:solidFill>
            <a:srgbClr val="5B9BD5"/>
          </a:solidFill>
        </p:spPr>
        <p:txBody>
          <a:bodyPr anchor="t">
            <a:noAutofit/>
          </a:bodyPr>
          <a:lstStyle/>
          <a:p>
            <a:pPr algn="l"/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</a:t>
            </a:r>
            <a:br>
              <a:rPr lang="en-US" altLang="ja-JP" sz="28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</a:b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練馬区立向山小学校</a:t>
            </a:r>
            <a:br>
              <a:rPr lang="en-US" altLang="ja-JP" sz="40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</a:br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教育指導課訪問（３・４校時）</a:t>
            </a:r>
            <a:br>
              <a:rPr lang="en-US" altLang="ja-JP" sz="28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</a:br>
            <a:br>
              <a:rPr lang="en-US" altLang="ja-JP" sz="2800" b="1" dirty="0">
                <a:solidFill>
                  <a:schemeClr val="bg1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</a:br>
            <a:endParaRPr kumimoji="1" lang="ja-JP" altLang="en-US" sz="2400" b="1" dirty="0">
              <a:solidFill>
                <a:schemeClr val="bg1"/>
              </a:solidFill>
              <a:latin typeface="+mn-ea"/>
              <a:ea typeface="+mn-ea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BCF7D57-B099-BCA6-6CF2-6DD1720676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76" y="2958529"/>
            <a:ext cx="2370176" cy="19450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E7DC1-EDDA-E849-AC56-3F88BA0A6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0A1878C-5802-696D-B5BA-1EACB2AF8C7E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1FC22D7A-BA68-35D2-5681-DD95636B38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51514"/>
              </p:ext>
            </p:extLst>
          </p:nvPr>
        </p:nvGraphicFramePr>
        <p:xfrm>
          <a:off x="76200" y="1679787"/>
          <a:ext cx="8847667" cy="264002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60248">
                  <a:extLst>
                    <a:ext uri="{9D8B030D-6E8A-4147-A177-3AD203B41FA5}">
                      <a16:colId xmlns:a16="http://schemas.microsoft.com/office/drawing/2014/main" val="2491099294"/>
                    </a:ext>
                  </a:extLst>
                </a:gridCol>
                <a:gridCol w="1375522">
                  <a:extLst>
                    <a:ext uri="{9D8B030D-6E8A-4147-A177-3AD203B41FA5}">
                      <a16:colId xmlns:a16="http://schemas.microsoft.com/office/drawing/2014/main" val="4195128873"/>
                    </a:ext>
                  </a:extLst>
                </a:gridCol>
                <a:gridCol w="1411897">
                  <a:extLst>
                    <a:ext uri="{9D8B030D-6E8A-4147-A177-3AD203B41FA5}">
                      <a16:colId xmlns:a16="http://schemas.microsoft.com/office/drawing/2014/main" val="2599010338"/>
                    </a:ext>
                  </a:extLst>
                </a:gridCol>
              </a:tblGrid>
              <a:tr h="104466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dirty="0">
                          <a:solidFill>
                            <a:schemeClr val="tx1"/>
                          </a:solidFill>
                        </a:rPr>
                        <a:t>質問項目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dirty="0">
                          <a:solidFill>
                            <a:schemeClr val="tx1"/>
                          </a:solidFill>
                        </a:rPr>
                        <a:t>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dirty="0">
                          <a:solidFill>
                            <a:schemeClr val="tx1"/>
                          </a:solidFill>
                        </a:rPr>
                        <a:t>向山小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2921817"/>
                  </a:ext>
                </a:extLst>
              </a:tr>
              <a:tr h="797677">
                <a:tc>
                  <a:txBody>
                    <a:bodyPr/>
                    <a:lstStyle/>
                    <a:p>
                      <a:r>
                        <a:rPr lang="ja-JP" altLang="ja-JP" sz="20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分からないことや詳しく知りたいことがあったときに、自分で学び方を考え、工夫することはできていますか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sz="2800" dirty="0">
                          <a:solidFill>
                            <a:schemeClr val="tx1"/>
                          </a:solidFill>
                        </a:rPr>
                        <a:t>81.1%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sz="2800" dirty="0">
                          <a:solidFill>
                            <a:srgbClr val="0070C0"/>
                          </a:solidFill>
                        </a:rPr>
                        <a:t>80.0</a:t>
                      </a:r>
                      <a:r>
                        <a:rPr kumimoji="1" lang="ja-JP" altLang="en-US" sz="2800" dirty="0">
                          <a:solidFill>
                            <a:srgbClr val="0070C0"/>
                          </a:solidFill>
                        </a:rPr>
                        <a:t>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5764373"/>
                  </a:ext>
                </a:extLst>
              </a:tr>
              <a:tr h="797677">
                <a:tc>
                  <a:txBody>
                    <a:bodyPr/>
                    <a:lstStyle/>
                    <a:p>
                      <a:r>
                        <a:rPr lang="ja-JP" altLang="en-US" sz="20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授業で学んだことを、次の学習や実生活に結びつけて考えたり、生かしたりすることができると思いますか</a:t>
                      </a:r>
                      <a:endParaRPr kumimoji="1" lang="ja-JP" altLang="en-US" sz="3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sz="2800" dirty="0">
                          <a:solidFill>
                            <a:schemeClr val="tx1"/>
                          </a:solidFill>
                        </a:rPr>
                        <a:t>80.6%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sz="2800" dirty="0">
                          <a:solidFill>
                            <a:srgbClr val="FF0000"/>
                          </a:solidFill>
                        </a:rPr>
                        <a:t>90.6</a:t>
                      </a:r>
                      <a:r>
                        <a:rPr kumimoji="1" lang="ja-JP" altLang="en-US" sz="2800" dirty="0">
                          <a:solidFill>
                            <a:srgbClr val="FF0000"/>
                          </a:solidFill>
                        </a:rPr>
                        <a:t>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9117679"/>
                  </a:ext>
                </a:extLst>
              </a:tr>
            </a:tbl>
          </a:graphicData>
        </a:graphic>
      </p:graphicFrame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D7C4A96-79D9-4810-06B6-A4752B4E9BA4}"/>
              </a:ext>
            </a:extLst>
          </p:cNvPr>
          <p:cNvSpPr/>
          <p:nvPr/>
        </p:nvSpPr>
        <p:spPr>
          <a:xfrm>
            <a:off x="0" y="6741"/>
            <a:ext cx="9144000" cy="969412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3200" b="1" dirty="0">
                <a:solidFill>
                  <a:schemeClr val="bg1"/>
                </a:solidFill>
              </a:rPr>
              <a:t>令和７年度全国学力・学習状況調査</a:t>
            </a:r>
            <a:endParaRPr lang="en-US" altLang="ja-JP" sz="3200" b="1" dirty="0">
              <a:solidFill>
                <a:schemeClr val="bg1"/>
              </a:solidFill>
            </a:endParaRPr>
          </a:p>
          <a:p>
            <a:r>
              <a:rPr lang="ja-JP" altLang="en-US" sz="3200" b="1" dirty="0">
                <a:solidFill>
                  <a:schemeClr val="bg1"/>
                </a:solidFill>
              </a:rPr>
              <a:t>児童質問用紙より</a:t>
            </a:r>
            <a:endParaRPr lang="en-US" altLang="ja-JP" sz="3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9393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4D58E-4D8F-A1E1-2537-561D48BA4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82CD490-F1C5-1A71-26B4-619E0A9A7897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7991133E-73CF-82E8-49FD-3BF2C062BB6A}"/>
              </a:ext>
            </a:extLst>
          </p:cNvPr>
          <p:cNvGraphicFramePr>
            <a:graphicFrameLocks noGrp="1"/>
          </p:cNvGraphicFramePr>
          <p:nvPr/>
        </p:nvGraphicFramePr>
        <p:xfrm>
          <a:off x="76200" y="1679787"/>
          <a:ext cx="8847667" cy="264002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060248">
                  <a:extLst>
                    <a:ext uri="{9D8B030D-6E8A-4147-A177-3AD203B41FA5}">
                      <a16:colId xmlns:a16="http://schemas.microsoft.com/office/drawing/2014/main" val="2491099294"/>
                    </a:ext>
                  </a:extLst>
                </a:gridCol>
                <a:gridCol w="1375522">
                  <a:extLst>
                    <a:ext uri="{9D8B030D-6E8A-4147-A177-3AD203B41FA5}">
                      <a16:colId xmlns:a16="http://schemas.microsoft.com/office/drawing/2014/main" val="4195128873"/>
                    </a:ext>
                  </a:extLst>
                </a:gridCol>
                <a:gridCol w="1411897">
                  <a:extLst>
                    <a:ext uri="{9D8B030D-6E8A-4147-A177-3AD203B41FA5}">
                      <a16:colId xmlns:a16="http://schemas.microsoft.com/office/drawing/2014/main" val="2599010338"/>
                    </a:ext>
                  </a:extLst>
                </a:gridCol>
              </a:tblGrid>
              <a:tr h="1044669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dirty="0">
                          <a:solidFill>
                            <a:schemeClr val="tx1"/>
                          </a:solidFill>
                        </a:rPr>
                        <a:t>質問項目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dirty="0">
                          <a:solidFill>
                            <a:schemeClr val="tx1"/>
                          </a:solidFill>
                        </a:rPr>
                        <a:t>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800" dirty="0">
                          <a:solidFill>
                            <a:schemeClr val="tx1"/>
                          </a:solidFill>
                        </a:rPr>
                        <a:t>向山小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2921817"/>
                  </a:ext>
                </a:extLst>
              </a:tr>
              <a:tr h="797677">
                <a:tc>
                  <a:txBody>
                    <a:bodyPr/>
                    <a:lstStyle/>
                    <a:p>
                      <a:r>
                        <a:rPr lang="ja-JP" altLang="ja-JP" sz="20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分からないことや詳しく知りたいことがあったときに、自分で学び方を考え、工夫することはできていますか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sz="2800" dirty="0">
                          <a:solidFill>
                            <a:schemeClr val="tx1"/>
                          </a:solidFill>
                        </a:rPr>
                        <a:t>81.1%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ja-JP" altLang="en-US" sz="28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　　　</a:t>
                      </a:r>
                      <a:r>
                        <a:rPr kumimoji="1" lang="ja-JP" altLang="en-US" sz="2800" dirty="0">
                          <a:solidFill>
                            <a:schemeClr val="tx1"/>
                          </a:solidFill>
                        </a:rPr>
                        <a:t>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5764373"/>
                  </a:ext>
                </a:extLst>
              </a:tr>
              <a:tr h="797677">
                <a:tc>
                  <a:txBody>
                    <a:bodyPr/>
                    <a:lstStyle/>
                    <a:p>
                      <a:r>
                        <a:rPr lang="ja-JP" altLang="en-US" sz="20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授業で学んだことを、次の学習や実生活に結びつけて考えたり、生かしたりすることができると思いますか</a:t>
                      </a:r>
                      <a:endParaRPr kumimoji="1" lang="ja-JP" altLang="en-US" sz="36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sz="2800" dirty="0">
                          <a:solidFill>
                            <a:schemeClr val="tx1"/>
                          </a:solidFill>
                        </a:rPr>
                        <a:t>80.6%</a:t>
                      </a:r>
                      <a:endParaRPr kumimoji="1" lang="ja-JP" altLang="en-US" sz="2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ja-JP" altLang="en-US" sz="28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　　　</a:t>
                      </a:r>
                      <a:r>
                        <a:rPr kumimoji="1" lang="ja-JP" altLang="en-US" sz="2800" dirty="0">
                          <a:solidFill>
                            <a:schemeClr val="tx1"/>
                          </a:solidFill>
                        </a:rPr>
                        <a:t>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9117679"/>
                  </a:ext>
                </a:extLst>
              </a:tr>
            </a:tbl>
          </a:graphicData>
        </a:graphic>
      </p:graphicFrame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0A59541-EBCC-5F00-6CDD-2D399B886B1B}"/>
              </a:ext>
            </a:extLst>
          </p:cNvPr>
          <p:cNvSpPr/>
          <p:nvPr/>
        </p:nvSpPr>
        <p:spPr>
          <a:xfrm>
            <a:off x="0" y="6741"/>
            <a:ext cx="9144000" cy="969412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3200" b="1" dirty="0">
                <a:solidFill>
                  <a:schemeClr val="bg1"/>
                </a:solidFill>
              </a:rPr>
              <a:t>令和７年度全国学力・学習状況調査</a:t>
            </a:r>
            <a:endParaRPr lang="en-US" altLang="ja-JP" sz="3200" b="1" dirty="0">
              <a:solidFill>
                <a:schemeClr val="bg1"/>
              </a:solidFill>
            </a:endParaRPr>
          </a:p>
          <a:p>
            <a:r>
              <a:rPr lang="ja-JP" altLang="en-US" sz="3200" b="1" dirty="0">
                <a:solidFill>
                  <a:schemeClr val="bg1"/>
                </a:solidFill>
              </a:rPr>
              <a:t>児童質問用紙より</a:t>
            </a:r>
            <a:endParaRPr lang="en-US" altLang="ja-JP" sz="3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77927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1D3C9-DA06-2360-20FE-D74FEFB05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83CEDA9-7196-12AB-8B24-555D95D63C5D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45391DB-BFA8-70BC-47AF-C870A4F9A906}"/>
              </a:ext>
            </a:extLst>
          </p:cNvPr>
          <p:cNvSpPr/>
          <p:nvPr/>
        </p:nvSpPr>
        <p:spPr>
          <a:xfrm>
            <a:off x="0" y="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242ACF5-38B3-DDF6-38BA-9842170ED879}"/>
              </a:ext>
            </a:extLst>
          </p:cNvPr>
          <p:cNvSpPr/>
          <p:nvPr/>
        </p:nvSpPr>
        <p:spPr bwMode="white">
          <a:xfrm>
            <a:off x="470947" y="1034573"/>
            <a:ext cx="8019225" cy="24283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6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本日の視点</a:t>
            </a:r>
            <a:endParaRPr lang="en-US" altLang="ja-JP" sz="3600" b="1" u="sng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r>
              <a:rPr lang="ja-JP" sz="2400" b="1" dirty="0">
                <a:latin typeface="メイリオ"/>
                <a:ea typeface="メイリオ"/>
                <a:cs typeface="メイリオ"/>
              </a:rPr>
              <a:t>〜授業の事実から学びを語る〜</a:t>
            </a: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・「主体的・対話的で深い学び」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20000"/>
              </a:lnSpc>
            </a:pPr>
            <a:r>
              <a:rPr lang="ja-JP" altLang="en-US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 panose="020B0604030504040204" pitchFamily="50" charset="-128"/>
              </a:rPr>
              <a:t>　　→主体的な学びについて</a:t>
            </a:r>
            <a:endParaRPr lang="en-US" altLang="ja-JP" sz="3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127400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204716" y="622503"/>
            <a:ext cx="4943903" cy="49170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ja-JP" altLang="en-US" sz="2400" b="1" dirty="0"/>
              <a:t>「主体的な学び」のイメージ</a:t>
            </a:r>
          </a:p>
        </p:txBody>
      </p:sp>
      <p:sp>
        <p:nvSpPr>
          <p:cNvPr id="6" name="ドーナツ 5"/>
          <p:cNvSpPr/>
          <p:nvPr/>
        </p:nvSpPr>
        <p:spPr>
          <a:xfrm>
            <a:off x="1107395" y="1474466"/>
            <a:ext cx="3114814" cy="3176660"/>
          </a:xfrm>
          <a:prstGeom prst="donut">
            <a:avLst>
              <a:gd name="adj" fmla="val 6613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050" b="1">
              <a:solidFill>
                <a:schemeClr val="tx1"/>
              </a:solidFill>
            </a:endParaRPr>
          </a:p>
        </p:txBody>
      </p:sp>
      <p:sp>
        <p:nvSpPr>
          <p:cNvPr id="7" name="角丸四角形 6"/>
          <p:cNvSpPr/>
          <p:nvPr/>
        </p:nvSpPr>
        <p:spPr>
          <a:xfrm>
            <a:off x="1864484" y="1224978"/>
            <a:ext cx="1659768" cy="798253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/>
                </a:solidFill>
                <a:latin typeface="+mn-ea"/>
              </a:rPr>
              <a:t>興味や関心を</a:t>
            </a:r>
            <a:endParaRPr lang="en-US" altLang="ja-JP" sz="1050" b="1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ja-JP" altLang="en-US" sz="1050" b="1" dirty="0">
                <a:solidFill>
                  <a:schemeClr val="tx1"/>
                </a:solidFill>
                <a:latin typeface="+mn-ea"/>
              </a:rPr>
              <a:t>高める</a:t>
            </a:r>
          </a:p>
        </p:txBody>
      </p:sp>
      <p:sp>
        <p:nvSpPr>
          <p:cNvPr id="8" name="角丸四角形 7"/>
          <p:cNvSpPr/>
          <p:nvPr/>
        </p:nvSpPr>
        <p:spPr>
          <a:xfrm>
            <a:off x="204716" y="2272718"/>
            <a:ext cx="1659768" cy="798253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/>
                </a:solidFill>
                <a:latin typeface="+mn-ea"/>
              </a:rPr>
              <a:t>振り返って</a:t>
            </a:r>
            <a:endParaRPr lang="en-US" altLang="ja-JP" sz="1050" b="1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ja-JP" altLang="en-US" sz="1050" b="1" dirty="0">
                <a:solidFill>
                  <a:schemeClr val="tx1"/>
                </a:solidFill>
                <a:latin typeface="+mn-ea"/>
              </a:rPr>
              <a:t>次へつなげる</a:t>
            </a:r>
          </a:p>
        </p:txBody>
      </p:sp>
      <p:sp>
        <p:nvSpPr>
          <p:cNvPr id="9" name="角丸四角形 8"/>
          <p:cNvSpPr/>
          <p:nvPr/>
        </p:nvSpPr>
        <p:spPr>
          <a:xfrm>
            <a:off x="3524251" y="2256369"/>
            <a:ext cx="1659768" cy="798253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ja-JP" altLang="en-US" sz="1050" b="1" dirty="0">
                <a:solidFill>
                  <a:schemeClr val="tx1"/>
                </a:solidFill>
                <a:latin typeface="+mn-ea"/>
              </a:rPr>
              <a:t>見通しを</a:t>
            </a:r>
            <a:endParaRPr lang="en-US" altLang="ja-JP" sz="1050" b="1" dirty="0">
              <a:solidFill>
                <a:schemeClr val="tx1"/>
              </a:solidFill>
              <a:latin typeface="+mn-ea"/>
            </a:endParaRPr>
          </a:p>
          <a:p>
            <a:pPr lvl="0" algn="ctr"/>
            <a:r>
              <a:rPr lang="ja-JP" altLang="en-US" sz="1050" b="1" dirty="0">
                <a:solidFill>
                  <a:schemeClr val="tx1"/>
                </a:solidFill>
                <a:latin typeface="+mn-ea"/>
              </a:rPr>
              <a:t>もつ</a:t>
            </a:r>
          </a:p>
        </p:txBody>
      </p:sp>
      <p:sp>
        <p:nvSpPr>
          <p:cNvPr id="10" name="角丸四角形 9"/>
          <p:cNvSpPr/>
          <p:nvPr/>
        </p:nvSpPr>
        <p:spPr>
          <a:xfrm>
            <a:off x="665465" y="3869226"/>
            <a:ext cx="1659768" cy="798253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ja-JP" altLang="en-US" sz="1050" b="1" dirty="0">
                <a:solidFill>
                  <a:schemeClr val="tx1"/>
                </a:solidFill>
                <a:latin typeface="+mn-ea"/>
              </a:rPr>
              <a:t>粘り強く</a:t>
            </a:r>
            <a:endParaRPr lang="en-US" altLang="ja-JP" sz="1050" b="1" dirty="0">
              <a:solidFill>
                <a:schemeClr val="tx1"/>
              </a:solidFill>
              <a:latin typeface="+mn-ea"/>
            </a:endParaRPr>
          </a:p>
          <a:p>
            <a:pPr lvl="0" algn="ctr"/>
            <a:r>
              <a:rPr lang="ja-JP" altLang="en-US" sz="1050" b="1" dirty="0">
                <a:solidFill>
                  <a:schemeClr val="tx1"/>
                </a:solidFill>
                <a:latin typeface="+mn-ea"/>
              </a:rPr>
              <a:t>取り組む</a:t>
            </a:r>
          </a:p>
        </p:txBody>
      </p:sp>
      <p:sp>
        <p:nvSpPr>
          <p:cNvPr id="11" name="角丸四角形 10"/>
          <p:cNvSpPr/>
          <p:nvPr/>
        </p:nvSpPr>
        <p:spPr>
          <a:xfrm>
            <a:off x="3004347" y="3869226"/>
            <a:ext cx="1659768" cy="798253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ja-JP" altLang="en-US" sz="1050" b="1" dirty="0">
                <a:solidFill>
                  <a:schemeClr val="tx1"/>
                </a:solidFill>
                <a:latin typeface="+mn-ea"/>
              </a:rPr>
              <a:t>自分と</a:t>
            </a:r>
            <a:endParaRPr lang="en-US" altLang="ja-JP" sz="1050" b="1" dirty="0">
              <a:solidFill>
                <a:schemeClr val="tx1"/>
              </a:solidFill>
              <a:latin typeface="+mn-ea"/>
            </a:endParaRPr>
          </a:p>
          <a:p>
            <a:pPr lvl="0" algn="ctr"/>
            <a:r>
              <a:rPr lang="ja-JP" altLang="en-US" sz="1050" b="1" dirty="0">
                <a:solidFill>
                  <a:schemeClr val="tx1"/>
                </a:solidFill>
                <a:latin typeface="+mn-ea"/>
              </a:rPr>
              <a:t>結び付ける</a:t>
            </a:r>
          </a:p>
        </p:txBody>
      </p:sp>
      <p:sp>
        <p:nvSpPr>
          <p:cNvPr id="12" name="正方形/長方形 11"/>
          <p:cNvSpPr/>
          <p:nvPr/>
        </p:nvSpPr>
        <p:spPr>
          <a:xfrm>
            <a:off x="1966414" y="2256357"/>
            <a:ext cx="1455930" cy="146189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800" b="1" dirty="0"/>
              <a:t>学んだ</a:t>
            </a:r>
            <a:endParaRPr lang="en-US" altLang="ja-JP" sz="1800" b="1" dirty="0"/>
          </a:p>
          <a:p>
            <a:pPr algn="ctr"/>
            <a:r>
              <a:rPr lang="ja-JP" altLang="en-US" sz="1800" b="1" dirty="0"/>
              <a:t>手応えの積み重ね</a:t>
            </a:r>
          </a:p>
        </p:txBody>
      </p:sp>
      <p:sp>
        <p:nvSpPr>
          <p:cNvPr id="13" name="右矢印 12"/>
          <p:cNvSpPr/>
          <p:nvPr/>
        </p:nvSpPr>
        <p:spPr>
          <a:xfrm>
            <a:off x="5019455" y="2957494"/>
            <a:ext cx="1397567" cy="1008859"/>
          </a:xfrm>
          <a:prstGeom prst="rightArrow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050"/>
          </a:p>
        </p:txBody>
      </p:sp>
      <p:pic>
        <p:nvPicPr>
          <p:cNvPr id="18" name="図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7022" y="1849402"/>
            <a:ext cx="1660874" cy="2961434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42EFCCB-E74E-F28C-C7FC-A70CD29D787D}"/>
              </a:ext>
            </a:extLst>
          </p:cNvPr>
          <p:cNvSpPr/>
          <p:nvPr/>
        </p:nvSpPr>
        <p:spPr>
          <a:xfrm>
            <a:off x="0" y="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A1B9791-74B7-213E-9620-0883BECAEAAA}"/>
              </a:ext>
            </a:extLst>
          </p:cNvPr>
          <p:cNvSpPr txBox="1"/>
          <p:nvPr/>
        </p:nvSpPr>
        <p:spPr>
          <a:xfrm>
            <a:off x="4452424" y="709560"/>
            <a:ext cx="458606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kern="100" dirty="0">
                <a:effectLst/>
                <a:latin typeface="ＭＳ 明朝" panose="02020609040205080304" pitchFamily="17" charset="-128"/>
                <a:ea typeface="ＭＳ 明朝" panose="02020609040205080304" pitchFamily="17" charset="-128"/>
                <a:cs typeface="Times New Roman" panose="02020603050405020304" pitchFamily="18" charset="0"/>
              </a:rPr>
              <a:t>文部科学省の資料では、主体的な学びについて「学ぶことに興味や関心を持ち、自己のキャリア形成や日々の生活、社会の課題と関連付けながら、見通しを持って粘り強く取り組み、自己の学習活動を振り返って次につなげること」とされています。</a:t>
            </a:r>
          </a:p>
        </p:txBody>
      </p:sp>
    </p:spTree>
    <p:extLst>
      <p:ext uri="{BB962C8B-B14F-4D97-AF65-F5344CB8AC3E}">
        <p14:creationId xmlns:p14="http://schemas.microsoft.com/office/powerpoint/2010/main" val="13245837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/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ACCFB-11A9-A167-FC3C-2B1CFB996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53072CC-638E-F6B3-3AFC-C1FC2B03597D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5754C457-EAA5-6979-2193-2CF285EC2BD5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A251EF3-8BF8-CF13-1EDD-BB47337CA447}"/>
              </a:ext>
            </a:extLst>
          </p:cNvPr>
          <p:cNvSpPr/>
          <p:nvPr/>
        </p:nvSpPr>
        <p:spPr bwMode="white">
          <a:xfrm>
            <a:off x="470947" y="970565"/>
            <a:ext cx="8019225" cy="35071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「主体的な学び」の具現に向けた３つの視点</a:t>
            </a:r>
            <a:endParaRPr lang="en-US" altLang="ja-JP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①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【自ら関心をもち、見通しをもつ工夫】</a:t>
            </a:r>
            <a:endParaRPr lang="en-US" altLang="ja-JP" sz="2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　　　　　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（教材との出会い・課題の設定）</a:t>
            </a:r>
            <a:endParaRPr lang="en-US" altLang="ja-JP" sz="2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②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【考えを深め、自己調整する工夫】</a:t>
            </a:r>
            <a:endParaRPr lang="en-US" altLang="ja-JP" sz="2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　　　　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（委ねる時間と協働的な問い直し）</a:t>
            </a:r>
            <a:endParaRPr lang="en-US" altLang="ja-JP" sz="2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③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【学びを振り返り、次への行動へつなげる工夫】</a:t>
            </a:r>
            <a:endParaRPr lang="en-US" altLang="ja-JP" sz="2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　　　　　　　　　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（変容の自覚と実践化）</a:t>
            </a:r>
            <a:endParaRPr lang="en-US" altLang="ja-JP" sz="2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161899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B79F4-05D2-BF79-07BC-ED7DCF57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2D3125A-579A-5C8B-1BAC-E2491CBE01AA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1D217E0A-F267-CC5F-AAEF-3CC0E0E7BA77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３・４校時の授業について　①関心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7876903-AD43-5597-093C-B3A30EBDBD14}"/>
              </a:ext>
            </a:extLst>
          </p:cNvPr>
          <p:cNvSpPr/>
          <p:nvPr/>
        </p:nvSpPr>
        <p:spPr bwMode="white">
          <a:xfrm>
            <a:off x="489758" y="658368"/>
            <a:ext cx="3628642" cy="777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1500" b="1" dirty="0">
                <a:latin typeface="メイリオ"/>
                <a:ea typeface="メイリオ"/>
                <a:cs typeface="メイリオ"/>
              </a:rPr>
              <a:t>1-全　体育（髙井・菅野・鈴木）</a:t>
            </a:r>
          </a:p>
          <a:p>
            <a:pPr algn="l"/>
            <a:r>
              <a:rPr lang="ja-JP" sz="1200" b="0" dirty="0">
                <a:latin typeface="メイリオ"/>
                <a:ea typeface="メイリオ"/>
                <a:cs typeface="メイリオ"/>
              </a:rPr>
              <a:t>「ボールをなげるのだ！あてるのだ！たおすのだ！」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85A74E2-1D9E-0368-1A5B-0CDBA4352FC1}"/>
              </a:ext>
            </a:extLst>
          </p:cNvPr>
          <p:cNvSpPr/>
          <p:nvPr/>
        </p:nvSpPr>
        <p:spPr>
          <a:xfrm>
            <a:off x="489758" y="1434268"/>
            <a:ext cx="3628642" cy="27489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>
                <a:latin typeface="メイリオ"/>
                <a:ea typeface="メイリオ"/>
                <a:cs typeface="メイリオ"/>
              </a:rPr>
              <a:t>写真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19BE3AD-40B7-C3E5-338E-DF2FB57229DB}"/>
              </a:ext>
            </a:extLst>
          </p:cNvPr>
          <p:cNvSpPr/>
          <p:nvPr/>
        </p:nvSpPr>
        <p:spPr bwMode="white">
          <a:xfrm>
            <a:off x="4983758" y="658368"/>
            <a:ext cx="3571042" cy="777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1800" b="1" dirty="0">
                <a:latin typeface="メイリオ"/>
                <a:ea typeface="メイリオ"/>
                <a:cs typeface="メイリオ"/>
              </a:rPr>
              <a:t>5-1　図工（鈴木 寛明）</a:t>
            </a:r>
          </a:p>
          <a:p>
            <a:pPr algn="l"/>
            <a:r>
              <a:rPr lang="ja-JP" sz="1400" b="0" dirty="0">
                <a:latin typeface="メイリオ"/>
                <a:ea typeface="メイリオ"/>
                <a:cs typeface="メイリオ"/>
              </a:rPr>
              <a:t>「オナマエアート」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280738D-FE28-ADBF-BF48-A9DCFE692FDE}"/>
              </a:ext>
            </a:extLst>
          </p:cNvPr>
          <p:cNvSpPr/>
          <p:nvPr/>
        </p:nvSpPr>
        <p:spPr>
          <a:xfrm>
            <a:off x="4926158" y="1434268"/>
            <a:ext cx="3628642" cy="27489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>
                <a:latin typeface="メイリオ"/>
                <a:ea typeface="メイリオ"/>
                <a:cs typeface="メイリオ"/>
              </a:rPr>
              <a:t>写真</a:t>
            </a:r>
          </a:p>
        </p:txBody>
      </p:sp>
    </p:spTree>
    <p:extLst>
      <p:ext uri="{BB962C8B-B14F-4D97-AF65-F5344CB8AC3E}">
        <p14:creationId xmlns:p14="http://schemas.microsoft.com/office/powerpoint/2010/main" val="2424294063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49D3D17-D1C5-E481-ABD6-61E04CC72B25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C1E4B49-1192-695F-8291-48C66874AC46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３・４校時の授業について　①関心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871D856-5C1D-8BEB-D3E7-9B8F19D3E72D}"/>
              </a:ext>
            </a:extLst>
          </p:cNvPr>
          <p:cNvSpPr/>
          <p:nvPr/>
        </p:nvSpPr>
        <p:spPr bwMode="white">
          <a:xfrm>
            <a:off x="274320" y="822960"/>
            <a:ext cx="8595360" cy="777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200" b="1" dirty="0">
                <a:latin typeface="メイリオ"/>
                <a:ea typeface="メイリオ"/>
                <a:cs typeface="メイリオ"/>
              </a:rPr>
              <a:t>3年　算数「たし算とひき算の筆算」</a:t>
            </a:r>
          </a:p>
          <a:p>
            <a:pPr algn="l"/>
            <a:r>
              <a:rPr lang="ja-JP" sz="1600" b="0" dirty="0">
                <a:latin typeface="メイリオ"/>
                <a:ea typeface="メイリオ"/>
                <a:cs typeface="メイリオ"/>
              </a:rPr>
              <a:t>４学級で展開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4539BEB-F3C9-6597-FF8D-13F6493EAAA1}"/>
              </a:ext>
            </a:extLst>
          </p:cNvPr>
          <p:cNvSpPr/>
          <p:nvPr/>
        </p:nvSpPr>
        <p:spPr bwMode="white">
          <a:xfrm>
            <a:off x="4663440" y="1920240"/>
            <a:ext cx="2011680" cy="1005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ja-JP" sz="2000" b="1" dirty="0">
                <a:latin typeface="メイリオ"/>
                <a:ea typeface="メイリオ"/>
                <a:cs typeface="メイリオ"/>
              </a:rPr>
              <a:t>3-3</a:t>
            </a:r>
          </a:p>
          <a:p>
            <a:pPr algn="ctr"/>
            <a:r>
              <a:rPr lang="ja-JP" sz="1600" b="0" dirty="0">
                <a:latin typeface="メイリオ"/>
                <a:ea typeface="メイリオ"/>
                <a:cs typeface="メイリオ"/>
              </a:rPr>
              <a:t>伊藤 蘭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E8968C1-738E-5797-EEAA-8EC7DE30B3AE}"/>
              </a:ext>
            </a:extLst>
          </p:cNvPr>
          <p:cNvSpPr/>
          <p:nvPr/>
        </p:nvSpPr>
        <p:spPr bwMode="white">
          <a:xfrm>
            <a:off x="1371600" y="3383280"/>
            <a:ext cx="6400800" cy="1005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1800" b="1" dirty="0">
                <a:latin typeface="メイリオ"/>
                <a:ea typeface="メイリオ"/>
                <a:cs typeface="メイリオ"/>
              </a:rPr>
              <a:t>課題の設定</a:t>
            </a:r>
          </a:p>
          <a:p>
            <a:pPr algn="l"/>
            <a:r>
              <a:rPr lang="ja-JP" sz="1400" b="0" dirty="0">
                <a:latin typeface="メイリオ"/>
                <a:ea typeface="メイリオ"/>
                <a:cs typeface="メイリオ"/>
              </a:rPr>
              <a:t>「1000円札を出したときのおつり」（買い物文脈）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871D856-5C1D-8BEB-D3E7-9B8F19D3E72D}"/>
              </a:ext>
            </a:extLst>
          </p:cNvPr>
          <p:cNvSpPr/>
          <p:nvPr/>
        </p:nvSpPr>
        <p:spPr bwMode="white">
          <a:xfrm>
            <a:off x="2468879" y="1920240"/>
            <a:ext cx="2011680" cy="1005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ja-JP" sz="2000" b="1" dirty="0">
                <a:latin typeface="メイリオ"/>
                <a:ea typeface="メイリオ"/>
                <a:cs typeface="メイリオ"/>
              </a:rPr>
              <a:t>3-2</a:t>
            </a:r>
          </a:p>
          <a:p>
            <a:pPr algn="ctr"/>
            <a:r>
              <a:rPr lang="ja-JP" sz="1600" b="0" dirty="0">
                <a:latin typeface="メイリオ"/>
                <a:ea typeface="メイリオ"/>
                <a:cs typeface="メイリオ"/>
              </a:rPr>
              <a:t>岡﨑 智子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871D856-5C1D-8BEB-D3E7-9B8F19D3E72D}"/>
              </a:ext>
            </a:extLst>
          </p:cNvPr>
          <p:cNvSpPr/>
          <p:nvPr/>
        </p:nvSpPr>
        <p:spPr bwMode="white">
          <a:xfrm>
            <a:off x="274320" y="1920240"/>
            <a:ext cx="2011680" cy="1005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ja-JP" sz="2000" b="1" dirty="0">
                <a:latin typeface="メイリオ"/>
                <a:ea typeface="メイリオ"/>
                <a:cs typeface="メイリオ"/>
              </a:rPr>
              <a:t>3-1</a:t>
            </a:r>
          </a:p>
          <a:p>
            <a:pPr algn="ctr"/>
            <a:r>
              <a:rPr lang="ja-JP" sz="1600" b="0" dirty="0">
                <a:latin typeface="メイリオ"/>
                <a:ea typeface="メイリオ"/>
                <a:cs typeface="メイリオ"/>
              </a:rPr>
              <a:t>間 勇人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871D856-5C1D-8BEB-D3E7-9B8F19D3E72D}"/>
              </a:ext>
            </a:extLst>
          </p:cNvPr>
          <p:cNvSpPr/>
          <p:nvPr/>
        </p:nvSpPr>
        <p:spPr bwMode="white">
          <a:xfrm>
            <a:off x="6858000" y="1920240"/>
            <a:ext cx="2011680" cy="1005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ja-JP" sz="2000" b="1" dirty="0">
                <a:latin typeface="メイリオ"/>
                <a:ea typeface="メイリオ"/>
                <a:cs typeface="メイリオ"/>
              </a:rPr>
              <a:t>少人数</a:t>
            </a:r>
          </a:p>
          <a:p>
            <a:pPr algn="ctr"/>
            <a:r>
              <a:rPr lang="ja-JP" sz="1600" b="0" dirty="0">
                <a:latin typeface="メイリオ"/>
                <a:ea typeface="メイリオ"/>
                <a:cs typeface="メイリオ"/>
              </a:rPr>
              <a:t>鈴木 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5304E-5B76-C7D3-FF30-435E1F2E4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49D3D17-D1C5-E481-ABD6-61E04CC72B25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C1E4B49-1192-695F-8291-48C66874AC46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３・４校時の授業について　②考え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871D856-5C1D-8BEB-D3E7-9B8F19D3E72D}"/>
              </a:ext>
            </a:extLst>
          </p:cNvPr>
          <p:cNvSpPr/>
          <p:nvPr/>
        </p:nvSpPr>
        <p:spPr bwMode="white">
          <a:xfrm>
            <a:off x="489758" y="822960"/>
            <a:ext cx="4000000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200" b="1" dirty="0">
                <a:latin typeface="メイリオ"/>
                <a:ea typeface="メイリオ"/>
                <a:cs typeface="メイリオ"/>
              </a:rPr>
              <a:t>2-1　算数（岩佐 沙恵子）</a:t>
            </a:r>
          </a:p>
          <a:p>
            <a:pPr algn="l"/>
            <a:r>
              <a:rPr lang="ja-JP" sz="1600" b="0" dirty="0">
                <a:latin typeface="メイリオ"/>
                <a:ea typeface="メイリオ"/>
                <a:cs typeface="メイリオ"/>
              </a:rPr>
              <a:t>「長さのたんい」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4539BEB-F3C9-6597-FF8D-13F6493EAAA1}"/>
              </a:ext>
            </a:extLst>
          </p:cNvPr>
          <p:cNvSpPr/>
          <p:nvPr/>
        </p:nvSpPr>
        <p:spPr bwMode="white">
          <a:xfrm>
            <a:off x="4700000" y="822960"/>
            <a:ext cx="4000000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200" b="1" dirty="0">
                <a:latin typeface="メイリオ"/>
                <a:ea typeface="メイリオ"/>
                <a:cs typeface="メイリオ"/>
              </a:rPr>
              <a:t>5-3　社会（小松 沙織）</a:t>
            </a:r>
          </a:p>
          <a:p>
            <a:pPr algn="l"/>
            <a:r>
              <a:rPr lang="ja-JP" sz="1400" b="0" dirty="0">
                <a:latin typeface="メイリオ"/>
                <a:ea typeface="メイリオ"/>
                <a:cs typeface="メイリオ"/>
              </a:rPr>
              <a:t>「日本の国土とわたしたちのくらし」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E8968C1-738E-5797-EEAA-8EC7DE30B3AE}"/>
              </a:ext>
            </a:extLst>
          </p:cNvPr>
          <p:cNvSpPr/>
          <p:nvPr/>
        </p:nvSpPr>
        <p:spPr bwMode="white">
          <a:xfrm>
            <a:off x="489758" y="2606040"/>
            <a:ext cx="4000000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200" b="1" dirty="0">
                <a:latin typeface="メイリオ"/>
                <a:ea typeface="メイリオ"/>
                <a:cs typeface="メイリオ"/>
              </a:rPr>
              <a:t>4-2　国語（工藤 由利）</a:t>
            </a:r>
          </a:p>
          <a:p>
            <a:pPr algn="l"/>
            <a:r>
              <a:rPr lang="ja-JP" sz="1600" b="0" dirty="0">
                <a:latin typeface="メイリオ"/>
                <a:ea typeface="メイリオ"/>
                <a:cs typeface="メイリオ"/>
              </a:rPr>
              <a:t>「アップとルーズで伝える」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D58072C-8A99-B42C-4A03-380C420A0218}"/>
              </a:ext>
            </a:extLst>
          </p:cNvPr>
          <p:cNvSpPr/>
          <p:nvPr/>
        </p:nvSpPr>
        <p:spPr bwMode="white">
          <a:xfrm>
            <a:off x="4700000" y="2606040"/>
            <a:ext cx="4000000" cy="914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200" b="1" dirty="0">
                <a:latin typeface="メイリオ"/>
                <a:ea typeface="メイリオ"/>
                <a:cs typeface="メイリオ"/>
              </a:rPr>
              <a:t>6-3　道徳（松田 容子）</a:t>
            </a:r>
          </a:p>
          <a:p>
            <a:pPr algn="l"/>
            <a:r>
              <a:rPr lang="ja-JP" sz="1600" b="0" dirty="0">
                <a:latin typeface="メイリオ"/>
                <a:ea typeface="メイリオ"/>
                <a:cs typeface="メイリオ"/>
              </a:rPr>
              <a:t>「自分の役割を果たす」</a:t>
            </a:r>
          </a:p>
        </p:txBody>
      </p:sp>
    </p:spTree>
    <p:extLst>
      <p:ext uri="{BB962C8B-B14F-4D97-AF65-F5344CB8AC3E}">
        <p14:creationId xmlns:p14="http://schemas.microsoft.com/office/powerpoint/2010/main" val="6600579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B42D7-2122-C921-2C93-C06AF6E3D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D724A89-2580-D591-20FE-044E5BEFBAE5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4D9C61A6-0D7D-D7A1-EB3A-F1D29C27CCA7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３・４校時の授業について　③行動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5D3743F-9B80-8301-2727-28B24CEB585F}"/>
              </a:ext>
            </a:extLst>
          </p:cNvPr>
          <p:cNvSpPr/>
          <p:nvPr/>
        </p:nvSpPr>
        <p:spPr bwMode="white">
          <a:xfrm>
            <a:off x="3273552" y="822960"/>
            <a:ext cx="2596896" cy="1280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1400" b="1" dirty="0">
                <a:latin typeface="メイリオ"/>
                <a:ea typeface="メイリオ"/>
                <a:cs typeface="メイリオ"/>
              </a:rPr>
              <a:t>4-1　社会（三井 新）</a:t>
            </a:r>
          </a:p>
          <a:p>
            <a:pPr algn="l"/>
            <a:r>
              <a:rPr lang="ja-JP" sz="1100" b="0" dirty="0">
                <a:latin typeface="メイリオ"/>
                <a:ea typeface="メイリオ"/>
                <a:cs typeface="メイリオ"/>
              </a:rPr>
              <a:t>「健康なくらし」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E270405-A8B6-2B0E-EA8E-6FC8C7CBA1D9}"/>
              </a:ext>
            </a:extLst>
          </p:cNvPr>
          <p:cNvSpPr/>
          <p:nvPr/>
        </p:nvSpPr>
        <p:spPr bwMode="white">
          <a:xfrm>
            <a:off x="6053328" y="822960"/>
            <a:ext cx="2596896" cy="1280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1400" b="1" dirty="0">
                <a:latin typeface="メイリオ"/>
                <a:ea typeface="メイリオ"/>
                <a:cs typeface="メイリオ"/>
              </a:rPr>
              <a:t>5-2　体育（古江 渓那）</a:t>
            </a:r>
          </a:p>
          <a:p>
            <a:pPr algn="l"/>
            <a:r>
              <a:rPr lang="ja-JP" sz="1100" b="0" dirty="0">
                <a:latin typeface="メイリオ"/>
                <a:ea typeface="メイリオ"/>
                <a:cs typeface="メイリオ"/>
              </a:rPr>
              <a:t>「ハンドボール」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1044BF6-66AC-7531-FFD7-AE2565339A18}"/>
              </a:ext>
            </a:extLst>
          </p:cNvPr>
          <p:cNvSpPr/>
          <p:nvPr/>
        </p:nvSpPr>
        <p:spPr bwMode="white">
          <a:xfrm>
            <a:off x="493776" y="2606040"/>
            <a:ext cx="3995928" cy="1280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000" b="1" dirty="0">
                <a:latin typeface="メイリオ"/>
                <a:ea typeface="メイリオ"/>
                <a:cs typeface="メイリオ"/>
              </a:rPr>
              <a:t>6-2　外国語（木下）</a:t>
            </a:r>
          </a:p>
          <a:p>
            <a:pPr algn="l"/>
            <a:r>
              <a:rPr lang="ja-JP" sz="1400" b="0" dirty="0">
                <a:latin typeface="メイリオ"/>
                <a:ea typeface="メイリオ"/>
                <a:cs typeface="メイリオ"/>
              </a:rPr>
              <a:t>「Welcome to Japan.」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4877F31-44E4-C62E-AC94-341DD920F663}"/>
              </a:ext>
            </a:extLst>
          </p:cNvPr>
          <p:cNvSpPr/>
          <p:nvPr/>
        </p:nvSpPr>
        <p:spPr bwMode="white">
          <a:xfrm>
            <a:off x="493776" y="822960"/>
            <a:ext cx="2596896" cy="1280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1400" b="1" dirty="0">
                <a:latin typeface="メイリオ"/>
                <a:ea typeface="メイリオ"/>
                <a:cs typeface="メイリオ"/>
              </a:rPr>
              <a:t>2-2　道徳（中牧 万優）</a:t>
            </a:r>
          </a:p>
          <a:p>
            <a:pPr algn="l"/>
            <a:r>
              <a:rPr lang="ja-JP" sz="1100" b="0" dirty="0">
                <a:latin typeface="メイリオ"/>
                <a:ea typeface="メイリオ"/>
                <a:cs typeface="メイリオ"/>
              </a:rPr>
              <a:t>「ともだちとなかよく」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5D3743F-9B80-8301-2727-28B24CEB585F}"/>
              </a:ext>
            </a:extLst>
          </p:cNvPr>
          <p:cNvSpPr/>
          <p:nvPr/>
        </p:nvSpPr>
        <p:spPr bwMode="white">
          <a:xfrm>
            <a:off x="5038344" y="2606040"/>
            <a:ext cx="3995928" cy="1280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lang="ja-JP" sz="2000" b="1" dirty="0">
                <a:latin typeface="メイリオ"/>
                <a:ea typeface="メイリオ"/>
                <a:cs typeface="メイリオ"/>
              </a:rPr>
              <a:t>6-2　音楽（見城 麻美）</a:t>
            </a:r>
          </a:p>
          <a:p>
            <a:pPr algn="l"/>
            <a:r>
              <a:rPr lang="ja-JP" sz="1400" b="0" dirty="0">
                <a:latin typeface="メイリオ"/>
                <a:ea typeface="メイリオ"/>
                <a:cs typeface="メイリオ"/>
              </a:rPr>
              <a:t>「パートの役割を活かして合奏しよう」</a:t>
            </a:r>
          </a:p>
        </p:txBody>
      </p:sp>
    </p:spTree>
    <p:extLst>
      <p:ext uri="{BB962C8B-B14F-4D97-AF65-F5344CB8AC3E}">
        <p14:creationId xmlns:p14="http://schemas.microsoft.com/office/powerpoint/2010/main" val="2557664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A69D4-9E83-C4B8-C70A-C1B659D78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5946C94-B9F0-DD15-84F0-73069CCD52BD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36C533A-086A-4556-3962-87B1BAE2DE27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4661EA82-9C22-9A67-DBBB-EC5A2E6C6A75}"/>
              </a:ext>
            </a:extLst>
          </p:cNvPr>
          <p:cNvSpPr/>
          <p:nvPr/>
        </p:nvSpPr>
        <p:spPr bwMode="white">
          <a:xfrm>
            <a:off x="470947" y="970565"/>
            <a:ext cx="8019225" cy="35071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「主体的な学び」の具現に向けた３つの視点</a:t>
            </a:r>
            <a:endParaRPr lang="en-US" altLang="ja-JP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①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【自ら関心をもち、見通しをもつ工夫】</a:t>
            </a:r>
            <a:endParaRPr lang="en-US" altLang="ja-JP" sz="2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　　　　　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（教材との出会い・課題の設定）</a:t>
            </a:r>
            <a:endParaRPr lang="en-US" altLang="ja-JP" sz="2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②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【考えを深め、自己調整する工夫】</a:t>
            </a:r>
            <a:endParaRPr lang="en-US" altLang="ja-JP" sz="2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　　　　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（委ねる時間と協働的な問い直し）</a:t>
            </a:r>
            <a:endParaRPr lang="en-US" altLang="ja-JP" sz="2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③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【学びを振り返り、次への行動へつなげる工夫】</a:t>
            </a:r>
            <a:endParaRPr lang="en-US" altLang="ja-JP" sz="2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　　　　　　　　　</a:t>
            </a:r>
            <a:r>
              <a:rPr lang="ja-JP" altLang="ja-JP" sz="2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（変容の自覚と実践化）</a:t>
            </a:r>
            <a:endParaRPr lang="en-US" altLang="ja-JP" sz="26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552539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973C5-949A-0B47-375C-47B674A7E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556DA15-1216-AE2D-19F4-BE0E23E4579F}"/>
              </a:ext>
            </a:extLst>
          </p:cNvPr>
          <p:cNvSpPr/>
          <p:nvPr/>
        </p:nvSpPr>
        <p:spPr>
          <a:xfrm>
            <a:off x="169555" y="572908"/>
            <a:ext cx="68150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ja-JP" sz="2400" b="1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1CF88AA8-D5AA-2FFC-B5F9-8677ACCDECF3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5B9BD5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40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　３・４校時の授業について　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79F7953-85A4-8E6B-482F-C62C34E3940C}"/>
              </a:ext>
            </a:extLst>
          </p:cNvPr>
          <p:cNvSpPr/>
          <p:nvPr/>
        </p:nvSpPr>
        <p:spPr bwMode="white">
          <a:xfrm>
            <a:off x="562387" y="606813"/>
            <a:ext cx="8019225" cy="6586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今後に向けて</a:t>
            </a:r>
            <a:endParaRPr lang="en-US" altLang="ja-JP" sz="32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11F27B4-4610-6AB1-6927-2CFCFD115F37}"/>
              </a:ext>
            </a:extLst>
          </p:cNvPr>
          <p:cNvSpPr/>
          <p:nvPr/>
        </p:nvSpPr>
        <p:spPr bwMode="white">
          <a:xfrm>
            <a:off x="562387" y="1356032"/>
            <a:ext cx="8019225" cy="24314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3200" b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本日の視点を、明日の授業改善へ</a:t>
            </a:r>
            <a:endParaRPr lang="en-US" altLang="ja-JP" sz="3200" b="1" u="sng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・深い学びと研究主題は地続き</a:t>
            </a:r>
            <a:endParaRPr lang="en-US" altLang="ja-JP" sz="32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・「好き」を育み「得意」を伸ばす</a:t>
            </a:r>
            <a:endParaRPr lang="en-US" altLang="ja-JP" sz="32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  <a:p>
            <a:pPr>
              <a:lnSpc>
                <a:spcPct val="120000"/>
              </a:lnSpc>
            </a:pPr>
            <a:r>
              <a:rPr lang="ja-JP" altLang="en-US" sz="3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/>
                <a:ea typeface="メイリオ"/>
                <a:cs typeface="メイリオ"/>
              </a:rPr>
              <a:t>・「幸せな学校はみんながつくる」</a:t>
            </a:r>
            <a:endParaRPr lang="en-US" altLang="ja-JP" sz="32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pic>
        <p:nvPicPr>
          <p:cNvPr id="5" name="Picture 4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1997" y="3580720"/>
            <a:ext cx="1870268" cy="125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7019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230" y="0"/>
            <a:ext cx="9135541" cy="611434"/>
          </a:xfrm>
          <a:prstGeom prst="rect">
            <a:avLst/>
          </a:prstGeom>
          <a:solidFill>
            <a:srgbClr val="00B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99"/>
          </a:p>
        </p:txBody>
      </p:sp>
      <p:sp>
        <p:nvSpPr>
          <p:cNvPr id="3" name="TextBox 2"/>
          <p:cNvSpPr txBox="1"/>
          <p:nvPr/>
        </p:nvSpPr>
        <p:spPr>
          <a:xfrm>
            <a:off x="220030" y="103223"/>
            <a:ext cx="8703941" cy="404988"/>
          </a:xfrm>
          <a:prstGeom prst="rect">
            <a:avLst/>
          </a:prstGeom>
          <a:noFill/>
          <a:ln>
            <a:noFill/>
          </a:ln>
        </p:spPr>
        <p:txBody>
          <a:bodyPr wrap="square" lIns="35967" tIns="17983" rIns="35967" bIns="17983" anchor="ctr">
            <a:spAutoFit/>
          </a:bodyPr>
          <a:lstStyle/>
          <a:p>
            <a:pPr algn="l"/>
            <a:r>
              <a:rPr sz="2398" b="1">
                <a:solidFill>
                  <a:srgbClr val="FFFFFF"/>
                </a:solidFill>
                <a:latin typeface="メイリオ"/>
                <a:ea typeface="メイリオ"/>
              </a:rPr>
              <a:t>まとめ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3896" y="909865"/>
            <a:ext cx="6653839" cy="374239"/>
          </a:xfrm>
          <a:prstGeom prst="rect">
            <a:avLst/>
          </a:prstGeom>
          <a:noFill/>
          <a:ln>
            <a:noFill/>
          </a:ln>
        </p:spPr>
        <p:txBody>
          <a:bodyPr wrap="square" lIns="35967" tIns="17983" rIns="35967" bIns="17983" anchor="ctr">
            <a:spAutoFit/>
          </a:bodyPr>
          <a:lstStyle/>
          <a:p>
            <a:pPr algn="l"/>
            <a:r>
              <a:rPr sz="2198" b="1">
                <a:solidFill>
                  <a:srgbClr val="1A1A1A"/>
                </a:solidFill>
                <a:latin typeface="メイリオ"/>
                <a:ea typeface="メイリオ"/>
              </a:rPr>
              <a:t>○ 教師の役割で大切にしたいこと</a:t>
            </a:r>
          </a:p>
        </p:txBody>
      </p: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3702" y="683367"/>
            <a:ext cx="1870268" cy="14386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3896" y="1547173"/>
            <a:ext cx="6653839" cy="466358"/>
          </a:xfrm>
          <a:prstGeom prst="rect">
            <a:avLst/>
          </a:prstGeom>
          <a:noFill/>
          <a:ln>
            <a:noFill/>
          </a:ln>
        </p:spPr>
        <p:txBody>
          <a:bodyPr wrap="square" lIns="35967" tIns="17983" rIns="35967" bIns="17983" anchor="ctr">
            <a:spAutoFit/>
          </a:bodyPr>
          <a:lstStyle/>
          <a:p>
            <a:pPr algn="ctr"/>
            <a:r>
              <a:rPr sz="2797" b="1">
                <a:solidFill>
                  <a:srgbClr val="002060"/>
                </a:solidFill>
                <a:latin typeface="メイリオ"/>
                <a:ea typeface="メイリオ"/>
              </a:rPr>
              <a:t>ファシリテーター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363896" y="2229935"/>
            <a:ext cx="4136170" cy="28773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99"/>
          </a:p>
        </p:txBody>
      </p:sp>
      <p:sp>
        <p:nvSpPr>
          <p:cNvPr id="8" name="TextBox 7"/>
          <p:cNvSpPr txBox="1"/>
          <p:nvPr/>
        </p:nvSpPr>
        <p:spPr>
          <a:xfrm>
            <a:off x="363896" y="2217432"/>
            <a:ext cx="4136170" cy="312740"/>
          </a:xfrm>
          <a:prstGeom prst="rect">
            <a:avLst/>
          </a:prstGeom>
          <a:noFill/>
          <a:ln>
            <a:noFill/>
          </a:ln>
        </p:spPr>
        <p:txBody>
          <a:bodyPr wrap="square" lIns="35967" tIns="17983" rIns="35967" bIns="17983" anchor="ctr">
            <a:spAutoFit/>
          </a:bodyPr>
          <a:lstStyle/>
          <a:p>
            <a:pPr algn="ctr"/>
            <a:r>
              <a:rPr sz="1798" b="1">
                <a:solidFill>
                  <a:srgbClr val="FFFFFF"/>
                </a:solidFill>
                <a:latin typeface="メイリオ"/>
                <a:ea typeface="メイリオ"/>
              </a:rPr>
              <a:t>・「問い」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363896" y="2517669"/>
            <a:ext cx="4136170" cy="1438668"/>
          </a:xfrm>
          <a:prstGeom prst="rect">
            <a:avLst/>
          </a:prstGeom>
          <a:solidFill>
            <a:srgbClr val="DAE3F3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99"/>
          </a:p>
        </p:txBody>
      </p:sp>
      <p:sp>
        <p:nvSpPr>
          <p:cNvPr id="10" name="TextBox 9"/>
          <p:cNvSpPr txBox="1"/>
          <p:nvPr/>
        </p:nvSpPr>
        <p:spPr>
          <a:xfrm>
            <a:off x="471796" y="2553636"/>
            <a:ext cx="3920370" cy="1044892"/>
          </a:xfrm>
          <a:prstGeom prst="rect">
            <a:avLst/>
          </a:prstGeom>
          <a:noFill/>
          <a:ln>
            <a:noFill/>
          </a:ln>
        </p:spPr>
        <p:txBody>
          <a:bodyPr wrap="square" lIns="35967" tIns="17983" rIns="35967" bIns="17983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99" b="1" dirty="0">
                <a:solidFill>
                  <a:srgbClr val="1A1A1A"/>
                </a:solidFill>
                <a:latin typeface="メイリオ"/>
                <a:ea typeface="メイリオ"/>
              </a:rPr>
              <a:t>・</a:t>
            </a:r>
            <a:r>
              <a:rPr sz="1599" b="1" dirty="0" err="1">
                <a:solidFill>
                  <a:srgbClr val="1A1A1A"/>
                </a:solidFill>
                <a:latin typeface="メイリオ"/>
                <a:ea typeface="メイリオ"/>
              </a:rPr>
              <a:t>聞きたくなる</a:t>
            </a:r>
            <a:r>
              <a:rPr sz="1599" b="1" dirty="0" err="1">
                <a:solidFill>
                  <a:srgbClr val="FF0000"/>
                </a:solidFill>
                <a:latin typeface="メイリオ"/>
                <a:ea typeface="メイリオ"/>
              </a:rPr>
              <a:t>話題</a:t>
            </a:r>
            <a:r>
              <a:rPr sz="1599" b="1" dirty="0" err="1">
                <a:solidFill>
                  <a:srgbClr val="1A1A1A"/>
                </a:solidFill>
                <a:latin typeface="メイリオ"/>
                <a:ea typeface="メイリオ"/>
              </a:rPr>
              <a:t>を提示する</a:t>
            </a:r>
            <a:endParaRPr sz="1599" b="1" dirty="0">
              <a:solidFill>
                <a:srgbClr val="1A1A1A"/>
              </a:solidFill>
              <a:latin typeface="メイリオ"/>
              <a:ea typeface="メイリオ"/>
            </a:endParaRPr>
          </a:p>
          <a:p>
            <a:pPr algn="l">
              <a:lnSpc>
                <a:spcPct val="140000"/>
              </a:lnSpc>
            </a:pPr>
            <a:r>
              <a:rPr sz="1599" b="1" dirty="0">
                <a:solidFill>
                  <a:srgbClr val="1A1A1A"/>
                </a:solidFill>
                <a:latin typeface="メイリオ"/>
                <a:ea typeface="メイリオ"/>
              </a:rPr>
              <a:t>・</a:t>
            </a:r>
            <a:r>
              <a:rPr sz="1599" b="1" dirty="0" err="1">
                <a:solidFill>
                  <a:srgbClr val="1A1A1A"/>
                </a:solidFill>
                <a:latin typeface="メイリオ"/>
                <a:ea typeface="メイリオ"/>
              </a:rPr>
              <a:t>考えたくなる</a:t>
            </a:r>
            <a:r>
              <a:rPr sz="1599" b="1" dirty="0" err="1">
                <a:solidFill>
                  <a:srgbClr val="FF0000"/>
                </a:solidFill>
                <a:latin typeface="メイリオ"/>
                <a:ea typeface="メイリオ"/>
              </a:rPr>
              <a:t>発問</a:t>
            </a:r>
            <a:r>
              <a:rPr sz="1599" b="1" dirty="0" err="1">
                <a:solidFill>
                  <a:srgbClr val="1A1A1A"/>
                </a:solidFill>
                <a:latin typeface="メイリオ"/>
                <a:ea typeface="メイリオ"/>
              </a:rPr>
              <a:t>をする</a:t>
            </a:r>
            <a:endParaRPr sz="1599" b="1" dirty="0">
              <a:solidFill>
                <a:srgbClr val="1A1A1A"/>
              </a:solidFill>
              <a:latin typeface="メイリオ"/>
              <a:ea typeface="メイリオ"/>
            </a:endParaRPr>
          </a:p>
          <a:p>
            <a:pPr algn="l">
              <a:lnSpc>
                <a:spcPct val="140000"/>
              </a:lnSpc>
            </a:pPr>
            <a:r>
              <a:rPr sz="1599" b="1" dirty="0">
                <a:solidFill>
                  <a:srgbClr val="1A1A1A"/>
                </a:solidFill>
                <a:latin typeface="メイリオ"/>
                <a:ea typeface="メイリオ"/>
              </a:rPr>
              <a:t>・</a:t>
            </a:r>
            <a:r>
              <a:rPr sz="1599" b="1" dirty="0" err="1">
                <a:solidFill>
                  <a:srgbClr val="FF0000"/>
                </a:solidFill>
                <a:latin typeface="メイリオ"/>
                <a:ea typeface="メイリオ"/>
              </a:rPr>
              <a:t>追発問</a:t>
            </a:r>
            <a:r>
              <a:rPr sz="1599" b="1" dirty="0" err="1">
                <a:solidFill>
                  <a:srgbClr val="1A1A1A"/>
                </a:solidFill>
                <a:latin typeface="メイリオ"/>
                <a:ea typeface="メイリオ"/>
              </a:rPr>
              <a:t>で対話を深める</a:t>
            </a:r>
            <a:endParaRPr sz="1599" b="1" dirty="0">
              <a:solidFill>
                <a:srgbClr val="1A1A1A"/>
              </a:solidFill>
              <a:latin typeface="メイリオ"/>
              <a:ea typeface="メイリオ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643934" y="2229935"/>
            <a:ext cx="4136170" cy="28773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99"/>
          </a:p>
        </p:txBody>
      </p:sp>
      <p:sp>
        <p:nvSpPr>
          <p:cNvPr id="12" name="TextBox 11"/>
          <p:cNvSpPr txBox="1"/>
          <p:nvPr/>
        </p:nvSpPr>
        <p:spPr>
          <a:xfrm>
            <a:off x="4643934" y="2217432"/>
            <a:ext cx="4136170" cy="312740"/>
          </a:xfrm>
          <a:prstGeom prst="rect">
            <a:avLst/>
          </a:prstGeom>
          <a:noFill/>
          <a:ln>
            <a:noFill/>
          </a:ln>
        </p:spPr>
        <p:txBody>
          <a:bodyPr wrap="square" lIns="35967" tIns="17983" rIns="35967" bIns="17983" anchor="ctr">
            <a:spAutoFit/>
          </a:bodyPr>
          <a:lstStyle/>
          <a:p>
            <a:pPr algn="ctr"/>
            <a:r>
              <a:rPr sz="1798" b="1">
                <a:solidFill>
                  <a:srgbClr val="FFFFFF"/>
                </a:solidFill>
                <a:latin typeface="メイリオ"/>
                <a:ea typeface="メイリオ"/>
              </a:rPr>
              <a:t>・「価値付け」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3934" y="2517669"/>
            <a:ext cx="4136170" cy="1438668"/>
          </a:xfrm>
          <a:prstGeom prst="rect">
            <a:avLst/>
          </a:prstGeom>
          <a:solidFill>
            <a:srgbClr val="DAE3F3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99"/>
          </a:p>
        </p:txBody>
      </p:sp>
      <p:sp>
        <p:nvSpPr>
          <p:cNvPr id="14" name="TextBox 13"/>
          <p:cNvSpPr txBox="1"/>
          <p:nvPr/>
        </p:nvSpPr>
        <p:spPr>
          <a:xfrm>
            <a:off x="4751834" y="2553636"/>
            <a:ext cx="3920370" cy="1044892"/>
          </a:xfrm>
          <a:prstGeom prst="rect">
            <a:avLst/>
          </a:prstGeom>
          <a:noFill/>
          <a:ln>
            <a:noFill/>
          </a:ln>
        </p:spPr>
        <p:txBody>
          <a:bodyPr wrap="square" lIns="35967" tIns="17983" rIns="35967" bIns="17983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99" b="1" dirty="0">
                <a:solidFill>
                  <a:srgbClr val="1A1A1A"/>
                </a:solidFill>
                <a:latin typeface="メイリオ"/>
                <a:ea typeface="メイリオ"/>
              </a:rPr>
              <a:t>・「</a:t>
            </a:r>
            <a:r>
              <a:rPr sz="1599" b="1" dirty="0" err="1">
                <a:solidFill>
                  <a:srgbClr val="1A1A1A"/>
                </a:solidFill>
                <a:latin typeface="メイリオ"/>
                <a:ea typeface="メイリオ"/>
              </a:rPr>
              <a:t>いい質問だね」と</a:t>
            </a:r>
            <a:r>
              <a:rPr sz="1599" b="1" dirty="0" err="1">
                <a:solidFill>
                  <a:srgbClr val="FF0000"/>
                </a:solidFill>
                <a:latin typeface="メイリオ"/>
                <a:ea typeface="メイリオ"/>
              </a:rPr>
              <a:t>意味づける</a:t>
            </a:r>
            <a:endParaRPr sz="1599" b="1" dirty="0">
              <a:solidFill>
                <a:srgbClr val="FF0000"/>
              </a:solidFill>
              <a:latin typeface="メイリオ"/>
              <a:ea typeface="メイリオ"/>
            </a:endParaRPr>
          </a:p>
          <a:p>
            <a:pPr algn="l">
              <a:lnSpc>
                <a:spcPct val="140000"/>
              </a:lnSpc>
            </a:pPr>
            <a:r>
              <a:rPr sz="1599" b="1" dirty="0">
                <a:solidFill>
                  <a:srgbClr val="1A1A1A"/>
                </a:solidFill>
                <a:latin typeface="メイリオ"/>
                <a:ea typeface="メイリオ"/>
              </a:rPr>
              <a:t>・</a:t>
            </a:r>
            <a:r>
              <a:rPr sz="1599" b="1" dirty="0" err="1">
                <a:solidFill>
                  <a:srgbClr val="1A1A1A"/>
                </a:solidFill>
                <a:latin typeface="メイリオ"/>
                <a:ea typeface="メイリオ"/>
              </a:rPr>
              <a:t>発言を</a:t>
            </a:r>
            <a:r>
              <a:rPr sz="1599" b="1" dirty="0" err="1">
                <a:solidFill>
                  <a:srgbClr val="FF0000"/>
                </a:solidFill>
                <a:latin typeface="メイリオ"/>
                <a:ea typeface="メイリオ"/>
              </a:rPr>
              <a:t>言語化</a:t>
            </a:r>
            <a:r>
              <a:rPr sz="1599" b="1" dirty="0" err="1">
                <a:solidFill>
                  <a:srgbClr val="1A1A1A"/>
                </a:solidFill>
                <a:latin typeface="メイリオ"/>
                <a:ea typeface="メイリオ"/>
              </a:rPr>
              <a:t>して返す</a:t>
            </a:r>
            <a:endParaRPr sz="1599" b="1" dirty="0">
              <a:solidFill>
                <a:srgbClr val="1A1A1A"/>
              </a:solidFill>
              <a:latin typeface="メイリオ"/>
              <a:ea typeface="メイリオ"/>
            </a:endParaRPr>
          </a:p>
          <a:p>
            <a:pPr algn="l">
              <a:lnSpc>
                <a:spcPct val="140000"/>
              </a:lnSpc>
            </a:pPr>
            <a:r>
              <a:rPr sz="1599" b="1" dirty="0">
                <a:solidFill>
                  <a:srgbClr val="1A1A1A"/>
                </a:solidFill>
                <a:latin typeface="メイリオ"/>
                <a:ea typeface="メイリオ"/>
              </a:rPr>
              <a:t>・</a:t>
            </a:r>
            <a:r>
              <a:rPr sz="1599" b="1" dirty="0" err="1">
                <a:solidFill>
                  <a:srgbClr val="1A1A1A"/>
                </a:solidFill>
                <a:latin typeface="メイリオ"/>
                <a:ea typeface="メイリオ"/>
              </a:rPr>
              <a:t>対話の</a:t>
            </a:r>
            <a:r>
              <a:rPr sz="1599" b="1" dirty="0" err="1">
                <a:solidFill>
                  <a:srgbClr val="FF0000"/>
                </a:solidFill>
                <a:latin typeface="メイリオ"/>
                <a:ea typeface="メイリオ"/>
              </a:rPr>
              <a:t>質を共有</a:t>
            </a:r>
            <a:r>
              <a:rPr sz="1599" b="1" dirty="0" err="1">
                <a:solidFill>
                  <a:srgbClr val="1A1A1A"/>
                </a:solidFill>
                <a:latin typeface="メイリオ"/>
                <a:ea typeface="メイリオ"/>
              </a:rPr>
              <a:t>する</a:t>
            </a:r>
            <a:endParaRPr sz="1599" b="1" dirty="0">
              <a:solidFill>
                <a:srgbClr val="1A1A1A"/>
              </a:solidFill>
              <a:latin typeface="メイリオ"/>
              <a:ea typeface="メイリオ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40603" y="4891472"/>
            <a:ext cx="719334" cy="189936"/>
          </a:xfrm>
          <a:prstGeom prst="rect">
            <a:avLst/>
          </a:prstGeom>
          <a:noFill/>
          <a:ln>
            <a:noFill/>
          </a:ln>
        </p:spPr>
        <p:txBody>
          <a:bodyPr wrap="square" lIns="35967" tIns="17983" rIns="35967" bIns="17983" anchor="t">
            <a:spAutoFit/>
          </a:bodyPr>
          <a:lstStyle/>
          <a:p>
            <a:pPr algn="r"/>
            <a:r>
              <a:rPr sz="999">
                <a:solidFill>
                  <a:srgbClr val="666666"/>
                </a:solidFill>
                <a:latin typeface="メイリオ"/>
                <a:ea typeface="メイリオ"/>
              </a:rPr>
              <a:t>11 / 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1"/>
          <p:cNvSpPr txBox="1"/>
          <p:nvPr/>
        </p:nvSpPr>
        <p:spPr>
          <a:xfrm>
            <a:off x="453191" y="829061"/>
            <a:ext cx="7884675" cy="48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r>
              <a:rPr lang="ja-JP" altLang="en-US" sz="2700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教師による</a:t>
            </a:r>
            <a:r>
              <a:rPr lang="ja-JP" altLang="en-US" sz="2700" u="sng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指導中心</a:t>
            </a:r>
            <a:r>
              <a:rPr lang="ja-JP" altLang="en-US" sz="2700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から、児童による</a:t>
            </a:r>
            <a:r>
              <a:rPr lang="ja-JP" altLang="en-US" sz="2700" u="sng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学び中心</a:t>
            </a:r>
            <a:r>
              <a:rPr lang="ja-JP" altLang="en-US" sz="2700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へ</a:t>
            </a:r>
            <a:endParaRPr sz="2700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240" name="Google Shape;240;p31"/>
          <p:cNvSpPr txBox="1"/>
          <p:nvPr/>
        </p:nvSpPr>
        <p:spPr>
          <a:xfrm>
            <a:off x="453191" y="1425676"/>
            <a:ext cx="7884675" cy="48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r>
              <a:rPr lang="ja-JP" altLang="en-US" sz="2700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教師が「</a:t>
            </a:r>
            <a:r>
              <a:rPr lang="ja-JP" altLang="en-US" sz="2700" u="sng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教えたか</a:t>
            </a:r>
            <a:r>
              <a:rPr lang="ja-JP" altLang="en-US" sz="2700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」から、児童が「</a:t>
            </a:r>
            <a:r>
              <a:rPr lang="ja-JP" altLang="en-US" sz="2700" u="sng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学んだか</a:t>
            </a:r>
            <a:r>
              <a:rPr lang="ja-JP" altLang="en-US" sz="2700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」へ</a:t>
            </a:r>
            <a:endParaRPr sz="2700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pic>
        <p:nvPicPr>
          <p:cNvPr id="241" name="Google Shape;241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94357" y="2095163"/>
            <a:ext cx="1871176" cy="1892925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31"/>
          <p:cNvSpPr txBox="1"/>
          <p:nvPr/>
        </p:nvSpPr>
        <p:spPr>
          <a:xfrm>
            <a:off x="1299318" y="4439026"/>
            <a:ext cx="7311825" cy="427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r>
              <a:rPr lang="ja-JP" altLang="en-US" sz="2325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授業のハンドルを少しずつ子供たちへ渡すイメージ</a:t>
            </a:r>
            <a:endParaRPr sz="2325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pic>
        <p:nvPicPr>
          <p:cNvPr id="243" name="Google Shape;243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26507" y="2095181"/>
            <a:ext cx="2261719" cy="21203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62900" y="2175825"/>
            <a:ext cx="2490884" cy="2120362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31"/>
          <p:cNvSpPr/>
          <p:nvPr/>
        </p:nvSpPr>
        <p:spPr>
          <a:xfrm>
            <a:off x="3284456" y="4042800"/>
            <a:ext cx="2490975" cy="396225"/>
          </a:xfrm>
          <a:prstGeom prst="stripedRightArrow">
            <a:avLst>
              <a:gd name="adj1" fmla="val 32425"/>
              <a:gd name="adj2" fmla="val 115356"/>
            </a:avLst>
          </a:prstGeom>
          <a:solidFill>
            <a:srgbClr val="FFFF00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69" tIns="68569" rIns="68569" bIns="68569" anchor="ctr" anchorCtr="0">
            <a:noAutofit/>
          </a:bodyPr>
          <a:lstStyle/>
          <a:p>
            <a:endParaRPr sz="1050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48FBE51-22C3-3E20-30F1-3D4BEFD436F4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00B0F0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3000" b="1" dirty="0">
                <a:solidFill>
                  <a:schemeClr val="bg1"/>
                </a:solidFill>
              </a:rPr>
              <a:t>　</a:t>
            </a:r>
            <a:r>
              <a:rPr lang="ja-JP" altLang="en-US" sz="3200" b="1" dirty="0">
                <a:solidFill>
                  <a:schemeClr val="bg1"/>
                </a:solidFill>
              </a:rPr>
              <a:t>まとめ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99028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>
          <a:extLst>
            <a:ext uri="{FF2B5EF4-FFF2-40B4-BE49-F238E27FC236}">
              <a16:creationId xmlns:a16="http://schemas.microsoft.com/office/drawing/2014/main" id="{B9C3298D-945F-862A-9DE6-EC57AB414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F7BC8C5-5E33-3D93-C08A-4693CBB88B5A}"/>
              </a:ext>
            </a:extLst>
          </p:cNvPr>
          <p:cNvSpPr/>
          <p:nvPr/>
        </p:nvSpPr>
        <p:spPr>
          <a:xfrm>
            <a:off x="0" y="-7150"/>
            <a:ext cx="9144000" cy="613963"/>
          </a:xfrm>
          <a:prstGeom prst="rect">
            <a:avLst/>
          </a:prstGeom>
          <a:solidFill>
            <a:srgbClr val="00B0F0"/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3000" b="1" dirty="0">
                <a:solidFill>
                  <a:schemeClr val="bg1"/>
                </a:solidFill>
              </a:rPr>
              <a:t>　</a:t>
            </a:r>
            <a:r>
              <a:rPr lang="ja-JP" altLang="en-US" sz="3200" b="1" dirty="0">
                <a:solidFill>
                  <a:schemeClr val="bg1"/>
                </a:solidFill>
              </a:rPr>
              <a:t>まとめ</a:t>
            </a:r>
            <a:endParaRPr lang="en-US" altLang="ja-JP" sz="3200" b="1" dirty="0">
              <a:solidFill>
                <a:schemeClr val="bg1"/>
              </a:solidFill>
            </a:endParaRPr>
          </a:p>
        </p:txBody>
      </p:sp>
      <p:sp>
        <p:nvSpPr>
          <p:cNvPr id="2" name="TextBox 3">
            <a:extLst>
              <a:ext uri="{FF2B5EF4-FFF2-40B4-BE49-F238E27FC236}">
                <a16:creationId xmlns:a16="http://schemas.microsoft.com/office/drawing/2014/main" id="{B3F80E6A-7CB8-FAE7-C612-60EF6EB7B7CD}"/>
              </a:ext>
            </a:extLst>
          </p:cNvPr>
          <p:cNvSpPr txBox="1"/>
          <p:nvPr/>
        </p:nvSpPr>
        <p:spPr>
          <a:xfrm>
            <a:off x="363896" y="909865"/>
            <a:ext cx="6653839" cy="374239"/>
          </a:xfrm>
          <a:prstGeom prst="rect">
            <a:avLst/>
          </a:prstGeom>
          <a:noFill/>
          <a:ln>
            <a:noFill/>
          </a:ln>
        </p:spPr>
        <p:txBody>
          <a:bodyPr wrap="square" lIns="35967" tIns="17983" rIns="35967" bIns="17983" anchor="ctr">
            <a:spAutoFit/>
          </a:bodyPr>
          <a:lstStyle/>
          <a:p>
            <a:pPr algn="l"/>
            <a:r>
              <a:rPr sz="2198" b="1" dirty="0">
                <a:solidFill>
                  <a:srgbClr val="1A1A1A"/>
                </a:solidFill>
                <a:latin typeface="メイリオ"/>
                <a:ea typeface="メイリオ"/>
              </a:rPr>
              <a:t>○ </a:t>
            </a:r>
            <a:r>
              <a:rPr lang="ja-JP" altLang="en-US" sz="2198" b="1" dirty="0">
                <a:solidFill>
                  <a:srgbClr val="1A1A1A"/>
                </a:solidFill>
                <a:latin typeface="メイリオ"/>
                <a:ea typeface="メイリオ"/>
              </a:rPr>
              <a:t>終わりに</a:t>
            </a:r>
            <a:endParaRPr sz="2198" b="1" dirty="0">
              <a:solidFill>
                <a:srgbClr val="1A1A1A"/>
              </a:solidFill>
              <a:latin typeface="メイリオ"/>
              <a:ea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1138538942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2347</TotalTime>
  <Words>810</Words>
  <Application>Microsoft Office PowerPoint</Application>
  <PresentationFormat>画面に合わせる (16:9)</PresentationFormat>
  <Paragraphs>133</Paragraphs>
  <Slides>14</Slides>
  <Notes>12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21" baseType="lpstr">
      <vt:lpstr>ＭＳ Ｐゴシック</vt:lpstr>
      <vt:lpstr>ＭＳ 明朝</vt:lpstr>
      <vt:lpstr>メイリオ</vt:lpstr>
      <vt:lpstr>メイリオ</vt:lpstr>
      <vt:lpstr>游ゴシック</vt:lpstr>
      <vt:lpstr>Arial</vt:lpstr>
      <vt:lpstr>Simple Light</vt:lpstr>
      <vt:lpstr>　 　練馬区立向山小学校 　教育指導課訪問（３・４校時）  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髙橋　庸介</dc:creator>
  <cp:lastModifiedBy>紺多　章一郎</cp:lastModifiedBy>
  <cp:revision>239</cp:revision>
  <cp:lastPrinted>2026-01-16T08:09:16Z</cp:lastPrinted>
  <dcterms:modified xsi:type="dcterms:W3CDTF">2026-05-26T06:25:44Z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2024-11-05T11:38:43Z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a2ab2787-c1e7-407f-a903-ef94d39b46a6</vt:lpwstr>
  </property>
  <property fmtid="{D5CDD505-2E9C-101B-9397-08002B2CF9AE}" pid="7" name="MSIP_Label_defa4170-0d19-0005-0004-bc88714345d2_ActionId">
    <vt:lpwstr>944b954c-8c97-4a3f-a932-afe242b54cb8</vt:lpwstr>
  </property>
  <property fmtid="{D5CDD505-2E9C-101B-9397-08002B2CF9AE}" pid="8" name="MSIP_Label_defa4170-0d19-0005-0004-bc88714345d2_ContentBits">
    <vt:lpwstr>0</vt:lpwstr>
  </property>
</Properties>
</file>