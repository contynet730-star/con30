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</p:sldMasterIdLst>
  <p:notesMasterIdLst>
    <p:notesMasterId r:id="rId10"/>
  </p:notesMasterIdLst>
  <p:handoutMasterIdLst>
    <p:handoutMasterId r:id="rId11"/>
  </p:handoutMasterIdLst>
  <p:sldIdLst>
    <p:sldId id="256" r:id="rId2"/>
    <p:sldId id="525" r:id="rId3"/>
    <p:sldId id="519" r:id="rId4"/>
    <p:sldId id="515" r:id="rId5"/>
    <p:sldId id="526" r:id="rId6"/>
    <p:sldId id="527" r:id="rId7"/>
    <p:sldId id="528" r:id="rId8"/>
    <p:sldId id="521" r:id="rId9"/>
  </p:sldIdLst>
  <p:sldSz cx="9144000" cy="5143500" type="screen16x9"/>
  <p:notesSz cx="9869488" cy="67373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6C15"/>
    <a:srgbClr val="07A973"/>
    <a:srgbClr val="08B87D"/>
    <a:srgbClr val="08CE8C"/>
    <a:srgbClr val="08DA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E291C43-1532-4610-ABD8-C8CECD27156B}">
  <a:tblStyle styleId="{0E291C43-1532-4610-ABD8-C8CECD27156B}" styleName="Table_0">
    <a:wholeTbl>
      <a:tcTxStyle b="off" i="off">
        <a:font>
          <a:latin typeface="游ゴシック"/>
          <a:ea typeface="游ゴシック"/>
          <a:cs typeface="游ゴシック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/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テーマ スタイル 2 - アクセント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3447" autoAdjust="0"/>
  </p:normalViewPr>
  <p:slideViewPr>
    <p:cSldViewPr snapToGrid="0">
      <p:cViewPr varScale="1">
        <p:scale>
          <a:sx n="136" d="100"/>
          <a:sy n="136" d="100"/>
        </p:scale>
        <p:origin x="1026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25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6778" cy="338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590426" y="0"/>
            <a:ext cx="4276778" cy="338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A2779-45BC-43BE-9EC8-D38CFB0D7052}" type="datetimeFigureOut">
              <a:rPr kumimoji="1" lang="ja-JP" altLang="en-US" smtClean="0"/>
              <a:t>2026/4/9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399313"/>
            <a:ext cx="4276778" cy="338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590426" y="6399313"/>
            <a:ext cx="4276778" cy="338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93DD2-1020-4EE0-ACDE-AC71370277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360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687638" y="504825"/>
            <a:ext cx="4494212" cy="2527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86949" y="3200241"/>
            <a:ext cx="7895590" cy="3031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70099d0ae5_2_75:notes"/>
          <p:cNvSpPr txBox="1">
            <a:spLocks noGrp="1"/>
          </p:cNvSpPr>
          <p:nvPr>
            <p:ph type="body" idx="1"/>
          </p:nvPr>
        </p:nvSpPr>
        <p:spPr>
          <a:xfrm>
            <a:off x="987428" y="3241675"/>
            <a:ext cx="7894648" cy="26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170099d0ae5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842963"/>
            <a:ext cx="4040188" cy="227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0613-BE72-B48C-D9D2-81B291EE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D2881E2-F05A-B6A0-F53F-57798F348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4FE4DE2-3DE6-CCDD-9EC3-1DCAFE8DF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F2272A-49A3-EB6D-57CD-1F67A42D2B8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kumimoji="1" lang="en-US" altLang="ja-JP" dirty="0"/>
              <a:t>2021/3/24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AA84D45-ADE3-FA57-62A0-C4510B5D87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F652ED-4E8E-4FA7-8EF4-2DDF6FB21FC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4458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B818C-DCD6-C1A3-E536-631953127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45B2EFE-A1E7-53BF-5EA9-F91F66DC1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6A152E4-9228-ECF8-64A1-CE3F00BCB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769C6E-489D-D023-4FA1-572E96F20C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kumimoji="1" lang="en-US" altLang="ja-JP" dirty="0"/>
              <a:t>2021/3/24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F8483C7-05C1-1061-989F-C345A8CEAC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F652ED-4E8E-4FA7-8EF4-2DDF6FB21FC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5960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10366-2681-9BA3-87A8-939553402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D3C8D4B-618A-F5BD-B65B-9EEB32DDA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BB3FC3C-8F3C-0976-47E3-F9CCB6A5F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BC1266-B627-334F-1314-258195CCB47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kumimoji="1" lang="en-US" altLang="ja-JP" dirty="0"/>
              <a:t>2021/3/24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4B351BE-54F6-605E-1164-2835FF1FE5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F652ED-4E8E-4FA7-8EF4-2DDF6FB21FCE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731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DE484-FE70-3BE3-5414-90CDC1ED0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F9A51B1-2F78-6823-0412-10A0B91C3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5F4752A-EC3E-9619-08D1-31263B2B1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D16B86-007C-AAB3-694C-F49E4A2446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kumimoji="1" lang="en-US" altLang="ja-JP" dirty="0"/>
              <a:t>2021/3/24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657DDD-14A7-3D7E-7CE1-F9F27A8CE3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F652ED-4E8E-4FA7-8EF4-2DDF6FB21FC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620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A00FD-F612-E8E7-05E3-102F14DC2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BA4B4B2-CC24-CB51-EE1B-3BB541B4E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25E240A-5B0D-D9C0-AC28-A11F14DB8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26E187-F221-A474-479C-74ECACF325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kumimoji="1" lang="en-US" altLang="ja-JP" dirty="0"/>
              <a:t>2021/3/24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8E54726-C38E-F9DB-5818-42888C7995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F652ED-4E8E-4FA7-8EF4-2DDF6FB21FCE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1392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AEB8E-C70D-5074-A72B-09CA3EF7C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14791D-A483-6832-B02D-2AD2C3140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BC278DB-6293-AEFF-1360-8DB4106CA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825AF5-118E-41D2-EC0D-8E018B9EBD9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kumimoji="1" lang="en-US" altLang="ja-JP" dirty="0"/>
              <a:t>2021/3/24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40B3CB6-2DE6-7F82-9AFF-CA86B41E32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F652ED-4E8E-4FA7-8EF4-2DDF6FB21FCE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3221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87E78-44DE-2A20-A6AE-89EEA38E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CDBD9E5-D7BE-00C8-1052-4030E3A1E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0D73994-14EE-4D23-8910-38A32DD0C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CBB6B2-776E-F92E-1FBB-D8F94A1AEE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kumimoji="1" lang="en-US" altLang="ja-JP" dirty="0"/>
              <a:t>2021/3/24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FCCF6C3-8655-85C8-088D-AAF3E0A292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F652ED-4E8E-4FA7-8EF4-2DDF6FB21FCE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0414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 rot="10800000">
            <a:off x="505557" y="544530"/>
            <a:ext cx="8532056" cy="198095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6038044" y="3232858"/>
            <a:ext cx="2795442" cy="147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dist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sym typeface="Arial"/>
              </a:rPr>
              <a:t>令和８年５月27日（水）</a:t>
            </a:r>
            <a:endParaRPr lang="en-US" altLang="ja" sz="2000" b="1" dirty="0">
              <a:solidFill>
                <a:schemeClr val="tx1">
                  <a:lumMod val="65000"/>
                  <a:lumOff val="35000"/>
                </a:schemeClr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  <a:sym typeface="Arial"/>
            </a:endParaRPr>
          </a:p>
          <a:p>
            <a:pPr marL="0" marR="0" lvl="0" indent="0" algn="dist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sym typeface="Arial"/>
              </a:rPr>
              <a:t>練馬区教育委員会</a:t>
            </a:r>
            <a:endParaRPr sz="2000" b="1" dirty="0">
              <a:solidFill>
                <a:schemeClr val="tx1">
                  <a:lumMod val="65000"/>
                  <a:lumOff val="35000"/>
                </a:schemeClr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  <a:sym typeface="Arial"/>
            </a:endParaRPr>
          </a:p>
          <a:p>
            <a:pPr marL="0" marR="0" lvl="0" indent="0" algn="dist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sym typeface="Arial"/>
              </a:rPr>
              <a:t>指導主事　</a:t>
            </a:r>
            <a:r>
              <a:rPr lang="ja-JP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紺多　章一郎</a:t>
            </a:r>
            <a:endParaRPr sz="2000" b="1" dirty="0">
              <a:solidFill>
                <a:schemeClr val="tx1">
                  <a:lumMod val="65000"/>
                  <a:lumOff val="35000"/>
                </a:schemeClr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  <a:sym typeface="Arial"/>
            </a:endParaRPr>
          </a:p>
        </p:txBody>
      </p:sp>
      <p:sp>
        <p:nvSpPr>
          <p:cNvPr id="6" name="タイトル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865663"/>
          </a:xfrm>
          <a:solidFill>
            <a:srgbClr val="07A973"/>
          </a:solidFill>
        </p:spPr>
        <p:txBody>
          <a:bodyPr anchor="t">
            <a:noAutofit/>
          </a:bodyPr>
          <a:lstStyle/>
          <a:p>
            <a:pPr algn="l"/>
            <a:r>
              <a:rPr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　</a:t>
            </a:r>
            <a:br>
              <a: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lang="ja-JP" altLang="en-US" sz="40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　練馬区立向山小学校</a:t>
            </a:r>
            <a:br>
              <a:rPr lang="en-US" altLang="ja-JP" sz="40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lang="ja-JP" altLang="en-US" sz="40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　教育指導課訪問（３・４校時）</a:t>
            </a:r>
            <a:br>
              <a: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br>
              <a: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endParaRPr kumimoji="1" lang="ja-JP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2" name="図 1" descr="抽象, 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79B1C8B-579E-B03D-E60F-6F86A97CF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95" y="3009900"/>
            <a:ext cx="3211398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1D3C9-DA06-2360-20FE-D74FEFB05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83CEDA9-7196-12AB-8B24-555D95D63C5D}"/>
              </a:ext>
            </a:extLst>
          </p:cNvPr>
          <p:cNvSpPr/>
          <p:nvPr/>
        </p:nvSpPr>
        <p:spPr>
          <a:xfrm>
            <a:off x="169555" y="572908"/>
            <a:ext cx="68150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ja-JP" sz="2400" b="1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45391DB-BFA8-70BC-47AF-C870A4F9A906}"/>
              </a:ext>
            </a:extLst>
          </p:cNvPr>
          <p:cNvSpPr/>
          <p:nvPr/>
        </p:nvSpPr>
        <p:spPr>
          <a:xfrm>
            <a:off x="0" y="-7150"/>
            <a:ext cx="9144000" cy="613963"/>
          </a:xfrm>
          <a:prstGeom prst="rect">
            <a:avLst/>
          </a:prstGeom>
          <a:solidFill>
            <a:srgbClr val="07A973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000" b="1" dirty="0">
                <a:solidFill>
                  <a:schemeClr val="bg1"/>
                </a:solidFill>
              </a:rPr>
              <a:t>　</a:t>
            </a:r>
            <a:r>
              <a:rPr lang="ja-JP" altLang="en-US" sz="3200" b="1" dirty="0">
                <a:solidFill>
                  <a:schemeClr val="bg1"/>
                </a:solidFill>
              </a:rPr>
              <a:t>３・４校時の授業について　</a:t>
            </a:r>
            <a:endParaRPr lang="en-US" altLang="ja-JP" sz="3200" b="1" dirty="0">
              <a:solidFill>
                <a:schemeClr val="bg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242ACF5-38B3-DDF6-38BA-9842170ED879}"/>
              </a:ext>
            </a:extLst>
          </p:cNvPr>
          <p:cNvSpPr/>
          <p:nvPr/>
        </p:nvSpPr>
        <p:spPr bwMode="white">
          <a:xfrm>
            <a:off x="470947" y="970565"/>
            <a:ext cx="8019225" cy="2723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36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本日の２つの視点</a:t>
            </a:r>
            <a:endParaRPr lang="en-US" altLang="ja-JP" sz="3600" b="1" u="sng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・「主体的・対話的で深い学び」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・研究主題の具現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・授業の事実から学びを語る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2740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ACCFB-11A9-A167-FC3C-2B1CFB996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53072CC-638E-F6B3-3AFC-C1FC2B03597D}"/>
              </a:ext>
            </a:extLst>
          </p:cNvPr>
          <p:cNvSpPr/>
          <p:nvPr/>
        </p:nvSpPr>
        <p:spPr>
          <a:xfrm>
            <a:off x="169555" y="572908"/>
            <a:ext cx="68150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ja-JP" sz="2400" b="1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754C457-EAA5-6979-2193-2CF285EC2BD5}"/>
              </a:ext>
            </a:extLst>
          </p:cNvPr>
          <p:cNvSpPr/>
          <p:nvPr/>
        </p:nvSpPr>
        <p:spPr>
          <a:xfrm>
            <a:off x="0" y="-7150"/>
            <a:ext cx="9144000" cy="613963"/>
          </a:xfrm>
          <a:prstGeom prst="rect">
            <a:avLst/>
          </a:prstGeom>
          <a:solidFill>
            <a:srgbClr val="07A973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000" b="1" dirty="0">
                <a:solidFill>
                  <a:schemeClr val="bg1"/>
                </a:solidFill>
              </a:rPr>
              <a:t>　</a:t>
            </a:r>
            <a:r>
              <a:rPr lang="ja-JP" altLang="en-US" sz="3200" b="1" dirty="0">
                <a:solidFill>
                  <a:schemeClr val="bg1"/>
                </a:solidFill>
              </a:rPr>
              <a:t>３・４校時の授業について　</a:t>
            </a:r>
            <a:endParaRPr lang="en-US" altLang="ja-JP" sz="3200" b="1" dirty="0">
              <a:solidFill>
                <a:schemeClr val="bg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A251EF3-8BF8-CF13-1EDD-BB47337CA447}"/>
              </a:ext>
            </a:extLst>
          </p:cNvPr>
          <p:cNvSpPr/>
          <p:nvPr/>
        </p:nvSpPr>
        <p:spPr bwMode="white">
          <a:xfrm>
            <a:off x="470947" y="970565"/>
            <a:ext cx="8019225" cy="2723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研究主題の具現に向けた３つの視点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①自ら関心をもち（教材との出会い）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②考え（委ねる時間と戻る場）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③行動しようとする（学びを次へ）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618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B79F4-05D2-BF79-07BC-ED7DCF57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2D3125A-579A-5C8B-1BAC-E2491CBE01AA}"/>
              </a:ext>
            </a:extLst>
          </p:cNvPr>
          <p:cNvSpPr/>
          <p:nvPr/>
        </p:nvSpPr>
        <p:spPr>
          <a:xfrm>
            <a:off x="169555" y="572908"/>
            <a:ext cx="68150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ja-JP" sz="2400" b="1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D217E0A-F267-CC5F-AAEF-3CC0E0E7BA77}"/>
              </a:ext>
            </a:extLst>
          </p:cNvPr>
          <p:cNvSpPr/>
          <p:nvPr/>
        </p:nvSpPr>
        <p:spPr>
          <a:xfrm>
            <a:off x="0" y="-7150"/>
            <a:ext cx="9144000" cy="613963"/>
          </a:xfrm>
          <a:prstGeom prst="rect">
            <a:avLst/>
          </a:prstGeom>
          <a:solidFill>
            <a:srgbClr val="07A973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000" b="1" dirty="0">
                <a:solidFill>
                  <a:schemeClr val="bg1"/>
                </a:solidFill>
              </a:rPr>
              <a:t>　</a:t>
            </a:r>
            <a:r>
              <a:rPr lang="ja-JP" altLang="en-US" sz="3200" b="1" dirty="0">
                <a:solidFill>
                  <a:schemeClr val="bg1"/>
                </a:solidFill>
              </a:rPr>
              <a:t>３・４校時の授業について　①関心</a:t>
            </a:r>
            <a:endParaRPr lang="en-US" altLang="ja-JP" sz="3200" b="1" dirty="0">
              <a:solidFill>
                <a:schemeClr val="bg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7876903-AD43-5597-093C-B3A30EBDBD14}"/>
              </a:ext>
            </a:extLst>
          </p:cNvPr>
          <p:cNvSpPr/>
          <p:nvPr/>
        </p:nvSpPr>
        <p:spPr bwMode="white">
          <a:xfrm>
            <a:off x="489758" y="803740"/>
            <a:ext cx="3628642" cy="517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1-全　体育（髙井他）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FE1E1FD-B193-3B9D-6C3D-A01212A849E4}"/>
              </a:ext>
            </a:extLst>
          </p:cNvPr>
          <p:cNvSpPr/>
          <p:nvPr/>
        </p:nvSpPr>
        <p:spPr bwMode="white">
          <a:xfrm>
            <a:off x="-3414027" y="1434268"/>
            <a:ext cx="3339266" cy="517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〈補足〉単元名で心を掴む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77B05B5-448D-2AE3-53FB-A4237D7F6069}"/>
              </a:ext>
            </a:extLst>
          </p:cNvPr>
          <p:cNvSpPr/>
          <p:nvPr/>
        </p:nvSpPr>
        <p:spPr bwMode="white">
          <a:xfrm>
            <a:off x="-3414027" y="2313217"/>
            <a:ext cx="3339266" cy="517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〈補足〉３つの場で「やってみたい」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12FE207-E0BC-2DE8-191E-399D59E5D037}"/>
              </a:ext>
            </a:extLst>
          </p:cNvPr>
          <p:cNvSpPr/>
          <p:nvPr/>
        </p:nvSpPr>
        <p:spPr bwMode="white">
          <a:xfrm>
            <a:off x="-3414027" y="3027217"/>
            <a:ext cx="3339266" cy="517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〈補足〉教材との出会いが関心を決める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85A74E2-1D9E-0368-1A5B-0CDBA4352FC1}"/>
              </a:ext>
            </a:extLst>
          </p:cNvPr>
          <p:cNvSpPr/>
          <p:nvPr/>
        </p:nvSpPr>
        <p:spPr>
          <a:xfrm>
            <a:off x="489758" y="1434268"/>
            <a:ext cx="3628642" cy="27489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写真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19BE3AD-40B7-C3E5-338E-DF2FB57229DB}"/>
              </a:ext>
            </a:extLst>
          </p:cNvPr>
          <p:cNvSpPr/>
          <p:nvPr/>
        </p:nvSpPr>
        <p:spPr bwMode="white">
          <a:xfrm>
            <a:off x="4983758" y="803740"/>
            <a:ext cx="3571042" cy="517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5-1　図工（鈴木寛明）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280738D-FE28-ADBF-BF48-A9DCFE692FDE}"/>
              </a:ext>
            </a:extLst>
          </p:cNvPr>
          <p:cNvSpPr/>
          <p:nvPr/>
        </p:nvSpPr>
        <p:spPr>
          <a:xfrm>
            <a:off x="4926158" y="1434268"/>
            <a:ext cx="3628642" cy="27489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写真</a:t>
            </a:r>
          </a:p>
        </p:txBody>
      </p:sp>
    </p:spTree>
    <p:extLst>
      <p:ext uri="{BB962C8B-B14F-4D97-AF65-F5344CB8AC3E}">
        <p14:creationId xmlns:p14="http://schemas.microsoft.com/office/powerpoint/2010/main" val="242429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5304E-5B76-C7D3-FF30-435E1F2E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49D3D17-D1C5-E481-ABD6-61E04CC72B25}"/>
              </a:ext>
            </a:extLst>
          </p:cNvPr>
          <p:cNvSpPr/>
          <p:nvPr/>
        </p:nvSpPr>
        <p:spPr>
          <a:xfrm>
            <a:off x="169555" y="572908"/>
            <a:ext cx="68150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ja-JP" sz="2400" b="1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C1E4B49-1192-695F-8291-48C66874AC46}"/>
              </a:ext>
            </a:extLst>
          </p:cNvPr>
          <p:cNvSpPr/>
          <p:nvPr/>
        </p:nvSpPr>
        <p:spPr>
          <a:xfrm>
            <a:off x="0" y="-7150"/>
            <a:ext cx="9144000" cy="613963"/>
          </a:xfrm>
          <a:prstGeom prst="rect">
            <a:avLst/>
          </a:prstGeom>
          <a:solidFill>
            <a:srgbClr val="07A973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000" b="1" dirty="0">
                <a:solidFill>
                  <a:schemeClr val="bg1"/>
                </a:solidFill>
              </a:rPr>
              <a:t>　</a:t>
            </a:r>
            <a:r>
              <a:rPr lang="ja-JP" altLang="en-US" sz="3200" b="1" dirty="0">
                <a:solidFill>
                  <a:schemeClr val="bg1"/>
                </a:solidFill>
              </a:rPr>
              <a:t>３・４校時の授業について　②考え</a:t>
            </a:r>
            <a:endParaRPr lang="en-US" altLang="ja-JP" sz="3200" b="1" dirty="0">
              <a:solidFill>
                <a:schemeClr val="bg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871D856-5C1D-8BEB-D3E7-9B8F19D3E72D}"/>
              </a:ext>
            </a:extLst>
          </p:cNvPr>
          <p:cNvSpPr/>
          <p:nvPr/>
        </p:nvSpPr>
        <p:spPr bwMode="white">
          <a:xfrm>
            <a:off x="489758" y="900000"/>
            <a:ext cx="4000000" cy="517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2-1　算数（岩佐）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4539BEB-F3C9-6597-FF8D-13F6493EAAA1}"/>
              </a:ext>
            </a:extLst>
          </p:cNvPr>
          <p:cNvSpPr/>
          <p:nvPr/>
        </p:nvSpPr>
        <p:spPr bwMode="white">
          <a:xfrm>
            <a:off x="4700000" y="900000"/>
            <a:ext cx="4000000" cy="517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5-3　社会（小松）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E8968C1-738E-5797-EEAA-8EC7DE30B3AE}"/>
              </a:ext>
            </a:extLst>
          </p:cNvPr>
          <p:cNvSpPr/>
          <p:nvPr/>
        </p:nvSpPr>
        <p:spPr bwMode="white">
          <a:xfrm>
            <a:off x="489758" y="2700000"/>
            <a:ext cx="4000000" cy="517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4-2　国語（工藤）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D58072C-8A99-B42C-4A03-380C420A0218}"/>
              </a:ext>
            </a:extLst>
          </p:cNvPr>
          <p:cNvSpPr/>
          <p:nvPr/>
        </p:nvSpPr>
        <p:spPr bwMode="white">
          <a:xfrm>
            <a:off x="4700000" y="2700000"/>
            <a:ext cx="4000000" cy="517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6-3　道徳（松田）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0057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B42D7-2122-C921-2C93-C06AF6E3D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D724A89-2580-D591-20FE-044E5BEFBAE5}"/>
              </a:ext>
            </a:extLst>
          </p:cNvPr>
          <p:cNvSpPr/>
          <p:nvPr/>
        </p:nvSpPr>
        <p:spPr>
          <a:xfrm>
            <a:off x="169555" y="572908"/>
            <a:ext cx="68150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ja-JP" sz="2400" b="1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D9C61A6-0D7D-D7A1-EB3A-F1D29C27CCA7}"/>
              </a:ext>
            </a:extLst>
          </p:cNvPr>
          <p:cNvSpPr/>
          <p:nvPr/>
        </p:nvSpPr>
        <p:spPr>
          <a:xfrm>
            <a:off x="0" y="-7150"/>
            <a:ext cx="9144000" cy="613963"/>
          </a:xfrm>
          <a:prstGeom prst="rect">
            <a:avLst/>
          </a:prstGeom>
          <a:solidFill>
            <a:srgbClr val="07A973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000" b="1" dirty="0">
                <a:solidFill>
                  <a:schemeClr val="bg1"/>
                </a:solidFill>
              </a:rPr>
              <a:t>　</a:t>
            </a:r>
            <a:r>
              <a:rPr lang="ja-JP" altLang="en-US" sz="3200" b="1" dirty="0">
                <a:solidFill>
                  <a:schemeClr val="bg1"/>
                </a:solidFill>
              </a:rPr>
              <a:t>３・４校時の授業について　③行動</a:t>
            </a:r>
            <a:endParaRPr lang="en-US" altLang="ja-JP" sz="3200" b="1" dirty="0">
              <a:solidFill>
                <a:schemeClr val="bg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5D3743F-9B80-8301-2727-28B24CEB585F}"/>
              </a:ext>
            </a:extLst>
          </p:cNvPr>
          <p:cNvSpPr/>
          <p:nvPr/>
        </p:nvSpPr>
        <p:spPr bwMode="white">
          <a:xfrm>
            <a:off x="489758" y="900000"/>
            <a:ext cx="4000000" cy="517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4-1　社会（三井）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E270405-A8B6-2B0E-EA8E-6FC8C7CBA1D9}"/>
              </a:ext>
            </a:extLst>
          </p:cNvPr>
          <p:cNvSpPr/>
          <p:nvPr/>
        </p:nvSpPr>
        <p:spPr bwMode="white">
          <a:xfrm>
            <a:off x="4700000" y="900000"/>
            <a:ext cx="4000000" cy="517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5-2　体育（古江）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1044BF6-66AC-7531-FFD7-AE2565339A18}"/>
              </a:ext>
            </a:extLst>
          </p:cNvPr>
          <p:cNvSpPr/>
          <p:nvPr/>
        </p:nvSpPr>
        <p:spPr bwMode="white">
          <a:xfrm>
            <a:off x="489758" y="2700000"/>
            <a:ext cx="4000000" cy="517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6-2　外国語（木下）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4877F31-44E4-C62E-AC94-341DD920F663}"/>
              </a:ext>
            </a:extLst>
          </p:cNvPr>
          <p:cNvSpPr/>
          <p:nvPr/>
        </p:nvSpPr>
        <p:spPr bwMode="white">
          <a:xfrm>
            <a:off x="4700000" y="2700000"/>
            <a:ext cx="4000000" cy="517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2-2　道徳（中牧）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5766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3127-9088-B933-F3B3-92060C2A5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8A278EE-C276-19D9-FDFA-E4CE17C40DBB}"/>
              </a:ext>
            </a:extLst>
          </p:cNvPr>
          <p:cNvSpPr/>
          <p:nvPr/>
        </p:nvSpPr>
        <p:spPr>
          <a:xfrm>
            <a:off x="169555" y="572908"/>
            <a:ext cx="68150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ja-JP" sz="2400" b="1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81A3B47-DC4E-4EA8-7D06-13C72654739F}"/>
              </a:ext>
            </a:extLst>
          </p:cNvPr>
          <p:cNvSpPr/>
          <p:nvPr/>
        </p:nvSpPr>
        <p:spPr>
          <a:xfrm>
            <a:off x="0" y="-7150"/>
            <a:ext cx="9144000" cy="613963"/>
          </a:xfrm>
          <a:prstGeom prst="rect">
            <a:avLst/>
          </a:prstGeom>
          <a:solidFill>
            <a:srgbClr val="07A973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000" b="1" dirty="0">
                <a:solidFill>
                  <a:schemeClr val="bg1"/>
                </a:solidFill>
              </a:rPr>
              <a:t>　</a:t>
            </a:r>
            <a:r>
              <a:rPr lang="ja-JP" altLang="en-US" sz="3200" b="1" dirty="0">
                <a:solidFill>
                  <a:schemeClr val="bg1"/>
                </a:solidFill>
              </a:rPr>
              <a:t>３・４校時の授業について　</a:t>
            </a:r>
            <a:endParaRPr lang="en-US" altLang="ja-JP" sz="3200" b="1" dirty="0">
              <a:solidFill>
                <a:schemeClr val="bg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91E7600-9230-47CF-B47C-3B1B6F7C35BA}"/>
              </a:ext>
            </a:extLst>
          </p:cNvPr>
          <p:cNvSpPr/>
          <p:nvPr/>
        </p:nvSpPr>
        <p:spPr bwMode="white">
          <a:xfrm>
            <a:off x="470947" y="970565"/>
            <a:ext cx="8019225" cy="2723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研究主題の具現に向けた３つの視点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①自ら関心をもち（教材との出会い）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②考え（委ねる時間と戻る場）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③行動しようとする（学びを次へ）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8909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973C5-949A-0B47-375C-47B674A7E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556DA15-1216-AE2D-19F4-BE0E23E4579F}"/>
              </a:ext>
            </a:extLst>
          </p:cNvPr>
          <p:cNvSpPr/>
          <p:nvPr/>
        </p:nvSpPr>
        <p:spPr>
          <a:xfrm>
            <a:off x="169555" y="572908"/>
            <a:ext cx="68150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ja-JP" sz="2400" b="1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CF88AA8-D5AA-2FFC-B5F9-8677ACCDECF3}"/>
              </a:ext>
            </a:extLst>
          </p:cNvPr>
          <p:cNvSpPr/>
          <p:nvPr/>
        </p:nvSpPr>
        <p:spPr>
          <a:xfrm>
            <a:off x="0" y="-7150"/>
            <a:ext cx="9144000" cy="613963"/>
          </a:xfrm>
          <a:prstGeom prst="rect">
            <a:avLst/>
          </a:prstGeom>
          <a:solidFill>
            <a:srgbClr val="07A973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000" b="1" dirty="0">
                <a:solidFill>
                  <a:schemeClr val="bg1"/>
                </a:solidFill>
              </a:rPr>
              <a:t>　</a:t>
            </a:r>
            <a:r>
              <a:rPr lang="ja-JP" altLang="en-US" sz="3200" b="1" dirty="0">
                <a:solidFill>
                  <a:schemeClr val="bg1"/>
                </a:solidFill>
              </a:rPr>
              <a:t>３・４校時の授業について　</a:t>
            </a:r>
            <a:endParaRPr lang="en-US" altLang="ja-JP" sz="3200" b="1" dirty="0">
              <a:solidFill>
                <a:schemeClr val="bg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79F7953-85A4-8E6B-482F-C62C34E3940C}"/>
              </a:ext>
            </a:extLst>
          </p:cNvPr>
          <p:cNvSpPr/>
          <p:nvPr/>
        </p:nvSpPr>
        <p:spPr bwMode="white">
          <a:xfrm>
            <a:off x="562387" y="606813"/>
            <a:ext cx="8019225" cy="658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今後に向けて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11F27B4-4610-6AB1-6927-2CFCFD115F37}"/>
              </a:ext>
            </a:extLst>
          </p:cNvPr>
          <p:cNvSpPr/>
          <p:nvPr/>
        </p:nvSpPr>
        <p:spPr bwMode="white">
          <a:xfrm>
            <a:off x="562387" y="1356032"/>
            <a:ext cx="8019225" cy="24314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3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本日の視点を、明日の授業へ</a:t>
            </a:r>
            <a:endParaRPr lang="en-US" altLang="ja-JP" sz="3200" b="1" u="sng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・深い学びと研究主題の往還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・「問い・資料・時間」を磨く</a:t>
            </a:r>
            <a:r>
              <a:rPr lang="en-US" altLang="ja-JP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/>
            </a: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/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lnSpc>
                <a:spcPct val="120000"/>
              </a:lnSpc>
            </a:pPr>
            <a:r>
              <a:rPr lang="ja-JP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・振り返りで生活・次時へつなぐ</a:t>
            </a:r>
            <a:endParaRPr lang="en-US" altLang="ja-JP" sz="320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97019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2189</TotalTime>
  <Words>301</Words>
  <Application>Microsoft Office PowerPoint</Application>
  <PresentationFormat>画面に合わせる (16:9)</PresentationFormat>
  <Paragraphs>57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ＭＳ Ｐゴシック</vt:lpstr>
      <vt:lpstr>メイリオ</vt:lpstr>
      <vt:lpstr>游ゴシック</vt:lpstr>
      <vt:lpstr>Arial</vt:lpstr>
      <vt:lpstr>Simple Light</vt:lpstr>
      <vt:lpstr>　 　練馬区立●●学校 　教育指導課訪問（３・４校時） 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髙橋　庸介</dc:creator>
  <cp:lastModifiedBy>岩本　祐樹</cp:lastModifiedBy>
  <cp:revision>238</cp:revision>
  <cp:lastPrinted>2026-01-16T08:09:16Z</cp:lastPrinted>
  <dcterms:modified xsi:type="dcterms:W3CDTF">2026-04-09T05:24:34Z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2024-11-05T11:38:43Z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a2ab2787-c1e7-407f-a903-ef94d39b46a6</vt:lpwstr>
  </property>
  <property fmtid="{D5CDD505-2E9C-101B-9397-08002B2CF9AE}" pid="7" name="MSIP_Label_defa4170-0d19-0005-0004-bc88714345d2_ActionId">
    <vt:lpwstr>944b954c-8c97-4a3f-a932-afe242b54cb8</vt:lpwstr>
  </property>
  <property fmtid="{D5CDD505-2E9C-101B-9397-08002B2CF9AE}" pid="8" name="MSIP_Label_defa4170-0d19-0005-0004-bc88714345d2_ContentBits">
    <vt:lpwstr>0</vt:lpwstr>
  </property>
</Properties>
</file>