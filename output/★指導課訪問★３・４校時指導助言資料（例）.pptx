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6"/>
  </p:notesMasterIdLst>
  <p:handoutMasterIdLst>
    <p:handoutMasterId r:id="rId17"/>
  </p:handoutMasterIdLst>
  <p:sldIdLst>
    <p:sldId id="256" r:id="rId2"/>
    <p:sldId id="539" r:id="rId3"/>
    <p:sldId id="731" r:id="rId4"/>
    <p:sldId id="525" r:id="rId5"/>
    <p:sldId id="262" r:id="rId6"/>
    <p:sldId id="519" r:id="rId7"/>
    <p:sldId id="515" r:id="rId8"/>
    <p:sldId id="526" r:id="rId9"/>
    <p:sldId id="732" r:id="rId22"/>
    <p:sldId id="527" r:id="rId10"/>
    <p:sldId id="729" r:id="rId11"/>
    <p:sldId id="521" r:id="rId12"/>
    <p:sldId id="728" r:id="rId13"/>
    <p:sldId id="355" r:id="rId14"/>
    <p:sldId id="727" r:id="rId15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354" y="13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689DA-6814-B492-6FDF-C05F1C91C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9136912-A6DC-16A6-101E-28B4F903A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C83917-F4B1-8D5B-2907-CA280858F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92F5D5-E114-67BC-5235-48FE9499E7A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DC4779-E3E4-D0E2-0270-A3D0989834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270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7B0F6-9B25-69C1-F3EE-E7ABC1D9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4F5D6A-7954-8C34-4C25-62A42168A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E541D3-0CC8-5C55-CC7E-AE5186536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00251E-AF94-B6B1-E5A4-FE7FAAC60ED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763A965-C0B8-39AD-D221-9120317A0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444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>
                <a:latin typeface="メイリオ"/>
              </a:rPr>
              <a:t>【①関心 補足ポイント】</a:t>
            </a:r>
          </a:p>
          <a:p>
            <a:r>
              <a:rPr sz="1400">
                <a:latin typeface="メイリオ"/>
              </a:rPr>
              <a:t>・単元名で心を掴む（１年体育「ボールをなげるのだ！あてるのだ！たおすのだ！」）</a:t>
            </a:r>
          </a:p>
          <a:p>
            <a:r>
              <a:rPr sz="1400">
                <a:latin typeface="メイリオ"/>
              </a:rPr>
              <a:t>・３つの場で「やってみたい」を引き出す（フラフープ・ターゲット／段ボール倒し／ロケット投げ）</a:t>
            </a:r>
          </a:p>
          <a:p>
            <a:r>
              <a:rPr sz="1400">
                <a:latin typeface="メイリオ"/>
              </a:rPr>
              <a:t>・教材との出会いが関心の質を決める（５年図工「オナマエアート」）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1A904-9A28-623C-46D8-ACDCE07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2FC816-1A51-77D4-E12B-F43542A89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88BACE-30CA-8B9D-D857-9804D98F9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62D9CC-22BC-706B-F61F-33C902E1E4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3CB5FF-281C-C6EE-BA87-3FBE2698F2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9605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69ca163b2d_2_83:notes"/>
          <p:cNvSpPr txBox="1">
            <a:spLocks noGrp="1"/>
          </p:cNvSpPr>
          <p:nvPr>
            <p:ph type="body" idx="1"/>
          </p:nvPr>
        </p:nvSpPr>
        <p:spPr>
          <a:xfrm>
            <a:off x="464041" y="6907189"/>
            <a:ext cx="3712315" cy="65436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169ca163b2d_2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525713" y="1090613"/>
            <a:ext cx="9693276" cy="54530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04995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19C153A2-599A-E891-D131-D38888C3E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69ca163b2d_2_83:notes">
            <a:extLst>
              <a:ext uri="{FF2B5EF4-FFF2-40B4-BE49-F238E27FC236}">
                <a16:creationId xmlns:a16="http://schemas.microsoft.com/office/drawing/2014/main" id="{4011F2C0-815A-DDDC-1C16-F6EE9F1656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041" y="6907189"/>
            <a:ext cx="3712315" cy="65436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169ca163b2d_2_83:notes">
            <a:extLst>
              <a:ext uri="{FF2B5EF4-FFF2-40B4-BE49-F238E27FC236}">
                <a16:creationId xmlns:a16="http://schemas.microsoft.com/office/drawing/2014/main" id="{D3C5D57B-F659-D016-EE00-617C92766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2525713" y="1090613"/>
            <a:ext cx="9693276" cy="54530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172686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8DB18-F118-4E03-B042-5FAD6EB649E2}" type="datetime1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46D6-F21A-4DD7-8FBA-FBACCF13E1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813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7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5690382" y="3718193"/>
            <a:ext cx="3143104" cy="1036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5B9BD5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BCF7D57-B099-BCA6-6CF2-6DD172067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76" y="2958529"/>
            <a:ext cx="2370176" cy="1945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E7DC1-EDDA-E849-AC56-3F88BA0A6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0A1878C-5802-696D-B5BA-1EACB2AF8C7E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FC22D7A-BA68-35D2-5681-DD95636B3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1514"/>
              </p:ext>
            </p:extLst>
          </p:nvPr>
        </p:nvGraphicFramePr>
        <p:xfrm>
          <a:off x="76200" y="1679787"/>
          <a:ext cx="8847667" cy="26400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0248">
                  <a:extLst>
                    <a:ext uri="{9D8B030D-6E8A-4147-A177-3AD203B41FA5}">
                      <a16:colId xmlns:a16="http://schemas.microsoft.com/office/drawing/2014/main" val="2491099294"/>
                    </a:ext>
                  </a:extLst>
                </a:gridCol>
                <a:gridCol w="1375522">
                  <a:extLst>
                    <a:ext uri="{9D8B030D-6E8A-4147-A177-3AD203B41FA5}">
                      <a16:colId xmlns:a16="http://schemas.microsoft.com/office/drawing/2014/main" val="4195128873"/>
                    </a:ext>
                  </a:extLst>
                </a:gridCol>
                <a:gridCol w="1411897">
                  <a:extLst>
                    <a:ext uri="{9D8B030D-6E8A-4147-A177-3AD203B41FA5}">
                      <a16:colId xmlns:a16="http://schemas.microsoft.com/office/drawing/2014/main" val="2599010338"/>
                    </a:ext>
                  </a:extLst>
                </a:gridCol>
              </a:tblGrid>
              <a:tr h="104466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質問項目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向山小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921817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ja-JP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分からないことや詳しく知りたいことがあったときに、自分で学び方を考え、工夫することはできていますか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81.1%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rgbClr val="0070C0"/>
                          </a:solidFill>
                        </a:rPr>
                        <a:t>80.0</a:t>
                      </a:r>
                      <a:r>
                        <a:rPr kumimoji="1" lang="ja-JP" altLang="en-US" sz="2800" dirty="0">
                          <a:solidFill>
                            <a:srgbClr val="0070C0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764373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en-US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授業で学んだことを、次の学習や実生活に結びつけて考えたり、生かしたりすることができると思いますか</a:t>
                      </a:r>
                      <a:endParaRPr kumimoji="1" lang="ja-JP" altLang="en-US" sz="3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80.6%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rgbClr val="FF0000"/>
                          </a:solidFill>
                        </a:rPr>
                        <a:t>90.6</a:t>
                      </a:r>
                      <a:r>
                        <a:rPr kumimoji="1" lang="ja-JP" altLang="en-US" sz="2800" dirty="0">
                          <a:solidFill>
                            <a:srgbClr val="FF0000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117679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D7C4A96-79D9-4810-06B6-A4752B4E9BA4}"/>
              </a:ext>
            </a:extLst>
          </p:cNvPr>
          <p:cNvSpPr/>
          <p:nvPr/>
        </p:nvSpPr>
        <p:spPr>
          <a:xfrm>
            <a:off x="0" y="6741"/>
            <a:ext cx="9144000" cy="969412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b="1" dirty="0">
                <a:solidFill>
                  <a:schemeClr val="bg1"/>
                </a:solidFill>
              </a:rPr>
              <a:t>令和７年度全国学力・学習状況調査</a:t>
            </a:r>
            <a:endParaRPr lang="en-US" altLang="ja-JP" sz="3200" b="1" dirty="0">
              <a:solidFill>
                <a:schemeClr val="bg1"/>
              </a:solidFill>
            </a:endParaRPr>
          </a:p>
          <a:p>
            <a:r>
              <a:rPr lang="ja-JP" altLang="en-US" sz="3200" b="1" dirty="0">
                <a:solidFill>
                  <a:schemeClr val="bg1"/>
                </a:solidFill>
              </a:rPr>
              <a:t>児童質問用紙より</a:t>
            </a:r>
            <a:endParaRPr lang="en-US" altLang="ja-JP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39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58E-4D8F-A1E1-2537-561D48BA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82CD490-F1C5-1A71-26B4-619E0A9A7897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7991133E-73CF-82E8-49FD-3BF2C062BB6A}"/>
              </a:ext>
            </a:extLst>
          </p:cNvPr>
          <p:cNvGraphicFramePr>
            <a:graphicFrameLocks noGrp="1"/>
          </p:cNvGraphicFramePr>
          <p:nvPr/>
        </p:nvGraphicFramePr>
        <p:xfrm>
          <a:off x="76200" y="1679787"/>
          <a:ext cx="8847667" cy="26400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0248">
                  <a:extLst>
                    <a:ext uri="{9D8B030D-6E8A-4147-A177-3AD203B41FA5}">
                      <a16:colId xmlns:a16="http://schemas.microsoft.com/office/drawing/2014/main" val="2491099294"/>
                    </a:ext>
                  </a:extLst>
                </a:gridCol>
                <a:gridCol w="1375522">
                  <a:extLst>
                    <a:ext uri="{9D8B030D-6E8A-4147-A177-3AD203B41FA5}">
                      <a16:colId xmlns:a16="http://schemas.microsoft.com/office/drawing/2014/main" val="4195128873"/>
                    </a:ext>
                  </a:extLst>
                </a:gridCol>
                <a:gridCol w="1411897">
                  <a:extLst>
                    <a:ext uri="{9D8B030D-6E8A-4147-A177-3AD203B41FA5}">
                      <a16:colId xmlns:a16="http://schemas.microsoft.com/office/drawing/2014/main" val="2599010338"/>
                    </a:ext>
                  </a:extLst>
                </a:gridCol>
              </a:tblGrid>
              <a:tr h="104466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質問項目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向山小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921817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ja-JP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分からないことや詳しく知りたいことがあったときに、自分で学び方を考え、工夫することはできていますか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81.1%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　　　</a:t>
                      </a:r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764373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en-US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授業で学んだことを、次の学習や実生活に結びつけて考えたり、生かしたりすることができると思いますか</a:t>
                      </a:r>
                      <a:endParaRPr kumimoji="1" lang="ja-JP" altLang="en-US" sz="3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80.6%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　　　</a:t>
                      </a:r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117679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59541-EBCC-5F00-6CDD-2D399B886B1B}"/>
              </a:ext>
            </a:extLst>
          </p:cNvPr>
          <p:cNvSpPr/>
          <p:nvPr/>
        </p:nvSpPr>
        <p:spPr>
          <a:xfrm>
            <a:off x="0" y="6741"/>
            <a:ext cx="9144000" cy="969412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b="1" dirty="0">
                <a:solidFill>
                  <a:schemeClr val="bg1"/>
                </a:solidFill>
              </a:rPr>
              <a:t>令和７年度全国学力・学習状況調査</a:t>
            </a:r>
            <a:endParaRPr lang="en-US" altLang="ja-JP" sz="3200" b="1" dirty="0">
              <a:solidFill>
                <a:schemeClr val="bg1"/>
              </a:solidFill>
            </a:endParaRPr>
          </a:p>
          <a:p>
            <a:r>
              <a:rPr lang="ja-JP" altLang="en-US" sz="3200" b="1" dirty="0">
                <a:solidFill>
                  <a:schemeClr val="bg1"/>
                </a:solidFill>
              </a:rPr>
              <a:t>児童質問用紙より</a:t>
            </a:r>
            <a:endParaRPr lang="en-US" altLang="ja-JP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92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1034573"/>
            <a:ext cx="8019225" cy="24283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r>
              <a:rPr lang="ja-JP" sz="2400" b="1" dirty="0">
                <a:latin typeface="メイリオ"/>
                <a:ea typeface="メイリオ"/>
                <a:cs typeface="メイリオ"/>
              </a:rPr>
              <a:t>〜授業の事実から学びを語る〜</a:t>
            </a: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 panose="020B0604030504040204" pitchFamily="50" charset="-128"/>
              </a:rPr>
              <a:t>　　→主体的な学びについて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204716" y="622503"/>
            <a:ext cx="4943903" cy="49170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altLang="en-US" sz="2400" b="1" dirty="0"/>
              <a:t>「主体的な学び」のイメージ</a:t>
            </a:r>
          </a:p>
        </p:txBody>
      </p:sp>
      <p:sp>
        <p:nvSpPr>
          <p:cNvPr id="6" name="ドーナツ 5"/>
          <p:cNvSpPr/>
          <p:nvPr/>
        </p:nvSpPr>
        <p:spPr>
          <a:xfrm>
            <a:off x="1107395" y="1474466"/>
            <a:ext cx="3114814" cy="3176660"/>
          </a:xfrm>
          <a:prstGeom prst="donut">
            <a:avLst>
              <a:gd name="adj" fmla="val 6613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050" b="1">
              <a:solidFill>
                <a:schemeClr val="tx1"/>
              </a:solidFill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864484" y="1224978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興味や関心を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高める</a:t>
            </a:r>
          </a:p>
        </p:txBody>
      </p:sp>
      <p:sp>
        <p:nvSpPr>
          <p:cNvPr id="8" name="角丸四角形 7"/>
          <p:cNvSpPr/>
          <p:nvPr/>
        </p:nvSpPr>
        <p:spPr>
          <a:xfrm>
            <a:off x="204716" y="2272718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振り返って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次へつなげる</a:t>
            </a:r>
          </a:p>
        </p:txBody>
      </p:sp>
      <p:sp>
        <p:nvSpPr>
          <p:cNvPr id="9" name="角丸四角形 8"/>
          <p:cNvSpPr/>
          <p:nvPr/>
        </p:nvSpPr>
        <p:spPr>
          <a:xfrm>
            <a:off x="3524251" y="2256369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見通しを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もつ</a:t>
            </a:r>
          </a:p>
        </p:txBody>
      </p:sp>
      <p:sp>
        <p:nvSpPr>
          <p:cNvPr id="10" name="角丸四角形 9"/>
          <p:cNvSpPr/>
          <p:nvPr/>
        </p:nvSpPr>
        <p:spPr>
          <a:xfrm>
            <a:off x="665465" y="3869226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粘り強く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取り組む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3004347" y="3869226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自分と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結び付ける</a:t>
            </a:r>
          </a:p>
        </p:txBody>
      </p:sp>
      <p:sp>
        <p:nvSpPr>
          <p:cNvPr id="12" name="正方形/長方形 11"/>
          <p:cNvSpPr/>
          <p:nvPr/>
        </p:nvSpPr>
        <p:spPr>
          <a:xfrm>
            <a:off x="1966414" y="2256357"/>
            <a:ext cx="1455930" cy="14618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800" b="1" dirty="0"/>
              <a:t>学んだ</a:t>
            </a:r>
            <a:endParaRPr lang="en-US" altLang="ja-JP" sz="1800" b="1" dirty="0"/>
          </a:p>
          <a:p>
            <a:pPr algn="ctr"/>
            <a:r>
              <a:rPr lang="ja-JP" altLang="en-US" sz="1800" b="1" dirty="0"/>
              <a:t>手応えの積み重ね</a:t>
            </a:r>
          </a:p>
        </p:txBody>
      </p:sp>
      <p:sp>
        <p:nvSpPr>
          <p:cNvPr id="13" name="右矢印 12"/>
          <p:cNvSpPr/>
          <p:nvPr/>
        </p:nvSpPr>
        <p:spPr>
          <a:xfrm>
            <a:off x="5019455" y="2957494"/>
            <a:ext cx="1397567" cy="1008859"/>
          </a:xfrm>
          <a:prstGeom prst="right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05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022" y="1849402"/>
            <a:ext cx="1660874" cy="296143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2EFCCB-E74E-F28C-C7FC-A70CD29D787D}"/>
              </a:ext>
            </a:extLst>
          </p:cNvPr>
          <p:cNvSpPr/>
          <p:nvPr/>
        </p:nvSpPr>
        <p:spPr>
          <a:xfrm>
            <a:off x="0" y="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1B9791-74B7-213E-9620-0883BECAEAAA}"/>
              </a:ext>
            </a:extLst>
          </p:cNvPr>
          <p:cNvSpPr txBox="1"/>
          <p:nvPr/>
        </p:nvSpPr>
        <p:spPr>
          <a:xfrm>
            <a:off x="4452424" y="709560"/>
            <a:ext cx="458606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kern="100" dirty="0">
                <a:effectLst/>
                <a:latin typeface="ＭＳ 明朝" panose="02020609040205080304" pitchFamily="17" charset="-128"/>
                <a:ea typeface="ＭＳ 明朝" panose="02020609040205080304" pitchFamily="17" charset="-128"/>
                <a:cs typeface="Times New Roman" panose="02020603050405020304" pitchFamily="18" charset="0"/>
              </a:rPr>
              <a:t>文部科学省の資料では、主体的な学びについて「学ぶことに興味や関心を持ち、自己のキャリア形成や日々の生活、社会の課題と関連付けながら、見通しを持って粘り強く取り組み、自己の学習活動を振り返って次につなげること」とされ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4583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350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「主体的な学び」の具現に向けた３つの視点</a:t>
            </a:r>
            <a:endParaRPr lang="en-US" altLang="ja-JP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【自ら関心をもち、見通しをもつ工夫】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（教材との出会い・課題の設定）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【考えを深め、自己調整する工夫】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（委ねる時間と協働的な問い直し）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【学びを振り返り、次への行動へつなげる工夫】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（変容の自覚と実践化）</a:t>
            </a:r>
            <a:endParaRPr lang="en-US" altLang="ja-JP" sz="2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658368"/>
            <a:ext cx="3628642" cy="7498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latin typeface="メイリオ"/>
                <a:ea typeface="メイリオ"/>
                <a:cs typeface="メイリオ"/>
              </a:rPr>
              <a:t>1-全　体育（髙井・菅野・鈴木）</a:t>
            </a:r>
          </a:p>
          <a:p>
            <a:pPr algn="l"/>
            <a:r>
              <a:rPr lang="ja-JP" sz="1200" b="0" dirty="0">
                <a:latin typeface="メイリオ"/>
                <a:ea typeface="メイリオ"/>
                <a:cs typeface="メイリオ"/>
              </a:rPr>
              <a:t>「ボールをなげるのだ！あてるのだ！たおすのだ！」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658368"/>
            <a:ext cx="3571042" cy="7498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5-1　図工（鈴木 寛明）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「オナマエアート」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93776" y="4343400"/>
            <a:ext cx="8156448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5-1　外国語（三宅 真行）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Unit２「When is your birthday?」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2-1　算数（岩佐 沙恵子）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「長さのたんい」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5-3　社会（小松 沙織）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「日本の国土とわたしたちのくらし」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4-2　国語（工藤 由利）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「筆者の考えをとらえて自分の考えを発表しよう」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6-3　道徳（松田 容子）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「子ども会のキャンプ」</a:t>
            </a: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74320" y="777240"/>
            <a:ext cx="859536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3年　算数「たし算とひき算の筆算」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４学級で展開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663440" y="1600200"/>
            <a:ext cx="2011680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3-3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伊藤 蘭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6858000" y="1600200"/>
            <a:ext cx="2011680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少人数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鈴木 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1371600" y="2926080"/>
            <a:ext cx="6400800" cy="1097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6年　音楽（見城 麻美）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「パートの役割を活かして合奏しよう」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468880" y="1600200"/>
            <a:ext cx="2011680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3-2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岡﨑 智子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74320" y="1600200"/>
            <a:ext cx="2011680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3-1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間 勇人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489758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4-1　社会（三井 新）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「健康なくらし」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4700000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5-2　体育（古江 渓那）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「ハンドボール」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89758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6-2　外国語（木下）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「Welcome to Japan.」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700000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2-2　道徳（中牧 万優）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「けんかをしたけど」</a:t>
            </a: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A69D4-9E83-C4B8-C70A-C1B659D78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5946C94-B9F0-DD15-84F0-73069CCD52B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36C533A-086A-4556-3962-87B1BAE2DE2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661EA82-9C22-9A67-DBBB-EC5A2E6C6A75}"/>
              </a:ext>
            </a:extLst>
          </p:cNvPr>
          <p:cNvSpPr/>
          <p:nvPr/>
        </p:nvSpPr>
        <p:spPr bwMode="white">
          <a:xfrm>
            <a:off x="470947" y="970565"/>
            <a:ext cx="8019225" cy="350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「主体的な学び」の具現に向けた３つの視点</a:t>
            </a:r>
            <a:endParaRPr lang="en-US" altLang="ja-JP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【自ら関心をもち、見通しをもつ工夫】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（教材との出会い・課題の設定）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【考えを深め、自己調整する工夫】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（委ねる時間と協働的な問い直し）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【学びを振り返り、次への行動へつなげる工夫】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（変容の自覚と実践化）</a:t>
            </a:r>
            <a:endParaRPr lang="en-US" altLang="ja-JP" sz="2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5253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・「好き」を育み「得意」を伸ばす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997" y="3580720"/>
            <a:ext cx="1870268" cy="125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30" y="0"/>
            <a:ext cx="9135541" cy="611434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3" name="TextBox 2"/>
          <p:cNvSpPr txBox="1"/>
          <p:nvPr/>
        </p:nvSpPr>
        <p:spPr>
          <a:xfrm>
            <a:off x="220030" y="103223"/>
            <a:ext cx="8703941" cy="404988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398" b="1">
                <a:solidFill>
                  <a:srgbClr val="FFFFFF"/>
                </a:solidFill>
                <a:latin typeface="メイリオ"/>
                <a:ea typeface="メイリオ"/>
              </a:rPr>
              <a:t>まとめ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3896" y="909865"/>
            <a:ext cx="6653839" cy="374239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198" b="1">
                <a:solidFill>
                  <a:srgbClr val="1A1A1A"/>
                </a:solidFill>
                <a:latin typeface="メイリオ"/>
                <a:ea typeface="メイリオ"/>
              </a:rPr>
              <a:t>○ 教師の役割で大切にしたいこと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702" y="683367"/>
            <a:ext cx="1870268" cy="1438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3896" y="1547173"/>
            <a:ext cx="6653839" cy="466358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2797" b="1">
                <a:solidFill>
                  <a:srgbClr val="002060"/>
                </a:solidFill>
                <a:latin typeface="メイリオ"/>
                <a:ea typeface="メイリオ"/>
              </a:rPr>
              <a:t>ファシリテーター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363896" y="2229935"/>
            <a:ext cx="4136170" cy="28773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8" name="TextBox 7"/>
          <p:cNvSpPr txBox="1"/>
          <p:nvPr/>
        </p:nvSpPr>
        <p:spPr>
          <a:xfrm>
            <a:off x="363896" y="2217432"/>
            <a:ext cx="4136170" cy="312740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1798" b="1">
                <a:solidFill>
                  <a:srgbClr val="FFFFFF"/>
                </a:solidFill>
                <a:latin typeface="メイリオ"/>
                <a:ea typeface="メイリオ"/>
              </a:rPr>
              <a:t>・「問い」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896" y="2517669"/>
            <a:ext cx="4136170" cy="1438668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0" name="TextBox 9"/>
          <p:cNvSpPr txBox="1"/>
          <p:nvPr/>
        </p:nvSpPr>
        <p:spPr>
          <a:xfrm>
            <a:off x="471796" y="2553636"/>
            <a:ext cx="3920370" cy="1044892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聞きたくなる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話題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を提示する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考えたくなる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発問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をする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追発問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で対話を深める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643934" y="2229935"/>
            <a:ext cx="4136170" cy="28773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2" name="TextBox 11"/>
          <p:cNvSpPr txBox="1"/>
          <p:nvPr/>
        </p:nvSpPr>
        <p:spPr>
          <a:xfrm>
            <a:off x="4643934" y="2217432"/>
            <a:ext cx="4136170" cy="312740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1798" b="1">
                <a:solidFill>
                  <a:srgbClr val="FFFFFF"/>
                </a:solidFill>
                <a:latin typeface="メイリオ"/>
                <a:ea typeface="メイリオ"/>
              </a:rPr>
              <a:t>・「価値付け」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3934" y="2517669"/>
            <a:ext cx="4136170" cy="1438668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4" name="TextBox 13"/>
          <p:cNvSpPr txBox="1"/>
          <p:nvPr/>
        </p:nvSpPr>
        <p:spPr>
          <a:xfrm>
            <a:off x="4751834" y="2553636"/>
            <a:ext cx="3920370" cy="1044892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・「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いい質問だね」と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意味づける</a:t>
            </a:r>
            <a:endParaRPr sz="1599" b="1" dirty="0">
              <a:solidFill>
                <a:srgbClr val="FF0000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発言を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言語化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して返す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対話の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質を共有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40603" y="4891472"/>
            <a:ext cx="719334" cy="189936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r"/>
            <a:r>
              <a:rPr sz="999">
                <a:solidFill>
                  <a:srgbClr val="666666"/>
                </a:solidFill>
                <a:latin typeface="メイリオ"/>
                <a:ea typeface="メイリオ"/>
              </a:rPr>
              <a:t>11 /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1"/>
          <p:cNvSpPr txBox="1"/>
          <p:nvPr/>
        </p:nvSpPr>
        <p:spPr>
          <a:xfrm>
            <a:off x="453191" y="829061"/>
            <a:ext cx="7884675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教師による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指導中心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から、児童による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学び中心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へ</a:t>
            </a:r>
            <a:endParaRPr sz="2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40" name="Google Shape;240;p31"/>
          <p:cNvSpPr txBox="1"/>
          <p:nvPr/>
        </p:nvSpPr>
        <p:spPr>
          <a:xfrm>
            <a:off x="453191" y="1425676"/>
            <a:ext cx="7884675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教師が「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教えたか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」から、児童が「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学んだか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」へ</a:t>
            </a:r>
            <a:endParaRPr sz="2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41" name="Google Shape;24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4357" y="2095163"/>
            <a:ext cx="1871176" cy="189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1"/>
          <p:cNvSpPr txBox="1"/>
          <p:nvPr/>
        </p:nvSpPr>
        <p:spPr>
          <a:xfrm>
            <a:off x="1299318" y="4439026"/>
            <a:ext cx="7311825" cy="42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325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授業のハンドルを少しずつ子供たちへ渡すイメージ</a:t>
            </a:r>
            <a:endParaRPr sz="2325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43" name="Google Shape;24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6507" y="2095181"/>
            <a:ext cx="2261719" cy="2120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2900" y="2175825"/>
            <a:ext cx="2490884" cy="2120362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1"/>
          <p:cNvSpPr/>
          <p:nvPr/>
        </p:nvSpPr>
        <p:spPr>
          <a:xfrm>
            <a:off x="3284456" y="4042800"/>
            <a:ext cx="2490975" cy="396225"/>
          </a:xfrm>
          <a:prstGeom prst="stripedRightArrow">
            <a:avLst>
              <a:gd name="adj1" fmla="val 32425"/>
              <a:gd name="adj2" fmla="val 115356"/>
            </a:avLst>
          </a:prstGeom>
          <a:solidFill>
            <a:srgbClr val="FFFF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48FBE51-22C3-3E20-30F1-3D4BEFD436F4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0B0F0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まとめ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902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>
          <a:extLst>
            <a:ext uri="{FF2B5EF4-FFF2-40B4-BE49-F238E27FC236}">
              <a16:creationId xmlns:a16="http://schemas.microsoft.com/office/drawing/2014/main" id="{B9C3298D-945F-862A-9DE6-EC57AB414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7BC8C5-5E33-3D93-C08A-4693CBB88B5A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0B0F0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まとめ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B3F80E6A-7CB8-FAE7-C612-60EF6EB7B7CD}"/>
              </a:ext>
            </a:extLst>
          </p:cNvPr>
          <p:cNvSpPr txBox="1"/>
          <p:nvPr/>
        </p:nvSpPr>
        <p:spPr>
          <a:xfrm>
            <a:off x="363896" y="909865"/>
            <a:ext cx="6653839" cy="374239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198" b="1" dirty="0">
                <a:solidFill>
                  <a:srgbClr val="1A1A1A"/>
                </a:solidFill>
                <a:latin typeface="メイリオ"/>
                <a:ea typeface="メイリオ"/>
              </a:rPr>
              <a:t>○ </a:t>
            </a:r>
            <a:r>
              <a:rPr lang="ja-JP" altLang="en-US" sz="2198" b="1" dirty="0">
                <a:solidFill>
                  <a:srgbClr val="1A1A1A"/>
                </a:solidFill>
                <a:latin typeface="メイリオ"/>
                <a:ea typeface="メイリオ"/>
              </a:rPr>
              <a:t>終わりに</a:t>
            </a:r>
            <a:endParaRPr sz="2198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13853894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2347</TotalTime>
  <Words>810</Words>
  <Application>Microsoft Office PowerPoint</Application>
  <PresentationFormat>画面に合わせる (16:9)</PresentationFormat>
  <Paragraphs>133</Paragraphs>
  <Slides>14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ＭＳ Ｐゴシック</vt:lpstr>
      <vt:lpstr>ＭＳ 明朝</vt:lpstr>
      <vt:lpstr>メイリオ</vt:lpstr>
      <vt:lpstr>メイリオ</vt:lpstr>
      <vt:lpstr>游ゴシック</vt:lpstr>
      <vt:lpstr>Arial</vt:lpstr>
      <vt:lpstr>Simple Light</vt:lpstr>
      <vt:lpstr>　 　練馬区立向山小学校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紺多　章一郎</cp:lastModifiedBy>
  <cp:revision>239</cp:revision>
  <cp:lastPrinted>2026-01-16T08:09:16Z</cp:lastPrinted>
  <dcterms:modified xsi:type="dcterms:W3CDTF">2026-05-26T06:25:44Z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