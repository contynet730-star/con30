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25"/>
  </p:notesMasterIdLst>
  <p:handoutMasterIdLst>
    <p:handoutMasterId r:id="rId26"/>
  </p:handoutMasterIdLst>
  <p:sldIdLst>
    <p:sldId id="256" r:id="rId2"/>
    <p:sldId id="282" r:id="rId3"/>
    <p:sldId id="319" r:id="rId4"/>
    <p:sldId id="659" r:id="rId40"/>
    <p:sldId id="647" r:id="rId5"/>
    <p:sldId id="650" r:id="rId31"/>
    <p:sldId id="261" r:id="rId6"/>
    <p:sldId id="262" r:id="rId7"/>
    <p:sldId id="648" r:id="rId8"/>
    <p:sldId id="264" r:id="rId9"/>
    <p:sldId id="265" r:id="rId10"/>
    <p:sldId id="266" r:id="rId11"/>
    <p:sldId id="657" r:id="rId38"/>
    <p:sldId id="321" r:id="rId12"/>
    <p:sldId id="303" r:id="rId13"/>
    <p:sldId id="305" r:id="rId14"/>
    <p:sldId id="651" r:id="rId32"/>
    <p:sldId id="291" r:id="rId15"/>
    <p:sldId id="284" r:id="rId16"/>
    <p:sldId id="306" r:id="rId17"/>
    <p:sldId id="307" r:id="rId18"/>
    <p:sldId id="308" r:id="rId19"/>
    <p:sldId id="327" r:id="rId20"/>
    <p:sldId id="326" r:id="rId21"/>
    <p:sldId id="649" r:id="rId22"/>
    <p:sldId id="280" r:id="rId23"/>
    <p:sldId id="281" r:id="rId24"/>
    <p:sldId id="658" r:id="rId39"/>
    <p:sldId id="652" r:id="rId33"/>
    <p:sldId id="653" r:id="rId34"/>
    <p:sldId id="655" r:id="rId36"/>
    <p:sldId id="656" r:id="rId37"/>
    <p:sldId id="654" r:id="rId35"/>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103" d="100"/>
          <a:sy n="103"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5.xml"/><Relationship Id="rId32" Type="http://schemas.openxmlformats.org/officeDocument/2006/relationships/slide" Target="slides/slide16.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2.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12.xml"/><Relationship Id="rId39" Type="http://schemas.openxmlformats.org/officeDocument/2006/relationships/slide" Target="slides/slide27.xml"/><Relationship Id="rId40"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2026/5/28</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【ウォームアップ】 ─ 目安3分</a:t>
            </a:r>
          </a:p>
          <a:p/>
          <a:p>
            <a:r>
              <a:t>まず、ちょっとしたクイズから入ります。スライドの数字は、ある共通の意味を持っています。なんだか分かりますでしょうか。</a:t>
            </a:r>
          </a:p>
          <a:p/>
          <a:p>
            <a:r>
              <a:t>※ 数秒間を置く。会場が反応しなければ「ヒントは社会科です」と一言添える。</a:t>
            </a:r>
          </a:p>
          <a:p/>
          <a:p>
            <a:r>
              <a:t>答えは「区内3校の社会科の評定割合」です。同じ教科でも、学校間でこれだけ違うのですね。</a:t>
            </a:r>
          </a:p>
          <a:p/>
          <a:p>
            <a:r>
              <a:t>私はどの学校が良い悪いと申し上げているのではありません。「同じ教科であっても、評価は揺れる」という事実をまず共有したい、ということです。</a:t>
            </a:r>
          </a:p>
          <a:p/>
          <a:p>
            <a:r>
              <a:t>木原校長から「ばらつきが出ないようにしたい」というお話があったのも、まさにここに直結する課題意識だと受け止めています。</a:t>
            </a:r>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4</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【評価につながる発問の工夫】 ─ 目安1.5分</a:t>
            </a:r>
          </a:p>
          <a:p/>
          <a:p>
            <a:r>
              <a:t>評価につながる発問を3タイプ。</a:t>
            </a:r>
          </a:p>
          <a:p>
            <a:r>
              <a:t>　①「最初と比べて、考え方が変わったところは？」 ─ 振り返りを引き出す</a:t>
            </a:r>
          </a:p>
          <a:p>
            <a:r>
              <a:t>　②「友達の意見を聞いて、自分の考えを見直してみよう」 ─ 対話的自己調整</a:t>
            </a:r>
          </a:p>
          <a:p>
            <a:r>
              <a:t>　③「今日の学習の目標は達成できたかな？理由も書いてみよう」 ─ 自己評価</a:t>
            </a:r>
          </a:p>
          <a:p/>
          <a:p>
            <a:r>
              <a:t>③で「理由も」と添えるのが肝心です。理由が書けるかどうかが、AとBを分ける材料になります。</a:t>
            </a:r>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20</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【14:10 開会】 ─ 目安1分</a:t>
            </a:r>
          </a:p>
          <a:p/>
          <a:p>
            <a:r>
              <a:t>みなさん、こんにちは。練馬区教育委員会、指導主事の紺多と申します。本日はお忙しい中、お時間をいただきありがとうございます。</a:t>
            </a:r>
          </a:p>
          <a:p/>
          <a:p>
            <a:r>
              <a:t>本日のテーマは、スライドにありますとおり「指導と評価の一体化」、副題として「『主体的に学習に取り組む態度』の評価を中心に」とさせていただきました。</a:t>
            </a:r>
          </a:p>
          <a:p/>
          <a:p>
            <a:r>
              <a:t>木原校長からは「指導と評価の一体化について、特に主体的に学習に取り組む態度の評価のばらつきが出ないように」というお話をいただいておりますので、その依頼に沿ってお話を進めてまいります。</a:t>
            </a:r>
          </a:p>
          <a:p/>
          <a:p>
            <a:r>
              <a:t>40分ほどお話したあと、各教科の評価資料を持ち寄ってのグループ協議を予定されています。協議で扱える具体的な問いを最後にお示ししますので、講話を聞きながら「自分の教科ならどうか」を思い浮かべて聞いていただけますと幸い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【全体の流れ】 ─ 目安1分</a:t>
            </a:r>
          </a:p>
          <a:p/>
          <a:p>
            <a:r>
              <a:t>本日は大きく2つの柱でお話しします。</a:t>
            </a:r>
          </a:p>
          <a:p>
            <a:r>
              <a:t>　１ 主体的・対話的で深い学びの実現に向けた授業改善</a:t>
            </a:r>
          </a:p>
          <a:p>
            <a:r>
              <a:t>　２ 「主体的に学習に取り組む態度」の学習評価</a:t>
            </a:r>
          </a:p>
          <a:p>
            <a:r>
              <a:t>そのあと、まとめと、グループ協議への橋渡しをして終わります。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【章扉】 ─ 目安20秒</a:t>
            </a:r>
          </a:p>
          <a:p/>
          <a:p>
            <a:r>
              <a:t>それでは、はじめに、ちょっとしたウォームアップから入らせてください。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【一体化サイクル】 ─ 目安3分 ★本日の土台</a:t>
            </a:r>
          </a:p>
          <a:p/>
          <a:p>
            <a:r>
              <a:t>本日の土台になる考え方が、このスライドの「指導と評価の一体化」です。</a:t>
            </a:r>
          </a:p>
          <a:p/>
          <a:p>
            <a:r>
              <a:t>①目標で「Ｂの姿」を描き、②指導で授業を行い、③評価で学びの姿をみとり、④改善で次の指導に生かす。この①〜④を、単元の中で何度も繰り返す。これが「指導と評価の一体化」です。</a:t>
            </a:r>
          </a:p>
          <a:p/>
          <a:p>
            <a:r>
              <a:t>これは私の解釈ではなく、中学校学習指導要領 解説 総則編、第3章第2節2「学習評価の充実」に明記されている考え方です。スライド下の出典をご覧ください。</a:t>
            </a:r>
          </a:p>
          <a:p/>
          <a:p>
            <a:r>
              <a:t>校長からは「正当な評価」「授業改善につながる評価」というキーワードもいただいています。授業と評価を一体で設計することが「正当な評価」につながり、評価を次の指導に生かすことが「授業改善につながる評価」になる、と整理させてください。</a:t>
            </a:r>
          </a:p>
          <a:p/>
          <a:p>
            <a:r>
              <a:t>そして本研修は、3観点すべてを対象としますが、特に見取りが難しい「主体的に学習に取り組む態度」を重点的に扱います。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【資質・能力の3つの柱】 ─ 目安1.5分</a:t>
            </a:r>
          </a:p>
          <a:p/>
          <a:p>
            <a:r>
              <a:t>授業と評価を考える前提として、私たちが目指す資質・能力を確認します。①知識・技能、②思考力・判断力・表現力等、③学びに向かう力・人間性等。この3つの柱です。</a:t>
            </a:r>
          </a:p>
          <a:p/>
          <a:p>
            <a:r>
              <a:t>③の「学びに向かう力・人間性等」のうち、観点別評価で見えるものが「主体的に学習に取り組む態度」、見えにくいものが「感性・思いやり」など個人内評価で見るもの、というふうに整理されています。後ほど詳しく図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【主体的・対話的で深い学び】 ─ 目安1.5分</a:t>
            </a:r>
          </a:p>
          <a:p/>
          <a:p>
            <a:r>
              <a:t>資質・能力を育てるための「学び方」が、主体的な学び・対話的な学び・深い学びの3つです。</a:t>
            </a:r>
          </a:p>
          <a:p/>
          <a:p>
            <a:r>
              <a:t>「授業改善の視点」は、同時に「目指す生徒の学びの姿」でもあります。私たちが授業で実現したい姿が、評価の対象になる、ということです。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【主体的な学びのイメージ】 ─ 目安1.5分</a:t>
            </a:r>
          </a:p>
          <a:p/>
          <a:p>
            <a:r>
              <a:t>「主体的な学び」のイメージです。興味を高める／見通しをもつ／粘り強く取り組む／自分と結び付ける／振り返って次へつなげる／学び続ける意志。</a:t>
            </a:r>
          </a:p>
          <a:p/>
          <a:p>
            <a:r>
              <a:t>大切なのは、これらが「単元の中で実際に見えるかどうか」を観る、ということ。授業改善で見せたい姿が、そのまま評価対象になります。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【対話的な学びのイメージ】 ─ 目安1.5分</a:t>
            </a:r>
          </a:p>
          <a:p/>
          <a:p>
            <a:r>
              <a:t>「対話的な学び」のイメージです。互いの考えを比べる／多様な手段で説明する／共に考えを創り上げる／多様な情報を収集する／協働して課題解決／先哲の考えを手がかりに。</a:t>
            </a:r>
          </a:p>
          <a:p/>
          <a:p>
            <a:r>
              <a:t>Input と Output の往復で、自分の考えを更新する姿を観てください。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【深い学びのイメージ】 ─ 目安1分</a:t>
            </a:r>
          </a:p>
          <a:p/>
          <a:p>
            <a:r>
              <a:t>「深い学び」のイメージです。知識・技能を習得／活用／概念化／自分の考えを形成／思考して問い続ける／新たなものを創り上げる。</a:t>
            </a:r>
          </a:p>
          <a:p/>
          <a:p>
            <a:r>
              <a:t>「分かった」を超えて、「使える・問い続ける」姿を観る、ということです。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【授業改善と評価は一体】 ─ 目安1分</a:t>
            </a:r>
          </a:p>
          <a:p/>
          <a:p>
            <a:r>
              <a:t>先ほどのサイクルの言い換えです。「主体的・対話的で深い学び」の視点で授業を改善し、教師が事前に「目指す生徒の姿」を描く。</a:t>
            </a:r>
          </a:p>
          <a:p/>
          <a:p>
            <a:r>
              <a:t>その「目指す姿」こそが、評価規準＝「Ｂと判断する姿」になります。」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【第２章 章扉】 ─ 目安20秒</a:t>
            </a:r>
          </a:p>
          <a:p/>
          <a:p>
            <a:r>
              <a:t>ここから第2章。評価論に入ります。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【学習評価の現状における課題】 ─ 目安2分</a:t>
            </a:r>
          </a:p>
          <a:p/>
          <a:p>
            <a:r>
              <a:t>現状の4つの課題です。</a:t>
            </a:r>
          </a:p>
          <a:p>
            <a:r>
              <a:t>　・学習改善への活用が弱い</a:t>
            </a:r>
          </a:p>
          <a:p>
            <a:r>
              <a:t>　・生徒や保護者からの誤解（挙手や忘れ物で決まるという声）</a:t>
            </a:r>
          </a:p>
          <a:p>
            <a:r>
              <a:t>　・教員の負担（記録が多すぎる）</a:t>
            </a:r>
          </a:p>
          <a:p>
            <a:r>
              <a:t>　・正しい理解が共有されていない</a:t>
            </a:r>
          </a:p>
          <a:p/>
          <a:p>
            <a:r>
              <a:t>「何のために学習評価を行うのか」を、私たち自身が改めて意識することが第一歩です。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【学習評価の改善の基本方針】 ─ 目安1.5分</a:t>
            </a:r>
          </a:p>
          <a:p/>
          <a:p>
            <a:r>
              <a:t>①生徒の学習改善につながるものに、②教師の指導改善につながるものに、③必要性・妥当性が認められないものは見直していく。</a:t>
            </a:r>
          </a:p>
          <a:p/>
          <a:p>
            <a:r>
              <a:t>これは平成31年1月の中教審報告で示された基本方針です。S5でお話した「一体化」の精神と完全に重なります。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【授業改善につながる評価】 ─ 目安3分 ★校長依頼の核心</a:t>
            </a:r>
          </a:p>
          <a:p/>
          <a:p>
            <a:r>
              <a:t>ここが、校長からいただいた「授業改善につながる評価」というキーワードに正面から答えるスライドです。</a:t>
            </a:r>
          </a:p>
          <a:p/>
          <a:p>
            <a:r>
              <a:t>評価には2つの役割があります。①記録・評定のため（総括的評価）と、②指導改善のため（形成的評価）です。校長が重視されているのは、明らかに②の方です。</a:t>
            </a:r>
          </a:p>
          <a:p/>
          <a:p>
            <a:r>
              <a:t>形成的評価のサイクルを4つに分解しました。①みとる→②気づく→③変える→④伸びる。</a:t>
            </a:r>
          </a:p>
          <a:p/>
          <a:p>
            <a:r>
              <a:t>例えば、振り返りシートで「見通しが弱い」生徒が多いと気づいた。だから次時の冒頭に「今日のゴールと手順」を確認する場面を加える。これで生徒の学びが伸びる。―― これが「評価を次の指導に生かす」ということです。</a:t>
            </a:r>
          </a:p>
          <a:p/>
          <a:p>
            <a:r>
              <a:t>評価は「つける」だけでなく「生かす」もの。これが本日の重要メッセージの1つです。</a:t>
            </a:r>
          </a:p>
          <a:p/>
          <a:p>
            <a:r>
              <a:t>※ ここはゆっくり、強調して話す。校長のキーワードに正対していることを意識させる。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【各教科における評価の基本構造】 ─ 目安1.5分</a:t>
            </a:r>
          </a:p>
          <a:p/>
          <a:p>
            <a:r>
              <a:t>指導要領で示された目標・内容を、観点別評価では「知識・技能」「思考・判断・表現」「主体的に学習に取り組む態度」の3観点で見ます。3観点ともABCの3段階で評価し、それを評定（5段階）に総括します。</a:t>
            </a:r>
          </a:p>
          <a:p/>
          <a:p>
            <a:r>
              <a:t>「学びに向かう力・人間性等」のうち感性・思いやりなどは観点別評価では見ず、個人内評価で見る。―― この棲み分けが大事です。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【知識・技能の評価】 ─ 目安1分</a:t>
            </a:r>
          </a:p>
          <a:p/>
          <a:p>
            <a:r>
              <a:t>既有の知識・技能と関連付けて、概念として理解しているかを評価します。ペーパーテスト、実際に知識・技能を用いる場面の学習活動で見ます。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【思考・判断・表現の評価】 ─ 目安1分</a:t>
            </a:r>
          </a:p>
          <a:p/>
          <a:p>
            <a:r>
              <a:t>知識・技能を活用して課題解決するために必要な思考力・判断力・表現力等を見ます。論述・レポート・発表、グループでの話合い、作品制作、ポートフォリオなど多様な活動で見ます。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【主体的に学習に取り組む態度 ─ 2側面】 ─ 目安2分</a:t>
            </a:r>
          </a:p>
          <a:p/>
          <a:p>
            <a:r>
              <a:t>ここからが本日の重点です。「主体的に学習に取り組む態度」は2つの側面で見ます。</a:t>
            </a:r>
          </a:p>
          <a:p>
            <a:r>
              <a:t>　①粘り強い取組 ─ 学習に粘り強く取り組もうとしている姿</a:t>
            </a:r>
          </a:p>
          <a:p>
            <a:r>
              <a:t>　②自己調整 ─ 学習状況を把握し、調整しようとしている姿</a:t>
            </a:r>
          </a:p>
          <a:p/>
          <a:p>
            <a:r>
              <a:t>注意点です。①と②は別々ではなく、相互に関わり合います。「①がＡで②がＣ」というような生徒の姿は、一般的にはあり得ません。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【評価の工夫例】 ─ 目安1.5分</a:t>
            </a:r>
          </a:p>
          <a:p/>
          <a:p>
            <a:r>
              <a:t>評価の工夫例は4つです。ノート・レポートの記述、授業中の発言、教師の行動観察、生徒の自己評価・相互評価。</a:t>
            </a:r>
          </a:p>
          <a:p/>
          <a:p>
            <a:r>
              <a:t>単一の手段でなく、複数を組み合わせて見ます。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【行動観察の工夫】 ─ 目安2分</a:t>
            </a:r>
          </a:p>
          <a:p/>
          <a:p>
            <a:r>
              <a:t>数学の問題解決の場面を例に、行動観察のポイントです。</a:t>
            </a:r>
          </a:p>
          <a:p/>
          <a:p>
            <a:r>
              <a:t>粘り強く取り組んでいる姿：前時までのノートを見返す／別の方法での解決を試みる／友達への説明を念頭に着想を書き加える。</a:t>
            </a:r>
          </a:p>
          <a:p/>
          <a:p>
            <a:r>
              <a:t>自己調整している姿：解決方法を振り返り修正する／式に言葉や図の説明を書き加える／自己評価して更によいものを求める。</a:t>
            </a:r>
          </a:p>
          <a:p/>
          <a:p>
            <a:r>
              <a:t>どの教科でも応用できる視点です。鍵は「生徒の学びの姿をイメージした学習活動をつくる」ことです。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【Bの姿を具体化 ─ 数学の例】 ─ 目安2分</a:t>
            </a:r>
          </a:p>
          <a:p/>
          <a:p>
            <a:r>
              <a:t>学習シートに「気を付けるポイント」を記述させる課題です。</a:t>
            </a:r>
          </a:p>
          <a:p/>
          <a:p>
            <a:r>
              <a:t>Ｂ（おおむね満足）：ポイントが書かれている。例「別の文字に置き換えて解く方法を使えるようにする」。</a:t>
            </a:r>
          </a:p>
          <a:p/>
          <a:p>
            <a:r>
              <a:t>Ａ（十分満足）：ポイント＋理由が書かれている。例「式を見ずに展開すると時間も間違いも増えるから、置き換えを使えるようにする」。</a:t>
            </a:r>
          </a:p>
          <a:p/>
          <a:p>
            <a:r>
              <a:t>同じ気付きでも「理由まで書けるか」でA／Bが分かれる。これがどの教科でも応用できる発想です。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【評価のばらつきを防ぐ】 ─ 目安2分 ★校長依頼「ばらつき防止」</a:t>
            </a:r>
          </a:p>
          <a:p/>
          <a:p>
            <a:r>
              <a:t>「妥当性」とは、資質・能力を適切に反映していること。「測りたい力」と「方法」が一致していることです。</a:t>
            </a:r>
          </a:p>
          <a:p/>
          <a:p>
            <a:r>
              <a:t>「信頼性」とは、誰が評価しても同じ結果になること。教師の主観だけに流されないことです。</a:t>
            </a:r>
          </a:p>
          <a:p/>
          <a:p>
            <a:r>
              <a:t>そして大事なメッセージは ── 「妥当性は個人の授業設計で、信頼性は組織で揃える」。「妥当性」は授業を作る各先生の力量、「信頼性」は教科会で揃えていただく仕事です。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【教科会で揃える3つ】 ─ 目安2.5分</a:t>
            </a:r>
          </a:p>
          <a:p/>
          <a:p>
            <a:r>
              <a:t>教科会で揃えていただきたい3つは ── ①Ｂの姿／②評価場面・方法／③総括の方法。</a:t>
            </a:r>
          </a:p>
          <a:p/>
          <a:p>
            <a:r>
              <a:t>特に③について、具体例をスライドに入れました。観点別評価ABCから評定への総括例として ── AAA→A、ABB→B、BBC→B、CCC→C などです。これは一例ですが、こうしたルールを教科会で文書化していただくと、教員が代わっても評価が揺れません。</a:t>
            </a:r>
          </a:p>
          <a:p/>
          <a:p>
            <a:r>
              <a:t>この3点を文書として持っておく、というのが、ばらつき対策の最も実践的な答えになります。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 ─ 明日からできること】 ─ 目安2分</a:t>
            </a:r>
          </a:p>
          <a:p/>
          <a:p>
            <a:r>
              <a:t>「指導と評価の一体化」とは、目標→指導→評価→改善 をくり返し、評価を授業改善に生かすこと。これに尽きます。</a:t>
            </a:r>
          </a:p>
          <a:p/>
          <a:p>
            <a:r>
              <a:t>明日からできることを4つ並べました。1つだけ選んでください。</a:t>
            </a:r>
          </a:p>
          <a:p>
            <a:r>
              <a:t>　□ 次の単元で「Ｂの姿」を1つ言語化し、教科会で揃える</a:t>
            </a:r>
          </a:p>
          <a:p>
            <a:r>
              <a:t>　□ 評価の工夫から1つ授業に入れる</a:t>
            </a:r>
          </a:p>
          <a:p>
            <a:r>
              <a:t>　□ 振り返り／自己評価の機会を1回入れる</a:t>
            </a:r>
          </a:p>
          <a:p>
            <a:r>
              <a:t>　□ 評価結果を、次の授業改善に1つ生かす</a:t>
            </a:r>
          </a:p>
          <a:p/>
          <a:p>
            <a:r>
              <a:t>やることを「絞る」から、続きます。1つだけ。</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【グループ協議への橋渡し】 ─ 目安1.5分</a:t>
            </a:r>
          </a:p>
          <a:p/>
          <a:p>
            <a:r>
              <a:t>このあと、各教科の評価資料を持ち寄って検討していただきます。協議テーマは「各教科で評価方法のばらつきを減らす」です。</a:t>
            </a:r>
          </a:p>
          <a:p/>
          <a:p>
            <a:r>
              <a:t>3つの問いを置きました。</a:t>
            </a:r>
          </a:p>
          <a:p>
            <a:r>
              <a:t>　①あなたの教科で「Ｂと判断する姿」は、具体的にどんな姿か？</a:t>
            </a:r>
          </a:p>
          <a:p>
            <a:r>
              <a:t>　②単元のどの場面で、どんな方法でみとるか？</a:t>
            </a:r>
          </a:p>
          <a:p>
            <a:r>
              <a:t>　③その評価を、次の授業改善にどう生かすか？</a:t>
            </a:r>
          </a:p>
          <a:p/>
          <a:p>
            <a:r>
              <a:t>③が、本日繰り返しお伝えした「評価を生かす」の問いです。教科会で文書化することを目指して話し合っていただければと思います。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【参考文献】 ─ 目安0.5分</a:t>
            </a:r>
          </a:p>
          <a:p/>
          <a:p>
            <a:r>
              <a:t>お示しした内容は、すべて指導要領 解説 総則編、国研の参考資料、東京都教育委員会の資料、および学習評価の実践書に依拠しています。詳しくはお手元の資料をご参照ください。</a:t>
            </a:r>
          </a:p>
          <a:p/>
          <a:p>
            <a:r>
              <a:t>【閉会 14:50】 それでは、ここからは皆様の教科ごとのグループ協議に入っていただきます。私もお邪魔して伺いますので、よろしくお願いいたします。ご清聴ありがとうございました。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【今後に向けて(1) ─ 次期学習指導要領の方向性】 ─ 目安1.5分</a:t>
            </a:r>
          </a:p>
          <a:p/>
          <a:p>
            <a:r>
              <a:t>ここからは、研修の補足として、文部科学省の最新の動きをお伝えします。</a:t>
            </a:r>
          </a:p>
          <a:p/>
          <a:p>
            <a:r>
              <a:t>令和7年9月25日、中央教育審議会の教育課程企画特別部会から「論点整理」が出されました。次期学習指導要領の方向性が示されています。</a:t>
            </a:r>
          </a:p>
          <a:p/>
          <a:p>
            <a:r>
              <a:t>まず最初にお伝えしておきたいのは ── ここから話す内容は「方向性」です。現時点（令和8年6月）での皆様の評価運用は、これまでお話してきた現行の3観点ABCのままで結構です。</a:t>
            </a:r>
          </a:p>
          <a:p/>
          <a:p>
            <a:r>
              <a:t>その上で、次期で示された大きな方向は3つです。</a:t>
            </a:r>
          </a:p>
          <a:p/>
          <a:p>
            <a:r>
              <a:t>① 「主体的に学習に取り組む態度」を、A・B・Cの目標準拠評価から外し、個人内評価へ転換する方向。</a:t>
            </a:r>
          </a:p>
          <a:p>
            <a:r>
              <a:t>② 「学びに向かう力」を、総合所見欄での個人内評価＋「思考・判断・表現」の観点に「○」を付記する組み合わせで見る方向。</a:t>
            </a:r>
          </a:p>
          <a:p>
            <a:r>
              <a:t>③ ノート提出頻度や挙手回数など「勤勉さ」での評価から脱却し、「学びの過程」そのものを見る方向。</a:t>
            </a:r>
          </a:p>
          <a:p/>
          <a:p>
            <a:r>
              <a:t>特に③は、今日繰り返しお話してきた「形成的評価」「学びの姿を見取る」という発想と完全に一致しています。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【今後に向けて(2) ─ 今日の取り組みは次期でこそ生きる】 ─ 目安1.5分</a:t>
            </a:r>
          </a:p>
          <a:p/>
          <a:p>
            <a:r>
              <a:t>「今日聞いた内容、次期で評価方法が変わるなら、無駄になるんじゃないの？」</a:t>
            </a:r>
          </a:p>
          <a:p/>
          <a:p>
            <a:r>
              <a:t>そう思われる先生もいらっしゃるかもしれません。私自身もそこは大事な論点だと思います。結論から言うと、無駄になるどころか、むしろ「次期でこそ生きる」内容です。</a:t>
            </a:r>
          </a:p>
          <a:p/>
          <a:p>
            <a:r>
              <a:t>具体に3点。</a:t>
            </a:r>
          </a:p>
          <a:p/>
          <a:p>
            <a:r>
              <a:t>1点目、「Ｂの姿の言語化」。これは次期では「個人内評価の根拠記述」にそのまま使えます。所見欄に質の高い記述を書くには、まず「何を見ているか」を言語化できていることが必須です。</a:t>
            </a:r>
          </a:p>
          <a:p/>
          <a:p>
            <a:r>
              <a:t>2点目、形成的評価のサイクル ── みとる→気づく→変える→伸びる。これは次期学習評価が最も重視する「学びの過程を見る目」そのものです。</a:t>
            </a:r>
          </a:p>
          <a:p/>
          <a:p>
            <a:r>
              <a:t>3点目、教科会で揃える力。観点が減って個人内評価になっても、「教科として何を見るか」を揃える教科会の力は、同じく ── あるいは今以上に ── 必要になります。</a:t>
            </a:r>
          </a:p>
          <a:p/>
          <a:p>
            <a:r>
              <a:t>方向性は変わっても、「学びの過程を見る目」は変わらない。今日身につけていただいたものは、必ず次期で生きます。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【ペアトーク① ─ 自分の授業に引き寄せる】 ─ 目安2分</a:t>
            </a:r>
          </a:p>
          <a:p/>
          <a:p>
            <a:r>
              <a:t>ここで一度、皆さんに話していただく時間を取ります。私の話を聞き続けてばかりだと、自分の授業との接続が見えにくくなります。</a:t>
            </a:r>
          </a:p>
          <a:p/>
          <a:p>
            <a:r>
              <a:t>隣の先生と、最近のご自分の授業を振り返って、お話ください。</a:t>
            </a:r>
          </a:p>
          <a:p/>
          <a:p>
            <a:r>
              <a:t>問いは ── 「最近の授業で、『主体的な学び』『対話的な学び』『深い学び』が見えた場面はありましたか？」</a:t>
            </a:r>
          </a:p>
          <a:p/>
          <a:p>
            <a:r>
              <a:t>どんな小さな場面でもOKです。「あの生徒が、自分から振り返りを書いていた」「あのグループの話し合いが弾んでいた」── そんなレベルで結構です。</a:t>
            </a:r>
          </a:p>
          <a:p/>
          <a:p>
            <a:r>
              <a:t>逆に「見えなかった…」というのも立派な気づきです。それが、このあとお話する評価の話につながります。</a:t>
            </a:r>
          </a:p>
          <a:p/>
          <a:p>
            <a:r>
              <a:t>では、2分。お願いします。</a:t>
            </a:r>
          </a:p>
          <a:p/>
          <a:p>
            <a:r>
              <a:t>※ 講師は時間を計りつつ、教室内を巡回して様子を見る。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【ペアトーク② ─ Ｂの姿を試しに描いてみる】 ─ 目安3分</a:t>
            </a:r>
          </a:p>
          <a:p/>
          <a:p>
            <a:r>
              <a:t>「教科会で揃える3つ」のお話をしました。①Ｂの姿／②評価場面・方法／③総括の方法。</a:t>
            </a:r>
          </a:p>
          <a:p/>
          <a:p>
            <a:r>
              <a:t>特に最初の「Ｂの姿」 ── これを、ここで一度試しに描いてみていただきたいと思います。このあとのグループ協議の助走です。</a:t>
            </a:r>
          </a:p>
          <a:p/>
          <a:p>
            <a:r>
              <a:t>問いは ── 「あなたの教科で、次の単元の『Ｂの姿』を1つ、言葉にしてみよう」。</a:t>
            </a:r>
          </a:p>
          <a:p/>
          <a:p>
            <a:r>
              <a:t>例えば数学なら「式の操作の途中で、自分のミスに気づいて修正できている」。「〜できている」「〜と書ける」「〜を選んでいる」といった、生徒の具体的な姿として描いてみてください。</a:t>
            </a:r>
          </a:p>
          <a:p/>
          <a:p>
            <a:r>
              <a:t>最初の1分は個人で考えて、メモ用紙やノートに書いてみる。残り2分でペアでシェアしてください。</a:t>
            </a:r>
          </a:p>
          <a:p/>
          <a:p>
            <a:r>
              <a:t>うまく書けなくても大丈夫です。「言葉にしようとすること」自体が、評価規準を体得していく一番の方法です。</a:t>
            </a:r>
          </a:p>
          <a:p/>
          <a:p>
            <a:r>
              <a:t>では、お願いします。</a:t>
            </a:r>
          </a:p>
          <a:p/>
          <a:p>
            <a:r>
              <a:t>※ ここで描いてもらった「Ｂの姿」が、このあとのグループ協議で持ち寄る評価資料の核になる。</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【ペアトーク③ ─ 冒頭クイズ】 ─ 目安2分（相談1分＋挙手確認1分）</a:t>
            </a:r>
          </a:p>
          <a:p/>
          <a:p>
            <a:r>
              <a:t>ウォームアップに、いきなりクイズです。</a:t>
            </a:r>
          </a:p>
          <a:p/>
          <a:p>
            <a:r>
              <a:t>先生方ご自身に、率直にお答えいただきたいのです。</a:t>
            </a:r>
          </a:p>
          <a:p>
            <a:r>
              <a:t>「『主体的に学習に取り組む態度』を、普段 何で評価していますか？」</a:t>
            </a:r>
          </a:p>
          <a:p/>
          <a:p>
            <a:r>
              <a:t>A：ノート・レポートの記述内容</a:t>
            </a:r>
          </a:p>
          <a:p>
            <a:r>
              <a:t>B：授業中の発言・挙手</a:t>
            </a:r>
          </a:p>
          <a:p>
            <a:r>
              <a:t>C：提出物の有無・期日</a:t>
            </a:r>
          </a:p>
          <a:p>
            <a:r>
              <a:t>D：教師の感覚的な印象</a:t>
            </a:r>
          </a:p>
          <a:p/>
          <a:p>
            <a:r>
              <a:t>複数当てはまる方は、一番大きい比重のものを1つ。これを、隣の先生と1分間 話してみてください。</a:t>
            </a:r>
          </a:p>
          <a:p/>
          <a:p>
            <a:r>
              <a:t>※ 1分後、講師は挙手で確認する：</a:t>
            </a:r>
          </a:p>
          <a:p>
            <a:r>
              <a:t>　「Aの方？」「Bの方？」「Cの方？」「Dの方？」</a:t>
            </a:r>
          </a:p>
          <a:p>
            <a:r>
              <a:t>　会場の傾向を見て、コメント：</a:t>
            </a:r>
          </a:p>
          <a:p>
            <a:r>
              <a:t>　・Aが多ければ「皆さん意識が高い」</a:t>
            </a:r>
          </a:p>
          <a:p>
            <a:r>
              <a:t>　・B/Cが多ければ「ここを今日は見直していきます」</a:t>
            </a:r>
          </a:p>
          <a:p>
            <a:r>
              <a:t>　・Dも正直で良い</a:t>
            </a:r>
          </a:p>
          <a:p/>
          <a:p>
            <a:r>
              <a:t>このあとの一言（核心の伏線）：</a:t>
            </a:r>
          </a:p>
          <a:p>
            <a:r>
              <a:t>「実は、本日の研修の出発点が、ここなんです。</a:t>
            </a:r>
          </a:p>
          <a:p>
            <a:r>
              <a:t>　『主体的に学習に取り組む態度』を、何で・どう見取るのか ──</a:t>
            </a:r>
          </a:p>
          <a:p>
            <a:r>
              <a:t>　これを、皆さんと一緒に整理していくのが、今日のテーマです。」</a:t>
            </a:r>
          </a:p>
          <a:p/>
          <a:p>
            <a:r>
              <a:t>→ そのまま次のスライド（数字あてクイズ）に入る。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r>
              <a:rPr lang="ja-JP" altLang="en-US" sz="4400" b="1" dirty="0">
                <a:latin typeface="メイリオ"/>
                <a:ea typeface="メイリオ"/>
                <a:cs typeface="メイリオ"/>
              </a:rPr>
              <a:t/>
            </a:r>
            <a:r>
              <a:rPr lang="en-US" altLang="ja-JP" sz="4400" b="1" dirty="0">
                <a:latin typeface="メイリオ"/>
                <a:ea typeface="メイリオ"/>
                <a:cs typeface="メイリオ"/>
              </a:rPr>
              <a:t/>
            </a:r>
            <a:r>
              <a:rPr lang="ja-JP" altLang="en-US" sz="4400" b="1" dirty="0">
                <a:latin typeface="メイリオ"/>
                <a:ea typeface="メイリオ"/>
                <a:cs typeface="メイリオ"/>
              </a:rPr>
              <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1734985214"/>
              </p:ext>
            </p:extLst>
          </p:nvPr>
        </p:nvGraphicFramePr>
        <p:xfrm>
          <a:off x="888647" y="1705704"/>
          <a:ext cx="8028000" cy="3644162"/>
        </p:xfrm>
        <a:graphic>
          <a:graphicData uri="http://schemas.openxmlformats.org/drawingml/2006/table">
            <a:tbl>
              <a:tblPr firstRow="1" bandRow="1">
                <a:tableStyleId>{616DA210-FB5B-4158-B5E0-FEB733F419BA}</a:tableStyleId>
              </a:tblPr>
              <a:tblGrid>
                <a:gridCol w="614550">
                  <a:extLst>
                    <a:ext uri="{9D8B030D-6E8A-4147-A177-3AD203B41FA5}">
                      <a16:colId xmlns:a16="http://schemas.microsoft.com/office/drawing/2014/main" val="1889472123"/>
                    </a:ext>
                  </a:extLst>
                </a:gridCol>
                <a:gridCol w="1482690">
                  <a:extLst>
                    <a:ext uri="{9D8B030D-6E8A-4147-A177-3AD203B41FA5}">
                      <a16:colId xmlns:a16="http://schemas.microsoft.com/office/drawing/2014/main" val="980164369"/>
                    </a:ext>
                  </a:extLst>
                </a:gridCol>
                <a:gridCol w="1482690">
                  <a:extLst>
                    <a:ext uri="{9D8B030D-6E8A-4147-A177-3AD203B41FA5}">
                      <a16:colId xmlns:a16="http://schemas.microsoft.com/office/drawing/2014/main" val="4100679345"/>
                    </a:ext>
                  </a:extLst>
                </a:gridCol>
                <a:gridCol w="1482690">
                  <a:extLst>
                    <a:ext uri="{9D8B030D-6E8A-4147-A177-3AD203B41FA5}">
                      <a16:colId xmlns:a16="http://schemas.microsoft.com/office/drawing/2014/main" val="391346200"/>
                    </a:ext>
                  </a:extLst>
                </a:gridCol>
                <a:gridCol w="1482690">
                  <a:extLst>
                    <a:ext uri="{9D8B030D-6E8A-4147-A177-3AD203B41FA5}">
                      <a16:colId xmlns:a16="http://schemas.microsoft.com/office/drawing/2014/main" val="1997047567"/>
                    </a:ext>
                  </a:extLst>
                </a:gridCol>
                <a:gridCol w="1482690">
                  <a:extLst>
                    <a:ext uri="{9D8B030D-6E8A-4147-A177-3AD203B41FA5}">
                      <a16:colId xmlns:a16="http://schemas.microsoft.com/office/drawing/2014/main" val="365566380"/>
                    </a:ext>
                  </a:extLst>
                </a:gridCol>
              </a:tblGrid>
              <a:tr h="9933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A</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30.3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22.5</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33.8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11.3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337143">
                <a:tc>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938384">
                <a:tc>
                  <a:txBody>
                    <a:bodyPr/>
                    <a:lstStyle/>
                    <a:p>
                      <a:pPr algn="ctr"/>
                      <a:r>
                        <a:rPr kumimoji="1" lang="en-US" altLang="ja-JP" sz="4800" b="1" dirty="0">
                          <a:solidFill>
                            <a:schemeClr val="tx1"/>
                          </a:solidFill>
                          <a:latin typeface="メイリオ"/>
                          <a:ea typeface="メイリオ"/>
                          <a:cs typeface="メイリオ"/>
                        </a:rPr>
                        <a:t>B</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10.7</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24.3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396175">
                <a:tc>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979135">
                <a:tc>
                  <a:txBody>
                    <a:bodyPr/>
                    <a:lstStyle/>
                    <a:p>
                      <a:pPr algn="ctr"/>
                      <a:r>
                        <a:rPr kumimoji="1" lang="en-US" altLang="ja-JP" sz="4800" b="1" dirty="0">
                          <a:solidFill>
                            <a:schemeClr val="tx1"/>
                          </a:solidFill>
                          <a:latin typeface="メイリオ"/>
                          <a:ea typeface="メイリオ"/>
                          <a:cs typeface="メイリオ"/>
                        </a:rPr>
                        <a:t>C</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16.9</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49.3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latin typeface="メイリオ"/>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230133"/>
            <a:ext cx="2644140" cy="1295977"/>
          </a:xfrm>
          <a:prstGeom prst="wedgeRoundRectCallout">
            <a:avLst>
              <a:gd name="adj1" fmla="val -71331"/>
              <a:gd name="adj2" fmla="val -266"/>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
        <p:nvSpPr>
          <p:cNvPr id="14" name="TextBox 13"/>
          <p:cNvSpPr txBox="1"/>
          <p:nvPr/>
        </p:nvSpPr>
        <p:spPr>
          <a:xfrm>
            <a:off x="300000" y="5990000"/>
            <a:ext cx="11400000" cy="33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第3章第3節2「学習評価の充実」／文部科学省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400" b="1">
                <a:solidFill>
                  <a:srgbClr val="FFFFFF"/>
                </a:solidFill>
                <a:latin typeface="メイリオ"/>
                <a:ea typeface="メイリオ"/>
                <a:cs typeface="メイリオ"/>
              </a:rPr>
              <a:t>【ペアトーク①】　─　ここで一息、隣の方と</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2分で話してみてください</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800" b="1">
                <a:solidFill>
                  <a:srgbClr val="000000"/>
                </a:solidFill>
                <a:latin typeface="メイリオ"/>
                <a:ea typeface="メイリオ"/>
                <a:cs typeface="メイリオ"/>
              </a:rPr>
              <a:t>最近の授業で、</a:t>
            </a:r>
          </a:p>
          <a:p>
            <a:pPr algn="ctr">
              <a:lnSpc>
                <a:spcPct val="130000"/>
              </a:lnSpc>
            </a:pPr>
            <a:r>
              <a:rPr sz="3000" b="1">
                <a:solidFill>
                  <a:srgbClr val="EB6C15"/>
                </a:solidFill>
                <a:latin typeface="メイリオ"/>
                <a:ea typeface="メイリオ"/>
                <a:cs typeface="メイリオ"/>
              </a:rPr>
              <a:t>「主体的な学び」「対話的な学び」「深い学び」</a:t>
            </a:r>
          </a:p>
          <a:p>
            <a:pPr algn="ctr">
              <a:lnSpc>
                <a:spcPct val="130000"/>
              </a:lnSpc>
            </a:pPr>
            <a:r>
              <a:rPr sz="2800" b="1">
                <a:solidFill>
                  <a:srgbClr val="000000"/>
                </a:solidFill>
                <a:latin typeface="メイリオ"/>
                <a:ea typeface="メイリオ"/>
                <a:cs typeface="メイリオ"/>
              </a:rPr>
              <a:t>が見えた場面はありましたか？</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50000"/>
              </a:lnSpc>
            </a:pPr>
            <a:r>
              <a:rPr sz="2200" b="1">
                <a:solidFill>
                  <a:srgbClr val="1F3A6E"/>
                </a:solidFill>
                <a:latin typeface="メイリオ"/>
                <a:ea typeface="メイリオ"/>
                <a:cs typeface="メイリオ"/>
              </a:rPr>
              <a:t>○ どんな小さなことでもOK</a:t>
            </a:r>
          </a:p>
          <a:p>
            <a:pPr algn="l">
              <a:lnSpc>
                <a:spcPct val="150000"/>
              </a:lnSpc>
            </a:pPr>
            <a:r>
              <a:rPr sz="2200" b="1">
                <a:solidFill>
                  <a:srgbClr val="1F3A6E"/>
                </a:solidFill>
                <a:latin typeface="メイリオ"/>
                <a:ea typeface="メイリオ"/>
                <a:cs typeface="メイリオ"/>
              </a:rPr>
              <a:t>○ 教科特性を超えて、一場面を思い出してみる</a:t>
            </a:r>
          </a:p>
          <a:p>
            <a:pPr algn="l">
              <a:lnSpc>
                <a:spcPct val="150000"/>
              </a:lnSpc>
            </a:pPr>
            <a:r>
              <a:rPr sz="2200" b="1">
                <a:solidFill>
                  <a:srgbClr val="404040"/>
                </a:solidFill>
                <a:latin typeface="メイリオ"/>
                <a:ea typeface="メイリオ"/>
                <a:cs typeface="メイリオ"/>
              </a:rPr>
              <a:t>○ 「逆に見えなかった…」もOKです</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000" b="1">
                <a:solidFill>
                  <a:srgbClr val="FFFFFF"/>
                </a:solidFill>
                <a:latin typeface="メイリオ"/>
                <a:ea typeface="メイリオ"/>
                <a:cs typeface="メイリオ"/>
              </a:rPr>
              <a:t>⏱ 2分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400" b="1">
                <a:solidFill>
                  <a:srgbClr val="1F3A6E"/>
                </a:solidFill>
                <a:latin typeface="メイリオ"/>
                <a:ea typeface="メイリオ"/>
                <a:cs typeface="メイリオ"/>
              </a:rPr>
              <a:t>隣の方とペアで</a:t>
            </a:r>
          </a:p>
        </p:txBody>
      </p:sp>
      <p:sp>
        <p:nvSpPr>
          <p:cNvPr id="9" name="Rectangle 8"/>
          <p:cNvSpPr/>
          <p:nvPr/>
        </p:nvSpPr>
        <p:spPr>
          <a:xfrm>
            <a:off x="400000" y="6010000"/>
            <a:ext cx="11400000" cy="36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1400" b="1">
                <a:solidFill>
                  <a:srgbClr val="404040"/>
                </a:solidFill>
                <a:latin typeface="メイリオ"/>
                <a:ea typeface="メイリオ"/>
                <a:cs typeface="メイリオ"/>
              </a:rPr>
              <a:t>→ このあと、「主体的に学習に取り組む態度」の評価をどう見取るか、お話します</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評価には2つの役割：</a:t>
            </a:r>
            <a:r>
              <a:rPr sz="1900" b="1">
                <a:solidFill>
                  <a:srgbClr val="404040"/>
                </a:solidFill>
                <a:latin typeface="メイリオ"/>
                <a:ea typeface="メイリオ"/>
                <a:cs typeface="メイリオ"/>
              </a:rPr>
              <a:t>①記録・評定のため（総括的）</a:t>
            </a:r>
            <a:r>
              <a:rPr sz="1900" b="1">
                <a:solidFill>
                  <a:srgbClr val="000000"/>
                </a:solidFill>
                <a:latin typeface="メイリオ"/>
                <a:ea typeface="メイリオ"/>
                <a:cs typeface="メイリオ"/>
              </a:rPr>
              <a:t>　／　</a:t>
            </a:r>
            <a:r>
              <a:rPr sz="2000" b="1">
                <a:solidFill>
                  <a:srgbClr val="EB6C15"/>
                </a:solidFill>
                <a:latin typeface="メイリオ"/>
                <a:ea typeface="メイリオ"/>
                <a:cs typeface="メイリオ"/>
              </a:rPr>
              <a:t>②指導改善のため（形成的）</a:t>
            </a:r>
            <a:r>
              <a:rPr sz="1900" b="1">
                <a:solidFill>
                  <a:srgbClr val="C04040"/>
                </a:solidFill>
                <a:latin typeface="メイリオ"/>
                <a:ea typeface="メイリオ"/>
                <a:cs typeface="メイリオ"/>
              </a:rPr>
              <a:t>　← 校長が重視</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000000"/>
                </a:solidFill>
                <a:latin typeface="メイリオ"/>
                <a:ea typeface="メイリオ"/>
                <a:cs typeface="メイリオ"/>
              </a:rPr>
              <a:t>評価は</a:t>
            </a:r>
            <a:r>
              <a:rPr sz="2300" b="1">
                <a:solidFill>
                  <a:srgbClr val="EB6C15"/>
                </a:solidFill>
                <a:latin typeface="メイリオ"/>
                <a:ea typeface="メイリオ"/>
                <a:cs typeface="メイリオ"/>
              </a:rPr>
              <a:t>“つける”だけでなく“生かす”</a:t>
            </a:r>
            <a:r>
              <a:rPr sz="2100" b="1">
                <a:solidFill>
                  <a:srgbClr val="000000"/>
                </a:solidFill>
                <a:latin typeface="メイリオ"/>
                <a:ea typeface="メイリオ"/>
                <a:cs typeface="メイリオ"/>
              </a:rPr>
              <a:t>。これが校長の言う「授業改善につながる評価」</a:t>
            </a:r>
          </a:p>
        </p:txBody>
      </p:sp>
      <p:sp>
        <p:nvSpPr>
          <p:cNvPr id="15" name="TextBox 14"/>
          <p:cNvSpPr txBox="1"/>
          <p:nvPr/>
        </p:nvSpPr>
        <p:spPr>
          <a:xfrm>
            <a:off x="300000" y="6080000"/>
            <a:ext cx="11400000" cy="31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第3章第3節2(1)指導の評価と改善／学習評価Q&amp;A実践書 Q5「評価を事務作業にしないために」</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2"/>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a:t>
            </a:r>
            <a:r>
              <a:rPr sz="1700" b="1">
                <a:solidFill>
                  <a:srgbClr val="1F3A6E"/>
                </a:solidFill>
                <a:latin typeface="メイリオ"/>
                <a:ea typeface="メイリオ"/>
                <a:cs typeface="メイリオ"/>
              </a:rPr>
              <a:t>　／　BBC→B</a:t>
            </a:r>
            <a:r>
              <a:rPr sz="1700" b="1">
                <a:solidFill>
                  <a:srgbClr val="1F3A6E"/>
                </a:solidFill>
                <a:latin typeface="メイリオ"/>
                <a:ea typeface="メイリオ"/>
                <a:cs typeface="メイリオ"/>
              </a:rPr>
              <a:t>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出典：東京都教育委員会「指導と評価の一体化を目指して」／学習評価Q&amp;A実践書 Q9「観点別評価から評定への総括」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400" b="1">
                <a:solidFill>
                  <a:srgbClr val="FFFFFF"/>
                </a:solidFill>
                <a:latin typeface="メイリオ"/>
                <a:ea typeface="メイリオ"/>
                <a:cs typeface="メイリオ"/>
              </a:rPr>
              <a:t>【ペアトーク②】　─　自分の教科で「Ｂの姿」を描く</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3分（個人考1分→ペアでシェア2分）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800" b="1">
                <a:solidFill>
                  <a:srgbClr val="000000"/>
                </a:solidFill>
                <a:latin typeface="メイリオ"/>
                <a:ea typeface="メイリオ"/>
                <a:cs typeface="メイリオ"/>
              </a:rPr>
              <a:t>あなたの教科で、</a:t>
            </a:r>
          </a:p>
          <a:p>
            <a:pPr algn="ctr">
              <a:lnSpc>
                <a:spcPct val="130000"/>
              </a:lnSpc>
            </a:pPr>
            <a:r>
              <a:rPr sz="2800" b="1">
                <a:solidFill>
                  <a:srgbClr val="000000"/>
                </a:solidFill>
                <a:latin typeface="メイリオ"/>
                <a:ea typeface="メイリオ"/>
                <a:cs typeface="メイリオ"/>
              </a:rPr>
              <a:t>次の単元の</a:t>
            </a:r>
            <a:r>
              <a:rPr sz="3200" b="1">
                <a:solidFill>
                  <a:srgbClr val="EB6C15"/>
                </a:solidFill>
                <a:latin typeface="メイリオ"/>
                <a:ea typeface="メイリオ"/>
                <a:cs typeface="メイリオ"/>
              </a:rPr>
              <a:t>「Ｂの姿」</a:t>
            </a:r>
            <a:r>
              <a:rPr sz="2800" b="1">
                <a:solidFill>
                  <a:srgbClr val="000000"/>
                </a:solidFill>
                <a:latin typeface="メイリオ"/>
                <a:ea typeface="メイリオ"/>
                <a:cs typeface="メイリオ"/>
              </a:rPr>
              <a:t>を1つ、言葉にしてみよう</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40000"/>
              </a:lnSpc>
            </a:pPr>
            <a:r>
              <a:rPr sz="2200" b="1">
                <a:solidFill>
                  <a:srgbClr val="1F3A6E"/>
                </a:solidFill>
                <a:latin typeface="メイリオ"/>
                <a:ea typeface="メイリオ"/>
                <a:cs typeface="メイリオ"/>
              </a:rPr>
              <a:t>○ </a:t>
            </a:r>
            <a:r>
              <a:rPr sz="2200" b="1">
                <a:solidFill>
                  <a:srgbClr val="1F3A6E"/>
                </a:solidFill>
                <a:latin typeface="メイリオ"/>
                <a:ea typeface="メイリオ"/>
                <a:cs typeface="メイリオ"/>
              </a:rPr>
              <a:t>「〜できている」「〜と書ける」「〜を選んでいる」</a:t>
            </a:r>
          </a:p>
          <a:p>
            <a:pPr algn="l">
              <a:lnSpc>
                <a:spcPct val="140000"/>
              </a:lnSpc>
            </a:pPr>
            <a:r>
              <a:rPr sz="2000" b="1">
                <a:solidFill>
                  <a:srgbClr val="1F3A6E"/>
                </a:solidFill>
                <a:latin typeface="メイリオ"/>
                <a:ea typeface="メイリオ"/>
                <a:cs typeface="メイリオ"/>
              </a:rPr>
              <a:t>○ 例（数学）：</a:t>
            </a:r>
            <a:r>
              <a:rPr sz="2000" b="1">
                <a:solidFill>
                  <a:srgbClr val="1F3A6E"/>
                </a:solidFill>
                <a:latin typeface="メイリオ"/>
                <a:ea typeface="メイリオ"/>
                <a:cs typeface="メイリオ"/>
              </a:rPr>
              <a:t>「式の操作の途中で、自分のミスに気づいて修正できている」</a:t>
            </a:r>
          </a:p>
          <a:p>
            <a:pPr algn="l">
              <a:lnSpc>
                <a:spcPct val="140000"/>
              </a:lnSpc>
            </a:pPr>
            <a:r>
              <a:rPr sz="2000" b="1">
                <a:solidFill>
                  <a:srgbClr val="404040"/>
                </a:solidFill>
                <a:latin typeface="メイリオ"/>
                <a:ea typeface="メイリオ"/>
                <a:cs typeface="メイリオ"/>
              </a:rPr>
              <a:t>○ うまく書けなくてもOK ─ 言葉にしようとすることが大事</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000" b="1">
                <a:solidFill>
                  <a:srgbClr val="FFFFFF"/>
                </a:solidFill>
                <a:latin typeface="メイリオ"/>
                <a:ea typeface="メイリオ"/>
                <a:cs typeface="メイリオ"/>
              </a:rPr>
              <a:t>⏱ 3分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個人考1分→ペアでシェア2分</a:t>
            </a:r>
          </a:p>
        </p:txBody>
      </p:sp>
      <p:sp>
        <p:nvSpPr>
          <p:cNvPr id="9" name="Rectangle 8"/>
          <p:cNvSpPr/>
          <p:nvPr/>
        </p:nvSpPr>
        <p:spPr>
          <a:xfrm>
            <a:off x="400000" y="6010000"/>
            <a:ext cx="11400000" cy="36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1400" b="1">
                <a:solidFill>
                  <a:srgbClr val="404040"/>
                </a:solidFill>
                <a:latin typeface="メイリオ"/>
                <a:ea typeface="メイリオ"/>
                <a:cs typeface="メイリオ"/>
              </a:rPr>
              <a:t>→ ここで描いた「Ｂの姿」を、このあとのグループ協議で持ち寄ります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次期学習指導要領の方向性 ─ 令和7年「論点整理」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620000"/>
          </a:xfrm>
          <a:prstGeom prst="rect">
            <a:avLst/>
          </a:prstGeom>
          <a:solidFill>
            <a:srgbClr val="FFE066"/>
          </a:solidFill>
          <a:ln w="3175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1800" b="1">
                <a:solidFill>
                  <a:srgbClr val="000000"/>
                </a:solidFill>
                <a:latin typeface="メイリオ"/>
                <a:ea typeface="メイリオ"/>
                <a:cs typeface="メイリオ"/>
              </a:rPr>
              <a:t>ここから先は</a:t>
            </a:r>
            <a:r>
              <a:rPr sz="2200" b="1">
                <a:solidFill>
                  <a:srgbClr val="EB6C15"/>
                </a:solidFill>
                <a:latin typeface="メイリオ"/>
                <a:ea typeface="メイリオ"/>
                <a:cs typeface="メイリオ"/>
              </a:rPr>
              <a:t>「方向性」</a:t>
            </a:r>
            <a:r>
              <a:rPr sz="1800" b="1">
                <a:solidFill>
                  <a:srgbClr val="000000"/>
                </a:solidFill>
                <a:latin typeface="メイリオ"/>
                <a:ea typeface="メイリオ"/>
                <a:cs typeface="メイリオ"/>
              </a:rPr>
              <a:t>です。現時点での運用は </a:t>
            </a:r>
            <a:r>
              <a:rPr sz="2200" b="1">
                <a:solidFill>
                  <a:srgbClr val="1F3A6E"/>
                </a:solidFill>
                <a:latin typeface="メイリオ"/>
                <a:ea typeface="メイリオ"/>
                <a:cs typeface="メイリオ"/>
              </a:rPr>
              <a:t>現行3観点ABC</a:t>
            </a:r>
            <a:r>
              <a:rPr sz="1800" b="1">
                <a:solidFill>
                  <a:srgbClr val="000000"/>
                </a:solidFill>
                <a:latin typeface="メイリオ"/>
                <a:ea typeface="メイリオ"/>
                <a:cs typeface="メイリオ"/>
              </a:rPr>
              <a:t> のままです</a:t>
            </a:r>
          </a:p>
        </p:txBody>
      </p:sp>
      <p:sp>
        <p:nvSpPr>
          <p:cNvPr id="6" name="Rectangle 5"/>
          <p:cNvSpPr/>
          <p:nvPr/>
        </p:nvSpPr>
        <p:spPr>
          <a:xfrm>
            <a:off x="400000" y="25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①</a:t>
            </a:r>
          </a:p>
        </p:txBody>
      </p:sp>
      <p:sp>
        <p:nvSpPr>
          <p:cNvPr id="7" name="Rectangle 6"/>
          <p:cNvSpPr/>
          <p:nvPr/>
        </p:nvSpPr>
        <p:spPr>
          <a:xfrm>
            <a:off x="1400000" y="25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評定の対象外へ</a:t>
            </a:r>
          </a:p>
          <a:p>
            <a:pPr algn="l">
              <a:lnSpc>
                <a:spcPct val="120000"/>
              </a:lnSpc>
            </a:pPr>
            <a:r>
              <a:rPr sz="1600" b="1">
                <a:solidFill>
                  <a:srgbClr val="1F3A6E"/>
                </a:solidFill>
                <a:latin typeface="メイリオ"/>
                <a:ea typeface="メイリオ"/>
                <a:cs typeface="メイリオ"/>
              </a:rPr>
              <a:t>「主体的に学習に取り組む態度」を A・B・C の目標準拠評価から外し、
個人の成長や良さを記述する「個人内評価」へ転換</a:t>
            </a:r>
          </a:p>
        </p:txBody>
      </p:sp>
      <p:sp>
        <p:nvSpPr>
          <p:cNvPr id="8" name="Rectangle 7"/>
          <p:cNvSpPr/>
          <p:nvPr/>
        </p:nvSpPr>
        <p:spPr>
          <a:xfrm>
            <a:off x="400000" y="36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②</a:t>
            </a:r>
          </a:p>
        </p:txBody>
      </p:sp>
      <p:sp>
        <p:nvSpPr>
          <p:cNvPr id="9" name="Rectangle 8"/>
          <p:cNvSpPr/>
          <p:nvPr/>
        </p:nvSpPr>
        <p:spPr>
          <a:xfrm>
            <a:off x="1400000" y="36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総合所見＋「○」付記</a:t>
            </a:r>
          </a:p>
          <a:p>
            <a:pPr algn="l">
              <a:lnSpc>
                <a:spcPct val="120000"/>
              </a:lnSpc>
            </a:pPr>
            <a:r>
              <a:rPr sz="1600" b="1">
                <a:solidFill>
                  <a:srgbClr val="1F3A6E"/>
                </a:solidFill>
                <a:latin typeface="メイリオ"/>
                <a:ea typeface="メイリオ"/>
                <a:cs typeface="メイリオ"/>
              </a:rPr>
              <a:t>「学びに向かう力」を総合所見欄での個人内評価と、
「思考・判断・表現」観点別評価への「○」付記の組合せで見る方向</a:t>
            </a:r>
          </a:p>
        </p:txBody>
      </p:sp>
      <p:sp>
        <p:nvSpPr>
          <p:cNvPr id="10" name="Rectangle 9"/>
          <p:cNvSpPr/>
          <p:nvPr/>
        </p:nvSpPr>
        <p:spPr>
          <a:xfrm>
            <a:off x="400000" y="47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③</a:t>
            </a:r>
          </a:p>
        </p:txBody>
      </p:sp>
      <p:sp>
        <p:nvSpPr>
          <p:cNvPr id="11" name="Rectangle 10"/>
          <p:cNvSpPr/>
          <p:nvPr/>
        </p:nvSpPr>
        <p:spPr>
          <a:xfrm>
            <a:off x="1400000" y="47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形式的評価からの脱却</a:t>
            </a:r>
          </a:p>
          <a:p>
            <a:pPr algn="l">
              <a:lnSpc>
                <a:spcPct val="120000"/>
              </a:lnSpc>
            </a:pPr>
            <a:r>
              <a:rPr sz="1600" b="1">
                <a:solidFill>
                  <a:srgbClr val="1F3A6E"/>
                </a:solidFill>
                <a:latin typeface="メイリオ"/>
                <a:ea typeface="メイリオ"/>
                <a:cs typeface="メイリオ"/>
              </a:rPr>
              <a:t>ノート提出頻度・挙手回数など「勤勉さ」ではなく、
見通し・粘り強さ・振り返りの「学びの過程」そのものを評価</a:t>
            </a:r>
          </a:p>
        </p:txBody>
      </p:sp>
      <p:sp>
        <p:nvSpPr>
          <p:cNvPr id="12" name="TextBox 11"/>
          <p:cNvSpPr txBox="1"/>
          <p:nvPr/>
        </p:nvSpPr>
        <p:spPr>
          <a:xfrm>
            <a:off x="300000" y="6000000"/>
            <a:ext cx="11500000" cy="330000"/>
          </a:xfrm>
          <a:prstGeom prst="rect">
            <a:avLst/>
          </a:prstGeom>
          <a:noFill/>
        </p:spPr>
        <p:txBody>
          <a:bodyPr wrap="square" lIns="40000" rIns="40000" tIns="10000" bIns="10000" anchor="ctr">
            <a:spAutoFit/>
          </a:bodyPr>
          <a:lstStyle/>
          <a:p>
            <a:pPr algn="l"/>
            <a:r>
              <a:rPr sz="1300">
                <a:solidFill>
                  <a:srgbClr val="404040"/>
                </a:solidFill>
                <a:latin typeface="メイリオ"/>
                <a:ea typeface="メイリオ"/>
                <a:cs typeface="メイリオ"/>
              </a:rPr>
              <a:t>出典：中央教育審議会 教育課程企画特別部会「論点整理」令和7年9月25日／検討資料⑧令和8年3月30日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今日の取り組みは「次期」でこそ生きる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65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404040"/>
                </a:solidFill>
                <a:latin typeface="メイリオ"/>
                <a:ea typeface="メイリオ"/>
                <a:cs typeface="メイリオ"/>
              </a:rPr>
              <a:t>「今日の研修が無駄になるのでは？」</a:t>
            </a:r>
            <a:r>
              <a:rPr sz="2000" b="1">
                <a:solidFill>
                  <a:srgbClr val="000000"/>
                </a:solidFill>
                <a:latin typeface="メイリオ"/>
                <a:ea typeface="メイリオ"/>
                <a:cs typeface="メイリオ"/>
              </a:rPr>
              <a:t>　─　いいえ、むしろ</a:t>
            </a:r>
            <a:r>
              <a:rPr sz="2200" b="1">
                <a:solidFill>
                  <a:srgbClr val="EB6C15"/>
                </a:solidFill>
                <a:latin typeface="メイリオ"/>
                <a:ea typeface="メイリオ"/>
                <a:cs typeface="メイリオ"/>
              </a:rPr>
              <a:t>強化されます</a:t>
            </a:r>
          </a:p>
        </p:txBody>
      </p:sp>
      <p:sp>
        <p:nvSpPr>
          <p:cNvPr id="6" name="Rectangle 5"/>
          <p:cNvSpPr/>
          <p:nvPr/>
        </p:nvSpPr>
        <p:spPr>
          <a:xfrm>
            <a:off x="400000" y="2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Ｂの姿の言語化</a:t>
            </a:r>
          </a:p>
        </p:txBody>
      </p:sp>
      <p:sp>
        <p:nvSpPr>
          <p:cNvPr id="7" name="Rectangle 6"/>
          <p:cNvSpPr/>
          <p:nvPr/>
        </p:nvSpPr>
        <p:spPr>
          <a:xfrm>
            <a:off x="4700000" y="2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個人内評価の根拠記述に直結</a:t>
            </a:r>
          </a:p>
          <a:p>
            <a:pPr algn="l">
              <a:lnSpc>
                <a:spcPct val="120000"/>
              </a:lnSpc>
            </a:pPr>
            <a:r>
              <a:rPr sz="1500" b="1">
                <a:solidFill>
                  <a:srgbClr val="1F3A6E"/>
                </a:solidFill>
                <a:latin typeface="メイリオ"/>
                <a:ea typeface="メイリオ"/>
                <a:cs typeface="メイリオ"/>
              </a:rPr>
              <a:t>規準が言語化できていれば、所見欄での質の高い記述が書ける</a:t>
            </a:r>
          </a:p>
        </p:txBody>
      </p:sp>
      <p:sp>
        <p:nvSpPr>
          <p:cNvPr id="8" name="Rectangle 7"/>
          <p:cNvSpPr/>
          <p:nvPr/>
        </p:nvSpPr>
        <p:spPr>
          <a:xfrm>
            <a:off x="400000" y="3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形成的評価
（みとる→気づく→変える→伸びる）</a:t>
            </a:r>
          </a:p>
        </p:txBody>
      </p:sp>
      <p:sp>
        <p:nvSpPr>
          <p:cNvPr id="9" name="Rectangle 8"/>
          <p:cNvSpPr/>
          <p:nvPr/>
        </p:nvSpPr>
        <p:spPr>
          <a:xfrm>
            <a:off x="4700000" y="3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次期の中心となる視点</a:t>
            </a:r>
          </a:p>
          <a:p>
            <a:pPr algn="l">
              <a:lnSpc>
                <a:spcPct val="120000"/>
              </a:lnSpc>
            </a:pPr>
            <a:r>
              <a:rPr sz="1500" b="1">
                <a:solidFill>
                  <a:srgbClr val="1F3A6E"/>
                </a:solidFill>
                <a:latin typeface="メイリオ"/>
                <a:ea typeface="メイリオ"/>
                <a:cs typeface="メイリオ"/>
              </a:rPr>
              <a:t>「学びの過程」を見る目こそ、次期で最も求められる教師の力</a:t>
            </a:r>
          </a:p>
        </p:txBody>
      </p:sp>
      <p:sp>
        <p:nvSpPr>
          <p:cNvPr id="10" name="Rectangle 9"/>
          <p:cNvSpPr/>
          <p:nvPr/>
        </p:nvSpPr>
        <p:spPr>
          <a:xfrm>
            <a:off x="400000" y="4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教科会で揃える3つ</a:t>
            </a:r>
          </a:p>
        </p:txBody>
      </p:sp>
      <p:sp>
        <p:nvSpPr>
          <p:cNvPr id="11" name="Rectangle 10"/>
          <p:cNvSpPr/>
          <p:nvPr/>
        </p:nvSpPr>
        <p:spPr>
          <a:xfrm>
            <a:off x="4700000" y="4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観点が減っても価値は不変</a:t>
            </a:r>
          </a:p>
          <a:p>
            <a:pPr algn="l">
              <a:lnSpc>
                <a:spcPct val="120000"/>
              </a:lnSpc>
            </a:pPr>
            <a:r>
              <a:rPr sz="1500" b="1">
                <a:solidFill>
                  <a:srgbClr val="1F3A6E"/>
                </a:solidFill>
                <a:latin typeface="メイリオ"/>
                <a:ea typeface="メイリオ"/>
                <a:cs typeface="メイリオ"/>
              </a:rPr>
              <a:t>個人内評価でも「教科として何を見るか」を揃える力は同じく必要</a:t>
            </a:r>
          </a:p>
        </p:txBody>
      </p:sp>
      <p:sp>
        <p:nvSpPr>
          <p:cNvPr id="12" name="Rectangle 11"/>
          <p:cNvSpPr/>
          <p:nvPr/>
        </p:nvSpPr>
        <p:spPr>
          <a:xfrm>
            <a:off x="400000" y="5700000"/>
            <a:ext cx="11400000" cy="55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方向性が変わっても、</a:t>
            </a:r>
            <a:r>
              <a:rPr sz="2200" b="1">
                <a:solidFill>
                  <a:srgbClr val="EB6C15"/>
                </a:solidFill>
                <a:latin typeface="メイリオ"/>
                <a:ea typeface="メイリオ"/>
                <a:cs typeface="メイリオ"/>
              </a:rPr>
              <a:t>「学びの過程を見る目」</a:t>
            </a:r>
            <a:r>
              <a:rPr sz="2000" b="1">
                <a:solidFill>
                  <a:srgbClr val="000000"/>
                </a:solidFill>
                <a:latin typeface="メイリオ"/>
                <a:ea typeface="メイリオ"/>
                <a:cs typeface="メイリオ"/>
              </a:rPr>
              <a:t>は変わらない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参考文献</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本研修の根拠資料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42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25000"/>
              </a:lnSpc>
            </a:pPr>
            <a:r>
              <a:rPr sz="1600" b="1">
                <a:solidFill>
                  <a:srgbClr val="EB6C15"/>
                </a:solidFill>
                <a:latin typeface="メイリオ"/>
                <a:ea typeface="メイリオ"/>
                <a:cs typeface="メイリオ"/>
              </a:rPr>
              <a:t>● 中央教育審議会 教育課程企画特別部会「論点整理」（令和7年9月25日）</a:t>
            </a:r>
          </a:p>
          <a:p>
            <a:pPr>
              <a:lnSpc>
                <a:spcPct val="125000"/>
              </a:lnSpc>
            </a:pPr>
            <a:r>
              <a:rPr sz="1300" b="0">
                <a:solidFill>
                  <a:srgbClr val="404040"/>
                </a:solidFill>
                <a:latin typeface="メイリオ"/>
                <a:ea typeface="メイリオ"/>
                <a:cs typeface="メイリオ"/>
              </a:rPr>
              <a:t>　 教育課程部会 総則・評価特別部会「学習評価の在り方について」</a:t>
            </a:r>
          </a:p>
          <a:p>
            <a:pPr>
              <a:lnSpc>
                <a:spcPct val="125000"/>
              </a:lnSpc>
            </a:pPr>
            <a:r>
              <a:rPr sz="1300" b="0">
                <a:solidFill>
                  <a:srgbClr val="404040"/>
                </a:solidFill>
                <a:latin typeface="メイリオ"/>
                <a:ea typeface="メイリオ"/>
                <a:cs typeface="メイリオ"/>
              </a:rPr>
              <a:t>　 検討資料⑧（令和8年3月30日）</a:t>
            </a:r>
          </a:p>
          <a:p>
            <a:pPr>
              <a:lnSpc>
                <a:spcPct val="125000"/>
              </a:lnSpc>
            </a:pPr>
            <a:r>
              <a:rPr sz="1600" b="1">
                <a:solidFill>
                  <a:srgbClr val="1F3A6E"/>
                </a:solidFill>
                <a:latin typeface="メイリオ"/>
                <a:ea typeface="メイリオ"/>
                <a:cs typeface="メイリオ"/>
              </a:rPr>
              <a:t>● 中学校学習指導要領 解説　総則編　文部科学省</a:t>
            </a:r>
          </a:p>
          <a:p>
            <a:pPr>
              <a:lnSpc>
                <a:spcPct val="125000"/>
              </a:lnSpc>
            </a:pPr>
            <a:r>
              <a:rPr sz="1300" b="0">
                <a:solidFill>
                  <a:srgbClr val="404040"/>
                </a:solidFill>
                <a:latin typeface="メイリオ"/>
                <a:ea typeface="メイリオ"/>
                <a:cs typeface="メイリオ"/>
              </a:rPr>
              <a:t>　 第3章第3節2「学習評価の充実」</a:t>
            </a:r>
          </a:p>
          <a:p>
            <a:pPr>
              <a:lnSpc>
                <a:spcPct val="125000"/>
              </a:lnSpc>
            </a:pPr>
            <a:r>
              <a:rPr sz="1600" b="1">
                <a:solidFill>
                  <a:srgbClr val="1F3A6E"/>
                </a:solidFill>
                <a:latin typeface="メイリオ"/>
                <a:ea typeface="メイリオ"/>
                <a:cs typeface="メイリオ"/>
              </a:rPr>
              <a:t>● 学習評価の在り方ハンドブック（小・中学校編）</a:t>
            </a:r>
          </a:p>
          <a:p>
            <a:pPr>
              <a:lnSpc>
                <a:spcPct val="125000"/>
              </a:lnSpc>
            </a:pPr>
            <a:r>
              <a:rPr sz="1300" b="0">
                <a:solidFill>
                  <a:srgbClr val="404040"/>
                </a:solidFill>
                <a:latin typeface="メイリオ"/>
                <a:ea typeface="メイリオ"/>
                <a:cs typeface="メイリオ"/>
              </a:rPr>
              <a:t>　 文部科学省 国立教育政策研究所教育課程研究センター</a:t>
            </a:r>
          </a:p>
          <a:p>
            <a:pPr>
              <a:lnSpc>
                <a:spcPct val="125000"/>
              </a:lnSpc>
            </a:pPr>
            <a:r>
              <a:rPr sz="1600" b="1">
                <a:solidFill>
                  <a:srgbClr val="1F3A6E"/>
                </a:solidFill>
                <a:latin typeface="メイリオ"/>
                <a:ea typeface="メイリオ"/>
                <a:cs typeface="メイリオ"/>
              </a:rPr>
              <a:t>● 「指導と評価の一体化」のための学習評価に関する参考資料</a:t>
            </a:r>
          </a:p>
          <a:p>
            <a:pPr>
              <a:lnSpc>
                <a:spcPct val="125000"/>
              </a:lnSpc>
            </a:pPr>
            <a:r>
              <a:rPr sz="1300" b="0">
                <a:solidFill>
                  <a:srgbClr val="404040"/>
                </a:solidFill>
                <a:latin typeface="メイリオ"/>
                <a:ea typeface="メイリオ"/>
                <a:cs typeface="メイリオ"/>
              </a:rPr>
              <a:t>　 文部科学省 国立教育政策研究所教育課程研究センター</a:t>
            </a:r>
          </a:p>
          <a:p>
            <a:pPr>
              <a:lnSpc>
                <a:spcPct val="125000"/>
              </a:lnSpc>
            </a:pPr>
            <a:r>
              <a:rPr sz="1600" b="1">
                <a:solidFill>
                  <a:srgbClr val="1F3A6E"/>
                </a:solidFill>
                <a:latin typeface="メイリオ"/>
                <a:ea typeface="メイリオ"/>
                <a:cs typeface="メイリオ"/>
              </a:rPr>
              <a:t>● 子供たちに未来の創り手となるために必要な資質・能力を育む</a:t>
            </a:r>
          </a:p>
          <a:p>
            <a:pPr>
              <a:lnSpc>
                <a:spcPct val="125000"/>
              </a:lnSpc>
            </a:pPr>
            <a:r>
              <a:rPr sz="1300" b="0">
                <a:solidFill>
                  <a:srgbClr val="404040"/>
                </a:solidFill>
                <a:latin typeface="メイリオ"/>
                <a:ea typeface="メイリオ"/>
                <a:cs typeface="メイリオ"/>
              </a:rPr>
              <a:t>　 指導と評価の一体化を目指して　Ⅰ理論編／Ⅱ実践編　東京都教育委員会（令和2年9月）</a:t>
            </a:r>
          </a:p>
          <a:p>
            <a:pPr>
              <a:lnSpc>
                <a:spcPct val="125000"/>
              </a:lnSpc>
            </a:pPr>
            <a:r>
              <a:rPr sz="1600" b="1">
                <a:solidFill>
                  <a:srgbClr val="1F3A6E"/>
                </a:solidFill>
                <a:latin typeface="メイリオ"/>
                <a:ea typeface="メイリオ"/>
                <a:cs typeface="メイリオ"/>
              </a:rPr>
              <a:t>● 児童生徒の学習評価の在り方について（報告）</a:t>
            </a:r>
          </a:p>
          <a:p>
            <a:pPr>
              <a:lnSpc>
                <a:spcPct val="125000"/>
              </a:lnSpc>
            </a:pPr>
            <a:r>
              <a:rPr sz="1300" b="0">
                <a:solidFill>
                  <a:srgbClr val="404040"/>
                </a:solidFill>
                <a:latin typeface="メイリオ"/>
                <a:ea typeface="メイリオ"/>
                <a:cs typeface="メイリオ"/>
              </a:rPr>
              <a:t>　 中央教育審議会 平成31年1月21日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400" b="1">
                <a:solidFill>
                  <a:srgbClr val="FFFFFF"/>
                </a:solidFill>
                <a:latin typeface="メイリオ"/>
                <a:ea typeface="メイリオ"/>
                <a:cs typeface="メイリオ"/>
              </a:rPr>
              <a:t>【冒頭クイズ】　─　いきなりですが、ペアで</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1分で話してください</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900000"/>
            <a:ext cx="11400000" cy="9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2400" b="1">
                <a:solidFill>
                  <a:srgbClr val="000000"/>
                </a:solidFill>
                <a:latin typeface="メイリオ"/>
                <a:ea typeface="メイリオ"/>
                <a:cs typeface="メイリオ"/>
              </a:rPr>
              <a:t>先生は、</a:t>
            </a:r>
          </a:p>
          <a:p>
            <a:pPr algn="ctr">
              <a:lnSpc>
                <a:spcPct val="130000"/>
              </a:lnSpc>
            </a:pPr>
            <a:r>
              <a:rPr sz="2800" b="1">
                <a:solidFill>
                  <a:srgbClr val="EB6C15"/>
                </a:solidFill>
                <a:latin typeface="メイリオ"/>
                <a:ea typeface="メイリオ"/>
                <a:cs typeface="メイリオ"/>
              </a:rPr>
              <a:t>「主体的に学習に取り組む態度」</a:t>
            </a:r>
            <a:r>
              <a:rPr sz="2400" b="1">
                <a:solidFill>
                  <a:srgbClr val="000000"/>
                </a:solidFill>
                <a:latin typeface="メイリオ"/>
                <a:ea typeface="メイリオ"/>
                <a:cs typeface="メイリオ"/>
              </a:rPr>
              <a:t>を　普段 何で評価していますか？</a:t>
            </a:r>
          </a:p>
        </p:txBody>
      </p:sp>
      <p:sp>
        <p:nvSpPr>
          <p:cNvPr id="6" name="Rectangle 5"/>
          <p:cNvSpPr/>
          <p:nvPr/>
        </p:nvSpPr>
        <p:spPr>
          <a:xfrm>
            <a:off x="4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A</a:t>
            </a:r>
          </a:p>
        </p:txBody>
      </p:sp>
      <p:sp>
        <p:nvSpPr>
          <p:cNvPr id="7" name="Rectangle 6"/>
          <p:cNvSpPr/>
          <p:nvPr/>
        </p:nvSpPr>
        <p:spPr>
          <a:xfrm>
            <a:off x="13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30000"/>
              </a:lnSpc>
            </a:pPr>
            <a:r>
              <a:rPr sz="1900" b="1">
                <a:solidFill>
                  <a:srgbClr val="1F3A6E"/>
                </a:solidFill>
                <a:latin typeface="メイリオ"/>
                <a:ea typeface="メイリオ"/>
                <a:cs typeface="メイリオ"/>
              </a:rPr>
              <a:t>ノート・レポートの記述内容</a:t>
            </a:r>
          </a:p>
        </p:txBody>
      </p:sp>
      <p:sp>
        <p:nvSpPr>
          <p:cNvPr id="8" name="Rectangle 7"/>
          <p:cNvSpPr/>
          <p:nvPr/>
        </p:nvSpPr>
        <p:spPr>
          <a:xfrm>
            <a:off x="63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B</a:t>
            </a:r>
          </a:p>
        </p:txBody>
      </p:sp>
      <p:sp>
        <p:nvSpPr>
          <p:cNvPr id="9" name="Rectangle 8"/>
          <p:cNvSpPr/>
          <p:nvPr/>
        </p:nvSpPr>
        <p:spPr>
          <a:xfrm>
            <a:off x="72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30000"/>
              </a:lnSpc>
            </a:pPr>
            <a:r>
              <a:rPr sz="1900" b="1">
                <a:solidFill>
                  <a:srgbClr val="1F3A6E"/>
                </a:solidFill>
                <a:latin typeface="メイリオ"/>
                <a:ea typeface="メイリオ"/>
                <a:cs typeface="メイリオ"/>
              </a:rPr>
              <a:t>授業中の発言・挙手</a:t>
            </a:r>
          </a:p>
        </p:txBody>
      </p:sp>
      <p:sp>
        <p:nvSpPr>
          <p:cNvPr id="10" name="Rectangle 9"/>
          <p:cNvSpPr/>
          <p:nvPr/>
        </p:nvSpPr>
        <p:spPr>
          <a:xfrm>
            <a:off x="4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C</a:t>
            </a:r>
          </a:p>
        </p:txBody>
      </p:sp>
      <p:sp>
        <p:nvSpPr>
          <p:cNvPr id="11" name="Rectangle 10"/>
          <p:cNvSpPr/>
          <p:nvPr/>
        </p:nvSpPr>
        <p:spPr>
          <a:xfrm>
            <a:off x="13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30000"/>
              </a:lnSpc>
            </a:pPr>
            <a:r>
              <a:rPr sz="1900" b="1">
                <a:solidFill>
                  <a:srgbClr val="1F3A6E"/>
                </a:solidFill>
                <a:latin typeface="メイリオ"/>
                <a:ea typeface="メイリオ"/>
                <a:cs typeface="メイリオ"/>
              </a:rPr>
              <a:t>提出物の有無・期日</a:t>
            </a:r>
          </a:p>
        </p:txBody>
      </p:sp>
      <p:sp>
        <p:nvSpPr>
          <p:cNvPr id="12" name="Rectangle 11"/>
          <p:cNvSpPr/>
          <p:nvPr/>
        </p:nvSpPr>
        <p:spPr>
          <a:xfrm>
            <a:off x="63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D</a:t>
            </a:r>
          </a:p>
        </p:txBody>
      </p:sp>
      <p:sp>
        <p:nvSpPr>
          <p:cNvPr id="13" name="Rectangle 12"/>
          <p:cNvSpPr/>
          <p:nvPr/>
        </p:nvSpPr>
        <p:spPr>
          <a:xfrm>
            <a:off x="72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30000"/>
              </a:lnSpc>
            </a:pPr>
            <a:r>
              <a:rPr sz="1900" b="1">
                <a:solidFill>
                  <a:srgbClr val="1F3A6E"/>
                </a:solidFill>
                <a:latin typeface="メイリオ"/>
                <a:ea typeface="メイリオ"/>
                <a:cs typeface="メイリオ"/>
              </a:rPr>
              <a:t>教師の感覚的な印象</a:t>
            </a:r>
          </a:p>
        </p:txBody>
      </p:sp>
      <p:sp>
        <p:nvSpPr>
          <p:cNvPr id="14" name="Rectangle 13"/>
          <p:cNvSpPr/>
          <p:nvPr/>
        </p:nvSpPr>
        <p:spPr>
          <a:xfrm>
            <a:off x="400000" y="4750000"/>
            <a:ext cx="11400000" cy="3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1600" b="1">
                <a:solidFill>
                  <a:srgbClr val="404040"/>
                </a:solidFill>
                <a:latin typeface="メイリオ"/>
                <a:ea typeface="メイリオ"/>
                <a:cs typeface="メイリオ"/>
              </a:rPr>
              <a:t>○ 一番大きい比重のものを1つ選んでください　／　○ 複数当てはまる人は「主」を選ぶ</a:t>
            </a:r>
          </a:p>
        </p:txBody>
      </p:sp>
      <p:sp>
        <p:nvSpPr>
          <p:cNvPr id="15" name="Rectangle 14"/>
          <p:cNvSpPr/>
          <p:nvPr/>
        </p:nvSpPr>
        <p:spPr>
          <a:xfrm>
            <a:off x="400000" y="5230000"/>
            <a:ext cx="5400000" cy="8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 1分</a:t>
            </a:r>
          </a:p>
        </p:txBody>
      </p:sp>
      <p:sp>
        <p:nvSpPr>
          <p:cNvPr id="16" name="Rectangle 15"/>
          <p:cNvSpPr/>
          <p:nvPr/>
        </p:nvSpPr>
        <p:spPr>
          <a:xfrm>
            <a:off x="6400000" y="5230000"/>
            <a:ext cx="5400000" cy="8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2200" b="1">
                <a:solidFill>
                  <a:srgbClr val="1F3A6E"/>
                </a:solidFill>
                <a:latin typeface="メイリオ"/>
                <a:ea typeface="メイリオ"/>
                <a:cs typeface="メイリオ"/>
              </a:rPr>
              <a:t>隣の方とペアで</a:t>
            </a:r>
          </a:p>
        </p:txBody>
      </p:sp>
      <p:sp>
        <p:nvSpPr>
          <p:cNvPr id="17" name="Rectangle 16"/>
          <p:cNvSpPr/>
          <p:nvPr/>
        </p:nvSpPr>
        <p:spPr>
          <a:xfrm>
            <a:off x="400000" y="6090000"/>
            <a:ext cx="11400000" cy="33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1400" b="1">
                <a:solidFill>
                  <a:srgbClr val="404040"/>
                </a:solidFill>
                <a:latin typeface="メイリオ"/>
                <a:ea typeface="メイリオ"/>
                <a:cs typeface="メイリオ"/>
              </a:rPr>
              <a:t>→ このあと挙手で確認します　／　答えを受けて、本日のテーマに入ります</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1365</Words>
  <Application>Microsoft Office PowerPoint</Application>
  <PresentationFormat>ワイド画面</PresentationFormat>
  <Paragraphs>229</Paragraphs>
  <Slides>23</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ＭＳ ゴシック</vt:lpstr>
      <vt:lpstr>UD デジタル 教科書体 NK-B</vt:lpstr>
      <vt:lpstr>メイリオ</vt:lpstr>
      <vt:lpstr>游ゴシック</vt:lpstr>
      <vt:lpstr>游ゴシック Light</vt:lpstr>
      <vt:lpstr>Arial</vt:lpstr>
      <vt:lpstr>Office テーマ</vt:lpstr>
      <vt:lpstr>『主体的に学習に取り組む態度』の評価</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19</cp:revision>
  <cp:lastPrinted>2026-05-28T02:11:29Z</cp:lastPrinted>
  <dcterms:modified xsi:type="dcterms:W3CDTF">2026-05-28T02:11:30Z</dcterms:modified>
</cp:coreProperties>
</file>