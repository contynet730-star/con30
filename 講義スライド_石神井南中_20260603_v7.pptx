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1"/>
  </p:sldMasterIdLst>
  <p:notesMasterIdLst>
    <p:notesMasterId r:id="rId25"/>
  </p:notesMasterIdLst>
  <p:handoutMasterIdLst>
    <p:handoutMasterId r:id="rId26"/>
  </p:handoutMasterIdLst>
  <p:sldIdLst>
    <p:sldId id="256" r:id="rId2"/>
    <p:sldId id="282" r:id="rId3"/>
    <p:sldId id="319" r:id="rId4"/>
    <p:sldId id="647" r:id="rId5"/>
    <p:sldId id="650" r:id="rId31"/>
    <p:sldId id="261" r:id="rId6"/>
    <p:sldId id="262" r:id="rId7"/>
    <p:sldId id="648" r:id="rId8"/>
    <p:sldId id="264" r:id="rId9"/>
    <p:sldId id="265" r:id="rId10"/>
    <p:sldId id="266" r:id="rId11"/>
    <p:sldId id="321" r:id="rId12"/>
    <p:sldId id="303" r:id="rId13"/>
    <p:sldId id="305" r:id="rId14"/>
    <p:sldId id="651" r:id="rId32"/>
    <p:sldId id="291" r:id="rId15"/>
    <p:sldId id="284" r:id="rId16"/>
    <p:sldId id="306" r:id="rId17"/>
    <p:sldId id="307" r:id="rId18"/>
    <p:sldId id="308" r:id="rId19"/>
    <p:sldId id="327" r:id="rId20"/>
    <p:sldId id="326" r:id="rId21"/>
    <p:sldId id="649" r:id="rId22"/>
    <p:sldId id="280" r:id="rId23"/>
    <p:sldId id="281" r:id="rId24"/>
    <p:sldId id="652" r:id="rId33"/>
    <p:sldId id="653" r:id="rId34"/>
  </p:sldIdLst>
  <p:sldSz cx="12192000" cy="6858000"/>
  <p:notesSz cx="9869488" cy="673735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1A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8897" autoAdjust="0"/>
    <p:restoredTop sz="94660"/>
  </p:normalViewPr>
  <p:slideViewPr>
    <p:cSldViewPr snapToGrid="0">
      <p:cViewPr varScale="1">
        <p:scale>
          <a:sx n="103" d="100"/>
          <a:sy n="103" d="100"/>
        </p:scale>
        <p:origin x="114" y="2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2" y="5"/>
            <a:ext cx="4276247" cy="337348"/>
          </a:xfrm>
          <a:prstGeom prst="rect">
            <a:avLst/>
          </a:prstGeom>
        </p:spPr>
        <p:txBody>
          <a:bodyPr vert="horz" lIns="89799" tIns="44899" rIns="89799" bIns="44899"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5590968" y="5"/>
            <a:ext cx="4276247" cy="337348"/>
          </a:xfrm>
          <a:prstGeom prst="rect">
            <a:avLst/>
          </a:prstGeom>
        </p:spPr>
        <p:txBody>
          <a:bodyPr vert="horz" lIns="89799" tIns="44899" rIns="89799" bIns="44899" rtlCol="0"/>
          <a:lstStyle>
            <a:lvl1pPr algn="r">
              <a:defRPr sz="1200"/>
            </a:lvl1pPr>
          </a:lstStyle>
          <a:p>
            <a:fld id="{01BEA04A-EA59-42D0-B1DE-684874E10CAA}" type="datetimeFigureOut">
              <a:rPr kumimoji="1" lang="ja-JP" altLang="en-US" smtClean="0"/>
              <a:t>2026/5/28</a:t>
            </a:fld>
            <a:endParaRPr kumimoji="1" lang="ja-JP" altLang="en-US"/>
          </a:p>
        </p:txBody>
      </p:sp>
      <p:sp>
        <p:nvSpPr>
          <p:cNvPr id="4" name="フッター プレースホルダー 3"/>
          <p:cNvSpPr>
            <a:spLocks noGrp="1"/>
          </p:cNvSpPr>
          <p:nvPr>
            <p:ph type="ftr" sz="quarter" idx="2"/>
          </p:nvPr>
        </p:nvSpPr>
        <p:spPr>
          <a:xfrm>
            <a:off x="2" y="6400006"/>
            <a:ext cx="4276247" cy="337348"/>
          </a:xfrm>
          <a:prstGeom prst="rect">
            <a:avLst/>
          </a:prstGeom>
        </p:spPr>
        <p:txBody>
          <a:bodyPr vert="horz" lIns="89799" tIns="44899" rIns="89799" bIns="44899"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5590968" y="6400006"/>
            <a:ext cx="4276247" cy="337348"/>
          </a:xfrm>
          <a:prstGeom prst="rect">
            <a:avLst/>
          </a:prstGeom>
        </p:spPr>
        <p:txBody>
          <a:bodyPr vert="horz" lIns="89799" tIns="44899" rIns="89799" bIns="44899" rtlCol="0" anchor="b"/>
          <a:lstStyle>
            <a:lvl1pPr algn="r">
              <a:defRPr sz="1200"/>
            </a:lvl1pPr>
          </a:lstStyle>
          <a:p>
            <a:fld id="{DB567FFB-CC10-44D5-A649-9C45EAD5B1E6}" type="slidenum">
              <a:rPr kumimoji="1" lang="ja-JP" altLang="en-US" smtClean="0"/>
              <a:t>‹#›</a:t>
            </a:fld>
            <a:endParaRPr kumimoji="1" lang="ja-JP" altLang="en-US"/>
          </a:p>
        </p:txBody>
      </p:sp>
    </p:spTree>
    <p:extLst>
      <p:ext uri="{BB962C8B-B14F-4D97-AF65-F5344CB8AC3E}">
        <p14:creationId xmlns:p14="http://schemas.microsoft.com/office/powerpoint/2010/main" val="3031950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4"/>
            <a:ext cx="4277144" cy="338498"/>
          </a:xfrm>
          <a:prstGeom prst="rect">
            <a:avLst/>
          </a:prstGeom>
        </p:spPr>
        <p:txBody>
          <a:bodyPr vert="horz" lIns="89799" tIns="44899" rIns="89799" bIns="44899" rtlCol="0"/>
          <a:lstStyle>
            <a:lvl1pPr algn="l">
              <a:defRPr sz="1200"/>
            </a:lvl1pPr>
          </a:lstStyle>
          <a:p>
            <a:endParaRPr kumimoji="1" lang="ja-JP" altLang="en-US"/>
          </a:p>
        </p:txBody>
      </p:sp>
      <p:sp>
        <p:nvSpPr>
          <p:cNvPr id="3" name="日付プレースホルダー 2"/>
          <p:cNvSpPr>
            <a:spLocks noGrp="1"/>
          </p:cNvSpPr>
          <p:nvPr>
            <p:ph type="dt" idx="1"/>
          </p:nvPr>
        </p:nvSpPr>
        <p:spPr>
          <a:xfrm>
            <a:off x="5590782" y="4"/>
            <a:ext cx="4277142" cy="338498"/>
          </a:xfrm>
          <a:prstGeom prst="rect">
            <a:avLst/>
          </a:prstGeom>
        </p:spPr>
        <p:txBody>
          <a:bodyPr vert="horz" lIns="89799" tIns="44899" rIns="89799" bIns="44899" rtlCol="0"/>
          <a:lstStyle>
            <a:lvl1pPr algn="r">
              <a:defRPr sz="1200"/>
            </a:lvl1pPr>
          </a:lstStyle>
          <a:p>
            <a:fld id="{627F1449-63F1-4F02-A15F-3E2FE5019972}" type="datetimeFigureOut">
              <a:rPr kumimoji="1" lang="ja-JP" altLang="en-US" smtClean="0"/>
              <a:t>2026/5/28</a:t>
            </a:fld>
            <a:endParaRPr kumimoji="1" lang="ja-JP" altLang="en-US"/>
          </a:p>
        </p:txBody>
      </p:sp>
      <p:sp>
        <p:nvSpPr>
          <p:cNvPr id="4" name="スライド イメージ プレースホルダー 3"/>
          <p:cNvSpPr>
            <a:spLocks noGrp="1" noRot="1" noChangeAspect="1"/>
          </p:cNvSpPr>
          <p:nvPr>
            <p:ph type="sldImg" idx="2"/>
          </p:nvPr>
        </p:nvSpPr>
        <p:spPr>
          <a:xfrm>
            <a:off x="2913063" y="841375"/>
            <a:ext cx="4043362" cy="2274888"/>
          </a:xfrm>
          <a:prstGeom prst="rect">
            <a:avLst/>
          </a:prstGeom>
          <a:noFill/>
          <a:ln w="12700">
            <a:solidFill>
              <a:prstClr val="black"/>
            </a:solidFill>
          </a:ln>
        </p:spPr>
        <p:txBody>
          <a:bodyPr vert="horz" lIns="89799" tIns="44899" rIns="89799" bIns="44899" rtlCol="0" anchor="ctr"/>
          <a:lstStyle/>
          <a:p>
            <a:endParaRPr lang="ja-JP" altLang="en-US"/>
          </a:p>
        </p:txBody>
      </p:sp>
      <p:sp>
        <p:nvSpPr>
          <p:cNvPr id="5" name="ノート プレースホルダー 4"/>
          <p:cNvSpPr>
            <a:spLocks noGrp="1"/>
          </p:cNvSpPr>
          <p:nvPr>
            <p:ph type="body" sz="quarter" idx="3"/>
          </p:nvPr>
        </p:nvSpPr>
        <p:spPr>
          <a:xfrm>
            <a:off x="986796" y="3242127"/>
            <a:ext cx="7895902" cy="2653637"/>
          </a:xfrm>
          <a:prstGeom prst="rect">
            <a:avLst/>
          </a:prstGeom>
        </p:spPr>
        <p:txBody>
          <a:bodyPr vert="horz" lIns="89799" tIns="44899" rIns="89799" bIns="44899"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6398855"/>
            <a:ext cx="4277144" cy="338498"/>
          </a:xfrm>
          <a:prstGeom prst="rect">
            <a:avLst/>
          </a:prstGeom>
        </p:spPr>
        <p:txBody>
          <a:bodyPr vert="horz" lIns="89799" tIns="44899" rIns="89799" bIns="44899"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5590782" y="6398855"/>
            <a:ext cx="4277142" cy="338498"/>
          </a:xfrm>
          <a:prstGeom prst="rect">
            <a:avLst/>
          </a:prstGeom>
        </p:spPr>
        <p:txBody>
          <a:bodyPr vert="horz" lIns="89799" tIns="44899" rIns="89799" bIns="44899" rtlCol="0" anchor="b"/>
          <a:lstStyle>
            <a:lvl1pPr algn="r">
              <a:defRPr sz="1200"/>
            </a:lvl1pPr>
          </a:lstStyle>
          <a:p>
            <a:fld id="{2851C5CF-25F5-474F-B99C-E03B7932DF76}" type="slidenum">
              <a:rPr kumimoji="1" lang="ja-JP" altLang="en-US" smtClean="0"/>
              <a:t>‹#›</a:t>
            </a:fld>
            <a:endParaRPr kumimoji="1" lang="ja-JP" altLang="en-US"/>
          </a:p>
        </p:txBody>
      </p:sp>
    </p:spTree>
    <p:extLst>
      <p:ext uri="{BB962C8B-B14F-4D97-AF65-F5344CB8AC3E}">
        <p14:creationId xmlns:p14="http://schemas.microsoft.com/office/powerpoint/2010/main" val="359850803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689225" y="504825"/>
            <a:ext cx="4491038" cy="252571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BD236342-BA52-47EB-BD3F-1A7CCAFE6BE5}" type="slidenum">
              <a:rPr kumimoji="1" lang="ja-JP" altLang="en-US" smtClean="0"/>
              <a:t>4</a:t>
            </a:fld>
            <a:endParaRPr kumimoji="1" lang="ja-JP" altLang="en-US"/>
          </a:p>
        </p:txBody>
      </p:sp>
    </p:spTree>
    <p:extLst>
      <p:ext uri="{BB962C8B-B14F-4D97-AF65-F5344CB8AC3E}">
        <p14:creationId xmlns:p14="http://schemas.microsoft.com/office/powerpoint/2010/main" val="500222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日付プレースホルダー 3"/>
          <p:cNvSpPr>
            <a:spLocks noGrp="1"/>
          </p:cNvSpPr>
          <p:nvPr>
            <p:ph type="dt" idx="10"/>
          </p:nvPr>
        </p:nvSpPr>
        <p:spPr/>
        <p:txBody>
          <a:bodyPr/>
          <a:lstStyle/>
          <a:p>
            <a:pPr defTabSz="897990">
              <a:defRPr/>
            </a:pPr>
            <a:endParaRPr lang="ja-JP" altLang="en-US">
              <a:solidFill>
                <a:prstClr val="black"/>
              </a:solidFill>
              <a:latin typeface="游ゴシック" panose="020F0502020204030204"/>
              <a:ea typeface="游ゴシック" panose="020B0400000000000000" pitchFamily="50" charset="-128"/>
            </a:endParaRPr>
          </a:p>
        </p:txBody>
      </p:sp>
      <p:sp>
        <p:nvSpPr>
          <p:cNvPr id="5" name="スライド番号プレースホルダー 4"/>
          <p:cNvSpPr>
            <a:spLocks noGrp="1"/>
          </p:cNvSpPr>
          <p:nvPr>
            <p:ph type="sldNum" sz="quarter" idx="11"/>
          </p:nvPr>
        </p:nvSpPr>
        <p:spPr/>
        <p:txBody>
          <a:bodyPr/>
          <a:lstStyle/>
          <a:p>
            <a:pPr defTabSz="897990">
              <a:defRPr/>
            </a:pPr>
            <a:fld id="{EBF652ED-4E8E-4FA7-8EF4-2DDF6FB21FCE}" type="slidenum">
              <a:rPr lang="ja-JP" altLang="en-US">
                <a:solidFill>
                  <a:prstClr val="black"/>
                </a:solidFill>
                <a:latin typeface="游ゴシック" panose="020F0502020204030204"/>
                <a:ea typeface="游ゴシック" panose="020B0400000000000000" pitchFamily="50" charset="-128"/>
              </a:rPr>
              <a:pPr defTabSz="897990">
                <a:defRPr/>
              </a:pPr>
              <a:t>20</a:t>
            </a:fld>
            <a:endParaRPr lang="ja-JP" altLang="en-US">
              <a:solidFill>
                <a:prstClr val="black"/>
              </a:solidFill>
              <a:latin typeface="游ゴシック" panose="020F0502020204030204"/>
              <a:ea typeface="游ゴシック" panose="020B0400000000000000" pitchFamily="50" charset="-128"/>
            </a:endParaRPr>
          </a:p>
        </p:txBody>
      </p:sp>
    </p:spTree>
    <p:extLst>
      <p:ext uri="{BB962C8B-B14F-4D97-AF65-F5344CB8AC3E}">
        <p14:creationId xmlns:p14="http://schemas.microsoft.com/office/powerpoint/2010/main" val="1105500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155" indent="0" algn="ctr">
              <a:buNone/>
              <a:defRPr sz="2000"/>
            </a:lvl2pPr>
            <a:lvl3pPr marL="914309" indent="0" algn="ctr">
              <a:buNone/>
              <a:defRPr sz="1800"/>
            </a:lvl3pPr>
            <a:lvl4pPr marL="1371464" indent="0" algn="ctr">
              <a:buNone/>
              <a:defRPr sz="1600"/>
            </a:lvl4pPr>
            <a:lvl5pPr marL="1828618" indent="0" algn="ctr">
              <a:buNone/>
              <a:defRPr sz="1600"/>
            </a:lvl5pPr>
            <a:lvl6pPr marL="2285774" indent="0" algn="ctr">
              <a:buNone/>
              <a:defRPr sz="1600"/>
            </a:lvl6pPr>
            <a:lvl7pPr marL="2742926" indent="0" algn="ctr">
              <a:buNone/>
              <a:defRPr sz="1600"/>
            </a:lvl7pPr>
            <a:lvl8pPr marL="3200080" indent="0" algn="ctr">
              <a:buNone/>
              <a:defRPr sz="1600"/>
            </a:lvl8pPr>
            <a:lvl9pPr marL="3657235"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363274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910701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1" y="170974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1" y="4589473"/>
            <a:ext cx="10515600" cy="1500187"/>
          </a:xfrm>
        </p:spPr>
        <p:txBody>
          <a:bodyPr/>
          <a:lstStyle>
            <a:lvl1pPr marL="0" indent="0">
              <a:buNone/>
              <a:defRPr sz="2400">
                <a:solidFill>
                  <a:schemeClr val="tx1">
                    <a:tint val="75000"/>
                  </a:schemeClr>
                </a:solidFill>
              </a:defRPr>
            </a:lvl1pPr>
            <a:lvl2pPr marL="457155" indent="0">
              <a:buNone/>
              <a:defRPr sz="2000">
                <a:solidFill>
                  <a:schemeClr val="tx1">
                    <a:tint val="75000"/>
                  </a:schemeClr>
                </a:solidFill>
              </a:defRPr>
            </a:lvl2pPr>
            <a:lvl3pPr marL="914309" indent="0">
              <a:buNone/>
              <a:defRPr sz="1800">
                <a:solidFill>
                  <a:schemeClr val="tx1">
                    <a:tint val="75000"/>
                  </a:schemeClr>
                </a:solidFill>
              </a:defRPr>
            </a:lvl3pPr>
            <a:lvl4pPr marL="1371464" indent="0">
              <a:buNone/>
              <a:defRPr sz="1600">
                <a:solidFill>
                  <a:schemeClr val="tx1">
                    <a:tint val="75000"/>
                  </a:schemeClr>
                </a:solidFill>
              </a:defRPr>
            </a:lvl4pPr>
            <a:lvl5pPr marL="1828618" indent="0">
              <a:buNone/>
              <a:defRPr sz="1600">
                <a:solidFill>
                  <a:schemeClr val="tx1">
                    <a:tint val="75000"/>
                  </a:schemeClr>
                </a:solidFill>
              </a:defRPr>
            </a:lvl5pPr>
            <a:lvl6pPr marL="2285774" indent="0">
              <a:buNone/>
              <a:defRPr sz="1600">
                <a:solidFill>
                  <a:schemeClr val="tx1">
                    <a:tint val="75000"/>
                  </a:schemeClr>
                </a:solidFill>
              </a:defRPr>
            </a:lvl6pPr>
            <a:lvl7pPr marL="2742926" indent="0">
              <a:buNone/>
              <a:defRPr sz="1600">
                <a:solidFill>
                  <a:schemeClr val="tx1">
                    <a:tint val="75000"/>
                  </a:schemeClr>
                </a:solidFill>
              </a:defRPr>
            </a:lvl7pPr>
            <a:lvl8pPr marL="3200080" indent="0">
              <a:buNone/>
              <a:defRPr sz="1600">
                <a:solidFill>
                  <a:schemeClr val="tx1">
                    <a:tint val="75000"/>
                  </a:schemeClr>
                </a:solidFill>
              </a:defRPr>
            </a:lvl8pPr>
            <a:lvl9pPr marL="3657235"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367111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976726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9"/>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9" y="1681163"/>
            <a:ext cx="5157787" cy="823912"/>
          </a:xfrm>
        </p:spPr>
        <p:txBody>
          <a:bodyPr anchor="b"/>
          <a:lstStyle>
            <a:lvl1pPr marL="0" indent="0">
              <a:buNone/>
              <a:defRPr sz="2400" b="1"/>
            </a:lvl1pPr>
            <a:lvl2pPr marL="457155" indent="0">
              <a:buNone/>
              <a:defRPr sz="2000" b="1"/>
            </a:lvl2pPr>
            <a:lvl3pPr marL="914309" indent="0">
              <a:buNone/>
              <a:defRPr sz="1800" b="1"/>
            </a:lvl3pPr>
            <a:lvl4pPr marL="1371464" indent="0">
              <a:buNone/>
              <a:defRPr sz="1600" b="1"/>
            </a:lvl4pPr>
            <a:lvl5pPr marL="1828618" indent="0">
              <a:buNone/>
              <a:defRPr sz="1600" b="1"/>
            </a:lvl5pPr>
            <a:lvl6pPr marL="2285774" indent="0">
              <a:buNone/>
              <a:defRPr sz="1600" b="1"/>
            </a:lvl6pPr>
            <a:lvl7pPr marL="2742926" indent="0">
              <a:buNone/>
              <a:defRPr sz="1600" b="1"/>
            </a:lvl7pPr>
            <a:lvl8pPr marL="3200080" indent="0">
              <a:buNone/>
              <a:defRPr sz="1600" b="1"/>
            </a:lvl8pPr>
            <a:lvl9pPr marL="3657235"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9"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3" y="1681163"/>
            <a:ext cx="5183188" cy="823912"/>
          </a:xfrm>
        </p:spPr>
        <p:txBody>
          <a:bodyPr anchor="b"/>
          <a:lstStyle>
            <a:lvl1pPr marL="0" indent="0">
              <a:buNone/>
              <a:defRPr sz="2400" b="1"/>
            </a:lvl1pPr>
            <a:lvl2pPr marL="457155" indent="0">
              <a:buNone/>
              <a:defRPr sz="2000" b="1"/>
            </a:lvl2pPr>
            <a:lvl3pPr marL="914309" indent="0">
              <a:buNone/>
              <a:defRPr sz="1800" b="1"/>
            </a:lvl3pPr>
            <a:lvl4pPr marL="1371464" indent="0">
              <a:buNone/>
              <a:defRPr sz="1600" b="1"/>
            </a:lvl4pPr>
            <a:lvl5pPr marL="1828618" indent="0">
              <a:buNone/>
              <a:defRPr sz="1600" b="1"/>
            </a:lvl5pPr>
            <a:lvl6pPr marL="2285774" indent="0">
              <a:buNone/>
              <a:defRPr sz="1600" b="1"/>
            </a:lvl6pPr>
            <a:lvl7pPr marL="2742926" indent="0">
              <a:buNone/>
              <a:defRPr sz="1600" b="1"/>
            </a:lvl7pPr>
            <a:lvl8pPr marL="3200080" indent="0">
              <a:buNone/>
              <a:defRPr sz="1600" b="1"/>
            </a:lvl8pPr>
            <a:lvl9pPr marL="3657235"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3"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744171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160208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852535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3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155" indent="0">
              <a:buNone/>
              <a:defRPr sz="1400"/>
            </a:lvl2pPr>
            <a:lvl3pPr marL="914309" indent="0">
              <a:buNone/>
              <a:defRPr sz="1200"/>
            </a:lvl3pPr>
            <a:lvl4pPr marL="1371464" indent="0">
              <a:buNone/>
              <a:defRPr sz="1000"/>
            </a:lvl4pPr>
            <a:lvl5pPr marL="1828618" indent="0">
              <a:buNone/>
              <a:defRPr sz="1000"/>
            </a:lvl5pPr>
            <a:lvl6pPr marL="2285774" indent="0">
              <a:buNone/>
              <a:defRPr sz="1000"/>
            </a:lvl6pPr>
            <a:lvl7pPr marL="2742926" indent="0">
              <a:buNone/>
              <a:defRPr sz="1000"/>
            </a:lvl7pPr>
            <a:lvl8pPr marL="3200080" indent="0">
              <a:buNone/>
              <a:defRPr sz="1000"/>
            </a:lvl8pPr>
            <a:lvl9pPr marL="3657235"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372747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35"/>
            <a:ext cx="6172200" cy="4873625"/>
          </a:xfrm>
        </p:spPr>
        <p:txBody>
          <a:bodyPr/>
          <a:lstStyle>
            <a:lvl1pPr marL="0" indent="0">
              <a:buNone/>
              <a:defRPr sz="3200"/>
            </a:lvl1pPr>
            <a:lvl2pPr marL="457155" indent="0">
              <a:buNone/>
              <a:defRPr sz="2800"/>
            </a:lvl2pPr>
            <a:lvl3pPr marL="914309" indent="0">
              <a:buNone/>
              <a:defRPr sz="2400"/>
            </a:lvl3pPr>
            <a:lvl4pPr marL="1371464" indent="0">
              <a:buNone/>
              <a:defRPr sz="2000"/>
            </a:lvl4pPr>
            <a:lvl5pPr marL="1828618" indent="0">
              <a:buNone/>
              <a:defRPr sz="2000"/>
            </a:lvl5pPr>
            <a:lvl6pPr marL="2285774" indent="0">
              <a:buNone/>
              <a:defRPr sz="2000"/>
            </a:lvl6pPr>
            <a:lvl7pPr marL="2742926" indent="0">
              <a:buNone/>
              <a:defRPr sz="2000"/>
            </a:lvl7pPr>
            <a:lvl8pPr marL="3200080" indent="0">
              <a:buNone/>
              <a:defRPr sz="2000"/>
            </a:lvl8pPr>
            <a:lvl9pPr marL="3657235"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155" indent="0">
              <a:buNone/>
              <a:defRPr sz="1400"/>
            </a:lvl2pPr>
            <a:lvl3pPr marL="914309" indent="0">
              <a:buNone/>
              <a:defRPr sz="1200"/>
            </a:lvl3pPr>
            <a:lvl4pPr marL="1371464" indent="0">
              <a:buNone/>
              <a:defRPr sz="1000"/>
            </a:lvl4pPr>
            <a:lvl5pPr marL="1828618" indent="0">
              <a:buNone/>
              <a:defRPr sz="1000"/>
            </a:lvl5pPr>
            <a:lvl6pPr marL="2285774" indent="0">
              <a:buNone/>
              <a:defRPr sz="1000"/>
            </a:lvl6pPr>
            <a:lvl7pPr marL="2742926" indent="0">
              <a:buNone/>
              <a:defRPr sz="1000"/>
            </a:lvl7pPr>
            <a:lvl8pPr marL="3200080" indent="0">
              <a:buNone/>
              <a:defRPr sz="1000"/>
            </a:lvl8pPr>
            <a:lvl9pPr marL="3657235"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684456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814888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2"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3"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7079818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6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3"/>
          </p:nvPr>
        </p:nvSpPr>
        <p:spPr>
          <a:xfrm>
            <a:off x="4038600" y="635636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6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375906915"/>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txStyles>
    <p:titleStyle>
      <a:lvl1pPr algn="l" defTabSz="914309"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578" indent="-228578" algn="l" defTabSz="914309"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34" indent="-228578" algn="l" defTabSz="914309"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886" indent="-228578" algn="l" defTabSz="914309"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40"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195"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309" rtl="0" eaLnBrk="1" latinLnBrk="0" hangingPunct="1">
        <a:defRPr kumimoji="1" sz="1800" kern="1200">
          <a:solidFill>
            <a:schemeClr val="tx1"/>
          </a:solidFill>
          <a:latin typeface="+mn-lt"/>
          <a:ea typeface="+mn-ea"/>
          <a:cs typeface="+mn-cs"/>
        </a:defRPr>
      </a:lvl1pPr>
      <a:lvl2pPr marL="457155" algn="l" defTabSz="914309" rtl="0" eaLnBrk="1" latinLnBrk="0" hangingPunct="1">
        <a:defRPr kumimoji="1" sz="1800" kern="1200">
          <a:solidFill>
            <a:schemeClr val="tx1"/>
          </a:solidFill>
          <a:latin typeface="+mn-lt"/>
          <a:ea typeface="+mn-ea"/>
          <a:cs typeface="+mn-cs"/>
        </a:defRPr>
      </a:lvl2pPr>
      <a:lvl3pPr marL="914309" algn="l" defTabSz="914309" rtl="0" eaLnBrk="1" latinLnBrk="0" hangingPunct="1">
        <a:defRPr kumimoji="1" sz="1800" kern="1200">
          <a:solidFill>
            <a:schemeClr val="tx1"/>
          </a:solidFill>
          <a:latin typeface="+mn-lt"/>
          <a:ea typeface="+mn-ea"/>
          <a:cs typeface="+mn-cs"/>
        </a:defRPr>
      </a:lvl3pPr>
      <a:lvl4pPr marL="1371464" algn="l" defTabSz="914309" rtl="0" eaLnBrk="1" latinLnBrk="0" hangingPunct="1">
        <a:defRPr kumimoji="1" sz="1800" kern="1200">
          <a:solidFill>
            <a:schemeClr val="tx1"/>
          </a:solidFill>
          <a:latin typeface="+mn-lt"/>
          <a:ea typeface="+mn-ea"/>
          <a:cs typeface="+mn-cs"/>
        </a:defRPr>
      </a:lvl4pPr>
      <a:lvl5pPr marL="1828618" algn="l" defTabSz="914309" rtl="0" eaLnBrk="1" latinLnBrk="0" hangingPunct="1">
        <a:defRPr kumimoji="1" sz="1800" kern="1200">
          <a:solidFill>
            <a:schemeClr val="tx1"/>
          </a:solidFill>
          <a:latin typeface="+mn-lt"/>
          <a:ea typeface="+mn-ea"/>
          <a:cs typeface="+mn-cs"/>
        </a:defRPr>
      </a:lvl5pPr>
      <a:lvl6pPr marL="2285774" algn="l" defTabSz="914309" rtl="0" eaLnBrk="1" latinLnBrk="0" hangingPunct="1">
        <a:defRPr kumimoji="1" sz="1800" kern="1200">
          <a:solidFill>
            <a:schemeClr val="tx1"/>
          </a:solidFill>
          <a:latin typeface="+mn-lt"/>
          <a:ea typeface="+mn-ea"/>
          <a:cs typeface="+mn-cs"/>
        </a:defRPr>
      </a:lvl6pPr>
      <a:lvl7pPr marL="2742926" algn="l" defTabSz="914309" rtl="0" eaLnBrk="1" latinLnBrk="0" hangingPunct="1">
        <a:defRPr kumimoji="1" sz="1800" kern="1200">
          <a:solidFill>
            <a:schemeClr val="tx1"/>
          </a:solidFill>
          <a:latin typeface="+mn-lt"/>
          <a:ea typeface="+mn-ea"/>
          <a:cs typeface="+mn-cs"/>
        </a:defRPr>
      </a:lvl7pPr>
      <a:lvl8pPr marL="3200080" algn="l" defTabSz="914309" rtl="0" eaLnBrk="1" latinLnBrk="0" hangingPunct="1">
        <a:defRPr kumimoji="1" sz="1800" kern="1200">
          <a:solidFill>
            <a:schemeClr val="tx1"/>
          </a:solidFill>
          <a:latin typeface="+mn-lt"/>
          <a:ea typeface="+mn-ea"/>
          <a:cs typeface="+mn-cs"/>
        </a:defRPr>
      </a:lvl8pPr>
      <a:lvl9pPr marL="3657235" algn="l" defTabSz="914309"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790708" y="2004488"/>
            <a:ext cx="10610581" cy="1275009"/>
          </a:xfrm>
        </p:spPr>
        <p:txBody>
          <a:bodyPr>
            <a:noAutofit/>
          </a:bodyPr>
          <a:lstStyle/>
          <a:p>
            <a:r>
              <a:rPr lang="en-US" altLang="ja-JP" sz="4400" b="1" dirty="0">
                <a:latin typeface="メイリオ"/>
                <a:ea typeface="メイリオ"/>
                <a:cs typeface="メイリオ"/>
              </a:rPr>
              <a:t>「指導と評価の一体化」</a:t>
            </a:r>
            <a:r>
              <a:rPr lang="ja-JP" altLang="en-US" sz="4400" b="1" dirty="0">
                <a:latin typeface="メイリオ"/>
                <a:ea typeface="メイリオ"/>
                <a:cs typeface="メイリオ"/>
              </a:rPr>
              <a:t/>
            </a:r>
            <a:r>
              <a:rPr lang="en-US" altLang="ja-JP" sz="4400" b="1" dirty="0">
                <a:latin typeface="メイリオ"/>
                <a:ea typeface="メイリオ"/>
                <a:cs typeface="メイリオ"/>
              </a:rPr>
              <a:t/>
            </a:r>
            <a:r>
              <a:rPr lang="ja-JP" altLang="en-US" sz="4400" b="1" dirty="0">
                <a:latin typeface="メイリオ"/>
                <a:ea typeface="メイリオ"/>
                <a:cs typeface="メイリオ"/>
              </a:rPr>
              <a:t/>
            </a:r>
          </a:p>
        </p:txBody>
      </p:sp>
      <p:sp>
        <p:nvSpPr>
          <p:cNvPr id="3" name="サブタイトル 2"/>
          <p:cNvSpPr>
            <a:spLocks noGrp="1"/>
          </p:cNvSpPr>
          <p:nvPr>
            <p:ph type="subTitle" idx="1"/>
          </p:nvPr>
        </p:nvSpPr>
        <p:spPr>
          <a:xfrm>
            <a:off x="790708" y="3638214"/>
            <a:ext cx="11016343" cy="605308"/>
          </a:xfrm>
        </p:spPr>
        <p:txBody>
          <a:bodyPr>
            <a:noAutofit/>
          </a:bodyPr>
          <a:lstStyle/>
          <a:p>
            <a:r>
              <a:rPr lang="ja-JP" altLang="en-US" sz="3200" b="1" dirty="0">
                <a:latin typeface="メイリオ"/>
                <a:ea typeface="メイリオ"/>
                <a:cs typeface="メイリオ"/>
              </a:rPr>
              <a:t>〜「主体的に学習に取り組む態度」の評価を中心に〜</a:t>
            </a:r>
          </a:p>
        </p:txBody>
      </p:sp>
      <p:sp>
        <p:nvSpPr>
          <p:cNvPr id="4" name="サブタイトル 2"/>
          <p:cNvSpPr txBox="1">
            <a:spLocks/>
          </p:cNvSpPr>
          <p:nvPr/>
        </p:nvSpPr>
        <p:spPr>
          <a:xfrm>
            <a:off x="7816404" y="4868215"/>
            <a:ext cx="3086637" cy="1004552"/>
          </a:xfrm>
          <a:prstGeom prst="rect">
            <a:avLst/>
          </a:prstGeom>
        </p:spPr>
        <p:txBody>
          <a:bodyPr vert="horz" lIns="91440" tIns="45720" rIns="91440" bIns="45720" rtlCol="0">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ja-JP" altLang="en-US" sz="3200" b="1" dirty="0">
                <a:latin typeface="メイリオ"/>
                <a:ea typeface="メイリオ"/>
                <a:cs typeface="メイリオ"/>
              </a:rPr>
              <a:t>令和８年６月３日（水）</a:t>
            </a:r>
            <a:endParaRPr lang="en-US" altLang="ja-JP" sz="3200" b="1" dirty="0"/>
          </a:p>
          <a:p>
            <a:pPr algn="l"/>
            <a:r>
              <a:rPr lang="ja-JP" altLang="en-US" sz="3200" b="1" dirty="0">
                <a:latin typeface="メイリオ"/>
                <a:ea typeface="メイリオ"/>
                <a:cs typeface="メイリオ"/>
              </a:rPr>
              <a:t>練馬区教育委員会</a:t>
            </a:r>
            <a:endParaRPr lang="en-US" altLang="ja-JP" sz="3200" b="1" dirty="0"/>
          </a:p>
          <a:p>
            <a:pPr algn="l"/>
            <a:r>
              <a:rPr lang="ja-JP" altLang="en-US" sz="3200" b="1" dirty="0">
                <a:latin typeface="メイリオ"/>
                <a:ea typeface="メイリオ"/>
                <a:cs typeface="メイリオ"/>
              </a:rPr>
              <a:t>指導主事　紺多　章一郎</a:t>
            </a:r>
          </a:p>
        </p:txBody>
      </p:sp>
      <p:sp>
        <p:nvSpPr>
          <p:cNvPr id="5" name="サブタイトル 2"/>
          <p:cNvSpPr txBox="1">
            <a:spLocks/>
          </p:cNvSpPr>
          <p:nvPr/>
        </p:nvSpPr>
        <p:spPr>
          <a:xfrm>
            <a:off x="2094964" y="1040463"/>
            <a:ext cx="8002073" cy="60530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r>
              <a:rPr lang="ja-JP" altLang="en-US" sz="3200" b="1" dirty="0">
                <a:latin typeface="メイリオ"/>
                <a:ea typeface="メイリオ"/>
                <a:cs typeface="メイリオ"/>
              </a:rPr>
              <a:t>令和８年度　石神井南中学校　校内研修</a:t>
            </a:r>
          </a:p>
        </p:txBody>
      </p:sp>
    </p:spTree>
    <p:extLst>
      <p:ext uri="{BB962C8B-B14F-4D97-AF65-F5344CB8AC3E}">
        <p14:creationId xmlns:p14="http://schemas.microsoft.com/office/powerpoint/2010/main" val="2377379582"/>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1235485" y="2017488"/>
            <a:ext cx="10515600" cy="3446610"/>
          </a:xfrm>
        </p:spPr>
        <p:txBody>
          <a:bodyPr>
            <a:normAutofit/>
          </a:bodyPr>
          <a:lstStyle/>
          <a:p>
            <a:pPr marL="0" indent="0">
              <a:buNone/>
            </a:pPr>
            <a:r>
              <a:rPr lang="ja-JP" altLang="en-US" sz="3600" b="1" dirty="0">
                <a:latin typeface="メイリオ"/>
                <a:ea typeface="メイリオ"/>
                <a:cs typeface="メイリオ"/>
              </a:rPr>
              <a:t>１　主体的・対話的で深い学びの実現に向けた</a:t>
            </a:r>
            <a:endParaRPr lang="en-US" altLang="ja-JP" sz="3600" b="1" dirty="0"/>
          </a:p>
          <a:p>
            <a:pPr marL="0" indent="0">
              <a:buNone/>
            </a:pPr>
            <a:r>
              <a:rPr lang="ja-JP" altLang="en-US" sz="3600" b="1" dirty="0">
                <a:latin typeface="メイリオ"/>
                <a:ea typeface="メイリオ"/>
                <a:cs typeface="メイリオ"/>
              </a:rPr>
              <a:t>　　授業改善</a:t>
            </a:r>
            <a:endParaRPr lang="en-US" altLang="ja-JP" sz="3600" b="1" dirty="0"/>
          </a:p>
          <a:p>
            <a:pPr marL="0" indent="0">
              <a:buNone/>
            </a:pPr>
            <a:endParaRPr lang="en-US" altLang="ja-JP" sz="3600" b="1" dirty="0"/>
          </a:p>
          <a:p>
            <a:pPr marL="0" indent="0">
              <a:buNone/>
            </a:pPr>
            <a:r>
              <a:rPr lang="ja-JP" altLang="en-US" sz="3600" b="1" dirty="0">
                <a:latin typeface="メイリオ"/>
                <a:ea typeface="メイリオ"/>
                <a:cs typeface="メイリオ"/>
              </a:rPr>
              <a:t>２ </a:t>
            </a:r>
            <a:r>
              <a:rPr lang="en-US" altLang="ja-JP" sz="3600" b="1" dirty="0">
                <a:latin typeface="メイリオ"/>
                <a:ea typeface="メイリオ"/>
                <a:cs typeface="メイリオ"/>
              </a:rPr>
              <a:t>『</a:t>
            </a:r>
            <a:r>
              <a:rPr lang="ja-JP" altLang="en-US" sz="3600" b="1" dirty="0">
                <a:latin typeface="メイリオ"/>
                <a:ea typeface="メイリオ"/>
                <a:cs typeface="メイリオ"/>
              </a:rPr>
              <a:t>主体的に学習に取り組む態度</a:t>
            </a:r>
            <a:r>
              <a:rPr lang="en-US" altLang="ja-JP" sz="3600" b="1" dirty="0">
                <a:latin typeface="メイリオ"/>
                <a:ea typeface="メイリオ"/>
                <a:cs typeface="メイリオ"/>
              </a:rPr>
              <a:t>』</a:t>
            </a:r>
            <a:r>
              <a:rPr lang="ja-JP" altLang="en-US" sz="3600" b="1" dirty="0">
                <a:latin typeface="メイリオ"/>
                <a:ea typeface="メイリオ"/>
                <a:cs typeface="メイリオ"/>
              </a:rPr>
              <a:t>の学習評価</a:t>
            </a:r>
            <a:endParaRPr lang="en-US" altLang="ja-JP" sz="3600" b="1" dirty="0"/>
          </a:p>
          <a:p>
            <a:pPr marL="0" indent="0">
              <a:buNone/>
            </a:pPr>
            <a:endParaRPr lang="ja-JP" altLang="en-US" b="1" dirty="0"/>
          </a:p>
        </p:txBody>
      </p:sp>
      <p:sp>
        <p:nvSpPr>
          <p:cNvPr id="4" name="Rectangle 1">
            <a:extLst>
              <a:ext uri="{FF2B5EF4-FFF2-40B4-BE49-F238E27FC236}">
                <a16:creationId xmlns:a16="http://schemas.microsoft.com/office/drawing/2014/main" id="{7E8F890B-B36A-F960-C23B-F5844E28D7BE}"/>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　本日の内容</a:t>
            </a:r>
            <a:endParaRPr lang="en-US" altLang="ja-JP" sz="2800" b="1" dirty="0"/>
          </a:p>
        </p:txBody>
      </p:sp>
    </p:spTree>
    <p:extLst>
      <p:ext uri="{BB962C8B-B14F-4D97-AF65-F5344CB8AC3E}">
        <p14:creationId xmlns:p14="http://schemas.microsoft.com/office/powerpoint/2010/main" val="1816358613"/>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587499" y="2966017"/>
            <a:ext cx="9428844" cy="909299"/>
          </a:xfrm>
        </p:spPr>
        <p:txBody>
          <a:bodyPr>
            <a:noAutofit/>
          </a:bodyPr>
          <a:lstStyle/>
          <a:p>
            <a:r>
              <a:rPr lang="ja-JP" altLang="en-US" sz="4800" b="1" dirty="0">
                <a:latin typeface="メイリオ"/>
                <a:ea typeface="メイリオ"/>
                <a:cs typeface="メイリオ"/>
              </a:rPr>
              <a:t>　はじめに</a:t>
            </a:r>
            <a:endParaRPr lang="ja-JP" altLang="en-US" sz="4800" dirty="0">
              <a:latin typeface="+mn-ea"/>
              <a:ea typeface="+mn-ea"/>
            </a:endParaRPr>
          </a:p>
        </p:txBody>
      </p:sp>
    </p:spTree>
    <p:extLst>
      <p:ext uri="{BB962C8B-B14F-4D97-AF65-F5344CB8AC3E}">
        <p14:creationId xmlns:p14="http://schemas.microsoft.com/office/powerpoint/2010/main" val="2372898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BA09C680-3B03-0007-2E08-39FE4CA699AF}"/>
              </a:ext>
            </a:extLst>
          </p:cNvPr>
          <p:cNvGraphicFramePr>
            <a:graphicFrameLocks noGrp="1"/>
          </p:cNvGraphicFramePr>
          <p:nvPr>
            <p:extLst>
              <p:ext uri="{D42A27DB-BD31-4B8C-83A1-F6EECF244321}">
                <p14:modId xmlns:p14="http://schemas.microsoft.com/office/powerpoint/2010/main" val="1734985214"/>
              </p:ext>
            </p:extLst>
          </p:nvPr>
        </p:nvGraphicFramePr>
        <p:xfrm>
          <a:off x="888647" y="1705704"/>
          <a:ext cx="8028000" cy="3644162"/>
        </p:xfrm>
        <a:graphic>
          <a:graphicData uri="http://schemas.openxmlformats.org/drawingml/2006/table">
            <a:tbl>
              <a:tblPr firstRow="1" bandRow="1">
                <a:tableStyleId>{616DA210-FB5B-4158-B5E0-FEB733F419BA}</a:tableStyleId>
              </a:tblPr>
              <a:tblGrid>
                <a:gridCol w="614550">
                  <a:extLst>
                    <a:ext uri="{9D8B030D-6E8A-4147-A177-3AD203B41FA5}">
                      <a16:colId xmlns:a16="http://schemas.microsoft.com/office/drawing/2014/main" val="1889472123"/>
                    </a:ext>
                  </a:extLst>
                </a:gridCol>
                <a:gridCol w="1482690">
                  <a:extLst>
                    <a:ext uri="{9D8B030D-6E8A-4147-A177-3AD203B41FA5}">
                      <a16:colId xmlns:a16="http://schemas.microsoft.com/office/drawing/2014/main" val="980164369"/>
                    </a:ext>
                  </a:extLst>
                </a:gridCol>
                <a:gridCol w="1482690">
                  <a:extLst>
                    <a:ext uri="{9D8B030D-6E8A-4147-A177-3AD203B41FA5}">
                      <a16:colId xmlns:a16="http://schemas.microsoft.com/office/drawing/2014/main" val="4100679345"/>
                    </a:ext>
                  </a:extLst>
                </a:gridCol>
                <a:gridCol w="1482690">
                  <a:extLst>
                    <a:ext uri="{9D8B030D-6E8A-4147-A177-3AD203B41FA5}">
                      <a16:colId xmlns:a16="http://schemas.microsoft.com/office/drawing/2014/main" val="391346200"/>
                    </a:ext>
                  </a:extLst>
                </a:gridCol>
                <a:gridCol w="1482690">
                  <a:extLst>
                    <a:ext uri="{9D8B030D-6E8A-4147-A177-3AD203B41FA5}">
                      <a16:colId xmlns:a16="http://schemas.microsoft.com/office/drawing/2014/main" val="1997047567"/>
                    </a:ext>
                  </a:extLst>
                </a:gridCol>
                <a:gridCol w="1482690">
                  <a:extLst>
                    <a:ext uri="{9D8B030D-6E8A-4147-A177-3AD203B41FA5}">
                      <a16:colId xmlns:a16="http://schemas.microsoft.com/office/drawing/2014/main" val="365566380"/>
                    </a:ext>
                  </a:extLst>
                </a:gridCol>
              </a:tblGrid>
              <a:tr h="993325">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4800" b="1" dirty="0">
                          <a:solidFill>
                            <a:schemeClr val="tx1"/>
                          </a:solidFill>
                          <a:latin typeface="メイリオ"/>
                          <a:ea typeface="メイリオ"/>
                          <a:cs typeface="メイリオ"/>
                        </a:rPr>
                        <a:t>A</a:t>
                      </a:r>
                      <a:endParaRPr kumimoji="1" lang="ja-JP" altLang="en-US" sz="4800" b="1" dirty="0">
                        <a:solidFill>
                          <a:schemeClr val="tx1"/>
                        </a:solidFill>
                        <a:latin typeface="+mn-ea"/>
                        <a:ea typeface="+mn-ea"/>
                      </a:endParaRPr>
                    </a:p>
                  </a:txBody>
                  <a:tcPr marL="121920" marR="121920" marT="60960" marB="6096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4800" b="1" dirty="0">
                          <a:solidFill>
                            <a:schemeClr val="tx1"/>
                          </a:solidFill>
                          <a:latin typeface="メイリオ"/>
                          <a:ea typeface="メイリオ"/>
                          <a:cs typeface="メイリオ"/>
                        </a:rPr>
                        <a:t>30.3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4800" b="1" dirty="0">
                          <a:solidFill>
                            <a:schemeClr val="tx1"/>
                          </a:solidFill>
                          <a:latin typeface="メイリオ"/>
                          <a:ea typeface="メイリオ"/>
                          <a:cs typeface="メイリオ"/>
                        </a:rPr>
                        <a:t>22.5</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33.8</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11.3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2.1</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492385"/>
                  </a:ext>
                </a:extLst>
              </a:tr>
              <a:tr h="337143">
                <a:tc>
                  <a:txBody>
                    <a:bodyPr/>
                    <a:lstStyle/>
                    <a:p>
                      <a:pPr algn="ctr"/>
                      <a:endParaRPr kumimoji="1" lang="ja-JP" altLang="en-US" sz="14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gridSpan="5">
                  <a:txBody>
                    <a:bodyPr/>
                    <a:lstStyle/>
                    <a:p>
                      <a:pPr algn="ctr"/>
                      <a:endParaRPr kumimoji="1" lang="ja-JP" altLang="en-US" sz="14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67334502"/>
                  </a:ext>
                </a:extLst>
              </a:tr>
              <a:tr h="938384">
                <a:tc>
                  <a:txBody>
                    <a:bodyPr/>
                    <a:lstStyle/>
                    <a:p>
                      <a:pPr algn="ctr"/>
                      <a:r>
                        <a:rPr kumimoji="1" lang="en-US" altLang="ja-JP" sz="4800" b="1" dirty="0">
                          <a:solidFill>
                            <a:schemeClr val="tx1"/>
                          </a:solidFill>
                          <a:latin typeface="メイリオ"/>
                          <a:ea typeface="メイリオ"/>
                          <a:cs typeface="メイリオ"/>
                        </a:rPr>
                        <a:t>B</a:t>
                      </a:r>
                      <a:endParaRPr kumimoji="1" lang="ja-JP" altLang="en-US" sz="4800" b="1" dirty="0">
                        <a:solidFill>
                          <a:schemeClr val="tx1"/>
                        </a:solidFill>
                        <a:latin typeface="+mn-ea"/>
                        <a:ea typeface="+mn-ea"/>
                      </a:endParaRPr>
                    </a:p>
                  </a:txBody>
                  <a:tcPr marL="121920" marR="121920" marT="60960" marB="6096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2.1</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10.7</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61.4</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24.3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1.4</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1790109"/>
                  </a:ext>
                </a:extLst>
              </a:tr>
              <a:tr h="396175">
                <a:tc>
                  <a:txBody>
                    <a:bodyPr/>
                    <a:lstStyle/>
                    <a:p>
                      <a:pPr algn="ctr"/>
                      <a:endParaRPr kumimoji="1" lang="ja-JP" altLang="en-US" sz="16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gridSpan="5">
                  <a:txBody>
                    <a:bodyPr/>
                    <a:lstStyle/>
                    <a:p>
                      <a:pPr algn="ctr"/>
                      <a:endParaRPr kumimoji="1" lang="ja-JP" altLang="en-US" sz="16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497351"/>
                  </a:ext>
                </a:extLst>
              </a:tr>
              <a:tr h="979135">
                <a:tc>
                  <a:txBody>
                    <a:bodyPr/>
                    <a:lstStyle/>
                    <a:p>
                      <a:pPr algn="ctr"/>
                      <a:r>
                        <a:rPr kumimoji="1" lang="en-US" altLang="ja-JP" sz="4800" b="1" dirty="0">
                          <a:solidFill>
                            <a:schemeClr val="tx1"/>
                          </a:solidFill>
                          <a:latin typeface="メイリオ"/>
                          <a:ea typeface="メイリオ"/>
                          <a:cs typeface="メイリオ"/>
                        </a:rPr>
                        <a:t>C</a:t>
                      </a:r>
                      <a:endParaRPr kumimoji="1" lang="ja-JP" altLang="en-US" sz="4800" b="1" dirty="0">
                        <a:solidFill>
                          <a:schemeClr val="tx1"/>
                        </a:solidFill>
                        <a:latin typeface="+mn-ea"/>
                        <a:ea typeface="+mn-ea"/>
                      </a:endParaRPr>
                    </a:p>
                  </a:txBody>
                  <a:tcPr marL="121920" marR="121920" marT="60960" marB="6096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6.8</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16.9</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49.3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20.3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6.8</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9285134"/>
                  </a:ext>
                </a:extLst>
              </a:tr>
            </a:tbl>
          </a:graphicData>
        </a:graphic>
      </p:graphicFrame>
      <p:sp>
        <p:nvSpPr>
          <p:cNvPr id="7" name="テキスト ボックス 6">
            <a:extLst>
              <a:ext uri="{FF2B5EF4-FFF2-40B4-BE49-F238E27FC236}">
                <a16:creationId xmlns:a16="http://schemas.microsoft.com/office/drawing/2014/main" id="{1457E505-E119-BE45-5410-F918BEED9C03}"/>
              </a:ext>
            </a:extLst>
          </p:cNvPr>
          <p:cNvSpPr txBox="1"/>
          <p:nvPr/>
        </p:nvSpPr>
        <p:spPr>
          <a:xfrm>
            <a:off x="729342" y="753551"/>
            <a:ext cx="8479971" cy="646331"/>
          </a:xfrm>
          <a:prstGeom prst="rect">
            <a:avLst/>
          </a:prstGeom>
          <a:noFill/>
        </p:spPr>
        <p:txBody>
          <a:bodyPr wrap="square">
            <a:spAutoFit/>
          </a:bodyPr>
          <a:lstStyle/>
          <a:p>
            <a:r>
              <a:rPr kumimoji="1" lang="ja-JP" altLang="en-US" sz="3600" dirty="0">
                <a:ea typeface="メイリオ" panose="02020700000000000000" pitchFamily="18" charset="-128"/>
                <a:latin typeface="メイリオ"/>
                <a:cs typeface="メイリオ"/>
              </a:rPr>
              <a:t>この数字は何を表しているでしょう？</a:t>
            </a:r>
            <a:endParaRPr kumimoji="1" lang="en-US" altLang="ja-JP" sz="3600" dirty="0">
              <a:ea typeface="UD デジタル 教科書体 NK-B" panose="02020700000000000000" pitchFamily="18" charset="-128"/>
            </a:endParaRPr>
          </a:p>
        </p:txBody>
      </p:sp>
      <p:sp>
        <p:nvSpPr>
          <p:cNvPr id="2" name="吹き出し: 角を丸めた四角形 1">
            <a:extLst>
              <a:ext uri="{FF2B5EF4-FFF2-40B4-BE49-F238E27FC236}">
                <a16:creationId xmlns:a16="http://schemas.microsoft.com/office/drawing/2014/main" id="{B7401CBC-689C-4789-A857-9ED62D80194E}"/>
              </a:ext>
            </a:extLst>
          </p:cNvPr>
          <p:cNvSpPr/>
          <p:nvPr/>
        </p:nvSpPr>
        <p:spPr>
          <a:xfrm>
            <a:off x="9355493" y="3230133"/>
            <a:ext cx="2644140" cy="1295977"/>
          </a:xfrm>
          <a:prstGeom prst="wedgeRoundRectCallout">
            <a:avLst>
              <a:gd name="adj1" fmla="val -71331"/>
              <a:gd name="adj2" fmla="val -266"/>
              <a:gd name="adj3" fmla="val 16667"/>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ja-JP" altLang="en-US" sz="2400" b="1" dirty="0">
                <a:latin typeface="メイリオ"/>
                <a:ea typeface="メイリオ"/>
                <a:cs typeface="メイリオ"/>
              </a:rPr>
              <a:t>区内中学校３校の社会科の評定</a:t>
            </a:r>
          </a:p>
        </p:txBody>
      </p:sp>
      <p:sp>
        <p:nvSpPr>
          <p:cNvPr id="9" name="Rectangle 1">
            <a:extLst>
              <a:ext uri="{FF2B5EF4-FFF2-40B4-BE49-F238E27FC236}">
                <a16:creationId xmlns:a16="http://schemas.microsoft.com/office/drawing/2014/main" id="{4E17680C-0071-4B80-EB24-A6EAE0625A20}"/>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０　はじめに</a:t>
            </a:r>
            <a:endParaRPr lang="en-US" altLang="ja-JP" sz="2800" b="1" dirty="0"/>
          </a:p>
        </p:txBody>
      </p:sp>
    </p:spTree>
    <p:extLst>
      <p:ext uri="{BB962C8B-B14F-4D97-AF65-F5344CB8AC3E}">
        <p14:creationId xmlns:p14="http://schemas.microsoft.com/office/powerpoint/2010/main" val="3888532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何ができるようになるか ─ 資質・能力の3つの柱</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85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①</a:t>
            </a:r>
          </a:p>
        </p:txBody>
      </p:sp>
      <p:sp>
        <p:nvSpPr>
          <p:cNvPr id="7" name="Rectangle 6"/>
          <p:cNvSpPr/>
          <p:nvPr/>
        </p:nvSpPr>
        <p:spPr>
          <a:xfrm>
            <a:off x="1400000" y="185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知識・技能</a:t>
            </a:r>
          </a:p>
          <a:p>
            <a:pPr algn="l">
              <a:lnSpc>
                <a:spcPct val="120000"/>
              </a:lnSpc>
            </a:pPr>
            <a:r>
              <a:rPr sz="2000" b="1">
                <a:solidFill>
                  <a:srgbClr val="1F3A6E"/>
                </a:solidFill>
                <a:latin typeface="メイリオ"/>
                <a:ea typeface="メイリオ"/>
                <a:cs typeface="メイリオ"/>
              </a:rPr>
              <a:t>何を理解しているか、何ができるか</a:t>
            </a:r>
          </a:p>
        </p:txBody>
      </p:sp>
      <p:sp>
        <p:nvSpPr>
          <p:cNvPr id="8" name="Rectangle 7"/>
          <p:cNvSpPr/>
          <p:nvPr/>
        </p:nvSpPr>
        <p:spPr>
          <a:xfrm>
            <a:off x="400000" y="323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②</a:t>
            </a:r>
          </a:p>
        </p:txBody>
      </p:sp>
      <p:sp>
        <p:nvSpPr>
          <p:cNvPr id="9" name="Rectangle 8"/>
          <p:cNvSpPr/>
          <p:nvPr/>
        </p:nvSpPr>
        <p:spPr>
          <a:xfrm>
            <a:off x="1400000" y="323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思考力・判断力・表現力等</a:t>
            </a:r>
          </a:p>
          <a:p>
            <a:pPr algn="l">
              <a:lnSpc>
                <a:spcPct val="120000"/>
              </a:lnSpc>
            </a:pPr>
            <a:r>
              <a:rPr sz="2000" b="1">
                <a:solidFill>
                  <a:srgbClr val="1F3A6E"/>
                </a:solidFill>
                <a:latin typeface="メイリオ"/>
                <a:ea typeface="メイリオ"/>
                <a:cs typeface="メイリオ"/>
              </a:rPr>
              <a:t>理解していること・できることをどう使うか</a:t>
            </a:r>
          </a:p>
        </p:txBody>
      </p:sp>
      <p:sp>
        <p:nvSpPr>
          <p:cNvPr id="10" name="Rectangle 9"/>
          <p:cNvSpPr/>
          <p:nvPr/>
        </p:nvSpPr>
        <p:spPr>
          <a:xfrm>
            <a:off x="400000" y="461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③</a:t>
            </a:r>
          </a:p>
        </p:txBody>
      </p:sp>
      <p:sp>
        <p:nvSpPr>
          <p:cNvPr id="11" name="Rectangle 10"/>
          <p:cNvSpPr/>
          <p:nvPr/>
        </p:nvSpPr>
        <p:spPr>
          <a:xfrm>
            <a:off x="1400000" y="461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学びに向かう力・人間性等</a:t>
            </a:r>
          </a:p>
          <a:p>
            <a:pPr algn="l">
              <a:lnSpc>
                <a:spcPct val="120000"/>
              </a:lnSpc>
            </a:pPr>
            <a:r>
              <a:rPr sz="2000" b="1">
                <a:solidFill>
                  <a:srgbClr val="1F3A6E"/>
                </a:solidFill>
                <a:latin typeface="メイリオ"/>
                <a:ea typeface="メイリオ"/>
                <a:cs typeface="メイリオ"/>
              </a:rPr>
              <a:t>どのように社会・世界と関わり、よりよい人生を送るか</a:t>
            </a:r>
          </a:p>
        </p:txBody>
      </p:sp>
      <p:sp>
        <p:nvSpPr>
          <p:cNvPr id="12" name="TextBox 11"/>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出典：中学校学習指導要領 解説　総則編／文部科学省</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どのように学ぶか ─ 主体的・対話的で深い学び</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5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lnSpcReduction="10000"/>
          </a:bodyPr>
          <a:lstStyle/>
          <a:p>
            <a:pPr algn="ctr">
              <a:lnSpc>
                <a:spcPct val="140000"/>
              </a:lnSpc>
            </a:pPr>
            <a:r>
              <a:rPr sz="2800" b="1">
                <a:solidFill>
                  <a:srgbClr val="FFFFFF"/>
                </a:solidFill>
                <a:latin typeface="メイリオ"/>
                <a:ea typeface="メイリオ"/>
                <a:cs typeface="メイリオ"/>
              </a:rPr>
              <a:t>主体的な学び</a:t>
            </a:r>
          </a:p>
        </p:txBody>
      </p:sp>
      <p:sp>
        <p:nvSpPr>
          <p:cNvPr id="7" name="Rectangle 6"/>
          <p:cNvSpPr/>
          <p:nvPr/>
        </p:nvSpPr>
        <p:spPr>
          <a:xfrm>
            <a:off x="400000" y="2620000"/>
            <a:ext cx="3750000" cy="18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000" b="1">
                <a:solidFill>
                  <a:srgbClr val="1F3A6E"/>
                </a:solidFill>
                <a:latin typeface="メイリオ"/>
                <a:ea typeface="メイリオ"/>
                <a:cs typeface="メイリオ"/>
              </a:rPr>
              <a:t>見通しをもち、粘り強く取り組み、振り返る</a:t>
            </a:r>
          </a:p>
        </p:txBody>
      </p:sp>
      <p:sp>
        <p:nvSpPr>
          <p:cNvPr id="8" name="Rectangle 7"/>
          <p:cNvSpPr/>
          <p:nvPr/>
        </p:nvSpPr>
        <p:spPr>
          <a:xfrm>
            <a:off x="4230000" y="1900000"/>
            <a:ext cx="375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lnSpcReduction="10000"/>
          </a:bodyPr>
          <a:lstStyle/>
          <a:p>
            <a:pPr algn="ctr">
              <a:lnSpc>
                <a:spcPct val="140000"/>
              </a:lnSpc>
            </a:pPr>
            <a:r>
              <a:rPr sz="2800" b="1">
                <a:solidFill>
                  <a:srgbClr val="FFFFFF"/>
                </a:solidFill>
                <a:latin typeface="メイリオ"/>
                <a:ea typeface="メイリオ"/>
                <a:cs typeface="メイリオ"/>
              </a:rPr>
              <a:t>対話的な学び</a:t>
            </a:r>
          </a:p>
        </p:txBody>
      </p:sp>
      <p:sp>
        <p:nvSpPr>
          <p:cNvPr id="9" name="Rectangle 8"/>
          <p:cNvSpPr/>
          <p:nvPr/>
        </p:nvSpPr>
        <p:spPr>
          <a:xfrm>
            <a:off x="4230000" y="2620000"/>
            <a:ext cx="3750000" cy="18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000" b="1">
                <a:solidFill>
                  <a:srgbClr val="1F3A6E"/>
                </a:solidFill>
                <a:latin typeface="メイリオ"/>
                <a:ea typeface="メイリオ"/>
                <a:cs typeface="メイリオ"/>
              </a:rPr>
              <a:t>互いの考えを比べ、共に考えを創り上げる</a:t>
            </a:r>
          </a:p>
        </p:txBody>
      </p:sp>
      <p:sp>
        <p:nvSpPr>
          <p:cNvPr id="10" name="Rectangle 9"/>
          <p:cNvSpPr/>
          <p:nvPr/>
        </p:nvSpPr>
        <p:spPr>
          <a:xfrm>
            <a:off x="8060000" y="1900000"/>
            <a:ext cx="375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lnSpcReduction="10000"/>
          </a:bodyPr>
          <a:lstStyle/>
          <a:p>
            <a:pPr algn="ctr">
              <a:lnSpc>
                <a:spcPct val="140000"/>
              </a:lnSpc>
            </a:pPr>
            <a:r>
              <a:rPr sz="2800" b="1">
                <a:solidFill>
                  <a:srgbClr val="FFFFFF"/>
                </a:solidFill>
                <a:latin typeface="メイリオ"/>
                <a:ea typeface="メイリオ"/>
                <a:cs typeface="メイリオ"/>
              </a:rPr>
              <a:t>深い学び</a:t>
            </a:r>
          </a:p>
        </p:txBody>
      </p:sp>
      <p:sp>
        <p:nvSpPr>
          <p:cNvPr id="11" name="Rectangle 10"/>
          <p:cNvSpPr/>
          <p:nvPr/>
        </p:nvSpPr>
        <p:spPr>
          <a:xfrm>
            <a:off x="8060000" y="2620000"/>
            <a:ext cx="3750000" cy="18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000" b="1">
                <a:solidFill>
                  <a:srgbClr val="1F3A6E"/>
                </a:solidFill>
                <a:latin typeface="メイリオ"/>
                <a:ea typeface="メイリオ"/>
                <a:cs typeface="メイリオ"/>
              </a:rPr>
              <a:t>知識・技能を活用・概念化し、新たなものを創る</a:t>
            </a:r>
          </a:p>
        </p:txBody>
      </p:sp>
      <p:sp>
        <p:nvSpPr>
          <p:cNvPr id="12" name="Rectangle 11"/>
          <p:cNvSpPr/>
          <p:nvPr/>
        </p:nvSpPr>
        <p:spPr>
          <a:xfrm>
            <a:off x="400000" y="4600000"/>
            <a:ext cx="11400000" cy="16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200" b="1" dirty="0" err="1">
                <a:solidFill>
                  <a:srgbClr val="000000"/>
                </a:solidFill>
                <a:latin typeface="メイリオ"/>
                <a:ea typeface="メイリオ"/>
                <a:cs typeface="メイリオ"/>
              </a:rPr>
              <a:t>授業改善の視点</a:t>
            </a:r>
            <a:r>
              <a:rPr sz="2200" b="1" dirty="0">
                <a:solidFill>
                  <a:srgbClr val="000000"/>
                </a:solidFill>
                <a:latin typeface="メイリオ"/>
                <a:ea typeface="メイリオ"/>
                <a:cs typeface="メイリオ"/>
              </a:rPr>
              <a:t> → </a:t>
            </a:r>
            <a:r>
              <a:rPr lang="ja-JP" altLang="en-US" sz="2600" b="1" dirty="0">
                <a:solidFill>
                  <a:srgbClr val="EB6C15"/>
                </a:solidFill>
                <a:latin typeface="メイリオ"/>
                <a:ea typeface="メイリオ"/>
                <a:cs typeface="メイリオ"/>
              </a:rPr>
              <a:t>実現を目指す生徒の</a:t>
            </a:r>
            <a:r>
              <a:rPr sz="2600" b="1" dirty="0">
                <a:solidFill>
                  <a:srgbClr val="EB6C15"/>
                </a:solidFill>
                <a:latin typeface="メイリオ"/>
                <a:ea typeface="メイリオ"/>
                <a:cs typeface="メイリオ"/>
              </a:rPr>
              <a:t>「</a:t>
            </a:r>
            <a:r>
              <a:rPr sz="2600" b="1" dirty="0" err="1">
                <a:solidFill>
                  <a:srgbClr val="EB6C15"/>
                </a:solidFill>
                <a:latin typeface="メイリオ"/>
                <a:ea typeface="メイリオ"/>
                <a:cs typeface="メイリオ"/>
              </a:rPr>
              <a:t>学びの姿</a:t>
            </a:r>
            <a:r>
              <a:rPr sz="2600" b="1" dirty="0">
                <a:solidFill>
                  <a:srgbClr val="EB6C15"/>
                </a:solidFill>
                <a:latin typeface="メイリオ"/>
                <a:ea typeface="メイリオ"/>
                <a:cs typeface="メイリオ"/>
              </a:rPr>
              <a:t>」</a:t>
            </a:r>
          </a:p>
          <a:p>
            <a:pPr algn="l">
              <a:lnSpc>
                <a:spcPct val="140000"/>
              </a:lnSpc>
            </a:pPr>
            <a:r>
              <a:rPr sz="2200" b="1" dirty="0">
                <a:solidFill>
                  <a:srgbClr val="000000"/>
                </a:solidFill>
                <a:latin typeface="メイリオ"/>
                <a:ea typeface="メイリオ"/>
                <a:cs typeface="メイリオ"/>
              </a:rPr>
              <a:t>　 が </a:t>
            </a:r>
            <a:r>
              <a:rPr sz="2600" b="1" dirty="0" err="1">
                <a:solidFill>
                  <a:srgbClr val="EB6C15"/>
                </a:solidFill>
                <a:latin typeface="メイリオ"/>
                <a:ea typeface="メイリオ"/>
                <a:cs typeface="メイリオ"/>
              </a:rPr>
              <a:t>評価の対象</a:t>
            </a:r>
            <a:r>
              <a:rPr sz="2200" b="1" dirty="0" err="1">
                <a:solidFill>
                  <a:srgbClr val="000000"/>
                </a:solidFill>
                <a:latin typeface="メイリオ"/>
                <a:ea typeface="メイリオ"/>
                <a:cs typeface="メイリオ"/>
              </a:rPr>
              <a:t>（特に「主体的に取り組む態度</a:t>
            </a:r>
            <a:r>
              <a:rPr sz="2200" b="1" dirty="0">
                <a:solidFill>
                  <a:srgbClr val="000000"/>
                </a:solidFill>
                <a:latin typeface="メイリオ"/>
                <a:ea typeface="メイリオ"/>
                <a:cs typeface="メイリオ"/>
              </a:rPr>
              <a:t>」）</a:t>
            </a: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総則編／文部科学省</a:t>
            </a:r>
            <a:endParaRPr sz="1300" dirty="0">
              <a:solidFill>
                <a:srgbClr val="404040"/>
              </a:solidFill>
              <a:latin typeface="メイリオ"/>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「主体的な学び」のイメージ</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興味や関心
を高める</a:t>
            </a:r>
          </a:p>
        </p:txBody>
      </p:sp>
      <p:sp>
        <p:nvSpPr>
          <p:cNvPr id="7" name="Rectangle 6"/>
          <p:cNvSpPr/>
          <p:nvPr/>
        </p:nvSpPr>
        <p:spPr>
          <a:xfrm>
            <a:off x="425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見通しを
もつ</a:t>
            </a:r>
          </a:p>
        </p:txBody>
      </p:sp>
      <p:sp>
        <p:nvSpPr>
          <p:cNvPr id="8" name="Rectangle 7"/>
          <p:cNvSpPr/>
          <p:nvPr/>
        </p:nvSpPr>
        <p:spPr>
          <a:xfrm>
            <a:off x="81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粘り強く
取り組む</a:t>
            </a:r>
          </a:p>
        </p:txBody>
      </p:sp>
      <p:sp>
        <p:nvSpPr>
          <p:cNvPr id="9" name="Rectangle 8"/>
          <p:cNvSpPr/>
          <p:nvPr/>
        </p:nvSpPr>
        <p:spPr>
          <a:xfrm>
            <a:off x="4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自分と結び
付ける</a:t>
            </a:r>
          </a:p>
        </p:txBody>
      </p:sp>
      <p:sp>
        <p:nvSpPr>
          <p:cNvPr id="10" name="Rectangle 9"/>
          <p:cNvSpPr/>
          <p:nvPr/>
        </p:nvSpPr>
        <p:spPr>
          <a:xfrm>
            <a:off x="425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振り返って
次へつなげる</a:t>
            </a:r>
          </a:p>
        </p:txBody>
      </p:sp>
      <p:sp>
        <p:nvSpPr>
          <p:cNvPr id="11" name="Rectangle 10"/>
          <p:cNvSpPr/>
          <p:nvPr/>
        </p:nvSpPr>
        <p:spPr>
          <a:xfrm>
            <a:off x="81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学び続ける
意志</a:t>
            </a:r>
          </a:p>
        </p:txBody>
      </p:sp>
      <p:sp>
        <p:nvSpPr>
          <p:cNvPr id="12" name="Rectangle 11"/>
          <p:cNvSpPr/>
          <p:nvPr/>
        </p:nvSpPr>
        <p:spPr>
          <a:xfrm>
            <a:off x="400000" y="5300000"/>
            <a:ext cx="11400000" cy="9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200" b="1">
                <a:solidFill>
                  <a:srgbClr val="000000"/>
                </a:solidFill>
                <a:latin typeface="メイリオ"/>
                <a:ea typeface="メイリオ"/>
                <a:cs typeface="メイリオ"/>
              </a:rPr>
              <a:t>これらが </a:t>
            </a:r>
            <a:r>
              <a:rPr sz="2400" b="1">
                <a:solidFill>
                  <a:srgbClr val="EB6C15"/>
                </a:solidFill>
                <a:latin typeface="メイリオ"/>
                <a:ea typeface="メイリオ"/>
                <a:cs typeface="メイリオ"/>
              </a:rPr>
              <a:t>単元の中で実際に見えるか</a:t>
            </a:r>
            <a:r>
              <a:rPr sz="2200" b="1">
                <a:solidFill>
                  <a:srgbClr val="000000"/>
                </a:solidFill>
                <a:latin typeface="メイリオ"/>
                <a:ea typeface="メイリオ"/>
                <a:cs typeface="メイリオ"/>
              </a:rPr>
              <a:t>を観る</a:t>
            </a: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出典：中学校学習指導要領 解説　総則編／文部科学省</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「対話的な学び」のイメージ</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互いの考え
を比べる</a:t>
            </a:r>
          </a:p>
        </p:txBody>
      </p:sp>
      <p:sp>
        <p:nvSpPr>
          <p:cNvPr id="7" name="Rectangle 6"/>
          <p:cNvSpPr/>
          <p:nvPr/>
        </p:nvSpPr>
        <p:spPr>
          <a:xfrm>
            <a:off x="425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多様な手段
で説明する</a:t>
            </a:r>
          </a:p>
        </p:txBody>
      </p:sp>
      <p:sp>
        <p:nvSpPr>
          <p:cNvPr id="8" name="Rectangle 7"/>
          <p:cNvSpPr/>
          <p:nvPr/>
        </p:nvSpPr>
        <p:spPr>
          <a:xfrm>
            <a:off x="81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共に考えを
創り上げる</a:t>
            </a:r>
          </a:p>
        </p:txBody>
      </p:sp>
      <p:sp>
        <p:nvSpPr>
          <p:cNvPr id="9" name="Rectangle 8"/>
          <p:cNvSpPr/>
          <p:nvPr/>
        </p:nvSpPr>
        <p:spPr>
          <a:xfrm>
            <a:off x="4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多様な情報
を収集する</a:t>
            </a:r>
          </a:p>
        </p:txBody>
      </p:sp>
      <p:sp>
        <p:nvSpPr>
          <p:cNvPr id="10" name="Rectangle 9"/>
          <p:cNvSpPr/>
          <p:nvPr/>
        </p:nvSpPr>
        <p:spPr>
          <a:xfrm>
            <a:off x="425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協働して
課題を解決</a:t>
            </a:r>
          </a:p>
        </p:txBody>
      </p:sp>
      <p:sp>
        <p:nvSpPr>
          <p:cNvPr id="11" name="Rectangle 10"/>
          <p:cNvSpPr/>
          <p:nvPr/>
        </p:nvSpPr>
        <p:spPr>
          <a:xfrm>
            <a:off x="81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先哲の考え
を手掛かりに</a:t>
            </a:r>
          </a:p>
        </p:txBody>
      </p:sp>
      <p:sp>
        <p:nvSpPr>
          <p:cNvPr id="12" name="Rectangle 11"/>
          <p:cNvSpPr/>
          <p:nvPr/>
        </p:nvSpPr>
        <p:spPr>
          <a:xfrm>
            <a:off x="400000" y="5300000"/>
            <a:ext cx="11400000" cy="9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a:solidFill>
                  <a:srgbClr val="000000"/>
                </a:solidFill>
                <a:latin typeface="メイリオ"/>
                <a:ea typeface="メイリオ"/>
                <a:cs typeface="メイリオ"/>
              </a:rPr>
              <a:t>Input ⇄ Output の往復で </a:t>
            </a:r>
            <a:r>
              <a:rPr sz="2400" b="1">
                <a:solidFill>
                  <a:srgbClr val="EB6C15"/>
                </a:solidFill>
                <a:latin typeface="メイリオ"/>
                <a:ea typeface="メイリオ"/>
                <a:cs typeface="メイリオ"/>
              </a:rPr>
              <a:t>自分の考えを更新する姿</a:t>
            </a:r>
            <a:r>
              <a:rPr sz="2200" b="1">
                <a:solidFill>
                  <a:srgbClr val="000000"/>
                </a:solidFill>
                <a:latin typeface="メイリオ"/>
                <a:ea typeface="メイリオ"/>
                <a:cs typeface="メイリオ"/>
              </a:rPr>
              <a:t>を観る</a:t>
            </a: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総則編／文部科学省</a:t>
            </a:r>
            <a:endParaRPr sz="1300" dirty="0">
              <a:solidFill>
                <a:srgbClr val="404040"/>
              </a:solidFill>
              <a:latin typeface="メイリオ"/>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「深い学び」のイメージ</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知識・技能を
習得する</a:t>
            </a:r>
          </a:p>
        </p:txBody>
      </p:sp>
      <p:sp>
        <p:nvSpPr>
          <p:cNvPr id="7" name="Rectangle 6"/>
          <p:cNvSpPr/>
          <p:nvPr/>
        </p:nvSpPr>
        <p:spPr>
          <a:xfrm>
            <a:off x="425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知識・技能を
活用する</a:t>
            </a:r>
          </a:p>
        </p:txBody>
      </p:sp>
      <p:sp>
        <p:nvSpPr>
          <p:cNvPr id="8" name="Rectangle 7"/>
          <p:cNvSpPr/>
          <p:nvPr/>
        </p:nvSpPr>
        <p:spPr>
          <a:xfrm>
            <a:off x="81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知識・技能を
概念化する</a:t>
            </a:r>
          </a:p>
        </p:txBody>
      </p:sp>
      <p:sp>
        <p:nvSpPr>
          <p:cNvPr id="9" name="Rectangle 8"/>
          <p:cNvSpPr/>
          <p:nvPr/>
        </p:nvSpPr>
        <p:spPr>
          <a:xfrm>
            <a:off x="4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自分の考えを
形成する</a:t>
            </a:r>
          </a:p>
        </p:txBody>
      </p:sp>
      <p:sp>
        <p:nvSpPr>
          <p:cNvPr id="10" name="Rectangle 9"/>
          <p:cNvSpPr/>
          <p:nvPr/>
        </p:nvSpPr>
        <p:spPr>
          <a:xfrm>
            <a:off x="425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思考して
問い続ける</a:t>
            </a:r>
          </a:p>
        </p:txBody>
      </p:sp>
      <p:sp>
        <p:nvSpPr>
          <p:cNvPr id="11" name="Rectangle 10"/>
          <p:cNvSpPr/>
          <p:nvPr/>
        </p:nvSpPr>
        <p:spPr>
          <a:xfrm>
            <a:off x="81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新たなものを
創り上げる</a:t>
            </a:r>
          </a:p>
        </p:txBody>
      </p:sp>
      <p:sp>
        <p:nvSpPr>
          <p:cNvPr id="12" name="Rectangle 11"/>
          <p:cNvSpPr/>
          <p:nvPr/>
        </p:nvSpPr>
        <p:spPr>
          <a:xfrm>
            <a:off x="400000" y="5300000"/>
            <a:ext cx="11400000" cy="9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dirty="0">
                <a:solidFill>
                  <a:srgbClr val="000000"/>
                </a:solidFill>
                <a:latin typeface="メイリオ"/>
                <a:ea typeface="メイリオ"/>
                <a:cs typeface="メイリオ"/>
              </a:rPr>
              <a:t>「</a:t>
            </a:r>
            <a:r>
              <a:rPr sz="2200" b="1" dirty="0" err="1">
                <a:solidFill>
                  <a:srgbClr val="000000"/>
                </a:solidFill>
                <a:latin typeface="メイリオ"/>
                <a:ea typeface="メイリオ"/>
                <a:cs typeface="メイリオ"/>
              </a:rPr>
              <a:t>分かった」を超えて</a:t>
            </a:r>
            <a:r>
              <a:rPr sz="2200" b="1" dirty="0">
                <a:solidFill>
                  <a:srgbClr val="000000"/>
                </a:solidFill>
                <a:latin typeface="メイリオ"/>
                <a:ea typeface="メイリオ"/>
                <a:cs typeface="メイリオ"/>
              </a:rPr>
              <a:t> </a:t>
            </a:r>
            <a:r>
              <a:rPr sz="2400" b="1" dirty="0">
                <a:solidFill>
                  <a:srgbClr val="EB6C15"/>
                </a:solidFill>
                <a:latin typeface="メイリオ"/>
                <a:ea typeface="メイリオ"/>
                <a:cs typeface="メイリオ"/>
              </a:rPr>
              <a:t>「</a:t>
            </a:r>
            <a:r>
              <a:rPr sz="2400" b="1" dirty="0" err="1">
                <a:solidFill>
                  <a:srgbClr val="EB6C15"/>
                </a:solidFill>
                <a:latin typeface="メイリオ"/>
                <a:ea typeface="メイリオ"/>
                <a:cs typeface="メイリオ"/>
              </a:rPr>
              <a:t>使える・問い続ける」姿</a:t>
            </a:r>
            <a:r>
              <a:rPr sz="2200" b="1" dirty="0" err="1">
                <a:solidFill>
                  <a:srgbClr val="000000"/>
                </a:solidFill>
                <a:latin typeface="メイリオ"/>
                <a:ea typeface="メイリオ"/>
                <a:cs typeface="メイリオ"/>
              </a:rPr>
              <a:t>を観る</a:t>
            </a:r>
            <a:endParaRPr sz="2200" b="1" dirty="0">
              <a:solidFill>
                <a:srgbClr val="000000"/>
              </a:solidFill>
              <a:latin typeface="メイリオ"/>
            </a:endParaRP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総則編／文部科学省</a:t>
            </a:r>
            <a:endParaRPr sz="1300" dirty="0">
              <a:solidFill>
                <a:srgbClr val="404040"/>
              </a:solidFill>
              <a:latin typeface="メイリオ"/>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授業改善 と 評価 は一体</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11400000" cy="9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600" b="1" dirty="0">
                <a:solidFill>
                  <a:srgbClr val="1F3A6E"/>
                </a:solidFill>
                <a:latin typeface="メイリオ"/>
                <a:ea typeface="メイリオ"/>
                <a:cs typeface="メイリオ"/>
              </a:rPr>
              <a:t>「</a:t>
            </a:r>
            <a:r>
              <a:rPr sz="2600" b="1" dirty="0" err="1">
                <a:solidFill>
                  <a:srgbClr val="1F3A6E"/>
                </a:solidFill>
                <a:latin typeface="メイリオ"/>
                <a:ea typeface="メイリオ"/>
                <a:cs typeface="メイリオ"/>
              </a:rPr>
              <a:t>主体的・対話的で深い学び」の視点で授業を改善する</a:t>
            </a:r>
            <a:endParaRPr sz="2600" b="1" dirty="0">
              <a:solidFill>
                <a:srgbClr val="1F3A6E"/>
              </a:solidFill>
              <a:latin typeface="メイリオ"/>
            </a:endParaRPr>
          </a:p>
        </p:txBody>
      </p:sp>
      <p:sp>
        <p:nvSpPr>
          <p:cNvPr id="7" name="Down Arrow 6"/>
          <p:cNvSpPr/>
          <p:nvPr/>
        </p:nvSpPr>
        <p:spPr>
          <a:xfrm>
            <a:off x="5596000" y="2900000"/>
            <a:ext cx="1000000" cy="500000"/>
          </a:xfrm>
          <a:prstGeom prst="down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00000" y="3500000"/>
            <a:ext cx="11400000" cy="9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600" b="1">
                <a:solidFill>
                  <a:srgbClr val="1F3A6E"/>
                </a:solidFill>
                <a:latin typeface="メイリオ"/>
                <a:ea typeface="メイリオ"/>
                <a:cs typeface="メイリオ"/>
              </a:rPr>
              <a:t>授業で「目指す生徒の姿」を、教師が事前に描く</a:t>
            </a:r>
          </a:p>
        </p:txBody>
      </p:sp>
      <p:sp>
        <p:nvSpPr>
          <p:cNvPr id="9" name="Down Arrow 8"/>
          <p:cNvSpPr/>
          <p:nvPr/>
        </p:nvSpPr>
        <p:spPr>
          <a:xfrm>
            <a:off x="5596000" y="4500000"/>
            <a:ext cx="1000000" cy="500000"/>
          </a:xfrm>
          <a:prstGeom prst="down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00000" y="5100000"/>
            <a:ext cx="11400000" cy="1100000"/>
          </a:xfrm>
          <a:prstGeom prst="rect">
            <a:avLst/>
          </a:prstGeom>
          <a:solidFill>
            <a:srgbClr val="FFFFFF"/>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400" b="1" dirty="0" err="1">
                <a:solidFill>
                  <a:srgbClr val="000000"/>
                </a:solidFill>
                <a:latin typeface="メイリオ"/>
                <a:ea typeface="メイリオ"/>
                <a:cs typeface="メイリオ"/>
              </a:rPr>
              <a:t>その「目指す姿」が</a:t>
            </a:r>
            <a:r>
              <a:rPr sz="2400" b="1" dirty="0">
                <a:solidFill>
                  <a:srgbClr val="000000"/>
                </a:solidFill>
                <a:latin typeface="メイリオ"/>
                <a:ea typeface="メイリオ"/>
                <a:cs typeface="メイリオ"/>
              </a:rPr>
              <a:t> </a:t>
            </a:r>
            <a:r>
              <a:rPr sz="2600" b="1" dirty="0" err="1">
                <a:solidFill>
                  <a:srgbClr val="EB6C15"/>
                </a:solidFill>
                <a:latin typeface="メイリオ"/>
                <a:ea typeface="メイリオ"/>
                <a:cs typeface="メイリオ"/>
              </a:rPr>
              <a:t>評価規準（Bと判断する姿</a:t>
            </a:r>
            <a:r>
              <a:rPr sz="2600" b="1" dirty="0">
                <a:solidFill>
                  <a:srgbClr val="EB6C15"/>
                </a:solidFill>
                <a:latin typeface="メイリオ"/>
                <a:ea typeface="メイリオ"/>
                <a:cs typeface="メイリオ"/>
              </a:rPr>
              <a:t>）</a:t>
            </a:r>
            <a:r>
              <a:rPr sz="2400" b="1" dirty="0">
                <a:solidFill>
                  <a:srgbClr val="000000"/>
                </a:solidFill>
                <a:latin typeface="メイリオ"/>
                <a:ea typeface="メイリオ"/>
                <a:cs typeface="メイリオ"/>
              </a:rPr>
              <a:t> </a:t>
            </a:r>
            <a:r>
              <a:rPr sz="2400" b="1" dirty="0" err="1">
                <a:solidFill>
                  <a:srgbClr val="000000"/>
                </a:solidFill>
                <a:latin typeface="メイリオ"/>
                <a:ea typeface="メイリオ"/>
                <a:cs typeface="メイリオ"/>
              </a:rPr>
              <a:t>になる</a:t>
            </a:r>
            <a:endParaRPr sz="2400" b="1" dirty="0">
              <a:solidFill>
                <a:srgbClr val="000000"/>
              </a:solidFill>
              <a:latin typeface="メイリオ"/>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427843" y="2661217"/>
            <a:ext cx="9428844" cy="1417299"/>
          </a:xfrm>
        </p:spPr>
        <p:txBody>
          <a:bodyPr>
            <a:noAutofit/>
          </a:bodyPr>
          <a:lstStyle/>
          <a:p>
            <a:r>
              <a:rPr lang="ja-JP" altLang="en-US" sz="4000" b="1" dirty="0">
                <a:latin typeface="メイリオ"/>
                <a:ea typeface="メイリオ"/>
                <a:cs typeface="メイリオ"/>
              </a:rPr>
              <a:t>２　</a:t>
            </a:r>
            <a:r>
              <a:rPr lang="en-US" altLang="ja-JP" sz="4000" b="1" dirty="0">
                <a:latin typeface="メイリオ"/>
                <a:ea typeface="メイリオ"/>
                <a:cs typeface="メイリオ"/>
              </a:rPr>
              <a:t>『</a:t>
            </a:r>
            <a:r>
              <a:rPr lang="ja-JP" altLang="en-US" sz="4000" b="1" dirty="0">
                <a:latin typeface="メイリオ"/>
                <a:ea typeface="メイリオ"/>
                <a:cs typeface="メイリオ"/>
              </a:rPr>
              <a:t>主体的に学習に取り組む態度</a:t>
            </a:r>
            <a:r>
              <a:rPr lang="en-US" altLang="ja-JP" sz="4000" b="1" dirty="0">
                <a:latin typeface="メイリオ"/>
                <a:ea typeface="メイリオ"/>
                <a:cs typeface="メイリオ"/>
              </a:rPr>
              <a:t>』</a:t>
            </a:r>
            <a:br>
              <a:rPr lang="en-US" altLang="ja-JP" sz="4000" b="1" dirty="0">
                <a:latin typeface="+mn-ea"/>
                <a:ea typeface="+mn-ea"/>
              </a:rPr>
            </a:br>
            <a:r>
              <a:rPr lang="ja-JP" altLang="en-US" sz="4000" b="1" dirty="0">
                <a:latin typeface="メイリオ"/>
                <a:ea typeface="メイリオ"/>
                <a:cs typeface="メイリオ"/>
              </a:rPr>
              <a:t>　　　　　　　　　　　　　の学習評価</a:t>
            </a:r>
            <a:endParaRPr lang="ja-JP" altLang="en-US" sz="4000" dirty="0">
              <a:latin typeface="+mn-ea"/>
              <a:ea typeface="+mn-ea"/>
            </a:endParaRPr>
          </a:p>
        </p:txBody>
      </p:sp>
    </p:spTree>
    <p:extLst>
      <p:ext uri="{BB962C8B-B14F-4D97-AF65-F5344CB8AC3E}">
        <p14:creationId xmlns:p14="http://schemas.microsoft.com/office/powerpoint/2010/main" val="24237765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2"/>
          <p:cNvSpPr txBox="1">
            <a:spLocks/>
          </p:cNvSpPr>
          <p:nvPr/>
        </p:nvSpPr>
        <p:spPr>
          <a:xfrm>
            <a:off x="888643" y="1930319"/>
            <a:ext cx="4971243" cy="271088"/>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50000"/>
              </a:lnSpc>
              <a:buNone/>
            </a:pPr>
            <a:r>
              <a:rPr lang="ja-JP" altLang="en-US" sz="3600" b="1" dirty="0">
                <a:latin typeface="メイリオ"/>
                <a:ea typeface="メイリオ"/>
                <a:cs typeface="メイリオ"/>
              </a:rPr>
              <a:t>・学習改善への活用</a:t>
            </a:r>
          </a:p>
        </p:txBody>
      </p:sp>
      <p:sp>
        <p:nvSpPr>
          <p:cNvPr id="7" name="コンテンツ プレースホルダー 2"/>
          <p:cNvSpPr txBox="1">
            <a:spLocks/>
          </p:cNvSpPr>
          <p:nvPr/>
        </p:nvSpPr>
        <p:spPr>
          <a:xfrm>
            <a:off x="888644" y="2585405"/>
            <a:ext cx="6697012" cy="433838"/>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70000"/>
              </a:lnSpc>
              <a:buNone/>
            </a:pPr>
            <a:r>
              <a:rPr lang="ja-JP" altLang="en-US" sz="3600" b="1" dirty="0">
                <a:latin typeface="メイリオ"/>
                <a:ea typeface="メイリオ"/>
                <a:cs typeface="メイリオ"/>
              </a:rPr>
              <a:t>・生徒や保護者からの誤解</a:t>
            </a:r>
            <a:endParaRPr lang="en-US" altLang="ja-JP" sz="3600" b="1" dirty="0"/>
          </a:p>
        </p:txBody>
      </p:sp>
      <p:sp>
        <p:nvSpPr>
          <p:cNvPr id="10" name="コンテンツ プレースホルダー 2"/>
          <p:cNvSpPr txBox="1">
            <a:spLocks/>
          </p:cNvSpPr>
          <p:nvPr/>
        </p:nvSpPr>
        <p:spPr>
          <a:xfrm>
            <a:off x="888642" y="3247125"/>
            <a:ext cx="6362164" cy="845671"/>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600" b="1" dirty="0">
                <a:latin typeface="メイリオ"/>
                <a:ea typeface="メイリオ"/>
                <a:cs typeface="メイリオ"/>
              </a:rPr>
              <a:t>・教員への負担</a:t>
            </a:r>
          </a:p>
        </p:txBody>
      </p:sp>
      <p:sp>
        <p:nvSpPr>
          <p:cNvPr id="11" name="コンテンツ プレースホルダー 2"/>
          <p:cNvSpPr txBox="1">
            <a:spLocks/>
          </p:cNvSpPr>
          <p:nvPr/>
        </p:nvSpPr>
        <p:spPr>
          <a:xfrm>
            <a:off x="888642" y="4160812"/>
            <a:ext cx="8319749" cy="707007"/>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50000"/>
              </a:lnSpc>
              <a:buNone/>
            </a:pPr>
            <a:r>
              <a:rPr lang="ja-JP" altLang="en-US" sz="3600" b="1" dirty="0">
                <a:latin typeface="メイリオ"/>
                <a:ea typeface="メイリオ"/>
                <a:cs typeface="メイリオ"/>
              </a:rPr>
              <a:t>・正しい理解がされていない</a:t>
            </a:r>
          </a:p>
        </p:txBody>
      </p:sp>
      <p:sp>
        <p:nvSpPr>
          <p:cNvPr id="13" name="コンテンツ プレースホルダー 2"/>
          <p:cNvSpPr txBox="1">
            <a:spLocks/>
          </p:cNvSpPr>
          <p:nvPr/>
        </p:nvSpPr>
        <p:spPr>
          <a:xfrm>
            <a:off x="888642" y="4871654"/>
            <a:ext cx="10820755" cy="1033789"/>
          </a:xfrm>
          <a:prstGeom prst="rect">
            <a:avLst/>
          </a:prstGeom>
          <a:ln w="38100">
            <a:solidFill>
              <a:srgbClr val="C00000"/>
            </a:solidFill>
          </a:ln>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600" b="1" dirty="0">
                <a:latin typeface="メイリオ"/>
                <a:ea typeface="メイリオ"/>
                <a:cs typeface="メイリオ"/>
              </a:rPr>
              <a:t>何のために「学習評価」を行うのか改めて意識することが重要</a:t>
            </a:r>
          </a:p>
        </p:txBody>
      </p:sp>
      <p:sp>
        <p:nvSpPr>
          <p:cNvPr id="2" name="Rectangle 1">
            <a:extLst>
              <a:ext uri="{FF2B5EF4-FFF2-40B4-BE49-F238E27FC236}">
                <a16:creationId xmlns:a16="http://schemas.microsoft.com/office/drawing/2014/main" id="{5E7DD3BE-F7B3-B8D0-AEA2-6C58CC9CBC74}"/>
              </a:ext>
            </a:extLst>
          </p:cNvPr>
          <p:cNvSpPr/>
          <p:nvPr/>
        </p:nvSpPr>
        <p:spPr>
          <a:xfrm>
            <a:off x="0" y="-59585"/>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4" name="Rectangle 2">
            <a:extLst>
              <a:ext uri="{FF2B5EF4-FFF2-40B4-BE49-F238E27FC236}">
                <a16:creationId xmlns:a16="http://schemas.microsoft.com/office/drawing/2014/main" id="{3C9C8EB6-E975-E555-C422-99E9829C80A5}"/>
              </a:ext>
            </a:extLst>
          </p:cNvPr>
          <p:cNvSpPr/>
          <p:nvPr/>
        </p:nvSpPr>
        <p:spPr>
          <a:xfrm>
            <a:off x="0" y="770415"/>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学習評価の現状における課題</a:t>
            </a:r>
          </a:p>
        </p:txBody>
      </p:sp>
    </p:spTree>
    <p:extLst>
      <p:ext uri="{BB962C8B-B14F-4D97-AF65-F5344CB8AC3E}">
        <p14:creationId xmlns:p14="http://schemas.microsoft.com/office/powerpoint/2010/main" val="2898441235"/>
      </p:ext>
    </p:extLst>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2"/>
          <p:cNvSpPr txBox="1">
            <a:spLocks/>
          </p:cNvSpPr>
          <p:nvPr/>
        </p:nvSpPr>
        <p:spPr>
          <a:xfrm>
            <a:off x="888647" y="2232148"/>
            <a:ext cx="10400764" cy="627045"/>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メイリオ"/>
                <a:ea typeface="メイリオ"/>
                <a:cs typeface="メイリオ"/>
              </a:rPr>
              <a:t>①生徒の学習改善につながるものにしていくこと</a:t>
            </a:r>
          </a:p>
        </p:txBody>
      </p:sp>
      <p:sp>
        <p:nvSpPr>
          <p:cNvPr id="12" name="コンテンツ プレースホルダー 2"/>
          <p:cNvSpPr txBox="1">
            <a:spLocks/>
          </p:cNvSpPr>
          <p:nvPr/>
        </p:nvSpPr>
        <p:spPr>
          <a:xfrm>
            <a:off x="888647" y="3437409"/>
            <a:ext cx="10400764" cy="503123"/>
          </a:xfrm>
          <a:prstGeom prst="rect">
            <a:avLst/>
          </a:prstGeom>
        </p:spPr>
        <p:txBody>
          <a:bodyPr vert="horz" lIns="91440" tIns="45720" rIns="91440" bIns="45720" rtlCol="0">
            <a:normAutofit lnSpcReduction="10000"/>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メイリオ"/>
                <a:ea typeface="メイリオ"/>
                <a:cs typeface="メイリオ"/>
              </a:rPr>
              <a:t>②教師の指導改善につながるものにしていくこと</a:t>
            </a:r>
          </a:p>
        </p:txBody>
      </p:sp>
      <p:sp>
        <p:nvSpPr>
          <p:cNvPr id="13" name="コンテンツ プレースホルダー 2"/>
          <p:cNvSpPr txBox="1">
            <a:spLocks/>
          </p:cNvSpPr>
          <p:nvPr/>
        </p:nvSpPr>
        <p:spPr>
          <a:xfrm>
            <a:off x="888645" y="4518748"/>
            <a:ext cx="10782656" cy="1003413"/>
          </a:xfrm>
          <a:prstGeom prst="rect">
            <a:avLst/>
          </a:prstGeom>
          <a:noFill/>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b="1" dirty="0">
                <a:latin typeface="メイリオ"/>
                <a:ea typeface="メイリオ"/>
                <a:cs typeface="メイリオ"/>
              </a:rPr>
              <a:t>③</a:t>
            </a:r>
            <a:r>
              <a:rPr lang="ja-JP" altLang="en-US" sz="3200" b="1" dirty="0">
                <a:latin typeface="メイリオ"/>
                <a:ea typeface="メイリオ"/>
                <a:cs typeface="メイリオ"/>
              </a:rPr>
              <a:t>これまで慣行として行われてきたことでも、</a:t>
            </a:r>
            <a:endParaRPr lang="en-US" altLang="ja-JP" sz="3200" b="1" dirty="0"/>
          </a:p>
          <a:p>
            <a:pPr marL="0" indent="0">
              <a:buNone/>
            </a:pPr>
            <a:r>
              <a:rPr lang="ja-JP" altLang="en-US" sz="3200" b="1" dirty="0">
                <a:latin typeface="メイリオ"/>
                <a:ea typeface="メイリオ"/>
                <a:cs typeface="メイリオ"/>
              </a:rPr>
              <a:t>　必要性・妥当性が認められないものは見直していくこと</a:t>
            </a:r>
          </a:p>
        </p:txBody>
      </p:sp>
      <p:sp>
        <p:nvSpPr>
          <p:cNvPr id="2" name="Rectangle 1">
            <a:extLst>
              <a:ext uri="{FF2B5EF4-FFF2-40B4-BE49-F238E27FC236}">
                <a16:creationId xmlns:a16="http://schemas.microsoft.com/office/drawing/2014/main" id="{E9650E6E-0348-6C46-A97A-BE78213930C8}"/>
              </a:ext>
            </a:extLst>
          </p:cNvPr>
          <p:cNvSpPr/>
          <p:nvPr/>
        </p:nvSpPr>
        <p:spPr>
          <a:xfrm>
            <a:off x="0" y="-196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4" name="Rectangle 2">
            <a:extLst>
              <a:ext uri="{FF2B5EF4-FFF2-40B4-BE49-F238E27FC236}">
                <a16:creationId xmlns:a16="http://schemas.microsoft.com/office/drawing/2014/main" id="{BF337071-516D-9061-A429-4C4ECD1D91D6}"/>
              </a:ext>
            </a:extLst>
          </p:cNvPr>
          <p:cNvSpPr/>
          <p:nvPr/>
        </p:nvSpPr>
        <p:spPr>
          <a:xfrm>
            <a:off x="0" y="82804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学習評価の改善の基本方針</a:t>
            </a:r>
          </a:p>
        </p:txBody>
      </p:sp>
    </p:spTree>
    <p:extLst>
      <p:ext uri="{BB962C8B-B14F-4D97-AF65-F5344CB8AC3E}">
        <p14:creationId xmlns:p14="http://schemas.microsoft.com/office/powerpoint/2010/main" val="3235622663"/>
      </p:ext>
    </p:extLst>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グループ化 2"/>
          <p:cNvGrpSpPr/>
          <p:nvPr/>
        </p:nvGrpSpPr>
        <p:grpSpPr>
          <a:xfrm>
            <a:off x="927116" y="1351079"/>
            <a:ext cx="10362293" cy="5306776"/>
            <a:chOff x="1118507" y="1427853"/>
            <a:chExt cx="7632700" cy="4006850"/>
          </a:xfrm>
        </p:grpSpPr>
        <p:grpSp>
          <p:nvGrpSpPr>
            <p:cNvPr id="23" name="グループ化 22"/>
            <p:cNvGrpSpPr>
              <a:grpSpLocks/>
            </p:cNvGrpSpPr>
            <p:nvPr/>
          </p:nvGrpSpPr>
          <p:grpSpPr bwMode="auto">
            <a:xfrm>
              <a:off x="1118507" y="1427853"/>
              <a:ext cx="7599363" cy="838200"/>
              <a:chOff x="755650" y="2159000"/>
              <a:chExt cx="7599363" cy="838200"/>
            </a:xfrm>
          </p:grpSpPr>
          <p:sp>
            <p:nvSpPr>
              <p:cNvPr id="24" name="正方形/長方形 23"/>
              <p:cNvSpPr/>
              <p:nvPr/>
            </p:nvSpPr>
            <p:spPr>
              <a:xfrm>
                <a:off x="755650" y="2159000"/>
                <a:ext cx="7599363" cy="8382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ja-JP" altLang="en-US" b="1">
                  <a:latin typeface="+mn-ea"/>
                </a:endParaRPr>
              </a:p>
            </p:txBody>
          </p:sp>
          <p:sp>
            <p:nvSpPr>
              <p:cNvPr id="25" name="角丸四角形 24"/>
              <p:cNvSpPr/>
              <p:nvPr/>
            </p:nvSpPr>
            <p:spPr>
              <a:xfrm>
                <a:off x="909638" y="2268538"/>
                <a:ext cx="1862137" cy="623887"/>
              </a:xfrm>
              <a:prstGeom prst="round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b="1" dirty="0">
                    <a:latin typeface="メイリオ"/>
                    <a:ea typeface="メイリオ"/>
                    <a:cs typeface="メイリオ"/>
                  </a:rPr>
                  <a:t>学習指導要領に示す</a:t>
                </a:r>
                <a:endParaRPr lang="en-US" altLang="ja-JP" b="1" dirty="0">
                  <a:latin typeface="+mn-ea"/>
                </a:endParaRPr>
              </a:p>
              <a:p>
                <a:pPr algn="ctr">
                  <a:defRPr/>
                </a:pPr>
                <a:r>
                  <a:rPr lang="ja-JP" altLang="en-US" b="1" dirty="0">
                    <a:latin typeface="メイリオ"/>
                    <a:ea typeface="メイリオ"/>
                    <a:cs typeface="メイリオ"/>
                  </a:rPr>
                  <a:t>目標や内容</a:t>
                </a:r>
              </a:p>
            </p:txBody>
          </p:sp>
        </p:grpSp>
        <p:sp>
          <p:nvSpPr>
            <p:cNvPr id="26" name="角丸四角形 25"/>
            <p:cNvSpPr/>
            <p:nvPr/>
          </p:nvSpPr>
          <p:spPr>
            <a:xfrm>
              <a:off x="3282270" y="1537391"/>
              <a:ext cx="1655762" cy="623887"/>
            </a:xfrm>
            <a:prstGeom prst="roundRect">
              <a:avLst/>
            </a:prstGeom>
            <a:ln w="28575"/>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b="1" dirty="0">
                  <a:latin typeface="メイリオ"/>
                  <a:ea typeface="メイリオ"/>
                  <a:cs typeface="メイリオ"/>
                </a:rPr>
                <a:t>知識及び技能</a:t>
              </a:r>
            </a:p>
          </p:txBody>
        </p:sp>
        <p:sp>
          <p:nvSpPr>
            <p:cNvPr id="27" name="角丸四角形 26"/>
            <p:cNvSpPr/>
            <p:nvPr/>
          </p:nvSpPr>
          <p:spPr>
            <a:xfrm>
              <a:off x="5085670" y="1537391"/>
              <a:ext cx="1655762" cy="623887"/>
            </a:xfrm>
            <a:prstGeom prst="roundRect">
              <a:avLst/>
            </a:prstGeom>
            <a:ln w="28575"/>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1351" b="1" dirty="0">
                  <a:latin typeface="メイリオ"/>
                  <a:ea typeface="メイリオ"/>
                  <a:cs typeface="メイリオ"/>
                </a:rPr>
                <a:t>思考力、判断力、</a:t>
              </a:r>
              <a:endParaRPr lang="en-US" altLang="ja-JP" sz="1351" b="1" dirty="0">
                <a:latin typeface="+mn-ea"/>
              </a:endParaRPr>
            </a:p>
            <a:p>
              <a:pPr algn="ctr">
                <a:defRPr/>
              </a:pPr>
              <a:r>
                <a:rPr lang="ja-JP" altLang="en-US" sz="1351" b="1" dirty="0">
                  <a:latin typeface="メイリオ"/>
                  <a:ea typeface="メイリオ"/>
                  <a:cs typeface="メイリオ"/>
                </a:rPr>
                <a:t>表現力等</a:t>
              </a:r>
            </a:p>
          </p:txBody>
        </p:sp>
        <p:sp>
          <p:nvSpPr>
            <p:cNvPr id="28" name="角丸四角形 27"/>
            <p:cNvSpPr/>
            <p:nvPr/>
          </p:nvSpPr>
          <p:spPr>
            <a:xfrm>
              <a:off x="6870020" y="1543741"/>
              <a:ext cx="1655762" cy="623887"/>
            </a:xfrm>
            <a:prstGeom prst="roundRect">
              <a:avLst/>
            </a:prstGeom>
            <a:ln w="28575"/>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b="1" dirty="0">
                  <a:latin typeface="メイリオ"/>
                  <a:ea typeface="メイリオ"/>
                  <a:cs typeface="メイリオ"/>
                </a:rPr>
                <a:t>学びに向かう力、</a:t>
              </a:r>
              <a:endParaRPr lang="en-US" altLang="ja-JP" b="1" dirty="0">
                <a:latin typeface="+mn-ea"/>
              </a:endParaRPr>
            </a:p>
            <a:p>
              <a:pPr algn="ctr">
                <a:defRPr/>
              </a:pPr>
              <a:r>
                <a:rPr lang="ja-JP" altLang="en-US" b="1" dirty="0">
                  <a:latin typeface="メイリオ"/>
                  <a:ea typeface="メイリオ"/>
                  <a:cs typeface="メイリオ"/>
                </a:rPr>
                <a:t>人間性等</a:t>
              </a:r>
            </a:p>
          </p:txBody>
        </p:sp>
        <p:grpSp>
          <p:nvGrpSpPr>
            <p:cNvPr id="29" name="グループ化 28"/>
            <p:cNvGrpSpPr>
              <a:grpSpLocks/>
            </p:cNvGrpSpPr>
            <p:nvPr/>
          </p:nvGrpSpPr>
          <p:grpSpPr bwMode="auto">
            <a:xfrm>
              <a:off x="1118507" y="2626416"/>
              <a:ext cx="7599363" cy="2016125"/>
              <a:chOff x="755650" y="3357563"/>
              <a:chExt cx="7599363" cy="2016125"/>
            </a:xfrm>
          </p:grpSpPr>
          <p:sp>
            <p:nvSpPr>
              <p:cNvPr id="30" name="正方形/長方形 29"/>
              <p:cNvSpPr/>
              <p:nvPr/>
            </p:nvSpPr>
            <p:spPr>
              <a:xfrm>
                <a:off x="5183188" y="4146550"/>
                <a:ext cx="3171825" cy="1223963"/>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a:latin typeface="+mn-ea"/>
                </a:endParaRPr>
              </a:p>
            </p:txBody>
          </p:sp>
          <p:grpSp>
            <p:nvGrpSpPr>
              <p:cNvPr id="31" name="グループ化 25"/>
              <p:cNvGrpSpPr>
                <a:grpSpLocks/>
              </p:cNvGrpSpPr>
              <p:nvPr/>
            </p:nvGrpSpPr>
            <p:grpSpPr bwMode="auto">
              <a:xfrm>
                <a:off x="755650" y="3357563"/>
                <a:ext cx="5688013" cy="2016125"/>
                <a:chOff x="755650" y="3357563"/>
                <a:chExt cx="5688013" cy="2016125"/>
              </a:xfrm>
            </p:grpSpPr>
            <p:sp>
              <p:nvSpPr>
                <p:cNvPr id="32" name="正方形/長方形 31"/>
                <p:cNvSpPr/>
                <p:nvPr/>
              </p:nvSpPr>
              <p:spPr>
                <a:xfrm>
                  <a:off x="755650" y="3357563"/>
                  <a:ext cx="5688013" cy="2016125"/>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a:latin typeface="+mn-ea"/>
                  </a:endParaRPr>
                </a:p>
              </p:txBody>
            </p:sp>
            <p:sp>
              <p:nvSpPr>
                <p:cNvPr id="33" name="角丸四角形 32"/>
                <p:cNvSpPr/>
                <p:nvPr/>
              </p:nvSpPr>
              <p:spPr>
                <a:xfrm>
                  <a:off x="909638" y="3452813"/>
                  <a:ext cx="1865312" cy="623887"/>
                </a:xfrm>
                <a:prstGeom prst="round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b="1" dirty="0">
                      <a:latin typeface="メイリオ"/>
                      <a:ea typeface="メイリオ"/>
                      <a:cs typeface="メイリオ"/>
                    </a:rPr>
                    <a:t>観点別学習状況評価の各観点</a:t>
                  </a:r>
                </a:p>
              </p:txBody>
            </p:sp>
          </p:grpSp>
        </p:grpSp>
        <p:grpSp>
          <p:nvGrpSpPr>
            <p:cNvPr id="34" name="グループ化 33"/>
            <p:cNvGrpSpPr>
              <a:grpSpLocks/>
            </p:cNvGrpSpPr>
            <p:nvPr/>
          </p:nvGrpSpPr>
          <p:grpSpPr bwMode="auto">
            <a:xfrm>
              <a:off x="6901770" y="2626416"/>
              <a:ext cx="1816100" cy="720725"/>
              <a:chOff x="6538913" y="3357563"/>
              <a:chExt cx="1816100" cy="720725"/>
            </a:xfrm>
          </p:grpSpPr>
          <p:sp>
            <p:nvSpPr>
              <p:cNvPr id="35" name="正方形/長方形 34"/>
              <p:cNvSpPr/>
              <p:nvPr/>
            </p:nvSpPr>
            <p:spPr>
              <a:xfrm>
                <a:off x="6538913" y="3357563"/>
                <a:ext cx="1816100" cy="720725"/>
              </a:xfrm>
              <a:prstGeom prst="rect">
                <a:avLst/>
              </a:prstGeom>
              <a:ln/>
            </p:spPr>
            <p:style>
              <a:lnRef idx="1">
                <a:schemeClr val="accent5"/>
              </a:lnRef>
              <a:fillRef idx="2">
                <a:schemeClr val="accent5"/>
              </a:fillRef>
              <a:effectRef idx="1">
                <a:schemeClr val="accent5"/>
              </a:effectRef>
              <a:fontRef idx="minor">
                <a:schemeClr val="dk1"/>
              </a:fontRef>
            </p:style>
            <p:txBody>
              <a:bodyPr anchor="ctr"/>
              <a:lstStyle/>
              <a:p>
                <a:pPr algn="ctr">
                  <a:defRPr/>
                </a:pPr>
                <a:endParaRPr lang="ja-JP" altLang="en-US" sz="1100" b="1">
                  <a:latin typeface="+mn-ea"/>
                </a:endParaRPr>
              </a:p>
            </p:txBody>
          </p:sp>
          <p:sp>
            <p:nvSpPr>
              <p:cNvPr id="36" name="角丸四角形 35"/>
              <p:cNvSpPr/>
              <p:nvPr/>
            </p:nvSpPr>
            <p:spPr>
              <a:xfrm>
                <a:off x="6600825" y="3486150"/>
                <a:ext cx="1655763" cy="508000"/>
              </a:xfrm>
              <a:prstGeom prst="roundRect">
                <a:avLst/>
              </a:prstGeom>
              <a:ln w="28575">
                <a:solidFill>
                  <a:srgbClr val="0070C0"/>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1600" b="1" dirty="0">
                    <a:latin typeface="メイリオ"/>
                    <a:ea typeface="メイリオ"/>
                    <a:cs typeface="メイリオ"/>
                  </a:rPr>
                  <a:t>感性、思いやりなど</a:t>
                </a:r>
                <a:endParaRPr lang="en-US" altLang="ja-JP" sz="1600" b="1" dirty="0">
                  <a:latin typeface="+mn-ea"/>
                </a:endParaRPr>
              </a:p>
            </p:txBody>
          </p:sp>
        </p:grpSp>
        <p:sp>
          <p:nvSpPr>
            <p:cNvPr id="37" name="正方形/長方形 36"/>
            <p:cNvSpPr/>
            <p:nvPr/>
          </p:nvSpPr>
          <p:spPr>
            <a:xfrm>
              <a:off x="1118507" y="5001316"/>
              <a:ext cx="5040313" cy="433387"/>
            </a:xfrm>
            <a:prstGeom prst="rect">
              <a:avLst/>
            </a:prstGeom>
            <a:ln w="38100">
              <a:solidFill>
                <a:srgbClr val="FF0000"/>
              </a:solidFill>
              <a:prstDash val="dash"/>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sz="2400" b="1" dirty="0">
                  <a:latin typeface="メイリオ"/>
                  <a:ea typeface="メイリオ"/>
                  <a:cs typeface="メイリオ"/>
                </a:rPr>
                <a:t>評定（５段階で評価）</a:t>
              </a:r>
            </a:p>
          </p:txBody>
        </p:sp>
        <p:sp>
          <p:nvSpPr>
            <p:cNvPr id="38" name="正方形/長方形 37"/>
            <p:cNvSpPr/>
            <p:nvPr/>
          </p:nvSpPr>
          <p:spPr>
            <a:xfrm>
              <a:off x="6341382" y="5001316"/>
              <a:ext cx="2409825" cy="433387"/>
            </a:xfrm>
            <a:prstGeom prst="rect">
              <a:avLst/>
            </a:prstGeom>
            <a:ln>
              <a:solidFill>
                <a:schemeClr val="tx1"/>
              </a:solidFill>
              <a:prstDash val="dash"/>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sz="2400" b="1" dirty="0">
                  <a:latin typeface="メイリオ"/>
                  <a:ea typeface="メイリオ"/>
                  <a:cs typeface="メイリオ"/>
                </a:rPr>
                <a:t>個人内評価</a:t>
              </a:r>
            </a:p>
          </p:txBody>
        </p:sp>
        <p:sp>
          <p:nvSpPr>
            <p:cNvPr id="39" name="二等辺三角形 38"/>
            <p:cNvSpPr/>
            <p:nvPr/>
          </p:nvSpPr>
          <p:spPr>
            <a:xfrm flipV="1">
              <a:off x="1639207" y="2353366"/>
              <a:ext cx="6480175" cy="215900"/>
            </a:xfrm>
            <a:prstGeom prst="triangle">
              <a:avLst/>
            </a:prstGeom>
            <a:ln>
              <a:solidFill>
                <a:schemeClr val="tx1"/>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ja-JP" altLang="en-US" b="1">
                <a:latin typeface="+mn-ea"/>
              </a:endParaRPr>
            </a:p>
          </p:txBody>
        </p:sp>
        <p:grpSp>
          <p:nvGrpSpPr>
            <p:cNvPr id="40" name="グループ化 39"/>
            <p:cNvGrpSpPr>
              <a:grpSpLocks/>
            </p:cNvGrpSpPr>
            <p:nvPr/>
          </p:nvGrpSpPr>
          <p:grpSpPr bwMode="auto">
            <a:xfrm>
              <a:off x="3936320" y="4282178"/>
              <a:ext cx="3924300" cy="706438"/>
              <a:chOff x="3573463" y="5013325"/>
              <a:chExt cx="3924300" cy="706438"/>
            </a:xfrm>
          </p:grpSpPr>
          <p:sp>
            <p:nvSpPr>
              <p:cNvPr id="41" name="下矢印 40"/>
              <p:cNvSpPr/>
              <p:nvPr/>
            </p:nvSpPr>
            <p:spPr>
              <a:xfrm>
                <a:off x="3573463" y="5013325"/>
                <a:ext cx="255587" cy="706438"/>
              </a:xfrm>
              <a:prstGeom prst="down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sp>
            <p:nvSpPr>
              <p:cNvPr id="42" name="正方形/長方形 41"/>
              <p:cNvSpPr/>
              <p:nvPr/>
            </p:nvSpPr>
            <p:spPr>
              <a:xfrm>
                <a:off x="3708400" y="5303838"/>
                <a:ext cx="3789363" cy="141287"/>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sp>
            <p:nvSpPr>
              <p:cNvPr id="43" name="正方形/長方形 42"/>
              <p:cNvSpPr/>
              <p:nvPr/>
            </p:nvSpPr>
            <p:spPr>
              <a:xfrm rot="16200000">
                <a:off x="5335588" y="5113337"/>
                <a:ext cx="344488" cy="144463"/>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sp>
            <p:nvSpPr>
              <p:cNvPr id="44" name="正方形/長方形 43"/>
              <p:cNvSpPr/>
              <p:nvPr/>
            </p:nvSpPr>
            <p:spPr>
              <a:xfrm rot="16200000">
                <a:off x="7243763" y="5113337"/>
                <a:ext cx="344488" cy="144463"/>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grpSp>
        <p:cxnSp>
          <p:nvCxnSpPr>
            <p:cNvPr id="45" name="カギ線コネクタ 44"/>
            <p:cNvCxnSpPr/>
            <p:nvPr/>
          </p:nvCxnSpPr>
          <p:spPr>
            <a:xfrm flipH="1">
              <a:off x="8055882" y="2986778"/>
              <a:ext cx="598488" cy="2014538"/>
            </a:xfrm>
            <a:prstGeom prst="bentConnector4">
              <a:avLst>
                <a:gd name="adj1" fmla="val -13630"/>
                <a:gd name="adj2" fmla="val 80802"/>
              </a:avLst>
            </a:prstGeom>
            <a:ln w="57150">
              <a:solidFill>
                <a:srgbClr val="0070C0"/>
              </a:solidFill>
              <a:tailEnd type="triangle"/>
            </a:ln>
          </p:spPr>
          <p:style>
            <a:lnRef idx="2">
              <a:schemeClr val="accent4"/>
            </a:lnRef>
            <a:fillRef idx="0">
              <a:schemeClr val="accent4"/>
            </a:fillRef>
            <a:effectRef idx="1">
              <a:schemeClr val="accent4"/>
            </a:effectRef>
            <a:fontRef idx="minor">
              <a:schemeClr val="tx1"/>
            </a:fontRef>
          </p:style>
        </p:cxnSp>
        <p:sp>
          <p:nvSpPr>
            <p:cNvPr id="46" name="角丸四角形 45"/>
            <p:cNvSpPr/>
            <p:nvPr/>
          </p:nvSpPr>
          <p:spPr>
            <a:xfrm>
              <a:off x="3264807" y="2697853"/>
              <a:ext cx="1655763" cy="1584325"/>
            </a:xfrm>
            <a:prstGeom prst="roundRect">
              <a:avLst/>
            </a:prstGeom>
            <a:ln w="38100">
              <a:solidFill>
                <a:schemeClr val="accent5"/>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400" b="1" dirty="0">
                  <a:latin typeface="メイリオ"/>
                  <a:ea typeface="メイリオ"/>
                  <a:cs typeface="メイリオ"/>
                </a:rPr>
                <a:t>知識・技能</a:t>
              </a:r>
            </a:p>
          </p:txBody>
        </p:sp>
        <p:sp>
          <p:nvSpPr>
            <p:cNvPr id="47" name="角丸四角形 46"/>
            <p:cNvSpPr/>
            <p:nvPr/>
          </p:nvSpPr>
          <p:spPr>
            <a:xfrm>
              <a:off x="5055507" y="2759766"/>
              <a:ext cx="1655763" cy="1522412"/>
            </a:xfrm>
            <a:prstGeom prst="roundRect">
              <a:avLst/>
            </a:prstGeom>
            <a:ln w="38100">
              <a:solidFill>
                <a:srgbClr val="FFC000"/>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400" b="1" dirty="0">
                  <a:latin typeface="メイリオ"/>
                  <a:ea typeface="メイリオ"/>
                  <a:cs typeface="メイリオ"/>
                </a:rPr>
                <a:t>思考・判断・</a:t>
              </a:r>
              <a:endParaRPr lang="en-US" altLang="ja-JP" sz="2400" b="1" dirty="0">
                <a:latin typeface="+mn-ea"/>
              </a:endParaRPr>
            </a:p>
            <a:p>
              <a:pPr algn="ctr">
                <a:defRPr/>
              </a:pPr>
              <a:r>
                <a:rPr lang="ja-JP" altLang="en-US" sz="2400" b="1" dirty="0">
                  <a:latin typeface="メイリオ"/>
                  <a:ea typeface="メイリオ"/>
                  <a:cs typeface="メイリオ"/>
                </a:rPr>
                <a:t>表現</a:t>
              </a:r>
            </a:p>
          </p:txBody>
        </p:sp>
        <p:sp>
          <p:nvSpPr>
            <p:cNvPr id="48" name="角丸四角形 47"/>
            <p:cNvSpPr/>
            <p:nvPr/>
          </p:nvSpPr>
          <p:spPr>
            <a:xfrm>
              <a:off x="6935107" y="3531291"/>
              <a:ext cx="1655763" cy="750887"/>
            </a:xfrm>
            <a:prstGeom prst="roundRect">
              <a:avLst/>
            </a:prstGeom>
            <a:ln w="28575">
              <a:solidFill>
                <a:schemeClr val="accent2"/>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b="1" dirty="0">
                  <a:latin typeface="メイリオ"/>
                  <a:ea typeface="メイリオ"/>
                  <a:cs typeface="メイリオ"/>
                </a:rPr>
                <a:t>主体的に学習に</a:t>
              </a:r>
              <a:endParaRPr lang="en-US" altLang="ja-JP" b="1" dirty="0">
                <a:latin typeface="+mn-ea"/>
              </a:endParaRPr>
            </a:p>
            <a:p>
              <a:pPr algn="ctr">
                <a:defRPr/>
              </a:pPr>
              <a:r>
                <a:rPr lang="ja-JP" altLang="en-US" b="1" dirty="0">
                  <a:latin typeface="メイリオ"/>
                  <a:ea typeface="メイリオ"/>
                  <a:cs typeface="メイリオ"/>
                </a:rPr>
                <a:t>取り組む態度</a:t>
              </a:r>
            </a:p>
          </p:txBody>
        </p:sp>
        <p:sp>
          <p:nvSpPr>
            <p:cNvPr id="49" name="角丸四角形 48"/>
            <p:cNvSpPr/>
            <p:nvPr/>
          </p:nvSpPr>
          <p:spPr>
            <a:xfrm>
              <a:off x="1118508" y="3363016"/>
              <a:ext cx="2267814" cy="1292225"/>
            </a:xfrm>
            <a:prstGeom prst="roundRect">
              <a:avLst/>
            </a:prstGeom>
            <a:noFill/>
            <a:ln>
              <a:noFill/>
            </a:ln>
          </p:spPr>
          <p:style>
            <a:lnRef idx="2">
              <a:schemeClr val="accent6"/>
            </a:lnRef>
            <a:fillRef idx="1">
              <a:schemeClr val="lt1"/>
            </a:fillRef>
            <a:effectRef idx="0">
              <a:schemeClr val="accent6"/>
            </a:effectRef>
            <a:fontRef idx="minor">
              <a:schemeClr val="dk1"/>
            </a:fontRef>
          </p:style>
          <p:txBody>
            <a:bodyPr anchor="ctr"/>
            <a:lstStyle/>
            <a:p>
              <a:pPr>
                <a:defRPr/>
              </a:pPr>
              <a:r>
                <a:rPr lang="ja-JP" altLang="en-US" sz="2000" b="1" dirty="0">
                  <a:latin typeface="メイリオ"/>
                  <a:ea typeface="メイリオ"/>
                  <a:cs typeface="メイリオ"/>
                </a:rPr>
                <a:t>●観点ごとに評価し、</a:t>
              </a:r>
              <a:endParaRPr lang="en-US" altLang="ja-JP" sz="2000" b="1" dirty="0">
                <a:latin typeface="+mn-ea"/>
              </a:endParaRPr>
            </a:p>
            <a:p>
              <a:pPr>
                <a:defRPr/>
              </a:pPr>
              <a:r>
                <a:rPr lang="ja-JP" altLang="en-US" sz="2000" b="1" dirty="0">
                  <a:latin typeface="メイリオ"/>
                  <a:ea typeface="メイリオ"/>
                  <a:cs typeface="メイリオ"/>
                </a:rPr>
                <a:t>　生徒の学習状況を</a:t>
              </a:r>
              <a:endParaRPr lang="en-US" altLang="ja-JP" sz="2000" b="1" dirty="0">
                <a:latin typeface="+mn-ea"/>
              </a:endParaRPr>
            </a:p>
            <a:p>
              <a:pPr>
                <a:defRPr/>
              </a:pPr>
              <a:r>
                <a:rPr lang="ja-JP" altLang="en-US" sz="2000" b="1" dirty="0">
                  <a:latin typeface="メイリオ"/>
                  <a:ea typeface="メイリオ"/>
                  <a:cs typeface="メイリオ"/>
                </a:rPr>
                <a:t>　分析的捉えるもの</a:t>
              </a:r>
              <a:endParaRPr lang="en-US" altLang="ja-JP" sz="2000" b="1" dirty="0">
                <a:latin typeface="+mn-ea"/>
              </a:endParaRPr>
            </a:p>
            <a:p>
              <a:pPr>
                <a:defRPr/>
              </a:pPr>
              <a:r>
                <a:rPr lang="ja-JP" altLang="en-US" sz="2000" b="1" dirty="0">
                  <a:latin typeface="メイリオ"/>
                  <a:ea typeface="メイリオ"/>
                  <a:cs typeface="メイリオ"/>
                </a:rPr>
                <a:t>●観点ごとにＡＢＣの</a:t>
              </a:r>
              <a:endParaRPr lang="en-US" altLang="ja-JP" sz="2000" b="1" dirty="0">
                <a:latin typeface="+mn-ea"/>
              </a:endParaRPr>
            </a:p>
            <a:p>
              <a:pPr>
                <a:defRPr/>
              </a:pPr>
              <a:r>
                <a:rPr lang="ja-JP" altLang="en-US" sz="2000" b="1" dirty="0">
                  <a:latin typeface="メイリオ"/>
                  <a:ea typeface="メイリオ"/>
                  <a:cs typeface="メイリオ"/>
                </a:rPr>
                <a:t>　３段階で評価</a:t>
              </a:r>
            </a:p>
          </p:txBody>
        </p:sp>
      </p:grpSp>
      <p:sp>
        <p:nvSpPr>
          <p:cNvPr id="5" name="Rectangle 1">
            <a:extLst>
              <a:ext uri="{FF2B5EF4-FFF2-40B4-BE49-F238E27FC236}">
                <a16:creationId xmlns:a16="http://schemas.microsoft.com/office/drawing/2014/main" id="{CC918D9F-967F-F960-44BF-BFFC1DB1C96E}"/>
              </a:ext>
            </a:extLst>
          </p:cNvPr>
          <p:cNvSpPr/>
          <p:nvPr/>
        </p:nvSpPr>
        <p:spPr>
          <a:xfrm>
            <a:off x="0" y="-9228"/>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7" name="Rectangle 2">
            <a:extLst>
              <a:ext uri="{FF2B5EF4-FFF2-40B4-BE49-F238E27FC236}">
                <a16:creationId xmlns:a16="http://schemas.microsoft.com/office/drawing/2014/main" id="{ABE622A9-BE55-F9D4-EDEF-6E7499AB6F3B}"/>
              </a:ext>
            </a:extLst>
          </p:cNvPr>
          <p:cNvSpPr/>
          <p:nvPr/>
        </p:nvSpPr>
        <p:spPr>
          <a:xfrm>
            <a:off x="0" y="820772"/>
            <a:ext cx="12192000" cy="365171"/>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fontScale="77500" lnSpcReduction="20000"/>
          </a:bodyPr>
          <a:lstStyle/>
          <a:p>
            <a:r>
              <a:rPr lang="ja-JP" altLang="en-US" sz="3200" b="1" dirty="0">
                <a:solidFill>
                  <a:schemeClr val="tx1"/>
                </a:solidFill>
                <a:latin typeface="メイリオ"/>
                <a:ea typeface="メイリオ"/>
                <a:cs typeface="メイリオ"/>
              </a:rPr>
              <a:t>各教科における評価の基本構造</a:t>
            </a:r>
          </a:p>
        </p:txBody>
      </p:sp>
    </p:spTree>
    <p:extLst>
      <p:ext uri="{BB962C8B-B14F-4D97-AF65-F5344CB8AC3E}">
        <p14:creationId xmlns:p14="http://schemas.microsoft.com/office/powerpoint/2010/main" val="3497813644"/>
      </p:ext>
    </p:extLst>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コンテンツ プレースホルダー 2"/>
          <p:cNvSpPr txBox="1">
            <a:spLocks/>
          </p:cNvSpPr>
          <p:nvPr/>
        </p:nvSpPr>
        <p:spPr>
          <a:xfrm>
            <a:off x="888647" y="1826944"/>
            <a:ext cx="10400765" cy="1572423"/>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メイリオ"/>
                <a:ea typeface="メイリオ"/>
                <a:cs typeface="メイリオ"/>
              </a:rPr>
              <a:t>○　既有の知識及び技能と関連づけたり活用したりする</a:t>
            </a:r>
            <a:endParaRPr lang="en-US" altLang="ja-JP" sz="3200" b="1" dirty="0"/>
          </a:p>
          <a:p>
            <a:pPr marL="0" indent="0">
              <a:buNone/>
            </a:pPr>
            <a:r>
              <a:rPr lang="ja-JP" altLang="en-US" sz="3200" b="1" dirty="0">
                <a:latin typeface="メイリオ"/>
                <a:ea typeface="メイリオ"/>
                <a:cs typeface="メイリオ"/>
              </a:rPr>
              <a:t>　　中で、概念等として理解したり、技能を習得したり</a:t>
            </a:r>
            <a:endParaRPr lang="en-US" altLang="ja-JP" sz="3200" b="1" dirty="0"/>
          </a:p>
          <a:p>
            <a:pPr marL="0" indent="0">
              <a:buNone/>
            </a:pPr>
            <a:r>
              <a:rPr lang="ja-JP" altLang="en-US" sz="3200" b="1" dirty="0">
                <a:latin typeface="メイリオ"/>
                <a:ea typeface="メイリオ"/>
                <a:cs typeface="メイリオ"/>
              </a:rPr>
              <a:t>　　しているかについて評価する。</a:t>
            </a:r>
          </a:p>
        </p:txBody>
      </p:sp>
      <p:sp>
        <p:nvSpPr>
          <p:cNvPr id="18" name="コンテンツ プレースホルダー 2"/>
          <p:cNvSpPr txBox="1">
            <a:spLocks/>
          </p:cNvSpPr>
          <p:nvPr/>
        </p:nvSpPr>
        <p:spPr>
          <a:xfrm>
            <a:off x="888647" y="3665125"/>
            <a:ext cx="10400765" cy="1962288"/>
          </a:xfrm>
          <a:prstGeom prst="rect">
            <a:avLst/>
          </a:prstGeom>
          <a:ln w="57150">
            <a:solidFill>
              <a:schemeClr val="accent5"/>
            </a:solidFill>
          </a:ln>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spcBef>
                <a:spcPts val="600"/>
              </a:spcBef>
              <a:buNone/>
            </a:pPr>
            <a:endParaRPr lang="en-US" altLang="ja-JP" sz="1300" b="1" dirty="0"/>
          </a:p>
          <a:p>
            <a:pPr marL="0" indent="0">
              <a:spcBef>
                <a:spcPts val="600"/>
              </a:spcBef>
              <a:buNone/>
            </a:pPr>
            <a:r>
              <a:rPr lang="ja-JP" altLang="en-US" sz="3000" b="1" dirty="0">
                <a:latin typeface="メイリオ"/>
                <a:ea typeface="メイリオ"/>
                <a:cs typeface="メイリオ"/>
              </a:rPr>
              <a:t>＜評価の工夫例＞</a:t>
            </a:r>
            <a:endParaRPr lang="en-US" altLang="ja-JP" sz="3000" b="1" dirty="0"/>
          </a:p>
          <a:p>
            <a:pPr marL="0" indent="0">
              <a:buNone/>
            </a:pPr>
            <a:r>
              <a:rPr lang="ja-JP" altLang="en-US" sz="3000" b="1" dirty="0">
                <a:latin typeface="メイリオ"/>
                <a:ea typeface="メイリオ"/>
                <a:cs typeface="メイリオ"/>
              </a:rPr>
              <a:t>○ペーパーテスト</a:t>
            </a:r>
            <a:endParaRPr lang="en-US" altLang="ja-JP" sz="3000" b="1" dirty="0"/>
          </a:p>
          <a:p>
            <a:pPr marL="0" indent="0">
              <a:buNone/>
            </a:pPr>
            <a:r>
              <a:rPr lang="ja-JP" altLang="en-US" sz="3000" b="1" dirty="0">
                <a:latin typeface="メイリオ"/>
                <a:ea typeface="メイリオ"/>
                <a:cs typeface="メイリオ"/>
              </a:rPr>
              <a:t>○実際に知識や技能を用いる場面を設けた学習活動</a:t>
            </a:r>
            <a:endParaRPr lang="en-US" altLang="ja-JP" sz="3000" b="1" dirty="0"/>
          </a:p>
        </p:txBody>
      </p:sp>
      <p:sp>
        <p:nvSpPr>
          <p:cNvPr id="2" name="Rectangle 1">
            <a:extLst>
              <a:ext uri="{FF2B5EF4-FFF2-40B4-BE49-F238E27FC236}">
                <a16:creationId xmlns:a16="http://schemas.microsoft.com/office/drawing/2014/main" id="{8E80A6CC-FE31-1773-749F-3294CC509BB8}"/>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3" name="Rectangle 2">
            <a:extLst>
              <a:ext uri="{FF2B5EF4-FFF2-40B4-BE49-F238E27FC236}">
                <a16:creationId xmlns:a16="http://schemas.microsoft.com/office/drawing/2014/main" id="{07B49455-C776-E5ED-D0C5-961C47995252}"/>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「知識・技能」の評価</a:t>
            </a:r>
          </a:p>
        </p:txBody>
      </p:sp>
      <p:sp>
        <p:nvSpPr>
          <p:cNvPr id="4" name="TextBox 8">
            <a:extLst>
              <a:ext uri="{FF2B5EF4-FFF2-40B4-BE49-F238E27FC236}">
                <a16:creationId xmlns:a16="http://schemas.microsoft.com/office/drawing/2014/main" id="{4AF4BAF8-0E6E-4ABD-4A0E-A7219D3808DF}"/>
              </a:ext>
            </a:extLst>
          </p:cNvPr>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出典：国立教育政策研究所「学習評価の在り方ハンドブック（中学校編</a:t>
            </a:r>
            <a:r>
              <a:rPr sz="1300" dirty="0">
                <a:solidFill>
                  <a:srgbClr val="404040"/>
                </a:solidFill>
                <a:latin typeface="メイリオ"/>
                <a:ea typeface="メイリオ"/>
                <a:cs typeface="メイリオ"/>
              </a:rPr>
              <a:t>）」</a:t>
            </a:r>
          </a:p>
        </p:txBody>
      </p:sp>
    </p:spTree>
    <p:extLst>
      <p:ext uri="{BB962C8B-B14F-4D97-AF65-F5344CB8AC3E}">
        <p14:creationId xmlns:p14="http://schemas.microsoft.com/office/powerpoint/2010/main" val="1292362610"/>
      </p:ext>
    </p:extLst>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コンテンツ プレースホルダー 2"/>
          <p:cNvSpPr txBox="1">
            <a:spLocks/>
          </p:cNvSpPr>
          <p:nvPr/>
        </p:nvSpPr>
        <p:spPr>
          <a:xfrm>
            <a:off x="888644" y="1938908"/>
            <a:ext cx="10400765" cy="1276011"/>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b="1" dirty="0">
                <a:latin typeface="メイリオ"/>
                <a:ea typeface="メイリオ"/>
                <a:cs typeface="メイリオ"/>
              </a:rPr>
              <a:t>各教科等の知識及び技能を活用して課題を解決する等のために必要な思考力、判断力、表現力等を身に付けているかどうかを評価する。</a:t>
            </a:r>
          </a:p>
        </p:txBody>
      </p:sp>
      <p:sp>
        <p:nvSpPr>
          <p:cNvPr id="18" name="コンテンツ プレースホルダー 2"/>
          <p:cNvSpPr txBox="1">
            <a:spLocks/>
          </p:cNvSpPr>
          <p:nvPr/>
        </p:nvSpPr>
        <p:spPr>
          <a:xfrm>
            <a:off x="2966041" y="3536180"/>
            <a:ext cx="6230897" cy="2785495"/>
          </a:xfrm>
          <a:prstGeom prst="rect">
            <a:avLst/>
          </a:prstGeom>
          <a:ln w="38100">
            <a:solidFill>
              <a:srgbClr val="C00000"/>
            </a:solidFill>
          </a:ln>
        </p:spPr>
        <p:txBody>
          <a:bodyPr vert="horz" lIns="91440" tIns="45720" rIns="91440" bIns="45720" rtlCol="0">
            <a:normAutofit lnSpcReduction="10000"/>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sz="1000" b="1" dirty="0"/>
          </a:p>
          <a:p>
            <a:pPr marL="0" indent="0">
              <a:buNone/>
            </a:pPr>
            <a:r>
              <a:rPr lang="ja-JP" altLang="en-US" b="1" dirty="0">
                <a:latin typeface="メイリオ"/>
                <a:ea typeface="メイリオ"/>
                <a:cs typeface="メイリオ"/>
              </a:rPr>
              <a:t>＜評価の工夫例＞</a:t>
            </a:r>
            <a:endParaRPr lang="en-US" altLang="ja-JP" b="1" dirty="0"/>
          </a:p>
          <a:p>
            <a:pPr marL="0" indent="0">
              <a:buNone/>
            </a:pPr>
            <a:r>
              <a:rPr lang="ja-JP" altLang="en-US" b="1" dirty="0">
                <a:latin typeface="メイリオ"/>
                <a:ea typeface="メイリオ"/>
                <a:cs typeface="メイリオ"/>
              </a:rPr>
              <a:t>○論述やレポートの作成、発表</a:t>
            </a:r>
            <a:endParaRPr lang="en-US" altLang="ja-JP" b="1" dirty="0"/>
          </a:p>
          <a:p>
            <a:pPr marL="0" indent="0">
              <a:buNone/>
            </a:pPr>
            <a:r>
              <a:rPr lang="ja-JP" altLang="en-US" b="1" dirty="0">
                <a:latin typeface="メイリオ"/>
                <a:ea typeface="メイリオ"/>
                <a:cs typeface="メイリオ"/>
              </a:rPr>
              <a:t>○グループでの話合い</a:t>
            </a:r>
            <a:endParaRPr lang="en-US" altLang="ja-JP" b="1" dirty="0"/>
          </a:p>
          <a:p>
            <a:pPr marL="0" indent="0">
              <a:buNone/>
            </a:pPr>
            <a:r>
              <a:rPr lang="ja-JP" altLang="en-US" b="1" dirty="0">
                <a:latin typeface="メイリオ"/>
                <a:ea typeface="メイリオ"/>
                <a:cs typeface="メイリオ"/>
              </a:rPr>
              <a:t>○作品の制作や表現等の多様な活動</a:t>
            </a:r>
            <a:endParaRPr lang="en-US" altLang="ja-JP" b="1" dirty="0"/>
          </a:p>
          <a:p>
            <a:pPr marL="0" indent="0">
              <a:buNone/>
            </a:pPr>
            <a:r>
              <a:rPr lang="ja-JP" altLang="en-US" b="1" dirty="0">
                <a:latin typeface="メイリオ"/>
                <a:ea typeface="メイリオ"/>
                <a:cs typeface="メイリオ"/>
              </a:rPr>
              <a:t>○ポートフォリオの活用</a:t>
            </a:r>
          </a:p>
        </p:txBody>
      </p:sp>
      <p:sp>
        <p:nvSpPr>
          <p:cNvPr id="4" name="Rectangle 1">
            <a:extLst>
              <a:ext uri="{FF2B5EF4-FFF2-40B4-BE49-F238E27FC236}">
                <a16:creationId xmlns:a16="http://schemas.microsoft.com/office/drawing/2014/main" id="{792DFF4A-273B-8E69-BF6C-2D3A37E5CDAB}"/>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5" name="Rectangle 2">
            <a:extLst>
              <a:ext uri="{FF2B5EF4-FFF2-40B4-BE49-F238E27FC236}">
                <a16:creationId xmlns:a16="http://schemas.microsoft.com/office/drawing/2014/main" id="{2EC89BC6-C1B3-B4E2-9CC9-6F25DBFA4C47}"/>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「思考・判断・表現」の評価</a:t>
            </a:r>
          </a:p>
        </p:txBody>
      </p:sp>
      <p:sp>
        <p:nvSpPr>
          <p:cNvPr id="6" name="TextBox 8">
            <a:extLst>
              <a:ext uri="{FF2B5EF4-FFF2-40B4-BE49-F238E27FC236}">
                <a16:creationId xmlns:a16="http://schemas.microsoft.com/office/drawing/2014/main" id="{C8EC3372-453D-37C1-3D67-95FBD6FE7BAB}"/>
              </a:ext>
            </a:extLst>
          </p:cNvPr>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出典：国立教育政策研究所「学習評価の在り方ハンドブック（中学校編</a:t>
            </a:r>
            <a:r>
              <a:rPr sz="1300" dirty="0">
                <a:solidFill>
                  <a:srgbClr val="404040"/>
                </a:solidFill>
                <a:latin typeface="メイリオ"/>
                <a:ea typeface="メイリオ"/>
                <a:cs typeface="メイリオ"/>
              </a:rPr>
              <a:t>）」</a:t>
            </a:r>
          </a:p>
        </p:txBody>
      </p:sp>
    </p:spTree>
    <p:extLst>
      <p:ext uri="{BB962C8B-B14F-4D97-AF65-F5344CB8AC3E}">
        <p14:creationId xmlns:p14="http://schemas.microsoft.com/office/powerpoint/2010/main" val="1313705403"/>
      </p:ext>
    </p:extLst>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p:cNvPicPr>
            <a:picLocks noChangeAspect="1"/>
          </p:cNvPicPr>
          <p:nvPr/>
        </p:nvPicPr>
        <p:blipFill rotWithShape="1">
          <a:blip r:embed="rId2"/>
          <a:srcRect l="38092" t="19270" r="25988" b="10937"/>
          <a:stretch/>
        </p:blipFill>
        <p:spPr>
          <a:xfrm>
            <a:off x="1285571" y="1690932"/>
            <a:ext cx="5217866" cy="4970314"/>
          </a:xfrm>
          <a:prstGeom prst="rect">
            <a:avLst/>
          </a:prstGeom>
          <a:ln w="28575">
            <a:solidFill>
              <a:schemeClr val="tx1"/>
            </a:solidFill>
          </a:ln>
        </p:spPr>
      </p:pic>
      <p:sp>
        <p:nvSpPr>
          <p:cNvPr id="9" name="角丸四角形吹き出し 8"/>
          <p:cNvSpPr/>
          <p:nvPr/>
        </p:nvSpPr>
        <p:spPr>
          <a:xfrm>
            <a:off x="7037359" y="3429000"/>
            <a:ext cx="4031449" cy="2002907"/>
          </a:xfrm>
          <a:prstGeom prst="wedgeRoundRectCallout">
            <a:avLst>
              <a:gd name="adj1" fmla="val -59962"/>
              <a:gd name="adj2" fmla="val -7948"/>
              <a:gd name="adj3" fmla="val 16667"/>
            </a:avLst>
          </a:prstGeom>
          <a:solidFill>
            <a:schemeClr val="bg1"/>
          </a:solidFill>
          <a:ln w="57150"/>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dirty="0">
                <a:latin typeface="メイリオ" panose="020B0609070205080204" pitchFamily="49" charset="-128"/>
                <a:ea typeface="メイリオ" panose="020B0609070205080204" pitchFamily="49" charset="-128"/>
                <a:cs typeface="メイリオ"/>
              </a:rPr>
              <a:t>①と②は、別々ではなく相互に関わり合っている。①がＡで②がＣという生徒の姿は一般的ではない。</a:t>
            </a:r>
          </a:p>
        </p:txBody>
      </p:sp>
      <p:sp>
        <p:nvSpPr>
          <p:cNvPr id="2" name="Rectangle 1">
            <a:extLst>
              <a:ext uri="{FF2B5EF4-FFF2-40B4-BE49-F238E27FC236}">
                <a16:creationId xmlns:a16="http://schemas.microsoft.com/office/drawing/2014/main" id="{42D9CE4D-4F6F-4525-CFFE-4EFD7D76718E}"/>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3" name="Rectangle 2">
            <a:extLst>
              <a:ext uri="{FF2B5EF4-FFF2-40B4-BE49-F238E27FC236}">
                <a16:creationId xmlns:a16="http://schemas.microsoft.com/office/drawing/2014/main" id="{1E6A2D0E-0E2A-8069-4104-96E7246E0681}"/>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「主体的に学習に取り組む態度」の評価</a:t>
            </a:r>
          </a:p>
        </p:txBody>
      </p:sp>
    </p:spTree>
    <p:extLst>
      <p:ext uri="{BB962C8B-B14F-4D97-AF65-F5344CB8AC3E}">
        <p14:creationId xmlns:p14="http://schemas.microsoft.com/office/powerpoint/2010/main" val="248089088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コンテンツ プレースホルダー 2"/>
          <p:cNvSpPr txBox="1">
            <a:spLocks/>
          </p:cNvSpPr>
          <p:nvPr/>
        </p:nvSpPr>
        <p:spPr>
          <a:xfrm>
            <a:off x="1335384" y="2106014"/>
            <a:ext cx="9507291" cy="3620664"/>
          </a:xfrm>
          <a:prstGeom prst="rect">
            <a:avLst/>
          </a:prstGeom>
          <a:ln w="38100">
            <a:solidFill>
              <a:srgbClr val="FFC000"/>
            </a:solidFill>
          </a:ln>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sz="300" b="1" dirty="0"/>
          </a:p>
          <a:p>
            <a:pPr marL="0" indent="0">
              <a:buNone/>
            </a:pPr>
            <a:r>
              <a:rPr lang="ja-JP" altLang="en-US" sz="4000" b="1" dirty="0">
                <a:latin typeface="メイリオ"/>
                <a:ea typeface="メイリオ"/>
                <a:cs typeface="メイリオ"/>
              </a:rPr>
              <a:t>＜評価の工夫例＞</a:t>
            </a:r>
            <a:endParaRPr lang="en-US" altLang="ja-JP" sz="4000" b="1" dirty="0"/>
          </a:p>
          <a:p>
            <a:pPr marL="0" indent="0">
              <a:buNone/>
            </a:pPr>
            <a:r>
              <a:rPr lang="ja-JP" altLang="en-US" sz="4000" b="1" dirty="0">
                <a:latin typeface="メイリオ"/>
                <a:ea typeface="メイリオ"/>
                <a:cs typeface="メイリオ"/>
              </a:rPr>
              <a:t>○ノートやレポート等における記述</a:t>
            </a:r>
            <a:endParaRPr lang="en-US" altLang="ja-JP" sz="4000" b="1" dirty="0"/>
          </a:p>
          <a:p>
            <a:pPr marL="0" indent="0">
              <a:buNone/>
            </a:pPr>
            <a:r>
              <a:rPr lang="ja-JP" altLang="en-US" sz="4000" b="1" dirty="0">
                <a:latin typeface="メイリオ"/>
                <a:ea typeface="メイリオ"/>
                <a:cs typeface="メイリオ"/>
              </a:rPr>
              <a:t>○授業中の発言</a:t>
            </a:r>
            <a:endParaRPr lang="en-US" altLang="ja-JP" sz="4000" b="1" dirty="0"/>
          </a:p>
          <a:p>
            <a:pPr marL="0" indent="0">
              <a:buNone/>
            </a:pPr>
            <a:r>
              <a:rPr lang="ja-JP" altLang="en-US" sz="4000" b="1" dirty="0">
                <a:latin typeface="メイリオ"/>
                <a:ea typeface="メイリオ"/>
                <a:cs typeface="メイリオ"/>
              </a:rPr>
              <a:t>○教師による行動観察</a:t>
            </a:r>
            <a:endParaRPr lang="en-US" altLang="ja-JP" sz="4000" b="1" dirty="0"/>
          </a:p>
          <a:p>
            <a:pPr marL="0" indent="0">
              <a:buNone/>
            </a:pPr>
            <a:r>
              <a:rPr lang="ja-JP" altLang="en-US" sz="4000" b="1" dirty="0">
                <a:latin typeface="メイリオ"/>
                <a:ea typeface="メイリオ"/>
                <a:cs typeface="メイリオ"/>
              </a:rPr>
              <a:t>○生徒による自己評価・相互評価等</a:t>
            </a:r>
          </a:p>
        </p:txBody>
      </p:sp>
      <p:sp>
        <p:nvSpPr>
          <p:cNvPr id="6" name="Rectangle 1">
            <a:extLst>
              <a:ext uri="{FF2B5EF4-FFF2-40B4-BE49-F238E27FC236}">
                <a16:creationId xmlns:a16="http://schemas.microsoft.com/office/drawing/2014/main" id="{8336BE88-6DA2-CABF-0D3A-2C7CFBB8A356}"/>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7" name="Rectangle 2">
            <a:extLst>
              <a:ext uri="{FF2B5EF4-FFF2-40B4-BE49-F238E27FC236}">
                <a16:creationId xmlns:a16="http://schemas.microsoft.com/office/drawing/2014/main" id="{B0320CFA-D114-BC86-C30F-76CEEA81CF68}"/>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「主体的に学習に取り組む態度」の評価</a:t>
            </a:r>
          </a:p>
        </p:txBody>
      </p:sp>
      <p:sp>
        <p:nvSpPr>
          <p:cNvPr id="9" name="TextBox 8">
            <a:extLst>
              <a:ext uri="{FF2B5EF4-FFF2-40B4-BE49-F238E27FC236}">
                <a16:creationId xmlns:a16="http://schemas.microsoft.com/office/drawing/2014/main" id="{765B1BC6-6930-328F-8CE1-F49D28DB4BEE}"/>
              </a:ext>
            </a:extLst>
          </p:cNvPr>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出典：国立教育政策研究所「学習評価の在り方ハンドブック（中学校編</a:t>
            </a:r>
            <a:r>
              <a:rPr sz="1300" dirty="0">
                <a:solidFill>
                  <a:srgbClr val="404040"/>
                </a:solidFill>
                <a:latin typeface="メイリオ"/>
                <a:ea typeface="メイリオ"/>
                <a:cs typeface="メイリオ"/>
              </a:rPr>
              <a:t>）」</a:t>
            </a:r>
          </a:p>
        </p:txBody>
      </p:sp>
    </p:spTree>
    <p:extLst>
      <p:ext uri="{BB962C8B-B14F-4D97-AF65-F5344CB8AC3E}">
        <p14:creationId xmlns:p14="http://schemas.microsoft.com/office/powerpoint/2010/main" val="379402200"/>
      </p:ext>
    </p:extLst>
  </p:cSld>
  <p:clrMapOvr>
    <a:masterClrMapping/>
  </p:clrMapOvr>
  <p:transition spd="slow">
    <p:cove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楕円 3"/>
          <p:cNvSpPr/>
          <p:nvPr/>
        </p:nvSpPr>
        <p:spPr>
          <a:xfrm>
            <a:off x="4595396" y="2830536"/>
            <a:ext cx="2942068" cy="2942068"/>
          </a:xfrm>
          <a:prstGeom prst="ellipse">
            <a:avLst/>
          </a:prstGeom>
          <a:ln w="76200"/>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5400" b="1" dirty="0">
                <a:latin typeface="メイリオ"/>
                <a:ea typeface="メイリオ"/>
                <a:cs typeface="メイリオ"/>
              </a:rPr>
              <a:t>行動観察</a:t>
            </a:r>
          </a:p>
        </p:txBody>
      </p:sp>
      <p:sp>
        <p:nvSpPr>
          <p:cNvPr id="2" name="角丸四角形 1"/>
          <p:cNvSpPr/>
          <p:nvPr/>
        </p:nvSpPr>
        <p:spPr>
          <a:xfrm>
            <a:off x="313897" y="1364365"/>
            <a:ext cx="5117911" cy="1009934"/>
          </a:xfrm>
          <a:prstGeom prst="roundRect">
            <a:avLst/>
          </a:prstGeom>
          <a:solidFill>
            <a:schemeClr val="accent4">
              <a:lumMod val="60000"/>
              <a:lumOff val="40000"/>
            </a:schemeClr>
          </a:solidFill>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800" b="1" dirty="0">
                <a:latin typeface="メイリオ"/>
                <a:ea typeface="メイリオ"/>
                <a:cs typeface="メイリオ"/>
              </a:rPr>
              <a:t>粘り強く取り組んでいる姿</a:t>
            </a:r>
          </a:p>
        </p:txBody>
      </p:sp>
      <p:sp>
        <p:nvSpPr>
          <p:cNvPr id="7" name="角丸四角形 6"/>
          <p:cNvSpPr/>
          <p:nvPr/>
        </p:nvSpPr>
        <p:spPr>
          <a:xfrm>
            <a:off x="6591869" y="1364365"/>
            <a:ext cx="5117911" cy="1009934"/>
          </a:xfrm>
          <a:prstGeom prst="roundRect">
            <a:avLst/>
          </a:prstGeom>
          <a:solidFill>
            <a:schemeClr val="accent1">
              <a:lumMod val="40000"/>
              <a:lumOff val="60000"/>
            </a:schemeClr>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800" b="1" dirty="0">
                <a:latin typeface="メイリオ"/>
                <a:ea typeface="メイリオ"/>
                <a:cs typeface="メイリオ"/>
              </a:rPr>
              <a:t>自己調整している姿</a:t>
            </a:r>
          </a:p>
        </p:txBody>
      </p:sp>
      <p:sp>
        <p:nvSpPr>
          <p:cNvPr id="8" name="角丸四角形 7"/>
          <p:cNvSpPr/>
          <p:nvPr/>
        </p:nvSpPr>
        <p:spPr>
          <a:xfrm>
            <a:off x="798286" y="2566194"/>
            <a:ext cx="4180113" cy="1009934"/>
          </a:xfrm>
          <a:prstGeom prst="roundRect">
            <a:avLst/>
          </a:prstGeom>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sz="2000" b="1" dirty="0">
                <a:latin typeface="メイリオ"/>
                <a:ea typeface="メイリオ"/>
                <a:cs typeface="メイリオ"/>
              </a:rPr>
              <a:t>前時までのノートを見返している</a:t>
            </a:r>
            <a:endParaRPr kumimoji="1" lang="ja-JP" altLang="en-US" sz="2000" b="1" dirty="0"/>
          </a:p>
        </p:txBody>
      </p:sp>
      <p:sp>
        <p:nvSpPr>
          <p:cNvPr id="9" name="角丸四角形 8"/>
          <p:cNvSpPr/>
          <p:nvPr/>
        </p:nvSpPr>
        <p:spPr>
          <a:xfrm>
            <a:off x="7186306" y="2566194"/>
            <a:ext cx="4243262" cy="1009934"/>
          </a:xfrm>
          <a:prstGeom prst="roundRect">
            <a:avLst/>
          </a:prstGeom>
          <a:solidFill>
            <a:schemeClr val="bg1"/>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解決方法を振り返り、修正したり別の方法を考えたりする</a:t>
            </a:r>
          </a:p>
        </p:txBody>
      </p:sp>
      <p:sp>
        <p:nvSpPr>
          <p:cNvPr id="10" name="角丸四角形 9"/>
          <p:cNvSpPr/>
          <p:nvPr/>
        </p:nvSpPr>
        <p:spPr>
          <a:xfrm>
            <a:off x="798286" y="3746564"/>
            <a:ext cx="4180113" cy="1009934"/>
          </a:xfrm>
          <a:prstGeom prst="roundRect">
            <a:avLst/>
          </a:prstGeom>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わかりやすくするために式に言葉や図での説明を書き加える</a:t>
            </a:r>
          </a:p>
        </p:txBody>
      </p:sp>
      <p:sp>
        <p:nvSpPr>
          <p:cNvPr id="11" name="角丸四角形 10"/>
          <p:cNvSpPr/>
          <p:nvPr/>
        </p:nvSpPr>
        <p:spPr>
          <a:xfrm>
            <a:off x="7179483" y="3746564"/>
            <a:ext cx="4243262" cy="1009934"/>
          </a:xfrm>
          <a:prstGeom prst="roundRect">
            <a:avLst/>
          </a:prstGeom>
          <a:solidFill>
            <a:schemeClr val="bg1"/>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解決方法を自己評価し、更によいものを求めようとする</a:t>
            </a:r>
          </a:p>
        </p:txBody>
      </p:sp>
      <p:sp>
        <p:nvSpPr>
          <p:cNvPr id="12" name="角丸四角形 11"/>
          <p:cNvSpPr/>
          <p:nvPr/>
        </p:nvSpPr>
        <p:spPr>
          <a:xfrm>
            <a:off x="798286" y="4926934"/>
            <a:ext cx="4180113" cy="1009934"/>
          </a:xfrm>
          <a:prstGeom prst="roundRect">
            <a:avLst/>
          </a:prstGeom>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別の方法での解決を試みる</a:t>
            </a:r>
          </a:p>
        </p:txBody>
      </p:sp>
      <p:sp>
        <p:nvSpPr>
          <p:cNvPr id="13" name="角丸四角形 12"/>
          <p:cNvSpPr/>
          <p:nvPr/>
        </p:nvSpPr>
        <p:spPr>
          <a:xfrm>
            <a:off x="7186306" y="4926934"/>
            <a:ext cx="4243262" cy="1009934"/>
          </a:xfrm>
          <a:prstGeom prst="roundRect">
            <a:avLst/>
          </a:prstGeom>
          <a:solidFill>
            <a:schemeClr val="bg1"/>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友達に説明することを念頭に置いて、着想や説明を書き加えていく</a:t>
            </a:r>
          </a:p>
        </p:txBody>
      </p:sp>
      <p:sp>
        <p:nvSpPr>
          <p:cNvPr id="3" name="正方形/長方形 2"/>
          <p:cNvSpPr/>
          <p:nvPr/>
        </p:nvSpPr>
        <p:spPr>
          <a:xfrm>
            <a:off x="1414817" y="6035465"/>
            <a:ext cx="9362365" cy="72333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ja-JP" altLang="en-US" sz="3200" b="1" dirty="0">
                <a:latin typeface="メイリオ"/>
                <a:ea typeface="メイリオ"/>
                <a:cs typeface="メイリオ"/>
              </a:rPr>
              <a:t>生徒の学びの姿をイメージした学習活動をつくる</a:t>
            </a:r>
          </a:p>
        </p:txBody>
      </p:sp>
      <p:sp>
        <p:nvSpPr>
          <p:cNvPr id="5" name="Rectangle 1">
            <a:extLst>
              <a:ext uri="{FF2B5EF4-FFF2-40B4-BE49-F238E27FC236}">
                <a16:creationId xmlns:a16="http://schemas.microsoft.com/office/drawing/2014/main" id="{1AEC97A5-720E-FEC4-03F9-5861B665EE2A}"/>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6" name="Rectangle 2">
            <a:extLst>
              <a:ext uri="{FF2B5EF4-FFF2-40B4-BE49-F238E27FC236}">
                <a16:creationId xmlns:a16="http://schemas.microsoft.com/office/drawing/2014/main" id="{22933B37-45EB-8E47-F8B4-523FFFC14BB4}"/>
              </a:ext>
            </a:extLst>
          </p:cNvPr>
          <p:cNvSpPr/>
          <p:nvPr/>
        </p:nvSpPr>
        <p:spPr>
          <a:xfrm>
            <a:off x="0" y="751591"/>
            <a:ext cx="12192000" cy="516984"/>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lvl="0">
              <a:defRPr/>
            </a:pPr>
            <a:r>
              <a:rPr lang="ja-JP" altLang="en-US" sz="2800" b="1" dirty="0">
                <a:solidFill>
                  <a:prstClr val="black"/>
                </a:solidFill>
                <a:latin typeface="メイリオ"/>
                <a:ea typeface="メイリオ"/>
                <a:cs typeface="メイリオ"/>
              </a:rPr>
              <a:t>「主体的に学習に取り組む態度」の評価の工夫</a:t>
            </a:r>
          </a:p>
        </p:txBody>
      </p:sp>
    </p:spTree>
    <p:extLst>
      <p:ext uri="{BB962C8B-B14F-4D97-AF65-F5344CB8AC3E}">
        <p14:creationId xmlns:p14="http://schemas.microsoft.com/office/powerpoint/2010/main" val="1285680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arn(inVertic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inVertic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arn(inVertical)">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barn(inVertical)">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barn(inVertical)">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barn(inVertical)">
                                      <p:cBhvr>
                                        <p:cTn id="4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9" grpId="0" animBg="1"/>
      <p:bldP spid="10" grpId="0" animBg="1"/>
      <p:bldP spid="11" grpId="0" animBg="1"/>
      <p:bldP spid="12" grpId="0" animBg="1"/>
      <p:bldP spid="13" grpId="0" animBg="1"/>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角丸四角形 7"/>
          <p:cNvSpPr/>
          <p:nvPr/>
        </p:nvSpPr>
        <p:spPr>
          <a:xfrm>
            <a:off x="309349" y="1439492"/>
            <a:ext cx="11573302" cy="2016849"/>
          </a:xfrm>
          <a:prstGeom prst="roundRect">
            <a:avLst>
              <a:gd name="adj" fmla="val 11110"/>
            </a:avLst>
          </a:prstGeom>
          <a:ln w="571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評価に当たって</a:t>
            </a:r>
            <a:endParaRPr kumimoji="1" lang="en-US" altLang="ja-JP" sz="2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①</a:t>
            </a:r>
            <a:r>
              <a:rPr kumimoji="1" lang="ja-JP" altLang="en-US" sz="2800" b="1" i="0" u="none" strike="noStrike" kern="1200" cap="none" spc="0" normalizeH="0" baseline="0" noProof="0" dirty="0">
                <a:ln>
                  <a:noFill/>
                </a:ln>
                <a:solidFill>
                  <a:srgbClr val="00B050"/>
                </a:solidFill>
                <a:effectLst/>
                <a:uLnTx/>
                <a:uFillTx/>
                <a:latin typeface="メイリオ" panose="020F0502020204030204"/>
                <a:ea typeface="メイリオ" panose="020B0400000000000000" pitchFamily="50" charset="-128"/>
                <a:cs typeface="メイリオ"/>
              </a:rPr>
              <a:t>自らの理解の状況</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を</a:t>
            </a:r>
            <a:r>
              <a:rPr kumimoji="1" lang="ja-JP" altLang="en-US" sz="2800" b="1" i="0" u="none" strike="noStrike" kern="1200" cap="none" spc="0" normalizeH="0" baseline="0" noProof="0" dirty="0">
                <a:ln>
                  <a:noFill/>
                </a:ln>
                <a:solidFill>
                  <a:srgbClr val="FF0000"/>
                </a:solidFill>
                <a:effectLst/>
                <a:uLnTx/>
                <a:uFillTx/>
                <a:latin typeface="メイリオ" panose="020F0502020204030204"/>
                <a:ea typeface="メイリオ" panose="020B0400000000000000" pitchFamily="50" charset="-128"/>
                <a:cs typeface="メイリオ"/>
              </a:rPr>
              <a:t>振り返る</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ことができるような発問を工夫する</a:t>
            </a:r>
            <a:endParaRPr kumimoji="1" lang="en-US" altLang="ja-JP" sz="2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②</a:t>
            </a:r>
            <a:r>
              <a:rPr kumimoji="1" lang="ja-JP" altLang="en-US" sz="2800" b="1" i="0" u="none" strike="noStrike" kern="1200" cap="none" spc="0" normalizeH="0" baseline="0" noProof="0" dirty="0">
                <a:ln>
                  <a:noFill/>
                </a:ln>
                <a:solidFill>
                  <a:srgbClr val="00B050"/>
                </a:solidFill>
                <a:effectLst/>
                <a:uLnTx/>
                <a:uFillTx/>
                <a:latin typeface="メイリオ" panose="020F0502020204030204"/>
                <a:ea typeface="メイリオ" panose="020B0400000000000000" pitchFamily="50" charset="-128"/>
                <a:cs typeface="メイリオ"/>
              </a:rPr>
              <a:t>他者との協働を通じて</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自らの考えを</a:t>
            </a:r>
            <a:r>
              <a:rPr kumimoji="1" lang="ja-JP" altLang="en-US" sz="2800" b="1" i="0" u="none" strike="noStrike" kern="1200" cap="none" spc="0" normalizeH="0" baseline="0" noProof="0" dirty="0">
                <a:ln>
                  <a:noFill/>
                </a:ln>
                <a:solidFill>
                  <a:srgbClr val="FF0000"/>
                </a:solidFill>
                <a:effectLst/>
                <a:uLnTx/>
                <a:uFillTx/>
                <a:latin typeface="メイリオ" panose="020F0502020204030204"/>
                <a:ea typeface="メイリオ" panose="020B0400000000000000" pitchFamily="50" charset="-128"/>
                <a:cs typeface="メイリオ"/>
              </a:rPr>
              <a:t>相対化する</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場面を設定する</a:t>
            </a:r>
            <a:endParaRPr kumimoji="1" lang="en-US" altLang="ja-JP" sz="2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③学習のめあてや見通しをもたせたり、その</a:t>
            </a:r>
            <a:r>
              <a:rPr kumimoji="1" lang="ja-JP" altLang="en-US" sz="2800" b="1" i="0" u="none" strike="noStrike" kern="1200" cap="none" spc="0" normalizeH="0" baseline="0" noProof="0" dirty="0">
                <a:ln>
                  <a:noFill/>
                </a:ln>
                <a:solidFill>
                  <a:srgbClr val="00B050"/>
                </a:solidFill>
                <a:effectLst/>
                <a:uLnTx/>
                <a:uFillTx/>
                <a:latin typeface="メイリオ" panose="020F0502020204030204"/>
                <a:ea typeface="メイリオ" panose="020B0400000000000000" pitchFamily="50" charset="-128"/>
                <a:cs typeface="メイリオ"/>
              </a:rPr>
              <a:t>達成状況</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を</a:t>
            </a:r>
            <a:r>
              <a:rPr kumimoji="1" lang="ja-JP" altLang="en-US" sz="2800" b="1" i="0" u="none" strike="noStrike" kern="1200" cap="none" spc="0" normalizeH="0" baseline="0" noProof="0" dirty="0">
                <a:ln>
                  <a:noFill/>
                </a:ln>
                <a:solidFill>
                  <a:srgbClr val="FF0000"/>
                </a:solidFill>
                <a:effectLst/>
                <a:uLnTx/>
                <a:uFillTx/>
                <a:latin typeface="メイリオ" panose="020F0502020204030204"/>
                <a:ea typeface="メイリオ" panose="020B0400000000000000" pitchFamily="50" charset="-128"/>
                <a:cs typeface="メイリオ"/>
              </a:rPr>
              <a:t>振り返らせる</a:t>
            </a:r>
          </a:p>
        </p:txBody>
      </p:sp>
      <p:pic>
        <p:nvPicPr>
          <p:cNvPr id="2" name="図 1"/>
          <p:cNvPicPr>
            <a:picLocks noChangeAspect="1"/>
          </p:cNvPicPr>
          <p:nvPr/>
        </p:nvPicPr>
        <p:blipFill>
          <a:blip r:embed="rId3">
            <a:extLst>
              <a:ext uri="{BEBA8EAE-BF5A-486C-A8C5-ECC9F3942E4B}">
                <a14:imgProps xmlns:a14="http://schemas.microsoft.com/office/drawing/2010/main">
                  <a14:imgLayer r:embed="rId4">
                    <a14:imgEffect>
                      <a14:backgroundRemoval t="625" b="100000" l="0" r="93651">
                        <a14:foregroundMark x1="44444" y1="11250" x2="48016" y2="26750"/>
                        <a14:foregroundMark x1="66270" y1="12500" x2="66270" y2="28000"/>
                        <a14:foregroundMark x1="45833" y1="92250" x2="45833" y2="97125"/>
                        <a14:foregroundMark x1="39286" y1="98250" x2="49008" y2="98500"/>
                        <a14:foregroundMark x1="59921" y1="98250" x2="69048" y2="98750"/>
                        <a14:foregroundMark x1="36508" y1="98750" x2="39881" y2="98375"/>
                        <a14:foregroundMark x1="68056" y1="98875" x2="71032" y2="98500"/>
                        <a14:foregroundMark x1="35516" y1="98875" x2="40476" y2="98375"/>
                      </a14:backgroundRemoval>
                    </a14:imgEffect>
                  </a14:imgLayer>
                </a14:imgProps>
              </a:ext>
            </a:extLst>
          </a:blip>
          <a:stretch>
            <a:fillRect/>
          </a:stretch>
        </p:blipFill>
        <p:spPr>
          <a:xfrm>
            <a:off x="4875313" y="3682564"/>
            <a:ext cx="2186565" cy="3145253"/>
          </a:xfrm>
          <a:prstGeom prst="rect">
            <a:avLst/>
          </a:prstGeom>
        </p:spPr>
      </p:pic>
      <p:sp>
        <p:nvSpPr>
          <p:cNvPr id="3" name="角丸四角形吹き出し 2"/>
          <p:cNvSpPr/>
          <p:nvPr/>
        </p:nvSpPr>
        <p:spPr>
          <a:xfrm>
            <a:off x="1001486" y="3682564"/>
            <a:ext cx="3443514" cy="1297917"/>
          </a:xfrm>
          <a:prstGeom prst="wedgeRoundRectCallout">
            <a:avLst>
              <a:gd name="adj1" fmla="val 74465"/>
              <a:gd name="adj2" fmla="val 25198"/>
              <a:gd name="adj3" fmla="val 16667"/>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kumimoji="1" lang="ja-JP" altLang="en-US" sz="2400" b="1" dirty="0">
                <a:latin typeface="メイリオ"/>
                <a:ea typeface="メイリオ"/>
                <a:cs typeface="メイリオ"/>
              </a:rPr>
              <a:t>①授業の最初と比べて</a:t>
            </a:r>
            <a:endParaRPr kumimoji="1" lang="en-US" altLang="ja-JP" sz="2400" b="1" dirty="0"/>
          </a:p>
          <a:p>
            <a:r>
              <a:rPr lang="ja-JP" altLang="en-US" sz="2400" b="1" dirty="0">
                <a:latin typeface="メイリオ"/>
                <a:ea typeface="メイリオ"/>
                <a:cs typeface="メイリオ"/>
              </a:rPr>
              <a:t>　</a:t>
            </a:r>
            <a:r>
              <a:rPr kumimoji="1" lang="ja-JP" altLang="en-US" sz="2400" b="1" dirty="0">
                <a:latin typeface="メイリオ"/>
                <a:ea typeface="メイリオ"/>
                <a:cs typeface="メイリオ"/>
              </a:rPr>
              <a:t>考え方が変わったと</a:t>
            </a:r>
            <a:endParaRPr kumimoji="1" lang="en-US" altLang="ja-JP" sz="2400" b="1" dirty="0"/>
          </a:p>
          <a:p>
            <a:r>
              <a:rPr lang="ja-JP" altLang="en-US" sz="2400" b="1" dirty="0">
                <a:latin typeface="メイリオ"/>
                <a:ea typeface="メイリオ"/>
                <a:cs typeface="メイリオ"/>
              </a:rPr>
              <a:t>　</a:t>
            </a:r>
            <a:r>
              <a:rPr kumimoji="1" lang="ja-JP" altLang="en-US" sz="2400" b="1" dirty="0">
                <a:latin typeface="メイリオ"/>
                <a:ea typeface="メイリオ"/>
                <a:cs typeface="メイリオ"/>
              </a:rPr>
              <a:t>ころは？</a:t>
            </a:r>
          </a:p>
        </p:txBody>
      </p:sp>
      <p:sp>
        <p:nvSpPr>
          <p:cNvPr id="9" name="角丸四角形吹き出し 8"/>
          <p:cNvSpPr/>
          <p:nvPr/>
        </p:nvSpPr>
        <p:spPr>
          <a:xfrm>
            <a:off x="7265078" y="3682564"/>
            <a:ext cx="4331837" cy="935060"/>
          </a:xfrm>
          <a:prstGeom prst="wedgeRoundRectCallout">
            <a:avLst>
              <a:gd name="adj1" fmla="val -62079"/>
              <a:gd name="adj2" fmla="val 43618"/>
              <a:gd name="adj3" fmla="val 16667"/>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dirty="0">
                <a:latin typeface="メイリオ"/>
                <a:ea typeface="メイリオ"/>
                <a:cs typeface="メイリオ"/>
              </a:rPr>
              <a:t>②</a:t>
            </a:r>
            <a:r>
              <a:rPr kumimoji="1" lang="ja-JP" altLang="en-US" sz="2400" b="1" dirty="0">
                <a:latin typeface="メイリオ"/>
                <a:ea typeface="メイリオ"/>
                <a:cs typeface="メイリオ"/>
              </a:rPr>
              <a:t>友達の意見を聞いて、自分</a:t>
            </a:r>
            <a:endParaRPr kumimoji="1" lang="en-US" altLang="ja-JP" sz="2400" b="1" dirty="0"/>
          </a:p>
          <a:p>
            <a:r>
              <a:rPr lang="ja-JP" altLang="en-US" sz="2400" b="1" dirty="0">
                <a:latin typeface="メイリオ"/>
                <a:ea typeface="メイリオ"/>
                <a:cs typeface="メイリオ"/>
              </a:rPr>
              <a:t>　</a:t>
            </a:r>
            <a:r>
              <a:rPr kumimoji="1" lang="ja-JP" altLang="en-US" sz="2400" b="1" dirty="0">
                <a:latin typeface="メイリオ"/>
                <a:ea typeface="メイリオ"/>
                <a:cs typeface="メイリオ"/>
              </a:rPr>
              <a:t>の考えを見直してみよう。</a:t>
            </a:r>
            <a:endParaRPr kumimoji="1" lang="en-US" altLang="ja-JP" sz="2400" b="1" dirty="0"/>
          </a:p>
        </p:txBody>
      </p:sp>
      <p:sp>
        <p:nvSpPr>
          <p:cNvPr id="10" name="角丸四角形吹き出し 9"/>
          <p:cNvSpPr/>
          <p:nvPr/>
        </p:nvSpPr>
        <p:spPr>
          <a:xfrm>
            <a:off x="6934200" y="5194043"/>
            <a:ext cx="3806372" cy="986971"/>
          </a:xfrm>
          <a:prstGeom prst="wedgeRoundRectCallout">
            <a:avLst>
              <a:gd name="adj1" fmla="val -54290"/>
              <a:gd name="adj2" fmla="val -95570"/>
              <a:gd name="adj3" fmla="val 16667"/>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dirty="0">
                <a:latin typeface="メイリオ"/>
                <a:ea typeface="メイリオ"/>
                <a:cs typeface="メイリオ"/>
              </a:rPr>
              <a:t>③今日の学習の目標は</a:t>
            </a:r>
            <a:endParaRPr lang="en-US" altLang="ja-JP" sz="2400" b="1" dirty="0"/>
          </a:p>
          <a:p>
            <a:r>
              <a:rPr lang="ja-JP" altLang="en-US" sz="2400" b="1" dirty="0">
                <a:latin typeface="メイリオ"/>
                <a:ea typeface="メイリオ"/>
                <a:cs typeface="メイリオ"/>
              </a:rPr>
              <a:t>　達成できたかな？</a:t>
            </a:r>
            <a:endParaRPr kumimoji="1" lang="ja-JP" altLang="en-US" sz="2400" b="1" dirty="0"/>
          </a:p>
        </p:txBody>
      </p:sp>
      <p:sp>
        <p:nvSpPr>
          <p:cNvPr id="4" name="Rectangle 1">
            <a:extLst>
              <a:ext uri="{FF2B5EF4-FFF2-40B4-BE49-F238E27FC236}">
                <a16:creationId xmlns:a16="http://schemas.microsoft.com/office/drawing/2014/main" id="{6C8891CF-80C2-3979-A709-7536A404940C}"/>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5" name="Rectangle 2">
            <a:extLst>
              <a:ext uri="{FF2B5EF4-FFF2-40B4-BE49-F238E27FC236}">
                <a16:creationId xmlns:a16="http://schemas.microsoft.com/office/drawing/2014/main" id="{481E611F-0310-18E5-14D7-530928A0F131}"/>
              </a:ext>
            </a:extLst>
          </p:cNvPr>
          <p:cNvSpPr/>
          <p:nvPr/>
        </p:nvSpPr>
        <p:spPr>
          <a:xfrm>
            <a:off x="0" y="751591"/>
            <a:ext cx="12192000" cy="516984"/>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lvl="0">
              <a:defRPr/>
            </a:pPr>
            <a:r>
              <a:rPr lang="ja-JP" altLang="en-US" sz="2800" b="1" dirty="0">
                <a:solidFill>
                  <a:prstClr val="black"/>
                </a:solidFill>
                <a:latin typeface="メイリオ"/>
                <a:ea typeface="メイリオ"/>
                <a:cs typeface="メイリオ"/>
              </a:rPr>
              <a:t>「主体的に学習に取り組む態度」の評価の工夫</a:t>
            </a:r>
          </a:p>
        </p:txBody>
      </p:sp>
    </p:spTree>
    <p:extLst>
      <p:ext uri="{BB962C8B-B14F-4D97-AF65-F5344CB8AC3E}">
        <p14:creationId xmlns:p14="http://schemas.microsoft.com/office/powerpoint/2010/main" val="1377656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「Bの姿」を具体化する ─ 数学「二次方程式」の例</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11400000" cy="64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200" b="1">
                <a:solidFill>
                  <a:srgbClr val="FFFFFF"/>
                </a:solidFill>
                <a:latin typeface="メイリオ"/>
                <a:ea typeface="メイリオ"/>
                <a:cs typeface="メイリオ"/>
              </a:rPr>
              <a:t>学習シートに「気を付けるポイント」を記述</a:t>
            </a:r>
          </a:p>
        </p:txBody>
      </p:sp>
      <p:sp>
        <p:nvSpPr>
          <p:cNvPr id="7" name="Rectangle 6"/>
          <p:cNvSpPr/>
          <p:nvPr/>
        </p:nvSpPr>
        <p:spPr>
          <a:xfrm>
            <a:off x="400000" y="2600000"/>
            <a:ext cx="5600000" cy="640000"/>
          </a:xfrm>
          <a:prstGeom prst="rect">
            <a:avLst/>
          </a:prstGeom>
          <a:solidFill>
            <a:srgbClr val="5BC0DE"/>
          </a:solidFill>
          <a:ln w="254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a:bodyPr>
          <a:lstStyle/>
          <a:p>
            <a:pPr algn="ctr">
              <a:lnSpc>
                <a:spcPct val="140000"/>
              </a:lnSpc>
            </a:pPr>
            <a:r>
              <a:rPr sz="2400" b="1">
                <a:solidFill>
                  <a:srgbClr val="FFFFFF"/>
                </a:solidFill>
                <a:latin typeface="メイリオ"/>
                <a:ea typeface="メイリオ"/>
                <a:cs typeface="メイリオ"/>
              </a:rPr>
              <a:t>▼ おおむね満足（B）</a:t>
            </a:r>
          </a:p>
        </p:txBody>
      </p:sp>
      <p:sp>
        <p:nvSpPr>
          <p:cNvPr id="8" name="Rectangle 7"/>
          <p:cNvSpPr/>
          <p:nvPr/>
        </p:nvSpPr>
        <p:spPr>
          <a:xfrm>
            <a:off x="400000" y="3240000"/>
            <a:ext cx="5600000" cy="21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a:bodyPr>
          <a:lstStyle/>
          <a:p>
            <a:pPr algn="l">
              <a:lnSpc>
                <a:spcPct val="130000"/>
              </a:lnSpc>
            </a:pPr>
            <a:r>
              <a:rPr sz="2200" b="1" dirty="0" err="1">
                <a:solidFill>
                  <a:srgbClr val="000000"/>
                </a:solidFill>
                <a:latin typeface="メイリオ"/>
                <a:ea typeface="メイリオ"/>
                <a:cs typeface="メイリオ"/>
              </a:rPr>
              <a:t>ポイントが</a:t>
            </a:r>
            <a:r>
              <a:rPr sz="2400" b="1" dirty="0" err="1">
                <a:solidFill>
                  <a:srgbClr val="EB6C15"/>
                </a:solidFill>
                <a:latin typeface="メイリオ"/>
                <a:ea typeface="メイリオ"/>
                <a:cs typeface="メイリオ"/>
              </a:rPr>
              <a:t>書かれている</a:t>
            </a:r>
            <a:endParaRPr sz="2400" b="1" dirty="0">
              <a:solidFill>
                <a:srgbClr val="EB6C15"/>
              </a:solidFill>
              <a:latin typeface="メイリオ"/>
            </a:endParaRPr>
          </a:p>
          <a:p>
            <a:pPr algn="l">
              <a:lnSpc>
                <a:spcPct val="130000"/>
              </a:lnSpc>
            </a:pPr>
            <a:endParaRPr sz="2400" b="1" dirty="0">
              <a:solidFill>
                <a:srgbClr val="EB6C15"/>
              </a:solidFill>
              <a:latin typeface="メイリオ"/>
            </a:endParaRPr>
          </a:p>
          <a:p>
            <a:pPr algn="l">
              <a:lnSpc>
                <a:spcPct val="130000"/>
              </a:lnSpc>
            </a:pPr>
            <a:r>
              <a:rPr sz="1800" b="1" dirty="0" err="1">
                <a:solidFill>
                  <a:srgbClr val="404040"/>
                </a:solidFill>
                <a:latin typeface="メイリオ"/>
                <a:ea typeface="メイリオ"/>
                <a:cs typeface="メイリオ"/>
              </a:rPr>
              <a:t>例：別の文字に置き換えて</a:t>
            </a:r>
            <a:endParaRPr sz="1800" b="1" dirty="0">
              <a:solidFill>
                <a:srgbClr val="404040"/>
              </a:solidFill>
              <a:latin typeface="メイリオ"/>
            </a:endParaRPr>
          </a:p>
          <a:p>
            <a:pPr algn="l">
              <a:lnSpc>
                <a:spcPct val="130000"/>
              </a:lnSpc>
            </a:pPr>
            <a:r>
              <a:rPr sz="1800" b="1" dirty="0">
                <a:solidFill>
                  <a:srgbClr val="404040"/>
                </a:solidFill>
                <a:latin typeface="メイリオ"/>
                <a:ea typeface="メイリオ"/>
                <a:cs typeface="メイリオ"/>
              </a:rPr>
              <a:t>　 </a:t>
            </a:r>
            <a:r>
              <a:rPr sz="1800" b="1" dirty="0" err="1">
                <a:solidFill>
                  <a:srgbClr val="404040"/>
                </a:solidFill>
                <a:latin typeface="メイリオ"/>
                <a:ea typeface="メイリオ"/>
                <a:cs typeface="メイリオ"/>
              </a:rPr>
              <a:t>解く方法を使えるようにする</a:t>
            </a:r>
            <a:endParaRPr sz="1800" b="1" dirty="0">
              <a:solidFill>
                <a:srgbClr val="404040"/>
              </a:solidFill>
              <a:latin typeface="メイリオ"/>
            </a:endParaRPr>
          </a:p>
        </p:txBody>
      </p:sp>
      <p:sp>
        <p:nvSpPr>
          <p:cNvPr id="9" name="Rectangle 8"/>
          <p:cNvSpPr/>
          <p:nvPr/>
        </p:nvSpPr>
        <p:spPr>
          <a:xfrm>
            <a:off x="6200000" y="2600000"/>
            <a:ext cx="5600000" cy="64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a:bodyPr>
          <a:lstStyle/>
          <a:p>
            <a:pPr algn="ctr">
              <a:lnSpc>
                <a:spcPct val="140000"/>
              </a:lnSpc>
            </a:pPr>
            <a:r>
              <a:rPr sz="2400" b="1">
                <a:solidFill>
                  <a:srgbClr val="FFFFFF"/>
                </a:solidFill>
                <a:latin typeface="メイリオ"/>
                <a:ea typeface="メイリオ"/>
                <a:cs typeface="メイリオ"/>
              </a:rPr>
              <a:t>▼ 十分満足（A）</a:t>
            </a:r>
          </a:p>
        </p:txBody>
      </p:sp>
      <p:sp>
        <p:nvSpPr>
          <p:cNvPr id="10" name="Rectangle 9"/>
          <p:cNvSpPr/>
          <p:nvPr/>
        </p:nvSpPr>
        <p:spPr>
          <a:xfrm>
            <a:off x="6200000" y="3240000"/>
            <a:ext cx="5600000" cy="21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lnSpcReduction="10000"/>
          </a:bodyPr>
          <a:lstStyle/>
          <a:p>
            <a:pPr algn="l">
              <a:lnSpc>
                <a:spcPct val="130000"/>
              </a:lnSpc>
            </a:pPr>
            <a:r>
              <a:rPr sz="2200" b="1">
                <a:solidFill>
                  <a:srgbClr val="000000"/>
                </a:solidFill>
                <a:latin typeface="メイリオ"/>
                <a:ea typeface="メイリオ"/>
                <a:cs typeface="メイリオ"/>
              </a:rPr>
              <a:t>ポイント＋</a:t>
            </a:r>
            <a:r>
              <a:rPr sz="2400" b="1">
                <a:solidFill>
                  <a:srgbClr val="EB6C15"/>
                </a:solidFill>
                <a:latin typeface="メイリオ"/>
                <a:ea typeface="メイリオ"/>
                <a:cs typeface="メイリオ"/>
              </a:rPr>
              <a:t>理由</a:t>
            </a:r>
            <a:r>
              <a:rPr sz="2200" b="1">
                <a:solidFill>
                  <a:srgbClr val="000000"/>
                </a:solidFill>
                <a:latin typeface="メイリオ"/>
                <a:ea typeface="メイリオ"/>
                <a:cs typeface="メイリオ"/>
              </a:rPr>
              <a:t>が書かれている</a:t>
            </a:r>
          </a:p>
          <a:p>
            <a:pPr algn="l">
              <a:lnSpc>
                <a:spcPct val="130000"/>
              </a:lnSpc>
            </a:pPr>
            <a:endParaRPr sz="2200" b="1">
              <a:solidFill>
                <a:srgbClr val="000000"/>
              </a:solidFill>
              <a:latin typeface="メイリオ"/>
            </a:endParaRPr>
          </a:p>
          <a:p>
            <a:pPr algn="l">
              <a:lnSpc>
                <a:spcPct val="130000"/>
              </a:lnSpc>
            </a:pPr>
            <a:r>
              <a:rPr sz="1800" b="1">
                <a:solidFill>
                  <a:srgbClr val="404040"/>
                </a:solidFill>
                <a:latin typeface="メイリオ"/>
                <a:ea typeface="メイリオ"/>
                <a:cs typeface="メイリオ"/>
              </a:rPr>
              <a:t>例：式を見ずに展開すると時間も</a:t>
            </a:r>
          </a:p>
          <a:p>
            <a:pPr algn="l">
              <a:lnSpc>
                <a:spcPct val="130000"/>
              </a:lnSpc>
            </a:pPr>
            <a:r>
              <a:rPr sz="1800" b="1">
                <a:solidFill>
                  <a:srgbClr val="404040"/>
                </a:solidFill>
                <a:latin typeface="メイリオ"/>
                <a:ea typeface="メイリオ"/>
                <a:cs typeface="メイリオ"/>
              </a:rPr>
              <a:t>　 間違いも増えるから、</a:t>
            </a:r>
          </a:p>
          <a:p>
            <a:pPr algn="l">
              <a:lnSpc>
                <a:spcPct val="130000"/>
              </a:lnSpc>
            </a:pPr>
            <a:r>
              <a:rPr sz="1800" b="1">
                <a:solidFill>
                  <a:srgbClr val="404040"/>
                </a:solidFill>
                <a:latin typeface="メイリオ"/>
                <a:ea typeface="メイリオ"/>
                <a:cs typeface="メイリオ"/>
              </a:rPr>
              <a:t>　 置き換えを使えるようにする</a:t>
            </a:r>
          </a:p>
        </p:txBody>
      </p:sp>
      <p:sp>
        <p:nvSpPr>
          <p:cNvPr id="11" name="Rectangle 10"/>
          <p:cNvSpPr/>
          <p:nvPr/>
        </p:nvSpPr>
        <p:spPr>
          <a:xfrm>
            <a:off x="400000" y="5500000"/>
            <a:ext cx="11400000" cy="700000"/>
          </a:xfrm>
          <a:prstGeom prst="rect">
            <a:avLst/>
          </a:prstGeom>
          <a:solidFill>
            <a:srgbClr val="D6EEFA"/>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a:solidFill>
                  <a:srgbClr val="1F3A6E"/>
                </a:solidFill>
                <a:latin typeface="メイリオ"/>
                <a:ea typeface="メイリオ"/>
                <a:cs typeface="メイリオ"/>
              </a:rPr>
              <a:t>同じ気付きでも「理由まで書けるか」でA／Bが分かれる</a:t>
            </a:r>
          </a:p>
        </p:txBody>
      </p:sp>
      <p:sp>
        <p:nvSpPr>
          <p:cNvPr id="12" name="TextBox 11"/>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出典：国立教育政策研究所「指導と評価の一体化のための参考資料」（数学）</a:t>
            </a:r>
          </a:p>
        </p:txBody>
      </p:sp>
      <p:sp>
        <p:nvSpPr>
          <p:cNvPr id="13" name="Rectangle 1">
            <a:extLst>
              <a:ext uri="{FF2B5EF4-FFF2-40B4-BE49-F238E27FC236}">
                <a16:creationId xmlns:a16="http://schemas.microsoft.com/office/drawing/2014/main" id="{7E7CE34B-4441-01E5-C7FB-41574BA435D3}"/>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評価のばらつきを防ぐ ─ 妥当性 × 信頼性</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560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lnSpcReduction="10000"/>
          </a:bodyPr>
          <a:lstStyle/>
          <a:p>
            <a:pPr algn="ctr">
              <a:lnSpc>
                <a:spcPct val="140000"/>
              </a:lnSpc>
            </a:pPr>
            <a:r>
              <a:rPr sz="2600" b="1">
                <a:solidFill>
                  <a:srgbClr val="FFFFFF"/>
                </a:solidFill>
                <a:latin typeface="メイリオ"/>
                <a:ea typeface="メイリオ"/>
                <a:cs typeface="メイリオ"/>
              </a:rPr>
              <a:t>妥当性</a:t>
            </a:r>
          </a:p>
        </p:txBody>
      </p:sp>
      <p:sp>
        <p:nvSpPr>
          <p:cNvPr id="7" name="Rectangle 6"/>
          <p:cNvSpPr/>
          <p:nvPr/>
        </p:nvSpPr>
        <p:spPr>
          <a:xfrm>
            <a:off x="400000" y="2600000"/>
            <a:ext cx="5600000" cy="24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a:bodyPr>
          <a:lstStyle/>
          <a:p>
            <a:pPr algn="l">
              <a:lnSpc>
                <a:spcPct val="130000"/>
              </a:lnSpc>
            </a:pPr>
            <a:r>
              <a:rPr sz="2000" b="1" dirty="0" err="1">
                <a:solidFill>
                  <a:srgbClr val="000000"/>
                </a:solidFill>
                <a:latin typeface="メイリオ"/>
                <a:ea typeface="メイリオ"/>
                <a:cs typeface="メイリオ"/>
              </a:rPr>
              <a:t>資質・能力を</a:t>
            </a:r>
            <a:endParaRPr sz="2000" b="1" dirty="0">
              <a:solidFill>
                <a:srgbClr val="000000"/>
              </a:solidFill>
              <a:latin typeface="メイリオ"/>
            </a:endParaRPr>
          </a:p>
          <a:p>
            <a:pPr algn="l">
              <a:lnSpc>
                <a:spcPct val="130000"/>
              </a:lnSpc>
            </a:pPr>
            <a:r>
              <a:rPr sz="2000" b="1" dirty="0">
                <a:solidFill>
                  <a:srgbClr val="000000"/>
                </a:solidFill>
                <a:latin typeface="メイリオ"/>
                <a:ea typeface="メイリオ"/>
                <a:cs typeface="メイリオ"/>
              </a:rPr>
              <a:t>　</a:t>
            </a:r>
            <a:r>
              <a:rPr sz="2400" b="1" dirty="0" err="1">
                <a:solidFill>
                  <a:srgbClr val="EB6C15"/>
                </a:solidFill>
                <a:latin typeface="メイリオ"/>
                <a:ea typeface="メイリオ"/>
                <a:cs typeface="メイリオ"/>
              </a:rPr>
              <a:t>適切に反映</a:t>
            </a:r>
            <a:r>
              <a:rPr lang="ja-JP" altLang="en-US" sz="2400" b="1" dirty="0">
                <a:solidFill>
                  <a:srgbClr val="EB6C15"/>
                </a:solidFill>
                <a:latin typeface="メイリオ"/>
                <a:ea typeface="メイリオ"/>
                <a:cs typeface="メイリオ"/>
              </a:rPr>
              <a:t>　</a:t>
            </a:r>
            <a:r>
              <a:rPr sz="2000" b="1" dirty="0" err="1">
                <a:solidFill>
                  <a:srgbClr val="000000"/>
                </a:solidFill>
                <a:latin typeface="メイリオ"/>
                <a:ea typeface="メイリオ"/>
                <a:cs typeface="メイリオ"/>
              </a:rPr>
              <a:t>していること</a:t>
            </a:r>
            <a:endParaRPr sz="2000" b="1" dirty="0">
              <a:solidFill>
                <a:srgbClr val="000000"/>
              </a:solidFill>
              <a:latin typeface="メイリオ"/>
            </a:endParaRPr>
          </a:p>
          <a:p>
            <a:pPr algn="l">
              <a:lnSpc>
                <a:spcPct val="130000"/>
              </a:lnSpc>
            </a:pPr>
            <a:endParaRPr sz="2000" b="1" dirty="0">
              <a:solidFill>
                <a:srgbClr val="000000"/>
              </a:solidFill>
              <a:latin typeface="メイリオ"/>
            </a:endParaRPr>
          </a:p>
          <a:p>
            <a:pPr algn="l">
              <a:lnSpc>
                <a:spcPct val="130000"/>
              </a:lnSpc>
            </a:pPr>
            <a:r>
              <a:rPr sz="1800" b="1" dirty="0">
                <a:solidFill>
                  <a:srgbClr val="404040"/>
                </a:solidFill>
                <a:latin typeface="メイリオ"/>
                <a:ea typeface="メイリオ"/>
                <a:cs typeface="メイリオ"/>
              </a:rPr>
              <a:t>（「</a:t>
            </a:r>
            <a:r>
              <a:rPr sz="1800" b="1" dirty="0" err="1">
                <a:solidFill>
                  <a:srgbClr val="404040"/>
                </a:solidFill>
                <a:latin typeface="メイリオ"/>
                <a:ea typeface="メイリオ"/>
                <a:cs typeface="メイリオ"/>
              </a:rPr>
              <a:t>測りたい力」と「方法」が一致している</a:t>
            </a:r>
            <a:r>
              <a:rPr sz="1800" b="1" dirty="0">
                <a:solidFill>
                  <a:srgbClr val="404040"/>
                </a:solidFill>
                <a:latin typeface="メイリオ"/>
                <a:ea typeface="メイリオ"/>
                <a:cs typeface="メイリオ"/>
              </a:rPr>
              <a:t>）</a:t>
            </a:r>
          </a:p>
        </p:txBody>
      </p:sp>
      <p:sp>
        <p:nvSpPr>
          <p:cNvPr id="8" name="Rectangle 7"/>
          <p:cNvSpPr/>
          <p:nvPr/>
        </p:nvSpPr>
        <p:spPr>
          <a:xfrm>
            <a:off x="6200000" y="1900000"/>
            <a:ext cx="5600000" cy="700000"/>
          </a:xfrm>
          <a:prstGeom prst="rect">
            <a:avLst/>
          </a:prstGeom>
          <a:solidFill>
            <a:srgbClr val="5BC0DE"/>
          </a:solidFill>
          <a:ln w="254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lnSpcReduction="10000"/>
          </a:bodyPr>
          <a:lstStyle/>
          <a:p>
            <a:pPr algn="ctr">
              <a:lnSpc>
                <a:spcPct val="140000"/>
              </a:lnSpc>
            </a:pPr>
            <a:r>
              <a:rPr sz="2600" b="1">
                <a:solidFill>
                  <a:srgbClr val="FFFFFF"/>
                </a:solidFill>
                <a:latin typeface="メイリオ"/>
                <a:ea typeface="メイリオ"/>
                <a:cs typeface="メイリオ"/>
              </a:rPr>
              <a:t>信頼性</a:t>
            </a:r>
          </a:p>
        </p:txBody>
      </p:sp>
      <p:sp>
        <p:nvSpPr>
          <p:cNvPr id="9" name="Rectangle 8"/>
          <p:cNvSpPr/>
          <p:nvPr/>
        </p:nvSpPr>
        <p:spPr>
          <a:xfrm>
            <a:off x="6200000" y="2600000"/>
            <a:ext cx="5600000" cy="24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a:bodyPr>
          <a:lstStyle/>
          <a:p>
            <a:pPr algn="l">
              <a:lnSpc>
                <a:spcPct val="130000"/>
              </a:lnSpc>
            </a:pPr>
            <a:r>
              <a:rPr sz="2000" b="1" dirty="0" err="1">
                <a:solidFill>
                  <a:srgbClr val="000000"/>
                </a:solidFill>
                <a:latin typeface="メイリオ"/>
                <a:ea typeface="メイリオ"/>
                <a:cs typeface="メイリオ"/>
              </a:rPr>
              <a:t>誰が評価しても</a:t>
            </a:r>
            <a:endParaRPr sz="2000" b="1" dirty="0">
              <a:solidFill>
                <a:srgbClr val="000000"/>
              </a:solidFill>
              <a:latin typeface="メイリオ"/>
            </a:endParaRPr>
          </a:p>
          <a:p>
            <a:pPr algn="l">
              <a:lnSpc>
                <a:spcPct val="130000"/>
              </a:lnSpc>
            </a:pPr>
            <a:r>
              <a:rPr sz="2000" b="1" dirty="0">
                <a:solidFill>
                  <a:srgbClr val="000000"/>
                </a:solidFill>
                <a:latin typeface="メイリオ"/>
                <a:ea typeface="メイリオ"/>
                <a:cs typeface="メイリオ"/>
              </a:rPr>
              <a:t>　</a:t>
            </a:r>
            <a:r>
              <a:rPr sz="2400" b="1" dirty="0" err="1">
                <a:solidFill>
                  <a:srgbClr val="EB6C15"/>
                </a:solidFill>
                <a:latin typeface="メイリオ"/>
                <a:ea typeface="メイリオ"/>
                <a:cs typeface="メイリオ"/>
              </a:rPr>
              <a:t>同じ結果になる</a:t>
            </a:r>
            <a:r>
              <a:rPr lang="ja-JP" altLang="en-US" sz="2400" b="1" dirty="0">
                <a:solidFill>
                  <a:srgbClr val="EB6C15"/>
                </a:solidFill>
                <a:latin typeface="メイリオ"/>
                <a:ea typeface="メイリオ"/>
                <a:cs typeface="メイリオ"/>
              </a:rPr>
              <a:t>　</a:t>
            </a:r>
            <a:r>
              <a:rPr sz="2000" b="1" dirty="0" err="1">
                <a:solidFill>
                  <a:srgbClr val="000000"/>
                </a:solidFill>
                <a:latin typeface="メイリオ"/>
                <a:ea typeface="メイリオ"/>
                <a:cs typeface="メイリオ"/>
              </a:rPr>
              <a:t>こと</a:t>
            </a:r>
            <a:endParaRPr sz="2000" b="1" dirty="0">
              <a:solidFill>
                <a:srgbClr val="000000"/>
              </a:solidFill>
              <a:latin typeface="メイリオ"/>
            </a:endParaRPr>
          </a:p>
          <a:p>
            <a:pPr algn="l">
              <a:lnSpc>
                <a:spcPct val="130000"/>
              </a:lnSpc>
            </a:pPr>
            <a:endParaRPr sz="2000" b="1" dirty="0">
              <a:solidFill>
                <a:srgbClr val="000000"/>
              </a:solidFill>
              <a:latin typeface="メイリオ"/>
            </a:endParaRPr>
          </a:p>
          <a:p>
            <a:pPr algn="l">
              <a:lnSpc>
                <a:spcPct val="130000"/>
              </a:lnSpc>
            </a:pPr>
            <a:r>
              <a:rPr sz="1800" b="1" dirty="0">
                <a:solidFill>
                  <a:srgbClr val="404040"/>
                </a:solidFill>
                <a:latin typeface="メイリオ"/>
                <a:ea typeface="メイリオ"/>
                <a:cs typeface="メイリオ"/>
              </a:rPr>
              <a:t>（</a:t>
            </a:r>
            <a:r>
              <a:rPr sz="1800" b="1" dirty="0" err="1">
                <a:solidFill>
                  <a:srgbClr val="404040"/>
                </a:solidFill>
                <a:latin typeface="メイリオ"/>
                <a:ea typeface="メイリオ"/>
                <a:cs typeface="メイリオ"/>
              </a:rPr>
              <a:t>教師の主観だけに流されない</a:t>
            </a:r>
            <a:r>
              <a:rPr sz="1800" b="1" dirty="0">
                <a:solidFill>
                  <a:srgbClr val="404040"/>
                </a:solidFill>
                <a:latin typeface="メイリオ"/>
                <a:ea typeface="メイリオ"/>
                <a:cs typeface="メイリオ"/>
              </a:rPr>
              <a:t>）</a:t>
            </a:r>
          </a:p>
        </p:txBody>
      </p:sp>
      <p:sp>
        <p:nvSpPr>
          <p:cNvPr id="10" name="Rectangle 9"/>
          <p:cNvSpPr/>
          <p:nvPr/>
        </p:nvSpPr>
        <p:spPr>
          <a:xfrm>
            <a:off x="400000" y="5200000"/>
            <a:ext cx="11400000" cy="1000000"/>
          </a:xfrm>
          <a:prstGeom prst="rect">
            <a:avLst/>
          </a:prstGeom>
          <a:solidFill>
            <a:srgbClr val="D6EEFA"/>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400" b="1">
                <a:solidFill>
                  <a:srgbClr val="000000"/>
                </a:solidFill>
                <a:latin typeface="メイリオ"/>
                <a:ea typeface="メイリオ"/>
                <a:cs typeface="メイリオ"/>
              </a:rPr>
              <a:t>妥当性は</a:t>
            </a:r>
            <a:r>
              <a:rPr sz="2600" b="1">
                <a:solidFill>
                  <a:srgbClr val="EB6C15"/>
                </a:solidFill>
                <a:latin typeface="メイリオ"/>
                <a:ea typeface="メイリオ"/>
                <a:cs typeface="メイリオ"/>
              </a:rPr>
              <a:t>個人の授業設計</a:t>
            </a:r>
            <a:r>
              <a:rPr sz="2400" b="1">
                <a:solidFill>
                  <a:srgbClr val="000000"/>
                </a:solidFill>
                <a:latin typeface="メイリオ"/>
                <a:ea typeface="メイリオ"/>
                <a:cs typeface="メイリオ"/>
              </a:rPr>
              <a:t>で、信頼性は</a:t>
            </a:r>
            <a:r>
              <a:rPr sz="2600" b="1">
                <a:solidFill>
                  <a:srgbClr val="EB6C15"/>
                </a:solidFill>
                <a:latin typeface="メイリオ"/>
                <a:ea typeface="メイリオ"/>
                <a:cs typeface="メイリオ"/>
              </a:rPr>
              <a:t>組織で揃える</a:t>
            </a:r>
          </a:p>
        </p:txBody>
      </p:sp>
      <p:sp>
        <p:nvSpPr>
          <p:cNvPr id="11" name="TextBox 10"/>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a:solidFill>
                  <a:srgbClr val="404040"/>
                </a:solidFill>
                <a:latin typeface="メイリオ"/>
                <a:ea typeface="メイリオ"/>
                <a:cs typeface="メイリオ"/>
              </a:rPr>
              <a:t>出典：令和２年９月 </a:t>
            </a:r>
            <a:r>
              <a:rPr sz="1300" dirty="0" err="1">
                <a:solidFill>
                  <a:srgbClr val="404040"/>
                </a:solidFill>
                <a:latin typeface="メイリオ"/>
                <a:ea typeface="メイリオ"/>
                <a:cs typeface="メイリオ"/>
              </a:rPr>
              <a:t>東京都教育委員会「指導と評価の一体化を目指して</a:t>
            </a:r>
            <a:r>
              <a:rPr sz="1300" dirty="0">
                <a:solidFill>
                  <a:srgbClr val="404040"/>
                </a:solidFill>
                <a:latin typeface="メイリオ"/>
                <a:ea typeface="メイリオ"/>
                <a:cs typeface="メイリオ"/>
              </a:rPr>
              <a:t>」</a:t>
            </a:r>
          </a:p>
        </p:txBody>
      </p:sp>
      <p:sp>
        <p:nvSpPr>
          <p:cNvPr id="12" name="Rectangle 1">
            <a:extLst>
              <a:ext uri="{FF2B5EF4-FFF2-40B4-BE49-F238E27FC236}">
                <a16:creationId xmlns:a16="http://schemas.microsoft.com/office/drawing/2014/main" id="{F286CEB8-3740-B9CD-989C-4C94119C5A92}"/>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lang="ja-JP" altLang="en-US" sz="3000" b="1" dirty="0">
                <a:solidFill>
                  <a:srgbClr val="1F3A6E"/>
                </a:solidFill>
                <a:latin typeface="メイリオ"/>
                <a:ea typeface="メイリオ"/>
                <a:cs typeface="メイリオ"/>
              </a:rPr>
              <a:t>各</a:t>
            </a:r>
            <a:r>
              <a:rPr sz="3000" b="1" dirty="0">
                <a:solidFill>
                  <a:srgbClr val="1F3A6E"/>
                </a:solidFill>
                <a:latin typeface="メイリオ"/>
                <a:ea typeface="メイリオ"/>
                <a:cs typeface="メイリオ"/>
              </a:rPr>
              <a:t>教科会で揃える</a:t>
            </a:r>
            <a:r>
              <a:rPr sz="3000" b="1" dirty="0">
                <a:solidFill>
                  <a:srgbClr val="1F3A6E"/>
                </a:solidFill>
                <a:latin typeface="メイリオ" panose="020B0604030504040204" pitchFamily="50" charset="-128"/>
                <a:ea typeface="メイリオ" panose="020B0604030504040204" pitchFamily="50" charset="-128"/>
                <a:cs typeface="メイリオ"/>
              </a:rPr>
              <a:t>3つ</a:t>
            </a:r>
            <a:r>
              <a:rPr lang="ja-JP" altLang="en-US" sz="3000" b="1" dirty="0">
                <a:solidFill>
                  <a:srgbClr val="1F3A6E"/>
                </a:solidFill>
                <a:latin typeface="メイリオ" panose="020B0604030504040204" pitchFamily="50" charset="-128"/>
                <a:ea typeface="メイリオ" panose="020B0604030504040204" pitchFamily="50" charset="-128"/>
                <a:cs typeface="メイリオ"/>
              </a:rPr>
              <a:t>のポイント</a:t>
            </a:r>
            <a:endParaRPr sz="3000" b="1" dirty="0">
              <a:solidFill>
                <a:srgbClr val="1F3A6E"/>
              </a:solidFill>
              <a:latin typeface="メイリオ" panose="020B0604030504040204" pitchFamily="50" charset="-128"/>
              <a:ea typeface="メイリオ" panose="020B0604030504040204" pitchFamily="50" charset="-128"/>
            </a:endParaRP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①</a:t>
            </a:r>
          </a:p>
        </p:txBody>
      </p:sp>
      <p:sp>
        <p:nvSpPr>
          <p:cNvPr id="7" name="Rectangle 6"/>
          <p:cNvSpPr/>
          <p:nvPr/>
        </p:nvSpPr>
        <p:spPr>
          <a:xfrm>
            <a:off x="1400000" y="190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dirty="0" err="1">
                <a:solidFill>
                  <a:srgbClr val="EB6C15"/>
                </a:solidFill>
                <a:latin typeface="メイリオ"/>
                <a:ea typeface="メイリオ"/>
                <a:cs typeface="メイリオ"/>
              </a:rPr>
              <a:t>Bの姿</a:t>
            </a:r>
            <a:endParaRPr sz="2600" b="1" dirty="0">
              <a:solidFill>
                <a:srgbClr val="EB6C15"/>
              </a:solidFill>
              <a:latin typeface="メイリオ"/>
            </a:endParaRPr>
          </a:p>
          <a:p>
            <a:pPr algn="l">
              <a:lnSpc>
                <a:spcPct val="120000"/>
              </a:lnSpc>
            </a:pPr>
            <a:r>
              <a:rPr sz="2000" b="1" dirty="0" err="1">
                <a:solidFill>
                  <a:srgbClr val="1F3A6E"/>
                </a:solidFill>
                <a:latin typeface="メイリオ"/>
                <a:ea typeface="メイリオ"/>
                <a:cs typeface="メイリオ"/>
              </a:rPr>
              <a:t>観点別評価で「B」と判断する具体的な姿</a:t>
            </a:r>
            <a:endParaRPr sz="2000" b="1" dirty="0">
              <a:solidFill>
                <a:srgbClr val="1F3A6E"/>
              </a:solidFill>
              <a:latin typeface="メイリオ"/>
            </a:endParaRPr>
          </a:p>
        </p:txBody>
      </p:sp>
      <p:sp>
        <p:nvSpPr>
          <p:cNvPr id="8" name="Rectangle 7"/>
          <p:cNvSpPr/>
          <p:nvPr/>
        </p:nvSpPr>
        <p:spPr>
          <a:xfrm>
            <a:off x="400000" y="320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②</a:t>
            </a:r>
          </a:p>
        </p:txBody>
      </p:sp>
      <p:sp>
        <p:nvSpPr>
          <p:cNvPr id="9" name="Rectangle 8"/>
          <p:cNvSpPr/>
          <p:nvPr/>
        </p:nvSpPr>
        <p:spPr>
          <a:xfrm>
            <a:off x="1400000" y="320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評価場面・方法</a:t>
            </a:r>
          </a:p>
          <a:p>
            <a:pPr algn="l">
              <a:lnSpc>
                <a:spcPct val="120000"/>
              </a:lnSpc>
            </a:pPr>
            <a:r>
              <a:rPr sz="2000" b="1">
                <a:solidFill>
                  <a:srgbClr val="1F3A6E"/>
                </a:solidFill>
                <a:latin typeface="メイリオ"/>
                <a:ea typeface="メイリオ"/>
                <a:cs typeface="メイリオ"/>
              </a:rPr>
              <a:t>いつ・どの活動で・どんな方法で見取るか</a:t>
            </a:r>
          </a:p>
        </p:txBody>
      </p:sp>
      <p:sp>
        <p:nvSpPr>
          <p:cNvPr id="10" name="Rectangle 9"/>
          <p:cNvSpPr/>
          <p:nvPr/>
        </p:nvSpPr>
        <p:spPr>
          <a:xfrm>
            <a:off x="400000" y="450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③</a:t>
            </a:r>
          </a:p>
        </p:txBody>
      </p:sp>
      <p:sp>
        <p:nvSpPr>
          <p:cNvPr id="11" name="Rectangle 10"/>
          <p:cNvSpPr/>
          <p:nvPr/>
        </p:nvSpPr>
        <p:spPr>
          <a:xfrm>
            <a:off x="1400000" y="450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総括の方法</a:t>
            </a:r>
          </a:p>
          <a:p>
            <a:pPr algn="l">
              <a:lnSpc>
                <a:spcPct val="120000"/>
              </a:lnSpc>
            </a:pPr>
            <a:r>
              <a:rPr sz="2000" b="1">
                <a:solidFill>
                  <a:srgbClr val="1F3A6E"/>
                </a:solidFill>
                <a:latin typeface="メイリオ"/>
                <a:ea typeface="メイリオ"/>
                <a:cs typeface="メイリオ"/>
              </a:rPr>
              <a:t>観点別評価から評定への総括ルール</a:t>
            </a:r>
          </a:p>
        </p:txBody>
      </p:sp>
      <p:sp>
        <p:nvSpPr>
          <p:cNvPr id="12" name="TextBox 11"/>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出典：東京都教育委員会「指導と評価の一体化を目指して</a:t>
            </a:r>
            <a:r>
              <a:rPr sz="1300" dirty="0">
                <a:solidFill>
                  <a:srgbClr val="404040"/>
                </a:solidFill>
                <a:latin typeface="メイリオ"/>
                <a:ea typeface="メイリオ"/>
                <a:cs typeface="メイリオ"/>
              </a:rPr>
              <a:t>」</a:t>
            </a:r>
          </a:p>
        </p:txBody>
      </p:sp>
      <p:sp>
        <p:nvSpPr>
          <p:cNvPr id="13" name="Rectangle 1">
            <a:extLst>
              <a:ext uri="{FF2B5EF4-FFF2-40B4-BE49-F238E27FC236}">
                <a16:creationId xmlns:a16="http://schemas.microsoft.com/office/drawing/2014/main" id="{2E9C9C79-21A3-3C1F-39DC-6769C9282415}"/>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０　はじめに</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「指導と評価の一体化」とは ─ 本研修の土台</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400" b="1">
                <a:solidFill>
                  <a:srgbClr val="FFFFFF"/>
                </a:solidFill>
                <a:latin typeface="メイリオ"/>
                <a:ea typeface="メイリオ"/>
                <a:cs typeface="メイリオ"/>
              </a:rPr>
              <a:t>① 目標</a:t>
            </a:r>
          </a:p>
          <a:p>
            <a:pPr algn="ctr">
              <a:lnSpc>
                <a:spcPct val="115000"/>
              </a:lnSpc>
            </a:pPr>
            <a:r>
              <a:rPr sz="1600" b="1">
                <a:solidFill>
                  <a:srgbClr val="1F3A6E"/>
                </a:solidFill>
                <a:latin typeface="メイリオ"/>
                <a:ea typeface="メイリオ"/>
                <a:cs typeface="メイリオ"/>
              </a:rPr>
              <a:t>「Ｂの姿」を描く</a:t>
            </a:r>
          </a:p>
        </p:txBody>
      </p:sp>
      <p:sp>
        <p:nvSpPr>
          <p:cNvPr id="6" name="Rectangle 5"/>
          <p:cNvSpPr/>
          <p:nvPr/>
        </p:nvSpPr>
        <p:spPr>
          <a:xfrm>
            <a:off x="335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400" b="1">
                <a:solidFill>
                  <a:srgbClr val="FFFFFF"/>
                </a:solidFill>
                <a:latin typeface="メイリオ"/>
                <a:ea typeface="メイリオ"/>
                <a:cs typeface="メイリオ"/>
              </a:rPr>
              <a:t>② 指導</a:t>
            </a:r>
          </a:p>
          <a:p>
            <a:pPr algn="ctr">
              <a:lnSpc>
                <a:spcPct val="115000"/>
              </a:lnSpc>
            </a:pPr>
            <a:r>
              <a:rPr sz="1600" b="1">
                <a:solidFill>
                  <a:srgbClr val="1F3A6E"/>
                </a:solidFill>
                <a:latin typeface="メイリオ"/>
                <a:ea typeface="メイリオ"/>
                <a:cs typeface="メイリオ"/>
              </a:rPr>
              <a:t>授業を行う
（主体的・対話的で深い学び）</a:t>
            </a:r>
          </a:p>
        </p:txBody>
      </p:sp>
      <p:sp>
        <p:nvSpPr>
          <p:cNvPr id="7" name="Rectangle 6"/>
          <p:cNvSpPr/>
          <p:nvPr/>
        </p:nvSpPr>
        <p:spPr>
          <a:xfrm>
            <a:off x="630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400" b="1">
                <a:solidFill>
                  <a:srgbClr val="FFFFFF"/>
                </a:solidFill>
                <a:latin typeface="メイリオ"/>
                <a:ea typeface="メイリオ"/>
                <a:cs typeface="メイリオ"/>
              </a:rPr>
              <a:t>③ 評価</a:t>
            </a:r>
          </a:p>
          <a:p>
            <a:pPr algn="ctr">
              <a:lnSpc>
                <a:spcPct val="115000"/>
              </a:lnSpc>
            </a:pPr>
            <a:r>
              <a:rPr sz="1600" b="1">
                <a:solidFill>
                  <a:srgbClr val="1F3A6E"/>
                </a:solidFill>
                <a:latin typeface="メイリオ"/>
                <a:ea typeface="メイリオ"/>
                <a:cs typeface="メイリオ"/>
              </a:rPr>
              <a:t>学びの姿をみとる</a:t>
            </a:r>
          </a:p>
        </p:txBody>
      </p:sp>
      <p:sp>
        <p:nvSpPr>
          <p:cNvPr id="8" name="Rectangle 7"/>
          <p:cNvSpPr/>
          <p:nvPr/>
        </p:nvSpPr>
        <p:spPr>
          <a:xfrm>
            <a:off x="925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400" b="1">
                <a:solidFill>
                  <a:srgbClr val="FFFFFF"/>
                </a:solidFill>
                <a:latin typeface="メイリオ"/>
                <a:ea typeface="メイリオ"/>
                <a:cs typeface="メイリオ"/>
              </a:rPr>
              <a:t>④ 改善</a:t>
            </a:r>
          </a:p>
          <a:p>
            <a:pPr algn="ctr">
              <a:lnSpc>
                <a:spcPct val="115000"/>
              </a:lnSpc>
            </a:pPr>
            <a:r>
              <a:rPr sz="1600" b="1">
                <a:solidFill>
                  <a:srgbClr val="1F3A6E"/>
                </a:solidFill>
                <a:latin typeface="メイリオ"/>
                <a:ea typeface="メイリオ"/>
                <a:cs typeface="メイリオ"/>
              </a:rPr>
              <a:t>次の指導に生かす</a:t>
            </a:r>
          </a:p>
        </p:txBody>
      </p:sp>
      <p:sp>
        <p:nvSpPr>
          <p:cNvPr id="9" name="Right Arrow 8"/>
          <p:cNvSpPr/>
          <p:nvPr/>
        </p:nvSpPr>
        <p:spPr>
          <a:xfrm>
            <a:off x="2950000" y="2520000"/>
            <a:ext cx="400000" cy="42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5900000" y="2520000"/>
            <a:ext cx="400000" cy="42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8850000" y="2520000"/>
            <a:ext cx="400000" cy="42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00000" y="3650000"/>
            <a:ext cx="11400000" cy="6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1F3A6E"/>
                </a:solidFill>
                <a:latin typeface="メイリオ"/>
                <a:ea typeface="メイリオ"/>
                <a:cs typeface="メイリオ"/>
              </a:rPr>
              <a:t>④の評価を ①②③ に生かして単元の中でくり返す</a:t>
            </a:r>
            <a:r>
              <a:rPr sz="2200" b="1">
                <a:solidFill>
                  <a:srgbClr val="EB6C15"/>
                </a:solidFill>
                <a:latin typeface="メイリオ"/>
                <a:ea typeface="メイリオ"/>
                <a:cs typeface="メイリオ"/>
              </a:rPr>
              <a:t>　＝　これが「指導と評価の一体化」</a:t>
            </a:r>
          </a:p>
        </p:txBody>
      </p:sp>
      <p:sp>
        <p:nvSpPr>
          <p:cNvPr id="13" name="Rectangle 12"/>
          <p:cNvSpPr/>
          <p:nvPr/>
        </p:nvSpPr>
        <p:spPr>
          <a:xfrm>
            <a:off x="400000" y="4420000"/>
            <a:ext cx="11400000" cy="1450000"/>
          </a:xfrm>
          <a:prstGeom prst="rect">
            <a:avLst/>
          </a:prstGeom>
          <a:solidFill>
            <a:srgbClr val="FFFFFF"/>
          </a:solidFill>
          <a:ln w="4445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5000"/>
              </a:lnSpc>
            </a:pPr>
            <a:r>
              <a:rPr sz="2200" b="1">
                <a:solidFill>
                  <a:srgbClr val="EB6C15"/>
                </a:solidFill>
                <a:latin typeface="メイリオ"/>
                <a:ea typeface="メイリオ"/>
                <a:cs typeface="メイリオ"/>
              </a:rPr>
              <a:t>「正当な評価」</a:t>
            </a:r>
            <a:r>
              <a:rPr sz="2000" b="1">
                <a:solidFill>
                  <a:srgbClr val="000000"/>
                </a:solidFill>
                <a:latin typeface="メイリオ"/>
                <a:ea typeface="メイリオ"/>
                <a:cs typeface="メイリオ"/>
              </a:rPr>
              <a:t>のために授業と評価を一体で設計し、</a:t>
            </a:r>
            <a:r>
              <a:rPr sz="2200" b="1">
                <a:solidFill>
                  <a:srgbClr val="EB6C15"/>
                </a:solidFill>
                <a:latin typeface="メイリオ"/>
                <a:ea typeface="メイリオ"/>
                <a:cs typeface="メイリオ"/>
              </a:rPr>
              <a:t>「授業改善につながる評価」</a:t>
            </a:r>
            <a:r>
              <a:rPr sz="2000" b="1">
                <a:solidFill>
                  <a:srgbClr val="000000"/>
                </a:solidFill>
                <a:latin typeface="メイリオ"/>
                <a:ea typeface="メイリオ"/>
                <a:cs typeface="メイリオ"/>
              </a:rPr>
              <a:t>にする</a:t>
            </a:r>
          </a:p>
          <a:p>
            <a:pPr algn="ctr">
              <a:lnSpc>
                <a:spcPct val="135000"/>
              </a:lnSpc>
            </a:pPr>
            <a:r>
              <a:rPr sz="1800" b="1">
                <a:solidFill>
                  <a:srgbClr val="000000"/>
                </a:solidFill>
                <a:latin typeface="メイリオ"/>
                <a:ea typeface="メイリオ"/>
                <a:cs typeface="メイリオ"/>
              </a:rPr>
              <a:t>本研修は</a:t>
            </a:r>
            <a:r>
              <a:rPr sz="2000" b="1">
                <a:solidFill>
                  <a:srgbClr val="1F3A6E"/>
                </a:solidFill>
                <a:latin typeface="メイリオ"/>
                <a:ea typeface="メイリオ"/>
                <a:cs typeface="メイリオ"/>
              </a:rPr>
              <a:t>3観点すべて</a:t>
            </a:r>
            <a:r>
              <a:rPr sz="1800" b="1">
                <a:solidFill>
                  <a:srgbClr val="000000"/>
                </a:solidFill>
                <a:latin typeface="メイリオ"/>
                <a:ea typeface="メイリオ"/>
                <a:cs typeface="メイリオ"/>
              </a:rPr>
              <a:t>を対象とし、特に見取りが難しい</a:t>
            </a:r>
            <a:r>
              <a:rPr sz="2000" b="1">
                <a:solidFill>
                  <a:srgbClr val="1F3A6E"/>
                </a:solidFill>
                <a:latin typeface="メイリオ"/>
                <a:ea typeface="メイリオ"/>
                <a:cs typeface="メイリオ"/>
              </a:rPr>
              <a:t>「主体的に学習に取り組む態度」を重点</a:t>
            </a:r>
            <a:r>
              <a:rPr sz="1800" b="1">
                <a:solidFill>
                  <a:srgbClr val="000000"/>
                </a:solidFill>
                <a:latin typeface="メイリオ"/>
                <a:ea typeface="メイリオ"/>
                <a:cs typeface="メイリオ"/>
              </a:rPr>
              <a:t>的に扱う</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２　『主体的に学習に取り組む態度』の学習評価</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授業改善につながる評価 ─ 評価を次の指導に生かす</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50000"/>
            <a:ext cx="11400000" cy="7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000000"/>
                </a:solidFill>
                <a:latin typeface="メイリオ"/>
                <a:ea typeface="メイリオ"/>
                <a:cs typeface="メイリオ"/>
              </a:rPr>
              <a:t>評価には2つの役割：</a:t>
            </a:r>
            <a:r>
              <a:rPr sz="1900" b="1">
                <a:solidFill>
                  <a:srgbClr val="404040"/>
                </a:solidFill>
                <a:latin typeface="メイリオ"/>
                <a:ea typeface="メイリオ"/>
                <a:cs typeface="メイリオ"/>
              </a:rPr>
              <a:t>①記録・評定のため（総括的）</a:t>
            </a:r>
            <a:r>
              <a:rPr sz="1900" b="1">
                <a:solidFill>
                  <a:srgbClr val="000000"/>
                </a:solidFill>
                <a:latin typeface="メイリオ"/>
                <a:ea typeface="メイリオ"/>
                <a:cs typeface="メイリオ"/>
              </a:rPr>
              <a:t>　／　</a:t>
            </a:r>
            <a:r>
              <a:rPr sz="2000" b="1">
                <a:solidFill>
                  <a:srgbClr val="EB6C15"/>
                </a:solidFill>
                <a:latin typeface="メイリオ"/>
                <a:ea typeface="メイリオ"/>
                <a:cs typeface="メイリオ"/>
              </a:rPr>
              <a:t>②指導改善のため（形成的）</a:t>
            </a:r>
            <a:r>
              <a:rPr sz="1900" b="1">
                <a:solidFill>
                  <a:srgbClr val="C04040"/>
                </a:solidFill>
                <a:latin typeface="メイリオ"/>
                <a:ea typeface="メイリオ"/>
                <a:cs typeface="メイリオ"/>
              </a:rPr>
              <a:t>　← 校長が重視</a:t>
            </a:r>
          </a:p>
        </p:txBody>
      </p:sp>
      <p:sp>
        <p:nvSpPr>
          <p:cNvPr id="6" name="Rectangle 5"/>
          <p:cNvSpPr/>
          <p:nvPr/>
        </p:nvSpPr>
        <p:spPr>
          <a:xfrm>
            <a:off x="40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300" b="1">
                <a:solidFill>
                  <a:srgbClr val="FFFFFF"/>
                </a:solidFill>
                <a:latin typeface="メイリオ"/>
                <a:ea typeface="メイリオ"/>
                <a:cs typeface="メイリオ"/>
              </a:rPr>
              <a:t>① みとる</a:t>
            </a:r>
          </a:p>
          <a:p>
            <a:pPr algn="ctr">
              <a:lnSpc>
                <a:spcPct val="115000"/>
              </a:lnSpc>
            </a:pPr>
            <a:r>
              <a:rPr sz="1500" b="1">
                <a:solidFill>
                  <a:srgbClr val="1F3A6E"/>
                </a:solidFill>
                <a:latin typeface="メイリオ"/>
                <a:ea typeface="メイリオ"/>
                <a:cs typeface="メイリオ"/>
              </a:rPr>
              <a:t>評価で学習状況を把握</a:t>
            </a:r>
          </a:p>
        </p:txBody>
      </p:sp>
      <p:sp>
        <p:nvSpPr>
          <p:cNvPr id="7" name="Rectangle 6"/>
          <p:cNvSpPr/>
          <p:nvPr/>
        </p:nvSpPr>
        <p:spPr>
          <a:xfrm>
            <a:off x="335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300" b="1">
                <a:solidFill>
                  <a:srgbClr val="FFFFFF"/>
                </a:solidFill>
                <a:latin typeface="メイリオ"/>
                <a:ea typeface="メイリオ"/>
                <a:cs typeface="メイリオ"/>
              </a:rPr>
              <a:t>② 気づく</a:t>
            </a:r>
          </a:p>
          <a:p>
            <a:pPr algn="ctr">
              <a:lnSpc>
                <a:spcPct val="115000"/>
              </a:lnSpc>
            </a:pPr>
            <a:r>
              <a:rPr sz="1500" b="1">
                <a:solidFill>
                  <a:srgbClr val="1F3A6E"/>
                </a:solidFill>
                <a:latin typeface="メイリオ"/>
                <a:ea typeface="メイリオ"/>
                <a:cs typeface="メイリオ"/>
              </a:rPr>
              <a:t>つまずき・伸びを発見</a:t>
            </a:r>
          </a:p>
        </p:txBody>
      </p:sp>
      <p:sp>
        <p:nvSpPr>
          <p:cNvPr id="8" name="Rectangle 7"/>
          <p:cNvSpPr/>
          <p:nvPr/>
        </p:nvSpPr>
        <p:spPr>
          <a:xfrm>
            <a:off x="630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300" b="1">
                <a:solidFill>
                  <a:srgbClr val="FFFFFF"/>
                </a:solidFill>
                <a:latin typeface="メイリオ"/>
                <a:ea typeface="メイリオ"/>
                <a:cs typeface="メイリオ"/>
              </a:rPr>
              <a:t>③ 変える</a:t>
            </a:r>
          </a:p>
          <a:p>
            <a:pPr algn="ctr">
              <a:lnSpc>
                <a:spcPct val="115000"/>
              </a:lnSpc>
            </a:pPr>
            <a:r>
              <a:rPr sz="1500" b="1">
                <a:solidFill>
                  <a:srgbClr val="1F3A6E"/>
                </a:solidFill>
                <a:latin typeface="メイリオ"/>
                <a:ea typeface="メイリオ"/>
                <a:cs typeface="メイリオ"/>
              </a:rPr>
              <a:t>次時の指導を修正</a:t>
            </a:r>
          </a:p>
        </p:txBody>
      </p:sp>
      <p:sp>
        <p:nvSpPr>
          <p:cNvPr id="9" name="Rectangle 8"/>
          <p:cNvSpPr/>
          <p:nvPr/>
        </p:nvSpPr>
        <p:spPr>
          <a:xfrm>
            <a:off x="925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300" b="1">
                <a:solidFill>
                  <a:srgbClr val="FFFFFF"/>
                </a:solidFill>
                <a:latin typeface="メイリオ"/>
                <a:ea typeface="メイリオ"/>
                <a:cs typeface="メイリオ"/>
              </a:rPr>
              <a:t>④ 伸びる</a:t>
            </a:r>
          </a:p>
          <a:p>
            <a:pPr algn="ctr">
              <a:lnSpc>
                <a:spcPct val="115000"/>
              </a:lnSpc>
            </a:pPr>
            <a:r>
              <a:rPr sz="1500" b="1">
                <a:solidFill>
                  <a:srgbClr val="1F3A6E"/>
                </a:solidFill>
                <a:latin typeface="メイリオ"/>
                <a:ea typeface="メイリオ"/>
                <a:cs typeface="メイリオ"/>
              </a:rPr>
              <a:t>生徒の学習が改善</a:t>
            </a:r>
          </a:p>
        </p:txBody>
      </p:sp>
      <p:sp>
        <p:nvSpPr>
          <p:cNvPr id="10" name="Right Arrow 9"/>
          <p:cNvSpPr/>
          <p:nvPr/>
        </p:nvSpPr>
        <p:spPr>
          <a:xfrm>
            <a:off x="2950000" y="3230000"/>
            <a:ext cx="400000" cy="36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5900000" y="3230000"/>
            <a:ext cx="400000" cy="36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8850000" y="3230000"/>
            <a:ext cx="400000" cy="36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00000" y="4180000"/>
            <a:ext cx="11400000" cy="10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1800" b="1">
                <a:solidFill>
                  <a:srgbClr val="EB6C15"/>
                </a:solidFill>
                <a:latin typeface="メイリオ"/>
                <a:ea typeface="メイリオ"/>
                <a:cs typeface="メイリオ"/>
              </a:rPr>
              <a:t>＜例＞</a:t>
            </a:r>
          </a:p>
          <a:p>
            <a:pPr algn="l">
              <a:lnSpc>
                <a:spcPct val="130000"/>
              </a:lnSpc>
            </a:pPr>
            <a:r>
              <a:rPr sz="1900" b="1">
                <a:solidFill>
                  <a:srgbClr val="1F3A6E"/>
                </a:solidFill>
                <a:latin typeface="メイリオ"/>
                <a:ea typeface="メイリオ"/>
                <a:cs typeface="メイリオ"/>
              </a:rPr>
              <a:t>振り返りで「見通しが弱い」生徒が多い → 次時の冒頭に「今日のゴールと手順」を確認する場面を加える</a:t>
            </a:r>
          </a:p>
        </p:txBody>
      </p:sp>
      <p:sp>
        <p:nvSpPr>
          <p:cNvPr id="14" name="Rectangle 13"/>
          <p:cNvSpPr/>
          <p:nvPr/>
        </p:nvSpPr>
        <p:spPr>
          <a:xfrm>
            <a:off x="400000" y="5380000"/>
            <a:ext cx="11400000" cy="56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100" b="1">
                <a:solidFill>
                  <a:srgbClr val="000000"/>
                </a:solidFill>
                <a:latin typeface="メイリオ"/>
                <a:ea typeface="メイリオ"/>
                <a:cs typeface="メイリオ"/>
              </a:rPr>
              <a:t>評価は</a:t>
            </a:r>
            <a:r>
              <a:rPr sz="2300" b="1">
                <a:solidFill>
                  <a:srgbClr val="EB6C15"/>
                </a:solidFill>
                <a:latin typeface="メイリオ"/>
                <a:ea typeface="メイリオ"/>
                <a:cs typeface="メイリオ"/>
              </a:rPr>
              <a:t>“つける”だけでなく“生かす”</a:t>
            </a:r>
            <a:r>
              <a:rPr sz="2100" b="1">
                <a:solidFill>
                  <a:srgbClr val="000000"/>
                </a:solidFill>
                <a:latin typeface="メイリオ"/>
                <a:ea typeface="メイリオ"/>
                <a:cs typeface="メイリオ"/>
              </a:rPr>
              <a:t>。これが校長の言う「授業改善につながる評価」</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まとめ</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本日のまとめ ── 明日からできること</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20000"/>
            <a:ext cx="11400000" cy="7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000000"/>
                </a:solidFill>
                <a:latin typeface="メイリオ"/>
                <a:ea typeface="メイリオ"/>
                <a:cs typeface="メイリオ"/>
              </a:rPr>
              <a:t>「指導と評価の一体化」＝ </a:t>
            </a:r>
            <a:r>
              <a:rPr sz="2100" b="1">
                <a:solidFill>
                  <a:srgbClr val="EB6C15"/>
                </a:solidFill>
                <a:latin typeface="メイリオ"/>
                <a:ea typeface="メイリオ"/>
                <a:cs typeface="メイリオ"/>
              </a:rPr>
              <a:t>目標→指導→評価→改善 をくり返し、評価を授業改善に生かす</a:t>
            </a:r>
          </a:p>
        </p:txBody>
      </p:sp>
      <p:sp>
        <p:nvSpPr>
          <p:cNvPr id="6" name="Rectangle 5"/>
          <p:cNvSpPr/>
          <p:nvPr/>
        </p:nvSpPr>
        <p:spPr>
          <a:xfrm>
            <a:off x="400000" y="27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200" b="1">
                <a:solidFill>
                  <a:srgbClr val="1F3A6E"/>
                </a:solidFill>
                <a:latin typeface="メイリオ"/>
                <a:ea typeface="メイリオ"/>
                <a:cs typeface="メイリオ"/>
              </a:rPr>
              <a:t>□ 次の単元で「Ｂの姿」を1つ言語化し、教科会で揃える</a:t>
            </a:r>
          </a:p>
        </p:txBody>
      </p:sp>
      <p:sp>
        <p:nvSpPr>
          <p:cNvPr id="7" name="Rectangle 6"/>
          <p:cNvSpPr/>
          <p:nvPr/>
        </p:nvSpPr>
        <p:spPr>
          <a:xfrm>
            <a:off x="400000" y="34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200" b="1">
                <a:solidFill>
                  <a:srgbClr val="1F3A6E"/>
                </a:solidFill>
                <a:latin typeface="メイリオ"/>
                <a:ea typeface="メイリオ"/>
                <a:cs typeface="メイリオ"/>
              </a:rPr>
              <a:t>□ 評価の工夫（行動観察・発問・自己評価）から1つ授業に入れる</a:t>
            </a:r>
          </a:p>
        </p:txBody>
      </p:sp>
      <p:sp>
        <p:nvSpPr>
          <p:cNvPr id="8" name="Rectangle 7"/>
          <p:cNvSpPr/>
          <p:nvPr/>
        </p:nvSpPr>
        <p:spPr>
          <a:xfrm>
            <a:off x="400000" y="41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200" b="1">
                <a:solidFill>
                  <a:srgbClr val="1F3A6E"/>
                </a:solidFill>
                <a:latin typeface="メイリオ"/>
                <a:ea typeface="メイリオ"/>
                <a:cs typeface="メイリオ"/>
              </a:rPr>
              <a:t>□ 振り返り／自己評価の機会を1回入れる</a:t>
            </a:r>
          </a:p>
        </p:txBody>
      </p:sp>
      <p:sp>
        <p:nvSpPr>
          <p:cNvPr id="9" name="Rectangle 8"/>
          <p:cNvSpPr/>
          <p:nvPr/>
        </p:nvSpPr>
        <p:spPr>
          <a:xfrm>
            <a:off x="400000" y="48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200" b="1">
                <a:solidFill>
                  <a:srgbClr val="1F3A6E"/>
                </a:solidFill>
                <a:latin typeface="メイリオ"/>
                <a:ea typeface="メイリオ"/>
                <a:cs typeface="メイリオ"/>
              </a:rPr>
              <a:t>□ 評価結果を、次の授業改善に1つ生かす</a:t>
            </a:r>
          </a:p>
        </p:txBody>
      </p:sp>
      <p:sp>
        <p:nvSpPr>
          <p:cNvPr id="10" name="Rectangle 9"/>
          <p:cNvSpPr/>
          <p:nvPr/>
        </p:nvSpPr>
        <p:spPr>
          <a:xfrm>
            <a:off x="400000" y="5620000"/>
            <a:ext cx="11400000" cy="56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200" b="1">
                <a:solidFill>
                  <a:srgbClr val="1F3A6E"/>
                </a:solidFill>
                <a:latin typeface="メイリオ"/>
                <a:ea typeface="メイリオ"/>
                <a:cs typeface="メイリオ"/>
              </a:rPr>
              <a:t>やることを「絞る」から、続く</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グループ協議へ</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このあと、各教科の評価資料を持ち寄って検討します</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20000"/>
            <a:ext cx="11400000" cy="7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000000"/>
                </a:solidFill>
                <a:latin typeface="メイリオ"/>
                <a:ea typeface="メイリオ"/>
                <a:cs typeface="メイリオ"/>
              </a:rPr>
              <a:t>協議テーマ：</a:t>
            </a:r>
            <a:r>
              <a:rPr sz="2200" b="1">
                <a:solidFill>
                  <a:srgbClr val="EB6C15"/>
                </a:solidFill>
                <a:latin typeface="メイリオ"/>
                <a:ea typeface="メイリオ"/>
                <a:cs typeface="メイリオ"/>
              </a:rPr>
              <a:t>各教科で評価方法の「ばらつき」を減らす</a:t>
            </a:r>
          </a:p>
        </p:txBody>
      </p:sp>
      <p:sp>
        <p:nvSpPr>
          <p:cNvPr id="6" name="Rectangle 5"/>
          <p:cNvSpPr/>
          <p:nvPr/>
        </p:nvSpPr>
        <p:spPr>
          <a:xfrm>
            <a:off x="400000" y="2720000"/>
            <a:ext cx="1000000" cy="7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3600" b="1">
                <a:solidFill>
                  <a:srgbClr val="FFFFFF"/>
                </a:solidFill>
                <a:latin typeface="メイリオ"/>
                <a:ea typeface="メイリオ"/>
                <a:cs typeface="メイリオ"/>
              </a:rPr>
              <a:t>①</a:t>
            </a:r>
          </a:p>
        </p:txBody>
      </p:sp>
      <p:sp>
        <p:nvSpPr>
          <p:cNvPr id="7" name="Rectangle 6"/>
          <p:cNvSpPr/>
          <p:nvPr/>
        </p:nvSpPr>
        <p:spPr>
          <a:xfrm>
            <a:off x="1500000" y="2720000"/>
            <a:ext cx="10300000" cy="7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100" b="1">
                <a:solidFill>
                  <a:srgbClr val="1F3A6E"/>
                </a:solidFill>
                <a:latin typeface="メイリオ"/>
                <a:ea typeface="メイリオ"/>
                <a:cs typeface="メイリオ"/>
              </a:rPr>
              <a:t>あなたの教科で「Ｂと判断する姿」は、具体的にどんな姿か？</a:t>
            </a:r>
          </a:p>
        </p:txBody>
      </p:sp>
      <p:sp>
        <p:nvSpPr>
          <p:cNvPr id="8" name="Rectangle 7"/>
          <p:cNvSpPr/>
          <p:nvPr/>
        </p:nvSpPr>
        <p:spPr>
          <a:xfrm>
            <a:off x="400000" y="3620000"/>
            <a:ext cx="1000000" cy="7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3600" b="1">
                <a:solidFill>
                  <a:srgbClr val="FFFFFF"/>
                </a:solidFill>
                <a:latin typeface="メイリオ"/>
                <a:ea typeface="メイリオ"/>
                <a:cs typeface="メイリオ"/>
              </a:rPr>
              <a:t>②</a:t>
            </a:r>
          </a:p>
        </p:txBody>
      </p:sp>
      <p:sp>
        <p:nvSpPr>
          <p:cNvPr id="9" name="Rectangle 8"/>
          <p:cNvSpPr/>
          <p:nvPr/>
        </p:nvSpPr>
        <p:spPr>
          <a:xfrm>
            <a:off x="1500000" y="3620000"/>
            <a:ext cx="10300000" cy="7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100" b="1">
                <a:solidFill>
                  <a:srgbClr val="1F3A6E"/>
                </a:solidFill>
                <a:latin typeface="メイリオ"/>
                <a:ea typeface="メイリオ"/>
                <a:cs typeface="メイリオ"/>
              </a:rPr>
              <a:t>単元のどの場面で、どんな方法でみとるか？</a:t>
            </a:r>
          </a:p>
        </p:txBody>
      </p:sp>
      <p:sp>
        <p:nvSpPr>
          <p:cNvPr id="10" name="Rectangle 9"/>
          <p:cNvSpPr/>
          <p:nvPr/>
        </p:nvSpPr>
        <p:spPr>
          <a:xfrm>
            <a:off x="400000" y="4520000"/>
            <a:ext cx="1000000" cy="7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3600" b="1">
                <a:solidFill>
                  <a:srgbClr val="FFFFFF"/>
                </a:solidFill>
                <a:latin typeface="メイリオ"/>
                <a:ea typeface="メイリオ"/>
                <a:cs typeface="メイリオ"/>
              </a:rPr>
              <a:t>③</a:t>
            </a:r>
          </a:p>
        </p:txBody>
      </p:sp>
      <p:sp>
        <p:nvSpPr>
          <p:cNvPr id="11" name="Rectangle 10"/>
          <p:cNvSpPr/>
          <p:nvPr/>
        </p:nvSpPr>
        <p:spPr>
          <a:xfrm>
            <a:off x="1500000" y="4520000"/>
            <a:ext cx="10300000" cy="7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100" b="1">
                <a:solidFill>
                  <a:srgbClr val="1F3A6E"/>
                </a:solidFill>
                <a:latin typeface="メイリオ"/>
                <a:ea typeface="メイリオ"/>
                <a:cs typeface="メイリオ"/>
              </a:rPr>
              <a:t>その評価を、次の授業改善にどう生かすか？</a:t>
            </a:r>
          </a:p>
        </p:txBody>
      </p:sp>
      <p:sp>
        <p:nvSpPr>
          <p:cNvPr id="12" name="Rectangle 11"/>
          <p:cNvSpPr/>
          <p:nvPr/>
        </p:nvSpPr>
        <p:spPr>
          <a:xfrm>
            <a:off x="400000" y="5520000"/>
            <a:ext cx="11400000" cy="62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100" b="1">
                <a:solidFill>
                  <a:srgbClr val="1F3A6E"/>
                </a:solidFill>
                <a:latin typeface="メイリオ"/>
                <a:ea typeface="メイリオ"/>
                <a:cs typeface="メイリオ"/>
              </a:rPr>
              <a:t>持ち寄った評価資料をもとに話し合い、教科として評価方法をそろえる</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TotalTime>
  <Words>1365</Words>
  <Application>Microsoft Office PowerPoint</Application>
  <PresentationFormat>ワイド画面</PresentationFormat>
  <Paragraphs>229</Paragraphs>
  <Slides>23</Slides>
  <Notes>2</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23</vt:i4>
      </vt:variant>
    </vt:vector>
  </HeadingPairs>
  <TitlesOfParts>
    <vt:vector size="30" baseType="lpstr">
      <vt:lpstr>ＭＳ ゴシック</vt:lpstr>
      <vt:lpstr>UD デジタル 教科書体 NK-B</vt:lpstr>
      <vt:lpstr>メイリオ</vt:lpstr>
      <vt:lpstr>游ゴシック</vt:lpstr>
      <vt:lpstr>游ゴシック Light</vt:lpstr>
      <vt:lpstr>Arial</vt:lpstr>
      <vt:lpstr>Office テーマ</vt:lpstr>
      <vt:lpstr>『主体的に学習に取り組む態度』の評価</vt:lpstr>
      <vt:lpstr>PowerPoint プレゼンテーション</vt:lpstr>
      <vt:lpstr>　はじめに</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２　『主体的に学習に取り組む態度』 　　　　　　　　　　　　　の学習評価</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『主体的に学習に取り組む態度』の評価</dc:title>
  <dc:creator>髙橋　庸介</dc:creator>
  <cp:lastModifiedBy>紺多　章一郎</cp:lastModifiedBy>
  <cp:revision>19</cp:revision>
  <cp:lastPrinted>2026-05-28T02:11:29Z</cp:lastPrinted>
  <dcterms:modified xsi:type="dcterms:W3CDTF">2026-05-28T02:11:30Z</dcterms:modified>
</cp:coreProperties>
</file>