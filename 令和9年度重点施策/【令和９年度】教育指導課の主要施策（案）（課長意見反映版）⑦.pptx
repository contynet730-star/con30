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9906000" cy="6858000" type="A4"/>
  <p:notesSz cx="9869488" cy="14297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>
        <p:scale>
          <a:sx n="100" d="100"/>
          <a:sy n="100" d="100"/>
        </p:scale>
        <p:origin x="364" y="-104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練馬区 紺多　章一郎" userId="9416857a74a95685" providerId="LiveId" clId="{B4727B4F-34DD-46C5-BE3C-DC95A10A0C15}"/>
    <pc:docChg chg="custSel modSld">
      <pc:chgData name="練馬区 紺多　章一郎" userId="9416857a74a95685" providerId="LiveId" clId="{B4727B4F-34DD-46C5-BE3C-DC95A10A0C15}" dt="2026-10-01T09:22:26.627" v="163" actId="948"/>
      <pc:docMkLst>
        <pc:docMk/>
      </pc:docMkLst>
      <pc:sldChg chg="delSp modSp mod">
        <pc:chgData name="練馬区 紺多　章一郎" userId="9416857a74a95685" providerId="LiveId" clId="{B4727B4F-34DD-46C5-BE3C-DC95A10A0C15}" dt="2026-10-01T09:22:26.627" v="163" actId="948"/>
        <pc:sldMkLst>
          <pc:docMk/>
          <pc:sldMk cId="3012791173" sldId="257"/>
        </pc:sldMkLst>
        <pc:spChg chg="mod">
          <ac:chgData name="練馬区 紺多　章一郎" userId="9416857a74a95685" providerId="LiveId" clId="{B4727B4F-34DD-46C5-BE3C-DC95A10A0C15}" dt="2026-10-01T09:02:55.584" v="39" actId="1036"/>
          <ac:spMkLst>
            <pc:docMk/>
            <pc:sldMk cId="3012791173" sldId="257"/>
            <ac:spMk id="19" creationId="{D09F1CAC-D2F4-49C4-E346-F4B6A7E9F82B}"/>
          </ac:spMkLst>
        </pc:spChg>
        <pc:spChg chg="mod">
          <ac:chgData name="練馬区 紺多　章一郎" userId="9416857a74a95685" providerId="LiveId" clId="{B4727B4F-34DD-46C5-BE3C-DC95A10A0C15}" dt="2026-10-01T09:03:11.416" v="54" actId="1036"/>
          <ac:spMkLst>
            <pc:docMk/>
            <pc:sldMk cId="3012791173" sldId="257"/>
            <ac:spMk id="32" creationId="{39E879A7-3AC5-3D38-20BC-44E886A9A229}"/>
          </ac:spMkLst>
        </pc:spChg>
        <pc:spChg chg="mod">
          <ac:chgData name="練馬区 紺多　章一郎" userId="9416857a74a95685" providerId="LiveId" clId="{B4727B4F-34DD-46C5-BE3C-DC95A10A0C15}" dt="2026-10-01T09:22:26.627" v="163" actId="948"/>
          <ac:spMkLst>
            <pc:docMk/>
            <pc:sldMk cId="3012791173" sldId="257"/>
            <ac:spMk id="41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41.445" v="145" actId="6549"/>
          <ac:spMkLst>
            <pc:docMk/>
            <pc:sldMk cId="3012791173" sldId="257"/>
            <ac:spMk id="42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17.454" v="141" actId="20577"/>
          <ac:spMkLst>
            <pc:docMk/>
            <pc:sldMk cId="3012791173" sldId="257"/>
            <ac:spMk id="43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5:24.649" v="119" actId="6549"/>
          <ac:spMkLst>
            <pc:docMk/>
            <pc:sldMk cId="3012791173" sldId="257"/>
            <ac:spMk id="44" creationId="{00000000-0000-0000-0000-000000000000}"/>
          </ac:spMkLst>
        </pc:spChg>
        <pc:spChg chg="del">
          <ac:chgData name="練馬区 紺多　章一郎" userId="9416857a74a95685" providerId="LiveId" clId="{B4727B4F-34DD-46C5-BE3C-DC95A10A0C15}" dt="2026-10-01T09:03:35.311" v="55" actId="478"/>
          <ac:spMkLst>
            <pc:docMk/>
            <pc:sldMk cId="3012791173" sldId="257"/>
            <ac:spMk id="46" creationId="{00000000-0000-0000-0000-000000000000}"/>
          </ac:spMkLst>
        </pc:spChg>
        <pc:picChg chg="mod">
          <ac:chgData name="練馬区 紺多　章一郎" userId="9416857a74a95685" providerId="LiveId" clId="{B4727B4F-34DD-46C5-BE3C-DC95A10A0C15}" dt="2026-10-01T09:03:02.804" v="40" actId="14100"/>
          <ac:picMkLst>
            <pc:docMk/>
            <pc:sldMk cId="3012791173" sldId="257"/>
            <ac:picMk id="31" creationId="{B5663793-2179-FABF-1B2A-4CD80CC1D8E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0541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r">
              <a:defRPr sz="1700"/>
            </a:lvl1pPr>
          </a:lstStyle>
          <a:p>
            <a:fld id="{AF29F05F-798C-4540-B644-D90B907A5339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50975" y="1787525"/>
            <a:ext cx="696753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08" tIns="66504" rIns="133008" bIns="6650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020" y="6880601"/>
            <a:ext cx="7897451" cy="5629583"/>
          </a:xfrm>
          <a:prstGeom prst="rect">
            <a:avLst/>
          </a:prstGeom>
        </p:spPr>
        <p:txBody>
          <a:bodyPr vert="horz" lIns="133008" tIns="66504" rIns="133008" bIns="6650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0541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r">
              <a:defRPr sz="1700"/>
            </a:lvl1pPr>
          </a:lstStyle>
          <a:p>
            <a:fld id="{6D2D29A2-A4F4-45AF-9B1A-55E371A208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44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775-FE59-04DA-F078-7262D379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E111B5-E1FC-0678-DE41-9D56A54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729A9-417E-D78F-3CEE-E8F87584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主語：練馬区</a:t>
            </a:r>
            <a:endParaRPr kumimoji="1" lang="en-US" altLang="ja-JP" dirty="0"/>
          </a:p>
          <a:p>
            <a:r>
              <a:rPr kumimoji="1" lang="ja-JP" altLang="en-US" dirty="0"/>
              <a:t>重点課題には、下線</a:t>
            </a:r>
            <a:endParaRPr kumimoji="1" lang="en-US" altLang="ja-JP" dirty="0"/>
          </a:p>
          <a:p>
            <a:r>
              <a:rPr kumimoji="1" lang="ja-JP" altLang="en-US" dirty="0"/>
              <a:t>新規は赤字</a:t>
            </a:r>
            <a:endParaRPr kumimoji="1" lang="en-US" altLang="ja-JP" dirty="0"/>
          </a:p>
          <a:p>
            <a:r>
              <a:rPr kumimoji="1" lang="ja-JP" altLang="en-US" dirty="0"/>
              <a:t>新規重点は、赤字下線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学力　</a:t>
            </a:r>
            <a:r>
              <a:rPr kumimoji="1" lang="en-US" altLang="ja-JP" dirty="0"/>
              <a:t>PDCA</a:t>
            </a:r>
            <a:r>
              <a:rPr kumimoji="1" lang="ja-JP" altLang="en-US" dirty="0"/>
              <a:t>サイクルの構築</a:t>
            </a:r>
            <a:endParaRPr kumimoji="1" lang="en-US" altLang="ja-JP" dirty="0"/>
          </a:p>
          <a:p>
            <a:r>
              <a:rPr kumimoji="1" lang="ja-JP" altLang="en-US" dirty="0"/>
              <a:t>キャリア教育　</a:t>
            </a:r>
            <a:r>
              <a:rPr kumimoji="1" lang="en-US" altLang="ja-JP" dirty="0"/>
              <a:t>9</a:t>
            </a:r>
            <a:r>
              <a:rPr kumimoji="1" lang="ja-JP" altLang="en-US" dirty="0"/>
              <a:t>年間のプロセス（区版のキャリアパスポート）中身の説明ができるようにするに</a:t>
            </a:r>
            <a:endParaRPr kumimoji="1" lang="en-US" altLang="ja-JP" dirty="0"/>
          </a:p>
          <a:p>
            <a:r>
              <a:rPr kumimoji="1" lang="ja-JP" altLang="en-US" dirty="0"/>
              <a:t>目指す</a:t>
            </a:r>
            <a:r>
              <a:rPr kumimoji="1" lang="en-US" altLang="ja-JP" dirty="0"/>
              <a:t>15</a:t>
            </a:r>
            <a:r>
              <a:rPr kumimoji="1" lang="ja-JP" altLang="en-US" dirty="0"/>
              <a:t>歳の姿　→キャリア教育</a:t>
            </a:r>
            <a:endParaRPr kumimoji="1" lang="en-US" altLang="ja-JP" dirty="0"/>
          </a:p>
          <a:p>
            <a:r>
              <a:rPr kumimoji="1" lang="ja-JP" altLang="en-US" dirty="0"/>
              <a:t>主権者教育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８０周年：教育長</a:t>
            </a:r>
            <a:endParaRPr kumimoji="1" lang="en-US" altLang="ja-JP" dirty="0"/>
          </a:p>
          <a:p>
            <a:r>
              <a:rPr kumimoji="1" lang="ja-JP" altLang="en-US" dirty="0"/>
              <a:t>未来塾：必ずやるように促す。コーディネーターに依頼する。探してもらう。</a:t>
            </a:r>
            <a:endParaRPr kumimoji="1" lang="en-US" altLang="ja-JP" dirty="0"/>
          </a:p>
          <a:p>
            <a:r>
              <a:rPr kumimoji="1" lang="ja-JP" altLang="en-US" dirty="0"/>
              <a:t>サポ人の思い・願いを確認：持っている人材を区に還元　確認！</a:t>
            </a:r>
            <a:endParaRPr kumimoji="1" lang="en-US" altLang="ja-JP" dirty="0"/>
          </a:p>
          <a:p>
            <a:r>
              <a:rPr kumimoji="1" lang="ja-JP" altLang="en-US" dirty="0"/>
              <a:t>仕組みを広げる　知っているか知ってないかで、活用できてない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月上旬に教育長</a:t>
            </a:r>
            <a:endParaRPr kumimoji="1" lang="en-US" altLang="ja-JP" dirty="0"/>
          </a:p>
          <a:p>
            <a:r>
              <a:rPr kumimoji="1" lang="en-US" altLang="ja-JP" dirty="0"/>
              <a:t>11</a:t>
            </a:r>
            <a:r>
              <a:rPr kumimoji="1" lang="ja-JP" altLang="en-US" dirty="0"/>
              <a:t>月上旬に学校　　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　役員校園長会　意見をもらう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28</a:t>
            </a:r>
            <a:r>
              <a:rPr kumimoji="1" lang="ja-JP" altLang="en-US" dirty="0"/>
              <a:t>日　〆切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r>
              <a:t>――――――――――――――――――――</a:t>
            </a:r>
          </a:p>
          <a:p>
            <a:r>
              <a:t>【9/29検討会議（課長意見）の反映内容】</a:t>
            </a:r>
          </a:p>
          <a:p>
            <a:r>
              <a:t>■全体</a:t>
            </a:r>
          </a:p>
          <a:p>
            <a:r>
              <a:t>・主語の書き分け：無印＝教育委員会が実施する事業、【学校】＝各学校に実施を求める取組（柱２の下に凡例を記載）</a:t>
            </a:r>
          </a:p>
          <a:p>
            <a:r>
              <a:t>・重点施策３（キャリア教育）を柱１の下に配置し、各欄の余白・行間を整理（全項目がスライド内に収まるよう調整）</a:t>
            </a:r>
          </a:p>
          <a:p>
            <a:r>
              <a:t>・定着した取組・当たり前の取組（学校経営計画の作成、HP更新、SNS関連メモ等）を削除</a:t>
            </a:r>
          </a:p>
          <a:p>
            <a:r>
              <a:t>・重点施策の位置付け（教育委員会のビジョン→各校の学校経営方針・教育課程）を明記</a:t>
            </a:r>
          </a:p>
          <a:p>
            <a:r>
              <a:t>■重点施策２：学力調査の「分析・課題把握」を、学校に求める「授業改善推進プランの作成」に整理／読書活動を追加／次期学習指導要領を見据えた項目（情報活用能力・探究的な学び）を新設／体力調査も各校の改善策作成として整理</a:t>
            </a:r>
          </a:p>
          <a:p>
            <a:r>
              <a:t>■重点施策３：見出し「キャリア教育の推進」の下で、小中一貫教育を通じて推進する構成に変更／９年間を見通した区版キャリア・パスポート（目指す15歳の姿）、主権者教育の視点を追加／80周年を「郷土への愛着」として整理</a:t>
            </a:r>
          </a:p>
          <a:p>
            <a:r>
              <a:t>■重点施策４：コーディネーター・人材バンク・地域未来塾の関係を整理／「学校評価の実施・公表」（HPに限らない）を施策化／学校公開の下に土曜授業とその意義を記載／農業者と連携した体験学習（「練馬の畑」）の全校実施（小学校）は(1)に存置</a:t>
            </a:r>
          </a:p>
          <a:p>
            <a:r>
              <a:t>■重点施策５：見出しを短縮（案）／いのちの教育（ＳＯＳの出し方に関する教育、ＷＥＢＱＵ）を重点施策１へ移動／関係機関連携を言葉で明示（不登校は「学校教育支援センター・校内委員会と区の連携」、警察・児童相談センターとの連携はいじめ防止へ移動）／外国籍の子供への支援を日本語指導に焦点化／特別支援教育は指導課の研修として整理／項目数の偏りを解消</a:t>
            </a:r>
          </a:p>
          <a:p>
            <a:endParaRPr/>
          </a:p>
          <a:p>
            <a:r>
              <a:t>【要確認・今後の検討事項】</a:t>
            </a:r>
          </a:p>
          <a:p>
            <a:r>
              <a:t>・重点施策５の見出し「一人一人に応じた支援の充実」は仮案（柱３と同じ文言を避けるため）</a:t>
            </a:r>
          </a:p>
          <a:p>
            <a:r>
              <a:t>・ＷＥＢＱＵ（中学校全校・小学校一部）は予算確定前のため表現を要調整</a:t>
            </a:r>
          </a:p>
          <a:p>
            <a:r>
              <a:t>・土曜授業：区として実施させる理由、回数・振替等の区独自の点を追記する</a:t>
            </a:r>
          </a:p>
          <a:p>
            <a:r>
              <a:t>・キャリア教育：区の事業としての具体（研修以外）を担当で再検討</a:t>
            </a:r>
          </a:p>
          <a:p>
            <a:r>
              <a:t>・日本語指導：都のモデル事業の状況を確認</a:t>
            </a:r>
          </a:p>
          <a:p>
            <a:r>
              <a:t>・情報モラル等、他課と連携して実施している事業の扱いを所管課と調整</a:t>
            </a:r>
          </a:p>
          <a:p>
            <a:r>
              <a:t>・スケジュール：9月下旬 役員校長へ事前送付／10月15日 役員校長会／10月上旬～下旬 部長・教育長説明／11月 校長会／12月 教育課程説明会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F120F-6077-67EF-B377-2DF3E01E2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29A2-A4F4-45AF-9B1A-55E371A208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265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14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6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0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75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0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6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94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069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93B7-A9D8-3E12-800C-5510175F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8C80EF8-1596-8027-3241-FE6AA173D245}"/>
              </a:ext>
            </a:extLst>
          </p:cNvPr>
          <p:cNvSpPr/>
          <p:nvPr/>
        </p:nvSpPr>
        <p:spPr>
          <a:xfrm>
            <a:off x="2102308" y="344560"/>
            <a:ext cx="4892852" cy="626048"/>
          </a:xfrm>
          <a:prstGeom prst="triangle">
            <a:avLst>
              <a:gd name="adj" fmla="val 49574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78C2F22F-6DF3-9337-0929-852D3D5AB8E3}"/>
              </a:ext>
            </a:extLst>
          </p:cNvPr>
          <p:cNvSpPr txBox="1"/>
          <p:nvPr/>
        </p:nvSpPr>
        <p:spPr>
          <a:xfrm>
            <a:off x="3730752" y="1033272"/>
            <a:ext cx="2679192" cy="5769864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 dirty="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38">
            <a:extLst>
              <a:ext uri="{FF2B5EF4-FFF2-40B4-BE49-F238E27FC236}">
                <a16:creationId xmlns:a16="http://schemas.microsoft.com/office/drawing/2014/main" id="{B8A0EEDA-83EF-F3ED-A31E-015B3993B453}"/>
              </a:ext>
            </a:extLst>
          </p:cNvPr>
          <p:cNvSpPr txBox="1"/>
          <p:nvPr/>
        </p:nvSpPr>
        <p:spPr>
          <a:xfrm>
            <a:off x="18288" y="1033272"/>
            <a:ext cx="3675888" cy="5769864"/>
          </a:xfrm>
          <a:prstGeom prst="rect">
            <a:avLst/>
          </a:prstGeom>
          <a:solidFill>
            <a:srgbClr val="CCFFFF"/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B60618-B72A-DCC6-68B8-6E6270D74C45}"/>
              </a:ext>
            </a:extLst>
          </p:cNvPr>
          <p:cNvSpPr txBox="1"/>
          <p:nvPr/>
        </p:nvSpPr>
        <p:spPr>
          <a:xfrm>
            <a:off x="82296" y="1371600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１　人権教育・道徳教育の推進</a:t>
            </a: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C85EC32E-AA7D-81E2-33DA-F71D153B5D15}"/>
              </a:ext>
            </a:extLst>
          </p:cNvPr>
          <p:cNvSpPr txBox="1"/>
          <p:nvPr/>
        </p:nvSpPr>
        <p:spPr>
          <a:xfrm>
            <a:off x="3794760" y="1554480"/>
            <a:ext cx="2551176" cy="246888"/>
          </a:xfrm>
          <a:prstGeom prst="rect">
            <a:avLst/>
          </a:prstGeom>
          <a:gradFill flip="none" rotWithShape="1">
            <a:gsLst>
              <a:gs pos="66064">
                <a:srgbClr val="FFC7DE"/>
              </a:gs>
              <a:gs pos="0">
                <a:srgbClr val="FF3399">
                  <a:tint val="66000"/>
                  <a:satMod val="160000"/>
                </a:srgbClr>
              </a:gs>
              <a:gs pos="88000">
                <a:srgbClr val="FF3399">
                  <a:tint val="44500"/>
                  <a:satMod val="160000"/>
                </a:srgbClr>
              </a:gs>
              <a:gs pos="40000">
                <a:srgbClr val="FF3399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４　開かれた学校づくりの推進</a:t>
            </a:r>
          </a:p>
        </p:txBody>
      </p:sp>
      <p:sp>
        <p:nvSpPr>
          <p:cNvPr id="11" name="テキスト ボックス 6">
            <a:extLst>
              <a:ext uri="{FF2B5EF4-FFF2-40B4-BE49-F238E27FC236}">
                <a16:creationId xmlns:a16="http://schemas.microsoft.com/office/drawing/2014/main" id="{B0A95E61-1D36-A8D9-8844-3887B511B97A}"/>
              </a:ext>
            </a:extLst>
          </p:cNvPr>
          <p:cNvSpPr txBox="1"/>
          <p:nvPr/>
        </p:nvSpPr>
        <p:spPr>
          <a:xfrm>
            <a:off x="6455664" y="1033272"/>
            <a:ext cx="3429000" cy="5769864"/>
          </a:xfrm>
          <a:prstGeom prst="rect">
            <a:avLst/>
          </a:prstGeom>
          <a:solidFill>
            <a:srgbClr val="FFFFCC"/>
          </a:soli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33">
            <a:extLst>
              <a:ext uri="{FF2B5EF4-FFF2-40B4-BE49-F238E27FC236}">
                <a16:creationId xmlns:a16="http://schemas.microsoft.com/office/drawing/2014/main" id="{6D8DD0C1-D6CF-7E7C-9347-333AAF3C7D8A}"/>
              </a:ext>
            </a:extLst>
          </p:cNvPr>
          <p:cNvSpPr txBox="1"/>
          <p:nvPr/>
        </p:nvSpPr>
        <p:spPr>
          <a:xfrm>
            <a:off x="2201368" y="59711"/>
            <a:ext cx="4560598" cy="3237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548"/>
              </a:lnSpc>
            </a:pP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令和</a:t>
            </a:r>
            <a:r>
              <a:rPr lang="ja-JP" altLang="en-US" sz="1400" b="1" kern="1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９</a:t>
            </a: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　教育振興部教育指導課の重点施策（案）</a:t>
            </a:r>
            <a:endParaRPr lang="ja-JP" altLang="en-US" sz="1050" b="1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D09F1CAC-D2F4-49C4-E346-F4B6A7E9F82B}"/>
              </a:ext>
            </a:extLst>
          </p:cNvPr>
          <p:cNvSpPr txBox="1"/>
          <p:nvPr/>
        </p:nvSpPr>
        <p:spPr>
          <a:xfrm>
            <a:off x="436335" y="709366"/>
            <a:ext cx="3530066" cy="26946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90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練馬区教育・子育て大綱（令和３年３月改定）</a:t>
            </a: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90B06D83-A238-72F1-8524-727D63DC01F7}"/>
              </a:ext>
            </a:extLst>
          </p:cNvPr>
          <p:cNvSpPr txBox="1"/>
          <p:nvPr/>
        </p:nvSpPr>
        <p:spPr>
          <a:xfrm>
            <a:off x="1941895" y="320980"/>
            <a:ext cx="5997756" cy="27134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87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第３次 みどりの風吹くまちビジョン＜</a:t>
            </a:r>
            <a:r>
              <a:rPr lang="ja-JP" altLang="en-US" sz="1200" b="1" kern="100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改定アクションプラン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＞（令和５～</a:t>
            </a:r>
            <a:r>
              <a:rPr lang="en-US" altLang="ja-JP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10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年度）</a:t>
            </a:r>
          </a:p>
        </p:txBody>
      </p:sp>
      <p:sp>
        <p:nvSpPr>
          <p:cNvPr id="13" name="テキスト ボックス 9">
            <a:extLst>
              <a:ext uri="{FF2B5EF4-FFF2-40B4-BE49-F238E27FC236}">
                <a16:creationId xmlns:a16="http://schemas.microsoft.com/office/drawing/2014/main" id="{737D9764-40F3-55A4-3864-BFC25C6BF993}"/>
              </a:ext>
            </a:extLst>
          </p:cNvPr>
          <p:cNvSpPr txBox="1"/>
          <p:nvPr/>
        </p:nvSpPr>
        <p:spPr>
          <a:xfrm>
            <a:off x="82296" y="3133471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75000">
                <a:srgbClr val="00B0F0">
                  <a:tint val="44500"/>
                  <a:satMod val="160000"/>
                </a:srgbClr>
              </a:gs>
              <a:gs pos="4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２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学力・体力の向上</a:t>
            </a:r>
          </a:p>
        </p:txBody>
      </p:sp>
      <p:sp>
        <p:nvSpPr>
          <p:cNvPr id="14" name="テキスト ボックス 39">
            <a:extLst>
              <a:ext uri="{FF2B5EF4-FFF2-40B4-BE49-F238E27FC236}">
                <a16:creationId xmlns:a16="http://schemas.microsoft.com/office/drawing/2014/main" id="{CEAF676E-1806-5801-11A9-EABEBFC51D17}"/>
              </a:ext>
            </a:extLst>
          </p:cNvPr>
          <p:cNvSpPr txBox="1"/>
          <p:nvPr/>
        </p:nvSpPr>
        <p:spPr>
          <a:xfrm>
            <a:off x="6519672" y="1554480"/>
            <a:ext cx="3300984" cy="24688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94000">
                <a:srgbClr val="FFFF00">
                  <a:tint val="44500"/>
                  <a:satMod val="160000"/>
                </a:srgbClr>
              </a:gs>
              <a:gs pos="41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５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一人一人に応じた支援の充実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39E879A7-3AC5-3D38-20BC-44E886A9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04" y="734954"/>
            <a:ext cx="3446329" cy="256310"/>
          </a:xfrm>
          <a:prstGeom prst="rect">
            <a:avLst/>
          </a:prstGeom>
          <a:gradFill rotWithShape="1">
            <a:gsLst>
              <a:gs pos="0">
                <a:srgbClr val="8FDEA0"/>
              </a:gs>
              <a:gs pos="45000">
                <a:srgbClr val="DFF3E3"/>
              </a:gs>
              <a:gs pos="98000">
                <a:srgbClr val="BCE9C5"/>
              </a:gs>
              <a:gs pos="100000">
                <a:srgbClr val="BCE9C5"/>
              </a:gs>
            </a:gsLst>
            <a:lin ang="16200000" scaled="1"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70757" tIns="35378" rIns="70757" bIns="35378" numCol="1" anchor="ctr" anchorCtr="0" compatLnSpc="1">
            <a:prstTxWarp prst="textNoShape">
              <a:avLst/>
            </a:prstTxWarp>
          </a:bodyPr>
          <a:lstStyle/>
          <a:p>
            <a:pPr algn="ctr" defTabSz="70754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ja-JP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練馬区教育振興基本計画（令和４年３月改定）</a:t>
            </a:r>
            <a:endParaRPr lang="ja-JP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7" name="図 16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73C828-7ED5-2EAB-D70B-7D476A60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103" y="87074"/>
            <a:ext cx="726521" cy="753339"/>
          </a:xfrm>
          <a:prstGeom prst="rect">
            <a:avLst/>
          </a:prstGeom>
        </p:spPr>
      </p:pic>
      <p:pic>
        <p:nvPicPr>
          <p:cNvPr id="31" name="図 30" descr="建物, ウィンドウ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663793-2179-FABF-1B2A-4CD80CC1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75" y="39165"/>
            <a:ext cx="758381" cy="655788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9302CD-ECD3-E19B-FB6F-6485ADD50A99}"/>
              </a:ext>
            </a:extLst>
          </p:cNvPr>
          <p:cNvSpPr txBox="1"/>
          <p:nvPr/>
        </p:nvSpPr>
        <p:spPr>
          <a:xfrm>
            <a:off x="18288" y="1097280"/>
            <a:ext cx="3675888" cy="2373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725"/>
              </a:lnSpc>
              <a:spcBef>
                <a:spcPts val="0"/>
              </a:spcBef>
              <a:buNone/>
            </a:pPr>
            <a:r>
              <a:rPr lang="ja-JP" altLang="en-US" sz="1500" b="1" kern="100">
                <a:solidFill>
                  <a:srgbClr val="000000"/>
                </a:solidFill>
                <a:ea typeface="HG丸ｺﾞｼｯｸM-PRO" pitchFamily="50" charset="-128"/>
              </a:rPr>
              <a:t>１　教育の質の向上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9EDBC5-195C-35E7-43CF-C07E4ACD5290}"/>
              </a:ext>
            </a:extLst>
          </p:cNvPr>
          <p:cNvSpPr txBox="1"/>
          <p:nvPr/>
        </p:nvSpPr>
        <p:spPr>
          <a:xfrm>
            <a:off x="3730752" y="1097280"/>
            <a:ext cx="2679192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２　家庭や地域と連携した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教育の推進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247753C-CDF3-1E65-F679-DFD9A833F4D8}"/>
              </a:ext>
            </a:extLst>
          </p:cNvPr>
          <p:cNvSpPr txBox="1"/>
          <p:nvPr/>
        </p:nvSpPr>
        <p:spPr>
          <a:xfrm>
            <a:off x="6455664" y="1097280"/>
            <a:ext cx="3429000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３　支援が必要な子どもたち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への取組の充実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03E669-5CE8-EC3F-7FC4-3D83E8D9B66B}"/>
              </a:ext>
            </a:extLst>
          </p:cNvPr>
          <p:cNvSpPr txBox="1"/>
          <p:nvPr/>
        </p:nvSpPr>
        <p:spPr>
          <a:xfrm>
            <a:off x="82296" y="5159883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３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キャリア教育の推進</a:t>
            </a:r>
          </a:p>
        </p:txBody>
      </p:sp>
      <p:sp>
        <p:nvSpPr>
          <p:cNvPr id="41" name="本文 41"/>
          <p:cNvSpPr txBox="1"/>
          <p:nvPr/>
        </p:nvSpPr>
        <p:spPr>
          <a:xfrm>
            <a:off x="82296" y="1659636"/>
            <a:ext cx="3547872" cy="1418971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(1)人権教育の推進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①「人権を基盤とした教育プログラム」の実施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②練馬区人権教育推進委員会の運営・運営</a:t>
            </a:r>
            <a:endParaRPr lang="en-US" altLang="ja-JP" sz="85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④人権尊重教育推進校の指定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③人権教育に関する研修の実施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(2)道徳教育の充実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①道徳授業地区公開講座の全校実施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(3)いのちを大切にする教育の推進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①「ＳＯＳの出し方に関する教育」の全校実施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ＷＥＢＱＵの実施（中学校全校・小学校の一部）（新規）</a:t>
            </a:r>
          </a:p>
        </p:txBody>
      </p:sp>
      <p:sp>
        <p:nvSpPr>
          <p:cNvPr id="42" name="本文 42"/>
          <p:cNvSpPr txBox="1"/>
          <p:nvPr/>
        </p:nvSpPr>
        <p:spPr>
          <a:xfrm>
            <a:off x="82296" y="3416935"/>
            <a:ext cx="3547872" cy="16880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(1)確かな学力の定着と向上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学力調査に基づく授業改善推進プランの作成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生成ＡＩを活用した授業への支援（中学校のみ）（新規）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教育課題研究指定校の好事例の共有・活用（新規）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④ＩＣＴ活用・指導力向上に向けた教員研修の実施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⑤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読書活動の推進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(2)次期学習指導要領を見据えた学びの推進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情報活用能力の育成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　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探究的な学びの推進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(3)体力の向上および健康の保持増進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体力・運動能力調査に基づく改善策の作成（新規）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「ねりま体力アップ・プロジェクト」の実施（新規）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③体力向上検討委員会の設置・運営</a:t>
            </a:r>
          </a:p>
        </p:txBody>
      </p:sp>
      <p:sp>
        <p:nvSpPr>
          <p:cNvPr id="43" name="本文 43"/>
          <p:cNvSpPr txBox="1"/>
          <p:nvPr/>
        </p:nvSpPr>
        <p:spPr>
          <a:xfrm>
            <a:off x="82296" y="5443347"/>
            <a:ext cx="3547872" cy="134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(1)小中一貫教育を通じたキャリア教育の推進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キャリア教育の視点を入れた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「小中一貫教育の取組プログラム」の全校実施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②「ねりま幼保小の架け橋期プログラム」の全校園実施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(2)９年間を見通したキャリア教育の充実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highlight>
                  <a:srgbClr val="FFFF00"/>
                </a:highlight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highlight>
                  <a:srgbClr val="FFFF00"/>
                </a:highlight>
                <a:latin typeface="ＭＳ 明朝" panose="02020609040205080304" pitchFamily="17" charset="-128"/>
                <a:ea typeface="ＭＳ 明朝" panose="02020609040205080304" pitchFamily="17" charset="-128"/>
              </a:rPr>
              <a:t>練馬区版キャリア・パスポート（仮）の検討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主権者教育の視点を含むキャリア教育研修の実施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(3)郷土への愛着を育む教育の推進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区独立80周年記念の取組（令和９年度のみ）（新規）</a:t>
            </a:r>
          </a:p>
        </p:txBody>
      </p:sp>
      <p:sp>
        <p:nvSpPr>
          <p:cNvPr id="44" name="本文 44"/>
          <p:cNvSpPr txBox="1"/>
          <p:nvPr/>
        </p:nvSpPr>
        <p:spPr>
          <a:xfrm>
            <a:off x="3794760" y="1842516"/>
            <a:ext cx="2551176" cy="374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3399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41300" indent="-241300" algn="l" eaLnBrk="1" hangingPunct="1">
              <a:lnSpc>
                <a:spcPts val="1140"/>
              </a:lnSpc>
              <a:spcBef>
                <a:spcPts val="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(1)学校を拠点とした地域連携の推進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①学校運営協議会制度（ＣＳ）導入校の拡充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②学校支援コーディネーター・統括コーディネーターと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地域人材バンクの連携による人材確保の支援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コーディネーター等を活用した地域未来塾の全校実施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④農業者と連携した体験学習の全校実施</a:t>
            </a:r>
            <a:b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（小学校）</a:t>
            </a: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endParaRPr lang="ja-JP" altLang="en-US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(2)学校評価の実施・公表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①学校関係者評価を含む学校評価の確実な実施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②評価結果に基づく改善策の策定と公表</a:t>
            </a: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endParaRPr lang="ja-JP" altLang="en-US" sz="900" dirty="0">
              <a:solidFill>
                <a:srgbClr val="FF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)部活動の地域展開に向けた取組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①地域展開に向けた環境整備および関係団体との連携（再編）</a:t>
            </a: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41300" indent="-241300">
              <a:lnSpc>
                <a:spcPts val="1140"/>
              </a:lnSpc>
              <a:spcBef>
                <a:spcPts val="500"/>
              </a:spcBef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(★)学校公開の推進</a:t>
            </a:r>
          </a:p>
          <a:p>
            <a:pPr marL="228600" indent="-114300">
              <a:lnSpc>
                <a:spcPts val="1100"/>
              </a:lnSpc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①土曜授業（年４回）の実施</a:t>
            </a:r>
          </a:p>
          <a:p>
            <a:pPr marL="342900" indent="-114300">
              <a:lnSpc>
                <a:spcPts val="1100"/>
              </a:lnSpc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教育活動を公開し、家庭・地域とともに子どもを育てる機会とする</a:t>
            </a:r>
            <a:endParaRPr lang="en-US" altLang="ja-JP" sz="900" dirty="0">
              <a:solidFill>
                <a:srgbClr val="FF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5" name="本文 45"/>
          <p:cNvSpPr txBox="1"/>
          <p:nvPr/>
        </p:nvSpPr>
        <p:spPr>
          <a:xfrm>
            <a:off x="6519672" y="1842516"/>
            <a:ext cx="3300984" cy="43296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54000" indent="-254000" algn="l" eaLnBrk="1" hangingPunct="1">
              <a:lnSpc>
                <a:spcPts val="1220"/>
              </a:lnSpc>
              <a:spcBef>
                <a:spcPts val="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(1)いじめ防止の推進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①いじめ一掃プロジェクトの実施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②情報モラル教育の推進（関係課と連携）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・児童生徒向け情報モラル教室の実施（継続）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・教員・保護者向け情報モラル講習会の実施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③警察・児童相談センター等の関係機関との連携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(2)不登校対策の推進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学校教育支援センター・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校内委員会と区の連携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②「練馬区不登校対策方針」に基づく「安心できる学校づくり」「早期支援」「多様な支援」の推進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③校内別室支援員の配置拡充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チャレンジクラスの設置（新規）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(3)日本語指導が必要な児童生徒への支援の充実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日本語学級の設置（新規）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②日本語指導加配教員の配置拡充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③日本語指導講師の派遣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(4)特別支援教育の推進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知的障害学級の増設、自閉症・情緒固定学級開設に向けた検討（新規）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②特別支援学級における小中一貫教育の推進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特別支援教育に関する研修の充実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（コーディネーター・支援員研修、オンライン動画等）</a:t>
            </a:r>
          </a:p>
        </p:txBody>
      </p:sp>
    </p:spTree>
    <p:extLst>
      <p:ext uri="{BB962C8B-B14F-4D97-AF65-F5344CB8AC3E}">
        <p14:creationId xmlns:p14="http://schemas.microsoft.com/office/powerpoint/2010/main" val="30127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</TotalTime>
  <Words>1238</Words>
  <Application>Microsoft Office PowerPoint</Application>
  <PresentationFormat>A4 210 x 297 mm</PresentationFormat>
  <Paragraphs>121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ゴシック</vt:lpstr>
      <vt:lpstr>ＭＳ 明朝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　宏幸</dc:creator>
  <cp:lastModifiedBy>練馬区 紺多　章一郎</cp:lastModifiedBy>
  <cp:revision>78</cp:revision>
  <cp:lastPrinted>2026-08-25T04:09:27Z</cp:lastPrinted>
  <dcterms:created xsi:type="dcterms:W3CDTF">2025-11-17T09:29:53Z</dcterms:created>
  <dcterms:modified xsi:type="dcterms:W3CDTF">2026-10-01T21:14:02Z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2025-11-17T09:39:18Z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e08d6263-36ec-4fae-8f56-7c07895a392f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