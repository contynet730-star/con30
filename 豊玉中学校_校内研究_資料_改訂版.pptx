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10" r:id="rId1"/>
  </p:sldMasterIdLst>
  <p:notesMasterIdLst>
    <p:notesMasterId r:id="rId24"/>
  </p:notesMasterIdLst>
  <p:handoutMasterIdLst>
    <p:handoutMasterId r:id="rId25"/>
  </p:handoutMasterIdLst>
  <p:sldIdLst>
    <p:sldId id="256" r:id="rId2"/>
    <p:sldId id="262" r:id="rId3"/>
    <p:sldId id="368" r:id="rId4"/>
    <p:sldId id="332" r:id="rId5"/>
    <p:sldId id="372" r:id="rId6"/>
    <p:sldId id="626" r:id="rId7"/>
    <p:sldId id="727" r:id="rId8"/>
    <p:sldId id="264" r:id="rId9"/>
    <p:sldId id="266" r:id="rId10"/>
    <p:sldId id="267" r:id="rId11"/>
    <p:sldId id="268" r:id="rId12"/>
    <p:sldId id="269" r:id="rId13"/>
    <p:sldId id="270" r:id="rId14"/>
    <p:sldId id="723" r:id="rId15"/>
    <p:sldId id="391" r:id="rId16"/>
    <p:sldId id="717" r:id="rId17"/>
    <p:sldId id="390" r:id="rId18"/>
    <p:sldId id="329" r:id="rId19"/>
    <p:sldId id="271" r:id="rId20"/>
    <p:sldId id="729" r:id="rId21"/>
    <p:sldId id="730" r:id="rId30"/>
    <p:sldId id="731" r:id="rId31"/>
    <p:sldId id="298" r:id="rId22"/>
    <p:sldId id="654" r:id="rId23"/>
  </p:sldIdLst>
  <p:sldSz cx="12192000" cy="6858000"/>
  <p:notesSz cx="6737350" cy="986948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FCCCC"/>
    <a:srgbClr val="FF3399"/>
    <a:srgbClr val="FFFFFF"/>
    <a:srgbClr val="FFCCFF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26" autoAdjust="0"/>
    <p:restoredTop sz="94434" autoAdjust="0"/>
  </p:normalViewPr>
  <p:slideViewPr>
    <p:cSldViewPr snapToGrid="0">
      <p:cViewPr varScale="1">
        <p:scale>
          <a:sx n="59" d="100"/>
          <a:sy n="59" d="100"/>
        </p:scale>
        <p:origin x="980" y="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4014" y="1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3.xml"/><Relationship Id="rId23" Type="http://schemas.openxmlformats.org/officeDocument/2006/relationships/slide" Target="slides/slide24.xml"/><Relationship Id="rId24" Type="http://schemas.openxmlformats.org/officeDocument/2006/relationships/notesMaster" Target="notesMasters/notesMaster1.xml"/><Relationship Id="rId25" Type="http://schemas.openxmlformats.org/officeDocument/2006/relationships/handoutMaster" Target="handoutMasters/handout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21.xml"/><Relationship Id="rId31" Type="http://schemas.openxmlformats.org/officeDocument/2006/relationships/slide" Target="slides/slide2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2919518" cy="495188"/>
          </a:xfrm>
          <a:prstGeom prst="rect">
            <a:avLst/>
          </a:prstGeom>
        </p:spPr>
        <p:txBody>
          <a:bodyPr vert="horz" lIns="90791" tIns="45395" rIns="90791" bIns="4539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16276" y="2"/>
            <a:ext cx="2919518" cy="495188"/>
          </a:xfrm>
          <a:prstGeom prst="rect">
            <a:avLst/>
          </a:prstGeom>
        </p:spPr>
        <p:txBody>
          <a:bodyPr vert="horz" lIns="90791" tIns="45395" rIns="90791" bIns="45395" rtlCol="0"/>
          <a:lstStyle>
            <a:lvl1pPr algn="r">
              <a:defRPr sz="1200"/>
            </a:lvl1pPr>
          </a:lstStyle>
          <a:p>
            <a:fld id="{AF3FB773-D66D-4B79-AD8B-440E68C29EC0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3" y="9374302"/>
            <a:ext cx="2919518" cy="495188"/>
          </a:xfrm>
          <a:prstGeom prst="rect">
            <a:avLst/>
          </a:prstGeom>
        </p:spPr>
        <p:txBody>
          <a:bodyPr vert="horz" lIns="90791" tIns="45395" rIns="90791" bIns="4539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16276" y="9374302"/>
            <a:ext cx="2919518" cy="495188"/>
          </a:xfrm>
          <a:prstGeom prst="rect">
            <a:avLst/>
          </a:prstGeom>
        </p:spPr>
        <p:txBody>
          <a:bodyPr vert="horz" lIns="90791" tIns="45395" rIns="90791" bIns="45395" rtlCol="0" anchor="b"/>
          <a:lstStyle>
            <a:lvl1pPr algn="r">
              <a:defRPr sz="1200"/>
            </a:lvl1pPr>
          </a:lstStyle>
          <a:p>
            <a:fld id="{AC238569-687F-4820-8DDA-041F54A745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96701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2919518" cy="495188"/>
          </a:xfrm>
          <a:prstGeom prst="rect">
            <a:avLst/>
          </a:prstGeom>
        </p:spPr>
        <p:txBody>
          <a:bodyPr vert="horz" lIns="90791" tIns="45395" rIns="90791" bIns="4539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6276" y="2"/>
            <a:ext cx="2919518" cy="495188"/>
          </a:xfrm>
          <a:prstGeom prst="rect">
            <a:avLst/>
          </a:prstGeom>
        </p:spPr>
        <p:txBody>
          <a:bodyPr vert="horz" lIns="90791" tIns="45395" rIns="90791" bIns="45395" rtlCol="0"/>
          <a:lstStyle>
            <a:lvl1pPr algn="r">
              <a:defRPr sz="1200"/>
            </a:lvl1pPr>
          </a:lstStyle>
          <a:p>
            <a:fld id="{234B1172-E32A-4CB9-8C99-C8095151B9AF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11163" y="1235075"/>
            <a:ext cx="5915025" cy="3327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91" tIns="45395" rIns="90791" bIns="4539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736" y="4749691"/>
            <a:ext cx="5389880" cy="3886112"/>
          </a:xfrm>
          <a:prstGeom prst="rect">
            <a:avLst/>
          </a:prstGeom>
        </p:spPr>
        <p:txBody>
          <a:bodyPr vert="horz" lIns="90791" tIns="45395" rIns="90791" bIns="4539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3" y="9374302"/>
            <a:ext cx="2919518" cy="495188"/>
          </a:xfrm>
          <a:prstGeom prst="rect">
            <a:avLst/>
          </a:prstGeom>
        </p:spPr>
        <p:txBody>
          <a:bodyPr vert="horz" lIns="90791" tIns="45395" rIns="90791" bIns="4539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6276" y="9374302"/>
            <a:ext cx="2919518" cy="495188"/>
          </a:xfrm>
          <a:prstGeom prst="rect">
            <a:avLst/>
          </a:prstGeom>
        </p:spPr>
        <p:txBody>
          <a:bodyPr vert="horz" lIns="90791" tIns="45395" rIns="90791" bIns="45395" rtlCol="0" anchor="b"/>
          <a:lstStyle>
            <a:lvl1pPr algn="r">
              <a:defRPr sz="1200"/>
            </a:lvl1pPr>
          </a:lstStyle>
          <a:p>
            <a:fld id="{4561AA02-6E3A-44A8-A9A2-E15F74DB02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6571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〇改めまして、先生方、こんにちは。</a:t>
            </a:r>
            <a:endParaRPr kumimoji="1" lang="en-US" altLang="ja-JP" dirty="0"/>
          </a:p>
          <a:p>
            <a:r>
              <a:rPr kumimoji="1" lang="ja-JP" altLang="en-US" dirty="0"/>
              <a:t>〇練馬区教育委員会　指導主事の　紺多　章一郎です。本日は、よろしくお願いします。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〇まずは、本当に久々に、こういった形でみんなで授業を参観し、みんなで協議を行い、体育について大いに学べる機会を与えていただきこと、</a:t>
            </a:r>
            <a:endParaRPr kumimoji="1" lang="en-US" altLang="ja-JP" dirty="0"/>
          </a:p>
          <a:p>
            <a:r>
              <a:rPr kumimoji="1" lang="ja-JP" altLang="en-US" dirty="0"/>
              <a:t>　会場校の原田校長先生をはじめ、南田中小学校の先生方、関係の皆様方に心より感謝いたします。ありがとうございました。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〇練馬区小学校教育会体育研究部の研究授業は、どの部会も、研究主題をもとに、研究を深めており、本日の授業を大変楽しみにしていました。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〇今日は、石神井地区の熱い大きな思いを背負って、小久保先生が授業をしてくださいました。お疲れさまでした。</a:t>
            </a:r>
            <a:endParaRPr kumimoji="1" lang="en-US" altLang="ja-JP" dirty="0"/>
          </a:p>
          <a:p>
            <a:r>
              <a:rPr kumimoji="1" lang="ja-JP" altLang="en-US" dirty="0"/>
              <a:t>〇その授業がどうであったかの答えはどこにあるのか、それは、先ほど皆さんと一緒に参観した子供たちの姿にあります。</a:t>
            </a:r>
            <a:endParaRPr kumimoji="1" lang="en-US" altLang="ja-JP" dirty="0"/>
          </a:p>
          <a:p>
            <a:r>
              <a:rPr kumimoji="1" lang="ja-JP" altLang="en-US" dirty="0"/>
              <a:t>〇限られた時間ではありますが、子供の姿を中心において、今日の授業について一緒に考えていきましょう。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61AA02-6E3A-44A8-A9A2-E15F74DB0280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1393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77825" y="1214438"/>
            <a:ext cx="5834063" cy="328295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>
          <a:xfrm>
            <a:off x="658830" y="4678948"/>
            <a:ext cx="5270629" cy="3828229"/>
          </a:xfrm>
        </p:spPr>
        <p:txBody>
          <a:bodyPr/>
          <a:lstStyle/>
          <a:p>
            <a:r>
              <a:rPr lang="ja-JP" altLang="en-US" b="1" dirty="0">
                <a:solidFill>
                  <a:schemeClr val="tx1"/>
                </a:solidFill>
                <a:latin typeface="+mn-lt"/>
              </a:rPr>
              <a:t>次に、令和３年度の練馬区の小学校５年生における新体力テストの体力合計点結果をお示しします。</a:t>
            </a:r>
            <a:endParaRPr lang="en-US" altLang="ja-JP" b="1" dirty="0">
              <a:solidFill>
                <a:schemeClr val="tx1"/>
              </a:solidFill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b="1" dirty="0">
                <a:solidFill>
                  <a:schemeClr val="tx1"/>
                </a:solidFill>
                <a:latin typeface="+mn-lt"/>
              </a:rPr>
              <a:t>●</a:t>
            </a:r>
            <a:r>
              <a:rPr lang="ja-JP" altLang="en-US" sz="1200" b="1" dirty="0">
                <a:solidFill>
                  <a:schemeClr val="tx1"/>
                </a:solidFill>
                <a:latin typeface="+mn-lt"/>
                <a:ea typeface="メイリオ" panose="020B0604030504040204" pitchFamily="50" charset="-128"/>
              </a:rPr>
              <a:t>男女ともに体力合計点が低下傾向にあります。また、これは全学年で共通しています。</a:t>
            </a:r>
            <a:endParaRPr lang="en-US" altLang="ja-JP" sz="1200" b="1" dirty="0">
              <a:solidFill>
                <a:schemeClr val="tx1"/>
              </a:solidFill>
              <a:latin typeface="+mn-lt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200" b="1" dirty="0">
                <a:solidFill>
                  <a:schemeClr val="tx1"/>
                </a:solidFill>
                <a:latin typeface="+mn-lt"/>
                <a:ea typeface="メイリオ" panose="020B0604030504040204" pitchFamily="50" charset="-128"/>
              </a:rPr>
              <a:t>●つまり</a:t>
            </a:r>
            <a:endParaRPr lang="en-US" altLang="ja-JP" sz="1200" b="1" dirty="0">
              <a:solidFill>
                <a:schemeClr val="tx1"/>
              </a:solidFill>
              <a:latin typeface="+mn-lt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200" b="1" dirty="0">
                <a:solidFill>
                  <a:schemeClr val="tx1"/>
                </a:solidFill>
                <a:latin typeface="+mn-lt"/>
                <a:ea typeface="メイリオ" panose="020B0604030504040204" pitchFamily="50" charset="-128"/>
              </a:rPr>
              <a:t>●全体的な体力の低下、それも令和元年度から令和３年度にかけては大きく低下していることが分かります。</a:t>
            </a:r>
            <a:endParaRPr lang="en-US" altLang="ja-JP" sz="1200" b="1" dirty="0">
              <a:solidFill>
                <a:schemeClr val="tx1"/>
              </a:solidFill>
              <a:latin typeface="+mn-lt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200" b="1" dirty="0">
                <a:solidFill>
                  <a:schemeClr val="tx1"/>
                </a:solidFill>
                <a:latin typeface="+mn-lt"/>
                <a:ea typeface="メイリオ" panose="020B0604030504040204" pitchFamily="50" charset="-128"/>
              </a:rPr>
              <a:t>これは、生活習慣の調査から</a:t>
            </a:r>
            <a:endParaRPr lang="en-US" altLang="ja-JP" sz="1200" b="1" dirty="0">
              <a:solidFill>
                <a:schemeClr val="tx1"/>
              </a:solidFill>
              <a:latin typeface="+mn-lt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200" b="1" dirty="0">
                <a:solidFill>
                  <a:schemeClr val="tx1"/>
                </a:solidFill>
                <a:latin typeface="+mn-lt"/>
                <a:ea typeface="メイリオ" panose="020B0604030504040204" pitchFamily="50" charset="-128"/>
              </a:rPr>
              <a:t>●運動時間の減少</a:t>
            </a:r>
            <a:endParaRPr lang="en-US" altLang="ja-JP" sz="1200" b="1" dirty="0">
              <a:solidFill>
                <a:schemeClr val="tx1"/>
              </a:solidFill>
              <a:latin typeface="+mn-lt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200" b="1" dirty="0">
                <a:solidFill>
                  <a:schemeClr val="tx1"/>
                </a:solidFill>
                <a:latin typeface="+mn-lt"/>
                <a:ea typeface="メイリオ" panose="020B0604030504040204" pitchFamily="50" charset="-128"/>
              </a:rPr>
              <a:t>●スマホやゲームなどを行うスクリーンタイムの増加</a:t>
            </a:r>
            <a:endParaRPr lang="en-US" altLang="ja-JP" sz="1200" b="1" dirty="0">
              <a:solidFill>
                <a:schemeClr val="tx1"/>
              </a:solidFill>
              <a:latin typeface="+mn-lt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200" b="1" dirty="0">
                <a:solidFill>
                  <a:schemeClr val="tx1"/>
                </a:solidFill>
                <a:latin typeface="+mn-lt"/>
                <a:ea typeface="メイリオ" panose="020B0604030504040204" pitchFamily="50" charset="-128"/>
              </a:rPr>
              <a:t>●肥満である児童の増加に加え、</a:t>
            </a:r>
            <a:endParaRPr lang="en-US" altLang="ja-JP" sz="1200" b="1" dirty="0">
              <a:solidFill>
                <a:schemeClr val="tx1"/>
              </a:solidFill>
              <a:latin typeface="+mn-lt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200" b="1" dirty="0">
                <a:solidFill>
                  <a:schemeClr val="tx1"/>
                </a:solidFill>
                <a:latin typeface="+mn-lt"/>
                <a:ea typeface="メイリオ" panose="020B0604030504040204" pitchFamily="50" charset="-128"/>
              </a:rPr>
              <a:t>●コロナ禍の影響を受けていると考えられます。</a:t>
            </a:r>
            <a:endParaRPr lang="en-US" altLang="ja-JP" sz="1200" b="1" dirty="0">
              <a:solidFill>
                <a:schemeClr val="tx1"/>
              </a:solidFill>
              <a:latin typeface="+mn-lt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1200" b="1" dirty="0">
              <a:solidFill>
                <a:schemeClr val="tx1"/>
              </a:solidFill>
              <a:latin typeface="+mn-lt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200" b="1" dirty="0">
                <a:solidFill>
                  <a:schemeClr val="tx1"/>
                </a:solidFill>
                <a:latin typeface="+mn-lt"/>
                <a:ea typeface="メイリオ" panose="020B0604030504040204" pitchFamily="50" charset="-128"/>
              </a:rPr>
              <a:t>●</a:t>
            </a:r>
            <a:endParaRPr lang="en-US" altLang="ja-JP" sz="1200" b="1" dirty="0">
              <a:solidFill>
                <a:schemeClr val="tx1"/>
              </a:solidFill>
              <a:latin typeface="+mn-lt"/>
              <a:ea typeface="メイリオ" panose="020B0604030504040204" pitchFamily="50" charset="-128"/>
            </a:endParaRPr>
          </a:p>
          <a:p>
            <a:endParaRPr lang="en-US" altLang="ja-JP" b="1" dirty="0"/>
          </a:p>
        </p:txBody>
      </p:sp>
    </p:spTree>
    <p:extLst>
      <p:ext uri="{BB962C8B-B14F-4D97-AF65-F5344CB8AC3E}">
        <p14:creationId xmlns:p14="http://schemas.microsoft.com/office/powerpoint/2010/main" val="35263211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12FE2-32A2-47A7-21B5-3DDF88DED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1376CB6-4F3B-DD28-1774-0D0568F659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77825" y="1214438"/>
            <a:ext cx="5834063" cy="32829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536AE3F-5EDC-E6EE-407B-A946144F1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8830" y="4678948"/>
            <a:ext cx="5270629" cy="3828229"/>
          </a:xfrm>
        </p:spPr>
        <p:txBody>
          <a:bodyPr/>
          <a:lstStyle/>
          <a:p>
            <a:r>
              <a:rPr lang="ja-JP" altLang="en-US" b="1" dirty="0">
                <a:solidFill>
                  <a:schemeClr val="tx1"/>
                </a:solidFill>
                <a:latin typeface="+mn-lt"/>
              </a:rPr>
              <a:t>次に、令和３年度の練馬区の小学校５年生における新体力テストの体力合計点結果をお示しします。</a:t>
            </a:r>
            <a:endParaRPr lang="en-US" altLang="ja-JP" b="1" dirty="0">
              <a:solidFill>
                <a:schemeClr val="tx1"/>
              </a:solidFill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b="1" dirty="0">
                <a:solidFill>
                  <a:schemeClr val="tx1"/>
                </a:solidFill>
                <a:latin typeface="+mn-lt"/>
              </a:rPr>
              <a:t>●</a:t>
            </a:r>
            <a:r>
              <a:rPr lang="ja-JP" altLang="en-US" sz="1200" b="1" dirty="0">
                <a:solidFill>
                  <a:schemeClr val="tx1"/>
                </a:solidFill>
                <a:latin typeface="+mn-lt"/>
                <a:ea typeface="メイリオ" panose="020B0604030504040204" pitchFamily="50" charset="-128"/>
              </a:rPr>
              <a:t>男女ともに体力合計点が低下傾向にあります。また、これは全学年で共通しています。</a:t>
            </a:r>
            <a:endParaRPr lang="en-US" altLang="ja-JP" sz="1200" b="1" dirty="0">
              <a:solidFill>
                <a:schemeClr val="tx1"/>
              </a:solidFill>
              <a:latin typeface="+mn-lt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200" b="1" dirty="0">
                <a:solidFill>
                  <a:schemeClr val="tx1"/>
                </a:solidFill>
                <a:latin typeface="+mn-lt"/>
                <a:ea typeface="メイリオ" panose="020B0604030504040204" pitchFamily="50" charset="-128"/>
              </a:rPr>
              <a:t>●つまり</a:t>
            </a:r>
            <a:endParaRPr lang="en-US" altLang="ja-JP" sz="1200" b="1" dirty="0">
              <a:solidFill>
                <a:schemeClr val="tx1"/>
              </a:solidFill>
              <a:latin typeface="+mn-lt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200" b="1" dirty="0">
                <a:solidFill>
                  <a:schemeClr val="tx1"/>
                </a:solidFill>
                <a:latin typeface="+mn-lt"/>
                <a:ea typeface="メイリオ" panose="020B0604030504040204" pitchFamily="50" charset="-128"/>
              </a:rPr>
              <a:t>●全体的な体力の低下、それも令和元年度から令和３年度にかけては大きく低下していることが分かります。</a:t>
            </a:r>
            <a:endParaRPr lang="en-US" altLang="ja-JP" sz="1200" b="1" dirty="0">
              <a:solidFill>
                <a:schemeClr val="tx1"/>
              </a:solidFill>
              <a:latin typeface="+mn-lt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200" b="1" dirty="0">
                <a:solidFill>
                  <a:schemeClr val="tx1"/>
                </a:solidFill>
                <a:latin typeface="+mn-lt"/>
                <a:ea typeface="メイリオ" panose="020B0604030504040204" pitchFamily="50" charset="-128"/>
              </a:rPr>
              <a:t>これは、生活習慣の調査から</a:t>
            </a:r>
            <a:endParaRPr lang="en-US" altLang="ja-JP" sz="1200" b="1" dirty="0">
              <a:solidFill>
                <a:schemeClr val="tx1"/>
              </a:solidFill>
              <a:latin typeface="+mn-lt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200" b="1" dirty="0">
                <a:solidFill>
                  <a:schemeClr val="tx1"/>
                </a:solidFill>
                <a:latin typeface="+mn-lt"/>
                <a:ea typeface="メイリオ" panose="020B0604030504040204" pitchFamily="50" charset="-128"/>
              </a:rPr>
              <a:t>●運動時間の減少</a:t>
            </a:r>
            <a:endParaRPr lang="en-US" altLang="ja-JP" sz="1200" b="1" dirty="0">
              <a:solidFill>
                <a:schemeClr val="tx1"/>
              </a:solidFill>
              <a:latin typeface="+mn-lt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200" b="1" dirty="0">
                <a:solidFill>
                  <a:schemeClr val="tx1"/>
                </a:solidFill>
                <a:latin typeface="+mn-lt"/>
                <a:ea typeface="メイリオ" panose="020B0604030504040204" pitchFamily="50" charset="-128"/>
              </a:rPr>
              <a:t>●スマホやゲームなどを行うスクリーンタイムの増加</a:t>
            </a:r>
            <a:endParaRPr lang="en-US" altLang="ja-JP" sz="1200" b="1" dirty="0">
              <a:solidFill>
                <a:schemeClr val="tx1"/>
              </a:solidFill>
              <a:latin typeface="+mn-lt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200" b="1" dirty="0">
                <a:solidFill>
                  <a:schemeClr val="tx1"/>
                </a:solidFill>
                <a:latin typeface="+mn-lt"/>
                <a:ea typeface="メイリオ" panose="020B0604030504040204" pitchFamily="50" charset="-128"/>
              </a:rPr>
              <a:t>●肥満である児童の増加に加え、</a:t>
            </a:r>
            <a:endParaRPr lang="en-US" altLang="ja-JP" sz="1200" b="1" dirty="0">
              <a:solidFill>
                <a:schemeClr val="tx1"/>
              </a:solidFill>
              <a:latin typeface="+mn-lt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200" b="1" dirty="0">
                <a:solidFill>
                  <a:schemeClr val="tx1"/>
                </a:solidFill>
                <a:latin typeface="+mn-lt"/>
                <a:ea typeface="メイリオ" panose="020B0604030504040204" pitchFamily="50" charset="-128"/>
              </a:rPr>
              <a:t>●コロナ禍の影響を受けていると考えられます。</a:t>
            </a:r>
            <a:endParaRPr lang="en-US" altLang="ja-JP" sz="1200" b="1" dirty="0">
              <a:solidFill>
                <a:schemeClr val="tx1"/>
              </a:solidFill>
              <a:latin typeface="+mn-lt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1200" b="1" dirty="0">
              <a:solidFill>
                <a:schemeClr val="tx1"/>
              </a:solidFill>
              <a:latin typeface="+mn-lt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200" b="1" dirty="0">
                <a:solidFill>
                  <a:schemeClr val="tx1"/>
                </a:solidFill>
                <a:latin typeface="+mn-lt"/>
                <a:ea typeface="メイリオ" panose="020B0604030504040204" pitchFamily="50" charset="-128"/>
              </a:rPr>
              <a:t>●</a:t>
            </a:r>
            <a:endParaRPr lang="en-US" altLang="ja-JP" sz="1200" b="1" dirty="0">
              <a:solidFill>
                <a:schemeClr val="tx1"/>
              </a:solidFill>
              <a:latin typeface="+mn-lt"/>
              <a:ea typeface="メイリオ" panose="020B0604030504040204" pitchFamily="50" charset="-128"/>
            </a:endParaRPr>
          </a:p>
          <a:p>
            <a:endParaRPr lang="en-US" altLang="ja-JP" b="1" dirty="0"/>
          </a:p>
        </p:txBody>
      </p:sp>
    </p:spTree>
    <p:extLst>
      <p:ext uri="{BB962C8B-B14F-4D97-AF65-F5344CB8AC3E}">
        <p14:creationId xmlns:p14="http://schemas.microsoft.com/office/powerpoint/2010/main" val="18046946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5213E-4FB4-994E-69C9-059A06719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DE0A105-30DC-015A-4263-2FB0D9C092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86FC2DE-3211-2CC4-E90D-657304F03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B50A6ED-FACB-B044-F762-0923F57028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BAE84-8BA7-4218-AA91-1A9C6AE6D8C5}" type="slidenum">
              <a:rPr kumimoji="1" lang="ja-JP" altLang="en-US" smtClean="0"/>
              <a:t>14</a:t>
            </a:fld>
            <a:endParaRPr kumimoji="1" lang="ja-JP" altLang="en-US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CE346CE-1AC7-AB77-248C-5EAB4C01951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kumimoji="1" lang="en-US" altLang="ja-JP"/>
              <a:t>2025/9/24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17324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1F510-36C9-C050-DBC8-B96A4AA6E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A0AF24B-DFA5-51D3-2AE4-B8BC30C0CC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59F8CB2-0A76-0726-953D-C9E1A94D5C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C5F0B27-78F4-94F3-7530-E6B345F9AF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BAE84-8BA7-4218-AA91-1A9C6AE6D8C5}" type="slidenum">
              <a:rPr kumimoji="1" lang="ja-JP" altLang="en-US" smtClean="0"/>
              <a:t>15</a:t>
            </a:fld>
            <a:endParaRPr kumimoji="1" lang="ja-JP" altLang="en-US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67B81D2-B39C-D8AB-D170-51060CEFE34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kumimoji="1" lang="en-US" altLang="ja-JP"/>
              <a:t>2025/9/24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61044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AC3DD-5C71-319C-FFBB-105EEBAAD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0CC9E96-0362-193F-8560-FFDBE73911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26E6E99-45CD-BF2E-A12C-25390418B8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63BF59B-DF85-4D04-8A3C-D1139D02CC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BAE84-8BA7-4218-AA91-1A9C6AE6D8C5}" type="slidenum">
              <a:rPr kumimoji="1" lang="ja-JP" altLang="en-US" smtClean="0"/>
              <a:t>16</a:t>
            </a:fld>
            <a:endParaRPr kumimoji="1" lang="ja-JP" altLang="en-US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D7B7EF7-0E98-6DA6-F817-11A34F7907F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kumimoji="1" lang="en-US" altLang="ja-JP"/>
              <a:t>2025/9/24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69954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B6708-800B-97E7-D2FD-F9E334F63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F8DFFD2-F97B-BD78-4CE4-3968027A83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6825E8F-F5AE-70F3-02A1-4C034F0EA9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7EE5010-48C7-BC9D-9245-963237F793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BAE84-8BA7-4218-AA91-1A9C6AE6D8C5}" type="slidenum">
              <a:rPr kumimoji="1" lang="ja-JP" altLang="en-US" smtClean="0"/>
              <a:t>17</a:t>
            </a:fld>
            <a:endParaRPr kumimoji="1" lang="ja-JP" altLang="en-US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AEF37EE-14BA-3990-7866-B51C16FC825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kumimoji="1" lang="en-US" altLang="ja-JP"/>
              <a:t>2025/9/24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81318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1AA02-6E3A-44A8-A9A2-E15F74DB0280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024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236342-BA52-47EB-BD3F-1A7CCAFE6BE5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23484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2833688" y="828675"/>
            <a:ext cx="3984625" cy="224155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>
          <a:xfrm>
            <a:off x="965114" y="3194057"/>
            <a:ext cx="7720901" cy="2613319"/>
          </a:xfrm>
        </p:spPr>
        <p:txBody>
          <a:bodyPr/>
          <a:lstStyle/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73557968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9A341F-D344-BC80-D54B-6CE54490B5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9D924FA-14CE-5278-5A70-37563337E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61AD1F2-1F64-D5A1-DB8D-65D74C0A2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5/14/2026</a:t>
            </a:fld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DC3F1C3-61C1-2273-0F4B-BBF8C1AEB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35D292A-331B-F12C-5A12-DABCC3F03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902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9C0F9D-8C64-41BF-ECB0-13D7BD74F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B88E73-6880-ADD7-A3F0-235FC98C1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5E76F59-BEC1-718F-AC2A-FD0C97FC7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4806D30-E1DD-CFB9-D615-DE260F602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B580667-445F-A951-BE47-922BD346C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60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389698-A886-33B6-D4BE-2D564B612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1BF366D-F628-AAE2-0940-6F65DA90ED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2F8EC3-2B88-1BCC-05A4-6AD518F96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5/14/2026</a:t>
            </a:fld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D51B0A-FE73-B418-1B09-42E83EE2D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030DF9-C81A-BD74-A6B4-809C05E8A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0448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EDC25E-5E68-ADAC-F391-6E559B847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3EDA86E-76B7-207A-07DE-7C52E588CA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47F0510-AFA0-A4B1-BAF5-97ACAED61F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4F915B9-31E7-09D3-911A-95E2D6DE4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AA12FC5-E746-5078-825D-EEE058F01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0CBBB36-CC2C-E884-0B6F-17C61E955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322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91FF9C-E941-5DE8-E709-3EAA1AA8C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7E644AA-40BA-9B9F-3B28-3B711F153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095A9FF-B0DE-3CC9-82CE-0C4EDB6C6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F99FA1D-13AF-24C7-479E-82B70904F3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DB80799-853A-EA04-4466-4C49623AAB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2AC2942-37B8-4F44-FB08-4BED8A1C4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5/14/2026</a:t>
            </a:fld>
            <a:endParaRPr lang="en-US" dirty="0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46C8C18-A203-D3B2-2F6A-7F89D39F2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206E7FD-9F85-FB09-AFEE-073589128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66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E93930-27F7-14E1-43A8-C01E66536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E73B948-F9E5-43F0-CB77-116BC4D58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5/14/2026</a:t>
            </a:fld>
            <a:endParaRPr 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94625E4-2F7C-CC6D-8699-32112053A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9B121C9-4C6A-8D01-96EE-C6B79DB0E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374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39026D0-961B-632E-F3AD-A5F851BBF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5/14/2026</a:t>
            </a:fld>
            <a:endParaRPr 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66140A7-2BEF-5BFC-52A7-663E84877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1A5B378-C0BE-6CA1-EFC2-7192824E6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730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0C93F5-6271-F7B2-2ACA-117813D0B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6CB12F9-EEDF-A262-088F-697EA58C6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D62BD37-9EBF-6A88-667B-94FD910DEB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7F09263-A254-D3AF-646D-42C8E0A64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5/14/2026</a:t>
            </a:fld>
            <a:endParaRPr lang="en-US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10FC980-11EC-8565-92A9-60C133E8D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E62033B-1E92-B5B0-CE9C-8425E1757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526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D560B4-84B5-7195-AE8A-64D7C997B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875328D-1C3D-F4D0-25D0-C73EF3A86C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DB6AEA4-1294-8E58-1CE3-52EF289EE8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7E26B53-DEBE-5EDC-F322-FED83C490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5/14/2026</a:t>
            </a:fld>
            <a:endParaRPr lang="en-US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36F80C0-4FC6-F01E-73AF-17CE312F2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819CA29-B52C-F117-0C77-AFE7A096F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441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F067DE-D25D-97E1-D36B-7701E79ED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D1BD10B-B337-DA0C-E8BB-508D1A37EA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85FC76-5234-8B89-7217-E669CC05C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5/14/2026</a:t>
            </a:fld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D76432-E778-F2FA-4067-8EF8EC6DB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A611A25-8690-8ACF-3DC9-155844FE9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603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FCF35D1-819A-5050-F848-C5AD0E783A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2894B05-2B68-1CEF-F63F-B8AB6136BA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D827EE-1A9A-49B1-6D6B-9FD8DD574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5/14/2026</a:t>
            </a:fld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1A922A-9978-E7C0-E569-DB64B8972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C90CA6-9AA1-6B08-5CD4-F5D62A56E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2208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55FB520-26B8-592E-8A53-9CDBAA593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3BDDAD-07EE-5684-57EC-00C610C0F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0C8ECC-9316-9674-B3B8-15ABD1160D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5/14/2026</a:t>
            </a:fld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FE96FB4-B52E-4448-5426-5430EB0892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416897-AB46-7CF6-1777-9F34509399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33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12" r:id="rId2"/>
    <p:sldLayoutId id="2147483913" r:id="rId3"/>
    <p:sldLayoutId id="2147483914" r:id="rId4"/>
    <p:sldLayoutId id="2147483915" r:id="rId5"/>
    <p:sldLayoutId id="2147483916" r:id="rId6"/>
    <p:sldLayoutId id="2147483917" r:id="rId7"/>
    <p:sldLayoutId id="2147483918" r:id="rId8"/>
    <p:sldLayoutId id="2147483919" r:id="rId9"/>
    <p:sldLayoutId id="2147483920" r:id="rId10"/>
    <p:sldLayoutId id="214748392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259A64C0-BC88-4B95-A121-E1ABFC41B913}"/>
              </a:ext>
            </a:extLst>
          </p:cNvPr>
          <p:cNvSpPr txBox="1">
            <a:spLocks/>
          </p:cNvSpPr>
          <p:nvPr/>
        </p:nvSpPr>
        <p:spPr>
          <a:xfrm>
            <a:off x="542354" y="854000"/>
            <a:ext cx="11107291" cy="737021"/>
          </a:xfrm>
          <a:prstGeom prst="rect">
            <a:avLst/>
          </a:prstGeom>
        </p:spPr>
        <p:txBody>
          <a:bodyPr numCol="1" anchor="ctr">
            <a:prstTxWarp prst="textPlain">
              <a:avLst/>
            </a:prstTxWarp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kumimoji="1"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ja-JP" altLang="en-US" sz="3200" b="1" dirty="0">
                <a:ln>
                  <a:solidFill>
                    <a:srgbClr val="000000"/>
                  </a:solidFill>
                </a:ln>
                <a:latin typeface="メイリオ" panose="020B0604030504040204" pitchFamily="50" charset="-128"/>
                <a:ea typeface="メイリオ" panose="020B0604030504040204" pitchFamily="50" charset="-128"/>
              </a:rPr>
              <a:t>豊玉中学校　校内研究会</a:t>
            </a:r>
            <a:endParaRPr lang="ja-JP" altLang="en-US" sz="3600" b="1" spc="-400" dirty="0">
              <a:ln>
                <a:solidFill>
                  <a:srgbClr val="000000"/>
                </a:solidFill>
              </a:ln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サブタイトル 2">
            <a:extLst>
              <a:ext uri="{FF2B5EF4-FFF2-40B4-BE49-F238E27FC236}">
                <a16:creationId xmlns:a16="http://schemas.microsoft.com/office/drawing/2014/main" id="{E06400FA-BF5A-44D5-AE7F-43D8466E60C1}"/>
              </a:ext>
            </a:extLst>
          </p:cNvPr>
          <p:cNvSpPr txBox="1">
            <a:spLocks/>
          </p:cNvSpPr>
          <p:nvPr/>
        </p:nvSpPr>
        <p:spPr>
          <a:xfrm>
            <a:off x="6095999" y="4850448"/>
            <a:ext cx="5756753" cy="1517850"/>
          </a:xfrm>
          <a:prstGeom prst="rect">
            <a:avLst/>
          </a:prstGeom>
        </p:spPr>
        <p:txBody>
          <a:bodyPr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令和８年５月</a:t>
            </a:r>
            <a:r>
              <a:rPr lang="en-US" altLang="ja-JP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</a:t>
            </a:r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日（水）</a:t>
            </a:r>
            <a:endParaRPr lang="en-US" altLang="ja-JP" sz="3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練馬区教育委員会</a:t>
            </a:r>
            <a:endParaRPr lang="en-US" altLang="ja-JP" sz="3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指導主事　紺多 章一郎</a:t>
            </a:r>
            <a:endParaRPr lang="en-US" altLang="ja-JP" sz="3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ja-JP" altLang="en-US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" name="サブタイトル 2">
            <a:extLst>
              <a:ext uri="{FF2B5EF4-FFF2-40B4-BE49-F238E27FC236}">
                <a16:creationId xmlns:a16="http://schemas.microsoft.com/office/drawing/2014/main" id="{FDDB6AE7-07CE-4977-A59D-AA541EEAE582}"/>
              </a:ext>
            </a:extLst>
          </p:cNvPr>
          <p:cNvSpPr txBox="1">
            <a:spLocks/>
          </p:cNvSpPr>
          <p:nvPr/>
        </p:nvSpPr>
        <p:spPr>
          <a:xfrm>
            <a:off x="6218829" y="4463335"/>
            <a:ext cx="5149870" cy="5601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Clr>
                <a:schemeClr val="tx1">
                  <a:lumMod val="75000"/>
                  <a:lumOff val="25000"/>
                </a:schemeClr>
              </a:buClr>
              <a:buFont typeface="Arial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bg2">
                  <a:lumMod val="60000"/>
                  <a:lumOff val="40000"/>
                </a:schemeClr>
              </a:buClr>
              <a:buFont typeface="Arial" pitchFamily="34" charset="0"/>
              <a:buNone/>
              <a:defRPr kumimoji="1"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bg2">
                  <a:lumMod val="60000"/>
                  <a:lumOff val="40000"/>
                </a:schemeClr>
              </a:buClr>
              <a:buFont typeface="Arial" pitchFamily="34" charset="0"/>
              <a:buNone/>
              <a:defRPr kumimoji="1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Font typeface="Arial" pitchFamily="34" charset="0"/>
              <a:buNone/>
              <a:defRPr kumimoji="1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bg2">
                  <a:lumMod val="60000"/>
                  <a:lumOff val="40000"/>
                </a:schemeClr>
              </a:buClr>
              <a:buFont typeface="Arial" pitchFamily="34" charset="0"/>
              <a:buNone/>
              <a:defRPr kumimoji="1"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tx1">
                  <a:lumMod val="75000"/>
                  <a:lumOff val="25000"/>
                </a:schemeClr>
              </a:buClr>
              <a:buFont typeface="Arial" pitchFamily="34" charset="0"/>
              <a:buNone/>
              <a:defRPr kumimoji="1"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bg2">
                  <a:lumMod val="60000"/>
                  <a:lumOff val="40000"/>
                </a:schemeClr>
              </a:buClr>
              <a:buFont typeface="Arial" pitchFamily="34" charset="0"/>
              <a:buNone/>
              <a:defRPr kumimoji="1"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tx1">
                  <a:lumMod val="75000"/>
                  <a:lumOff val="25000"/>
                </a:schemeClr>
              </a:buClr>
              <a:buFont typeface="Arial" pitchFamily="34" charset="0"/>
              <a:buNone/>
              <a:defRPr kumimoji="1"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en-US" altLang="ja-JP" sz="3200" b="1" dirty="0">
              <a:ln>
                <a:solidFill>
                  <a:srgbClr val="000000"/>
                </a:solidFill>
              </a:ln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タイトル 1">
            <a:extLst>
              <a:ext uri="{FF2B5EF4-FFF2-40B4-BE49-F238E27FC236}">
                <a16:creationId xmlns:a16="http://schemas.microsoft.com/office/drawing/2014/main" id="{E31D4FA2-A8A7-4B72-880C-4F3C789577F1}"/>
              </a:ext>
            </a:extLst>
          </p:cNvPr>
          <p:cNvSpPr txBox="1">
            <a:spLocks/>
          </p:cNvSpPr>
          <p:nvPr/>
        </p:nvSpPr>
        <p:spPr>
          <a:xfrm>
            <a:off x="1524508" y="1922013"/>
            <a:ext cx="9573575" cy="2393059"/>
          </a:xfrm>
          <a:prstGeom prst="rect">
            <a:avLst/>
          </a:prstGeom>
        </p:spPr>
        <p:txBody>
          <a:bodyPr vert="horz" lIns="91440" tIns="45720" rIns="91440" bIns="45720" numCol="1" rtlCol="0" anchor="ctr" anchorCtr="0">
            <a:prstTxWarp prst="textPlain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5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第３学年　数学科</a:t>
            </a:r>
            <a:endParaRPr lang="en-US" altLang="ja-JP" sz="2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2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「多項式」</a:t>
            </a:r>
            <a:endParaRPr lang="en-US" altLang="ja-JP" sz="2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2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村上　綺菜実　教諭</a:t>
            </a:r>
            <a:endParaRPr lang="en-US" altLang="ja-JP" sz="2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354" y="4646064"/>
            <a:ext cx="2305729" cy="1884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053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171453" y="900000"/>
            <a:ext cx="11849094" cy="175266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5400" b="1" i="1" dirty="0">
                <a:solidFill>
                  <a:schemeClr val="tx1"/>
                </a:solidFill>
                <a:latin typeface="+mn-ea"/>
              </a:rPr>
              <a:t>１　</a:t>
            </a:r>
            <a:r>
              <a:rPr kumimoji="1" lang="ja-JP" altLang="en-US" sz="5400" b="1" i="1" u="sng" dirty="0">
                <a:solidFill>
                  <a:schemeClr val="tx1"/>
                </a:solidFill>
                <a:latin typeface="+mn-ea"/>
              </a:rPr>
              <a:t>振り返りを行うことの重要性に　</a:t>
            </a:r>
            <a:endParaRPr kumimoji="1" lang="en-US" altLang="ja-JP" sz="5400" b="1" i="1" u="sng" dirty="0">
              <a:solidFill>
                <a:schemeClr val="tx1"/>
              </a:solidFill>
              <a:latin typeface="+mn-ea"/>
            </a:endParaRPr>
          </a:p>
          <a:p>
            <a:r>
              <a:rPr lang="ja-JP" altLang="en-US" sz="5400" b="1" i="1" dirty="0">
                <a:solidFill>
                  <a:schemeClr val="tx1"/>
                </a:solidFill>
                <a:latin typeface="+mn-ea"/>
              </a:rPr>
              <a:t>　　</a:t>
            </a:r>
            <a:r>
              <a:rPr kumimoji="1" lang="ja-JP" altLang="en-US" sz="5400" b="1" i="1" u="sng" dirty="0">
                <a:solidFill>
                  <a:schemeClr val="tx1"/>
                </a:solidFill>
                <a:latin typeface="+mn-ea"/>
              </a:rPr>
              <a:t>ついて　</a:t>
            </a:r>
          </a:p>
        </p:txBody>
      </p:sp>
      <p:sp>
        <p:nvSpPr>
          <p:cNvPr id="5" name="正方形/長方形 4"/>
          <p:cNvSpPr/>
          <p:nvPr/>
        </p:nvSpPr>
        <p:spPr>
          <a:xfrm>
            <a:off x="171453" y="2852666"/>
            <a:ext cx="11849094" cy="175266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5400" b="1" i="1" noProof="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２</a:t>
            </a:r>
            <a:r>
              <a:rPr kumimoji="1" lang="ja-JP" altLang="en-US" sz="5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　</a:t>
            </a:r>
            <a:r>
              <a:rPr lang="ja-JP" altLang="en-US" sz="5400" b="1" i="1" u="sng" noProof="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本時の</a:t>
            </a:r>
            <a:r>
              <a:rPr lang="ja-JP" altLang="en-US" sz="5400" b="1" i="1" u="sng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授業について</a:t>
            </a:r>
            <a:r>
              <a:rPr kumimoji="1" lang="ja-JP" altLang="en-US" sz="5400" b="1" i="1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　　</a:t>
            </a:r>
            <a:endParaRPr kumimoji="1" lang="ja-JP" altLang="en-US" sz="5400" b="1" i="1" u="sng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2" name="正方形/長方形 1"/>
          <p:cNvSpPr/>
          <p:nvPr/>
        </p:nvSpPr>
        <p:spPr>
          <a:xfrm>
            <a:off x="171453" y="4805332"/>
            <a:ext cx="11849094" cy="175266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5400" b="1" i="1" dirty="0">
                <a:solidFill>
                  <a:schemeClr val="tx1"/>
                </a:solidFill>
                <a:latin typeface="+mn-ea"/>
              </a:rPr>
              <a:t>３　今後に向けて</a:t>
            </a:r>
            <a:r>
              <a:rPr kumimoji="1" lang="ja-JP" altLang="en-US" sz="5400" b="1" i="1" u="sng" dirty="0">
                <a:solidFill>
                  <a:schemeClr val="tx1"/>
                </a:solidFill>
                <a:latin typeface="+mn-ea"/>
              </a:rPr>
              <a:t/>
            </a:r>
            <a:endParaRPr kumimoji="1" lang="en-US" altLang="ja-JP" sz="5400" b="1" i="1" u="sng" dirty="0">
              <a:solidFill>
                <a:schemeClr val="tx1"/>
              </a:solidFill>
              <a:latin typeface="+mn-ea"/>
            </a:endParaRPr>
          </a:p>
          <a:p>
            <a:r>
              <a:rPr lang="ja-JP" altLang="en-US" sz="5400" b="1" i="1" dirty="0">
                <a:solidFill>
                  <a:schemeClr val="tx1"/>
                </a:solidFill>
                <a:latin typeface="+mn-ea"/>
              </a:rPr>
              <a:t/>
            </a:r>
            <a:r>
              <a:rPr kumimoji="1" lang="ja-JP" altLang="en-US" sz="5400" b="1" i="1" u="sng" dirty="0">
                <a:solidFill>
                  <a:schemeClr val="tx1"/>
                </a:solidFill>
                <a:latin typeface="+mn-ea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91759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</a:rPr>
              <a:t>■「主体的・対話的で深い学び」の視点から</a:t>
            </a:r>
            <a:endParaRPr lang="ja-JP" altLang="en-US" sz="3600" b="1" dirty="0"/>
          </a:p>
        </p:txBody>
      </p:sp>
      <p:sp>
        <p:nvSpPr>
          <p:cNvPr id="10" name="コンテンツ プレースホルダー 2"/>
          <p:cNvSpPr txBox="1">
            <a:spLocks/>
          </p:cNvSpPr>
          <p:nvPr/>
        </p:nvSpPr>
        <p:spPr>
          <a:xfrm>
            <a:off x="261813" y="846871"/>
            <a:ext cx="11529849" cy="17674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ja-JP" altLang="en-US" b="1" dirty="0"/>
              <a:t>■「主体的な学び」</a:t>
            </a:r>
            <a:endParaRPr lang="en-US" altLang="ja-JP" b="1" dirty="0"/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ja-JP" altLang="en-US" sz="1800" b="1" dirty="0"/>
              <a:t>　</a:t>
            </a:r>
            <a:r>
              <a:rPr lang="ja-JP" altLang="en-US" sz="2400" b="1" dirty="0"/>
              <a:t>学ぶことに興味や関心を持ち、自己のキャリア形成の方向性と関連付けながら、見通しを持って粘り強く取り組み、</a:t>
            </a:r>
            <a:r>
              <a:rPr lang="ja-JP" altLang="en-US" sz="2400" b="1" dirty="0">
                <a:solidFill>
                  <a:srgbClr val="FF0000"/>
                </a:solidFill>
              </a:rPr>
              <a:t>自己の学習活動を振り返って次につなげる</a:t>
            </a:r>
            <a:r>
              <a:rPr lang="ja-JP" altLang="en-US" sz="2400" b="1" dirty="0"/>
              <a:t>「主体的な学び」が実現できているか。</a:t>
            </a:r>
          </a:p>
        </p:txBody>
      </p:sp>
      <p:sp>
        <p:nvSpPr>
          <p:cNvPr id="11" name="コンテンツ プレースホルダー 2"/>
          <p:cNvSpPr txBox="1">
            <a:spLocks/>
          </p:cNvSpPr>
          <p:nvPr/>
        </p:nvSpPr>
        <p:spPr>
          <a:xfrm>
            <a:off x="261815" y="2732685"/>
            <a:ext cx="11529849" cy="15264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ja-JP" altLang="en-US" b="1" dirty="0"/>
              <a:t>■「対話的な学び」</a:t>
            </a:r>
            <a:endParaRPr lang="en-US" altLang="ja-JP" b="1" dirty="0"/>
          </a:p>
          <a:p>
            <a:pPr marL="0" indent="0">
              <a:lnSpc>
                <a:spcPct val="100000"/>
              </a:lnSpc>
              <a:buNone/>
            </a:pPr>
            <a:r>
              <a:rPr lang="ja-JP" altLang="en-US" sz="2000" b="1" dirty="0"/>
              <a:t>　</a:t>
            </a:r>
            <a:r>
              <a:rPr lang="ja-JP" altLang="en-US" sz="2400" b="1" dirty="0"/>
              <a:t>子供同士の協働、教職員や地域の人との対話、先哲の考え方を手掛かりに考えること等を通じ、自己の考えを広げ深める「対話的な学び」が実現できているか</a:t>
            </a:r>
            <a:r>
              <a:rPr lang="ja-JP" altLang="en-US" b="1" dirty="0"/>
              <a:t>。</a:t>
            </a:r>
          </a:p>
        </p:txBody>
      </p:sp>
      <p:sp>
        <p:nvSpPr>
          <p:cNvPr id="12" name="コンテンツ プレースホルダー 2"/>
          <p:cNvSpPr txBox="1">
            <a:spLocks/>
          </p:cNvSpPr>
          <p:nvPr/>
        </p:nvSpPr>
        <p:spPr>
          <a:xfrm>
            <a:off x="261814" y="4398627"/>
            <a:ext cx="11529849" cy="22538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ja-JP" altLang="en-US" sz="3200" dirty="0"/>
              <a:t>■</a:t>
            </a:r>
            <a:r>
              <a:rPr lang="ja-JP" altLang="en-US" sz="3200" b="1" dirty="0"/>
              <a:t>「深い学び」</a:t>
            </a:r>
            <a:endParaRPr lang="en-US" altLang="ja-JP" sz="3200" b="1" dirty="0"/>
          </a:p>
          <a:p>
            <a:pPr marL="0" indent="0">
              <a:lnSpc>
                <a:spcPct val="100000"/>
              </a:lnSpc>
              <a:buNone/>
            </a:pPr>
            <a:r>
              <a:rPr lang="ja-JP" altLang="en-US" dirty="0"/>
              <a:t>　</a:t>
            </a:r>
            <a:r>
              <a:rPr lang="ja-JP" altLang="en-US" sz="2400" b="1" dirty="0"/>
              <a:t>習得・活用・探究という学びの過程の中で、各教科等の特質に応じた「見方・考え方」を働かせながら、知識を相互に関連付けてより深く理解したり、情報を精査して考えを形成したり、問題を見いだして解決策を考えたり、思いや考えを基に創造したりすることに向かう「深い学び」が実現できているか。</a:t>
            </a:r>
          </a:p>
        </p:txBody>
      </p:sp>
    </p:spTree>
    <p:extLst>
      <p:ext uri="{BB962C8B-B14F-4D97-AF65-F5344CB8AC3E}">
        <p14:creationId xmlns:p14="http://schemas.microsoft.com/office/powerpoint/2010/main" val="1137307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■「主体的な学び」のイメージ</a:t>
            </a:r>
            <a:endParaRPr kumimoji="1" lang="ja-JP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20" name="ドーナツ 19"/>
          <p:cNvSpPr/>
          <p:nvPr/>
        </p:nvSpPr>
        <p:spPr>
          <a:xfrm>
            <a:off x="1395725" y="1679227"/>
            <a:ext cx="4600961" cy="4600961"/>
          </a:xfrm>
          <a:prstGeom prst="donut">
            <a:avLst>
              <a:gd name="adj" fmla="val 6613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21" name="角丸四角形 20"/>
          <p:cNvSpPr/>
          <p:nvPr/>
        </p:nvSpPr>
        <p:spPr>
          <a:xfrm>
            <a:off x="2512424" y="1101146"/>
            <a:ext cx="2451680" cy="1156161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興味や関心を高める</a:t>
            </a:r>
          </a:p>
        </p:txBody>
      </p:sp>
      <p:sp>
        <p:nvSpPr>
          <p:cNvPr id="22" name="角丸四角形 21"/>
          <p:cNvSpPr/>
          <p:nvPr/>
        </p:nvSpPr>
        <p:spPr>
          <a:xfrm>
            <a:off x="164058" y="2707898"/>
            <a:ext cx="2451680" cy="1156161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振り返って</a:t>
            </a:r>
            <a:endParaRPr kumimoji="1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次へつなげる</a:t>
            </a:r>
          </a:p>
        </p:txBody>
      </p:sp>
      <p:sp>
        <p:nvSpPr>
          <p:cNvPr id="23" name="角丸四角形 22"/>
          <p:cNvSpPr/>
          <p:nvPr/>
        </p:nvSpPr>
        <p:spPr>
          <a:xfrm>
            <a:off x="4991936" y="2707898"/>
            <a:ext cx="2451680" cy="1156161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見通しを</a:t>
            </a:r>
            <a:endParaRPr kumimoji="1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もつ</a:t>
            </a:r>
          </a:p>
        </p:txBody>
      </p:sp>
      <p:sp>
        <p:nvSpPr>
          <p:cNvPr id="24" name="角丸四角形 23"/>
          <p:cNvSpPr/>
          <p:nvPr/>
        </p:nvSpPr>
        <p:spPr>
          <a:xfrm>
            <a:off x="4407448" y="5180007"/>
            <a:ext cx="2451680" cy="1156161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粘り強く</a:t>
            </a:r>
            <a:endParaRPr kumimoji="1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取り組む</a:t>
            </a:r>
          </a:p>
        </p:txBody>
      </p:sp>
      <p:sp>
        <p:nvSpPr>
          <p:cNvPr id="25" name="角丸四角形 24"/>
          <p:cNvSpPr/>
          <p:nvPr/>
        </p:nvSpPr>
        <p:spPr>
          <a:xfrm>
            <a:off x="556398" y="5180007"/>
            <a:ext cx="2451680" cy="1156161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自分と結び</a:t>
            </a:r>
            <a:endParaRPr kumimoji="1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付ける</a:t>
            </a:r>
          </a:p>
        </p:txBody>
      </p:sp>
      <p:sp>
        <p:nvSpPr>
          <p:cNvPr id="26" name="正方形/長方形 25"/>
          <p:cNvSpPr/>
          <p:nvPr/>
        </p:nvSpPr>
        <p:spPr>
          <a:xfrm>
            <a:off x="2732952" y="2921029"/>
            <a:ext cx="2150587" cy="2117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学んだ</a:t>
            </a:r>
            <a:endParaRPr kumimoji="1" lang="en-US" altLang="ja-JP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手応えの積み重ね</a:t>
            </a:r>
          </a:p>
        </p:txBody>
      </p:sp>
      <p:sp>
        <p:nvSpPr>
          <p:cNvPr id="27" name="右矢印 26"/>
          <p:cNvSpPr/>
          <p:nvPr/>
        </p:nvSpPr>
        <p:spPr>
          <a:xfrm>
            <a:off x="7585959" y="3486221"/>
            <a:ext cx="1018268" cy="98697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pic>
        <p:nvPicPr>
          <p:cNvPr id="28" name="図 2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167" b="99242" l="4636" r="97351">
                        <a14:foregroundMark x1="45033" y1="28409" x2="57616" y2="28788"/>
                        <a14:foregroundMark x1="39735" y1="10606" x2="49669" y2="10606"/>
                        <a14:foregroundMark x1="11258" y1="44318" x2="15894" y2="43939"/>
                        <a14:foregroundMark x1="83444" y1="49242" x2="86093" y2="4924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05019" y="2570316"/>
            <a:ext cx="2046586" cy="3578135"/>
          </a:xfrm>
          <a:prstGeom prst="rect">
            <a:avLst/>
          </a:prstGeom>
        </p:spPr>
      </p:pic>
      <p:sp>
        <p:nvSpPr>
          <p:cNvPr id="29" name="正方形/長方形 28"/>
          <p:cNvSpPr/>
          <p:nvPr/>
        </p:nvSpPr>
        <p:spPr>
          <a:xfrm>
            <a:off x="8072437" y="1679226"/>
            <a:ext cx="3927011" cy="1028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学び続ける意志</a:t>
            </a:r>
          </a:p>
        </p:txBody>
      </p:sp>
    </p:spTree>
    <p:extLst>
      <p:ext uri="{BB962C8B-B14F-4D97-AF65-F5344CB8AC3E}">
        <p14:creationId xmlns:p14="http://schemas.microsoft.com/office/powerpoint/2010/main" val="1437216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/>
      <p:bldP spid="27" grpId="0" animBg="1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■授業改善のポイント</a:t>
            </a:r>
          </a:p>
        </p:txBody>
      </p:sp>
      <p:sp>
        <p:nvSpPr>
          <p:cNvPr id="11" name="角丸四角形 10"/>
          <p:cNvSpPr/>
          <p:nvPr/>
        </p:nvSpPr>
        <p:spPr>
          <a:xfrm>
            <a:off x="713821" y="1117438"/>
            <a:ext cx="3245371" cy="115616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latin typeface="+mn-ea"/>
              </a:rPr>
              <a:t>振り返って</a:t>
            </a:r>
            <a:endParaRPr lang="en-US" altLang="ja-JP" sz="2800" b="1" dirty="0">
              <a:latin typeface="+mn-ea"/>
            </a:endParaRPr>
          </a:p>
          <a:p>
            <a:pPr algn="ctr"/>
            <a:r>
              <a:rPr lang="ja-JP" altLang="en-US" sz="2800" b="1" dirty="0">
                <a:latin typeface="+mn-ea"/>
              </a:rPr>
              <a:t>次へつなげる</a:t>
            </a:r>
          </a:p>
        </p:txBody>
      </p:sp>
      <p:sp>
        <p:nvSpPr>
          <p:cNvPr id="10" name="正方形/長方形 9"/>
          <p:cNvSpPr/>
          <p:nvPr/>
        </p:nvSpPr>
        <p:spPr>
          <a:xfrm>
            <a:off x="4542020" y="1695518"/>
            <a:ext cx="7345180" cy="3612631"/>
          </a:xfrm>
          <a:prstGeom prst="rect">
            <a:avLst/>
          </a:prstGeom>
          <a:ln w="57150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3200" b="1" dirty="0"/>
              <a:t>○単元を見通した「振り返り」</a:t>
            </a:r>
            <a:r>
              <a:rPr lang="ja-JP" altLang="en-US" sz="3200" b="1" dirty="0"/>
              <a:t>の場の</a:t>
            </a:r>
            <a:endParaRPr lang="en-US" altLang="ja-JP" sz="3200" b="1" dirty="0"/>
          </a:p>
          <a:p>
            <a:r>
              <a:rPr lang="ja-JP" altLang="en-US" sz="3200" b="1" dirty="0"/>
              <a:t>　設定</a:t>
            </a:r>
            <a:endParaRPr lang="en-US" altLang="ja-JP" sz="3200" b="1" dirty="0"/>
          </a:p>
          <a:p>
            <a:endParaRPr lang="en-US" altLang="ja-JP" sz="3200" b="1" dirty="0"/>
          </a:p>
          <a:p>
            <a:r>
              <a:rPr kumimoji="1" lang="ja-JP" altLang="en-US" sz="3200" b="1" dirty="0"/>
              <a:t>○書く内容の焦点化</a:t>
            </a:r>
            <a:endParaRPr kumimoji="1" lang="en-US" altLang="ja-JP" sz="3200" b="1" dirty="0"/>
          </a:p>
          <a:p>
            <a:endParaRPr lang="en-US" altLang="ja-JP" sz="3200" b="1" dirty="0"/>
          </a:p>
          <a:p>
            <a:r>
              <a:rPr kumimoji="1" lang="ja-JP" altLang="en-US" sz="3200" b="1" dirty="0"/>
              <a:t>○「振り返り」の共有</a:t>
            </a:r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072" y="2273599"/>
            <a:ext cx="3422867" cy="327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548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0" y="1"/>
            <a:ext cx="12192000" cy="71543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3716">
              <a:defRPr/>
            </a:pPr>
            <a:r>
              <a:rPr lang="ja-JP" altLang="en-US" sz="5442" b="1" dirty="0">
                <a:solidFill>
                  <a:prstClr val="white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子供たちの実態　　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831C1C3-4D0C-4A56-AC9E-1B8B9FBA4C3B}"/>
              </a:ext>
            </a:extLst>
          </p:cNvPr>
          <p:cNvSpPr txBox="1"/>
          <p:nvPr/>
        </p:nvSpPr>
        <p:spPr>
          <a:xfrm>
            <a:off x="675153" y="1020719"/>
            <a:ext cx="9569331" cy="538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46050">
              <a:defRPr/>
            </a:pPr>
            <a:r>
              <a:rPr lang="ja-JP" altLang="en-US" sz="2902" b="1" u="sng" dirty="0">
                <a:solidFill>
                  <a:prstClr val="black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令和７年度全国学力・学習状況調査の結果（第３学年）</a:t>
            </a:r>
          </a:p>
        </p:txBody>
      </p:sp>
      <p:graphicFrame>
        <p:nvGraphicFramePr>
          <p:cNvPr id="5" name="表 5">
            <a:extLst>
              <a:ext uri="{FF2B5EF4-FFF2-40B4-BE49-F238E27FC236}">
                <a16:creationId xmlns:a16="http://schemas.microsoft.com/office/drawing/2014/main" id="{2F4917F5-AE6E-DEE8-FC00-1D759ECA511B}"/>
              </a:ext>
            </a:extLst>
          </p:cNvPr>
          <p:cNvGraphicFramePr>
            <a:graphicFrameLocks noGrp="1"/>
          </p:cNvGraphicFramePr>
          <p:nvPr/>
        </p:nvGraphicFramePr>
        <p:xfrm>
          <a:off x="772886" y="2149535"/>
          <a:ext cx="10289350" cy="41649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15470">
                  <a:extLst>
                    <a:ext uri="{9D8B030D-6E8A-4147-A177-3AD203B41FA5}">
                      <a16:colId xmlns:a16="http://schemas.microsoft.com/office/drawing/2014/main" val="280728135"/>
                    </a:ext>
                  </a:extLst>
                </a:gridCol>
                <a:gridCol w="2886940">
                  <a:extLst>
                    <a:ext uri="{9D8B030D-6E8A-4147-A177-3AD203B41FA5}">
                      <a16:colId xmlns:a16="http://schemas.microsoft.com/office/drawing/2014/main" val="1954855920"/>
                    </a:ext>
                  </a:extLst>
                </a:gridCol>
                <a:gridCol w="2886940">
                  <a:extLst>
                    <a:ext uri="{9D8B030D-6E8A-4147-A177-3AD203B41FA5}">
                      <a16:colId xmlns:a16="http://schemas.microsoft.com/office/drawing/2014/main" val="902980039"/>
                    </a:ext>
                  </a:extLst>
                </a:gridCol>
              </a:tblGrid>
              <a:tr h="1155968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3200" b="1" dirty="0"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質問項目</a:t>
                      </a:r>
                    </a:p>
                  </a:txBody>
                  <a:tcPr marL="82935" marR="82935" marT="41468" marB="4146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3200" b="1" dirty="0"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練馬区（％）</a:t>
                      </a:r>
                    </a:p>
                  </a:txBody>
                  <a:tcPr marL="82935" marR="82935" marT="41468" marB="4146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3200" b="1" dirty="0"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豊玉中（％）</a:t>
                      </a:r>
                    </a:p>
                  </a:txBody>
                  <a:tcPr marL="82935" marR="82935" marT="41468" marB="41468" anchor="ctr"/>
                </a:tc>
                <a:extLst>
                  <a:ext uri="{0D108BD9-81ED-4DB2-BD59-A6C34878D82A}">
                    <a16:rowId xmlns:a16="http://schemas.microsoft.com/office/drawing/2014/main" val="1068371023"/>
                  </a:ext>
                </a:extLst>
              </a:tr>
              <a:tr h="2768726">
                <a:tc>
                  <a:txBody>
                    <a:bodyPr/>
                    <a:lstStyle/>
                    <a:p>
                      <a:r>
                        <a:rPr kumimoji="1" lang="ja-JP" altLang="en-US" sz="3200" b="1" dirty="0"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学習した内容について、分かった点や、よく分からなかった点を見直し、次の学習につなげることができていますか</a:t>
                      </a:r>
                    </a:p>
                  </a:txBody>
                  <a:tcPr marL="82935" marR="82935" marT="41468" marB="41468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3600" b="1" dirty="0"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７２．５</a:t>
                      </a:r>
                    </a:p>
                  </a:txBody>
                  <a:tcPr marL="82935" marR="82935" marT="41468" marB="4146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3600" b="1" i="1" dirty="0">
                          <a:solidFill>
                            <a:srgbClr val="FF000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７７．６</a:t>
                      </a:r>
                    </a:p>
                  </a:txBody>
                  <a:tcPr marL="82935" marR="82935" marT="41468" marB="41468" anchor="ctr"/>
                </a:tc>
                <a:extLst>
                  <a:ext uri="{0D108BD9-81ED-4DB2-BD59-A6C34878D82A}">
                    <a16:rowId xmlns:a16="http://schemas.microsoft.com/office/drawing/2014/main" val="1960254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0939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FAD90-3733-D16D-E58E-F52BA22EF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996120A-DBBB-FDD2-C3C8-7955C79358D8}"/>
              </a:ext>
            </a:extLst>
          </p:cNvPr>
          <p:cNvSpPr/>
          <p:nvPr/>
        </p:nvSpPr>
        <p:spPr>
          <a:xfrm>
            <a:off x="0" y="1"/>
            <a:ext cx="12192000" cy="71543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3716">
              <a:defRPr/>
            </a:pPr>
            <a:r>
              <a:rPr lang="ja-JP" altLang="en-US" sz="5442" b="1" dirty="0">
                <a:solidFill>
                  <a:prstClr val="white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子供たちの実態　　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F3C5DAF-D376-F20E-DE79-865A766AC0F7}"/>
              </a:ext>
            </a:extLst>
          </p:cNvPr>
          <p:cNvSpPr txBox="1"/>
          <p:nvPr/>
        </p:nvSpPr>
        <p:spPr>
          <a:xfrm>
            <a:off x="675153" y="879205"/>
            <a:ext cx="9569331" cy="538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46050">
              <a:defRPr/>
            </a:pPr>
            <a:r>
              <a:rPr lang="ja-JP" altLang="en-US" sz="2902" b="1" u="sng" dirty="0">
                <a:solidFill>
                  <a:prstClr val="black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令和７年度全国学力・学習状況調査の結果（第３学年）</a:t>
            </a:r>
          </a:p>
        </p:txBody>
      </p:sp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1D9C2798-07E8-A96F-8DF9-BE58F6C57D7A}"/>
              </a:ext>
            </a:extLst>
          </p:cNvPr>
          <p:cNvGraphicFramePr>
            <a:graphicFrameLocks noGrp="1"/>
          </p:cNvGraphicFramePr>
          <p:nvPr/>
        </p:nvGraphicFramePr>
        <p:xfrm>
          <a:off x="675153" y="2804022"/>
          <a:ext cx="10450047" cy="350969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92779">
                  <a:extLst>
                    <a:ext uri="{9D8B030D-6E8A-4147-A177-3AD203B41FA5}">
                      <a16:colId xmlns:a16="http://schemas.microsoft.com/office/drawing/2014/main" val="1050185821"/>
                    </a:ext>
                  </a:extLst>
                </a:gridCol>
                <a:gridCol w="5769782">
                  <a:extLst>
                    <a:ext uri="{9D8B030D-6E8A-4147-A177-3AD203B41FA5}">
                      <a16:colId xmlns:a16="http://schemas.microsoft.com/office/drawing/2014/main" val="2422669264"/>
                    </a:ext>
                  </a:extLst>
                </a:gridCol>
                <a:gridCol w="1763486">
                  <a:extLst>
                    <a:ext uri="{9D8B030D-6E8A-4147-A177-3AD203B41FA5}">
                      <a16:colId xmlns:a16="http://schemas.microsoft.com/office/drawing/2014/main" val="427790556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344697604"/>
                    </a:ext>
                  </a:extLst>
                </a:gridCol>
              </a:tblGrid>
              <a:tr h="497849"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2000" b="1" u="none" strike="noStrike" dirty="0">
                          <a:effectLst/>
                        </a:rPr>
                        <a:t>選択肢</a:t>
                      </a:r>
                      <a:endParaRPr lang="ja-JP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tc rowSpan="2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2000" b="1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平均正答率</a:t>
                      </a:r>
                      <a:r>
                        <a:rPr lang="en-US" altLang="ja-JP" sz="2000" b="1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(</a:t>
                      </a:r>
                      <a:r>
                        <a:rPr lang="ja-JP" altLang="en-US" sz="2000" b="1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％</a:t>
                      </a:r>
                      <a:r>
                        <a:rPr lang="en-US" altLang="ja-JP" sz="2000" b="1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)</a:t>
                      </a:r>
                      <a:endParaRPr lang="en-US" altLang="ja-JP" sz="2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9756020"/>
                  </a:ext>
                </a:extLst>
              </a:tr>
              <a:tr h="634249">
                <a:tc gridSpan="2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2000" b="1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国語</a:t>
                      </a:r>
                      <a:br>
                        <a:rPr lang="zh-TW" altLang="en-US" sz="2000" b="1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zh-TW" altLang="en-US" sz="2000" b="1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en-US" altLang="ja-JP" sz="2000" b="1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14</a:t>
                      </a:r>
                      <a:r>
                        <a:rPr lang="zh-TW" altLang="en-US" sz="2000" b="1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問）</a:t>
                      </a:r>
                      <a:endParaRPr lang="zh-TW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2000" b="1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数学</a:t>
                      </a:r>
                      <a:br>
                        <a:rPr lang="zh-CN" altLang="en-US" sz="2000" b="1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zh-CN" altLang="en-US" sz="2000" b="1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en-US" altLang="ja-JP" sz="2000" b="1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15</a:t>
                      </a:r>
                      <a:r>
                        <a:rPr lang="zh-CN" altLang="en-US" sz="2000" b="1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問）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47346517"/>
                  </a:ext>
                </a:extLst>
              </a:tr>
              <a:tr h="49784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2800" b="1" u="none" strike="noStrike" dirty="0">
                          <a:effectLst/>
                        </a:rPr>
                        <a:t>１</a:t>
                      </a:r>
                      <a:endParaRPr lang="ja-JP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2800" b="1" u="none" strike="noStrike" dirty="0">
                          <a:effectLst/>
                        </a:rPr>
                        <a:t>当てはまる</a:t>
                      </a:r>
                      <a:endParaRPr lang="ja-JP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800" b="1" u="none" strike="noStrike" dirty="0">
                          <a:effectLst/>
                        </a:rPr>
                        <a:t>60.6 </a:t>
                      </a:r>
                      <a:endParaRPr lang="en-US" altLang="ja-JP" sz="28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800" b="1" u="none" strike="noStrike">
                          <a:effectLst/>
                        </a:rPr>
                        <a:t>60.8 </a:t>
                      </a:r>
                      <a:endParaRPr lang="en-US" altLang="ja-JP" sz="2800" b="1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53168585"/>
                  </a:ext>
                </a:extLst>
              </a:tr>
              <a:tr h="49784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2800" b="1" u="none" strike="noStrike" dirty="0">
                          <a:effectLst/>
                        </a:rPr>
                        <a:t>２</a:t>
                      </a:r>
                      <a:endParaRPr lang="ja-JP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2800" b="1" u="none" strike="noStrike" dirty="0">
                          <a:effectLst/>
                        </a:rPr>
                        <a:t>どちらかといえば、当てはまる</a:t>
                      </a:r>
                      <a:endParaRPr lang="ja-JP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800" b="1" u="none" strike="noStrike" dirty="0">
                          <a:effectLst/>
                        </a:rPr>
                        <a:t>58.1 </a:t>
                      </a:r>
                      <a:endParaRPr lang="en-US" altLang="ja-JP" sz="28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800" b="1" u="none" strike="noStrike" dirty="0">
                          <a:effectLst/>
                        </a:rPr>
                        <a:t>56.0 </a:t>
                      </a:r>
                      <a:endParaRPr lang="en-US" altLang="ja-JP" sz="28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91061183"/>
                  </a:ext>
                </a:extLst>
              </a:tr>
              <a:tr h="88404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2800" b="1" u="none" strike="noStrike" dirty="0">
                          <a:effectLst/>
                        </a:rPr>
                        <a:t>３</a:t>
                      </a:r>
                      <a:endParaRPr lang="ja-JP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2800" b="1" u="none" strike="noStrike" dirty="0">
                          <a:effectLst/>
                        </a:rPr>
                        <a:t>どちらかといえば、当てはまらない</a:t>
                      </a:r>
                      <a:endParaRPr lang="ja-JP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800" b="1" u="none" strike="noStrike" dirty="0">
                          <a:effectLst/>
                        </a:rPr>
                        <a:t>55.6 </a:t>
                      </a:r>
                      <a:endParaRPr lang="en-US" altLang="ja-JP" sz="28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800" b="1" u="none" strike="noStrike" dirty="0">
                          <a:effectLst/>
                        </a:rPr>
                        <a:t>50.2 </a:t>
                      </a:r>
                      <a:endParaRPr lang="en-US" altLang="ja-JP" sz="28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79882899"/>
                  </a:ext>
                </a:extLst>
              </a:tr>
              <a:tr h="49784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2800" b="1" u="none" strike="noStrike" dirty="0">
                          <a:effectLst/>
                        </a:rPr>
                        <a:t>４</a:t>
                      </a:r>
                      <a:endParaRPr lang="ja-JP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2800" b="1" u="none" strike="noStrike" dirty="0">
                          <a:effectLst/>
                        </a:rPr>
                        <a:t>当てはまらない</a:t>
                      </a:r>
                      <a:endParaRPr lang="ja-JP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800" b="1" u="none" strike="noStrike" dirty="0">
                          <a:effectLst/>
                        </a:rPr>
                        <a:t>52.8 </a:t>
                      </a:r>
                      <a:endParaRPr lang="en-US" altLang="ja-JP" sz="28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800" b="1" u="none" strike="noStrike" dirty="0">
                          <a:effectLst/>
                        </a:rPr>
                        <a:t>44.7 </a:t>
                      </a:r>
                      <a:endParaRPr lang="en-US" altLang="ja-JP" sz="28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32354661"/>
                  </a:ext>
                </a:extLst>
              </a:tr>
            </a:tbl>
          </a:graphicData>
        </a:graphic>
      </p:graphicFrame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696FAB36-B153-0455-8264-A4F7F63EEACD}"/>
              </a:ext>
            </a:extLst>
          </p:cNvPr>
          <p:cNvGraphicFramePr>
            <a:graphicFrameLocks noGrp="1"/>
          </p:cNvGraphicFramePr>
          <p:nvPr/>
        </p:nvGraphicFramePr>
        <p:xfrm>
          <a:off x="675153" y="1581903"/>
          <a:ext cx="10450046" cy="110680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93339">
                  <a:extLst>
                    <a:ext uri="{9D8B030D-6E8A-4147-A177-3AD203B41FA5}">
                      <a16:colId xmlns:a16="http://schemas.microsoft.com/office/drawing/2014/main" val="3732767427"/>
                    </a:ext>
                  </a:extLst>
                </a:gridCol>
                <a:gridCol w="9056707">
                  <a:extLst>
                    <a:ext uri="{9D8B030D-6E8A-4147-A177-3AD203B41FA5}">
                      <a16:colId xmlns:a16="http://schemas.microsoft.com/office/drawing/2014/main" val="1468865774"/>
                    </a:ext>
                  </a:extLst>
                </a:gridCol>
              </a:tblGrid>
              <a:tr h="7318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2400" b="1" u="none" strike="noStrike" dirty="0">
                          <a:effectLst/>
                        </a:rPr>
                        <a:t>（７０）</a:t>
                      </a:r>
                      <a:endParaRPr lang="ja-JP" alt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2400" b="1" u="none" strike="noStrike" dirty="0">
                          <a:effectLst/>
                        </a:rPr>
                        <a:t>理科の授業で、課題について観察や実験をして調べていく中で、自分や友達の学びが深まったか、あるいは、新たに調べたいことが見つかったか、振り返っていますか</a:t>
                      </a:r>
                      <a:endParaRPr lang="ja-JP" alt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731933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1176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0000" y="54000"/>
            <a:ext cx="11832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BIZ UDPGothic"/>
              </a:rPr>
              <a:t>なぜ振り返りが学力と相関するのか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720000"/>
            <a:ext cx="11616119" cy="5029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■ 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メタ認知（Metacognition）の観点から</a:t>
            </a: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振り返り</a:t>
            </a: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＝ 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自分の思考・理解を「対象化」する行為</a:t>
            </a: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モニタリング</a:t>
            </a: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：「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わかったか</a:t>
            </a: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？」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を確認する</a:t>
            </a: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コントロール</a:t>
            </a: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：「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どう学び直すか」を調整する</a:t>
            </a: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■ 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J.ハッティ「可視化された学習</a:t>
            </a: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」（2009）より</a:t>
            </a: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メタ認知的方略の効果量：d</a:t>
            </a: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= 0.60（高い効果）</a:t>
            </a:r>
          </a:p>
          <a:p>
            <a:pPr algn="l">
              <a:lnSpc>
                <a:spcPts val="3500"/>
              </a:lnSpc>
            </a:pP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→ 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振り返りは「学び方を学ぶ」ことにつながる</a:t>
            </a:r>
            <a:endParaRPr sz="17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119" y="6570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BIZ UDPGothic"/>
              </a:rPr>
              <a:t>9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0000" y="54000"/>
            <a:ext cx="11832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BIZ UDPGothic"/>
              </a:rPr>
              <a:t>H27「論点整理」→ R7「論点整理」の流れ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720000"/>
            <a:ext cx="11616119" cy="5418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■ ２つの「論点整理」が示す一貫したメッセージ</a:t>
            </a:r>
          </a:p>
          <a:p>
            <a:pPr algn="l">
              <a:lnSpc>
                <a:spcPts val="3500"/>
              </a:lnSpc>
            </a:pP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平成27年（2015）「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論点整理</a:t>
            </a:r>
            <a:r>
              <a:rPr sz="2800" b="0" dirty="0">
                <a:solidFill>
                  <a:srgbClr val="333333"/>
                </a:solidFill>
                <a:latin typeface="BIZ UDPGothic"/>
              </a:rPr>
              <a:t>」</a:t>
            </a: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　↓ 学習指導要領改訂（H29）へ</a:t>
            </a: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令和３年（2021）「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令和の日本型学校教育」答申</a:t>
            </a: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　↓ 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さらなる深化へ</a:t>
            </a: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令和７年（2025）「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論点整理</a:t>
            </a:r>
            <a:r>
              <a:rPr sz="2800" b="0" dirty="0">
                <a:solidFill>
                  <a:srgbClr val="333333"/>
                </a:solidFill>
                <a:latin typeface="BIZ UDPGothic"/>
              </a:rPr>
              <a:t>」</a:t>
            </a: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　↓ 次期学習指導要領改訂（R8〜9年告示予定）へ</a:t>
            </a:r>
          </a:p>
          <a:p>
            <a:pPr algn="l">
              <a:lnSpc>
                <a:spcPts val="3500"/>
              </a:lnSpc>
            </a:pP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■ 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一貫して求められていること</a:t>
            </a:r>
            <a:r>
              <a:rPr sz="2800" b="0" dirty="0">
                <a:solidFill>
                  <a:srgbClr val="333333"/>
                </a:solidFill>
                <a:latin typeface="BIZ UDPGothic"/>
              </a:rPr>
              <a:t>：</a:t>
            </a: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「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子供が自分の学びを調整できる力</a:t>
            </a:r>
            <a:r>
              <a:rPr sz="2800" b="0" dirty="0">
                <a:solidFill>
                  <a:srgbClr val="333333"/>
                </a:solidFill>
                <a:latin typeface="BIZ UDPGothic"/>
              </a:rPr>
              <a:t>」</a:t>
            </a: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　　　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振り返りはその根幹</a:t>
            </a:r>
            <a:endParaRPr sz="2800" b="0" dirty="0">
              <a:solidFill>
                <a:srgbClr val="333333"/>
              </a:solidFill>
              <a:latin typeface="BIZ UDP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119" y="6570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BIZ UDPGothic"/>
              </a:rPr>
              <a:t>11 / 21</a:t>
            </a:r>
          </a:p>
        </p:txBody>
      </p:sp>
    </p:spTree>
    <p:extLst>
      <p:ext uri="{BB962C8B-B14F-4D97-AF65-F5344CB8AC3E}">
        <p14:creationId xmlns:p14="http://schemas.microsoft.com/office/powerpoint/2010/main" val="2049830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0000" y="54000"/>
            <a:ext cx="11832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  <a:latin typeface="BIZ UDPGothic"/>
              </a:rPr>
              <a:t>H27「論点整理」の核心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720000"/>
            <a:ext cx="11616119" cy="4969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■ アクティブ・ラーニングの３つの視点</a:t>
            </a:r>
          </a:p>
          <a:p>
            <a:pPr algn="l">
              <a:lnSpc>
                <a:spcPts val="3500"/>
              </a:lnSpc>
            </a:pP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>
              <a:lnSpc>
                <a:spcPts val="3500"/>
              </a:lnSpc>
            </a:pPr>
            <a:r>
              <a:rPr lang="ja-JP" altLang="en-US" sz="280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① 主体的な学び　←ここに「振り返り」が明記</a:t>
            </a:r>
          </a:p>
          <a:p>
            <a:pPr>
              <a:lnSpc>
                <a:spcPts val="3500"/>
              </a:lnSpc>
            </a:pPr>
            <a:r>
              <a:rPr lang="ja-JP" altLang="en-US" sz="280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→「学習を自己調整しながら学ぼうとする態度」</a:t>
            </a:r>
          </a:p>
          <a:p>
            <a:pPr algn="l">
              <a:lnSpc>
                <a:spcPts val="3500"/>
              </a:lnSpc>
            </a:pPr>
            <a:r>
              <a:rPr lang="ja-JP" altLang="en-US" sz="280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② 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対話的な学び</a:t>
            </a: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→ 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他者との協働・対話を通じた思考の広がり</a:t>
            </a:r>
            <a:endParaRPr lang="en-US"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ts val="3500"/>
              </a:lnSpc>
            </a:pPr>
            <a:r>
              <a:rPr lang="ja-JP" altLang="en-US" sz="280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③ 深い学び</a:t>
            </a:r>
          </a:p>
          <a:p>
            <a:pPr>
              <a:lnSpc>
                <a:spcPts val="3500"/>
              </a:lnSpc>
            </a:pPr>
            <a:r>
              <a:rPr lang="ja-JP" altLang="en-US" sz="280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→「見方・考え方」を働かせた習得・活用・探究</a:t>
            </a:r>
          </a:p>
          <a:p>
            <a:pPr algn="l">
              <a:lnSpc>
                <a:spcPts val="3500"/>
              </a:lnSpc>
            </a:pPr>
            <a:endParaRPr lang="ja-JP" altLang="en-US"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■ 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キーワード</a:t>
            </a:r>
            <a:r>
              <a:rPr sz="2800" b="0" dirty="0">
                <a:solidFill>
                  <a:srgbClr val="333333"/>
                </a:solidFill>
                <a:latin typeface="BIZ UDPGothic"/>
              </a:rPr>
              <a:t>：「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自己調整</a:t>
            </a:r>
            <a:r>
              <a:rPr sz="2800" b="0" dirty="0">
                <a:solidFill>
                  <a:srgbClr val="333333"/>
                </a:solidFill>
                <a:latin typeface="BIZ UDPGothic"/>
              </a:rPr>
              <a:t>」</a:t>
            </a: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→ 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振り返りなしに、自己調整は生まれない</a:t>
            </a:r>
            <a:endParaRPr sz="1700" b="0" dirty="0">
              <a:solidFill>
                <a:srgbClr val="333333"/>
              </a:solidFill>
              <a:latin typeface="BIZ UDP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119" y="6570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BIZ UDPGothic"/>
              </a:rPr>
              <a:t>12 / 21</a:t>
            </a:r>
          </a:p>
        </p:txBody>
      </p:sp>
    </p:spTree>
    <p:extLst>
      <p:ext uri="{BB962C8B-B14F-4D97-AF65-F5344CB8AC3E}">
        <p14:creationId xmlns:p14="http://schemas.microsoft.com/office/powerpoint/2010/main" val="2698104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0000" y="54000"/>
            <a:ext cx="11832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BIZ UDPGothic"/>
              </a:rPr>
              <a:t>R7「論点整理」が示す新たな強調点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720000"/>
            <a:ext cx="11616119" cy="5880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■ 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自己調整学習のさらなる重視</a:t>
            </a: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「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見通し</a:t>
            </a: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→ 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学習</a:t>
            </a: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→ 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振り返り」の往還を</a:t>
            </a: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すべての教科・場面で意図的に位置づける</a:t>
            </a: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■ 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ウェルビーイングとの接続</a:t>
            </a: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振り返りが「学びへの自信・有能感」を育む</a:t>
            </a: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→ 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学ぶことが楽しい、という実感へ</a:t>
            </a: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■ 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デジタルを活用した振り返りの蓄積</a:t>
            </a: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１人１台端末を活用し、振り返りを「見える化」</a:t>
            </a: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→ 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学習履歴として蓄積・次の学びへ接続</a:t>
            </a: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■ H27から10年。振り返りの重要性はより深化している。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119" y="6570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BIZ UDPGothic"/>
              </a:rPr>
              <a:t>13 / 21</a:t>
            </a:r>
          </a:p>
        </p:txBody>
      </p:sp>
    </p:spTree>
    <p:extLst>
      <p:ext uri="{BB962C8B-B14F-4D97-AF65-F5344CB8AC3E}">
        <p14:creationId xmlns:p14="http://schemas.microsoft.com/office/powerpoint/2010/main" val="2060419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0000" y="54000"/>
            <a:ext cx="11832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BIZ UDPGothic"/>
              </a:rPr>
              <a:t>学習指導要領（H29）における「振り返り」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720000"/>
            <a:ext cx="11616119" cy="5927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■ 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総則</a:t>
            </a: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第３の１（主体的・対話的で深い学び）</a:t>
            </a:r>
          </a:p>
          <a:p>
            <a:pPr algn="l">
              <a:lnSpc>
                <a:spcPts val="3500"/>
              </a:lnSpc>
            </a:pP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「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学習の見通しを立てたり学習したことを振り返ったり</a:t>
            </a: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する活動を、計画的に取り入れ</a:t>
            </a: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…」</a:t>
            </a:r>
          </a:p>
          <a:p>
            <a:pPr algn="l">
              <a:lnSpc>
                <a:spcPts val="3500"/>
              </a:lnSpc>
            </a:pPr>
            <a:endParaRPr lang="en-US"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■ 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数学科の目標（中学校学習指導要領</a:t>
            </a: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）</a:t>
            </a:r>
          </a:p>
          <a:p>
            <a:pPr algn="l">
              <a:lnSpc>
                <a:spcPts val="3500"/>
              </a:lnSpc>
            </a:pP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「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問題解決の過程を振り返って評価・改善しようとする</a:t>
            </a: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態度を養う</a:t>
            </a: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」</a:t>
            </a:r>
          </a:p>
          <a:p>
            <a:pPr algn="l">
              <a:lnSpc>
                <a:spcPts val="3500"/>
              </a:lnSpc>
            </a:pP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■ 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重要ポイント</a:t>
            </a: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→ 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振り返りは「目標」に明記された重要な学習活動</a:t>
            </a: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→「</a:t>
            </a:r>
            <a:r>
              <a:rPr sz="2800" b="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させてあげること」ではなく「育てるべき力</a:t>
            </a:r>
            <a:r>
              <a:rPr sz="28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119" y="6570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BIZ UDPGothic"/>
              </a:rPr>
              <a:t>14 / 21</a:t>
            </a:r>
          </a:p>
        </p:txBody>
      </p:sp>
    </p:spTree>
    <p:extLst>
      <p:ext uri="{BB962C8B-B14F-4D97-AF65-F5344CB8AC3E}">
        <p14:creationId xmlns:p14="http://schemas.microsoft.com/office/powerpoint/2010/main" val="509939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0000" y="54000"/>
            <a:ext cx="11832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BIZ UDPGothic"/>
              </a:rPr>
              <a:t>国際的潮流（OECD Education 2030）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7940" y="747709"/>
            <a:ext cx="11616119" cy="584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■ OECD 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ラーニング・コンパス</a:t>
            </a:r>
            <a:r>
              <a:rPr sz="2800" b="0" dirty="0">
                <a:solidFill>
                  <a:srgbClr val="333333"/>
                </a:solidFill>
                <a:latin typeface="BIZ UDPGothic"/>
              </a:rPr>
              <a:t> 2030</a:t>
            </a:r>
          </a:p>
          <a:p>
            <a:pPr algn="l">
              <a:lnSpc>
                <a:spcPts val="3500"/>
              </a:lnSpc>
            </a:pP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「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エージェンシ</a:t>
            </a:r>
            <a:r>
              <a:rPr sz="2800" b="0" dirty="0">
                <a:solidFill>
                  <a:srgbClr val="333333"/>
                </a:solidFill>
                <a:latin typeface="BIZ UDPGothic"/>
              </a:rPr>
              <a:t>ー（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主体性</a:t>
            </a:r>
            <a:r>
              <a:rPr sz="2800" b="0" dirty="0">
                <a:solidFill>
                  <a:srgbClr val="333333"/>
                </a:solidFill>
                <a:latin typeface="BIZ UDPGothic"/>
              </a:rPr>
              <a:t>）」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育成の中核に</a:t>
            </a: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「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振り返り（Reflection</a:t>
            </a:r>
            <a:r>
              <a:rPr sz="2800" b="0" dirty="0">
                <a:solidFill>
                  <a:srgbClr val="333333"/>
                </a:solidFill>
                <a:latin typeface="BIZ UDPGothic"/>
              </a:rPr>
              <a:t>）」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を位置づけ</a:t>
            </a: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500"/>
              </a:lnSpc>
            </a:pP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　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見通し（Anticipation</a:t>
            </a:r>
            <a:r>
              <a:rPr sz="2800" b="0" dirty="0">
                <a:solidFill>
                  <a:srgbClr val="333333"/>
                </a:solidFill>
                <a:latin typeface="BIZ UDPGothic"/>
              </a:rPr>
              <a:t>）</a:t>
            </a: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　　　↓</a:t>
            </a: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　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行動（Action</a:t>
            </a:r>
            <a:r>
              <a:rPr sz="2800" b="0" dirty="0">
                <a:solidFill>
                  <a:srgbClr val="333333"/>
                </a:solidFill>
                <a:latin typeface="BIZ UDPGothic"/>
              </a:rPr>
              <a:t>）</a:t>
            </a: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　　　↓</a:t>
            </a: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　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振り返り（Reflection</a:t>
            </a:r>
            <a:r>
              <a:rPr sz="2800" b="0" dirty="0">
                <a:solidFill>
                  <a:srgbClr val="333333"/>
                </a:solidFill>
                <a:latin typeface="BIZ UDPGothic"/>
              </a:rPr>
              <a:t>）← 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ここが核心</a:t>
            </a:r>
            <a:r>
              <a:rPr sz="2800" b="0" dirty="0">
                <a:solidFill>
                  <a:srgbClr val="333333"/>
                </a:solidFill>
                <a:latin typeface="BIZ UDPGothic"/>
              </a:rPr>
              <a:t>！</a:t>
            </a:r>
          </a:p>
          <a:p>
            <a:pPr algn="l">
              <a:lnSpc>
                <a:spcPts val="3500"/>
              </a:lnSpc>
            </a:pP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■「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自律した学習者」育成への国際的合意</a:t>
            </a: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→ 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日本の授業でも意図的・系統的な指導が必要</a:t>
            </a:r>
            <a:endParaRPr sz="2800" b="0" dirty="0">
              <a:solidFill>
                <a:srgbClr val="333333"/>
              </a:solidFill>
              <a:latin typeface="BIZ UDP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119" y="6570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BIZ UDPGothic"/>
              </a:rPr>
              <a:t>15 / 21</a:t>
            </a:r>
          </a:p>
        </p:txBody>
      </p:sp>
    </p:spTree>
    <p:extLst>
      <p:ext uri="{BB962C8B-B14F-4D97-AF65-F5344CB8AC3E}">
        <p14:creationId xmlns:p14="http://schemas.microsoft.com/office/powerpoint/2010/main" val="3423224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22AE5-A580-AEE1-B342-F6ECEBDC3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135B0D-894B-6F94-B60E-2D385B5FD5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1999" cy="851757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ja-JP" altLang="en-US" sz="4400" dirty="0"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１　本時の授業</a:t>
            </a:r>
            <a:endParaRPr kumimoji="1" lang="ja-JP" altLang="en-US" sz="4400" dirty="0"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84C32F7-1196-37D2-E5FE-EA34F4D5FF8A}"/>
              </a:ext>
            </a:extLst>
          </p:cNvPr>
          <p:cNvSpPr txBox="1"/>
          <p:nvPr/>
        </p:nvSpPr>
        <p:spPr>
          <a:xfrm>
            <a:off x="360218" y="1101140"/>
            <a:ext cx="6368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b="1" dirty="0"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本時の様子</a:t>
            </a:r>
          </a:p>
        </p:txBody>
      </p:sp>
    </p:spTree>
    <p:extLst>
      <p:ext uri="{BB962C8B-B14F-4D97-AF65-F5344CB8AC3E}">
        <p14:creationId xmlns:p14="http://schemas.microsoft.com/office/powerpoint/2010/main" val="21375080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37CD8-DDE9-9442-7C9B-A7AA5BBFA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501539-4704-3DEE-6A11-44DB749969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1999" cy="851757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ja-JP" altLang="en-US" sz="4400" dirty="0"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１　本時の授業</a:t>
            </a:r>
            <a:endParaRPr kumimoji="1" lang="ja-JP" altLang="en-US" sz="4400" dirty="0"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BBD6B9D-9A17-2479-25FC-392EAE01BE23}"/>
              </a:ext>
            </a:extLst>
          </p:cNvPr>
          <p:cNvSpPr txBox="1"/>
          <p:nvPr/>
        </p:nvSpPr>
        <p:spPr>
          <a:xfrm>
            <a:off x="241331" y="1027889"/>
            <a:ext cx="86494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研究主題に迫るための手だて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C447E9F2-6D6C-E255-AFBB-36D291A51F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188" y="4089219"/>
            <a:ext cx="1266786" cy="1734636"/>
          </a:xfrm>
          <a:prstGeom prst="rect">
            <a:avLst/>
          </a:prstGeom>
        </p:spPr>
      </p:pic>
      <p:sp>
        <p:nvSpPr>
          <p:cNvPr id="3" name="スクロール: 横 2">
            <a:extLst>
              <a:ext uri="{FF2B5EF4-FFF2-40B4-BE49-F238E27FC236}">
                <a16:creationId xmlns:a16="http://schemas.microsoft.com/office/drawing/2014/main" id="{C73B7520-E5C6-913F-78D9-CA41BEBB0418}"/>
              </a:ext>
            </a:extLst>
          </p:cNvPr>
          <p:cNvSpPr/>
          <p:nvPr/>
        </p:nvSpPr>
        <p:spPr>
          <a:xfrm>
            <a:off x="450157" y="1692399"/>
            <a:ext cx="11132244" cy="1191213"/>
          </a:xfrm>
          <a:prstGeom prst="horizontalScroll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10431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4000" b="1" dirty="0">
                <a:solidFill>
                  <a:prstClr val="black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②視覚化の工夫（本時の目標、授業の流れ等）</a:t>
            </a:r>
            <a:endParaRPr kumimoji="1" lang="ja-JP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</p:txBody>
      </p:sp>
      <p:sp>
        <p:nvSpPr>
          <p:cNvPr id="6" name="角丸四角形吹き出し 2">
            <a:extLst>
              <a:ext uri="{FF2B5EF4-FFF2-40B4-BE49-F238E27FC236}">
                <a16:creationId xmlns:a16="http://schemas.microsoft.com/office/drawing/2014/main" id="{7E54D3F8-9795-C025-5BE5-7FA3E09C7FAA}"/>
              </a:ext>
            </a:extLst>
          </p:cNvPr>
          <p:cNvSpPr/>
          <p:nvPr/>
        </p:nvSpPr>
        <p:spPr>
          <a:xfrm>
            <a:off x="1436913" y="3542151"/>
            <a:ext cx="7106231" cy="1508820"/>
          </a:xfrm>
          <a:prstGeom prst="wedgeRoundRectCallout">
            <a:avLst>
              <a:gd name="adj1" fmla="val 69943"/>
              <a:gd name="adj2" fmla="val 36281"/>
              <a:gd name="adj3" fmla="val 16667"/>
            </a:avLst>
          </a:prstGeom>
          <a:solidFill>
            <a:sysClr val="window" lastClr="FFFFFF"/>
          </a:solidFill>
          <a:ln w="28575" cap="flat" cmpd="sng" algn="ctr">
            <a:solidFill>
              <a:srgbClr val="5B9BD5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3200" kern="0" dirty="0">
                <a:solidFill>
                  <a:prstClr val="black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見通しを持たせることで、生徒が</a:t>
            </a:r>
            <a:endParaRPr kumimoji="0" lang="en-US" altLang="ja-JP" sz="3200" kern="0" dirty="0">
              <a:solidFill>
                <a:prstClr val="black"/>
              </a:solidFill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3200" kern="0" dirty="0">
                <a:solidFill>
                  <a:prstClr val="black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主体的に学習に取り組む姿が見られました。</a:t>
            </a:r>
            <a:endParaRPr kumimoji="0" lang="en-US" altLang="ja-JP" sz="3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50460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8421A-B22A-C8FE-B9ED-5CF6C7D0F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C4599D-FC4F-997D-FE08-40532D88BB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1999" cy="851757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ja-JP" altLang="en-US" sz="4400" dirty="0"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１　本時の授業</a:t>
            </a:r>
            <a:endParaRPr kumimoji="1" lang="ja-JP" altLang="en-US" sz="4400" dirty="0"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48AD1DB-B47A-D8E7-1085-F3BE8B090156}"/>
              </a:ext>
            </a:extLst>
          </p:cNvPr>
          <p:cNvSpPr txBox="1"/>
          <p:nvPr/>
        </p:nvSpPr>
        <p:spPr>
          <a:xfrm>
            <a:off x="360218" y="1101140"/>
            <a:ext cx="6368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b="1" dirty="0"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本時の様子</a:t>
            </a:r>
          </a:p>
        </p:txBody>
      </p:sp>
    </p:spTree>
    <p:extLst>
      <p:ext uri="{BB962C8B-B14F-4D97-AF65-F5344CB8AC3E}">
        <p14:creationId xmlns:p14="http://schemas.microsoft.com/office/powerpoint/2010/main" val="13264784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67366-478B-E6C6-DF88-D668BA8E2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B6F0C7-8A81-6053-3415-52A08952ED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1999" cy="851757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ja-JP" altLang="en-US" sz="4400" dirty="0"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１　本時の授業</a:t>
            </a:r>
            <a:endParaRPr kumimoji="1" lang="ja-JP" altLang="en-US" sz="4400" dirty="0"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CF312AA-4184-89ED-B009-B53267F72FF6}"/>
              </a:ext>
            </a:extLst>
          </p:cNvPr>
          <p:cNvSpPr txBox="1"/>
          <p:nvPr/>
        </p:nvSpPr>
        <p:spPr>
          <a:xfrm>
            <a:off x="241331" y="1027889"/>
            <a:ext cx="86494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研究主題に迫るための手だて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E4B1BC69-8114-FE2B-3217-B18B43E962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7924" y="4590299"/>
            <a:ext cx="1266786" cy="1734636"/>
          </a:xfrm>
          <a:prstGeom prst="rect">
            <a:avLst/>
          </a:prstGeom>
        </p:spPr>
      </p:pic>
      <p:sp>
        <p:nvSpPr>
          <p:cNvPr id="3" name="スクロール: 横 2">
            <a:extLst>
              <a:ext uri="{FF2B5EF4-FFF2-40B4-BE49-F238E27FC236}">
                <a16:creationId xmlns:a16="http://schemas.microsoft.com/office/drawing/2014/main" id="{210526D6-4674-2F94-8FF9-AA8491BDEC34}"/>
              </a:ext>
            </a:extLst>
          </p:cNvPr>
          <p:cNvSpPr/>
          <p:nvPr/>
        </p:nvSpPr>
        <p:spPr>
          <a:xfrm>
            <a:off x="417500" y="1797330"/>
            <a:ext cx="5198209" cy="1391316"/>
          </a:xfrm>
          <a:prstGeom prst="horizontalScroll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10431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4000" b="1" dirty="0">
                <a:solidFill>
                  <a:prstClr val="black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③話合い活動の充実</a:t>
            </a:r>
            <a:endParaRPr kumimoji="1" lang="ja-JP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</p:txBody>
      </p:sp>
      <p:sp>
        <p:nvSpPr>
          <p:cNvPr id="6" name="角丸四角形吹き出し 2">
            <a:extLst>
              <a:ext uri="{FF2B5EF4-FFF2-40B4-BE49-F238E27FC236}">
                <a16:creationId xmlns:a16="http://schemas.microsoft.com/office/drawing/2014/main" id="{62667D1D-D927-DB35-6E84-DAD4E3F04AE6}"/>
              </a:ext>
            </a:extLst>
          </p:cNvPr>
          <p:cNvSpPr/>
          <p:nvPr/>
        </p:nvSpPr>
        <p:spPr>
          <a:xfrm>
            <a:off x="849546" y="3429000"/>
            <a:ext cx="8208912" cy="1082195"/>
          </a:xfrm>
          <a:prstGeom prst="wedgeRoundRectCallout">
            <a:avLst>
              <a:gd name="adj1" fmla="val 68458"/>
              <a:gd name="adj2" fmla="val 88533"/>
              <a:gd name="adj3" fmla="val 16667"/>
            </a:avLst>
          </a:prstGeom>
          <a:solidFill>
            <a:sysClr val="window" lastClr="FFFFFF"/>
          </a:solidFill>
          <a:ln w="28575" cap="flat" cmpd="sng" algn="ctr">
            <a:solidFill>
              <a:srgbClr val="5B9BD5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3200" kern="0" dirty="0">
                <a:solidFill>
                  <a:prstClr val="black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昨年度までの研究（４人組等）が継続的に生かされています。</a:t>
            </a:r>
            <a:endParaRPr kumimoji="0" lang="en-US" altLang="ja-JP" sz="3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</p:txBody>
      </p:sp>
      <p:sp>
        <p:nvSpPr>
          <p:cNvPr id="7" name="角丸四角形吹き出し 2">
            <a:extLst>
              <a:ext uri="{FF2B5EF4-FFF2-40B4-BE49-F238E27FC236}">
                <a16:creationId xmlns:a16="http://schemas.microsoft.com/office/drawing/2014/main" id="{22D93A90-E337-A105-12A2-A2FB6E934129}"/>
              </a:ext>
            </a:extLst>
          </p:cNvPr>
          <p:cNvSpPr/>
          <p:nvPr/>
        </p:nvSpPr>
        <p:spPr>
          <a:xfrm>
            <a:off x="417500" y="4916519"/>
            <a:ext cx="8640959" cy="1082195"/>
          </a:xfrm>
          <a:prstGeom prst="wedgeRoundRectCallout">
            <a:avLst>
              <a:gd name="adj1" fmla="val 68989"/>
              <a:gd name="adj2" fmla="val 10074"/>
              <a:gd name="adj3" fmla="val 16667"/>
            </a:avLst>
          </a:prstGeom>
          <a:solidFill>
            <a:sysClr val="window" lastClr="FFFFFF"/>
          </a:solidFill>
          <a:ln w="28575" cap="flat" cmpd="sng" algn="ctr">
            <a:solidFill>
              <a:srgbClr val="5B9BD5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生徒が自分の言葉で説明できる（言語化）</a:t>
            </a:r>
            <a:endParaRPr kumimoji="0" lang="en-US" altLang="ja-JP" sz="3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活動が設定されています。</a:t>
            </a:r>
            <a:endParaRPr kumimoji="0" lang="en-US" altLang="ja-JP" sz="3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00281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/>
          <p:cNvSpPr/>
          <p:nvPr/>
        </p:nvSpPr>
        <p:spPr>
          <a:xfrm>
            <a:off x="0" y="2420912"/>
            <a:ext cx="12192000" cy="18411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5400" b="1" i="1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２</a:t>
            </a:r>
            <a:r>
              <a:rPr kumimoji="1" lang="ja-JP" altLang="en-US" sz="5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　</a:t>
            </a:r>
            <a:r>
              <a:rPr kumimoji="1" lang="en-US" altLang="ja-JP" sz="5400" b="1" i="1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｢</a:t>
            </a:r>
            <a:r>
              <a:rPr lang="ja-JP" altLang="en-US" sz="5400" b="1" i="1" u="sng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主体的に学習に取り組む態度</a:t>
            </a:r>
            <a:r>
              <a:rPr kumimoji="1" lang="en-US" altLang="ja-JP" sz="5400" b="1" i="1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｣</a:t>
            </a:r>
            <a:endParaRPr lang="en-US" altLang="ja-JP" sz="5400" b="1" i="1" u="sng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i="1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　　</a:t>
            </a:r>
            <a:r>
              <a:rPr kumimoji="1" lang="ja-JP" altLang="en-US" sz="5400" b="1" i="1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 </a:t>
            </a:r>
            <a:r>
              <a:rPr kumimoji="1" lang="ja-JP" altLang="en-US" sz="5400" b="1" i="1" u="sng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の評価</a:t>
            </a:r>
            <a:r>
              <a:rPr kumimoji="1" lang="ja-JP" altLang="en-US" sz="5400" b="1" i="1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　　</a:t>
            </a:r>
            <a:endParaRPr kumimoji="1" lang="ja-JP" altLang="en-US" sz="5400" b="1" i="1" u="sng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2" name="テキスト ボックス 1"/>
          <p:cNvSpPr txBox="1"/>
          <p:nvPr/>
        </p:nvSpPr>
        <p:spPr>
          <a:xfrm>
            <a:off x="764502" y="5623560"/>
            <a:ext cx="100101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「指導と評価の一体化」のための学習評価に関する参考資料</a:t>
            </a:r>
          </a:p>
        </p:txBody>
      </p:sp>
    </p:spTree>
    <p:extLst>
      <p:ext uri="{BB962C8B-B14F-4D97-AF65-F5344CB8AC3E}">
        <p14:creationId xmlns:p14="http://schemas.microsoft.com/office/powerpoint/2010/main" val="31518826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0000" y="54000"/>
            <a:ext cx="11832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BIZ UDPGothic"/>
              </a:rPr>
              <a:t>「よい振り返り」とはどんなものか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720000"/>
            <a:ext cx="11616119" cy="5418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■ 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振り返りの「質」を問う</a:t>
            </a: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✕ 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低質な振り返りの例</a:t>
            </a:r>
            <a:r>
              <a:rPr sz="2800" b="0" dirty="0">
                <a:solidFill>
                  <a:srgbClr val="333333"/>
                </a:solidFill>
                <a:latin typeface="BIZ UDPGothic"/>
              </a:rPr>
              <a:t>：</a:t>
            </a: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　「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今日の授業は楽しかった</a:t>
            </a:r>
            <a:r>
              <a:rPr sz="2800" b="0" dirty="0">
                <a:solidFill>
                  <a:srgbClr val="333333"/>
                </a:solidFill>
                <a:latin typeface="BIZ UDPGothic"/>
              </a:rPr>
              <a:t>」</a:t>
            </a:r>
            <a:r>
              <a:rPr lang="ja-JP" altLang="en-US" sz="2800" dirty="0">
                <a:solidFill>
                  <a:srgbClr val="333333"/>
                </a:solidFill>
                <a:latin typeface="BIZ UDPGothic"/>
              </a:rPr>
              <a:t>、</a:t>
            </a:r>
            <a:r>
              <a:rPr sz="2800" b="0" dirty="0">
                <a:solidFill>
                  <a:srgbClr val="333333"/>
                </a:solidFill>
                <a:latin typeface="BIZ UDPGothic"/>
              </a:rPr>
              <a:t>　「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二次方程式がわかった</a:t>
            </a:r>
            <a:r>
              <a:rPr sz="2800" b="0" dirty="0">
                <a:solidFill>
                  <a:srgbClr val="333333"/>
                </a:solidFill>
                <a:latin typeface="BIZ UDPGothic"/>
              </a:rPr>
              <a:t>」</a:t>
            </a: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　「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難しかった</a:t>
            </a:r>
            <a:r>
              <a:rPr sz="2800" b="0" dirty="0">
                <a:solidFill>
                  <a:srgbClr val="333333"/>
                </a:solidFill>
                <a:latin typeface="BIZ UDPGothic"/>
              </a:rPr>
              <a:t>」</a:t>
            </a: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○ 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高質な振り返りの例</a:t>
            </a:r>
            <a:r>
              <a:rPr sz="2800" b="0" dirty="0">
                <a:solidFill>
                  <a:srgbClr val="333333"/>
                </a:solidFill>
                <a:latin typeface="BIZ UDPGothic"/>
              </a:rPr>
              <a:t>：</a:t>
            </a: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　「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因数分解でとけない場合に解の公式を使う、という</a:t>
            </a: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　　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判断ができるようになった。次回は使う場面を</a:t>
            </a: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　　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自分で判断できるようにしたい</a:t>
            </a:r>
            <a:r>
              <a:rPr sz="2800" b="0" dirty="0">
                <a:solidFill>
                  <a:srgbClr val="333333"/>
                </a:solidFill>
                <a:latin typeface="BIZ UDPGothic"/>
              </a:rPr>
              <a:t>」</a:t>
            </a:r>
          </a:p>
          <a:p>
            <a:pPr algn="l">
              <a:lnSpc>
                <a:spcPts val="3500"/>
              </a:lnSpc>
            </a:pP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■ 振り返りの３つの問い（軸）</a:t>
            </a:r>
          </a:p>
          <a:p>
            <a:pPr algn="l">
              <a:lnSpc>
                <a:spcPts val="35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① 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何がわかったか（理解</a:t>
            </a:r>
            <a:r>
              <a:rPr sz="2800" b="0" dirty="0">
                <a:solidFill>
                  <a:srgbClr val="333333"/>
                </a:solidFill>
                <a:latin typeface="BIZ UDPGothic"/>
              </a:rPr>
              <a:t>）　② 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なぜそう考えたか（根拠</a:t>
            </a:r>
            <a:r>
              <a:rPr sz="2800" b="0" dirty="0">
                <a:solidFill>
                  <a:srgbClr val="333333"/>
                </a:solidFill>
                <a:latin typeface="BIZ UDPGothic"/>
              </a:rPr>
              <a:t>）　</a:t>
            </a:r>
            <a:endParaRPr lang="en-US"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500"/>
              </a:lnSpc>
            </a:pPr>
            <a:r>
              <a:rPr lang="ja-JP" altLang="en-US" sz="2800" b="0" dirty="0">
                <a:solidFill>
                  <a:srgbClr val="333333"/>
                </a:solidFill>
                <a:latin typeface="BIZ UDPGothic"/>
              </a:rPr>
              <a:t>  </a:t>
            </a:r>
            <a:r>
              <a:rPr sz="2800" b="0" dirty="0">
                <a:solidFill>
                  <a:srgbClr val="333333"/>
                </a:solidFill>
                <a:latin typeface="BIZ UDPGothic"/>
              </a:rPr>
              <a:t>③ 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次に何をしたいか（見通し</a:t>
            </a:r>
            <a:r>
              <a:rPr sz="2800" b="0" dirty="0">
                <a:solidFill>
                  <a:srgbClr val="333333"/>
                </a:solidFill>
                <a:latin typeface="BIZ UDPGothic"/>
              </a:rPr>
              <a:t>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119" y="6570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BIZ UDPGothic"/>
              </a:rPr>
              <a:t>16 / 21</a:t>
            </a:r>
          </a:p>
        </p:txBody>
      </p:sp>
    </p:spTree>
    <p:extLst>
      <p:ext uri="{BB962C8B-B14F-4D97-AF65-F5344CB8AC3E}">
        <p14:creationId xmlns:p14="http://schemas.microsoft.com/office/powerpoint/2010/main" val="22352349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0000" y="54000"/>
            <a:ext cx="11832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BIZ UDPGothic"/>
              </a:rPr>
              <a:t>振り返り指導の５つのポイント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720000"/>
            <a:ext cx="11616119" cy="5837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① 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振り返りの「視点」を事前に示す</a:t>
            </a: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2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→ 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本時のめあてと対応させて板書する</a:t>
            </a: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200"/>
              </a:lnSpc>
            </a:pP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2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② 「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書く」ことで思考を外化させる</a:t>
            </a: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2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→ 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頭の中だけでは曖昧なままになりやすい</a:t>
            </a: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200"/>
              </a:lnSpc>
            </a:pP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2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③ 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振り返りを「見取る」教師の目をもつ</a:t>
            </a: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2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→ 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次時の指導改善・個への対応に活用</a:t>
            </a: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200"/>
              </a:lnSpc>
            </a:pP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2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④ 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振り返りを「共有」する場を設ける</a:t>
            </a: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2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→ 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他者の振り返りから学ぶ機会に</a:t>
            </a: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200"/>
              </a:lnSpc>
            </a:pP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2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⑤ 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振り返りを「累積・活用」する仕組みをつくる</a:t>
            </a:r>
            <a:endParaRPr sz="2800" b="0" dirty="0">
              <a:solidFill>
                <a:srgbClr val="333333"/>
              </a:solidFill>
              <a:latin typeface="BIZ UDPGothic"/>
            </a:endParaRPr>
          </a:p>
          <a:p>
            <a:pPr algn="l">
              <a:lnSpc>
                <a:spcPts val="3200"/>
              </a:lnSpc>
            </a:pPr>
            <a:r>
              <a:rPr sz="2800" b="0" dirty="0">
                <a:solidFill>
                  <a:srgbClr val="333333"/>
                </a:solidFill>
                <a:latin typeface="BIZ UDPGothic"/>
              </a:rPr>
              <a:t>　→ </a:t>
            </a:r>
            <a:r>
              <a:rPr sz="2800" b="0" dirty="0" err="1">
                <a:solidFill>
                  <a:srgbClr val="333333"/>
                </a:solidFill>
                <a:latin typeface="BIZ UDPGothic"/>
              </a:rPr>
              <a:t>前時の振り返りを次時の導入へ接続</a:t>
            </a:r>
            <a:endParaRPr sz="2800" b="0" dirty="0">
              <a:solidFill>
                <a:srgbClr val="333333"/>
              </a:solidFill>
              <a:latin typeface="BIZ UDP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119" y="6570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BIZ UDPGothic"/>
              </a:rPr>
              <a:t>17 / 21</a:t>
            </a:r>
          </a:p>
        </p:txBody>
      </p:sp>
    </p:spTree>
    <p:extLst>
      <p:ext uri="{BB962C8B-B14F-4D97-AF65-F5344CB8AC3E}">
        <p14:creationId xmlns:p14="http://schemas.microsoft.com/office/powerpoint/2010/main" val="1497876700"/>
      </p:ext>
    </p:extLst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正方形/長方形 14"/>
          <p:cNvSpPr/>
          <p:nvPr/>
        </p:nvSpPr>
        <p:spPr>
          <a:xfrm>
            <a:off x="0" y="0"/>
            <a:ext cx="12192000" cy="715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5400" b="1" i="1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３　今後に向けて</a:t>
            </a:r>
            <a:r>
              <a:rPr kumimoji="1" lang="ja-JP" altLang="en-US" sz="5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/>
            </a:r>
            <a:r>
              <a:rPr kumimoji="1" lang="en-US" altLang="ja-JP" sz="5400" b="1" i="1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/>
            </a:r>
            <a:r>
              <a:rPr lang="ja-JP" altLang="en-US" sz="5400" b="1" i="1" u="sng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/>
            </a:r>
            <a:r>
              <a:rPr kumimoji="1" lang="en-US" altLang="ja-JP" sz="5400" b="1" i="1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/>
            </a:r>
            <a:endParaRPr lang="en-US" altLang="ja-JP" sz="5400" b="1" i="1" u="sng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i="1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/>
            </a:r>
            <a:r>
              <a:rPr kumimoji="1" lang="ja-JP" altLang="en-US" sz="5400" b="1" i="1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/>
            </a:r>
            <a:r>
              <a:rPr kumimoji="1" lang="ja-JP" altLang="en-US" sz="5400" b="1" i="1" u="sng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/>
            </a:r>
            <a:r>
              <a:rPr kumimoji="1" lang="ja-JP" altLang="en-US" sz="5400" b="1" i="1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/>
            </a:r>
            <a:endParaRPr kumimoji="1" lang="ja-JP" altLang="en-US" sz="5400" b="1" i="1" u="sng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正方形/長方形 14"/>
          <p:cNvSpPr/>
          <p:nvPr/>
        </p:nvSpPr>
        <p:spPr>
          <a:xfrm>
            <a:off x="0" y="0"/>
            <a:ext cx="12192000" cy="715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5400" b="1" i="1" u="sng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  <a:r>
              <a:rPr lang="ja-JP" altLang="en-US" dirty="0"/>
              <a:t>３　今後に向けて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5400" b="1" i="1" u="sng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8000" y="750000"/>
            <a:ext cx="11616119" cy="5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00"/>
              </a:lnSpc>
            </a:pPr>
            <a:r>
              <a:rPr sz="1800">
                <a:solidFill>
                  <a:srgbClr val="1F1F1F"/>
                </a:solidFill>
              </a:rPr>
              <a:t>■ 本時の授業をふまえた振り返り指導の改善点</a:t>
            </a:r>
            <a:endParaRPr sz="28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/>
          <a:p>
            <a:r>
              <a:rPr sz="1800">
                <a:solidFill>
                  <a:srgbClr val="1F1F1F"/>
                </a:solidFill>
              </a:rPr>
              <a:t>　① 振り返りの「視点」の明確化</a:t>
            </a:r>
          </a:p>
          <a:p>
            <a:r>
              <a:rPr sz="1800">
                <a:solidFill>
                  <a:srgbClr val="1F1F1F"/>
                </a:solidFill>
              </a:rPr>
              <a:t>　　→ 本時のめあてと対応した振り返りの観点を毎時間提示する</a:t>
            </a:r>
          </a:p>
          <a:p/>
          <a:p>
            <a:r>
              <a:rPr sz="1800">
                <a:solidFill>
                  <a:srgbClr val="1F1F1F"/>
                </a:solidFill>
              </a:rPr>
              <a:t>　② 「よい振り返り」のモデル提示</a:t>
            </a:r>
          </a:p>
          <a:p>
            <a:r>
              <a:rPr sz="1800">
                <a:solidFill>
                  <a:srgbClr val="1F1F1F"/>
                </a:solidFill>
              </a:rPr>
              <a:t>　　→ 高質な振り返りの例を学級で共有し、書き方の質を高める</a:t>
            </a:r>
          </a:p>
          <a:p/>
          <a:p>
            <a:r>
              <a:rPr sz="1800">
                <a:solidFill>
                  <a:srgbClr val="1F1F1F"/>
                </a:solidFill>
              </a:rPr>
              <a:t>　③ 振り返りの累積と活用</a:t>
            </a:r>
          </a:p>
          <a:p>
            <a:r>
              <a:rPr sz="1800">
                <a:solidFill>
                  <a:srgbClr val="1F1F1F"/>
                </a:solidFill>
              </a:rPr>
              <a:t>　　→ 前時の振り返りを次時の導入に接続する仕組みをつくる</a:t>
            </a:r>
          </a:p>
          <a:p/>
          <a:p>
            <a:r>
              <a:rPr sz="1800">
                <a:solidFill>
                  <a:srgbClr val="1F1F1F"/>
                </a:solidFill>
              </a:rPr>
              <a:t>■ 全校での取り組みに向けて</a:t>
            </a:r>
          </a:p>
          <a:p/>
          <a:p>
            <a:r>
              <a:rPr sz="1800">
                <a:solidFill>
                  <a:srgbClr val="1F1F1F"/>
                </a:solidFill>
              </a:rPr>
              <a:t>　→ 各教科でも「見通し → 学習 → 振り返り」の往還を意図的に位置づける</a:t>
            </a:r>
          </a:p>
          <a:p>
            <a:r>
              <a:rPr sz="1800">
                <a:solidFill>
                  <a:srgbClr val="1F1F1F"/>
                </a:solidFill>
              </a:rPr>
              <a:t>　→ 学力・学習状況調査の改善に向け、継続的に検証・改善サイクルを回す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1"/>
          <p:cNvSpPr>
            <a:spLocks noGrp="1"/>
          </p:cNvSpPr>
          <p:nvPr>
            <p:ph type="ctrTitle"/>
          </p:nvPr>
        </p:nvSpPr>
        <p:spPr>
          <a:xfrm>
            <a:off x="1035043" y="654569"/>
            <a:ext cx="10121914" cy="2591949"/>
          </a:xfrm>
        </p:spPr>
        <p:txBody>
          <a:bodyPr anchor="t">
            <a:normAutofit fontScale="90000"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ja-JP" altLang="en-US" sz="2800" b="1" spc="-13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令和８年度</a:t>
            </a:r>
            <a:br>
              <a:rPr lang="en-US" altLang="ja-JP" sz="2800" b="1" spc="-13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b="1" spc="-1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練馬区立豊玉中学校</a:t>
            </a:r>
            <a:br>
              <a:rPr lang="en-US" altLang="ja-JP" b="1" spc="-15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b="1" spc="-1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校内研究会</a:t>
            </a:r>
            <a:br>
              <a:rPr lang="ja-JP" altLang="en-US" b="1" spc="-130" dirty="0"/>
            </a:br>
            <a:endParaRPr lang="ja-JP" altLang="en-US" sz="2400" spc="-130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5796283" y="4346789"/>
            <a:ext cx="4671693" cy="1615862"/>
          </a:xfrm>
        </p:spPr>
        <p:txBody>
          <a:bodyPr anchor="b">
            <a:noAutofit/>
          </a:bodyPr>
          <a:lstStyle/>
          <a:p>
            <a:pPr algn="l"/>
            <a:r>
              <a:rPr lang="ja-JP" altLang="en-US" sz="2800" b="1" dirty="0">
                <a:latin typeface="+mn-ea"/>
              </a:rPr>
              <a:t>村上</a:t>
            </a:r>
            <a:r>
              <a:rPr lang="ja-JP" altLang="en-US" sz="2800" b="1" dirty="0">
                <a:solidFill>
                  <a:schemeClr val="tx1"/>
                </a:solidFill>
                <a:latin typeface="+mn-ea"/>
              </a:rPr>
              <a:t>先生、</a:t>
            </a:r>
            <a:endParaRPr lang="en-US" altLang="ja-JP" sz="2800" b="1" dirty="0">
              <a:solidFill>
                <a:schemeClr val="tx1"/>
              </a:solidFill>
              <a:latin typeface="+mn-ea"/>
            </a:endParaRPr>
          </a:p>
          <a:p>
            <a:pPr algn="l"/>
            <a:r>
              <a:rPr lang="ja-JP" altLang="en-US" sz="2800" b="1" dirty="0">
                <a:solidFill>
                  <a:schemeClr val="tx1"/>
                </a:solidFill>
                <a:latin typeface="+mn-ea"/>
              </a:rPr>
              <a:t>分科会の先生方、</a:t>
            </a:r>
            <a:endParaRPr lang="en-US" altLang="ja-JP" sz="2800" b="1" dirty="0">
              <a:solidFill>
                <a:schemeClr val="tx1"/>
              </a:solidFill>
              <a:latin typeface="+mn-ea"/>
            </a:endParaRPr>
          </a:p>
          <a:p>
            <a:pPr algn="l"/>
            <a:r>
              <a:rPr lang="ja-JP" altLang="en-US" sz="2800" b="1" dirty="0">
                <a:solidFill>
                  <a:schemeClr val="tx1"/>
                </a:solidFill>
                <a:latin typeface="+mn-ea"/>
              </a:rPr>
              <a:t>ありがとうございました。</a:t>
            </a:r>
            <a:endParaRPr lang="en-US" altLang="ja-JP" sz="2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タイトル 1"/>
          <p:cNvSpPr txBox="1">
            <a:spLocks/>
          </p:cNvSpPr>
          <p:nvPr/>
        </p:nvSpPr>
        <p:spPr>
          <a:xfrm>
            <a:off x="5958349" y="3704158"/>
            <a:ext cx="3965133" cy="64263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5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ja-JP" altLang="en-US" sz="2400" b="1" spc="-13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令和８年５月</a:t>
            </a:r>
            <a:r>
              <a:rPr lang="en-US" altLang="ja-JP" sz="2400" b="1" spc="-13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20</a:t>
            </a:r>
            <a:r>
              <a:rPr lang="ja-JP" altLang="en-US" sz="2400" b="1" spc="-13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日（水）　</a:t>
            </a:r>
            <a:r>
              <a:rPr lang="ja-JP" altLang="en-US" sz="2400" spc="-13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　　　　　　　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569" y="4106009"/>
            <a:ext cx="3569114" cy="2097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660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0" y="-35917"/>
            <a:ext cx="12192000" cy="8524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3716">
              <a:defRPr/>
            </a:pPr>
            <a:r>
              <a:rPr lang="ja-JP" altLang="en-US" sz="5442" b="1" dirty="0">
                <a:solidFill>
                  <a:prstClr val="white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本日の話の流れ</a:t>
            </a:r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DBAB6D55-55F0-2EC5-ECAE-67281C3D189E}"/>
              </a:ext>
            </a:extLst>
          </p:cNvPr>
          <p:cNvSpPr txBox="1">
            <a:spLocks/>
          </p:cNvSpPr>
          <p:nvPr/>
        </p:nvSpPr>
        <p:spPr>
          <a:xfrm>
            <a:off x="1470784" y="1477850"/>
            <a:ext cx="9001000" cy="3902299"/>
          </a:xfrm>
          <a:prstGeom prst="rect">
            <a:avLst/>
          </a:prstGeom>
          <a:ln w="76200">
            <a:noFill/>
          </a:ln>
        </p:spPr>
        <p:txBody>
          <a:bodyPr vert="horz" lIns="104306" tIns="52153" rIns="104306" bIns="52153" rtlCol="0">
            <a:noAutofit/>
          </a:bodyPr>
          <a:lstStyle>
            <a:lvl1pPr marL="391155" indent="-391155" algn="l" defTabSz="104308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3200" kern="120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+mn-cs"/>
              </a:defRPr>
            </a:lvl1pPr>
            <a:lvl2pPr marL="847503" indent="-325962" algn="l" defTabSz="104308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2400" kern="120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+mn-cs"/>
              </a:defRPr>
            </a:lvl2pPr>
            <a:lvl3pPr marL="1303850" indent="-260770" algn="l" defTabSz="104308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+mn-cs"/>
              </a:defRPr>
            </a:lvl3pPr>
            <a:lvl4pPr marL="1825390" indent="-260770" algn="l" defTabSz="104308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800" kern="120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+mn-cs"/>
              </a:defRPr>
            </a:lvl4pPr>
            <a:lvl5pPr marL="2346930" indent="-260770" algn="l" defTabSz="1043080" rtl="0" eaLnBrk="1" latinLnBrk="0" hangingPunct="1">
              <a:spcBef>
                <a:spcPct val="20000"/>
              </a:spcBef>
              <a:buFont typeface="Arial" pitchFamily="34" charset="0"/>
              <a:buChar char="»"/>
              <a:defRPr kumimoji="1" sz="1800" kern="120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+mn-cs"/>
              </a:defRPr>
            </a:lvl5pPr>
            <a:lvl6pPr marL="2868470" indent="-260770" algn="l" defTabSz="104308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90011" indent="-260770" algn="l" defTabSz="104308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1550" indent="-260770" algn="l" defTabSz="104308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3090" indent="-260770" algn="l" defTabSz="104308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4400" b="1" dirty="0">
                <a:solidFill>
                  <a:schemeClr val="tx1"/>
                </a:solidFill>
              </a:rPr>
              <a:t>１　振り返りを行うことの重要性について</a:t>
            </a:r>
            <a:endParaRPr lang="en-US" altLang="ja-JP" sz="4400" b="1" dirty="0">
              <a:solidFill>
                <a:schemeClr val="tx1"/>
              </a:solidFill>
            </a:endParaRPr>
          </a:p>
          <a:p>
            <a:pPr marL="0" indent="0">
              <a:buFont typeface="Arial" pitchFamily="34" charset="0"/>
              <a:buNone/>
            </a:pPr>
            <a:endParaRPr lang="en-US" altLang="ja-JP" sz="2000" b="1" spc="-300" dirty="0">
              <a:solidFill>
                <a:schemeClr val="tx1"/>
              </a:solidFill>
            </a:endParaRPr>
          </a:p>
          <a:p>
            <a:pPr marL="0" indent="0">
              <a:buFont typeface="Arial" pitchFamily="34" charset="0"/>
              <a:buNone/>
            </a:pPr>
            <a:r>
              <a:rPr lang="ja-JP" altLang="en-US" sz="4400" b="1" dirty="0">
                <a:solidFill>
                  <a:schemeClr val="tx1"/>
                </a:solidFill>
              </a:rPr>
              <a:t>２　本時の授業について</a:t>
            </a:r>
            <a:endParaRPr lang="en-US" altLang="ja-JP" sz="4400" b="1" dirty="0">
              <a:solidFill>
                <a:schemeClr val="tx1"/>
              </a:solidFill>
            </a:endParaRPr>
          </a:p>
          <a:p>
            <a:pPr marL="0" indent="0">
              <a:buFont typeface="Arial" pitchFamily="34" charset="0"/>
              <a:buNone/>
            </a:pPr>
            <a:endParaRPr lang="en-US" altLang="ja-JP" sz="2000" b="1" dirty="0">
              <a:solidFill>
                <a:schemeClr val="tx1"/>
              </a:solidFill>
            </a:endParaRPr>
          </a:p>
          <a:p>
            <a:pPr marL="0" indent="0">
              <a:buFont typeface="Arial" pitchFamily="34" charset="0"/>
              <a:buNone/>
            </a:pPr>
            <a:r>
              <a:rPr lang="ja-JP" altLang="en-US" sz="4400" b="1" dirty="0">
                <a:solidFill>
                  <a:schemeClr val="tx1"/>
                </a:solidFill>
              </a:rPr>
              <a:t>３　今後に向けて</a:t>
            </a:r>
            <a:endParaRPr lang="en-US" altLang="ja-JP" sz="4400" b="1" dirty="0">
              <a:solidFill>
                <a:schemeClr val="tx1"/>
              </a:solidFill>
            </a:endParaRPr>
          </a:p>
          <a:p>
            <a:pPr marL="0" indent="0">
              <a:buFont typeface="Arial" pitchFamily="34" charset="0"/>
              <a:buNone/>
            </a:pPr>
            <a:endParaRPr lang="en-US" altLang="ja-JP" sz="2000" b="1" dirty="0">
              <a:solidFill>
                <a:schemeClr val="tx1"/>
              </a:solidFill>
            </a:endParaRPr>
            <a:r>
              <a:rPr lang="ja-JP" altLang="en-US"/>
              <a:t/>
            </a:r>
          </a:p>
          <a:p>
            <a:pPr marL="0" indent="0">
              <a:buFont typeface="Arial" pitchFamily="34" charset="0"/>
              <a:buNone/>
            </a:pPr>
            <a:r>
              <a:rPr lang="ja-JP" altLang="en-US" sz="4400" b="1" dirty="0">
                <a:solidFill>
                  <a:schemeClr val="tx1"/>
                </a:solidFill>
              </a:rPr>
              <a:t/>
            </a:r>
            <a:endParaRPr lang="en-US" altLang="ja-JP" sz="4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52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3820</TotalTime>
  <Words>1631</Words>
  <Application>Microsoft Office PowerPoint</Application>
  <PresentationFormat>ワイド画面</PresentationFormat>
  <Paragraphs>261</Paragraphs>
  <Slides>22</Slides>
  <Notes>10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22</vt:i4>
      </vt:variant>
    </vt:vector>
  </HeadingPairs>
  <TitlesOfParts>
    <vt:vector size="30" baseType="lpstr">
      <vt:lpstr>BIZ UDPGothic</vt:lpstr>
      <vt:lpstr>ＭＳ ゴシック</vt:lpstr>
      <vt:lpstr>UD デジタル 教科書体 N-B</vt:lpstr>
      <vt:lpstr>メイリオ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１　本時の授業</vt:lpstr>
      <vt:lpstr>１　本時の授業</vt:lpstr>
      <vt:lpstr>１　本時の授業</vt:lpstr>
      <vt:lpstr>１　本時の授業</vt:lpstr>
      <vt:lpstr>PowerPoint プレゼンテーション</vt:lpstr>
      <vt:lpstr>PowerPoint プレゼンテーション</vt:lpstr>
      <vt:lpstr>PowerPoint プレゼンテーション</vt:lpstr>
      <vt:lpstr>令和８年度 練馬区立豊玉中学校 校内研究会 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紺多　章一郎</dc:creator>
  <cp:lastModifiedBy>紺多　章一郎</cp:lastModifiedBy>
  <cp:revision>70</cp:revision>
  <cp:lastPrinted>2025-10-29T02:44:02Z</cp:lastPrinted>
  <dcterms:modified xsi:type="dcterms:W3CDTF">2026-05-14T18:45:06Z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2025-10-21T19:26:29Z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a2ab2787-c1e7-407f-a903-ef94d39b46a6</vt:lpwstr>
  </property>
  <property fmtid="{D5CDD505-2E9C-101B-9397-08002B2CF9AE}" pid="7" name="MSIP_Label_defa4170-0d19-0005-0004-bc88714345d2_ActionId">
    <vt:lpwstr>55dcd4d0-f373-41b2-92ee-a709bed95f59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