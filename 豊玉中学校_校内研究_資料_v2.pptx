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notesMasterIdLst>
    <p:notesMasterId r:id="rId37"/>
  </p:notesMasterIdLst>
  <p:handoutMasterIdLst>
    <p:handoutMasterId r:id="rId38"/>
  </p:handoutMasterIdLst>
  <p:sldIdLst>
    <p:sldId id="256" r:id="rId2"/>
    <p:sldId id="257" r:id="rId3"/>
    <p:sldId id="258" r:id="rId4"/>
    <p:sldId id="259" r:id="rId5"/>
    <p:sldId id="260" r:id="rId6"/>
    <p:sldId id="261" r:id="rId8"/>
    <p:sldId id="262" r:id="rId20"/>
    <p:sldId id="263" r:id="rId13"/>
    <p:sldId id="264" r:id="rId16"/>
    <p:sldId id="265" r:id="rId15"/>
    <p:sldId id="266" r:id="rId12"/>
    <p:sldId id="267" r:id="rId17"/>
    <p:sldId id="268" r:id="rId18"/>
    <p:sldId id="269" r:id="rId21"/>
    <p:sldId id="270" r:id="rId22"/>
    <p:sldId id="271" r:id="rId23"/>
    <p:sldId id="272" r:id="rId19"/>
    <p:sldId id="273" r:id="rId33"/>
    <p:sldId id="274" r:id="rId34"/>
    <p:sldId id="275" r:id="rId35"/>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35" autoAdjust="0"/>
    <p:restoredTop sz="94660"/>
  </p:normalViewPr>
  <p:slideViewPr>
    <p:cSldViewPr snapToGrid="0">
      <p:cViewPr varScale="1">
        <p:scale>
          <a:sx n="70" d="100"/>
          <a:sy n="70" d="100"/>
        </p:scale>
        <p:origin x="810" y="78"/>
      </p:cViewPr>
      <p:guideLst/>
    </p:cSldViewPr>
  </p:slideViewPr>
  <p:notesTextViewPr>
    <p:cViewPr>
      <p:scale>
        <a:sx n="1" d="1"/>
        <a:sy n="1" d="1"/>
      </p:scale>
      <p:origin x="0" y="0"/>
    </p:cViewPr>
  </p:notesTextViewPr>
  <p:notesViewPr>
    <p:cSldViewPr snapToGrid="0">
      <p:cViewPr varScale="1">
        <p:scale>
          <a:sx n="77" d="100"/>
          <a:sy n="77" d="100"/>
        </p:scale>
        <p:origin x="1686"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6.xml"/><Relationship Id="rId12" Type="http://schemas.openxmlformats.org/officeDocument/2006/relationships/slide" Target="slides/slide11.xml"/><Relationship Id="rId13" Type="http://schemas.openxmlformats.org/officeDocument/2006/relationships/slide" Target="slides/slide8.xml"/><Relationship Id="rId15" Type="http://schemas.openxmlformats.org/officeDocument/2006/relationships/slide" Target="slides/slide10.xml"/><Relationship Id="rId16" Type="http://schemas.openxmlformats.org/officeDocument/2006/relationships/slide" Target="slides/slide9.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7.xml"/><Relationship Id="rId20" Type="http://schemas.openxmlformats.org/officeDocument/2006/relationships/slide" Target="slides/slide7.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4276624" cy="338114"/>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540" y="0"/>
            <a:ext cx="4276624" cy="338114"/>
          </a:xfrm>
          <a:prstGeom prst="rect">
            <a:avLst/>
          </a:prstGeom>
        </p:spPr>
        <p:txBody>
          <a:bodyPr vert="horz" lIns="91440" tIns="45720" rIns="91440" bIns="45720" rtlCol="0"/>
          <a:lstStyle>
            <a:lvl1pPr algn="r">
              <a:defRPr sz="1200"/>
            </a:lvl1pPr>
          </a:lstStyle>
          <a:p>
            <a:r>
              <a:rPr kumimoji="1" lang="en-US" altLang="ja-JP" smtClean="0"/>
              <a:t>2023/</a:t>
            </a:r>
            <a:r>
              <a:rPr kumimoji="1" lang="ja-JP" altLang="en-US" smtClean="0"/>
              <a:t>６</a:t>
            </a:r>
            <a:r>
              <a:rPr kumimoji="1" lang="en-US" altLang="ja-JP" smtClean="0"/>
              <a:t>/28</a:t>
            </a:r>
            <a:endParaRPr kumimoji="1" lang="ja-JP" altLang="en-US" dirty="0"/>
          </a:p>
        </p:txBody>
      </p:sp>
      <p:sp>
        <p:nvSpPr>
          <p:cNvPr id="4" name="フッター プレースホルダー 3"/>
          <p:cNvSpPr>
            <a:spLocks noGrp="1"/>
          </p:cNvSpPr>
          <p:nvPr>
            <p:ph type="ftr" sz="quarter" idx="2"/>
          </p:nvPr>
        </p:nvSpPr>
        <p:spPr>
          <a:xfrm>
            <a:off x="1" y="6399236"/>
            <a:ext cx="4276624" cy="338114"/>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540" y="6399236"/>
            <a:ext cx="4276624" cy="338114"/>
          </a:xfrm>
          <a:prstGeom prst="rect">
            <a:avLst/>
          </a:prstGeom>
        </p:spPr>
        <p:txBody>
          <a:bodyPr vert="horz" lIns="91440" tIns="45720" rIns="91440" bIns="45720" rtlCol="0" anchor="b"/>
          <a:lstStyle>
            <a:lvl1pPr algn="r">
              <a:defRPr sz="1200"/>
            </a:lvl1pPr>
          </a:lstStyle>
          <a:p>
            <a:fld id="{93042923-F6FC-459C-886A-8B51CB6AD862}" type="slidenum">
              <a:rPr kumimoji="1" lang="ja-JP" altLang="en-US" smtClean="0"/>
              <a:t>‹#›</a:t>
            </a:fld>
            <a:endParaRPr kumimoji="1" lang="ja-JP" altLang="en-US"/>
          </a:p>
        </p:txBody>
      </p:sp>
    </p:spTree>
    <p:extLst>
      <p:ext uri="{BB962C8B-B14F-4D97-AF65-F5344CB8AC3E}">
        <p14:creationId xmlns:p14="http://schemas.microsoft.com/office/powerpoint/2010/main" val="2688077935"/>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276725" cy="33813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1175" y="0"/>
            <a:ext cx="4276725" cy="338138"/>
          </a:xfrm>
          <a:prstGeom prst="rect">
            <a:avLst/>
          </a:prstGeom>
        </p:spPr>
        <p:txBody>
          <a:bodyPr vert="horz" lIns="91440" tIns="45720" rIns="91440" bIns="45720" rtlCol="0"/>
          <a:lstStyle>
            <a:lvl1pPr algn="r">
              <a:defRPr sz="1200"/>
            </a:lvl1pPr>
          </a:lstStyle>
          <a:p>
            <a:r>
              <a:rPr kumimoji="1" lang="en-US" altLang="ja-JP" smtClean="0"/>
              <a:t>2023/</a:t>
            </a:r>
            <a:r>
              <a:rPr kumimoji="1" lang="ja-JP" altLang="en-US" smtClean="0"/>
              <a:t>６</a:t>
            </a:r>
            <a:r>
              <a:rPr kumimoji="1" lang="en-US" altLang="ja-JP" smtClean="0"/>
              <a:t>/28</a:t>
            </a:r>
            <a:endParaRPr kumimoji="1" lang="ja-JP" altLang="en-US" dirty="0"/>
          </a:p>
        </p:txBody>
      </p:sp>
      <p:sp>
        <p:nvSpPr>
          <p:cNvPr id="4" name="スライド イメージ プレースホルダー 3"/>
          <p:cNvSpPr>
            <a:spLocks noGrp="1" noRot="1" noChangeAspect="1"/>
          </p:cNvSpPr>
          <p:nvPr>
            <p:ph type="sldImg" idx="2"/>
          </p:nvPr>
        </p:nvSpPr>
        <p:spPr>
          <a:xfrm>
            <a:off x="2914650" y="842963"/>
            <a:ext cx="4040188" cy="22733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87425" y="3241675"/>
            <a:ext cx="7894638" cy="265430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6399213"/>
            <a:ext cx="4276725" cy="33813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1175" y="6399213"/>
            <a:ext cx="4276725" cy="338137"/>
          </a:xfrm>
          <a:prstGeom prst="rect">
            <a:avLst/>
          </a:prstGeom>
        </p:spPr>
        <p:txBody>
          <a:bodyPr vert="horz" lIns="91440" tIns="45720" rIns="91440" bIns="45720" rtlCol="0" anchor="b"/>
          <a:lstStyle>
            <a:lvl1pPr algn="r">
              <a:defRPr sz="1200"/>
            </a:lvl1pPr>
          </a:lstStyle>
          <a:p>
            <a:fld id="{EBF652ED-4E8E-4FA7-8EF4-2DDF6FB21FCE}" type="slidenum">
              <a:rPr kumimoji="1" lang="ja-JP" altLang="en-US" smtClean="0"/>
              <a:t>‹#›</a:t>
            </a:fld>
            <a:endParaRPr kumimoji="1" lang="ja-JP" altLang="en-US"/>
          </a:p>
        </p:txBody>
      </p:sp>
    </p:spTree>
    <p:extLst>
      <p:ext uri="{BB962C8B-B14F-4D97-AF65-F5344CB8AC3E}">
        <p14:creationId xmlns:p14="http://schemas.microsoft.com/office/powerpoint/2010/main" val="1371682697"/>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小松先生に、授業中に生徒を見る中でそのような場面があったのか聞き、私自身が見取った部分を伝える。</a:t>
            </a:r>
            <a:endParaRPr kumimoji="1" lang="en-US" altLang="ja-JP" dirty="0" smtClean="0"/>
          </a:p>
        </p:txBody>
      </p:sp>
      <p:sp>
        <p:nvSpPr>
          <p:cNvPr id="4" name="日付プレースホルダー 3"/>
          <p:cNvSpPr>
            <a:spLocks noGrp="1"/>
          </p:cNvSpPr>
          <p:nvPr>
            <p:ph type="dt" idx="10"/>
          </p:nvPr>
        </p:nvSpPr>
        <p:spPr/>
        <p:txBody>
          <a:bodyPr/>
          <a:lstStyle/>
          <a:p>
            <a:r>
              <a:rPr kumimoji="1" lang="en-US" altLang="ja-JP" smtClean="0"/>
              <a:t>2023/</a:t>
            </a:r>
            <a:r>
              <a:rPr kumimoji="1" lang="ja-JP" altLang="en-US" smtClean="0"/>
              <a:t>６</a:t>
            </a:r>
            <a:r>
              <a:rPr kumimoji="1" lang="en-US" altLang="ja-JP" smtClean="0"/>
              <a:t>/28</a:t>
            </a:r>
            <a:endParaRPr kumimoji="1" lang="ja-JP" altLang="en-US" dirty="0"/>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16</a:t>
            </a:fld>
            <a:endParaRPr kumimoji="1" lang="ja-JP" altLang="en-US"/>
          </a:p>
        </p:txBody>
      </p:sp>
    </p:spTree>
    <p:extLst>
      <p:ext uri="{BB962C8B-B14F-4D97-AF65-F5344CB8AC3E}">
        <p14:creationId xmlns:p14="http://schemas.microsoft.com/office/powerpoint/2010/main" val="107257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貫井中の研修テーマは、主体的な学びと、対話的な学びについてなので、本時の授業の中で効果があったものを伝えていく。</a:t>
            </a:r>
            <a:endParaRPr kumimoji="1" lang="ja-JP" altLang="en-US" dirty="0"/>
          </a:p>
        </p:txBody>
      </p:sp>
      <p:sp>
        <p:nvSpPr>
          <p:cNvPr id="4" name="日付プレースホルダー 3"/>
          <p:cNvSpPr>
            <a:spLocks noGrp="1"/>
          </p:cNvSpPr>
          <p:nvPr>
            <p:ph type="dt" idx="10"/>
          </p:nvPr>
        </p:nvSpPr>
        <p:spPr/>
        <p:txBody>
          <a:bodyPr/>
          <a:lstStyle/>
          <a:p>
            <a:r>
              <a:rPr kumimoji="1" lang="en-US" altLang="ja-JP" smtClean="0"/>
              <a:t>2023/</a:t>
            </a:r>
            <a:r>
              <a:rPr kumimoji="1" lang="ja-JP" altLang="en-US" smtClean="0"/>
              <a:t>６</a:t>
            </a:r>
            <a:r>
              <a:rPr kumimoji="1" lang="en-US" altLang="ja-JP" smtClean="0"/>
              <a:t>/28</a:t>
            </a:r>
            <a:endParaRPr kumimoji="1" lang="ja-JP" altLang="en-US" dirty="0"/>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17</a:t>
            </a:fld>
            <a:endParaRPr kumimoji="1" lang="ja-JP" altLang="en-US"/>
          </a:p>
        </p:txBody>
      </p:sp>
    </p:spTree>
    <p:extLst>
      <p:ext uri="{BB962C8B-B14F-4D97-AF65-F5344CB8AC3E}">
        <p14:creationId xmlns:p14="http://schemas.microsoft.com/office/powerpoint/2010/main" val="320724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t>2023/</a:t>
            </a:r>
            <a:r>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t>６</a:t>
            </a:r>
            <a:r>
              <a:rPr kumimoji="1" lang="en-US" altLang="ja-JP"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t>/28</a:t>
            </a:r>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 name="スライド番号プレースホルダー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F652ED-4E8E-4FA7-8EF4-2DDF6FB21FCE}"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99697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t>2023/</a:t>
            </a:r>
            <a:r>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t>６</a:t>
            </a:r>
            <a:r>
              <a:rPr kumimoji="1" lang="en-US" altLang="ja-JP"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t>/28</a:t>
            </a:r>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 name="スライド番号プレースホルダー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F652ED-4E8E-4FA7-8EF4-2DDF6FB21FCE}"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29816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317C9E4F-389D-44C6-8022-7CB33582DEA2}" type="datetime1">
              <a:rPr kumimoji="1" lang="ja-JP" altLang="en-US" smtClean="0"/>
              <a:t>2023/6/26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1545128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E1C8DB18-F118-4E03-B042-5FAD6EB649E2}" type="datetime1">
              <a:rPr kumimoji="1" lang="ja-JP" altLang="en-US" smtClean="0"/>
              <a:t>2023/6/26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96181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B4A14306-0BE5-4DFE-AB47-4B3D0ED37DDE}" type="datetime1">
              <a:rPr kumimoji="1" lang="ja-JP" altLang="en-US" smtClean="0"/>
              <a:t>2023/6/26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1750695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C362D781-1AA1-45B4-B727-E92D7E393FBE}" type="datetime1">
              <a:rPr kumimoji="1" lang="ja-JP" altLang="en-US" smtClean="0"/>
              <a:t>2023/6/26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3682765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18556A02-F850-4489-9BC5-DC18D494EE43}" type="datetime1">
              <a:rPr kumimoji="1" lang="ja-JP" altLang="en-US" smtClean="0"/>
              <a:t>2023/6/26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75385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6C30D9BD-498A-4EC5-A3D3-C6312DF0E6B3}" type="datetime1">
              <a:rPr kumimoji="1" lang="ja-JP" altLang="en-US" smtClean="0"/>
              <a:t>2023/6/26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161060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4F93C5CA-27A9-4CC2-BCFE-2AB5BA5271A1}" type="datetime1">
              <a:rPr kumimoji="1" lang="ja-JP" altLang="en-US" smtClean="0"/>
              <a:t>2023/6/26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901959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E4087E3-14AC-48C0-8543-B18B0D54EA9D}" type="datetime1">
              <a:rPr kumimoji="1" lang="ja-JP" altLang="en-US" smtClean="0"/>
              <a:t>2023/6/26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2373554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6BD19B97-8AA7-46EE-B9C8-8F95E5CE41E5}" type="datetime1">
              <a:rPr kumimoji="1" lang="ja-JP" altLang="en-US" smtClean="0"/>
              <a:t>2023/6/26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311287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BB2C3542-62E9-4F40-BFF6-5C632E8F49A8}" type="datetime1">
              <a:rPr kumimoji="1" lang="ja-JP" altLang="en-US" smtClean="0"/>
              <a:t>2023/6/26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1923633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F9C1E069-0AC7-4FFC-B8E7-BCE363047D17}" type="datetime1">
              <a:rPr kumimoji="1" lang="ja-JP" altLang="en-US" smtClean="0"/>
              <a:t>2023/6/26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533707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05790-D091-414A-B8C9-CC1D5A44ED99}" type="datetime1">
              <a:rPr kumimoji="1" lang="ja-JP" altLang="en-US" smtClean="0"/>
              <a:t>2023/6/26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7B46D6-F21A-4DD7-8FBA-FBACCF13E108}" type="slidenum">
              <a:rPr kumimoji="1" lang="ja-JP" altLang="en-US" smtClean="0"/>
              <a:t>‹#›</a:t>
            </a:fld>
            <a:endParaRPr kumimoji="1" lang="ja-JP" altLang="en-US"/>
          </a:p>
        </p:txBody>
      </p:sp>
    </p:spTree>
    <p:extLst>
      <p:ext uri="{BB962C8B-B14F-4D97-AF65-F5344CB8AC3E}">
        <p14:creationId xmlns:p14="http://schemas.microsoft.com/office/powerpoint/2010/main" val="3927629854"/>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8086" y="214312"/>
            <a:ext cx="11875825" cy="4466869"/>
          </a:xfrm>
        </p:spPr>
        <p:txBody>
          <a:bodyPr>
            <a:normAutofit/>
          </a:bodyPr>
          <a:lstStyle/>
          <a:p>
            <a:r>
              <a:rPr kumimoji="1" lang="ja-JP" altLang="en-US" sz="4000" b="1" dirty="0" smtClean="0">
                <a:latin typeface="+mn-ea"/>
                <a:ea typeface="+mn-ea"/>
              </a:rPr>
              <a:t>令和８年度　練馬区立豊玉中学校　校内研究会</a:t>
            </a:r>
          </a:p>
          <a:p>
            <a:endParaRPr lang="ja-JP"/>
          </a:p>
          <a:p>
            <a:endParaRPr lang="ja-JP"/>
          </a:p>
          <a:p>
            <a:r>
              <a:rPr kumimoji="1" lang="ja-JP" altLang="en-US" sz="4000" b="1" dirty="0" smtClean="0">
                <a:latin typeface="+mn-ea"/>
                <a:ea typeface="+mn-ea"/>
              </a:rPr>
              <a:t>振り返りを通して</a:t>
            </a:r>
          </a:p>
          <a:p>
            <a:r>
              <a:rPr kumimoji="1" lang="ja-JP" altLang="en-US" sz="4000" b="1" dirty="0" smtClean="0">
                <a:latin typeface="+mn-ea"/>
                <a:ea typeface="+mn-ea"/>
              </a:rPr>
              <a:t>「できた」を実感し、学び続ける生徒の育成</a:t>
            </a:r>
          </a:p>
          <a:p>
            <a:endParaRPr lang="ja-JP"/>
          </a:p>
          <a:p>
            <a:r>
              <a:rPr kumimoji="1" lang="ja-JP" altLang="en-US" sz="4000" b="1" dirty="0" smtClean="0">
                <a:latin typeface="+mn-ea"/>
                <a:ea typeface="+mn-ea"/>
              </a:rPr>
              <a:t>〜第３学年　数学科「多項式」〜</a:t>
            </a:r>
          </a:p>
        </p:txBody>
      </p:sp>
      <p:sp>
        <p:nvSpPr>
          <p:cNvPr id="3" name="サブタイトル 2"/>
          <p:cNvSpPr>
            <a:spLocks noGrp="1"/>
          </p:cNvSpPr>
          <p:nvPr>
            <p:ph type="subTitle" idx="1"/>
          </p:nvPr>
        </p:nvSpPr>
        <p:spPr>
          <a:xfrm>
            <a:off x="0" y="4986338"/>
            <a:ext cx="12191999" cy="1871661"/>
          </a:xfrm>
          <a:solidFill>
            <a:schemeClr val="bg1"/>
          </a:solidFill>
          <a:ln>
            <a:noFill/>
          </a:ln>
        </p:spPr>
        <p:txBody>
          <a:bodyPr>
            <a:normAutofit/>
          </a:bodyPr>
          <a:lstStyle/>
          <a:p>
            <a:pPr algn="l">
              <a:lnSpc>
                <a:spcPct val="10000"/>
              </a:lnSpc>
            </a:pPr>
            <a:endParaRPr lang="ja-JP"/>
          </a:p>
          <a:p>
            <a:pPr algn="l">
              <a:lnSpc>
                <a:spcPct val="10000"/>
              </a:lnSpc>
            </a:pPr>
            <a:r>
              <a:rPr lang="ja-JP" altLang="en-US" b="1" dirty="0" smtClean="0"/>
              <a:t>令和８年５月２０日（水）</a:t>
            </a:r>
          </a:p>
          <a:p>
            <a:pPr algn="l">
              <a:lnSpc>
                <a:spcPct val="10000"/>
              </a:lnSpc>
            </a:pPr>
            <a:r>
              <a:rPr lang="ja-JP" altLang="en-US" b="1" dirty="0" smtClean="0"/>
              <a:t>練馬区教育委員会</a:t>
            </a:r>
          </a:p>
          <a:p>
            <a:pPr algn="l">
              <a:lnSpc>
                <a:spcPct val="10000"/>
              </a:lnSpc>
            </a:pPr>
            <a:r>
              <a:rPr lang="ja-JP" altLang="en-US" b="1" dirty="0" smtClean="0"/>
              <a:t>指導主事　紺多　章一郎</a:t>
            </a:r>
          </a:p>
        </p:txBody>
      </p:sp>
    </p:spTree>
    <p:extLst>
      <p:ext uri="{BB962C8B-B14F-4D97-AF65-F5344CB8AC3E}">
        <p14:creationId xmlns:p14="http://schemas.microsoft.com/office/powerpoint/2010/main" val="33226790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正方形/長方形 1"/>
          <p:cNvSpPr/>
          <p:nvPr/>
        </p:nvSpPr>
        <p:spPr>
          <a:xfrm>
            <a:off x="171453" y="411291"/>
            <a:ext cx="11334747" cy="140677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400" b="1" i="1" dirty="0" smtClean="0">
                <a:solidFill>
                  <a:schemeClr val="tx1"/>
                </a:solidFill>
                <a:latin typeface="+mn-ea"/>
              </a:rPr>
              <a:t>１　</a:t>
            </a:r>
            <a:r>
              <a:rPr kumimoji="1" lang="ja-JP" altLang="en-US" sz="5400" b="1" i="1" dirty="0" smtClean="0">
                <a:solidFill>
                  <a:schemeClr val="tx1"/>
                </a:solidFill>
                <a:latin typeface="+mn-ea"/>
              </a:rPr>
              <a:t>振り返りを行うことの重要性について</a:t>
            </a:r>
          </a:p>
        </p:txBody>
      </p:sp>
      <p:sp>
        <p:nvSpPr>
          <p:cNvPr id="4" name="正方形/長方形 3"/>
          <p:cNvSpPr/>
          <p:nvPr/>
        </p:nvSpPr>
        <p:spPr>
          <a:xfrm>
            <a:off x="171452" y="4861276"/>
            <a:ext cx="11334748" cy="158729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ja-JP" altLang="en-US" sz="5400" b="1" i="1" dirty="0" smtClean="0">
                <a:solidFill>
                  <a:schemeClr val="tx1"/>
                </a:solidFill>
                <a:latin typeface="游ゴシック" panose="020B0400000000000000" pitchFamily="50" charset="-128"/>
              </a:rPr>
              <a:t>３　</a:t>
            </a:r>
            <a:r>
              <a:rPr lang="ja-JP" altLang="en-US" sz="5400" b="1" i="1" dirty="0" smtClean="0">
                <a:solidFill>
                  <a:schemeClr val="tx1"/>
                </a:solidFill>
                <a:latin typeface="游ゴシック" panose="020B0400000000000000" pitchFamily="50" charset="-128"/>
              </a:rPr>
              <a:t>今後に向けて</a:t>
            </a:r>
          </a:p>
        </p:txBody>
      </p:sp>
      <p:sp>
        <p:nvSpPr>
          <p:cNvPr id="5" name="正方形/長方形 4"/>
          <p:cNvSpPr/>
          <p:nvPr/>
        </p:nvSpPr>
        <p:spPr>
          <a:xfrm>
            <a:off x="171452" y="2432719"/>
            <a:ext cx="11334748" cy="18411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ja-JP" altLang="en-US" sz="5400" b="1" i="1" noProof="0" dirty="0">
                <a:solidFill>
                  <a:schemeClr val="tx1"/>
                </a:solidFill>
                <a:latin typeface="游ゴシック" panose="020B0400000000000000" pitchFamily="50" charset="-128"/>
                <a:ea typeface="游ゴシック" panose="020B0400000000000000" pitchFamily="50" charset="-128"/>
              </a:rPr>
              <a:t>２　</a:t>
            </a:r>
            <a:r>
              <a:rPr lang="ja-JP" altLang="en-US" sz="5400" b="1" i="1" noProof="0" dirty="0">
                <a:solidFill>
                  <a:schemeClr val="tx1"/>
                </a:solidFill>
                <a:latin typeface="游ゴシック" panose="020B0400000000000000" pitchFamily="50" charset="-128"/>
                <a:ea typeface="游ゴシック" panose="020B0400000000000000" pitchFamily="50" charset="-128"/>
              </a:rPr>
              <a:t>本時の授業について</a:t>
            </a:r>
          </a:p>
        </p:txBody>
      </p:sp>
    </p:spTree>
    <p:extLst>
      <p:ext uri="{BB962C8B-B14F-4D97-AF65-F5344CB8AC3E}">
        <p14:creationId xmlns:p14="http://schemas.microsoft.com/office/powerpoint/2010/main" val="13917594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2785403"/>
            <a:ext cx="12192000" cy="94253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5400" b="1" i="1" dirty="0" smtClean="0">
                <a:solidFill>
                  <a:schemeClr val="tx1"/>
                </a:solidFill>
                <a:latin typeface="+mn-ea"/>
              </a:rPr>
              <a:t>１　</a:t>
            </a:r>
            <a:r>
              <a:rPr kumimoji="1" lang="ja-JP" altLang="en-US" sz="5400" b="1" i="1" dirty="0" smtClean="0">
                <a:solidFill>
                  <a:schemeClr val="tx1"/>
                </a:solidFill>
                <a:latin typeface="+mn-ea"/>
              </a:rPr>
              <a:t>振り返りを行うことの重要性</a:t>
            </a:r>
          </a:p>
        </p:txBody>
      </p:sp>
    </p:spTree>
    <p:extLst>
      <p:ext uri="{BB962C8B-B14F-4D97-AF65-F5344CB8AC3E}">
        <p14:creationId xmlns:p14="http://schemas.microsoft.com/office/powerpoint/2010/main" val="37852426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なぜ、『</a:t>
            </a:r>
            <a:r>
              <a:rPr lang="ja-JP" altLang="en-US" sz="3600" b="1" dirty="0" smtClean="0">
                <a:solidFill>
                  <a:schemeClr val="tx1"/>
                </a:solidFill>
              </a:rPr>
              <a:t>振り返り</a:t>
            </a:r>
            <a:r>
              <a:rPr lang="ja-JP" altLang="en-US" sz="3600" b="1" dirty="0" smtClean="0">
                <a:solidFill>
                  <a:schemeClr val="tx1"/>
                </a:solidFill>
              </a:rPr>
              <a:t>』が必要なのか</a:t>
            </a:r>
          </a:p>
        </p:txBody>
      </p:sp>
      <p:sp>
        <p:nvSpPr>
          <p:cNvPr id="8" name="正方形/長方形 7"/>
          <p:cNvSpPr/>
          <p:nvPr/>
        </p:nvSpPr>
        <p:spPr>
          <a:xfrm>
            <a:off x="226074" y="941299"/>
            <a:ext cx="9086738" cy="646331"/>
          </a:xfrm>
          <a:prstGeom prst="rect">
            <a:avLst/>
          </a:prstGeom>
        </p:spPr>
        <p:txBody>
          <a:bodyPr wrap="square">
            <a:spAutoFit/>
          </a:bodyPr>
          <a:lstStyle/>
          <a:p>
            <a:r>
              <a:rPr lang="ja-JP" altLang="en-US" sz="3600" b="1" dirty="0" smtClean="0"/>
              <a:t>学校教育で目指すべき『子供像』</a:t>
            </a:r>
          </a:p>
        </p:txBody>
      </p:sp>
      <p:sp>
        <p:nvSpPr>
          <p:cNvPr id="9" name="正方形/長方形 8"/>
          <p:cNvSpPr/>
          <p:nvPr/>
        </p:nvSpPr>
        <p:spPr>
          <a:xfrm>
            <a:off x="226074" y="1836781"/>
            <a:ext cx="11576720" cy="4524315"/>
          </a:xfrm>
          <a:prstGeom prst="rect">
            <a:avLst/>
          </a:prstGeom>
          <a:solidFill>
            <a:schemeClr val="bg1"/>
          </a:solidFill>
          <a:ln>
            <a:solidFill>
              <a:schemeClr val="tx1"/>
            </a:solidFill>
          </a:ln>
        </p:spPr>
        <p:txBody>
          <a:bodyPr wrap="square">
            <a:spAutoFit/>
          </a:bodyPr>
          <a:lstStyle/>
          <a:p>
            <a:pPr algn="r"/>
            <a:r>
              <a:rPr lang="ja-JP" altLang="en-US" sz="3200" b="1" dirty="0" smtClean="0"/>
              <a:t>　学校教育には、子供たちが様々な変化に</a:t>
            </a:r>
            <a:r>
              <a:rPr lang="ja-JP" altLang="en-US" sz="3200" b="1" dirty="0" smtClean="0">
                <a:solidFill>
                  <a:srgbClr val="FF0000"/>
                </a:solidFill>
              </a:rPr>
              <a:t>積極的</a:t>
            </a:r>
            <a:r>
              <a:rPr lang="ja-JP" altLang="en-US" sz="3200" b="1" dirty="0" smtClean="0"/>
              <a:t>に向き合い、他者と協働して課題を解決していくことや、様々な情報を見極め</a:t>
            </a:r>
            <a:r>
              <a:rPr lang="ja-JP" altLang="en-US" sz="3200" b="1" dirty="0" smtClean="0">
                <a:solidFill>
                  <a:srgbClr val="FF0000"/>
                </a:solidFill>
              </a:rPr>
              <a:t>知識の概念的な理解</a:t>
            </a:r>
            <a:r>
              <a:rPr lang="ja-JP" altLang="en-US" sz="3200" b="1" dirty="0" smtClean="0"/>
              <a:t>を実現し情報を</a:t>
            </a:r>
            <a:r>
              <a:rPr lang="ja-JP" altLang="en-US" sz="3200" b="1" dirty="0" smtClean="0">
                <a:solidFill>
                  <a:srgbClr val="FF0000"/>
                </a:solidFill>
              </a:rPr>
              <a:t>再構成</a:t>
            </a:r>
            <a:r>
              <a:rPr lang="ja-JP" altLang="en-US" sz="3200" b="1" dirty="0" smtClean="0"/>
              <a:t>するなどして、新たな価値につなげていくことができるようにすることが求められている。</a:t>
            </a:r>
          </a:p>
          <a:p>
            <a:pPr algn="r"/>
            <a:endParaRPr lang="ja-JP"/>
          </a:p>
          <a:p>
            <a:pPr algn="r"/>
            <a:r>
              <a:rPr lang="ja-JP" altLang="en-US" sz="3200" b="1" dirty="0" smtClean="0"/>
              <a:t>中学校学習指導要領解説　「第１章　総説」より</a:t>
            </a:r>
          </a:p>
        </p:txBody>
      </p:sp>
    </p:spTree>
    <p:extLst>
      <p:ext uri="{BB962C8B-B14F-4D97-AF65-F5344CB8AC3E}">
        <p14:creationId xmlns:p14="http://schemas.microsoft.com/office/powerpoint/2010/main" val="23847251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学習指導要領における「振り返り」</a:t>
            </a:r>
          </a:p>
        </p:txBody>
      </p:sp>
      <p:sp>
        <p:nvSpPr>
          <p:cNvPr id="8" name="正方形/長方形 7"/>
          <p:cNvSpPr/>
          <p:nvPr/>
        </p:nvSpPr>
        <p:spPr>
          <a:xfrm>
            <a:off x="226074" y="763875"/>
            <a:ext cx="9086738" cy="584775"/>
          </a:xfrm>
          <a:prstGeom prst="rect">
            <a:avLst/>
          </a:prstGeom>
        </p:spPr>
        <p:txBody>
          <a:bodyPr wrap="square">
            <a:spAutoFit/>
          </a:bodyPr>
          <a:lstStyle/>
          <a:p>
            <a:r>
              <a:rPr lang="ja-JP" altLang="en-US" sz="3200" b="1" dirty="0" smtClean="0"/>
              <a:t>中学校学習指導要領　第１章　総則（抄）</a:t>
            </a:r>
          </a:p>
        </p:txBody>
      </p:sp>
      <p:sp>
        <p:nvSpPr>
          <p:cNvPr id="9" name="正方形/長方形 8"/>
          <p:cNvSpPr/>
          <p:nvPr/>
        </p:nvSpPr>
        <p:spPr>
          <a:xfrm>
            <a:off x="226074" y="1277216"/>
            <a:ext cx="11576720" cy="5016758"/>
          </a:xfrm>
          <a:prstGeom prst="rect">
            <a:avLst/>
          </a:prstGeom>
          <a:solidFill>
            <a:schemeClr val="bg1"/>
          </a:solidFill>
          <a:ln>
            <a:solidFill>
              <a:schemeClr val="tx1"/>
            </a:solidFill>
          </a:ln>
        </p:spPr>
        <p:txBody>
          <a:bodyPr wrap="square">
            <a:spAutoFit/>
          </a:bodyPr>
          <a:lstStyle/>
          <a:p>
            <a:r>
              <a:rPr lang="ja-JP" altLang="en-US" sz="3200" b="1" dirty="0" smtClean="0"/>
              <a:t>第３　教育課程の実施と学習評価</a:t>
            </a:r>
          </a:p>
          <a:p>
            <a:r>
              <a:rPr lang="ja-JP" altLang="en-US" sz="3200" b="1" dirty="0" smtClean="0"/>
              <a:t>１　</a:t>
            </a:r>
            <a:r>
              <a:rPr lang="ja-JP" altLang="en-US" sz="3200" b="1" dirty="0" smtClean="0">
                <a:solidFill>
                  <a:srgbClr val="FF0000"/>
                </a:solidFill>
              </a:rPr>
              <a:t>主体的・対話的で深い学び</a:t>
            </a:r>
            <a:r>
              <a:rPr lang="ja-JP" altLang="en-US" sz="3200" b="1" dirty="0" smtClean="0"/>
              <a:t>の実現に向けた授業改善</a:t>
            </a:r>
          </a:p>
          <a:p>
            <a:r>
              <a:rPr lang="ja-JP" altLang="en-US" sz="3200" b="1" dirty="0" smtClean="0"/>
              <a:t>（４）生徒が</a:t>
            </a:r>
            <a:r>
              <a:rPr lang="ja-JP" altLang="en-US" sz="3200" b="1" dirty="0" smtClean="0">
                <a:solidFill>
                  <a:srgbClr val="FF0000"/>
                </a:solidFill>
              </a:rPr>
              <a:t>学習の見通しを立てたり学習したことを振り返ったり</a:t>
            </a:r>
            <a:r>
              <a:rPr lang="ja-JP" altLang="en-US" sz="3200" b="1" dirty="0" smtClean="0"/>
              <a:t>する活動を、計画的に取り入れるよう工夫すること。</a:t>
            </a:r>
          </a:p>
          <a:p>
            <a:endParaRPr lang="ja-JP"/>
          </a:p>
          <a:p>
            <a:r>
              <a:rPr lang="ja-JP" altLang="en-US" sz="3200" b="1" dirty="0" smtClean="0"/>
              <a:t>→　振り返りは「目標」に位置付けられた</a:t>
            </a:r>
            <a:r>
              <a:rPr lang="ja-JP" altLang="en-US" sz="3200" b="1" dirty="0" smtClean="0">
                <a:solidFill>
                  <a:srgbClr val="FF0000"/>
                </a:solidFill>
              </a:rPr>
              <a:t>育てるべき力</a:t>
            </a:r>
          </a:p>
        </p:txBody>
      </p:sp>
    </p:spTree>
    <p:extLst>
      <p:ext uri="{BB962C8B-B14F-4D97-AF65-F5344CB8AC3E}">
        <p14:creationId xmlns:p14="http://schemas.microsoft.com/office/powerpoint/2010/main" val="23601285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「主体的・対話的で深い学び」の視点から</a:t>
            </a:r>
          </a:p>
        </p:txBody>
      </p:sp>
      <p:sp>
        <p:nvSpPr>
          <p:cNvPr id="8" name="正方形/長方形 7"/>
          <p:cNvSpPr/>
          <p:nvPr/>
        </p:nvSpPr>
        <p:spPr>
          <a:xfrm>
            <a:off x="226073" y="797891"/>
            <a:ext cx="11319933" cy="830997"/>
          </a:xfrm>
          <a:prstGeom prst="rect">
            <a:avLst/>
          </a:prstGeom>
        </p:spPr>
        <p:txBody>
          <a:bodyPr wrap="square">
            <a:spAutoFit/>
          </a:bodyPr>
          <a:lstStyle/>
          <a:p>
            <a:r>
              <a:rPr lang="ja-JP" altLang="en-US" sz="4800" b="1" dirty="0" smtClean="0"/>
              <a:t>「主体的な学び」の視点</a:t>
            </a:r>
          </a:p>
        </p:txBody>
      </p:sp>
      <p:sp>
        <p:nvSpPr>
          <p:cNvPr id="9" name="正方形/長方形 8"/>
          <p:cNvSpPr/>
          <p:nvPr/>
        </p:nvSpPr>
        <p:spPr>
          <a:xfrm>
            <a:off x="157514" y="1502061"/>
            <a:ext cx="11576720" cy="4524315"/>
          </a:xfrm>
          <a:prstGeom prst="rect">
            <a:avLst/>
          </a:prstGeom>
          <a:solidFill>
            <a:schemeClr val="bg1"/>
          </a:solidFill>
          <a:ln>
            <a:solidFill>
              <a:schemeClr val="tx1"/>
            </a:solidFill>
          </a:ln>
        </p:spPr>
        <p:txBody>
          <a:bodyPr wrap="square">
            <a:spAutoFit/>
          </a:bodyPr>
          <a:lstStyle/>
          <a:p>
            <a:r>
              <a:rPr lang="ja-JP" altLang="en-US" sz="3200" b="1" dirty="0"/>
              <a:t>　学ぶことに</a:t>
            </a:r>
            <a:r>
              <a:rPr lang="ja-JP" altLang="en-US" sz="3200" b="1" dirty="0">
                <a:solidFill>
                  <a:srgbClr val="FF0000"/>
                </a:solidFill>
              </a:rPr>
              <a:t>興味や関心</a:t>
            </a:r>
            <a:r>
              <a:rPr lang="ja-JP" altLang="en-US" sz="3200" b="1" dirty="0"/>
              <a:t>を持ち、自己のキャリア形成の方向性と関連付けながら、</a:t>
            </a:r>
            <a:r>
              <a:rPr lang="ja-JP" altLang="en-US" sz="3200" b="1" dirty="0">
                <a:solidFill>
                  <a:srgbClr val="FF0000"/>
                </a:solidFill>
              </a:rPr>
              <a:t>見通しを持って粘り強く取り組み</a:t>
            </a:r>
            <a:r>
              <a:rPr lang="ja-JP" altLang="en-US" sz="3200" b="1" dirty="0"/>
              <a:t>、</a:t>
            </a:r>
            <a:r>
              <a:rPr lang="ja-JP" altLang="en-US" sz="3200" b="1" dirty="0">
                <a:solidFill>
                  <a:srgbClr val="FF0000"/>
                </a:solidFill>
              </a:rPr>
              <a:t>自己の学習活動を振り返って次につなげる</a:t>
            </a:r>
            <a:r>
              <a:rPr lang="ja-JP" altLang="en-US" sz="3200" b="1" dirty="0"/>
              <a:t>「主体的な学び」が実現できているか。</a:t>
            </a:r>
          </a:p>
          <a:p>
            <a:endParaRPr lang="ja-JP"/>
          </a:p>
          <a:p>
            <a:r>
              <a:rPr lang="ja-JP" altLang="en-US" sz="3200" b="1" dirty="0"/>
              <a:t>　</a:t>
            </a:r>
            <a:r>
              <a:rPr lang="ja-JP" altLang="en-US" sz="3200" b="1" dirty="0">
                <a:solidFill>
                  <a:srgbClr val="FF0000"/>
                </a:solidFill>
              </a:rPr>
              <a:t>振り返って次へつなげる</a:t>
            </a:r>
            <a:r>
              <a:rPr lang="ja-JP" altLang="en-US" sz="3200" b="1" dirty="0"/>
              <a:t>　 ＝　主体的な学びの「核」</a:t>
            </a:r>
          </a:p>
        </p:txBody>
      </p:sp>
      <p:sp>
        <p:nvSpPr>
          <p:cNvPr id="5" name="テキスト ボックス 4"/>
          <p:cNvSpPr txBox="1"/>
          <p:nvPr/>
        </p:nvSpPr>
        <p:spPr>
          <a:xfrm>
            <a:off x="259306" y="6182440"/>
            <a:ext cx="11461600" cy="523220"/>
          </a:xfrm>
          <a:prstGeom prst="rect">
            <a:avLst/>
          </a:prstGeom>
          <a:noFill/>
        </p:spPr>
        <p:txBody>
          <a:bodyPr wrap="square" rtlCol="0">
            <a:spAutoFit/>
          </a:bodyPr>
          <a:lstStyle/>
          <a:p>
            <a:pPr algn="r"/>
            <a:r>
              <a:rPr lang="ja-JP" altLang="en-US" sz="2800" b="1" dirty="0" smtClean="0">
                <a:latin typeface="メイリオ" panose="020B0604030504040204" pitchFamily="50" charset="-128"/>
                <a:ea typeface="メイリオ" panose="020B0604030504040204" pitchFamily="50" charset="-128"/>
              </a:rPr>
              <a:t>中央教育審議会答申（平成28年12月）</a:t>
            </a:r>
          </a:p>
        </p:txBody>
      </p:sp>
    </p:spTree>
    <p:extLst>
      <p:ext uri="{BB962C8B-B14F-4D97-AF65-F5344CB8AC3E}">
        <p14:creationId xmlns:p14="http://schemas.microsoft.com/office/powerpoint/2010/main" val="9500425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72955" y="830003"/>
            <a:ext cx="6591870" cy="655603"/>
          </a:xfrm>
        </p:spPr>
        <p:txBody>
          <a:bodyPr>
            <a:normAutofit/>
          </a:bodyPr>
          <a:lstStyle/>
          <a:p>
            <a:pPr marL="0" indent="0">
              <a:buNone/>
            </a:pPr>
            <a:r>
              <a:rPr lang="ja-JP" altLang="en-US" sz="3600" b="1" dirty="0" smtClean="0"/>
              <a:t>「</a:t>
            </a:r>
            <a:r>
              <a:rPr lang="ja-JP" altLang="en-US" sz="3600" b="1" dirty="0"/>
              <a:t>主体的な学び」のイメージ</a:t>
            </a:r>
            <a:endParaRPr lang="ja-JP" altLang="en-US" b="1" dirty="0"/>
          </a:p>
        </p:txBody>
      </p:sp>
      <p:sp>
        <p:nvSpPr>
          <p:cNvPr id="6" name="ドーナツ 5"/>
          <p:cNvSpPr/>
          <p:nvPr/>
        </p:nvSpPr>
        <p:spPr>
          <a:xfrm>
            <a:off x="1476526" y="1965955"/>
            <a:ext cx="4153085" cy="4235546"/>
          </a:xfrm>
          <a:prstGeom prst="donut">
            <a:avLst>
              <a:gd name="adj" fmla="val 6613"/>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b="1">
              <a:solidFill>
                <a:schemeClr val="tx1"/>
              </a:solidFill>
            </a:endParaRPr>
          </a:p>
        </p:txBody>
      </p:sp>
      <p:sp>
        <p:nvSpPr>
          <p:cNvPr id="7" name="角丸四角形 6"/>
          <p:cNvSpPr/>
          <p:nvPr/>
        </p:nvSpPr>
        <p:spPr>
          <a:xfrm>
            <a:off x="2485978" y="1633304"/>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n-ea"/>
              </a:rPr>
              <a:t>興味や関心を高める</a:t>
            </a:r>
          </a:p>
        </p:txBody>
      </p:sp>
      <p:sp>
        <p:nvSpPr>
          <p:cNvPr id="8" name="角丸四角形 7"/>
          <p:cNvSpPr/>
          <p:nvPr/>
        </p:nvSpPr>
        <p:spPr>
          <a:xfrm>
            <a:off x="272954" y="3030290"/>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n-ea"/>
              </a:rPr>
              <a:t>振り返って</a:t>
            </a:r>
            <a:endParaRPr lang="en-US" altLang="ja-JP" b="1" dirty="0">
              <a:latin typeface="+mn-ea"/>
            </a:endParaRPr>
          </a:p>
          <a:p>
            <a:pPr algn="ctr"/>
            <a:r>
              <a:rPr lang="ja-JP" altLang="en-US" b="1" dirty="0">
                <a:latin typeface="+mn-ea"/>
              </a:rPr>
              <a:t>次へつなげる</a:t>
            </a:r>
          </a:p>
        </p:txBody>
      </p:sp>
      <p:sp>
        <p:nvSpPr>
          <p:cNvPr id="9" name="角丸四角形 8"/>
          <p:cNvSpPr/>
          <p:nvPr/>
        </p:nvSpPr>
        <p:spPr>
          <a:xfrm>
            <a:off x="4699001" y="3008492"/>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b="1" dirty="0">
                <a:latin typeface="+mn-ea"/>
              </a:rPr>
              <a:t>見通しを</a:t>
            </a:r>
            <a:endParaRPr lang="en-US" altLang="ja-JP" b="1" dirty="0">
              <a:latin typeface="+mn-ea"/>
            </a:endParaRPr>
          </a:p>
          <a:p>
            <a:pPr lvl="0" algn="ctr"/>
            <a:r>
              <a:rPr lang="ja-JP" altLang="en-US" b="1" dirty="0">
                <a:latin typeface="+mn-ea"/>
              </a:rPr>
              <a:t>もつ</a:t>
            </a:r>
          </a:p>
        </p:txBody>
      </p:sp>
      <p:sp>
        <p:nvSpPr>
          <p:cNvPr id="10" name="角丸四角形 9"/>
          <p:cNvSpPr/>
          <p:nvPr/>
        </p:nvSpPr>
        <p:spPr>
          <a:xfrm>
            <a:off x="887287" y="5158967"/>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b="1" dirty="0">
                <a:latin typeface="+mn-ea"/>
              </a:rPr>
              <a:t>粘り強く</a:t>
            </a:r>
            <a:endParaRPr lang="en-US" altLang="ja-JP" b="1" dirty="0">
              <a:latin typeface="+mn-ea"/>
            </a:endParaRPr>
          </a:p>
          <a:p>
            <a:pPr lvl="0" algn="ctr"/>
            <a:r>
              <a:rPr lang="ja-JP" altLang="en-US" b="1" dirty="0">
                <a:latin typeface="+mn-ea"/>
              </a:rPr>
              <a:t>取り組む</a:t>
            </a:r>
          </a:p>
        </p:txBody>
      </p:sp>
      <p:sp>
        <p:nvSpPr>
          <p:cNvPr id="11" name="角丸四角形 10"/>
          <p:cNvSpPr/>
          <p:nvPr/>
        </p:nvSpPr>
        <p:spPr>
          <a:xfrm>
            <a:off x="4005796" y="5158967"/>
            <a:ext cx="2213024" cy="106433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ja-JP" altLang="en-US" b="1" dirty="0">
                <a:latin typeface="+mn-ea"/>
              </a:rPr>
              <a:t>自分と結び</a:t>
            </a:r>
            <a:endParaRPr lang="en-US" altLang="ja-JP" b="1" dirty="0">
              <a:latin typeface="+mn-ea"/>
            </a:endParaRPr>
          </a:p>
          <a:p>
            <a:pPr lvl="0" algn="ctr"/>
            <a:r>
              <a:rPr lang="ja-JP" altLang="en-US" b="1" dirty="0">
                <a:latin typeface="+mn-ea"/>
              </a:rPr>
              <a:t>付ける</a:t>
            </a:r>
          </a:p>
        </p:txBody>
      </p:sp>
      <p:sp>
        <p:nvSpPr>
          <p:cNvPr id="12" name="正方形/長方形 11"/>
          <p:cNvSpPr/>
          <p:nvPr/>
        </p:nvSpPr>
        <p:spPr>
          <a:xfrm>
            <a:off x="2621885" y="3008475"/>
            <a:ext cx="1941240" cy="194919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400" b="1" dirty="0"/>
              <a:t>学んだ</a:t>
            </a:r>
            <a:endParaRPr lang="en-US" altLang="ja-JP" sz="2400" b="1" dirty="0"/>
          </a:p>
          <a:p>
            <a:pPr algn="ctr"/>
            <a:r>
              <a:rPr lang="ja-JP" altLang="en-US" sz="2400" b="1" dirty="0"/>
              <a:t>手応えの積み重ね</a:t>
            </a:r>
          </a:p>
        </p:txBody>
      </p:sp>
      <p:sp>
        <p:nvSpPr>
          <p:cNvPr id="13" name="右矢印 12"/>
          <p:cNvSpPr/>
          <p:nvPr/>
        </p:nvSpPr>
        <p:spPr>
          <a:xfrm>
            <a:off x="6692606" y="3943325"/>
            <a:ext cx="1863423" cy="1345145"/>
          </a:xfrm>
          <a:prstGeom prst="rightArrow">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18" name="図 17"/>
          <p:cNvPicPr>
            <a:picLocks noChangeAspect="1"/>
          </p:cNvPicPr>
          <p:nvPr/>
        </p:nvPicPr>
        <p:blipFill>
          <a:blip r:embed="rId2"/>
          <a:stretch>
            <a:fillRect/>
          </a:stretch>
        </p:blipFill>
        <p:spPr>
          <a:xfrm>
            <a:off x="8556028" y="2465868"/>
            <a:ext cx="2214499" cy="3948579"/>
          </a:xfrm>
          <a:prstGeom prst="rect">
            <a:avLst/>
          </a:prstGeom>
        </p:spPr>
      </p:pic>
      <p:sp>
        <p:nvSpPr>
          <p:cNvPr id="17" name="正方形/長方形 16"/>
          <p:cNvSpPr/>
          <p:nvPr/>
        </p:nvSpPr>
        <p:spPr>
          <a:xfrm>
            <a:off x="7766911" y="1633304"/>
            <a:ext cx="3792742" cy="98549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800" b="1" dirty="0">
                <a:solidFill>
                  <a:srgbClr val="002060"/>
                </a:solidFill>
                <a:latin typeface="+mn-ea"/>
              </a:rPr>
              <a:t>学び続ける意志</a:t>
            </a:r>
          </a:p>
        </p:txBody>
      </p:sp>
      <p:sp>
        <p:nvSpPr>
          <p:cNvPr id="19" name="正方形/長方形 18"/>
          <p:cNvSpPr/>
          <p:nvPr/>
        </p:nvSpPr>
        <p:spPr>
          <a:xfrm>
            <a:off x="0" y="3842"/>
            <a:ext cx="12191999" cy="67846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3600" b="1" dirty="0">
                <a:solidFill>
                  <a:schemeClr val="tx1"/>
                </a:solidFill>
              </a:rPr>
              <a:t>■</a:t>
            </a:r>
            <a:r>
              <a:rPr lang="ja-JP" altLang="en-US" sz="3600" b="1" dirty="0">
                <a:solidFill>
                  <a:schemeClr val="tx1"/>
                </a:solidFill>
              </a:rPr>
              <a:t>「主体的な学び」のイメージ</a:t>
            </a:r>
          </a:p>
        </p:txBody>
      </p:sp>
    </p:spTree>
    <p:extLst>
      <p:ext uri="{BB962C8B-B14F-4D97-AF65-F5344CB8AC3E}">
        <p14:creationId xmlns:p14="http://schemas.microsoft.com/office/powerpoint/2010/main" val="132458374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anim calcmode="lin" valueType="num">
                                      <p:cBhvr>
                                        <p:cTn id="14" dur="1000" fill="hold"/>
                                        <p:tgtEl>
                                          <p:spTgt spid="12"/>
                                        </p:tgtEl>
                                        <p:attrNameLst>
                                          <p:attrName>ppt_x</p:attrName>
                                        </p:attrNameLst>
                                      </p:cBhvr>
                                      <p:tavLst>
                                        <p:tav tm="0">
                                          <p:val>
                                            <p:strVal val="#ppt_x"/>
                                          </p:val>
                                        </p:tav>
                                        <p:tav tm="100000">
                                          <p:val>
                                            <p:strVal val="#ppt_x"/>
                                          </p:val>
                                        </p:tav>
                                      </p:tavLst>
                                    </p:anim>
                                    <p:anim calcmode="lin" valueType="num">
                                      <p:cBhvr>
                                        <p:cTn id="1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13" grpId="0" animBg="1"/>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数学科における「振り返り」</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1091202"/>
            <a:ext cx="11576720" cy="3754874"/>
          </a:xfrm>
          <a:prstGeom prst="rect">
            <a:avLst/>
          </a:prstGeom>
          <a:solidFill>
            <a:schemeClr val="bg1"/>
          </a:solidFill>
          <a:ln>
            <a:solidFill>
              <a:schemeClr val="tx1"/>
            </a:solidFill>
          </a:ln>
        </p:spPr>
        <p:txBody>
          <a:bodyPr wrap="square">
            <a:spAutoFit/>
          </a:bodyPr>
          <a:lstStyle/>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数学科の目標（中学校学習指導要領）</a:t>
            </a:r>
          </a:p>
          <a:p>
            <a:pPr>
              <a:lnSpc>
                <a:spcPct val="120000"/>
              </a:lnSpc>
            </a:pPr>
            <a:endParaRPr lang="ja-JP"/>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「問題解決の過程を</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振り返って評価・改善</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しようとする態度を養う」</a:t>
            </a:r>
          </a:p>
          <a:p>
            <a:pPr>
              <a:lnSpc>
                <a:spcPct val="120000"/>
              </a:lnSpc>
            </a:pPr>
            <a:endParaRPr lang="ja-JP"/>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　数学科にとって「振り返り」は</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教科の目標そのもの</a:t>
            </a:r>
          </a:p>
        </p:txBody>
      </p:sp>
      <p:sp>
        <p:nvSpPr>
          <p:cNvPr id="3" name="テキスト ボックス 2"/>
          <p:cNvSpPr txBox="1"/>
          <p:nvPr/>
        </p:nvSpPr>
        <p:spPr>
          <a:xfrm>
            <a:off x="341194" y="5322627"/>
            <a:ext cx="11461600" cy="523220"/>
          </a:xfrm>
          <a:prstGeom prst="rect">
            <a:avLst/>
          </a:prstGeom>
          <a:noFill/>
        </p:spPr>
        <p:txBody>
          <a:bodyPr wrap="square" rtlCol="0">
            <a:spAutoFit/>
          </a:bodyPr>
          <a:lstStyle/>
          <a:p>
            <a:pPr algn="r"/>
            <a:r>
              <a:rPr kumimoji="1" lang="ja-JP" altLang="en-US" sz="2800" b="1" dirty="0" smtClean="0">
                <a:latin typeface="メイリオ" panose="020B0604030504040204" pitchFamily="50" charset="-128"/>
                <a:ea typeface="メイリオ" panose="020B0604030504040204" pitchFamily="50" charset="-128"/>
              </a:rPr>
              <a:t>中学校学習指導要領　「数学」より</a:t>
            </a:r>
          </a:p>
        </p:txBody>
      </p:sp>
    </p:spTree>
    <p:extLst>
      <p:ext uri="{BB962C8B-B14F-4D97-AF65-F5344CB8AC3E}">
        <p14:creationId xmlns:p14="http://schemas.microsoft.com/office/powerpoint/2010/main" val="19927506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978226"/>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豊玉中の生徒の実態</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1091202"/>
            <a:ext cx="11576720" cy="830997"/>
          </a:xfrm>
          <a:prstGeom prst="rect">
            <a:avLst/>
          </a:prstGeom>
          <a:noFill/>
          <a:ln>
            <a:noFill/>
          </a:ln>
        </p:spPr>
        <p:txBody>
          <a:bodyPr wrap="square">
            <a:spAutoFit/>
          </a:bodyPr>
          <a:lstStyle/>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令和７年度　全国学力・学習状況調査　質問紙より</a:t>
            </a:r>
          </a:p>
        </p:txBody>
      </p:sp>
      <p:sp>
        <p:nvSpPr>
          <p:cNvPr id="5" name="正方形/長方形 4"/>
          <p:cNvSpPr/>
          <p:nvPr/>
        </p:nvSpPr>
        <p:spPr>
          <a:xfrm>
            <a:off x="228346" y="2035175"/>
            <a:ext cx="11576720" cy="4524315"/>
          </a:xfrm>
          <a:prstGeom prst="rect">
            <a:avLst/>
          </a:prstGeom>
          <a:solidFill>
            <a:schemeClr val="accent1">
              <a:lumMod val="20000"/>
              <a:lumOff val="80000"/>
            </a:schemeClr>
          </a:solidFill>
          <a:ln>
            <a:solidFill>
              <a:schemeClr val="tx1"/>
            </a:solidFill>
          </a:ln>
        </p:spPr>
        <p:txBody>
          <a:bodyPr wrap="square">
            <a:spAutoFit/>
          </a:bodyPr>
          <a:lstStyle/>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Q.　授業の最後に学習したことを</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振り返る活動</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をよく行いますか</a:t>
            </a:r>
          </a:p>
          <a:p>
            <a:pPr>
              <a:lnSpc>
                <a:spcPct val="120000"/>
              </a:lnSpc>
            </a:pPr>
            <a:endParaRPr lang="ja-JP"/>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　豊玉中（第３学年）：　肯定的回答 　</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８割超</a:t>
            </a:r>
          </a:p>
          <a:p>
            <a:pPr>
              <a:lnSpc>
                <a:spcPct val="120000"/>
              </a:lnSpc>
            </a:pPr>
            <a:endParaRPr lang="ja-JP"/>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　→　</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全国平均を上回る</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結果。振り返りの「習慣」は育っている</a:t>
            </a:r>
          </a:p>
          <a:p>
            <a:pPr>
              <a:lnSpc>
                <a:spcPct val="120000"/>
              </a:lnSpc>
            </a:pPr>
            <a:endParaRPr lang="ja-JP"/>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一方で…</a:t>
            </a:r>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　Q.　自分の</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考えを深めたり広げたり</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するために、振り返りを生かしているか</a:t>
            </a:r>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　　→　肯定的回答は伸びしろあり。「質」の向上が課題。</a:t>
            </a:r>
          </a:p>
        </p:txBody>
      </p:sp>
    </p:spTree>
    <p:extLst>
      <p:ext uri="{BB962C8B-B14F-4D97-AF65-F5344CB8AC3E}">
        <p14:creationId xmlns:p14="http://schemas.microsoft.com/office/powerpoint/2010/main" val="25036554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31076"/>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なぜ振り返りが学力と相関するのか</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800154"/>
            <a:ext cx="11576720" cy="830997"/>
          </a:xfrm>
          <a:prstGeom prst="rect">
            <a:avLst/>
          </a:prstGeom>
          <a:solidFill>
            <a:schemeClr val="bg1"/>
          </a:solidFill>
          <a:ln>
            <a:noFill/>
          </a:ln>
        </p:spPr>
        <p:txBody>
          <a:bodyPr wrap="square">
            <a:spAutoFit/>
          </a:bodyPr>
          <a:lstStyle/>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メタ認知（Metacognition）の観点から</a:t>
            </a:r>
          </a:p>
        </p:txBody>
      </p:sp>
      <p:sp>
        <p:nvSpPr>
          <p:cNvPr id="5" name="正方形/長方形 4"/>
          <p:cNvSpPr/>
          <p:nvPr/>
        </p:nvSpPr>
        <p:spPr>
          <a:xfrm>
            <a:off x="226074" y="1810693"/>
            <a:ext cx="11576720" cy="2554545"/>
          </a:xfrm>
          <a:prstGeom prst="rect">
            <a:avLst/>
          </a:prstGeom>
          <a:solidFill>
            <a:schemeClr val="bg1"/>
          </a:solidFill>
          <a:ln>
            <a:solidFill>
              <a:schemeClr val="tx1"/>
            </a:solidFill>
          </a:ln>
        </p:spPr>
        <p:txBody>
          <a:bodyPr wrap="square" anchor="ctr">
            <a:spAutoFit/>
          </a:bodyPr>
          <a:lstStyle/>
          <a:p>
            <a:r>
              <a:rPr lang="ja-JP" altLang="en-US" sz="4000" b="1" dirty="0" smtClean="0"/>
              <a:t>　振り返り　＝　</a:t>
            </a:r>
            <a:r>
              <a:rPr lang="ja-JP" altLang="en-US" sz="4000" b="1" dirty="0" smtClean="0">
                <a:solidFill>
                  <a:srgbClr val="FF0000"/>
                </a:solidFill>
              </a:rPr>
              <a:t>自分の思考・理解を「対象化」</a:t>
            </a:r>
            <a:r>
              <a:rPr lang="ja-JP" altLang="en-US" sz="4000" b="1" dirty="0" smtClean="0"/>
              <a:t>する行為</a:t>
            </a:r>
          </a:p>
          <a:p>
            <a:endParaRPr lang="ja-JP"/>
          </a:p>
          <a:p>
            <a:r>
              <a:rPr lang="ja-JP" altLang="en-US" sz="4000" b="1" dirty="0" smtClean="0"/>
              <a:t>　・</a:t>
            </a:r>
            <a:r>
              <a:rPr lang="ja-JP" altLang="en-US" sz="4000" b="1" dirty="0" smtClean="0">
                <a:solidFill>
                  <a:srgbClr val="FF0000"/>
                </a:solidFill>
              </a:rPr>
              <a:t>モニタリング</a:t>
            </a:r>
            <a:r>
              <a:rPr lang="ja-JP" altLang="en-US" sz="4000" b="1" dirty="0" smtClean="0"/>
              <a:t>：「わかったか？」を確認する</a:t>
            </a:r>
          </a:p>
          <a:p>
            <a:r>
              <a:rPr lang="ja-JP" altLang="en-US" sz="4000" b="1" dirty="0" smtClean="0"/>
              <a:t>　・</a:t>
            </a:r>
            <a:r>
              <a:rPr lang="ja-JP" altLang="en-US" sz="4000" b="1" dirty="0" smtClean="0">
                <a:solidFill>
                  <a:srgbClr val="FF0000"/>
                </a:solidFill>
              </a:rPr>
              <a:t>コントロール</a:t>
            </a:r>
            <a:r>
              <a:rPr lang="ja-JP" altLang="en-US" sz="4000" b="1" dirty="0" smtClean="0"/>
              <a:t>：「どう学び直すか」を調整する</a:t>
            </a:r>
          </a:p>
          <a:p>
            <a:endParaRPr lang="ja-JP"/>
          </a:p>
          <a:p>
            <a:r>
              <a:rPr lang="ja-JP" altLang="en-US" sz="4000" b="1" dirty="0" smtClean="0"/>
              <a:t>　ハッティ「可視化された学習」（2009）</a:t>
            </a:r>
          </a:p>
          <a:p>
            <a:r>
              <a:rPr lang="ja-JP" altLang="en-US" sz="4000" b="1" dirty="0" smtClean="0"/>
              <a:t>　　メタ認知的方略の効果量　</a:t>
            </a:r>
            <a:r>
              <a:rPr lang="ja-JP" altLang="en-US" sz="4000" b="1" dirty="0" smtClean="0">
                <a:solidFill>
                  <a:srgbClr val="FF0000"/>
                </a:solidFill>
              </a:rPr>
              <a:t>d = 0.60（高い効果）</a:t>
            </a:r>
          </a:p>
          <a:p>
            <a:endParaRPr lang="ja-JP"/>
          </a:p>
          <a:p>
            <a:r>
              <a:rPr lang="ja-JP" altLang="en-US" sz="4000" b="1" dirty="0" smtClean="0"/>
              <a:t>→　振り返りは「</a:t>
            </a:r>
            <a:r>
              <a:rPr lang="ja-JP" altLang="en-US" sz="4000" b="1" dirty="0" smtClean="0">
                <a:solidFill>
                  <a:srgbClr val="FF0000"/>
                </a:solidFill>
              </a:rPr>
              <a:t>学び方を学ぶ</a:t>
            </a:r>
            <a:r>
              <a:rPr lang="ja-JP" altLang="en-US" sz="4000" b="1" dirty="0" smtClean="0"/>
              <a:t>」ことにつながる</a:t>
            </a:r>
          </a:p>
        </p:txBody>
      </p:sp>
      <p:sp>
        <p:nvSpPr>
          <p:cNvPr id="6" name="下矢印 5"/>
          <p:cNvSpPr/>
          <p:nvPr/>
        </p:nvSpPr>
        <p:spPr>
          <a:xfrm>
            <a:off x="4599296" y="4476468"/>
            <a:ext cx="1978925" cy="1091821"/>
          </a:xfrm>
          <a:prstGeom prst="down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7" name="正方形/長方形 6"/>
          <p:cNvSpPr/>
          <p:nvPr/>
        </p:nvSpPr>
        <p:spPr>
          <a:xfrm>
            <a:off x="282938" y="5578553"/>
            <a:ext cx="11576720" cy="1107996"/>
          </a:xfrm>
          <a:prstGeom prst="rect">
            <a:avLst/>
          </a:prstGeom>
          <a:solidFill>
            <a:schemeClr val="bg1"/>
          </a:solidFill>
          <a:ln>
            <a:noFill/>
          </a:ln>
        </p:spPr>
        <p:txBody>
          <a:bodyPr wrap="square">
            <a:spAutoFit/>
          </a:bodyPr>
          <a:lstStyle/>
          <a:p>
            <a:pPr algn="just"/>
            <a:r>
              <a:rPr lang="ja-JP" altLang="en-US" sz="3200" b="1" dirty="0"/>
              <a:t>　</a:t>
            </a:r>
            <a:r>
              <a:rPr lang="ja-JP" altLang="en-US" sz="3200" b="1" dirty="0"/>
              <a:t>　　　　　　</a:t>
            </a:r>
            <a:r>
              <a:rPr lang="ja-JP" altLang="en-US" sz="3200" b="1" dirty="0"/>
              <a:t>メタ認知</a:t>
            </a:r>
          </a:p>
        </p:txBody>
      </p:sp>
    </p:spTree>
    <p:extLst>
      <p:ext uri="{BB962C8B-B14F-4D97-AF65-F5344CB8AC3E}">
        <p14:creationId xmlns:p14="http://schemas.microsoft.com/office/powerpoint/2010/main" val="2853774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2" y="2457857"/>
            <a:ext cx="12192000" cy="18411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5400" b="1" i="1" noProof="0" dirty="0">
                <a:solidFill>
                  <a:schemeClr val="tx1"/>
                </a:solidFill>
                <a:latin typeface="游ゴシック" panose="020B0400000000000000" pitchFamily="50" charset="-128"/>
                <a:ea typeface="游ゴシック" panose="020B0400000000000000" pitchFamily="50" charset="-128"/>
              </a:rPr>
              <a:t>２　</a:t>
            </a:r>
            <a:r>
              <a:rPr lang="ja-JP" altLang="en-US" sz="5400" b="1" i="1" noProof="0" dirty="0">
                <a:solidFill>
                  <a:schemeClr val="tx1"/>
                </a:solidFill>
                <a:latin typeface="游ゴシック" panose="020B0400000000000000" pitchFamily="50" charset="-128"/>
                <a:ea typeface="游ゴシック" panose="020B0400000000000000" pitchFamily="50" charset="-128"/>
              </a:rPr>
              <a:t>本時の授業について</a:t>
            </a:r>
          </a:p>
        </p:txBody>
      </p:sp>
    </p:spTree>
    <p:extLst>
      <p:ext uri="{BB962C8B-B14F-4D97-AF65-F5344CB8AC3E}">
        <p14:creationId xmlns:p14="http://schemas.microsoft.com/office/powerpoint/2010/main" val="37275941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本時の概要</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1091202"/>
            <a:ext cx="11576720" cy="830997"/>
          </a:xfrm>
          <a:prstGeom prst="rect">
            <a:avLst/>
          </a:prstGeom>
          <a:solidFill>
            <a:schemeClr val="bg1"/>
          </a:solidFill>
          <a:ln>
            <a:noFill/>
          </a:ln>
        </p:spPr>
        <p:txBody>
          <a:bodyPr wrap="square">
            <a:spAutoFit/>
          </a:bodyPr>
          <a:lstStyle/>
          <a:p>
            <a:pPr>
              <a:lnSpc>
                <a:spcPct val="120000"/>
              </a:lnSpc>
            </a:pPr>
            <a:r>
              <a:rPr lang="ja-JP" altLang="en-US" sz="4000" b="1" dirty="0">
                <a:latin typeface="メイリオ" panose="020B0604030504040204" pitchFamily="50" charset="-128"/>
                <a:ea typeface="メイリオ" panose="020B0604030504040204" pitchFamily="50" charset="-128"/>
                <a:cs typeface="メイリオ" panose="020B0604030504040204" pitchFamily="50" charset="-128"/>
              </a:rPr>
              <a:t>第３学年　数学科「多項式」（第12時／全14時）</a:t>
            </a:r>
          </a:p>
        </p:txBody>
      </p:sp>
      <p:sp>
        <p:nvSpPr>
          <p:cNvPr id="5" name="正方形/長方形 4"/>
          <p:cNvSpPr/>
          <p:nvPr/>
        </p:nvSpPr>
        <p:spPr>
          <a:xfrm>
            <a:off x="2534818" y="2295060"/>
            <a:ext cx="7359809" cy="3785652"/>
          </a:xfrm>
          <a:prstGeom prst="rect">
            <a:avLst/>
          </a:prstGeom>
          <a:solidFill>
            <a:schemeClr val="bg1"/>
          </a:solidFill>
          <a:ln>
            <a:solidFill>
              <a:schemeClr val="tx1"/>
            </a:solidFill>
          </a:ln>
        </p:spPr>
        <p:txBody>
          <a:bodyPr wrap="square">
            <a:spAutoFit/>
          </a:bodyPr>
          <a:lstStyle/>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【本時の目標】</a:t>
            </a:r>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　数の性質を、</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文字を使って</a:t>
            </a: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証明することができる。</a:t>
            </a:r>
          </a:p>
          <a:p>
            <a:pPr>
              <a:lnSpc>
                <a:spcPct val="120000"/>
              </a:lnSpc>
            </a:pPr>
            <a:endParaRPr lang="ja-JP"/>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【授業者】　村上　綺菜実　教諭</a:t>
            </a:r>
          </a:p>
          <a:p>
            <a:pPr>
              <a:lnSpc>
                <a:spcPct val="120000"/>
              </a:lnSpc>
            </a:pPr>
            <a:endParaRPr lang="ja-JP"/>
          </a:p>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【生徒】　第３学年（発展）　21名</a:t>
            </a:r>
          </a:p>
        </p:txBody>
      </p:sp>
    </p:spTree>
    <p:extLst>
      <p:ext uri="{BB962C8B-B14F-4D97-AF65-F5344CB8AC3E}">
        <p14:creationId xmlns:p14="http://schemas.microsoft.com/office/powerpoint/2010/main" val="29715373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31076"/>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「できた」を実感させる振り返りについての工夫</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913778"/>
            <a:ext cx="11576720" cy="830997"/>
          </a:xfrm>
          <a:prstGeom prst="rect">
            <a:avLst/>
          </a:prstGeom>
          <a:solidFill>
            <a:schemeClr val="bg1"/>
          </a:solidFill>
          <a:ln>
            <a:noFill/>
          </a:ln>
        </p:spPr>
        <p:txBody>
          <a:bodyPr wrap="square">
            <a:spAutoFit/>
          </a:bodyPr>
          <a:lstStyle/>
          <a:p>
            <a:pPr>
              <a:lnSpc>
                <a:spcPct val="120000"/>
              </a:lnSpc>
            </a:pPr>
            <a:r>
              <a:rPr lang="ja-JP" altLang="en-US" sz="4000" b="1" dirty="0" smtClean="0">
                <a:latin typeface="メイリオ" panose="020B0604030504040204" pitchFamily="50" charset="-128"/>
                <a:ea typeface="メイリオ" panose="020B0604030504040204" pitchFamily="50" charset="-128"/>
                <a:cs typeface="メイリオ" panose="020B0604030504040204" pitchFamily="50" charset="-128"/>
              </a:rPr>
              <a:t>村上先生の振り返りについての４つの工夫</a:t>
            </a:r>
          </a:p>
        </p:txBody>
      </p:sp>
      <p:sp>
        <p:nvSpPr>
          <p:cNvPr id="6" name="角丸四角形 5"/>
          <p:cNvSpPr/>
          <p:nvPr/>
        </p:nvSpPr>
        <p:spPr>
          <a:xfrm>
            <a:off x="226074" y="1744775"/>
            <a:ext cx="4509699" cy="1525190"/>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smtClean="0">
                <a:solidFill>
                  <a:schemeClr val="tx1"/>
                </a:solidFill>
              </a:rPr>
              <a:t>①例題で証明の手順確認</a:t>
            </a:r>
          </a:p>
        </p:txBody>
      </p:sp>
      <p:sp>
        <p:nvSpPr>
          <p:cNvPr id="7" name="角丸四角形 6"/>
          <p:cNvSpPr/>
          <p:nvPr/>
        </p:nvSpPr>
        <p:spPr>
          <a:xfrm>
            <a:off x="7001301" y="1736796"/>
            <a:ext cx="4801493" cy="1525190"/>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smtClean="0">
                <a:solidFill>
                  <a:schemeClr val="tx1"/>
                </a:solidFill>
              </a:rPr>
              <a:t>②話合いで言語化</a:t>
            </a:r>
          </a:p>
        </p:txBody>
      </p:sp>
      <p:sp>
        <p:nvSpPr>
          <p:cNvPr id="10" name="角丸四角形 9"/>
          <p:cNvSpPr/>
          <p:nvPr/>
        </p:nvSpPr>
        <p:spPr>
          <a:xfrm>
            <a:off x="2906973" y="2720230"/>
            <a:ext cx="5936776" cy="1623947"/>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smtClean="0">
                <a:solidFill>
                  <a:schemeClr val="tx1"/>
                </a:solidFill>
              </a:rPr>
              <a:t>③まとめプリントによる定着</a:t>
            </a:r>
          </a:p>
        </p:txBody>
      </p:sp>
      <p:sp>
        <p:nvSpPr>
          <p:cNvPr id="11" name="角丸四角形 10"/>
          <p:cNvSpPr/>
          <p:nvPr/>
        </p:nvSpPr>
        <p:spPr>
          <a:xfrm>
            <a:off x="226074" y="3804869"/>
            <a:ext cx="5110201" cy="1514763"/>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smtClean="0">
                <a:solidFill>
                  <a:schemeClr val="tx1"/>
                </a:solidFill>
              </a:rPr>
              <a:t>④チェックシートで自己評価</a:t>
            </a:r>
          </a:p>
        </p:txBody>
      </p:sp>
      <p:sp>
        <p:nvSpPr>
          <p:cNvPr id="12" name="角丸四角形 11"/>
          <p:cNvSpPr/>
          <p:nvPr/>
        </p:nvSpPr>
        <p:spPr>
          <a:xfrm>
            <a:off x="6096000" y="3763925"/>
            <a:ext cx="5936776" cy="1555707"/>
          </a:xfrm>
          <a:prstGeom prst="round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smtClean="0">
                <a:solidFill>
                  <a:schemeClr val="tx1"/>
                </a:solidFill>
              </a:rPr>
              <a:t>「</a:t>
            </a:r>
            <a:r>
              <a:rPr lang="ja-JP" altLang="en-US" sz="3200" b="1" dirty="0" smtClean="0">
                <a:solidFill>
                  <a:srgbClr val="FF0000"/>
                </a:solidFill>
              </a:rPr>
              <a:t>できた</a:t>
            </a:r>
            <a:r>
              <a:rPr lang="ja-JP" altLang="en-US" sz="3200" b="1" dirty="0" smtClean="0">
                <a:solidFill>
                  <a:schemeClr val="tx1"/>
                </a:solidFill>
              </a:rPr>
              <a:t>」の実感を強める</a:t>
            </a:r>
          </a:p>
        </p:txBody>
      </p:sp>
      <p:sp>
        <p:nvSpPr>
          <p:cNvPr id="2" name="テキスト ボックス 1"/>
          <p:cNvSpPr txBox="1"/>
          <p:nvPr/>
        </p:nvSpPr>
        <p:spPr>
          <a:xfrm>
            <a:off x="575801" y="5697622"/>
            <a:ext cx="10983853" cy="707886"/>
          </a:xfrm>
          <a:prstGeom prst="rect">
            <a:avLst/>
          </a:prstGeom>
          <a:noFill/>
        </p:spPr>
        <p:txBody>
          <a:bodyPr wrap="square" rtlCol="0">
            <a:spAutoFit/>
          </a:bodyPr>
          <a:lstStyle/>
          <a:p>
            <a:r>
              <a:rPr kumimoji="1" lang="ja-JP" altLang="en-US" sz="4000" b="1" dirty="0" smtClean="0">
                <a:solidFill>
                  <a:srgbClr val="FF0000"/>
                </a:solidFill>
                <a:effectLst>
                  <a:outerShdw blurRad="38100" dist="38100" dir="2700000" algn="tl">
                    <a:srgbClr val="000000">
                      <a:alpha val="43137"/>
                    </a:srgbClr>
                  </a:outerShdw>
                </a:effectLst>
              </a:rPr>
              <a:t>「主体的な学び」を促す</a:t>
            </a:r>
            <a:r>
              <a:rPr kumimoji="1" lang="ja-JP" altLang="en-US" sz="4000" b="1" dirty="0" smtClean="0">
                <a:effectLst>
                  <a:outerShdw blurRad="38100" dist="38100" dir="2700000" algn="tl">
                    <a:srgbClr val="000000">
                      <a:alpha val="43137"/>
                    </a:srgbClr>
                  </a:outerShdw>
                </a:effectLst>
                <a:solidFill>
                  <a:srgbClr val="FF0000"/>
                </a:solidFill>
              </a:rPr>
              <a:t>振り返り指導の工夫</a:t>
            </a:r>
          </a:p>
        </p:txBody>
      </p:sp>
    </p:spTree>
    <p:extLst>
      <p:ext uri="{BB962C8B-B14F-4D97-AF65-F5344CB8AC3E}">
        <p14:creationId xmlns:p14="http://schemas.microsoft.com/office/powerpoint/2010/main" val="365527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2" grpId="0" animBg="1"/>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kumimoji="1" lang="ja-JP" altLang="en-US" sz="3600" b="1" i="0" u="none" strike="noStrike" kern="1200" cap="none" spc="0" normalizeH="0" baseline="0" noProof="0" dirty="0" smtClean="0">
                <a:ln>
                  <a:noFill/>
                </a:ln>
                <a:solidFill>
                  <a:prstClr val="black"/>
                </a:solidFill>
                <a:effectLst/>
                <a:uLnTx/>
                <a:uFillTx/>
                <a:latin typeface="游ゴシック" panose="020F0502020204030204"/>
                <a:ea typeface="游ゴシック" panose="020B0400000000000000" pitchFamily="50" charset="-128"/>
                <a:cs typeface="+mn-cs"/>
              </a:rPr>
              <a:t>■</a:t>
            </a:r>
            <a:r>
              <a:rPr kumimoji="1" lang="ja-JP" altLang="en-US" sz="3600" b="1" i="0" u="none" strike="noStrike" kern="1200" cap="none" spc="0" normalizeH="0" baseline="0" noProof="0" dirty="0" smtClean="0">
                <a:ln>
                  <a:noFill/>
                </a:ln>
                <a:solidFill>
                  <a:prstClr val="black"/>
                </a:solidFill>
                <a:effectLst/>
                <a:uLnTx/>
                <a:uFillTx/>
                <a:latin typeface="游ゴシック" panose="020F0502020204030204"/>
                <a:ea typeface="游ゴシック" panose="020B0400000000000000" pitchFamily="50" charset="-128"/>
                <a:cs typeface="+mn-cs"/>
              </a:rPr>
              <a:t>「できた」を実感させる工夫　①②</a:t>
            </a:r>
          </a:p>
        </p:txBody>
      </p:sp>
      <p:sp>
        <p:nvSpPr>
          <p:cNvPr id="6" name="角丸四角形 5"/>
          <p:cNvSpPr/>
          <p:nvPr/>
        </p:nvSpPr>
        <p:spPr>
          <a:xfrm>
            <a:off x="479946" y="1255595"/>
            <a:ext cx="10874991" cy="5036018"/>
          </a:xfrm>
          <a:prstGeom prst="roundRect">
            <a:avLst/>
          </a:prstGeom>
          <a:ln w="57150">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3200" b="1" dirty="0" smtClean="0"/>
              <a:t>①例題で</a:t>
            </a:r>
            <a:r>
              <a:rPr lang="ja-JP" altLang="en-US" sz="3200" b="1" dirty="0" smtClean="0">
                <a:solidFill>
                  <a:srgbClr val="FF0000"/>
                </a:solidFill>
              </a:rPr>
              <a:t>証明の手順</a:t>
            </a:r>
            <a:r>
              <a:rPr lang="ja-JP" altLang="en-US" sz="3200" b="1" dirty="0" smtClean="0"/>
              <a:t>を確認</a:t>
            </a:r>
          </a:p>
          <a:p>
            <a:endParaRPr lang="ja-JP"/>
          </a:p>
          <a:p>
            <a:r>
              <a:rPr lang="ja-JP" altLang="en-US" sz="3200" b="1" dirty="0" smtClean="0"/>
              <a:t>②話合い活動で</a:t>
            </a:r>
            <a:r>
              <a:rPr lang="ja-JP" altLang="en-US" sz="3200" b="1" dirty="0" smtClean="0">
                <a:solidFill>
                  <a:srgbClr val="FF0000"/>
                </a:solidFill>
              </a:rPr>
              <a:t>言語化</a:t>
            </a:r>
          </a:p>
        </p:txBody>
      </p:sp>
      <p:sp>
        <p:nvSpPr>
          <p:cNvPr id="7" name="コンテンツ プレースホルダー 2"/>
          <p:cNvSpPr txBox="1">
            <a:spLocks/>
          </p:cNvSpPr>
          <p:nvPr/>
        </p:nvSpPr>
        <p:spPr>
          <a:xfrm>
            <a:off x="1216925" y="927793"/>
            <a:ext cx="9758150"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200" b="1" dirty="0" smtClean="0"/>
              <a:t>話合い活動で言語化させる</a:t>
            </a:r>
          </a:p>
        </p:txBody>
      </p:sp>
      <p:sp>
        <p:nvSpPr>
          <p:cNvPr id="5" name="コンテンツ プレースホルダー 2"/>
          <p:cNvSpPr txBox="1">
            <a:spLocks/>
          </p:cNvSpPr>
          <p:nvPr/>
        </p:nvSpPr>
        <p:spPr>
          <a:xfrm>
            <a:off x="2406552" y="6171605"/>
            <a:ext cx="9758150"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a:buFont typeface="Arial" panose="020B0604020202020204" pitchFamily="34" charset="0"/>
              <a:buNone/>
            </a:pPr>
            <a:endParaRPr lang="ja-JP" altLang="en-US" sz="3200" b="1" dirty="0"/>
          </a:p>
        </p:txBody>
      </p:sp>
      <p:sp>
        <p:nvSpPr>
          <p:cNvPr id="8" name="コンテンツ プレースホルダー 2"/>
          <p:cNvSpPr txBox="1">
            <a:spLocks/>
          </p:cNvSpPr>
          <p:nvPr/>
        </p:nvSpPr>
        <p:spPr>
          <a:xfrm>
            <a:off x="2433850" y="6277966"/>
            <a:ext cx="9758150"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a:buFont typeface="Arial" panose="020B0604020202020204" pitchFamily="34" charset="0"/>
              <a:buNone/>
            </a:pPr>
            <a:r>
              <a:rPr lang="ja-JP" altLang="en-US" sz="3200" b="1" dirty="0" smtClean="0">
                <a:solidFill>
                  <a:srgbClr val="FF0000"/>
                </a:solidFill>
              </a:rPr>
              <a:t>「</a:t>
            </a:r>
            <a:r>
              <a:rPr lang="ja-JP" altLang="en-US" sz="3200" b="1" dirty="0" smtClean="0">
                <a:solidFill>
                  <a:srgbClr val="FF0000"/>
                </a:solidFill>
              </a:rPr>
              <a:t>できた</a:t>
            </a:r>
            <a:r>
              <a:rPr lang="ja-JP" altLang="en-US" sz="3200" b="1" dirty="0" smtClean="0">
                <a:solidFill>
                  <a:srgbClr val="FF0000"/>
                </a:solidFill>
              </a:rPr>
              <a:t>」の実感を強める</a:t>
            </a:r>
          </a:p>
        </p:txBody>
      </p:sp>
    </p:spTree>
    <p:extLst>
      <p:ext uri="{BB962C8B-B14F-4D97-AF65-F5344CB8AC3E}">
        <p14:creationId xmlns:p14="http://schemas.microsoft.com/office/powerpoint/2010/main" val="10580895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kumimoji="1" lang="ja-JP" altLang="en-US" sz="3600" b="1" i="0" u="none" strike="noStrike" kern="1200" cap="none" spc="0" normalizeH="0" baseline="0" noProof="0" dirty="0" smtClean="0">
                <a:ln>
                  <a:noFill/>
                </a:ln>
                <a:solidFill>
                  <a:prstClr val="black"/>
                </a:solidFill>
                <a:effectLst/>
                <a:uLnTx/>
                <a:uFillTx/>
                <a:latin typeface="游ゴシック" panose="020F0502020204030204"/>
                <a:ea typeface="游ゴシック" panose="020B0400000000000000" pitchFamily="50" charset="-128"/>
                <a:cs typeface="+mn-cs"/>
              </a:rPr>
              <a:t>■</a:t>
            </a:r>
            <a:r>
              <a:rPr kumimoji="1" lang="ja-JP" altLang="en-US" sz="3600" b="1" i="0" u="none" strike="noStrike" kern="1200" cap="none" spc="0" normalizeH="0" baseline="0" noProof="0" dirty="0" smtClean="0">
                <a:ln>
                  <a:noFill/>
                </a:ln>
                <a:solidFill>
                  <a:prstClr val="black"/>
                </a:solidFill>
                <a:effectLst/>
                <a:uLnTx/>
                <a:uFillTx/>
                <a:latin typeface="游ゴシック" panose="020F0502020204030204"/>
                <a:ea typeface="游ゴシック" panose="020B0400000000000000" pitchFamily="50" charset="-128"/>
                <a:cs typeface="+mn-cs"/>
              </a:rPr>
              <a:t>「できた」を実感させる工夫　③</a:t>
            </a:r>
          </a:p>
        </p:txBody>
      </p:sp>
      <p:sp>
        <p:nvSpPr>
          <p:cNvPr id="7" name="コンテンツ プレースホルダー 2"/>
          <p:cNvSpPr txBox="1">
            <a:spLocks/>
          </p:cNvSpPr>
          <p:nvPr/>
        </p:nvSpPr>
        <p:spPr>
          <a:xfrm>
            <a:off x="829994" y="927793"/>
            <a:ext cx="10145081" cy="6556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4000" b="1" dirty="0"/>
              <a:t>まとめプリントによる「できた」の確認</a:t>
            </a:r>
          </a:p>
        </p:txBody>
      </p:sp>
      <p:sp>
        <p:nvSpPr>
          <p:cNvPr id="2" name="テキスト ボックス 1"/>
          <p:cNvSpPr txBox="1"/>
          <p:nvPr/>
        </p:nvSpPr>
        <p:spPr>
          <a:xfrm>
            <a:off x="323557" y="1702191"/>
            <a:ext cx="5261317" cy="584775"/>
          </a:xfrm>
          <a:prstGeom prst="rect">
            <a:avLst/>
          </a:prstGeom>
          <a:noFill/>
        </p:spPr>
        <p:txBody>
          <a:bodyPr wrap="square" rtlCol="0">
            <a:spAutoFit/>
          </a:bodyPr>
          <a:lstStyle/>
          <a:p>
            <a:r>
              <a:rPr kumimoji="1" lang="ja-JP" altLang="en-US" sz="3200" b="1" dirty="0" smtClean="0"/>
              <a:t>授業のまとめで問題演習</a:t>
            </a:r>
          </a:p>
        </p:txBody>
      </p:sp>
      <p:sp>
        <p:nvSpPr>
          <p:cNvPr id="3" name="右矢印 2"/>
          <p:cNvSpPr/>
          <p:nvPr/>
        </p:nvSpPr>
        <p:spPr>
          <a:xfrm>
            <a:off x="323557" y="2602523"/>
            <a:ext cx="914400" cy="49236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 name="テキスト ボックス 3"/>
          <p:cNvSpPr txBox="1"/>
          <p:nvPr/>
        </p:nvSpPr>
        <p:spPr>
          <a:xfrm>
            <a:off x="1378630" y="2526120"/>
            <a:ext cx="7146389" cy="584775"/>
          </a:xfrm>
          <a:prstGeom prst="rect">
            <a:avLst/>
          </a:prstGeom>
          <a:noFill/>
        </p:spPr>
        <p:txBody>
          <a:bodyPr wrap="square" rtlCol="0">
            <a:spAutoFit/>
          </a:bodyPr>
          <a:lstStyle/>
          <a:p>
            <a:r>
              <a:rPr kumimoji="1" lang="ja-JP" altLang="en-US" sz="3200" b="1" dirty="0" smtClean="0">
                <a:solidFill>
                  <a:srgbClr val="FF0000"/>
                </a:solidFill>
              </a:rPr>
              <a:t>本時の学びを</a:t>
            </a:r>
            <a:r>
              <a:rPr kumimoji="1" lang="ja-JP" altLang="en-US" sz="3200" b="1" dirty="0" smtClean="0">
                <a:solidFill>
                  <a:srgbClr val="FF0000"/>
                </a:solidFill>
              </a:rPr>
              <a:t>自力で確認</a:t>
            </a:r>
          </a:p>
        </p:txBody>
      </p:sp>
      <p:sp>
        <p:nvSpPr>
          <p:cNvPr id="5" name="下矢印 4"/>
          <p:cNvSpPr/>
          <p:nvPr/>
        </p:nvSpPr>
        <p:spPr>
          <a:xfrm>
            <a:off x="5353894" y="3229690"/>
            <a:ext cx="1097280" cy="170025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1505243" y="5233182"/>
            <a:ext cx="9469832" cy="707886"/>
          </a:xfrm>
          <a:prstGeom prst="rect">
            <a:avLst/>
          </a:prstGeom>
          <a:noFill/>
        </p:spPr>
        <p:txBody>
          <a:bodyPr wrap="square" rtlCol="0">
            <a:spAutoFit/>
          </a:bodyPr>
          <a:lstStyle/>
          <a:p>
            <a:r>
              <a:rPr kumimoji="1" lang="ja-JP" altLang="en-US" sz="4000" b="1" dirty="0" smtClean="0">
                <a:solidFill>
                  <a:srgbClr val="FF0000"/>
                </a:solidFill>
              </a:rPr>
              <a:t>「</a:t>
            </a:r>
            <a:r>
              <a:rPr kumimoji="1" lang="ja-JP" altLang="en-US" sz="4000" b="1" dirty="0" smtClean="0">
                <a:solidFill>
                  <a:srgbClr val="FF0000"/>
                </a:solidFill>
              </a:rPr>
              <a:t>できた</a:t>
            </a:r>
            <a:r>
              <a:rPr kumimoji="1" lang="ja-JP" altLang="en-US" sz="4000" b="1" dirty="0" smtClean="0">
                <a:solidFill>
                  <a:srgbClr val="FF0000"/>
                </a:solidFill>
              </a:rPr>
              <a:t>」を体感する時間を保証する</a:t>
            </a:r>
          </a:p>
        </p:txBody>
      </p:sp>
    </p:spTree>
    <p:extLst>
      <p:ext uri="{BB962C8B-B14F-4D97-AF65-F5344CB8AC3E}">
        <p14:creationId xmlns:p14="http://schemas.microsoft.com/office/powerpoint/2010/main" val="395664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5" grpId="0" animBg="1"/>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「できた」を実感させる工夫　④</a:t>
            </a:r>
          </a:p>
        </p:txBody>
      </p:sp>
      <p:sp>
        <p:nvSpPr>
          <p:cNvPr id="7" name="コンテンツ プレースホルダー 2"/>
          <p:cNvSpPr txBox="1">
            <a:spLocks/>
          </p:cNvSpPr>
          <p:nvPr/>
        </p:nvSpPr>
        <p:spPr bwMode="auto">
          <a:xfrm>
            <a:off x="2046515" y="5435441"/>
            <a:ext cx="8098970" cy="966176"/>
          </a:xfrm>
          <a:prstGeom prst="rect">
            <a:avLst/>
          </a:prstGeom>
          <a:noFill/>
          <a:ln w="381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defTabSz="912813">
              <a:lnSpc>
                <a:spcPct val="90000"/>
              </a:lnSpc>
              <a:spcBef>
                <a:spcPts val="1200"/>
              </a:spcBef>
              <a:spcAft>
                <a:spcPts val="200"/>
              </a:spcAft>
              <a:buClr>
                <a:schemeClr val="accent2"/>
              </a:buClr>
              <a:buSzPct val="100000"/>
              <a:buFont typeface="Tw Cen MT" panose="020B0602020104020603" pitchFamily="34" charset="0"/>
              <a:buChar char=" "/>
              <a:defRPr kumimoji="1" sz="2000">
                <a:solidFill>
                  <a:schemeClr val="tx1"/>
                </a:solidFill>
                <a:latin typeface="Tw Cen MT" panose="020B0602020104020603" pitchFamily="34" charset="0"/>
              </a:defRPr>
            </a:lvl1pPr>
            <a:lvl2pPr marL="684213" indent="-227013" defTabSz="912813">
              <a:lnSpc>
                <a:spcPct val="90000"/>
              </a:lnSpc>
              <a:spcBef>
                <a:spcPts val="200"/>
              </a:spcBef>
              <a:spcAft>
                <a:spcPts val="400"/>
              </a:spcAft>
              <a:buClr>
                <a:schemeClr val="accent2"/>
              </a:buClr>
              <a:buFont typeface="Wingdings 3" panose="05040102010807070707" pitchFamily="18" charset="2"/>
              <a:buChar char=""/>
              <a:defRPr kumimoji="1" sz="1600">
                <a:solidFill>
                  <a:schemeClr val="tx1"/>
                </a:solidFill>
                <a:latin typeface="Tw Cen MT" panose="020B0602020104020603" pitchFamily="34" charset="0"/>
              </a:defRPr>
            </a:lvl2pPr>
            <a:lvl3pPr marL="11414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3pPr>
            <a:lvl4pPr marL="15986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4pPr>
            <a:lvl5pPr marL="20558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5pPr>
            <a:lvl6pPr marL="25130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6pPr>
            <a:lvl7pPr marL="29702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7pPr>
            <a:lvl8pPr marL="34274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8pPr>
            <a:lvl9pPr marL="38846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9pPr>
          </a:lstStyle>
          <a:p>
            <a:pPr algn="ctr" eaLnBrk="1" hangingPunct="1">
              <a:spcBef>
                <a:spcPts val="1000"/>
              </a:spcBef>
              <a:spcAft>
                <a:spcPct val="0"/>
              </a:spcAft>
              <a:buClrTx/>
              <a:buSzTx/>
              <a:buFont typeface="Arial" panose="020B0604020202020204" pitchFamily="34" charset="0"/>
              <a:buNone/>
            </a:pPr>
            <a:r>
              <a:rPr lang="ja-JP" altLang="en-US" sz="5400" b="1" dirty="0" smtClean="0"/>
              <a:t>チェックシートで自己評価</a:t>
            </a:r>
          </a:p>
        </p:txBody>
      </p:sp>
      <p:sp>
        <p:nvSpPr>
          <p:cNvPr id="8" name="コンテンツ プレースホルダー 2"/>
          <p:cNvSpPr txBox="1">
            <a:spLocks/>
          </p:cNvSpPr>
          <p:nvPr/>
        </p:nvSpPr>
        <p:spPr bwMode="auto">
          <a:xfrm>
            <a:off x="502302" y="1173709"/>
            <a:ext cx="10915289" cy="95992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defTabSz="912813">
              <a:lnSpc>
                <a:spcPct val="90000"/>
              </a:lnSpc>
              <a:spcBef>
                <a:spcPts val="1200"/>
              </a:spcBef>
              <a:spcAft>
                <a:spcPts val="200"/>
              </a:spcAft>
              <a:buClr>
                <a:schemeClr val="accent2"/>
              </a:buClr>
              <a:buSzPct val="100000"/>
              <a:buFont typeface="Tw Cen MT" panose="020B0602020104020603" pitchFamily="34" charset="0"/>
              <a:buChar char=" "/>
              <a:defRPr kumimoji="1" sz="2000">
                <a:solidFill>
                  <a:schemeClr val="tx1"/>
                </a:solidFill>
                <a:latin typeface="Tw Cen MT" panose="020B0602020104020603" pitchFamily="34" charset="0"/>
              </a:defRPr>
            </a:lvl1pPr>
            <a:lvl2pPr marL="684213" indent="-227013" defTabSz="912813">
              <a:lnSpc>
                <a:spcPct val="90000"/>
              </a:lnSpc>
              <a:spcBef>
                <a:spcPts val="200"/>
              </a:spcBef>
              <a:spcAft>
                <a:spcPts val="400"/>
              </a:spcAft>
              <a:buClr>
                <a:schemeClr val="accent2"/>
              </a:buClr>
              <a:buFont typeface="Wingdings 3" panose="05040102010807070707" pitchFamily="18" charset="2"/>
              <a:buChar char=""/>
              <a:defRPr kumimoji="1" sz="1600">
                <a:solidFill>
                  <a:schemeClr val="tx1"/>
                </a:solidFill>
                <a:latin typeface="Tw Cen MT" panose="020B0602020104020603" pitchFamily="34" charset="0"/>
              </a:defRPr>
            </a:lvl2pPr>
            <a:lvl3pPr marL="11414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3pPr>
            <a:lvl4pPr marL="15986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4pPr>
            <a:lvl5pPr marL="20558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5pPr>
            <a:lvl6pPr marL="25130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6pPr>
            <a:lvl7pPr marL="29702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7pPr>
            <a:lvl8pPr marL="34274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8pPr>
            <a:lvl9pPr marL="38846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9pPr>
          </a:lstStyle>
          <a:p>
            <a:pPr eaLnBrk="1" hangingPunct="1">
              <a:spcBef>
                <a:spcPts val="1000"/>
              </a:spcBef>
              <a:spcAft>
                <a:spcPct val="0"/>
              </a:spcAft>
              <a:buClrTx/>
              <a:buSzTx/>
              <a:buFont typeface="Arial" panose="020B0604020202020204" pitchFamily="34" charset="0"/>
              <a:buNone/>
            </a:pPr>
            <a:r>
              <a:rPr lang="ja-JP" altLang="en-US" sz="4800" b="1" dirty="0" smtClean="0"/>
              <a:t>項目ごとに</a:t>
            </a:r>
            <a:r>
              <a:rPr lang="ja-JP" altLang="en-US" sz="4800" b="1" dirty="0" smtClean="0">
                <a:solidFill>
                  <a:srgbClr val="FF0000"/>
                </a:solidFill>
              </a:rPr>
              <a:t>「できた」をチェック</a:t>
            </a:r>
          </a:p>
        </p:txBody>
      </p:sp>
      <p:sp>
        <p:nvSpPr>
          <p:cNvPr id="9" name="コンテンツ プレースホルダー 2"/>
          <p:cNvSpPr txBox="1">
            <a:spLocks/>
          </p:cNvSpPr>
          <p:nvPr/>
        </p:nvSpPr>
        <p:spPr bwMode="auto">
          <a:xfrm>
            <a:off x="502302" y="2587340"/>
            <a:ext cx="11187396" cy="84013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defTabSz="912813">
              <a:lnSpc>
                <a:spcPct val="90000"/>
              </a:lnSpc>
              <a:spcBef>
                <a:spcPts val="1200"/>
              </a:spcBef>
              <a:spcAft>
                <a:spcPts val="200"/>
              </a:spcAft>
              <a:buClr>
                <a:schemeClr val="accent2"/>
              </a:buClr>
              <a:buSzPct val="100000"/>
              <a:buFont typeface="Tw Cen MT" panose="020B0602020104020603" pitchFamily="34" charset="0"/>
              <a:buChar char=" "/>
              <a:defRPr kumimoji="1" sz="2000">
                <a:solidFill>
                  <a:schemeClr val="tx1"/>
                </a:solidFill>
                <a:latin typeface="Tw Cen MT" panose="020B0602020104020603" pitchFamily="34" charset="0"/>
              </a:defRPr>
            </a:lvl1pPr>
            <a:lvl2pPr marL="684213" indent="-227013" defTabSz="912813">
              <a:lnSpc>
                <a:spcPct val="90000"/>
              </a:lnSpc>
              <a:spcBef>
                <a:spcPts val="200"/>
              </a:spcBef>
              <a:spcAft>
                <a:spcPts val="400"/>
              </a:spcAft>
              <a:buClr>
                <a:schemeClr val="accent2"/>
              </a:buClr>
              <a:buFont typeface="Wingdings 3" panose="05040102010807070707" pitchFamily="18" charset="2"/>
              <a:buChar char=""/>
              <a:defRPr kumimoji="1" sz="1600">
                <a:solidFill>
                  <a:schemeClr val="tx1"/>
                </a:solidFill>
                <a:latin typeface="Tw Cen MT" panose="020B0602020104020603" pitchFamily="34" charset="0"/>
              </a:defRPr>
            </a:lvl2pPr>
            <a:lvl3pPr marL="11414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3pPr>
            <a:lvl4pPr marL="15986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4pPr>
            <a:lvl5pPr marL="2055813" indent="-227013" defTabSz="912813">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5pPr>
            <a:lvl6pPr marL="25130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6pPr>
            <a:lvl7pPr marL="29702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7pPr>
            <a:lvl8pPr marL="34274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8pPr>
            <a:lvl9pPr marL="3884613" indent="-227013" defTabSz="912813" eaLnBrk="0" fontAlgn="base" hangingPunct="0">
              <a:lnSpc>
                <a:spcPct val="90000"/>
              </a:lnSpc>
              <a:spcBef>
                <a:spcPts val="200"/>
              </a:spcBef>
              <a:spcAft>
                <a:spcPts val="400"/>
              </a:spcAft>
              <a:buClr>
                <a:schemeClr val="accent2"/>
              </a:buClr>
              <a:buFont typeface="Wingdings 3" panose="05040102010807070707" pitchFamily="18" charset="2"/>
              <a:buChar char=""/>
              <a:defRPr kumimoji="1" sz="1200">
                <a:solidFill>
                  <a:schemeClr val="tx1"/>
                </a:solidFill>
                <a:latin typeface="Tw Cen MT" panose="020B0602020104020603" pitchFamily="34" charset="0"/>
              </a:defRPr>
            </a:lvl9pPr>
          </a:lstStyle>
          <a:p>
            <a:pPr eaLnBrk="1" hangingPunct="1">
              <a:spcBef>
                <a:spcPts val="1000"/>
              </a:spcBef>
              <a:spcAft>
                <a:spcPct val="0"/>
              </a:spcAft>
              <a:buClrTx/>
              <a:buSzTx/>
              <a:buFont typeface="Arial" panose="020B0604020202020204" pitchFamily="34" charset="0"/>
              <a:buNone/>
            </a:pPr>
            <a:r>
              <a:rPr lang="ja-JP" altLang="en-US" sz="4800" b="1" dirty="0" smtClean="0"/>
              <a:t>問題解決の過程を</a:t>
            </a:r>
            <a:r>
              <a:rPr lang="ja-JP" altLang="en-US" sz="4800" b="1" dirty="0" smtClean="0">
                <a:solidFill>
                  <a:srgbClr val="FF0000"/>
                </a:solidFill>
              </a:rPr>
              <a:t>「見える化」</a:t>
            </a:r>
          </a:p>
        </p:txBody>
      </p:sp>
      <p:sp>
        <p:nvSpPr>
          <p:cNvPr id="2" name="下矢印 1"/>
          <p:cNvSpPr/>
          <p:nvPr/>
        </p:nvSpPr>
        <p:spPr>
          <a:xfrm rot="10800000">
            <a:off x="5093312" y="3513804"/>
            <a:ext cx="1826102" cy="16450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9950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正方形/長方形 14"/>
          <p:cNvSpPr/>
          <p:nvPr/>
        </p:nvSpPr>
        <p:spPr>
          <a:xfrm>
            <a:off x="2" y="2457857"/>
            <a:ext cx="12192000" cy="18411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5400" b="1" i="1" dirty="0">
                <a:solidFill>
                  <a:schemeClr val="tx1"/>
                </a:solidFill>
                <a:latin typeface="游ゴシック" panose="020B0400000000000000" pitchFamily="50" charset="-128"/>
                <a:ea typeface="游ゴシック" panose="020B0400000000000000" pitchFamily="50" charset="-128"/>
              </a:rPr>
              <a:t>３　</a:t>
            </a:r>
            <a:r>
              <a:rPr lang="ja-JP" altLang="en-US" sz="5400" b="1" i="1" dirty="0">
                <a:solidFill>
                  <a:schemeClr val="tx1"/>
                </a:solidFill>
                <a:latin typeface="游ゴシック" panose="020B0400000000000000" pitchFamily="50" charset="-128"/>
                <a:ea typeface="游ゴシック" panose="020B0400000000000000" pitchFamily="50" charset="-128"/>
              </a:rPr>
              <a:t>今後に向けて</a:t>
            </a:r>
          </a:p>
        </p:txBody>
      </p:sp>
    </p:spTree>
    <p:extLst>
      <p:ext uri="{BB962C8B-B14F-4D97-AF65-F5344CB8AC3E}">
        <p14:creationId xmlns:p14="http://schemas.microsoft.com/office/powerpoint/2010/main" val="4197223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今後に向けて</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859187"/>
            <a:ext cx="11576720" cy="1089529"/>
          </a:xfrm>
          <a:prstGeom prst="rect">
            <a:avLst/>
          </a:prstGeom>
          <a:solidFill>
            <a:schemeClr val="bg1"/>
          </a:solidFill>
          <a:ln>
            <a:solidFill>
              <a:schemeClr val="tx1"/>
            </a:solidFill>
          </a:ln>
        </p:spPr>
        <p:txBody>
          <a:bodyPr wrap="square">
            <a:spAutoFit/>
          </a:bodyPr>
          <a:lstStyle/>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振り返りを「育てるべき力」として位置付ける</a:t>
            </a:r>
          </a:p>
          <a:p>
            <a:pPr>
              <a:lnSpc>
                <a:spcPct val="120000"/>
              </a:lnSpc>
            </a:pPr>
            <a:endParaRPr lang="ja-JP"/>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①　</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振り返りの「視点」</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を事前に示す</a:t>
            </a:r>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②　</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書く</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ことで思考を外化させる</a:t>
            </a:r>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③　</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教師が「見取る」</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視点をもつ</a:t>
            </a:r>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④　振り返りを</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「共有」</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する場を設ける</a:t>
            </a:r>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⑤　振り返りを</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「累積・活用」</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する</a:t>
            </a:r>
          </a:p>
        </p:txBody>
      </p:sp>
    </p:spTree>
    <p:extLst>
      <p:ext uri="{BB962C8B-B14F-4D97-AF65-F5344CB8AC3E}">
        <p14:creationId xmlns:p14="http://schemas.microsoft.com/office/powerpoint/2010/main" val="20917322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「よい振り返り」とは</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859187"/>
            <a:ext cx="11576720" cy="1089529"/>
          </a:xfrm>
          <a:prstGeom prst="rect">
            <a:avLst/>
          </a:prstGeom>
          <a:solidFill>
            <a:schemeClr val="bg1"/>
          </a:solidFill>
          <a:ln>
            <a:solidFill>
              <a:schemeClr val="tx1"/>
            </a:solidFill>
          </a:ln>
        </p:spPr>
        <p:txBody>
          <a:bodyPr wrap="square">
            <a:spAutoFit/>
          </a:bodyPr>
          <a:lstStyle/>
          <a:p>
            <a:pPr>
              <a:lnSpc>
                <a:spcPct val="120000"/>
              </a:lnSpc>
            </a:pPr>
            <a:r>
              <a:rPr lang="ja-JP" altLang="en-US" sz="5400" b="1" dirty="0">
                <a:latin typeface="メイリオ" panose="020B0604030504040204" pitchFamily="50" charset="-128"/>
                <a:ea typeface="メイリオ" panose="020B0604030504040204" pitchFamily="50" charset="-128"/>
                <a:cs typeface="メイリオ" panose="020B0604030504040204" pitchFamily="50" charset="-128"/>
              </a:rPr>
              <a:t>「よい振り返り」の３つの軸</a:t>
            </a:r>
          </a:p>
        </p:txBody>
      </p:sp>
      <p:sp>
        <p:nvSpPr>
          <p:cNvPr id="10" name="正方形/長方形 9"/>
          <p:cNvSpPr/>
          <p:nvPr/>
        </p:nvSpPr>
        <p:spPr>
          <a:xfrm>
            <a:off x="226074" y="2087903"/>
            <a:ext cx="11576720" cy="4524315"/>
          </a:xfrm>
          <a:prstGeom prst="rect">
            <a:avLst/>
          </a:prstGeom>
          <a:solidFill>
            <a:schemeClr val="bg1"/>
          </a:solidFill>
          <a:ln>
            <a:solidFill>
              <a:schemeClr val="tx1"/>
            </a:solidFill>
          </a:ln>
        </p:spPr>
        <p:txBody>
          <a:bodyPr wrap="square">
            <a:spAutoFit/>
          </a:bodyPr>
          <a:lstStyle/>
          <a:p>
            <a:pPr>
              <a:lnSpc>
                <a:spcPct val="120000"/>
              </a:lnSpc>
            </a:pP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rPr>
              <a:t>①　何が</a:t>
            </a: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わかったか</a:t>
            </a: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rPr>
              <a:t>（理解）</a:t>
            </a:r>
          </a:p>
          <a:p>
            <a:pPr>
              <a:lnSpc>
                <a:spcPct val="120000"/>
              </a:lnSpc>
            </a:pPr>
            <a:endParaRPr lang="ja-JP"/>
          </a:p>
          <a:p>
            <a:pPr>
              <a:lnSpc>
                <a:spcPct val="120000"/>
              </a:lnSpc>
            </a:pP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rPr>
              <a:t>②　</a:t>
            </a: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なぜそう考えたか</a:t>
            </a: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rPr>
              <a:t>（根拠）</a:t>
            </a:r>
          </a:p>
          <a:p>
            <a:pPr>
              <a:lnSpc>
                <a:spcPct val="120000"/>
              </a:lnSpc>
            </a:pPr>
            <a:endParaRPr lang="ja-JP"/>
          </a:p>
          <a:p>
            <a:pPr>
              <a:lnSpc>
                <a:spcPct val="120000"/>
              </a:lnSpc>
            </a:pP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rPr>
              <a:t>③　</a:t>
            </a: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次に何をしたいか</a:t>
            </a: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rPr>
              <a:t>（見通し）</a:t>
            </a:r>
          </a:p>
          <a:p>
            <a:pPr>
              <a:lnSpc>
                <a:spcPct val="120000"/>
              </a:lnSpc>
            </a:pPr>
            <a:endParaRPr lang="ja-JP"/>
          </a:p>
          <a:p>
            <a:pPr>
              <a:lnSpc>
                <a:spcPct val="120000"/>
              </a:lnSpc>
            </a:pPr>
            <a:r>
              <a:rPr lang="ja-JP" altLang="en-US" sz="4800" b="1" dirty="0" smtClean="0">
                <a:latin typeface="メイリオ" panose="020B0604030504040204" pitchFamily="50" charset="-128"/>
                <a:ea typeface="メイリオ" panose="020B0604030504040204" pitchFamily="50" charset="-128"/>
                <a:cs typeface="メイリオ" panose="020B0604030504040204" pitchFamily="50" charset="-128"/>
              </a:rPr>
              <a:t>→ 単元・教科を超え、全校で取り組みたい視点</a:t>
            </a:r>
          </a:p>
        </p:txBody>
      </p:sp>
    </p:spTree>
    <p:extLst>
      <p:ext uri="{BB962C8B-B14F-4D97-AF65-F5344CB8AC3E}">
        <p14:creationId xmlns:p14="http://schemas.microsoft.com/office/powerpoint/2010/main" val="36502022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3600" b="1" dirty="0" smtClean="0">
                <a:solidFill>
                  <a:schemeClr val="tx1"/>
                </a:solidFill>
              </a:rPr>
              <a:t>■</a:t>
            </a:r>
            <a:r>
              <a:rPr lang="ja-JP" altLang="en-US" sz="3600" b="1" dirty="0" smtClean="0">
                <a:solidFill>
                  <a:schemeClr val="tx1"/>
                </a:solidFill>
              </a:rPr>
              <a:t>まとめ</a:t>
            </a:r>
          </a:p>
        </p:txBody>
      </p:sp>
      <p:sp>
        <p:nvSpPr>
          <p:cNvPr id="8" name="正方形/長方形 7"/>
          <p:cNvSpPr/>
          <p:nvPr/>
        </p:nvSpPr>
        <p:spPr>
          <a:xfrm>
            <a:off x="226074" y="763875"/>
            <a:ext cx="9086738" cy="584775"/>
          </a:xfrm>
          <a:prstGeom prst="rect">
            <a:avLst/>
          </a:prstGeom>
        </p:spPr>
        <p:txBody>
          <a:bodyPr wrap="square">
            <a:spAutoFit/>
          </a:bodyPr>
          <a:lstStyle/>
          <a:p>
            <a:endParaRPr lang="en-US" altLang="ja-JP" sz="3200" b="1" dirty="0"/>
          </a:p>
        </p:txBody>
      </p:sp>
      <p:sp>
        <p:nvSpPr>
          <p:cNvPr id="9" name="正方形/長方形 8"/>
          <p:cNvSpPr/>
          <p:nvPr/>
        </p:nvSpPr>
        <p:spPr>
          <a:xfrm>
            <a:off x="226074" y="859187"/>
            <a:ext cx="11576720" cy="1089529"/>
          </a:xfrm>
          <a:prstGeom prst="rect">
            <a:avLst/>
          </a:prstGeom>
          <a:solidFill>
            <a:schemeClr val="bg1"/>
          </a:solidFill>
          <a:ln>
            <a:noFill/>
          </a:ln>
        </p:spPr>
        <p:txBody>
          <a:bodyPr wrap="square">
            <a:spAutoFit/>
          </a:bodyPr>
          <a:lstStyle/>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振り返りは</a:t>
            </a:r>
          </a:p>
          <a:p>
            <a:pPr>
              <a:lnSpc>
                <a:spcPct val="120000"/>
              </a:lnSpc>
            </a:pPr>
            <a:endParaRPr lang="ja-JP"/>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「させる」もの　→　</a:t>
            </a: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solidFill>
                  <a:srgbClr val="FF0000"/>
                </a:solidFill>
              </a:rPr>
              <a:t>「育てる」もの</a:t>
            </a:r>
          </a:p>
          <a:p>
            <a:pPr>
              <a:lnSpc>
                <a:spcPct val="120000"/>
              </a:lnSpc>
            </a:pPr>
            <a:endParaRPr lang="ja-JP"/>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生徒が自分の学びを調整し</a:t>
            </a:r>
          </a:p>
          <a:p>
            <a:pPr>
              <a:lnSpc>
                <a:spcPct val="120000"/>
              </a:lnSpc>
            </a:pPr>
            <a:endParaRPr lang="ja-JP"/>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「できた」を実感し、</a:t>
            </a:r>
          </a:p>
          <a:p>
            <a:pPr>
              <a:lnSpc>
                <a:spcPct val="120000"/>
              </a:lnSpc>
            </a:pPr>
            <a:endParaRPr lang="ja-JP"/>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次の学びへ向かう力を育てる</a:t>
            </a:r>
          </a:p>
          <a:p>
            <a:pPr>
              <a:lnSpc>
                <a:spcPct val="120000"/>
              </a:lnSpc>
            </a:pPr>
            <a:endParaRPr lang="ja-JP"/>
          </a:p>
          <a:p>
            <a:pPr>
              <a:lnSpc>
                <a:spcPct val="120000"/>
              </a:lnSpc>
            </a:pPr>
            <a:r>
              <a:rPr lang="ja-JP" altLang="en-US" sz="5400" b="1" dirty="0" smtClean="0">
                <a:latin typeface="メイリオ" panose="020B0604030504040204" pitchFamily="50" charset="-128"/>
                <a:ea typeface="メイリオ" panose="020B0604030504040204" pitchFamily="50" charset="-128"/>
                <a:cs typeface="メイリオ" panose="020B0604030504040204" pitchFamily="50" charset="-128"/>
              </a:rPr>
              <a:t>本日はありがとうございました。</a:t>
            </a:r>
          </a:p>
        </p:txBody>
      </p:sp>
    </p:spTree>
    <p:extLst>
      <p:ext uri="{BB962C8B-B14F-4D97-AF65-F5344CB8AC3E}">
        <p14:creationId xmlns:p14="http://schemas.microsoft.com/office/powerpoint/2010/main" val="252759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5669</TotalTime>
  <Words>2337</Words>
  <Application>Microsoft Office PowerPoint</Application>
  <PresentationFormat>ワイド画面</PresentationFormat>
  <Paragraphs>248</Paragraphs>
  <Slides>35</Slides>
  <Notes>6</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35</vt:i4>
      </vt:variant>
    </vt:vector>
  </HeadingPairs>
  <TitlesOfParts>
    <vt:vector size="43" baseType="lpstr">
      <vt:lpstr>ＭＳ ゴシック</vt:lpstr>
      <vt:lpstr>メイリオ</vt:lpstr>
      <vt:lpstr>游ゴシック</vt:lpstr>
      <vt:lpstr>游ゴシック Light</vt:lpstr>
      <vt:lpstr>Arial</vt:lpstr>
      <vt:lpstr>Arial Black</vt:lpstr>
      <vt:lpstr>Tw Cen MT</vt:lpstr>
      <vt:lpstr>Office テーマ</vt:lpstr>
      <vt:lpstr>令和５年度　練馬区立貫井中学校　校内研修   　 　 　 根拠をもとに自らの考えを伝えあえる生徒の育成  ～自分の考えを自分の言葉で適切に表現できる生徒の育成～</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令和５年度　練馬区立貫井中学校　校内研修   　 　 　 根拠をもとに自らの考えを伝えあえる生徒の育成  ～自分の考えを自分の言葉で適切に表現できる生徒の育成～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令和２年度　練馬区立中村中学校　校内研修 新学習指導要領の全面実施を 踏まえた学習評価のあり方について</dc:title>
  <dc:creator>市川　朋基</dc:creator>
  <cp:lastModifiedBy>高橋　隆介</cp:lastModifiedBy>
  <cp:revision>254</cp:revision>
  <cp:lastPrinted>2023-06-22T10:21:10Z</cp:lastPrinted>
  <dcterms:created xsi:type="dcterms:W3CDTF">2021-02-01T23:13:54Z</dcterms:created>
  <dcterms:modified xsi:type="dcterms:W3CDTF">2023-06-26T05:09:36Z</dcterms:modified>
</cp:coreProperties>
</file>