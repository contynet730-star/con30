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10" r:id="rId1"/>
  </p:sldMasterIdLst>
  <p:notesMasterIdLst>
    <p:notesMasterId r:id="rId44"/>
  </p:notesMasterIdLst>
  <p:handoutMasterIdLst>
    <p:handoutMasterId r:id="rId45"/>
  </p:handoutMasterIdLst>
  <p:sldIdLst>
    <p:sldId id="256" r:id="rId2"/>
    <p:sldId id="654" r:id="rId3"/>
    <p:sldId id="258" r:id="rId4"/>
    <p:sldId id="727" r:id="rId6"/>
    <p:sldId id="261" r:id="rId7"/>
    <p:sldId id="728" r:id="rId8"/>
    <p:sldId id="263" r:id="rId9"/>
    <p:sldId id="264" r:id="rId10"/>
    <p:sldId id="266" r:id="rId24"/>
    <p:sldId id="267" r:id="rId25"/>
    <p:sldId id="268" r:id="rId26"/>
    <p:sldId id="269" r:id="rId27"/>
    <p:sldId id="271" r:id="rId29"/>
    <p:sldId id="729" r:id="rId30"/>
    <p:sldId id="389" r:id="rId11"/>
    <p:sldId id="391" r:id="rId14"/>
    <p:sldId id="390" r:id="rId16"/>
    <p:sldId id="275" r:id="rId22"/>
    <p:sldId id="276" r:id="rId31"/>
    <p:sldId id="278" r:id="rId32"/>
  </p:sldIdLst>
  <p:sldSz cx="12192000" cy="6858000"/>
  <p:notesSz cx="6737350" cy="986948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CCCC"/>
    <a:srgbClr val="FF3399"/>
    <a:srgbClr val="FFFFFF"/>
    <a:srgbClr val="FFCCFF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6" autoAdjust="0"/>
    <p:restoredTop sz="94434" autoAdjust="0"/>
  </p:normalViewPr>
  <p:slideViewPr>
    <p:cSldViewPr snapToGrid="0">
      <p:cViewPr varScale="1">
        <p:scale>
          <a:sx n="104" d="100"/>
          <a:sy n="104" d="100"/>
        </p:scale>
        <p:origin x="90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401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15.xml"/><Relationship Id="rId14" Type="http://schemas.openxmlformats.org/officeDocument/2006/relationships/slide" Target="slides/slide16.xml"/><Relationship Id="rId16" Type="http://schemas.openxmlformats.org/officeDocument/2006/relationships/slide" Target="slides/slide17.xml"/><Relationship Id="rId22" Type="http://schemas.openxmlformats.org/officeDocument/2006/relationships/slide" Target="slides/slide1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44" Type="http://schemas.openxmlformats.org/officeDocument/2006/relationships/notesMaster" Target="notesMasters/notesMaster1.xml"/><Relationship Id="rId45" Type="http://schemas.openxmlformats.org/officeDocument/2006/relationships/handoutMaster" Target="handoutMasters/handout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19518" cy="495188"/>
          </a:xfrm>
          <a:prstGeom prst="rect">
            <a:avLst/>
          </a:prstGeom>
        </p:spPr>
        <p:txBody>
          <a:bodyPr vert="horz" lIns="90791" tIns="45395" rIns="90791" bIns="4539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6276" y="2"/>
            <a:ext cx="2919518" cy="495188"/>
          </a:xfrm>
          <a:prstGeom prst="rect">
            <a:avLst/>
          </a:prstGeom>
        </p:spPr>
        <p:txBody>
          <a:bodyPr vert="horz" lIns="90791" tIns="45395" rIns="90791" bIns="45395" rtlCol="0"/>
          <a:lstStyle>
            <a:lvl1pPr algn="r">
              <a:defRPr sz="1200"/>
            </a:lvl1pPr>
          </a:lstStyle>
          <a:p>
            <a:fld id="{AF3FB773-D66D-4B79-AD8B-440E68C29EC0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3" y="9374302"/>
            <a:ext cx="2919518" cy="495188"/>
          </a:xfrm>
          <a:prstGeom prst="rect">
            <a:avLst/>
          </a:prstGeom>
        </p:spPr>
        <p:txBody>
          <a:bodyPr vert="horz" lIns="90791" tIns="45395" rIns="90791" bIns="4539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6276" y="9374302"/>
            <a:ext cx="2919518" cy="495188"/>
          </a:xfrm>
          <a:prstGeom prst="rect">
            <a:avLst/>
          </a:prstGeom>
        </p:spPr>
        <p:txBody>
          <a:bodyPr vert="horz" lIns="90791" tIns="45395" rIns="90791" bIns="45395" rtlCol="0" anchor="b"/>
          <a:lstStyle>
            <a:lvl1pPr algn="r">
              <a:defRPr sz="1200"/>
            </a:lvl1pPr>
          </a:lstStyle>
          <a:p>
            <a:fld id="{AC238569-687F-4820-8DDA-041F54A745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9670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19518" cy="495188"/>
          </a:xfrm>
          <a:prstGeom prst="rect">
            <a:avLst/>
          </a:prstGeom>
        </p:spPr>
        <p:txBody>
          <a:bodyPr vert="horz" lIns="90791" tIns="45395" rIns="90791" bIns="4539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6276" y="2"/>
            <a:ext cx="2919518" cy="495188"/>
          </a:xfrm>
          <a:prstGeom prst="rect">
            <a:avLst/>
          </a:prstGeom>
        </p:spPr>
        <p:txBody>
          <a:bodyPr vert="horz" lIns="90791" tIns="45395" rIns="90791" bIns="45395" rtlCol="0"/>
          <a:lstStyle>
            <a:lvl1pPr algn="r">
              <a:defRPr sz="1200"/>
            </a:lvl1pPr>
          </a:lstStyle>
          <a:p>
            <a:fld id="{234B1172-E32A-4CB9-8C99-C8095151B9AF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11163" y="1235075"/>
            <a:ext cx="5915025" cy="3327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91" tIns="45395" rIns="90791" bIns="4539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736" y="4749691"/>
            <a:ext cx="5389880" cy="3886112"/>
          </a:xfrm>
          <a:prstGeom prst="rect">
            <a:avLst/>
          </a:prstGeom>
        </p:spPr>
        <p:txBody>
          <a:bodyPr vert="horz" lIns="90791" tIns="45395" rIns="90791" bIns="4539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3" y="9374302"/>
            <a:ext cx="2919518" cy="495188"/>
          </a:xfrm>
          <a:prstGeom prst="rect">
            <a:avLst/>
          </a:prstGeom>
        </p:spPr>
        <p:txBody>
          <a:bodyPr vert="horz" lIns="90791" tIns="45395" rIns="90791" bIns="4539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6276" y="9374302"/>
            <a:ext cx="2919518" cy="495188"/>
          </a:xfrm>
          <a:prstGeom prst="rect">
            <a:avLst/>
          </a:prstGeom>
        </p:spPr>
        <p:txBody>
          <a:bodyPr vert="horz" lIns="90791" tIns="45395" rIns="90791" bIns="45395" rtlCol="0" anchor="b"/>
          <a:lstStyle>
            <a:lvl1pPr algn="r">
              <a:defRPr sz="1200"/>
            </a:lvl1pPr>
          </a:lstStyle>
          <a:p>
            <a:fld id="{4561AA02-6E3A-44A8-A9A2-E15F74DB02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6571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〇改めまして、先生方、こんにちは。</a:t>
            </a:r>
            <a:endParaRPr kumimoji="1" lang="en-US" altLang="ja-JP" dirty="0"/>
          </a:p>
          <a:p>
            <a:r>
              <a:rPr kumimoji="1" lang="ja-JP" altLang="en-US" dirty="0"/>
              <a:t>〇練馬区教育委員会　指導主事の　紺多　章一郎です。本日は、よろしくお願いします。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〇まずは、本当に久々に、こういった形でみんなで授業を参観し、みんなで協議を行い、体育について大いに学べる機会を与えていただきこと、</a:t>
            </a:r>
            <a:endParaRPr kumimoji="1" lang="en-US" altLang="ja-JP" dirty="0"/>
          </a:p>
          <a:p>
            <a:r>
              <a:rPr kumimoji="1" lang="ja-JP" altLang="en-US" dirty="0"/>
              <a:t>　会場校の原田校長先生をはじめ、南田中小学校の先生方、関係の皆様方に心より感謝いたします。ありがとうございました。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〇練馬区小学校教育会体育研究部の研究授業は、どの部会も、研究主題をもとに、研究を深めており、本日の授業を大変楽しみにしていました。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〇今日は、石神井地区の熱い大きな思いを背負って、小久保先生が授業をしてくださいました。お疲れさまでした。</a:t>
            </a:r>
            <a:endParaRPr kumimoji="1" lang="en-US" altLang="ja-JP" dirty="0"/>
          </a:p>
          <a:p>
            <a:r>
              <a:rPr kumimoji="1" lang="ja-JP" altLang="en-US" dirty="0"/>
              <a:t>〇その授業がどうであったかの答えはどこにあるのか、それは、先ほど皆さんと一緒に参観した子供たちの姿にあります。</a:t>
            </a:r>
            <a:endParaRPr kumimoji="1" lang="en-US" altLang="ja-JP" dirty="0"/>
          </a:p>
          <a:p>
            <a:r>
              <a:rPr kumimoji="1" lang="ja-JP" altLang="en-US" dirty="0"/>
              <a:t>〇限られた時間ではありますが、子供の姿を中心において、今日の授業について一緒に考えていきましょう。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1AA02-6E3A-44A8-A9A2-E15F74DB028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1393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833688" y="828675"/>
            <a:ext cx="3984625" cy="22415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>
          <a:xfrm>
            <a:off x="965114" y="3194057"/>
            <a:ext cx="7720901" cy="2613319"/>
          </a:xfrm>
        </p:spPr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35579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12FE2-32A2-47A7-21B5-3DDF88DE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376CB6-4F3B-DD28-1774-0D0568F65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77825" y="1214438"/>
            <a:ext cx="5834063" cy="32829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536AE3F-5EDC-E6EE-407B-A946144F1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830" y="4678948"/>
            <a:ext cx="5270629" cy="3828229"/>
          </a:xfrm>
        </p:spPr>
        <p:txBody>
          <a:bodyPr/>
          <a:lstStyle/>
          <a:p>
            <a:r>
              <a:rPr lang="ja-JP" altLang="en-US" b="1" dirty="0">
                <a:solidFill>
                  <a:schemeClr val="tx1"/>
                </a:solidFill>
                <a:latin typeface="+mn-lt"/>
              </a:rPr>
              <a:t>次に、令和３年度の練馬区の小学校５年生における新体力テストの体力合計点結果をお示しします。</a:t>
            </a:r>
            <a:endParaRPr lang="en-US" altLang="ja-JP" b="1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b="1" dirty="0">
                <a:solidFill>
                  <a:schemeClr val="tx1"/>
                </a:solidFill>
                <a:latin typeface="+mn-lt"/>
              </a:rPr>
              <a:t>●</a:t>
            </a: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男女ともに体力合計点が低下傾向にあります。また、これは全学年で共通しています。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●つまり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●全体的な体力の低下、それも令和元年度から令和３年度にかけては大きく低下していることが分かります。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これは、生活習慣の調査から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●運動時間の減少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●スマホやゲームなどを行うスクリーンタイムの増加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●肥満である児童の増加に加え、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●コロナ禍の影響を受けていると考えられます。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4153378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9D7E7-F6E4-B6DC-3C1D-036AB2F5F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2576876-543E-94AA-5EC2-1F6EF52EF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C40B0E0-08FF-12B3-7978-CDD9243DB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6CE37F6-B839-ED28-3444-D9A29B506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BAE84-8BA7-4218-AA91-1A9C6AE6D8C5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52CA967-C2D7-4B6D-3E1D-36E7FF84BFA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kumimoji="1" lang="en-US" altLang="ja-JP"/>
              <a:t>2025/9/24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3043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1F510-36C9-C050-DBC8-B96A4AA6E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A0AF24B-DFA5-51D3-2AE4-B8BC30C0C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59F8CB2-0A76-0726-953D-C9E1A94D5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5F0B27-78F4-94F3-7530-E6B345F9A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BAE84-8BA7-4218-AA91-1A9C6AE6D8C5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7B81D2-B39C-D8AB-D170-51060CEFE34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kumimoji="1" lang="en-US" altLang="ja-JP"/>
              <a:t>2025/9/24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6104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B6708-800B-97E7-D2FD-F9E334F63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F8DFFD2-F97B-BD78-4CE4-3968027A8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825E8F-F5AE-70F3-02A1-4C034F0EA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EE5010-48C7-BC9D-9245-963237F79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BAE84-8BA7-4218-AA91-1A9C6AE6D8C5}" type="slidenum">
              <a:rPr kumimoji="1" lang="ja-JP" altLang="en-US" smtClean="0"/>
              <a:t>15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EF37EE-14BA-3990-7866-B51C16FC825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kumimoji="1" lang="en-US" altLang="ja-JP"/>
              <a:t>2025/9/24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81318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1AA02-6E3A-44A8-A9A2-E15F74DB0280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795784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9A341F-D344-BC80-D54B-6CE54490B5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9D924FA-14CE-5278-5A70-37563337E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1AD1F2-1F64-D5A1-DB8D-65D74C0A2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C3F1C3-61C1-2273-0F4B-BBF8C1AEB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5D292A-331B-F12C-5A12-DABCC3F0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02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9C0F9D-8C64-41BF-ECB0-13D7BD74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B88E73-6880-ADD7-A3F0-235FC98C1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E76F59-BEC1-718F-AC2A-FD0C97FC7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806D30-E1DD-CFB9-D615-DE260F60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580667-445F-A951-BE47-922BD346C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60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389698-A886-33B6-D4BE-2D564B612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1BF366D-F628-AAE2-0940-6F65DA90E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2F8EC3-2B88-1BCC-05A4-6AD518F96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D51B0A-FE73-B418-1B09-42E83EE2D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030DF9-C81A-BD74-A6B4-809C05E8A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448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EDC25E-5E68-ADAC-F391-6E559B84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EDA86E-76B7-207A-07DE-7C52E588C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7F0510-AFA0-A4B1-BAF5-97ACAED61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F915B9-31E7-09D3-911A-95E2D6DE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A12FC5-E746-5078-825D-EEE058F0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CBBB36-CC2C-E884-0B6F-17C61E955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322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91FF9C-E941-5DE8-E709-3EAA1AA8C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E644AA-40BA-9B9F-3B28-3B711F153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095A9FF-B0DE-3CC9-82CE-0C4EDB6C6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F99FA1D-13AF-24C7-479E-82B70904F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DB80799-853A-EA04-4466-4C49623AAB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2AC2942-37B8-4F44-FB08-4BED8A1C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46C8C18-A203-D3B2-2F6A-7F89D39F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206E7FD-9F85-FB09-AFEE-073589128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66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E93930-27F7-14E1-43A8-C01E66536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73B948-F9E5-43F0-CB77-116BC4D58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94625E4-2F7C-CC6D-8699-32112053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9B121C9-4C6A-8D01-96EE-C6B79DB0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374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39026D0-961B-632E-F3AD-A5F851BBF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66140A7-2BEF-5BFC-52A7-663E8487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1A5B378-C0BE-6CA1-EFC2-7192824E6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730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0C93F5-6271-F7B2-2ACA-117813D0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CB12F9-EEDF-A262-088F-697EA58C6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62BD37-9EBF-6A88-667B-94FD910DE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F09263-A254-D3AF-646D-42C8E0A64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10FC980-11EC-8565-92A9-60C133E8D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62033B-1E92-B5B0-CE9C-8425E1757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52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D560B4-84B5-7195-AE8A-64D7C997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75328D-1C3D-F4D0-25D0-C73EF3A86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B6AEA4-1294-8E58-1CE3-52EF289EE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E26B53-DEBE-5EDC-F322-FED83C49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6F80C0-4FC6-F01E-73AF-17CE312F2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19CA29-B52C-F117-0C77-AFE7A096F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441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F067DE-D25D-97E1-D36B-7701E79E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1BD10B-B337-DA0C-E8BB-508D1A37E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85FC76-5234-8B89-7217-E669CC05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D76432-E778-F2FA-4067-8EF8EC6DB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611A25-8690-8ACF-3DC9-155844FE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603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FCF35D1-819A-5050-F848-C5AD0E783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2894B05-2B68-1CEF-F63F-B8AB6136B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D827EE-1A9A-49B1-6D6B-9FD8DD574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1A922A-9978-E7C0-E569-DB64B8972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90CA6-9AA1-6B08-5CD4-F5D62A56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2208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55FB520-26B8-592E-8A53-9CDBAA593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3BDDAD-07EE-5684-57EC-00C610C0F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0C8ECC-9316-9674-B3B8-15ABD1160D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E96FB4-B52E-4448-5426-5430EB089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416897-AB46-7CF6-1777-9F3450939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33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259A64C0-BC88-4B95-A121-E1ABFC41B913}"/>
              </a:ext>
            </a:extLst>
          </p:cNvPr>
          <p:cNvSpPr txBox="1">
            <a:spLocks/>
          </p:cNvSpPr>
          <p:nvPr/>
        </p:nvSpPr>
        <p:spPr>
          <a:xfrm>
            <a:off x="542354" y="854000"/>
            <a:ext cx="11107291" cy="737021"/>
          </a:xfrm>
          <a:prstGeom prst="rect">
            <a:avLst/>
          </a:prstGeom>
        </p:spPr>
        <p:txBody>
          <a:bodyPr numCol="1" anchor="ctr">
            <a:prstTxWarp prst="textPlain">
              <a:avLst/>
            </a:prstTxWarp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ja-JP" altLang="en-US" sz="3200" b="1" dirty="0">
                <a:ln>
                  <a:solidFill>
                    <a:srgbClr val="000000"/>
                  </a:solidFill>
                </a:ln>
                <a:latin typeface="メイリオ" panose="020B0604030504040204" pitchFamily="50" charset="-128"/>
                <a:ea typeface="メイリオ" panose="020B0604030504040204" pitchFamily="50" charset="-128"/>
              </a:rPr>
              <a:t>豊玉中学校　校内研究会</a:t>
            </a:r>
            <a:endParaRPr lang="ja-JP" altLang="en-US" sz="3600" b="1" spc="-400" dirty="0">
              <a:ln>
                <a:solidFill>
                  <a:srgbClr val="000000"/>
                </a:solidFill>
              </a:ln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サブタイトル 2">
            <a:extLst>
              <a:ext uri="{FF2B5EF4-FFF2-40B4-BE49-F238E27FC236}">
                <a16:creationId xmlns:a16="http://schemas.microsoft.com/office/drawing/2014/main" id="{E06400FA-BF5A-44D5-AE7F-43D8466E60C1}"/>
              </a:ext>
            </a:extLst>
          </p:cNvPr>
          <p:cNvSpPr txBox="1">
            <a:spLocks/>
          </p:cNvSpPr>
          <p:nvPr/>
        </p:nvSpPr>
        <p:spPr>
          <a:xfrm>
            <a:off x="6095999" y="4850448"/>
            <a:ext cx="5756753" cy="1517850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令和８年５月</a:t>
            </a:r>
            <a:r>
              <a:rPr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日（水）</a:t>
            </a:r>
            <a:endParaRPr lang="en-US" altLang="ja-JP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練馬区教育委員会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指導主事　紺多 章一郎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サブタイトル 2">
            <a:extLst>
              <a:ext uri="{FF2B5EF4-FFF2-40B4-BE49-F238E27FC236}">
                <a16:creationId xmlns:a16="http://schemas.microsoft.com/office/drawing/2014/main" id="{FDDB6AE7-07CE-4977-A59D-AA541EEAE582}"/>
              </a:ext>
            </a:extLst>
          </p:cNvPr>
          <p:cNvSpPr txBox="1">
            <a:spLocks/>
          </p:cNvSpPr>
          <p:nvPr/>
        </p:nvSpPr>
        <p:spPr>
          <a:xfrm>
            <a:off x="6218829" y="4463335"/>
            <a:ext cx="5149870" cy="5601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None/>
              <a:defRPr kumimoji="1"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None/>
              <a:defRPr kumimoji="1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None/>
              <a:defRPr kumimoji="1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None/>
              <a:defRPr kumimoji="1"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None/>
              <a:defRPr kumimoji="1"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None/>
              <a:defRPr kumimoji="1"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None/>
              <a:defRPr kumimoji="1"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en-US" altLang="ja-JP" sz="3200" b="1" dirty="0">
              <a:ln>
                <a:solidFill>
                  <a:srgbClr val="000000"/>
                </a:solidFill>
              </a:ln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E31D4FA2-A8A7-4B72-880C-4F3C789577F1}"/>
              </a:ext>
            </a:extLst>
          </p:cNvPr>
          <p:cNvSpPr txBox="1">
            <a:spLocks/>
          </p:cNvSpPr>
          <p:nvPr/>
        </p:nvSpPr>
        <p:spPr>
          <a:xfrm>
            <a:off x="1524508" y="1922013"/>
            <a:ext cx="9573575" cy="2393059"/>
          </a:xfrm>
          <a:prstGeom prst="rect">
            <a:avLst/>
          </a:prstGeom>
        </p:spPr>
        <p:txBody>
          <a:bodyPr vert="horz" lIns="91440" tIns="45720" rIns="91440" bIns="45720" numCol="1" rtlCol="0" anchor="ctr" anchorCtr="0">
            <a:prstTxWarp prst="textPlain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5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第３学年　数学科</a:t>
            </a:r>
            <a:endParaRPr lang="en-US" altLang="ja-JP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「」</a:t>
            </a:r>
            <a:endParaRPr lang="en-US" altLang="ja-JP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村上　　　主任教諭</a:t>
            </a:r>
            <a:endParaRPr lang="en-US" altLang="ja-JP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54" y="4646064"/>
            <a:ext cx="2305729" cy="188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53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-35917"/>
            <a:ext cx="12192000" cy="8524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3716">
              <a:defRPr/>
            </a:pPr>
            <a:r>
              <a:rPr lang="ja-JP" altLang="en-US" sz="5442" b="1" dirty="0">
                <a:solidFill>
                  <a:prstClr val="white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本日の話の流れ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DBAB6D55-55F0-2EC5-ECAE-67281C3D189E}"/>
              </a:ext>
            </a:extLst>
          </p:cNvPr>
          <p:cNvSpPr txBox="1">
            <a:spLocks/>
          </p:cNvSpPr>
          <p:nvPr/>
        </p:nvSpPr>
        <p:spPr>
          <a:xfrm>
            <a:off x="1470784" y="1477850"/>
            <a:ext cx="9001000" cy="3902299"/>
          </a:xfrm>
          <a:prstGeom prst="rect">
            <a:avLst/>
          </a:prstGeom>
          <a:ln w="76200">
            <a:noFill/>
          </a:ln>
        </p:spPr>
        <p:txBody>
          <a:bodyPr vert="horz" lIns="104306" tIns="52153" rIns="104306" bIns="52153" rtlCol="0">
            <a:noAutofit/>
          </a:bodyPr>
          <a:lstStyle>
            <a:lvl1pPr marL="391155" indent="-391155" algn="l" defTabSz="10430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3200" kern="120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+mn-cs"/>
              </a:defRPr>
            </a:lvl1pPr>
            <a:lvl2pPr marL="847503" indent="-325962" algn="l" defTabSz="104308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2400" kern="120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+mn-cs"/>
              </a:defRPr>
            </a:lvl2pPr>
            <a:lvl3pPr marL="1303850" indent="-260770" algn="l" defTabSz="10430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+mn-cs"/>
              </a:defRPr>
            </a:lvl3pPr>
            <a:lvl4pPr marL="1825390" indent="-260770" algn="l" defTabSz="104308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00" kern="120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+mn-cs"/>
              </a:defRPr>
            </a:lvl4pPr>
            <a:lvl5pPr marL="2346930" indent="-260770" algn="l" defTabSz="104308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800" kern="120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+mn-cs"/>
              </a:defRPr>
            </a:lvl5pPr>
            <a:lvl6pPr marL="2868470" indent="-260770" algn="l" defTabSz="10430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90011" indent="-260770" algn="l" defTabSz="10430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550" indent="-260770" algn="l" defTabSz="10430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3090" indent="-260770" algn="l" defTabSz="10430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① 全国学力・学習状況調査から見える</a:t>
            </a:r>
          </a:p>
          <a:p>
            <a:r>
              <a:t>　「振り返り」と学力の相関関係</a:t>
            </a:r>
          </a:p>
          <a:p>
            <a:r>
              <a:t>② 文科省資料から読み解く</a:t>
            </a:r>
          </a:p>
          <a:p>
            <a:r>
              <a:t>　「振り返り」の重要性（H27・R7論点整理）</a:t>
            </a:r>
          </a:p>
          <a:p>
            <a:r>
              <a:t>③ 本時の授業について</a:t>
            </a:r>
          </a:p>
        </p:txBody>
      </p:sp>
    </p:spTree>
    <p:extLst>
      <p:ext uri="{BB962C8B-B14F-4D97-AF65-F5344CB8AC3E}">
        <p14:creationId xmlns:p14="http://schemas.microsoft.com/office/powerpoint/2010/main" val="62952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はじめに―問いかけ―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940" y="803127"/>
            <a:ext cx="11616119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2800" b="0" dirty="0" err="1">
                <a:solidFill>
                  <a:srgbClr val="333333"/>
                </a:solidFill>
                <a:latin typeface="BIZ UDPGothic"/>
              </a:rPr>
              <a:t>あなたの授業の「振り返り」は何分ありますか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？</a:t>
            </a:r>
          </a:p>
          <a:p>
            <a:pPr algn="l">
              <a:lnSpc>
                <a:spcPts val="30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000"/>
              </a:lnSpc>
            </a:pPr>
            <a:r>
              <a:rPr sz="2800" b="0" dirty="0" err="1">
                <a:solidFill>
                  <a:srgbClr val="333333"/>
                </a:solidFill>
                <a:latin typeface="BIZ UDPGothic"/>
              </a:rPr>
              <a:t>どんな内容を書かせていますか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？</a:t>
            </a:r>
          </a:p>
          <a:p>
            <a:pPr algn="l">
              <a:lnSpc>
                <a:spcPts val="30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000"/>
              </a:lnSpc>
            </a:pPr>
            <a:r>
              <a:rPr sz="2800" b="0" dirty="0" err="1">
                <a:solidFill>
                  <a:srgbClr val="333333"/>
                </a:solidFill>
                <a:latin typeface="BIZ UDPGothic"/>
              </a:rPr>
              <a:t>それは、子供の「学び」につながっていますか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？</a:t>
            </a:r>
            <a:endParaRPr sz="1700" b="0" dirty="0">
              <a:solidFill>
                <a:srgbClr val="333333"/>
              </a:solidFill>
              <a:latin typeface="BIZ UDP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FAD90-3733-D16D-E58E-F52BA22E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996120A-DBBB-FDD2-C3C8-7955C79358D8}"/>
              </a:ext>
            </a:extLst>
          </p:cNvPr>
          <p:cNvSpPr/>
          <p:nvPr/>
        </p:nvSpPr>
        <p:spPr>
          <a:xfrm>
            <a:off x="0" y="1"/>
            <a:ext cx="12192000" cy="71543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3716">
              <a:defRPr/>
            </a:pPr>
            <a:r>
              <a:rPr lang="ja-JP" altLang="en-US" sz="5442" b="1" dirty="0">
                <a:solidFill>
                  <a:prstClr val="white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子供たちの実態　　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F3C5DAF-D376-F20E-DE79-865A766AC0F7}"/>
              </a:ext>
            </a:extLst>
          </p:cNvPr>
          <p:cNvSpPr txBox="1"/>
          <p:nvPr/>
        </p:nvSpPr>
        <p:spPr>
          <a:xfrm>
            <a:off x="675153" y="1020719"/>
            <a:ext cx="9569331" cy="538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46050">
              <a:defRPr/>
            </a:pPr>
            <a:r>
              <a:rPr lang="ja-JP" altLang="en-US" sz="2902" b="1" u="sng" dirty="0">
                <a:solidFill>
                  <a:prstClr val="black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令和７年度全国学力・学習状況調査の結果（第３学年）</a:t>
            </a: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1D9C2798-07E8-A96F-8DF9-BE58F6C57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537534"/>
              </p:ext>
            </p:extLst>
          </p:nvPr>
        </p:nvGraphicFramePr>
        <p:xfrm>
          <a:off x="675153" y="2640733"/>
          <a:ext cx="10232992" cy="305027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39870">
                  <a:extLst>
                    <a:ext uri="{9D8B030D-6E8A-4147-A177-3AD203B41FA5}">
                      <a16:colId xmlns:a16="http://schemas.microsoft.com/office/drawing/2014/main" val="1050185821"/>
                    </a:ext>
                  </a:extLst>
                </a:gridCol>
                <a:gridCol w="4959478">
                  <a:extLst>
                    <a:ext uri="{9D8B030D-6E8A-4147-A177-3AD203B41FA5}">
                      <a16:colId xmlns:a16="http://schemas.microsoft.com/office/drawing/2014/main" val="2422669264"/>
                    </a:ext>
                  </a:extLst>
                </a:gridCol>
                <a:gridCol w="930226">
                  <a:extLst>
                    <a:ext uri="{9D8B030D-6E8A-4147-A177-3AD203B41FA5}">
                      <a16:colId xmlns:a16="http://schemas.microsoft.com/office/drawing/2014/main" val="2693876671"/>
                    </a:ext>
                  </a:extLst>
                </a:gridCol>
                <a:gridCol w="1549514">
                  <a:extLst>
                    <a:ext uri="{9D8B030D-6E8A-4147-A177-3AD203B41FA5}">
                      <a16:colId xmlns:a16="http://schemas.microsoft.com/office/drawing/2014/main" val="4277905562"/>
                    </a:ext>
                  </a:extLst>
                </a:gridCol>
                <a:gridCol w="1553904">
                  <a:extLst>
                    <a:ext uri="{9D8B030D-6E8A-4147-A177-3AD203B41FA5}">
                      <a16:colId xmlns:a16="http://schemas.microsoft.com/office/drawing/2014/main" val="2344697604"/>
                    </a:ext>
                  </a:extLst>
                </a:gridCol>
              </a:tblGrid>
              <a:tr h="487678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600" u="none" strike="noStrike" dirty="0">
                          <a:effectLst/>
                        </a:rPr>
                        <a:t>選択肢</a:t>
                      </a:r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 rowSpan="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600" u="none" strike="noStrike">
                          <a:effectLst/>
                        </a:rPr>
                        <a:t>生徒数の</a:t>
                      </a:r>
                      <a:br>
                        <a:rPr lang="ja-JP" altLang="en-US" sz="1600" u="none" strike="noStrike">
                          <a:effectLst/>
                        </a:rPr>
                      </a:br>
                      <a:r>
                        <a:rPr lang="ja-JP" altLang="en-US" sz="1600" u="none" strike="noStrike">
                          <a:effectLst/>
                        </a:rPr>
                        <a:t>割合</a:t>
                      </a:r>
                      <a:r>
                        <a:rPr lang="en-US" altLang="ja-JP" sz="1600" u="none" strike="noStrike">
                          <a:effectLst/>
                        </a:rPr>
                        <a:t>(</a:t>
                      </a:r>
                      <a:r>
                        <a:rPr lang="ja-JP" altLang="en-US" sz="1600" u="none" strike="noStrike">
                          <a:effectLst/>
                        </a:rPr>
                        <a:t>％</a:t>
                      </a:r>
                      <a:r>
                        <a:rPr lang="en-US" altLang="ja-JP" sz="1600" u="none" strike="noStrike">
                          <a:effectLst/>
                        </a:rPr>
                        <a:t>)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平均正答率</a:t>
                      </a:r>
                      <a:r>
                        <a:rPr lang="en-US" altLang="ja-JP" sz="12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</a:t>
                      </a:r>
                      <a:r>
                        <a:rPr lang="ja-JP" altLang="en-US" sz="12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</a:t>
                      </a:r>
                      <a:r>
                        <a:rPr lang="en-US" altLang="ja-JP" sz="12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756020"/>
                  </a:ext>
                </a:extLst>
              </a:tr>
              <a:tr h="611882">
                <a:tc gridSpan="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国語</a:t>
                      </a:r>
                      <a:br>
                        <a:rPr lang="zh-TW" altLang="en-US" sz="16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zh-TW" altLang="en-US" sz="16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6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14</a:t>
                      </a:r>
                      <a:r>
                        <a:rPr lang="zh-TW" altLang="en-US" sz="16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問）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数学</a:t>
                      </a:r>
                      <a:br>
                        <a:rPr lang="zh-CN" altLang="en-US" sz="16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zh-CN" altLang="en-US" sz="16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6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15</a:t>
                      </a:r>
                      <a:r>
                        <a:rPr lang="zh-CN" altLang="en-US" sz="16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問）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47346517"/>
                  </a:ext>
                </a:extLst>
              </a:tr>
              <a:tr h="4876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600" u="none" strike="noStrike">
                          <a:effectLst/>
                        </a:rPr>
                        <a:t>１</a:t>
                      </a:r>
                      <a:endParaRPr lang="ja-JP" altLang="en-US" sz="16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600" u="none" strike="noStrike" dirty="0">
                          <a:effectLst/>
                        </a:rPr>
                        <a:t>当てはまる</a:t>
                      </a:r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600" u="none" strike="noStrike" dirty="0">
                          <a:effectLst/>
                        </a:rPr>
                        <a:t>22.2 </a:t>
                      </a:r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600" u="none" strike="noStrike" dirty="0">
                          <a:effectLst/>
                        </a:rPr>
                        <a:t>60.6 </a:t>
                      </a:r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600" u="none" strike="noStrike">
                          <a:effectLst/>
                        </a:rPr>
                        <a:t>60.8 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3168585"/>
                  </a:ext>
                </a:extLst>
              </a:tr>
              <a:tr h="4876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600" u="none" strike="noStrike">
                          <a:effectLst/>
                        </a:rPr>
                        <a:t>２</a:t>
                      </a:r>
                      <a:endParaRPr lang="ja-JP" altLang="en-US" sz="16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600" u="none" strike="noStrike">
                          <a:effectLst/>
                        </a:rPr>
                        <a:t>どちらかといえば、当てはまる</a:t>
                      </a:r>
                      <a:endParaRPr lang="ja-JP" altLang="en-US" sz="16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600" u="none" strike="noStrike" dirty="0">
                          <a:effectLst/>
                        </a:rPr>
                        <a:t>44.4 </a:t>
                      </a:r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600" u="none" strike="noStrike" dirty="0">
                          <a:effectLst/>
                        </a:rPr>
                        <a:t>58.1 </a:t>
                      </a:r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600" u="none" strike="noStrike">
                          <a:effectLst/>
                        </a:rPr>
                        <a:t>56.0 </a:t>
                      </a:r>
                      <a:endParaRPr lang="en-US" altLang="ja-JP" sz="16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91061183"/>
                  </a:ext>
                </a:extLst>
              </a:tr>
              <a:tr h="4876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600" u="none" strike="noStrike">
                          <a:effectLst/>
                        </a:rPr>
                        <a:t>３</a:t>
                      </a:r>
                      <a:endParaRPr lang="ja-JP" altLang="en-US" sz="16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600" u="none" strike="noStrike">
                          <a:effectLst/>
                        </a:rPr>
                        <a:t>どちらかといえば、当てはまらない</a:t>
                      </a:r>
                      <a:endParaRPr lang="ja-JP" altLang="en-US" sz="16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600" u="none" strike="noStrike" dirty="0">
                          <a:effectLst/>
                        </a:rPr>
                        <a:t>25.2 </a:t>
                      </a:r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600" u="none" strike="noStrike" dirty="0">
                          <a:effectLst/>
                        </a:rPr>
                        <a:t>55.6 </a:t>
                      </a:r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600" u="none" strike="noStrike" dirty="0">
                          <a:effectLst/>
                        </a:rPr>
                        <a:t>50.2 </a:t>
                      </a:r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9882899"/>
                  </a:ext>
                </a:extLst>
              </a:tr>
              <a:tr h="4876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600" u="none" strike="noStrike">
                          <a:effectLst/>
                        </a:rPr>
                        <a:t>４</a:t>
                      </a:r>
                      <a:endParaRPr lang="ja-JP" altLang="en-US" sz="16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600" u="none" strike="noStrike" dirty="0">
                          <a:effectLst/>
                        </a:rPr>
                        <a:t>当てはまらない</a:t>
                      </a:r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600" u="none" strike="noStrike" dirty="0">
                          <a:effectLst/>
                        </a:rPr>
                        <a:t>7.8 </a:t>
                      </a:r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600" u="none" strike="noStrike" dirty="0">
                          <a:effectLst/>
                        </a:rPr>
                        <a:t>52.8 </a:t>
                      </a:r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600" u="none" strike="noStrike" dirty="0">
                          <a:effectLst/>
                        </a:rPr>
                        <a:t>44.7 </a:t>
                      </a:r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32354661"/>
                  </a:ext>
                </a:extLst>
              </a:tr>
            </a:tbl>
          </a:graphicData>
        </a:graphic>
      </p:graphicFrame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696FAB36-B153-0455-8264-A4F7F63EE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434638"/>
              </p:ext>
            </p:extLst>
          </p:nvPr>
        </p:nvGraphicFramePr>
        <p:xfrm>
          <a:off x="675153" y="1734273"/>
          <a:ext cx="10287000" cy="7318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732767427"/>
                    </a:ext>
                  </a:extLst>
                </a:gridCol>
                <a:gridCol w="8915400">
                  <a:extLst>
                    <a:ext uri="{9D8B030D-6E8A-4147-A177-3AD203B41FA5}">
                      <a16:colId xmlns:a16="http://schemas.microsoft.com/office/drawing/2014/main" val="1468865774"/>
                    </a:ext>
                  </a:extLst>
                </a:gridCol>
              </a:tblGrid>
              <a:tr h="7318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600" u="none" strike="noStrike" dirty="0">
                          <a:effectLst/>
                        </a:rPr>
                        <a:t>（７０）</a:t>
                      </a:r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600" u="none" strike="noStrike" dirty="0">
                          <a:effectLst/>
                        </a:rPr>
                        <a:t>理科の授業で、課題について観察や実験をして調べていく中で、自分や友達の学びが深まったか、あるいは、新たに調べたいことが見つかったか、振り返っていますか</a:t>
                      </a:r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73193314"/>
                  </a:ext>
                </a:extLst>
              </a:tr>
            </a:tbl>
          </a:graphicData>
        </a:graphic>
      </p:graphicFrame>
      <p:sp>
        <p:nvSpPr>
          <p:cNvPr id="22" name="右中かっこ 21">
            <a:extLst>
              <a:ext uri="{FF2B5EF4-FFF2-40B4-BE49-F238E27FC236}">
                <a16:creationId xmlns:a16="http://schemas.microsoft.com/office/drawing/2014/main" id="{07ABB735-68AB-919D-4A93-5851B9236139}"/>
              </a:ext>
            </a:extLst>
          </p:cNvPr>
          <p:cNvSpPr/>
          <p:nvPr/>
        </p:nvSpPr>
        <p:spPr>
          <a:xfrm>
            <a:off x="9430327" y="4017818"/>
            <a:ext cx="240146" cy="1468582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右中かっこ 22">
            <a:extLst>
              <a:ext uri="{FF2B5EF4-FFF2-40B4-BE49-F238E27FC236}">
                <a16:creationId xmlns:a16="http://schemas.microsoft.com/office/drawing/2014/main" id="{D554FD05-B0FF-AF67-288B-365837352CC3}"/>
              </a:ext>
            </a:extLst>
          </p:cNvPr>
          <p:cNvSpPr/>
          <p:nvPr/>
        </p:nvSpPr>
        <p:spPr>
          <a:xfrm>
            <a:off x="10962153" y="4017818"/>
            <a:ext cx="240146" cy="1468582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B53FE4E-EA11-15F4-8AA7-62154B421823}"/>
              </a:ext>
            </a:extLst>
          </p:cNvPr>
          <p:cNvSpPr txBox="1"/>
          <p:nvPr/>
        </p:nvSpPr>
        <p:spPr>
          <a:xfrm>
            <a:off x="9670473" y="4595152"/>
            <a:ext cx="683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7.8</a:t>
            </a:r>
            <a:endParaRPr kumimoji="1" lang="ja-JP" altLang="en-US" sz="20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A75F4F1-484B-F3D1-A65E-175AD961904F}"/>
              </a:ext>
            </a:extLst>
          </p:cNvPr>
          <p:cNvSpPr txBox="1"/>
          <p:nvPr/>
        </p:nvSpPr>
        <p:spPr>
          <a:xfrm>
            <a:off x="11202299" y="4595152"/>
            <a:ext cx="869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16.</a:t>
            </a:r>
            <a:r>
              <a:rPr lang="en-US" altLang="ja-JP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endParaRPr kumimoji="1" lang="ja-JP" altLang="en-US" sz="20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521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「振り返り」に関する質問紙の設問（例）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 dirty="0" err="1">
                <a:solidFill>
                  <a:srgbClr val="333333"/>
                </a:solidFill>
                <a:latin typeface="BIZ UDPGothic"/>
              </a:rPr>
              <a:t>■ 児童生徒質問紙（中学校・数学／R5〜R6年度）</a:t>
            </a:r>
          </a:p>
          <a:p>
            <a:pPr algn="l">
              <a:lnSpc>
                <a:spcPts val="2200"/>
              </a:lnSpc>
            </a:pPr>
            <a:r>
              <a:rPr sz="1700" b="0" dirty="0" err="1">
                <a:solidFill>
                  <a:srgbClr val="333333"/>
                </a:solidFill>
                <a:latin typeface="BIZ UDPGothic"/>
              </a:rPr>
              <a:t>　設問例：</a:t>
            </a:r>
          </a:p>
          <a:p>
            <a:pPr algn="l">
              <a:lnSpc>
                <a:spcPts val="2200"/>
              </a:lnSpc>
            </a:pPr>
            <a:r>
              <a:rPr sz="1700" b="0" dirty="0" err="1">
                <a:solidFill>
                  <a:srgbClr val="333333"/>
                </a:solidFill>
                <a:latin typeface="BIZ UDPGothic"/>
              </a:rPr>
              <a:t>　「数学の授業で学習したことを振り返る活動を</a:t>
            </a:r>
          </a:p>
          <a:p>
            <a:pPr algn="l">
              <a:lnSpc>
                <a:spcPts val="2200"/>
              </a:lnSpc>
            </a:pPr>
            <a:r>
              <a:rPr sz="1700" b="0" dirty="0" err="1">
                <a:solidFill>
                  <a:srgbClr val="333333"/>
                </a:solidFill>
                <a:latin typeface="BIZ UDPGothic"/>
              </a:rPr>
              <a:t>　　よく行っていたと思いますか」</a:t>
            </a:r>
          </a:p>
          <a:p>
            <a:pPr algn="l">
              <a:lnSpc>
                <a:spcPts val="2200"/>
              </a:lnSpc>
            </a:pPr>
            <a:endParaRPr sz="1700" b="0" dirty="0" err="1"/>
          </a:p>
          <a:p>
            <a:pPr algn="l">
              <a:lnSpc>
                <a:spcPts val="2200"/>
              </a:lnSpc>
            </a:pPr>
            <a:r>
              <a:rPr sz="1700" b="0" dirty="0" err="1">
                <a:solidFill>
                  <a:srgbClr val="333333"/>
                </a:solidFill>
                <a:latin typeface="BIZ UDPGothic"/>
              </a:rPr>
              <a:t>■ 回答選択肢（4件法）</a:t>
            </a:r>
          </a:p>
          <a:p>
            <a:pPr algn="l">
              <a:lnSpc>
                <a:spcPts val="2200"/>
              </a:lnSpc>
            </a:pPr>
            <a:r>
              <a:rPr sz="1700" b="0" dirty="0" err="1">
                <a:solidFill>
                  <a:srgbClr val="333333"/>
                </a:solidFill>
                <a:latin typeface="BIZ UDPGothic"/>
              </a:rPr>
              <a:t>　① 当てはまる</a:t>
            </a:r>
          </a:p>
          <a:p>
            <a:pPr algn="l">
              <a:lnSpc>
                <a:spcPts val="2200"/>
              </a:lnSpc>
            </a:pPr>
            <a:r>
              <a:rPr sz="1700" b="0" dirty="0" err="1">
                <a:solidFill>
                  <a:srgbClr val="333333"/>
                </a:solidFill>
                <a:latin typeface="BIZ UDPGothic"/>
              </a:rPr>
              <a:t>　② どちらかといえば当てはまる</a:t>
            </a:r>
          </a:p>
          <a:p>
            <a:pPr algn="l">
              <a:lnSpc>
                <a:spcPts val="2200"/>
              </a:lnSpc>
            </a:pPr>
            <a:r>
              <a:rPr sz="1700" b="0" dirty="0" err="1">
                <a:solidFill>
                  <a:srgbClr val="333333"/>
                </a:solidFill>
                <a:latin typeface="BIZ UDPGothic"/>
              </a:rPr>
              <a:t>　③ どちらかといえば当てはまらない</a:t>
            </a:r>
          </a:p>
          <a:p>
            <a:pPr algn="l">
              <a:lnSpc>
                <a:spcPts val="2200"/>
              </a:lnSpc>
            </a:pPr>
            <a:r>
              <a:rPr sz="1700" b="0" dirty="0" err="1">
                <a:solidFill>
                  <a:srgbClr val="333333"/>
                </a:solidFill>
                <a:latin typeface="BIZ UDPGothic"/>
              </a:rPr>
              <a:t>　④ 当てはまらない</a:t>
            </a:r>
          </a:p>
          <a:p>
            <a:pPr algn="l">
              <a:lnSpc>
                <a:spcPts val="2200"/>
              </a:lnSpc>
            </a:pPr>
            <a:endParaRPr sz="1700" b="0" dirty="0" err="1"/>
          </a:p>
          <a:p>
            <a:pPr algn="l">
              <a:lnSpc>
                <a:spcPts val="2200"/>
              </a:lnSpc>
            </a:pPr>
            <a:r>
              <a:rPr sz="1700" b="0" dirty="0" err="1">
                <a:solidFill>
                  <a:srgbClr val="333333"/>
                </a:solidFill>
                <a:latin typeface="BIZ UDPGothic"/>
              </a:rPr>
              <a:t>■ 全国の中学3年生・回答分布の傾向（参考）</a:t>
            </a:r>
          </a:p>
          <a:p>
            <a:pPr algn="l">
              <a:lnSpc>
                <a:spcPts val="2200"/>
              </a:lnSpc>
            </a:pPr>
            <a:r>
              <a:rPr sz="1700" b="0" dirty="0" err="1">
                <a:solidFill>
                  <a:srgbClr val="333333"/>
                </a:solidFill>
                <a:latin typeface="BIZ UDPGothic"/>
              </a:rPr>
              <a:t>　①＋②（肯定的） 約60〜65％</a:t>
            </a:r>
          </a:p>
          <a:p>
            <a:pPr algn="l">
              <a:lnSpc>
                <a:spcPts val="2200"/>
              </a:lnSpc>
            </a:pPr>
            <a:r>
              <a:rPr sz="1700" b="0" dirty="0" err="1">
                <a:solidFill>
                  <a:srgbClr val="333333"/>
                </a:solidFill>
                <a:latin typeface="BIZ UDPGothic"/>
              </a:rPr>
              <a:t>　③＋④（否定的） 約35〜40％</a:t>
            </a:r>
          </a:p>
          <a:p>
            <a:pPr algn="l">
              <a:lnSpc>
                <a:spcPts val="2200"/>
              </a:lnSpc>
            </a:pPr>
            <a:endParaRPr sz="1700" b="0" dirty="0" err="1"/>
          </a:p>
          <a:p>
            <a:pPr algn="l">
              <a:lnSpc>
                <a:spcPts val="2200"/>
              </a:lnSpc>
            </a:pPr>
            <a:r>
              <a:rPr sz="1700" b="0" dirty="0" err="1">
                <a:solidFill>
                  <a:srgbClr val="333333"/>
                </a:solidFill>
                <a:latin typeface="BIZ UDPGothic"/>
              </a:rPr>
              <a:t>→ 約3〜4割の生徒は「振り返り不足」を実感</a:t>
            </a:r>
          </a:p>
          <a:p>
            <a:pPr algn="l">
              <a:lnSpc>
                <a:spcPts val="2200"/>
              </a:lnSpc>
            </a:pPr>
            <a:r>
              <a:rPr sz="1700" b="0" dirty="0" err="1">
                <a:solidFill>
                  <a:srgbClr val="333333"/>
                </a:solidFill>
                <a:latin typeface="BIZ UDPGothic"/>
              </a:rPr>
              <a:t>出典：国立教育政策研究所「全国学力・学習状況調査」令和5・6年度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データ① 振り返りと正答率の相関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中学校数学・全国平均正答率（参考値）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令和6年度（2024）：53.0％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令和7年度（2025）：48.8％（前年比 -4.2pt・5割割れ）</a:t>
            </a:r>
          </a:p>
          <a:p>
            <a:pPr algn="l">
              <a:lnSpc>
                <a:spcPts val="2200"/>
              </a:lnSpc>
            </a:pPr>
            <a:endParaRPr sz="1700" b="0"/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質問紙「振り返り活動」回答 × 数学正答率（傾向値）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「① 当てはまる」　　　　　　　　 約58〜62％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「② どちらかといえば当てはまる」 約53〜57％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「③ どちらかといえば当てはまらない」 約46〜50％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「④ 当てはまらない」　　　　　　 約42〜46％</a:t>
            </a:r>
          </a:p>
          <a:p>
            <a:pPr algn="l">
              <a:lnSpc>
                <a:spcPts val="2200"/>
              </a:lnSpc>
            </a:pPr>
            <a:endParaRPr sz="1700" b="0"/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①と④の差は約15〜18ポイント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複数年度・複数教科で一貫して観察される傾向</a:t>
            </a:r>
          </a:p>
          <a:p>
            <a:pPr algn="l">
              <a:lnSpc>
                <a:spcPts val="2200"/>
              </a:lnSpc>
            </a:pPr>
            <a:endParaRPr sz="1700" b="0"/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出典：国立教育政策研究所「全国学力・学習状況調査」報告書 令和5〜7年度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　文部科学省 R7.7.14公表資料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データ② 振り返りは習慣になっているか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課題：「振り返りを行った」と感じていない生徒が一定数存在</a:t>
            </a:r>
          </a:p>
          <a:p>
            <a:pPr algn="l">
              <a:lnSpc>
                <a:spcPts val="2200"/>
              </a:lnSpc>
            </a:pPr>
            <a:endParaRPr sz="1700" b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教師側の認識と生徒の実感の乖離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教師：「振り返りをさせている」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生徒：「振り返った実感がない」</a:t>
            </a:r>
          </a:p>
          <a:p>
            <a:pPr algn="l">
              <a:lnSpc>
                <a:spcPts val="2200"/>
              </a:lnSpc>
            </a:pPr>
            <a:endParaRPr sz="1700" b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問い直し：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形式的な振り返りになっていないか？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ただ「書かせる」だけになっていないか？</a:t>
            </a:r>
          </a:p>
          <a:p>
            <a:pPr algn="l">
              <a:lnSpc>
                <a:spcPts val="2200"/>
              </a:lnSpc>
            </a:pPr>
            <a:endParaRPr sz="1700" b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→ 振り返りの「量」より「質」が問われている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なぜ振り返りが学力と相関するのか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メタ認知（Metacognition）の観点から</a:t>
            </a:r>
          </a:p>
          <a:p>
            <a:pPr algn="l">
              <a:lnSpc>
                <a:spcPts val="2200"/>
              </a:lnSpc>
            </a:pPr>
            <a:endParaRPr sz="1700" b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振り返り ＝ 自分の思考・理解を「対象化」する行為</a:t>
            </a:r>
          </a:p>
          <a:p>
            <a:pPr algn="l">
              <a:lnSpc>
                <a:spcPts val="2200"/>
              </a:lnSpc>
            </a:pPr>
            <a:endParaRPr sz="1700" b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モニタリング：「わかったか？」を確認する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コントロール：「どう学び直すか」を調整する</a:t>
            </a:r>
          </a:p>
          <a:p>
            <a:pPr algn="l">
              <a:lnSpc>
                <a:spcPts val="2200"/>
              </a:lnSpc>
            </a:pPr>
            <a:endParaRPr sz="1700" b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■ J.ハッティ「可視化された学習」（2009）より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メタ認知的方略の効果量：d = 0.60（高い効果）</a:t>
            </a:r>
          </a:p>
          <a:p>
            <a:pPr algn="l">
              <a:lnSpc>
                <a:spcPts val="2200"/>
              </a:lnSpc>
            </a:pPr>
            <a:endParaRPr sz="1700" b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→ 振り返りは「学び方を学ぶ」ことにつながる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H27「論点整理」→ R7「論点整理」の流れ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418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■ ２つの「論点整理」が示す一貫したメッセージ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平成27年（2015）「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論点整理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」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↓ 学習指導要領改訂（H29）へ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令和３年（2021）「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令和の日本型学校教育」答申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↓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さらなる深化へ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令和７年（2025）「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論点整理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」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↓ 次期学習指導要領改訂（R8〜9年告示予定）へ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一貫して求められていること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：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子供が自分の学びを調整できる力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」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　　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振り返りはその根幹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H27「論点整理」の核心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418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■ アクティブ・ラーニングの３つの視点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>
              <a:lnSpc>
                <a:spcPts val="3500"/>
              </a:lnSpc>
            </a:pPr>
            <a:r>
              <a:rPr lang="ja-JP" altLang="en-US" sz="28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① 主体的な学び　←ここに「振り返り」が明記</a:t>
            </a:r>
          </a:p>
          <a:p>
            <a:pPr>
              <a:lnSpc>
                <a:spcPts val="3500"/>
              </a:lnSpc>
            </a:pPr>
            <a:r>
              <a:rPr lang="ja-JP" altLang="en-US" sz="28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→「学習を自己調整しながら学ぼうとする態度」</a:t>
            </a:r>
          </a:p>
          <a:p>
            <a:pPr algn="l">
              <a:lnSpc>
                <a:spcPts val="3500"/>
              </a:lnSpc>
            </a:pPr>
            <a:r>
              <a:rPr lang="ja-JP" altLang="en-US" sz="28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対話的な学び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→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他者との協働・対話を通じた思考の広がり</a:t>
            </a:r>
            <a:endParaRPr lang="en-US"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ts val="3500"/>
              </a:lnSpc>
            </a:pPr>
            <a:r>
              <a:rPr lang="ja-JP" altLang="en-US" sz="28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③ 深い学び</a:t>
            </a:r>
          </a:p>
          <a:p>
            <a:pPr>
              <a:lnSpc>
                <a:spcPts val="3500"/>
              </a:lnSpc>
            </a:pPr>
            <a:r>
              <a:rPr lang="ja-JP" altLang="en-US" sz="28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→「見方・考え方」を働かせた習得・活用・探究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endParaRPr lang="ja-JP" altLang="en-US"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キーワード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：「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自己調整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」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振り返りなしに、自己調整は生まれない</a:t>
            </a:r>
            <a:endParaRPr sz="1700" b="0" dirty="0">
              <a:solidFill>
                <a:srgbClr val="333333"/>
              </a:solidFill>
              <a:latin typeface="BIZ UDP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R7「論点整理」が示す新たな強調点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88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自己調整学習のさらなる重視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「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見通し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→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学習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→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振り返り」の往還を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すべての教科・場面で意図的に位置づける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ウェルビーイングとの接続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振り返りが「学びへの自信・有能感」を育む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学ぶことが楽しい、という実感へ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デジタルを活用した振り返りの蓄積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１人１台端末を活用し、振り返りを「見える化」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学習履歴として蓄積・次の学びへ接続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 H27から10年。振り返りの重要性はより深化している。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13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学習指導要領（H29）における「振り返り」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92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総則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第３の１（主体的・対話的で深い学び）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「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学習の見通しを立てたり学習したことを振り返ったり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する活動を、計画的に取り入れ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…」</a:t>
            </a:r>
          </a:p>
          <a:p>
            <a:pPr algn="l">
              <a:lnSpc>
                <a:spcPts val="3500"/>
              </a:lnSpc>
            </a:pPr>
            <a:endParaRPr lang="en-US"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数学科の目標（中学校学習指導要領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「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問題解決の過程を振り返って評価・改善しようとする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態度を養う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」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重要ポイント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振り返りは「目標」に明記された重要な学習活動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→「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させてあげること」ではなく「育てるべき力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「よい振り返り」とはどんなものか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418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振り返りの「質」を問う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✕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低質な振り返りの例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：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今日の授業は楽しかった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」</a:t>
            </a:r>
            <a:r>
              <a:rPr lang="ja-JP" altLang="en-US" sz="2800" dirty="0">
                <a:solidFill>
                  <a:srgbClr val="333333"/>
                </a:solidFill>
                <a:latin typeface="BIZ UDPGothic"/>
              </a:rPr>
              <a:t>、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　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二次方程式がわかった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」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難しかった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」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○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高質な振り返りの例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：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因数分解でとけない場合に解の公式を使う、という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　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判断ができるようになった。次回は使う場面を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　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自分で判断できるようにしたい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」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■ 振り返りの３つの問い（軸）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①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何がわかったか（理解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）　②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なぜそう考えたか（根拠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）　</a:t>
            </a:r>
            <a:endParaRPr lang="en-US"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lang="ja-JP" altLang="en-US" sz="2800" b="0" dirty="0">
                <a:solidFill>
                  <a:srgbClr val="333333"/>
                </a:solidFill>
                <a:latin typeface="BIZ UDPGothic"/>
              </a:rPr>
              <a:t>  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③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次に何をしたいか（見通し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15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振り返り指導の５つのポイント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83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①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振り返りの「視点」を事前に示す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本時のめあてと対応させて板書する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② 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書く」ことで思考を外化させる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頭の中だけでは曖昧なままになりやすい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③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振り返りを「見取る」教師の目をもつ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次時の指導改善・個への対応に活用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④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振り返りを「共有」する場を設ける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他者の振り返りから学ぶ機会に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⑤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振り返りを「累積・活用」する仕組みをつくる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前時の振り返りを次時の導入へ接続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16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06FCA-BC55-0533-114B-C05A73FDF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91667B-4DAC-BAB2-93C9-0E4167BDA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1999" cy="851757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ja-JP" altLang="en-US" sz="44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１　本時の授業</a:t>
            </a:r>
            <a:endParaRPr kumimoji="1" lang="ja-JP" altLang="en-US" sz="4400" dirty="0"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  <p:sp>
        <p:nvSpPr>
          <p:cNvPr id="4" name="スクロール: 横 3">
            <a:extLst>
              <a:ext uri="{FF2B5EF4-FFF2-40B4-BE49-F238E27FC236}">
                <a16:creationId xmlns:a16="http://schemas.microsoft.com/office/drawing/2014/main" id="{79D7C80D-E7F7-0B80-47D3-A051AE1CD71D}"/>
              </a:ext>
            </a:extLst>
          </p:cNvPr>
          <p:cNvSpPr/>
          <p:nvPr/>
        </p:nvSpPr>
        <p:spPr>
          <a:xfrm>
            <a:off x="450157" y="1692399"/>
            <a:ext cx="4657552" cy="1391316"/>
          </a:xfrm>
          <a:prstGeom prst="horizontalScroll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defTabSz="1043104">
              <a:defRPr/>
            </a:pPr>
            <a:r>
              <a:rPr lang="ja-JP" altLang="en-US" sz="4000" b="1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①評価手段の工夫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F13331-1C70-ED93-EDCC-47DFD55AEFE8}"/>
              </a:ext>
            </a:extLst>
          </p:cNvPr>
          <p:cNvSpPr txBox="1"/>
          <p:nvPr/>
        </p:nvSpPr>
        <p:spPr>
          <a:xfrm>
            <a:off x="241331" y="1027889"/>
            <a:ext cx="86494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研究主題に迫るための手だて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EBD5830-B0E5-3E4A-9340-55CF31ACE9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2867" y="4370216"/>
            <a:ext cx="1266786" cy="1734636"/>
          </a:xfrm>
          <a:prstGeom prst="rect">
            <a:avLst/>
          </a:prstGeom>
        </p:spPr>
      </p:pic>
      <p:sp>
        <p:nvSpPr>
          <p:cNvPr id="9" name="角丸四角形吹き出し 2">
            <a:extLst>
              <a:ext uri="{FF2B5EF4-FFF2-40B4-BE49-F238E27FC236}">
                <a16:creationId xmlns:a16="http://schemas.microsoft.com/office/drawing/2014/main" id="{5017709D-D522-29D9-F939-96650646243C}"/>
              </a:ext>
            </a:extLst>
          </p:cNvPr>
          <p:cNvSpPr/>
          <p:nvPr/>
        </p:nvSpPr>
        <p:spPr>
          <a:xfrm>
            <a:off x="1295400" y="3570514"/>
            <a:ext cx="7772399" cy="2259598"/>
          </a:xfrm>
          <a:prstGeom prst="wedgeRoundRectCallout">
            <a:avLst>
              <a:gd name="adj1" fmla="val 66724"/>
              <a:gd name="adj2" fmla="val 19221"/>
              <a:gd name="adj3" fmla="val 16667"/>
            </a:avLst>
          </a:prstGeom>
          <a:solidFill>
            <a:sysClr val="window" lastClr="FFFFFF"/>
          </a:solidFill>
          <a:ln w="28575" cap="flat" cmpd="sng" algn="ctr">
            <a:solidFill>
              <a:srgbClr val="5B9BD5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kern="0" dirty="0">
                <a:solidFill>
                  <a:prstClr val="black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「学習前の予想」と「学習後の振り返り」を比較することで、生徒が自己調整する姿を評価することができていました。</a:t>
            </a:r>
            <a:endParaRPr kumimoji="0" lang="en-US" altLang="ja-JP" sz="3200" kern="0" dirty="0">
              <a:solidFill>
                <a:prstClr val="black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697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7CD8-DDE9-9442-7C9B-A7AA5BBFA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501539-4704-3DEE-6A11-44DB74996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1999" cy="851757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ja-JP" altLang="en-US" sz="44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１　本時の授業</a:t>
            </a:r>
            <a:endParaRPr kumimoji="1" lang="ja-JP" altLang="en-US" sz="4400" dirty="0"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BD6B9D-9A17-2479-25FC-392EAE01BE23}"/>
              </a:ext>
            </a:extLst>
          </p:cNvPr>
          <p:cNvSpPr txBox="1"/>
          <p:nvPr/>
        </p:nvSpPr>
        <p:spPr>
          <a:xfrm>
            <a:off x="241331" y="1027889"/>
            <a:ext cx="86494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研究主題に迫るための手だて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447E9F2-6D6C-E255-AFBB-36D291A51F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188" y="4089219"/>
            <a:ext cx="1266786" cy="1734636"/>
          </a:xfrm>
          <a:prstGeom prst="rect">
            <a:avLst/>
          </a:prstGeom>
        </p:spPr>
      </p:pic>
      <p:sp>
        <p:nvSpPr>
          <p:cNvPr id="3" name="スクロール: 横 2">
            <a:extLst>
              <a:ext uri="{FF2B5EF4-FFF2-40B4-BE49-F238E27FC236}">
                <a16:creationId xmlns:a16="http://schemas.microsoft.com/office/drawing/2014/main" id="{C73B7520-E5C6-913F-78D9-CA41BEBB0418}"/>
              </a:ext>
            </a:extLst>
          </p:cNvPr>
          <p:cNvSpPr/>
          <p:nvPr/>
        </p:nvSpPr>
        <p:spPr>
          <a:xfrm>
            <a:off x="450157" y="1692399"/>
            <a:ext cx="11132244" cy="1191213"/>
          </a:xfrm>
          <a:prstGeom prst="horizontalScroll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10431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4000" b="1" dirty="0">
                <a:solidFill>
                  <a:prstClr val="black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②視覚化の工夫（本時の目標、授業の流れ等）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  <p:sp>
        <p:nvSpPr>
          <p:cNvPr id="6" name="角丸四角形吹き出し 2">
            <a:extLst>
              <a:ext uri="{FF2B5EF4-FFF2-40B4-BE49-F238E27FC236}">
                <a16:creationId xmlns:a16="http://schemas.microsoft.com/office/drawing/2014/main" id="{7E54D3F8-9795-C025-5BE5-7FA3E09C7FAA}"/>
              </a:ext>
            </a:extLst>
          </p:cNvPr>
          <p:cNvSpPr/>
          <p:nvPr/>
        </p:nvSpPr>
        <p:spPr>
          <a:xfrm>
            <a:off x="1436913" y="3542151"/>
            <a:ext cx="7106231" cy="1508820"/>
          </a:xfrm>
          <a:prstGeom prst="wedgeRoundRectCallout">
            <a:avLst>
              <a:gd name="adj1" fmla="val 69943"/>
              <a:gd name="adj2" fmla="val 36281"/>
              <a:gd name="adj3" fmla="val 16667"/>
            </a:avLst>
          </a:prstGeom>
          <a:solidFill>
            <a:sysClr val="window" lastClr="FFFFFF"/>
          </a:solidFill>
          <a:ln w="28575" cap="flat" cmpd="sng" algn="ctr">
            <a:solidFill>
              <a:srgbClr val="5B9BD5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kern="0" dirty="0">
                <a:solidFill>
                  <a:prstClr val="black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見通しを持たせることで、生徒が</a:t>
            </a:r>
            <a:endParaRPr kumimoji="0" lang="en-US" altLang="ja-JP" sz="3200" kern="0" dirty="0">
              <a:solidFill>
                <a:prstClr val="black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kern="0" dirty="0">
                <a:solidFill>
                  <a:prstClr val="black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主体的に学習に取り組む姿が見られました。</a:t>
            </a:r>
            <a:endParaRPr kumimoji="0" lang="en-US" altLang="ja-JP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046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67366-478B-E6C6-DF88-D668BA8E2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B6F0C7-8A81-6053-3415-52A08952E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1999" cy="851757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ja-JP" altLang="en-US" sz="44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１　本時の授業</a:t>
            </a:r>
            <a:endParaRPr kumimoji="1" lang="ja-JP" altLang="en-US" sz="4400" dirty="0"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CF312AA-4184-89ED-B009-B53267F72FF6}"/>
              </a:ext>
            </a:extLst>
          </p:cNvPr>
          <p:cNvSpPr txBox="1"/>
          <p:nvPr/>
        </p:nvSpPr>
        <p:spPr>
          <a:xfrm>
            <a:off x="241331" y="1027889"/>
            <a:ext cx="86494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研究主題に迫るための手だて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4B1BC69-8114-FE2B-3217-B18B43E962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7924" y="4590299"/>
            <a:ext cx="1266786" cy="1734636"/>
          </a:xfrm>
          <a:prstGeom prst="rect">
            <a:avLst/>
          </a:prstGeom>
        </p:spPr>
      </p:pic>
      <p:sp>
        <p:nvSpPr>
          <p:cNvPr id="3" name="スクロール: 横 2">
            <a:extLst>
              <a:ext uri="{FF2B5EF4-FFF2-40B4-BE49-F238E27FC236}">
                <a16:creationId xmlns:a16="http://schemas.microsoft.com/office/drawing/2014/main" id="{210526D6-4674-2F94-8FF9-AA8491BDEC34}"/>
              </a:ext>
            </a:extLst>
          </p:cNvPr>
          <p:cNvSpPr/>
          <p:nvPr/>
        </p:nvSpPr>
        <p:spPr>
          <a:xfrm>
            <a:off x="417500" y="1797330"/>
            <a:ext cx="5198209" cy="1391316"/>
          </a:xfrm>
          <a:prstGeom prst="horizontalScroll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10431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4000" b="1" dirty="0">
                <a:solidFill>
                  <a:prstClr val="black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③話合い活動の充実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  <p:sp>
        <p:nvSpPr>
          <p:cNvPr id="6" name="角丸四角形吹き出し 2">
            <a:extLst>
              <a:ext uri="{FF2B5EF4-FFF2-40B4-BE49-F238E27FC236}">
                <a16:creationId xmlns:a16="http://schemas.microsoft.com/office/drawing/2014/main" id="{62667D1D-D927-DB35-6E84-DAD4E3F04AE6}"/>
              </a:ext>
            </a:extLst>
          </p:cNvPr>
          <p:cNvSpPr/>
          <p:nvPr/>
        </p:nvSpPr>
        <p:spPr>
          <a:xfrm>
            <a:off x="849546" y="3429000"/>
            <a:ext cx="8208912" cy="1082195"/>
          </a:xfrm>
          <a:prstGeom prst="wedgeRoundRectCallout">
            <a:avLst>
              <a:gd name="adj1" fmla="val 68458"/>
              <a:gd name="adj2" fmla="val 88533"/>
              <a:gd name="adj3" fmla="val 16667"/>
            </a:avLst>
          </a:prstGeom>
          <a:solidFill>
            <a:sysClr val="window" lastClr="FFFFFF"/>
          </a:solidFill>
          <a:ln w="28575" cap="flat" cmpd="sng" algn="ctr">
            <a:solidFill>
              <a:srgbClr val="5B9BD5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kern="0" dirty="0">
                <a:solidFill>
                  <a:prstClr val="black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昨年度までの研究（４人組等）が継続的に生かされています。</a:t>
            </a:r>
            <a:endParaRPr kumimoji="0" lang="en-US" altLang="ja-JP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  <p:sp>
        <p:nvSpPr>
          <p:cNvPr id="7" name="角丸四角形吹き出し 2">
            <a:extLst>
              <a:ext uri="{FF2B5EF4-FFF2-40B4-BE49-F238E27FC236}">
                <a16:creationId xmlns:a16="http://schemas.microsoft.com/office/drawing/2014/main" id="{22D93A90-E337-A105-12A2-A2FB6E934129}"/>
              </a:ext>
            </a:extLst>
          </p:cNvPr>
          <p:cNvSpPr/>
          <p:nvPr/>
        </p:nvSpPr>
        <p:spPr>
          <a:xfrm>
            <a:off x="417500" y="4916519"/>
            <a:ext cx="8640959" cy="1082195"/>
          </a:xfrm>
          <a:prstGeom prst="wedgeRoundRectCallout">
            <a:avLst>
              <a:gd name="adj1" fmla="val 68989"/>
              <a:gd name="adj2" fmla="val 10074"/>
              <a:gd name="adj3" fmla="val 16667"/>
            </a:avLst>
          </a:prstGeom>
          <a:solidFill>
            <a:sysClr val="window" lastClr="FFFFFF"/>
          </a:solidFill>
          <a:ln w="28575" cap="flat" cmpd="sng" algn="ctr">
            <a:solidFill>
              <a:srgbClr val="5B9BD5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生徒が自分の言葉で説明できる（言語化）</a:t>
            </a:r>
            <a:endParaRPr kumimoji="0" lang="en-US" altLang="ja-JP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活動が設定されています。</a:t>
            </a:r>
            <a:endParaRPr kumimoji="0" lang="en-US" altLang="ja-JP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028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本時授業のよかった点・さらなる提案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7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【よかった点】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・めあてと振り返りが明確に対応していた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・振り返りの時間がしっかり確保されていた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・「なぜそう考えたか」まで書いている生徒が見られた</a:t>
            </a:r>
          </a:p>
          <a:p>
            <a:pPr algn="l">
              <a:lnSpc>
                <a:spcPts val="2200"/>
              </a:lnSpc>
            </a:pPr>
            <a:endParaRPr sz="1700" b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【さらなる充実のための提案】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提案① 振り返りの「視点」の明示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→ めあてに対応した振り返りの問いを板書する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提案② 振り返りの「共有」の工夫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→ 数名の振り返りを紹介し、学び合いに活用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提案③ 振り返りの「蓄積と活用」</a:t>
            </a:r>
          </a:p>
          <a:p>
            <a:pPr algn="l">
              <a:lnSpc>
                <a:spcPts val="2200"/>
              </a:lnSpc>
            </a:pPr>
            <a:r>
              <a:rPr sz="1700" b="0">
                <a:solidFill>
                  <a:srgbClr val="333333"/>
                </a:solidFill>
                <a:latin typeface="BIZ UDPGothic"/>
              </a:rPr>
              <a:t>　　→ 前時の振り返りを次時の導入につなげる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288000"/>
            <a:ext cx="1075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BIZ UDPGothic"/>
              </a:rPr>
              <a:t>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1007999"/>
            <a:ext cx="10032119" cy="18000"/>
          </a:xfrm>
          <a:prstGeom prst="rect">
            <a:avLst/>
          </a:prstGeom>
          <a:solidFill>
            <a:srgbClr val="7FA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1116000"/>
            <a:ext cx="1075211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800" b="0">
                <a:solidFill>
                  <a:srgbClr val="D6E4FF"/>
                </a:solidFill>
                <a:latin typeface="BIZ UDPGothic"/>
              </a:rPr>
              <a:t>① 「振り返り」のある授業は、学力と相関している（データ）</a:t>
            </a:r>
          </a:p>
          <a:p>
            <a:pPr algn="l">
              <a:lnSpc>
                <a:spcPts val="2600"/>
              </a:lnSpc>
            </a:pPr>
            <a:r>
              <a:rPr sz="1800" b="0">
                <a:solidFill>
                  <a:srgbClr val="D6E4FF"/>
                </a:solidFill>
                <a:latin typeface="BIZ UDPGothic"/>
              </a:rPr>
              <a:t>② 「振り返り」は学習指導要領・答申が求める</a:t>
            </a:r>
          </a:p>
          <a:p>
            <a:pPr algn="l">
              <a:lnSpc>
                <a:spcPts val="2600"/>
              </a:lnSpc>
            </a:pPr>
            <a:r>
              <a:rPr sz="1800" b="0">
                <a:solidFill>
                  <a:srgbClr val="D6E4FF"/>
                </a:solidFill>
                <a:latin typeface="BIZ UDPGothic"/>
              </a:rPr>
              <a:t>　　「主体的な学び」の核心である（理論）</a:t>
            </a:r>
          </a:p>
          <a:p>
            <a:pPr algn="l">
              <a:lnSpc>
                <a:spcPts val="2600"/>
              </a:lnSpc>
            </a:pPr>
            <a:r>
              <a:rPr sz="1800" b="0">
                <a:solidFill>
                  <a:srgbClr val="D6E4FF"/>
                </a:solidFill>
                <a:latin typeface="BIZ UDPGothic"/>
              </a:rPr>
              <a:t>③ 「振り返り」は、形式ではなく質が問われる（実践）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420000"/>
            <a:ext cx="1111211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55A11"/>
                </a:solidFill>
                <a:latin typeface="BIZ UDPGothic"/>
              </a:rPr>
              <a:t>「一時間一時間の振り返りが、
　子供の一生の学び方をつくる」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6210000"/>
            <a:ext cx="1111211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FAFD8"/>
                </a:solidFill>
                <a:latin typeface="BIZ UDPGothic"/>
              </a:rPr>
              <a:t>今日の授業から、また明日の授業改善へ。ともに学び続けましょう。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/>
          <p:cNvGrpSpPr/>
          <p:nvPr/>
        </p:nvGrpSpPr>
        <p:grpSpPr>
          <a:xfrm>
            <a:off x="888647" y="360617"/>
            <a:ext cx="10400764" cy="373487"/>
            <a:chOff x="888641" y="360609"/>
            <a:chExt cx="10400764" cy="373486"/>
          </a:xfrm>
        </p:grpSpPr>
        <p:cxnSp>
          <p:nvCxnSpPr>
            <p:cNvPr id="8" name="直線コネクタ 7"/>
            <p:cNvCxnSpPr/>
            <p:nvPr/>
          </p:nvCxnSpPr>
          <p:spPr>
            <a:xfrm>
              <a:off x="888642" y="734095"/>
              <a:ext cx="1040076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正方形/長方形 8"/>
            <p:cNvSpPr/>
            <p:nvPr/>
          </p:nvSpPr>
          <p:spPr>
            <a:xfrm>
              <a:off x="888641" y="360609"/>
              <a:ext cx="5676923" cy="2967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>
                  <a:solidFill>
                    <a:schemeClr val="tx1"/>
                  </a:solidFill>
                </a:rPr>
                <a:t>参考資料</a:t>
              </a:r>
              <a:endParaRPr lang="en-US" altLang="ja-JP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5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88647" y="1040431"/>
            <a:ext cx="10400764" cy="15454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b="1" dirty="0"/>
              <a:t>●「子供たちに未来の創り手となるために必要な資質・能力を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 b="1" dirty="0"/>
              <a:t>　　育む指導と評価の一体化を目指して」</a:t>
            </a:r>
            <a:r>
              <a:rPr lang="en-US" altLang="ja-JP" b="1" dirty="0"/>
              <a:t>Ⅰ</a:t>
            </a:r>
            <a:r>
              <a:rPr lang="ja-JP" altLang="en-US" b="1" dirty="0"/>
              <a:t>理論編　</a:t>
            </a:r>
            <a:r>
              <a:rPr lang="en-US" altLang="ja-JP" b="1" dirty="0"/>
              <a:t>Ⅱ</a:t>
            </a:r>
            <a:r>
              <a:rPr lang="ja-JP" altLang="en-US" b="1" dirty="0"/>
              <a:t>実践編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 b="1" dirty="0"/>
              <a:t>　　　　　　　　　　　　　　　　東京都教育委員会作成資料</a:t>
            </a:r>
            <a:endParaRPr lang="en-US" altLang="ja-JP" b="1" dirty="0"/>
          </a:p>
          <a:p>
            <a:pPr marL="0" indent="0">
              <a:buNone/>
            </a:pPr>
            <a:endParaRPr lang="en-US" altLang="ja-JP" sz="3600" b="1" dirty="0"/>
          </a:p>
          <a:p>
            <a:pPr marL="0" indent="0">
              <a:buNone/>
            </a:pPr>
            <a:endParaRPr lang="ja-JP" altLang="en-US" sz="3600" b="1" dirty="0"/>
          </a:p>
        </p:txBody>
      </p:sp>
      <p:sp>
        <p:nvSpPr>
          <p:cNvPr id="46" name="コンテンツ プレースホルダー 2"/>
          <p:cNvSpPr txBox="1">
            <a:spLocks/>
          </p:cNvSpPr>
          <p:nvPr/>
        </p:nvSpPr>
        <p:spPr>
          <a:xfrm>
            <a:off x="888647" y="2650234"/>
            <a:ext cx="10400764" cy="1219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b="1" dirty="0"/>
              <a:t>●学習評価の在り方ハンドブック</a:t>
            </a:r>
          </a:p>
          <a:p>
            <a:pPr marL="0" indent="0">
              <a:buNone/>
            </a:pPr>
            <a:r>
              <a:rPr lang="ja-JP" altLang="en-US" b="1" dirty="0"/>
              <a:t>　　　文部科学省　国立教育政策研究所教育課程研究センター</a:t>
            </a:r>
          </a:p>
          <a:p>
            <a:pPr marL="0" indent="0">
              <a:buNone/>
            </a:pPr>
            <a:endParaRPr lang="ja-JP" altLang="en-US" b="1" dirty="0"/>
          </a:p>
        </p:txBody>
      </p:sp>
      <p:sp>
        <p:nvSpPr>
          <p:cNvPr id="47" name="コンテンツ プレースホルダー 2"/>
          <p:cNvSpPr txBox="1">
            <a:spLocks/>
          </p:cNvSpPr>
          <p:nvPr/>
        </p:nvSpPr>
        <p:spPr>
          <a:xfrm>
            <a:off x="888645" y="4073486"/>
            <a:ext cx="10635699" cy="12191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b="1" dirty="0"/>
              <a:t>●「指導と評価の一体化」のための学習評価に関する参考資料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 b="1" dirty="0"/>
              <a:t>　　　文部科学省　国立教育政策研究所教育課程研究センター</a:t>
            </a:r>
          </a:p>
          <a:p>
            <a:pPr marL="0" indent="0">
              <a:buNone/>
            </a:pPr>
            <a:endParaRPr lang="ja-JP" altLang="en-US" sz="3200" b="1" dirty="0"/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9FDC9BD8-7EBE-54BA-2DD0-907608991ECC}"/>
              </a:ext>
            </a:extLst>
          </p:cNvPr>
          <p:cNvSpPr txBox="1">
            <a:spLocks/>
          </p:cNvSpPr>
          <p:nvPr/>
        </p:nvSpPr>
        <p:spPr>
          <a:xfrm>
            <a:off x="932757" y="5185804"/>
            <a:ext cx="10635699" cy="12191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b="1" dirty="0">
                <a:solidFill>
                  <a:schemeClr val="bg1"/>
                </a:solidFill>
              </a:rPr>
              <a:t>●特別支援学校小学部・中学部　学習評価参考資料 </a:t>
            </a:r>
            <a:endParaRPr lang="en-US" altLang="ja-JP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ja-JP" altLang="en-US" b="1" dirty="0">
                <a:solidFill>
                  <a:schemeClr val="bg1"/>
                </a:solidFill>
              </a:rPr>
              <a:t>　　　文部科学省</a:t>
            </a:r>
          </a:p>
          <a:p>
            <a:pPr marL="0" indent="0">
              <a:buNone/>
            </a:pPr>
            <a:endParaRPr lang="ja-JP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829974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3258</TotalTime>
  <Words>2312</Words>
  <Application>Microsoft Office PowerPoint</Application>
  <PresentationFormat>ワイド画面</PresentationFormat>
  <Paragraphs>417</Paragraphs>
  <Slides>42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42</vt:i4>
      </vt:variant>
    </vt:vector>
  </HeadingPairs>
  <TitlesOfParts>
    <vt:vector size="50" baseType="lpstr">
      <vt:lpstr>BIZ UDPGothic</vt:lpstr>
      <vt:lpstr>ＭＳ ゴシック</vt:lpstr>
      <vt:lpstr>UD デジタル 教科書体 N-B</vt:lpstr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１　本時の授業</vt:lpstr>
      <vt:lpstr>１　本時の授業</vt:lpstr>
      <vt:lpstr>１　本時の授業</vt:lpstr>
      <vt:lpstr>１　本時の授業</vt:lpstr>
      <vt:lpstr>１　本時の授業</vt:lpstr>
      <vt:lpstr>１　本時の授業</vt:lpstr>
      <vt:lpstr>１　本時の授業</vt:lpstr>
      <vt:lpstr>１　本時の授業</vt:lpstr>
      <vt:lpstr>１　本時の授業</vt:lpstr>
      <vt:lpstr>１　本時の授業</vt:lpstr>
      <vt:lpstr>１　本時の授業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令和７年度 練馬区立豊玉中学校 校内研究会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紺多　章一郎</dc:creator>
  <cp:lastModifiedBy>紺多　章一郎</cp:lastModifiedBy>
  <cp:revision>62</cp:revision>
  <cp:lastPrinted>2025-10-29T02:44:02Z</cp:lastPrinted>
  <dcterms:modified xsi:type="dcterms:W3CDTF">2026-05-13T00:57:28Z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2025-10-21T19:26:29Z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a2ab2787-c1e7-407f-a903-ef94d39b46a6</vt:lpwstr>
  </property>
  <property fmtid="{D5CDD505-2E9C-101B-9397-08002B2CF9AE}" pid="7" name="MSIP_Label_defa4170-0d19-0005-0004-bc88714345d2_ActionId">
    <vt:lpwstr>55dcd4d0-f373-41b2-92ee-a709bed95f59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