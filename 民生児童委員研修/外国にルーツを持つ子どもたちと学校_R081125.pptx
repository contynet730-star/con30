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はじめに" id="{c780d83c-d974-6f06-fca4-8d08958162dc}">
          <p14:sldIdLst>
            <p14:sldId id="256"/>
            <p14:sldId id="257"/>
            <p14:sldId id="258"/>
          </p14:sldIdLst>
        </p14:section>
        <p14:section name="１ 区内の状況" id="{fb981a24-7198-4841-98a4-43a4cf0581ba}">
          <p14:sldIdLst>
            <p14:sldId id="259"/>
            <p14:sldId id="260"/>
            <p14:sldId id="261"/>
            <p14:sldId id="262"/>
          </p14:sldIdLst>
        </p14:section>
        <p14:section name="２ 学校から見える課題" id="{c3383608-52de-9432-b2e9-614136ccaaeb}">
          <p14:sldIdLst>
            <p14:sldId id="263"/>
            <p14:sldId id="264"/>
            <p14:sldId id="265"/>
            <p14:sldId id="266"/>
            <p14:sldId id="267"/>
            <p14:sldId id="268"/>
          </p14:sldIdLst>
        </p14:section>
        <p14:section name="３ 学校と区の支援" id="{a02ae5a0-2ae2-ff19-69c5-894b1e134563}">
          <p14:sldIdLst>
            <p14:sldId id="269"/>
            <p14:sldId id="270"/>
            <p14:sldId id="271"/>
            <p14:sldId id="272"/>
            <p14:sldId id="273"/>
          </p14:sldIdLst>
        </p14:section>
        <p14:section name="４ 地域の皆様へ" id="{77f0998f-adb5-46e2-1f8f-d291ee2ac59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皆様、こんにちは。
ただいまご紹介いただきました、練馬区教育委員会 教育指導課の指導主事、〇〇 〇〇と申します。
本日は、このような貴重な機会をいただき、誠にありがとうございます。
民生・児童委員の皆様には、日頃から地域の子どもたちを温かく見守っていただいております。この場をお借りして、心より御礼申し上げます。
本日は、「外国にルーツを持つ子どもたちと学校」と題して、お話しさせていただきます。
30分ほどお話しした後、ご質問をお受けいたします。どうぞよろしくお願いいたします。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はじめに、皆様に少し想像していただきたいことがございます。
もし明日から、言葉の分からない外国の学校に通うことになったら、どうでしょうか。
先生の話が分からない。
友達に話しかけられない。
学校からのお便りが読めないので、持ち物もそろえられない。
大人の私たちでも、きっと、とても不安になると思います。
実は、練馬区の学校にも、毎日このような思いを抱えながら通っている子どもたちがいます。
本日は、そうした子どもたちのことを、少しでも身近に感じていただければ幸いです。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［目安：30秒］
本日は、こちらの四つについてお話しいたします。
一つ目は、区内の状況です。
二つ目は、学校から見える課題です。
三つ目は、学校と区の支援です。
そして四つ目は、地域の皆様へのお願いです。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それでは、一つ目の、区内の状況からお話しいたします。
令和7年5月1日現在、練馬区立の小中学校に通っている外国籍の子どもは、851人です。
小学校が626人、中学校が225人です。
およそ50人に1人の割合になります。
その前の年は785人でしたので、1年間で66人増えたことになります。
全国でも、公立学校に通う外国籍の子どもは、この10年で約2倍に増えております。練馬区も、同じように増えている状況です。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外国籍の子どもは、区内のどの学校にも同じようにいるわけではございません。
特に多いのが、光が丘地区の学校です。
光が丘春の風小学校では、児童のおよそ10人に1人が外国籍です。
今年の9月の時点で、外国籍の児童は63名。そのうち、日本語の指導が必要な子どもは、25名から35名ほどおります。
このほか、光が丘第八小学校、光が丘夏の雲小学校、光が丘秋の陽小学校なども、外国籍の子どもが多い学校です。
このように、地域によって状況が大きく違うことも、この課題の特徴の一つです。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次に、皆様にぜひ知っていただきたい数字がございます。
区に住民登録のある、小学1年生から中学3年生までの年齢の外国籍の子どもは、令和6年5月の時点で、1,192人でした。
そのうち、区立の小中学校に通っている子どもが785人、インターナショナルスクールなどに通っている子どもが257人、国立・都立・私立の学校などに通っている子どもが121人です。
そして、残りの29人は、どこの学校に通っているのかが分かっておりません。
引っ越しや帰国をしている可能性もございます。しかし、中には、学校に通えていない子どもがいるかもしれません。
もし地域で、「平日の昼間に、いつも家の近くにいる子どもがいる」といったことにお気づきになりましたら、ぜひ学校や区にお知らせいただければと思います。
地域の皆様の見守りが、とても大切です。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また、「外国籍」という数字だけでは見えない子どもたちもおります。
例えば、ご両親のどちらかが外国出身で、日本国籍を持っている子どもです。また、海外での生活が長く、日本に帰国した子どももおります。
こうした子どもたちは、日本国籍であっても、家庭では外国語で話していることが多くあります。
国籍が外国であっても、日本であっても、日本語の支援が必要な子どもがいる。このことを、ぜひ覚えておいていただければと思います。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
続いて、二つ目の、学校から見える課題についてお話しいたします。
まず、ぜひ知っていただきたいのが、「ことば」には二つの種類がある、ということです。
一つは、「生活のことば」です。
「おはよう」「トイレに行きたい」「一緒に遊ぼう」といった、毎日の生活で使う言葉です。子どもは、1年から2年ほどで身につけると言われております。
もう一つは、「勉強のことば」です。
「支える」「比べる」「理由を説明しましょう」といった、授業の中で使う言葉です。こちらは、学年に合った力が身につくまでに、5年以上かかると言われております。
日常の会話ができるようになると、周りの大人からは、「もう大丈夫だ」と見えてしまいます。
しかし実際には、授業の内容が分からずに困っている、ということがよくあります。
ここが、この課題の、見えにくいところです。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
ここで、光が丘春の風小学校での事例を二つご紹介いたします。どちらも、2年生の男の子です。
一人目のAさんは、スリランカ国籍で、日本に来て7か月です。家では、シンハラ語と英語を話しています。
あいさつや、「トイレに行きたい」ということは言えますが、ひらがなの読み書きは、まだできません。
国語の授業では、ふりがなの付いた教科書で、声に出して読むことはできました。しかし、「支える」「姿勢」といった言葉の意味は、分からないまま読んでいました。
二人目のBさんは、韓国籍で、日本に来て5年以上がたっています。
おしゃべりは得意で、ひらがなもカタカナも書けます。
しかし、作文や発表になると、「書いたことが分からなくなっちゃった」「もう読みたくない」と、手が止まってしまいます。
同じ2年生でも、困っていることはまったく違います。
だからこそ、一人一人に合わせた支援が必要なのです。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次は、区内の校長先生方からお聞きした事例です。
小学5年生のお子さんは、3年生の時に日本に来ました。日本語の講師の授業を受けて、会話はできるようになりました。しかし、授業中の先生の説明が分からず、話合いの活動にも参加できずにいます。
中学2年生のお子さんは、年齢より1学年下の学年に入りました。お母さんは、日本語が少ししか話せません。定期テストは、どの教科も10点から20点台です。
中学3年生のお子さんは、3年生の1学期に日本に来ました。英語は得意でしたが、日本語の読み書きに苦労し、高校受験がうまくいきませんでした。今は区外のフリースクールに通い、もう一度、受験の準備をしています。
生活には困らなくても、勉強のことばまでは届かず、希望する進路に進むことが難しい。
これが今、学校が直面している、大きな課題です。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全国の調査を見ましても、将来の進路に差が出ております。
大学などへの進学率は、高校生全体では、およそ75パーセントです。
それに対して、日本語の指導が必要な生徒は、およそ41パーセントにとどまっております。
小学校・中学校の時期に、学ぶ力をしっかりと身につけること。
それが、その子の将来の選択肢を広げることにつながっています。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ここで、ある中学生が書いた作文を、少しご紹介いたします。家庭では、ずっと中国語で話している生徒です。
作文には、このように書かれていました。
「小学一年生の時、毎日のように泣いていました。日本語が分からなくて、気持ちを伝えられないのがもどかしかったし、泣いたら誰かが助けてくれたからです。」
「そんな私が三年生の時、担任の先生が、私が何に困っているかに気づき、日本語の教室で勉強するのをすすめてくれました。」
この生徒は、その後、友達とのけんかを自分で解決できるようになり、学校生活が楽しくなったそうです。
そして作文の最後を、「自分の気持ちを自分の言葉で伝えて、たくさんの人とつながりたいです。」と結んでいます。
困っていることに気づいてくれる大人がいたことが、この子にとって、大きな転機になりました。
学校の先生だけではなく、地域の皆様にも、ぜひ、その「気づく大人」になっていただければと思います。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子どもの困りごとの背景には、家庭や保護者の困りごともございます。
例えば、学校からのお便りが日本語で書かれているため、読むことができない。
持ち物や行事、給食などの習慣が、母国とは違っていて戸惑う。
そして、近くに相談できる人がいない。
また、子どもは日本語がどんどん上手になる一方で、母国の言葉を忘れていき、親子で深い話ができなくなってしまう、ということも起きております。
こうした家庭の困りごとは、学校からは見えにくい部分でございます。だからこそ、地域の皆様のお力が必要だと考えております。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続いて、三つ目の、学校と区の支援についてお話しいたします。
まず、外国から来た子どもが、区立の学校に入学するまでの流れです。
はじめに、区役所で転入の手続きをしていただきます。その際、区の学務課が、入学の希望や、日本語が使えるかどうかを確認し、通う学校をご案内します。
次に、保護者の方に、「受け入れカード」を書いていただきます。日本語と英語の両方で書かれたカードです。
そして、学校で面談を行います。面談では、通訳やAI通訳機を使って、子どもの様子や家庭の状況をお聞きします。
その上で入学となり、支援が始まります。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実は、この受け入れカードには、このような質問がございます。
「ご近所に、日本語がわかる知人はいますか？」
日本語が分からない保護者にとって、近くに頼れる人がいるかどうかは、とても大切なことだからです。
地域のつながりが、外国から来た家庭の大きな支えになります。
民生・児童委員の皆様は、まさに、その「地域のつながり」の要となる方々だと考えております。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次に、区と学校の主な支援を、四つご紹介いたします。
一つ目は、日本語の先生の派遣です。日本語を教える資格を持った講師が学校へ行き、子どもに一対一で日本語を教えています。
二つ目は、学校の中にある日本語の教室です。日本語の指導を担当する教員が、専門的に指導しています。光が丘春の風小学校の「さくらルーム」が、その一つです。今後、光が丘第二中学校にも開設する予定です。
三つ目は、AI通訳機、ポケトークです。区立の全ての小中学校に、2台ずつ配備しております。
四つ目は、地域の「こども日本語教室」です。区の地域振興課が、毎月3回から4回、土曜日に開いております。ボランティアの皆様が、子どもたちに日本語を教えてくださっています。
このほか、東京都と連携して、小学校に入学する前のお子さん向けの日本語教室なども行っております。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こちらは、光が丘春の風小学校の「さくらルーム」で使っている教材です。
左の写真は、絵カードです。絵と文字を合わせながら、身の回りの物の名前を覚えます。
真ん中の写真は、質問カードです。「家族は何人ですか」「犬と猫、どちらが好きですか」といった質問に答えながら、会話の力をつけていきます。
右の写真は、ヘルプカードです。ひらがなの表や九九の表、「分かりません」などの気持ちを伝えるカードをまとめたもので、教室の机の横に掛けておきます。
日本に来たばかりの子どもには、まず、生活に必要な日本語から教えます。そして、ひらがななどの基礎を学び、半年から1年ほどかけて、教科の勉強につなげていきます。
また、さくらルームの先生と担任の先生が、毎週、子どもの様子を伝え合っています。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さくらルームができて、学校は、このように変わりました。
まず、転入してくる子どもを受け入れる準備が整いました。
次に、勉強の支援が充実しました。
そして、外国にルーツを持つ子どもへの、先生たちの理解が深まりました。
何よりうれしいのは、「学校が好き」「学校が楽しい」と答える子どもが増えたことです。
担任の先生一人で抱え込まず、学校全体がチームとなって子どもを育てる。これが、この取組から見えてきた、一番大切なことでございます。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
最後に、四つ目の、地域の皆様へのお願いでございます。民生・児童委員の皆様に、三つのことをお願いしたいと思います。
一つ目は、「声をかける」ことです。登下校の時や、地域でお会いした時に、笑顔であいさつをしていただく。それだけで、子どもや保護者にとっては、大きな安心につながります。
二つ目は、「気づいて、つなぐ」ことです。平日の昼間に、学校に行っていない様子の子どもがいる。生活に困っていそうな家庭がある。地域で孤立しているように見える。そのようなことにお気づきになりましたら、学校や区の窓口にお知らせください。
三つ目は、「違いを強みに」することです。母国の言葉や文化を大切にすることは、子どもの自信につながります。例えば、「お国の言葉では、何て言うの？」と聞いていただくだけでも、子どもはとてもうれしいも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
声をかけていただく時には、ぜひ「やさしい日本語」を使ってみてください。
「やさしい日本語」とは、外国の方にも分かりやすいように、簡単に言い換えた日本語のことです。
コツは、「はさみ」と覚えていただくと便利です。
「は」は、はっきり言う。
「さ」は、最後まで言う。例えば、「どうぞ」だけではなく、「座ってください」と、最後まで言います。
「み」は、短く言う。一つの文で、一つのことだけを伝えます。
例えば、「土足厳禁」という言葉は、「くつを脱いでください」と言い換えます。
やさしい日本語は、子どもにも、どなたにも伝わりやすい話し方です。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
本日は、区内の外国にルーツを持つ子どもたちの状況、学校から見える課題、学校と区の支援、そして地域の皆様へのお願いについて、お話しさせていただきました。
日本語が分からないことで、その子の持っている力や可能性が見えなくなってしまうことがないように。学校だけではなく、家庭、そして地域の皆様と一緒に、子どもたちを支えていきたいと考えております。
今後とも、どうぞよろしくお願いいたします。
ご清聴、誠にありがとうございました。
それでは、ご質問をお受けいたします。どうぞ、お気軽にお尋ねください。
［質疑応答の回答例］
問　外国の子どもが困っていそうな時、どこに連絡すればよいですか。
ご質問ありがとうございます。
まずは、そのお子さんが通っている学校の副校長にご連絡ください。
どこの学校に通っているのか分からない場合には、区の教育指導課、または子ども家庭支援センターにご連絡いただければ、関係する部署におつなぎいたします。
問　日本語が通じない保護者とは、どのように話せばよいですか。
ご質問ありがとうございます。
まずは、先ほどご紹介した「やさしい日本語」で、ゆっくり、短くお話しいただくのがよいと思います。
身振りや絵を使ったり、スマートフォンの翻訳アプリを使ったりすることも、とても効果があります。
問　子どもが日本語を学べる場所は、学校のほかにありますか。
ご質問ありがとうございます。
区の地域振興課が、「こども日本語教室」を開いております。毎月3回から4回、土曜日に開かれており、ボランティアの方が教えてくださっています。
日程などの詳しいことは、区のホームページでご確認いただけます。
問　外国籍の子どもは、日本の学校に通わなければならないのですか。
ご質問ありがとうございます。
外国籍のお子さんには、日本の法律上の就学の義務はございません。
ただし、希望すれば、日本の子どもと同じように、区立の小中学校で無償で学ぶことができます。
区としては、全ての子どもが学ぶ機会を得られるよう、就学のご案内に努めております。
問　その場でお答えできないご質問をいただいた場合
ご質問ありがとうございます。
大変申し訳ございませんが、ただいま手元に正確な資料がございません。
確認いたしまして、後日、事務局を通じてお答えさせていただきます。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rtlCol="0"/>
          <a:lstStyle>
            <a:lvl1pPr algn="ctr" indent="0" marL="0">
              <a:buNone/>
              <a:defRPr lang="en-US" sz="3600" b="1" dirty="0">
                <a:solidFill>
                  <a:schemeClr val="tx2"/>
                </a:solidFill>
                <a:latin typeface="BIZ UDPゴシック" pitchFamily="34" charset="0"/>
                <a:ea typeface="BIZ UDPゴシック" pitchFamily="34" charset="-122"/>
                <a:cs typeface="BIZ UDPゴシック" pitchFamily="34" charset="-120"/>
              </a:defRPr>
            </a:lvl1pPr>
          </a:lstStyle>
          <a:p>
            <a:pPr algn="ctr" indent="0" marL="0">
              <a:buNone/>
            </a:pPr>
            <a:endParaRPr lang="en-US" sz="36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6035040" cy="457200"/>
          </a:xfrm>
          <a:prstGeom prst="rect">
            <a:avLst/>
          </a:prstGeom>
          <a:noFill/>
          <a:ln/>
        </p:spPr>
        <p:txBody>
          <a:bodyPr wrap="square" lIns="0" tIns="0" rIns="0" bIns="0" rtlCol="0" anchor="ctr"/>
          <a:lstStyle/>
          <a:p>
            <a:pPr indent="0" marL="0">
              <a:buNone/>
            </a:pPr>
            <a:r>
              <a:rPr lang="en-US" sz="2000" b="1" dirty="0">
                <a:solidFill>
                  <a:srgbClr val="F6C87A"/>
                </a:solidFill>
                <a:latin typeface="BIZ UDPゴシック" pitchFamily="34" charset="0"/>
                <a:ea typeface="BIZ UDPゴシック" pitchFamily="34" charset="-122"/>
                <a:cs typeface="BIZ UDPゴシック" pitchFamily="34" charset="-120"/>
              </a:rPr>
              <a:t>民生・児童委員 自主研修部会「児童福祉部会」</a:t>
            </a:r>
            <a:endParaRPr lang="en-US" sz="2000" dirty="0"/>
          </a:p>
        </p:txBody>
      </p:sp>
      <p:sp>
        <p:nvSpPr>
          <p:cNvPr id="3" name="Text 1"/>
          <p:cNvSpPr txBox="1"/>
          <p:nvPr/>
        </p:nvSpPr>
        <p:spPr>
          <a:xfrm>
            <a:off x="640080" y="1554480"/>
            <a:ext cx="6035040" cy="1828800"/>
          </a:xfrm>
          <a:prstGeom prst="rect">
            <a:avLst/>
          </a:prstGeom>
          <a:noFill/>
          <a:ln/>
        </p:spPr>
        <p:txBody>
          <a:bodyPr wrap="square" lIns="0" tIns="0" rIns="0" bIns="0" rtlCol="0" anchor="ctr"/>
          <a:lstStyle/>
          <a:p>
            <a:pPr indent="0" marL="0">
              <a:lnSpc>
                <a:spcPct val="110000"/>
              </a:lnSpc>
              <a:buNone/>
            </a:pPr>
            <a:r>
              <a:rPr lang="en-US" sz="4600" b="1" dirty="0">
                <a:solidFill>
                  <a:schemeClr val="bg1"/>
                </a:solidFill>
                <a:latin typeface="BIZ UDPゴシック" pitchFamily="34" charset="0"/>
                <a:ea typeface="BIZ UDPゴシック" pitchFamily="34" charset="-122"/>
                <a:cs typeface="BIZ UDPゴシック" pitchFamily="34" charset="-120"/>
              </a:rPr>
              <a:t>外国にルーツを持つ</a:t>
            </a:r>
            <a:endParaRPr lang="en-US" sz="4600" dirty="0"/>
          </a:p>
          <a:p>
            <a:pPr indent="0" marL="0">
              <a:lnSpc>
                <a:spcPct val="110000"/>
              </a:lnSpc>
              <a:buNone/>
            </a:pPr>
            <a:r>
              <a:rPr lang="en-US" sz="4600" b="1" dirty="0">
                <a:solidFill>
                  <a:schemeClr val="bg1"/>
                </a:solidFill>
                <a:latin typeface="BIZ UDPゴシック" pitchFamily="34" charset="0"/>
                <a:ea typeface="BIZ UDPゴシック" pitchFamily="34" charset="-122"/>
                <a:cs typeface="BIZ UDPゴシック" pitchFamily="34" charset="-120"/>
              </a:rPr>
              <a:t>子どもたちと学校</a:t>
            </a:r>
            <a:endParaRPr lang="en-US" sz="4600" dirty="0"/>
          </a:p>
        </p:txBody>
      </p:sp>
      <p:sp>
        <p:nvSpPr>
          <p:cNvPr id="4" name="Text 2"/>
          <p:cNvSpPr txBox="1"/>
          <p:nvPr/>
        </p:nvSpPr>
        <p:spPr>
          <a:xfrm>
            <a:off x="640080" y="3886200"/>
            <a:ext cx="5852160" cy="457200"/>
          </a:xfrm>
          <a:prstGeom prst="rect">
            <a:avLst/>
          </a:prstGeom>
          <a:noFill/>
          <a:ln/>
        </p:spPr>
        <p:txBody>
          <a:bodyPr wrap="square" lIns="0" tIns="0" rIns="0" bIns="0" rtlCol="0" anchor="ctr"/>
          <a:lstStyle/>
          <a:p>
            <a:pPr indent="0" marL="0">
              <a:buNone/>
            </a:pPr>
            <a:r>
              <a:rPr lang="en-US" sz="2200" dirty="0">
                <a:solidFill>
                  <a:srgbClr val="CFE6E8"/>
                </a:solidFill>
                <a:latin typeface="BIZ UDPゴシック" pitchFamily="34" charset="0"/>
                <a:ea typeface="BIZ UDPゴシック" pitchFamily="34" charset="-122"/>
                <a:cs typeface="BIZ UDPゴシック" pitchFamily="34" charset="-120"/>
              </a:rPr>
              <a:t>令和8年11月25日（水）</a:t>
            </a:r>
            <a:endParaRPr lang="en-US" sz="2200" dirty="0"/>
          </a:p>
        </p:txBody>
      </p:sp>
      <p:sp>
        <p:nvSpPr>
          <p:cNvPr id="5" name="Text 3"/>
          <p:cNvSpPr txBox="1"/>
          <p:nvPr/>
        </p:nvSpPr>
        <p:spPr>
          <a:xfrm>
            <a:off x="640080" y="4846320"/>
            <a:ext cx="5852160" cy="1005840"/>
          </a:xfrm>
          <a:prstGeom prst="rect">
            <a:avLst/>
          </a:prstGeom>
          <a:noFill/>
          <a:ln/>
        </p:spPr>
        <p:txBody>
          <a:bodyPr wrap="square" lIns="0" tIns="0" rIns="0" bIns="0" rtlCol="0" anchor="t"/>
          <a:lstStyle/>
          <a:p>
            <a:pPr indent="0" marL="0">
              <a:lnSpc>
                <a:spcPct val="120000"/>
              </a:lnSpc>
              <a:buNone/>
            </a:pPr>
            <a:r>
              <a:rPr lang="en-US" sz="2200" b="1" dirty="0">
                <a:solidFill>
                  <a:schemeClr val="bg1"/>
                </a:solidFill>
                <a:latin typeface="BIZ UDPゴシック" pitchFamily="34" charset="0"/>
                <a:ea typeface="BIZ UDPゴシック" pitchFamily="34" charset="-122"/>
                <a:cs typeface="BIZ UDPゴシック" pitchFamily="34" charset="-120"/>
              </a:rPr>
              <a:t>練馬区教育委員会　教育指導課</a:t>
            </a:r>
            <a:endParaRPr lang="en-US" sz="2200" dirty="0"/>
          </a:p>
          <a:p>
            <a:pPr indent="0" marL="0">
              <a:lnSpc>
                <a:spcPct val="120000"/>
              </a:lnSpc>
              <a:buNone/>
            </a:pPr>
            <a:r>
              <a:rPr lang="en-US" sz="2200" b="1" dirty="0">
                <a:solidFill>
                  <a:schemeClr val="bg1"/>
                </a:solidFill>
                <a:latin typeface="BIZ UDPゴシック" pitchFamily="34" charset="0"/>
                <a:ea typeface="BIZ UDPゴシック" pitchFamily="34" charset="-122"/>
                <a:cs typeface="BIZ UDPゴシック" pitchFamily="34" charset="-120"/>
              </a:rPr>
              <a:t>指導主事　〇〇 〇〇</a:t>
            </a:r>
            <a:endParaRPr lang="en-US" sz="2200" dirty="0"/>
          </a:p>
        </p:txBody>
      </p:sp>
      <p:pic>
        <p:nvPicPr>
          <p:cNvPr id="6" name="Image 0" descr="通学路を歩く子どもたちのイラスト">    </p:cNvPr>
          <p:cNvPicPr>
            <a:picLocks noChangeAspect="1"/>
          </p:cNvPicPr>
          <p:nvPr/>
        </p:nvPicPr>
        <p:blipFill>
          <a:blip r:embed="rId1"/>
          <a:stretch>
            <a:fillRect/>
          </a:stretch>
        </p:blipFill>
        <p:spPr>
          <a:xfrm>
            <a:off x="6766560" y="1828800"/>
            <a:ext cx="4937760" cy="2697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想像してみてください</a:t>
            </a:r>
            <a:endParaRPr lang="en-US" sz="3600" dirty="0"/>
          </a:p>
        </p:txBody>
      </p:sp>
      <p:pic>
        <p:nvPicPr>
          <p:cNvPr id="4" name="Image 0" descr="教科書を前に困った表情の子どものイラスト">    </p:cNvPr>
          <p:cNvPicPr>
            <a:picLocks noChangeAspect="1"/>
          </p:cNvPicPr>
          <p:nvPr/>
        </p:nvPicPr>
        <p:blipFill>
          <a:blip r:embed="rId1"/>
          <a:stretch>
            <a:fillRect/>
          </a:stretch>
        </p:blipFill>
        <p:spPr>
          <a:xfrm>
            <a:off x="548640" y="1737360"/>
            <a:ext cx="5486400" cy="2999232"/>
          </a:xfrm>
          <a:prstGeom prst="rect">
            <a:avLst/>
          </a:prstGeom>
        </p:spPr>
      </p:pic>
      <p:sp>
        <p:nvSpPr>
          <p:cNvPr id="5" name="voice-0"/>
          <p:cNvSpPr/>
          <p:nvPr/>
        </p:nvSpPr>
        <p:spPr>
          <a:xfrm>
            <a:off x="6400800" y="1828800"/>
            <a:ext cx="5212080" cy="822960"/>
          </a:xfrm>
          <a:prstGeom prst="roundRect">
            <a:avLst>
              <a:gd name="adj" fmla="val 16667"/>
            </a:avLst>
          </a:prstGeom>
          <a:solidFill>
            <a:schemeClr val="bg2"/>
          </a:solidFill>
          <a:ln/>
        </p:spPr>
        <p:txBody>
          <a:bodyPr wrap="square" lIns="0" tIns="0" rIns="0" bIns="0" rtlCol="0" anchor="ctr"/>
          <a:lstStyle/>
          <a:p>
            <a:pPr algn="ctr" indent="0" marL="0">
              <a:buNone/>
            </a:pPr>
            <a:r>
              <a:rPr lang="en-US" sz="2800" dirty="0">
                <a:solidFill>
                  <a:schemeClr val="tx1"/>
                </a:solidFill>
                <a:latin typeface="BIZ UDPゴシック" pitchFamily="34" charset="0"/>
                <a:ea typeface="BIZ UDPゴシック" pitchFamily="34" charset="-122"/>
                <a:cs typeface="BIZ UDPゴシック" pitchFamily="34" charset="-120"/>
              </a:rPr>
              <a:t>先生の話が分からない</a:t>
            </a:r>
            <a:endParaRPr lang="en-US" sz="2800" dirty="0"/>
          </a:p>
        </p:txBody>
      </p:sp>
      <p:sp>
        <p:nvSpPr>
          <p:cNvPr id="6" name="voice-1"/>
          <p:cNvSpPr/>
          <p:nvPr/>
        </p:nvSpPr>
        <p:spPr>
          <a:xfrm>
            <a:off x="6400800" y="2834640"/>
            <a:ext cx="5212080" cy="822960"/>
          </a:xfrm>
          <a:prstGeom prst="roundRect">
            <a:avLst>
              <a:gd name="adj" fmla="val 16667"/>
            </a:avLst>
          </a:prstGeom>
          <a:solidFill>
            <a:schemeClr val="bg2"/>
          </a:solidFill>
          <a:ln/>
        </p:spPr>
        <p:txBody>
          <a:bodyPr wrap="square" lIns="0" tIns="0" rIns="0" bIns="0" rtlCol="0" anchor="ctr"/>
          <a:lstStyle/>
          <a:p>
            <a:pPr algn="ctr" indent="0" marL="0">
              <a:buNone/>
            </a:pPr>
            <a:r>
              <a:rPr lang="en-US" sz="2800" dirty="0">
                <a:solidFill>
                  <a:schemeClr val="tx1"/>
                </a:solidFill>
                <a:latin typeface="BIZ UDPゴシック" pitchFamily="34" charset="0"/>
                <a:ea typeface="BIZ UDPゴシック" pitchFamily="34" charset="-122"/>
                <a:cs typeface="BIZ UDPゴシック" pitchFamily="34" charset="-120"/>
              </a:rPr>
              <a:t>友達に話しかけられない</a:t>
            </a:r>
            <a:endParaRPr lang="en-US" sz="2800" dirty="0"/>
          </a:p>
        </p:txBody>
      </p:sp>
      <p:sp>
        <p:nvSpPr>
          <p:cNvPr id="7" name="voice-2"/>
          <p:cNvSpPr/>
          <p:nvPr/>
        </p:nvSpPr>
        <p:spPr>
          <a:xfrm>
            <a:off x="6400800" y="3840480"/>
            <a:ext cx="5212080" cy="822960"/>
          </a:xfrm>
          <a:prstGeom prst="roundRect">
            <a:avLst>
              <a:gd name="adj" fmla="val 16667"/>
            </a:avLst>
          </a:prstGeom>
          <a:solidFill>
            <a:schemeClr val="bg2"/>
          </a:solidFill>
          <a:ln/>
        </p:spPr>
        <p:txBody>
          <a:bodyPr wrap="square" lIns="0" tIns="0" rIns="0" bIns="0" rtlCol="0" anchor="ctr"/>
          <a:lstStyle/>
          <a:p>
            <a:pPr algn="ctr" indent="0" marL="0">
              <a:buNone/>
            </a:pPr>
            <a:r>
              <a:rPr lang="en-US" sz="2800" dirty="0">
                <a:solidFill>
                  <a:schemeClr val="tx1"/>
                </a:solidFill>
                <a:latin typeface="BIZ UDPゴシック" pitchFamily="34" charset="0"/>
                <a:ea typeface="BIZ UDPゴシック" pitchFamily="34" charset="-122"/>
                <a:cs typeface="BIZ UDPゴシック" pitchFamily="34" charset="-120"/>
              </a:rPr>
              <a:t>お便りが読めない</a:t>
            </a:r>
            <a:endParaRPr lang="en-US" sz="2800" dirty="0"/>
          </a:p>
        </p:txBody>
      </p:sp>
      <p:sp>
        <p:nvSpPr>
          <p:cNvPr id="8" name="Text 4"/>
          <p:cNvSpPr txBox="1"/>
          <p:nvPr/>
        </p:nvSpPr>
        <p:spPr>
          <a:xfrm>
            <a:off x="548640" y="5074920"/>
            <a:ext cx="11064240" cy="731520"/>
          </a:xfrm>
          <a:prstGeom prst="rect">
            <a:avLst/>
          </a:prstGeom>
          <a:noFill/>
          <a:ln/>
        </p:spPr>
        <p:txBody>
          <a:bodyPr wrap="square" lIns="0" tIns="0" rIns="0" bIns="0" rtlCol="0" anchor="ctr"/>
          <a:lstStyle/>
          <a:p>
            <a:pPr algn="ctr" indent="0" marL="0">
              <a:buNone/>
            </a:pPr>
            <a:r>
              <a:rPr lang="en-US" sz="2800" b="1" dirty="0">
                <a:solidFill>
                  <a:schemeClr val="accent2"/>
                </a:solidFill>
                <a:latin typeface="BIZ UDPゴシック" pitchFamily="34" charset="0"/>
                <a:ea typeface="BIZ UDPゴシック" pitchFamily="34" charset="-122"/>
                <a:cs typeface="BIZ UDPゴシック" pitchFamily="34" charset="-120"/>
              </a:rPr>
              <a:t>言葉の分からない国の学校に、明日から通うとしたら…</a:t>
            </a:r>
            <a:endParaRPr lang="en-US" sz="28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本日お話しすること</a:t>
            </a:r>
            <a:endParaRPr lang="en-US" sz="3600" dirty="0"/>
          </a:p>
        </p:txBody>
      </p:sp>
      <p:sp>
        <p:nvSpPr>
          <p:cNvPr id="4" name="num-0"/>
          <p:cNvSpPr/>
          <p:nvPr/>
        </p:nvSpPr>
        <p:spPr>
          <a:xfrm>
            <a:off x="2377440" y="1737360"/>
            <a:ext cx="868680" cy="868680"/>
          </a:xfrm>
          <a:prstGeom prst="ellipse">
            <a:avLst/>
          </a:prstGeom>
          <a:solidFill>
            <a:schemeClr val="accent1"/>
          </a:solidFill>
          <a:ln/>
        </p:spPr>
        <p:txBody>
          <a:bodyPr wrap="square" lIns="0" tIns="0" rIns="0" bIns="0" rtlCol="0" anchor="ctr"/>
          <a:lstStyle/>
          <a:p>
            <a:pPr algn="ctr" indent="0" marL="0">
              <a:buNone/>
            </a:pPr>
            <a:r>
              <a:rPr lang="en-US" sz="3400" b="1" dirty="0">
                <a:solidFill>
                  <a:schemeClr val="bg1"/>
                </a:solidFill>
                <a:latin typeface="BIZ UDPゴシック" pitchFamily="34" charset="0"/>
                <a:ea typeface="BIZ UDPゴシック" pitchFamily="34" charset="-122"/>
                <a:cs typeface="BIZ UDPゴシック" pitchFamily="34" charset="-120"/>
              </a:rPr>
              <a:t>1</a:t>
            </a:r>
            <a:endParaRPr lang="en-US" sz="3400" dirty="0"/>
          </a:p>
        </p:txBody>
      </p:sp>
      <p:sp>
        <p:nvSpPr>
          <p:cNvPr id="5" name="Text 2"/>
          <p:cNvSpPr txBox="1"/>
          <p:nvPr/>
        </p:nvSpPr>
        <p:spPr>
          <a:xfrm>
            <a:off x="3566160" y="1737360"/>
            <a:ext cx="6858000" cy="868680"/>
          </a:xfrm>
          <a:prstGeom prst="rect">
            <a:avLst/>
          </a:prstGeom>
          <a:noFill/>
          <a:ln/>
        </p:spPr>
        <p:txBody>
          <a:bodyPr wrap="square" lIns="0" tIns="0" rIns="0" bIns="0" rtlCol="0" anchor="ctr"/>
          <a:lstStyle/>
          <a:p>
            <a:pPr indent="0" marL="0">
              <a:buNone/>
            </a:pPr>
            <a:r>
              <a:rPr lang="en-US" sz="3400" b="1" dirty="0">
                <a:solidFill>
                  <a:schemeClr val="tx1"/>
                </a:solidFill>
                <a:latin typeface="BIZ UDPゴシック" pitchFamily="34" charset="0"/>
                <a:ea typeface="BIZ UDPゴシック" pitchFamily="34" charset="-122"/>
                <a:cs typeface="BIZ UDPゴシック" pitchFamily="34" charset="-120"/>
              </a:rPr>
              <a:t>区内の状況</a:t>
            </a:r>
            <a:endParaRPr lang="en-US" sz="3400" dirty="0"/>
          </a:p>
        </p:txBody>
      </p:sp>
      <p:sp>
        <p:nvSpPr>
          <p:cNvPr id="6" name="num-1"/>
          <p:cNvSpPr/>
          <p:nvPr/>
        </p:nvSpPr>
        <p:spPr>
          <a:xfrm>
            <a:off x="2377440" y="2834640"/>
            <a:ext cx="868680" cy="868680"/>
          </a:xfrm>
          <a:prstGeom prst="ellipse">
            <a:avLst/>
          </a:prstGeom>
          <a:solidFill>
            <a:schemeClr val="accent2"/>
          </a:solidFill>
          <a:ln/>
        </p:spPr>
        <p:txBody>
          <a:bodyPr wrap="square" lIns="0" tIns="0" rIns="0" bIns="0" rtlCol="0" anchor="ctr"/>
          <a:lstStyle/>
          <a:p>
            <a:pPr algn="ctr" indent="0" marL="0">
              <a:buNone/>
            </a:pPr>
            <a:r>
              <a:rPr lang="en-US" sz="3400" b="1" dirty="0">
                <a:solidFill>
                  <a:schemeClr val="bg1"/>
                </a:solidFill>
                <a:latin typeface="BIZ UDPゴシック" pitchFamily="34" charset="0"/>
                <a:ea typeface="BIZ UDPゴシック" pitchFamily="34" charset="-122"/>
                <a:cs typeface="BIZ UDPゴシック" pitchFamily="34" charset="-120"/>
              </a:rPr>
              <a:t>2</a:t>
            </a:r>
            <a:endParaRPr lang="en-US" sz="3400" dirty="0"/>
          </a:p>
        </p:txBody>
      </p:sp>
      <p:sp>
        <p:nvSpPr>
          <p:cNvPr id="7" name="Text 4"/>
          <p:cNvSpPr txBox="1"/>
          <p:nvPr/>
        </p:nvSpPr>
        <p:spPr>
          <a:xfrm>
            <a:off x="3566160" y="2834640"/>
            <a:ext cx="6858000" cy="868680"/>
          </a:xfrm>
          <a:prstGeom prst="rect">
            <a:avLst/>
          </a:prstGeom>
          <a:noFill/>
          <a:ln/>
        </p:spPr>
        <p:txBody>
          <a:bodyPr wrap="square" lIns="0" tIns="0" rIns="0" bIns="0" rtlCol="0" anchor="ctr"/>
          <a:lstStyle/>
          <a:p>
            <a:pPr indent="0" marL="0">
              <a:buNone/>
            </a:pPr>
            <a:r>
              <a:rPr lang="en-US" sz="3400" b="1" dirty="0">
                <a:solidFill>
                  <a:schemeClr val="tx1"/>
                </a:solidFill>
                <a:latin typeface="BIZ UDPゴシック" pitchFamily="34" charset="0"/>
                <a:ea typeface="BIZ UDPゴシック" pitchFamily="34" charset="-122"/>
                <a:cs typeface="BIZ UDPゴシック" pitchFamily="34" charset="-120"/>
              </a:rPr>
              <a:t>学校から見える課題</a:t>
            </a:r>
            <a:endParaRPr lang="en-US" sz="3400" dirty="0"/>
          </a:p>
        </p:txBody>
      </p:sp>
      <p:sp>
        <p:nvSpPr>
          <p:cNvPr id="8" name="num-2"/>
          <p:cNvSpPr/>
          <p:nvPr/>
        </p:nvSpPr>
        <p:spPr>
          <a:xfrm>
            <a:off x="2377440" y="3931920"/>
            <a:ext cx="868680" cy="868680"/>
          </a:xfrm>
          <a:prstGeom prst="ellipse">
            <a:avLst/>
          </a:prstGeom>
          <a:solidFill>
            <a:schemeClr val="accent4"/>
          </a:solidFill>
          <a:ln/>
        </p:spPr>
        <p:txBody>
          <a:bodyPr wrap="square" lIns="0" tIns="0" rIns="0" bIns="0" rtlCol="0" anchor="ctr"/>
          <a:lstStyle/>
          <a:p>
            <a:pPr algn="ctr" indent="0" marL="0">
              <a:buNone/>
            </a:pPr>
            <a:r>
              <a:rPr lang="en-US" sz="3400" b="1" dirty="0">
                <a:solidFill>
                  <a:schemeClr val="bg1"/>
                </a:solidFill>
                <a:latin typeface="BIZ UDPゴシック" pitchFamily="34" charset="0"/>
                <a:ea typeface="BIZ UDPゴシック" pitchFamily="34" charset="-122"/>
                <a:cs typeface="BIZ UDPゴシック" pitchFamily="34" charset="-120"/>
              </a:rPr>
              <a:t>3</a:t>
            </a:r>
            <a:endParaRPr lang="en-US" sz="3400" dirty="0"/>
          </a:p>
        </p:txBody>
      </p:sp>
      <p:sp>
        <p:nvSpPr>
          <p:cNvPr id="9" name="Text 6"/>
          <p:cNvSpPr txBox="1"/>
          <p:nvPr/>
        </p:nvSpPr>
        <p:spPr>
          <a:xfrm>
            <a:off x="3566160" y="3931920"/>
            <a:ext cx="6858000" cy="868680"/>
          </a:xfrm>
          <a:prstGeom prst="rect">
            <a:avLst/>
          </a:prstGeom>
          <a:noFill/>
          <a:ln/>
        </p:spPr>
        <p:txBody>
          <a:bodyPr wrap="square" lIns="0" tIns="0" rIns="0" bIns="0" rtlCol="0" anchor="ctr"/>
          <a:lstStyle/>
          <a:p>
            <a:pPr indent="0" marL="0">
              <a:buNone/>
            </a:pPr>
            <a:r>
              <a:rPr lang="en-US" sz="3400" b="1" dirty="0">
                <a:solidFill>
                  <a:schemeClr val="tx1"/>
                </a:solidFill>
                <a:latin typeface="BIZ UDPゴシック" pitchFamily="34" charset="0"/>
                <a:ea typeface="BIZ UDPゴシック" pitchFamily="34" charset="-122"/>
                <a:cs typeface="BIZ UDPゴシック" pitchFamily="34" charset="-120"/>
              </a:rPr>
              <a:t>学校と区の支援</a:t>
            </a:r>
            <a:endParaRPr lang="en-US" sz="3400" dirty="0"/>
          </a:p>
        </p:txBody>
      </p:sp>
      <p:sp>
        <p:nvSpPr>
          <p:cNvPr id="10" name="num-3"/>
          <p:cNvSpPr/>
          <p:nvPr/>
        </p:nvSpPr>
        <p:spPr>
          <a:xfrm>
            <a:off x="2377440" y="5029200"/>
            <a:ext cx="868680" cy="868680"/>
          </a:xfrm>
          <a:prstGeom prst="ellipse">
            <a:avLst/>
          </a:prstGeom>
          <a:solidFill>
            <a:schemeClr val="accent3"/>
          </a:solidFill>
          <a:ln/>
        </p:spPr>
        <p:txBody>
          <a:bodyPr wrap="square" lIns="0" tIns="0" rIns="0" bIns="0" rtlCol="0" anchor="ctr"/>
          <a:lstStyle/>
          <a:p>
            <a:pPr algn="ctr" indent="0" marL="0">
              <a:buNone/>
            </a:pPr>
            <a:r>
              <a:rPr lang="en-US" sz="3400" b="1" dirty="0">
                <a:solidFill>
                  <a:schemeClr val="bg1"/>
                </a:solidFill>
                <a:latin typeface="BIZ UDPゴシック" pitchFamily="34" charset="0"/>
                <a:ea typeface="BIZ UDPゴシック" pitchFamily="34" charset="-122"/>
                <a:cs typeface="BIZ UDPゴシック" pitchFamily="34" charset="-120"/>
              </a:rPr>
              <a:t>4</a:t>
            </a:r>
            <a:endParaRPr lang="en-US" sz="3400" dirty="0"/>
          </a:p>
        </p:txBody>
      </p:sp>
      <p:sp>
        <p:nvSpPr>
          <p:cNvPr id="11" name="Text 8"/>
          <p:cNvSpPr txBox="1"/>
          <p:nvPr/>
        </p:nvSpPr>
        <p:spPr>
          <a:xfrm>
            <a:off x="3566160" y="5029200"/>
            <a:ext cx="6858000" cy="868680"/>
          </a:xfrm>
          <a:prstGeom prst="rect">
            <a:avLst/>
          </a:prstGeom>
          <a:noFill/>
          <a:ln/>
        </p:spPr>
        <p:txBody>
          <a:bodyPr wrap="square" lIns="0" tIns="0" rIns="0" bIns="0" rtlCol="0" anchor="ctr"/>
          <a:lstStyle/>
          <a:p>
            <a:pPr indent="0" marL="0">
              <a:buNone/>
            </a:pPr>
            <a:r>
              <a:rPr lang="en-US" sz="3400" b="1" dirty="0">
                <a:solidFill>
                  <a:schemeClr val="tx1"/>
                </a:solidFill>
                <a:latin typeface="BIZ UDPゴシック" pitchFamily="34" charset="0"/>
                <a:ea typeface="BIZ UDPゴシック" pitchFamily="34" charset="-122"/>
                <a:cs typeface="BIZ UDPゴシック" pitchFamily="34" charset="-120"/>
              </a:rPr>
              <a:t>地域の皆様へのお願い</a:t>
            </a:r>
            <a:endParaRPr lang="en-US" sz="3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区立小中学校に通う外国籍の子ども</a:t>
            </a:r>
            <a:endParaRPr lang="en-US" sz="3600" dirty="0"/>
          </a:p>
        </p:txBody>
      </p:sp>
      <p:sp>
        <p:nvSpPr>
          <p:cNvPr id="4" name="Text 1"/>
          <p:cNvSpPr txBox="1"/>
          <p:nvPr/>
        </p:nvSpPr>
        <p:spPr>
          <a:xfrm>
            <a:off x="548640" y="1600200"/>
            <a:ext cx="11064240" cy="2194560"/>
          </a:xfrm>
          <a:prstGeom prst="rect">
            <a:avLst/>
          </a:prstGeom>
          <a:noFill/>
          <a:ln/>
        </p:spPr>
        <p:txBody>
          <a:bodyPr wrap="square" lIns="0" tIns="0" rIns="0" bIns="0" rtlCol="0" anchor="ctr"/>
          <a:lstStyle/>
          <a:p>
            <a:pPr algn="ctr" indent="0" marL="0">
              <a:buNone/>
            </a:pPr>
            <a:r>
              <a:rPr lang="en-US" sz="14000" b="1" dirty="0">
                <a:solidFill>
                  <a:schemeClr val="accent2"/>
                </a:solidFill>
                <a:latin typeface="BIZ UDPゴシック" pitchFamily="34" charset="0"/>
                <a:ea typeface="BIZ UDPゴシック" pitchFamily="34" charset="-122"/>
                <a:cs typeface="BIZ UDPゴシック" pitchFamily="34" charset="-120"/>
              </a:rPr>
              <a:t>851</a:t>
            </a:r>
            <a:pPr algn="ctr" indent="0" marL="0">
              <a:buNone/>
            </a:pPr>
            <a:r>
              <a:rPr lang="en-US" sz="5400" b="1" dirty="0">
                <a:solidFill>
                  <a:schemeClr val="accent2"/>
                </a:solidFill>
                <a:latin typeface="BIZ UDPゴシック" pitchFamily="34" charset="0"/>
                <a:ea typeface="BIZ UDPゴシック" pitchFamily="34" charset="-122"/>
                <a:cs typeface="BIZ UDPゴシック" pitchFamily="34" charset="-120"/>
              </a:rPr>
              <a:t>人</a:t>
            </a:r>
            <a:endParaRPr lang="en-US" sz="14000" dirty="0"/>
          </a:p>
        </p:txBody>
      </p:sp>
      <p:sp>
        <p:nvSpPr>
          <p:cNvPr id="5" name="Text 2"/>
          <p:cNvSpPr txBox="1"/>
          <p:nvPr/>
        </p:nvSpPr>
        <p:spPr>
          <a:xfrm>
            <a:off x="548640" y="3840480"/>
            <a:ext cx="11064240" cy="7772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およそ 50人に1人</a:t>
            </a:r>
            <a:endParaRPr lang="en-US" sz="3600" dirty="0"/>
          </a:p>
        </p:txBody>
      </p:sp>
      <p:sp>
        <p:nvSpPr>
          <p:cNvPr id="6" name="increase"/>
          <p:cNvSpPr/>
          <p:nvPr/>
        </p:nvSpPr>
        <p:spPr>
          <a:xfrm>
            <a:off x="3108960" y="4892040"/>
            <a:ext cx="5943600" cy="868680"/>
          </a:xfrm>
          <a:prstGeom prst="roundRect">
            <a:avLst>
              <a:gd name="adj" fmla="val 15789"/>
            </a:avLst>
          </a:prstGeom>
          <a:solidFill>
            <a:schemeClr val="bg2"/>
          </a:solidFill>
          <a:ln/>
        </p:spPr>
        <p:txBody>
          <a:bodyPr wrap="square" lIns="0" tIns="0" rIns="0" bIns="0" rtlCol="0" anchor="ctr"/>
          <a:lstStyle/>
          <a:p>
            <a:pPr algn="ctr" indent="0" marL="0">
              <a:buNone/>
            </a:pPr>
            <a:r>
              <a:rPr lang="en-US" sz="2800" dirty="0">
                <a:solidFill>
                  <a:schemeClr val="tx1"/>
                </a:solidFill>
                <a:latin typeface="BIZ UDPゴシック" pitchFamily="34" charset="0"/>
                <a:ea typeface="BIZ UDPゴシック" pitchFamily="34" charset="-122"/>
                <a:cs typeface="BIZ UDPゴシック" pitchFamily="34" charset="-120"/>
              </a:rPr>
              <a:t>1年で 66人 増えました</a:t>
            </a:r>
            <a:endParaRPr lang="en-US" sz="2800" dirty="0"/>
          </a:p>
        </p:txBody>
      </p:sp>
      <p:sp>
        <p:nvSpPr>
          <p:cNvPr id="7" name="Text 4"/>
          <p:cNvSpPr txBox="1"/>
          <p:nvPr/>
        </p:nvSpPr>
        <p:spPr>
          <a:xfrm>
            <a:off x="548640" y="6263640"/>
            <a:ext cx="10332720" cy="365760"/>
          </a:xfrm>
          <a:prstGeom prst="rect">
            <a:avLst/>
          </a:prstGeom>
          <a:noFill/>
          <a:ln/>
        </p:spPr>
        <p:txBody>
          <a:bodyPr wrap="square" lIns="0" tIns="0" rIns="0" bIns="0" rtlCol="0" anchor="ctr"/>
          <a:lstStyle/>
          <a:p>
            <a:pPr indent="0" marL="0">
              <a:buNone/>
            </a:pPr>
            <a:r>
              <a:rPr lang="en-US" sz="1400" dirty="0">
                <a:solidFill>
                  <a:schemeClr val="accent6"/>
                </a:solidFill>
                <a:latin typeface="BIZ UDPゴシック" pitchFamily="34" charset="0"/>
                <a:ea typeface="BIZ UDPゴシック" pitchFamily="34" charset="-122"/>
                <a:cs typeface="BIZ UDPゴシック" pitchFamily="34" charset="-120"/>
              </a:rPr>
              <a:t>令和7年5月1日現在（学校基本調査）</a:t>
            </a:r>
            <a:endParaRPr lang="en-US" sz="1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光が丘地区の学校に多く在籍しています</a:t>
            </a:r>
            <a:endParaRPr lang="en-US" sz="3600" dirty="0"/>
          </a:p>
        </p:txBody>
      </p:sp>
      <p:sp>
        <p:nvSpPr>
          <p:cNvPr id="4" name="Text 1"/>
          <p:cNvSpPr txBox="1"/>
          <p:nvPr/>
        </p:nvSpPr>
        <p:spPr>
          <a:xfrm>
            <a:off x="548640" y="1691640"/>
            <a:ext cx="11064240" cy="685800"/>
          </a:xfrm>
          <a:prstGeom prst="rect">
            <a:avLst/>
          </a:prstGeom>
          <a:noFill/>
          <a:ln/>
        </p:spPr>
        <p:txBody>
          <a:bodyPr wrap="square" lIns="0" tIns="0" rIns="0" bIns="0" rtlCol="0" anchor="ctr"/>
          <a:lstStyle/>
          <a:p>
            <a:pPr algn="ctr" indent="0" marL="0">
              <a:buNone/>
            </a:pPr>
            <a:r>
              <a:rPr lang="en-US" sz="3000" dirty="0">
                <a:solidFill>
                  <a:schemeClr val="tx1"/>
                </a:solidFill>
                <a:latin typeface="BIZ UDPゴシック" pitchFamily="34" charset="0"/>
                <a:ea typeface="BIZ UDPゴシック" pitchFamily="34" charset="-122"/>
                <a:cs typeface="BIZ UDPゴシック" pitchFamily="34" charset="-120"/>
              </a:rPr>
              <a:t>光が丘春の風小学校では</a:t>
            </a:r>
            <a:endParaRPr lang="en-US" sz="3000" dirty="0"/>
          </a:p>
        </p:txBody>
      </p:sp>
      <p:pic>
        <p:nvPicPr>
          <p:cNvPr id="5" name="Image 0" descr="preencoded.png">    </p:cNvPr>
          <p:cNvPicPr>
            <a:picLocks noChangeAspect="1"/>
          </p:cNvPicPr>
          <p:nvPr/>
        </p:nvPicPr>
        <p:blipFill>
          <a:blip r:embed="rId1"/>
          <a:stretch>
            <a:fillRect/>
          </a:stretch>
        </p:blipFill>
        <p:spPr>
          <a:xfrm>
            <a:off x="929488" y="2606040"/>
            <a:ext cx="868680" cy="998982"/>
          </a:xfrm>
          <a:prstGeom prst="rect">
            <a:avLst/>
          </a:prstGeom>
        </p:spPr>
      </p:pic>
      <p:pic>
        <p:nvPicPr>
          <p:cNvPr id="6" name="Image 1" descr="preencoded.png">    </p:cNvPr>
          <p:cNvPicPr>
            <a:picLocks noChangeAspect="1"/>
          </p:cNvPicPr>
          <p:nvPr/>
        </p:nvPicPr>
        <p:blipFill>
          <a:blip r:embed="rId2"/>
          <a:stretch>
            <a:fillRect/>
          </a:stretch>
        </p:blipFill>
        <p:spPr>
          <a:xfrm>
            <a:off x="1981048" y="2606040"/>
            <a:ext cx="868680" cy="998982"/>
          </a:xfrm>
          <a:prstGeom prst="rect">
            <a:avLst/>
          </a:prstGeom>
        </p:spPr>
      </p:pic>
      <p:pic>
        <p:nvPicPr>
          <p:cNvPr id="7" name="Image 2" descr="preencoded.png">    </p:cNvPr>
          <p:cNvPicPr>
            <a:picLocks noChangeAspect="1"/>
          </p:cNvPicPr>
          <p:nvPr/>
        </p:nvPicPr>
        <p:blipFill>
          <a:blip r:embed="rId3"/>
          <a:stretch>
            <a:fillRect/>
          </a:stretch>
        </p:blipFill>
        <p:spPr>
          <a:xfrm>
            <a:off x="3032608" y="2606040"/>
            <a:ext cx="868680" cy="998982"/>
          </a:xfrm>
          <a:prstGeom prst="rect">
            <a:avLst/>
          </a:prstGeom>
        </p:spPr>
      </p:pic>
      <p:pic>
        <p:nvPicPr>
          <p:cNvPr id="8" name="Image 3" descr="preencoded.png">    </p:cNvPr>
          <p:cNvPicPr>
            <a:picLocks noChangeAspect="1"/>
          </p:cNvPicPr>
          <p:nvPr/>
        </p:nvPicPr>
        <p:blipFill>
          <a:blip r:embed="rId4"/>
          <a:stretch>
            <a:fillRect/>
          </a:stretch>
        </p:blipFill>
        <p:spPr>
          <a:xfrm>
            <a:off x="4084168" y="2606040"/>
            <a:ext cx="868680" cy="998982"/>
          </a:xfrm>
          <a:prstGeom prst="rect">
            <a:avLst/>
          </a:prstGeom>
        </p:spPr>
      </p:pic>
      <p:pic>
        <p:nvPicPr>
          <p:cNvPr id="9" name="Image 4" descr="preencoded.png">    </p:cNvPr>
          <p:cNvPicPr>
            <a:picLocks noChangeAspect="1"/>
          </p:cNvPicPr>
          <p:nvPr/>
        </p:nvPicPr>
        <p:blipFill>
          <a:blip r:embed="rId5"/>
          <a:stretch>
            <a:fillRect/>
          </a:stretch>
        </p:blipFill>
        <p:spPr>
          <a:xfrm>
            <a:off x="5135728" y="2606040"/>
            <a:ext cx="868680" cy="998982"/>
          </a:xfrm>
          <a:prstGeom prst="rect">
            <a:avLst/>
          </a:prstGeom>
        </p:spPr>
      </p:pic>
      <p:pic>
        <p:nvPicPr>
          <p:cNvPr id="10" name="Image 5" descr="preencoded.png">    </p:cNvPr>
          <p:cNvPicPr>
            <a:picLocks noChangeAspect="1"/>
          </p:cNvPicPr>
          <p:nvPr/>
        </p:nvPicPr>
        <p:blipFill>
          <a:blip r:embed="rId6"/>
          <a:stretch>
            <a:fillRect/>
          </a:stretch>
        </p:blipFill>
        <p:spPr>
          <a:xfrm>
            <a:off x="6187288" y="2606040"/>
            <a:ext cx="868680" cy="998982"/>
          </a:xfrm>
          <a:prstGeom prst="rect">
            <a:avLst/>
          </a:prstGeom>
        </p:spPr>
      </p:pic>
      <p:pic>
        <p:nvPicPr>
          <p:cNvPr id="11" name="Image 6" descr="preencoded.png">    </p:cNvPr>
          <p:cNvPicPr>
            <a:picLocks noChangeAspect="1"/>
          </p:cNvPicPr>
          <p:nvPr/>
        </p:nvPicPr>
        <p:blipFill>
          <a:blip r:embed="rId7"/>
          <a:stretch>
            <a:fillRect/>
          </a:stretch>
        </p:blipFill>
        <p:spPr>
          <a:xfrm>
            <a:off x="7238848" y="2606040"/>
            <a:ext cx="868680" cy="998982"/>
          </a:xfrm>
          <a:prstGeom prst="rect">
            <a:avLst/>
          </a:prstGeom>
        </p:spPr>
      </p:pic>
      <p:pic>
        <p:nvPicPr>
          <p:cNvPr id="12" name="Image 7" descr="preencoded.png">    </p:cNvPr>
          <p:cNvPicPr>
            <a:picLocks noChangeAspect="1"/>
          </p:cNvPicPr>
          <p:nvPr/>
        </p:nvPicPr>
        <p:blipFill>
          <a:blip r:embed="rId8"/>
          <a:stretch>
            <a:fillRect/>
          </a:stretch>
        </p:blipFill>
        <p:spPr>
          <a:xfrm>
            <a:off x="8290408" y="2606040"/>
            <a:ext cx="868680" cy="998982"/>
          </a:xfrm>
          <a:prstGeom prst="rect">
            <a:avLst/>
          </a:prstGeom>
        </p:spPr>
      </p:pic>
      <p:pic>
        <p:nvPicPr>
          <p:cNvPr id="13" name="Image 8" descr="preencoded.png">    </p:cNvPr>
          <p:cNvPicPr>
            <a:picLocks noChangeAspect="1"/>
          </p:cNvPicPr>
          <p:nvPr/>
        </p:nvPicPr>
        <p:blipFill>
          <a:blip r:embed="rId9"/>
          <a:stretch>
            <a:fillRect/>
          </a:stretch>
        </p:blipFill>
        <p:spPr>
          <a:xfrm>
            <a:off x="9341968" y="2606040"/>
            <a:ext cx="868680" cy="998982"/>
          </a:xfrm>
          <a:prstGeom prst="rect">
            <a:avLst/>
          </a:prstGeom>
        </p:spPr>
      </p:pic>
      <p:pic>
        <p:nvPicPr>
          <p:cNvPr id="14" name="Image 9" descr="preencoded.png">    </p:cNvPr>
          <p:cNvPicPr>
            <a:picLocks noChangeAspect="1"/>
          </p:cNvPicPr>
          <p:nvPr/>
        </p:nvPicPr>
        <p:blipFill>
          <a:blip r:embed="rId10"/>
          <a:stretch>
            <a:fillRect/>
          </a:stretch>
        </p:blipFill>
        <p:spPr>
          <a:xfrm>
            <a:off x="10393528" y="2606040"/>
            <a:ext cx="868680" cy="998982"/>
          </a:xfrm>
          <a:prstGeom prst="rect">
            <a:avLst/>
          </a:prstGeom>
        </p:spPr>
      </p:pic>
      <p:sp>
        <p:nvSpPr>
          <p:cNvPr id="15" name="Text 2"/>
          <p:cNvSpPr txBox="1"/>
          <p:nvPr/>
        </p:nvSpPr>
        <p:spPr>
          <a:xfrm>
            <a:off x="548640" y="3886200"/>
            <a:ext cx="11064240" cy="1097280"/>
          </a:xfrm>
          <a:prstGeom prst="rect">
            <a:avLst/>
          </a:prstGeom>
          <a:noFill/>
          <a:ln/>
        </p:spPr>
        <p:txBody>
          <a:bodyPr wrap="square" lIns="0" tIns="0" rIns="0" bIns="0" rtlCol="0" anchor="ctr"/>
          <a:lstStyle/>
          <a:p>
            <a:pPr algn="ctr" indent="0" marL="0">
              <a:buNone/>
            </a:pPr>
            <a:r>
              <a:rPr lang="en-US" sz="6000" b="1" dirty="0">
                <a:solidFill>
                  <a:schemeClr val="accent2"/>
                </a:solidFill>
                <a:latin typeface="BIZ UDPゴシック" pitchFamily="34" charset="0"/>
                <a:ea typeface="BIZ UDPゴシック" pitchFamily="34" charset="-122"/>
                <a:cs typeface="BIZ UDPゴシック" pitchFamily="34" charset="-120"/>
              </a:rPr>
              <a:t>約10人に1人</a:t>
            </a:r>
            <a:pPr algn="ctr" indent="0" marL="0">
              <a:buNone/>
            </a:pPr>
            <a:r>
              <a:rPr lang="en-US" sz="3400" b="1" dirty="0">
                <a:solidFill>
                  <a:schemeClr val="tx1"/>
                </a:solidFill>
                <a:latin typeface="BIZ UDPゴシック" pitchFamily="34" charset="0"/>
                <a:ea typeface="BIZ UDPゴシック" pitchFamily="34" charset="-122"/>
                <a:cs typeface="BIZ UDPゴシック" pitchFamily="34" charset="-120"/>
              </a:rPr>
              <a:t> が外国籍</a:t>
            </a:r>
            <a:endParaRPr lang="en-US" sz="6000" dirty="0"/>
          </a:p>
        </p:txBody>
      </p:sp>
      <p:sp>
        <p:nvSpPr>
          <p:cNvPr id="16" name="Text 3"/>
          <p:cNvSpPr txBox="1"/>
          <p:nvPr/>
        </p:nvSpPr>
        <p:spPr>
          <a:xfrm>
            <a:off x="548640" y="5166360"/>
            <a:ext cx="11064240" cy="640080"/>
          </a:xfrm>
          <a:prstGeom prst="rect">
            <a:avLst/>
          </a:prstGeom>
          <a:noFill/>
          <a:ln/>
        </p:spPr>
        <p:txBody>
          <a:bodyPr wrap="square" lIns="0" tIns="0" rIns="0" bIns="0" rtlCol="0" anchor="ctr"/>
          <a:lstStyle/>
          <a:p>
            <a:pPr algn="ctr" indent="0" marL="0">
              <a:buNone/>
            </a:pPr>
            <a:r>
              <a:rPr lang="en-US" sz="2600" dirty="0">
                <a:solidFill>
                  <a:schemeClr val="tx2"/>
                </a:solidFill>
                <a:latin typeface="BIZ UDPゴシック" pitchFamily="34" charset="0"/>
                <a:ea typeface="BIZ UDPゴシック" pitchFamily="34" charset="-122"/>
                <a:cs typeface="BIZ UDPゴシック" pitchFamily="34" charset="-120"/>
              </a:rPr>
              <a:t>光が丘第八小・夏の雲小・秋の陽小なども多い</a:t>
            </a:r>
            <a:endParaRPr lang="en-US" sz="2600" dirty="0"/>
          </a:p>
        </p:txBody>
      </p:sp>
      <p:sp>
        <p:nvSpPr>
          <p:cNvPr id="17" name="Text 4"/>
          <p:cNvSpPr txBox="1"/>
          <p:nvPr/>
        </p:nvSpPr>
        <p:spPr>
          <a:xfrm>
            <a:off x="548640" y="6263640"/>
            <a:ext cx="10332720" cy="365760"/>
          </a:xfrm>
          <a:prstGeom prst="rect">
            <a:avLst/>
          </a:prstGeom>
          <a:noFill/>
          <a:ln/>
        </p:spPr>
        <p:txBody>
          <a:bodyPr wrap="square" lIns="0" tIns="0" rIns="0" bIns="0" rtlCol="0" anchor="ctr"/>
          <a:lstStyle/>
          <a:p>
            <a:pPr indent="0" marL="0">
              <a:buNone/>
            </a:pPr>
            <a:r>
              <a:rPr lang="en-US" sz="1400" dirty="0">
                <a:solidFill>
                  <a:schemeClr val="accent6"/>
                </a:solidFill>
                <a:latin typeface="BIZ UDPゴシック" pitchFamily="34" charset="0"/>
                <a:ea typeface="BIZ UDPゴシック" pitchFamily="34" charset="-122"/>
                <a:cs typeface="BIZ UDPゴシック" pitchFamily="34" charset="-120"/>
              </a:rPr>
              <a:t>令和7年度学校基本調査</a:t>
            </a:r>
            <a:endParaRPr lang="en-US" sz="1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学校に通えているか、分からない子どもがいます</a:t>
            </a:r>
            <a:endParaRPr lang="en-US" sz="3600" dirty="0"/>
          </a:p>
        </p:txBody>
      </p:sp>
      <p:sp>
        <p:nvSpPr>
          <p:cNvPr id="4" name="Text 1"/>
          <p:cNvSpPr txBox="1"/>
          <p:nvPr/>
        </p:nvSpPr>
        <p:spPr>
          <a:xfrm>
            <a:off x="548640" y="1691640"/>
            <a:ext cx="11064240" cy="640080"/>
          </a:xfrm>
          <a:prstGeom prst="rect">
            <a:avLst/>
          </a:prstGeom>
          <a:noFill/>
          <a:ln/>
        </p:spPr>
        <p:txBody>
          <a:bodyPr wrap="square" lIns="0" tIns="0" rIns="0" bIns="0" rtlCol="0" anchor="ctr"/>
          <a:lstStyle/>
          <a:p>
            <a:pPr algn="ctr" indent="0" marL="0">
              <a:buNone/>
            </a:pPr>
            <a:r>
              <a:rPr lang="en-US" sz="2800" dirty="0">
                <a:solidFill>
                  <a:schemeClr val="tx1"/>
                </a:solidFill>
                <a:latin typeface="BIZ UDPゴシック" pitchFamily="34" charset="0"/>
                <a:ea typeface="BIZ UDPゴシック" pitchFamily="34" charset="-122"/>
                <a:cs typeface="BIZ UDPゴシック" pitchFamily="34" charset="-120"/>
              </a:rPr>
              <a:t>区内の学齢期の外国籍の子ども 1,192人のうち</a:t>
            </a:r>
            <a:endParaRPr lang="en-US" sz="2800" dirty="0"/>
          </a:p>
        </p:txBody>
      </p:sp>
      <p:sp>
        <p:nvSpPr>
          <p:cNvPr id="5" name="Text 2"/>
          <p:cNvSpPr txBox="1"/>
          <p:nvPr/>
        </p:nvSpPr>
        <p:spPr>
          <a:xfrm>
            <a:off x="548640" y="2331720"/>
            <a:ext cx="11064240" cy="2011680"/>
          </a:xfrm>
          <a:prstGeom prst="rect">
            <a:avLst/>
          </a:prstGeom>
          <a:noFill/>
          <a:ln/>
        </p:spPr>
        <p:txBody>
          <a:bodyPr wrap="square" lIns="0" tIns="0" rIns="0" bIns="0" rtlCol="0" anchor="ctr"/>
          <a:lstStyle/>
          <a:p>
            <a:pPr algn="ctr" indent="0" marL="0">
              <a:buNone/>
            </a:pPr>
            <a:r>
              <a:rPr lang="en-US" sz="14000" b="1" dirty="0">
                <a:solidFill>
                  <a:schemeClr val="accent2"/>
                </a:solidFill>
                <a:latin typeface="BIZ UDPゴシック" pitchFamily="34" charset="0"/>
                <a:ea typeface="BIZ UDPゴシック" pitchFamily="34" charset="-122"/>
                <a:cs typeface="BIZ UDPゴシック" pitchFamily="34" charset="-120"/>
              </a:rPr>
              <a:t>29</a:t>
            </a:r>
            <a:pPr algn="ctr" indent="0" marL="0">
              <a:buNone/>
            </a:pPr>
            <a:r>
              <a:rPr lang="en-US" sz="5400" b="1" dirty="0">
                <a:solidFill>
                  <a:schemeClr val="accent2"/>
                </a:solidFill>
                <a:latin typeface="BIZ UDPゴシック" pitchFamily="34" charset="0"/>
                <a:ea typeface="BIZ UDPゴシック" pitchFamily="34" charset="-122"/>
                <a:cs typeface="BIZ UDPゴシック" pitchFamily="34" charset="-120"/>
              </a:rPr>
              <a:t>人</a:t>
            </a:r>
            <a:endParaRPr lang="en-US" sz="14000" dirty="0"/>
          </a:p>
        </p:txBody>
      </p:sp>
      <p:sp>
        <p:nvSpPr>
          <p:cNvPr id="6" name="Text 3"/>
          <p:cNvSpPr txBox="1"/>
          <p:nvPr/>
        </p:nvSpPr>
        <p:spPr>
          <a:xfrm>
            <a:off x="548640" y="4297680"/>
            <a:ext cx="11064240" cy="685800"/>
          </a:xfrm>
          <a:prstGeom prst="rect">
            <a:avLst/>
          </a:prstGeom>
          <a:noFill/>
          <a:ln/>
        </p:spPr>
        <p:txBody>
          <a:bodyPr wrap="square" lIns="0" tIns="0" rIns="0" bIns="0" rtlCol="0" anchor="ctr"/>
          <a:lstStyle/>
          <a:p>
            <a:pPr algn="ctr" indent="0" marL="0">
              <a:buNone/>
            </a:pPr>
            <a:r>
              <a:rPr lang="en-US" sz="3200" b="1" dirty="0">
                <a:solidFill>
                  <a:schemeClr val="tx1"/>
                </a:solidFill>
                <a:latin typeface="BIZ UDPゴシック" pitchFamily="34" charset="0"/>
                <a:ea typeface="BIZ UDPゴシック" pitchFamily="34" charset="-122"/>
                <a:cs typeface="BIZ UDPゴシック" pitchFamily="34" charset="-120"/>
              </a:rPr>
              <a:t>が、就学先が分かりません</a:t>
            </a:r>
            <a:endParaRPr lang="en-US" sz="3200" dirty="0"/>
          </a:p>
        </p:txBody>
      </p:sp>
      <p:sp>
        <p:nvSpPr>
          <p:cNvPr id="7" name="message"/>
          <p:cNvSpPr/>
          <p:nvPr/>
        </p:nvSpPr>
        <p:spPr>
          <a:xfrm>
            <a:off x="2880360" y="5166360"/>
            <a:ext cx="6400800" cy="822960"/>
          </a:xfrm>
          <a:prstGeom prst="roundRect">
            <a:avLst>
              <a:gd name="adj" fmla="val 16667"/>
            </a:avLst>
          </a:prstGeom>
          <a:solidFill>
            <a:srgbClr val="FBE6EC"/>
          </a:solidFill>
          <a:ln/>
        </p:spPr>
        <p:txBody>
          <a:bodyPr wrap="square" lIns="0" tIns="0" rIns="0" bIns="0" rtlCol="0" anchor="ctr"/>
          <a:lstStyle/>
          <a:p>
            <a:pPr algn="ctr" indent="0" marL="0">
              <a:buNone/>
            </a:pPr>
            <a:r>
              <a:rPr lang="en-US" sz="2800" b="1" dirty="0">
                <a:solidFill>
                  <a:schemeClr val="tx1"/>
                </a:solidFill>
                <a:latin typeface="BIZ UDPゴシック" pitchFamily="34" charset="0"/>
                <a:ea typeface="BIZ UDPゴシック" pitchFamily="34" charset="-122"/>
                <a:cs typeface="BIZ UDPゴシック" pitchFamily="34" charset="-120"/>
              </a:rPr>
              <a:t>地域の見守りが、とても大切です</a:t>
            </a:r>
            <a:endParaRPr lang="en-US" sz="2800" dirty="0"/>
          </a:p>
        </p:txBody>
      </p:sp>
      <p:sp>
        <p:nvSpPr>
          <p:cNvPr id="8" name="Text 5"/>
          <p:cNvSpPr txBox="1"/>
          <p:nvPr/>
        </p:nvSpPr>
        <p:spPr>
          <a:xfrm>
            <a:off x="548640" y="6263640"/>
            <a:ext cx="10332720" cy="365760"/>
          </a:xfrm>
          <a:prstGeom prst="rect">
            <a:avLst/>
          </a:prstGeom>
          <a:noFill/>
          <a:ln/>
        </p:spPr>
        <p:txBody>
          <a:bodyPr wrap="square" lIns="0" tIns="0" rIns="0" bIns="0" rtlCol="0" anchor="ctr"/>
          <a:lstStyle/>
          <a:p>
            <a:pPr indent="0" marL="0">
              <a:buNone/>
            </a:pPr>
            <a:r>
              <a:rPr lang="en-US" sz="1400" dirty="0">
                <a:solidFill>
                  <a:schemeClr val="accent6"/>
                </a:solidFill>
                <a:latin typeface="BIZ UDPゴシック" pitchFamily="34" charset="0"/>
                <a:ea typeface="BIZ UDPゴシック" pitchFamily="34" charset="-122"/>
                <a:cs typeface="BIZ UDPゴシック" pitchFamily="34" charset="-120"/>
              </a:rPr>
              <a:t>練馬区教育振興部資料（住民基本台帳 令和6年5月現在）</a:t>
            </a:r>
            <a:endParaRPr lang="en-US" sz="1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「外国籍」だけでは見えない子どももいます</a:t>
            </a:r>
            <a:endParaRPr lang="en-US" sz="3600" dirty="0"/>
          </a:p>
        </p:txBody>
      </p:sp>
      <p:sp>
        <p:nvSpPr>
          <p:cNvPr id="4" name="type-a"/>
          <p:cNvSpPr/>
          <p:nvPr/>
        </p:nvSpPr>
        <p:spPr>
          <a:xfrm>
            <a:off x="1188720" y="1783080"/>
            <a:ext cx="4206240" cy="1920240"/>
          </a:xfrm>
          <a:prstGeom prst="roundRect">
            <a:avLst>
              <a:gd name="adj" fmla="val 7143"/>
            </a:avLst>
          </a:prstGeom>
          <a:solidFill>
            <a:schemeClr val="accent1"/>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外国籍の</a:t>
            </a:r>
            <a:endParaRPr lang="en-US" sz="3200" dirty="0"/>
          </a:p>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子ども</a:t>
            </a:r>
            <a:endParaRPr lang="en-US" sz="3200" dirty="0"/>
          </a:p>
        </p:txBody>
      </p:sp>
      <p:sp>
        <p:nvSpPr>
          <p:cNvPr id="5" name="Text 2"/>
          <p:cNvSpPr txBox="1"/>
          <p:nvPr/>
        </p:nvSpPr>
        <p:spPr>
          <a:xfrm>
            <a:off x="5394960" y="1783080"/>
            <a:ext cx="1371600" cy="1920240"/>
          </a:xfrm>
          <a:prstGeom prst="rect">
            <a:avLst/>
          </a:prstGeom>
          <a:noFill/>
          <a:ln/>
        </p:spPr>
        <p:txBody>
          <a:bodyPr wrap="square" lIns="0" tIns="0" rIns="0" bIns="0" rtlCol="0" anchor="ctr"/>
          <a:lstStyle/>
          <a:p>
            <a:pPr algn="ctr" indent="0" marL="0">
              <a:buNone/>
            </a:pPr>
            <a:r>
              <a:rPr lang="en-US" sz="6000" b="1" dirty="0">
                <a:solidFill>
                  <a:schemeClr val="accent6"/>
                </a:solidFill>
                <a:latin typeface="BIZ UDPゴシック" pitchFamily="34" charset="0"/>
                <a:ea typeface="BIZ UDPゴシック" pitchFamily="34" charset="-122"/>
                <a:cs typeface="BIZ UDPゴシック" pitchFamily="34" charset="-120"/>
              </a:rPr>
              <a:t>＋</a:t>
            </a:r>
            <a:endParaRPr lang="en-US" sz="6000" dirty="0"/>
          </a:p>
        </p:txBody>
      </p:sp>
      <p:sp>
        <p:nvSpPr>
          <p:cNvPr id="6" name="type-b"/>
          <p:cNvSpPr/>
          <p:nvPr/>
        </p:nvSpPr>
        <p:spPr>
          <a:xfrm>
            <a:off x="6766560" y="1783080"/>
            <a:ext cx="4206240" cy="1920240"/>
          </a:xfrm>
          <a:prstGeom prst="roundRect">
            <a:avLst>
              <a:gd name="adj" fmla="val 7143"/>
            </a:avLst>
          </a:prstGeom>
          <a:solidFill>
            <a:schemeClr val="accent4"/>
          </a:solidFill>
          <a:ln/>
        </p:spPr>
        <p:txBody>
          <a:bodyPr wrap="square" lIns="0" tIns="0" rIns="0" bIns="0" rtlCol="0" anchor="ctr"/>
          <a:lstStyle/>
          <a:p>
            <a:pPr algn="ctr" indent="0" marL="0">
              <a:buNone/>
            </a:pPr>
            <a:r>
              <a:rPr lang="en-US" sz="2800" b="1" dirty="0">
                <a:solidFill>
                  <a:schemeClr val="bg1"/>
                </a:solidFill>
                <a:latin typeface="BIZ UDPゴシック" pitchFamily="34" charset="0"/>
                <a:ea typeface="BIZ UDPゴシック" pitchFamily="34" charset="-122"/>
                <a:cs typeface="BIZ UDPゴシック" pitchFamily="34" charset="-120"/>
              </a:rPr>
              <a:t>日本国籍で</a:t>
            </a:r>
            <a:endParaRPr lang="en-US" sz="2800" dirty="0"/>
          </a:p>
          <a:p>
            <a:pPr algn="ctr" indent="0" marL="0">
              <a:buNone/>
            </a:pPr>
            <a:r>
              <a:rPr lang="en-US" sz="2800" b="1" dirty="0">
                <a:solidFill>
                  <a:schemeClr val="bg1"/>
                </a:solidFill>
                <a:latin typeface="BIZ UDPゴシック" pitchFamily="34" charset="0"/>
                <a:ea typeface="BIZ UDPゴシック" pitchFamily="34" charset="-122"/>
                <a:cs typeface="BIZ UDPゴシック" pitchFamily="34" charset="-120"/>
              </a:rPr>
              <a:t>外国にルーツを</a:t>
            </a:r>
            <a:endParaRPr lang="en-US" sz="2800" dirty="0"/>
          </a:p>
          <a:p>
            <a:pPr algn="ctr" indent="0" marL="0">
              <a:buNone/>
            </a:pPr>
            <a:r>
              <a:rPr lang="en-US" sz="2800" b="1" dirty="0">
                <a:solidFill>
                  <a:schemeClr val="bg1"/>
                </a:solidFill>
                <a:latin typeface="BIZ UDPゴシック" pitchFamily="34" charset="0"/>
                <a:ea typeface="BIZ UDPゴシック" pitchFamily="34" charset="-122"/>
                <a:cs typeface="BIZ UDPゴシック" pitchFamily="34" charset="-120"/>
              </a:rPr>
              <a:t>持つ子ども</a:t>
            </a:r>
            <a:endParaRPr lang="en-US" sz="2800" dirty="0"/>
          </a:p>
        </p:txBody>
      </p:sp>
      <p:sp>
        <p:nvSpPr>
          <p:cNvPr id="7" name="arrow"/>
          <p:cNvSpPr/>
          <p:nvPr/>
        </p:nvSpPr>
        <p:spPr>
          <a:xfrm>
            <a:off x="5641848" y="3886200"/>
            <a:ext cx="914400" cy="685800"/>
          </a:xfrm>
          <a:prstGeom prst="downArrow">
            <a:avLst/>
          </a:prstGeom>
          <a:solidFill>
            <a:schemeClr val="accent3"/>
          </a:solidFill>
          <a:ln/>
        </p:spPr>
      </p:sp>
      <p:sp>
        <p:nvSpPr>
          <p:cNvPr id="8" name="message"/>
          <p:cNvSpPr/>
          <p:nvPr/>
        </p:nvSpPr>
        <p:spPr>
          <a:xfrm>
            <a:off x="1188720" y="4754880"/>
            <a:ext cx="9784080" cy="1005840"/>
          </a:xfrm>
          <a:prstGeom prst="roundRect">
            <a:avLst>
              <a:gd name="adj" fmla="val 13636"/>
            </a:avLst>
          </a:prstGeom>
          <a:solidFill>
            <a:srgbClr val="FBE6EC"/>
          </a:solid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どちらにも、日本語の支援が必要な子がいます</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「話せる」と「勉強が分かる」は違います</a:t>
            </a:r>
            <a:endParaRPr lang="en-US" sz="3600" dirty="0"/>
          </a:p>
        </p:txBody>
      </p:sp>
      <p:sp>
        <p:nvSpPr>
          <p:cNvPr id="4" name="Text 1"/>
          <p:cNvSpPr txBox="1"/>
          <p:nvPr/>
        </p:nvSpPr>
        <p:spPr>
          <a:xfrm>
            <a:off x="548640" y="1828800"/>
            <a:ext cx="2926080" cy="914400"/>
          </a:xfrm>
          <a:prstGeom prst="rect">
            <a:avLst/>
          </a:prstGeom>
          <a:noFill/>
          <a:ln/>
        </p:spPr>
        <p:txBody>
          <a:bodyPr wrap="square" lIns="0" tIns="0" rIns="0" bIns="0" rtlCol="0" anchor="ctr"/>
          <a:lstStyle/>
          <a:p>
            <a:pPr indent="0" marL="0">
              <a:buNone/>
            </a:pPr>
            <a:r>
              <a:rPr lang="en-US" sz="3000" b="1" dirty="0">
                <a:solidFill>
                  <a:schemeClr val="accent1"/>
                </a:solidFill>
                <a:latin typeface="BIZ UDPゴシック" pitchFamily="34" charset="0"/>
                <a:ea typeface="BIZ UDPゴシック" pitchFamily="34" charset="-122"/>
                <a:cs typeface="BIZ UDPゴシック" pitchFamily="34" charset="-120"/>
              </a:rPr>
              <a:t>生活のことば</a:t>
            </a:r>
            <a:endParaRPr lang="en-US" sz="3000" dirty="0"/>
          </a:p>
        </p:txBody>
      </p:sp>
      <p:sp>
        <p:nvSpPr>
          <p:cNvPr id="5" name="bar-a"/>
          <p:cNvSpPr/>
          <p:nvPr/>
        </p:nvSpPr>
        <p:spPr>
          <a:xfrm>
            <a:off x="3657600" y="1828800"/>
            <a:ext cx="2743200" cy="914400"/>
          </a:xfrm>
          <a:prstGeom prst="roundRect">
            <a:avLst>
              <a:gd name="adj" fmla="val 15000"/>
            </a:avLst>
          </a:prstGeom>
          <a:solidFill>
            <a:schemeClr val="accent1"/>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1～2年</a:t>
            </a:r>
            <a:endParaRPr lang="en-US" sz="3200" dirty="0"/>
          </a:p>
        </p:txBody>
      </p:sp>
      <p:sp>
        <p:nvSpPr>
          <p:cNvPr id="6" name="Text 3"/>
          <p:cNvSpPr txBox="1"/>
          <p:nvPr/>
        </p:nvSpPr>
        <p:spPr>
          <a:xfrm>
            <a:off x="6675120" y="1828800"/>
            <a:ext cx="3657600" cy="914400"/>
          </a:xfrm>
          <a:prstGeom prst="rect">
            <a:avLst/>
          </a:prstGeom>
          <a:noFill/>
          <a:ln/>
        </p:spPr>
        <p:txBody>
          <a:bodyPr wrap="square" lIns="0" tIns="0" rIns="0" bIns="0" rtlCol="0" anchor="ctr"/>
          <a:lstStyle/>
          <a:p>
            <a:pPr indent="0" marL="0">
              <a:buNone/>
            </a:pPr>
            <a:r>
              <a:rPr lang="en-US" sz="2600" dirty="0">
                <a:solidFill>
                  <a:schemeClr val="tx1"/>
                </a:solidFill>
                <a:latin typeface="BIZ UDPゴシック" pitchFamily="34" charset="0"/>
                <a:ea typeface="BIZ UDPゴシック" pitchFamily="34" charset="-122"/>
                <a:cs typeface="BIZ UDPゴシック" pitchFamily="34" charset="-120"/>
              </a:rPr>
              <a:t>「おはよう」</a:t>
            </a:r>
            <a:endParaRPr lang="en-US" sz="2600" dirty="0"/>
          </a:p>
        </p:txBody>
      </p:sp>
      <p:sp>
        <p:nvSpPr>
          <p:cNvPr id="7" name="Text 4"/>
          <p:cNvSpPr txBox="1"/>
          <p:nvPr/>
        </p:nvSpPr>
        <p:spPr>
          <a:xfrm>
            <a:off x="548640" y="3200400"/>
            <a:ext cx="2926080" cy="914400"/>
          </a:xfrm>
          <a:prstGeom prst="rect">
            <a:avLst/>
          </a:prstGeom>
          <a:noFill/>
          <a:ln/>
        </p:spPr>
        <p:txBody>
          <a:bodyPr wrap="square" lIns="0" tIns="0" rIns="0" bIns="0" rtlCol="0" anchor="ctr"/>
          <a:lstStyle/>
          <a:p>
            <a:pPr indent="0" marL="0">
              <a:buNone/>
            </a:pPr>
            <a:r>
              <a:rPr lang="en-US" sz="3000" b="1" dirty="0">
                <a:solidFill>
                  <a:schemeClr val="accent2"/>
                </a:solidFill>
                <a:latin typeface="BIZ UDPゴシック" pitchFamily="34" charset="0"/>
                <a:ea typeface="BIZ UDPゴシック" pitchFamily="34" charset="-122"/>
                <a:cs typeface="BIZ UDPゴシック" pitchFamily="34" charset="-120"/>
              </a:rPr>
              <a:t>勉強のことば</a:t>
            </a:r>
            <a:endParaRPr lang="en-US" sz="3000" dirty="0"/>
          </a:p>
        </p:txBody>
      </p:sp>
      <p:sp>
        <p:nvSpPr>
          <p:cNvPr id="8" name="bar-b"/>
          <p:cNvSpPr/>
          <p:nvPr/>
        </p:nvSpPr>
        <p:spPr>
          <a:xfrm>
            <a:off x="3657600" y="3200400"/>
            <a:ext cx="6858000" cy="914400"/>
          </a:xfrm>
          <a:prstGeom prst="roundRect">
            <a:avLst>
              <a:gd name="adj" fmla="val 15000"/>
            </a:avLst>
          </a:prstGeom>
          <a:solidFill>
            <a:schemeClr val="accent2"/>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5年以上</a:t>
            </a:r>
            <a:endParaRPr lang="en-US" sz="3200" dirty="0"/>
          </a:p>
        </p:txBody>
      </p:sp>
      <p:sp>
        <p:nvSpPr>
          <p:cNvPr id="9" name="bar-b-arrow"/>
          <p:cNvSpPr/>
          <p:nvPr/>
        </p:nvSpPr>
        <p:spPr>
          <a:xfrm>
            <a:off x="10607040" y="3364992"/>
            <a:ext cx="822960" cy="585216"/>
          </a:xfrm>
          <a:prstGeom prst="rightArrow">
            <a:avLst/>
          </a:prstGeom>
          <a:solidFill>
            <a:schemeClr val="accent2"/>
          </a:solidFill>
          <a:ln/>
        </p:spPr>
      </p:sp>
      <p:sp>
        <p:nvSpPr>
          <p:cNvPr id="10" name="message"/>
          <p:cNvSpPr/>
          <p:nvPr/>
        </p:nvSpPr>
        <p:spPr>
          <a:xfrm>
            <a:off x="548640" y="4800600"/>
            <a:ext cx="11064240" cy="1005840"/>
          </a:xfrm>
          <a:prstGeom prst="roundRect">
            <a:avLst>
              <a:gd name="adj" fmla="val 13636"/>
            </a:avLst>
          </a:prstGeom>
          <a:solidFill>
            <a:srgbClr val="FBE6EC"/>
          </a:solid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会話ができても、授業が分からないことがあります</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事例①　同じ2年生でも、困りごとは違います</a:t>
            </a:r>
            <a:endParaRPr lang="en-US" sz="3600" dirty="0"/>
          </a:p>
        </p:txBody>
      </p:sp>
      <p:sp>
        <p:nvSpPr>
          <p:cNvPr id="4" name="case-0"/>
          <p:cNvSpPr/>
          <p:nvPr/>
        </p:nvSpPr>
        <p:spPr>
          <a:xfrm>
            <a:off x="548640" y="1691640"/>
            <a:ext cx="5349240" cy="4343400"/>
          </a:xfrm>
          <a:prstGeom prst="roundRect">
            <a:avLst>
              <a:gd name="adj" fmla="val 3158"/>
            </a:avLst>
          </a:prstGeom>
          <a:solidFill>
            <a:schemeClr val="bg2"/>
          </a:solidFill>
          <a:ln/>
        </p:spPr>
      </p:sp>
      <p:pic>
        <p:nvPicPr>
          <p:cNvPr id="5" name="Image 0" descr="来日7か月のAさんのイラスト">    </p:cNvPr>
          <p:cNvPicPr>
            <a:picLocks noChangeAspect="1"/>
          </p:cNvPicPr>
          <p:nvPr/>
        </p:nvPicPr>
        <p:blipFill>
          <a:blip r:embed="rId1"/>
          <a:stretch>
            <a:fillRect/>
          </a:stretch>
        </p:blipFill>
        <p:spPr>
          <a:xfrm>
            <a:off x="2423160" y="1920240"/>
            <a:ext cx="1600200" cy="1600200"/>
          </a:xfrm>
          <a:prstGeom prst="rect">
            <a:avLst/>
          </a:prstGeom>
        </p:spPr>
      </p:pic>
      <p:sp>
        <p:nvSpPr>
          <p:cNvPr id="6" name="Text 2"/>
          <p:cNvSpPr txBox="1"/>
          <p:nvPr/>
        </p:nvSpPr>
        <p:spPr>
          <a:xfrm>
            <a:off x="822960" y="3657600"/>
            <a:ext cx="4800600" cy="640080"/>
          </a:xfrm>
          <a:prstGeom prst="rect">
            <a:avLst/>
          </a:prstGeom>
          <a:noFill/>
          <a:ln/>
        </p:spPr>
        <p:txBody>
          <a:bodyPr wrap="square" lIns="0" tIns="0" rIns="0" bIns="0" rtlCol="0" anchor="ctr"/>
          <a:lstStyle/>
          <a:p>
            <a:pPr algn="ctr" indent="0" marL="0">
              <a:buNone/>
            </a:pPr>
            <a:r>
              <a:rPr lang="en-US" sz="2800" b="1" dirty="0">
                <a:solidFill>
                  <a:schemeClr val="accent1"/>
                </a:solidFill>
                <a:latin typeface="BIZ UDPゴシック" pitchFamily="34" charset="0"/>
                <a:ea typeface="BIZ UDPゴシック" pitchFamily="34" charset="-122"/>
                <a:cs typeface="BIZ UDPゴシック" pitchFamily="34" charset="-120"/>
              </a:rPr>
              <a:t>来日7か月のAさん</a:t>
            </a:r>
            <a:endParaRPr lang="en-US" sz="2800" dirty="0"/>
          </a:p>
        </p:txBody>
      </p:sp>
      <p:sp>
        <p:nvSpPr>
          <p:cNvPr id="7" name="Text 3"/>
          <p:cNvSpPr txBox="1"/>
          <p:nvPr/>
        </p:nvSpPr>
        <p:spPr>
          <a:xfrm>
            <a:off x="822960" y="4389120"/>
            <a:ext cx="4800600" cy="1371600"/>
          </a:xfrm>
          <a:prstGeom prst="rect">
            <a:avLst/>
          </a:prstGeom>
          <a:noFill/>
          <a:ln/>
        </p:spPr>
        <p:txBody>
          <a:bodyPr wrap="square" lIns="0" tIns="0" rIns="0" bIns="0" rtlCol="0" anchor="ctr"/>
          <a:lstStyle/>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ひらがなが、</a:t>
            </a:r>
            <a:endParaRPr lang="en-US" sz="3000" dirty="0"/>
          </a:p>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まだ読めない</a:t>
            </a:r>
            <a:endParaRPr lang="en-US" sz="3000" dirty="0"/>
          </a:p>
        </p:txBody>
      </p:sp>
      <p:sp>
        <p:nvSpPr>
          <p:cNvPr id="8" name="case-1"/>
          <p:cNvSpPr/>
          <p:nvPr/>
        </p:nvSpPr>
        <p:spPr>
          <a:xfrm>
            <a:off x="6263640" y="1691640"/>
            <a:ext cx="5349240" cy="4343400"/>
          </a:xfrm>
          <a:prstGeom prst="roundRect">
            <a:avLst>
              <a:gd name="adj" fmla="val 3158"/>
            </a:avLst>
          </a:prstGeom>
          <a:solidFill>
            <a:schemeClr val="bg2"/>
          </a:solidFill>
          <a:ln/>
        </p:spPr>
      </p:sp>
      <p:pic>
        <p:nvPicPr>
          <p:cNvPr id="9" name="Image 1" descr="来日5年以上のBさんのイラスト">    </p:cNvPr>
          <p:cNvPicPr>
            <a:picLocks noChangeAspect="1"/>
          </p:cNvPicPr>
          <p:nvPr/>
        </p:nvPicPr>
        <p:blipFill>
          <a:blip r:embed="rId2"/>
          <a:stretch>
            <a:fillRect/>
          </a:stretch>
        </p:blipFill>
        <p:spPr>
          <a:xfrm>
            <a:off x="7946136" y="1920240"/>
            <a:ext cx="1984248" cy="1600200"/>
          </a:xfrm>
          <a:prstGeom prst="rect">
            <a:avLst/>
          </a:prstGeom>
        </p:spPr>
      </p:pic>
      <p:sp>
        <p:nvSpPr>
          <p:cNvPr id="10" name="Text 5"/>
          <p:cNvSpPr txBox="1"/>
          <p:nvPr/>
        </p:nvSpPr>
        <p:spPr>
          <a:xfrm>
            <a:off x="6537960" y="3657600"/>
            <a:ext cx="4800600" cy="640080"/>
          </a:xfrm>
          <a:prstGeom prst="rect">
            <a:avLst/>
          </a:prstGeom>
          <a:noFill/>
          <a:ln/>
        </p:spPr>
        <p:txBody>
          <a:bodyPr wrap="square" lIns="0" tIns="0" rIns="0" bIns="0" rtlCol="0" anchor="ctr"/>
          <a:lstStyle/>
          <a:p>
            <a:pPr algn="ctr" indent="0" marL="0">
              <a:buNone/>
            </a:pPr>
            <a:r>
              <a:rPr lang="en-US" sz="2800" b="1" dirty="0">
                <a:solidFill>
                  <a:schemeClr val="accent2"/>
                </a:solidFill>
                <a:latin typeface="BIZ UDPゴシック" pitchFamily="34" charset="0"/>
                <a:ea typeface="BIZ UDPゴシック" pitchFamily="34" charset="-122"/>
                <a:cs typeface="BIZ UDPゴシック" pitchFamily="34" charset="-120"/>
              </a:rPr>
              <a:t>来日5年以上のBさん</a:t>
            </a:r>
            <a:endParaRPr lang="en-US" sz="2800" dirty="0"/>
          </a:p>
        </p:txBody>
      </p:sp>
      <p:sp>
        <p:nvSpPr>
          <p:cNvPr id="11" name="Text 6"/>
          <p:cNvSpPr txBox="1"/>
          <p:nvPr/>
        </p:nvSpPr>
        <p:spPr>
          <a:xfrm>
            <a:off x="6537960" y="4389120"/>
            <a:ext cx="4800600" cy="1371600"/>
          </a:xfrm>
          <a:prstGeom prst="rect">
            <a:avLst/>
          </a:prstGeom>
          <a:noFill/>
          <a:ln/>
        </p:spPr>
        <p:txBody>
          <a:bodyPr wrap="square" lIns="0" tIns="0" rIns="0" bIns="0" rtlCol="0" anchor="ctr"/>
          <a:lstStyle/>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話せるけれど、</a:t>
            </a:r>
            <a:endParaRPr lang="en-US" sz="3000" dirty="0"/>
          </a:p>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作文が書けない</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事例②　会話はできても、つまずきます</a:t>
            </a:r>
            <a:endParaRPr lang="en-US" sz="3600" dirty="0"/>
          </a:p>
        </p:txBody>
      </p:sp>
      <p:sp>
        <p:nvSpPr>
          <p:cNvPr id="4" name="case2-0"/>
          <p:cNvSpPr/>
          <p:nvPr/>
        </p:nvSpPr>
        <p:spPr>
          <a:xfrm>
            <a:off x="548640" y="1783080"/>
            <a:ext cx="3520440" cy="3108960"/>
          </a:xfrm>
          <a:prstGeom prst="roundRect">
            <a:avLst>
              <a:gd name="adj" fmla="val 4412"/>
            </a:avLst>
          </a:prstGeom>
          <a:solidFill>
            <a:schemeClr val="bg2"/>
          </a:solidFill>
          <a:ln/>
        </p:spPr>
      </p:sp>
      <p:sp>
        <p:nvSpPr>
          <p:cNvPr id="5" name="Text 2"/>
          <p:cNvSpPr txBox="1"/>
          <p:nvPr/>
        </p:nvSpPr>
        <p:spPr>
          <a:xfrm>
            <a:off x="731520" y="2011680"/>
            <a:ext cx="315468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BIZ UDPゴシック" pitchFamily="34" charset="0"/>
                <a:ea typeface="BIZ UDPゴシック" pitchFamily="34" charset="-122"/>
                <a:cs typeface="BIZ UDPゴシック" pitchFamily="34" charset="-120"/>
              </a:rPr>
              <a:t>小学5年生</a:t>
            </a:r>
            <a:endParaRPr lang="en-US" sz="3000" dirty="0"/>
          </a:p>
        </p:txBody>
      </p:sp>
      <p:sp>
        <p:nvSpPr>
          <p:cNvPr id="6" name="Text 3"/>
          <p:cNvSpPr txBox="1"/>
          <p:nvPr/>
        </p:nvSpPr>
        <p:spPr>
          <a:xfrm>
            <a:off x="731520" y="2926080"/>
            <a:ext cx="3154680" cy="1645920"/>
          </a:xfrm>
          <a:prstGeom prst="rect">
            <a:avLst/>
          </a:prstGeom>
          <a:noFill/>
          <a:ln/>
        </p:spPr>
        <p:txBody>
          <a:bodyPr wrap="square" lIns="0" tIns="0" rIns="0" bIns="0" rtlCol="0" anchor="ctr"/>
          <a:lstStyle/>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授業の説明が</a:t>
            </a:r>
            <a:endParaRPr lang="en-US" sz="3000" dirty="0"/>
          </a:p>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分からない</a:t>
            </a:r>
            <a:endParaRPr lang="en-US" sz="3000" dirty="0"/>
          </a:p>
        </p:txBody>
      </p:sp>
      <p:sp>
        <p:nvSpPr>
          <p:cNvPr id="7" name="case2-1"/>
          <p:cNvSpPr/>
          <p:nvPr/>
        </p:nvSpPr>
        <p:spPr>
          <a:xfrm>
            <a:off x="4343400" y="1783080"/>
            <a:ext cx="3520440" cy="3108960"/>
          </a:xfrm>
          <a:prstGeom prst="roundRect">
            <a:avLst>
              <a:gd name="adj" fmla="val 4412"/>
            </a:avLst>
          </a:prstGeom>
          <a:solidFill>
            <a:schemeClr val="bg2"/>
          </a:solidFill>
          <a:ln/>
        </p:spPr>
      </p:sp>
      <p:sp>
        <p:nvSpPr>
          <p:cNvPr id="8" name="Text 5"/>
          <p:cNvSpPr txBox="1"/>
          <p:nvPr/>
        </p:nvSpPr>
        <p:spPr>
          <a:xfrm>
            <a:off x="4526280" y="2011680"/>
            <a:ext cx="3154680" cy="731520"/>
          </a:xfrm>
          <a:prstGeom prst="rect">
            <a:avLst/>
          </a:prstGeom>
          <a:noFill/>
          <a:ln/>
        </p:spPr>
        <p:txBody>
          <a:bodyPr wrap="square" lIns="0" tIns="0" rIns="0" bIns="0" rtlCol="0" anchor="ctr"/>
          <a:lstStyle/>
          <a:p>
            <a:pPr algn="ctr" indent="0" marL="0">
              <a:buNone/>
            </a:pPr>
            <a:r>
              <a:rPr lang="en-US" sz="3000" b="1" dirty="0">
                <a:solidFill>
                  <a:schemeClr val="accent5"/>
                </a:solidFill>
                <a:latin typeface="BIZ UDPゴシック" pitchFamily="34" charset="0"/>
                <a:ea typeface="BIZ UDPゴシック" pitchFamily="34" charset="-122"/>
                <a:cs typeface="BIZ UDPゴシック" pitchFamily="34" charset="-120"/>
              </a:rPr>
              <a:t>中学2年生</a:t>
            </a:r>
            <a:endParaRPr lang="en-US" sz="3000" dirty="0"/>
          </a:p>
        </p:txBody>
      </p:sp>
      <p:sp>
        <p:nvSpPr>
          <p:cNvPr id="9" name="Text 6"/>
          <p:cNvSpPr txBox="1"/>
          <p:nvPr/>
        </p:nvSpPr>
        <p:spPr>
          <a:xfrm>
            <a:off x="4526280" y="2926080"/>
            <a:ext cx="3154680" cy="1645920"/>
          </a:xfrm>
          <a:prstGeom prst="rect">
            <a:avLst/>
          </a:prstGeom>
          <a:noFill/>
          <a:ln/>
        </p:spPr>
        <p:txBody>
          <a:bodyPr wrap="square" lIns="0" tIns="0" rIns="0" bIns="0" rtlCol="0" anchor="ctr"/>
          <a:lstStyle/>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テストが</a:t>
            </a:r>
            <a:endParaRPr lang="en-US" sz="3000" dirty="0"/>
          </a:p>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10～20点台</a:t>
            </a:r>
            <a:endParaRPr lang="en-US" sz="3000" dirty="0"/>
          </a:p>
        </p:txBody>
      </p:sp>
      <p:sp>
        <p:nvSpPr>
          <p:cNvPr id="10" name="case2-2"/>
          <p:cNvSpPr/>
          <p:nvPr/>
        </p:nvSpPr>
        <p:spPr>
          <a:xfrm>
            <a:off x="8138160" y="1783080"/>
            <a:ext cx="3520440" cy="3108960"/>
          </a:xfrm>
          <a:prstGeom prst="roundRect">
            <a:avLst>
              <a:gd name="adj" fmla="val 4412"/>
            </a:avLst>
          </a:prstGeom>
          <a:solidFill>
            <a:schemeClr val="bg2"/>
          </a:solidFill>
          <a:ln/>
        </p:spPr>
      </p:sp>
      <p:sp>
        <p:nvSpPr>
          <p:cNvPr id="11" name="Text 8"/>
          <p:cNvSpPr txBox="1"/>
          <p:nvPr/>
        </p:nvSpPr>
        <p:spPr>
          <a:xfrm>
            <a:off x="8321040" y="2011680"/>
            <a:ext cx="315468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BIZ UDPゴシック" pitchFamily="34" charset="0"/>
                <a:ea typeface="BIZ UDPゴシック" pitchFamily="34" charset="-122"/>
                <a:cs typeface="BIZ UDPゴシック" pitchFamily="34" charset="-120"/>
              </a:rPr>
              <a:t>中学3年生</a:t>
            </a:r>
            <a:endParaRPr lang="en-US" sz="3000" dirty="0"/>
          </a:p>
        </p:txBody>
      </p:sp>
      <p:sp>
        <p:nvSpPr>
          <p:cNvPr id="12" name="Text 9"/>
          <p:cNvSpPr txBox="1"/>
          <p:nvPr/>
        </p:nvSpPr>
        <p:spPr>
          <a:xfrm>
            <a:off x="8321040" y="2926080"/>
            <a:ext cx="3154680" cy="1645920"/>
          </a:xfrm>
          <a:prstGeom prst="rect">
            <a:avLst/>
          </a:prstGeom>
          <a:noFill/>
          <a:ln/>
        </p:spPr>
        <p:txBody>
          <a:bodyPr wrap="square" lIns="0" tIns="0" rIns="0" bIns="0" rtlCol="0" anchor="ctr"/>
          <a:lstStyle/>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高校受験が</a:t>
            </a:r>
            <a:endParaRPr lang="en-US" sz="3000" dirty="0"/>
          </a:p>
          <a:p>
            <a:pPr algn="ctr" indent="0" marL="0">
              <a:lnSpc>
                <a:spcPct val="110000"/>
              </a:lnSpc>
              <a:buNone/>
            </a:pPr>
            <a:r>
              <a:rPr lang="en-US" sz="3000" dirty="0">
                <a:solidFill>
                  <a:schemeClr val="tx1"/>
                </a:solidFill>
                <a:latin typeface="BIZ UDPゴシック" pitchFamily="34" charset="0"/>
                <a:ea typeface="BIZ UDPゴシック" pitchFamily="34" charset="-122"/>
                <a:cs typeface="BIZ UDPゴシック" pitchFamily="34" charset="-120"/>
              </a:rPr>
              <a:t>うまくいかない</a:t>
            </a:r>
            <a:endParaRPr lang="en-US" sz="3000" dirty="0"/>
          </a:p>
        </p:txBody>
      </p:sp>
      <p:sp>
        <p:nvSpPr>
          <p:cNvPr id="13" name="Text 10"/>
          <p:cNvSpPr txBox="1"/>
          <p:nvPr/>
        </p:nvSpPr>
        <p:spPr>
          <a:xfrm>
            <a:off x="548640" y="6263640"/>
            <a:ext cx="10332720" cy="365760"/>
          </a:xfrm>
          <a:prstGeom prst="rect">
            <a:avLst/>
          </a:prstGeom>
          <a:noFill/>
          <a:ln/>
        </p:spPr>
        <p:txBody>
          <a:bodyPr wrap="square" lIns="0" tIns="0" rIns="0" bIns="0" rtlCol="0" anchor="ctr"/>
          <a:lstStyle/>
          <a:p>
            <a:pPr indent="0" marL="0">
              <a:buNone/>
            </a:pPr>
            <a:r>
              <a:rPr lang="en-US" sz="1400" dirty="0">
                <a:solidFill>
                  <a:schemeClr val="accent6"/>
                </a:solidFill>
                <a:latin typeface="BIZ UDPゴシック" pitchFamily="34" charset="0"/>
                <a:ea typeface="BIZ UDPゴシック" pitchFamily="34" charset="-122"/>
                <a:cs typeface="BIZ UDPゴシック" pitchFamily="34" charset="-120"/>
              </a:rPr>
              <a:t>練馬区教育振興部資料（校長からの聞き取り）</a:t>
            </a:r>
            <a:endParaRPr lang="en-US" sz="1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将来の進路にも、差が出ています</a:t>
            </a:r>
            <a:endParaRPr lang="en-US" sz="3600" dirty="0"/>
          </a:p>
        </p:txBody>
      </p:sp>
      <p:sp>
        <p:nvSpPr>
          <p:cNvPr id="4" name="Text 1"/>
          <p:cNvSpPr txBox="1"/>
          <p:nvPr/>
        </p:nvSpPr>
        <p:spPr>
          <a:xfrm>
            <a:off x="548640" y="1645920"/>
            <a:ext cx="1106424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BIZ UDPゴシック" pitchFamily="34" charset="0"/>
                <a:ea typeface="BIZ UDPゴシック" pitchFamily="34" charset="-122"/>
                <a:cs typeface="BIZ UDPゴシック" pitchFamily="34" charset="-120"/>
              </a:rPr>
              <a:t>大学などへの進学率</a:t>
            </a:r>
            <a:endParaRPr lang="en-US" sz="3000" dirty="0"/>
          </a:p>
        </p:txBody>
      </p:sp>
      <p:sp>
        <p:nvSpPr>
          <p:cNvPr id="5" name="Text 2"/>
          <p:cNvSpPr txBox="1"/>
          <p:nvPr/>
        </p:nvSpPr>
        <p:spPr>
          <a:xfrm>
            <a:off x="548640" y="2560320"/>
            <a:ext cx="3108960" cy="1097280"/>
          </a:xfrm>
          <a:prstGeom prst="rect">
            <a:avLst/>
          </a:prstGeom>
          <a:noFill/>
          <a:ln/>
        </p:spPr>
        <p:txBody>
          <a:bodyPr wrap="square" lIns="0" tIns="0" rIns="0" bIns="0" rtlCol="0" anchor="ctr"/>
          <a:lstStyle/>
          <a:p>
            <a:pPr algn="r" indent="0" marL="0">
              <a:buNone/>
            </a:pPr>
            <a:r>
              <a:rPr lang="en-US" sz="2600" b="1" dirty="0">
                <a:solidFill>
                  <a:schemeClr val="tx1"/>
                </a:solidFill>
                <a:latin typeface="BIZ UDPゴシック" pitchFamily="34" charset="0"/>
                <a:ea typeface="BIZ UDPゴシック" pitchFamily="34" charset="-122"/>
                <a:cs typeface="BIZ UDPゴシック" pitchFamily="34" charset="-120"/>
              </a:rPr>
              <a:t>全体</a:t>
            </a:r>
            <a:endParaRPr lang="en-US" sz="2600" dirty="0"/>
          </a:p>
        </p:txBody>
      </p:sp>
      <p:sp>
        <p:nvSpPr>
          <p:cNvPr id="6" name="bar-0"/>
          <p:cNvSpPr/>
          <p:nvPr/>
        </p:nvSpPr>
        <p:spPr>
          <a:xfrm>
            <a:off x="3840480" y="2560320"/>
            <a:ext cx="5212080" cy="1097280"/>
          </a:xfrm>
          <a:prstGeom prst="rect">
            <a:avLst/>
          </a:prstGeom>
          <a:solidFill>
            <a:srgbClr val="7C898D"/>
          </a:solidFill>
          <a:ln/>
        </p:spPr>
      </p:sp>
      <p:sp>
        <p:nvSpPr>
          <p:cNvPr id="7" name="Text 4"/>
          <p:cNvSpPr txBox="1"/>
          <p:nvPr/>
        </p:nvSpPr>
        <p:spPr>
          <a:xfrm>
            <a:off x="9235440" y="2560320"/>
            <a:ext cx="1828800" cy="1097280"/>
          </a:xfrm>
          <a:prstGeom prst="rect">
            <a:avLst/>
          </a:prstGeom>
          <a:noFill/>
          <a:ln/>
        </p:spPr>
        <p:txBody>
          <a:bodyPr wrap="square" lIns="0" tIns="0" rIns="0" bIns="0" rtlCol="0" anchor="ctr"/>
          <a:lstStyle/>
          <a:p>
            <a:pPr indent="0" marL="0">
              <a:buNone/>
            </a:pPr>
            <a:r>
              <a:rPr lang="en-US" sz="4400" b="1" dirty="0">
                <a:solidFill>
                  <a:srgbClr val="7C898D"/>
                </a:solidFill>
                <a:latin typeface="BIZ UDPゴシック" pitchFamily="34" charset="0"/>
                <a:ea typeface="BIZ UDPゴシック" pitchFamily="34" charset="-122"/>
                <a:cs typeface="BIZ UDPゴシック" pitchFamily="34" charset="-120"/>
              </a:rPr>
              <a:t>75％</a:t>
            </a:r>
            <a:endParaRPr lang="en-US" sz="4400" dirty="0"/>
          </a:p>
        </p:txBody>
      </p:sp>
      <p:sp>
        <p:nvSpPr>
          <p:cNvPr id="8" name="Text 5"/>
          <p:cNvSpPr txBox="1"/>
          <p:nvPr/>
        </p:nvSpPr>
        <p:spPr>
          <a:xfrm>
            <a:off x="548640" y="3977640"/>
            <a:ext cx="3108960" cy="1097280"/>
          </a:xfrm>
          <a:prstGeom prst="rect">
            <a:avLst/>
          </a:prstGeom>
          <a:noFill/>
          <a:ln/>
        </p:spPr>
        <p:txBody>
          <a:bodyPr wrap="square" lIns="0" tIns="0" rIns="0" bIns="0" rtlCol="0" anchor="ctr"/>
          <a:lstStyle/>
          <a:p>
            <a:pPr algn="r" indent="0" marL="0">
              <a:buNone/>
            </a:pPr>
            <a:r>
              <a:rPr lang="en-US" sz="2600" b="1" dirty="0">
                <a:solidFill>
                  <a:schemeClr val="tx1"/>
                </a:solidFill>
                <a:latin typeface="BIZ UDPゴシック" pitchFamily="34" charset="0"/>
                <a:ea typeface="BIZ UDPゴシック" pitchFamily="34" charset="-122"/>
                <a:cs typeface="BIZ UDPゴシック" pitchFamily="34" charset="-120"/>
              </a:rPr>
              <a:t>日本語指導が</a:t>
            </a:r>
            <a:endParaRPr lang="en-US" sz="2600" dirty="0"/>
          </a:p>
          <a:p>
            <a:pPr algn="r" indent="0" marL="0">
              <a:buNone/>
            </a:pPr>
            <a:r>
              <a:rPr lang="en-US" sz="2600" b="1" dirty="0">
                <a:solidFill>
                  <a:schemeClr val="tx1"/>
                </a:solidFill>
                <a:latin typeface="BIZ UDPゴシック" pitchFamily="34" charset="0"/>
                <a:ea typeface="BIZ UDPゴシック" pitchFamily="34" charset="-122"/>
                <a:cs typeface="BIZ UDPゴシック" pitchFamily="34" charset="-120"/>
              </a:rPr>
              <a:t>必要な生徒</a:t>
            </a:r>
            <a:endParaRPr lang="en-US" sz="2600" dirty="0"/>
          </a:p>
        </p:txBody>
      </p:sp>
      <p:sp>
        <p:nvSpPr>
          <p:cNvPr id="9" name="bar-1"/>
          <p:cNvSpPr/>
          <p:nvPr/>
        </p:nvSpPr>
        <p:spPr>
          <a:xfrm>
            <a:off x="3840480" y="3977640"/>
            <a:ext cx="2849270" cy="1097280"/>
          </a:xfrm>
          <a:prstGeom prst="rect">
            <a:avLst/>
          </a:prstGeom>
          <a:solidFill>
            <a:srgbClr val="D9547A"/>
          </a:solidFill>
          <a:ln/>
        </p:spPr>
      </p:sp>
      <p:sp>
        <p:nvSpPr>
          <p:cNvPr id="10" name="Text 7"/>
          <p:cNvSpPr txBox="1"/>
          <p:nvPr/>
        </p:nvSpPr>
        <p:spPr>
          <a:xfrm>
            <a:off x="6872630" y="3977640"/>
            <a:ext cx="1828800" cy="1097280"/>
          </a:xfrm>
          <a:prstGeom prst="rect">
            <a:avLst/>
          </a:prstGeom>
          <a:noFill/>
          <a:ln/>
        </p:spPr>
        <p:txBody>
          <a:bodyPr wrap="square" lIns="0" tIns="0" rIns="0" bIns="0" rtlCol="0" anchor="ctr"/>
          <a:lstStyle/>
          <a:p>
            <a:pPr indent="0" marL="0">
              <a:buNone/>
            </a:pPr>
            <a:r>
              <a:rPr lang="en-US" sz="4400" b="1" dirty="0">
                <a:solidFill>
                  <a:srgbClr val="D9547A"/>
                </a:solidFill>
                <a:latin typeface="BIZ UDPゴシック" pitchFamily="34" charset="0"/>
                <a:ea typeface="BIZ UDPゴシック" pitchFamily="34" charset="-122"/>
                <a:cs typeface="BIZ UDPゴシック" pitchFamily="34" charset="-120"/>
              </a:rPr>
              <a:t>41％</a:t>
            </a:r>
            <a:endParaRPr lang="en-US" sz="4400" dirty="0"/>
          </a:p>
        </p:txBody>
      </p:sp>
      <p:sp>
        <p:nvSpPr>
          <p:cNvPr id="11" name="Text 8"/>
          <p:cNvSpPr txBox="1"/>
          <p:nvPr/>
        </p:nvSpPr>
        <p:spPr>
          <a:xfrm>
            <a:off x="548640" y="5440680"/>
            <a:ext cx="11064240" cy="640080"/>
          </a:xfrm>
          <a:prstGeom prst="rect">
            <a:avLst/>
          </a:prstGeom>
          <a:noFill/>
          <a:ln/>
        </p:spPr>
        <p:txBody>
          <a:bodyPr wrap="square" lIns="0" tIns="0" rIns="0" bIns="0" rtlCol="0" anchor="ctr"/>
          <a:lstStyle/>
          <a:p>
            <a:pPr algn="ctr" indent="0" marL="0">
              <a:buNone/>
            </a:pPr>
            <a:r>
              <a:rPr lang="en-US" sz="2800" b="1" dirty="0">
                <a:solidFill>
                  <a:schemeClr val="accent2"/>
                </a:solidFill>
                <a:latin typeface="BIZ UDPゴシック" pitchFamily="34" charset="0"/>
                <a:ea typeface="BIZ UDPゴシック" pitchFamily="34" charset="-122"/>
                <a:cs typeface="BIZ UDPゴシック" pitchFamily="34" charset="-120"/>
              </a:rPr>
              <a:t>学ぶ力が、将来の選択肢を広げます</a:t>
            </a:r>
            <a:endParaRPr lang="en-US" sz="2800" dirty="0"/>
          </a:p>
        </p:txBody>
      </p:sp>
      <p:sp>
        <p:nvSpPr>
          <p:cNvPr id="12" name="Text 9"/>
          <p:cNvSpPr txBox="1"/>
          <p:nvPr/>
        </p:nvSpPr>
        <p:spPr>
          <a:xfrm>
            <a:off x="548640" y="6263640"/>
            <a:ext cx="10332720" cy="365760"/>
          </a:xfrm>
          <a:prstGeom prst="rect">
            <a:avLst/>
          </a:prstGeom>
          <a:noFill/>
          <a:ln/>
        </p:spPr>
        <p:txBody>
          <a:bodyPr wrap="square" lIns="0" tIns="0" rIns="0" bIns="0" rtlCol="0" anchor="ctr"/>
          <a:lstStyle/>
          <a:p>
            <a:pPr indent="0" marL="0">
              <a:buNone/>
            </a:pPr>
            <a:r>
              <a:rPr lang="en-US" sz="1400" dirty="0">
                <a:solidFill>
                  <a:schemeClr val="accent6"/>
                </a:solidFill>
                <a:latin typeface="BIZ UDPゴシック" pitchFamily="34" charset="0"/>
                <a:ea typeface="BIZ UDPゴシック" pitchFamily="34" charset="-122"/>
                <a:cs typeface="BIZ UDPゴシック" pitchFamily="34" charset="-120"/>
              </a:rPr>
              <a:t>文部科学省「日本語指導が必要な児童生徒の受入状況等に関する調査（令和7年度）」（全国）</a:t>
            </a:r>
            <a:endParaRPr lang="en-US" sz="14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子どもの声</a:t>
            </a:r>
            <a:endParaRPr lang="en-US" sz="3600" dirty="0"/>
          </a:p>
        </p:txBody>
      </p:sp>
      <p:pic>
        <p:nvPicPr>
          <p:cNvPr id="4" name="Image 0" descr="preencoded.png">    </p:cNvPr>
          <p:cNvPicPr>
            <a:picLocks noChangeAspect="1"/>
          </p:cNvPicPr>
          <p:nvPr/>
        </p:nvPicPr>
        <p:blipFill>
          <a:blip r:embed="rId1"/>
          <a:stretch>
            <a:fillRect/>
          </a:stretch>
        </p:blipFill>
        <p:spPr>
          <a:xfrm>
            <a:off x="1097280" y="1783080"/>
            <a:ext cx="731520" cy="731520"/>
          </a:xfrm>
          <a:prstGeom prst="rect">
            <a:avLst/>
          </a:prstGeom>
        </p:spPr>
      </p:pic>
      <p:sp>
        <p:nvSpPr>
          <p:cNvPr id="5" name="Text 1"/>
          <p:cNvSpPr txBox="1"/>
          <p:nvPr/>
        </p:nvSpPr>
        <p:spPr>
          <a:xfrm>
            <a:off x="2103120" y="1783080"/>
            <a:ext cx="8961120" cy="2651760"/>
          </a:xfrm>
          <a:prstGeom prst="rect">
            <a:avLst/>
          </a:prstGeom>
          <a:noFill/>
          <a:ln/>
        </p:spPr>
        <p:txBody>
          <a:bodyPr wrap="square" lIns="0" tIns="0" rIns="0" bIns="0" rtlCol="0" anchor="t"/>
          <a:lstStyle/>
          <a:p>
            <a:pPr indent="0" marL="0">
              <a:lnSpc>
                <a:spcPct val="115000"/>
              </a:lnSpc>
              <a:buNone/>
            </a:pPr>
            <a:r>
              <a:rPr lang="en-US" sz="4000" b="1" dirty="0">
                <a:solidFill>
                  <a:schemeClr val="tx2"/>
                </a:solidFill>
                <a:latin typeface="BIZ UDPゴシック" pitchFamily="34" charset="0"/>
                <a:ea typeface="BIZ UDPゴシック" pitchFamily="34" charset="-122"/>
                <a:cs typeface="BIZ UDPゴシック" pitchFamily="34" charset="-120"/>
              </a:rPr>
              <a:t>担任の先生が、</a:t>
            </a:r>
            <a:endParaRPr lang="en-US" sz="4000" dirty="0"/>
          </a:p>
          <a:p>
            <a:pPr indent="0" marL="0">
              <a:lnSpc>
                <a:spcPct val="115000"/>
              </a:lnSpc>
              <a:buNone/>
            </a:pPr>
            <a:r>
              <a:rPr lang="en-US" sz="4000" b="1" dirty="0">
                <a:solidFill>
                  <a:schemeClr val="tx2"/>
                </a:solidFill>
                <a:latin typeface="BIZ UDPゴシック" pitchFamily="34" charset="0"/>
                <a:ea typeface="BIZ UDPゴシック" pitchFamily="34" charset="-122"/>
                <a:cs typeface="BIZ UDPゴシック" pitchFamily="34" charset="-120"/>
              </a:rPr>
              <a:t>私が何に困っているかに</a:t>
            </a:r>
            <a:endParaRPr lang="en-US" sz="4000" dirty="0"/>
          </a:p>
          <a:p>
            <a:pPr indent="0" marL="0">
              <a:lnSpc>
                <a:spcPct val="115000"/>
              </a:lnSpc>
              <a:buNone/>
            </a:pPr>
            <a:r>
              <a:rPr lang="en-US" sz="4000" b="1" dirty="0">
                <a:solidFill>
                  <a:schemeClr val="tx2"/>
                </a:solidFill>
                <a:latin typeface="BIZ UDPゴシック" pitchFamily="34" charset="0"/>
                <a:ea typeface="BIZ UDPゴシック" pitchFamily="34" charset="-122"/>
                <a:cs typeface="BIZ UDPゴシック" pitchFamily="34" charset="-120"/>
              </a:rPr>
              <a:t>気づき…</a:t>
            </a:r>
            <a:endParaRPr lang="en-US" sz="4000" dirty="0"/>
          </a:p>
        </p:txBody>
      </p:sp>
      <p:sp>
        <p:nvSpPr>
          <p:cNvPr id="6" name="Text 2"/>
          <p:cNvSpPr txBox="1"/>
          <p:nvPr/>
        </p:nvSpPr>
        <p:spPr>
          <a:xfrm>
            <a:off x="2103120" y="4434840"/>
            <a:ext cx="8961120" cy="502920"/>
          </a:xfrm>
          <a:prstGeom prst="rect">
            <a:avLst/>
          </a:prstGeom>
          <a:noFill/>
          <a:ln/>
        </p:spPr>
        <p:txBody>
          <a:bodyPr wrap="square" lIns="0" tIns="0" rIns="0" bIns="0" rtlCol="0" anchor="ctr"/>
          <a:lstStyle/>
          <a:p>
            <a:pPr indent="0" marL="0">
              <a:buNone/>
            </a:pPr>
            <a:r>
              <a:rPr lang="en-US" sz="2200" dirty="0">
                <a:solidFill>
                  <a:schemeClr val="accent6"/>
                </a:solidFill>
                <a:latin typeface="BIZ UDPゴシック" pitchFamily="34" charset="0"/>
                <a:ea typeface="BIZ UDPゴシック" pitchFamily="34" charset="-122"/>
                <a:cs typeface="BIZ UDPゴシック" pitchFamily="34" charset="-120"/>
              </a:rPr>
              <a:t>― 中学生の作文「私と日本語」より</a:t>
            </a:r>
            <a:endParaRPr lang="en-US" sz="2200" dirty="0"/>
          </a:p>
        </p:txBody>
      </p:sp>
      <p:sp>
        <p:nvSpPr>
          <p:cNvPr id="7" name="message"/>
          <p:cNvSpPr/>
          <p:nvPr/>
        </p:nvSpPr>
        <p:spPr>
          <a:xfrm>
            <a:off x="2423160" y="5166360"/>
            <a:ext cx="7315200" cy="868680"/>
          </a:xfrm>
          <a:prstGeom prst="roundRect">
            <a:avLst>
              <a:gd name="adj" fmla="val 15789"/>
            </a:avLst>
          </a:prstGeom>
          <a:solidFill>
            <a:srgbClr val="FBE6EC"/>
          </a:solid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「気づく大人」が、支援の第一歩</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家庭にも、困りごとがあります</a:t>
            </a:r>
            <a:endParaRPr lang="en-US" sz="3600" dirty="0"/>
          </a:p>
        </p:txBody>
      </p:sp>
      <p:sp>
        <p:nvSpPr>
          <p:cNvPr id="4" name="icon-circle"/>
          <p:cNvSpPr/>
          <p:nvPr/>
        </p:nvSpPr>
        <p:spPr>
          <a:xfrm>
            <a:off x="1444752" y="1828800"/>
            <a:ext cx="1737360" cy="173736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861718" y="2245766"/>
            <a:ext cx="903427" cy="903427"/>
          </a:xfrm>
          <a:prstGeom prst="rect">
            <a:avLst/>
          </a:prstGeom>
        </p:spPr>
      </p:pic>
      <p:sp>
        <p:nvSpPr>
          <p:cNvPr id="6" name="Text 2"/>
          <p:cNvSpPr txBox="1"/>
          <p:nvPr/>
        </p:nvSpPr>
        <p:spPr>
          <a:xfrm>
            <a:off x="548640" y="3794760"/>
            <a:ext cx="3520440" cy="1371600"/>
          </a:xfrm>
          <a:prstGeom prst="rect">
            <a:avLst/>
          </a:prstGeom>
          <a:noFill/>
          <a:ln/>
        </p:spPr>
        <p:txBody>
          <a:bodyPr wrap="square" lIns="0" tIns="0" rIns="0" bIns="0" rtlCol="0" anchor="ctr"/>
          <a:lstStyle/>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お便りが</a:t>
            </a:r>
            <a:endParaRPr lang="en-US" sz="3200" dirty="0"/>
          </a:p>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読めない</a:t>
            </a:r>
            <a:endParaRPr lang="en-US" sz="3200" dirty="0"/>
          </a:p>
        </p:txBody>
      </p:sp>
      <p:sp>
        <p:nvSpPr>
          <p:cNvPr id="7" name="icon-circle"/>
          <p:cNvSpPr/>
          <p:nvPr/>
        </p:nvSpPr>
        <p:spPr>
          <a:xfrm>
            <a:off x="5239512" y="1828800"/>
            <a:ext cx="1737360" cy="1737360"/>
          </a:xfrm>
          <a:prstGeom prst="ellipse">
            <a:avLst/>
          </a:prstGeom>
          <a:solidFill>
            <a:schemeClr val="accent4"/>
          </a:solidFill>
          <a:ln/>
        </p:spPr>
      </p:sp>
      <p:pic>
        <p:nvPicPr>
          <p:cNvPr id="8" name="Image 1" descr="preencoded.png">    </p:cNvPr>
          <p:cNvPicPr>
            <a:picLocks noChangeAspect="1"/>
          </p:cNvPicPr>
          <p:nvPr/>
        </p:nvPicPr>
        <p:blipFill>
          <a:blip r:embed="rId2"/>
          <a:stretch>
            <a:fillRect/>
          </a:stretch>
        </p:blipFill>
        <p:spPr>
          <a:xfrm>
            <a:off x="5656478" y="2245766"/>
            <a:ext cx="903427" cy="903427"/>
          </a:xfrm>
          <a:prstGeom prst="rect">
            <a:avLst/>
          </a:prstGeom>
        </p:spPr>
      </p:pic>
      <p:sp>
        <p:nvSpPr>
          <p:cNvPr id="9" name="Text 4"/>
          <p:cNvSpPr txBox="1"/>
          <p:nvPr/>
        </p:nvSpPr>
        <p:spPr>
          <a:xfrm>
            <a:off x="4343400" y="3794760"/>
            <a:ext cx="3520440" cy="1371600"/>
          </a:xfrm>
          <a:prstGeom prst="rect">
            <a:avLst/>
          </a:prstGeom>
          <a:noFill/>
          <a:ln/>
        </p:spPr>
        <p:txBody>
          <a:bodyPr wrap="square" lIns="0" tIns="0" rIns="0" bIns="0" rtlCol="0" anchor="ctr"/>
          <a:lstStyle/>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習慣が</a:t>
            </a:r>
            <a:endParaRPr lang="en-US" sz="3200" dirty="0"/>
          </a:p>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違う</a:t>
            </a:r>
            <a:endParaRPr lang="en-US" sz="3200" dirty="0"/>
          </a:p>
        </p:txBody>
      </p:sp>
      <p:sp>
        <p:nvSpPr>
          <p:cNvPr id="10" name="icon-circle"/>
          <p:cNvSpPr/>
          <p:nvPr/>
        </p:nvSpPr>
        <p:spPr>
          <a:xfrm>
            <a:off x="9034272" y="1828800"/>
            <a:ext cx="1737360" cy="1737360"/>
          </a:xfrm>
          <a:prstGeom prst="ellipse">
            <a:avLst/>
          </a:prstGeom>
          <a:solidFill>
            <a:schemeClr val="accent2"/>
          </a:solidFill>
          <a:ln/>
        </p:spPr>
      </p:sp>
      <p:pic>
        <p:nvPicPr>
          <p:cNvPr id="11" name="Image 2" descr="preencoded.png">    </p:cNvPr>
          <p:cNvPicPr>
            <a:picLocks noChangeAspect="1"/>
          </p:cNvPicPr>
          <p:nvPr/>
        </p:nvPicPr>
        <p:blipFill>
          <a:blip r:embed="rId3"/>
          <a:stretch>
            <a:fillRect/>
          </a:stretch>
        </p:blipFill>
        <p:spPr>
          <a:xfrm>
            <a:off x="9451238" y="2245766"/>
            <a:ext cx="903427" cy="903427"/>
          </a:xfrm>
          <a:prstGeom prst="rect">
            <a:avLst/>
          </a:prstGeom>
        </p:spPr>
      </p:pic>
      <p:sp>
        <p:nvSpPr>
          <p:cNvPr id="12" name="Text 6"/>
          <p:cNvSpPr txBox="1"/>
          <p:nvPr/>
        </p:nvSpPr>
        <p:spPr>
          <a:xfrm>
            <a:off x="8138160" y="3794760"/>
            <a:ext cx="3520440" cy="1371600"/>
          </a:xfrm>
          <a:prstGeom prst="rect">
            <a:avLst/>
          </a:prstGeom>
          <a:noFill/>
          <a:ln/>
        </p:spPr>
        <p:txBody>
          <a:bodyPr wrap="square" lIns="0" tIns="0" rIns="0" bIns="0" rtlCol="0" anchor="ctr"/>
          <a:lstStyle/>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相談できる人が</a:t>
            </a:r>
            <a:endParaRPr lang="en-US" sz="3200" dirty="0"/>
          </a:p>
          <a:p>
            <a:pPr algn="ctr" indent="0" marL="0">
              <a:lnSpc>
                <a:spcPct val="110000"/>
              </a:lnSpc>
              <a:buNone/>
            </a:pPr>
            <a:r>
              <a:rPr lang="en-US" sz="3200" b="1" dirty="0">
                <a:solidFill>
                  <a:schemeClr val="tx1"/>
                </a:solidFill>
                <a:latin typeface="BIZ UDPゴシック" pitchFamily="34" charset="0"/>
                <a:ea typeface="BIZ UDPゴシック" pitchFamily="34" charset="-122"/>
                <a:cs typeface="BIZ UDPゴシック" pitchFamily="34" charset="-120"/>
              </a:rPr>
              <a:t>いない</a:t>
            </a:r>
            <a:endParaRPr lang="en-US" sz="32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入学までの流れ</a:t>
            </a:r>
            <a:endParaRPr lang="en-US" sz="3600" dirty="0"/>
          </a:p>
        </p:txBody>
      </p:sp>
      <p:sp>
        <p:nvSpPr>
          <p:cNvPr id="4" name="step-0"/>
          <p:cNvSpPr/>
          <p:nvPr/>
        </p:nvSpPr>
        <p:spPr>
          <a:xfrm>
            <a:off x="630936" y="2194560"/>
            <a:ext cx="2286000" cy="1737360"/>
          </a:xfrm>
          <a:prstGeom prst="roundRect">
            <a:avLst>
              <a:gd name="adj" fmla="val 7895"/>
            </a:avLst>
          </a:prstGeom>
          <a:solidFill>
            <a:schemeClr val="accent4"/>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区役所で</a:t>
            </a:r>
            <a:endParaRPr lang="en-US" sz="3200" dirty="0"/>
          </a:p>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手続き</a:t>
            </a:r>
            <a:endParaRPr lang="en-US" sz="3200" dirty="0"/>
          </a:p>
        </p:txBody>
      </p:sp>
      <p:sp>
        <p:nvSpPr>
          <p:cNvPr id="5" name="step-arrow-0"/>
          <p:cNvSpPr/>
          <p:nvPr/>
        </p:nvSpPr>
        <p:spPr>
          <a:xfrm>
            <a:off x="3008376" y="2834640"/>
            <a:ext cx="411480" cy="457200"/>
          </a:xfrm>
          <a:prstGeom prst="rightArrow">
            <a:avLst/>
          </a:prstGeom>
          <a:solidFill>
            <a:schemeClr val="accent3"/>
          </a:solidFill>
          <a:ln/>
        </p:spPr>
      </p:sp>
      <p:sp>
        <p:nvSpPr>
          <p:cNvPr id="6" name="step-1"/>
          <p:cNvSpPr/>
          <p:nvPr/>
        </p:nvSpPr>
        <p:spPr>
          <a:xfrm>
            <a:off x="3511296" y="2194560"/>
            <a:ext cx="2286000" cy="1737360"/>
          </a:xfrm>
          <a:prstGeom prst="roundRect">
            <a:avLst>
              <a:gd name="adj" fmla="val 7895"/>
            </a:avLst>
          </a:prstGeom>
          <a:solidFill>
            <a:schemeClr val="accent4"/>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カードを</a:t>
            </a:r>
            <a:endParaRPr lang="en-US" sz="3200" dirty="0"/>
          </a:p>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書く</a:t>
            </a:r>
            <a:endParaRPr lang="en-US" sz="3200" dirty="0"/>
          </a:p>
        </p:txBody>
      </p:sp>
      <p:sp>
        <p:nvSpPr>
          <p:cNvPr id="7" name="step-arrow-1"/>
          <p:cNvSpPr/>
          <p:nvPr/>
        </p:nvSpPr>
        <p:spPr>
          <a:xfrm>
            <a:off x="5888736" y="2834640"/>
            <a:ext cx="411480" cy="457200"/>
          </a:xfrm>
          <a:prstGeom prst="rightArrow">
            <a:avLst/>
          </a:prstGeom>
          <a:solidFill>
            <a:schemeClr val="accent3"/>
          </a:solidFill>
          <a:ln/>
        </p:spPr>
      </p:sp>
      <p:sp>
        <p:nvSpPr>
          <p:cNvPr id="8" name="step-2"/>
          <p:cNvSpPr/>
          <p:nvPr/>
        </p:nvSpPr>
        <p:spPr>
          <a:xfrm>
            <a:off x="6391656" y="2194560"/>
            <a:ext cx="2286000" cy="1737360"/>
          </a:xfrm>
          <a:prstGeom prst="roundRect">
            <a:avLst>
              <a:gd name="adj" fmla="val 7895"/>
            </a:avLst>
          </a:prstGeom>
          <a:solidFill>
            <a:schemeClr val="accent4"/>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学校で</a:t>
            </a:r>
            <a:endParaRPr lang="en-US" sz="3200" dirty="0"/>
          </a:p>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面談</a:t>
            </a:r>
            <a:endParaRPr lang="en-US" sz="3200" dirty="0"/>
          </a:p>
        </p:txBody>
      </p:sp>
      <p:sp>
        <p:nvSpPr>
          <p:cNvPr id="9" name="step-arrow-2"/>
          <p:cNvSpPr/>
          <p:nvPr/>
        </p:nvSpPr>
        <p:spPr>
          <a:xfrm>
            <a:off x="8769096" y="2834640"/>
            <a:ext cx="411480" cy="457200"/>
          </a:xfrm>
          <a:prstGeom prst="rightArrow">
            <a:avLst/>
          </a:prstGeom>
          <a:solidFill>
            <a:schemeClr val="accent3"/>
          </a:solidFill>
          <a:ln/>
        </p:spPr>
      </p:sp>
      <p:sp>
        <p:nvSpPr>
          <p:cNvPr id="10" name="step-3"/>
          <p:cNvSpPr/>
          <p:nvPr/>
        </p:nvSpPr>
        <p:spPr>
          <a:xfrm>
            <a:off x="9272016" y="2194560"/>
            <a:ext cx="2286000" cy="1737360"/>
          </a:xfrm>
          <a:prstGeom prst="roundRect">
            <a:avLst>
              <a:gd name="adj" fmla="val 7895"/>
            </a:avLst>
          </a:prstGeom>
          <a:solidFill>
            <a:schemeClr val="accent2"/>
          </a:solidFill>
          <a:ln/>
        </p:spPr>
        <p:txBody>
          <a:bodyPr wrap="square" lIns="0" tIns="0" rIns="0" bIns="0" rtlCol="0" anchor="ctr"/>
          <a:lstStyle/>
          <a:p>
            <a:pPr algn="ctr" indent="0" marL="0">
              <a:buNone/>
            </a:pPr>
            <a:r>
              <a:rPr lang="en-US" sz="3200" b="1" dirty="0">
                <a:solidFill>
                  <a:schemeClr val="bg1"/>
                </a:solidFill>
                <a:latin typeface="BIZ UDPゴシック" pitchFamily="34" charset="0"/>
                <a:ea typeface="BIZ UDPゴシック" pitchFamily="34" charset="-122"/>
                <a:cs typeface="BIZ UDPゴシック" pitchFamily="34" charset="-120"/>
              </a:rPr>
              <a:t>入学</a:t>
            </a:r>
            <a:endParaRPr lang="en-US" sz="3200" dirty="0"/>
          </a:p>
        </p:txBody>
      </p:sp>
      <p:sp>
        <p:nvSpPr>
          <p:cNvPr id="11" name="Text 8"/>
          <p:cNvSpPr txBox="1"/>
          <p:nvPr/>
        </p:nvSpPr>
        <p:spPr>
          <a:xfrm>
            <a:off x="548640" y="4663440"/>
            <a:ext cx="11064240" cy="731520"/>
          </a:xfrm>
          <a:prstGeom prst="rect">
            <a:avLst/>
          </a:prstGeom>
          <a:noFill/>
          <a:ln/>
        </p:spPr>
        <p:txBody>
          <a:bodyPr wrap="square" lIns="0" tIns="0" rIns="0" bIns="0" rtlCol="0" anchor="ctr"/>
          <a:lstStyle/>
          <a:p>
            <a:pPr algn="ctr" indent="0" marL="0">
              <a:buNone/>
            </a:pPr>
            <a:r>
              <a:rPr lang="en-US" sz="2800" dirty="0">
                <a:solidFill>
                  <a:schemeClr val="tx2"/>
                </a:solidFill>
                <a:latin typeface="BIZ UDPゴシック" pitchFamily="34" charset="0"/>
                <a:ea typeface="BIZ UDPゴシック" pitchFamily="34" charset="-122"/>
                <a:cs typeface="BIZ UDPゴシック" pitchFamily="34" charset="-120"/>
              </a:rPr>
              <a:t>面談では、通訳やAI通訳機を使います</a:t>
            </a:r>
            <a:endParaRPr lang="en-US" sz="28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受け入れカードに、こんな質問があります</a:t>
            </a:r>
            <a:endParaRPr lang="en-US" sz="3600" dirty="0"/>
          </a:p>
        </p:txBody>
      </p:sp>
      <p:sp>
        <p:nvSpPr>
          <p:cNvPr id="4" name="question-card"/>
          <p:cNvSpPr/>
          <p:nvPr/>
        </p:nvSpPr>
        <p:spPr>
          <a:xfrm>
            <a:off x="822960" y="1783080"/>
            <a:ext cx="10515600" cy="2651760"/>
          </a:xfrm>
          <a:prstGeom prst="roundRect">
            <a:avLst>
              <a:gd name="adj" fmla="val 5172"/>
            </a:avLst>
          </a:prstGeom>
          <a:solidFill>
            <a:schemeClr val="bg2"/>
          </a:solidFill>
          <a:ln/>
        </p:spPr>
      </p:sp>
      <p:pic>
        <p:nvPicPr>
          <p:cNvPr id="5" name="Image 0" descr="preencoded.png">    </p:cNvPr>
          <p:cNvPicPr>
            <a:picLocks noChangeAspect="1"/>
          </p:cNvPicPr>
          <p:nvPr/>
        </p:nvPicPr>
        <p:blipFill>
          <a:blip r:embed="rId1"/>
          <a:stretch>
            <a:fillRect/>
          </a:stretch>
        </p:blipFill>
        <p:spPr>
          <a:xfrm>
            <a:off x="1280160" y="2423160"/>
            <a:ext cx="1371600" cy="1371600"/>
          </a:xfrm>
          <a:prstGeom prst="rect">
            <a:avLst/>
          </a:prstGeom>
        </p:spPr>
      </p:pic>
      <p:sp>
        <p:nvSpPr>
          <p:cNvPr id="6" name="Text 2"/>
          <p:cNvSpPr txBox="1"/>
          <p:nvPr/>
        </p:nvSpPr>
        <p:spPr>
          <a:xfrm>
            <a:off x="3017520" y="1874520"/>
            <a:ext cx="8046720" cy="2468880"/>
          </a:xfrm>
          <a:prstGeom prst="rect">
            <a:avLst/>
          </a:prstGeom>
          <a:noFill/>
          <a:ln/>
        </p:spPr>
        <p:txBody>
          <a:bodyPr wrap="square" lIns="0" tIns="0" rIns="0" bIns="0" rtlCol="0" anchor="ctr"/>
          <a:lstStyle/>
          <a:p>
            <a:pPr indent="0" marL="0">
              <a:lnSpc>
                <a:spcPct val="110000"/>
              </a:lnSpc>
              <a:buNone/>
            </a:pPr>
            <a:r>
              <a:rPr lang="en-US" sz="4000" b="1" dirty="0">
                <a:solidFill>
                  <a:schemeClr val="tx2"/>
                </a:solidFill>
                <a:latin typeface="BIZ UDPゴシック" pitchFamily="34" charset="0"/>
                <a:ea typeface="BIZ UDPゴシック" pitchFamily="34" charset="-122"/>
                <a:cs typeface="BIZ UDPゴシック" pitchFamily="34" charset="-120"/>
              </a:rPr>
              <a:t>ご近所に、</a:t>
            </a:r>
            <a:endParaRPr lang="en-US" sz="4000" dirty="0"/>
          </a:p>
          <a:p>
            <a:pPr indent="0" marL="0">
              <a:lnSpc>
                <a:spcPct val="110000"/>
              </a:lnSpc>
              <a:buNone/>
            </a:pPr>
            <a:r>
              <a:rPr lang="en-US" sz="4000" b="1" dirty="0">
                <a:solidFill>
                  <a:schemeClr val="tx2"/>
                </a:solidFill>
                <a:latin typeface="BIZ UDPゴシック" pitchFamily="34" charset="0"/>
                <a:ea typeface="BIZ UDPゴシック" pitchFamily="34" charset="-122"/>
                <a:cs typeface="BIZ UDPゴシック" pitchFamily="34" charset="-120"/>
              </a:rPr>
              <a:t>日本語がわかる知人は</a:t>
            </a:r>
            <a:endParaRPr lang="en-US" sz="4000" dirty="0"/>
          </a:p>
          <a:p>
            <a:pPr indent="0" marL="0">
              <a:lnSpc>
                <a:spcPct val="110000"/>
              </a:lnSpc>
              <a:buNone/>
            </a:pPr>
            <a:r>
              <a:rPr lang="en-US" sz="4000" b="1" dirty="0">
                <a:solidFill>
                  <a:schemeClr val="tx2"/>
                </a:solidFill>
                <a:latin typeface="BIZ UDPゴシック" pitchFamily="34" charset="0"/>
                <a:ea typeface="BIZ UDPゴシック" pitchFamily="34" charset="-122"/>
                <a:cs typeface="BIZ UDPゴシック" pitchFamily="34" charset="-120"/>
              </a:rPr>
              <a:t>いますか？</a:t>
            </a:r>
            <a:endParaRPr lang="en-US" sz="4000" dirty="0"/>
          </a:p>
        </p:txBody>
      </p:sp>
      <p:sp>
        <p:nvSpPr>
          <p:cNvPr id="7" name="Text 3"/>
          <p:cNvSpPr txBox="1"/>
          <p:nvPr/>
        </p:nvSpPr>
        <p:spPr>
          <a:xfrm>
            <a:off x="548640" y="4892040"/>
            <a:ext cx="11064240" cy="822960"/>
          </a:xfrm>
          <a:prstGeom prst="rect">
            <a:avLst/>
          </a:prstGeom>
          <a:noFill/>
          <a:ln/>
        </p:spPr>
        <p:txBody>
          <a:bodyPr wrap="square" lIns="0" tIns="0" rIns="0" bIns="0" rtlCol="0" anchor="ctr"/>
          <a:lstStyle/>
          <a:p>
            <a:pPr algn="ctr" indent="0" marL="0">
              <a:buNone/>
            </a:pPr>
            <a:r>
              <a:rPr lang="en-US" sz="3200" b="1" dirty="0">
                <a:solidFill>
                  <a:schemeClr val="accent2"/>
                </a:solidFill>
                <a:latin typeface="BIZ UDPゴシック" pitchFamily="34" charset="0"/>
                <a:ea typeface="BIZ UDPゴシック" pitchFamily="34" charset="-122"/>
                <a:cs typeface="BIZ UDPゴシック" pitchFamily="34" charset="-120"/>
              </a:rPr>
              <a:t>地域のつながりが、家庭の支えになります</a:t>
            </a:r>
            <a:endParaRPr lang="en-US" sz="32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区と学校の主な支援</a:t>
            </a:r>
            <a:endParaRPr lang="en-US" sz="3600" dirty="0"/>
          </a:p>
        </p:txBody>
      </p:sp>
      <p:sp>
        <p:nvSpPr>
          <p:cNvPr id="4" name="menu-0"/>
          <p:cNvSpPr/>
          <p:nvPr/>
        </p:nvSpPr>
        <p:spPr>
          <a:xfrm>
            <a:off x="548640" y="1737360"/>
            <a:ext cx="5440680" cy="2011680"/>
          </a:xfrm>
          <a:prstGeom prst="roundRect">
            <a:avLst>
              <a:gd name="adj" fmla="val 6818"/>
            </a:avLst>
          </a:prstGeom>
          <a:solidFill>
            <a:schemeClr val="bg2"/>
          </a:solidFill>
          <a:ln/>
        </p:spPr>
      </p:sp>
      <p:sp>
        <p:nvSpPr>
          <p:cNvPr id="5" name="icon-circle"/>
          <p:cNvSpPr/>
          <p:nvPr/>
        </p:nvSpPr>
        <p:spPr>
          <a:xfrm>
            <a:off x="914400" y="2057400"/>
            <a:ext cx="1371600" cy="13716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243584" y="2386584"/>
            <a:ext cx="713232" cy="713232"/>
          </a:xfrm>
          <a:prstGeom prst="rect">
            <a:avLst/>
          </a:prstGeom>
        </p:spPr>
      </p:pic>
      <p:sp>
        <p:nvSpPr>
          <p:cNvPr id="7" name="Text 3"/>
          <p:cNvSpPr txBox="1"/>
          <p:nvPr/>
        </p:nvSpPr>
        <p:spPr>
          <a:xfrm>
            <a:off x="2560320" y="1920240"/>
            <a:ext cx="3291840" cy="1645920"/>
          </a:xfrm>
          <a:prstGeom prst="rect">
            <a:avLst/>
          </a:prstGeom>
          <a:noFill/>
          <a:ln/>
        </p:spPr>
        <p:txBody>
          <a:bodyPr wrap="square" lIns="0" tIns="0" rIns="0" bIns="0" rtlCol="0" anchor="ctr"/>
          <a:lstStyle/>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日本語の先生が</a:t>
            </a:r>
            <a:endParaRPr lang="en-US" sz="3000" dirty="0"/>
          </a:p>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学校へ</a:t>
            </a:r>
            <a:endParaRPr lang="en-US" sz="3000" dirty="0"/>
          </a:p>
        </p:txBody>
      </p:sp>
      <p:sp>
        <p:nvSpPr>
          <p:cNvPr id="8" name="menu-1"/>
          <p:cNvSpPr/>
          <p:nvPr/>
        </p:nvSpPr>
        <p:spPr>
          <a:xfrm>
            <a:off x="6172200" y="1737360"/>
            <a:ext cx="5440680" cy="2011680"/>
          </a:xfrm>
          <a:prstGeom prst="roundRect">
            <a:avLst>
              <a:gd name="adj" fmla="val 6818"/>
            </a:avLst>
          </a:prstGeom>
          <a:solidFill>
            <a:schemeClr val="bg2"/>
          </a:solidFill>
          <a:ln/>
        </p:spPr>
      </p:sp>
      <p:sp>
        <p:nvSpPr>
          <p:cNvPr id="9" name="icon-circle"/>
          <p:cNvSpPr/>
          <p:nvPr/>
        </p:nvSpPr>
        <p:spPr>
          <a:xfrm>
            <a:off x="6537960" y="2057400"/>
            <a:ext cx="1371600" cy="1371600"/>
          </a:xfrm>
          <a:prstGeom prst="ellipse">
            <a:avLst/>
          </a:prstGeom>
          <a:solidFill>
            <a:schemeClr val="accent4"/>
          </a:solidFill>
          <a:ln/>
        </p:spPr>
      </p:sp>
      <p:pic>
        <p:nvPicPr>
          <p:cNvPr id="10" name="Image 1" descr="preencoded.png">    </p:cNvPr>
          <p:cNvPicPr>
            <a:picLocks noChangeAspect="1"/>
          </p:cNvPicPr>
          <p:nvPr/>
        </p:nvPicPr>
        <p:blipFill>
          <a:blip r:embed="rId2"/>
          <a:stretch>
            <a:fillRect/>
          </a:stretch>
        </p:blipFill>
        <p:spPr>
          <a:xfrm>
            <a:off x="6867144" y="2386584"/>
            <a:ext cx="713232" cy="713232"/>
          </a:xfrm>
          <a:prstGeom prst="rect">
            <a:avLst/>
          </a:prstGeom>
        </p:spPr>
      </p:pic>
      <p:sp>
        <p:nvSpPr>
          <p:cNvPr id="11" name="Text 6"/>
          <p:cNvSpPr txBox="1"/>
          <p:nvPr/>
        </p:nvSpPr>
        <p:spPr>
          <a:xfrm>
            <a:off x="8183880" y="1920240"/>
            <a:ext cx="3291840" cy="1645920"/>
          </a:xfrm>
          <a:prstGeom prst="rect">
            <a:avLst/>
          </a:prstGeom>
          <a:noFill/>
          <a:ln/>
        </p:spPr>
        <p:txBody>
          <a:bodyPr wrap="square" lIns="0" tIns="0" rIns="0" bIns="0" rtlCol="0" anchor="ctr"/>
          <a:lstStyle/>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学校の中に</a:t>
            </a:r>
            <a:endParaRPr lang="en-US" sz="3000" dirty="0"/>
          </a:p>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日本語の教室</a:t>
            </a:r>
            <a:endParaRPr lang="en-US" sz="3000" dirty="0"/>
          </a:p>
        </p:txBody>
      </p:sp>
      <p:sp>
        <p:nvSpPr>
          <p:cNvPr id="12" name="menu-2"/>
          <p:cNvSpPr/>
          <p:nvPr/>
        </p:nvSpPr>
        <p:spPr>
          <a:xfrm>
            <a:off x="548640" y="3977640"/>
            <a:ext cx="5440680" cy="2011680"/>
          </a:xfrm>
          <a:prstGeom prst="roundRect">
            <a:avLst>
              <a:gd name="adj" fmla="val 6818"/>
            </a:avLst>
          </a:prstGeom>
          <a:solidFill>
            <a:schemeClr val="bg2"/>
          </a:solidFill>
          <a:ln/>
        </p:spPr>
      </p:sp>
      <p:sp>
        <p:nvSpPr>
          <p:cNvPr id="13" name="icon-circle"/>
          <p:cNvSpPr/>
          <p:nvPr/>
        </p:nvSpPr>
        <p:spPr>
          <a:xfrm>
            <a:off x="914400" y="4297680"/>
            <a:ext cx="1371600" cy="1371600"/>
          </a:xfrm>
          <a:prstGeom prst="ellipse">
            <a:avLst/>
          </a:prstGeom>
          <a:solidFill>
            <a:schemeClr val="accent5"/>
          </a:solidFill>
          <a:ln/>
        </p:spPr>
      </p:sp>
      <p:pic>
        <p:nvPicPr>
          <p:cNvPr id="14" name="Image 2" descr="preencoded.png">    </p:cNvPr>
          <p:cNvPicPr>
            <a:picLocks noChangeAspect="1"/>
          </p:cNvPicPr>
          <p:nvPr/>
        </p:nvPicPr>
        <p:blipFill>
          <a:blip r:embed="rId3"/>
          <a:stretch>
            <a:fillRect/>
          </a:stretch>
        </p:blipFill>
        <p:spPr>
          <a:xfrm>
            <a:off x="1243584" y="4626864"/>
            <a:ext cx="713232" cy="713232"/>
          </a:xfrm>
          <a:prstGeom prst="rect">
            <a:avLst/>
          </a:prstGeom>
        </p:spPr>
      </p:pic>
      <p:sp>
        <p:nvSpPr>
          <p:cNvPr id="15" name="Text 9"/>
          <p:cNvSpPr txBox="1"/>
          <p:nvPr/>
        </p:nvSpPr>
        <p:spPr>
          <a:xfrm>
            <a:off x="2560320" y="4160520"/>
            <a:ext cx="3291840" cy="1645920"/>
          </a:xfrm>
          <a:prstGeom prst="rect">
            <a:avLst/>
          </a:prstGeom>
          <a:noFill/>
          <a:ln/>
        </p:spPr>
        <p:txBody>
          <a:bodyPr wrap="square" lIns="0" tIns="0" rIns="0" bIns="0" rtlCol="0" anchor="ctr"/>
          <a:lstStyle/>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AI通訳機</a:t>
            </a:r>
            <a:endParaRPr lang="en-US" sz="3000" dirty="0"/>
          </a:p>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（ポケトーク）</a:t>
            </a:r>
            <a:endParaRPr lang="en-US" sz="3000" dirty="0"/>
          </a:p>
        </p:txBody>
      </p:sp>
      <p:sp>
        <p:nvSpPr>
          <p:cNvPr id="16" name="menu-3"/>
          <p:cNvSpPr/>
          <p:nvPr/>
        </p:nvSpPr>
        <p:spPr>
          <a:xfrm>
            <a:off x="6172200" y="3977640"/>
            <a:ext cx="5440680" cy="2011680"/>
          </a:xfrm>
          <a:prstGeom prst="roundRect">
            <a:avLst>
              <a:gd name="adj" fmla="val 6818"/>
            </a:avLst>
          </a:prstGeom>
          <a:solidFill>
            <a:schemeClr val="bg2"/>
          </a:solidFill>
          <a:ln/>
        </p:spPr>
      </p:sp>
      <p:sp>
        <p:nvSpPr>
          <p:cNvPr id="17" name="icon-circle"/>
          <p:cNvSpPr/>
          <p:nvPr/>
        </p:nvSpPr>
        <p:spPr>
          <a:xfrm>
            <a:off x="6537960" y="4297680"/>
            <a:ext cx="1371600" cy="1371600"/>
          </a:xfrm>
          <a:prstGeom prst="ellipse">
            <a:avLst/>
          </a:prstGeom>
          <a:solidFill>
            <a:schemeClr val="accent3"/>
          </a:solidFill>
          <a:ln/>
        </p:spPr>
      </p:sp>
      <p:pic>
        <p:nvPicPr>
          <p:cNvPr id="18" name="Image 3" descr="preencoded.png">    </p:cNvPr>
          <p:cNvPicPr>
            <a:picLocks noChangeAspect="1"/>
          </p:cNvPicPr>
          <p:nvPr/>
        </p:nvPicPr>
        <p:blipFill>
          <a:blip r:embed="rId4"/>
          <a:stretch>
            <a:fillRect/>
          </a:stretch>
        </p:blipFill>
        <p:spPr>
          <a:xfrm>
            <a:off x="6867144" y="4626864"/>
            <a:ext cx="713232" cy="713232"/>
          </a:xfrm>
          <a:prstGeom prst="rect">
            <a:avLst/>
          </a:prstGeom>
        </p:spPr>
      </p:pic>
      <p:sp>
        <p:nvSpPr>
          <p:cNvPr id="19" name="Text 12"/>
          <p:cNvSpPr txBox="1"/>
          <p:nvPr/>
        </p:nvSpPr>
        <p:spPr>
          <a:xfrm>
            <a:off x="8183880" y="4160520"/>
            <a:ext cx="3291840" cy="1645920"/>
          </a:xfrm>
          <a:prstGeom prst="rect">
            <a:avLst/>
          </a:prstGeom>
          <a:noFill/>
          <a:ln/>
        </p:spPr>
        <p:txBody>
          <a:bodyPr wrap="square" lIns="0" tIns="0" rIns="0" bIns="0" rtlCol="0" anchor="ctr"/>
          <a:lstStyle/>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地域の</a:t>
            </a:r>
            <a:endParaRPr lang="en-US" sz="3000" dirty="0"/>
          </a:p>
          <a:p>
            <a:pPr indent="0" marL="0">
              <a:lnSpc>
                <a:spcPct val="110000"/>
              </a:lnSpc>
              <a:buNone/>
            </a:pPr>
            <a:r>
              <a:rPr lang="en-US" sz="3000" b="1" dirty="0">
                <a:solidFill>
                  <a:schemeClr val="tx1"/>
                </a:solidFill>
                <a:latin typeface="BIZ UDPゴシック" pitchFamily="34" charset="0"/>
                <a:ea typeface="BIZ UDPゴシック" pitchFamily="34" charset="-122"/>
                <a:cs typeface="BIZ UDPゴシック" pitchFamily="34" charset="-120"/>
              </a:rPr>
              <a:t>こども日本語教室</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光が丘春の風小学校「さくらルーム」</a:t>
            </a:r>
            <a:endParaRPr lang="en-US" sz="3600" dirty="0"/>
          </a:p>
        </p:txBody>
      </p:sp>
      <p:pic>
        <p:nvPicPr>
          <p:cNvPr id="4" name="Image 0" descr="絵カードの写真">    </p:cNvPr>
          <p:cNvPicPr>
            <a:picLocks noChangeAspect="1"/>
          </p:cNvPicPr>
          <p:nvPr/>
        </p:nvPicPr>
        <p:blipFill>
          <a:blip r:embed="rId1"/>
          <a:stretch>
            <a:fillRect/>
          </a:stretch>
        </p:blipFill>
        <p:spPr>
          <a:xfrm>
            <a:off x="548640" y="1783080"/>
            <a:ext cx="3520440" cy="2642616"/>
          </a:xfrm>
          <a:prstGeom prst="rect">
            <a:avLst/>
          </a:prstGeom>
        </p:spPr>
      </p:pic>
      <p:sp>
        <p:nvSpPr>
          <p:cNvPr id="5" name="Text 1"/>
          <p:cNvSpPr txBox="1"/>
          <p:nvPr/>
        </p:nvSpPr>
        <p:spPr>
          <a:xfrm>
            <a:off x="548640" y="4572000"/>
            <a:ext cx="3520440" cy="685800"/>
          </a:xfrm>
          <a:prstGeom prst="rect">
            <a:avLst/>
          </a:prstGeom>
          <a:no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絵カード</a:t>
            </a:r>
            <a:endParaRPr lang="en-US" sz="3000" dirty="0"/>
          </a:p>
        </p:txBody>
      </p:sp>
      <p:pic>
        <p:nvPicPr>
          <p:cNvPr id="6" name="Image 1" descr="質問カードの写真">    </p:cNvPr>
          <p:cNvPicPr>
            <a:picLocks noChangeAspect="1"/>
          </p:cNvPicPr>
          <p:nvPr/>
        </p:nvPicPr>
        <p:blipFill>
          <a:blip r:embed="rId2"/>
          <a:stretch>
            <a:fillRect/>
          </a:stretch>
        </p:blipFill>
        <p:spPr>
          <a:xfrm>
            <a:off x="4343400" y="1783080"/>
            <a:ext cx="3520440" cy="2642616"/>
          </a:xfrm>
          <a:prstGeom prst="rect">
            <a:avLst/>
          </a:prstGeom>
        </p:spPr>
      </p:pic>
      <p:sp>
        <p:nvSpPr>
          <p:cNvPr id="7" name="Text 2"/>
          <p:cNvSpPr txBox="1"/>
          <p:nvPr/>
        </p:nvSpPr>
        <p:spPr>
          <a:xfrm>
            <a:off x="4343400" y="4572000"/>
            <a:ext cx="3520440" cy="685800"/>
          </a:xfrm>
          <a:prstGeom prst="rect">
            <a:avLst/>
          </a:prstGeom>
          <a:no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質問カード</a:t>
            </a:r>
            <a:endParaRPr lang="en-US" sz="3000" dirty="0"/>
          </a:p>
        </p:txBody>
      </p:sp>
      <p:pic>
        <p:nvPicPr>
          <p:cNvPr id="8" name="Image 2" descr="ヘルプカードの写真">    </p:cNvPr>
          <p:cNvPicPr>
            <a:picLocks noChangeAspect="1"/>
          </p:cNvPicPr>
          <p:nvPr/>
        </p:nvPicPr>
        <p:blipFill>
          <a:blip r:embed="rId3"/>
          <a:stretch>
            <a:fillRect/>
          </a:stretch>
        </p:blipFill>
        <p:spPr>
          <a:xfrm>
            <a:off x="8138160" y="1783080"/>
            <a:ext cx="3520440" cy="2642616"/>
          </a:xfrm>
          <a:prstGeom prst="rect">
            <a:avLst/>
          </a:prstGeom>
        </p:spPr>
      </p:pic>
      <p:sp>
        <p:nvSpPr>
          <p:cNvPr id="9" name="Text 3"/>
          <p:cNvSpPr txBox="1"/>
          <p:nvPr/>
        </p:nvSpPr>
        <p:spPr>
          <a:xfrm>
            <a:off x="8138160" y="4572000"/>
            <a:ext cx="3520440" cy="685800"/>
          </a:xfrm>
          <a:prstGeom prst="rect">
            <a:avLst/>
          </a:prstGeom>
          <a:noFill/>
          <a:ln/>
        </p:spPr>
        <p:txBody>
          <a:bodyPr wrap="square" lIns="0" tIns="0" rIns="0" bIns="0" rtlCol="0" anchor="ctr"/>
          <a:lstStyle/>
          <a:p>
            <a:pPr algn="ctr" indent="0" marL="0">
              <a:buNone/>
            </a:pPr>
            <a:r>
              <a:rPr lang="en-US" sz="3000" b="1" dirty="0">
                <a:solidFill>
                  <a:schemeClr val="tx1"/>
                </a:solidFill>
                <a:latin typeface="BIZ UDPゴシック" pitchFamily="34" charset="0"/>
                <a:ea typeface="BIZ UDPゴシック" pitchFamily="34" charset="-122"/>
                <a:cs typeface="BIZ UDPゴシック" pitchFamily="34" charset="-120"/>
              </a:rPr>
              <a:t>ヘルプカード</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学校は、こう変わりました</a:t>
            </a:r>
            <a:endParaRPr lang="en-US" sz="3600" dirty="0"/>
          </a:p>
        </p:txBody>
      </p:sp>
      <p:pic>
        <p:nvPicPr>
          <p:cNvPr id="4" name="Image 0" descr="preencoded.png">    </p:cNvPr>
          <p:cNvPicPr>
            <a:picLocks noChangeAspect="1"/>
          </p:cNvPicPr>
          <p:nvPr/>
        </p:nvPicPr>
        <p:blipFill>
          <a:blip r:embed="rId1"/>
          <a:stretch>
            <a:fillRect/>
          </a:stretch>
        </p:blipFill>
        <p:spPr>
          <a:xfrm>
            <a:off x="731520" y="1938528"/>
            <a:ext cx="548640" cy="548640"/>
          </a:xfrm>
          <a:prstGeom prst="rect">
            <a:avLst/>
          </a:prstGeom>
        </p:spPr>
      </p:pic>
      <p:sp>
        <p:nvSpPr>
          <p:cNvPr id="5" name="Text 1"/>
          <p:cNvSpPr txBox="1"/>
          <p:nvPr/>
        </p:nvSpPr>
        <p:spPr>
          <a:xfrm>
            <a:off x="1463040" y="1828800"/>
            <a:ext cx="5303520" cy="777240"/>
          </a:xfrm>
          <a:prstGeom prst="rect">
            <a:avLst/>
          </a:prstGeom>
          <a:noFill/>
          <a:ln/>
        </p:spPr>
        <p:txBody>
          <a:bodyPr wrap="square" lIns="0" tIns="0" rIns="0" bIns="0" rtlCol="0" anchor="ctr"/>
          <a:lstStyle/>
          <a:p>
            <a:pPr indent="0" marL="0">
              <a:buNone/>
            </a:pPr>
            <a:r>
              <a:rPr lang="en-US" sz="3000" dirty="0">
                <a:solidFill>
                  <a:schemeClr val="tx1"/>
                </a:solidFill>
                <a:latin typeface="BIZ UDPゴシック" pitchFamily="34" charset="0"/>
                <a:ea typeface="BIZ UDPゴシック" pitchFamily="34" charset="-122"/>
                <a:cs typeface="BIZ UDPゴシック" pitchFamily="34" charset="-120"/>
              </a:rPr>
              <a:t>受け入れの準備が整った</a:t>
            </a:r>
            <a:endParaRPr lang="en-US" sz="3000" dirty="0"/>
          </a:p>
        </p:txBody>
      </p:sp>
      <p:pic>
        <p:nvPicPr>
          <p:cNvPr id="6" name="Image 1" descr="preencoded.png">    </p:cNvPr>
          <p:cNvPicPr>
            <a:picLocks noChangeAspect="1"/>
          </p:cNvPicPr>
          <p:nvPr/>
        </p:nvPicPr>
        <p:blipFill>
          <a:blip r:embed="rId2"/>
          <a:stretch>
            <a:fillRect/>
          </a:stretch>
        </p:blipFill>
        <p:spPr>
          <a:xfrm>
            <a:off x="731520" y="2807208"/>
            <a:ext cx="548640" cy="548640"/>
          </a:xfrm>
          <a:prstGeom prst="rect">
            <a:avLst/>
          </a:prstGeom>
        </p:spPr>
      </p:pic>
      <p:sp>
        <p:nvSpPr>
          <p:cNvPr id="7" name="Text 2"/>
          <p:cNvSpPr txBox="1"/>
          <p:nvPr/>
        </p:nvSpPr>
        <p:spPr>
          <a:xfrm>
            <a:off x="1463040" y="2697480"/>
            <a:ext cx="5303520" cy="777240"/>
          </a:xfrm>
          <a:prstGeom prst="rect">
            <a:avLst/>
          </a:prstGeom>
          <a:noFill/>
          <a:ln/>
        </p:spPr>
        <p:txBody>
          <a:bodyPr wrap="square" lIns="0" tIns="0" rIns="0" bIns="0" rtlCol="0" anchor="ctr"/>
          <a:lstStyle/>
          <a:p>
            <a:pPr indent="0" marL="0">
              <a:buNone/>
            </a:pPr>
            <a:r>
              <a:rPr lang="en-US" sz="3000" dirty="0">
                <a:solidFill>
                  <a:schemeClr val="tx1"/>
                </a:solidFill>
                <a:latin typeface="BIZ UDPゴシック" pitchFamily="34" charset="0"/>
                <a:ea typeface="BIZ UDPゴシック" pitchFamily="34" charset="-122"/>
                <a:cs typeface="BIZ UDPゴシック" pitchFamily="34" charset="-120"/>
              </a:rPr>
              <a:t>勉強の支援が充実した</a:t>
            </a:r>
            <a:endParaRPr lang="en-US" sz="3000" dirty="0"/>
          </a:p>
        </p:txBody>
      </p:sp>
      <p:pic>
        <p:nvPicPr>
          <p:cNvPr id="8" name="Image 2" descr="preencoded.png">    </p:cNvPr>
          <p:cNvPicPr>
            <a:picLocks noChangeAspect="1"/>
          </p:cNvPicPr>
          <p:nvPr/>
        </p:nvPicPr>
        <p:blipFill>
          <a:blip r:embed="rId3"/>
          <a:stretch>
            <a:fillRect/>
          </a:stretch>
        </p:blipFill>
        <p:spPr>
          <a:xfrm>
            <a:off x="731520" y="3675888"/>
            <a:ext cx="548640" cy="548640"/>
          </a:xfrm>
          <a:prstGeom prst="rect">
            <a:avLst/>
          </a:prstGeom>
        </p:spPr>
      </p:pic>
      <p:sp>
        <p:nvSpPr>
          <p:cNvPr id="9" name="Text 3"/>
          <p:cNvSpPr txBox="1"/>
          <p:nvPr/>
        </p:nvSpPr>
        <p:spPr>
          <a:xfrm>
            <a:off x="1463040" y="3566160"/>
            <a:ext cx="5303520" cy="777240"/>
          </a:xfrm>
          <a:prstGeom prst="rect">
            <a:avLst/>
          </a:prstGeom>
          <a:noFill/>
          <a:ln/>
        </p:spPr>
        <p:txBody>
          <a:bodyPr wrap="square" lIns="0" tIns="0" rIns="0" bIns="0" rtlCol="0" anchor="ctr"/>
          <a:lstStyle/>
          <a:p>
            <a:pPr indent="0" marL="0">
              <a:buNone/>
            </a:pPr>
            <a:r>
              <a:rPr lang="en-US" sz="3000" dirty="0">
                <a:solidFill>
                  <a:schemeClr val="tx1"/>
                </a:solidFill>
                <a:latin typeface="BIZ UDPゴシック" pitchFamily="34" charset="0"/>
                <a:ea typeface="BIZ UDPゴシック" pitchFamily="34" charset="-122"/>
                <a:cs typeface="BIZ UDPゴシック" pitchFamily="34" charset="-120"/>
              </a:rPr>
              <a:t>先生たちの理解が進んだ</a:t>
            </a:r>
            <a:endParaRPr lang="en-US" sz="3000" dirty="0"/>
          </a:p>
        </p:txBody>
      </p:sp>
      <p:sp>
        <p:nvSpPr>
          <p:cNvPr id="10" name="highlight"/>
          <p:cNvSpPr/>
          <p:nvPr/>
        </p:nvSpPr>
        <p:spPr>
          <a:xfrm>
            <a:off x="548640" y="4572000"/>
            <a:ext cx="6035040" cy="1371600"/>
          </a:xfrm>
          <a:prstGeom prst="roundRect">
            <a:avLst>
              <a:gd name="adj" fmla="val 10000"/>
            </a:avLst>
          </a:prstGeom>
          <a:solidFill>
            <a:srgbClr val="FBE6EC"/>
          </a:solidFill>
          <a:ln/>
        </p:spPr>
        <p:txBody>
          <a:bodyPr wrap="square" lIns="0" tIns="0" rIns="0" bIns="0" rtlCol="0" anchor="ctr"/>
          <a:lstStyle/>
          <a:p>
            <a:pPr algn="ctr" indent="0" marL="0">
              <a:buNone/>
            </a:pPr>
            <a:r>
              <a:rPr lang="en-US" sz="3000" b="1" dirty="0">
                <a:solidFill>
                  <a:schemeClr val="accent2"/>
                </a:solidFill>
                <a:latin typeface="BIZ UDPゴシック" pitchFamily="34" charset="0"/>
                <a:ea typeface="BIZ UDPゴシック" pitchFamily="34" charset="-122"/>
                <a:cs typeface="BIZ UDPゴシック" pitchFamily="34" charset="-120"/>
              </a:rPr>
              <a:t>「学校が楽しい」</a:t>
            </a:r>
            <a:endParaRPr lang="en-US" sz="3000" dirty="0"/>
          </a:p>
          <a:p>
            <a:pPr algn="ctr" indent="0" marL="0">
              <a:buNone/>
            </a:pPr>
            <a:r>
              <a:rPr lang="en-US" sz="3000" b="1" dirty="0">
                <a:solidFill>
                  <a:schemeClr val="accent2"/>
                </a:solidFill>
                <a:latin typeface="BIZ UDPゴシック" pitchFamily="34" charset="0"/>
                <a:ea typeface="BIZ UDPゴシック" pitchFamily="34" charset="-122"/>
                <a:cs typeface="BIZ UDPゴシック" pitchFamily="34" charset="-120"/>
              </a:rPr>
              <a:t>と答える子が増えた</a:t>
            </a:r>
            <a:endParaRPr lang="en-US" sz="3000" dirty="0"/>
          </a:p>
        </p:txBody>
      </p:sp>
      <p:pic>
        <p:nvPicPr>
          <p:cNvPr id="11" name="Image 3" descr="先生たちが子どもに寄り添うイラスト">    </p:cNvPr>
          <p:cNvPicPr>
            <a:picLocks noChangeAspect="1"/>
          </p:cNvPicPr>
          <p:nvPr/>
        </p:nvPicPr>
        <p:blipFill>
          <a:blip r:embed="rId4"/>
          <a:stretch>
            <a:fillRect/>
          </a:stretch>
        </p:blipFill>
        <p:spPr>
          <a:xfrm>
            <a:off x="6949440" y="2011680"/>
            <a:ext cx="4663440" cy="2542032"/>
          </a:xfrm>
          <a:prstGeom prst="rect">
            <a:avLst/>
          </a:prstGeom>
        </p:spPr>
      </p:pic>
      <p:sp>
        <p:nvSpPr>
          <p:cNvPr id="12" name="Text 5"/>
          <p:cNvSpPr txBox="1"/>
          <p:nvPr/>
        </p:nvSpPr>
        <p:spPr>
          <a:xfrm>
            <a:off x="6949440" y="4754880"/>
            <a:ext cx="4663440" cy="822960"/>
          </a:xfrm>
          <a:prstGeom prst="rect">
            <a:avLst/>
          </a:prstGeom>
          <a:noFill/>
          <a:ln/>
        </p:spPr>
        <p:txBody>
          <a:bodyPr wrap="square" lIns="0" tIns="0" rIns="0" bIns="0" rtlCol="0" anchor="ctr"/>
          <a:lstStyle/>
          <a:p>
            <a:pPr algn="ctr" indent="0" marL="0">
              <a:buNone/>
            </a:pPr>
            <a:r>
              <a:rPr lang="en-US" sz="2800" b="1" dirty="0">
                <a:solidFill>
                  <a:schemeClr val="tx2"/>
                </a:solidFill>
                <a:latin typeface="BIZ UDPゴシック" pitchFamily="34" charset="0"/>
                <a:ea typeface="BIZ UDPゴシック" pitchFamily="34" charset="-122"/>
                <a:cs typeface="BIZ UDPゴシック" pitchFamily="34" charset="-120"/>
              </a:rPr>
              <a:t>チームで子どもを育てる</a:t>
            </a:r>
            <a:endParaRPr lang="en-US" sz="28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民生・児童委員の皆様へのお願い</a:t>
            </a:r>
            <a:endParaRPr lang="en-US" sz="3600" dirty="0"/>
          </a:p>
        </p:txBody>
      </p:sp>
      <p:sp>
        <p:nvSpPr>
          <p:cNvPr id="4" name="ask-0"/>
          <p:cNvSpPr/>
          <p:nvPr/>
        </p:nvSpPr>
        <p:spPr>
          <a:xfrm>
            <a:off x="548640" y="1737360"/>
            <a:ext cx="11064240" cy="1280160"/>
          </a:xfrm>
          <a:prstGeom prst="roundRect">
            <a:avLst>
              <a:gd name="adj" fmla="val 10714"/>
            </a:avLst>
          </a:prstGeom>
          <a:solidFill>
            <a:schemeClr val="bg2"/>
          </a:solidFill>
          <a:ln/>
        </p:spPr>
      </p:sp>
      <p:sp>
        <p:nvSpPr>
          <p:cNvPr id="5" name="icon-circle"/>
          <p:cNvSpPr/>
          <p:nvPr/>
        </p:nvSpPr>
        <p:spPr>
          <a:xfrm>
            <a:off x="822960" y="1920240"/>
            <a:ext cx="914400" cy="9144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042416" y="2139696"/>
            <a:ext cx="475488" cy="475488"/>
          </a:xfrm>
          <a:prstGeom prst="rect">
            <a:avLst/>
          </a:prstGeom>
        </p:spPr>
      </p:pic>
      <p:sp>
        <p:nvSpPr>
          <p:cNvPr id="7" name="Text 3"/>
          <p:cNvSpPr txBox="1"/>
          <p:nvPr/>
        </p:nvSpPr>
        <p:spPr>
          <a:xfrm>
            <a:off x="2011680" y="1737360"/>
            <a:ext cx="4206240" cy="1280160"/>
          </a:xfrm>
          <a:prstGeom prst="rect">
            <a:avLst/>
          </a:prstGeom>
          <a:noFill/>
          <a:ln/>
        </p:spPr>
        <p:txBody>
          <a:bodyPr wrap="square" lIns="0" tIns="0" rIns="0" bIns="0" rtlCol="0" anchor="ctr"/>
          <a:lstStyle/>
          <a:p>
            <a:pPr indent="0" marL="0">
              <a:buNone/>
            </a:pPr>
            <a:r>
              <a:rPr lang="en-US" sz="3400" b="1" dirty="0">
                <a:solidFill>
                  <a:schemeClr val="accent1"/>
                </a:solidFill>
                <a:latin typeface="BIZ UDPゴシック" pitchFamily="34" charset="0"/>
                <a:ea typeface="BIZ UDPゴシック" pitchFamily="34" charset="-122"/>
                <a:cs typeface="BIZ UDPゴシック" pitchFamily="34" charset="-120"/>
              </a:rPr>
              <a:t>声をかける</a:t>
            </a:r>
            <a:endParaRPr lang="en-US" sz="3400" dirty="0"/>
          </a:p>
        </p:txBody>
      </p:sp>
      <p:sp>
        <p:nvSpPr>
          <p:cNvPr id="8" name="Text 4"/>
          <p:cNvSpPr txBox="1"/>
          <p:nvPr/>
        </p:nvSpPr>
        <p:spPr>
          <a:xfrm>
            <a:off x="6217920" y="1737360"/>
            <a:ext cx="5212080" cy="1280160"/>
          </a:xfrm>
          <a:prstGeom prst="rect">
            <a:avLst/>
          </a:prstGeom>
          <a:noFill/>
          <a:ln/>
        </p:spPr>
        <p:txBody>
          <a:bodyPr wrap="square" lIns="0" tIns="0" rIns="0" bIns="0" rtlCol="0" anchor="ctr"/>
          <a:lstStyle/>
          <a:p>
            <a:pPr indent="0" marL="0">
              <a:buNone/>
            </a:pPr>
            <a:r>
              <a:rPr lang="en-US" sz="2800" dirty="0">
                <a:solidFill>
                  <a:schemeClr val="tx1"/>
                </a:solidFill>
                <a:latin typeface="BIZ UDPゴシック" pitchFamily="34" charset="0"/>
                <a:ea typeface="BIZ UDPゴシック" pitchFamily="34" charset="-122"/>
                <a:cs typeface="BIZ UDPゴシック" pitchFamily="34" charset="-120"/>
              </a:rPr>
              <a:t>笑顔のあいさつを</a:t>
            </a:r>
            <a:endParaRPr lang="en-US" sz="2800" dirty="0"/>
          </a:p>
        </p:txBody>
      </p:sp>
      <p:sp>
        <p:nvSpPr>
          <p:cNvPr id="9" name="ask-1"/>
          <p:cNvSpPr/>
          <p:nvPr/>
        </p:nvSpPr>
        <p:spPr>
          <a:xfrm>
            <a:off x="548640" y="3200400"/>
            <a:ext cx="11064240" cy="1280160"/>
          </a:xfrm>
          <a:prstGeom prst="roundRect">
            <a:avLst>
              <a:gd name="adj" fmla="val 10714"/>
            </a:avLst>
          </a:prstGeom>
          <a:solidFill>
            <a:schemeClr val="bg2"/>
          </a:solidFill>
          <a:ln/>
        </p:spPr>
      </p:sp>
      <p:sp>
        <p:nvSpPr>
          <p:cNvPr id="10" name="icon-circle"/>
          <p:cNvSpPr/>
          <p:nvPr/>
        </p:nvSpPr>
        <p:spPr>
          <a:xfrm>
            <a:off x="822960" y="3383280"/>
            <a:ext cx="914400" cy="914400"/>
          </a:xfrm>
          <a:prstGeom prst="ellipse">
            <a:avLst/>
          </a:prstGeom>
          <a:solidFill>
            <a:schemeClr val="accent2"/>
          </a:solidFill>
          <a:ln/>
        </p:spPr>
      </p:sp>
      <p:pic>
        <p:nvPicPr>
          <p:cNvPr id="11" name="Image 1" descr="preencoded.png">    </p:cNvPr>
          <p:cNvPicPr>
            <a:picLocks noChangeAspect="1"/>
          </p:cNvPicPr>
          <p:nvPr/>
        </p:nvPicPr>
        <p:blipFill>
          <a:blip r:embed="rId2"/>
          <a:stretch>
            <a:fillRect/>
          </a:stretch>
        </p:blipFill>
        <p:spPr>
          <a:xfrm>
            <a:off x="1042416" y="3602736"/>
            <a:ext cx="475488" cy="475488"/>
          </a:xfrm>
          <a:prstGeom prst="rect">
            <a:avLst/>
          </a:prstGeom>
        </p:spPr>
      </p:pic>
      <p:sp>
        <p:nvSpPr>
          <p:cNvPr id="12" name="Text 7"/>
          <p:cNvSpPr txBox="1"/>
          <p:nvPr/>
        </p:nvSpPr>
        <p:spPr>
          <a:xfrm>
            <a:off x="2011680" y="3200400"/>
            <a:ext cx="4206240" cy="1280160"/>
          </a:xfrm>
          <a:prstGeom prst="rect">
            <a:avLst/>
          </a:prstGeom>
          <a:noFill/>
          <a:ln/>
        </p:spPr>
        <p:txBody>
          <a:bodyPr wrap="square" lIns="0" tIns="0" rIns="0" bIns="0" rtlCol="0" anchor="ctr"/>
          <a:lstStyle/>
          <a:p>
            <a:pPr indent="0" marL="0">
              <a:buNone/>
            </a:pPr>
            <a:r>
              <a:rPr lang="en-US" sz="3400" b="1" dirty="0">
                <a:solidFill>
                  <a:schemeClr val="accent2"/>
                </a:solidFill>
                <a:latin typeface="BIZ UDPゴシック" pitchFamily="34" charset="0"/>
                <a:ea typeface="BIZ UDPゴシック" pitchFamily="34" charset="-122"/>
                <a:cs typeface="BIZ UDPゴシック" pitchFamily="34" charset="-120"/>
              </a:rPr>
              <a:t>気づいて、つなぐ</a:t>
            </a:r>
            <a:endParaRPr lang="en-US" sz="3400" dirty="0"/>
          </a:p>
        </p:txBody>
      </p:sp>
      <p:sp>
        <p:nvSpPr>
          <p:cNvPr id="13" name="Text 8"/>
          <p:cNvSpPr txBox="1"/>
          <p:nvPr/>
        </p:nvSpPr>
        <p:spPr>
          <a:xfrm>
            <a:off x="6217920" y="3200400"/>
            <a:ext cx="5212080" cy="1280160"/>
          </a:xfrm>
          <a:prstGeom prst="rect">
            <a:avLst/>
          </a:prstGeom>
          <a:noFill/>
          <a:ln/>
        </p:spPr>
        <p:txBody>
          <a:bodyPr wrap="square" lIns="0" tIns="0" rIns="0" bIns="0" rtlCol="0" anchor="ctr"/>
          <a:lstStyle/>
          <a:p>
            <a:pPr indent="0" marL="0">
              <a:buNone/>
            </a:pPr>
            <a:r>
              <a:rPr lang="en-US" sz="2800" dirty="0">
                <a:solidFill>
                  <a:schemeClr val="tx1"/>
                </a:solidFill>
                <a:latin typeface="BIZ UDPゴシック" pitchFamily="34" charset="0"/>
                <a:ea typeface="BIZ UDPゴシック" pitchFamily="34" charset="-122"/>
                <a:cs typeface="BIZ UDPゴシック" pitchFamily="34" charset="-120"/>
              </a:rPr>
              <a:t>気になることは学校や区へ</a:t>
            </a:r>
            <a:endParaRPr lang="en-US" sz="2800" dirty="0"/>
          </a:p>
        </p:txBody>
      </p:sp>
      <p:sp>
        <p:nvSpPr>
          <p:cNvPr id="14" name="ask-2"/>
          <p:cNvSpPr/>
          <p:nvPr/>
        </p:nvSpPr>
        <p:spPr>
          <a:xfrm>
            <a:off x="548640" y="4663440"/>
            <a:ext cx="11064240" cy="1280160"/>
          </a:xfrm>
          <a:prstGeom prst="roundRect">
            <a:avLst>
              <a:gd name="adj" fmla="val 10714"/>
            </a:avLst>
          </a:prstGeom>
          <a:solidFill>
            <a:schemeClr val="bg2"/>
          </a:solidFill>
          <a:ln/>
        </p:spPr>
      </p:sp>
      <p:sp>
        <p:nvSpPr>
          <p:cNvPr id="15" name="icon-circle"/>
          <p:cNvSpPr/>
          <p:nvPr/>
        </p:nvSpPr>
        <p:spPr>
          <a:xfrm>
            <a:off x="822960" y="4846320"/>
            <a:ext cx="914400" cy="914400"/>
          </a:xfrm>
          <a:prstGeom prst="ellipse">
            <a:avLst/>
          </a:prstGeom>
          <a:solidFill>
            <a:schemeClr val="accent3"/>
          </a:solidFill>
          <a:ln/>
        </p:spPr>
      </p:sp>
      <p:pic>
        <p:nvPicPr>
          <p:cNvPr id="16" name="Image 2" descr="preencoded.png">    </p:cNvPr>
          <p:cNvPicPr>
            <a:picLocks noChangeAspect="1"/>
          </p:cNvPicPr>
          <p:nvPr/>
        </p:nvPicPr>
        <p:blipFill>
          <a:blip r:embed="rId3"/>
          <a:stretch>
            <a:fillRect/>
          </a:stretch>
        </p:blipFill>
        <p:spPr>
          <a:xfrm>
            <a:off x="1042416" y="5065776"/>
            <a:ext cx="475488" cy="475488"/>
          </a:xfrm>
          <a:prstGeom prst="rect">
            <a:avLst/>
          </a:prstGeom>
        </p:spPr>
      </p:pic>
      <p:sp>
        <p:nvSpPr>
          <p:cNvPr id="17" name="Text 11"/>
          <p:cNvSpPr txBox="1"/>
          <p:nvPr/>
        </p:nvSpPr>
        <p:spPr>
          <a:xfrm>
            <a:off x="2011680" y="4663440"/>
            <a:ext cx="4206240" cy="1280160"/>
          </a:xfrm>
          <a:prstGeom prst="rect">
            <a:avLst/>
          </a:prstGeom>
          <a:noFill/>
          <a:ln/>
        </p:spPr>
        <p:txBody>
          <a:bodyPr wrap="square" lIns="0" tIns="0" rIns="0" bIns="0" rtlCol="0" anchor="ctr"/>
          <a:lstStyle/>
          <a:p>
            <a:pPr indent="0" marL="0">
              <a:buNone/>
            </a:pPr>
            <a:r>
              <a:rPr lang="en-US" sz="3400" b="1" dirty="0">
                <a:solidFill>
                  <a:schemeClr val="accent3"/>
                </a:solidFill>
                <a:latin typeface="BIZ UDPゴシック" pitchFamily="34" charset="0"/>
                <a:ea typeface="BIZ UDPゴシック" pitchFamily="34" charset="-122"/>
                <a:cs typeface="BIZ UDPゴシック" pitchFamily="34" charset="-120"/>
              </a:rPr>
              <a:t>違いを「強み」に</a:t>
            </a:r>
            <a:endParaRPr lang="en-US" sz="3400" dirty="0"/>
          </a:p>
        </p:txBody>
      </p:sp>
      <p:sp>
        <p:nvSpPr>
          <p:cNvPr id="18" name="Text 12"/>
          <p:cNvSpPr txBox="1"/>
          <p:nvPr/>
        </p:nvSpPr>
        <p:spPr>
          <a:xfrm>
            <a:off x="6217920" y="4663440"/>
            <a:ext cx="5212080" cy="1280160"/>
          </a:xfrm>
          <a:prstGeom prst="rect">
            <a:avLst/>
          </a:prstGeom>
          <a:noFill/>
          <a:ln/>
        </p:spPr>
        <p:txBody>
          <a:bodyPr wrap="square" lIns="0" tIns="0" rIns="0" bIns="0" rtlCol="0" anchor="ctr"/>
          <a:lstStyle/>
          <a:p>
            <a:pPr indent="0" marL="0">
              <a:buNone/>
            </a:pPr>
            <a:r>
              <a:rPr lang="en-US" sz="2800" dirty="0">
                <a:solidFill>
                  <a:schemeClr val="tx1"/>
                </a:solidFill>
                <a:latin typeface="BIZ UDPゴシック" pitchFamily="34" charset="0"/>
                <a:ea typeface="BIZ UDPゴシック" pitchFamily="34" charset="-122"/>
                <a:cs typeface="BIZ UDPゴシック" pitchFamily="34" charset="-120"/>
              </a:rPr>
              <a:t>母国の言葉や文化を大切に</a:t>
            </a:r>
            <a:endParaRPr lang="en-US" sz="28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005840"/>
          </a:xfrm>
          <a:prstGeom prst="rect">
            <a:avLst/>
          </a:prstGeom>
          <a:noFill/>
          <a:ln/>
        </p:spPr>
        <p:txBody>
          <a:bodyPr wrap="square" lIns="0" tIns="0" rIns="0" bIns="0" rtlCol="0" anchor="ctr"/>
          <a:lstStyle/>
          <a:p>
            <a:pPr algn="ctr" indent="0" marL="0">
              <a:buNone/>
            </a:pPr>
            <a:r>
              <a:rPr lang="en-US" sz="3600" b="1" dirty="0">
                <a:solidFill>
                  <a:schemeClr val="tx2"/>
                </a:solidFill>
                <a:latin typeface="BIZ UDPゴシック" pitchFamily="34" charset="0"/>
                <a:ea typeface="BIZ UDPゴシック" pitchFamily="34" charset="-122"/>
                <a:cs typeface="BIZ UDPゴシック" pitchFamily="34" charset="-120"/>
              </a:rPr>
              <a:t>やさしい日本語の3つのコツ</a:t>
            </a:r>
            <a:endParaRPr lang="en-US" sz="3600" dirty="0"/>
          </a:p>
        </p:txBody>
      </p:sp>
      <p:sp>
        <p:nvSpPr>
          <p:cNvPr id="4" name="hasami-0"/>
          <p:cNvSpPr/>
          <p:nvPr/>
        </p:nvSpPr>
        <p:spPr>
          <a:xfrm>
            <a:off x="1572768" y="1691640"/>
            <a:ext cx="1463040" cy="1463040"/>
          </a:xfrm>
          <a:prstGeom prst="ellipse">
            <a:avLst/>
          </a:prstGeom>
          <a:solidFill>
            <a:schemeClr val="accent1"/>
          </a:solidFill>
          <a:ln/>
        </p:spPr>
        <p:txBody>
          <a:bodyPr wrap="square" lIns="0" tIns="0" rIns="0" bIns="0" rtlCol="0" anchor="ctr"/>
          <a:lstStyle/>
          <a:p>
            <a:pPr algn="ctr" indent="0" marL="0">
              <a:buNone/>
            </a:pPr>
            <a:r>
              <a:rPr lang="en-US" sz="6000" b="1" dirty="0">
                <a:solidFill>
                  <a:schemeClr val="bg1"/>
                </a:solidFill>
                <a:latin typeface="BIZ UDPゴシック" pitchFamily="34" charset="0"/>
                <a:ea typeface="BIZ UDPゴシック" pitchFamily="34" charset="-122"/>
                <a:cs typeface="BIZ UDPゴシック" pitchFamily="34" charset="-120"/>
              </a:rPr>
              <a:t>は</a:t>
            </a:r>
            <a:endParaRPr lang="en-US" sz="6000" dirty="0"/>
          </a:p>
        </p:txBody>
      </p:sp>
      <p:sp>
        <p:nvSpPr>
          <p:cNvPr id="5" name="Text 2"/>
          <p:cNvSpPr txBox="1"/>
          <p:nvPr/>
        </p:nvSpPr>
        <p:spPr>
          <a:xfrm>
            <a:off x="548640" y="3246120"/>
            <a:ext cx="3520440" cy="731520"/>
          </a:xfrm>
          <a:prstGeom prst="rect">
            <a:avLst/>
          </a:prstGeom>
          <a:noFill/>
          <a:ln/>
        </p:spPr>
        <p:txBody>
          <a:bodyPr wrap="square" lIns="0" tIns="0" rIns="0" bIns="0" rtlCol="0" anchor="ctr"/>
          <a:lstStyle/>
          <a:p>
            <a:pPr algn="ctr" indent="0" marL="0">
              <a:buNone/>
            </a:pPr>
            <a:r>
              <a:rPr lang="en-US" sz="3200" b="1" dirty="0">
                <a:solidFill>
                  <a:schemeClr val="tx1"/>
                </a:solidFill>
                <a:latin typeface="BIZ UDPゴシック" pitchFamily="34" charset="0"/>
                <a:ea typeface="BIZ UDPゴシック" pitchFamily="34" charset="-122"/>
                <a:cs typeface="BIZ UDPゴシック" pitchFamily="34" charset="-120"/>
              </a:rPr>
              <a:t>はっきり</a:t>
            </a:r>
            <a:endParaRPr lang="en-US" sz="3200" dirty="0"/>
          </a:p>
        </p:txBody>
      </p:sp>
      <p:sp>
        <p:nvSpPr>
          <p:cNvPr id="6" name="hasami-1"/>
          <p:cNvSpPr/>
          <p:nvPr/>
        </p:nvSpPr>
        <p:spPr>
          <a:xfrm>
            <a:off x="5367528" y="1691640"/>
            <a:ext cx="1463040" cy="1463040"/>
          </a:xfrm>
          <a:prstGeom prst="ellipse">
            <a:avLst/>
          </a:prstGeom>
          <a:solidFill>
            <a:schemeClr val="accent2"/>
          </a:solidFill>
          <a:ln/>
        </p:spPr>
        <p:txBody>
          <a:bodyPr wrap="square" lIns="0" tIns="0" rIns="0" bIns="0" rtlCol="0" anchor="ctr"/>
          <a:lstStyle/>
          <a:p>
            <a:pPr algn="ctr" indent="0" marL="0">
              <a:buNone/>
            </a:pPr>
            <a:r>
              <a:rPr lang="en-US" sz="6000" b="1" dirty="0">
                <a:solidFill>
                  <a:schemeClr val="bg1"/>
                </a:solidFill>
                <a:latin typeface="BIZ UDPゴシック" pitchFamily="34" charset="0"/>
                <a:ea typeface="BIZ UDPゴシック" pitchFamily="34" charset="-122"/>
                <a:cs typeface="BIZ UDPゴシック" pitchFamily="34" charset="-120"/>
              </a:rPr>
              <a:t>さ</a:t>
            </a:r>
            <a:endParaRPr lang="en-US" sz="6000" dirty="0"/>
          </a:p>
        </p:txBody>
      </p:sp>
      <p:sp>
        <p:nvSpPr>
          <p:cNvPr id="7" name="Text 4"/>
          <p:cNvSpPr txBox="1"/>
          <p:nvPr/>
        </p:nvSpPr>
        <p:spPr>
          <a:xfrm>
            <a:off x="4343400" y="3246120"/>
            <a:ext cx="3520440" cy="731520"/>
          </a:xfrm>
          <a:prstGeom prst="rect">
            <a:avLst/>
          </a:prstGeom>
          <a:noFill/>
          <a:ln/>
        </p:spPr>
        <p:txBody>
          <a:bodyPr wrap="square" lIns="0" tIns="0" rIns="0" bIns="0" rtlCol="0" anchor="ctr"/>
          <a:lstStyle/>
          <a:p>
            <a:pPr algn="ctr" indent="0" marL="0">
              <a:buNone/>
            </a:pPr>
            <a:r>
              <a:rPr lang="en-US" sz="3200" b="1" dirty="0">
                <a:solidFill>
                  <a:schemeClr val="tx1"/>
                </a:solidFill>
                <a:latin typeface="BIZ UDPゴシック" pitchFamily="34" charset="0"/>
                <a:ea typeface="BIZ UDPゴシック" pitchFamily="34" charset="-122"/>
                <a:cs typeface="BIZ UDPゴシック" pitchFamily="34" charset="-120"/>
              </a:rPr>
              <a:t>さいごまで</a:t>
            </a:r>
            <a:endParaRPr lang="en-US" sz="3200" dirty="0"/>
          </a:p>
        </p:txBody>
      </p:sp>
      <p:sp>
        <p:nvSpPr>
          <p:cNvPr id="8" name="hasami-2"/>
          <p:cNvSpPr/>
          <p:nvPr/>
        </p:nvSpPr>
        <p:spPr>
          <a:xfrm>
            <a:off x="9162288" y="1691640"/>
            <a:ext cx="1463040" cy="1463040"/>
          </a:xfrm>
          <a:prstGeom prst="ellipse">
            <a:avLst/>
          </a:prstGeom>
          <a:solidFill>
            <a:schemeClr val="accent3"/>
          </a:solidFill>
          <a:ln/>
        </p:spPr>
        <p:txBody>
          <a:bodyPr wrap="square" lIns="0" tIns="0" rIns="0" bIns="0" rtlCol="0" anchor="ctr"/>
          <a:lstStyle/>
          <a:p>
            <a:pPr algn="ctr" indent="0" marL="0">
              <a:buNone/>
            </a:pPr>
            <a:r>
              <a:rPr lang="en-US" sz="6000" b="1" dirty="0">
                <a:solidFill>
                  <a:schemeClr val="bg1"/>
                </a:solidFill>
                <a:latin typeface="BIZ UDPゴシック" pitchFamily="34" charset="0"/>
                <a:ea typeface="BIZ UDPゴシック" pitchFamily="34" charset="-122"/>
                <a:cs typeface="BIZ UDPゴシック" pitchFamily="34" charset="-120"/>
              </a:rPr>
              <a:t>み</a:t>
            </a:r>
            <a:endParaRPr lang="en-US" sz="6000" dirty="0"/>
          </a:p>
        </p:txBody>
      </p:sp>
      <p:sp>
        <p:nvSpPr>
          <p:cNvPr id="9" name="Text 6"/>
          <p:cNvSpPr txBox="1"/>
          <p:nvPr/>
        </p:nvSpPr>
        <p:spPr>
          <a:xfrm>
            <a:off x="8138160" y="3246120"/>
            <a:ext cx="3520440" cy="731520"/>
          </a:xfrm>
          <a:prstGeom prst="rect">
            <a:avLst/>
          </a:prstGeom>
          <a:noFill/>
          <a:ln/>
        </p:spPr>
        <p:txBody>
          <a:bodyPr wrap="square" lIns="0" tIns="0" rIns="0" bIns="0" rtlCol="0" anchor="ctr"/>
          <a:lstStyle/>
          <a:p>
            <a:pPr algn="ctr" indent="0" marL="0">
              <a:buNone/>
            </a:pPr>
            <a:r>
              <a:rPr lang="en-US" sz="3200" b="1" dirty="0">
                <a:solidFill>
                  <a:schemeClr val="tx1"/>
                </a:solidFill>
                <a:latin typeface="BIZ UDPゴシック" pitchFamily="34" charset="0"/>
                <a:ea typeface="BIZ UDPゴシック" pitchFamily="34" charset="-122"/>
                <a:cs typeface="BIZ UDPゴシック" pitchFamily="34" charset="-120"/>
              </a:rPr>
              <a:t>みじかく</a:t>
            </a:r>
            <a:endParaRPr lang="en-US" sz="3200" dirty="0"/>
          </a:p>
        </p:txBody>
      </p:sp>
      <p:sp>
        <p:nvSpPr>
          <p:cNvPr id="10" name="before"/>
          <p:cNvSpPr/>
          <p:nvPr/>
        </p:nvSpPr>
        <p:spPr>
          <a:xfrm>
            <a:off x="822960" y="4526280"/>
            <a:ext cx="4206240" cy="1005840"/>
          </a:xfrm>
          <a:prstGeom prst="roundRect">
            <a:avLst>
              <a:gd name="adj" fmla="val 13636"/>
            </a:avLst>
          </a:prstGeom>
          <a:solidFill>
            <a:srgbClr val="F1F3F4"/>
          </a:solidFill>
          <a:ln/>
        </p:spPr>
        <p:txBody>
          <a:bodyPr wrap="square" lIns="0" tIns="0" rIns="0" bIns="0" rtlCol="0" anchor="ctr"/>
          <a:lstStyle/>
          <a:p>
            <a:pPr algn="ctr" indent="0" marL="0">
              <a:buNone/>
            </a:pPr>
            <a:r>
              <a:rPr lang="en-US" sz="3000" dirty="0">
                <a:solidFill>
                  <a:schemeClr val="accent6"/>
                </a:solidFill>
                <a:latin typeface="BIZ UDPゴシック" pitchFamily="34" charset="0"/>
                <a:ea typeface="BIZ UDPゴシック" pitchFamily="34" charset="-122"/>
                <a:cs typeface="BIZ UDPゴシック" pitchFamily="34" charset="-120"/>
              </a:rPr>
              <a:t>土足厳禁</a:t>
            </a:r>
            <a:endParaRPr lang="en-US" sz="3000" dirty="0"/>
          </a:p>
        </p:txBody>
      </p:sp>
      <p:sp>
        <p:nvSpPr>
          <p:cNvPr id="11" name="arrow"/>
          <p:cNvSpPr/>
          <p:nvPr/>
        </p:nvSpPr>
        <p:spPr>
          <a:xfrm>
            <a:off x="5303520" y="4736592"/>
            <a:ext cx="1005840" cy="585216"/>
          </a:xfrm>
          <a:prstGeom prst="rightArrow">
            <a:avLst/>
          </a:prstGeom>
          <a:solidFill>
            <a:schemeClr val="accent3"/>
          </a:solidFill>
          <a:ln/>
        </p:spPr>
      </p:sp>
      <p:sp>
        <p:nvSpPr>
          <p:cNvPr id="12" name="after"/>
          <p:cNvSpPr/>
          <p:nvPr/>
        </p:nvSpPr>
        <p:spPr>
          <a:xfrm>
            <a:off x="6583680" y="4526280"/>
            <a:ext cx="4754880" cy="1005840"/>
          </a:xfrm>
          <a:prstGeom prst="roundRect">
            <a:avLst>
              <a:gd name="adj" fmla="val 13636"/>
            </a:avLst>
          </a:prstGeom>
          <a:solidFill>
            <a:schemeClr val="bg2"/>
          </a:solidFill>
          <a:ln/>
        </p:spPr>
        <p:txBody>
          <a:bodyPr wrap="square" lIns="0" tIns="0" rIns="0" bIns="0" rtlCol="0" anchor="ctr"/>
          <a:lstStyle/>
          <a:p>
            <a:pPr algn="ctr" indent="0" marL="0">
              <a:buNone/>
            </a:pPr>
            <a:r>
              <a:rPr lang="en-US" sz="3000" b="1" dirty="0">
                <a:solidFill>
                  <a:schemeClr val="tx2"/>
                </a:solidFill>
                <a:latin typeface="BIZ UDPゴシック" pitchFamily="34" charset="0"/>
                <a:ea typeface="BIZ UDPゴシック" pitchFamily="34" charset="-122"/>
                <a:cs typeface="BIZ UDPゴシック" pitchFamily="34" charset="-120"/>
              </a:rPr>
              <a:t>くつを ぬいで ください</a:t>
            </a:r>
            <a:endParaRPr lang="en-US" sz="3000" dirty="0"/>
          </a:p>
        </p:txBody>
      </p:sp>
      <p:sp>
        <p:nvSpPr>
          <p:cNvPr id="25" name="Slide Number Placeholder 0"/>
          <p:cNvSpPr>
            <a:spLocks noGrp="1"/>
          </p:cNvSpPr>
          <p:nvPr>
            <p:ph type="sldNum" sz="quarter" idx="4294967295"/>
          </p:nvPr>
        </p:nvSpPr>
        <p:spPr>
          <a:xfrm>
            <a:off x="11064240" y="6400800"/>
            <a:ext cx="576072" cy="292608"/>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6"/>
                </a:solidFill>
                <a:latin typeface="BIZ UDPゴシック"/>
                <a:ea typeface="BIZ UDPゴシック"/>
                <a:cs typeface="BIZ UDPゴシック"/>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1097280"/>
            <a:ext cx="6126480" cy="2926080"/>
          </a:xfrm>
          <a:prstGeom prst="rect">
            <a:avLst/>
          </a:prstGeom>
          <a:noFill/>
          <a:ln/>
        </p:spPr>
        <p:txBody>
          <a:bodyPr wrap="square" lIns="0" tIns="0" rIns="0" bIns="0" rtlCol="0" anchor="ctr"/>
          <a:lstStyle/>
          <a:p>
            <a:pPr indent="0" marL="0">
              <a:lnSpc>
                <a:spcPct val="120000"/>
              </a:lnSpc>
              <a:buNone/>
            </a:pPr>
            <a:r>
              <a:rPr lang="en-US" sz="4000" b="1" dirty="0">
                <a:solidFill>
                  <a:schemeClr val="bg1"/>
                </a:solidFill>
                <a:latin typeface="BIZ UDPゴシック" pitchFamily="34" charset="0"/>
                <a:ea typeface="BIZ UDPゴシック" pitchFamily="34" charset="-122"/>
                <a:cs typeface="BIZ UDPゴシック" pitchFamily="34" charset="-120"/>
              </a:rPr>
              <a:t>学校・家庭・地域で</a:t>
            </a:r>
            <a:endParaRPr lang="en-US" sz="4000" dirty="0"/>
          </a:p>
          <a:p>
            <a:pPr indent="0" marL="0">
              <a:lnSpc>
                <a:spcPct val="120000"/>
              </a:lnSpc>
              <a:buNone/>
            </a:pPr>
            <a:r>
              <a:rPr lang="en-US" sz="4000" b="1" dirty="0">
                <a:solidFill>
                  <a:schemeClr val="bg1"/>
                </a:solidFill>
                <a:latin typeface="BIZ UDPゴシック" pitchFamily="34" charset="0"/>
                <a:ea typeface="BIZ UDPゴシック" pitchFamily="34" charset="-122"/>
                <a:cs typeface="BIZ UDPゴシック" pitchFamily="34" charset="-120"/>
              </a:rPr>
              <a:t>子どもたちを</a:t>
            </a:r>
            <a:endParaRPr lang="en-US" sz="4000" dirty="0"/>
          </a:p>
          <a:p>
            <a:pPr indent="0" marL="0">
              <a:lnSpc>
                <a:spcPct val="120000"/>
              </a:lnSpc>
              <a:buNone/>
            </a:pPr>
            <a:r>
              <a:rPr lang="en-US" sz="4000" b="1" dirty="0">
                <a:solidFill>
                  <a:schemeClr val="bg1"/>
                </a:solidFill>
                <a:latin typeface="BIZ UDPゴシック" pitchFamily="34" charset="0"/>
                <a:ea typeface="BIZ UDPゴシック" pitchFamily="34" charset="-122"/>
                <a:cs typeface="BIZ UDPゴシック" pitchFamily="34" charset="-120"/>
              </a:rPr>
              <a:t>一緒に支えましょう</a:t>
            </a:r>
            <a:endParaRPr lang="en-US" sz="4000" dirty="0"/>
          </a:p>
        </p:txBody>
      </p:sp>
      <p:sp>
        <p:nvSpPr>
          <p:cNvPr id="3" name="Text 1"/>
          <p:cNvSpPr txBox="1"/>
          <p:nvPr/>
        </p:nvSpPr>
        <p:spPr>
          <a:xfrm>
            <a:off x="640080" y="4572000"/>
            <a:ext cx="6035040" cy="640080"/>
          </a:xfrm>
          <a:prstGeom prst="rect">
            <a:avLst/>
          </a:prstGeom>
          <a:noFill/>
          <a:ln/>
        </p:spPr>
        <p:txBody>
          <a:bodyPr wrap="square" lIns="0" tIns="0" rIns="0" bIns="0" rtlCol="0" anchor="ctr"/>
          <a:lstStyle/>
          <a:p>
            <a:pPr indent="0" marL="0">
              <a:buNone/>
            </a:pPr>
            <a:r>
              <a:rPr lang="en-US" sz="2800" b="1" dirty="0">
                <a:solidFill>
                  <a:schemeClr val="bg1"/>
                </a:solidFill>
                <a:latin typeface="BIZ UDPゴシック" pitchFamily="34" charset="0"/>
                <a:ea typeface="BIZ UDPゴシック" pitchFamily="34" charset="-122"/>
                <a:cs typeface="BIZ UDPゴシック" pitchFamily="34" charset="-120"/>
              </a:rPr>
              <a:t>ご清聴ありがとうございました</a:t>
            </a:r>
            <a:endParaRPr lang="en-US" sz="2800" dirty="0"/>
          </a:p>
        </p:txBody>
      </p:sp>
      <p:sp>
        <p:nvSpPr>
          <p:cNvPr id="4" name="Text 2"/>
          <p:cNvSpPr txBox="1"/>
          <p:nvPr/>
        </p:nvSpPr>
        <p:spPr>
          <a:xfrm>
            <a:off x="640080" y="5303520"/>
            <a:ext cx="6035040" cy="548640"/>
          </a:xfrm>
          <a:prstGeom prst="rect">
            <a:avLst/>
          </a:prstGeom>
          <a:noFill/>
          <a:ln/>
        </p:spPr>
        <p:txBody>
          <a:bodyPr wrap="square" lIns="0" tIns="0" rIns="0" bIns="0" rtlCol="0" anchor="ctr"/>
          <a:lstStyle/>
          <a:p>
            <a:pPr indent="0" marL="0">
              <a:buNone/>
            </a:pPr>
            <a:r>
              <a:rPr lang="en-US" sz="2400" dirty="0">
                <a:solidFill>
                  <a:srgbClr val="F6C87A"/>
                </a:solidFill>
                <a:latin typeface="BIZ UDPゴシック" pitchFamily="34" charset="0"/>
                <a:ea typeface="BIZ UDPゴシック" pitchFamily="34" charset="-122"/>
                <a:cs typeface="BIZ UDPゴシック" pitchFamily="34" charset="-120"/>
              </a:rPr>
              <a:t>ご質問をお受けします</a:t>
            </a:r>
            <a:endParaRPr lang="en-US" sz="2400" dirty="0"/>
          </a:p>
        </p:txBody>
      </p:sp>
      <p:pic>
        <p:nvPicPr>
          <p:cNvPr id="5" name="Image 0" descr="先生たちが子どもに寄り添うイラスト">    </p:cNvPr>
          <p:cNvPicPr>
            <a:picLocks noChangeAspect="1"/>
          </p:cNvPicPr>
          <p:nvPr/>
        </p:nvPicPr>
        <p:blipFill>
          <a:blip r:embed="rId1"/>
          <a:stretch>
            <a:fillRect/>
          </a:stretch>
        </p:blipFill>
        <p:spPr>
          <a:xfrm>
            <a:off x="6949440" y="1874520"/>
            <a:ext cx="4754880" cy="2596896"/>
          </a:xfrm>
          <a:prstGeom prst="rect">
            <a:avLst/>
          </a:prstGeom>
        </p:spPr>
      </p:pic>
    </p:spTree>
  </p:cSld>
  <p:clrMapOvr>
    <a:masterClrMapping/>
  </p:clrMapOvr>
</p:sld>
</file>

<file path=ppt/theme/theme1.xml><?xml version="1.0" encoding="utf-8"?>
<a:theme xmlns:a="http://schemas.openxmlformats.org/drawingml/2006/main" name="Nerima Sakura">
  <a:themeElements>
    <a:clrScheme name="Nerima Sakura">
      <a:dk1>
        <a:srgbClr val="1E2B2F"/>
      </a:dk1>
      <a:lt1>
        <a:srgbClr val="FFFFFF"/>
      </a:lt1>
      <a:dk2>
        <a:srgbClr val="0F4C5C"/>
      </a:dk2>
      <a:lt2>
        <a:srgbClr val="EAF4F4"/>
      </a:lt2>
      <a:accent1>
        <a:srgbClr val="1B7A8C"/>
      </a:accent1>
      <a:accent2>
        <a:srgbClr val="D9547A"/>
      </a:accent2>
      <a:accent3>
        <a:srgbClr val="E89A2C"/>
      </a:accent3>
      <a:accent4>
        <a:srgbClr val="4F8A6F"/>
      </a:accent4>
      <a:accent5>
        <a:srgbClr val="7A5A8C"/>
      </a:accent5>
      <a:accent6>
        <a:srgbClr val="7C898D"/>
      </a:accent6>
      <a:hlink>
        <a:srgbClr val="1B7A8C"/>
      </a:hlink>
      <a:folHlink>
        <a:srgbClr val="7A5A8C"/>
      </a:folHlink>
    </a:clrScheme>
    <a:fontScheme name="Nerima Sakura">
      <a:majorFont>
        <a:latin typeface="BIZ UDPゴシック"/>
        <a:ea typeface="BIZ UDPゴシック"/>
        <a:cs typeface=""/>
        <a:font script="Jpan" typeface="BIZ UDPゴシック"/>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BIZ UDP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外国にルーツを持つ子どもたちと学校</dc:title>
  <dc:subject>PptxGenJS Presentation</dc:subject>
  <dc:creator>練馬区教育委員会 教育指導課</dc:creator>
  <cp:lastModifiedBy>練馬区教育委員会 教育指導課</cp:lastModifiedBy>
  <cp:revision>1</cp:revision>
  <dcterms:created xsi:type="dcterms:W3CDTF">2026-10-19T11:04:55Z</dcterms:created>
  <dcterms:modified xsi:type="dcterms:W3CDTF">2026-10-19T11:04:55Z</dcterms:modified>
</cp:coreProperties>
</file>