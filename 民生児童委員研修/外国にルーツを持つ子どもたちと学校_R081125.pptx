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はじめに" id="{ffeeba4b-9901-3182-1a85-b998a3352624}">
          <p14:sldIdLst>
            <p14:sldId id="256"/>
            <p14:sldId id="257"/>
            <p14:sldId id="258"/>
          </p14:sldIdLst>
        </p14:section>
        <p14:section name="１ 区内の状況" id="{63053050-e10e-aa80-c8dc-94e1b34f7140}">
          <p14:sldIdLst>
            <p14:sldId id="259"/>
            <p14:sldId id="260"/>
            <p14:sldId id="261"/>
            <p14:sldId id="262"/>
          </p14:sldIdLst>
        </p14:section>
        <p14:section name="２ 学校から見える現状と課題" id="{5d3834fa-67f7-903a-51a9-031c8ee53cbc}">
          <p14:sldIdLst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３ 支援の制度と取組" id="{46543413-174d-de59-6efd-967b3b31e551}">
          <p14:sldIdLst>
            <p14:sldId id="269"/>
            <p14:sldId id="270"/>
            <p14:sldId id="271"/>
            <p14:sldId id="272"/>
          </p14:sldIdLst>
        </p14:section>
        <p14:section name="４ 地域の皆様へ" id="{2427b72f-8ca6-43bc-742c-cab5dd654f27}">
          <p14:sldIdLst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1E2B2F"/>
                </a:solidFill>
                <a:latin typeface="BIZ UDPゴシック"/>
              </a:defRPr>
            </a:pPr>
            <a:r>
              <a:rPr sz="1800" b="0" i="0" u="none" strike="noStrike">
                <a:solidFill>
                  <a:srgbClr val="1E2B2F"/>
                </a:solidFill>
                <a:latin typeface="BIZ UDPゴシック"/>
              </a:rPr>
              <a:t>区立小中学校の外国籍児童生徒数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小学校</c:v>
                </c:pt>
              </c:strCache>
            </c:strRef>
          </c:tx>
          <c:spPr>
            <a:solidFill>
              <a:srgbClr val="1B7A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800" u="none">
                    <a:solidFill>
                      <a:srgbClr val="FFFFFF"/>
                    </a:solidFill>
                    <a:latin typeface="BIZ UDPゴシック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令和6年（計785人）</c:v>
                  </c:pt>
                  <c:pt idx="1">
                    <c:v>令和7年（計851人）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590</c:v>
                </c:pt>
                <c:pt idx="1">
                  <c:v>626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中学校</c:v>
                </c:pt>
              </c:strCache>
            </c:strRef>
          </c:tx>
          <c:spPr>
            <a:solidFill>
              <a:srgbClr val="E89A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800" u="none">
                    <a:solidFill>
                      <a:srgbClr val="FFFFFF"/>
                    </a:solidFill>
                    <a:latin typeface="BIZ UDPゴシック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令和6年（計785人）</c:v>
                  </c:pt>
                  <c:pt idx="1">
                    <c:v>令和7年（計851人）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195</c:v>
                </c:pt>
                <c:pt idx="1">
                  <c:v>225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800" u="none">
                  <a:solidFill>
                    <a:srgbClr val="FFFFFF"/>
                  </a:solidFill>
                  <a:latin typeface="BIZ UDPゴシック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1E2B2F"/>
                </a:solidFill>
                <a:latin typeface="BIZ UDPゴシック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BIZ UDPゴシック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800">
              <a:solidFill>
                <a:srgbClr val="1E2B2F"/>
              </a:solidFill>
              <a:latin typeface="BIZ UDPゴシック"/>
              <a:cs typeface="BIZ UDPゴシック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700" b="0" i="0" u="none" strike="noStrike">
                <a:solidFill>
                  <a:srgbClr val="1E2B2F"/>
                </a:solidFill>
                <a:latin typeface="BIZ UDPゴシック"/>
              </a:defRPr>
            </a:pPr>
            <a:r>
              <a:rPr sz="1700" b="0" i="0" u="none" strike="noStrike">
                <a:solidFill>
                  <a:srgbClr val="1E2B2F"/>
                </a:solidFill>
                <a:latin typeface="BIZ UDPゴシック"/>
              </a:rPr>
              <a:t>外国籍児童の割合が高い小学校（令和7年）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外国籍児童の割合（％）</c:v>
                </c:pt>
              </c:strCache>
            </c:strRef>
          </c:tx>
          <c:spPr>
            <a:solidFill>
              <a:srgbClr val="1B7A8C"/>
            </a:solidFill>
            <a:effectLst/>
          </c:spPr>
          <c:invertIfNegative val="0"/>
          <c:dLbls>
            <c:numFmt formatCode="0.0&quot;％&quot;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1E2B2F"/>
                    </a:solidFill>
                    <a:latin typeface="BIZ UDPゴシック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光が丘春の風小</c:v>
                  </c:pt>
                  <c:pt idx="1">
                    <c:v>光が丘夏の雲小</c:v>
                  </c:pt>
                  <c:pt idx="2">
                    <c:v>光が丘第八小</c:v>
                  </c:pt>
                  <c:pt idx="3">
                    <c:v>光が丘秋の陽小</c:v>
                  </c:pt>
                  <c:pt idx="4">
                    <c:v>豊玉南小</c:v>
                  </c:pt>
                  <c:pt idx="5">
                    <c:v>光が丘四季の香小</c:v>
                  </c:pt>
                  <c:pt idx="6">
                    <c:v>南町小</c:v>
                  </c:pt>
                  <c:pt idx="7">
                    <c:v>開進第四小</c:v>
                  </c:pt>
                  <c:pt idx="8">
                    <c:v>（区立小学校の平均）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9.4</c:v>
                </c:pt>
                <c:pt idx="1">
                  <c:v>7.1</c:v>
                </c:pt>
                <c:pt idx="2">
                  <c:v>6.5</c:v>
                </c:pt>
                <c:pt idx="3">
                  <c:v>6.3</c:v>
                </c:pt>
                <c:pt idx="4">
                  <c:v>4.3</c:v>
                </c:pt>
                <c:pt idx="5">
                  <c:v>4</c:v>
                </c:pt>
                <c:pt idx="6">
                  <c:v>3.9</c:v>
                </c:pt>
                <c:pt idx="7">
                  <c:v>3.6</c:v>
                </c:pt>
                <c:pt idx="8">
                  <c:v>1.9</c:v>
                </c:pt>
              </c:numCache>
            </c:numRef>
          </c:val>
        </c:ser>
        <c:dLbls>
          <c:numFmt formatCode="0.0&quot;％&quot;" sourceLinked="0"/>
          <c:txPr>
            <a:bodyPr/>
            <a:lstStyle/>
            <a:p>
              <a:pPr>
                <a:defRPr b="0" i="0" strike="noStrike" sz="1600" u="none">
                  <a:solidFill>
                    <a:srgbClr val="1E2B2F"/>
                  </a:solidFill>
                  <a:latin typeface="BIZ UDPゴシック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1E2B2F"/>
                </a:solidFill>
                <a:latin typeface="BIZ UDPゴシック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BIZ UDPゴシック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700" b="0" i="0" u="none" strike="noStrike">
                <a:solidFill>
                  <a:srgbClr val="1E2B2F"/>
                </a:solidFill>
                <a:latin typeface="BIZ UDPゴシック"/>
              </a:defRPr>
            </a:pPr>
            <a:r>
              <a:rPr sz="1700" b="0" i="0" u="none" strike="noStrike">
                <a:solidFill>
                  <a:srgbClr val="1E2B2F"/>
                </a:solidFill>
                <a:latin typeface="BIZ UDPゴシック"/>
              </a:rPr>
              <a:t>外国籍の子ども 1,192人（令和6年5月）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就学先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7A8C"/>
              </a:solidFill>
              <a:effectLst/>
            </c:spPr>
          </c:dPt>
          <c:dPt>
            <c:idx val="1"/>
            <c:bubble3D val="0"/>
            <c:spPr>
              <a:solidFill>
                <a:srgbClr val="4F8A6F"/>
              </a:solidFill>
              <a:effectLst/>
            </c:spPr>
          </c:dPt>
          <c:dPt>
            <c:idx val="2"/>
            <c:bubble3D val="0"/>
            <c:spPr>
              <a:solidFill>
                <a:srgbClr val="8A979B"/>
              </a:solidFill>
              <a:effectLst/>
            </c:spPr>
          </c:dPt>
          <c:dPt>
            <c:idx val="3"/>
            <c:bubble3D val="0"/>
            <c:spPr>
              <a:solidFill>
                <a:srgbClr val="D9547A"/>
              </a:solidFill>
              <a:effectLst/>
            </c:spPr>
          </c:dPt>
          <c:dLbls>
            <c:dLbl>
              <c:idx val="0"/>
              <c:numFmt formatCode="#,##0&quot;人&quot;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FFFFFF"/>
                      </a:solidFill>
                      <a:latin typeface="BIZ UDPゴシック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#,##0&quot;人&quot;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FFFFFF"/>
                      </a:solidFill>
                      <a:latin typeface="BIZ UDPゴシック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#,##0&quot;人&quot;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FFFFFF"/>
                      </a:solidFill>
                      <a:latin typeface="BIZ UDPゴシック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#,##0&quot;人&quot;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FFFFFF"/>
                      </a:solidFill>
                      <a:latin typeface="BIZ UDPゴシック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&quot;人&quot;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区立小中学校</c:v>
                </c:pt>
                <c:pt idx="1">
                  <c:v>インターナショナルスクール等</c:v>
                </c:pt>
                <c:pt idx="2">
                  <c:v>国立・都立・私立等</c:v>
                </c:pt>
                <c:pt idx="3">
                  <c:v>就学先が分からない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785</c:v>
                </c:pt>
                <c:pt idx="1">
                  <c:v>257</c:v>
                </c:pt>
                <c:pt idx="2">
                  <c:v>121</c:v>
                </c:pt>
                <c:pt idx="3">
                  <c:v>29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600">
              <a:solidFill>
                <a:srgbClr val="1E2B2F"/>
              </a:solidFill>
              <a:latin typeface="BIZ UDPゴシック"/>
              <a:cs typeface="BIZ UDPゴシック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日本語指導が必要な生徒</c:v>
                </c:pt>
              </c:strCache>
            </c:strRef>
          </c:tx>
          <c:spPr>
            <a:solidFill>
              <a:srgbClr val="D9547A"/>
            </a:solidFill>
            <a:effectLst/>
          </c:spPr>
          <c:invertIfNegative val="0"/>
          <c:dLbls>
            <c:numFmt formatCode="0.0&quot;％&quot;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1E2B2F"/>
                    </a:solidFill>
                    <a:latin typeface="BIZ UDPゴシック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高校などへの進学</c:v>
                  </c:pt>
                  <c:pt idx="1">
                    <c:v>大学などへの進学</c:v>
                  </c:pt>
                  <c:pt idx="2">
                    <c:v>非正規の就職など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91.5</c:v>
                </c:pt>
                <c:pt idx="1">
                  <c:v>41.2</c:v>
                </c:pt>
                <c:pt idx="2">
                  <c:v>49.6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全体</c:v>
                </c:pt>
              </c:strCache>
            </c:strRef>
          </c:tx>
          <c:spPr>
            <a:solidFill>
              <a:srgbClr val="8A979B"/>
            </a:solidFill>
            <a:effectLst/>
          </c:spPr>
          <c:invertIfNegative val="0"/>
          <c:dLbls>
            <c:numFmt formatCode="0.0&quot;％&quot;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1E2B2F"/>
                    </a:solidFill>
                    <a:latin typeface="BIZ UDPゴシック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高校などへの進学</c:v>
                  </c:pt>
                  <c:pt idx="1">
                    <c:v>大学などへの進学</c:v>
                  </c:pt>
                  <c:pt idx="2">
                    <c:v>非正規の就職など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98.9</c:v>
                </c:pt>
                <c:pt idx="1">
                  <c:v>75</c:v>
                </c:pt>
                <c:pt idx="2">
                  <c:v>6.5</c:v>
                </c:pt>
              </c:numCache>
            </c:numRef>
          </c:val>
        </c:ser>
        <c:dLbls>
          <c:numFmt formatCode="0.0&quot;％&quot;" sourceLinked="0"/>
          <c:txPr>
            <a:bodyPr/>
            <a:lstStyle/>
            <a:p>
              <a:pPr>
                <a:defRPr b="0" i="0" strike="noStrike" sz="1600" u="none">
                  <a:solidFill>
                    <a:srgbClr val="1E2B2F"/>
                  </a:solidFill>
                  <a:latin typeface="BIZ UDPゴシック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700" b="0" i="0" u="none" strike="noStrike">
                <a:solidFill>
                  <a:srgbClr val="1E2B2F"/>
                </a:solidFill>
                <a:latin typeface="BIZ UDPゴシック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BIZ UDPゴシック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700">
              <a:solidFill>
                <a:srgbClr val="1E2B2F"/>
              </a:solidFill>
              <a:latin typeface="BIZ UDPゴシック"/>
              <a:cs typeface="BIZ UDPゴシック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【約1分】
皆様、こんにちは。練馬区教育委員会教育指導課の指導主事、〇〇です。本日は貴重な機会をいただき、ありがとうございます。
民生・児童委員の皆様には、日頃から地域の子どもたちを温かく見守っていただき、心より感謝申し上げます。
本日は「外国にルーツを持つ子どもたちと学校」と題して、区内の小中学校の状況、学校や区の支援の取組、そして現場から見えてきた課題について、具体的な事例を交えてお話しします。お話は25分ほどで、その後ご質問をお受け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【約1分30秒】
はじめに、少し想像してみてください。もし明日から、言葉の分からない外国の学校に通うことになったら、どうでしょうか。
先生の話が分からない。友達に「入れて」が言えない。お便りが読めないので、持ち物もそろわない。大人の私たちでも不安になると思います。
練馬区の学校にも、毎日こうした思いを抱えながら通っている子どもたちがいます。今日は、そうした子どもたちのことを、少しでも身近に感じていただければと思います。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【約30秒】
本日は、ご依頼いただいた内容に沿って、4つの柱でお話しします。
1つ目は数字で見る区内の状況、2つ目は学校現場から見える現状と課題、3つ目は学校と区の支援の制度と取組、最後に、地域の皆様と一緒にできることをお話しします。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【約1分30秒】
まず、区内の状況です。令和7年5月1日現在、練馬区立の小中学校に在籍している外国籍の児童生徒は851人です。小学校が626人、中学校が225人で、およそ50人に1人、1クラスに1人いるかどうか、という割合です。
前の年の785人から、1年間で66人増えています。全国的にも、公立学校の外国人児童生徒は10年で約2倍になっており、練馬区も同じ傾向にあります。
なお、この数字は「外国籍」の子どもだけです。日本国籍でも外国にルーツを持つ子どもは含まれていませんので、実際に支援が必要な子どもはもう少し多いと考えています。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【約1分30秒】
この子どもたちは、区内に均等にいるわけではありません。グラフは、外国籍の児童の割合が高い小学校です。上位は光が丘地区の学校が並んでいます。
特に光が丘春の風小学校では、児童の約10人に1人が外国籍です。今年の9月時点では外国籍の児童が63名、そのうち日本語の指導が必要な子どもが25名から35名ほどいます。
中学校でも、光が丘第三中、光が丘第二中、開進第二中、豊玉第二中などで多くなっています。地域によって状況が大きく違うことも、この課題の特徴です。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【約1分30秒】
次に、区に住民登録がある学齢期、つまり小学1年生から中学3年生の年齢の外国籍の子どもは、令和6年5月時点で1,192人でした。
そのうち区立の小中学校に通っているのが785人、インターナショナルスクールなどが257人、国立・都立・私立などが121人です。
そして、29人は就学先が分かっていません。転居や帰国の可能性もありますが、学校に通えていない子どもがいるかもしれない、ということです。
国籍は中国、韓国、ネパールで約8割を占めます。地域で「平日の昼間に、いつも家の近くにいる子がいる」といったことにお気づきの際は、ぜひ学校や区にお知らせください。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【約1分30秒】
ここまで「外国籍」の数字をお示ししましたが、国籍だけでは見えない子どもたちもいます。
例えば、ご両親のどちらかが外国出身で日本国籍を持っている子ども、海外での生活が長く帰国した子どもなどです。家庭では外国語で話していることも多くあります。
国（文部科学省）は、「日本語で日常会話が十分にできない子ども」と、「日常会話はできても、学年相当の学習に必要な日本語が足りず、学習に支障がある子ども」を、「日本語指導が必要な児童生徒」としています。
全国では約8万5千人、東京都では8,409人で、2年前から大きく増えています。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【約2分】
ここからは、学校現場から見える現状と課題です。まず、ぜひ知っていただきたいのが、「ことば」には2種類ある、ということです。
一つは「生活のことば」です。「おはよう」「トイレに行きたい」「一緒に遊ぼう」といった、毎日の生活で使う言葉で、子どもは1～2年ほどで身につけると言われています。
もう一つは「学習のことば」です。「支える」「比べる」「理由を説明しましょう」といった、授業で使う言葉で、学年相当の力がつくまでに5年以上かかると言われています。
日常会話ができるようになると、周りからは「もう大丈夫」と見えてしまいます。でも実際には、授業が分からずに困っている、ということがよくあります。ここが、この課題の見えにくいところです。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【約2分】
光が丘春の風小学校での実際の事例をご紹介します。どちらも2年生の男の子です。
Aさんはスリランカ国籍で、来日して7か月。家ではシンハラ語と英語を話します。あいさつやトイレは言えますが、ひらがなの読み書きはまだできません。国語の「ロボット」の学習では、ルビ付きの教科書で音読はできても、「支える」「姿勢」といった言葉の意味が分からないまま読んでいました。本当は、自分の考えたロボットのことを話したかったのかもしれません。
Bさんは韓国籍で、日本に来て5年以上たちます。おしゃべりは得意で、ひらがなもカタカナも書けます。でも、作文やスピーチになると「書いたことが分からなくなっちゃった」「もう読みたくない」となってしまいます。
同じ学年でも、一人一人の困りごとはまったく違います。だからこそ、一人一人に合った支援が必要なのです。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【約1分30秒】
次は、区内の校長先生方から聞き取った事例です。
小学5年生のAさんは、3年生の時に来日しました。日本語指導の講師の授業を受けて、会話はできるようになりました。でも、授業中の先生の指示や説明が分からず、グループでの話合いにも参加できません。
中学2年生のBさんは、年齢より1学年下の学年に転入しました。お母さんは日本語が片言です。定期テストは各教科10点から20点台で、授業の説明も理解できていません。
中学3年生のDさんは、3年生の1学期に来日しました。英語は得意でしたが、日本語の読み書きに苦労し、高校受験がうまくいきませんでした。今は区外のフリースクールに通い、もう一度受験の準備をしています。
生活には困らなくても、学習に必要な日本語まで届かず、希望する進路に進むのが難しい。これが今、学校が直面している大きな課題です。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【約1分】
全国の調査を見ても、進路に大きな差があることが分かります。
日本語指導が必要な生徒の高校などへの進学率は91.5％で、全体の98.9％より低くなっています。大学などへの進学率は41.2％で、全体の75％と大きな差があります。
また、高校を卒業して就職した人のうち、非正規の仕事などに就いた割合は約半数で、全体の6.5％と比べてとても高くなっています。高校の中退率も6.4％と、全体のおよそ6倍です。
小中学校の時期にしっかりと学ぶ力をつけることが、その子の将来に直結しています。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【約1分30秒】
ここで、ある中学生が書いた作文をご紹介します。おじいさんが中国残留孤児で、家庭ではずっと中国語、という生徒です。
（ゆっくり読み上げる）「小学一年生の時、毎日のように泣いていました。日本語が分からなくて、気持ちを伝えられないのがもどかしかった…」
「三年生の時、担任の先生が、私が何に困っているかに気づき、日本語の教室で勉強するのをすすめてくれました。」
この子は、その後、自分で友達とのけんかを解決できるようになり、学校生活が楽しくなったと書いています。そして最後に「自分の気持ちを自分の言葉で伝えて、たくさんの人とつながりたい」と結んでいます。
困っていることに「気づいてくれる大人」がいたことが、この子の転機になりました。学校の先生だけでなく、地域の皆様も、その「気づく大人」になっていただけたらと思います。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【約1分30秒】
子どもの困りごとの背景には、家庭や保護者の困りごともあります。
学校からのお便りが読めない。持ち物や行事、給食などの習慣が母国と違う。面談をしても、通訳がいないと思いがうまく伝わらない。
また、子どもは日本語が上手になる一方で母語を忘れていき、保護者は日本語が苦手なため、親子で深い話ができなくなる、ということも起きています。
仕事や家庭の事情で学校を休みがちになる子どもや、地域に相談できる人がいなくて孤立してしまう家庭もあります。学校だけでは見えにくい部分であり、地域の皆様のお力が必要なところです。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【約1分30秒】
ここからは、学校と区の支援の制度と取組です。まず、外国から来た子どもが区立の学校に入学するまでの流れです。
来日して区役所で転入の手続きをすると、学務課が学齢の子どもがいるかを確認し、区立学校への入学の意思や、日本語が使えるかを確認して、通う学校をご案内します。
保護者には「受け入れカード」を書いていただきます。日本語と英語を併記したもので、昨年11月に改訂し、これまでの教育歴なども詳しく分かるようにしました。
学校では、通訳やAI通訳機を使って面談を行い、子どもの様子や家庭の状況をうかがってから、入学と支援が始まります。
実はこのカードには「ご近所に、日本語がわかる知人はいますか？」という欄があります。地域に頼れる人がいるかどうかが、家庭にとってとても大切だからです。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【約2分】
区と学校では、次のような支援を行っています。
1つ目は日本語指導講師の派遣です。日本語指導の資格を持つ講師が学校に行き、1対1で指導します。指導時間の上限は、小学校・中学校とも順次拡充を進めています。（※最新の時間数は説明前に担当係へ確認）
2つ目は、正規の教員による日本語指導教室・日本語学級です。光が丘春の風小学校の「さくらルーム」がその一つで、令和9年度には光が丘第二中学校にも開設する予定です。
3つ目は、AI通訳機「ポケトーク」です。全小中学校に2台ずつ配備しています。また、先生の話をリアルタイムでタブレットに翻訳表示する「ポケトーク for スクール」を24校に広げています。
4つ目は東京都のモデル事業で、光が丘春の風小学校で、入学前の園児向けの日本語教室や、来日直後の子どもが集中的に学ぶ講座などを行っています。
5つ目は、日本語の力をきちんと測って、一人一人の指導計画をつくることです。
そして6つ目、学校の外では、地域振興課の「こども日本語教室」が土曜日に開かれており、ボランティアの皆さんが指導してくださっています。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【約2分】
光が丘春の風小学校の日本語指導教室「さくらルーム」の取組をご紹介します。
左の写真は、絵と文字を合わせて、身の回りの物の名前を覚えるカードです。真ん中は「家族は何人ですか」「犬と猫、どちらが好き？」といった質問カードで、会話の瞬発力をつけます。右は、在籍している学級の机の横に掛けておくヘルプカードで、ひらがな表や九九、「分かりません」などの気持ちを伝えるカードが入っています。
来日してすぐの子どもには、まず生活に必要な「サバイバル日本語」から始め、ひらがななどの基礎を学び、半年から1年ほどで教科の学習につなげていきます。
大切にしているのは、さくらルームだけで教えるのではなく、担任の先生と毎週情報を共有し、学級の授業とつなげることです。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【約1分30秒】
さくらルームができて、学校はどう変わったでしょうか。
転入してくる子どもの受け入れ体制が整い、学習の支援が充実しました。成績の付け方も学校全体で統一しました。
先生たちの間で「母語」「生活言語」「学習言語」といった言葉が普通に交わされるようになり、国際理解が進みました。国際委員会をつくるなど、多様性や共生を意識した学校づくりが進んでいます。
そして何より、「春風小学校が好き」「学校が楽しい」と答える子どもが増えました。
担任の先生一人で抱え込まず、日本語指導の担当や学校全体がチームになって子どもを育てる。これが、この取組から見えてきた一番大切なことです。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【約2分】
最後に、民生・児童委員の皆様にお願いしたいことを4つお話しします。
1つ目は「声をかける」ことです。登下校の時や地域で、笑顔であいさつをしていただくだけで、子どもや保護者にとって大きな安心になります。話す時は、このあとご紹介する「やさしい日本語」で、ゆっくり話していただけると伝わりやすくなります。
2つ目は「気づいて、つなぐ」ことです。平日の昼間に学校に行っていない様子の子どもがいる、生活に困っていそうな家庭がある、地域で孤立している、そうしたことにお気づきの際は、学校や区の窓口にお知らせください。
3つ目は「情報を届ける」ことです。こども日本語教室や地域の行事など、ご存じの情報を伝えていただくと、家庭が地域とつながるきっかけになります。
4つ目は「違いを強みに」です。母国の言葉や文化を大切にすることは、子どもの自信につながります。「お国の言葉で何て言うの？」と聞いていただくだけでも、子どもはうれしいものです。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【約1分30秒】
「やさしい日本語」とは、外国の方にも分かりやすいように、簡単に言い換えた日本語のことです。コツは「はさみの法則」です。
「は」は、はっきり言う。「さ」は、最後まで言う。「どうぞ…」ではなく「座ってください」と最後まで言います。「み」は、短く言う。一文に一つのことだけを伝えます。
例えば「ご記入の上、ご提出ください」は「ここに書いてください。そして、出してください」。「土足厳禁」は「靴を脱いでください」。「雨天の場合は中止です」は「雨なら、ありません」。
これは子どもにも、高齢の方にも、誰にでも伝わりやすい話し方です。ぜひ、地域での声かけに使ってみてください。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【約1分＋質疑応答】
本日は、区内の外国にルーツを持つ子どもたちの状況と、学校・区の取組、そして地域の皆様へのお願いをお話ししました。
「ことばの壁」の向こうには、一人一人の子どもの育ちがあります。日本語が分からないことで、その子の力や可能性が見えなくなってしまわないよう、学校だけでなく、家庭、そして地域の皆様と一緒に、子どもたちを支えていきたいと考えています。
ご清聴ありがとうございました。ご質問がありましたら、どうぞお気軽にお願いします。
【想定される質問と回答の例】
Q 外国の子が困っていそうなとき、どこに連絡すればよいか。→ まずはその子が通う学校（副校長）へ。分からない場合は教育指導課や子ども家庭支援センターへ。
Q 言葉が通じない保護者とどう話せばよいか。→ やさしい日本語、身振りや絵、スマートフォンの翻訳アプリの活用も有効。
Q 日本語教室はどこで開かれているか。→ 地域振興課の「こども日本語教室」（土曜日）。最新の日程は区のホームページで確認。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練馬区教育委員会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image" Target="../media/image-16-3.jp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6C87A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民生・児童委員 自主研修部会「児童福祉部会」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chemeClr val="bg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外国にルーツを持つ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chemeClr val="bg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子どもたちと学校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918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6E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～練馬区立小中学校の現状と支援の取組～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34340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FE6E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令和8年11月25日（水）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FE6E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ココネリ3階　研修室3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3492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練馬区教育委員会　教育指導課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指導主事　〇〇 〇〇</a:t>
            </a:r>
            <a:endParaRPr lang="en-US" sz="2000" dirty="0"/>
          </a:p>
        </p:txBody>
      </p:sp>
      <p:pic>
        <p:nvPicPr>
          <p:cNvPr id="7" name="Image 0" descr="通学路を歩くさまざまな背景をもつ子どもたちのイラスト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737360"/>
            <a:ext cx="493776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まず、想像してみてください</a:t>
            </a:r>
            <a:endParaRPr lang="en-US" sz="3200" dirty="0"/>
          </a:p>
        </p:txBody>
      </p:sp>
      <p:pic>
        <p:nvPicPr>
          <p:cNvPr id="4" name="Image 0" descr="教科書を前に困った表情の子どものイラスト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5394960" cy="294436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309360" y="178308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明日から、言葉の分からない国の学校に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通うことになったら…</a:t>
            </a:r>
            <a:endParaRPr lang="en-US" sz="2200" dirty="0"/>
          </a:p>
        </p:txBody>
      </p:sp>
      <p:sp>
        <p:nvSpPr>
          <p:cNvPr id="6" name="voice-0"/>
          <p:cNvSpPr/>
          <p:nvPr/>
        </p:nvSpPr>
        <p:spPr>
          <a:xfrm>
            <a:off x="6309360" y="2880360"/>
            <a:ext cx="5303520" cy="5486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22860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先生の話が、分からない</a:t>
            </a:r>
            <a:endParaRPr lang="en-US" sz="2100" dirty="0"/>
          </a:p>
        </p:txBody>
      </p:sp>
      <p:sp>
        <p:nvSpPr>
          <p:cNvPr id="7" name="voice-1"/>
          <p:cNvSpPr/>
          <p:nvPr/>
        </p:nvSpPr>
        <p:spPr>
          <a:xfrm>
            <a:off x="6309360" y="3566160"/>
            <a:ext cx="5303520" cy="5486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22860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友達に「入れて」が言えない</a:t>
            </a:r>
            <a:endParaRPr lang="en-US" sz="2100" dirty="0"/>
          </a:p>
        </p:txBody>
      </p:sp>
      <p:sp>
        <p:nvSpPr>
          <p:cNvPr id="8" name="voice-2"/>
          <p:cNvSpPr/>
          <p:nvPr/>
        </p:nvSpPr>
        <p:spPr>
          <a:xfrm>
            <a:off x="6309360" y="4251960"/>
            <a:ext cx="5303520" cy="5486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22860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お便りが読めず、持ち物がそろわない</a:t>
            </a:r>
            <a:endParaRPr lang="en-US" sz="21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練馬区の学校にも、こうした思いを抱える子どもたちがいます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本日お話しすること</a:t>
            </a:r>
            <a:endParaRPr lang="en-US" sz="3200" dirty="0"/>
          </a:p>
        </p:txBody>
      </p:sp>
      <p:sp>
        <p:nvSpPr>
          <p:cNvPr id="4" name="agenda-num-0"/>
          <p:cNvSpPr/>
          <p:nvPr/>
        </p:nvSpPr>
        <p:spPr>
          <a:xfrm>
            <a:off x="640080" y="182880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691640" y="178308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区内小中学校の状況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1691640" y="22860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数字で見る、外国にルーツを持つ子どもたち</a:t>
            </a:r>
            <a:endParaRPr lang="en-US" sz="1800" dirty="0"/>
          </a:p>
        </p:txBody>
      </p:sp>
      <p:sp>
        <p:nvSpPr>
          <p:cNvPr id="7" name="agenda-num-1"/>
          <p:cNvSpPr/>
          <p:nvPr/>
        </p:nvSpPr>
        <p:spPr>
          <a:xfrm>
            <a:off x="640080" y="2907792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286207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学校から見える現状と課題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1691640" y="336499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具体的な事例から</a:t>
            </a:r>
            <a:endParaRPr lang="en-US" sz="1800" dirty="0"/>
          </a:p>
        </p:txBody>
      </p:sp>
      <p:sp>
        <p:nvSpPr>
          <p:cNvPr id="10" name="agenda-num-2"/>
          <p:cNvSpPr/>
          <p:nvPr/>
        </p:nvSpPr>
        <p:spPr>
          <a:xfrm>
            <a:off x="640080" y="3986784"/>
            <a:ext cx="777240" cy="77724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3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1691640" y="3941064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学校・区の支援制度と取組</a:t>
            </a:r>
            <a:endParaRPr lang="en-US" sz="2700" dirty="0"/>
          </a:p>
        </p:txBody>
      </p:sp>
      <p:sp>
        <p:nvSpPr>
          <p:cNvPr id="12" name="Text 9"/>
          <p:cNvSpPr txBox="1"/>
          <p:nvPr/>
        </p:nvSpPr>
        <p:spPr>
          <a:xfrm>
            <a:off x="1691640" y="444398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光が丘春の風小学校「さくらルーム」の実践</a:t>
            </a:r>
            <a:endParaRPr lang="en-US" sz="1800" dirty="0"/>
          </a:p>
        </p:txBody>
      </p:sp>
      <p:sp>
        <p:nvSpPr>
          <p:cNvPr id="13" name="agenda-num-3"/>
          <p:cNvSpPr/>
          <p:nvPr/>
        </p:nvSpPr>
        <p:spPr>
          <a:xfrm>
            <a:off x="640080" y="5065776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4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1691640" y="5020056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地域の皆様へのお願い</a:t>
            </a:r>
            <a:endParaRPr lang="en-US" sz="2700" dirty="0"/>
          </a:p>
        </p:txBody>
      </p:sp>
      <p:sp>
        <p:nvSpPr>
          <p:cNvPr id="15" name="Text 12"/>
          <p:cNvSpPr txBox="1"/>
          <p:nvPr/>
        </p:nvSpPr>
        <p:spPr>
          <a:xfrm>
            <a:off x="1691640" y="552297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民生・児童委員の皆様と一緒にできること</a:t>
            </a:r>
            <a:endParaRPr lang="en-US" sz="1800" dirty="0"/>
          </a:p>
        </p:txBody>
      </p:sp>
      <p:pic>
        <p:nvPicPr>
          <p:cNvPr id="16" name="Image 0" descr="休み時間に一緒に遊ぶ子どもたちのイラスト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2194560"/>
            <a:ext cx="3931920" cy="21488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区立小中学校に通う外国籍の子どもは851人</a:t>
            </a:r>
            <a:endParaRPr lang="en-US" sz="3200" dirty="0"/>
          </a:p>
        </p:txBody>
      </p:sp>
      <p:sp>
        <p:nvSpPr>
          <p:cNvPr id="3" name="section-tag"/>
          <p:cNvSpPr/>
          <p:nvPr/>
        </p:nvSpPr>
        <p:spPr>
          <a:xfrm>
            <a:off x="548640" y="256032"/>
            <a:ext cx="2103120" cy="384048"/>
          </a:xfrm>
          <a:prstGeom prst="roundRect">
            <a:avLst>
              <a:gd name="adj" fmla="val 4761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１ 区内の状況</a:t>
            </a:r>
            <a:endParaRPr lang="en-US" sz="1500" dirty="0"/>
          </a:p>
        </p:txBody>
      </p:sp>
      <p:sp>
        <p:nvSpPr>
          <p:cNvPr id="5" name="stat-card"/>
          <p:cNvSpPr/>
          <p:nvPr/>
        </p:nvSpPr>
        <p:spPr>
          <a:xfrm>
            <a:off x="548640" y="1783080"/>
            <a:ext cx="4754880" cy="4069080"/>
          </a:xfrm>
          <a:prstGeom prst="roundRect">
            <a:avLst>
              <a:gd name="adj" fmla="val 2697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8680" y="1965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令和7年5月1日現在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33172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chemeClr val="accent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851</a:t>
            </a:r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 人</a:t>
            </a:r>
            <a:endParaRPr lang="en-US" sz="88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6118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およそ 50人に1人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25196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小学校　626人（1.9％）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中学校　225人（1.7％）</a:t>
            </a:r>
            <a:endParaRPr lang="en-US" sz="22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669280" y="1691640"/>
          <a:ext cx="59893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548640" y="59893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出典：学校基本調査（各年5月1日現在）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光が丘地区など、特定の地域に多く住んでいます</a:t>
            </a:r>
            <a:endParaRPr lang="en-US" sz="3200" dirty="0"/>
          </a:p>
        </p:txBody>
      </p:sp>
      <p:sp>
        <p:nvSpPr>
          <p:cNvPr id="3" name="section-tag"/>
          <p:cNvSpPr/>
          <p:nvPr/>
        </p:nvSpPr>
        <p:spPr>
          <a:xfrm>
            <a:off x="548640" y="256032"/>
            <a:ext cx="2103120" cy="384048"/>
          </a:xfrm>
          <a:prstGeom prst="roundRect">
            <a:avLst>
              <a:gd name="adj" fmla="val 4761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１ 区内の状況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45920"/>
          <a:ext cx="658368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allout-harukaze"/>
          <p:cNvSpPr/>
          <p:nvPr/>
        </p:nvSpPr>
        <p:spPr>
          <a:xfrm>
            <a:off x="7498080" y="1783080"/>
            <a:ext cx="416052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7772400" y="19385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光が丘春の風小学校</a:t>
            </a:r>
            <a:endParaRPr lang="en-US" sz="2100" dirty="0"/>
          </a:p>
        </p:txBody>
      </p:sp>
      <p:sp>
        <p:nvSpPr>
          <p:cNvPr id="8" name="Text 4"/>
          <p:cNvSpPr txBox="1"/>
          <p:nvPr/>
        </p:nvSpPr>
        <p:spPr>
          <a:xfrm>
            <a:off x="7772400" y="237744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約10人に1人</a:t>
            </a:r>
            <a:endParaRPr lang="en-US" sz="36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が外国籍の児童</a:t>
            </a:r>
            <a:endParaRPr lang="en-US" sz="3600" dirty="0"/>
          </a:p>
        </p:txBody>
      </p:sp>
      <p:sp>
        <p:nvSpPr>
          <p:cNvPr id="9" name="Text 5"/>
          <p:cNvSpPr txBox="1"/>
          <p:nvPr/>
        </p:nvSpPr>
        <p:spPr>
          <a:xfrm>
            <a:off x="7772400" y="33832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日本語指導が必要な児童 25～35名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（令和8年9月現在）</a:t>
            </a:r>
            <a:endParaRPr lang="en-US" sz="1600" dirty="0"/>
          </a:p>
        </p:txBody>
      </p:sp>
      <p:sp>
        <p:nvSpPr>
          <p:cNvPr id="10" name="callout-jhs"/>
          <p:cNvSpPr/>
          <p:nvPr/>
        </p:nvSpPr>
        <p:spPr>
          <a:xfrm>
            <a:off x="7498080" y="4297680"/>
            <a:ext cx="41605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7772400" y="4434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中学校で多いのは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7772400" y="48463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光が丘第三中 22人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光が丘第二中 16人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9921240" y="48463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開進第二中 15人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豊玉第二中 13人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59893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出典：令和7年度学校基本調査、光が丘春の風小学校資料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区内の学齢期の外国籍の子ども、どこで学んでいる？</a:t>
            </a:r>
            <a:endParaRPr lang="en-US" sz="3200" dirty="0"/>
          </a:p>
        </p:txBody>
      </p:sp>
      <p:sp>
        <p:nvSpPr>
          <p:cNvPr id="3" name="section-tag"/>
          <p:cNvSpPr/>
          <p:nvPr/>
        </p:nvSpPr>
        <p:spPr>
          <a:xfrm>
            <a:off x="548640" y="256032"/>
            <a:ext cx="2103120" cy="384048"/>
          </a:xfrm>
          <a:prstGeom prst="roundRect">
            <a:avLst>
              <a:gd name="adj" fmla="val 4761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１ 区内の状況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600200"/>
          <a:ext cx="630936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allout-unknown"/>
          <p:cNvSpPr/>
          <p:nvPr/>
        </p:nvSpPr>
        <p:spPr>
          <a:xfrm>
            <a:off x="7178040" y="1783080"/>
            <a:ext cx="4480560" cy="2514600"/>
          </a:xfrm>
          <a:prstGeom prst="roundRect">
            <a:avLst>
              <a:gd name="adj" fmla="val 4364"/>
            </a:avLst>
          </a:prstGeom>
          <a:solidFill>
            <a:srgbClr val="FBE6EC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7452360" y="18745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29</a:t>
            </a:r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 人</a:t>
            </a:r>
            <a:endParaRPr lang="en-US" sz="6000" dirty="0"/>
          </a:p>
        </p:txBody>
      </p:sp>
      <p:sp>
        <p:nvSpPr>
          <p:cNvPr id="8" name="Text 4"/>
          <p:cNvSpPr txBox="1"/>
          <p:nvPr/>
        </p:nvSpPr>
        <p:spPr>
          <a:xfrm>
            <a:off x="7452360" y="27889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就学先が分からない子ども</a:t>
            </a:r>
            <a:endParaRPr lang="en-US" sz="2100" dirty="0"/>
          </a:p>
        </p:txBody>
      </p:sp>
      <p:sp>
        <p:nvSpPr>
          <p:cNvPr id="9" name="Text 5"/>
          <p:cNvSpPr txBox="1"/>
          <p:nvPr/>
        </p:nvSpPr>
        <p:spPr>
          <a:xfrm>
            <a:off x="7452360" y="324612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学校に通えているか確認できない子どもがいます。地域の見守りが大切です。</a:t>
            </a:r>
            <a:endParaRPr lang="en-US" sz="1700" dirty="0"/>
          </a:p>
        </p:txBody>
      </p:sp>
      <p:sp>
        <p:nvSpPr>
          <p:cNvPr id="10" name="callout-nationality"/>
          <p:cNvSpPr/>
          <p:nvPr/>
        </p:nvSpPr>
        <p:spPr>
          <a:xfrm>
            <a:off x="7178040" y="4480560"/>
            <a:ext cx="44805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7452360" y="45902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国籍は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7452360" y="49834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中国・韓国・ネパールで約8割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59893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出典：練馬区教育振興部資料（住民基本台帳 令和6年5月現在）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「外国籍」だけでは見えない子どもたち</a:t>
            </a:r>
            <a:endParaRPr lang="en-US" sz="3200" dirty="0"/>
          </a:p>
        </p:txBody>
      </p:sp>
      <p:sp>
        <p:nvSpPr>
          <p:cNvPr id="3" name="section-tag"/>
          <p:cNvSpPr/>
          <p:nvPr/>
        </p:nvSpPr>
        <p:spPr>
          <a:xfrm>
            <a:off x="548640" y="256032"/>
            <a:ext cx="2103120" cy="384048"/>
          </a:xfrm>
          <a:prstGeom prst="roundRect">
            <a:avLst>
              <a:gd name="adj" fmla="val 4761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１ 区内の状況</a:t>
            </a:r>
            <a:endParaRPr lang="en-US" sz="1500" dirty="0"/>
          </a:p>
        </p:txBody>
      </p:sp>
      <p:sp>
        <p:nvSpPr>
          <p:cNvPr id="5" name="type-card-0"/>
          <p:cNvSpPr/>
          <p:nvPr/>
        </p:nvSpPr>
        <p:spPr>
          <a:xfrm>
            <a:off x="548640" y="1737360"/>
            <a:ext cx="352044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18745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外国籍の子ども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78892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外国の国籍をもつ子ども</a:t>
            </a:r>
            <a:endParaRPr lang="en-US" sz="1700" dirty="0"/>
          </a:p>
        </p:txBody>
      </p:sp>
      <p:sp>
        <p:nvSpPr>
          <p:cNvPr id="8" name="type-card-1"/>
          <p:cNvSpPr/>
          <p:nvPr/>
        </p:nvSpPr>
        <p:spPr>
          <a:xfrm>
            <a:off x="4297680" y="1737360"/>
            <a:ext cx="352044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72000" y="18745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4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外国にルーツを持つ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chemeClr val="accent4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日本国籍の子ども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278892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国際結婚の家庭、海外から帰国した子ども など。家庭では外国語を話すことも</a:t>
            </a:r>
            <a:endParaRPr lang="en-US" sz="1700" dirty="0"/>
          </a:p>
        </p:txBody>
      </p:sp>
      <p:sp>
        <p:nvSpPr>
          <p:cNvPr id="11" name="type-card-2"/>
          <p:cNvSpPr/>
          <p:nvPr/>
        </p:nvSpPr>
        <p:spPr>
          <a:xfrm>
            <a:off x="8046720" y="1737360"/>
            <a:ext cx="352044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321040" y="18745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日本語指導が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chemeClr val="accent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必要な子ども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8321040" y="278892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会話が十分にできない／会話はできても、学習に必要な日本語が足りない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434340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84,759人</a:t>
            </a:r>
            <a:endParaRPr lang="en-US" sz="38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502920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全国の日本語指導が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必要な児童生徒（令和7年度）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4297680" y="434340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8,409人</a:t>
            </a:r>
            <a:endParaRPr lang="en-US" sz="3800" dirty="0"/>
          </a:p>
        </p:txBody>
      </p:sp>
      <p:sp>
        <p:nvSpPr>
          <p:cNvPr id="17" name="Text 14"/>
          <p:cNvSpPr txBox="1"/>
          <p:nvPr/>
        </p:nvSpPr>
        <p:spPr>
          <a:xfrm>
            <a:off x="4297680" y="502920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東京都の日本語指導が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必要な児童生徒（2年前 6,676人）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046720" y="434340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約2倍</a:t>
            </a:r>
            <a:endParaRPr lang="en-US" sz="3800" dirty="0"/>
          </a:p>
        </p:txBody>
      </p:sp>
      <p:sp>
        <p:nvSpPr>
          <p:cNvPr id="19" name="Text 16"/>
          <p:cNvSpPr txBox="1"/>
          <p:nvPr/>
        </p:nvSpPr>
        <p:spPr>
          <a:xfrm>
            <a:off x="8046720" y="502920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全国の公立学校の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外国人児童生徒（この10年）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59893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出典：文部科学省「日本語指導が必要な児童生徒の受入状況等に関する調査（令和7年度）」ほか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「話せる」と「勉強が分かる」は違います</a:t>
            </a:r>
            <a:endParaRPr lang="en-US" sz="3200" dirty="0"/>
          </a:p>
        </p:txBody>
      </p:sp>
      <p:sp>
        <p:nvSpPr>
          <p:cNvPr id="3" name="section-tag"/>
          <p:cNvSpPr/>
          <p:nvPr/>
        </p:nvSpPr>
        <p:spPr>
          <a:xfrm>
            <a:off x="548640" y="256032"/>
            <a:ext cx="3566160" cy="384048"/>
          </a:xfrm>
          <a:prstGeom prst="roundRect">
            <a:avLst>
              <a:gd name="adj" fmla="val 4761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２ 学校から見える現状と課題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2834640" y="4617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来日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160520" y="4617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1年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0" y="4617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2年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812280" y="4617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3年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138160" y="4617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4年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9464040" y="4617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5年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0789920" y="4617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6年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291840" y="4572000"/>
            <a:ext cx="7955280" cy="0"/>
          </a:xfrm>
          <a:prstGeom prst="line">
            <a:avLst/>
          </a:prstGeom>
          <a:noFill/>
          <a:ln w="19050">
            <a:solidFill>
              <a:srgbClr val="8A979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生活のことば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2331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（生活言語）</a:t>
            </a:r>
            <a:endParaRPr lang="en-US" sz="1700" dirty="0"/>
          </a:p>
        </p:txBody>
      </p:sp>
      <p:sp>
        <p:nvSpPr>
          <p:cNvPr id="15" name="bar-bics"/>
          <p:cNvSpPr/>
          <p:nvPr/>
        </p:nvSpPr>
        <p:spPr>
          <a:xfrm>
            <a:off x="3291840" y="1874520"/>
            <a:ext cx="2651760" cy="777240"/>
          </a:xfrm>
          <a:prstGeom prst="roundRect">
            <a:avLst>
              <a:gd name="adj" fmla="val 1176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1～2年で身につく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6172200" y="18288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「おはよう」「トイレに行きたい」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「いっしょに遊ぼう」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3291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学習のことば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3749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（学習言語）</a:t>
            </a:r>
            <a:endParaRPr lang="en-US" sz="1700" dirty="0"/>
          </a:p>
        </p:txBody>
      </p:sp>
      <p:sp>
        <p:nvSpPr>
          <p:cNvPr id="19" name="bar-calp"/>
          <p:cNvSpPr/>
          <p:nvPr/>
        </p:nvSpPr>
        <p:spPr>
          <a:xfrm>
            <a:off x="3291840" y="3291840"/>
            <a:ext cx="6629400" cy="777240"/>
          </a:xfrm>
          <a:prstGeom prst="roundRect">
            <a:avLst>
              <a:gd name="adj" fmla="val 1176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5年以上かかる</a:t>
            </a:r>
            <a:endParaRPr lang="en-US" sz="2000" dirty="0"/>
          </a:p>
        </p:txBody>
      </p:sp>
      <p:sp>
        <p:nvSpPr>
          <p:cNvPr id="20" name="bar-calp-arrow"/>
          <p:cNvSpPr/>
          <p:nvPr/>
        </p:nvSpPr>
        <p:spPr>
          <a:xfrm>
            <a:off x="9966960" y="3429000"/>
            <a:ext cx="822960" cy="5029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3291840" y="285292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「支える」「比べる」「理由を説明しましょう」</a:t>
            </a:r>
            <a:endParaRPr lang="en-US" sz="1800" dirty="0"/>
          </a:p>
        </p:txBody>
      </p:sp>
      <p:sp>
        <p:nvSpPr>
          <p:cNvPr id="22" name="message"/>
          <p:cNvSpPr/>
          <p:nvPr/>
        </p:nvSpPr>
        <p:spPr>
          <a:xfrm>
            <a:off x="548640" y="5166360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FBE6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会話ができると「もう大丈夫」に見えてしまい、困りごとが見えにくくなります</a:t>
            </a:r>
            <a:endParaRPr lang="en-US" sz="21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59893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参考：カミンズ（J. Cummins）の言語発達モデル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事例①　同じ2年生でも、困りごとは違います</a:t>
            </a:r>
            <a:endParaRPr lang="en-US" sz="3200" dirty="0"/>
          </a:p>
        </p:txBody>
      </p:sp>
      <p:sp>
        <p:nvSpPr>
          <p:cNvPr id="3" name="section-tag"/>
          <p:cNvSpPr/>
          <p:nvPr/>
        </p:nvSpPr>
        <p:spPr>
          <a:xfrm>
            <a:off x="548640" y="256032"/>
            <a:ext cx="3566160" cy="384048"/>
          </a:xfrm>
          <a:prstGeom prst="roundRect">
            <a:avLst>
              <a:gd name="adj" fmla="val 4761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２ 学校から見える現状と課題</a:t>
            </a:r>
            <a:endParaRPr lang="en-US" sz="1500" dirty="0"/>
          </a:p>
        </p:txBody>
      </p:sp>
      <p:sp>
        <p:nvSpPr>
          <p:cNvPr id="5" name="case-card-0"/>
          <p:cNvSpPr/>
          <p:nvPr/>
        </p:nvSpPr>
        <p:spPr>
          <a:xfrm>
            <a:off x="548640" y="1737360"/>
            <a:ext cx="5440680" cy="4160520"/>
          </a:xfrm>
          <a:prstGeom prst="roundRect">
            <a:avLst>
              <a:gd name="adj" fmla="val 2637"/>
            </a:avLst>
          </a:prstGeom>
          <a:solidFill>
            <a:schemeClr val="bg2"/>
          </a:solidFill>
          <a:ln/>
        </p:spPr>
      </p:sp>
      <p:pic>
        <p:nvPicPr>
          <p:cNvPr id="6" name="Image 0" descr="2年生 男児Aのイラスト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1417320" cy="1417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788920" y="1965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2年生 男児A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2788920" y="24688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スリランカ国籍・来日7か月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家庭ではシンハラ語と英語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3611880"/>
            <a:ext cx="4937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あいさつ・トイレは言える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ひらがなの読み書きはまだ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音読できても、意味が分からない</a:t>
            </a:r>
            <a:endParaRPr lang="en-US" sz="1900" dirty="0"/>
          </a:p>
        </p:txBody>
      </p:sp>
      <p:sp>
        <p:nvSpPr>
          <p:cNvPr id="10" name="case-card-1"/>
          <p:cNvSpPr/>
          <p:nvPr/>
        </p:nvSpPr>
        <p:spPr>
          <a:xfrm>
            <a:off x="6172200" y="1737360"/>
            <a:ext cx="5440680" cy="4160520"/>
          </a:xfrm>
          <a:prstGeom prst="roundRect">
            <a:avLst>
              <a:gd name="adj" fmla="val 2637"/>
            </a:avLst>
          </a:prstGeom>
          <a:solidFill>
            <a:schemeClr val="bg2"/>
          </a:solidFill>
          <a:ln/>
        </p:spPr>
      </p:sp>
      <p:pic>
        <p:nvPicPr>
          <p:cNvPr id="11" name="Image 1" descr="2年生 男児Bのイラスト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965960"/>
            <a:ext cx="1755648" cy="1417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412480" y="1965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2年生 男児B</a:t>
            </a:r>
            <a:endParaRPr lang="en-US" sz="2400" dirty="0"/>
          </a:p>
        </p:txBody>
      </p:sp>
      <p:sp>
        <p:nvSpPr>
          <p:cNvPr id="13" name="Text 8"/>
          <p:cNvSpPr txBox="1"/>
          <p:nvPr/>
        </p:nvSpPr>
        <p:spPr>
          <a:xfrm>
            <a:off x="8412480" y="24688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韓国籍・来日5年以上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日本語指導を受けたことはない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6446520" y="3611880"/>
            <a:ext cx="4937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おしゃべりは得意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ひらがな・カタカナは書ける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作文や発表になると、手が止まる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6355080" y="5257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「書いたことが分からなくなっちゃった…」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822960" y="5257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「この言葉、どういう意味？」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548640" y="59893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光が丘春の風小学校の実践より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事例②　「会話はできる」その先でつまずく</a:t>
            </a:r>
            <a:endParaRPr lang="en-US" sz="3200" dirty="0"/>
          </a:p>
        </p:txBody>
      </p:sp>
      <p:sp>
        <p:nvSpPr>
          <p:cNvPr id="3" name="section-tag"/>
          <p:cNvSpPr/>
          <p:nvPr/>
        </p:nvSpPr>
        <p:spPr>
          <a:xfrm>
            <a:off x="548640" y="256032"/>
            <a:ext cx="3566160" cy="384048"/>
          </a:xfrm>
          <a:prstGeom prst="roundRect">
            <a:avLst>
              <a:gd name="adj" fmla="val 4761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２ 学校から見える現状と課題</a:t>
            </a:r>
            <a:endParaRPr lang="en-US" sz="1500" dirty="0"/>
          </a:p>
        </p:txBody>
      </p:sp>
      <p:sp>
        <p:nvSpPr>
          <p:cNvPr id="5" name="case2-card-0"/>
          <p:cNvSpPr/>
          <p:nvPr/>
        </p:nvSpPr>
        <p:spPr>
          <a:xfrm>
            <a:off x="548640" y="1737360"/>
            <a:ext cx="3520440" cy="3337560"/>
          </a:xfrm>
          <a:prstGeom prst="roundRect">
            <a:avLst>
              <a:gd name="adj" fmla="val 3288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19019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小学5年生　Aさん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小3で来日。家庭では中国語。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0040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会話はできるが、授業の指示や説明が分からない。話合いに参加できない。</a:t>
            </a:r>
            <a:endParaRPr lang="en-US" sz="1900" dirty="0"/>
          </a:p>
        </p:txBody>
      </p:sp>
      <p:sp>
        <p:nvSpPr>
          <p:cNvPr id="9" name="case2-card-1"/>
          <p:cNvSpPr/>
          <p:nvPr/>
        </p:nvSpPr>
        <p:spPr>
          <a:xfrm>
            <a:off x="4297680" y="1737360"/>
            <a:ext cx="3520440" cy="3337560"/>
          </a:xfrm>
          <a:prstGeom prst="roundRect">
            <a:avLst>
              <a:gd name="adj" fmla="val 3288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19019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5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中学2年生　Bさん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24231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1学年下に転入。保護者は日本語が片言。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4572000" y="320040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定期テストは10～20点台。授業の説明が理解できない。</a:t>
            </a:r>
            <a:endParaRPr lang="en-US" sz="1900" dirty="0"/>
          </a:p>
        </p:txBody>
      </p:sp>
      <p:sp>
        <p:nvSpPr>
          <p:cNvPr id="13" name="case2-card-2"/>
          <p:cNvSpPr/>
          <p:nvPr/>
        </p:nvSpPr>
        <p:spPr>
          <a:xfrm>
            <a:off x="8046720" y="1737360"/>
            <a:ext cx="3520440" cy="3337560"/>
          </a:xfrm>
          <a:prstGeom prst="roundRect">
            <a:avLst>
              <a:gd name="adj" fmla="val 3288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321040" y="19019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中学3年生　Dさん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8321040" y="24231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中3の1学期に来日。英語は得意。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8321040" y="320040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読み書きに苦労し、高校受験に失敗。区外のフリースクールで再挑戦。</a:t>
            </a:r>
            <a:endParaRPr lang="en-US" sz="1900" dirty="0"/>
          </a:p>
        </p:txBody>
      </p:sp>
      <p:sp>
        <p:nvSpPr>
          <p:cNvPr id="17" name="message"/>
          <p:cNvSpPr/>
          <p:nvPr/>
        </p:nvSpPr>
        <p:spPr>
          <a:xfrm>
            <a:off x="548640" y="5257800"/>
            <a:ext cx="11064240" cy="640080"/>
          </a:xfrm>
          <a:prstGeom prst="roundRect">
            <a:avLst>
              <a:gd name="adj" fmla="val 17143"/>
            </a:avLst>
          </a:prstGeom>
          <a:solidFill>
            <a:srgbClr val="FBE6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生活には困らなくても、学習のことばまで届かず、希望する進路に進むのが難しい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9893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出典：練馬区教育振興部資料（校長からの聞き取り）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進学・就職にも大きな差があります</a:t>
            </a:r>
            <a:endParaRPr lang="en-US" sz="3200" dirty="0"/>
          </a:p>
        </p:txBody>
      </p:sp>
      <p:sp>
        <p:nvSpPr>
          <p:cNvPr id="3" name="section-tag"/>
          <p:cNvSpPr/>
          <p:nvPr/>
        </p:nvSpPr>
        <p:spPr>
          <a:xfrm>
            <a:off x="548640" y="256032"/>
            <a:ext cx="3566160" cy="384048"/>
          </a:xfrm>
          <a:prstGeom prst="roundRect">
            <a:avLst>
              <a:gd name="adj" fmla="val 4761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２ 学校から見える現状と課題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45920"/>
          <a:ext cx="73152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allout-dropout"/>
          <p:cNvSpPr/>
          <p:nvPr/>
        </p:nvSpPr>
        <p:spPr>
          <a:xfrm>
            <a:off x="8229600" y="1783080"/>
            <a:ext cx="3429000" cy="2011680"/>
          </a:xfrm>
          <a:prstGeom prst="roundRect">
            <a:avLst>
              <a:gd name="adj" fmla="val 5455"/>
            </a:avLst>
          </a:prstGeom>
          <a:solidFill>
            <a:srgbClr val="FBE6EC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8503920" y="19202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高校の中退率</a:t>
            </a:r>
            <a:endParaRPr lang="en-US" sz="1900" dirty="0"/>
          </a:p>
        </p:txBody>
      </p:sp>
      <p:sp>
        <p:nvSpPr>
          <p:cNvPr id="8" name="Text 4"/>
          <p:cNvSpPr txBox="1"/>
          <p:nvPr/>
        </p:nvSpPr>
        <p:spPr>
          <a:xfrm>
            <a:off x="8503920" y="23317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6.4％</a:t>
            </a:r>
            <a:endParaRPr lang="en-US" sz="4800" dirty="0"/>
          </a:p>
        </p:txBody>
      </p:sp>
      <p:sp>
        <p:nvSpPr>
          <p:cNvPr id="9" name="Text 5"/>
          <p:cNvSpPr txBox="1"/>
          <p:nvPr/>
        </p:nvSpPr>
        <p:spPr>
          <a:xfrm>
            <a:off x="8503920" y="3154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全体（約1％）の約6倍</a:t>
            </a:r>
            <a:endParaRPr lang="en-US" sz="1700" dirty="0"/>
          </a:p>
        </p:txBody>
      </p:sp>
      <p:sp>
        <p:nvSpPr>
          <p:cNvPr id="10" name="callout-message"/>
          <p:cNvSpPr/>
          <p:nvPr/>
        </p:nvSpPr>
        <p:spPr>
          <a:xfrm>
            <a:off x="8229600" y="3977640"/>
            <a:ext cx="342900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8503920" y="4114800"/>
            <a:ext cx="2971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小中学校で学ぶ力をつけることが、将来の選択肢を広げます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59893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出典：文部科学省「日本語指導が必要な児童生徒の受入状況等に関する調査（令和7年度）」ほか（全国の数値）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子どもの声　―「気づいてくれた先生」</a:t>
            </a:r>
            <a:endParaRPr lang="en-US" sz="3200" dirty="0"/>
          </a:p>
        </p:txBody>
      </p:sp>
      <p:sp>
        <p:nvSpPr>
          <p:cNvPr id="3" name="section-tag"/>
          <p:cNvSpPr/>
          <p:nvPr/>
        </p:nvSpPr>
        <p:spPr>
          <a:xfrm>
            <a:off x="548640" y="256032"/>
            <a:ext cx="3566160" cy="384048"/>
          </a:xfrm>
          <a:prstGeom prst="roundRect">
            <a:avLst>
              <a:gd name="adj" fmla="val 4761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２ 学校から見える現状と課題</a:t>
            </a:r>
            <a:endParaRPr lang="en-US" sz="1500" dirty="0"/>
          </a:p>
        </p:txBody>
      </p:sp>
      <p:sp>
        <p:nvSpPr>
          <p:cNvPr id="5" name="quote-card"/>
          <p:cNvSpPr/>
          <p:nvPr/>
        </p:nvSpPr>
        <p:spPr>
          <a:xfrm>
            <a:off x="548640" y="1737360"/>
            <a:ext cx="7498080" cy="41148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20240"/>
            <a:ext cx="548640" cy="5486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54480" y="1965960"/>
            <a:ext cx="6217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小学一年生の時、毎日のように泣いていました。日本語が分からなくて、気持ちを伝えられないのがもどかしかった…</a:t>
            </a:r>
            <a:endParaRPr lang="en-US" sz="20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三年生の時、担任の先生が、私が何に困っているかに気づき、日本語の教室で勉強するのをすすめてくれました。</a:t>
            </a:r>
            <a:endParaRPr lang="en-US" sz="20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tx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自分の気持ちを自分の言葉で伝えて、たくさんの人とつながりたいです。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1554480" y="521208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― 中学生の作文「私と日本語」より（一部抜粋）</a:t>
            </a:r>
            <a:endParaRPr lang="en-US" sz="1600" dirty="0"/>
          </a:p>
        </p:txBody>
      </p:sp>
      <p:sp>
        <p:nvSpPr>
          <p:cNvPr id="9" name="icon-circle"/>
          <p:cNvSpPr/>
          <p:nvPr/>
        </p:nvSpPr>
        <p:spPr>
          <a:xfrm>
            <a:off x="8732520" y="1828800"/>
            <a:ext cx="2103120" cy="21031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2286000"/>
            <a:ext cx="1188720" cy="11887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229600" y="411480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tx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身近な大人が</a:t>
            </a:r>
            <a:endParaRPr lang="en-US" sz="2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tx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「気づく」ことが</a:t>
            </a:r>
            <a:endParaRPr lang="en-US" sz="2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tx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支援の第一歩</a:t>
            </a:r>
            <a:endParaRPr lang="en-US" sz="24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59893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出典：齋藤ひろみ（東京学芸大学）令和8年度 練馬区日本語指導担当教員研修会資料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家庭・保護者にも、さまざまな困りごとがあります</a:t>
            </a:r>
            <a:endParaRPr lang="en-US" sz="3200" dirty="0"/>
          </a:p>
        </p:txBody>
      </p:sp>
      <p:sp>
        <p:nvSpPr>
          <p:cNvPr id="3" name="section-tag"/>
          <p:cNvSpPr/>
          <p:nvPr/>
        </p:nvSpPr>
        <p:spPr>
          <a:xfrm>
            <a:off x="548640" y="256032"/>
            <a:ext cx="3566160" cy="384048"/>
          </a:xfrm>
          <a:prstGeom prst="roundRect">
            <a:avLst>
              <a:gd name="adj" fmla="val 4761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２ 学校から見える現状と課題</a:t>
            </a:r>
            <a:endParaRPr lang="en-US" sz="1500" dirty="0"/>
          </a:p>
        </p:txBody>
      </p:sp>
      <p:sp>
        <p:nvSpPr>
          <p:cNvPr id="5" name="family-card-0"/>
          <p:cNvSpPr/>
          <p:nvPr/>
        </p:nvSpPr>
        <p:spPr>
          <a:xfrm>
            <a:off x="548640" y="1737360"/>
            <a:ext cx="352044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6" name="icon-circle"/>
          <p:cNvSpPr/>
          <p:nvPr/>
        </p:nvSpPr>
        <p:spPr>
          <a:xfrm>
            <a:off x="777240" y="201168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205990"/>
            <a:ext cx="388620" cy="3886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965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お便りが読めない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1737360" y="24688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提出物や持ち物の連絡が伝わりにくい</a:t>
            </a:r>
            <a:endParaRPr lang="en-US" sz="1600" dirty="0"/>
          </a:p>
        </p:txBody>
      </p:sp>
      <p:sp>
        <p:nvSpPr>
          <p:cNvPr id="10" name="family-card-1"/>
          <p:cNvSpPr/>
          <p:nvPr/>
        </p:nvSpPr>
        <p:spPr>
          <a:xfrm>
            <a:off x="4297680" y="1737360"/>
            <a:ext cx="352044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11" name="icon-circle"/>
          <p:cNvSpPr/>
          <p:nvPr/>
        </p:nvSpPr>
        <p:spPr>
          <a:xfrm>
            <a:off x="4526280" y="201168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0590" y="2205990"/>
            <a:ext cx="388620" cy="3886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486400" y="1965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習慣の違い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5486400" y="24688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持ち物・行事・給食・着替えなどに戸惑う</a:t>
            </a:r>
            <a:endParaRPr lang="en-US" sz="1600" dirty="0"/>
          </a:p>
        </p:txBody>
      </p:sp>
      <p:sp>
        <p:nvSpPr>
          <p:cNvPr id="15" name="family-card-2"/>
          <p:cNvSpPr/>
          <p:nvPr/>
        </p:nvSpPr>
        <p:spPr>
          <a:xfrm>
            <a:off x="8046720" y="1737360"/>
            <a:ext cx="352044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16" name="icon-circle"/>
          <p:cNvSpPr/>
          <p:nvPr/>
        </p:nvSpPr>
        <p:spPr>
          <a:xfrm>
            <a:off x="8275320" y="201168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9630" y="2205990"/>
            <a:ext cx="388620" cy="3886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235440" y="1965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話が通じにくい</a:t>
            </a:r>
            <a:endParaRPr lang="en-US" sz="2000" dirty="0"/>
          </a:p>
        </p:txBody>
      </p:sp>
      <p:sp>
        <p:nvSpPr>
          <p:cNvPr id="19" name="Text 13"/>
          <p:cNvSpPr txBox="1"/>
          <p:nvPr/>
        </p:nvSpPr>
        <p:spPr>
          <a:xfrm>
            <a:off x="9235440" y="24688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面談や電話で、通訳がないと話が難しい</a:t>
            </a:r>
            <a:endParaRPr lang="en-US" sz="1600" dirty="0"/>
          </a:p>
        </p:txBody>
      </p:sp>
      <p:sp>
        <p:nvSpPr>
          <p:cNvPr id="20" name="family-card-3"/>
          <p:cNvSpPr/>
          <p:nvPr/>
        </p:nvSpPr>
        <p:spPr>
          <a:xfrm>
            <a:off x="548640" y="3611880"/>
            <a:ext cx="352044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21" name="icon-circle"/>
          <p:cNvSpPr/>
          <p:nvPr/>
        </p:nvSpPr>
        <p:spPr>
          <a:xfrm>
            <a:off x="777240" y="388620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" y="4080510"/>
            <a:ext cx="388620" cy="38862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737360" y="38404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親子の言葉のずれ</a:t>
            </a:r>
            <a:endParaRPr lang="en-US" sz="2000" dirty="0"/>
          </a:p>
        </p:txBody>
      </p:sp>
      <p:sp>
        <p:nvSpPr>
          <p:cNvPr id="24" name="Text 17"/>
          <p:cNvSpPr txBox="1"/>
          <p:nvPr/>
        </p:nvSpPr>
        <p:spPr>
          <a:xfrm>
            <a:off x="1737360" y="43434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子は日本語、親は母語。親子の会話が減る</a:t>
            </a:r>
            <a:endParaRPr lang="en-US" sz="1600" dirty="0"/>
          </a:p>
        </p:txBody>
      </p:sp>
      <p:sp>
        <p:nvSpPr>
          <p:cNvPr id="25" name="family-card-4"/>
          <p:cNvSpPr/>
          <p:nvPr/>
        </p:nvSpPr>
        <p:spPr>
          <a:xfrm>
            <a:off x="4297680" y="3611880"/>
            <a:ext cx="352044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26" name="icon-circle"/>
          <p:cNvSpPr/>
          <p:nvPr/>
        </p:nvSpPr>
        <p:spPr>
          <a:xfrm>
            <a:off x="4526280" y="388620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0590" y="4080510"/>
            <a:ext cx="388620" cy="38862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486400" y="38404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休みがちになる</a:t>
            </a:r>
            <a:endParaRPr lang="en-US" sz="2000" dirty="0"/>
          </a:p>
        </p:txBody>
      </p:sp>
      <p:sp>
        <p:nvSpPr>
          <p:cNvPr id="29" name="Text 21"/>
          <p:cNvSpPr txBox="1"/>
          <p:nvPr/>
        </p:nvSpPr>
        <p:spPr>
          <a:xfrm>
            <a:off x="5486400" y="43434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仕事や家庭の事情で、学校を休むことも</a:t>
            </a:r>
            <a:endParaRPr lang="en-US" sz="1600" dirty="0"/>
          </a:p>
        </p:txBody>
      </p:sp>
      <p:sp>
        <p:nvSpPr>
          <p:cNvPr id="30" name="family-card-5"/>
          <p:cNvSpPr/>
          <p:nvPr/>
        </p:nvSpPr>
        <p:spPr>
          <a:xfrm>
            <a:off x="8046720" y="3611880"/>
            <a:ext cx="352044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31" name="icon-circle"/>
          <p:cNvSpPr/>
          <p:nvPr/>
        </p:nvSpPr>
        <p:spPr>
          <a:xfrm>
            <a:off x="8275320" y="388620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9630" y="4080510"/>
            <a:ext cx="388620" cy="38862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9235440" y="38404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地域での孤立</a:t>
            </a:r>
            <a:endParaRPr lang="en-US" sz="2000" dirty="0"/>
          </a:p>
        </p:txBody>
      </p:sp>
      <p:sp>
        <p:nvSpPr>
          <p:cNvPr id="34" name="Text 25"/>
          <p:cNvSpPr txBox="1"/>
          <p:nvPr/>
        </p:nvSpPr>
        <p:spPr>
          <a:xfrm>
            <a:off x="9235440" y="43434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身近に相談できる人がいない</a:t>
            </a:r>
            <a:endParaRPr lang="en-US" sz="1600" dirty="0"/>
          </a:p>
        </p:txBody>
      </p:sp>
      <p:sp>
        <p:nvSpPr>
          <p:cNvPr id="35" name="Text 26"/>
          <p:cNvSpPr txBox="1"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accent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子どもの困りごとの背景に、家庭の困りごとがあることも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入学までの流れ ― 最初の出会いを大切に</a:t>
            </a:r>
            <a:endParaRPr lang="en-US" sz="3200" dirty="0"/>
          </a:p>
        </p:txBody>
      </p:sp>
      <p:sp>
        <p:nvSpPr>
          <p:cNvPr id="3" name="section-tag"/>
          <p:cNvSpPr/>
          <p:nvPr/>
        </p:nvSpPr>
        <p:spPr>
          <a:xfrm>
            <a:off x="548640" y="256032"/>
            <a:ext cx="2743200" cy="384048"/>
          </a:xfrm>
          <a:prstGeom prst="roundRect">
            <a:avLst>
              <a:gd name="adj" fmla="val 47619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３ 支援の制度と取組</a:t>
            </a:r>
            <a:endParaRPr lang="en-US" sz="1500" dirty="0"/>
          </a:p>
        </p:txBody>
      </p:sp>
      <p:sp>
        <p:nvSpPr>
          <p:cNvPr id="5" name="step-0"/>
          <p:cNvSpPr/>
          <p:nvPr/>
        </p:nvSpPr>
        <p:spPr>
          <a:xfrm>
            <a:off x="548640" y="1783080"/>
            <a:ext cx="2103120" cy="868680"/>
          </a:xfrm>
          <a:prstGeom prst="homePlate">
            <a:avLst/>
          </a:prstGeom>
          <a:solidFill>
            <a:schemeClr val="accent4"/>
          </a:solidFill>
          <a:ln/>
        </p:spPr>
        <p:txBody>
          <a:bodyPr wrap="square" lIns="0" tIns="177800" rIns="5080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来日・転入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8892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区役所で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転入の手続き</a:t>
            </a:r>
            <a:endParaRPr lang="en-US" sz="1700" dirty="0"/>
          </a:p>
        </p:txBody>
      </p:sp>
      <p:sp>
        <p:nvSpPr>
          <p:cNvPr id="7" name="step-1"/>
          <p:cNvSpPr/>
          <p:nvPr/>
        </p:nvSpPr>
        <p:spPr>
          <a:xfrm>
            <a:off x="2788920" y="1783080"/>
            <a:ext cx="2103120" cy="868680"/>
          </a:xfrm>
          <a:prstGeom prst="chevron">
            <a:avLst/>
          </a:prstGeom>
          <a:solidFill>
            <a:schemeClr val="accent4"/>
          </a:solidFill>
          <a:ln/>
        </p:spPr>
        <p:txBody>
          <a:bodyPr wrap="square" lIns="0" tIns="177800" rIns="5080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就学の案内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2880360" y="278892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区役所の学務課が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通う学校を案内</a:t>
            </a:r>
            <a:endParaRPr lang="en-US" sz="1700" dirty="0"/>
          </a:p>
        </p:txBody>
      </p:sp>
      <p:sp>
        <p:nvSpPr>
          <p:cNvPr id="9" name="step-2"/>
          <p:cNvSpPr/>
          <p:nvPr/>
        </p:nvSpPr>
        <p:spPr>
          <a:xfrm>
            <a:off x="5029200" y="1783080"/>
            <a:ext cx="2103120" cy="868680"/>
          </a:xfrm>
          <a:prstGeom prst="chevron">
            <a:avLst/>
          </a:prstGeom>
          <a:solidFill>
            <a:schemeClr val="accent4"/>
          </a:solidFill>
          <a:ln/>
        </p:spPr>
        <p:txBody>
          <a:bodyPr wrap="square" lIns="0" tIns="177800" rIns="5080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カード記入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5120640" y="278892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日本語・英語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併記のカード</a:t>
            </a:r>
            <a:endParaRPr lang="en-US" sz="1700" dirty="0"/>
          </a:p>
        </p:txBody>
      </p:sp>
      <p:sp>
        <p:nvSpPr>
          <p:cNvPr id="11" name="step-3"/>
          <p:cNvSpPr/>
          <p:nvPr/>
        </p:nvSpPr>
        <p:spPr>
          <a:xfrm>
            <a:off x="7269480" y="1783080"/>
            <a:ext cx="2103120" cy="868680"/>
          </a:xfrm>
          <a:prstGeom prst="chevron">
            <a:avLst/>
          </a:prstGeom>
          <a:solidFill>
            <a:schemeClr val="accent4"/>
          </a:solidFill>
          <a:ln/>
        </p:spPr>
        <p:txBody>
          <a:bodyPr wrap="square" lIns="0" tIns="177800" rIns="5080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学校で面談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7360920" y="278892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通訳や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AI通訳機を活用</a:t>
            </a:r>
            <a:endParaRPr lang="en-US" sz="1700" dirty="0"/>
          </a:p>
        </p:txBody>
      </p:sp>
      <p:sp>
        <p:nvSpPr>
          <p:cNvPr id="13" name="step-4"/>
          <p:cNvSpPr/>
          <p:nvPr/>
        </p:nvSpPr>
        <p:spPr>
          <a:xfrm>
            <a:off x="9509760" y="1783080"/>
            <a:ext cx="2103120" cy="868680"/>
          </a:xfrm>
          <a:prstGeom prst="chevron">
            <a:avLst/>
          </a:prstGeom>
          <a:solidFill>
            <a:schemeClr val="accent2"/>
          </a:solidFill>
          <a:ln/>
        </p:spPr>
        <p:txBody>
          <a:bodyPr wrap="square" lIns="0" tIns="177800" rIns="5080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入学・支援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9601200" y="278892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一人一人に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合わせた支援へ</a:t>
            </a:r>
            <a:endParaRPr lang="en-US" sz="1700" dirty="0"/>
          </a:p>
        </p:txBody>
      </p:sp>
      <p:sp>
        <p:nvSpPr>
          <p:cNvPr id="15" name="card-neighbor"/>
          <p:cNvSpPr/>
          <p:nvPr/>
        </p:nvSpPr>
        <p:spPr>
          <a:xfrm>
            <a:off x="548640" y="3931920"/>
            <a:ext cx="110642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251960"/>
            <a:ext cx="1188720" cy="118872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377440" y="411480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受け入れカードには、こんな欄があります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2377440" y="4526280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「ご近所に、日本語がわかる知人はいますか？」</a:t>
            </a:r>
            <a:endParaRPr lang="en-US" sz="2800" dirty="0"/>
          </a:p>
        </p:txBody>
      </p:sp>
      <p:sp>
        <p:nvSpPr>
          <p:cNvPr id="19" name="Text 15"/>
          <p:cNvSpPr txBox="1"/>
          <p:nvPr/>
        </p:nvSpPr>
        <p:spPr>
          <a:xfrm>
            <a:off x="2377440" y="516636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地域のつながりが、家庭の大きな支えになります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区と学校の主な支援メニュー</a:t>
            </a:r>
            <a:endParaRPr lang="en-US" sz="3200" dirty="0"/>
          </a:p>
        </p:txBody>
      </p:sp>
      <p:sp>
        <p:nvSpPr>
          <p:cNvPr id="3" name="section-tag"/>
          <p:cNvSpPr/>
          <p:nvPr/>
        </p:nvSpPr>
        <p:spPr>
          <a:xfrm>
            <a:off x="548640" y="256032"/>
            <a:ext cx="2743200" cy="384048"/>
          </a:xfrm>
          <a:prstGeom prst="roundRect">
            <a:avLst>
              <a:gd name="adj" fmla="val 47619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３ 支援の制度と取組</a:t>
            </a:r>
            <a:endParaRPr lang="en-US" sz="1500" dirty="0"/>
          </a:p>
        </p:txBody>
      </p:sp>
      <p:sp>
        <p:nvSpPr>
          <p:cNvPr id="5" name="menu-card-0"/>
          <p:cNvSpPr/>
          <p:nvPr/>
        </p:nvSpPr>
        <p:spPr>
          <a:xfrm>
            <a:off x="548640" y="1691640"/>
            <a:ext cx="35204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6" name="icon-circle"/>
          <p:cNvSpPr/>
          <p:nvPr/>
        </p:nvSpPr>
        <p:spPr>
          <a:xfrm>
            <a:off x="777240" y="19202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03120"/>
            <a:ext cx="365760" cy="3657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45920" y="1874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日本語指導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講師の派遣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7432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資格をもつ講師が学校で1対1の指導。指導時間を順次拡充</a:t>
            </a:r>
            <a:endParaRPr lang="en-US" sz="1600" dirty="0"/>
          </a:p>
        </p:txBody>
      </p:sp>
      <p:sp>
        <p:nvSpPr>
          <p:cNvPr id="10" name="menu-card-1"/>
          <p:cNvSpPr/>
          <p:nvPr/>
        </p:nvSpPr>
        <p:spPr>
          <a:xfrm>
            <a:off x="4297680" y="1691640"/>
            <a:ext cx="35204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1" name="icon-circle"/>
          <p:cNvSpPr/>
          <p:nvPr/>
        </p:nvSpPr>
        <p:spPr>
          <a:xfrm>
            <a:off x="4526280" y="192024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10312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394960" y="1874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日本語指導教室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日本語学級</a:t>
            </a:r>
            <a:endParaRPr lang="en-US" sz="1900" dirty="0"/>
          </a:p>
        </p:txBody>
      </p:sp>
      <p:sp>
        <p:nvSpPr>
          <p:cNvPr id="14" name="Text 9"/>
          <p:cNvSpPr txBox="1"/>
          <p:nvPr/>
        </p:nvSpPr>
        <p:spPr>
          <a:xfrm>
            <a:off x="4526280" y="27432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正規の教員が専門的に指導。光が丘春の風小で実施中、光が丘第二中に開設予定</a:t>
            </a:r>
            <a:endParaRPr lang="en-US" sz="1600" dirty="0"/>
          </a:p>
        </p:txBody>
      </p:sp>
      <p:sp>
        <p:nvSpPr>
          <p:cNvPr id="15" name="menu-card-2"/>
          <p:cNvSpPr/>
          <p:nvPr/>
        </p:nvSpPr>
        <p:spPr>
          <a:xfrm>
            <a:off x="8046720" y="1691640"/>
            <a:ext cx="35204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6" name="icon-circle"/>
          <p:cNvSpPr/>
          <p:nvPr/>
        </p:nvSpPr>
        <p:spPr>
          <a:xfrm>
            <a:off x="8275320" y="192024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10312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144000" y="1874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AI通訳機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ポケトーク</a:t>
            </a:r>
            <a:endParaRPr lang="en-US" sz="1900" dirty="0"/>
          </a:p>
        </p:txBody>
      </p:sp>
      <p:sp>
        <p:nvSpPr>
          <p:cNvPr id="19" name="Text 13"/>
          <p:cNvSpPr txBox="1"/>
          <p:nvPr/>
        </p:nvSpPr>
        <p:spPr>
          <a:xfrm>
            <a:off x="8275320" y="27432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全小中学校に2台ずつ。授業を翻訳表示する仕組みも24校に</a:t>
            </a:r>
            <a:endParaRPr lang="en-US" sz="1600" dirty="0"/>
          </a:p>
        </p:txBody>
      </p:sp>
      <p:sp>
        <p:nvSpPr>
          <p:cNvPr id="20" name="menu-card-3"/>
          <p:cNvSpPr/>
          <p:nvPr/>
        </p:nvSpPr>
        <p:spPr>
          <a:xfrm>
            <a:off x="548640" y="3886200"/>
            <a:ext cx="35204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1" name="icon-circle"/>
          <p:cNvSpPr/>
          <p:nvPr/>
        </p:nvSpPr>
        <p:spPr>
          <a:xfrm>
            <a:off x="777240" y="411480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297680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645920" y="40690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東京都の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モデル事業</a:t>
            </a:r>
            <a:endParaRPr lang="en-US" sz="1900" dirty="0"/>
          </a:p>
        </p:txBody>
      </p:sp>
      <p:sp>
        <p:nvSpPr>
          <p:cNvPr id="24" name="Text 17"/>
          <p:cNvSpPr txBox="1"/>
          <p:nvPr/>
        </p:nvSpPr>
        <p:spPr>
          <a:xfrm>
            <a:off x="777240" y="49377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入学前日本語教室、来日直後の集中講座など（光が丘春の風小）</a:t>
            </a:r>
            <a:endParaRPr lang="en-US" sz="1600" dirty="0"/>
          </a:p>
        </p:txBody>
      </p:sp>
      <p:sp>
        <p:nvSpPr>
          <p:cNvPr id="25" name="menu-card-4"/>
          <p:cNvSpPr/>
          <p:nvPr/>
        </p:nvSpPr>
        <p:spPr>
          <a:xfrm>
            <a:off x="4297680" y="3886200"/>
            <a:ext cx="35204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6" name="icon-circle"/>
          <p:cNvSpPr/>
          <p:nvPr/>
        </p:nvSpPr>
        <p:spPr>
          <a:xfrm>
            <a:off x="4526280" y="411480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4297680"/>
            <a:ext cx="365760" cy="36576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394960" y="40690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一人一人の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指導計画</a:t>
            </a:r>
            <a:endParaRPr lang="en-US" sz="1900" dirty="0"/>
          </a:p>
        </p:txBody>
      </p:sp>
      <p:sp>
        <p:nvSpPr>
          <p:cNvPr id="29" name="Text 21"/>
          <p:cNvSpPr txBox="1"/>
          <p:nvPr/>
        </p:nvSpPr>
        <p:spPr>
          <a:xfrm>
            <a:off x="4526280" y="49377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日本語の力を測り、一人一人に合わせた指導計画を作成</a:t>
            </a:r>
            <a:endParaRPr lang="en-US" sz="1600" dirty="0"/>
          </a:p>
        </p:txBody>
      </p:sp>
      <p:sp>
        <p:nvSpPr>
          <p:cNvPr id="30" name="menu-card-5"/>
          <p:cNvSpPr/>
          <p:nvPr/>
        </p:nvSpPr>
        <p:spPr>
          <a:xfrm>
            <a:off x="8046720" y="3886200"/>
            <a:ext cx="35204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31" name="icon-circle"/>
          <p:cNvSpPr/>
          <p:nvPr/>
        </p:nvSpPr>
        <p:spPr>
          <a:xfrm>
            <a:off x="8275320" y="4114800"/>
            <a:ext cx="731520" cy="73152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0" y="4297680"/>
            <a:ext cx="365760" cy="36576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9144000" y="40690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こども日本語教室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（地域）</a:t>
            </a:r>
            <a:endParaRPr lang="en-US" sz="1900" dirty="0"/>
          </a:p>
        </p:txBody>
      </p:sp>
      <p:sp>
        <p:nvSpPr>
          <p:cNvPr id="34" name="Text 25"/>
          <p:cNvSpPr txBox="1"/>
          <p:nvPr/>
        </p:nvSpPr>
        <p:spPr>
          <a:xfrm>
            <a:off x="8275320" y="49377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土曜日に年35回程度、区役所で開催。ボランティアが指導</a:t>
            </a:r>
            <a:endParaRPr lang="en-US" sz="1600" dirty="0"/>
          </a:p>
        </p:txBody>
      </p:sp>
      <p:sp>
        <p:nvSpPr>
          <p:cNvPr id="35" name="Text 26"/>
          <p:cNvSpPr txBox="1"/>
          <p:nvPr/>
        </p:nvSpPr>
        <p:spPr>
          <a:xfrm>
            <a:off x="548640" y="59893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出典：練馬区教育振興部「日本語指導が必要な児童生徒への今後の対応（案）」（令和7年12月）ほか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光が丘春の風小学校「さくらルーム」の取組</a:t>
            </a:r>
            <a:endParaRPr lang="en-US" sz="3200" dirty="0"/>
          </a:p>
        </p:txBody>
      </p:sp>
      <p:sp>
        <p:nvSpPr>
          <p:cNvPr id="3" name="section-tag"/>
          <p:cNvSpPr/>
          <p:nvPr/>
        </p:nvSpPr>
        <p:spPr>
          <a:xfrm>
            <a:off x="548640" y="256032"/>
            <a:ext cx="2743200" cy="384048"/>
          </a:xfrm>
          <a:prstGeom prst="roundRect">
            <a:avLst>
              <a:gd name="adj" fmla="val 47619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３ 支援の制度と取組</a:t>
            </a:r>
            <a:endParaRPr lang="en-US" sz="1500" dirty="0"/>
          </a:p>
        </p:txBody>
      </p:sp>
      <p:pic>
        <p:nvPicPr>
          <p:cNvPr id="5" name="Image 0" descr="絵カードで、ものの名前を覚える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3520440" cy="264261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4407408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絵カードで、ものの名前を覚える</a:t>
            </a:r>
            <a:endParaRPr lang="en-US" sz="1700" dirty="0"/>
          </a:p>
        </p:txBody>
      </p:sp>
      <p:pic>
        <p:nvPicPr>
          <p:cNvPr id="7" name="Image 1" descr="質問カードで、会話の力をつける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691640"/>
            <a:ext cx="3520440" cy="2642616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4297680" y="4407408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質問カードで、会話の力をつける</a:t>
            </a:r>
            <a:endParaRPr lang="en-US" sz="1700" dirty="0"/>
          </a:p>
        </p:txBody>
      </p:sp>
      <p:pic>
        <p:nvPicPr>
          <p:cNvPr id="9" name="Image 2" descr="机の横に掛けるヘルプカード（ひらがな表・九九など）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691640"/>
            <a:ext cx="3520440" cy="2642616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8046720" y="4407408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机の横に掛けるヘルプカード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（ひらがな表・九九など）</a:t>
            </a:r>
            <a:endParaRPr lang="en-US" sz="1700" dirty="0"/>
          </a:p>
        </p:txBody>
      </p:sp>
      <p:sp>
        <p:nvSpPr>
          <p:cNvPr id="11" name="flow-0"/>
          <p:cNvSpPr/>
          <p:nvPr/>
        </p:nvSpPr>
        <p:spPr>
          <a:xfrm>
            <a:off x="548640" y="5257800"/>
            <a:ext cx="3611880" cy="640080"/>
          </a:xfrm>
          <a:prstGeom prst="homePlate">
            <a:avLst/>
          </a:prstGeom>
          <a:solidFill>
            <a:schemeClr val="accent2"/>
          </a:solidFill>
          <a:ln/>
        </p:spPr>
        <p:txBody>
          <a:bodyPr wrap="square" lIns="0" tIns="203200" rIns="5080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サバイバル日本語</a:t>
            </a:r>
            <a:endParaRPr lang="en-US" sz="1800" dirty="0"/>
          </a:p>
        </p:txBody>
      </p:sp>
      <p:sp>
        <p:nvSpPr>
          <p:cNvPr id="12" name="flow-1"/>
          <p:cNvSpPr/>
          <p:nvPr/>
        </p:nvSpPr>
        <p:spPr>
          <a:xfrm>
            <a:off x="4274820" y="5257800"/>
            <a:ext cx="3611880" cy="640080"/>
          </a:xfrm>
          <a:prstGeom prst="chevron">
            <a:avLst/>
          </a:prstGeom>
          <a:solidFill>
            <a:schemeClr val="accent3"/>
          </a:solidFill>
          <a:ln/>
        </p:spPr>
        <p:txBody>
          <a:bodyPr wrap="square" lIns="0" tIns="203200" rIns="5080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ひらがななど日本語の基礎</a:t>
            </a:r>
            <a:endParaRPr lang="en-US" sz="1800" dirty="0"/>
          </a:p>
        </p:txBody>
      </p:sp>
      <p:sp>
        <p:nvSpPr>
          <p:cNvPr id="13" name="flow-2"/>
          <p:cNvSpPr/>
          <p:nvPr/>
        </p:nvSpPr>
        <p:spPr>
          <a:xfrm>
            <a:off x="8001000" y="5257800"/>
            <a:ext cx="3611880" cy="640080"/>
          </a:xfrm>
          <a:prstGeom prst="chevron">
            <a:avLst/>
          </a:prstGeom>
          <a:solidFill>
            <a:schemeClr val="accent4"/>
          </a:solidFill>
          <a:ln/>
        </p:spPr>
        <p:txBody>
          <a:bodyPr wrap="square" lIns="0" tIns="203200" rIns="5080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教科の学習へ</a:t>
            </a:r>
            <a:endParaRPr lang="en-US" sz="1800" dirty="0"/>
          </a:p>
        </p:txBody>
      </p:sp>
      <p:sp>
        <p:nvSpPr>
          <p:cNvPr id="14" name="Text 8"/>
          <p:cNvSpPr txBox="1"/>
          <p:nvPr/>
        </p:nvSpPr>
        <p:spPr>
          <a:xfrm>
            <a:off x="7955280" y="59893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※写真は教材のみを掲載しています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さくらルームができて、学校はどう変わったか</a:t>
            </a:r>
            <a:endParaRPr lang="en-US" sz="3200" dirty="0"/>
          </a:p>
        </p:txBody>
      </p:sp>
      <p:sp>
        <p:nvSpPr>
          <p:cNvPr id="3" name="section-tag"/>
          <p:cNvSpPr/>
          <p:nvPr/>
        </p:nvSpPr>
        <p:spPr>
          <a:xfrm>
            <a:off x="548640" y="256032"/>
            <a:ext cx="2743200" cy="384048"/>
          </a:xfrm>
          <a:prstGeom prst="roundRect">
            <a:avLst>
              <a:gd name="adj" fmla="val 47619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３ 支援の制度と取組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47088"/>
            <a:ext cx="384048" cy="3840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88720" y="1783080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転入時の受け入れ体制が整った</a:t>
            </a:r>
            <a:endParaRPr lang="en-US" sz="2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468880"/>
            <a:ext cx="384048" cy="384048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188720" y="2404872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学習の支援が充実した</a:t>
            </a:r>
            <a:endParaRPr lang="en-US" sz="2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090672"/>
            <a:ext cx="384048" cy="384048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188720" y="3026664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成績の付け方を学校全体で統一した</a:t>
            </a:r>
            <a:endParaRPr lang="en-US" sz="2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712464"/>
            <a:ext cx="384048" cy="384048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188720" y="3648456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先生たちの国際理解が進んだ</a:t>
            </a:r>
            <a:endParaRPr lang="en-US" sz="21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334256"/>
            <a:ext cx="384048" cy="384048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1188720" y="4270248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多様性・共生を意識した学校づくり</a:t>
            </a:r>
            <a:endParaRPr lang="en-US" sz="2100" dirty="0"/>
          </a:p>
        </p:txBody>
      </p:sp>
      <p:sp>
        <p:nvSpPr>
          <p:cNvPr id="15" name="highlight"/>
          <p:cNvSpPr/>
          <p:nvPr/>
        </p:nvSpPr>
        <p:spPr>
          <a:xfrm>
            <a:off x="548640" y="4983480"/>
            <a:ext cx="6217920" cy="914400"/>
          </a:xfrm>
          <a:prstGeom prst="roundRect">
            <a:avLst>
              <a:gd name="adj" fmla="val 12000"/>
            </a:avLst>
          </a:prstGeom>
          <a:solidFill>
            <a:srgbClr val="FBE6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「学校が好き・楽しい」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と答える子どもが増えた</a:t>
            </a:r>
            <a:endParaRPr lang="en-US" sz="2200" dirty="0"/>
          </a:p>
        </p:txBody>
      </p:sp>
      <p:pic>
        <p:nvPicPr>
          <p:cNvPr id="16" name="Image 5" descr="日本語指導担当と担任が一緒に子どもを支えるイラスト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1783080"/>
            <a:ext cx="4572000" cy="2496312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7086600" y="44805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tx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担任だけで抱えず、</a:t>
            </a:r>
            <a:endParaRPr lang="en-US" sz="2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tx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チームで子どもを育てる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民生・児童委員の皆様にお願いしたいこと</a:t>
            </a:r>
            <a:endParaRPr lang="en-US" sz="3200" dirty="0"/>
          </a:p>
        </p:txBody>
      </p:sp>
      <p:sp>
        <p:nvSpPr>
          <p:cNvPr id="3" name="section-tag"/>
          <p:cNvSpPr/>
          <p:nvPr/>
        </p:nvSpPr>
        <p:spPr>
          <a:xfrm>
            <a:off x="548640" y="256032"/>
            <a:ext cx="2286000" cy="384048"/>
          </a:xfrm>
          <a:prstGeom prst="roundRect">
            <a:avLst>
              <a:gd name="adj" fmla="val 47619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４ 地域の皆様へ</a:t>
            </a:r>
            <a:endParaRPr lang="en-US" sz="1500" dirty="0"/>
          </a:p>
        </p:txBody>
      </p:sp>
      <p:sp>
        <p:nvSpPr>
          <p:cNvPr id="5" name="ask-row-0"/>
          <p:cNvSpPr/>
          <p:nvPr/>
        </p:nvSpPr>
        <p:spPr>
          <a:xfrm>
            <a:off x="548640" y="1737360"/>
            <a:ext cx="110642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6" name="icon-circle"/>
          <p:cNvSpPr/>
          <p:nvPr/>
        </p:nvSpPr>
        <p:spPr>
          <a:xfrm>
            <a:off x="731520" y="184708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020824"/>
            <a:ext cx="347472" cy="3474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45920" y="17373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accent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声をかける</a:t>
            </a:r>
            <a:endParaRPr lang="en-US" sz="2300" dirty="0"/>
          </a:p>
        </p:txBody>
      </p:sp>
      <p:sp>
        <p:nvSpPr>
          <p:cNvPr id="9" name="Text 5"/>
          <p:cNvSpPr txBox="1"/>
          <p:nvPr/>
        </p:nvSpPr>
        <p:spPr>
          <a:xfrm>
            <a:off x="4389120" y="173736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登下校や地域で、笑顔のあいさつを。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「やさしい日本語」で、ゆっくりと</a:t>
            </a:r>
            <a:endParaRPr lang="en-US" sz="1900" dirty="0"/>
          </a:p>
        </p:txBody>
      </p:sp>
      <p:sp>
        <p:nvSpPr>
          <p:cNvPr id="10" name="ask-row-1"/>
          <p:cNvSpPr/>
          <p:nvPr/>
        </p:nvSpPr>
        <p:spPr>
          <a:xfrm>
            <a:off x="548640" y="2788920"/>
            <a:ext cx="110642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1" name="icon-circle"/>
          <p:cNvSpPr/>
          <p:nvPr/>
        </p:nvSpPr>
        <p:spPr>
          <a:xfrm>
            <a:off x="731520" y="2898648"/>
            <a:ext cx="694944" cy="69494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3072384"/>
            <a:ext cx="347472" cy="34747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45920" y="27889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accent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気づいて、つなぐ</a:t>
            </a:r>
            <a:endParaRPr lang="en-US" sz="2300" dirty="0"/>
          </a:p>
        </p:txBody>
      </p:sp>
      <p:sp>
        <p:nvSpPr>
          <p:cNvPr id="14" name="Text 9"/>
          <p:cNvSpPr txBox="1"/>
          <p:nvPr/>
        </p:nvSpPr>
        <p:spPr>
          <a:xfrm>
            <a:off x="4389120" y="278892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学校に行っていない様子や生活の困りごと、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孤立しがちな家庭に気づいたら、学校や区の窓口へ</a:t>
            </a:r>
            <a:endParaRPr lang="en-US" sz="1900" dirty="0"/>
          </a:p>
        </p:txBody>
      </p:sp>
      <p:sp>
        <p:nvSpPr>
          <p:cNvPr id="15" name="ask-row-2"/>
          <p:cNvSpPr/>
          <p:nvPr/>
        </p:nvSpPr>
        <p:spPr>
          <a:xfrm>
            <a:off x="548640" y="3840480"/>
            <a:ext cx="110642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6" name="icon-circle"/>
          <p:cNvSpPr/>
          <p:nvPr/>
        </p:nvSpPr>
        <p:spPr>
          <a:xfrm>
            <a:off x="731520" y="3950208"/>
            <a:ext cx="694944" cy="694944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4123944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645920" y="38404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accent4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情報を届ける</a:t>
            </a:r>
            <a:endParaRPr lang="en-US" sz="2300" dirty="0"/>
          </a:p>
        </p:txBody>
      </p:sp>
      <p:sp>
        <p:nvSpPr>
          <p:cNvPr id="19" name="Text 13"/>
          <p:cNvSpPr txBox="1"/>
          <p:nvPr/>
        </p:nvSpPr>
        <p:spPr>
          <a:xfrm>
            <a:off x="4389120" y="384048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こども日本語教室や地域の行事などを紹介する</a:t>
            </a:r>
            <a:endParaRPr lang="en-US" sz="1900" dirty="0"/>
          </a:p>
        </p:txBody>
      </p:sp>
      <p:sp>
        <p:nvSpPr>
          <p:cNvPr id="20" name="ask-row-3"/>
          <p:cNvSpPr/>
          <p:nvPr/>
        </p:nvSpPr>
        <p:spPr>
          <a:xfrm>
            <a:off x="548640" y="4892040"/>
            <a:ext cx="110642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21" name="icon-circle"/>
          <p:cNvSpPr/>
          <p:nvPr/>
        </p:nvSpPr>
        <p:spPr>
          <a:xfrm>
            <a:off x="731520" y="5001768"/>
            <a:ext cx="694944" cy="694944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5175504"/>
            <a:ext cx="347472" cy="34747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645920" y="48920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accent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違いを「強み」に</a:t>
            </a:r>
            <a:endParaRPr lang="en-US" sz="2300" dirty="0"/>
          </a:p>
        </p:txBody>
      </p:sp>
      <p:sp>
        <p:nvSpPr>
          <p:cNvPr id="24" name="Text 17"/>
          <p:cNvSpPr txBox="1"/>
          <p:nvPr/>
        </p:nvSpPr>
        <p:spPr>
          <a:xfrm>
            <a:off x="4389120" y="489204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母国の言葉や文化を大切にすることが、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子どもの自信につながります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やさしい日本語　3つのコツ「はさみの法則」</a:t>
            </a:r>
            <a:endParaRPr lang="en-US" sz="3200" dirty="0"/>
          </a:p>
        </p:txBody>
      </p:sp>
      <p:sp>
        <p:nvSpPr>
          <p:cNvPr id="3" name="section-tag"/>
          <p:cNvSpPr/>
          <p:nvPr/>
        </p:nvSpPr>
        <p:spPr>
          <a:xfrm>
            <a:off x="548640" y="256032"/>
            <a:ext cx="2286000" cy="384048"/>
          </a:xfrm>
          <a:prstGeom prst="roundRect">
            <a:avLst>
              <a:gd name="adj" fmla="val 47619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４ 地域の皆様へ</a:t>
            </a:r>
            <a:endParaRPr lang="en-US" sz="1500" dirty="0"/>
          </a:p>
        </p:txBody>
      </p:sp>
      <p:sp>
        <p:nvSpPr>
          <p:cNvPr id="5" name="hasami-0"/>
          <p:cNvSpPr/>
          <p:nvPr/>
        </p:nvSpPr>
        <p:spPr>
          <a:xfrm>
            <a:off x="548640" y="1737360"/>
            <a:ext cx="35204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6" name="hasami-letter-0"/>
          <p:cNvSpPr/>
          <p:nvPr/>
        </p:nvSpPr>
        <p:spPr>
          <a:xfrm>
            <a:off x="777240" y="1901952"/>
            <a:ext cx="960120" cy="9601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は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1920240" y="173736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はっきり言う</a:t>
            </a:r>
            <a:endParaRPr lang="en-US" sz="2300" dirty="0"/>
          </a:p>
        </p:txBody>
      </p:sp>
      <p:sp>
        <p:nvSpPr>
          <p:cNvPr id="8" name="hasami-1"/>
          <p:cNvSpPr/>
          <p:nvPr/>
        </p:nvSpPr>
        <p:spPr>
          <a:xfrm>
            <a:off x="4297680" y="1737360"/>
            <a:ext cx="35204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9" name="hasami-letter-1"/>
          <p:cNvSpPr/>
          <p:nvPr/>
        </p:nvSpPr>
        <p:spPr>
          <a:xfrm>
            <a:off x="4526280" y="1901952"/>
            <a:ext cx="960120" cy="9601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さ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5669280" y="173736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さいごまで言う</a:t>
            </a:r>
            <a:endParaRPr lang="en-US" sz="2300" dirty="0"/>
          </a:p>
        </p:txBody>
      </p:sp>
      <p:sp>
        <p:nvSpPr>
          <p:cNvPr id="11" name="hasami-2"/>
          <p:cNvSpPr/>
          <p:nvPr/>
        </p:nvSpPr>
        <p:spPr>
          <a:xfrm>
            <a:off x="8046720" y="1737360"/>
            <a:ext cx="35204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2" name="hasami-letter-2"/>
          <p:cNvSpPr/>
          <p:nvPr/>
        </p:nvSpPr>
        <p:spPr>
          <a:xfrm>
            <a:off x="8275320" y="1901952"/>
            <a:ext cx="960120" cy="9601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み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9418320" y="173736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tx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みじかく言う</a:t>
            </a:r>
            <a:endParaRPr lang="en-US" sz="23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32004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言いかえてみると…</a:t>
            </a:r>
            <a:endParaRPr lang="en-US" sz="1900" dirty="0"/>
          </a:p>
        </p:txBody>
      </p:sp>
      <p:sp>
        <p:nvSpPr>
          <p:cNvPr id="15" name="ex-before-0"/>
          <p:cNvSpPr/>
          <p:nvPr/>
        </p:nvSpPr>
        <p:spPr>
          <a:xfrm>
            <a:off x="548640" y="3657600"/>
            <a:ext cx="4846320" cy="658368"/>
          </a:xfrm>
          <a:prstGeom prst="roundRect">
            <a:avLst>
              <a:gd name="adj" fmla="val 13889"/>
            </a:avLst>
          </a:prstGeom>
          <a:solidFill>
            <a:srgbClr val="F1F3F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accent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ご記入の上、ご提出ください</a:t>
            </a:r>
            <a:endParaRPr lang="en-US" sz="1900" dirty="0"/>
          </a:p>
        </p:txBody>
      </p:sp>
      <p:sp>
        <p:nvSpPr>
          <p:cNvPr id="16" name="ex-arrow-0"/>
          <p:cNvSpPr/>
          <p:nvPr/>
        </p:nvSpPr>
        <p:spPr>
          <a:xfrm>
            <a:off x="5577840" y="3785616"/>
            <a:ext cx="731520" cy="402336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17" name="ex-after-0"/>
          <p:cNvSpPr/>
          <p:nvPr/>
        </p:nvSpPr>
        <p:spPr>
          <a:xfrm>
            <a:off x="6492240" y="3657600"/>
            <a:ext cx="5120640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ここに 書いて ください。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出して ください。</a:t>
            </a:r>
            <a:endParaRPr lang="en-US" sz="1900" dirty="0"/>
          </a:p>
        </p:txBody>
      </p:sp>
      <p:sp>
        <p:nvSpPr>
          <p:cNvPr id="18" name="ex-before-1"/>
          <p:cNvSpPr/>
          <p:nvPr/>
        </p:nvSpPr>
        <p:spPr>
          <a:xfrm>
            <a:off x="548640" y="4434840"/>
            <a:ext cx="4846320" cy="658368"/>
          </a:xfrm>
          <a:prstGeom prst="roundRect">
            <a:avLst>
              <a:gd name="adj" fmla="val 13889"/>
            </a:avLst>
          </a:prstGeom>
          <a:solidFill>
            <a:srgbClr val="F1F3F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accent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土足厳禁</a:t>
            </a:r>
            <a:endParaRPr lang="en-US" sz="1900" dirty="0"/>
          </a:p>
        </p:txBody>
      </p:sp>
      <p:sp>
        <p:nvSpPr>
          <p:cNvPr id="19" name="ex-arrow-1"/>
          <p:cNvSpPr/>
          <p:nvPr/>
        </p:nvSpPr>
        <p:spPr>
          <a:xfrm>
            <a:off x="5577840" y="4562856"/>
            <a:ext cx="731520" cy="402336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20" name="ex-after-1"/>
          <p:cNvSpPr/>
          <p:nvPr/>
        </p:nvSpPr>
        <p:spPr>
          <a:xfrm>
            <a:off x="6492240" y="4434840"/>
            <a:ext cx="5120640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くつを ぬいで ください。</a:t>
            </a:r>
            <a:endParaRPr lang="en-US" sz="1900" dirty="0"/>
          </a:p>
        </p:txBody>
      </p:sp>
      <p:sp>
        <p:nvSpPr>
          <p:cNvPr id="21" name="ex-before-2"/>
          <p:cNvSpPr/>
          <p:nvPr/>
        </p:nvSpPr>
        <p:spPr>
          <a:xfrm>
            <a:off x="548640" y="5212080"/>
            <a:ext cx="4846320" cy="658368"/>
          </a:xfrm>
          <a:prstGeom prst="roundRect">
            <a:avLst>
              <a:gd name="adj" fmla="val 13889"/>
            </a:avLst>
          </a:prstGeom>
          <a:solidFill>
            <a:srgbClr val="F1F3F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accent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雨天の場合は中止です</a:t>
            </a:r>
            <a:endParaRPr lang="en-US" sz="1900" dirty="0"/>
          </a:p>
        </p:txBody>
      </p:sp>
      <p:sp>
        <p:nvSpPr>
          <p:cNvPr id="22" name="ex-arrow-2"/>
          <p:cNvSpPr/>
          <p:nvPr/>
        </p:nvSpPr>
        <p:spPr>
          <a:xfrm>
            <a:off x="5577840" y="5340096"/>
            <a:ext cx="731520" cy="402336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23" name="ex-after-2"/>
          <p:cNvSpPr/>
          <p:nvPr/>
        </p:nvSpPr>
        <p:spPr>
          <a:xfrm>
            <a:off x="6492240" y="5212080"/>
            <a:ext cx="5120640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雨なら、ありません。</a:t>
            </a:r>
            <a:endParaRPr lang="en-US" sz="19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59893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参考：出入国在留管理庁・文化庁「在留支援のためのやさしい日本語ガイドライン」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6C87A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おわりに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6035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chemeClr val="bg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ことばの壁の向こうに、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chemeClr val="bg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一人一人の「育ち」があります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54680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CFE6E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学校・家庭・地域がつながって、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CFE6E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子どもたちの学びと暮らしを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CFE6E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一緒に支えていきましょう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07492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ご清聴ありがとうございました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6235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6C87A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― ご質問をお受けします ―</a:t>
            </a:r>
            <a:endParaRPr lang="en-US" sz="2000" dirty="0"/>
          </a:p>
        </p:txBody>
      </p:sp>
      <p:pic>
        <p:nvPicPr>
          <p:cNvPr id="7" name="Image 0" descr="先生たちが子どもに寄り添うイラスト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874520"/>
            <a:ext cx="4754880" cy="25968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Nerima Sakura">
  <a:themeElements>
    <a:clrScheme name="Nerima Sakura">
      <a:dk1>
        <a:srgbClr val="1E2B2F"/>
      </a:dk1>
      <a:lt1>
        <a:srgbClr val="FFFFFF"/>
      </a:lt1>
      <a:dk2>
        <a:srgbClr val="0F4C5C"/>
      </a:dk2>
      <a:lt2>
        <a:srgbClr val="EAF4F4"/>
      </a:lt2>
      <a:accent1>
        <a:srgbClr val="1B7A8C"/>
      </a:accent1>
      <a:accent2>
        <a:srgbClr val="D9547A"/>
      </a:accent2>
      <a:accent3>
        <a:srgbClr val="E89A2C"/>
      </a:accent3>
      <a:accent4>
        <a:srgbClr val="4F8A6F"/>
      </a:accent4>
      <a:accent5>
        <a:srgbClr val="7A5A8C"/>
      </a:accent5>
      <a:accent6>
        <a:srgbClr val="8A979B"/>
      </a:accent6>
      <a:hlink>
        <a:srgbClr val="1B7A8C"/>
      </a:hlink>
      <a:folHlink>
        <a:srgbClr val="7A5A8C"/>
      </a:folHlink>
    </a:clrScheme>
    <a:fontScheme name="Nerima Sakura">
      <a:majorFont>
        <a:latin typeface="BIZ UDPゴシック"/>
        <a:ea typeface="BIZ UDPゴシック"/>
        <a:cs typeface=""/>
        <a:font script="Jpan" typeface="BIZ UDPゴシック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IZ UDPゴシック"/>
        <a:ea typeface="BIZ UDPゴシック"/>
        <a:cs typeface=""/>
        <a:font script="Jpan" typeface="BIZ UDP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外国にルーツを持つ子どもたちと学校</dc:title>
  <dc:subject>PptxGenJS Presentation</dc:subject>
  <dc:creator>練馬区教育委員会 教育指導課</dc:creator>
  <cp:lastModifiedBy>練馬区教育委員会 教育指導課</cp:lastModifiedBy>
  <cp:revision>1</cp:revision>
  <dcterms:created xsi:type="dcterms:W3CDTF">2026-10-19T10:37:06Z</dcterms:created>
  <dcterms:modified xsi:type="dcterms:W3CDTF">2026-10-19T10:37:06Z</dcterms:modified>
</cp:coreProperties>
</file>