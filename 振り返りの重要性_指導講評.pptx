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1075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BIZ UDPGothic"/>
              </a:rPr>
              <a:t>振り返りの重要性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75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FD7FF"/>
                </a:solidFill>
                <a:latin typeface="BIZ UDPGothic"/>
              </a:rPr>
              <a:t>―学びを深める省察の力―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066000"/>
            <a:ext cx="1147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D7FF"/>
                </a:solidFill>
                <a:latin typeface="BIZ UDPGothic"/>
              </a:rPr>
              <a:t>令和８年５月20日（水）｜練馬区立豊玉中学校 第５校時 数学科授業参観後｜練馬区教育委員会 指導主事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32000"/>
            <a:ext cx="1075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BIZ UDPGothic"/>
              </a:rPr>
              <a:t>本日の流れ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260000"/>
            <a:ext cx="10392119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E8F0FF"/>
                </a:solidFill>
                <a:latin typeface="BIZ UDPGothic"/>
              </a:rPr>
              <a:t>① 全国学力・学習状況調査から見える</a:t>
            </a:r>
          </a:p>
          <a:p>
            <a:pPr algn="l">
              <a:lnSpc>
                <a:spcPts val="2600"/>
              </a:lnSpc>
            </a:pPr>
            <a:r>
              <a:rPr sz="2000" b="0">
                <a:solidFill>
                  <a:srgbClr val="E8F0FF"/>
                </a:solidFill>
                <a:latin typeface="BIZ UDPGothic"/>
              </a:rPr>
              <a:t>　「振り返り」と「学力」の相関関係</a:t>
            </a:r>
          </a:p>
          <a:p>
            <a:pPr algn="l">
              <a:lnSpc>
                <a:spcPts val="2600"/>
              </a:lnSpc>
            </a:pPr>
            <a:r>
              <a:rPr sz="2000" b="0">
                <a:solidFill>
                  <a:srgbClr val="E8F0FF"/>
                </a:solidFill>
                <a:latin typeface="BIZ UDPGothic"/>
              </a:rPr>
              <a:t/>
            </a:r>
          </a:p>
          <a:p>
            <a:pPr algn="l">
              <a:lnSpc>
                <a:spcPts val="2600"/>
              </a:lnSpc>
            </a:pPr>
            <a:r>
              <a:rPr sz="2000" b="0">
                <a:solidFill>
                  <a:srgbClr val="E8F0FF"/>
                </a:solidFill>
                <a:latin typeface="BIZ UDPGothic"/>
              </a:rPr>
              <a:t>② 文科省資料から読み解く</a:t>
            </a:r>
          </a:p>
          <a:p>
            <a:pPr algn="l">
              <a:lnSpc>
                <a:spcPts val="2600"/>
              </a:lnSpc>
            </a:pPr>
            <a:r>
              <a:rPr sz="2000" b="0">
                <a:solidFill>
                  <a:srgbClr val="E8F0FF"/>
                </a:solidFill>
                <a:latin typeface="BIZ UDPGothic"/>
              </a:rPr>
              <a:t>　「振り返り」の重要性</a:t>
            </a:r>
          </a:p>
          <a:p>
            <a:pPr algn="l">
              <a:lnSpc>
                <a:spcPts val="2600"/>
              </a:lnSpc>
            </a:pPr>
            <a:r>
              <a:rPr sz="2000" b="0">
                <a:solidFill>
                  <a:srgbClr val="E8F0FF"/>
                </a:solidFill>
                <a:latin typeface="BIZ UDPGothic"/>
              </a:rPr>
              <a:t>　（H27・R7 論点整理ほか）</a:t>
            </a:r>
          </a:p>
          <a:p>
            <a:pPr algn="l">
              <a:lnSpc>
                <a:spcPts val="2600"/>
              </a:lnSpc>
            </a:pPr>
            <a:r>
              <a:rPr sz="2000" b="0">
                <a:solidFill>
                  <a:srgbClr val="E8F0FF"/>
                </a:solidFill>
                <a:latin typeface="BIZ UDPGothic"/>
              </a:rPr>
              <a:t/>
            </a:r>
          </a:p>
          <a:p>
            <a:pPr algn="l">
              <a:lnSpc>
                <a:spcPts val="2600"/>
              </a:lnSpc>
            </a:pPr>
            <a:r>
              <a:rPr sz="2000" b="0">
                <a:solidFill>
                  <a:srgbClr val="E8F0FF"/>
                </a:solidFill>
                <a:latin typeface="BIZ UDPGothic"/>
              </a:rPr>
              <a:t>③ 本時の授業について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はじめに―問いかけ―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あなたの授業の「振り返り」は何分ありますか？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どんな内容を書かせていますか？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それは、子供の「学び」につながっていますか？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0"/>
            <a:ext cx="1075211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BIZ UDPGothic"/>
              </a:rPr>
              <a:t>第１部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1075211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D6E4FF"/>
                </a:solidFill>
                <a:latin typeface="BIZ UDPGothic"/>
              </a:rPr>
              <a:t>全国学力・学習状況調査から見える
「振り返り」と「学力」の相関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全国学力・学習状況調査とは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実施主体：文部科学省・国立教育政策研究所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対象：小学校６年生・中学校３年生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調査内容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・教科に関する調査（国語・数学/算数・英語 等）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・学習意欲・学習方法・学習環境に関する質問紙調査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注目ポイント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質問紙調査 × 教科学力のクロス分析が可能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授業中の活動と学力の相関が可視化できる！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「振り返り」に関する質問紙の設問（例）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質問紙における「振り返り」関連設問（中学生・数学）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Q.「数学の授業で学習したことを振り返る活動を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よく行っていた」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① 当てはまる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② どちらかといえば当てはまる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③ どちらかといえば当てはまらない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④ 当てはまらない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→ この回答と数学の得点を掛け合わせると…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（出典：全国学力・学習状況調査 質問紙 令和３〜５年度）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データ① 振り返りと正答率の相関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【グラフ挿入箇所】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振り返りを「当てはまる」と答えた生徒の方が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数学の正答率が明らかに高い傾向がある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傾向のイメージ：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「当てはまる」      → 正答率 高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「当てはまらない」  → 正答率 低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この差は偶然ではない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複数年度・複数教科で一貫して確認される傾向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（出典：国立教育政策研究所 報告書 令和３〜５年度）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データ② 振り返りは習慣になっているか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課題：「振り返りを行った」と感じていない生徒が一定数存在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教師側の認識と生徒の実感の乖離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教師：「振り返りをさせている」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生徒：「振り返った実感がない」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問い直し：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形式的な振り返りになっていないか？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ただ「書かせる」だけになっていないか？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→ 振り返りの「量」より「質」が問われている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なぜ振り返りが学力と相関するのか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メタ認知（Metacognition）の観点から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振り返り ＝ 自分の思考・理解を「対象化」する行為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モニタリング：「わかったか？」を確認する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コントロール：「どう学び直すか」を調整する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J.ハッティ「可視化された学習」（2009）より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メタ認知的方略の効果量：d = 0.60（高い効果）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→ 振り返りは「学び方を学ぶ」ことにつながる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0"/>
            <a:ext cx="1075211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BIZ UDPGothic"/>
              </a:rPr>
              <a:t>第２部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1075211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D6E4FF"/>
                </a:solidFill>
                <a:latin typeface="BIZ UDPGothic"/>
              </a:rPr>
              <a:t>文科省資料から読み解く
「振り返り」の重要性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H27「論点整理」→ R7「論点整理」の流れ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２つの「論点整理」が示す一貫したメッセージ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平成27年（2015）「論点整理」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↓ 学習指導要領改訂（H29）へ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令和３年（2021）「令和の日本型学校教育」答申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↓ さらなる深化へ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令和７年（2025）「論点整理」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↓ 次期学習指導要領改訂（R8〜9年告示予定）へ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一貫して求められていること：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「子供が自分の学びを調整できる力」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　　振り返りはその根幹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H27「論点整理」の核心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アクティブ・ラーニングの３つの視点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① 深い学び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→「見方・考え方」を働かせた習得・活用・探究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② 対話的な学び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→ 他者との協働・対話を通じた思考の広がり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③ 主体的な学び　←ここに「振り返り」が明記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→「学習を自己調整しながら学ぼうとする態度」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キーワード：「自己調整」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振り返りなしに、自己調整は生まれない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R7「論点整理」が示す新たな強調点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自己調整学習のさらなる重視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「見通し → 学習 → 振り返り」の往還を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すべての教科・場面で意図的に位置づける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ウェルビーイングとの接続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振り返りが「学びへの自信・有能感」を育む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学ぶことが楽しい、という実感へ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デジタルを活用した振り返りの蓄積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１人１台端末を活用し、振り返りを「見える化」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学習履歴として蓄積・次の学びへ接続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H27から10年。振り返りの重要性はより深化している。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学習指導要領（H29）における「振り返り」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総則 第３の１（主体的・対話的で深い学び）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「学習の見通しを立てたり学習したことを振り返ったり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する活動を、計画的に取り入れ…」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数学科の目標（中学校学習指導要領）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「問題解決の過程を振り返って評価・改善しようとする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態度を養う」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重要ポイント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振り返りは「目標」に明記された重要な学習活動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→「させてあげること」ではなく「育てるべき力」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国際的潮流（OECD Education 2030）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OECD ラーニング・コンパス 2030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「エージェンシー（主体性）」育成の中核に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「振り返り（Reflection）」を位置づけ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見通し（Anticipation）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　　↓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行動（Action）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　　↓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振り返り（Reflection）← ここが核心！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■「自律した学習者」育成への国際的合意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日本の授業でも意図的・系統的な指導が必要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「よい振り返り」とはどんなものか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振り返りの「質」を問う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✕ 低質な振り返りの例：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「今日の授業は楽しかった」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「二次方程式がわかった」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「難しかった」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○ 高質な振り返りの例：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「因数分解でとけない場合に解の公式を使う、という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　判断ができるようになった。次回は使う場面を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　自分で判断できるようにしたい」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振り返りの３つの問い（軸）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① 何がわかったか（理解）　② なぜそう考えたか（根拠）　③ 次に何をしたいか（見通し）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振り返り指導の５つのポイント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① 振り返りの「視点」を事前に示す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本時のめあてと対応させて板書する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② 「書く」ことで思考を外化させる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頭の中だけでは曖昧なままになりやすい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③ 振り返りを「見取る」教師の目をもつ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次時の指導改善・個への対応に活用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④ 振り返りを「共有」する場を設ける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他者の振り返りから学ぶ機会に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⑤ 振り返りを「累積・活用」する仕組みをつくる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→ 前時の振り返りを次時の導入へ接続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0"/>
            <a:ext cx="1075211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BIZ UDPGothic"/>
              </a:rPr>
              <a:t>第３部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1075211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D6E4FF"/>
                </a:solidFill>
                <a:latin typeface="BIZ UDPGothic"/>
              </a:rPr>
              <a:t>本時の授業について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本時の授業の概要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日　時：令和８年５月20日（水）第５校時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学　校：練馬区立豊玉中学校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学年学級：○年○組（○名）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授業者：○○ ○○ 先生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単 元 名：○○○○○○○○○○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本時の目標：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「○○○○○○○○○○○○○○○○○○」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本時の学習活動の流れ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導入（○分）→ 展開（○分）→ まとめ・振り返り（○分）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※ 参観当日に記入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本時授業のよかった点・さらなる提案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【よかった点】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・めあてと振り返りが明確に対応していた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・振り返りの時間がしっかり確保されていた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・「なぜそう考えたか」まで書いている生徒が見られた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【さらなる充実のための提案】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提案① 振り返りの「視点」の明示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→ めあてに対応した振り返りの問いを板書する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提案② 振り返りの「共有」の工夫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→ 数名の振り返りを紹介し、学び合いに活用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提案③ 振り返りの「蓄積と活用」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→ 前時の振り返りを次時の導入につなげる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75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BIZ UDPGothic"/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007999"/>
            <a:ext cx="10032119" cy="18000"/>
          </a:xfrm>
          <a:prstGeom prst="rect">
            <a:avLst/>
          </a:prstGeom>
          <a:solidFill>
            <a:srgbClr val="7F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16000"/>
            <a:ext cx="1075211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800" b="0">
                <a:solidFill>
                  <a:srgbClr val="D6E4FF"/>
                </a:solidFill>
                <a:latin typeface="BIZ UDPGothic"/>
              </a:rPr>
              <a:t>① 「振り返り」のある授業は、学力と相関している（データ）</a:t>
            </a:r>
          </a:p>
          <a:p>
            <a:pPr algn="l">
              <a:lnSpc>
                <a:spcPts val="2600"/>
              </a:lnSpc>
            </a:pPr>
            <a:r>
              <a:rPr sz="1800" b="0">
                <a:solidFill>
                  <a:srgbClr val="D6E4FF"/>
                </a:solidFill>
                <a:latin typeface="BIZ UDPGothic"/>
              </a:rPr>
              <a:t>② 「振り返り」は学習指導要領・答申が求める</a:t>
            </a:r>
          </a:p>
          <a:p>
            <a:pPr algn="l">
              <a:lnSpc>
                <a:spcPts val="2600"/>
              </a:lnSpc>
            </a:pPr>
            <a:r>
              <a:rPr sz="1800" b="0">
                <a:solidFill>
                  <a:srgbClr val="D6E4FF"/>
                </a:solidFill>
                <a:latin typeface="BIZ UDPGothic"/>
              </a:rPr>
              <a:t>　　「主体的な学び」の核心である（理論）</a:t>
            </a:r>
          </a:p>
          <a:p>
            <a:pPr algn="l">
              <a:lnSpc>
                <a:spcPts val="2600"/>
              </a:lnSpc>
            </a:pPr>
            <a:r>
              <a:rPr sz="1800" b="0">
                <a:solidFill>
                  <a:srgbClr val="D6E4FF"/>
                </a:solidFill>
                <a:latin typeface="BIZ UDPGothic"/>
              </a:rPr>
              <a:t>③ 「振り返り」は、形式ではなく質が問われる（実践）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420000"/>
            <a:ext cx="1111211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55A11"/>
                </a:solidFill>
                <a:latin typeface="BIZ UDPGothic"/>
              </a:rPr>
              <a:t>「一時間一時間の振り返りが、
　子供の一生の学び方をつくる」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210000"/>
            <a:ext cx="11112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FAFD8"/>
                </a:solidFill>
                <a:latin typeface="BIZ UDPGothic"/>
              </a:rPr>
              <a:t>今日の授業から、また明日の授業改善へ。ともに学び続けましょう。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