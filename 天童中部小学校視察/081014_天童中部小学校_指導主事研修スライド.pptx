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c76854a3-1907-41c0-1545-711cd2cefc4f}">
          <p14:sldIdLst>
            <p14:sldId id="256"/>
            <p14:sldId id="257"/>
            <p14:sldId id="258"/>
          </p14:sldIdLst>
        </p14:section>
        <p14:section name="天童中部小学校の取組" id="{72496a15-35df-1cff-3d7b-e7323d9f1b2b}">
          <p14:sldIdLst>
            <p14:sldId id="259"/>
            <p14:sldId id="260"/>
            <p14:sldId id="261"/>
            <p14:sldId id="262"/>
            <p14:sldId id="263"/>
            <p14:sldId id="264"/>
            <p14:sldId id="265"/>
          </p14:sldIdLst>
        </p14:section>
        <p14:section name="講演・鼎談から" id="{b993a9ae-2870-a3eb-5523-ee0f1e804ee3}">
          <p14:sldIdLst>
            <p14:sldId id="266"/>
            <p14:sldId id="267"/>
            <p14:sldId id="268"/>
            <p14:sldId id="269"/>
          </p14:sldIdLst>
        </p14:section>
        <p14:section name="次期学習指導要領の方向性" id="{0f54e9e8-b54d-a5fb-aec6-652aa2193b97}">
          <p14:sldIdLst>
            <p14:sldId id="270"/>
            <p14:sldId id="271"/>
            <p14:sldId id="272"/>
            <p14:sldId id="273"/>
            <p14:sldId id="274"/>
          </p14:sldIdLst>
        </p14:section>
        <p14:section name="指導主事として" id="{38284992-08a4-f3a2-1958-ee081ba5dcd3}">
          <p14:sldIdLst>
            <p14:sldId id="275"/>
            <p14:sldId id="276"/>
            <p14:sldId id="277"/>
          </p14:sldIdLst>
        </p14:section>
        <p14:section name="まとめ" id="{bfddca5b-3729-f33c-cfbe-f18c4845bdf8}">
          <p14:sldIdLst>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（タイトル）
本日は、10月14日に参加した山形県天童市立天童中部小学校の公開研究会について報告します。
あわせて、10月5日に中央教育審議会の教育課程部会から公表された「次期学習指導要領等に向けた審議まとめ」と重ねながら、次の学習指導要領がどこへ向かっているのかを、指導主事の皆さんと共有したいと思います。
後半には、学校訪問や指導助言でどう生かすかを話し合う時間を取ります。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本日のねらいは、天童中部小学校の取組を知ったうえで、次期学習指導要領の方向性を私たち指導主事の間で共有することです。
流れは３つです。まず「知る」として同校の取組を紹介します。次に「つなぐ」として、講演・鼎談の内容と審議まとめを重ねます。最後に「語り合う」として、学校訪問や指導助言でどう生かすかを協議します。
時間は全体で45分程度を想定しています。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視察の概要です。期日は令和８年10月14日、水曜日です。
同校の研究主題は「学び続ける子供の育成」です。当日は公開授業、研究発表、奈須正裕先生の講演、奈須先生・佐野先生・大谷先生による鼎談、質疑応答という構成でした。
公開授業は２年国語、６年算数などを参観しました。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ここからは、天童中部小学校の取組を紹介します。キーワードは、子供が自分で学びを進める「４つの学習形態」です。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同校の研究主題は「学び続ける子供の育成」です。すべての子供を、自分で学びを進められる「自立した学習者」に育てることを目指しています。
参観して印象的だったのは、子供が「自分で決める」「自分で進める」「必要なときに仲間と学ぶ」姿が、特別な授業ではなく日常として見られたことです。
（写真を示しながら、具体的な場面を一つ紹介する）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同校の取組の柱が、この４つの学習形態です。
１つ目は通常の一斉授業です。ここで教師が学習の流れをつくり、子供は学び方そのものを学びます。
２つ目は自学・自習です。決められた時間の中で、自分で課題を選んで学びます。
３つ目はマイプラン学習、いわゆる単元内自由進度学習です。単元の計画、進度、学習方法を子供が自分で決めて進めます。
４つ目はフリースタイルプロジェクト、個人で取り組む総合的な学習です。テーマ設定から子供が自分で決めて探究します。
ポイントは、いきなり自由にするのではなく、子供の自由度を段階的に高めていく設計になっていることです。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マイプラン学習について、もう少し詳しく紹介します。
子供はまず学習計画表で、単元全体のゴールと使える時数を確かめます。そのうえで、どの順に、どの方法で、どこで、誰と学ぶかを自分で決めて進めます。
教師は一斉の説明を減らし、子供の様子を見取りながら個別に支援します。毎時間の振り返りで、子供は次の計画を立て直します。
奈須先生の講演では、単元内自由進度学習の典型として紹介されました。ただ同校では、単に進度を自由にする学習ではなく、学び方を自分で選び、自分で調整する学習として位置付けている点が大切だと感じ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４つ目の学習形態、フリースタイルプロジェクトです。個人で取り組む総合的な学習で、「個人総合」とも呼ばれています。
子供一人一人が自分の「好き」「得意」からテーマを決め、自分で計画を立てて探究し、発表して振り返ります。
教師はテーマ設定や計画づくりの相談役です。問いを深める声かけと、学びの進み具合の見取りを担います。
後で触れますが、次期学習指導要領で議論されている「裁量的な時間」や「好き・得意を育む」という方向性と、深く重なる取組です。
（学級をこえた交流や地域とのつながりの記述は、研究発表・当日資料で確認のうえ、必要に応じて調整してください）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公開授業から見えたことです。（指導案の単元名・本時のねらいを補足して紹介してください）
２年国語では、低学年でも学習計画を自分で確かめてから学習を始め、手引きや掲示を手がかりに、次の活動を自分で選んでいました。
６年算数では、解き方や学習方法を自分で選び、自分のペースで進めていました。分からないときは、友達や先生に自分から相談に行く姿が自然に見られました。
学年が上がるにつれて、子供に任せる範囲が広がっていることが、２つの授業を比べるとよく分かります。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子供が自分で学びを進められる背景には、環境と教師の準備があります。
教室の掲示、学習の手引きや学習材、そして教師の個別支援です。（写真を示しながら紹介）
教師の役割は「教える人」から、「学びをデザインし、見取り、支える人」へ変わっています。単元の計画や学習材を事前に整えておくことで、授業中は一人一人の見取りと支援に集中できる。これが同校の授業を支える仕組みだと感じ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続いて、奈須正裕先生の講演と、鼎談・質疑応答から、次期学習指導要領につながる内容を紹介します。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講演の中心の一つが、２つの「好き」「得意」です。
一つは、教科等の学びを通して育つ「好き」「得意」です。教科の本質に触れることで生まれるもので、各教科の授業やマイプラン学習で育てます。
もう一つは、子供自身がもともともっている「好き」「得意」です。一人一人の興味・関心や個性から生まれるもので、同校ではフリースタイルプロジェクトで伸ばしています。
審議まとめでも、学習内容を精選し、子供の「好き」「得意」を育むことが示されています。
（２つの「好き」「得意」の言い表し方は、講演資料の表現に合わせて調整してください）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講演では、同校のカリキュラムの整理も紹介されました。それをもとに、４つの学習形態の役割分担を表にしました。
大切なのは、４つの形態がばらばらにあるのではなく、カリキュラム全体の中で役割を分担していることです。一斉授業で学び方の基礎をつくり、マイプラン学習で教科の目標を確実に達成し、フリースタイルプロジェクトで「好き」「得意」を探究する。
右端の列のように、それぞれが次期学習指導要領の論点とつながっています。
なお、この表は講演資料をもとに私が整理したものです。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鼎談と質疑応答から、４点紹介します。
１点目は実践の系譜です。同校の取組は、愛知県東浦町立緒川小学校の個別化・個性化教育など、長く積み重ねられてきた実践の上にあります。新しい流行ではないということです。
２点目は、一人一人に応じる必要性です。不登校の増加について、講演・鼎談では「50万人」規模という数字にも触れられました。一斉授業だけでは、すべての子供を包摂しきれません。
３点目は地域での広がりです。奈良県王寺町など、自治体ぐるみの取組も話題になりました。
４点目は制度との接続です。質疑では、次期学習指導要領で示されている調整授業時数制度をどう生かすかも話題になりました。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ここからは、10月5日に公表された審議まとめをもとに、次期学習指導要領の方向性を確認します。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改訂のスケジュールです。令和６年12月に諮問があり、令和７年９月に論点整理が出されました。
そして今月、10月5日に審議まとめが公表されました。現在は11月5日までパブリックコメントが行われています。私たちは今ここにいます。
今冬に中教審の答申が出される予定で、小・中学校は今年度内に告示される見込みとされています。その後、周知・移行期間を経て全面実施となります。
全面実施の年度や各教科の詳細は、答申・告示で確定します。数字や名称は今後変わる可能性があるので、学校に説明するときは、最新の文部科学省資料で確認してください。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審議まとめは、次期学習指導要領の基盤として３つの方向性を示しています。
１つ目は「主体的・対話的で深い学び」の実装です。現行の学習指導要領で示した考え方を、一部の研究授業ではなく日常の授業で実現する段階に進めるということです。
２つ目は多様性の包摂です。興味・関心や特性、学ぶペースの違いを前提に、すべての子供の学びを保障することです。
３つ目は実現可能性の確保です。学習内容の精選や柔軟な教育課程により、学校と教師が無理なく実現できるようにすることです。
下の欄に書いたように、天童中部小の取組は、この３つにそれぞれ対応していると見ることができます。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審議まとめに示された主な改善の方向を６つに整理しました。
目標・内容は、中核的な概念等を軸に構造化して、分かりやすく示す方向です。
オレンジの２つは、学校のカリキュラム・マネジメントに直接関わる制度です。調整授業時数制度は、学校の実態に応じて標準授業時数を一定の範囲で調整できる仕組みです。そこで生み出した時間を、子供の個性や特性に応じた学びに充てるのが「裁量的な時間」です。天童中部小のフリースタイルプロジェクトは、まさにこの時間の使い方の一つのモデルになると考えます。
そのほか、情報活用能力の抜本的向上、「主体的に学習に取り組む態度」の評価の在り方などを見直す学習評価の改善、学習内容を精選して「好き」「得意」を育むことが示されています。
制度の名称や詳細は、答申・告示で確定します。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ここまでの内容を、天童中部小の実践と次期学習指導要領の論点の対応表にまとめました。
右の列は、私たちが学校訪問で見たいことです。例えば、マイプラン学習のような取組を見るときは、子供が選ぶ場面があるかだけでなく、協働が生まれる仕掛けがあるかを見ます。
調整授業時数制度については、時数をどう生み出すかと同時に、保護者や地域にどう説明するかも、学校と一緒に考える必要があります。
この右の列を、次の協議の手がかりにしてください。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最後に、私たち指導主事として、これをどう生かすかを考えます。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授業を見る視点についてです。これまでの視点を捨てるのではなく、広げるという意味で整理しました。
これまで私たちは、教師の発問や板書、授業の展開をよく見てきました。それに加えて、子供が何を選び、どう自分の学びを調整しているかを見たいと思います。
全員が同じペースで進む授業だけでなく、一人一人の進み具合と、それに教師がどう支援しているか。１時間の授業の完結だけでなく、単元やカリキュラム全体のデザイン。
つまり、「教師がどう教えたか」に加えて、「子供がどう学んだか」を見る、ということです。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それでは、グループで協議します。時間は15分です。
問いは３つ用意しました。全部でなくても、１つ選んで深めてもかまいません。
問１は、担当校で子供が「自分で決めている」場面はどこにあるか、です。具体的な学校・授業を思い浮かべてください。
問２は、学校から「自由進度学習に取り組みたい」と相談されたら、まず何を助言するか、です。天童中部小が段階的に自由度を高めていたことも手がかりになると思います。
問３は、調整授業時数制度や裁量的な時間について、学校に今から何を準備してもらうとよいか、です。
まず３分、個人で考えてから、グループで10分共有し、最後に全体で２分ほど共有します。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まとめです。
１つ目、次期学習指導要領は、子供が自分で学びを進める授業を、日常の授業で実現することを目指しています。
２つ目、天童中部小学校は、学習形態を段階的に組み合わせ、子供に任せる範囲を少しずつ広げることで、それを実現していました。
３つ目、私たち指導主事は、新しい制度を説明するだけでなく、学校とともにカリキュラムをデザインする伴走者になることが求められます。
次の一歩として、まず審議まとめの本文を読んでみてください。パブリックコメントは11月5日までです。そして次の学校訪問で、「子供がどう学んだか」という視点を一度試してみてください。
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参考資料です。審議まとめと、今後出される答申は、文部科学省のウェブサイトで最新版を確認してください。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011680"/>
            <a:ext cx="2743200" cy="1097280"/>
          </a:xfrm>
          <a:prstGeom prst="rect">
            <a:avLst/>
          </a:prstGeom>
          <a:noFill/>
          <a:ln/>
        </p:spPr>
        <p:txBody>
          <a:bodyPr wrap="square" rtlCol="0"/>
          <a:lstStyle>
            <a:lvl1pPr indent="0" marL="0">
              <a:buNone/>
              <a:defRPr lang="en-US" sz="6000" b="1" dirty="0">
                <a:solidFill>
                  <a:schemeClr val="accent2"/>
                </a:solidFill>
              </a:defRPr>
            </a:lvl1pPr>
          </a:lstStyle>
          <a:p>
            <a:pPr indent="0" marL="0">
              <a:buNone/>
            </a:pPr>
            <a:endParaRPr lang="en-US" sz="6000" dirty="0"/>
          </a:p>
        </p:txBody>
      </p:sp>
      <p:sp>
        <p:nvSpPr>
          <p:cNvPr id="3" name="Text 0"/>
          <p:cNvSpPr/>
          <p:nvPr>
            <p:ph idx="101" type="title" hasCustomPrompt="1"/>
          </p:nvPr>
        </p:nvSpPr>
        <p:spPr>
          <a:xfrm>
            <a:off x="548640" y="3108960"/>
            <a:ext cx="8686800" cy="10058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548640" y="4160520"/>
            <a:ext cx="8686800" cy="73152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天童中部小学校 視察報告｜指導主事研修</a:t>
            </a:r>
            <a:endParaRPr lang="en-US" sz="10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4.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4.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4.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4.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914400"/>
            <a:ext cx="6583680" cy="365760"/>
          </a:xfrm>
          <a:prstGeom prst="rect">
            <a:avLst/>
          </a:prstGeom>
          <a:noFill/>
          <a:ln/>
        </p:spPr>
        <p:txBody>
          <a:bodyPr wrap="square" lIns="0" tIns="0" rIns="0" bIns="0" rtlCol="0" anchor="ctr"/>
          <a:lstStyle/>
          <a:p>
            <a:pPr indent="0" marL="0">
              <a:buNone/>
            </a:pPr>
            <a:r>
              <a:rPr lang="en-US" sz="1600" b="1" dirty="0">
                <a:solidFill>
                  <a:schemeClr val="accent2"/>
                </a:solidFill>
              </a:rPr>
              <a:t>指導主事研修｜視察報告</a:t>
            </a:r>
            <a:endParaRPr lang="en-US" sz="1600" dirty="0"/>
          </a:p>
        </p:txBody>
      </p:sp>
      <p:sp>
        <p:nvSpPr>
          <p:cNvPr id="3" name="Text 1"/>
          <p:cNvSpPr txBox="1"/>
          <p:nvPr/>
        </p:nvSpPr>
        <p:spPr>
          <a:xfrm>
            <a:off x="548640" y="1463040"/>
            <a:ext cx="6949440" cy="2011680"/>
          </a:xfrm>
          <a:prstGeom prst="rect">
            <a:avLst/>
          </a:prstGeom>
          <a:noFill/>
          <a:ln/>
        </p:spPr>
        <p:txBody>
          <a:bodyPr wrap="square" lIns="0" tIns="0" rIns="0" bIns="0" rtlCol="0" anchor="t"/>
          <a:lstStyle/>
          <a:p>
            <a:pPr indent="0" marL="0">
              <a:buNone/>
            </a:pPr>
            <a:r>
              <a:rPr lang="en-US" sz="3200" b="1" dirty="0">
                <a:solidFill>
                  <a:schemeClr val="bg1"/>
                </a:solidFill>
                <a:latin typeface="Meiryo UI" pitchFamily="34" charset="0"/>
                <a:ea typeface="Meiryo UI" pitchFamily="34" charset="-122"/>
                <a:cs typeface="Meiryo UI" pitchFamily="34" charset="-120"/>
              </a:rPr>
              <a:t>天童中部小学校の実践から考える</a:t>
            </a:r>
            <a:endParaRPr lang="en-US" sz="3200" dirty="0"/>
          </a:p>
          <a:p>
            <a:pPr indent="0" marL="0">
              <a:buNone/>
            </a:pPr>
            <a:r>
              <a:rPr lang="en-US" sz="3200" b="1" dirty="0">
                <a:solidFill>
                  <a:schemeClr val="bg1"/>
                </a:solidFill>
                <a:latin typeface="Meiryo UI" pitchFamily="34" charset="0"/>
                <a:ea typeface="Meiryo UI" pitchFamily="34" charset="-122"/>
                <a:cs typeface="Meiryo UI" pitchFamily="34" charset="-120"/>
              </a:rPr>
              <a:t>次期学習指導要領の方向性</a:t>
            </a:r>
            <a:endParaRPr lang="en-US" sz="3200" dirty="0"/>
          </a:p>
        </p:txBody>
      </p:sp>
      <p:sp>
        <p:nvSpPr>
          <p:cNvPr id="4" name="Text 2"/>
          <p:cNvSpPr txBox="1"/>
          <p:nvPr/>
        </p:nvSpPr>
        <p:spPr>
          <a:xfrm>
            <a:off x="548640" y="3749040"/>
            <a:ext cx="6583680" cy="822960"/>
          </a:xfrm>
          <a:prstGeom prst="rect">
            <a:avLst/>
          </a:prstGeom>
          <a:noFill/>
          <a:ln/>
        </p:spPr>
        <p:txBody>
          <a:bodyPr wrap="square" lIns="0" tIns="0" rIns="0" bIns="0" rtlCol="0" anchor="t"/>
          <a:lstStyle/>
          <a:p>
            <a:pPr indent="0" marL="0">
              <a:buNone/>
            </a:pPr>
            <a:r>
              <a:rPr lang="en-US" sz="1800" dirty="0">
                <a:solidFill>
                  <a:schemeClr val="accent6"/>
                </a:solidFill>
              </a:rPr>
              <a:t>山形県天童市立天童中部小学校</a:t>
            </a:r>
            <a:endParaRPr lang="en-US" sz="1800" dirty="0"/>
          </a:p>
          <a:p>
            <a:pPr indent="0" marL="0">
              <a:buNone/>
            </a:pPr>
            <a:r>
              <a:rPr lang="en-US" sz="1800" dirty="0">
                <a:solidFill>
                  <a:schemeClr val="accent6"/>
                </a:solidFill>
              </a:rPr>
              <a:t>公開研究会（令和８年10月14日）参加報告</a:t>
            </a:r>
            <a:endParaRPr lang="en-US" sz="1800" dirty="0"/>
          </a:p>
        </p:txBody>
      </p:sp>
      <p:sp>
        <p:nvSpPr>
          <p:cNvPr id="5" name="Text 3"/>
          <p:cNvSpPr txBox="1"/>
          <p:nvPr/>
        </p:nvSpPr>
        <p:spPr>
          <a:xfrm>
            <a:off x="548640" y="5760720"/>
            <a:ext cx="6583680" cy="365760"/>
          </a:xfrm>
          <a:prstGeom prst="rect">
            <a:avLst/>
          </a:prstGeom>
          <a:noFill/>
          <a:ln/>
        </p:spPr>
        <p:txBody>
          <a:bodyPr wrap="square" lIns="0" tIns="0" rIns="0" bIns="0" rtlCol="0" anchor="ctr"/>
          <a:lstStyle/>
          <a:p>
            <a:pPr indent="0" marL="0">
              <a:buNone/>
            </a:pPr>
            <a:r>
              <a:rPr lang="en-US" sz="1400" dirty="0">
                <a:solidFill>
                  <a:schemeClr val="accent6"/>
                </a:solidFill>
              </a:rPr>
              <a:t>練馬区教育委員会　令和８年10月</a:t>
            </a:r>
            <a:endParaRPr lang="en-US" sz="1400" dirty="0"/>
          </a:p>
        </p:txBody>
      </p:sp>
      <p:sp>
        <p:nvSpPr>
          <p:cNvPr id="6" name="写真枠1"/>
          <p:cNvSpPr/>
          <p:nvPr/>
        </p:nvSpPr>
        <p:spPr>
          <a:xfrm>
            <a:off x="7772400" y="914400"/>
            <a:ext cx="3840480" cy="5029200"/>
          </a:xfrm>
          <a:prstGeom prst="roundRect">
            <a:avLst>
              <a:gd name="adj" fmla="val 2857"/>
            </a:avLst>
          </a:prstGeom>
          <a:solidFill>
            <a:schemeClr val="tx1">
              <a:alpha val="40000"/>
            </a:schemeClr>
          </a:solidFill>
          <a:ln w="15875">
            <a:solidFill>
              <a:schemeClr val="accent3"/>
            </a:solidFill>
            <a:prstDash val="dash"/>
          </a:ln>
        </p:spPr>
      </p:sp>
      <p:pic>
        <p:nvPicPr>
          <p:cNvPr id="7" name="写真枠1_アイコン" descr="preencoded.png">    </p:cNvPr>
          <p:cNvPicPr>
            <a:picLocks noChangeAspect="1"/>
          </p:cNvPicPr>
          <p:nvPr/>
        </p:nvPicPr>
        <p:blipFill>
          <a:blip r:embed="rId1"/>
          <a:stretch>
            <a:fillRect/>
          </a:stretch>
        </p:blipFill>
        <p:spPr>
          <a:xfrm>
            <a:off x="9418320" y="2834640"/>
            <a:ext cx="548640" cy="548640"/>
          </a:xfrm>
          <a:prstGeom prst="rect">
            <a:avLst/>
          </a:prstGeom>
        </p:spPr>
      </p:pic>
      <p:sp>
        <p:nvSpPr>
          <p:cNvPr id="8" name="写真枠1_説明"/>
          <p:cNvSpPr txBox="1"/>
          <p:nvPr/>
        </p:nvSpPr>
        <p:spPr>
          <a:xfrm>
            <a:off x="7909560" y="3474720"/>
            <a:ext cx="3566160" cy="731520"/>
          </a:xfrm>
          <a:prstGeom prst="rect">
            <a:avLst/>
          </a:prstGeom>
          <a:noFill/>
          <a:ln/>
        </p:spPr>
        <p:txBody>
          <a:bodyPr wrap="square" lIns="0" tIns="0" rIns="0" bIns="0" rtlCol="0" anchor="t"/>
          <a:lstStyle/>
          <a:p>
            <a:pPr algn="ctr" indent="0" marL="0">
              <a:buNone/>
            </a:pPr>
            <a:r>
              <a:rPr lang="en-US" sz="1200" b="1" dirty="0">
                <a:solidFill>
                  <a:schemeClr val="accent6"/>
                </a:solidFill>
              </a:rPr>
              <a:t>写真</a:t>
            </a:r>
            <a:endParaRPr lang="en-US" sz="1200" dirty="0"/>
          </a:p>
          <a:p>
            <a:pPr algn="ctr" indent="0" marL="0">
              <a:buNone/>
            </a:pPr>
            <a:r>
              <a:rPr lang="en-US" sz="1200" dirty="0">
                <a:solidFill>
                  <a:schemeClr val="accent6"/>
                </a:solidFill>
              </a:rPr>
              <a:t>校舎・公開研究会の様子</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本日のねらいと流れ</a:t>
            </a:r>
            <a:endParaRPr lang="en-US" sz="3200" dirty="0"/>
          </a:p>
        </p:txBody>
      </p:sp>
      <p:sp>
        <p:nvSpPr>
          <p:cNvPr id="3" name="Shape 1"/>
          <p:cNvSpPr/>
          <p:nvPr/>
        </p:nvSpPr>
        <p:spPr>
          <a:xfrm>
            <a:off x="548640" y="1325880"/>
            <a:ext cx="11094415" cy="1143000"/>
          </a:xfrm>
          <a:prstGeom prst="roundRect">
            <a:avLst>
              <a:gd name="adj" fmla="val 8000"/>
            </a:avLst>
          </a:prstGeom>
          <a:solidFill>
            <a:schemeClr val="tx2"/>
          </a:solidFill>
          <a:ln/>
        </p:spPr>
      </p:sp>
      <p:sp>
        <p:nvSpPr>
          <p:cNvPr id="4" name="Text 2"/>
          <p:cNvSpPr txBox="1"/>
          <p:nvPr/>
        </p:nvSpPr>
        <p:spPr>
          <a:xfrm>
            <a:off x="868680" y="1417320"/>
            <a:ext cx="10454335" cy="960120"/>
          </a:xfrm>
          <a:prstGeom prst="rect">
            <a:avLst/>
          </a:prstGeom>
          <a:noFill/>
          <a:ln/>
        </p:spPr>
        <p:txBody>
          <a:bodyPr wrap="square" lIns="0" tIns="0" rIns="0" bIns="0" rtlCol="0" anchor="ctr"/>
          <a:lstStyle/>
          <a:p>
            <a:pPr indent="0" marL="0">
              <a:buNone/>
            </a:pPr>
            <a:r>
              <a:rPr lang="en-US" sz="1800" b="1" dirty="0">
                <a:solidFill>
                  <a:schemeClr val="accent2"/>
                </a:solidFill>
              </a:rPr>
              <a:t>ねらい　</a:t>
            </a:r>
            <a:pPr indent="0" marL="0">
              <a:buNone/>
            </a:pPr>
            <a:r>
              <a:rPr lang="en-US" sz="1800" dirty="0">
                <a:solidFill>
                  <a:schemeClr val="bg1"/>
                </a:solidFill>
              </a:rPr>
              <a:t>天童中部小学校の取組を知り、次期学習指導要領の方向性を指導主事間で共有する。そのうえで、学校訪問・指導助言に生かす視点をもつ。</a:t>
            </a:r>
            <a:endParaRPr lang="en-US" sz="1800" dirty="0"/>
          </a:p>
        </p:txBody>
      </p:sp>
      <p:sp>
        <p:nvSpPr>
          <p:cNvPr id="5" name="Shape 3"/>
          <p:cNvSpPr/>
          <p:nvPr/>
        </p:nvSpPr>
        <p:spPr>
          <a:xfrm>
            <a:off x="548640" y="2834640"/>
            <a:ext cx="3429000" cy="3017520"/>
          </a:xfrm>
          <a:prstGeom prst="roundRect">
            <a:avLst>
              <a:gd name="adj" fmla="val 3030"/>
            </a:avLst>
          </a:prstGeom>
          <a:solidFill>
            <a:schemeClr val="bg2"/>
          </a:solidFill>
          <a:ln/>
        </p:spPr>
      </p:sp>
      <p:sp>
        <p:nvSpPr>
          <p:cNvPr id="6" name="Shape 4"/>
          <p:cNvSpPr/>
          <p:nvPr/>
        </p:nvSpPr>
        <p:spPr>
          <a:xfrm>
            <a:off x="868680" y="3154680"/>
            <a:ext cx="822960" cy="822960"/>
          </a:xfrm>
          <a:prstGeom prst="ellipse">
            <a:avLst/>
          </a:prstGeom>
          <a:solidFill>
            <a:schemeClr val="accent1"/>
          </a:solidFill>
          <a:ln/>
        </p:spPr>
      </p:sp>
      <p:pic>
        <p:nvPicPr>
          <p:cNvPr id="7" name="Image 0" descr="preencoded.png">    </p:cNvPr>
          <p:cNvPicPr>
            <a:picLocks noChangeAspect="1"/>
          </p:cNvPicPr>
          <p:nvPr/>
        </p:nvPicPr>
        <p:blipFill>
          <a:blip r:embed="rId1"/>
          <a:stretch>
            <a:fillRect/>
          </a:stretch>
        </p:blipFill>
        <p:spPr>
          <a:xfrm>
            <a:off x="1074420" y="3360420"/>
            <a:ext cx="411480" cy="411480"/>
          </a:xfrm>
          <a:prstGeom prst="rect">
            <a:avLst/>
          </a:prstGeom>
        </p:spPr>
      </p:pic>
      <p:sp>
        <p:nvSpPr>
          <p:cNvPr id="8" name="Text 5"/>
          <p:cNvSpPr txBox="1"/>
          <p:nvPr/>
        </p:nvSpPr>
        <p:spPr>
          <a:xfrm>
            <a:off x="2651760" y="3291840"/>
            <a:ext cx="1005840" cy="365760"/>
          </a:xfrm>
          <a:prstGeom prst="rect">
            <a:avLst/>
          </a:prstGeom>
          <a:noFill/>
          <a:ln/>
        </p:spPr>
        <p:txBody>
          <a:bodyPr wrap="square" lIns="0" tIns="0" rIns="0" bIns="0" rtlCol="0" anchor="ctr"/>
          <a:lstStyle/>
          <a:p>
            <a:pPr algn="r" indent="0" marL="0">
              <a:buNone/>
            </a:pPr>
            <a:r>
              <a:rPr lang="en-US" sz="1400" dirty="0">
                <a:solidFill>
                  <a:schemeClr val="accent5"/>
                </a:solidFill>
              </a:rPr>
              <a:t>約15分</a:t>
            </a:r>
            <a:endParaRPr lang="en-US" sz="1400" dirty="0"/>
          </a:p>
        </p:txBody>
      </p:sp>
      <p:sp>
        <p:nvSpPr>
          <p:cNvPr id="9" name="Text 6"/>
          <p:cNvSpPr txBox="1"/>
          <p:nvPr/>
        </p:nvSpPr>
        <p:spPr>
          <a:xfrm>
            <a:off x="868680" y="4160520"/>
            <a:ext cx="2788920" cy="502920"/>
          </a:xfrm>
          <a:prstGeom prst="rect">
            <a:avLst/>
          </a:prstGeom>
          <a:noFill/>
          <a:ln/>
        </p:spPr>
        <p:txBody>
          <a:bodyPr wrap="square" lIns="0" tIns="0" rIns="0" bIns="0" rtlCol="0" anchor="ctr"/>
          <a:lstStyle/>
          <a:p>
            <a:pPr indent="0" marL="0">
              <a:buNone/>
            </a:pPr>
            <a:r>
              <a:rPr lang="en-US" sz="2400" b="1" dirty="0">
                <a:solidFill>
                  <a:schemeClr val="tx2"/>
                </a:solidFill>
              </a:rPr>
              <a:t>1　知る</a:t>
            </a:r>
            <a:endParaRPr lang="en-US" sz="2400" dirty="0"/>
          </a:p>
        </p:txBody>
      </p:sp>
      <p:sp>
        <p:nvSpPr>
          <p:cNvPr id="10" name="Text 7"/>
          <p:cNvSpPr txBox="1"/>
          <p:nvPr/>
        </p:nvSpPr>
        <p:spPr>
          <a:xfrm>
            <a:off x="868680" y="4754880"/>
            <a:ext cx="2788920" cy="868680"/>
          </a:xfrm>
          <a:prstGeom prst="rect">
            <a:avLst/>
          </a:prstGeom>
          <a:noFill/>
          <a:ln/>
        </p:spPr>
        <p:txBody>
          <a:bodyPr wrap="square" lIns="0" tIns="0" rIns="0" bIns="0" rtlCol="0" anchor="t"/>
          <a:lstStyle/>
          <a:p>
            <a:pPr indent="0" marL="0">
              <a:buNone/>
            </a:pPr>
            <a:r>
              <a:rPr lang="en-US" sz="1500" b="1" dirty="0">
                <a:solidFill>
                  <a:schemeClr val="tx1"/>
                </a:solidFill>
              </a:rPr>
              <a:t>天童中部小学校の取組</a:t>
            </a:r>
            <a:endParaRPr lang="en-US" sz="1500" dirty="0"/>
          </a:p>
          <a:p>
            <a:pPr indent="0" marL="0">
              <a:buNone/>
            </a:pPr>
            <a:r>
              <a:rPr lang="en-US" sz="1500" dirty="0">
                <a:solidFill>
                  <a:schemeClr val="accent5"/>
                </a:solidFill>
              </a:rPr>
              <a:t>４つの学習形態／公開授業</a:t>
            </a:r>
            <a:endParaRPr lang="en-US" sz="1500" dirty="0"/>
          </a:p>
        </p:txBody>
      </p:sp>
      <p:pic>
        <p:nvPicPr>
          <p:cNvPr id="11" name="Image 1" descr="preencoded.png">    </p:cNvPr>
          <p:cNvPicPr>
            <a:picLocks noChangeAspect="1"/>
          </p:cNvPicPr>
          <p:nvPr/>
        </p:nvPicPr>
        <p:blipFill>
          <a:blip r:embed="rId2"/>
          <a:stretch>
            <a:fillRect/>
          </a:stretch>
        </p:blipFill>
        <p:spPr>
          <a:xfrm>
            <a:off x="4050792" y="4206240"/>
            <a:ext cx="274320" cy="274320"/>
          </a:xfrm>
          <a:prstGeom prst="rect">
            <a:avLst/>
          </a:prstGeom>
        </p:spPr>
      </p:pic>
      <p:sp>
        <p:nvSpPr>
          <p:cNvPr id="12" name="Shape 8"/>
          <p:cNvSpPr/>
          <p:nvPr/>
        </p:nvSpPr>
        <p:spPr>
          <a:xfrm>
            <a:off x="4389120" y="2834640"/>
            <a:ext cx="3429000" cy="3017520"/>
          </a:xfrm>
          <a:prstGeom prst="roundRect">
            <a:avLst>
              <a:gd name="adj" fmla="val 3030"/>
            </a:avLst>
          </a:prstGeom>
          <a:solidFill>
            <a:schemeClr val="bg2"/>
          </a:solidFill>
          <a:ln/>
        </p:spPr>
      </p:sp>
      <p:sp>
        <p:nvSpPr>
          <p:cNvPr id="13" name="Shape 9"/>
          <p:cNvSpPr/>
          <p:nvPr/>
        </p:nvSpPr>
        <p:spPr>
          <a:xfrm>
            <a:off x="4709160" y="3154680"/>
            <a:ext cx="822960" cy="822960"/>
          </a:xfrm>
          <a:prstGeom prst="ellipse">
            <a:avLst/>
          </a:prstGeom>
          <a:solidFill>
            <a:schemeClr val="accent1"/>
          </a:solidFill>
          <a:ln/>
        </p:spPr>
      </p:sp>
      <p:pic>
        <p:nvPicPr>
          <p:cNvPr id="14" name="Image 2" descr="preencoded.png">    </p:cNvPr>
          <p:cNvPicPr>
            <a:picLocks noChangeAspect="1"/>
          </p:cNvPicPr>
          <p:nvPr/>
        </p:nvPicPr>
        <p:blipFill>
          <a:blip r:embed="rId3"/>
          <a:stretch>
            <a:fillRect/>
          </a:stretch>
        </p:blipFill>
        <p:spPr>
          <a:xfrm>
            <a:off x="4914900" y="3360420"/>
            <a:ext cx="411480" cy="411480"/>
          </a:xfrm>
          <a:prstGeom prst="rect">
            <a:avLst/>
          </a:prstGeom>
        </p:spPr>
      </p:pic>
      <p:sp>
        <p:nvSpPr>
          <p:cNvPr id="15" name="Text 10"/>
          <p:cNvSpPr txBox="1"/>
          <p:nvPr/>
        </p:nvSpPr>
        <p:spPr>
          <a:xfrm>
            <a:off x="6492240" y="3291840"/>
            <a:ext cx="1005840" cy="365760"/>
          </a:xfrm>
          <a:prstGeom prst="rect">
            <a:avLst/>
          </a:prstGeom>
          <a:noFill/>
          <a:ln/>
        </p:spPr>
        <p:txBody>
          <a:bodyPr wrap="square" lIns="0" tIns="0" rIns="0" bIns="0" rtlCol="0" anchor="ctr"/>
          <a:lstStyle/>
          <a:p>
            <a:pPr algn="r" indent="0" marL="0">
              <a:buNone/>
            </a:pPr>
            <a:r>
              <a:rPr lang="en-US" sz="1400" dirty="0">
                <a:solidFill>
                  <a:schemeClr val="accent5"/>
                </a:solidFill>
              </a:rPr>
              <a:t>約15分</a:t>
            </a:r>
            <a:endParaRPr lang="en-US" sz="1400" dirty="0"/>
          </a:p>
        </p:txBody>
      </p:sp>
      <p:sp>
        <p:nvSpPr>
          <p:cNvPr id="16" name="Text 11"/>
          <p:cNvSpPr txBox="1"/>
          <p:nvPr/>
        </p:nvSpPr>
        <p:spPr>
          <a:xfrm>
            <a:off x="4709160" y="4160520"/>
            <a:ext cx="2788920" cy="502920"/>
          </a:xfrm>
          <a:prstGeom prst="rect">
            <a:avLst/>
          </a:prstGeom>
          <a:noFill/>
          <a:ln/>
        </p:spPr>
        <p:txBody>
          <a:bodyPr wrap="square" lIns="0" tIns="0" rIns="0" bIns="0" rtlCol="0" anchor="ctr"/>
          <a:lstStyle/>
          <a:p>
            <a:pPr indent="0" marL="0">
              <a:buNone/>
            </a:pPr>
            <a:r>
              <a:rPr lang="en-US" sz="2400" b="1" dirty="0">
                <a:solidFill>
                  <a:schemeClr val="tx2"/>
                </a:solidFill>
              </a:rPr>
              <a:t>2　つなぐ</a:t>
            </a:r>
            <a:endParaRPr lang="en-US" sz="2400" dirty="0"/>
          </a:p>
        </p:txBody>
      </p:sp>
      <p:sp>
        <p:nvSpPr>
          <p:cNvPr id="17" name="Text 12"/>
          <p:cNvSpPr txBox="1"/>
          <p:nvPr/>
        </p:nvSpPr>
        <p:spPr>
          <a:xfrm>
            <a:off x="4709160" y="4754880"/>
            <a:ext cx="2788920" cy="868680"/>
          </a:xfrm>
          <a:prstGeom prst="rect">
            <a:avLst/>
          </a:prstGeom>
          <a:noFill/>
          <a:ln/>
        </p:spPr>
        <p:txBody>
          <a:bodyPr wrap="square" lIns="0" tIns="0" rIns="0" bIns="0" rtlCol="0" anchor="t"/>
          <a:lstStyle/>
          <a:p>
            <a:pPr indent="0" marL="0">
              <a:buNone/>
            </a:pPr>
            <a:r>
              <a:rPr lang="en-US" sz="1500" b="1" dirty="0">
                <a:solidFill>
                  <a:schemeClr val="tx1"/>
                </a:solidFill>
              </a:rPr>
              <a:t>講演・鼎談と次期学習指導要領</a:t>
            </a:r>
            <a:endParaRPr lang="en-US" sz="1500" dirty="0"/>
          </a:p>
          <a:p>
            <a:pPr indent="0" marL="0">
              <a:buNone/>
            </a:pPr>
            <a:r>
              <a:rPr lang="en-US" sz="1500" dirty="0">
                <a:solidFill>
                  <a:schemeClr val="accent5"/>
                </a:solidFill>
              </a:rPr>
              <a:t>審議まとめのポイント</a:t>
            </a:r>
            <a:endParaRPr lang="en-US" sz="1500" dirty="0"/>
          </a:p>
        </p:txBody>
      </p:sp>
      <p:pic>
        <p:nvPicPr>
          <p:cNvPr id="18" name="Image 3" descr="preencoded.png">    </p:cNvPr>
          <p:cNvPicPr>
            <a:picLocks noChangeAspect="1"/>
          </p:cNvPicPr>
          <p:nvPr/>
        </p:nvPicPr>
        <p:blipFill>
          <a:blip r:embed="rId4"/>
          <a:stretch>
            <a:fillRect/>
          </a:stretch>
        </p:blipFill>
        <p:spPr>
          <a:xfrm>
            <a:off x="7891272" y="4206240"/>
            <a:ext cx="274320" cy="274320"/>
          </a:xfrm>
          <a:prstGeom prst="rect">
            <a:avLst/>
          </a:prstGeom>
        </p:spPr>
      </p:pic>
      <p:sp>
        <p:nvSpPr>
          <p:cNvPr id="19" name="Shape 13"/>
          <p:cNvSpPr/>
          <p:nvPr/>
        </p:nvSpPr>
        <p:spPr>
          <a:xfrm>
            <a:off x="8229600" y="2834640"/>
            <a:ext cx="3429000" cy="3017520"/>
          </a:xfrm>
          <a:prstGeom prst="roundRect">
            <a:avLst>
              <a:gd name="adj" fmla="val 3030"/>
            </a:avLst>
          </a:prstGeom>
          <a:solidFill>
            <a:schemeClr val="bg2"/>
          </a:solidFill>
          <a:ln/>
        </p:spPr>
      </p:sp>
      <p:sp>
        <p:nvSpPr>
          <p:cNvPr id="20" name="Shape 14"/>
          <p:cNvSpPr/>
          <p:nvPr/>
        </p:nvSpPr>
        <p:spPr>
          <a:xfrm>
            <a:off x="8549640" y="3154680"/>
            <a:ext cx="822960" cy="822960"/>
          </a:xfrm>
          <a:prstGeom prst="ellipse">
            <a:avLst/>
          </a:prstGeom>
          <a:solidFill>
            <a:schemeClr val="accent1"/>
          </a:solidFill>
          <a:ln/>
        </p:spPr>
      </p:sp>
      <p:pic>
        <p:nvPicPr>
          <p:cNvPr id="21" name="Image 4" descr="preencoded.png">    </p:cNvPr>
          <p:cNvPicPr>
            <a:picLocks noChangeAspect="1"/>
          </p:cNvPicPr>
          <p:nvPr/>
        </p:nvPicPr>
        <p:blipFill>
          <a:blip r:embed="rId5"/>
          <a:stretch>
            <a:fillRect/>
          </a:stretch>
        </p:blipFill>
        <p:spPr>
          <a:xfrm>
            <a:off x="8755380" y="3360420"/>
            <a:ext cx="411480" cy="411480"/>
          </a:xfrm>
          <a:prstGeom prst="rect">
            <a:avLst/>
          </a:prstGeom>
        </p:spPr>
      </p:pic>
      <p:sp>
        <p:nvSpPr>
          <p:cNvPr id="22" name="Text 15"/>
          <p:cNvSpPr txBox="1"/>
          <p:nvPr/>
        </p:nvSpPr>
        <p:spPr>
          <a:xfrm>
            <a:off x="10332720" y="3291840"/>
            <a:ext cx="1005840" cy="365760"/>
          </a:xfrm>
          <a:prstGeom prst="rect">
            <a:avLst/>
          </a:prstGeom>
          <a:noFill/>
          <a:ln/>
        </p:spPr>
        <p:txBody>
          <a:bodyPr wrap="square" lIns="0" tIns="0" rIns="0" bIns="0" rtlCol="0" anchor="ctr"/>
          <a:lstStyle/>
          <a:p>
            <a:pPr algn="r" indent="0" marL="0">
              <a:buNone/>
            </a:pPr>
            <a:r>
              <a:rPr lang="en-US" sz="1400" dirty="0">
                <a:solidFill>
                  <a:schemeClr val="accent5"/>
                </a:solidFill>
              </a:rPr>
              <a:t>約15分</a:t>
            </a:r>
            <a:endParaRPr lang="en-US" sz="1400" dirty="0"/>
          </a:p>
        </p:txBody>
      </p:sp>
      <p:sp>
        <p:nvSpPr>
          <p:cNvPr id="23" name="Text 16"/>
          <p:cNvSpPr txBox="1"/>
          <p:nvPr/>
        </p:nvSpPr>
        <p:spPr>
          <a:xfrm>
            <a:off x="8549640" y="4160520"/>
            <a:ext cx="2788920" cy="502920"/>
          </a:xfrm>
          <a:prstGeom prst="rect">
            <a:avLst/>
          </a:prstGeom>
          <a:noFill/>
          <a:ln/>
        </p:spPr>
        <p:txBody>
          <a:bodyPr wrap="square" lIns="0" tIns="0" rIns="0" bIns="0" rtlCol="0" anchor="ctr"/>
          <a:lstStyle/>
          <a:p>
            <a:pPr indent="0" marL="0">
              <a:buNone/>
            </a:pPr>
            <a:r>
              <a:rPr lang="en-US" sz="2400" b="1" dirty="0">
                <a:solidFill>
                  <a:schemeClr val="tx2"/>
                </a:solidFill>
              </a:rPr>
              <a:t>3　語り合う</a:t>
            </a:r>
            <a:endParaRPr lang="en-US" sz="2400" dirty="0"/>
          </a:p>
        </p:txBody>
      </p:sp>
      <p:sp>
        <p:nvSpPr>
          <p:cNvPr id="24" name="Text 17"/>
          <p:cNvSpPr txBox="1"/>
          <p:nvPr/>
        </p:nvSpPr>
        <p:spPr>
          <a:xfrm>
            <a:off x="8549640" y="4754880"/>
            <a:ext cx="2788920" cy="868680"/>
          </a:xfrm>
          <a:prstGeom prst="rect">
            <a:avLst/>
          </a:prstGeom>
          <a:noFill/>
          <a:ln/>
        </p:spPr>
        <p:txBody>
          <a:bodyPr wrap="square" lIns="0" tIns="0" rIns="0" bIns="0" rtlCol="0" anchor="t"/>
          <a:lstStyle/>
          <a:p>
            <a:pPr indent="0" marL="0">
              <a:buNone/>
            </a:pPr>
            <a:r>
              <a:rPr lang="en-US" sz="1500" b="1" dirty="0">
                <a:solidFill>
                  <a:schemeClr val="tx1"/>
                </a:solidFill>
              </a:rPr>
              <a:t>指導主事としての視点</a:t>
            </a:r>
            <a:endParaRPr lang="en-US" sz="1500" dirty="0"/>
          </a:p>
          <a:p>
            <a:pPr indent="0" marL="0">
              <a:buNone/>
            </a:pPr>
            <a:r>
              <a:rPr lang="en-US" sz="1500" dirty="0">
                <a:solidFill>
                  <a:schemeClr val="accent5"/>
                </a:solidFill>
              </a:rPr>
              <a:t>グループ協議</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視察の概要</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766560" cy="914400"/>
        </p:xfrm>
        <a:graphic>
          <a:graphicData uri="http://schemas.openxmlformats.org/drawingml/2006/table">
            <a:tbl>
              <a:tblPr/>
              <a:tblGrid>
                <a:gridCol w="1371600"/>
                <a:gridCol w="5394960"/>
              </a:tblGrid>
              <a:tr h="548640">
                <a:tc>
                  <a:txBody>
                    <a:bodyPr/>
                    <a:lstStyle/>
                    <a:p>
                      <a:pPr indent="0" marL="0">
                        <a:buNone/>
                      </a:pPr>
                      <a:r>
                        <a:rPr lang="en-US" sz="1500" b="1" dirty="0">
                          <a:solidFill>
                            <a:schemeClr val="tx2"/>
                          </a:solidFill>
                        </a:rPr>
                        <a:t>期日</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令和８年10月14日（水）</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tcPr>
                </a:tc>
              </a:tr>
              <a:tr h="548640">
                <a:tc>
                  <a:txBody>
                    <a:bodyPr/>
                    <a:lstStyle/>
                    <a:p>
                      <a:pPr indent="0" marL="0">
                        <a:buNone/>
                      </a:pPr>
                      <a:r>
                        <a:rPr lang="en-US" sz="1500" b="1" dirty="0">
                          <a:solidFill>
                            <a:schemeClr val="tx2"/>
                          </a:solidFill>
                        </a:rPr>
                        <a:t>会場</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天童市立天童中部小学校（山形県天童市）</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tcPr>
                </a:tc>
              </a:tr>
              <a:tr h="548640">
                <a:tc>
                  <a:txBody>
                    <a:bodyPr/>
                    <a:lstStyle/>
                    <a:p>
                      <a:pPr indent="0" marL="0">
                        <a:buNone/>
                      </a:pPr>
                      <a:r>
                        <a:rPr lang="en-US" sz="1500" b="1" dirty="0">
                          <a:solidFill>
                            <a:schemeClr val="tx2"/>
                          </a:solidFill>
                        </a:rPr>
                        <a:t>研究主題</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「学び続ける子供の育成」</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tcPr>
                </a:tc>
              </a:tr>
              <a:tr h="777240">
                <a:tc>
                  <a:txBody>
                    <a:bodyPr/>
                    <a:lstStyle/>
                    <a:p>
                      <a:pPr indent="0" marL="0">
                        <a:buNone/>
                      </a:pPr>
                      <a:r>
                        <a:rPr lang="en-US" sz="1500" b="1" dirty="0">
                          <a:solidFill>
                            <a:schemeClr val="tx2"/>
                          </a:solidFill>
                        </a:rPr>
                        <a:t>内容</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公開授業（２年国語・６年算数 ほか）／研究発表／講演・鼎談／質疑応答</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tcPr>
                </a:tc>
              </a:tr>
              <a:tr h="960120">
                <a:tc>
                  <a:txBody>
                    <a:bodyPr/>
                    <a:lstStyle/>
                    <a:p>
                      <a:pPr indent="0" marL="0">
                        <a:buNone/>
                      </a:pPr>
                      <a:r>
                        <a:rPr lang="en-US" sz="1500" b="1" dirty="0">
                          <a:solidFill>
                            <a:schemeClr val="tx2"/>
                          </a:solidFill>
                        </a:rPr>
                        <a:t>講演</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奈須正裕 先生（上智大学）</a:t>
                      </a:r>
                      <a:endParaRPr lang="en-US" sz="1500" dirty="0"/>
                    </a:p>
                    <a:p>
                      <a:pPr indent="0" marL="0">
                        <a:buNone/>
                      </a:pPr>
                      <a:r>
                        <a:rPr lang="en-US" sz="1500" dirty="0">
                          <a:solidFill>
                            <a:schemeClr val="tx1"/>
                          </a:solidFill>
                        </a:rPr>
                        <a:t>「次期学習指導要領が目指す学力論とカリキュラム開発」</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tcPr>
                </a:tc>
              </a:tr>
              <a:tr h="548640">
                <a:tc>
                  <a:txBody>
                    <a:bodyPr/>
                    <a:lstStyle/>
                    <a:p>
                      <a:pPr indent="0" marL="0">
                        <a:buNone/>
                      </a:pPr>
                      <a:r>
                        <a:rPr lang="en-US" sz="1500" b="1" dirty="0">
                          <a:solidFill>
                            <a:schemeClr val="tx2"/>
                          </a:solidFill>
                        </a:rPr>
                        <a:t>鼎談</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奈須先生・佐野先生・大谷先生</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tcPr>
                </a:tc>
              </a:tr>
            </a:tbl>
          </a:graphicData>
        </a:graphic>
      </p:graphicFrame>
      <p:sp>
        <p:nvSpPr>
          <p:cNvPr id="4" name="写真枠2"/>
          <p:cNvSpPr/>
          <p:nvPr/>
        </p:nvSpPr>
        <p:spPr>
          <a:xfrm>
            <a:off x="7772400" y="1371600"/>
            <a:ext cx="3867912" cy="2148840"/>
          </a:xfrm>
          <a:prstGeom prst="roundRect">
            <a:avLst>
              <a:gd name="adj" fmla="val 5106"/>
            </a:avLst>
          </a:prstGeom>
          <a:solidFill>
            <a:schemeClr val="bg2"/>
          </a:solidFill>
          <a:ln w="15875">
            <a:solidFill>
              <a:schemeClr val="accent3"/>
            </a:solidFill>
            <a:prstDash val="dash"/>
          </a:ln>
        </p:spPr>
      </p:sp>
      <p:pic>
        <p:nvPicPr>
          <p:cNvPr id="5" name="写真枠2_アイコン" descr="preencoded.png">    </p:cNvPr>
          <p:cNvPicPr>
            <a:picLocks noChangeAspect="1"/>
          </p:cNvPicPr>
          <p:nvPr/>
        </p:nvPicPr>
        <p:blipFill>
          <a:blip r:embed="rId1"/>
          <a:stretch>
            <a:fillRect/>
          </a:stretch>
        </p:blipFill>
        <p:spPr>
          <a:xfrm>
            <a:off x="9437751" y="1863090"/>
            <a:ext cx="537210" cy="537210"/>
          </a:xfrm>
          <a:prstGeom prst="rect">
            <a:avLst/>
          </a:prstGeom>
        </p:spPr>
      </p:pic>
      <p:sp>
        <p:nvSpPr>
          <p:cNvPr id="6" name="写真枠2_説明"/>
          <p:cNvSpPr txBox="1"/>
          <p:nvPr/>
        </p:nvSpPr>
        <p:spPr>
          <a:xfrm>
            <a:off x="7909560" y="2491740"/>
            <a:ext cx="3593592" cy="731520"/>
          </a:xfrm>
          <a:prstGeom prst="rect">
            <a:avLst/>
          </a:prstGeom>
          <a:noFill/>
          <a:ln/>
        </p:spPr>
        <p:txBody>
          <a:bodyPr wrap="square" lIns="0" tIns="0" rIns="0" bIns="0" rtlCol="0" anchor="t"/>
          <a:lstStyle/>
          <a:p>
            <a:pPr algn="ctr" indent="0" marL="0">
              <a:buNone/>
            </a:pPr>
            <a:r>
              <a:rPr lang="en-US" sz="1200" b="1" dirty="0">
                <a:solidFill>
                  <a:schemeClr val="accent5"/>
                </a:solidFill>
              </a:rPr>
              <a:t>写真</a:t>
            </a:r>
            <a:endParaRPr lang="en-US" sz="1200" dirty="0"/>
          </a:p>
          <a:p>
            <a:pPr algn="ctr" indent="0" marL="0">
              <a:buNone/>
            </a:pPr>
            <a:r>
              <a:rPr lang="en-US" sz="1200" dirty="0">
                <a:solidFill>
                  <a:schemeClr val="accent5"/>
                </a:solidFill>
              </a:rPr>
              <a:t>会場・受付</a:t>
            </a:r>
            <a:endParaRPr lang="en-US" sz="1200" dirty="0"/>
          </a:p>
        </p:txBody>
      </p:sp>
      <p:sp>
        <p:nvSpPr>
          <p:cNvPr id="7" name="写真枠3"/>
          <p:cNvSpPr/>
          <p:nvPr/>
        </p:nvSpPr>
        <p:spPr>
          <a:xfrm>
            <a:off x="7772400" y="3794760"/>
            <a:ext cx="3867912" cy="2148840"/>
          </a:xfrm>
          <a:prstGeom prst="roundRect">
            <a:avLst>
              <a:gd name="adj" fmla="val 5106"/>
            </a:avLst>
          </a:prstGeom>
          <a:solidFill>
            <a:schemeClr val="bg2"/>
          </a:solidFill>
          <a:ln w="15875">
            <a:solidFill>
              <a:schemeClr val="accent3"/>
            </a:solidFill>
            <a:prstDash val="dash"/>
          </a:ln>
        </p:spPr>
      </p:sp>
      <p:pic>
        <p:nvPicPr>
          <p:cNvPr id="8" name="写真枠3_アイコン" descr="preencoded.png">    </p:cNvPr>
          <p:cNvPicPr>
            <a:picLocks noChangeAspect="1"/>
          </p:cNvPicPr>
          <p:nvPr/>
        </p:nvPicPr>
        <p:blipFill>
          <a:blip r:embed="rId2"/>
          <a:stretch>
            <a:fillRect/>
          </a:stretch>
        </p:blipFill>
        <p:spPr>
          <a:xfrm>
            <a:off x="9437751" y="4286250"/>
            <a:ext cx="537210" cy="537210"/>
          </a:xfrm>
          <a:prstGeom prst="rect">
            <a:avLst/>
          </a:prstGeom>
        </p:spPr>
      </p:pic>
      <p:sp>
        <p:nvSpPr>
          <p:cNvPr id="9" name="写真枠3_説明"/>
          <p:cNvSpPr txBox="1"/>
          <p:nvPr/>
        </p:nvSpPr>
        <p:spPr>
          <a:xfrm>
            <a:off x="7909560" y="4914900"/>
            <a:ext cx="3593592" cy="731520"/>
          </a:xfrm>
          <a:prstGeom prst="rect">
            <a:avLst/>
          </a:prstGeom>
          <a:noFill/>
          <a:ln/>
        </p:spPr>
        <p:txBody>
          <a:bodyPr wrap="square" lIns="0" tIns="0" rIns="0" bIns="0" rtlCol="0" anchor="t"/>
          <a:lstStyle/>
          <a:p>
            <a:pPr algn="ctr" indent="0" marL="0">
              <a:buNone/>
            </a:pPr>
            <a:r>
              <a:rPr lang="en-US" sz="1200" b="1" dirty="0">
                <a:solidFill>
                  <a:schemeClr val="accent5"/>
                </a:solidFill>
              </a:rPr>
              <a:t>写真</a:t>
            </a:r>
            <a:endParaRPr lang="en-US" sz="1200" dirty="0"/>
          </a:p>
          <a:p>
            <a:pPr algn="ctr" indent="0" marL="0">
              <a:buNone/>
            </a:pPr>
            <a:r>
              <a:rPr lang="en-US" sz="1200" dirty="0">
                <a:solidFill>
                  <a:schemeClr val="accent5"/>
                </a:solidFill>
              </a:rPr>
              <a:t>研究発表・講演</a:t>
            </a:r>
            <a:endParaRPr lang="en-US" sz="12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011680"/>
            <a:ext cx="2743200" cy="1097280"/>
          </a:xfrm>
          <a:prstGeom prst="rect">
            <a:avLst/>
          </a:prstGeom>
          <a:noFill/>
          <a:ln/>
        </p:spPr>
        <p:txBody>
          <a:bodyPr wrap="square" lIns="0" tIns="0" rIns="0" bIns="0" rtlCol="0"/>
          <a:lstStyle/>
          <a:p>
            <a:pPr indent="0" marL="0">
              <a:buNone/>
            </a:pPr>
            <a:r>
              <a:rPr lang="en-US" sz="6000" b="1" dirty="0">
                <a:solidFill>
                  <a:schemeClr val="accent2"/>
                </a:solidFill>
              </a:rPr>
              <a:t>01</a:t>
            </a:r>
            <a:endParaRPr lang="en-US" sz="6000" dirty="0"/>
          </a:p>
        </p:txBody>
      </p:sp>
      <p:sp>
        <p:nvSpPr>
          <p:cNvPr id="3" name="Text 0"/>
          <p:cNvSpPr/>
          <p:nvPr>
            <p:ph idx="101" type="title" hasCustomPrompt="1"/>
          </p:nvPr>
        </p:nvSpPr>
        <p:spPr>
          <a:xfrm>
            <a:off x="548640" y="3108960"/>
            <a:ext cx="8686800" cy="1005840"/>
          </a:xfrm>
          <a:prstGeom prst="rect">
            <a:avLst/>
          </a:prstGeom>
          <a:noFill/>
          <a:ln/>
        </p:spPr>
        <p:txBody>
          <a:bodyPr wrap="square" lIns="0" tIns="0" rIns="0" bIns="0" rtlCol="0" anchor="ctr"/>
          <a:lstStyle/>
          <a:p>
            <a:pPr algn="l" indent="0" marL="0">
              <a:buNone/>
            </a:pPr>
            <a:r>
              <a:rPr lang="en-US" sz="4000" b="1" dirty="0">
                <a:solidFill>
                  <a:schemeClr val="bg1"/>
                </a:solidFill>
              </a:rPr>
              <a:t>天童中部小学校の取組</a:t>
            </a:r>
            <a:endParaRPr lang="en-US" sz="4000" dirty="0"/>
          </a:p>
        </p:txBody>
      </p:sp>
      <p:sp>
        <p:nvSpPr>
          <p:cNvPr id="4" name="Text 0"/>
          <p:cNvSpPr/>
          <p:nvPr>
            <p:ph idx="102" type="body" hasCustomPrompt="1"/>
          </p:nvPr>
        </p:nvSpPr>
        <p:spPr>
          <a:xfrm>
            <a:off x="548640" y="4160520"/>
            <a:ext cx="8686800" cy="731520"/>
          </a:xfrm>
          <a:prstGeom prst="rect">
            <a:avLst/>
          </a:prstGeom>
          <a:noFill/>
          <a:ln/>
        </p:spPr>
        <p:txBody>
          <a:bodyPr wrap="square" lIns="0" tIns="0" rIns="0" bIns="0" rtlCol="0" anchor="t"/>
          <a:lstStyle/>
          <a:p>
            <a:pPr indent="0" marL="0">
              <a:buNone/>
            </a:pPr>
            <a:r>
              <a:rPr lang="en-US" sz="1800" dirty="0">
                <a:solidFill>
                  <a:schemeClr val="accent6"/>
                </a:solidFill>
              </a:rPr>
              <a:t>子供が自分で学びを進める「４つの学習形態」</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目指すのは「自立した学習者」</a:t>
            </a:r>
            <a:endParaRPr lang="en-US" sz="3200" dirty="0"/>
          </a:p>
        </p:txBody>
      </p:sp>
      <p:pic>
        <p:nvPicPr>
          <p:cNvPr id="3" name="Image 0" descr="preencoded.png">    </p:cNvPr>
          <p:cNvPicPr>
            <a:picLocks noChangeAspect="1"/>
          </p:cNvPicPr>
          <p:nvPr/>
        </p:nvPicPr>
        <p:blipFill>
          <a:blip r:embed="rId1"/>
          <a:stretch>
            <a:fillRect/>
          </a:stretch>
        </p:blipFill>
        <p:spPr>
          <a:xfrm>
            <a:off x="548640" y="1417320"/>
            <a:ext cx="411480" cy="411480"/>
          </a:xfrm>
          <a:prstGeom prst="rect">
            <a:avLst/>
          </a:prstGeom>
        </p:spPr>
      </p:pic>
      <p:sp>
        <p:nvSpPr>
          <p:cNvPr id="4" name="Text 1"/>
          <p:cNvSpPr txBox="1"/>
          <p:nvPr/>
        </p:nvSpPr>
        <p:spPr>
          <a:xfrm>
            <a:off x="1097280" y="1325880"/>
            <a:ext cx="6035040" cy="640080"/>
          </a:xfrm>
          <a:prstGeom prst="rect">
            <a:avLst/>
          </a:prstGeom>
          <a:noFill/>
          <a:ln/>
        </p:spPr>
        <p:txBody>
          <a:bodyPr wrap="square" lIns="0" tIns="0" rIns="0" bIns="0" rtlCol="0" anchor="ctr"/>
          <a:lstStyle/>
          <a:p>
            <a:pPr indent="0" marL="0">
              <a:buNone/>
            </a:pPr>
            <a:r>
              <a:rPr lang="en-US" sz="3000" b="1" dirty="0">
                <a:solidFill>
                  <a:schemeClr val="accent1"/>
                </a:solidFill>
              </a:rPr>
              <a:t>学び続ける子供の育成</a:t>
            </a:r>
            <a:endParaRPr lang="en-US" sz="3000" dirty="0"/>
          </a:p>
        </p:txBody>
      </p:sp>
      <p:sp>
        <p:nvSpPr>
          <p:cNvPr id="5" name="Text 2"/>
          <p:cNvSpPr txBox="1"/>
          <p:nvPr/>
        </p:nvSpPr>
        <p:spPr>
          <a:xfrm>
            <a:off x="548640" y="2057400"/>
            <a:ext cx="6583680" cy="457200"/>
          </a:xfrm>
          <a:prstGeom prst="rect">
            <a:avLst/>
          </a:prstGeom>
          <a:noFill/>
          <a:ln/>
        </p:spPr>
        <p:txBody>
          <a:bodyPr wrap="square" lIns="0" tIns="0" rIns="0" bIns="0" rtlCol="0" anchor="ctr"/>
          <a:lstStyle/>
          <a:p>
            <a:pPr indent="0" marL="0">
              <a:buNone/>
            </a:pPr>
            <a:r>
              <a:rPr lang="en-US" sz="1600" dirty="0">
                <a:solidFill>
                  <a:schemeClr val="accent5"/>
                </a:solidFill>
              </a:rPr>
              <a:t>すべての子供が、自分で学びを進められる学習者に育つことを目指す</a:t>
            </a:r>
            <a:endParaRPr lang="en-US" sz="1600" dirty="0"/>
          </a:p>
        </p:txBody>
      </p:sp>
      <p:sp>
        <p:nvSpPr>
          <p:cNvPr id="6" name="Shape 3"/>
          <p:cNvSpPr/>
          <p:nvPr/>
        </p:nvSpPr>
        <p:spPr>
          <a:xfrm>
            <a:off x="548640" y="2834640"/>
            <a:ext cx="731520" cy="731520"/>
          </a:xfrm>
          <a:prstGeom prst="ellipse">
            <a:avLst/>
          </a:prstGeom>
          <a:solidFill>
            <a:schemeClr val="accent1"/>
          </a:solidFill>
          <a:ln/>
        </p:spPr>
      </p:sp>
      <p:pic>
        <p:nvPicPr>
          <p:cNvPr id="7" name="Image 1" descr="preencoded.png">    </p:cNvPr>
          <p:cNvPicPr>
            <a:picLocks noChangeAspect="1"/>
          </p:cNvPicPr>
          <p:nvPr/>
        </p:nvPicPr>
        <p:blipFill>
          <a:blip r:embed="rId2"/>
          <a:stretch>
            <a:fillRect/>
          </a:stretch>
        </p:blipFill>
        <p:spPr>
          <a:xfrm>
            <a:off x="731520" y="3017520"/>
            <a:ext cx="365760" cy="365760"/>
          </a:xfrm>
          <a:prstGeom prst="rect">
            <a:avLst/>
          </a:prstGeom>
        </p:spPr>
      </p:pic>
      <p:sp>
        <p:nvSpPr>
          <p:cNvPr id="8" name="Text 4"/>
          <p:cNvSpPr txBox="1"/>
          <p:nvPr/>
        </p:nvSpPr>
        <p:spPr>
          <a:xfrm>
            <a:off x="1508760" y="2788920"/>
            <a:ext cx="5669280" cy="822960"/>
          </a:xfrm>
          <a:prstGeom prst="rect">
            <a:avLst/>
          </a:prstGeom>
          <a:noFill/>
          <a:ln/>
        </p:spPr>
        <p:txBody>
          <a:bodyPr wrap="square" lIns="0" tIns="0" rIns="0" bIns="0" rtlCol="0" anchor="ctr"/>
          <a:lstStyle/>
          <a:p>
            <a:pPr indent="0" marL="0">
              <a:buNone/>
            </a:pPr>
            <a:r>
              <a:rPr lang="en-US" sz="2000" b="1" dirty="0">
                <a:solidFill>
                  <a:schemeClr val="tx2"/>
                </a:solidFill>
              </a:rPr>
              <a:t>自分で決める</a:t>
            </a:r>
            <a:endParaRPr lang="en-US" sz="2000" dirty="0"/>
          </a:p>
          <a:p>
            <a:pPr indent="0" marL="0">
              <a:buNone/>
            </a:pPr>
            <a:r>
              <a:rPr lang="en-US" sz="1500" dirty="0">
                <a:solidFill>
                  <a:schemeClr val="tx1"/>
                </a:solidFill>
              </a:rPr>
              <a:t>何を、どの順で、どのように学ぶかを選ぶ</a:t>
            </a:r>
            <a:endParaRPr lang="en-US" sz="2000" dirty="0"/>
          </a:p>
        </p:txBody>
      </p:sp>
      <p:sp>
        <p:nvSpPr>
          <p:cNvPr id="9" name="Shape 5"/>
          <p:cNvSpPr/>
          <p:nvPr/>
        </p:nvSpPr>
        <p:spPr>
          <a:xfrm>
            <a:off x="548640" y="3840480"/>
            <a:ext cx="731520" cy="731520"/>
          </a:xfrm>
          <a:prstGeom prst="ellipse">
            <a:avLst/>
          </a:prstGeom>
          <a:solidFill>
            <a:schemeClr val="accent1"/>
          </a:solidFill>
          <a:ln/>
        </p:spPr>
      </p:sp>
      <p:pic>
        <p:nvPicPr>
          <p:cNvPr id="10" name="Image 2" descr="preencoded.png">    </p:cNvPr>
          <p:cNvPicPr>
            <a:picLocks noChangeAspect="1"/>
          </p:cNvPicPr>
          <p:nvPr/>
        </p:nvPicPr>
        <p:blipFill>
          <a:blip r:embed="rId3"/>
          <a:stretch>
            <a:fillRect/>
          </a:stretch>
        </p:blipFill>
        <p:spPr>
          <a:xfrm>
            <a:off x="731520" y="4023360"/>
            <a:ext cx="365760" cy="365760"/>
          </a:xfrm>
          <a:prstGeom prst="rect">
            <a:avLst/>
          </a:prstGeom>
        </p:spPr>
      </p:pic>
      <p:sp>
        <p:nvSpPr>
          <p:cNvPr id="11" name="Text 6"/>
          <p:cNvSpPr txBox="1"/>
          <p:nvPr/>
        </p:nvSpPr>
        <p:spPr>
          <a:xfrm>
            <a:off x="1508760" y="3794760"/>
            <a:ext cx="5669280" cy="822960"/>
          </a:xfrm>
          <a:prstGeom prst="rect">
            <a:avLst/>
          </a:prstGeom>
          <a:noFill/>
          <a:ln/>
        </p:spPr>
        <p:txBody>
          <a:bodyPr wrap="square" lIns="0" tIns="0" rIns="0" bIns="0" rtlCol="0" anchor="ctr"/>
          <a:lstStyle/>
          <a:p>
            <a:pPr indent="0" marL="0">
              <a:buNone/>
            </a:pPr>
            <a:r>
              <a:rPr lang="en-US" sz="2000" b="1" dirty="0">
                <a:solidFill>
                  <a:schemeClr val="tx2"/>
                </a:solidFill>
              </a:rPr>
              <a:t>自分で進める</a:t>
            </a:r>
            <a:endParaRPr lang="en-US" sz="2000" dirty="0"/>
          </a:p>
          <a:p>
            <a:pPr indent="0" marL="0">
              <a:buNone/>
            </a:pPr>
            <a:r>
              <a:rPr lang="en-US" sz="1500" dirty="0">
                <a:solidFill>
                  <a:schemeClr val="tx1"/>
                </a:solidFill>
              </a:rPr>
              <a:t>計画を立て、見通しをもち、振り返って調整する</a:t>
            </a:r>
            <a:endParaRPr lang="en-US" sz="2000" dirty="0"/>
          </a:p>
        </p:txBody>
      </p:sp>
      <p:sp>
        <p:nvSpPr>
          <p:cNvPr id="12" name="Shape 7"/>
          <p:cNvSpPr/>
          <p:nvPr/>
        </p:nvSpPr>
        <p:spPr>
          <a:xfrm>
            <a:off x="548640" y="4846320"/>
            <a:ext cx="731520" cy="731520"/>
          </a:xfrm>
          <a:prstGeom prst="ellipse">
            <a:avLst/>
          </a:prstGeom>
          <a:solidFill>
            <a:schemeClr val="accent1"/>
          </a:solidFill>
          <a:ln/>
        </p:spPr>
      </p:sp>
      <p:pic>
        <p:nvPicPr>
          <p:cNvPr id="13" name="Image 3" descr="preencoded.png">    </p:cNvPr>
          <p:cNvPicPr>
            <a:picLocks noChangeAspect="1"/>
          </p:cNvPicPr>
          <p:nvPr/>
        </p:nvPicPr>
        <p:blipFill>
          <a:blip r:embed="rId4"/>
          <a:stretch>
            <a:fillRect/>
          </a:stretch>
        </p:blipFill>
        <p:spPr>
          <a:xfrm>
            <a:off x="731520" y="5029200"/>
            <a:ext cx="365760" cy="365760"/>
          </a:xfrm>
          <a:prstGeom prst="rect">
            <a:avLst/>
          </a:prstGeom>
        </p:spPr>
      </p:pic>
      <p:sp>
        <p:nvSpPr>
          <p:cNvPr id="14" name="Text 8"/>
          <p:cNvSpPr txBox="1"/>
          <p:nvPr/>
        </p:nvSpPr>
        <p:spPr>
          <a:xfrm>
            <a:off x="1508760" y="4800600"/>
            <a:ext cx="5669280" cy="822960"/>
          </a:xfrm>
          <a:prstGeom prst="rect">
            <a:avLst/>
          </a:prstGeom>
          <a:noFill/>
          <a:ln/>
        </p:spPr>
        <p:txBody>
          <a:bodyPr wrap="square" lIns="0" tIns="0" rIns="0" bIns="0" rtlCol="0" anchor="ctr"/>
          <a:lstStyle/>
          <a:p>
            <a:pPr indent="0" marL="0">
              <a:buNone/>
            </a:pPr>
            <a:r>
              <a:rPr lang="en-US" sz="2000" b="1" dirty="0">
                <a:solidFill>
                  <a:schemeClr val="tx2"/>
                </a:solidFill>
              </a:rPr>
              <a:t>仲間と学ぶ</a:t>
            </a:r>
            <a:endParaRPr lang="en-US" sz="2000" dirty="0"/>
          </a:p>
          <a:p>
            <a:pPr indent="0" marL="0">
              <a:buNone/>
            </a:pPr>
            <a:r>
              <a:rPr lang="en-US" sz="1500" dirty="0">
                <a:solidFill>
                  <a:schemeClr val="tx1"/>
                </a:solidFill>
              </a:rPr>
              <a:t>必要なときに相談し、学び合う</a:t>
            </a:r>
            <a:endParaRPr lang="en-US" sz="2000" dirty="0"/>
          </a:p>
        </p:txBody>
      </p:sp>
      <p:sp>
        <p:nvSpPr>
          <p:cNvPr id="15" name="写真枠4"/>
          <p:cNvSpPr/>
          <p:nvPr/>
        </p:nvSpPr>
        <p:spPr>
          <a:xfrm>
            <a:off x="7772400" y="1371600"/>
            <a:ext cx="3867912" cy="4572000"/>
          </a:xfrm>
          <a:prstGeom prst="roundRect">
            <a:avLst>
              <a:gd name="adj" fmla="val 2837"/>
            </a:avLst>
          </a:prstGeom>
          <a:solidFill>
            <a:schemeClr val="bg2"/>
          </a:solidFill>
          <a:ln w="15875">
            <a:solidFill>
              <a:schemeClr val="accent3"/>
            </a:solidFill>
            <a:prstDash val="dash"/>
          </a:ln>
        </p:spPr>
      </p:sp>
      <p:pic>
        <p:nvPicPr>
          <p:cNvPr id="16" name="写真枠4_アイコン" descr="preencoded.png">    </p:cNvPr>
          <p:cNvPicPr>
            <a:picLocks noChangeAspect="1"/>
          </p:cNvPicPr>
          <p:nvPr/>
        </p:nvPicPr>
        <p:blipFill>
          <a:blip r:embed="rId5"/>
          <a:stretch>
            <a:fillRect/>
          </a:stretch>
        </p:blipFill>
        <p:spPr>
          <a:xfrm>
            <a:off x="9432036" y="3063240"/>
            <a:ext cx="548640" cy="548640"/>
          </a:xfrm>
          <a:prstGeom prst="rect">
            <a:avLst/>
          </a:prstGeom>
        </p:spPr>
      </p:pic>
      <p:sp>
        <p:nvSpPr>
          <p:cNvPr id="17" name="写真枠4_説明"/>
          <p:cNvSpPr txBox="1"/>
          <p:nvPr/>
        </p:nvSpPr>
        <p:spPr>
          <a:xfrm>
            <a:off x="7909560" y="3703320"/>
            <a:ext cx="3593592" cy="731520"/>
          </a:xfrm>
          <a:prstGeom prst="rect">
            <a:avLst/>
          </a:prstGeom>
          <a:noFill/>
          <a:ln/>
        </p:spPr>
        <p:txBody>
          <a:bodyPr wrap="square" lIns="0" tIns="0" rIns="0" bIns="0" rtlCol="0" anchor="t"/>
          <a:lstStyle/>
          <a:p>
            <a:pPr algn="ctr" indent="0" marL="0">
              <a:buNone/>
            </a:pPr>
            <a:r>
              <a:rPr lang="en-US" sz="1200" b="1" dirty="0">
                <a:solidFill>
                  <a:schemeClr val="accent5"/>
                </a:solidFill>
              </a:rPr>
              <a:t>写真</a:t>
            </a:r>
            <a:endParaRPr lang="en-US" sz="1200" dirty="0"/>
          </a:p>
          <a:p>
            <a:pPr algn="ctr" indent="0" marL="0">
              <a:buNone/>
            </a:pPr>
            <a:r>
              <a:rPr lang="en-US" sz="1200" dirty="0">
                <a:solidFill>
                  <a:schemeClr val="accent5"/>
                </a:solidFill>
              </a:rPr>
              <a:t>自分で学びを進める子供の姿</a:t>
            </a:r>
            <a:endParaRPr lang="en-US" sz="12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子供の自由度を段階的に高める４つの学習形態</a:t>
            </a:r>
            <a:endParaRPr lang="en-US" sz="3200" dirty="0"/>
          </a:p>
        </p:txBody>
      </p:sp>
      <p:sp>
        <p:nvSpPr>
          <p:cNvPr id="3" name="学習形態1"/>
          <p:cNvSpPr/>
          <p:nvPr/>
        </p:nvSpPr>
        <p:spPr>
          <a:xfrm>
            <a:off x="548640" y="3977640"/>
            <a:ext cx="2606040" cy="2011680"/>
          </a:xfrm>
          <a:prstGeom prst="roundRect">
            <a:avLst>
              <a:gd name="adj" fmla="val 4545"/>
            </a:avLst>
          </a:prstGeom>
          <a:solidFill>
            <a:schemeClr val="accent6"/>
          </a:solidFill>
          <a:ln/>
        </p:spPr>
      </p:sp>
      <p:sp>
        <p:nvSpPr>
          <p:cNvPr id="4" name="Text 2"/>
          <p:cNvSpPr txBox="1"/>
          <p:nvPr/>
        </p:nvSpPr>
        <p:spPr>
          <a:xfrm>
            <a:off x="749808" y="4160520"/>
            <a:ext cx="2203704" cy="1691640"/>
          </a:xfrm>
          <a:prstGeom prst="rect">
            <a:avLst/>
          </a:prstGeom>
          <a:noFill/>
          <a:ln/>
        </p:spPr>
        <p:txBody>
          <a:bodyPr wrap="square" lIns="0" tIns="0" rIns="0" bIns="0" rtlCol="0" anchor="t"/>
          <a:lstStyle/>
          <a:p>
            <a:pPr indent="0" marL="0">
              <a:spcAft>
                <a:spcPts val="400"/>
              </a:spcAft>
              <a:buNone/>
            </a:pPr>
            <a:r>
              <a:rPr lang="en-US" sz="2800" b="1" dirty="0">
                <a:solidFill>
                  <a:schemeClr val="accent1"/>
                </a:solidFill>
              </a:rPr>
              <a:t>1</a:t>
            </a:r>
            <a:endParaRPr lang="en-US" sz="2800" dirty="0"/>
          </a:p>
          <a:p>
            <a:pPr indent="0" marL="0">
              <a:spcAft>
                <a:spcPts val="400"/>
              </a:spcAft>
              <a:buNone/>
            </a:pPr>
            <a:r>
              <a:rPr lang="en-US" sz="1900" b="1" dirty="0">
                <a:solidFill>
                  <a:schemeClr val="tx2"/>
                </a:solidFill>
              </a:rPr>
              <a:t>一斉授業</a:t>
            </a:r>
            <a:endParaRPr lang="en-US" sz="2800" dirty="0"/>
          </a:p>
          <a:p>
            <a:pPr indent="0" marL="0">
              <a:spcAft>
                <a:spcPts val="400"/>
              </a:spcAft>
              <a:buNone/>
            </a:pPr>
            <a:r>
              <a:rPr lang="en-US" sz="1300" dirty="0">
                <a:solidFill>
                  <a:schemeClr val="tx2"/>
                </a:solidFill>
              </a:rPr>
              <a:t>（通常の授業）</a:t>
            </a:r>
            <a:endParaRPr lang="en-US" sz="2800" dirty="0"/>
          </a:p>
          <a:p>
            <a:pPr indent="0" marL="0">
              <a:spcAft>
                <a:spcPts val="400"/>
              </a:spcAft>
              <a:buNone/>
            </a:pPr>
            <a:r>
              <a:rPr lang="en-US" sz="1400" dirty="0">
                <a:solidFill>
                  <a:schemeClr val="tx2"/>
                </a:solidFill>
              </a:rPr>
              <a:t>教師が学習の流れをつくり、学び方そのものを学ぶ</a:t>
            </a:r>
            <a:endParaRPr lang="en-US" sz="2800" dirty="0"/>
          </a:p>
        </p:txBody>
      </p:sp>
      <p:sp>
        <p:nvSpPr>
          <p:cNvPr id="5" name="学習形態2"/>
          <p:cNvSpPr/>
          <p:nvPr/>
        </p:nvSpPr>
        <p:spPr>
          <a:xfrm>
            <a:off x="3310128" y="3291840"/>
            <a:ext cx="2606040" cy="2697480"/>
          </a:xfrm>
          <a:prstGeom prst="roundRect">
            <a:avLst>
              <a:gd name="adj" fmla="val 3509"/>
            </a:avLst>
          </a:prstGeom>
          <a:solidFill>
            <a:schemeClr val="accent3"/>
          </a:solidFill>
          <a:ln/>
        </p:spPr>
      </p:sp>
      <p:sp>
        <p:nvSpPr>
          <p:cNvPr id="6" name="Text 4"/>
          <p:cNvSpPr txBox="1"/>
          <p:nvPr/>
        </p:nvSpPr>
        <p:spPr>
          <a:xfrm>
            <a:off x="3511296" y="3474720"/>
            <a:ext cx="2203704" cy="2377440"/>
          </a:xfrm>
          <a:prstGeom prst="rect">
            <a:avLst/>
          </a:prstGeom>
          <a:noFill/>
          <a:ln/>
        </p:spPr>
        <p:txBody>
          <a:bodyPr wrap="square" lIns="0" tIns="0" rIns="0" bIns="0" rtlCol="0" anchor="t"/>
          <a:lstStyle/>
          <a:p>
            <a:pPr indent="0" marL="0">
              <a:spcAft>
                <a:spcPts val="400"/>
              </a:spcAft>
              <a:buNone/>
            </a:pPr>
            <a:r>
              <a:rPr lang="en-US" sz="2800" b="1" dirty="0">
                <a:solidFill>
                  <a:schemeClr val="accent1"/>
                </a:solidFill>
              </a:rPr>
              <a:t>2</a:t>
            </a:r>
            <a:endParaRPr lang="en-US" sz="2800" dirty="0"/>
          </a:p>
          <a:p>
            <a:pPr indent="0" marL="0">
              <a:spcAft>
                <a:spcPts val="400"/>
              </a:spcAft>
              <a:buNone/>
            </a:pPr>
            <a:r>
              <a:rPr lang="en-US" sz="1900" b="1" dirty="0">
                <a:solidFill>
                  <a:schemeClr val="tx2"/>
                </a:solidFill>
              </a:rPr>
              <a:t>自学・自習</a:t>
            </a:r>
            <a:endParaRPr lang="en-US" sz="2800" dirty="0"/>
          </a:p>
          <a:p>
            <a:pPr indent="0" marL="0">
              <a:spcAft>
                <a:spcPts val="400"/>
              </a:spcAft>
              <a:buNone/>
            </a:pPr>
            <a:r>
              <a:rPr lang="en-US" sz="1400" dirty="0">
                <a:solidFill>
                  <a:schemeClr val="tx2"/>
                </a:solidFill>
              </a:rPr>
              <a:t>決められた時間の中で、自分で課題を選んで学ぶ</a:t>
            </a:r>
            <a:endParaRPr lang="en-US" sz="2800" dirty="0"/>
          </a:p>
        </p:txBody>
      </p:sp>
      <p:sp>
        <p:nvSpPr>
          <p:cNvPr id="7" name="学習形態3"/>
          <p:cNvSpPr/>
          <p:nvPr/>
        </p:nvSpPr>
        <p:spPr>
          <a:xfrm>
            <a:off x="6071616" y="2606040"/>
            <a:ext cx="2606040" cy="3383280"/>
          </a:xfrm>
          <a:prstGeom prst="roundRect">
            <a:avLst>
              <a:gd name="adj" fmla="val 3509"/>
            </a:avLst>
          </a:prstGeom>
          <a:solidFill>
            <a:schemeClr val="accent1"/>
          </a:solidFill>
          <a:ln/>
        </p:spPr>
      </p:sp>
      <p:sp>
        <p:nvSpPr>
          <p:cNvPr id="8" name="Text 6"/>
          <p:cNvSpPr txBox="1"/>
          <p:nvPr/>
        </p:nvSpPr>
        <p:spPr>
          <a:xfrm>
            <a:off x="6272784" y="2788920"/>
            <a:ext cx="2203704" cy="3063240"/>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3</a:t>
            </a:r>
            <a:endParaRPr lang="en-US" sz="2800" dirty="0"/>
          </a:p>
          <a:p>
            <a:pPr indent="0" marL="0">
              <a:spcAft>
                <a:spcPts val="400"/>
              </a:spcAft>
              <a:buNone/>
            </a:pPr>
            <a:r>
              <a:rPr lang="en-US" sz="1900" b="1" dirty="0">
                <a:solidFill>
                  <a:schemeClr val="bg1"/>
                </a:solidFill>
              </a:rPr>
              <a:t>マイプラン学習</a:t>
            </a:r>
            <a:endParaRPr lang="en-US" sz="2800" dirty="0"/>
          </a:p>
          <a:p>
            <a:pPr indent="0" marL="0">
              <a:spcAft>
                <a:spcPts val="400"/>
              </a:spcAft>
              <a:buNone/>
            </a:pPr>
            <a:r>
              <a:rPr lang="en-US" sz="1300" dirty="0">
                <a:solidFill>
                  <a:schemeClr val="bg1"/>
                </a:solidFill>
              </a:rPr>
              <a:t>（単元内自由進度学習）</a:t>
            </a:r>
            <a:endParaRPr lang="en-US" sz="2800" dirty="0"/>
          </a:p>
          <a:p>
            <a:pPr indent="0" marL="0">
              <a:spcAft>
                <a:spcPts val="400"/>
              </a:spcAft>
              <a:buNone/>
            </a:pPr>
            <a:r>
              <a:rPr lang="en-US" sz="1400" dirty="0">
                <a:solidFill>
                  <a:schemeClr val="bg1"/>
                </a:solidFill>
              </a:rPr>
              <a:t>単元の計画・進度・方法を自分で決めて進める</a:t>
            </a:r>
            <a:endParaRPr lang="en-US" sz="2800" dirty="0"/>
          </a:p>
        </p:txBody>
      </p:sp>
      <p:sp>
        <p:nvSpPr>
          <p:cNvPr id="9" name="学習形態4"/>
          <p:cNvSpPr/>
          <p:nvPr/>
        </p:nvSpPr>
        <p:spPr>
          <a:xfrm>
            <a:off x="8833104" y="1920240"/>
            <a:ext cx="2606040" cy="4069080"/>
          </a:xfrm>
          <a:prstGeom prst="roundRect">
            <a:avLst>
              <a:gd name="adj" fmla="val 3509"/>
            </a:avLst>
          </a:prstGeom>
          <a:solidFill>
            <a:schemeClr val="tx2"/>
          </a:solidFill>
          <a:ln/>
        </p:spPr>
      </p:sp>
      <p:sp>
        <p:nvSpPr>
          <p:cNvPr id="10" name="Text 8"/>
          <p:cNvSpPr txBox="1"/>
          <p:nvPr/>
        </p:nvSpPr>
        <p:spPr>
          <a:xfrm>
            <a:off x="9034272" y="2103120"/>
            <a:ext cx="2203704" cy="3749040"/>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4</a:t>
            </a:r>
            <a:endParaRPr lang="en-US" sz="2800" dirty="0"/>
          </a:p>
          <a:p>
            <a:pPr indent="0" marL="0">
              <a:spcAft>
                <a:spcPts val="400"/>
              </a:spcAft>
              <a:buNone/>
            </a:pPr>
            <a:r>
              <a:rPr lang="en-US" sz="1900" b="1" dirty="0">
                <a:solidFill>
                  <a:schemeClr val="bg1"/>
                </a:solidFill>
              </a:rPr>
              <a:t>フリースタイル</a:t>
            </a:r>
            <a:endParaRPr lang="en-US" sz="2800" dirty="0"/>
          </a:p>
          <a:p>
            <a:pPr indent="0" marL="0">
              <a:spcAft>
                <a:spcPts val="400"/>
              </a:spcAft>
              <a:buNone/>
            </a:pPr>
            <a:r>
              <a:rPr lang="en-US" sz="1900" b="1" dirty="0">
                <a:solidFill>
                  <a:schemeClr val="bg1"/>
                </a:solidFill>
              </a:rPr>
              <a:t>プロジェクト</a:t>
            </a:r>
            <a:endParaRPr lang="en-US" sz="2800" dirty="0"/>
          </a:p>
          <a:p>
            <a:pPr indent="0" marL="0">
              <a:spcAft>
                <a:spcPts val="400"/>
              </a:spcAft>
              <a:buNone/>
            </a:pPr>
            <a:r>
              <a:rPr lang="en-US" sz="1300" dirty="0">
                <a:solidFill>
                  <a:schemeClr val="bg1"/>
                </a:solidFill>
              </a:rPr>
              <a:t>（個人総合）</a:t>
            </a:r>
            <a:endParaRPr lang="en-US" sz="2800" dirty="0"/>
          </a:p>
          <a:p>
            <a:pPr indent="0" marL="0">
              <a:spcAft>
                <a:spcPts val="400"/>
              </a:spcAft>
              <a:buNone/>
            </a:pPr>
            <a:r>
              <a:rPr lang="en-US" sz="1400" dirty="0">
                <a:solidFill>
                  <a:schemeClr val="bg1"/>
                </a:solidFill>
              </a:rPr>
              <a:t>テーマから自分で決めて探究する</a:t>
            </a:r>
            <a:endParaRPr lang="en-US" sz="2800" dirty="0"/>
          </a:p>
        </p:txBody>
      </p:sp>
      <p:sp>
        <p:nvSpPr>
          <p:cNvPr id="11" name="自由度の矢印"/>
          <p:cNvSpPr/>
          <p:nvPr/>
        </p:nvSpPr>
        <p:spPr>
          <a:xfrm>
            <a:off x="548640" y="1371600"/>
            <a:ext cx="5486400" cy="457200"/>
          </a:xfrm>
          <a:prstGeom prst="rightArrow">
            <a:avLst/>
          </a:prstGeom>
          <a:solidFill>
            <a:schemeClr val="accent2"/>
          </a:solidFill>
          <a:ln/>
        </p:spPr>
      </p:sp>
      <p:sp>
        <p:nvSpPr>
          <p:cNvPr id="12" name="Text 10"/>
          <p:cNvSpPr txBox="1"/>
          <p:nvPr/>
        </p:nvSpPr>
        <p:spPr>
          <a:xfrm>
            <a:off x="731520" y="1371600"/>
            <a:ext cx="4937760" cy="457200"/>
          </a:xfrm>
          <a:prstGeom prst="rect">
            <a:avLst/>
          </a:prstGeom>
          <a:noFill/>
          <a:ln/>
        </p:spPr>
        <p:txBody>
          <a:bodyPr wrap="square" lIns="0" tIns="0" rIns="0" bIns="0" rtlCol="0" anchor="ctr"/>
          <a:lstStyle/>
          <a:p>
            <a:pPr indent="0" marL="0">
              <a:buNone/>
            </a:pPr>
            <a:r>
              <a:rPr lang="en-US" sz="1500" b="1" dirty="0">
                <a:solidFill>
                  <a:schemeClr val="bg1"/>
                </a:solidFill>
              </a:rPr>
              <a:t>子供が決める範囲が広がる</a:t>
            </a:r>
            <a:endParaRPr lang="en-US" sz="1500" dirty="0"/>
          </a:p>
        </p:txBody>
      </p:sp>
      <p:sp>
        <p:nvSpPr>
          <p:cNvPr id="13" name="Text 11"/>
          <p:cNvSpPr txBox="1"/>
          <p:nvPr/>
        </p:nvSpPr>
        <p:spPr>
          <a:xfrm>
            <a:off x="6400800" y="1280160"/>
            <a:ext cx="5239512" cy="1280160"/>
          </a:xfrm>
          <a:prstGeom prst="rect">
            <a:avLst/>
          </a:prstGeom>
          <a:noFill/>
          <a:ln/>
        </p:spPr>
        <p:txBody>
          <a:bodyPr wrap="square" lIns="0" tIns="0" rIns="0" bIns="0" rtlCol="0" anchor="t"/>
          <a:lstStyle/>
          <a:p>
            <a:pPr indent="0" marL="0">
              <a:buNone/>
            </a:pPr>
            <a:r>
              <a:rPr lang="en-US" sz="1500" dirty="0">
                <a:solidFill>
                  <a:schemeClr val="tx1"/>
                </a:solidFill>
              </a:rPr>
              <a:t>一斉授業で「学び方」を身に付け、自学・自習、マイプラン学習、フリースタイルプロジェクトへと、子供に任せる範囲を広げていく。</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マイプラン学習（単元内自由進度学習）</a:t>
            </a:r>
            <a:endParaRPr lang="en-US" sz="3200" dirty="0"/>
          </a:p>
        </p:txBody>
      </p:sp>
      <p:sp>
        <p:nvSpPr>
          <p:cNvPr id="3" name="Shape 1"/>
          <p:cNvSpPr/>
          <p:nvPr/>
        </p:nvSpPr>
        <p:spPr>
          <a:xfrm>
            <a:off x="548640" y="1444752"/>
            <a:ext cx="548640" cy="548640"/>
          </a:xfrm>
          <a:prstGeom prst="ellipse">
            <a:avLst/>
          </a:prstGeom>
          <a:solidFill>
            <a:schemeClr val="accent1"/>
          </a:solidFill>
          <a:ln/>
        </p:spPr>
      </p:sp>
      <p:sp>
        <p:nvSpPr>
          <p:cNvPr id="4" name="Text 2"/>
          <p:cNvSpPr txBox="1"/>
          <p:nvPr/>
        </p:nvSpPr>
        <p:spPr>
          <a:xfrm>
            <a:off x="548640" y="1444752"/>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325880" y="1371600"/>
            <a:ext cx="5852160" cy="777240"/>
          </a:xfrm>
          <a:prstGeom prst="rect">
            <a:avLst/>
          </a:prstGeom>
          <a:noFill/>
          <a:ln/>
        </p:spPr>
        <p:txBody>
          <a:bodyPr wrap="square" lIns="0" tIns="0" rIns="0" bIns="0" rtlCol="0" anchor="ctr"/>
          <a:lstStyle/>
          <a:p>
            <a:pPr indent="0" marL="0">
              <a:buNone/>
            </a:pPr>
            <a:r>
              <a:rPr lang="en-US" sz="1800" b="1" dirty="0">
                <a:solidFill>
                  <a:schemeClr val="tx2"/>
                </a:solidFill>
              </a:rPr>
              <a:t>単元の見通しをもつ</a:t>
            </a:r>
            <a:endParaRPr lang="en-US" sz="1800" dirty="0"/>
          </a:p>
          <a:p>
            <a:pPr indent="0" marL="0">
              <a:buNone/>
            </a:pPr>
            <a:r>
              <a:rPr lang="en-US" sz="1500" dirty="0">
                <a:solidFill>
                  <a:schemeClr val="tx1"/>
                </a:solidFill>
              </a:rPr>
              <a:t>学習計画表で単元全体のゴールと時数を確かめる</a:t>
            </a:r>
            <a:endParaRPr lang="en-US" sz="1800" dirty="0"/>
          </a:p>
        </p:txBody>
      </p:sp>
      <p:sp>
        <p:nvSpPr>
          <p:cNvPr id="6" name="Shape 4"/>
          <p:cNvSpPr/>
          <p:nvPr/>
        </p:nvSpPr>
        <p:spPr>
          <a:xfrm>
            <a:off x="548640" y="2359152"/>
            <a:ext cx="548640" cy="548640"/>
          </a:xfrm>
          <a:prstGeom prst="ellipse">
            <a:avLst/>
          </a:prstGeom>
          <a:solidFill>
            <a:schemeClr val="accent1"/>
          </a:solidFill>
          <a:ln/>
        </p:spPr>
      </p:sp>
      <p:sp>
        <p:nvSpPr>
          <p:cNvPr id="7" name="Text 5"/>
          <p:cNvSpPr txBox="1"/>
          <p:nvPr/>
        </p:nvSpPr>
        <p:spPr>
          <a:xfrm>
            <a:off x="548640" y="2359152"/>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Text 6"/>
          <p:cNvSpPr txBox="1"/>
          <p:nvPr/>
        </p:nvSpPr>
        <p:spPr>
          <a:xfrm>
            <a:off x="1325880" y="2286000"/>
            <a:ext cx="5852160" cy="777240"/>
          </a:xfrm>
          <a:prstGeom prst="rect">
            <a:avLst/>
          </a:prstGeom>
          <a:noFill/>
          <a:ln/>
        </p:spPr>
        <p:txBody>
          <a:bodyPr wrap="square" lIns="0" tIns="0" rIns="0" bIns="0" rtlCol="0" anchor="ctr"/>
          <a:lstStyle/>
          <a:p>
            <a:pPr indent="0" marL="0">
              <a:buNone/>
            </a:pPr>
            <a:r>
              <a:rPr lang="en-US" sz="1800" b="1" dirty="0">
                <a:solidFill>
                  <a:schemeClr val="tx2"/>
                </a:solidFill>
              </a:rPr>
              <a:t>自分で選ぶ</a:t>
            </a:r>
            <a:endParaRPr lang="en-US" sz="1800" dirty="0"/>
          </a:p>
          <a:p>
            <a:pPr indent="0" marL="0">
              <a:buNone/>
            </a:pPr>
            <a:r>
              <a:rPr lang="en-US" sz="1500" dirty="0">
                <a:solidFill>
                  <a:schemeClr val="tx1"/>
                </a:solidFill>
              </a:rPr>
              <a:t>進度・学習方法・場所・相手を自分で決める</a:t>
            </a:r>
            <a:endParaRPr lang="en-US" sz="1800" dirty="0"/>
          </a:p>
        </p:txBody>
      </p:sp>
      <p:sp>
        <p:nvSpPr>
          <p:cNvPr id="9" name="Shape 7"/>
          <p:cNvSpPr/>
          <p:nvPr/>
        </p:nvSpPr>
        <p:spPr>
          <a:xfrm>
            <a:off x="548640" y="3273552"/>
            <a:ext cx="548640" cy="548640"/>
          </a:xfrm>
          <a:prstGeom prst="ellipse">
            <a:avLst/>
          </a:prstGeom>
          <a:solidFill>
            <a:schemeClr val="accent1"/>
          </a:solidFill>
          <a:ln/>
        </p:spPr>
      </p:sp>
      <p:sp>
        <p:nvSpPr>
          <p:cNvPr id="10" name="Text 8"/>
          <p:cNvSpPr txBox="1"/>
          <p:nvPr/>
        </p:nvSpPr>
        <p:spPr>
          <a:xfrm>
            <a:off x="548640" y="3273552"/>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Text 9"/>
          <p:cNvSpPr txBox="1"/>
          <p:nvPr/>
        </p:nvSpPr>
        <p:spPr>
          <a:xfrm>
            <a:off x="1325880" y="3200400"/>
            <a:ext cx="5852160" cy="777240"/>
          </a:xfrm>
          <a:prstGeom prst="rect">
            <a:avLst/>
          </a:prstGeom>
          <a:noFill/>
          <a:ln/>
        </p:spPr>
        <p:txBody>
          <a:bodyPr wrap="square" lIns="0" tIns="0" rIns="0" bIns="0" rtlCol="0" anchor="ctr"/>
          <a:lstStyle/>
          <a:p>
            <a:pPr indent="0" marL="0">
              <a:buNone/>
            </a:pPr>
            <a:r>
              <a:rPr lang="en-US" sz="1800" b="1" dirty="0">
                <a:solidFill>
                  <a:schemeClr val="tx2"/>
                </a:solidFill>
              </a:rPr>
              <a:t>教師は個に寄り添う</a:t>
            </a:r>
            <a:endParaRPr lang="en-US" sz="1800" dirty="0"/>
          </a:p>
          <a:p>
            <a:pPr indent="0" marL="0">
              <a:buNone/>
            </a:pPr>
            <a:r>
              <a:rPr lang="en-US" sz="1500" dirty="0">
                <a:solidFill>
                  <a:schemeClr val="tx1"/>
                </a:solidFill>
              </a:rPr>
              <a:t>一斉の説明を減らし、見取りと個別支援に回る</a:t>
            </a:r>
            <a:endParaRPr lang="en-US" sz="1800" dirty="0"/>
          </a:p>
        </p:txBody>
      </p:sp>
      <p:sp>
        <p:nvSpPr>
          <p:cNvPr id="12" name="Shape 10"/>
          <p:cNvSpPr/>
          <p:nvPr/>
        </p:nvSpPr>
        <p:spPr>
          <a:xfrm>
            <a:off x="548640" y="4187952"/>
            <a:ext cx="548640" cy="548640"/>
          </a:xfrm>
          <a:prstGeom prst="ellipse">
            <a:avLst/>
          </a:prstGeom>
          <a:solidFill>
            <a:schemeClr val="accent1"/>
          </a:solidFill>
          <a:ln/>
        </p:spPr>
      </p:sp>
      <p:sp>
        <p:nvSpPr>
          <p:cNvPr id="13" name="Text 11"/>
          <p:cNvSpPr txBox="1"/>
          <p:nvPr/>
        </p:nvSpPr>
        <p:spPr>
          <a:xfrm>
            <a:off x="548640" y="4187952"/>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Text 12"/>
          <p:cNvSpPr txBox="1"/>
          <p:nvPr/>
        </p:nvSpPr>
        <p:spPr>
          <a:xfrm>
            <a:off x="1325880" y="4114800"/>
            <a:ext cx="5852160" cy="777240"/>
          </a:xfrm>
          <a:prstGeom prst="rect">
            <a:avLst/>
          </a:prstGeom>
          <a:noFill/>
          <a:ln/>
        </p:spPr>
        <p:txBody>
          <a:bodyPr wrap="square" lIns="0" tIns="0" rIns="0" bIns="0" rtlCol="0" anchor="ctr"/>
          <a:lstStyle/>
          <a:p>
            <a:pPr indent="0" marL="0">
              <a:buNone/>
            </a:pPr>
            <a:r>
              <a:rPr lang="en-US" sz="1800" b="1" dirty="0">
                <a:solidFill>
                  <a:schemeClr val="tx2"/>
                </a:solidFill>
              </a:rPr>
              <a:t>振り返って調整する</a:t>
            </a:r>
            <a:endParaRPr lang="en-US" sz="1800" dirty="0"/>
          </a:p>
          <a:p>
            <a:pPr indent="0" marL="0">
              <a:buNone/>
            </a:pPr>
            <a:r>
              <a:rPr lang="en-US" sz="1500" dirty="0">
                <a:solidFill>
                  <a:schemeClr val="tx1"/>
                </a:solidFill>
              </a:rPr>
              <a:t>毎時間の振り返りで、次の計画を立て直す</a:t>
            </a:r>
            <a:endParaRPr lang="en-US" sz="1800" dirty="0"/>
          </a:p>
        </p:txBody>
      </p:sp>
      <p:sp>
        <p:nvSpPr>
          <p:cNvPr id="15" name="Shape 13"/>
          <p:cNvSpPr/>
          <p:nvPr/>
        </p:nvSpPr>
        <p:spPr>
          <a:xfrm>
            <a:off x="548640" y="5120640"/>
            <a:ext cx="6629400" cy="868680"/>
          </a:xfrm>
          <a:prstGeom prst="roundRect">
            <a:avLst>
              <a:gd name="adj" fmla="val 10526"/>
            </a:avLst>
          </a:prstGeom>
          <a:solidFill>
            <a:schemeClr val="bg2"/>
          </a:solidFill>
          <a:ln/>
        </p:spPr>
      </p:sp>
      <p:sp>
        <p:nvSpPr>
          <p:cNvPr id="16" name="Text 14"/>
          <p:cNvSpPr txBox="1"/>
          <p:nvPr/>
        </p:nvSpPr>
        <p:spPr>
          <a:xfrm>
            <a:off x="777240" y="5166360"/>
            <a:ext cx="6217920" cy="777240"/>
          </a:xfrm>
          <a:prstGeom prst="rect">
            <a:avLst/>
          </a:prstGeom>
          <a:noFill/>
          <a:ln/>
        </p:spPr>
        <p:txBody>
          <a:bodyPr wrap="square" lIns="0" tIns="0" rIns="0" bIns="0" rtlCol="0" anchor="ctr"/>
          <a:lstStyle/>
          <a:p>
            <a:pPr indent="0" marL="0">
              <a:buNone/>
            </a:pPr>
            <a:r>
              <a:rPr lang="en-US" sz="1400" dirty="0">
                <a:solidFill>
                  <a:schemeClr val="tx1"/>
                </a:solidFill>
              </a:rPr>
              <a:t>講演では単元内自由進度学習の典型と紹介された。同校では、進度を自由にするだけでなく、学び方を自分で選び、調整する学習として位置付けている。</a:t>
            </a:r>
            <a:endParaRPr lang="en-US" sz="1400" dirty="0"/>
          </a:p>
        </p:txBody>
      </p:sp>
      <p:sp>
        <p:nvSpPr>
          <p:cNvPr id="17" name="写真枠5"/>
          <p:cNvSpPr/>
          <p:nvPr/>
        </p:nvSpPr>
        <p:spPr>
          <a:xfrm>
            <a:off x="7772400" y="1371600"/>
            <a:ext cx="3867912" cy="2194560"/>
          </a:xfrm>
          <a:prstGeom prst="roundRect">
            <a:avLst>
              <a:gd name="adj" fmla="val 5000"/>
            </a:avLst>
          </a:prstGeom>
          <a:solidFill>
            <a:schemeClr val="bg2"/>
          </a:solidFill>
          <a:ln w="15875">
            <a:solidFill>
              <a:schemeClr val="accent3"/>
            </a:solidFill>
            <a:prstDash val="dash"/>
          </a:ln>
        </p:spPr>
      </p:sp>
      <p:pic>
        <p:nvPicPr>
          <p:cNvPr id="18" name="写真枠5_アイコン" descr="preencoded.png">    </p:cNvPr>
          <p:cNvPicPr>
            <a:picLocks noChangeAspect="1"/>
          </p:cNvPicPr>
          <p:nvPr/>
        </p:nvPicPr>
        <p:blipFill>
          <a:blip r:embed="rId1"/>
          <a:stretch>
            <a:fillRect/>
          </a:stretch>
        </p:blipFill>
        <p:spPr>
          <a:xfrm>
            <a:off x="9432036" y="1874520"/>
            <a:ext cx="548640" cy="548640"/>
          </a:xfrm>
          <a:prstGeom prst="rect">
            <a:avLst/>
          </a:prstGeom>
        </p:spPr>
      </p:pic>
      <p:sp>
        <p:nvSpPr>
          <p:cNvPr id="19" name="写真枠5_説明"/>
          <p:cNvSpPr txBox="1"/>
          <p:nvPr/>
        </p:nvSpPr>
        <p:spPr>
          <a:xfrm>
            <a:off x="7909560" y="2514600"/>
            <a:ext cx="3593592" cy="731520"/>
          </a:xfrm>
          <a:prstGeom prst="rect">
            <a:avLst/>
          </a:prstGeom>
          <a:noFill/>
          <a:ln/>
        </p:spPr>
        <p:txBody>
          <a:bodyPr wrap="square" lIns="0" tIns="0" rIns="0" bIns="0" rtlCol="0" anchor="t"/>
          <a:lstStyle/>
          <a:p>
            <a:pPr algn="ctr" indent="0" marL="0">
              <a:buNone/>
            </a:pPr>
            <a:r>
              <a:rPr lang="en-US" sz="1200" b="1" dirty="0">
                <a:solidFill>
                  <a:schemeClr val="accent5"/>
                </a:solidFill>
              </a:rPr>
              <a:t>写真</a:t>
            </a:r>
            <a:endParaRPr lang="en-US" sz="1200" dirty="0"/>
          </a:p>
          <a:p>
            <a:pPr algn="ctr" indent="0" marL="0">
              <a:buNone/>
            </a:pPr>
            <a:r>
              <a:rPr lang="en-US" sz="1200" dirty="0">
                <a:solidFill>
                  <a:schemeClr val="accent5"/>
                </a:solidFill>
              </a:rPr>
              <a:t>学習計画表</a:t>
            </a:r>
            <a:endParaRPr lang="en-US" sz="1200" dirty="0"/>
          </a:p>
        </p:txBody>
      </p:sp>
      <p:sp>
        <p:nvSpPr>
          <p:cNvPr id="20" name="写真枠6"/>
          <p:cNvSpPr/>
          <p:nvPr/>
        </p:nvSpPr>
        <p:spPr>
          <a:xfrm>
            <a:off x="7772400" y="3794760"/>
            <a:ext cx="3867912" cy="2194560"/>
          </a:xfrm>
          <a:prstGeom prst="roundRect">
            <a:avLst>
              <a:gd name="adj" fmla="val 5000"/>
            </a:avLst>
          </a:prstGeom>
          <a:solidFill>
            <a:schemeClr val="bg2"/>
          </a:solidFill>
          <a:ln w="15875">
            <a:solidFill>
              <a:schemeClr val="accent3"/>
            </a:solidFill>
            <a:prstDash val="dash"/>
          </a:ln>
        </p:spPr>
      </p:sp>
      <p:pic>
        <p:nvPicPr>
          <p:cNvPr id="21" name="写真枠6_アイコン" descr="preencoded.png">    </p:cNvPr>
          <p:cNvPicPr>
            <a:picLocks noChangeAspect="1"/>
          </p:cNvPicPr>
          <p:nvPr/>
        </p:nvPicPr>
        <p:blipFill>
          <a:blip r:embed="rId2"/>
          <a:stretch>
            <a:fillRect/>
          </a:stretch>
        </p:blipFill>
        <p:spPr>
          <a:xfrm>
            <a:off x="9432036" y="4297680"/>
            <a:ext cx="548640" cy="548640"/>
          </a:xfrm>
          <a:prstGeom prst="rect">
            <a:avLst/>
          </a:prstGeom>
        </p:spPr>
      </p:pic>
      <p:sp>
        <p:nvSpPr>
          <p:cNvPr id="22" name="写真枠6_説明"/>
          <p:cNvSpPr txBox="1"/>
          <p:nvPr/>
        </p:nvSpPr>
        <p:spPr>
          <a:xfrm>
            <a:off x="7909560" y="4937760"/>
            <a:ext cx="3593592" cy="731520"/>
          </a:xfrm>
          <a:prstGeom prst="rect">
            <a:avLst/>
          </a:prstGeom>
          <a:noFill/>
          <a:ln/>
        </p:spPr>
        <p:txBody>
          <a:bodyPr wrap="square" lIns="0" tIns="0" rIns="0" bIns="0" rtlCol="0" anchor="t"/>
          <a:lstStyle/>
          <a:p>
            <a:pPr algn="ctr" indent="0" marL="0">
              <a:buNone/>
            </a:pPr>
            <a:r>
              <a:rPr lang="en-US" sz="1200" b="1" dirty="0">
                <a:solidFill>
                  <a:schemeClr val="accent5"/>
                </a:solidFill>
              </a:rPr>
              <a:t>写真</a:t>
            </a:r>
            <a:endParaRPr lang="en-US" sz="1200" dirty="0"/>
          </a:p>
          <a:p>
            <a:pPr algn="ctr" indent="0" marL="0">
              <a:buNone/>
            </a:pPr>
            <a:r>
              <a:rPr lang="en-US" sz="1200" dirty="0">
                <a:solidFill>
                  <a:schemeClr val="accent5"/>
                </a:solidFill>
              </a:rPr>
              <a:t>マイプラン学習の様子</a:t>
            </a:r>
            <a:endParaRPr lang="en-US" sz="12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フリースタイルプロジェクト（個人総合）</a:t>
            </a:r>
            <a:endParaRPr lang="en-US" sz="3200" dirty="0"/>
          </a:p>
        </p:txBody>
      </p:sp>
      <p:sp>
        <p:nvSpPr>
          <p:cNvPr id="3" name="写真枠7"/>
          <p:cNvSpPr/>
          <p:nvPr/>
        </p:nvSpPr>
        <p:spPr>
          <a:xfrm>
            <a:off x="548640" y="1371600"/>
            <a:ext cx="3657600" cy="2194560"/>
          </a:xfrm>
          <a:prstGeom prst="roundRect">
            <a:avLst>
              <a:gd name="adj" fmla="val 5000"/>
            </a:avLst>
          </a:prstGeom>
          <a:solidFill>
            <a:schemeClr val="bg2"/>
          </a:solidFill>
          <a:ln w="15875">
            <a:solidFill>
              <a:schemeClr val="accent3"/>
            </a:solidFill>
            <a:prstDash val="dash"/>
          </a:ln>
        </p:spPr>
      </p:sp>
      <p:pic>
        <p:nvPicPr>
          <p:cNvPr id="4" name="写真枠7_アイコン" descr="preencoded.png">    </p:cNvPr>
          <p:cNvPicPr>
            <a:picLocks noChangeAspect="1"/>
          </p:cNvPicPr>
          <p:nvPr/>
        </p:nvPicPr>
        <p:blipFill>
          <a:blip r:embed="rId1"/>
          <a:stretch>
            <a:fillRect/>
          </a:stretch>
        </p:blipFill>
        <p:spPr>
          <a:xfrm>
            <a:off x="2103120" y="1874520"/>
            <a:ext cx="548640" cy="548640"/>
          </a:xfrm>
          <a:prstGeom prst="rect">
            <a:avLst/>
          </a:prstGeom>
        </p:spPr>
      </p:pic>
      <p:sp>
        <p:nvSpPr>
          <p:cNvPr id="5" name="写真枠7_説明"/>
          <p:cNvSpPr txBox="1"/>
          <p:nvPr/>
        </p:nvSpPr>
        <p:spPr>
          <a:xfrm>
            <a:off x="685800" y="2514600"/>
            <a:ext cx="3383280" cy="731520"/>
          </a:xfrm>
          <a:prstGeom prst="rect">
            <a:avLst/>
          </a:prstGeom>
          <a:noFill/>
          <a:ln/>
        </p:spPr>
        <p:txBody>
          <a:bodyPr wrap="square" lIns="0" tIns="0" rIns="0" bIns="0" rtlCol="0" anchor="t"/>
          <a:lstStyle/>
          <a:p>
            <a:pPr algn="ctr" indent="0" marL="0">
              <a:buNone/>
            </a:pPr>
            <a:r>
              <a:rPr lang="en-US" sz="1200" b="1" dirty="0">
                <a:solidFill>
                  <a:schemeClr val="accent5"/>
                </a:solidFill>
              </a:rPr>
              <a:t>写真</a:t>
            </a:r>
            <a:endParaRPr lang="en-US" sz="1200" dirty="0"/>
          </a:p>
          <a:p>
            <a:pPr algn="ctr" indent="0" marL="0">
              <a:buNone/>
            </a:pPr>
            <a:r>
              <a:rPr lang="en-US" sz="1200" dirty="0">
                <a:solidFill>
                  <a:schemeClr val="accent5"/>
                </a:solidFill>
              </a:rPr>
              <a:t>テーマ設定・計画づくり</a:t>
            </a:r>
            <a:endParaRPr lang="en-US" sz="1200" dirty="0"/>
          </a:p>
        </p:txBody>
      </p:sp>
      <p:sp>
        <p:nvSpPr>
          <p:cNvPr id="6" name="写真枠8"/>
          <p:cNvSpPr/>
          <p:nvPr/>
        </p:nvSpPr>
        <p:spPr>
          <a:xfrm>
            <a:off x="548640" y="3794760"/>
            <a:ext cx="3657600" cy="2194560"/>
          </a:xfrm>
          <a:prstGeom prst="roundRect">
            <a:avLst>
              <a:gd name="adj" fmla="val 5000"/>
            </a:avLst>
          </a:prstGeom>
          <a:solidFill>
            <a:schemeClr val="bg2"/>
          </a:solidFill>
          <a:ln w="15875">
            <a:solidFill>
              <a:schemeClr val="accent3"/>
            </a:solidFill>
            <a:prstDash val="dash"/>
          </a:ln>
        </p:spPr>
      </p:sp>
      <p:pic>
        <p:nvPicPr>
          <p:cNvPr id="7" name="写真枠8_アイコン" descr="preencoded.png">    </p:cNvPr>
          <p:cNvPicPr>
            <a:picLocks noChangeAspect="1"/>
          </p:cNvPicPr>
          <p:nvPr/>
        </p:nvPicPr>
        <p:blipFill>
          <a:blip r:embed="rId2"/>
          <a:stretch>
            <a:fillRect/>
          </a:stretch>
        </p:blipFill>
        <p:spPr>
          <a:xfrm>
            <a:off x="2103120" y="4297680"/>
            <a:ext cx="548640" cy="548640"/>
          </a:xfrm>
          <a:prstGeom prst="rect">
            <a:avLst/>
          </a:prstGeom>
        </p:spPr>
      </p:pic>
      <p:sp>
        <p:nvSpPr>
          <p:cNvPr id="8" name="写真枠8_説明"/>
          <p:cNvSpPr txBox="1"/>
          <p:nvPr/>
        </p:nvSpPr>
        <p:spPr>
          <a:xfrm>
            <a:off x="685800" y="4937760"/>
            <a:ext cx="3383280" cy="731520"/>
          </a:xfrm>
          <a:prstGeom prst="rect">
            <a:avLst/>
          </a:prstGeom>
          <a:noFill/>
          <a:ln/>
        </p:spPr>
        <p:txBody>
          <a:bodyPr wrap="square" lIns="0" tIns="0" rIns="0" bIns="0" rtlCol="0" anchor="t"/>
          <a:lstStyle/>
          <a:p>
            <a:pPr algn="ctr" indent="0" marL="0">
              <a:buNone/>
            </a:pPr>
            <a:r>
              <a:rPr lang="en-US" sz="1200" b="1" dirty="0">
                <a:solidFill>
                  <a:schemeClr val="accent5"/>
                </a:solidFill>
              </a:rPr>
              <a:t>写真</a:t>
            </a:r>
            <a:endParaRPr lang="en-US" sz="1200" dirty="0"/>
          </a:p>
          <a:p>
            <a:pPr algn="ctr" indent="0" marL="0">
              <a:buNone/>
            </a:pPr>
            <a:r>
              <a:rPr lang="en-US" sz="1200" dirty="0">
                <a:solidFill>
                  <a:schemeClr val="accent5"/>
                </a:solidFill>
              </a:rPr>
              <a:t>探究・発表の様子</a:t>
            </a:r>
            <a:endParaRPr lang="en-US" sz="1200" dirty="0"/>
          </a:p>
        </p:txBody>
      </p:sp>
      <p:sp>
        <p:nvSpPr>
          <p:cNvPr id="9" name="Shape 5"/>
          <p:cNvSpPr/>
          <p:nvPr/>
        </p:nvSpPr>
        <p:spPr>
          <a:xfrm>
            <a:off x="4572000" y="1371600"/>
            <a:ext cx="7068312" cy="1325880"/>
          </a:xfrm>
          <a:prstGeom prst="roundRect">
            <a:avLst>
              <a:gd name="adj" fmla="val 6897"/>
            </a:avLst>
          </a:prstGeom>
          <a:solidFill>
            <a:schemeClr val="tx2"/>
          </a:solidFill>
          <a:ln/>
        </p:spPr>
      </p:sp>
      <p:sp>
        <p:nvSpPr>
          <p:cNvPr id="10" name="Text 6"/>
          <p:cNvSpPr txBox="1"/>
          <p:nvPr/>
        </p:nvSpPr>
        <p:spPr>
          <a:xfrm>
            <a:off x="4892040" y="1417320"/>
            <a:ext cx="6428232" cy="1234440"/>
          </a:xfrm>
          <a:prstGeom prst="rect">
            <a:avLst/>
          </a:prstGeom>
          <a:noFill/>
          <a:ln/>
        </p:spPr>
        <p:txBody>
          <a:bodyPr wrap="square" lIns="0" tIns="0" rIns="0" bIns="0" rtlCol="0" anchor="ctr"/>
          <a:lstStyle/>
          <a:p>
            <a:pPr indent="0" marL="0">
              <a:buNone/>
            </a:pPr>
            <a:r>
              <a:rPr lang="en-US" sz="1800" b="1" dirty="0">
                <a:solidFill>
                  <a:schemeClr val="bg1"/>
                </a:solidFill>
              </a:rPr>
              <a:t>一人一人が自分の「好き」「得意」からテーマを決め、</a:t>
            </a:r>
            <a:endParaRPr lang="en-US" sz="1800" dirty="0"/>
          </a:p>
          <a:p>
            <a:pPr indent="0" marL="0">
              <a:buNone/>
            </a:pPr>
            <a:r>
              <a:rPr lang="en-US" sz="1800" b="1" dirty="0">
                <a:solidFill>
                  <a:schemeClr val="bg1"/>
                </a:solidFill>
              </a:rPr>
              <a:t>自分の計画で探究する個人の総合的な学習</a:t>
            </a:r>
            <a:endParaRPr lang="en-US" sz="1800" dirty="0"/>
          </a:p>
        </p:txBody>
      </p:sp>
      <p:sp>
        <p:nvSpPr>
          <p:cNvPr id="11" name="Shape 7"/>
          <p:cNvSpPr/>
          <p:nvPr/>
        </p:nvSpPr>
        <p:spPr>
          <a:xfrm>
            <a:off x="4983480" y="3017520"/>
            <a:ext cx="731520" cy="731520"/>
          </a:xfrm>
          <a:prstGeom prst="ellipse">
            <a:avLst/>
          </a:prstGeom>
          <a:solidFill>
            <a:schemeClr val="accent2"/>
          </a:solidFill>
          <a:ln/>
        </p:spPr>
      </p:sp>
      <p:pic>
        <p:nvPicPr>
          <p:cNvPr id="12" name="Image 2" descr="preencoded.png">    </p:cNvPr>
          <p:cNvPicPr>
            <a:picLocks noChangeAspect="1"/>
          </p:cNvPicPr>
          <p:nvPr/>
        </p:nvPicPr>
        <p:blipFill>
          <a:blip r:embed="rId3"/>
          <a:stretch>
            <a:fillRect/>
          </a:stretch>
        </p:blipFill>
        <p:spPr>
          <a:xfrm>
            <a:off x="5166360" y="3200400"/>
            <a:ext cx="365760" cy="365760"/>
          </a:xfrm>
          <a:prstGeom prst="rect">
            <a:avLst/>
          </a:prstGeom>
        </p:spPr>
      </p:pic>
      <p:sp>
        <p:nvSpPr>
          <p:cNvPr id="13" name="Text 8"/>
          <p:cNvSpPr txBox="1"/>
          <p:nvPr/>
        </p:nvSpPr>
        <p:spPr>
          <a:xfrm>
            <a:off x="4572000" y="3840480"/>
            <a:ext cx="1554480" cy="411480"/>
          </a:xfrm>
          <a:prstGeom prst="rect">
            <a:avLst/>
          </a:prstGeom>
          <a:noFill/>
          <a:ln/>
        </p:spPr>
        <p:txBody>
          <a:bodyPr wrap="square" lIns="0" tIns="0" rIns="0" bIns="0" rtlCol="0" anchor="ctr"/>
          <a:lstStyle/>
          <a:p>
            <a:pPr algn="ctr" indent="0" marL="0">
              <a:buNone/>
            </a:pPr>
            <a:r>
              <a:rPr lang="en-US" sz="1500" b="1" dirty="0">
                <a:solidFill>
                  <a:schemeClr val="tx2"/>
                </a:solidFill>
              </a:rPr>
              <a:t>テーマを決める</a:t>
            </a:r>
            <a:endParaRPr lang="en-US" sz="1500" dirty="0"/>
          </a:p>
        </p:txBody>
      </p:sp>
      <p:pic>
        <p:nvPicPr>
          <p:cNvPr id="14" name="Image 3" descr="preencoded.png">    </p:cNvPr>
          <p:cNvPicPr>
            <a:picLocks noChangeAspect="1"/>
          </p:cNvPicPr>
          <p:nvPr/>
        </p:nvPicPr>
        <p:blipFill>
          <a:blip r:embed="rId4"/>
          <a:stretch>
            <a:fillRect/>
          </a:stretch>
        </p:blipFill>
        <p:spPr>
          <a:xfrm>
            <a:off x="6153912" y="3246120"/>
            <a:ext cx="228600" cy="228600"/>
          </a:xfrm>
          <a:prstGeom prst="rect">
            <a:avLst/>
          </a:prstGeom>
        </p:spPr>
      </p:pic>
      <p:sp>
        <p:nvSpPr>
          <p:cNvPr id="15" name="Shape 9"/>
          <p:cNvSpPr/>
          <p:nvPr/>
        </p:nvSpPr>
        <p:spPr>
          <a:xfrm>
            <a:off x="6821424" y="3017520"/>
            <a:ext cx="731520" cy="731520"/>
          </a:xfrm>
          <a:prstGeom prst="ellipse">
            <a:avLst/>
          </a:prstGeom>
          <a:solidFill>
            <a:schemeClr val="accent1"/>
          </a:solidFill>
          <a:ln/>
        </p:spPr>
      </p:sp>
      <p:pic>
        <p:nvPicPr>
          <p:cNvPr id="16" name="Image 4" descr="preencoded.png">    </p:cNvPr>
          <p:cNvPicPr>
            <a:picLocks noChangeAspect="1"/>
          </p:cNvPicPr>
          <p:nvPr/>
        </p:nvPicPr>
        <p:blipFill>
          <a:blip r:embed="rId5"/>
          <a:stretch>
            <a:fillRect/>
          </a:stretch>
        </p:blipFill>
        <p:spPr>
          <a:xfrm>
            <a:off x="7004304" y="3200400"/>
            <a:ext cx="365760" cy="365760"/>
          </a:xfrm>
          <a:prstGeom prst="rect">
            <a:avLst/>
          </a:prstGeom>
        </p:spPr>
      </p:pic>
      <p:sp>
        <p:nvSpPr>
          <p:cNvPr id="17" name="Text 10"/>
          <p:cNvSpPr txBox="1"/>
          <p:nvPr/>
        </p:nvSpPr>
        <p:spPr>
          <a:xfrm>
            <a:off x="6409944" y="3840480"/>
            <a:ext cx="1554480" cy="411480"/>
          </a:xfrm>
          <a:prstGeom prst="rect">
            <a:avLst/>
          </a:prstGeom>
          <a:noFill/>
          <a:ln/>
        </p:spPr>
        <p:txBody>
          <a:bodyPr wrap="square" lIns="0" tIns="0" rIns="0" bIns="0" rtlCol="0" anchor="ctr"/>
          <a:lstStyle/>
          <a:p>
            <a:pPr algn="ctr" indent="0" marL="0">
              <a:buNone/>
            </a:pPr>
            <a:r>
              <a:rPr lang="en-US" sz="1500" b="1" dirty="0">
                <a:solidFill>
                  <a:schemeClr val="tx2"/>
                </a:solidFill>
              </a:rPr>
              <a:t>計画を立てる</a:t>
            </a:r>
            <a:endParaRPr lang="en-US" sz="1500" dirty="0"/>
          </a:p>
        </p:txBody>
      </p:sp>
      <p:pic>
        <p:nvPicPr>
          <p:cNvPr id="18" name="Image 5" descr="preencoded.png">    </p:cNvPr>
          <p:cNvPicPr>
            <a:picLocks noChangeAspect="1"/>
          </p:cNvPicPr>
          <p:nvPr/>
        </p:nvPicPr>
        <p:blipFill>
          <a:blip r:embed="rId6"/>
          <a:stretch>
            <a:fillRect/>
          </a:stretch>
        </p:blipFill>
        <p:spPr>
          <a:xfrm>
            <a:off x="7991856" y="3246120"/>
            <a:ext cx="228600" cy="228600"/>
          </a:xfrm>
          <a:prstGeom prst="rect">
            <a:avLst/>
          </a:prstGeom>
        </p:spPr>
      </p:pic>
      <p:sp>
        <p:nvSpPr>
          <p:cNvPr id="19" name="Shape 11"/>
          <p:cNvSpPr/>
          <p:nvPr/>
        </p:nvSpPr>
        <p:spPr>
          <a:xfrm>
            <a:off x="8659368" y="3017520"/>
            <a:ext cx="731520" cy="731520"/>
          </a:xfrm>
          <a:prstGeom prst="ellipse">
            <a:avLst/>
          </a:prstGeom>
          <a:solidFill>
            <a:schemeClr val="accent2"/>
          </a:solidFill>
          <a:ln/>
        </p:spPr>
      </p:sp>
      <p:pic>
        <p:nvPicPr>
          <p:cNvPr id="20" name="Image 6" descr="preencoded.png">    </p:cNvPr>
          <p:cNvPicPr>
            <a:picLocks noChangeAspect="1"/>
          </p:cNvPicPr>
          <p:nvPr/>
        </p:nvPicPr>
        <p:blipFill>
          <a:blip r:embed="rId7"/>
          <a:stretch>
            <a:fillRect/>
          </a:stretch>
        </p:blipFill>
        <p:spPr>
          <a:xfrm>
            <a:off x="8842248" y="3200400"/>
            <a:ext cx="365760" cy="365760"/>
          </a:xfrm>
          <a:prstGeom prst="rect">
            <a:avLst/>
          </a:prstGeom>
        </p:spPr>
      </p:pic>
      <p:sp>
        <p:nvSpPr>
          <p:cNvPr id="21" name="Text 12"/>
          <p:cNvSpPr txBox="1"/>
          <p:nvPr/>
        </p:nvSpPr>
        <p:spPr>
          <a:xfrm>
            <a:off x="8247888" y="3840480"/>
            <a:ext cx="1554480" cy="411480"/>
          </a:xfrm>
          <a:prstGeom prst="rect">
            <a:avLst/>
          </a:prstGeom>
          <a:noFill/>
          <a:ln/>
        </p:spPr>
        <p:txBody>
          <a:bodyPr wrap="square" lIns="0" tIns="0" rIns="0" bIns="0" rtlCol="0" anchor="ctr"/>
          <a:lstStyle/>
          <a:p>
            <a:pPr algn="ctr" indent="0" marL="0">
              <a:buNone/>
            </a:pPr>
            <a:r>
              <a:rPr lang="en-US" sz="1500" b="1" dirty="0">
                <a:solidFill>
                  <a:schemeClr val="tx2"/>
                </a:solidFill>
              </a:rPr>
              <a:t>追究する</a:t>
            </a:r>
            <a:endParaRPr lang="en-US" sz="1500" dirty="0"/>
          </a:p>
        </p:txBody>
      </p:sp>
      <p:pic>
        <p:nvPicPr>
          <p:cNvPr id="22" name="Image 7" descr="preencoded.png">    </p:cNvPr>
          <p:cNvPicPr>
            <a:picLocks noChangeAspect="1"/>
          </p:cNvPicPr>
          <p:nvPr/>
        </p:nvPicPr>
        <p:blipFill>
          <a:blip r:embed="rId8"/>
          <a:stretch>
            <a:fillRect/>
          </a:stretch>
        </p:blipFill>
        <p:spPr>
          <a:xfrm>
            <a:off x="9829800" y="3246120"/>
            <a:ext cx="228600" cy="228600"/>
          </a:xfrm>
          <a:prstGeom prst="rect">
            <a:avLst/>
          </a:prstGeom>
        </p:spPr>
      </p:pic>
      <p:sp>
        <p:nvSpPr>
          <p:cNvPr id="23" name="Shape 13"/>
          <p:cNvSpPr/>
          <p:nvPr/>
        </p:nvSpPr>
        <p:spPr>
          <a:xfrm>
            <a:off x="10497312" y="3017520"/>
            <a:ext cx="731520" cy="731520"/>
          </a:xfrm>
          <a:prstGeom prst="ellipse">
            <a:avLst/>
          </a:prstGeom>
          <a:solidFill>
            <a:schemeClr val="accent1"/>
          </a:solidFill>
          <a:ln/>
        </p:spPr>
      </p:sp>
      <p:pic>
        <p:nvPicPr>
          <p:cNvPr id="24" name="Image 8" descr="preencoded.png">    </p:cNvPr>
          <p:cNvPicPr>
            <a:picLocks noChangeAspect="1"/>
          </p:cNvPicPr>
          <p:nvPr/>
        </p:nvPicPr>
        <p:blipFill>
          <a:blip r:embed="rId9"/>
          <a:stretch>
            <a:fillRect/>
          </a:stretch>
        </p:blipFill>
        <p:spPr>
          <a:xfrm>
            <a:off x="10680192" y="3200400"/>
            <a:ext cx="365760" cy="365760"/>
          </a:xfrm>
          <a:prstGeom prst="rect">
            <a:avLst/>
          </a:prstGeom>
        </p:spPr>
      </p:pic>
      <p:sp>
        <p:nvSpPr>
          <p:cNvPr id="25" name="Text 14"/>
          <p:cNvSpPr txBox="1"/>
          <p:nvPr/>
        </p:nvSpPr>
        <p:spPr>
          <a:xfrm>
            <a:off x="10085832" y="3840480"/>
            <a:ext cx="1554480" cy="411480"/>
          </a:xfrm>
          <a:prstGeom prst="rect">
            <a:avLst/>
          </a:prstGeom>
          <a:noFill/>
          <a:ln/>
        </p:spPr>
        <p:txBody>
          <a:bodyPr wrap="square" lIns="0" tIns="0" rIns="0" bIns="0" rtlCol="0" anchor="ctr"/>
          <a:lstStyle/>
          <a:p>
            <a:pPr algn="ctr" indent="0" marL="0">
              <a:buNone/>
            </a:pPr>
            <a:r>
              <a:rPr lang="en-US" sz="1500" b="1" dirty="0">
                <a:solidFill>
                  <a:schemeClr val="tx2"/>
                </a:solidFill>
              </a:rPr>
              <a:t>発表・振り返り</a:t>
            </a:r>
            <a:endParaRPr lang="en-US" sz="1500" dirty="0"/>
          </a:p>
        </p:txBody>
      </p:sp>
      <p:sp>
        <p:nvSpPr>
          <p:cNvPr id="26" name="Shape 15"/>
          <p:cNvSpPr/>
          <p:nvPr/>
        </p:nvSpPr>
        <p:spPr>
          <a:xfrm>
            <a:off x="4572000" y="4526280"/>
            <a:ext cx="7068312" cy="1463040"/>
          </a:xfrm>
          <a:prstGeom prst="roundRect">
            <a:avLst>
              <a:gd name="adj" fmla="val 6250"/>
            </a:avLst>
          </a:prstGeom>
          <a:solidFill>
            <a:schemeClr val="bg2"/>
          </a:solidFill>
          <a:ln/>
        </p:spPr>
      </p:sp>
      <p:sp>
        <p:nvSpPr>
          <p:cNvPr id="27" name="Text 16"/>
          <p:cNvSpPr txBox="1"/>
          <p:nvPr/>
        </p:nvSpPr>
        <p:spPr>
          <a:xfrm>
            <a:off x="4846320" y="4572000"/>
            <a:ext cx="6519672" cy="1371600"/>
          </a:xfrm>
          <a:prstGeom prst="rect">
            <a:avLst/>
          </a:prstGeom>
          <a:noFill/>
          <a:ln/>
        </p:spPr>
        <p:txBody>
          <a:bodyPr wrap="square" lIns="0" tIns="0" rIns="0" bIns="0" rtlCol="0" anchor="ctr"/>
          <a:lstStyle/>
          <a:p>
            <a:pPr indent="0" marL="0">
              <a:spcAft>
                <a:spcPts val="400"/>
              </a:spcAft>
              <a:buNone/>
            </a:pPr>
            <a:r>
              <a:rPr lang="en-US" sz="1500" b="1" dirty="0">
                <a:solidFill>
                  <a:schemeClr val="accent1"/>
                </a:solidFill>
              </a:rPr>
              <a:t>教師の役割　</a:t>
            </a:r>
            <a:pPr indent="0" marL="0">
              <a:spcAft>
                <a:spcPts val="400"/>
              </a:spcAft>
              <a:buNone/>
            </a:pPr>
            <a:r>
              <a:rPr lang="en-US" sz="1500" dirty="0">
                <a:solidFill>
                  <a:schemeClr val="tx1"/>
                </a:solidFill>
              </a:rPr>
              <a:t>テーマ設定や計画づくりの相談役として、問いを深める声かけと、学びの進み具合の見取りを担う。</a:t>
            </a:r>
            <a:endParaRPr lang="en-US" sz="1500" dirty="0"/>
          </a:p>
          <a:p>
            <a:pPr indent="0" marL="0">
              <a:spcAft>
                <a:spcPts val="400"/>
              </a:spcAft>
              <a:buNone/>
            </a:pPr>
            <a:r>
              <a:rPr lang="en-US" sz="1500" dirty="0">
                <a:solidFill>
                  <a:schemeClr val="accent5"/>
                </a:solidFill>
              </a:rPr>
              <a:t>学級の枠をこえた交流や、地域・専門家とのつながりも生まれる。</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公開授業から見えたこと</a:t>
            </a:r>
            <a:endParaRPr lang="en-US" sz="3200" dirty="0"/>
          </a:p>
        </p:txBody>
      </p:sp>
      <p:sp>
        <p:nvSpPr>
          <p:cNvPr id="3" name="Shape 1"/>
          <p:cNvSpPr/>
          <p:nvPr/>
        </p:nvSpPr>
        <p:spPr>
          <a:xfrm>
            <a:off x="548640" y="1371600"/>
            <a:ext cx="5349240" cy="548640"/>
          </a:xfrm>
          <a:prstGeom prst="roundRect">
            <a:avLst>
              <a:gd name="adj" fmla="val 16667"/>
            </a:avLst>
          </a:prstGeom>
          <a:solidFill>
            <a:schemeClr val="accent1"/>
          </a:solidFill>
          <a:ln/>
        </p:spPr>
      </p:sp>
      <p:sp>
        <p:nvSpPr>
          <p:cNvPr id="4" name="Text 2"/>
          <p:cNvSpPr txBox="1"/>
          <p:nvPr/>
        </p:nvSpPr>
        <p:spPr>
          <a:xfrm>
            <a:off x="777240" y="1371600"/>
            <a:ext cx="4892040" cy="548640"/>
          </a:xfrm>
          <a:prstGeom prst="rect">
            <a:avLst/>
          </a:prstGeom>
          <a:noFill/>
          <a:ln/>
        </p:spPr>
        <p:txBody>
          <a:bodyPr wrap="square" lIns="0" tIns="0" rIns="0" bIns="0" rtlCol="0" anchor="ctr"/>
          <a:lstStyle/>
          <a:p>
            <a:pPr indent="0" marL="0">
              <a:buNone/>
            </a:pPr>
            <a:r>
              <a:rPr lang="en-US" sz="2000" b="1" dirty="0">
                <a:solidFill>
                  <a:schemeClr val="bg1"/>
                </a:solidFill>
              </a:rPr>
              <a:t>２年　国語</a:t>
            </a:r>
            <a:endParaRPr lang="en-US" sz="2000" dirty="0"/>
          </a:p>
        </p:txBody>
      </p:sp>
      <p:sp>
        <p:nvSpPr>
          <p:cNvPr id="5" name="写真枠9"/>
          <p:cNvSpPr/>
          <p:nvPr/>
        </p:nvSpPr>
        <p:spPr>
          <a:xfrm>
            <a:off x="548640" y="2103120"/>
            <a:ext cx="5349240" cy="2148840"/>
          </a:xfrm>
          <a:prstGeom prst="roundRect">
            <a:avLst>
              <a:gd name="adj" fmla="val 5106"/>
            </a:avLst>
          </a:prstGeom>
          <a:solidFill>
            <a:schemeClr val="bg2"/>
          </a:solidFill>
          <a:ln w="15875">
            <a:solidFill>
              <a:schemeClr val="accent3"/>
            </a:solidFill>
            <a:prstDash val="dash"/>
          </a:ln>
        </p:spPr>
      </p:sp>
      <p:pic>
        <p:nvPicPr>
          <p:cNvPr id="6" name="写真枠9_アイコン" descr="preencoded.png">    </p:cNvPr>
          <p:cNvPicPr>
            <a:picLocks noChangeAspect="1"/>
          </p:cNvPicPr>
          <p:nvPr/>
        </p:nvPicPr>
        <p:blipFill>
          <a:blip r:embed="rId1"/>
          <a:stretch>
            <a:fillRect/>
          </a:stretch>
        </p:blipFill>
        <p:spPr>
          <a:xfrm>
            <a:off x="2954655" y="2594610"/>
            <a:ext cx="537210" cy="537210"/>
          </a:xfrm>
          <a:prstGeom prst="rect">
            <a:avLst/>
          </a:prstGeom>
        </p:spPr>
      </p:pic>
      <p:sp>
        <p:nvSpPr>
          <p:cNvPr id="7" name="写真枠9_説明"/>
          <p:cNvSpPr txBox="1"/>
          <p:nvPr/>
        </p:nvSpPr>
        <p:spPr>
          <a:xfrm>
            <a:off x="685800" y="3223260"/>
            <a:ext cx="5074920" cy="731520"/>
          </a:xfrm>
          <a:prstGeom prst="rect">
            <a:avLst/>
          </a:prstGeom>
          <a:noFill/>
          <a:ln/>
        </p:spPr>
        <p:txBody>
          <a:bodyPr wrap="square" lIns="0" tIns="0" rIns="0" bIns="0" rtlCol="0" anchor="t"/>
          <a:lstStyle/>
          <a:p>
            <a:pPr algn="ctr" indent="0" marL="0">
              <a:buNone/>
            </a:pPr>
            <a:r>
              <a:rPr lang="en-US" sz="1200" b="1" dirty="0">
                <a:solidFill>
                  <a:schemeClr val="accent5"/>
                </a:solidFill>
              </a:rPr>
              <a:t>写真</a:t>
            </a:r>
            <a:endParaRPr lang="en-US" sz="1200" dirty="0"/>
          </a:p>
          <a:p>
            <a:pPr algn="ctr" indent="0" marL="0">
              <a:buNone/>
            </a:pPr>
            <a:r>
              <a:rPr lang="en-US" sz="1200" dirty="0">
                <a:solidFill>
                  <a:schemeClr val="accent5"/>
                </a:solidFill>
              </a:rPr>
              <a:t>２年国語の授業</a:t>
            </a:r>
            <a:endParaRPr lang="en-US" sz="1200" dirty="0"/>
          </a:p>
        </p:txBody>
      </p:sp>
      <p:sp>
        <p:nvSpPr>
          <p:cNvPr id="8" name="Text 5"/>
          <p:cNvSpPr txBox="1"/>
          <p:nvPr/>
        </p:nvSpPr>
        <p:spPr>
          <a:xfrm>
            <a:off x="594360" y="4434840"/>
            <a:ext cx="525780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低学年でも、学習計画を確かめてから学習を始めている</a:t>
            </a:r>
            <a:endParaRPr lang="en-US" sz="1500" dirty="0"/>
          </a:p>
          <a:p>
            <a:pPr marL="342900" indent="-342900">
              <a:spcAft>
                <a:spcPts val="600"/>
              </a:spcAft>
              <a:buSzPct val="100000"/>
              <a:buChar char="•"/>
            </a:pPr>
            <a:r>
              <a:rPr lang="en-US" sz="1500" dirty="0">
                <a:solidFill>
                  <a:schemeClr val="tx1"/>
                </a:solidFill>
              </a:rPr>
              <a:t>学習の手引きや掲示を手がかりに、自分で次の活動を選んでいる</a:t>
            </a:r>
            <a:endParaRPr lang="en-US" sz="1500" dirty="0"/>
          </a:p>
        </p:txBody>
      </p:sp>
      <p:sp>
        <p:nvSpPr>
          <p:cNvPr id="9" name="Shape 6"/>
          <p:cNvSpPr/>
          <p:nvPr/>
        </p:nvSpPr>
        <p:spPr>
          <a:xfrm>
            <a:off x="6291072" y="1371600"/>
            <a:ext cx="5349240" cy="548640"/>
          </a:xfrm>
          <a:prstGeom prst="roundRect">
            <a:avLst>
              <a:gd name="adj" fmla="val 16667"/>
            </a:avLst>
          </a:prstGeom>
          <a:solidFill>
            <a:schemeClr val="accent1"/>
          </a:solidFill>
          <a:ln/>
        </p:spPr>
      </p:sp>
      <p:sp>
        <p:nvSpPr>
          <p:cNvPr id="10" name="Text 7"/>
          <p:cNvSpPr txBox="1"/>
          <p:nvPr/>
        </p:nvSpPr>
        <p:spPr>
          <a:xfrm>
            <a:off x="6519672" y="1371600"/>
            <a:ext cx="4892040" cy="548640"/>
          </a:xfrm>
          <a:prstGeom prst="rect">
            <a:avLst/>
          </a:prstGeom>
          <a:noFill/>
          <a:ln/>
        </p:spPr>
        <p:txBody>
          <a:bodyPr wrap="square" lIns="0" tIns="0" rIns="0" bIns="0" rtlCol="0" anchor="ctr"/>
          <a:lstStyle/>
          <a:p>
            <a:pPr indent="0" marL="0">
              <a:buNone/>
            </a:pPr>
            <a:r>
              <a:rPr lang="en-US" sz="2000" b="1" dirty="0">
                <a:solidFill>
                  <a:schemeClr val="bg1"/>
                </a:solidFill>
              </a:rPr>
              <a:t>６年　算数</a:t>
            </a:r>
            <a:endParaRPr lang="en-US" sz="2000" dirty="0"/>
          </a:p>
        </p:txBody>
      </p:sp>
      <p:sp>
        <p:nvSpPr>
          <p:cNvPr id="11" name="写真枠10"/>
          <p:cNvSpPr/>
          <p:nvPr/>
        </p:nvSpPr>
        <p:spPr>
          <a:xfrm>
            <a:off x="6291072" y="2103120"/>
            <a:ext cx="5349240" cy="2148840"/>
          </a:xfrm>
          <a:prstGeom prst="roundRect">
            <a:avLst>
              <a:gd name="adj" fmla="val 5106"/>
            </a:avLst>
          </a:prstGeom>
          <a:solidFill>
            <a:schemeClr val="bg2"/>
          </a:solidFill>
          <a:ln w="15875">
            <a:solidFill>
              <a:schemeClr val="accent3"/>
            </a:solidFill>
            <a:prstDash val="dash"/>
          </a:ln>
        </p:spPr>
      </p:sp>
      <p:pic>
        <p:nvPicPr>
          <p:cNvPr id="12" name="写真枠10_アイコン" descr="preencoded.png">    </p:cNvPr>
          <p:cNvPicPr>
            <a:picLocks noChangeAspect="1"/>
          </p:cNvPicPr>
          <p:nvPr/>
        </p:nvPicPr>
        <p:blipFill>
          <a:blip r:embed="rId2"/>
          <a:stretch>
            <a:fillRect/>
          </a:stretch>
        </p:blipFill>
        <p:spPr>
          <a:xfrm>
            <a:off x="8697087" y="2594610"/>
            <a:ext cx="537210" cy="537210"/>
          </a:xfrm>
          <a:prstGeom prst="rect">
            <a:avLst/>
          </a:prstGeom>
        </p:spPr>
      </p:pic>
      <p:sp>
        <p:nvSpPr>
          <p:cNvPr id="13" name="写真枠10_説明"/>
          <p:cNvSpPr txBox="1"/>
          <p:nvPr/>
        </p:nvSpPr>
        <p:spPr>
          <a:xfrm>
            <a:off x="6428232" y="3223260"/>
            <a:ext cx="5074920" cy="731520"/>
          </a:xfrm>
          <a:prstGeom prst="rect">
            <a:avLst/>
          </a:prstGeom>
          <a:noFill/>
          <a:ln/>
        </p:spPr>
        <p:txBody>
          <a:bodyPr wrap="square" lIns="0" tIns="0" rIns="0" bIns="0" rtlCol="0" anchor="t"/>
          <a:lstStyle/>
          <a:p>
            <a:pPr algn="ctr" indent="0" marL="0">
              <a:buNone/>
            </a:pPr>
            <a:r>
              <a:rPr lang="en-US" sz="1200" b="1" dirty="0">
                <a:solidFill>
                  <a:schemeClr val="accent5"/>
                </a:solidFill>
              </a:rPr>
              <a:t>写真</a:t>
            </a:r>
            <a:endParaRPr lang="en-US" sz="1200" dirty="0"/>
          </a:p>
          <a:p>
            <a:pPr algn="ctr" indent="0" marL="0">
              <a:buNone/>
            </a:pPr>
            <a:r>
              <a:rPr lang="en-US" sz="1200" dirty="0">
                <a:solidFill>
                  <a:schemeClr val="accent5"/>
                </a:solidFill>
              </a:rPr>
              <a:t>６年算数の授業</a:t>
            </a:r>
            <a:endParaRPr lang="en-US" sz="1200" dirty="0"/>
          </a:p>
        </p:txBody>
      </p:sp>
      <p:sp>
        <p:nvSpPr>
          <p:cNvPr id="14" name="Text 10"/>
          <p:cNvSpPr txBox="1"/>
          <p:nvPr/>
        </p:nvSpPr>
        <p:spPr>
          <a:xfrm>
            <a:off x="6336792" y="4434840"/>
            <a:ext cx="525780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解き方や学習方法を選び、自分のペースで進めている</a:t>
            </a:r>
            <a:endParaRPr lang="en-US" sz="1500" dirty="0"/>
          </a:p>
          <a:p>
            <a:pPr marL="342900" indent="-342900">
              <a:spcAft>
                <a:spcPts val="600"/>
              </a:spcAft>
              <a:buSzPct val="100000"/>
              <a:buChar char="•"/>
            </a:pPr>
            <a:r>
              <a:rPr lang="en-US" sz="1500" dirty="0">
                <a:solidFill>
                  <a:schemeClr val="tx1"/>
                </a:solidFill>
              </a:rPr>
              <a:t>分からないときは、友達や教師に自分から相談している</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学びを支える環境と教師の役割</a:t>
            </a:r>
            <a:endParaRPr lang="en-US" sz="3200" dirty="0"/>
          </a:p>
        </p:txBody>
      </p:sp>
      <p:sp>
        <p:nvSpPr>
          <p:cNvPr id="3" name="写真枠11"/>
          <p:cNvSpPr/>
          <p:nvPr/>
        </p:nvSpPr>
        <p:spPr>
          <a:xfrm>
            <a:off x="548640" y="1371600"/>
            <a:ext cx="3520440" cy="2743200"/>
          </a:xfrm>
          <a:prstGeom prst="roundRect">
            <a:avLst>
              <a:gd name="adj" fmla="val 4000"/>
            </a:avLst>
          </a:prstGeom>
          <a:solidFill>
            <a:schemeClr val="bg2"/>
          </a:solidFill>
          <a:ln w="15875">
            <a:solidFill>
              <a:schemeClr val="accent3"/>
            </a:solidFill>
            <a:prstDash val="dash"/>
          </a:ln>
        </p:spPr>
      </p:sp>
      <p:pic>
        <p:nvPicPr>
          <p:cNvPr id="4" name="写真枠11_アイコン" descr="preencoded.png">    </p:cNvPr>
          <p:cNvPicPr>
            <a:picLocks noChangeAspect="1"/>
          </p:cNvPicPr>
          <p:nvPr/>
        </p:nvPicPr>
        <p:blipFill>
          <a:blip r:embed="rId1"/>
          <a:stretch>
            <a:fillRect/>
          </a:stretch>
        </p:blipFill>
        <p:spPr>
          <a:xfrm>
            <a:off x="2034540" y="2148840"/>
            <a:ext cx="548640" cy="548640"/>
          </a:xfrm>
          <a:prstGeom prst="rect">
            <a:avLst/>
          </a:prstGeom>
        </p:spPr>
      </p:pic>
      <p:sp>
        <p:nvSpPr>
          <p:cNvPr id="5" name="写真枠11_説明"/>
          <p:cNvSpPr txBox="1"/>
          <p:nvPr/>
        </p:nvSpPr>
        <p:spPr>
          <a:xfrm>
            <a:off x="685800" y="2788920"/>
            <a:ext cx="3246120" cy="731520"/>
          </a:xfrm>
          <a:prstGeom prst="rect">
            <a:avLst/>
          </a:prstGeom>
          <a:noFill/>
          <a:ln/>
        </p:spPr>
        <p:txBody>
          <a:bodyPr wrap="square" lIns="0" tIns="0" rIns="0" bIns="0" rtlCol="0" anchor="t"/>
          <a:lstStyle/>
          <a:p>
            <a:pPr algn="ctr" indent="0" marL="0">
              <a:buNone/>
            </a:pPr>
            <a:r>
              <a:rPr lang="en-US" sz="1200" b="1" dirty="0">
                <a:solidFill>
                  <a:schemeClr val="accent5"/>
                </a:solidFill>
              </a:rPr>
              <a:t>写真</a:t>
            </a:r>
            <a:endParaRPr lang="en-US" sz="1200" dirty="0"/>
          </a:p>
          <a:p>
            <a:pPr algn="ctr" indent="0" marL="0">
              <a:buNone/>
            </a:pPr>
            <a:r>
              <a:rPr lang="en-US" sz="1200" dirty="0">
                <a:solidFill>
                  <a:schemeClr val="accent5"/>
                </a:solidFill>
              </a:rPr>
              <a:t>教室環境・掲示</a:t>
            </a:r>
            <a:endParaRPr lang="en-US" sz="1200" dirty="0"/>
          </a:p>
        </p:txBody>
      </p:sp>
      <p:sp>
        <p:nvSpPr>
          <p:cNvPr id="6" name="写真枠12"/>
          <p:cNvSpPr/>
          <p:nvPr/>
        </p:nvSpPr>
        <p:spPr>
          <a:xfrm>
            <a:off x="4425696" y="1371600"/>
            <a:ext cx="3520440" cy="2743200"/>
          </a:xfrm>
          <a:prstGeom prst="roundRect">
            <a:avLst>
              <a:gd name="adj" fmla="val 4000"/>
            </a:avLst>
          </a:prstGeom>
          <a:solidFill>
            <a:schemeClr val="bg2"/>
          </a:solidFill>
          <a:ln w="15875">
            <a:solidFill>
              <a:schemeClr val="accent3"/>
            </a:solidFill>
            <a:prstDash val="dash"/>
          </a:ln>
        </p:spPr>
      </p:sp>
      <p:pic>
        <p:nvPicPr>
          <p:cNvPr id="7" name="写真枠12_アイコン" descr="preencoded.png">    </p:cNvPr>
          <p:cNvPicPr>
            <a:picLocks noChangeAspect="1"/>
          </p:cNvPicPr>
          <p:nvPr/>
        </p:nvPicPr>
        <p:blipFill>
          <a:blip r:embed="rId2"/>
          <a:stretch>
            <a:fillRect/>
          </a:stretch>
        </p:blipFill>
        <p:spPr>
          <a:xfrm>
            <a:off x="5911596" y="2148840"/>
            <a:ext cx="548640" cy="548640"/>
          </a:xfrm>
          <a:prstGeom prst="rect">
            <a:avLst/>
          </a:prstGeom>
        </p:spPr>
      </p:pic>
      <p:sp>
        <p:nvSpPr>
          <p:cNvPr id="8" name="写真枠12_説明"/>
          <p:cNvSpPr txBox="1"/>
          <p:nvPr/>
        </p:nvSpPr>
        <p:spPr>
          <a:xfrm>
            <a:off x="4562856" y="2788920"/>
            <a:ext cx="3246120" cy="731520"/>
          </a:xfrm>
          <a:prstGeom prst="rect">
            <a:avLst/>
          </a:prstGeom>
          <a:noFill/>
          <a:ln/>
        </p:spPr>
        <p:txBody>
          <a:bodyPr wrap="square" lIns="0" tIns="0" rIns="0" bIns="0" rtlCol="0" anchor="t"/>
          <a:lstStyle/>
          <a:p>
            <a:pPr algn="ctr" indent="0" marL="0">
              <a:buNone/>
            </a:pPr>
            <a:r>
              <a:rPr lang="en-US" sz="1200" b="1" dirty="0">
                <a:solidFill>
                  <a:schemeClr val="accent5"/>
                </a:solidFill>
              </a:rPr>
              <a:t>写真</a:t>
            </a:r>
            <a:endParaRPr lang="en-US" sz="1200" dirty="0"/>
          </a:p>
          <a:p>
            <a:pPr algn="ctr" indent="0" marL="0">
              <a:buNone/>
            </a:pPr>
            <a:r>
              <a:rPr lang="en-US" sz="1200" dirty="0">
                <a:solidFill>
                  <a:schemeClr val="accent5"/>
                </a:solidFill>
              </a:rPr>
              <a:t>学習の手引き・学習材</a:t>
            </a:r>
            <a:endParaRPr lang="en-US" sz="1200" dirty="0"/>
          </a:p>
        </p:txBody>
      </p:sp>
      <p:sp>
        <p:nvSpPr>
          <p:cNvPr id="9" name="写真枠13"/>
          <p:cNvSpPr/>
          <p:nvPr/>
        </p:nvSpPr>
        <p:spPr>
          <a:xfrm>
            <a:off x="8302752" y="1371600"/>
            <a:ext cx="3520440" cy="2743200"/>
          </a:xfrm>
          <a:prstGeom prst="roundRect">
            <a:avLst>
              <a:gd name="adj" fmla="val 4000"/>
            </a:avLst>
          </a:prstGeom>
          <a:solidFill>
            <a:schemeClr val="bg2"/>
          </a:solidFill>
          <a:ln w="15875">
            <a:solidFill>
              <a:schemeClr val="accent3"/>
            </a:solidFill>
            <a:prstDash val="dash"/>
          </a:ln>
        </p:spPr>
      </p:sp>
      <p:pic>
        <p:nvPicPr>
          <p:cNvPr id="10" name="写真枠13_アイコン" descr="preencoded.png">    </p:cNvPr>
          <p:cNvPicPr>
            <a:picLocks noChangeAspect="1"/>
          </p:cNvPicPr>
          <p:nvPr/>
        </p:nvPicPr>
        <p:blipFill>
          <a:blip r:embed="rId3"/>
          <a:stretch>
            <a:fillRect/>
          </a:stretch>
        </p:blipFill>
        <p:spPr>
          <a:xfrm>
            <a:off x="9788652" y="2148840"/>
            <a:ext cx="548640" cy="548640"/>
          </a:xfrm>
          <a:prstGeom prst="rect">
            <a:avLst/>
          </a:prstGeom>
        </p:spPr>
      </p:pic>
      <p:sp>
        <p:nvSpPr>
          <p:cNvPr id="11" name="写真枠13_説明"/>
          <p:cNvSpPr txBox="1"/>
          <p:nvPr/>
        </p:nvSpPr>
        <p:spPr>
          <a:xfrm>
            <a:off x="8439912" y="2788920"/>
            <a:ext cx="3246120" cy="731520"/>
          </a:xfrm>
          <a:prstGeom prst="rect">
            <a:avLst/>
          </a:prstGeom>
          <a:noFill/>
          <a:ln/>
        </p:spPr>
        <p:txBody>
          <a:bodyPr wrap="square" lIns="0" tIns="0" rIns="0" bIns="0" rtlCol="0" anchor="t"/>
          <a:lstStyle/>
          <a:p>
            <a:pPr algn="ctr" indent="0" marL="0">
              <a:buNone/>
            </a:pPr>
            <a:r>
              <a:rPr lang="en-US" sz="1200" b="1" dirty="0">
                <a:solidFill>
                  <a:schemeClr val="accent5"/>
                </a:solidFill>
              </a:rPr>
              <a:t>写真</a:t>
            </a:r>
            <a:endParaRPr lang="en-US" sz="1200" dirty="0"/>
          </a:p>
          <a:p>
            <a:pPr algn="ctr" indent="0" marL="0">
              <a:buNone/>
            </a:pPr>
            <a:r>
              <a:rPr lang="en-US" sz="1200" dirty="0">
                <a:solidFill>
                  <a:schemeClr val="accent5"/>
                </a:solidFill>
              </a:rPr>
              <a:t>教師の個別支援</a:t>
            </a:r>
            <a:endParaRPr lang="en-US" sz="1200" dirty="0"/>
          </a:p>
        </p:txBody>
      </p:sp>
      <p:sp>
        <p:nvSpPr>
          <p:cNvPr id="12" name="Shape 7"/>
          <p:cNvSpPr/>
          <p:nvPr/>
        </p:nvSpPr>
        <p:spPr>
          <a:xfrm>
            <a:off x="548640" y="4434840"/>
            <a:ext cx="11094415" cy="1508760"/>
          </a:xfrm>
          <a:prstGeom prst="roundRect">
            <a:avLst>
              <a:gd name="adj" fmla="val 6061"/>
            </a:avLst>
          </a:prstGeom>
          <a:solidFill>
            <a:schemeClr val="tx2"/>
          </a:solidFill>
          <a:ln/>
        </p:spPr>
      </p:sp>
      <p:sp>
        <p:nvSpPr>
          <p:cNvPr id="13" name="Text 8"/>
          <p:cNvSpPr txBox="1"/>
          <p:nvPr/>
        </p:nvSpPr>
        <p:spPr>
          <a:xfrm>
            <a:off x="914400" y="4480560"/>
            <a:ext cx="6400800" cy="1417320"/>
          </a:xfrm>
          <a:prstGeom prst="rect">
            <a:avLst/>
          </a:prstGeom>
          <a:noFill/>
          <a:ln/>
        </p:spPr>
        <p:txBody>
          <a:bodyPr wrap="square" lIns="0" tIns="0" rIns="0" bIns="0" rtlCol="0" anchor="ctr"/>
          <a:lstStyle/>
          <a:p>
            <a:pPr indent="0" marL="0">
              <a:buNone/>
            </a:pPr>
            <a:r>
              <a:rPr lang="en-US" sz="2200" b="1" dirty="0">
                <a:solidFill>
                  <a:schemeClr val="bg1"/>
                </a:solidFill>
              </a:rPr>
              <a:t>教師は「教える人」から、</a:t>
            </a:r>
            <a:endParaRPr lang="en-US" sz="2200" dirty="0"/>
          </a:p>
          <a:p>
            <a:pPr indent="0" marL="0">
              <a:buNone/>
            </a:pPr>
            <a:r>
              <a:rPr lang="en-US" sz="2200" b="1" dirty="0">
                <a:solidFill>
                  <a:schemeClr val="accent2"/>
                </a:solidFill>
              </a:rPr>
              <a:t>学びをデザインし、見取り、支える人へ</a:t>
            </a:r>
            <a:endParaRPr lang="en-US" sz="2200" dirty="0"/>
          </a:p>
        </p:txBody>
      </p:sp>
      <p:sp>
        <p:nvSpPr>
          <p:cNvPr id="14" name="Text 9"/>
          <p:cNvSpPr txBox="1"/>
          <p:nvPr/>
        </p:nvSpPr>
        <p:spPr>
          <a:xfrm>
            <a:off x="7223760" y="4480560"/>
            <a:ext cx="4114800" cy="1417320"/>
          </a:xfrm>
          <a:prstGeom prst="rect">
            <a:avLst/>
          </a:prstGeom>
          <a:noFill/>
          <a:ln/>
        </p:spPr>
        <p:txBody>
          <a:bodyPr wrap="square" lIns="0" tIns="0" rIns="0" bIns="0" rtlCol="0" anchor="ctr"/>
          <a:lstStyle/>
          <a:p>
            <a:pPr indent="0" marL="0">
              <a:buNone/>
            </a:pPr>
            <a:r>
              <a:rPr lang="en-US" sz="1500" dirty="0">
                <a:solidFill>
                  <a:schemeClr val="accent6"/>
                </a:solidFill>
              </a:rPr>
              <a:t>単元の計画や学習材、教室環境を事前に整えておくことで、授業中の教師は一人一人の見取りと支援に集中できる。</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011680"/>
            <a:ext cx="2743200" cy="1097280"/>
          </a:xfrm>
          <a:prstGeom prst="rect">
            <a:avLst/>
          </a:prstGeom>
          <a:noFill/>
          <a:ln/>
        </p:spPr>
        <p:txBody>
          <a:bodyPr wrap="square" lIns="0" tIns="0" rIns="0" bIns="0" rtlCol="0"/>
          <a:lstStyle/>
          <a:p>
            <a:pPr indent="0" marL="0">
              <a:buNone/>
            </a:pPr>
            <a:r>
              <a:rPr lang="en-US" sz="6000" b="1" dirty="0">
                <a:solidFill>
                  <a:schemeClr val="accent2"/>
                </a:solidFill>
              </a:rPr>
              <a:t>02</a:t>
            </a:r>
            <a:endParaRPr lang="en-US" sz="6000" dirty="0"/>
          </a:p>
        </p:txBody>
      </p:sp>
      <p:sp>
        <p:nvSpPr>
          <p:cNvPr id="3" name="Text 0"/>
          <p:cNvSpPr/>
          <p:nvPr>
            <p:ph idx="101" type="title" hasCustomPrompt="1"/>
          </p:nvPr>
        </p:nvSpPr>
        <p:spPr>
          <a:xfrm>
            <a:off x="548640" y="3108960"/>
            <a:ext cx="8686800" cy="1005840"/>
          </a:xfrm>
          <a:prstGeom prst="rect">
            <a:avLst/>
          </a:prstGeom>
          <a:noFill/>
          <a:ln/>
        </p:spPr>
        <p:txBody>
          <a:bodyPr wrap="square" lIns="0" tIns="0" rIns="0" bIns="0" rtlCol="0" anchor="ctr"/>
          <a:lstStyle/>
          <a:p>
            <a:pPr algn="l" indent="0" marL="0">
              <a:buNone/>
            </a:pPr>
            <a:r>
              <a:rPr lang="en-US" sz="4000" b="1" dirty="0">
                <a:solidFill>
                  <a:schemeClr val="bg1"/>
                </a:solidFill>
              </a:rPr>
              <a:t>講演・鼎談から</a:t>
            </a:r>
            <a:endParaRPr lang="en-US" sz="4000" dirty="0"/>
          </a:p>
        </p:txBody>
      </p:sp>
      <p:sp>
        <p:nvSpPr>
          <p:cNvPr id="4" name="Text 0"/>
          <p:cNvSpPr/>
          <p:nvPr>
            <p:ph idx="102" type="body" hasCustomPrompt="1"/>
          </p:nvPr>
        </p:nvSpPr>
        <p:spPr>
          <a:xfrm>
            <a:off x="548640" y="4160520"/>
            <a:ext cx="8686800" cy="731520"/>
          </a:xfrm>
          <a:prstGeom prst="rect">
            <a:avLst/>
          </a:prstGeom>
          <a:noFill/>
          <a:ln/>
        </p:spPr>
        <p:txBody>
          <a:bodyPr wrap="square" lIns="0" tIns="0" rIns="0" bIns="0" rtlCol="0" anchor="t"/>
          <a:lstStyle/>
          <a:p>
            <a:pPr indent="0" marL="0">
              <a:buNone/>
            </a:pPr>
            <a:r>
              <a:rPr lang="en-US" sz="1800" dirty="0">
                <a:solidFill>
                  <a:schemeClr val="accent6"/>
                </a:solidFill>
              </a:rPr>
              <a:t>奈須正裕先生「次期学習指導要領が目指す学力論とカリキュラム開発」</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２つの「好き」「得意」を育てる</a:t>
            </a:r>
            <a:endParaRPr lang="en-US" sz="3200" dirty="0"/>
          </a:p>
        </p:txBody>
      </p:sp>
      <p:sp>
        <p:nvSpPr>
          <p:cNvPr id="3" name="Shape 1"/>
          <p:cNvSpPr/>
          <p:nvPr/>
        </p:nvSpPr>
        <p:spPr>
          <a:xfrm>
            <a:off x="548640" y="1371600"/>
            <a:ext cx="5349240" cy="3337560"/>
          </a:xfrm>
          <a:prstGeom prst="roundRect">
            <a:avLst>
              <a:gd name="adj" fmla="val 2740"/>
            </a:avLst>
          </a:prstGeom>
          <a:solidFill>
            <a:schemeClr val="bg2"/>
          </a:solidFill>
          <a:ln/>
        </p:spPr>
      </p:sp>
      <p:sp>
        <p:nvSpPr>
          <p:cNvPr id="4" name="Shape 2"/>
          <p:cNvSpPr/>
          <p:nvPr/>
        </p:nvSpPr>
        <p:spPr>
          <a:xfrm>
            <a:off x="914400" y="1691640"/>
            <a:ext cx="914400" cy="91440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1143000" y="1920240"/>
            <a:ext cx="457200" cy="457200"/>
          </a:xfrm>
          <a:prstGeom prst="rect">
            <a:avLst/>
          </a:prstGeom>
        </p:spPr>
      </p:pic>
      <p:sp>
        <p:nvSpPr>
          <p:cNvPr id="6" name="Text 3"/>
          <p:cNvSpPr txBox="1"/>
          <p:nvPr/>
        </p:nvSpPr>
        <p:spPr>
          <a:xfrm>
            <a:off x="2057400" y="1645920"/>
            <a:ext cx="3520440" cy="1005840"/>
          </a:xfrm>
          <a:prstGeom prst="rect">
            <a:avLst/>
          </a:prstGeom>
          <a:noFill/>
          <a:ln/>
        </p:spPr>
        <p:txBody>
          <a:bodyPr wrap="square" lIns="0" tIns="0" rIns="0" bIns="0" rtlCol="0" anchor="ctr"/>
          <a:lstStyle/>
          <a:p>
            <a:pPr indent="0" marL="0">
              <a:buNone/>
            </a:pPr>
            <a:r>
              <a:rPr lang="en-US" sz="1800" dirty="0">
                <a:solidFill>
                  <a:schemeClr val="accent5"/>
                </a:solidFill>
              </a:rPr>
              <a:t>教科等の学びで育つ</a:t>
            </a:r>
            <a:endParaRPr lang="en-US" sz="1800" dirty="0"/>
          </a:p>
          <a:p>
            <a:pPr indent="0" marL="0">
              <a:buNone/>
            </a:pPr>
            <a:r>
              <a:rPr lang="en-US" sz="2800" b="1" dirty="0">
                <a:solidFill>
                  <a:schemeClr val="tx2"/>
                </a:solidFill>
              </a:rPr>
              <a:t>「好き」「得意」</a:t>
            </a:r>
            <a:endParaRPr lang="en-US" sz="1800" dirty="0"/>
          </a:p>
        </p:txBody>
      </p:sp>
      <p:sp>
        <p:nvSpPr>
          <p:cNvPr id="7" name="Text 4"/>
          <p:cNvSpPr txBox="1"/>
          <p:nvPr/>
        </p:nvSpPr>
        <p:spPr>
          <a:xfrm>
            <a:off x="914400" y="2926080"/>
            <a:ext cx="4617720" cy="15544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教科等の本質に触れることで生まれる</a:t>
            </a:r>
            <a:endParaRPr lang="en-US" sz="1600" dirty="0"/>
          </a:p>
          <a:p>
            <a:pPr marL="342900" indent="-342900">
              <a:spcAft>
                <a:spcPts val="800"/>
              </a:spcAft>
              <a:buSzPct val="100000"/>
              <a:buChar char="•"/>
            </a:pPr>
            <a:r>
              <a:rPr lang="en-US" sz="1600" dirty="0">
                <a:solidFill>
                  <a:schemeClr val="tx1"/>
                </a:solidFill>
              </a:rPr>
              <a:t>各教科の授業やマイプラン学習で育てる</a:t>
            </a:r>
            <a:endParaRPr lang="en-US" sz="1600" dirty="0"/>
          </a:p>
        </p:txBody>
      </p:sp>
      <p:sp>
        <p:nvSpPr>
          <p:cNvPr id="8" name="Shape 5"/>
          <p:cNvSpPr/>
          <p:nvPr/>
        </p:nvSpPr>
        <p:spPr>
          <a:xfrm>
            <a:off x="6291072" y="1371600"/>
            <a:ext cx="5349240" cy="3337560"/>
          </a:xfrm>
          <a:prstGeom prst="roundRect">
            <a:avLst>
              <a:gd name="adj" fmla="val 2740"/>
            </a:avLst>
          </a:prstGeom>
          <a:solidFill>
            <a:schemeClr val="bg2"/>
          </a:solidFill>
          <a:ln/>
        </p:spPr>
      </p:sp>
      <p:sp>
        <p:nvSpPr>
          <p:cNvPr id="9" name="Shape 6"/>
          <p:cNvSpPr/>
          <p:nvPr/>
        </p:nvSpPr>
        <p:spPr>
          <a:xfrm>
            <a:off x="6656832" y="1691640"/>
            <a:ext cx="914400" cy="914400"/>
          </a:xfrm>
          <a:prstGeom prst="ellipse">
            <a:avLst/>
          </a:prstGeom>
          <a:solidFill>
            <a:schemeClr val="accent2"/>
          </a:solidFill>
          <a:ln/>
        </p:spPr>
      </p:sp>
      <p:pic>
        <p:nvPicPr>
          <p:cNvPr id="10" name="Image 1" descr="preencoded.png">    </p:cNvPr>
          <p:cNvPicPr>
            <a:picLocks noChangeAspect="1"/>
          </p:cNvPicPr>
          <p:nvPr/>
        </p:nvPicPr>
        <p:blipFill>
          <a:blip r:embed="rId2"/>
          <a:stretch>
            <a:fillRect/>
          </a:stretch>
        </p:blipFill>
        <p:spPr>
          <a:xfrm>
            <a:off x="6885432" y="1920240"/>
            <a:ext cx="457200" cy="457200"/>
          </a:xfrm>
          <a:prstGeom prst="rect">
            <a:avLst/>
          </a:prstGeom>
        </p:spPr>
      </p:pic>
      <p:sp>
        <p:nvSpPr>
          <p:cNvPr id="11" name="Text 7"/>
          <p:cNvSpPr txBox="1"/>
          <p:nvPr/>
        </p:nvSpPr>
        <p:spPr>
          <a:xfrm>
            <a:off x="7799832" y="1645920"/>
            <a:ext cx="3520440" cy="1005840"/>
          </a:xfrm>
          <a:prstGeom prst="rect">
            <a:avLst/>
          </a:prstGeom>
          <a:noFill/>
          <a:ln/>
        </p:spPr>
        <p:txBody>
          <a:bodyPr wrap="square" lIns="0" tIns="0" rIns="0" bIns="0" rtlCol="0" anchor="ctr"/>
          <a:lstStyle/>
          <a:p>
            <a:pPr indent="0" marL="0">
              <a:buNone/>
            </a:pPr>
            <a:r>
              <a:rPr lang="en-US" sz="1800" dirty="0">
                <a:solidFill>
                  <a:schemeClr val="accent5"/>
                </a:solidFill>
              </a:rPr>
              <a:t>子供自身がもつ</a:t>
            </a:r>
            <a:endParaRPr lang="en-US" sz="1800" dirty="0"/>
          </a:p>
          <a:p>
            <a:pPr indent="0" marL="0">
              <a:buNone/>
            </a:pPr>
            <a:r>
              <a:rPr lang="en-US" sz="2800" b="1" dirty="0">
                <a:solidFill>
                  <a:schemeClr val="tx2"/>
                </a:solidFill>
              </a:rPr>
              <a:t>「好き」「得意」</a:t>
            </a:r>
            <a:endParaRPr lang="en-US" sz="1800" dirty="0"/>
          </a:p>
        </p:txBody>
      </p:sp>
      <p:sp>
        <p:nvSpPr>
          <p:cNvPr id="12" name="Text 8"/>
          <p:cNvSpPr txBox="1"/>
          <p:nvPr/>
        </p:nvSpPr>
        <p:spPr>
          <a:xfrm>
            <a:off x="6656832" y="2926080"/>
            <a:ext cx="4617720" cy="15544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一人一人の興味・関心や個性から生まれる</a:t>
            </a:r>
            <a:endParaRPr lang="en-US" sz="1600" dirty="0"/>
          </a:p>
          <a:p>
            <a:pPr marL="342900" indent="-342900">
              <a:spcAft>
                <a:spcPts val="800"/>
              </a:spcAft>
              <a:buSzPct val="100000"/>
              <a:buChar char="•"/>
            </a:pPr>
            <a:r>
              <a:rPr lang="en-US" sz="1600" dirty="0">
                <a:solidFill>
                  <a:schemeClr val="tx1"/>
                </a:solidFill>
              </a:rPr>
              <a:t>フリースタイルプロジェクトで伸ばす</a:t>
            </a:r>
            <a:endParaRPr lang="en-US" sz="1600" dirty="0"/>
          </a:p>
        </p:txBody>
      </p:sp>
      <p:sp>
        <p:nvSpPr>
          <p:cNvPr id="13" name="Shape 9"/>
          <p:cNvSpPr/>
          <p:nvPr/>
        </p:nvSpPr>
        <p:spPr>
          <a:xfrm>
            <a:off x="548640" y="4983480"/>
            <a:ext cx="11094415" cy="960120"/>
          </a:xfrm>
          <a:prstGeom prst="roundRect">
            <a:avLst>
              <a:gd name="adj" fmla="val 9524"/>
            </a:avLst>
          </a:prstGeom>
          <a:solidFill>
            <a:schemeClr val="tx2"/>
          </a:solidFill>
          <a:ln/>
        </p:spPr>
      </p:sp>
      <p:sp>
        <p:nvSpPr>
          <p:cNvPr id="14" name="Text 10"/>
          <p:cNvSpPr txBox="1"/>
          <p:nvPr/>
        </p:nvSpPr>
        <p:spPr>
          <a:xfrm>
            <a:off x="868680" y="5029200"/>
            <a:ext cx="10454335" cy="868680"/>
          </a:xfrm>
          <a:prstGeom prst="rect">
            <a:avLst/>
          </a:prstGeom>
          <a:noFill/>
          <a:ln/>
        </p:spPr>
        <p:txBody>
          <a:bodyPr wrap="square" lIns="0" tIns="0" rIns="0" bIns="0" rtlCol="0" anchor="ctr"/>
          <a:lstStyle/>
          <a:p>
            <a:pPr indent="0" marL="0">
              <a:buNone/>
            </a:pPr>
            <a:r>
              <a:rPr lang="en-US" sz="1700" b="1" dirty="0">
                <a:solidFill>
                  <a:schemeClr val="accent2"/>
                </a:solidFill>
              </a:rPr>
              <a:t>つながり　</a:t>
            </a:r>
            <a:pPr indent="0" marL="0">
              <a:buNone/>
            </a:pPr>
            <a:r>
              <a:rPr lang="en-US" sz="1700" dirty="0">
                <a:solidFill>
                  <a:schemeClr val="bg1"/>
                </a:solidFill>
              </a:rPr>
              <a:t>審議まとめでも、学習内容を精選し、子供の「好き」「得意」を育むことが示されている。</a:t>
            </a:r>
            <a:endParaRPr lang="en-US" sz="17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カリキュラムの中での役割分担</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2651760"/>
                <a:gridCol w="2743200"/>
                <a:gridCol w="3502152"/>
              </a:tblGrid>
              <a:tr h="548640">
                <a:tc>
                  <a:txBody>
                    <a:bodyPr/>
                    <a:lstStyle/>
                    <a:p>
                      <a:pPr indent="0" marL="0">
                        <a:buNone/>
                      </a:pPr>
                      <a:r>
                        <a:rPr lang="en-US" sz="1500" b="1" dirty="0">
                          <a:solidFill>
                            <a:schemeClr val="bg1"/>
                          </a:solidFill>
                        </a:rPr>
                        <a:t>学習形態</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誰が決めるか</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主なねらい</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次期学習指導要領の論点</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tx2"/>
                    </a:solidFill>
                  </a:tcPr>
                </a:tc>
              </a:tr>
              <a:tr h="777240">
                <a:tc>
                  <a:txBody>
                    <a:bodyPr/>
                    <a:lstStyle/>
                    <a:p>
                      <a:pPr indent="0" marL="0">
                        <a:buNone/>
                      </a:pPr>
                      <a:r>
                        <a:rPr lang="en-US" sz="1500" b="1" dirty="0">
                          <a:solidFill>
                            <a:schemeClr val="tx2"/>
                          </a:solidFill>
                        </a:rPr>
                        <a:t>一斉授業</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教師</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学び方の基礎・共通の理解</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主体的・対話的で深い学び</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2"/>
                    </a:solidFill>
                  </a:tcPr>
                </a:tc>
              </a:tr>
              <a:tr h="777240">
                <a:tc>
                  <a:txBody>
                    <a:bodyPr/>
                    <a:lstStyle/>
                    <a:p>
                      <a:pPr indent="0" marL="0">
                        <a:buNone/>
                      </a:pPr>
                      <a:r>
                        <a:rPr lang="en-US" sz="1500" b="1" dirty="0">
                          <a:solidFill>
                            <a:schemeClr val="tx2"/>
                          </a:solidFill>
                        </a:rPr>
                        <a:t>自学・自習</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子供（範囲を決めて）</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学習習慣・自己調整</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学びに向かう力</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1"/>
                    </a:solidFill>
                  </a:tcPr>
                </a:tc>
              </a:tr>
              <a:tr h="868680">
                <a:tc>
                  <a:txBody>
                    <a:bodyPr/>
                    <a:lstStyle/>
                    <a:p>
                      <a:pPr indent="0" marL="0">
                        <a:buNone/>
                      </a:pPr>
                      <a:r>
                        <a:rPr lang="en-US" sz="1500" b="1" dirty="0">
                          <a:solidFill>
                            <a:schemeClr val="tx2"/>
                          </a:solidFill>
                        </a:rPr>
                        <a:t>マイプラン学習</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目標は教師／進め方は子供</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教科の目標の確実な達成</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個別最適な学びと協働的な学びの一体的な充実</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2"/>
                    </a:solidFill>
                  </a:tcPr>
                </a:tc>
              </a:tr>
              <a:tr h="868680">
                <a:tc>
                  <a:txBody>
                    <a:bodyPr/>
                    <a:lstStyle/>
                    <a:p>
                      <a:pPr indent="0" marL="0">
                        <a:buNone/>
                      </a:pPr>
                      <a:r>
                        <a:rPr lang="en-US" sz="1500" b="1" dirty="0">
                          <a:solidFill>
                            <a:schemeClr val="tx2"/>
                          </a:solidFill>
                        </a:rPr>
                        <a:t>フリースタイル</a:t>
                      </a:r>
                      <a:endParaRPr lang="en-US" sz="1500" dirty="0"/>
                    </a:p>
                    <a:p>
                      <a:pPr indent="0" marL="0">
                        <a:buNone/>
                      </a:pPr>
                      <a:r>
                        <a:rPr lang="en-US" sz="1500" b="1" dirty="0">
                          <a:solidFill>
                            <a:schemeClr val="tx2"/>
                          </a:solidFill>
                        </a:rPr>
                        <a:t>プロジェクト</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テーマも進め方も子供</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「好き」「得意」の探究</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裁量的な時間／「好き」「得意」を育む</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440680"/>
            <a:ext cx="8229600" cy="320040"/>
          </a:xfrm>
          <a:prstGeom prst="rect">
            <a:avLst/>
          </a:prstGeom>
          <a:noFill/>
          <a:ln/>
        </p:spPr>
        <p:txBody>
          <a:bodyPr wrap="square" lIns="0" tIns="0" rIns="0" bIns="0" rtlCol="0" anchor="ctr"/>
          <a:lstStyle/>
          <a:p>
            <a:pPr indent="0" marL="0">
              <a:buNone/>
            </a:pPr>
            <a:r>
              <a:rPr lang="en-US" sz="1200" dirty="0">
                <a:solidFill>
                  <a:schemeClr val="accent5"/>
                </a:solidFill>
              </a:rPr>
              <a:t>※講演資料の同校カリキュラム表をもとに、報告者が整理したもの</a:t>
            </a:r>
            <a:endParaRPr lang="en-US" sz="12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鼎談・質疑応答から</a:t>
            </a:r>
            <a:endParaRPr lang="en-US" sz="3200" dirty="0"/>
          </a:p>
        </p:txBody>
      </p:sp>
      <p:sp>
        <p:nvSpPr>
          <p:cNvPr id="3" name="Shape 1"/>
          <p:cNvSpPr/>
          <p:nvPr/>
        </p:nvSpPr>
        <p:spPr>
          <a:xfrm>
            <a:off x="548640" y="1371600"/>
            <a:ext cx="5349240" cy="2103120"/>
          </a:xfrm>
          <a:prstGeom prst="roundRect">
            <a:avLst>
              <a:gd name="adj" fmla="val 4348"/>
            </a:avLst>
          </a:prstGeom>
          <a:solidFill>
            <a:schemeClr val="bg2"/>
          </a:solidFill>
          <a:ln/>
        </p:spPr>
      </p:sp>
      <p:sp>
        <p:nvSpPr>
          <p:cNvPr id="4" name="Shape 2"/>
          <p:cNvSpPr/>
          <p:nvPr/>
        </p:nvSpPr>
        <p:spPr>
          <a:xfrm>
            <a:off x="868680" y="1691640"/>
            <a:ext cx="731520" cy="73152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1051560" y="1874520"/>
            <a:ext cx="365760" cy="365760"/>
          </a:xfrm>
          <a:prstGeom prst="rect">
            <a:avLst/>
          </a:prstGeom>
        </p:spPr>
      </p:pic>
      <p:sp>
        <p:nvSpPr>
          <p:cNvPr id="6" name="Text 3"/>
          <p:cNvSpPr txBox="1"/>
          <p:nvPr/>
        </p:nvSpPr>
        <p:spPr>
          <a:xfrm>
            <a:off x="1783080" y="1691640"/>
            <a:ext cx="3794760" cy="731520"/>
          </a:xfrm>
          <a:prstGeom prst="rect">
            <a:avLst/>
          </a:prstGeom>
          <a:noFill/>
          <a:ln/>
        </p:spPr>
        <p:txBody>
          <a:bodyPr wrap="square" lIns="0" tIns="0" rIns="0" bIns="0" rtlCol="0" anchor="ctr"/>
          <a:lstStyle/>
          <a:p>
            <a:pPr indent="0" marL="0">
              <a:buNone/>
            </a:pPr>
            <a:r>
              <a:rPr lang="en-US" sz="2000" b="1" dirty="0">
                <a:solidFill>
                  <a:schemeClr val="tx2"/>
                </a:solidFill>
              </a:rPr>
              <a:t>実践の系譜</a:t>
            </a:r>
            <a:endParaRPr lang="en-US" sz="2000" dirty="0"/>
          </a:p>
        </p:txBody>
      </p:sp>
      <p:sp>
        <p:nvSpPr>
          <p:cNvPr id="7" name="Text 4"/>
          <p:cNvSpPr txBox="1"/>
          <p:nvPr/>
        </p:nvSpPr>
        <p:spPr>
          <a:xfrm>
            <a:off x="868680" y="2560320"/>
            <a:ext cx="4709160" cy="777240"/>
          </a:xfrm>
          <a:prstGeom prst="rect">
            <a:avLst/>
          </a:prstGeom>
          <a:noFill/>
          <a:ln/>
        </p:spPr>
        <p:txBody>
          <a:bodyPr wrap="square" lIns="0" tIns="0" rIns="0" bIns="0" rtlCol="0" anchor="t"/>
          <a:lstStyle/>
          <a:p>
            <a:pPr indent="0" marL="0">
              <a:buNone/>
            </a:pPr>
            <a:r>
              <a:rPr lang="en-US" sz="1500" dirty="0">
                <a:solidFill>
                  <a:schemeClr val="tx1"/>
                </a:solidFill>
              </a:rPr>
              <a:t>愛知県東浦町立緒川小学校の個別化・個性化教育など、長く積み重ねられてきた実践の上にある</a:t>
            </a:r>
            <a:endParaRPr lang="en-US" sz="1500" dirty="0"/>
          </a:p>
        </p:txBody>
      </p:sp>
      <p:sp>
        <p:nvSpPr>
          <p:cNvPr id="8" name="Shape 5"/>
          <p:cNvSpPr/>
          <p:nvPr/>
        </p:nvSpPr>
        <p:spPr>
          <a:xfrm>
            <a:off x="6291072" y="1371600"/>
            <a:ext cx="5349240" cy="2103120"/>
          </a:xfrm>
          <a:prstGeom prst="roundRect">
            <a:avLst>
              <a:gd name="adj" fmla="val 4348"/>
            </a:avLst>
          </a:prstGeom>
          <a:solidFill>
            <a:schemeClr val="bg2"/>
          </a:solidFill>
          <a:ln/>
        </p:spPr>
      </p:sp>
      <p:sp>
        <p:nvSpPr>
          <p:cNvPr id="9" name="Shape 6"/>
          <p:cNvSpPr/>
          <p:nvPr/>
        </p:nvSpPr>
        <p:spPr>
          <a:xfrm>
            <a:off x="6611112" y="1691640"/>
            <a:ext cx="731520" cy="731520"/>
          </a:xfrm>
          <a:prstGeom prst="ellipse">
            <a:avLst/>
          </a:prstGeom>
          <a:solidFill>
            <a:schemeClr val="accent2"/>
          </a:solidFill>
          <a:ln/>
        </p:spPr>
      </p:sp>
      <p:pic>
        <p:nvPicPr>
          <p:cNvPr id="10" name="Image 1" descr="preencoded.png">    </p:cNvPr>
          <p:cNvPicPr>
            <a:picLocks noChangeAspect="1"/>
          </p:cNvPicPr>
          <p:nvPr/>
        </p:nvPicPr>
        <p:blipFill>
          <a:blip r:embed="rId2"/>
          <a:stretch>
            <a:fillRect/>
          </a:stretch>
        </p:blipFill>
        <p:spPr>
          <a:xfrm>
            <a:off x="6793992" y="1874520"/>
            <a:ext cx="365760" cy="365760"/>
          </a:xfrm>
          <a:prstGeom prst="rect">
            <a:avLst/>
          </a:prstGeom>
        </p:spPr>
      </p:pic>
      <p:sp>
        <p:nvSpPr>
          <p:cNvPr id="11" name="Text 7"/>
          <p:cNvSpPr txBox="1"/>
          <p:nvPr/>
        </p:nvSpPr>
        <p:spPr>
          <a:xfrm>
            <a:off x="7525512" y="1691640"/>
            <a:ext cx="3794760" cy="731520"/>
          </a:xfrm>
          <a:prstGeom prst="rect">
            <a:avLst/>
          </a:prstGeom>
          <a:noFill/>
          <a:ln/>
        </p:spPr>
        <p:txBody>
          <a:bodyPr wrap="square" lIns="0" tIns="0" rIns="0" bIns="0" rtlCol="0" anchor="ctr"/>
          <a:lstStyle/>
          <a:p>
            <a:pPr indent="0" marL="0">
              <a:buNone/>
            </a:pPr>
            <a:r>
              <a:rPr lang="en-US" sz="2000" b="1" dirty="0">
                <a:solidFill>
                  <a:schemeClr val="tx2"/>
                </a:solidFill>
              </a:rPr>
              <a:t>一人一人に応じる必要</a:t>
            </a:r>
            <a:endParaRPr lang="en-US" sz="2000" dirty="0"/>
          </a:p>
        </p:txBody>
      </p:sp>
      <p:sp>
        <p:nvSpPr>
          <p:cNvPr id="12" name="Text 8"/>
          <p:cNvSpPr txBox="1"/>
          <p:nvPr/>
        </p:nvSpPr>
        <p:spPr>
          <a:xfrm>
            <a:off x="6611112" y="2560320"/>
            <a:ext cx="4709160" cy="777240"/>
          </a:xfrm>
          <a:prstGeom prst="rect">
            <a:avLst/>
          </a:prstGeom>
          <a:noFill/>
          <a:ln/>
        </p:spPr>
        <p:txBody>
          <a:bodyPr wrap="square" lIns="0" tIns="0" rIns="0" bIns="0" rtlCol="0" anchor="t"/>
          <a:lstStyle/>
          <a:p>
            <a:pPr indent="0" marL="0">
              <a:buNone/>
            </a:pPr>
            <a:r>
              <a:rPr lang="en-US" sz="1500" dirty="0">
                <a:solidFill>
                  <a:schemeClr val="tx1"/>
                </a:solidFill>
              </a:rPr>
              <a:t>不登校の増加（講演・鼎談で「50万人」規模に言及）。一斉授業だけでは包摂しきれない</a:t>
            </a:r>
            <a:endParaRPr lang="en-US" sz="1500" dirty="0"/>
          </a:p>
        </p:txBody>
      </p:sp>
      <p:sp>
        <p:nvSpPr>
          <p:cNvPr id="13" name="Shape 9"/>
          <p:cNvSpPr/>
          <p:nvPr/>
        </p:nvSpPr>
        <p:spPr>
          <a:xfrm>
            <a:off x="548640" y="3749040"/>
            <a:ext cx="5349240" cy="2103120"/>
          </a:xfrm>
          <a:prstGeom prst="roundRect">
            <a:avLst>
              <a:gd name="adj" fmla="val 4348"/>
            </a:avLst>
          </a:prstGeom>
          <a:solidFill>
            <a:schemeClr val="bg2"/>
          </a:solidFill>
          <a:ln/>
        </p:spPr>
      </p:sp>
      <p:sp>
        <p:nvSpPr>
          <p:cNvPr id="14" name="Shape 10"/>
          <p:cNvSpPr/>
          <p:nvPr/>
        </p:nvSpPr>
        <p:spPr>
          <a:xfrm>
            <a:off x="868680" y="4069080"/>
            <a:ext cx="731520" cy="73152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1051560" y="4251960"/>
            <a:ext cx="365760" cy="365760"/>
          </a:xfrm>
          <a:prstGeom prst="rect">
            <a:avLst/>
          </a:prstGeom>
        </p:spPr>
      </p:pic>
      <p:sp>
        <p:nvSpPr>
          <p:cNvPr id="16" name="Text 11"/>
          <p:cNvSpPr txBox="1"/>
          <p:nvPr/>
        </p:nvSpPr>
        <p:spPr>
          <a:xfrm>
            <a:off x="1783080" y="4069080"/>
            <a:ext cx="3794760" cy="731520"/>
          </a:xfrm>
          <a:prstGeom prst="rect">
            <a:avLst/>
          </a:prstGeom>
          <a:noFill/>
          <a:ln/>
        </p:spPr>
        <p:txBody>
          <a:bodyPr wrap="square" lIns="0" tIns="0" rIns="0" bIns="0" rtlCol="0" anchor="ctr"/>
          <a:lstStyle/>
          <a:p>
            <a:pPr indent="0" marL="0">
              <a:buNone/>
            </a:pPr>
            <a:r>
              <a:rPr lang="en-US" sz="2000" b="1" dirty="0">
                <a:solidFill>
                  <a:schemeClr val="tx2"/>
                </a:solidFill>
              </a:rPr>
              <a:t>地域での広がり</a:t>
            </a:r>
            <a:endParaRPr lang="en-US" sz="2000" dirty="0"/>
          </a:p>
        </p:txBody>
      </p:sp>
      <p:sp>
        <p:nvSpPr>
          <p:cNvPr id="17" name="Text 12"/>
          <p:cNvSpPr txBox="1"/>
          <p:nvPr/>
        </p:nvSpPr>
        <p:spPr>
          <a:xfrm>
            <a:off x="868680" y="4937760"/>
            <a:ext cx="4709160" cy="777240"/>
          </a:xfrm>
          <a:prstGeom prst="rect">
            <a:avLst/>
          </a:prstGeom>
          <a:noFill/>
          <a:ln/>
        </p:spPr>
        <p:txBody>
          <a:bodyPr wrap="square" lIns="0" tIns="0" rIns="0" bIns="0" rtlCol="0" anchor="t"/>
          <a:lstStyle/>
          <a:p>
            <a:pPr indent="0" marL="0">
              <a:buNone/>
            </a:pPr>
            <a:r>
              <a:rPr lang="en-US" sz="1500" dirty="0">
                <a:solidFill>
                  <a:schemeClr val="tx1"/>
                </a:solidFill>
              </a:rPr>
              <a:t>奈良県王寺町など、自治体ぐるみの取組も話題に</a:t>
            </a:r>
            <a:endParaRPr lang="en-US" sz="1500" dirty="0"/>
          </a:p>
        </p:txBody>
      </p:sp>
      <p:sp>
        <p:nvSpPr>
          <p:cNvPr id="18" name="Shape 13"/>
          <p:cNvSpPr/>
          <p:nvPr/>
        </p:nvSpPr>
        <p:spPr>
          <a:xfrm>
            <a:off x="6291072" y="3749040"/>
            <a:ext cx="5349240" cy="2103120"/>
          </a:xfrm>
          <a:prstGeom prst="roundRect">
            <a:avLst>
              <a:gd name="adj" fmla="val 4348"/>
            </a:avLst>
          </a:prstGeom>
          <a:solidFill>
            <a:schemeClr val="bg2"/>
          </a:solidFill>
          <a:ln/>
        </p:spPr>
      </p:sp>
      <p:sp>
        <p:nvSpPr>
          <p:cNvPr id="19" name="Shape 14"/>
          <p:cNvSpPr/>
          <p:nvPr/>
        </p:nvSpPr>
        <p:spPr>
          <a:xfrm>
            <a:off x="6611112" y="4069080"/>
            <a:ext cx="731520" cy="731520"/>
          </a:xfrm>
          <a:prstGeom prst="ellipse">
            <a:avLst/>
          </a:prstGeom>
          <a:solidFill>
            <a:schemeClr val="accent2"/>
          </a:solidFill>
          <a:ln/>
        </p:spPr>
      </p:sp>
      <p:pic>
        <p:nvPicPr>
          <p:cNvPr id="20" name="Image 3" descr="preencoded.png">    </p:cNvPr>
          <p:cNvPicPr>
            <a:picLocks noChangeAspect="1"/>
          </p:cNvPicPr>
          <p:nvPr/>
        </p:nvPicPr>
        <p:blipFill>
          <a:blip r:embed="rId4"/>
          <a:stretch>
            <a:fillRect/>
          </a:stretch>
        </p:blipFill>
        <p:spPr>
          <a:xfrm>
            <a:off x="6793992" y="4251960"/>
            <a:ext cx="365760" cy="365760"/>
          </a:xfrm>
          <a:prstGeom prst="rect">
            <a:avLst/>
          </a:prstGeom>
        </p:spPr>
      </p:pic>
      <p:sp>
        <p:nvSpPr>
          <p:cNvPr id="21" name="Text 15"/>
          <p:cNvSpPr txBox="1"/>
          <p:nvPr/>
        </p:nvSpPr>
        <p:spPr>
          <a:xfrm>
            <a:off x="7525512" y="4069080"/>
            <a:ext cx="3794760" cy="731520"/>
          </a:xfrm>
          <a:prstGeom prst="rect">
            <a:avLst/>
          </a:prstGeom>
          <a:noFill/>
          <a:ln/>
        </p:spPr>
        <p:txBody>
          <a:bodyPr wrap="square" lIns="0" tIns="0" rIns="0" bIns="0" rtlCol="0" anchor="ctr"/>
          <a:lstStyle/>
          <a:p>
            <a:pPr indent="0" marL="0">
              <a:buNone/>
            </a:pPr>
            <a:r>
              <a:rPr lang="en-US" sz="2000" b="1" dirty="0">
                <a:solidFill>
                  <a:schemeClr val="tx2"/>
                </a:solidFill>
              </a:rPr>
              <a:t>制度との接続</a:t>
            </a:r>
            <a:endParaRPr lang="en-US" sz="2000" dirty="0"/>
          </a:p>
        </p:txBody>
      </p:sp>
      <p:sp>
        <p:nvSpPr>
          <p:cNvPr id="22" name="Text 16"/>
          <p:cNvSpPr txBox="1"/>
          <p:nvPr/>
        </p:nvSpPr>
        <p:spPr>
          <a:xfrm>
            <a:off x="6611112" y="4937760"/>
            <a:ext cx="4709160" cy="777240"/>
          </a:xfrm>
          <a:prstGeom prst="rect">
            <a:avLst/>
          </a:prstGeom>
          <a:noFill/>
          <a:ln/>
        </p:spPr>
        <p:txBody>
          <a:bodyPr wrap="square" lIns="0" tIns="0" rIns="0" bIns="0" rtlCol="0" anchor="t"/>
          <a:lstStyle/>
          <a:p>
            <a:pPr indent="0" marL="0">
              <a:buNone/>
            </a:pPr>
            <a:r>
              <a:rPr lang="en-US" sz="1500" dirty="0">
                <a:solidFill>
                  <a:schemeClr val="tx1"/>
                </a:solidFill>
              </a:rPr>
              <a:t>質疑では、次期学習指導要領の「調整授業時数制度」の生かし方も話題になった</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011680"/>
            <a:ext cx="2743200" cy="1097280"/>
          </a:xfrm>
          <a:prstGeom prst="rect">
            <a:avLst/>
          </a:prstGeom>
          <a:noFill/>
          <a:ln/>
        </p:spPr>
        <p:txBody>
          <a:bodyPr wrap="square" lIns="0" tIns="0" rIns="0" bIns="0" rtlCol="0"/>
          <a:lstStyle/>
          <a:p>
            <a:pPr indent="0" marL="0">
              <a:buNone/>
            </a:pPr>
            <a:r>
              <a:rPr lang="en-US" sz="6000" b="1" dirty="0">
                <a:solidFill>
                  <a:schemeClr val="accent2"/>
                </a:solidFill>
              </a:rPr>
              <a:t>03</a:t>
            </a:r>
            <a:endParaRPr lang="en-US" sz="6000" dirty="0"/>
          </a:p>
        </p:txBody>
      </p:sp>
      <p:sp>
        <p:nvSpPr>
          <p:cNvPr id="3" name="Text 0"/>
          <p:cNvSpPr/>
          <p:nvPr>
            <p:ph idx="101" type="title" hasCustomPrompt="1"/>
          </p:nvPr>
        </p:nvSpPr>
        <p:spPr>
          <a:xfrm>
            <a:off x="548640" y="3108960"/>
            <a:ext cx="8686800" cy="1005840"/>
          </a:xfrm>
          <a:prstGeom prst="rect">
            <a:avLst/>
          </a:prstGeom>
          <a:noFill/>
          <a:ln/>
        </p:spPr>
        <p:txBody>
          <a:bodyPr wrap="square" lIns="0" tIns="0" rIns="0" bIns="0" rtlCol="0" anchor="ctr"/>
          <a:lstStyle/>
          <a:p>
            <a:pPr algn="l" indent="0" marL="0">
              <a:buNone/>
            </a:pPr>
            <a:r>
              <a:rPr lang="en-US" sz="4000" b="1" dirty="0">
                <a:solidFill>
                  <a:schemeClr val="bg1"/>
                </a:solidFill>
              </a:rPr>
              <a:t>次期学習指導要領の方向性</a:t>
            </a:r>
            <a:endParaRPr lang="en-US" sz="4000" dirty="0"/>
          </a:p>
        </p:txBody>
      </p:sp>
      <p:sp>
        <p:nvSpPr>
          <p:cNvPr id="4" name="Text 0"/>
          <p:cNvSpPr/>
          <p:nvPr>
            <p:ph idx="102" type="body" hasCustomPrompt="1"/>
          </p:nvPr>
        </p:nvSpPr>
        <p:spPr>
          <a:xfrm>
            <a:off x="548640" y="4160520"/>
            <a:ext cx="8686800" cy="731520"/>
          </a:xfrm>
          <a:prstGeom prst="rect">
            <a:avLst/>
          </a:prstGeom>
          <a:noFill/>
          <a:ln/>
        </p:spPr>
        <p:txBody>
          <a:bodyPr wrap="square" lIns="0" tIns="0" rIns="0" bIns="0" rtlCol="0" anchor="t"/>
          <a:lstStyle/>
          <a:p>
            <a:pPr indent="0" marL="0">
              <a:buNone/>
            </a:pPr>
            <a:r>
              <a:rPr lang="en-US" sz="1800" dirty="0">
                <a:solidFill>
                  <a:schemeClr val="accent6"/>
                </a:solidFill>
              </a:rPr>
              <a:t>中央教育審議会「次期学習指導要領等に向けた審議まとめ」（令和８年10月５日）から</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改訂のスケジュール</a:t>
            </a:r>
            <a:endParaRPr lang="en-US" sz="3200" dirty="0"/>
          </a:p>
        </p:txBody>
      </p:sp>
      <p:sp>
        <p:nvSpPr>
          <p:cNvPr id="3" name="Shape 1"/>
          <p:cNvSpPr/>
          <p:nvPr/>
        </p:nvSpPr>
        <p:spPr>
          <a:xfrm>
            <a:off x="1463040" y="3108960"/>
            <a:ext cx="9265615" cy="0"/>
          </a:xfrm>
          <a:prstGeom prst="line">
            <a:avLst/>
          </a:prstGeom>
          <a:noFill/>
          <a:ln w="38100">
            <a:solidFill>
              <a:schemeClr val="accent3"/>
            </a:solidFill>
            <a:prstDash val="solid"/>
          </a:ln>
        </p:spPr>
      </p:sp>
      <p:sp>
        <p:nvSpPr>
          <p:cNvPr id="4" name="Shape 2"/>
          <p:cNvSpPr/>
          <p:nvPr/>
        </p:nvSpPr>
        <p:spPr>
          <a:xfrm>
            <a:off x="1307592" y="2953512"/>
            <a:ext cx="310896" cy="310896"/>
          </a:xfrm>
          <a:prstGeom prst="ellipse">
            <a:avLst/>
          </a:prstGeom>
          <a:solidFill>
            <a:schemeClr val="accent1"/>
          </a:solidFill>
          <a:ln w="25400">
            <a:solidFill>
              <a:schemeClr val="accent1"/>
            </a:solidFill>
            <a:prstDash val="solid"/>
          </a:ln>
        </p:spPr>
      </p:sp>
      <p:sp>
        <p:nvSpPr>
          <p:cNvPr id="5" name="Text 3"/>
          <p:cNvSpPr txBox="1"/>
          <p:nvPr/>
        </p:nvSpPr>
        <p:spPr>
          <a:xfrm>
            <a:off x="548640" y="2011680"/>
            <a:ext cx="1828800" cy="685800"/>
          </a:xfrm>
          <a:prstGeom prst="rect">
            <a:avLst/>
          </a:prstGeom>
          <a:noFill/>
          <a:ln/>
        </p:spPr>
        <p:txBody>
          <a:bodyPr wrap="square" lIns="0" tIns="0" rIns="0" bIns="0" rtlCol="0" anchor="b"/>
          <a:lstStyle/>
          <a:p>
            <a:pPr algn="ctr" indent="0" marL="0">
              <a:buNone/>
            </a:pPr>
            <a:r>
              <a:rPr lang="en-US" sz="1400" dirty="0">
                <a:solidFill>
                  <a:schemeClr val="accent5"/>
                </a:solidFill>
              </a:rPr>
              <a:t>令和６年12月</a:t>
            </a:r>
            <a:endParaRPr lang="en-US" sz="1400" dirty="0"/>
          </a:p>
        </p:txBody>
      </p:sp>
      <p:sp>
        <p:nvSpPr>
          <p:cNvPr id="6" name="Text 4"/>
          <p:cNvSpPr txBox="1"/>
          <p:nvPr/>
        </p:nvSpPr>
        <p:spPr>
          <a:xfrm>
            <a:off x="548640" y="3520440"/>
            <a:ext cx="1828800" cy="731520"/>
          </a:xfrm>
          <a:prstGeom prst="rect">
            <a:avLst/>
          </a:prstGeom>
          <a:noFill/>
          <a:ln/>
        </p:spPr>
        <p:txBody>
          <a:bodyPr wrap="square" lIns="0" tIns="0" rIns="0" bIns="0" rtlCol="0" anchor="t"/>
          <a:lstStyle/>
          <a:p>
            <a:pPr algn="ctr" indent="0" marL="0">
              <a:buNone/>
            </a:pPr>
            <a:r>
              <a:rPr lang="en-US" sz="1700" b="1" dirty="0">
                <a:solidFill>
                  <a:schemeClr val="tx2"/>
                </a:solidFill>
              </a:rPr>
              <a:t>諮問</a:t>
            </a:r>
            <a:endParaRPr lang="en-US" sz="1700" dirty="0"/>
          </a:p>
        </p:txBody>
      </p:sp>
      <p:sp>
        <p:nvSpPr>
          <p:cNvPr id="7" name="Shape 5"/>
          <p:cNvSpPr/>
          <p:nvPr/>
        </p:nvSpPr>
        <p:spPr>
          <a:xfrm>
            <a:off x="3160715" y="2953512"/>
            <a:ext cx="310896" cy="310896"/>
          </a:xfrm>
          <a:prstGeom prst="ellipse">
            <a:avLst/>
          </a:prstGeom>
          <a:solidFill>
            <a:schemeClr val="accent1"/>
          </a:solidFill>
          <a:ln w="25400">
            <a:solidFill>
              <a:schemeClr val="accent1"/>
            </a:solidFill>
            <a:prstDash val="solid"/>
          </a:ln>
        </p:spPr>
      </p:sp>
      <p:sp>
        <p:nvSpPr>
          <p:cNvPr id="8" name="Text 6"/>
          <p:cNvSpPr txBox="1"/>
          <p:nvPr/>
        </p:nvSpPr>
        <p:spPr>
          <a:xfrm>
            <a:off x="2401763" y="2011680"/>
            <a:ext cx="1828800" cy="685800"/>
          </a:xfrm>
          <a:prstGeom prst="rect">
            <a:avLst/>
          </a:prstGeom>
          <a:noFill/>
          <a:ln/>
        </p:spPr>
        <p:txBody>
          <a:bodyPr wrap="square" lIns="0" tIns="0" rIns="0" bIns="0" rtlCol="0" anchor="b"/>
          <a:lstStyle/>
          <a:p>
            <a:pPr algn="ctr" indent="0" marL="0">
              <a:buNone/>
            </a:pPr>
            <a:r>
              <a:rPr lang="en-US" sz="1400" dirty="0">
                <a:solidFill>
                  <a:schemeClr val="accent5"/>
                </a:solidFill>
              </a:rPr>
              <a:t>令和７年９月</a:t>
            </a:r>
            <a:endParaRPr lang="en-US" sz="1400" dirty="0"/>
          </a:p>
        </p:txBody>
      </p:sp>
      <p:sp>
        <p:nvSpPr>
          <p:cNvPr id="9" name="Text 7"/>
          <p:cNvSpPr txBox="1"/>
          <p:nvPr/>
        </p:nvSpPr>
        <p:spPr>
          <a:xfrm>
            <a:off x="2401763" y="3520440"/>
            <a:ext cx="1828800" cy="731520"/>
          </a:xfrm>
          <a:prstGeom prst="rect">
            <a:avLst/>
          </a:prstGeom>
          <a:noFill/>
          <a:ln/>
        </p:spPr>
        <p:txBody>
          <a:bodyPr wrap="square" lIns="0" tIns="0" rIns="0" bIns="0" rtlCol="0" anchor="t"/>
          <a:lstStyle/>
          <a:p>
            <a:pPr algn="ctr" indent="0" marL="0">
              <a:buNone/>
            </a:pPr>
            <a:r>
              <a:rPr lang="en-US" sz="1700" b="1" dirty="0">
                <a:solidFill>
                  <a:schemeClr val="tx2"/>
                </a:solidFill>
              </a:rPr>
              <a:t>論点整理</a:t>
            </a:r>
            <a:endParaRPr lang="en-US" sz="1700" dirty="0"/>
          </a:p>
        </p:txBody>
      </p:sp>
      <p:sp>
        <p:nvSpPr>
          <p:cNvPr id="10" name="Shape 8"/>
          <p:cNvSpPr/>
          <p:nvPr/>
        </p:nvSpPr>
        <p:spPr>
          <a:xfrm>
            <a:off x="4940686" y="2880360"/>
            <a:ext cx="457200" cy="457200"/>
          </a:xfrm>
          <a:prstGeom prst="ellipse">
            <a:avLst/>
          </a:prstGeom>
          <a:solidFill>
            <a:schemeClr val="accent2"/>
          </a:solidFill>
          <a:ln w="25400">
            <a:solidFill>
              <a:schemeClr val="accent1"/>
            </a:solidFill>
            <a:prstDash val="solid"/>
          </a:ln>
        </p:spPr>
      </p:sp>
      <p:sp>
        <p:nvSpPr>
          <p:cNvPr id="11" name="Text 9"/>
          <p:cNvSpPr txBox="1"/>
          <p:nvPr/>
        </p:nvSpPr>
        <p:spPr>
          <a:xfrm>
            <a:off x="4254886" y="2011680"/>
            <a:ext cx="1828800" cy="685800"/>
          </a:xfrm>
          <a:prstGeom prst="rect">
            <a:avLst/>
          </a:prstGeom>
          <a:noFill/>
          <a:ln/>
        </p:spPr>
        <p:txBody>
          <a:bodyPr wrap="square" lIns="0" tIns="0" rIns="0" bIns="0" rtlCol="0" anchor="b"/>
          <a:lstStyle/>
          <a:p>
            <a:pPr algn="ctr" indent="0" marL="0">
              <a:buNone/>
            </a:pPr>
            <a:r>
              <a:rPr lang="en-US" sz="1400" dirty="0">
                <a:solidFill>
                  <a:schemeClr val="accent5"/>
                </a:solidFill>
              </a:rPr>
              <a:t>令和８年10月５日</a:t>
            </a:r>
            <a:endParaRPr lang="en-US" sz="1400" dirty="0"/>
          </a:p>
        </p:txBody>
      </p:sp>
      <p:sp>
        <p:nvSpPr>
          <p:cNvPr id="12" name="Text 10"/>
          <p:cNvSpPr txBox="1"/>
          <p:nvPr/>
        </p:nvSpPr>
        <p:spPr>
          <a:xfrm>
            <a:off x="4254886" y="3520440"/>
            <a:ext cx="1828800" cy="731520"/>
          </a:xfrm>
          <a:prstGeom prst="rect">
            <a:avLst/>
          </a:prstGeom>
          <a:noFill/>
          <a:ln/>
        </p:spPr>
        <p:txBody>
          <a:bodyPr wrap="square" lIns="0" tIns="0" rIns="0" bIns="0" rtlCol="0" anchor="t"/>
          <a:lstStyle/>
          <a:p>
            <a:pPr algn="ctr" indent="0" marL="0">
              <a:buNone/>
            </a:pPr>
            <a:r>
              <a:rPr lang="en-US" sz="1700" b="1" dirty="0">
                <a:solidFill>
                  <a:schemeClr val="accent4"/>
                </a:solidFill>
              </a:rPr>
              <a:t>審議まとめ公表</a:t>
            </a:r>
            <a:endParaRPr lang="en-US" sz="1700" dirty="0"/>
          </a:p>
        </p:txBody>
      </p:sp>
      <p:sp>
        <p:nvSpPr>
          <p:cNvPr id="13" name="Shape 11"/>
          <p:cNvSpPr/>
          <p:nvPr/>
        </p:nvSpPr>
        <p:spPr>
          <a:xfrm>
            <a:off x="6866961" y="2953512"/>
            <a:ext cx="310896" cy="310896"/>
          </a:xfrm>
          <a:prstGeom prst="ellipse">
            <a:avLst/>
          </a:prstGeom>
          <a:solidFill>
            <a:schemeClr val="bg1"/>
          </a:solidFill>
          <a:ln w="25400">
            <a:solidFill>
              <a:schemeClr val="accent1"/>
            </a:solidFill>
            <a:prstDash val="solid"/>
          </a:ln>
        </p:spPr>
      </p:sp>
      <p:sp>
        <p:nvSpPr>
          <p:cNvPr id="14" name="Text 12"/>
          <p:cNvSpPr txBox="1"/>
          <p:nvPr/>
        </p:nvSpPr>
        <p:spPr>
          <a:xfrm>
            <a:off x="6108009" y="2011680"/>
            <a:ext cx="1828800" cy="685800"/>
          </a:xfrm>
          <a:prstGeom prst="rect">
            <a:avLst/>
          </a:prstGeom>
          <a:noFill/>
          <a:ln/>
        </p:spPr>
        <p:txBody>
          <a:bodyPr wrap="square" lIns="0" tIns="0" rIns="0" bIns="0" rtlCol="0" anchor="b"/>
          <a:lstStyle/>
          <a:p>
            <a:pPr algn="ctr" indent="0" marL="0">
              <a:buNone/>
            </a:pPr>
            <a:r>
              <a:rPr lang="en-US" sz="1400" dirty="0">
                <a:solidFill>
                  <a:schemeClr val="accent5"/>
                </a:solidFill>
              </a:rPr>
              <a:t>10月６日〜11月５日</a:t>
            </a:r>
            <a:endParaRPr lang="en-US" sz="1400" dirty="0"/>
          </a:p>
        </p:txBody>
      </p:sp>
      <p:sp>
        <p:nvSpPr>
          <p:cNvPr id="15" name="Text 13"/>
          <p:cNvSpPr txBox="1"/>
          <p:nvPr/>
        </p:nvSpPr>
        <p:spPr>
          <a:xfrm>
            <a:off x="6108009" y="3520440"/>
            <a:ext cx="1828800" cy="731520"/>
          </a:xfrm>
          <a:prstGeom prst="rect">
            <a:avLst/>
          </a:prstGeom>
          <a:noFill/>
          <a:ln/>
        </p:spPr>
        <p:txBody>
          <a:bodyPr wrap="square" lIns="0" tIns="0" rIns="0" bIns="0" rtlCol="0" anchor="t"/>
          <a:lstStyle/>
          <a:p>
            <a:pPr algn="ctr" indent="0" marL="0">
              <a:buNone/>
            </a:pPr>
            <a:r>
              <a:rPr lang="en-US" sz="1700" b="1" dirty="0">
                <a:solidFill>
                  <a:schemeClr val="tx2"/>
                </a:solidFill>
              </a:rPr>
              <a:t>意見公募</a:t>
            </a:r>
            <a:endParaRPr lang="en-US" sz="1700" dirty="0"/>
          </a:p>
          <a:p>
            <a:pPr algn="ctr" indent="0" marL="0">
              <a:buNone/>
            </a:pPr>
            <a:r>
              <a:rPr lang="en-US" sz="1700" b="1" dirty="0">
                <a:solidFill>
                  <a:schemeClr val="tx2"/>
                </a:solidFill>
              </a:rPr>
              <a:t>（パブコメ）</a:t>
            </a:r>
            <a:endParaRPr lang="en-US" sz="1700" dirty="0"/>
          </a:p>
        </p:txBody>
      </p:sp>
      <p:sp>
        <p:nvSpPr>
          <p:cNvPr id="16" name="Shape 14"/>
          <p:cNvSpPr/>
          <p:nvPr/>
        </p:nvSpPr>
        <p:spPr>
          <a:xfrm>
            <a:off x="8720084" y="2953512"/>
            <a:ext cx="310896" cy="310896"/>
          </a:xfrm>
          <a:prstGeom prst="ellipse">
            <a:avLst/>
          </a:prstGeom>
          <a:solidFill>
            <a:schemeClr val="bg1"/>
          </a:solidFill>
          <a:ln w="25400">
            <a:solidFill>
              <a:schemeClr val="accent1"/>
            </a:solidFill>
            <a:prstDash val="solid"/>
          </a:ln>
        </p:spPr>
      </p:sp>
      <p:sp>
        <p:nvSpPr>
          <p:cNvPr id="17" name="Text 15"/>
          <p:cNvSpPr txBox="1"/>
          <p:nvPr/>
        </p:nvSpPr>
        <p:spPr>
          <a:xfrm>
            <a:off x="7961132" y="2011680"/>
            <a:ext cx="1828800" cy="685800"/>
          </a:xfrm>
          <a:prstGeom prst="rect">
            <a:avLst/>
          </a:prstGeom>
          <a:noFill/>
          <a:ln/>
        </p:spPr>
        <p:txBody>
          <a:bodyPr wrap="square" lIns="0" tIns="0" rIns="0" bIns="0" rtlCol="0" anchor="b"/>
          <a:lstStyle/>
          <a:p>
            <a:pPr algn="ctr" indent="0" marL="0">
              <a:buNone/>
            </a:pPr>
            <a:r>
              <a:rPr lang="en-US" sz="1400" dirty="0">
                <a:solidFill>
                  <a:schemeClr val="accent5"/>
                </a:solidFill>
              </a:rPr>
              <a:t>今冬（予定）</a:t>
            </a:r>
            <a:endParaRPr lang="en-US" sz="1400" dirty="0"/>
          </a:p>
        </p:txBody>
      </p:sp>
      <p:sp>
        <p:nvSpPr>
          <p:cNvPr id="18" name="Text 16"/>
          <p:cNvSpPr txBox="1"/>
          <p:nvPr/>
        </p:nvSpPr>
        <p:spPr>
          <a:xfrm>
            <a:off x="7961132" y="3520440"/>
            <a:ext cx="1828800" cy="731520"/>
          </a:xfrm>
          <a:prstGeom prst="rect">
            <a:avLst/>
          </a:prstGeom>
          <a:noFill/>
          <a:ln/>
        </p:spPr>
        <p:txBody>
          <a:bodyPr wrap="square" lIns="0" tIns="0" rIns="0" bIns="0" rtlCol="0" anchor="t"/>
          <a:lstStyle/>
          <a:p>
            <a:pPr algn="ctr" indent="0" marL="0">
              <a:buNone/>
            </a:pPr>
            <a:r>
              <a:rPr lang="en-US" sz="1700" b="1" dirty="0">
                <a:solidFill>
                  <a:schemeClr val="tx2"/>
                </a:solidFill>
              </a:rPr>
              <a:t>中教審答申</a:t>
            </a:r>
            <a:endParaRPr lang="en-US" sz="1700" dirty="0"/>
          </a:p>
        </p:txBody>
      </p:sp>
      <p:sp>
        <p:nvSpPr>
          <p:cNvPr id="19" name="Shape 17"/>
          <p:cNvSpPr/>
          <p:nvPr/>
        </p:nvSpPr>
        <p:spPr>
          <a:xfrm>
            <a:off x="10573207" y="2953512"/>
            <a:ext cx="310896" cy="310896"/>
          </a:xfrm>
          <a:prstGeom prst="ellipse">
            <a:avLst/>
          </a:prstGeom>
          <a:solidFill>
            <a:schemeClr val="bg1"/>
          </a:solidFill>
          <a:ln w="25400">
            <a:solidFill>
              <a:schemeClr val="accent1"/>
            </a:solidFill>
            <a:prstDash val="solid"/>
          </a:ln>
        </p:spPr>
      </p:sp>
      <p:sp>
        <p:nvSpPr>
          <p:cNvPr id="20" name="Text 18"/>
          <p:cNvSpPr txBox="1"/>
          <p:nvPr/>
        </p:nvSpPr>
        <p:spPr>
          <a:xfrm>
            <a:off x="9814255" y="2011680"/>
            <a:ext cx="1828800" cy="685800"/>
          </a:xfrm>
          <a:prstGeom prst="rect">
            <a:avLst/>
          </a:prstGeom>
          <a:noFill/>
          <a:ln/>
        </p:spPr>
        <p:txBody>
          <a:bodyPr wrap="square" lIns="0" tIns="0" rIns="0" bIns="0" rtlCol="0" anchor="b"/>
          <a:lstStyle/>
          <a:p>
            <a:pPr algn="ctr" indent="0" marL="0">
              <a:buNone/>
            </a:pPr>
            <a:r>
              <a:rPr lang="en-US" sz="1400" dirty="0">
                <a:solidFill>
                  <a:schemeClr val="accent5"/>
                </a:solidFill>
              </a:rPr>
              <a:t>今年度内（見込み）</a:t>
            </a:r>
            <a:endParaRPr lang="en-US" sz="1400" dirty="0"/>
          </a:p>
        </p:txBody>
      </p:sp>
      <p:sp>
        <p:nvSpPr>
          <p:cNvPr id="21" name="Text 19"/>
          <p:cNvSpPr txBox="1"/>
          <p:nvPr/>
        </p:nvSpPr>
        <p:spPr>
          <a:xfrm>
            <a:off x="9814255" y="3520440"/>
            <a:ext cx="1828800" cy="731520"/>
          </a:xfrm>
          <a:prstGeom prst="rect">
            <a:avLst/>
          </a:prstGeom>
          <a:noFill/>
          <a:ln/>
        </p:spPr>
        <p:txBody>
          <a:bodyPr wrap="square" lIns="0" tIns="0" rIns="0" bIns="0" rtlCol="0" anchor="t"/>
          <a:lstStyle/>
          <a:p>
            <a:pPr algn="ctr" indent="0" marL="0">
              <a:buNone/>
            </a:pPr>
            <a:r>
              <a:rPr lang="en-US" sz="1700" b="1" dirty="0">
                <a:solidFill>
                  <a:schemeClr val="tx2"/>
                </a:solidFill>
              </a:rPr>
              <a:t>小・中学校</a:t>
            </a:r>
            <a:endParaRPr lang="en-US" sz="1700" dirty="0"/>
          </a:p>
          <a:p>
            <a:pPr algn="ctr" indent="0" marL="0">
              <a:buNone/>
            </a:pPr>
            <a:r>
              <a:rPr lang="en-US" sz="1700" b="1" dirty="0">
                <a:solidFill>
                  <a:schemeClr val="tx2"/>
                </a:solidFill>
              </a:rPr>
              <a:t>告示</a:t>
            </a:r>
            <a:endParaRPr lang="en-US" sz="1700" dirty="0"/>
          </a:p>
        </p:txBody>
      </p:sp>
      <p:sp>
        <p:nvSpPr>
          <p:cNvPr id="22" name="Shape 20"/>
          <p:cNvSpPr/>
          <p:nvPr/>
        </p:nvSpPr>
        <p:spPr>
          <a:xfrm>
            <a:off x="4483486" y="1325880"/>
            <a:ext cx="1371600" cy="411480"/>
          </a:xfrm>
          <a:prstGeom prst="roundRect">
            <a:avLst>
              <a:gd name="adj" fmla="val 22222"/>
            </a:avLst>
          </a:prstGeom>
          <a:solidFill>
            <a:schemeClr val="accent2"/>
          </a:solidFill>
          <a:ln/>
        </p:spPr>
      </p:sp>
      <p:sp>
        <p:nvSpPr>
          <p:cNvPr id="23" name="Text 21"/>
          <p:cNvSpPr txBox="1"/>
          <p:nvPr/>
        </p:nvSpPr>
        <p:spPr>
          <a:xfrm>
            <a:off x="4483486" y="1325880"/>
            <a:ext cx="1371600" cy="411480"/>
          </a:xfrm>
          <a:prstGeom prst="rect">
            <a:avLst/>
          </a:prstGeom>
          <a:noFill/>
          <a:ln/>
        </p:spPr>
        <p:txBody>
          <a:bodyPr wrap="square" lIns="0" tIns="0" rIns="0" bIns="0" rtlCol="0" anchor="ctr"/>
          <a:lstStyle/>
          <a:p>
            <a:pPr algn="ctr" indent="0" marL="0">
              <a:buNone/>
            </a:pPr>
            <a:r>
              <a:rPr lang="en-US" sz="1400" b="1" dirty="0">
                <a:solidFill>
                  <a:schemeClr val="bg1"/>
                </a:solidFill>
              </a:rPr>
              <a:t>いまここ</a:t>
            </a:r>
            <a:endParaRPr lang="en-US" sz="1400" dirty="0"/>
          </a:p>
        </p:txBody>
      </p:sp>
      <p:sp>
        <p:nvSpPr>
          <p:cNvPr id="24" name="Shape 22"/>
          <p:cNvSpPr/>
          <p:nvPr/>
        </p:nvSpPr>
        <p:spPr>
          <a:xfrm>
            <a:off x="548640" y="4480560"/>
            <a:ext cx="11094415" cy="1463040"/>
          </a:xfrm>
          <a:prstGeom prst="roundRect">
            <a:avLst>
              <a:gd name="adj" fmla="val 6250"/>
            </a:avLst>
          </a:prstGeom>
          <a:solidFill>
            <a:schemeClr val="bg2"/>
          </a:solidFill>
          <a:ln/>
        </p:spPr>
      </p:sp>
      <p:sp>
        <p:nvSpPr>
          <p:cNvPr id="25" name="Text 23"/>
          <p:cNvSpPr txBox="1"/>
          <p:nvPr/>
        </p:nvSpPr>
        <p:spPr>
          <a:xfrm>
            <a:off x="868680" y="4526280"/>
            <a:ext cx="10454335" cy="1371600"/>
          </a:xfrm>
          <a:prstGeom prst="rect">
            <a:avLst/>
          </a:prstGeom>
          <a:noFill/>
          <a:ln/>
        </p:spPr>
        <p:txBody>
          <a:bodyPr wrap="square" lIns="0" tIns="0" rIns="0" bIns="0" rtlCol="0" anchor="ctr"/>
          <a:lstStyle/>
          <a:p>
            <a:pPr indent="0" marL="0">
              <a:spcAft>
                <a:spcPts val="600"/>
              </a:spcAft>
              <a:buNone/>
            </a:pPr>
            <a:r>
              <a:rPr lang="en-US" sz="1600" b="1" dirty="0">
                <a:solidFill>
                  <a:schemeClr val="tx2"/>
                </a:solidFill>
              </a:rPr>
              <a:t>告示の後、周知・移行期間を経て全面実施へ。</a:t>
            </a:r>
            <a:endParaRPr lang="en-US" sz="1600" dirty="0"/>
          </a:p>
          <a:p>
            <a:pPr indent="0" marL="0">
              <a:spcAft>
                <a:spcPts val="600"/>
              </a:spcAft>
              <a:buNone/>
            </a:pPr>
            <a:r>
              <a:rPr lang="en-US" sz="1600" dirty="0">
                <a:solidFill>
                  <a:schemeClr val="tx1"/>
                </a:solidFill>
              </a:rPr>
              <a:t>全面実施の年度や各教科等の詳細は、答申・告示で確定する。最新の情報は文部科学省の公表資料で確認する。</a:t>
            </a:r>
            <a:endParaRPr lang="en-US" sz="16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基盤となる３つの方向性</a:t>
            </a:r>
            <a:endParaRPr lang="en-US" sz="3200" dirty="0"/>
          </a:p>
        </p:txBody>
      </p:sp>
      <p:sp>
        <p:nvSpPr>
          <p:cNvPr id="3" name="Shape 1"/>
          <p:cNvSpPr/>
          <p:nvPr/>
        </p:nvSpPr>
        <p:spPr>
          <a:xfrm>
            <a:off x="548640" y="1371600"/>
            <a:ext cx="3429000" cy="4572000"/>
          </a:xfrm>
          <a:prstGeom prst="roundRect">
            <a:avLst>
              <a:gd name="adj" fmla="val 2667"/>
            </a:avLst>
          </a:prstGeom>
          <a:solidFill>
            <a:schemeClr val="bg2"/>
          </a:solidFill>
          <a:ln/>
        </p:spPr>
      </p:sp>
      <p:sp>
        <p:nvSpPr>
          <p:cNvPr id="4" name="Shape 2"/>
          <p:cNvSpPr/>
          <p:nvPr/>
        </p:nvSpPr>
        <p:spPr>
          <a:xfrm>
            <a:off x="868680" y="1645920"/>
            <a:ext cx="777240" cy="77724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1062990" y="1840230"/>
            <a:ext cx="388620" cy="388620"/>
          </a:xfrm>
          <a:prstGeom prst="rect">
            <a:avLst/>
          </a:prstGeom>
        </p:spPr>
      </p:pic>
      <p:sp>
        <p:nvSpPr>
          <p:cNvPr id="6" name="Text 3"/>
          <p:cNvSpPr txBox="1"/>
          <p:nvPr/>
        </p:nvSpPr>
        <p:spPr>
          <a:xfrm>
            <a:off x="3063240" y="1645920"/>
            <a:ext cx="594360" cy="777240"/>
          </a:xfrm>
          <a:prstGeom prst="rect">
            <a:avLst/>
          </a:prstGeom>
          <a:noFill/>
          <a:ln/>
        </p:spPr>
        <p:txBody>
          <a:bodyPr wrap="square" lIns="0" tIns="0" rIns="0" bIns="0" rtlCol="0" anchor="ctr"/>
          <a:lstStyle/>
          <a:p>
            <a:pPr algn="r" indent="0" marL="0">
              <a:buNone/>
            </a:pPr>
            <a:r>
              <a:rPr lang="en-US" sz="3600" b="1" dirty="0">
                <a:solidFill>
                  <a:schemeClr val="accent3"/>
                </a:solidFill>
              </a:rPr>
              <a:t>1</a:t>
            </a:r>
            <a:endParaRPr lang="en-US" sz="3600" dirty="0"/>
          </a:p>
        </p:txBody>
      </p:sp>
      <p:sp>
        <p:nvSpPr>
          <p:cNvPr id="7" name="Text 4"/>
          <p:cNvSpPr txBox="1"/>
          <p:nvPr/>
        </p:nvSpPr>
        <p:spPr>
          <a:xfrm>
            <a:off x="868680" y="2560320"/>
            <a:ext cx="2788920" cy="868680"/>
          </a:xfrm>
          <a:prstGeom prst="rect">
            <a:avLst/>
          </a:prstGeom>
          <a:noFill/>
          <a:ln/>
        </p:spPr>
        <p:txBody>
          <a:bodyPr wrap="square" lIns="0" tIns="0" rIns="0" bIns="0" rtlCol="0" anchor="t"/>
          <a:lstStyle/>
          <a:p>
            <a:pPr indent="0" marL="0">
              <a:buNone/>
            </a:pPr>
            <a:r>
              <a:rPr lang="en-US" sz="1900" b="1" dirty="0">
                <a:solidFill>
                  <a:schemeClr val="tx2"/>
                </a:solidFill>
              </a:rPr>
              <a:t>「主体的・対話的で深い学び」の実装</a:t>
            </a:r>
            <a:endParaRPr lang="en-US" sz="1900" dirty="0"/>
          </a:p>
        </p:txBody>
      </p:sp>
      <p:sp>
        <p:nvSpPr>
          <p:cNvPr id="8" name="Text 5"/>
          <p:cNvSpPr txBox="1"/>
          <p:nvPr/>
        </p:nvSpPr>
        <p:spPr>
          <a:xfrm>
            <a:off x="868680" y="3474720"/>
            <a:ext cx="2788920" cy="1097280"/>
          </a:xfrm>
          <a:prstGeom prst="rect">
            <a:avLst/>
          </a:prstGeom>
          <a:noFill/>
          <a:ln/>
        </p:spPr>
        <p:txBody>
          <a:bodyPr wrap="square" lIns="0" tIns="0" rIns="0" bIns="0" rtlCol="0" anchor="t"/>
          <a:lstStyle/>
          <a:p>
            <a:pPr indent="0" marL="0">
              <a:buNone/>
            </a:pPr>
            <a:r>
              <a:rPr lang="en-US" sz="1500" dirty="0">
                <a:solidFill>
                  <a:schemeClr val="tx1"/>
                </a:solidFill>
              </a:rPr>
              <a:t>深い学びを一部の研究授業でなく、日常の授業で実現する</a:t>
            </a:r>
            <a:endParaRPr lang="en-US" sz="1500" dirty="0"/>
          </a:p>
        </p:txBody>
      </p:sp>
      <p:sp>
        <p:nvSpPr>
          <p:cNvPr id="9" name="Shape 6"/>
          <p:cNvSpPr/>
          <p:nvPr/>
        </p:nvSpPr>
        <p:spPr>
          <a:xfrm>
            <a:off x="731520" y="4709160"/>
            <a:ext cx="3063240" cy="1051560"/>
          </a:xfrm>
          <a:prstGeom prst="roundRect">
            <a:avLst>
              <a:gd name="adj" fmla="val 6957"/>
            </a:avLst>
          </a:prstGeom>
          <a:solidFill>
            <a:schemeClr val="bg1"/>
          </a:solidFill>
          <a:ln/>
        </p:spPr>
      </p:sp>
      <p:sp>
        <p:nvSpPr>
          <p:cNvPr id="10" name="Text 7"/>
          <p:cNvSpPr txBox="1"/>
          <p:nvPr/>
        </p:nvSpPr>
        <p:spPr>
          <a:xfrm>
            <a:off x="868680" y="4754880"/>
            <a:ext cx="2788920" cy="960120"/>
          </a:xfrm>
          <a:prstGeom prst="rect">
            <a:avLst/>
          </a:prstGeom>
          <a:noFill/>
          <a:ln/>
        </p:spPr>
        <p:txBody>
          <a:bodyPr wrap="square" lIns="0" tIns="0" rIns="0" bIns="0" rtlCol="0" anchor="ctr"/>
          <a:lstStyle/>
          <a:p>
            <a:pPr indent="0" marL="0">
              <a:buNone/>
            </a:pPr>
            <a:r>
              <a:rPr lang="en-US" sz="1300" b="1" dirty="0">
                <a:solidFill>
                  <a:schemeClr val="accent1"/>
                </a:solidFill>
              </a:rPr>
              <a:t>天童中部小では　</a:t>
            </a:r>
            <a:pPr indent="0" marL="0">
              <a:buNone/>
            </a:pPr>
            <a:r>
              <a:rPr lang="en-US" sz="1300" dirty="0">
                <a:solidFill>
                  <a:schemeClr val="tx1"/>
                </a:solidFill>
              </a:rPr>
              <a:t>学習形態を組み合わせ、子供が学びを進めることを日常にしている</a:t>
            </a:r>
            <a:endParaRPr lang="en-US" sz="1300" dirty="0"/>
          </a:p>
        </p:txBody>
      </p:sp>
      <p:sp>
        <p:nvSpPr>
          <p:cNvPr id="11" name="Shape 8"/>
          <p:cNvSpPr/>
          <p:nvPr/>
        </p:nvSpPr>
        <p:spPr>
          <a:xfrm>
            <a:off x="4389120" y="1371600"/>
            <a:ext cx="3429000" cy="4572000"/>
          </a:xfrm>
          <a:prstGeom prst="roundRect">
            <a:avLst>
              <a:gd name="adj" fmla="val 2667"/>
            </a:avLst>
          </a:prstGeom>
          <a:solidFill>
            <a:schemeClr val="bg2"/>
          </a:solidFill>
          <a:ln/>
        </p:spPr>
      </p:sp>
      <p:sp>
        <p:nvSpPr>
          <p:cNvPr id="12" name="Shape 9"/>
          <p:cNvSpPr/>
          <p:nvPr/>
        </p:nvSpPr>
        <p:spPr>
          <a:xfrm>
            <a:off x="4709160" y="1645920"/>
            <a:ext cx="777240" cy="777240"/>
          </a:xfrm>
          <a:prstGeom prst="ellipse">
            <a:avLst/>
          </a:prstGeom>
          <a:solidFill>
            <a:schemeClr val="accent2"/>
          </a:solidFill>
          <a:ln/>
        </p:spPr>
      </p:sp>
      <p:pic>
        <p:nvPicPr>
          <p:cNvPr id="13" name="Image 1" descr="preencoded.png">    </p:cNvPr>
          <p:cNvPicPr>
            <a:picLocks noChangeAspect="1"/>
          </p:cNvPicPr>
          <p:nvPr/>
        </p:nvPicPr>
        <p:blipFill>
          <a:blip r:embed="rId2"/>
          <a:stretch>
            <a:fillRect/>
          </a:stretch>
        </p:blipFill>
        <p:spPr>
          <a:xfrm>
            <a:off x="4903470" y="1840230"/>
            <a:ext cx="388620" cy="388620"/>
          </a:xfrm>
          <a:prstGeom prst="rect">
            <a:avLst/>
          </a:prstGeom>
        </p:spPr>
      </p:pic>
      <p:sp>
        <p:nvSpPr>
          <p:cNvPr id="14" name="Text 10"/>
          <p:cNvSpPr txBox="1"/>
          <p:nvPr/>
        </p:nvSpPr>
        <p:spPr>
          <a:xfrm>
            <a:off x="6903720" y="1645920"/>
            <a:ext cx="594360" cy="777240"/>
          </a:xfrm>
          <a:prstGeom prst="rect">
            <a:avLst/>
          </a:prstGeom>
          <a:noFill/>
          <a:ln/>
        </p:spPr>
        <p:txBody>
          <a:bodyPr wrap="square" lIns="0" tIns="0" rIns="0" bIns="0" rtlCol="0" anchor="ctr"/>
          <a:lstStyle/>
          <a:p>
            <a:pPr algn="r" indent="0" marL="0">
              <a:buNone/>
            </a:pPr>
            <a:r>
              <a:rPr lang="en-US" sz="3600" b="1" dirty="0">
                <a:solidFill>
                  <a:schemeClr val="accent3"/>
                </a:solidFill>
              </a:rPr>
              <a:t>2</a:t>
            </a:r>
            <a:endParaRPr lang="en-US" sz="3600" dirty="0"/>
          </a:p>
        </p:txBody>
      </p:sp>
      <p:sp>
        <p:nvSpPr>
          <p:cNvPr id="15" name="Text 11"/>
          <p:cNvSpPr txBox="1"/>
          <p:nvPr/>
        </p:nvSpPr>
        <p:spPr>
          <a:xfrm>
            <a:off x="4709160" y="2560320"/>
            <a:ext cx="2788920" cy="868680"/>
          </a:xfrm>
          <a:prstGeom prst="rect">
            <a:avLst/>
          </a:prstGeom>
          <a:noFill/>
          <a:ln/>
        </p:spPr>
        <p:txBody>
          <a:bodyPr wrap="square" lIns="0" tIns="0" rIns="0" bIns="0" rtlCol="0" anchor="t"/>
          <a:lstStyle/>
          <a:p>
            <a:pPr indent="0" marL="0">
              <a:buNone/>
            </a:pPr>
            <a:r>
              <a:rPr lang="en-US" sz="1900" b="1" dirty="0">
                <a:solidFill>
                  <a:schemeClr val="tx2"/>
                </a:solidFill>
              </a:rPr>
              <a:t>多様性の包摂</a:t>
            </a:r>
            <a:endParaRPr lang="en-US" sz="1900" dirty="0"/>
          </a:p>
        </p:txBody>
      </p:sp>
      <p:sp>
        <p:nvSpPr>
          <p:cNvPr id="16" name="Text 12"/>
          <p:cNvSpPr txBox="1"/>
          <p:nvPr/>
        </p:nvSpPr>
        <p:spPr>
          <a:xfrm>
            <a:off x="4709160" y="3474720"/>
            <a:ext cx="2788920" cy="1097280"/>
          </a:xfrm>
          <a:prstGeom prst="rect">
            <a:avLst/>
          </a:prstGeom>
          <a:noFill/>
          <a:ln/>
        </p:spPr>
        <p:txBody>
          <a:bodyPr wrap="square" lIns="0" tIns="0" rIns="0" bIns="0" rtlCol="0" anchor="t"/>
          <a:lstStyle/>
          <a:p>
            <a:pPr indent="0" marL="0">
              <a:buNone/>
            </a:pPr>
            <a:r>
              <a:rPr lang="en-US" sz="1500" dirty="0">
                <a:solidFill>
                  <a:schemeClr val="tx1"/>
                </a:solidFill>
              </a:rPr>
              <a:t>興味・関心、特性、学ぶペースの違いを前提に、すべての子供の学びを保障する</a:t>
            </a:r>
            <a:endParaRPr lang="en-US" sz="1500" dirty="0"/>
          </a:p>
        </p:txBody>
      </p:sp>
      <p:sp>
        <p:nvSpPr>
          <p:cNvPr id="17" name="Shape 13"/>
          <p:cNvSpPr/>
          <p:nvPr/>
        </p:nvSpPr>
        <p:spPr>
          <a:xfrm>
            <a:off x="4572000" y="4709160"/>
            <a:ext cx="3063240" cy="1051560"/>
          </a:xfrm>
          <a:prstGeom prst="roundRect">
            <a:avLst>
              <a:gd name="adj" fmla="val 6957"/>
            </a:avLst>
          </a:prstGeom>
          <a:solidFill>
            <a:schemeClr val="bg1"/>
          </a:solidFill>
          <a:ln/>
        </p:spPr>
      </p:sp>
      <p:sp>
        <p:nvSpPr>
          <p:cNvPr id="18" name="Text 14"/>
          <p:cNvSpPr txBox="1"/>
          <p:nvPr/>
        </p:nvSpPr>
        <p:spPr>
          <a:xfrm>
            <a:off x="4709160" y="4754880"/>
            <a:ext cx="2788920" cy="960120"/>
          </a:xfrm>
          <a:prstGeom prst="rect">
            <a:avLst/>
          </a:prstGeom>
          <a:noFill/>
          <a:ln/>
        </p:spPr>
        <p:txBody>
          <a:bodyPr wrap="square" lIns="0" tIns="0" rIns="0" bIns="0" rtlCol="0" anchor="ctr"/>
          <a:lstStyle/>
          <a:p>
            <a:pPr indent="0" marL="0">
              <a:buNone/>
            </a:pPr>
            <a:r>
              <a:rPr lang="en-US" sz="1300" b="1" dirty="0">
                <a:solidFill>
                  <a:schemeClr val="accent1"/>
                </a:solidFill>
              </a:rPr>
              <a:t>天童中部小では　</a:t>
            </a:r>
            <a:pPr indent="0" marL="0">
              <a:buNone/>
            </a:pPr>
            <a:r>
              <a:rPr lang="en-US" sz="1300" dirty="0">
                <a:solidFill>
                  <a:schemeClr val="tx1"/>
                </a:solidFill>
              </a:rPr>
              <a:t>マイプラン学習やフリースタイルプロジェクトで、子供が選べる</a:t>
            </a:r>
            <a:endParaRPr lang="en-US" sz="1300" dirty="0"/>
          </a:p>
        </p:txBody>
      </p:sp>
      <p:sp>
        <p:nvSpPr>
          <p:cNvPr id="19" name="Shape 15"/>
          <p:cNvSpPr/>
          <p:nvPr/>
        </p:nvSpPr>
        <p:spPr>
          <a:xfrm>
            <a:off x="8229600" y="1371600"/>
            <a:ext cx="3429000" cy="4572000"/>
          </a:xfrm>
          <a:prstGeom prst="roundRect">
            <a:avLst>
              <a:gd name="adj" fmla="val 2667"/>
            </a:avLst>
          </a:prstGeom>
          <a:solidFill>
            <a:schemeClr val="bg2"/>
          </a:solidFill>
          <a:ln/>
        </p:spPr>
      </p:sp>
      <p:sp>
        <p:nvSpPr>
          <p:cNvPr id="20" name="Shape 16"/>
          <p:cNvSpPr/>
          <p:nvPr/>
        </p:nvSpPr>
        <p:spPr>
          <a:xfrm>
            <a:off x="8549640" y="1645920"/>
            <a:ext cx="777240" cy="777240"/>
          </a:xfrm>
          <a:prstGeom prst="ellipse">
            <a:avLst/>
          </a:prstGeom>
          <a:solidFill>
            <a:schemeClr val="accent5"/>
          </a:solidFill>
          <a:ln/>
        </p:spPr>
      </p:sp>
      <p:pic>
        <p:nvPicPr>
          <p:cNvPr id="21" name="Image 2" descr="preencoded.png">    </p:cNvPr>
          <p:cNvPicPr>
            <a:picLocks noChangeAspect="1"/>
          </p:cNvPicPr>
          <p:nvPr/>
        </p:nvPicPr>
        <p:blipFill>
          <a:blip r:embed="rId3"/>
          <a:stretch>
            <a:fillRect/>
          </a:stretch>
        </p:blipFill>
        <p:spPr>
          <a:xfrm>
            <a:off x="8743950" y="1840230"/>
            <a:ext cx="388620" cy="388620"/>
          </a:xfrm>
          <a:prstGeom prst="rect">
            <a:avLst/>
          </a:prstGeom>
        </p:spPr>
      </p:pic>
      <p:sp>
        <p:nvSpPr>
          <p:cNvPr id="22" name="Text 17"/>
          <p:cNvSpPr txBox="1"/>
          <p:nvPr/>
        </p:nvSpPr>
        <p:spPr>
          <a:xfrm>
            <a:off x="10744200" y="1645920"/>
            <a:ext cx="594360" cy="777240"/>
          </a:xfrm>
          <a:prstGeom prst="rect">
            <a:avLst/>
          </a:prstGeom>
          <a:noFill/>
          <a:ln/>
        </p:spPr>
        <p:txBody>
          <a:bodyPr wrap="square" lIns="0" tIns="0" rIns="0" bIns="0" rtlCol="0" anchor="ctr"/>
          <a:lstStyle/>
          <a:p>
            <a:pPr algn="r" indent="0" marL="0">
              <a:buNone/>
            </a:pPr>
            <a:r>
              <a:rPr lang="en-US" sz="3600" b="1" dirty="0">
                <a:solidFill>
                  <a:schemeClr val="accent3"/>
                </a:solidFill>
              </a:rPr>
              <a:t>3</a:t>
            </a:r>
            <a:endParaRPr lang="en-US" sz="3600" dirty="0"/>
          </a:p>
        </p:txBody>
      </p:sp>
      <p:sp>
        <p:nvSpPr>
          <p:cNvPr id="23" name="Text 18"/>
          <p:cNvSpPr txBox="1"/>
          <p:nvPr/>
        </p:nvSpPr>
        <p:spPr>
          <a:xfrm>
            <a:off x="8549640" y="2560320"/>
            <a:ext cx="2788920" cy="868680"/>
          </a:xfrm>
          <a:prstGeom prst="rect">
            <a:avLst/>
          </a:prstGeom>
          <a:noFill/>
          <a:ln/>
        </p:spPr>
        <p:txBody>
          <a:bodyPr wrap="square" lIns="0" tIns="0" rIns="0" bIns="0" rtlCol="0" anchor="t"/>
          <a:lstStyle/>
          <a:p>
            <a:pPr indent="0" marL="0">
              <a:buNone/>
            </a:pPr>
            <a:r>
              <a:rPr lang="en-US" sz="1900" b="1" dirty="0">
                <a:solidFill>
                  <a:schemeClr val="tx2"/>
                </a:solidFill>
              </a:rPr>
              <a:t>実現可能性の確保</a:t>
            </a:r>
            <a:endParaRPr lang="en-US" sz="1900" dirty="0"/>
          </a:p>
        </p:txBody>
      </p:sp>
      <p:sp>
        <p:nvSpPr>
          <p:cNvPr id="24" name="Text 19"/>
          <p:cNvSpPr txBox="1"/>
          <p:nvPr/>
        </p:nvSpPr>
        <p:spPr>
          <a:xfrm>
            <a:off x="8549640" y="3474720"/>
            <a:ext cx="2788920" cy="1097280"/>
          </a:xfrm>
          <a:prstGeom prst="rect">
            <a:avLst/>
          </a:prstGeom>
          <a:noFill/>
          <a:ln/>
        </p:spPr>
        <p:txBody>
          <a:bodyPr wrap="square" lIns="0" tIns="0" rIns="0" bIns="0" rtlCol="0" anchor="t"/>
          <a:lstStyle/>
          <a:p>
            <a:pPr indent="0" marL="0">
              <a:buNone/>
            </a:pPr>
            <a:r>
              <a:rPr lang="en-US" sz="1500" dirty="0">
                <a:solidFill>
                  <a:schemeClr val="tx1"/>
                </a:solidFill>
              </a:rPr>
              <a:t>内容の精選や柔軟な教育課程により、学校と教師が無理なく実現できるようにする</a:t>
            </a:r>
            <a:endParaRPr lang="en-US" sz="1500" dirty="0"/>
          </a:p>
        </p:txBody>
      </p:sp>
      <p:sp>
        <p:nvSpPr>
          <p:cNvPr id="25" name="Shape 20"/>
          <p:cNvSpPr/>
          <p:nvPr/>
        </p:nvSpPr>
        <p:spPr>
          <a:xfrm>
            <a:off x="8412480" y="4709160"/>
            <a:ext cx="3063240" cy="1051560"/>
          </a:xfrm>
          <a:prstGeom prst="roundRect">
            <a:avLst>
              <a:gd name="adj" fmla="val 6957"/>
            </a:avLst>
          </a:prstGeom>
          <a:solidFill>
            <a:schemeClr val="bg1"/>
          </a:solidFill>
          <a:ln/>
        </p:spPr>
      </p:sp>
      <p:sp>
        <p:nvSpPr>
          <p:cNvPr id="26" name="Text 21"/>
          <p:cNvSpPr txBox="1"/>
          <p:nvPr/>
        </p:nvSpPr>
        <p:spPr>
          <a:xfrm>
            <a:off x="8549640" y="4754880"/>
            <a:ext cx="2788920" cy="960120"/>
          </a:xfrm>
          <a:prstGeom prst="rect">
            <a:avLst/>
          </a:prstGeom>
          <a:noFill/>
          <a:ln/>
        </p:spPr>
        <p:txBody>
          <a:bodyPr wrap="square" lIns="0" tIns="0" rIns="0" bIns="0" rtlCol="0" anchor="ctr"/>
          <a:lstStyle/>
          <a:p>
            <a:pPr indent="0" marL="0">
              <a:buNone/>
            </a:pPr>
            <a:r>
              <a:rPr lang="en-US" sz="1300" b="1" dirty="0">
                <a:solidFill>
                  <a:schemeClr val="accent1"/>
                </a:solidFill>
              </a:rPr>
              <a:t>天童中部小では　</a:t>
            </a:r>
            <a:pPr indent="0" marL="0">
              <a:buNone/>
            </a:pPr>
            <a:r>
              <a:rPr lang="en-US" sz="1300" dirty="0">
                <a:solidFill>
                  <a:schemeClr val="tx1"/>
                </a:solidFill>
              </a:rPr>
              <a:t>全校共通の仕組みと学習の手引きで、組織的に進めている</a:t>
            </a:r>
            <a:endParaRPr lang="en-US" sz="13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主な改善の方向</a:t>
            </a:r>
            <a:endParaRPr lang="en-US" sz="3200" dirty="0"/>
          </a:p>
        </p:txBody>
      </p:sp>
      <p:sp>
        <p:nvSpPr>
          <p:cNvPr id="3" name="Shape 1"/>
          <p:cNvSpPr/>
          <p:nvPr/>
        </p:nvSpPr>
        <p:spPr>
          <a:xfrm>
            <a:off x="548640" y="1325880"/>
            <a:ext cx="3429000" cy="2057400"/>
          </a:xfrm>
          <a:prstGeom prst="roundRect">
            <a:avLst>
              <a:gd name="adj" fmla="val 4444"/>
            </a:avLst>
          </a:prstGeom>
          <a:solidFill>
            <a:schemeClr val="bg2"/>
          </a:solidFill>
          <a:ln/>
        </p:spPr>
      </p:sp>
      <p:sp>
        <p:nvSpPr>
          <p:cNvPr id="4" name="Shape 2"/>
          <p:cNvSpPr/>
          <p:nvPr/>
        </p:nvSpPr>
        <p:spPr>
          <a:xfrm>
            <a:off x="822960" y="1600200"/>
            <a:ext cx="640080" cy="64008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82980" y="1760220"/>
            <a:ext cx="320040" cy="320040"/>
          </a:xfrm>
          <a:prstGeom prst="rect">
            <a:avLst/>
          </a:prstGeom>
        </p:spPr>
      </p:pic>
      <p:sp>
        <p:nvSpPr>
          <p:cNvPr id="6" name="Text 3"/>
          <p:cNvSpPr txBox="1"/>
          <p:nvPr/>
        </p:nvSpPr>
        <p:spPr>
          <a:xfrm>
            <a:off x="1600200" y="1600200"/>
            <a:ext cx="2148840" cy="640080"/>
          </a:xfrm>
          <a:prstGeom prst="rect">
            <a:avLst/>
          </a:prstGeom>
          <a:noFill/>
          <a:ln/>
        </p:spPr>
        <p:txBody>
          <a:bodyPr wrap="square" lIns="0" tIns="0" rIns="0" bIns="0" rtlCol="0" anchor="ctr"/>
          <a:lstStyle/>
          <a:p>
            <a:pPr indent="0" marL="0">
              <a:buNone/>
            </a:pPr>
            <a:r>
              <a:rPr lang="en-US" sz="1700" b="1" dirty="0">
                <a:solidFill>
                  <a:schemeClr val="tx2"/>
                </a:solidFill>
              </a:rPr>
              <a:t>目標・内容の構造化</a:t>
            </a:r>
            <a:endParaRPr lang="en-US" sz="1700" dirty="0"/>
          </a:p>
        </p:txBody>
      </p:sp>
      <p:sp>
        <p:nvSpPr>
          <p:cNvPr id="7" name="Text 4"/>
          <p:cNvSpPr txBox="1"/>
          <p:nvPr/>
        </p:nvSpPr>
        <p:spPr>
          <a:xfrm>
            <a:off x="822960" y="2377440"/>
            <a:ext cx="2880360" cy="868680"/>
          </a:xfrm>
          <a:prstGeom prst="rect">
            <a:avLst/>
          </a:prstGeom>
          <a:noFill/>
          <a:ln/>
        </p:spPr>
        <p:txBody>
          <a:bodyPr wrap="square" lIns="0" tIns="0" rIns="0" bIns="0" rtlCol="0" anchor="t"/>
          <a:lstStyle/>
          <a:p>
            <a:pPr indent="0" marL="0">
              <a:buNone/>
            </a:pPr>
            <a:r>
              <a:rPr lang="en-US" sz="1400" dirty="0">
                <a:solidFill>
                  <a:schemeClr val="tx1"/>
                </a:solidFill>
              </a:rPr>
              <a:t>中核的な概念等を軸に整理し、分かりやすく示す</a:t>
            </a:r>
            <a:endParaRPr lang="en-US" sz="1400" dirty="0"/>
          </a:p>
        </p:txBody>
      </p:sp>
      <p:sp>
        <p:nvSpPr>
          <p:cNvPr id="8" name="Shape 5"/>
          <p:cNvSpPr/>
          <p:nvPr/>
        </p:nvSpPr>
        <p:spPr>
          <a:xfrm>
            <a:off x="4389120" y="1325880"/>
            <a:ext cx="3429000" cy="2057400"/>
          </a:xfrm>
          <a:prstGeom prst="roundRect">
            <a:avLst>
              <a:gd name="adj" fmla="val 4444"/>
            </a:avLst>
          </a:prstGeom>
          <a:solidFill>
            <a:schemeClr val="bg2"/>
          </a:solidFill>
          <a:ln/>
        </p:spPr>
      </p:sp>
      <p:sp>
        <p:nvSpPr>
          <p:cNvPr id="9" name="Shape 6"/>
          <p:cNvSpPr/>
          <p:nvPr/>
        </p:nvSpPr>
        <p:spPr>
          <a:xfrm>
            <a:off x="4663440" y="1600200"/>
            <a:ext cx="640080" cy="640080"/>
          </a:xfrm>
          <a:prstGeom prst="ellipse">
            <a:avLst/>
          </a:prstGeom>
          <a:solidFill>
            <a:schemeClr val="accent2"/>
          </a:solidFill>
          <a:ln/>
        </p:spPr>
      </p:sp>
      <p:pic>
        <p:nvPicPr>
          <p:cNvPr id="10" name="Image 1" descr="preencoded.png">    </p:cNvPr>
          <p:cNvPicPr>
            <a:picLocks noChangeAspect="1"/>
          </p:cNvPicPr>
          <p:nvPr/>
        </p:nvPicPr>
        <p:blipFill>
          <a:blip r:embed="rId2"/>
          <a:stretch>
            <a:fillRect/>
          </a:stretch>
        </p:blipFill>
        <p:spPr>
          <a:xfrm>
            <a:off x="4823460" y="1760220"/>
            <a:ext cx="320040" cy="320040"/>
          </a:xfrm>
          <a:prstGeom prst="rect">
            <a:avLst/>
          </a:prstGeom>
        </p:spPr>
      </p:pic>
      <p:sp>
        <p:nvSpPr>
          <p:cNvPr id="11" name="Text 7"/>
          <p:cNvSpPr txBox="1"/>
          <p:nvPr/>
        </p:nvSpPr>
        <p:spPr>
          <a:xfrm>
            <a:off x="5440680" y="1600200"/>
            <a:ext cx="2148840" cy="640080"/>
          </a:xfrm>
          <a:prstGeom prst="rect">
            <a:avLst/>
          </a:prstGeom>
          <a:noFill/>
          <a:ln/>
        </p:spPr>
        <p:txBody>
          <a:bodyPr wrap="square" lIns="0" tIns="0" rIns="0" bIns="0" rtlCol="0" anchor="ctr"/>
          <a:lstStyle/>
          <a:p>
            <a:pPr indent="0" marL="0">
              <a:buNone/>
            </a:pPr>
            <a:r>
              <a:rPr lang="en-US" sz="1700" b="1" dirty="0">
                <a:solidFill>
                  <a:schemeClr val="tx2"/>
                </a:solidFill>
              </a:rPr>
              <a:t>調整授業時数制度</a:t>
            </a:r>
            <a:endParaRPr lang="en-US" sz="1700" dirty="0"/>
          </a:p>
        </p:txBody>
      </p:sp>
      <p:sp>
        <p:nvSpPr>
          <p:cNvPr id="12" name="Text 8"/>
          <p:cNvSpPr txBox="1"/>
          <p:nvPr/>
        </p:nvSpPr>
        <p:spPr>
          <a:xfrm>
            <a:off x="4663440" y="2377440"/>
            <a:ext cx="2880360" cy="868680"/>
          </a:xfrm>
          <a:prstGeom prst="rect">
            <a:avLst/>
          </a:prstGeom>
          <a:noFill/>
          <a:ln/>
        </p:spPr>
        <p:txBody>
          <a:bodyPr wrap="square" lIns="0" tIns="0" rIns="0" bIns="0" rtlCol="0" anchor="t"/>
          <a:lstStyle/>
          <a:p>
            <a:pPr indent="0" marL="0">
              <a:buNone/>
            </a:pPr>
            <a:r>
              <a:rPr lang="en-US" sz="1400" dirty="0">
                <a:solidFill>
                  <a:schemeClr val="tx1"/>
                </a:solidFill>
              </a:rPr>
              <a:t>学校の実態に応じ、標準授業時数を一定の範囲で調整できる仕組み</a:t>
            </a:r>
            <a:endParaRPr lang="en-US" sz="1400" dirty="0"/>
          </a:p>
        </p:txBody>
      </p:sp>
      <p:sp>
        <p:nvSpPr>
          <p:cNvPr id="13" name="Shape 9"/>
          <p:cNvSpPr/>
          <p:nvPr/>
        </p:nvSpPr>
        <p:spPr>
          <a:xfrm>
            <a:off x="8229600" y="1325880"/>
            <a:ext cx="3429000" cy="2057400"/>
          </a:xfrm>
          <a:prstGeom prst="roundRect">
            <a:avLst>
              <a:gd name="adj" fmla="val 4444"/>
            </a:avLst>
          </a:prstGeom>
          <a:solidFill>
            <a:schemeClr val="bg2"/>
          </a:solidFill>
          <a:ln/>
        </p:spPr>
      </p:sp>
      <p:sp>
        <p:nvSpPr>
          <p:cNvPr id="14" name="Shape 10"/>
          <p:cNvSpPr/>
          <p:nvPr/>
        </p:nvSpPr>
        <p:spPr>
          <a:xfrm>
            <a:off x="8503920" y="1600200"/>
            <a:ext cx="640080" cy="640080"/>
          </a:xfrm>
          <a:prstGeom prst="ellipse">
            <a:avLst/>
          </a:prstGeom>
          <a:solidFill>
            <a:schemeClr val="accent2"/>
          </a:solidFill>
          <a:ln/>
        </p:spPr>
      </p:sp>
      <p:pic>
        <p:nvPicPr>
          <p:cNvPr id="15" name="Image 2" descr="preencoded.png">    </p:cNvPr>
          <p:cNvPicPr>
            <a:picLocks noChangeAspect="1"/>
          </p:cNvPicPr>
          <p:nvPr/>
        </p:nvPicPr>
        <p:blipFill>
          <a:blip r:embed="rId3"/>
          <a:stretch>
            <a:fillRect/>
          </a:stretch>
        </p:blipFill>
        <p:spPr>
          <a:xfrm>
            <a:off x="8663940" y="1760220"/>
            <a:ext cx="320040" cy="320040"/>
          </a:xfrm>
          <a:prstGeom prst="rect">
            <a:avLst/>
          </a:prstGeom>
        </p:spPr>
      </p:pic>
      <p:sp>
        <p:nvSpPr>
          <p:cNvPr id="16" name="Text 11"/>
          <p:cNvSpPr txBox="1"/>
          <p:nvPr/>
        </p:nvSpPr>
        <p:spPr>
          <a:xfrm>
            <a:off x="9281160" y="1600200"/>
            <a:ext cx="2148840" cy="640080"/>
          </a:xfrm>
          <a:prstGeom prst="rect">
            <a:avLst/>
          </a:prstGeom>
          <a:noFill/>
          <a:ln/>
        </p:spPr>
        <p:txBody>
          <a:bodyPr wrap="square" lIns="0" tIns="0" rIns="0" bIns="0" rtlCol="0" anchor="ctr"/>
          <a:lstStyle/>
          <a:p>
            <a:pPr indent="0" marL="0">
              <a:buNone/>
            </a:pPr>
            <a:r>
              <a:rPr lang="en-US" sz="1700" b="1" dirty="0">
                <a:solidFill>
                  <a:schemeClr val="tx2"/>
                </a:solidFill>
              </a:rPr>
              <a:t>裁量的な時間</a:t>
            </a:r>
            <a:endParaRPr lang="en-US" sz="1700" dirty="0"/>
          </a:p>
        </p:txBody>
      </p:sp>
      <p:sp>
        <p:nvSpPr>
          <p:cNvPr id="17" name="Text 12"/>
          <p:cNvSpPr txBox="1"/>
          <p:nvPr/>
        </p:nvSpPr>
        <p:spPr>
          <a:xfrm>
            <a:off x="8503920" y="2377440"/>
            <a:ext cx="2880360" cy="868680"/>
          </a:xfrm>
          <a:prstGeom prst="rect">
            <a:avLst/>
          </a:prstGeom>
          <a:noFill/>
          <a:ln/>
        </p:spPr>
        <p:txBody>
          <a:bodyPr wrap="square" lIns="0" tIns="0" rIns="0" bIns="0" rtlCol="0" anchor="t"/>
          <a:lstStyle/>
          <a:p>
            <a:pPr indent="0" marL="0">
              <a:buNone/>
            </a:pPr>
            <a:r>
              <a:rPr lang="en-US" sz="1400" dirty="0">
                <a:solidFill>
                  <a:schemeClr val="tx1"/>
                </a:solidFill>
              </a:rPr>
              <a:t>生み出した時間を、子供の個性や特性に応じた学びに充てる</a:t>
            </a:r>
            <a:endParaRPr lang="en-US" sz="1400" dirty="0"/>
          </a:p>
        </p:txBody>
      </p:sp>
      <p:sp>
        <p:nvSpPr>
          <p:cNvPr id="18" name="Shape 13"/>
          <p:cNvSpPr/>
          <p:nvPr/>
        </p:nvSpPr>
        <p:spPr>
          <a:xfrm>
            <a:off x="548640" y="3657600"/>
            <a:ext cx="3429000" cy="2057400"/>
          </a:xfrm>
          <a:prstGeom prst="roundRect">
            <a:avLst>
              <a:gd name="adj" fmla="val 4444"/>
            </a:avLst>
          </a:prstGeom>
          <a:solidFill>
            <a:schemeClr val="bg2"/>
          </a:solidFill>
          <a:ln/>
        </p:spPr>
      </p:sp>
      <p:sp>
        <p:nvSpPr>
          <p:cNvPr id="19" name="Shape 14"/>
          <p:cNvSpPr/>
          <p:nvPr/>
        </p:nvSpPr>
        <p:spPr>
          <a:xfrm>
            <a:off x="822960" y="3931920"/>
            <a:ext cx="640080" cy="640080"/>
          </a:xfrm>
          <a:prstGeom prst="ellipse">
            <a:avLst/>
          </a:prstGeom>
          <a:solidFill>
            <a:schemeClr val="accent1"/>
          </a:solidFill>
          <a:ln/>
        </p:spPr>
      </p:sp>
      <p:pic>
        <p:nvPicPr>
          <p:cNvPr id="20" name="Image 3" descr="preencoded.png">    </p:cNvPr>
          <p:cNvPicPr>
            <a:picLocks noChangeAspect="1"/>
          </p:cNvPicPr>
          <p:nvPr/>
        </p:nvPicPr>
        <p:blipFill>
          <a:blip r:embed="rId4"/>
          <a:stretch>
            <a:fillRect/>
          </a:stretch>
        </p:blipFill>
        <p:spPr>
          <a:xfrm>
            <a:off x="982980" y="4091940"/>
            <a:ext cx="320040" cy="320040"/>
          </a:xfrm>
          <a:prstGeom prst="rect">
            <a:avLst/>
          </a:prstGeom>
        </p:spPr>
      </p:pic>
      <p:sp>
        <p:nvSpPr>
          <p:cNvPr id="21" name="Text 15"/>
          <p:cNvSpPr txBox="1"/>
          <p:nvPr/>
        </p:nvSpPr>
        <p:spPr>
          <a:xfrm>
            <a:off x="1600200" y="3931920"/>
            <a:ext cx="2148840" cy="640080"/>
          </a:xfrm>
          <a:prstGeom prst="rect">
            <a:avLst/>
          </a:prstGeom>
          <a:noFill/>
          <a:ln/>
        </p:spPr>
        <p:txBody>
          <a:bodyPr wrap="square" lIns="0" tIns="0" rIns="0" bIns="0" rtlCol="0" anchor="ctr"/>
          <a:lstStyle/>
          <a:p>
            <a:pPr indent="0" marL="0">
              <a:buNone/>
            </a:pPr>
            <a:r>
              <a:rPr lang="en-US" sz="1700" b="1" dirty="0">
                <a:solidFill>
                  <a:schemeClr val="tx2"/>
                </a:solidFill>
              </a:rPr>
              <a:t>情報活用能力の抜本的向上</a:t>
            </a:r>
            <a:endParaRPr lang="en-US" sz="1700" dirty="0"/>
          </a:p>
        </p:txBody>
      </p:sp>
      <p:sp>
        <p:nvSpPr>
          <p:cNvPr id="22" name="Text 16"/>
          <p:cNvSpPr txBox="1"/>
          <p:nvPr/>
        </p:nvSpPr>
        <p:spPr>
          <a:xfrm>
            <a:off x="822960" y="4709160"/>
            <a:ext cx="2880360" cy="868680"/>
          </a:xfrm>
          <a:prstGeom prst="rect">
            <a:avLst/>
          </a:prstGeom>
          <a:noFill/>
          <a:ln/>
        </p:spPr>
        <p:txBody>
          <a:bodyPr wrap="square" lIns="0" tIns="0" rIns="0" bIns="0" rtlCol="0" anchor="t"/>
          <a:lstStyle/>
          <a:p>
            <a:pPr indent="0" marL="0">
              <a:buNone/>
            </a:pPr>
            <a:r>
              <a:rPr lang="en-US" sz="1400" dirty="0">
                <a:solidFill>
                  <a:schemeClr val="tx1"/>
                </a:solidFill>
              </a:rPr>
              <a:t>学習の基盤となる資質・能力として位置付ける</a:t>
            </a:r>
            <a:endParaRPr lang="en-US" sz="1400" dirty="0"/>
          </a:p>
        </p:txBody>
      </p:sp>
      <p:sp>
        <p:nvSpPr>
          <p:cNvPr id="23" name="Shape 17"/>
          <p:cNvSpPr/>
          <p:nvPr/>
        </p:nvSpPr>
        <p:spPr>
          <a:xfrm>
            <a:off x="4389120" y="3657600"/>
            <a:ext cx="3429000" cy="2057400"/>
          </a:xfrm>
          <a:prstGeom prst="roundRect">
            <a:avLst>
              <a:gd name="adj" fmla="val 4444"/>
            </a:avLst>
          </a:prstGeom>
          <a:solidFill>
            <a:schemeClr val="bg2"/>
          </a:solidFill>
          <a:ln/>
        </p:spPr>
      </p:sp>
      <p:sp>
        <p:nvSpPr>
          <p:cNvPr id="24" name="Shape 18"/>
          <p:cNvSpPr/>
          <p:nvPr/>
        </p:nvSpPr>
        <p:spPr>
          <a:xfrm>
            <a:off x="4663440" y="3931920"/>
            <a:ext cx="640080" cy="640080"/>
          </a:xfrm>
          <a:prstGeom prst="ellipse">
            <a:avLst/>
          </a:prstGeom>
          <a:solidFill>
            <a:schemeClr val="accent1"/>
          </a:solidFill>
          <a:ln/>
        </p:spPr>
      </p:sp>
      <p:pic>
        <p:nvPicPr>
          <p:cNvPr id="25" name="Image 4" descr="preencoded.png">    </p:cNvPr>
          <p:cNvPicPr>
            <a:picLocks noChangeAspect="1"/>
          </p:cNvPicPr>
          <p:nvPr/>
        </p:nvPicPr>
        <p:blipFill>
          <a:blip r:embed="rId5"/>
          <a:stretch>
            <a:fillRect/>
          </a:stretch>
        </p:blipFill>
        <p:spPr>
          <a:xfrm>
            <a:off x="4823460" y="4091940"/>
            <a:ext cx="320040" cy="320040"/>
          </a:xfrm>
          <a:prstGeom prst="rect">
            <a:avLst/>
          </a:prstGeom>
        </p:spPr>
      </p:pic>
      <p:sp>
        <p:nvSpPr>
          <p:cNvPr id="26" name="Text 19"/>
          <p:cNvSpPr txBox="1"/>
          <p:nvPr/>
        </p:nvSpPr>
        <p:spPr>
          <a:xfrm>
            <a:off x="5440680" y="3931920"/>
            <a:ext cx="2148840" cy="640080"/>
          </a:xfrm>
          <a:prstGeom prst="rect">
            <a:avLst/>
          </a:prstGeom>
          <a:noFill/>
          <a:ln/>
        </p:spPr>
        <p:txBody>
          <a:bodyPr wrap="square" lIns="0" tIns="0" rIns="0" bIns="0" rtlCol="0" anchor="ctr"/>
          <a:lstStyle/>
          <a:p>
            <a:pPr indent="0" marL="0">
              <a:buNone/>
            </a:pPr>
            <a:r>
              <a:rPr lang="en-US" sz="1700" b="1" dirty="0">
                <a:solidFill>
                  <a:schemeClr val="tx2"/>
                </a:solidFill>
              </a:rPr>
              <a:t>学習評価の改善</a:t>
            </a:r>
            <a:endParaRPr lang="en-US" sz="1700" dirty="0"/>
          </a:p>
        </p:txBody>
      </p:sp>
      <p:sp>
        <p:nvSpPr>
          <p:cNvPr id="27" name="Text 20"/>
          <p:cNvSpPr txBox="1"/>
          <p:nvPr/>
        </p:nvSpPr>
        <p:spPr>
          <a:xfrm>
            <a:off x="4663440" y="4709160"/>
            <a:ext cx="2880360" cy="868680"/>
          </a:xfrm>
          <a:prstGeom prst="rect">
            <a:avLst/>
          </a:prstGeom>
          <a:noFill/>
          <a:ln/>
        </p:spPr>
        <p:txBody>
          <a:bodyPr wrap="square" lIns="0" tIns="0" rIns="0" bIns="0" rtlCol="0" anchor="t"/>
          <a:lstStyle/>
          <a:p>
            <a:pPr indent="0" marL="0">
              <a:buNone/>
            </a:pPr>
            <a:r>
              <a:rPr lang="en-US" sz="1400" dirty="0">
                <a:solidFill>
                  <a:schemeClr val="tx1"/>
                </a:solidFill>
              </a:rPr>
              <a:t>「主体的に学習に取り組む態度」の評価の在り方などを見直す</a:t>
            </a:r>
            <a:endParaRPr lang="en-US" sz="1400" dirty="0"/>
          </a:p>
        </p:txBody>
      </p:sp>
      <p:sp>
        <p:nvSpPr>
          <p:cNvPr id="28" name="Shape 21"/>
          <p:cNvSpPr/>
          <p:nvPr/>
        </p:nvSpPr>
        <p:spPr>
          <a:xfrm>
            <a:off x="8229600" y="3657600"/>
            <a:ext cx="3429000" cy="2057400"/>
          </a:xfrm>
          <a:prstGeom prst="roundRect">
            <a:avLst>
              <a:gd name="adj" fmla="val 4444"/>
            </a:avLst>
          </a:prstGeom>
          <a:solidFill>
            <a:schemeClr val="bg2"/>
          </a:solidFill>
          <a:ln/>
        </p:spPr>
      </p:sp>
      <p:sp>
        <p:nvSpPr>
          <p:cNvPr id="29" name="Shape 22"/>
          <p:cNvSpPr/>
          <p:nvPr/>
        </p:nvSpPr>
        <p:spPr>
          <a:xfrm>
            <a:off x="8503920" y="3931920"/>
            <a:ext cx="640080" cy="640080"/>
          </a:xfrm>
          <a:prstGeom prst="ellipse">
            <a:avLst/>
          </a:prstGeom>
          <a:solidFill>
            <a:schemeClr val="accent1"/>
          </a:solidFill>
          <a:ln/>
        </p:spPr>
      </p:sp>
      <p:pic>
        <p:nvPicPr>
          <p:cNvPr id="30" name="Image 5" descr="preencoded.png">    </p:cNvPr>
          <p:cNvPicPr>
            <a:picLocks noChangeAspect="1"/>
          </p:cNvPicPr>
          <p:nvPr/>
        </p:nvPicPr>
        <p:blipFill>
          <a:blip r:embed="rId6"/>
          <a:stretch>
            <a:fillRect/>
          </a:stretch>
        </p:blipFill>
        <p:spPr>
          <a:xfrm>
            <a:off x="8663940" y="4091940"/>
            <a:ext cx="320040" cy="320040"/>
          </a:xfrm>
          <a:prstGeom prst="rect">
            <a:avLst/>
          </a:prstGeom>
        </p:spPr>
      </p:pic>
      <p:sp>
        <p:nvSpPr>
          <p:cNvPr id="31" name="Text 23"/>
          <p:cNvSpPr txBox="1"/>
          <p:nvPr/>
        </p:nvSpPr>
        <p:spPr>
          <a:xfrm>
            <a:off x="9281160" y="3931920"/>
            <a:ext cx="2148840" cy="640080"/>
          </a:xfrm>
          <a:prstGeom prst="rect">
            <a:avLst/>
          </a:prstGeom>
          <a:noFill/>
          <a:ln/>
        </p:spPr>
        <p:txBody>
          <a:bodyPr wrap="square" lIns="0" tIns="0" rIns="0" bIns="0" rtlCol="0" anchor="ctr"/>
          <a:lstStyle/>
          <a:p>
            <a:pPr indent="0" marL="0">
              <a:buNone/>
            </a:pPr>
            <a:r>
              <a:rPr lang="en-US" sz="1700" b="1" dirty="0">
                <a:solidFill>
                  <a:schemeClr val="tx2"/>
                </a:solidFill>
              </a:rPr>
              <a:t>「好き」「得意」を育む</a:t>
            </a:r>
            <a:endParaRPr lang="en-US" sz="1700" dirty="0"/>
          </a:p>
        </p:txBody>
      </p:sp>
      <p:sp>
        <p:nvSpPr>
          <p:cNvPr id="32" name="Text 24"/>
          <p:cNvSpPr txBox="1"/>
          <p:nvPr/>
        </p:nvSpPr>
        <p:spPr>
          <a:xfrm>
            <a:off x="8503920" y="4709160"/>
            <a:ext cx="2880360" cy="868680"/>
          </a:xfrm>
          <a:prstGeom prst="rect">
            <a:avLst/>
          </a:prstGeom>
          <a:noFill/>
          <a:ln/>
        </p:spPr>
        <p:txBody>
          <a:bodyPr wrap="square" lIns="0" tIns="0" rIns="0" bIns="0" rtlCol="0" anchor="t"/>
          <a:lstStyle/>
          <a:p>
            <a:pPr indent="0" marL="0">
              <a:buNone/>
            </a:pPr>
            <a:r>
              <a:rPr lang="en-US" sz="1400" dirty="0">
                <a:solidFill>
                  <a:schemeClr val="tx1"/>
                </a:solidFill>
              </a:rPr>
              <a:t>学習内容を精選し、子供の「好き」「得意」を伸ばす</a:t>
            </a:r>
            <a:endParaRPr lang="en-US" sz="1400" dirty="0"/>
          </a:p>
        </p:txBody>
      </p:sp>
      <p:sp>
        <p:nvSpPr>
          <p:cNvPr id="33" name="Text 25"/>
          <p:cNvSpPr txBox="1"/>
          <p:nvPr/>
        </p:nvSpPr>
        <p:spPr>
          <a:xfrm>
            <a:off x="548640" y="5989320"/>
            <a:ext cx="7315200" cy="274320"/>
          </a:xfrm>
          <a:prstGeom prst="rect">
            <a:avLst/>
          </a:prstGeom>
          <a:noFill/>
          <a:ln/>
        </p:spPr>
        <p:txBody>
          <a:bodyPr wrap="square" lIns="0" tIns="0" rIns="0" bIns="0" rtlCol="0" anchor="ctr"/>
          <a:lstStyle/>
          <a:p>
            <a:pPr indent="0" marL="0">
              <a:buNone/>
            </a:pPr>
            <a:r>
              <a:rPr lang="en-US" sz="1100" dirty="0">
                <a:solidFill>
                  <a:schemeClr val="accent5"/>
                </a:solidFill>
              </a:rPr>
              <a:t>※制度の名称・詳細は、答申・告示で確定する。</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天童中部小の実践と次期学習指導要領</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931920"/>
                <a:gridCol w="3291840"/>
                <a:gridCol w="3867912"/>
              </a:tblGrid>
              <a:tr h="502920">
                <a:tc>
                  <a:txBody>
                    <a:bodyPr/>
                    <a:lstStyle/>
                    <a:p>
                      <a:pPr indent="0" marL="0">
                        <a:buNone/>
                      </a:pPr>
                      <a:r>
                        <a:rPr lang="en-US" sz="1500" b="1" dirty="0">
                          <a:solidFill>
                            <a:schemeClr val="bg1"/>
                          </a:solidFill>
                        </a:rPr>
                        <a:t>次期学習指導要領の論点</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天童中部小学校の実践</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学校訪問で見たいこと</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tx2"/>
                    </a:solidFill>
                  </a:tcPr>
                </a:tc>
              </a:tr>
              <a:tr h="804672">
                <a:tc>
                  <a:txBody>
                    <a:bodyPr/>
                    <a:lstStyle/>
                    <a:p>
                      <a:pPr indent="0" marL="0">
                        <a:buNone/>
                      </a:pPr>
                      <a:r>
                        <a:rPr lang="en-US" sz="1500" b="1" dirty="0">
                          <a:solidFill>
                            <a:schemeClr val="tx1"/>
                          </a:solidFill>
                        </a:rPr>
                        <a:t>個別最適な学びと協働的な学びの一体的な充実</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マイプラン学習</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4"/>
                          </a:solidFill>
                        </a:rPr>
                        <a:t>子供が選ぶ場面と、協働が生まれる仕掛けがあるか</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2"/>
                    </a:solidFill>
                  </a:tcPr>
                </a:tc>
              </a:tr>
              <a:tr h="804672">
                <a:tc>
                  <a:txBody>
                    <a:bodyPr/>
                    <a:lstStyle/>
                    <a:p>
                      <a:pPr indent="0" marL="0">
                        <a:buNone/>
                      </a:pPr>
                      <a:r>
                        <a:rPr lang="en-US" sz="1500" b="1" dirty="0">
                          <a:solidFill>
                            <a:schemeClr val="tx1"/>
                          </a:solidFill>
                        </a:rPr>
                        <a:t>裁量的な時間／「好き」「得意」を育む</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フリースタイルプロジェクト</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1"/>
                    </a:solidFill>
                  </a:tcPr>
                </a:tc>
                <a:tc>
                  <a:txBody>
                    <a:bodyPr/>
                    <a:lstStyle/>
                    <a:p>
                      <a:pPr indent="0" marL="0">
                        <a:buNone/>
                      </a:pPr>
                      <a:r>
                        <a:rPr lang="en-US" sz="1500" dirty="0">
                          <a:solidFill>
                            <a:schemeClr val="accent4"/>
                          </a:solidFill>
                        </a:rPr>
                        <a:t>探究の質をどう担保しているか</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1"/>
                    </a:solidFill>
                  </a:tcPr>
                </a:tc>
              </a:tr>
              <a:tr h="804672">
                <a:tc>
                  <a:txBody>
                    <a:bodyPr/>
                    <a:lstStyle/>
                    <a:p>
                      <a:pPr indent="0" marL="0">
                        <a:buNone/>
                      </a:pPr>
                      <a:r>
                        <a:rPr lang="en-US" sz="1500" b="1" dirty="0">
                          <a:solidFill>
                            <a:schemeClr val="tx1"/>
                          </a:solidFill>
                        </a:rPr>
                        <a:t>調整授業時数制度</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学習形態を組み合わせたカリキュラム</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4"/>
                          </a:solidFill>
                        </a:rPr>
                        <a:t>時数の生み出し方と、保護者・地域への説明</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2"/>
                    </a:solidFill>
                  </a:tcPr>
                </a:tc>
              </a:tr>
              <a:tr h="804672">
                <a:tc>
                  <a:txBody>
                    <a:bodyPr/>
                    <a:lstStyle/>
                    <a:p>
                      <a:pPr indent="0" marL="0">
                        <a:buNone/>
                      </a:pPr>
                      <a:r>
                        <a:rPr lang="en-US" sz="1500" b="1" dirty="0">
                          <a:solidFill>
                            <a:schemeClr val="tx1"/>
                          </a:solidFill>
                        </a:rPr>
                        <a:t>学習評価の改善</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学習計画表・振り返りの記録</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1"/>
                    </a:solidFill>
                  </a:tcPr>
                </a:tc>
                <a:tc>
                  <a:txBody>
                    <a:bodyPr/>
                    <a:lstStyle/>
                    <a:p>
                      <a:pPr indent="0" marL="0">
                        <a:buNone/>
                      </a:pPr>
                      <a:r>
                        <a:rPr lang="en-US" sz="1500" dirty="0">
                          <a:solidFill>
                            <a:schemeClr val="accent4"/>
                          </a:solidFill>
                        </a:rPr>
                        <a:t>記録を評定だけでなく、支援に生かしているか</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1"/>
                    </a:solidFill>
                  </a:tcPr>
                </a:tc>
              </a:tr>
              <a:tr h="804672">
                <a:tc>
                  <a:txBody>
                    <a:bodyPr/>
                    <a:lstStyle/>
                    <a:p>
                      <a:pPr indent="0" marL="0">
                        <a:buNone/>
                      </a:pPr>
                      <a:r>
                        <a:rPr lang="en-US" sz="1500" b="1" dirty="0">
                          <a:solidFill>
                            <a:schemeClr val="tx1"/>
                          </a:solidFill>
                        </a:rPr>
                        <a:t>実現可能性の確保</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全校共通の仕組み・手引き</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4"/>
                          </a:solidFill>
                        </a:rPr>
                        <a:t>教師の負担と、組織としての推進体制</a:t>
                      </a:r>
                      <a:endParaRPr lang="en-US" sz="1500" dirty="0"/>
                    </a:p>
                  </a:txBody>
                  <a:tcPr marL="137160" marR="137160" marT="54864" marB="54864" anchor="ctr">
                    <a:lnL w="9525" cap="flat" cmpd="sng" algn="ctr">
                      <a:solidFill>
                        <a:srgbClr val="C9D9D4"/>
                      </a:solidFill>
                      <a:prstDash val="solid"/>
                      <a:round/>
                      <a:headEnd type="none" w="med" len="med"/>
                      <a:tailEnd type="none" w="med" len="med"/>
                    </a:lnL>
                    <a:lnR w="9525" cap="flat" cmpd="sng" algn="ctr">
                      <a:solidFill>
                        <a:srgbClr val="C9D9D4"/>
                      </a:solidFill>
                      <a:prstDash val="solid"/>
                      <a:round/>
                      <a:headEnd type="none" w="med" len="med"/>
                      <a:tailEnd type="none" w="med" len="med"/>
                    </a:lnR>
                    <a:lnT w="9525" cap="flat" cmpd="sng" algn="ctr">
                      <a:solidFill>
                        <a:srgbClr val="C9D9D4"/>
                      </a:solidFill>
                      <a:prstDash val="solid"/>
                      <a:round/>
                      <a:headEnd type="none" w="med" len="med"/>
                      <a:tailEnd type="none" w="med" len="med"/>
                    </a:lnT>
                    <a:lnB w="9525" cap="flat" cmpd="sng" algn="ctr">
                      <a:solidFill>
                        <a:srgbClr val="C9D9D4"/>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011680"/>
            <a:ext cx="2743200" cy="1097280"/>
          </a:xfrm>
          <a:prstGeom prst="rect">
            <a:avLst/>
          </a:prstGeom>
          <a:noFill/>
          <a:ln/>
        </p:spPr>
        <p:txBody>
          <a:bodyPr wrap="square" lIns="0" tIns="0" rIns="0" bIns="0" rtlCol="0"/>
          <a:lstStyle/>
          <a:p>
            <a:pPr indent="0" marL="0">
              <a:buNone/>
            </a:pPr>
            <a:r>
              <a:rPr lang="en-US" sz="6000" b="1" dirty="0">
                <a:solidFill>
                  <a:schemeClr val="accent2"/>
                </a:solidFill>
              </a:rPr>
              <a:t>04</a:t>
            </a:r>
            <a:endParaRPr lang="en-US" sz="6000" dirty="0"/>
          </a:p>
        </p:txBody>
      </p:sp>
      <p:sp>
        <p:nvSpPr>
          <p:cNvPr id="3" name="Text 0"/>
          <p:cNvSpPr/>
          <p:nvPr>
            <p:ph idx="101" type="title" hasCustomPrompt="1"/>
          </p:nvPr>
        </p:nvSpPr>
        <p:spPr>
          <a:xfrm>
            <a:off x="548640" y="3108960"/>
            <a:ext cx="8686800" cy="1005840"/>
          </a:xfrm>
          <a:prstGeom prst="rect">
            <a:avLst/>
          </a:prstGeom>
          <a:noFill/>
          <a:ln/>
        </p:spPr>
        <p:txBody>
          <a:bodyPr wrap="square" lIns="0" tIns="0" rIns="0" bIns="0" rtlCol="0" anchor="ctr"/>
          <a:lstStyle/>
          <a:p>
            <a:pPr algn="l" indent="0" marL="0">
              <a:buNone/>
            </a:pPr>
            <a:r>
              <a:rPr lang="en-US" sz="4000" b="1" dirty="0">
                <a:solidFill>
                  <a:schemeClr val="bg1"/>
                </a:solidFill>
              </a:rPr>
              <a:t>指導主事として</a:t>
            </a:r>
            <a:endParaRPr lang="en-US" sz="4000" dirty="0"/>
          </a:p>
        </p:txBody>
      </p:sp>
      <p:sp>
        <p:nvSpPr>
          <p:cNvPr id="4" name="Text 0"/>
          <p:cNvSpPr/>
          <p:nvPr>
            <p:ph idx="102" type="body" hasCustomPrompt="1"/>
          </p:nvPr>
        </p:nvSpPr>
        <p:spPr>
          <a:xfrm>
            <a:off x="548640" y="4160520"/>
            <a:ext cx="8686800" cy="731520"/>
          </a:xfrm>
          <a:prstGeom prst="rect">
            <a:avLst/>
          </a:prstGeom>
          <a:noFill/>
          <a:ln/>
        </p:spPr>
        <p:txBody>
          <a:bodyPr wrap="square" lIns="0" tIns="0" rIns="0" bIns="0" rtlCol="0" anchor="t"/>
          <a:lstStyle/>
          <a:p>
            <a:pPr indent="0" marL="0">
              <a:buNone/>
            </a:pPr>
            <a:r>
              <a:rPr lang="en-US" sz="1800" dirty="0">
                <a:solidFill>
                  <a:schemeClr val="accent6"/>
                </a:solidFill>
              </a:rPr>
              <a:t>学校訪問・指導助言にどう生かすか</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授業を見る視点を広げる</a:t>
            </a:r>
            <a:endParaRPr lang="en-US" sz="3200" dirty="0"/>
          </a:p>
        </p:txBody>
      </p:sp>
      <p:sp>
        <p:nvSpPr>
          <p:cNvPr id="3" name="Shape 1"/>
          <p:cNvSpPr/>
          <p:nvPr/>
        </p:nvSpPr>
        <p:spPr>
          <a:xfrm>
            <a:off x="548640" y="1371600"/>
            <a:ext cx="4846320" cy="4572000"/>
          </a:xfrm>
          <a:prstGeom prst="roundRect">
            <a:avLst>
              <a:gd name="adj" fmla="val 2000"/>
            </a:avLst>
          </a:prstGeom>
          <a:solidFill>
            <a:schemeClr val="bg2"/>
          </a:solidFill>
          <a:ln/>
        </p:spPr>
      </p:sp>
      <p:sp>
        <p:nvSpPr>
          <p:cNvPr id="4" name="Shape 2"/>
          <p:cNvSpPr/>
          <p:nvPr/>
        </p:nvSpPr>
        <p:spPr>
          <a:xfrm>
            <a:off x="6796735" y="1371600"/>
            <a:ext cx="4846320" cy="4572000"/>
          </a:xfrm>
          <a:prstGeom prst="roundRect">
            <a:avLst>
              <a:gd name="adj" fmla="val 2000"/>
            </a:avLst>
          </a:prstGeom>
          <a:solidFill>
            <a:schemeClr val="tx2"/>
          </a:solidFill>
          <a:ln/>
        </p:spPr>
      </p:sp>
      <p:sp>
        <p:nvSpPr>
          <p:cNvPr id="5" name="Text 3"/>
          <p:cNvSpPr txBox="1"/>
          <p:nvPr/>
        </p:nvSpPr>
        <p:spPr>
          <a:xfrm>
            <a:off x="868680" y="1554480"/>
            <a:ext cx="4206240" cy="548640"/>
          </a:xfrm>
          <a:prstGeom prst="rect">
            <a:avLst/>
          </a:prstGeom>
          <a:noFill/>
          <a:ln/>
        </p:spPr>
        <p:txBody>
          <a:bodyPr wrap="square" lIns="0" tIns="0" rIns="0" bIns="0" rtlCol="0" anchor="ctr"/>
          <a:lstStyle/>
          <a:p>
            <a:pPr indent="0" marL="0">
              <a:buNone/>
            </a:pPr>
            <a:r>
              <a:rPr lang="en-US" sz="2000" b="1" dirty="0">
                <a:solidFill>
                  <a:schemeClr val="accent5"/>
                </a:solidFill>
              </a:rPr>
              <a:t>これまで見てきたこと</a:t>
            </a:r>
            <a:endParaRPr lang="en-US" sz="2000" dirty="0"/>
          </a:p>
        </p:txBody>
      </p:sp>
      <p:sp>
        <p:nvSpPr>
          <p:cNvPr id="6" name="Text 4"/>
          <p:cNvSpPr txBox="1"/>
          <p:nvPr/>
        </p:nvSpPr>
        <p:spPr>
          <a:xfrm>
            <a:off x="7116775" y="1554480"/>
            <a:ext cx="4206240" cy="548640"/>
          </a:xfrm>
          <a:prstGeom prst="rect">
            <a:avLst/>
          </a:prstGeom>
          <a:noFill/>
          <a:ln/>
        </p:spPr>
        <p:txBody>
          <a:bodyPr wrap="square" lIns="0" tIns="0" rIns="0" bIns="0" rtlCol="0" anchor="ctr"/>
          <a:lstStyle/>
          <a:p>
            <a:pPr indent="0" marL="0">
              <a:buNone/>
            </a:pPr>
            <a:r>
              <a:rPr lang="en-US" sz="2000" b="1" dirty="0">
                <a:solidFill>
                  <a:schemeClr val="accent2"/>
                </a:solidFill>
              </a:rPr>
              <a:t>加えて見たいこと</a:t>
            </a:r>
            <a:endParaRPr lang="en-US" sz="2000" dirty="0"/>
          </a:p>
        </p:txBody>
      </p:sp>
      <p:sp>
        <p:nvSpPr>
          <p:cNvPr id="7" name="Text 5"/>
          <p:cNvSpPr txBox="1"/>
          <p:nvPr/>
        </p:nvSpPr>
        <p:spPr>
          <a:xfrm>
            <a:off x="868680" y="2331720"/>
            <a:ext cx="4206240" cy="685800"/>
          </a:xfrm>
          <a:prstGeom prst="rect">
            <a:avLst/>
          </a:prstGeom>
          <a:noFill/>
          <a:ln/>
        </p:spPr>
        <p:txBody>
          <a:bodyPr wrap="square" lIns="0" tIns="0" rIns="0" bIns="0" rtlCol="0" anchor="ctr"/>
          <a:lstStyle/>
          <a:p>
            <a:pPr indent="0" marL="0">
              <a:buNone/>
            </a:pPr>
            <a:r>
              <a:rPr lang="en-US" sz="1700" dirty="0">
                <a:solidFill>
                  <a:schemeClr val="tx1"/>
                </a:solidFill>
              </a:rPr>
              <a:t>教師の発問・板書・展開</a:t>
            </a:r>
            <a:endParaRPr lang="en-US" sz="1700" dirty="0"/>
          </a:p>
        </p:txBody>
      </p:sp>
      <p:sp>
        <p:nvSpPr>
          <p:cNvPr id="8" name="Text 6"/>
          <p:cNvSpPr txBox="1"/>
          <p:nvPr/>
        </p:nvSpPr>
        <p:spPr>
          <a:xfrm>
            <a:off x="7116775" y="2331720"/>
            <a:ext cx="4206240" cy="685800"/>
          </a:xfrm>
          <a:prstGeom prst="rect">
            <a:avLst/>
          </a:prstGeom>
          <a:noFill/>
          <a:ln/>
        </p:spPr>
        <p:txBody>
          <a:bodyPr wrap="square" lIns="0" tIns="0" rIns="0" bIns="0" rtlCol="0" anchor="ctr"/>
          <a:lstStyle/>
          <a:p>
            <a:pPr indent="0" marL="0">
              <a:buNone/>
            </a:pPr>
            <a:r>
              <a:rPr lang="en-US" sz="1700" b="1" dirty="0">
                <a:solidFill>
                  <a:schemeClr val="bg1"/>
                </a:solidFill>
              </a:rPr>
              <a:t>子供の選択と自己調整の姿</a:t>
            </a:r>
            <a:endParaRPr lang="en-US" sz="1700" dirty="0"/>
          </a:p>
        </p:txBody>
      </p:sp>
      <p:pic>
        <p:nvPicPr>
          <p:cNvPr id="9" name="Image 0" descr="preencoded.png">    </p:cNvPr>
          <p:cNvPicPr>
            <a:picLocks noChangeAspect="1"/>
          </p:cNvPicPr>
          <p:nvPr/>
        </p:nvPicPr>
        <p:blipFill>
          <a:blip r:embed="rId1"/>
          <a:stretch>
            <a:fillRect/>
          </a:stretch>
        </p:blipFill>
        <p:spPr>
          <a:xfrm>
            <a:off x="5912968" y="2496312"/>
            <a:ext cx="365760" cy="365760"/>
          </a:xfrm>
          <a:prstGeom prst="rect">
            <a:avLst/>
          </a:prstGeom>
        </p:spPr>
      </p:pic>
      <p:sp>
        <p:nvSpPr>
          <p:cNvPr id="10" name="Text 7"/>
          <p:cNvSpPr txBox="1"/>
          <p:nvPr/>
        </p:nvSpPr>
        <p:spPr>
          <a:xfrm>
            <a:off x="868680" y="3200400"/>
            <a:ext cx="4206240" cy="685800"/>
          </a:xfrm>
          <a:prstGeom prst="rect">
            <a:avLst/>
          </a:prstGeom>
          <a:noFill/>
          <a:ln/>
        </p:spPr>
        <p:txBody>
          <a:bodyPr wrap="square" lIns="0" tIns="0" rIns="0" bIns="0" rtlCol="0" anchor="ctr"/>
          <a:lstStyle/>
          <a:p>
            <a:pPr indent="0" marL="0">
              <a:buNone/>
            </a:pPr>
            <a:r>
              <a:rPr lang="en-US" sz="1700" dirty="0">
                <a:solidFill>
                  <a:schemeClr val="tx1"/>
                </a:solidFill>
              </a:rPr>
              <a:t>全員が同じペースで進む授業</a:t>
            </a:r>
            <a:endParaRPr lang="en-US" sz="1700" dirty="0"/>
          </a:p>
        </p:txBody>
      </p:sp>
      <p:sp>
        <p:nvSpPr>
          <p:cNvPr id="11" name="Text 8"/>
          <p:cNvSpPr txBox="1"/>
          <p:nvPr/>
        </p:nvSpPr>
        <p:spPr>
          <a:xfrm>
            <a:off x="7116775" y="3200400"/>
            <a:ext cx="4206240" cy="685800"/>
          </a:xfrm>
          <a:prstGeom prst="rect">
            <a:avLst/>
          </a:prstGeom>
          <a:noFill/>
          <a:ln/>
        </p:spPr>
        <p:txBody>
          <a:bodyPr wrap="square" lIns="0" tIns="0" rIns="0" bIns="0" rtlCol="0" anchor="ctr"/>
          <a:lstStyle/>
          <a:p>
            <a:pPr indent="0" marL="0">
              <a:buNone/>
            </a:pPr>
            <a:r>
              <a:rPr lang="en-US" sz="1700" b="1" dirty="0">
                <a:solidFill>
                  <a:schemeClr val="bg1"/>
                </a:solidFill>
              </a:rPr>
              <a:t>一人一人の進み具合と、それへの支援</a:t>
            </a:r>
            <a:endParaRPr lang="en-US" sz="1700" dirty="0"/>
          </a:p>
        </p:txBody>
      </p:sp>
      <p:pic>
        <p:nvPicPr>
          <p:cNvPr id="12" name="Image 1" descr="preencoded.png">    </p:cNvPr>
          <p:cNvPicPr>
            <a:picLocks noChangeAspect="1"/>
          </p:cNvPicPr>
          <p:nvPr/>
        </p:nvPicPr>
        <p:blipFill>
          <a:blip r:embed="rId2"/>
          <a:stretch>
            <a:fillRect/>
          </a:stretch>
        </p:blipFill>
        <p:spPr>
          <a:xfrm>
            <a:off x="5912968" y="3364992"/>
            <a:ext cx="365760" cy="365760"/>
          </a:xfrm>
          <a:prstGeom prst="rect">
            <a:avLst/>
          </a:prstGeom>
        </p:spPr>
      </p:pic>
      <p:sp>
        <p:nvSpPr>
          <p:cNvPr id="13" name="Text 9"/>
          <p:cNvSpPr txBox="1"/>
          <p:nvPr/>
        </p:nvSpPr>
        <p:spPr>
          <a:xfrm>
            <a:off x="868680" y="4069080"/>
            <a:ext cx="4206240" cy="685800"/>
          </a:xfrm>
          <a:prstGeom prst="rect">
            <a:avLst/>
          </a:prstGeom>
          <a:noFill/>
          <a:ln/>
        </p:spPr>
        <p:txBody>
          <a:bodyPr wrap="square" lIns="0" tIns="0" rIns="0" bIns="0" rtlCol="0" anchor="ctr"/>
          <a:lstStyle/>
          <a:p>
            <a:pPr indent="0" marL="0">
              <a:buNone/>
            </a:pPr>
            <a:r>
              <a:rPr lang="en-US" sz="1700" dirty="0">
                <a:solidFill>
                  <a:schemeClr val="tx1"/>
                </a:solidFill>
              </a:rPr>
              <a:t>１時間の授業の完結</a:t>
            </a:r>
            <a:endParaRPr lang="en-US" sz="1700" dirty="0"/>
          </a:p>
        </p:txBody>
      </p:sp>
      <p:sp>
        <p:nvSpPr>
          <p:cNvPr id="14" name="Text 10"/>
          <p:cNvSpPr txBox="1"/>
          <p:nvPr/>
        </p:nvSpPr>
        <p:spPr>
          <a:xfrm>
            <a:off x="7116775" y="4069080"/>
            <a:ext cx="4206240" cy="685800"/>
          </a:xfrm>
          <a:prstGeom prst="rect">
            <a:avLst/>
          </a:prstGeom>
          <a:noFill/>
          <a:ln/>
        </p:spPr>
        <p:txBody>
          <a:bodyPr wrap="square" lIns="0" tIns="0" rIns="0" bIns="0" rtlCol="0" anchor="ctr"/>
          <a:lstStyle/>
          <a:p>
            <a:pPr indent="0" marL="0">
              <a:buNone/>
            </a:pPr>
            <a:r>
              <a:rPr lang="en-US" sz="1700" b="1" dirty="0">
                <a:solidFill>
                  <a:schemeClr val="bg1"/>
                </a:solidFill>
              </a:rPr>
              <a:t>単元・カリキュラム全体のデザイン</a:t>
            </a:r>
            <a:endParaRPr lang="en-US" sz="1700" dirty="0"/>
          </a:p>
        </p:txBody>
      </p:sp>
      <p:pic>
        <p:nvPicPr>
          <p:cNvPr id="15" name="Image 2" descr="preencoded.png">    </p:cNvPr>
          <p:cNvPicPr>
            <a:picLocks noChangeAspect="1"/>
          </p:cNvPicPr>
          <p:nvPr/>
        </p:nvPicPr>
        <p:blipFill>
          <a:blip r:embed="rId3"/>
          <a:stretch>
            <a:fillRect/>
          </a:stretch>
        </p:blipFill>
        <p:spPr>
          <a:xfrm>
            <a:off x="5912968" y="4233672"/>
            <a:ext cx="365760" cy="365760"/>
          </a:xfrm>
          <a:prstGeom prst="rect">
            <a:avLst/>
          </a:prstGeom>
        </p:spPr>
      </p:pic>
      <p:sp>
        <p:nvSpPr>
          <p:cNvPr id="16" name="Text 11"/>
          <p:cNvSpPr txBox="1"/>
          <p:nvPr/>
        </p:nvSpPr>
        <p:spPr>
          <a:xfrm>
            <a:off x="868680" y="4937760"/>
            <a:ext cx="4206240" cy="685800"/>
          </a:xfrm>
          <a:prstGeom prst="rect">
            <a:avLst/>
          </a:prstGeom>
          <a:noFill/>
          <a:ln/>
        </p:spPr>
        <p:txBody>
          <a:bodyPr wrap="square" lIns="0" tIns="0" rIns="0" bIns="0" rtlCol="0" anchor="ctr"/>
          <a:lstStyle/>
          <a:p>
            <a:pPr indent="0" marL="0">
              <a:buNone/>
            </a:pPr>
            <a:r>
              <a:rPr lang="en-US" sz="1700" dirty="0">
                <a:solidFill>
                  <a:schemeClr val="tx1"/>
                </a:solidFill>
              </a:rPr>
              <a:t>教師がどう教えたか</a:t>
            </a:r>
            <a:endParaRPr lang="en-US" sz="1700" dirty="0"/>
          </a:p>
        </p:txBody>
      </p:sp>
      <p:sp>
        <p:nvSpPr>
          <p:cNvPr id="17" name="Text 12"/>
          <p:cNvSpPr txBox="1"/>
          <p:nvPr/>
        </p:nvSpPr>
        <p:spPr>
          <a:xfrm>
            <a:off x="7116775" y="4937760"/>
            <a:ext cx="4206240" cy="685800"/>
          </a:xfrm>
          <a:prstGeom prst="rect">
            <a:avLst/>
          </a:prstGeom>
          <a:noFill/>
          <a:ln/>
        </p:spPr>
        <p:txBody>
          <a:bodyPr wrap="square" lIns="0" tIns="0" rIns="0" bIns="0" rtlCol="0" anchor="ctr"/>
          <a:lstStyle/>
          <a:p>
            <a:pPr indent="0" marL="0">
              <a:buNone/>
            </a:pPr>
            <a:r>
              <a:rPr lang="en-US" sz="1700" b="1" dirty="0">
                <a:solidFill>
                  <a:schemeClr val="bg1"/>
                </a:solidFill>
              </a:rPr>
              <a:t>子供がどう学んだか</a:t>
            </a:r>
            <a:endParaRPr lang="en-US" sz="1700" dirty="0"/>
          </a:p>
        </p:txBody>
      </p:sp>
      <p:pic>
        <p:nvPicPr>
          <p:cNvPr id="18" name="Image 3" descr="preencoded.png">    </p:cNvPr>
          <p:cNvPicPr>
            <a:picLocks noChangeAspect="1"/>
          </p:cNvPicPr>
          <p:nvPr/>
        </p:nvPicPr>
        <p:blipFill>
          <a:blip r:embed="rId4"/>
          <a:stretch>
            <a:fillRect/>
          </a:stretch>
        </p:blipFill>
        <p:spPr>
          <a:xfrm>
            <a:off x="5912968" y="5102352"/>
            <a:ext cx="365760" cy="365760"/>
          </a:xfrm>
          <a:prstGeom prst="rect">
            <a:avLst/>
          </a:prstGeom>
        </p:spPr>
      </p:pic>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グループ協議（15分）</a:t>
            </a:r>
            <a:endParaRPr lang="en-US" sz="3200" dirty="0"/>
          </a:p>
        </p:txBody>
      </p:sp>
      <p:sp>
        <p:nvSpPr>
          <p:cNvPr id="3" name="Shape 1"/>
          <p:cNvSpPr/>
          <p:nvPr/>
        </p:nvSpPr>
        <p:spPr>
          <a:xfrm>
            <a:off x="548640" y="1371600"/>
            <a:ext cx="7406640" cy="1051560"/>
          </a:xfrm>
          <a:prstGeom prst="roundRect">
            <a:avLst>
              <a:gd name="adj" fmla="val 8696"/>
            </a:avLst>
          </a:prstGeom>
          <a:solidFill>
            <a:schemeClr val="bg2"/>
          </a:solidFill>
          <a:ln/>
        </p:spPr>
      </p:sp>
      <p:sp>
        <p:nvSpPr>
          <p:cNvPr id="4" name="Shape 2"/>
          <p:cNvSpPr/>
          <p:nvPr/>
        </p:nvSpPr>
        <p:spPr>
          <a:xfrm>
            <a:off x="777240" y="1527048"/>
            <a:ext cx="731520" cy="731520"/>
          </a:xfrm>
          <a:prstGeom prst="ellipse">
            <a:avLst/>
          </a:prstGeom>
          <a:solidFill>
            <a:schemeClr val="accent1"/>
          </a:solidFill>
          <a:ln/>
        </p:spPr>
      </p:sp>
      <p:sp>
        <p:nvSpPr>
          <p:cNvPr id="5" name="Text 3"/>
          <p:cNvSpPr txBox="1"/>
          <p:nvPr/>
        </p:nvSpPr>
        <p:spPr>
          <a:xfrm>
            <a:off x="777240" y="1527048"/>
            <a:ext cx="731520" cy="731520"/>
          </a:xfrm>
          <a:prstGeom prst="rect">
            <a:avLst/>
          </a:prstGeom>
          <a:noFill/>
          <a:ln/>
        </p:spPr>
        <p:txBody>
          <a:bodyPr wrap="square" lIns="0" tIns="0" rIns="0" bIns="0" rtlCol="0" anchor="ctr"/>
          <a:lstStyle/>
          <a:p>
            <a:pPr algn="ctr" indent="0" marL="0">
              <a:buNone/>
            </a:pPr>
            <a:r>
              <a:rPr lang="en-US" sz="1500" b="1" dirty="0">
                <a:solidFill>
                  <a:schemeClr val="bg1"/>
                </a:solidFill>
              </a:rPr>
              <a:t>問１</a:t>
            </a:r>
            <a:endParaRPr lang="en-US" sz="1500" dirty="0"/>
          </a:p>
        </p:txBody>
      </p:sp>
      <p:sp>
        <p:nvSpPr>
          <p:cNvPr id="6" name="Text 4"/>
          <p:cNvSpPr txBox="1"/>
          <p:nvPr/>
        </p:nvSpPr>
        <p:spPr>
          <a:xfrm>
            <a:off x="1737360" y="1444752"/>
            <a:ext cx="6035040" cy="914400"/>
          </a:xfrm>
          <a:prstGeom prst="rect">
            <a:avLst/>
          </a:prstGeom>
          <a:noFill/>
          <a:ln/>
        </p:spPr>
        <p:txBody>
          <a:bodyPr wrap="square" lIns="0" tIns="0" rIns="0" bIns="0" rtlCol="0" anchor="ctr"/>
          <a:lstStyle/>
          <a:p>
            <a:pPr indent="0" marL="0">
              <a:buNone/>
            </a:pPr>
            <a:r>
              <a:rPr lang="en-US" sz="1700" dirty="0">
                <a:solidFill>
                  <a:schemeClr val="tx1"/>
                </a:solidFill>
              </a:rPr>
              <a:t>担当校で、子供が「自分で決めている」場面はどこにあるか。それは授業のどの部分か。</a:t>
            </a:r>
            <a:endParaRPr lang="en-US" sz="1700" dirty="0"/>
          </a:p>
        </p:txBody>
      </p:sp>
      <p:sp>
        <p:nvSpPr>
          <p:cNvPr id="7" name="Shape 5"/>
          <p:cNvSpPr/>
          <p:nvPr/>
        </p:nvSpPr>
        <p:spPr>
          <a:xfrm>
            <a:off x="548640" y="2606040"/>
            <a:ext cx="7406640" cy="1051560"/>
          </a:xfrm>
          <a:prstGeom prst="roundRect">
            <a:avLst>
              <a:gd name="adj" fmla="val 8696"/>
            </a:avLst>
          </a:prstGeom>
          <a:solidFill>
            <a:schemeClr val="bg2"/>
          </a:solidFill>
          <a:ln/>
        </p:spPr>
      </p:sp>
      <p:sp>
        <p:nvSpPr>
          <p:cNvPr id="8" name="Shape 6"/>
          <p:cNvSpPr/>
          <p:nvPr/>
        </p:nvSpPr>
        <p:spPr>
          <a:xfrm>
            <a:off x="777240" y="2761488"/>
            <a:ext cx="731520" cy="731520"/>
          </a:xfrm>
          <a:prstGeom prst="ellipse">
            <a:avLst/>
          </a:prstGeom>
          <a:solidFill>
            <a:schemeClr val="accent2"/>
          </a:solidFill>
          <a:ln/>
        </p:spPr>
      </p:sp>
      <p:sp>
        <p:nvSpPr>
          <p:cNvPr id="9" name="Text 7"/>
          <p:cNvSpPr txBox="1"/>
          <p:nvPr/>
        </p:nvSpPr>
        <p:spPr>
          <a:xfrm>
            <a:off x="777240" y="2761488"/>
            <a:ext cx="731520" cy="731520"/>
          </a:xfrm>
          <a:prstGeom prst="rect">
            <a:avLst/>
          </a:prstGeom>
          <a:noFill/>
          <a:ln/>
        </p:spPr>
        <p:txBody>
          <a:bodyPr wrap="square" lIns="0" tIns="0" rIns="0" bIns="0" rtlCol="0" anchor="ctr"/>
          <a:lstStyle/>
          <a:p>
            <a:pPr algn="ctr" indent="0" marL="0">
              <a:buNone/>
            </a:pPr>
            <a:r>
              <a:rPr lang="en-US" sz="1500" b="1" dirty="0">
                <a:solidFill>
                  <a:schemeClr val="bg1"/>
                </a:solidFill>
              </a:rPr>
              <a:t>問２</a:t>
            </a:r>
            <a:endParaRPr lang="en-US" sz="1500" dirty="0"/>
          </a:p>
        </p:txBody>
      </p:sp>
      <p:sp>
        <p:nvSpPr>
          <p:cNvPr id="10" name="Text 8"/>
          <p:cNvSpPr txBox="1"/>
          <p:nvPr/>
        </p:nvSpPr>
        <p:spPr>
          <a:xfrm>
            <a:off x="1737360" y="2679192"/>
            <a:ext cx="6035040" cy="914400"/>
          </a:xfrm>
          <a:prstGeom prst="rect">
            <a:avLst/>
          </a:prstGeom>
          <a:noFill/>
          <a:ln/>
        </p:spPr>
        <p:txBody>
          <a:bodyPr wrap="square" lIns="0" tIns="0" rIns="0" bIns="0" rtlCol="0" anchor="ctr"/>
          <a:lstStyle/>
          <a:p>
            <a:pPr indent="0" marL="0">
              <a:buNone/>
            </a:pPr>
            <a:r>
              <a:rPr lang="en-US" sz="1700" dirty="0">
                <a:solidFill>
                  <a:schemeClr val="tx1"/>
                </a:solidFill>
              </a:rPr>
              <a:t>学校から「自由進度学習に取り組みたい」と相談されたら、まず何を助言するか。</a:t>
            </a:r>
            <a:endParaRPr lang="en-US" sz="1700" dirty="0"/>
          </a:p>
        </p:txBody>
      </p:sp>
      <p:sp>
        <p:nvSpPr>
          <p:cNvPr id="11" name="Shape 9"/>
          <p:cNvSpPr/>
          <p:nvPr/>
        </p:nvSpPr>
        <p:spPr>
          <a:xfrm>
            <a:off x="548640" y="3840480"/>
            <a:ext cx="7406640" cy="1051560"/>
          </a:xfrm>
          <a:prstGeom prst="roundRect">
            <a:avLst>
              <a:gd name="adj" fmla="val 8696"/>
            </a:avLst>
          </a:prstGeom>
          <a:solidFill>
            <a:schemeClr val="bg2"/>
          </a:solidFill>
          <a:ln/>
        </p:spPr>
      </p:sp>
      <p:sp>
        <p:nvSpPr>
          <p:cNvPr id="12" name="Shape 10"/>
          <p:cNvSpPr/>
          <p:nvPr/>
        </p:nvSpPr>
        <p:spPr>
          <a:xfrm>
            <a:off x="777240" y="3995928"/>
            <a:ext cx="731520" cy="731520"/>
          </a:xfrm>
          <a:prstGeom prst="ellipse">
            <a:avLst/>
          </a:prstGeom>
          <a:solidFill>
            <a:schemeClr val="accent1"/>
          </a:solidFill>
          <a:ln/>
        </p:spPr>
      </p:sp>
      <p:sp>
        <p:nvSpPr>
          <p:cNvPr id="13" name="Text 11"/>
          <p:cNvSpPr txBox="1"/>
          <p:nvPr/>
        </p:nvSpPr>
        <p:spPr>
          <a:xfrm>
            <a:off x="777240" y="3995928"/>
            <a:ext cx="731520" cy="731520"/>
          </a:xfrm>
          <a:prstGeom prst="rect">
            <a:avLst/>
          </a:prstGeom>
          <a:noFill/>
          <a:ln/>
        </p:spPr>
        <p:txBody>
          <a:bodyPr wrap="square" lIns="0" tIns="0" rIns="0" bIns="0" rtlCol="0" anchor="ctr"/>
          <a:lstStyle/>
          <a:p>
            <a:pPr algn="ctr" indent="0" marL="0">
              <a:buNone/>
            </a:pPr>
            <a:r>
              <a:rPr lang="en-US" sz="1500" b="1" dirty="0">
                <a:solidFill>
                  <a:schemeClr val="bg1"/>
                </a:solidFill>
              </a:rPr>
              <a:t>問３</a:t>
            </a:r>
            <a:endParaRPr lang="en-US" sz="1500" dirty="0"/>
          </a:p>
        </p:txBody>
      </p:sp>
      <p:sp>
        <p:nvSpPr>
          <p:cNvPr id="14" name="Text 12"/>
          <p:cNvSpPr txBox="1"/>
          <p:nvPr/>
        </p:nvSpPr>
        <p:spPr>
          <a:xfrm>
            <a:off x="1737360" y="3913632"/>
            <a:ext cx="6035040" cy="914400"/>
          </a:xfrm>
          <a:prstGeom prst="rect">
            <a:avLst/>
          </a:prstGeom>
          <a:noFill/>
          <a:ln/>
        </p:spPr>
        <p:txBody>
          <a:bodyPr wrap="square" lIns="0" tIns="0" rIns="0" bIns="0" rtlCol="0" anchor="ctr"/>
          <a:lstStyle/>
          <a:p>
            <a:pPr indent="0" marL="0">
              <a:buNone/>
            </a:pPr>
            <a:r>
              <a:rPr lang="en-US" sz="1700" dirty="0">
                <a:solidFill>
                  <a:schemeClr val="tx1"/>
                </a:solidFill>
              </a:rPr>
              <a:t>調整授業時数制度や裁量的な時間について、学校には今から何を準備してもらうとよいか。</a:t>
            </a:r>
            <a:endParaRPr lang="en-US" sz="1700" dirty="0"/>
          </a:p>
        </p:txBody>
      </p:sp>
      <p:sp>
        <p:nvSpPr>
          <p:cNvPr id="15" name="Shape 13"/>
          <p:cNvSpPr/>
          <p:nvPr/>
        </p:nvSpPr>
        <p:spPr>
          <a:xfrm>
            <a:off x="8321040" y="1371600"/>
            <a:ext cx="3322015" cy="3520440"/>
          </a:xfrm>
          <a:prstGeom prst="roundRect">
            <a:avLst>
              <a:gd name="adj" fmla="val 2753"/>
            </a:avLst>
          </a:prstGeom>
          <a:solidFill>
            <a:schemeClr val="tx2"/>
          </a:solidFill>
          <a:ln/>
        </p:spPr>
      </p:sp>
      <p:sp>
        <p:nvSpPr>
          <p:cNvPr id="16" name="Text 14"/>
          <p:cNvSpPr txBox="1"/>
          <p:nvPr/>
        </p:nvSpPr>
        <p:spPr>
          <a:xfrm>
            <a:off x="8595360" y="1554480"/>
            <a:ext cx="2773375" cy="457200"/>
          </a:xfrm>
          <a:prstGeom prst="rect">
            <a:avLst/>
          </a:prstGeom>
          <a:noFill/>
          <a:ln/>
        </p:spPr>
        <p:txBody>
          <a:bodyPr wrap="square" lIns="0" tIns="0" rIns="0" bIns="0" rtlCol="0" anchor="ctr"/>
          <a:lstStyle/>
          <a:p>
            <a:pPr indent="0" marL="0">
              <a:buNone/>
            </a:pPr>
            <a:r>
              <a:rPr lang="en-US" sz="2000" b="1" dirty="0">
                <a:solidFill>
                  <a:schemeClr val="accent2"/>
                </a:solidFill>
              </a:rPr>
              <a:t>進め方</a:t>
            </a:r>
            <a:endParaRPr lang="en-US" sz="2000" dirty="0"/>
          </a:p>
        </p:txBody>
      </p:sp>
      <p:sp>
        <p:nvSpPr>
          <p:cNvPr id="17" name="Text 15"/>
          <p:cNvSpPr txBox="1"/>
          <p:nvPr/>
        </p:nvSpPr>
        <p:spPr>
          <a:xfrm>
            <a:off x="8595360" y="2194560"/>
            <a:ext cx="2773375" cy="731520"/>
          </a:xfrm>
          <a:prstGeom prst="rect">
            <a:avLst/>
          </a:prstGeom>
          <a:noFill/>
          <a:ln/>
        </p:spPr>
        <p:txBody>
          <a:bodyPr wrap="square" lIns="0" tIns="0" rIns="0" bIns="0" rtlCol="0" anchor="ctr"/>
          <a:lstStyle/>
          <a:p>
            <a:pPr indent="0" marL="0">
              <a:buNone/>
            </a:pPr>
            <a:r>
              <a:rPr lang="en-US" sz="1600" b="1" dirty="0">
                <a:solidFill>
                  <a:schemeClr val="bg1"/>
                </a:solidFill>
              </a:rPr>
              <a:t>個人で考える</a:t>
            </a:r>
            <a:endParaRPr lang="en-US" sz="1600" dirty="0"/>
          </a:p>
          <a:p>
            <a:pPr indent="0" marL="0">
              <a:buNone/>
            </a:pPr>
            <a:r>
              <a:rPr lang="en-US" sz="1600" dirty="0">
                <a:solidFill>
                  <a:schemeClr val="accent6"/>
                </a:solidFill>
              </a:rPr>
              <a:t>３分</a:t>
            </a:r>
            <a:endParaRPr lang="en-US" sz="1600" dirty="0"/>
          </a:p>
        </p:txBody>
      </p:sp>
      <p:sp>
        <p:nvSpPr>
          <p:cNvPr id="18" name="Text 16"/>
          <p:cNvSpPr txBox="1"/>
          <p:nvPr/>
        </p:nvSpPr>
        <p:spPr>
          <a:xfrm>
            <a:off x="8595360" y="3063240"/>
            <a:ext cx="2773375" cy="731520"/>
          </a:xfrm>
          <a:prstGeom prst="rect">
            <a:avLst/>
          </a:prstGeom>
          <a:noFill/>
          <a:ln/>
        </p:spPr>
        <p:txBody>
          <a:bodyPr wrap="square" lIns="0" tIns="0" rIns="0" bIns="0" rtlCol="0" anchor="ctr"/>
          <a:lstStyle/>
          <a:p>
            <a:pPr indent="0" marL="0">
              <a:buNone/>
            </a:pPr>
            <a:r>
              <a:rPr lang="en-US" sz="1600" b="1" dirty="0">
                <a:solidFill>
                  <a:schemeClr val="bg1"/>
                </a:solidFill>
              </a:rPr>
              <a:t>グループで共有</a:t>
            </a:r>
            <a:endParaRPr lang="en-US" sz="1600" dirty="0"/>
          </a:p>
          <a:p>
            <a:pPr indent="0" marL="0">
              <a:buNone/>
            </a:pPr>
            <a:r>
              <a:rPr lang="en-US" sz="1600" dirty="0">
                <a:solidFill>
                  <a:schemeClr val="accent6"/>
                </a:solidFill>
              </a:rPr>
              <a:t>10分</a:t>
            </a:r>
            <a:endParaRPr lang="en-US" sz="1600" dirty="0"/>
          </a:p>
        </p:txBody>
      </p:sp>
      <p:sp>
        <p:nvSpPr>
          <p:cNvPr id="19" name="Text 17"/>
          <p:cNvSpPr txBox="1"/>
          <p:nvPr/>
        </p:nvSpPr>
        <p:spPr>
          <a:xfrm>
            <a:off x="8595360" y="3931920"/>
            <a:ext cx="2773375" cy="731520"/>
          </a:xfrm>
          <a:prstGeom prst="rect">
            <a:avLst/>
          </a:prstGeom>
          <a:noFill/>
          <a:ln/>
        </p:spPr>
        <p:txBody>
          <a:bodyPr wrap="square" lIns="0" tIns="0" rIns="0" bIns="0" rtlCol="0" anchor="ctr"/>
          <a:lstStyle/>
          <a:p>
            <a:pPr indent="0" marL="0">
              <a:buNone/>
            </a:pPr>
            <a:r>
              <a:rPr lang="en-US" sz="1600" b="1" dirty="0">
                <a:solidFill>
                  <a:schemeClr val="bg1"/>
                </a:solidFill>
              </a:rPr>
              <a:t>全体で共有</a:t>
            </a:r>
            <a:endParaRPr lang="en-US" sz="1600" dirty="0"/>
          </a:p>
          <a:p>
            <a:pPr indent="0" marL="0">
              <a:buNone/>
            </a:pPr>
            <a:r>
              <a:rPr lang="en-US" sz="1600" dirty="0">
                <a:solidFill>
                  <a:schemeClr val="accent6"/>
                </a:solidFill>
              </a:rPr>
              <a:t>２分</a:t>
            </a:r>
            <a:endParaRPr lang="en-US" sz="1600" dirty="0"/>
          </a:p>
        </p:txBody>
      </p:sp>
      <p:sp>
        <p:nvSpPr>
          <p:cNvPr id="20" name="Text 18"/>
          <p:cNvSpPr txBox="1"/>
          <p:nvPr/>
        </p:nvSpPr>
        <p:spPr>
          <a:xfrm>
            <a:off x="548640" y="5166360"/>
            <a:ext cx="11094415" cy="457200"/>
          </a:xfrm>
          <a:prstGeom prst="rect">
            <a:avLst/>
          </a:prstGeom>
          <a:noFill/>
          <a:ln/>
        </p:spPr>
        <p:txBody>
          <a:bodyPr wrap="square" lIns="0" tIns="0" rIns="0" bIns="0" rtlCol="0" anchor="ctr"/>
          <a:lstStyle/>
          <a:p>
            <a:pPr indent="0" marL="0">
              <a:buNone/>
            </a:pPr>
            <a:r>
              <a:rPr lang="en-US" sz="1500" dirty="0">
                <a:solidFill>
                  <a:schemeClr val="accent5"/>
                </a:solidFill>
              </a:rPr>
              <a:t>問いは１つ選んでもよい。前の対応表を手がかりに。</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548640"/>
            <a:ext cx="5486400" cy="731520"/>
          </a:xfrm>
          <a:prstGeom prst="rect">
            <a:avLst/>
          </a:prstGeom>
          <a:noFill/>
          <a:ln/>
        </p:spPr>
        <p:txBody>
          <a:bodyPr wrap="square" lIns="0" tIns="0" rIns="0" bIns="0" rtlCol="0" anchor="ctr"/>
          <a:lstStyle/>
          <a:p>
            <a:pPr indent="0" marL="0">
              <a:buNone/>
            </a:pPr>
            <a:r>
              <a:rPr lang="en-US" sz="3600" b="1" dirty="0">
                <a:solidFill>
                  <a:schemeClr val="bg1"/>
                </a:solidFill>
                <a:latin typeface="Meiryo UI" pitchFamily="34" charset="0"/>
                <a:ea typeface="Meiryo UI" pitchFamily="34" charset="-122"/>
                <a:cs typeface="Meiryo UI" pitchFamily="34" charset="-120"/>
              </a:rPr>
              <a:t>まとめ</a:t>
            </a:r>
            <a:endParaRPr lang="en-US" sz="3600" dirty="0"/>
          </a:p>
        </p:txBody>
      </p:sp>
      <p:sp>
        <p:nvSpPr>
          <p:cNvPr id="3" name="Shape 1"/>
          <p:cNvSpPr/>
          <p:nvPr/>
        </p:nvSpPr>
        <p:spPr>
          <a:xfrm>
            <a:off x="548640" y="1645920"/>
            <a:ext cx="685800" cy="685800"/>
          </a:xfrm>
          <a:prstGeom prst="ellipse">
            <a:avLst/>
          </a:prstGeom>
          <a:solidFill>
            <a:schemeClr val="accent2"/>
          </a:solidFill>
          <a:ln/>
        </p:spPr>
      </p:sp>
      <p:sp>
        <p:nvSpPr>
          <p:cNvPr id="4" name="Text 2"/>
          <p:cNvSpPr txBox="1"/>
          <p:nvPr/>
        </p:nvSpPr>
        <p:spPr>
          <a:xfrm>
            <a:off x="548640" y="1645920"/>
            <a:ext cx="685800" cy="685800"/>
          </a:xfrm>
          <a:prstGeom prst="rect">
            <a:avLst/>
          </a:prstGeom>
          <a:noFill/>
          <a:ln/>
        </p:spPr>
        <p:txBody>
          <a:bodyPr wrap="square" lIns="0" tIns="0" rIns="0" bIns="0" rtlCol="0" anchor="ctr"/>
          <a:lstStyle/>
          <a:p>
            <a:pPr algn="ctr" indent="0" marL="0">
              <a:buNone/>
            </a:pPr>
            <a:r>
              <a:rPr lang="en-US" sz="2200" b="1" dirty="0">
                <a:solidFill>
                  <a:schemeClr val="tx2"/>
                </a:solidFill>
              </a:rPr>
              <a:t>1</a:t>
            </a:r>
            <a:endParaRPr lang="en-US" sz="2200" dirty="0"/>
          </a:p>
        </p:txBody>
      </p:sp>
      <p:sp>
        <p:nvSpPr>
          <p:cNvPr id="5" name="Text 3"/>
          <p:cNvSpPr txBox="1"/>
          <p:nvPr/>
        </p:nvSpPr>
        <p:spPr>
          <a:xfrm>
            <a:off x="1508760" y="1554480"/>
            <a:ext cx="10058400" cy="1005840"/>
          </a:xfrm>
          <a:prstGeom prst="rect">
            <a:avLst/>
          </a:prstGeom>
          <a:noFill/>
          <a:ln/>
        </p:spPr>
        <p:txBody>
          <a:bodyPr wrap="square" lIns="0" tIns="0" rIns="0" bIns="0" rtlCol="0" anchor="ctr"/>
          <a:lstStyle/>
          <a:p>
            <a:pPr indent="0" marL="0">
              <a:buNone/>
            </a:pPr>
            <a:r>
              <a:rPr lang="en-US" sz="1600" b="1" dirty="0">
                <a:solidFill>
                  <a:schemeClr val="accent2"/>
                </a:solidFill>
              </a:rPr>
              <a:t>方向性</a:t>
            </a:r>
            <a:endParaRPr lang="en-US" sz="1600" dirty="0"/>
          </a:p>
          <a:p>
            <a:pPr indent="0" marL="0">
              <a:buNone/>
            </a:pPr>
            <a:r>
              <a:rPr lang="en-US" sz="1800" dirty="0">
                <a:solidFill>
                  <a:schemeClr val="bg1"/>
                </a:solidFill>
              </a:rPr>
              <a:t>次期学習指導要領は、子供が自分で学びを進める授業の日常化を目指している</a:t>
            </a:r>
            <a:endParaRPr lang="en-US" sz="1600" dirty="0"/>
          </a:p>
        </p:txBody>
      </p:sp>
      <p:sp>
        <p:nvSpPr>
          <p:cNvPr id="6" name="Shape 4"/>
          <p:cNvSpPr/>
          <p:nvPr/>
        </p:nvSpPr>
        <p:spPr>
          <a:xfrm>
            <a:off x="548640" y="2834640"/>
            <a:ext cx="685800" cy="685800"/>
          </a:xfrm>
          <a:prstGeom prst="ellipse">
            <a:avLst/>
          </a:prstGeom>
          <a:solidFill>
            <a:schemeClr val="accent2"/>
          </a:solidFill>
          <a:ln/>
        </p:spPr>
      </p:sp>
      <p:sp>
        <p:nvSpPr>
          <p:cNvPr id="7" name="Text 5"/>
          <p:cNvSpPr txBox="1"/>
          <p:nvPr/>
        </p:nvSpPr>
        <p:spPr>
          <a:xfrm>
            <a:off x="548640" y="2834640"/>
            <a:ext cx="685800" cy="685800"/>
          </a:xfrm>
          <a:prstGeom prst="rect">
            <a:avLst/>
          </a:prstGeom>
          <a:noFill/>
          <a:ln/>
        </p:spPr>
        <p:txBody>
          <a:bodyPr wrap="square" lIns="0" tIns="0" rIns="0" bIns="0" rtlCol="0" anchor="ctr"/>
          <a:lstStyle/>
          <a:p>
            <a:pPr algn="ctr" indent="0" marL="0">
              <a:buNone/>
            </a:pPr>
            <a:r>
              <a:rPr lang="en-US" sz="2200" b="1" dirty="0">
                <a:solidFill>
                  <a:schemeClr val="tx2"/>
                </a:solidFill>
              </a:rPr>
              <a:t>2</a:t>
            </a:r>
            <a:endParaRPr lang="en-US" sz="2200" dirty="0"/>
          </a:p>
        </p:txBody>
      </p:sp>
      <p:sp>
        <p:nvSpPr>
          <p:cNvPr id="8" name="Text 6"/>
          <p:cNvSpPr txBox="1"/>
          <p:nvPr/>
        </p:nvSpPr>
        <p:spPr>
          <a:xfrm>
            <a:off x="1508760" y="2743200"/>
            <a:ext cx="10058400" cy="1005840"/>
          </a:xfrm>
          <a:prstGeom prst="rect">
            <a:avLst/>
          </a:prstGeom>
          <a:noFill/>
          <a:ln/>
        </p:spPr>
        <p:txBody>
          <a:bodyPr wrap="square" lIns="0" tIns="0" rIns="0" bIns="0" rtlCol="0" anchor="ctr"/>
          <a:lstStyle/>
          <a:p>
            <a:pPr indent="0" marL="0">
              <a:buNone/>
            </a:pPr>
            <a:r>
              <a:rPr lang="en-US" sz="1600" b="1" dirty="0">
                <a:solidFill>
                  <a:schemeClr val="accent2"/>
                </a:solidFill>
              </a:rPr>
              <a:t>天童中部小</a:t>
            </a:r>
            <a:endParaRPr lang="en-US" sz="1600" dirty="0"/>
          </a:p>
          <a:p>
            <a:pPr indent="0" marL="0">
              <a:buNone/>
            </a:pPr>
            <a:r>
              <a:rPr lang="en-US" sz="1800" dirty="0">
                <a:solidFill>
                  <a:schemeClr val="bg1"/>
                </a:solidFill>
              </a:rPr>
              <a:t>学習形態を段階的に組み合わせ、子供に任せる範囲を少しずつ広げている</a:t>
            </a:r>
            <a:endParaRPr lang="en-US" sz="1600" dirty="0"/>
          </a:p>
        </p:txBody>
      </p:sp>
      <p:sp>
        <p:nvSpPr>
          <p:cNvPr id="9" name="Shape 7"/>
          <p:cNvSpPr/>
          <p:nvPr/>
        </p:nvSpPr>
        <p:spPr>
          <a:xfrm>
            <a:off x="548640" y="4023360"/>
            <a:ext cx="685800" cy="685800"/>
          </a:xfrm>
          <a:prstGeom prst="ellipse">
            <a:avLst/>
          </a:prstGeom>
          <a:solidFill>
            <a:schemeClr val="accent2"/>
          </a:solidFill>
          <a:ln/>
        </p:spPr>
      </p:sp>
      <p:sp>
        <p:nvSpPr>
          <p:cNvPr id="10" name="Text 8"/>
          <p:cNvSpPr txBox="1"/>
          <p:nvPr/>
        </p:nvSpPr>
        <p:spPr>
          <a:xfrm>
            <a:off x="548640" y="4023360"/>
            <a:ext cx="685800" cy="685800"/>
          </a:xfrm>
          <a:prstGeom prst="rect">
            <a:avLst/>
          </a:prstGeom>
          <a:noFill/>
          <a:ln/>
        </p:spPr>
        <p:txBody>
          <a:bodyPr wrap="square" lIns="0" tIns="0" rIns="0" bIns="0" rtlCol="0" anchor="ctr"/>
          <a:lstStyle/>
          <a:p>
            <a:pPr algn="ctr" indent="0" marL="0">
              <a:buNone/>
            </a:pPr>
            <a:r>
              <a:rPr lang="en-US" sz="2200" b="1" dirty="0">
                <a:solidFill>
                  <a:schemeClr val="tx2"/>
                </a:solidFill>
              </a:rPr>
              <a:t>3</a:t>
            </a:r>
            <a:endParaRPr lang="en-US" sz="2200" dirty="0"/>
          </a:p>
        </p:txBody>
      </p:sp>
      <p:sp>
        <p:nvSpPr>
          <p:cNvPr id="11" name="Text 9"/>
          <p:cNvSpPr txBox="1"/>
          <p:nvPr/>
        </p:nvSpPr>
        <p:spPr>
          <a:xfrm>
            <a:off x="1508760" y="3931920"/>
            <a:ext cx="10058400" cy="1005840"/>
          </a:xfrm>
          <a:prstGeom prst="rect">
            <a:avLst/>
          </a:prstGeom>
          <a:noFill/>
          <a:ln/>
        </p:spPr>
        <p:txBody>
          <a:bodyPr wrap="square" lIns="0" tIns="0" rIns="0" bIns="0" rtlCol="0" anchor="ctr"/>
          <a:lstStyle/>
          <a:p>
            <a:pPr indent="0" marL="0">
              <a:buNone/>
            </a:pPr>
            <a:r>
              <a:rPr lang="en-US" sz="1600" b="1" dirty="0">
                <a:solidFill>
                  <a:schemeClr val="accent2"/>
                </a:solidFill>
              </a:rPr>
              <a:t>指導主事</a:t>
            </a:r>
            <a:endParaRPr lang="en-US" sz="1600" dirty="0"/>
          </a:p>
          <a:p>
            <a:pPr indent="0" marL="0">
              <a:buNone/>
            </a:pPr>
            <a:r>
              <a:rPr lang="en-US" sz="1800" dirty="0">
                <a:solidFill>
                  <a:schemeClr val="bg1"/>
                </a:solidFill>
              </a:rPr>
              <a:t>制度を説明するだけでなく、学校とともにカリキュラムをデザインする伴走者になる</a:t>
            </a:r>
            <a:endParaRPr lang="en-US" sz="1600" dirty="0"/>
          </a:p>
        </p:txBody>
      </p:sp>
      <p:sp>
        <p:nvSpPr>
          <p:cNvPr id="12" name="Shape 10"/>
          <p:cNvSpPr/>
          <p:nvPr/>
        </p:nvSpPr>
        <p:spPr>
          <a:xfrm>
            <a:off x="548640" y="5257800"/>
            <a:ext cx="11094415" cy="914400"/>
          </a:xfrm>
          <a:prstGeom prst="roundRect">
            <a:avLst>
              <a:gd name="adj" fmla="val 10000"/>
            </a:avLst>
          </a:prstGeom>
          <a:solidFill>
            <a:schemeClr val="accent1"/>
          </a:solidFill>
          <a:ln/>
        </p:spPr>
      </p:sp>
      <p:sp>
        <p:nvSpPr>
          <p:cNvPr id="13" name="Text 11"/>
          <p:cNvSpPr txBox="1"/>
          <p:nvPr/>
        </p:nvSpPr>
        <p:spPr>
          <a:xfrm>
            <a:off x="868680" y="5303520"/>
            <a:ext cx="10454335" cy="822960"/>
          </a:xfrm>
          <a:prstGeom prst="rect">
            <a:avLst/>
          </a:prstGeom>
          <a:noFill/>
          <a:ln/>
        </p:spPr>
        <p:txBody>
          <a:bodyPr wrap="square" lIns="0" tIns="0" rIns="0" bIns="0" rtlCol="0" anchor="ctr"/>
          <a:lstStyle/>
          <a:p>
            <a:pPr indent="0" marL="0">
              <a:buNone/>
            </a:pPr>
            <a:r>
              <a:rPr lang="en-US" sz="1600" b="1" dirty="0">
                <a:solidFill>
                  <a:schemeClr val="accent2"/>
                </a:solidFill>
              </a:rPr>
              <a:t>次の一歩　</a:t>
            </a:r>
            <a:pPr indent="0" marL="0">
              <a:buNone/>
            </a:pPr>
            <a:r>
              <a:rPr lang="en-US" sz="1600" dirty="0">
                <a:solidFill>
                  <a:schemeClr val="bg1"/>
                </a:solidFill>
              </a:rPr>
              <a:t>審議まとめ本文を読む（意見公募は11月５日まで）／次の学校訪問で「子供がどう学んだか」を見る</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参考資料</a:t>
            </a:r>
            <a:endParaRPr lang="en-US" sz="3200" dirty="0"/>
          </a:p>
        </p:txBody>
      </p:sp>
      <p:sp>
        <p:nvSpPr>
          <p:cNvPr id="3" name="Shape 1"/>
          <p:cNvSpPr/>
          <p:nvPr/>
        </p:nvSpPr>
        <p:spPr>
          <a:xfrm>
            <a:off x="548640" y="1463040"/>
            <a:ext cx="731520" cy="731520"/>
          </a:xfrm>
          <a:prstGeom prst="ellipse">
            <a:avLst/>
          </a:prstGeom>
          <a:solidFill>
            <a:schemeClr val="accent1"/>
          </a:solidFill>
          <a:ln/>
        </p:spPr>
      </p:sp>
      <p:pic>
        <p:nvPicPr>
          <p:cNvPr id="4" name="Image 0" descr="preencoded.png">    </p:cNvPr>
          <p:cNvPicPr>
            <a:picLocks noChangeAspect="1"/>
          </p:cNvPicPr>
          <p:nvPr/>
        </p:nvPicPr>
        <p:blipFill>
          <a:blip r:embed="rId1"/>
          <a:stretch>
            <a:fillRect/>
          </a:stretch>
        </p:blipFill>
        <p:spPr>
          <a:xfrm>
            <a:off x="731520" y="1645920"/>
            <a:ext cx="365760" cy="365760"/>
          </a:xfrm>
          <a:prstGeom prst="rect">
            <a:avLst/>
          </a:prstGeom>
        </p:spPr>
      </p:pic>
      <p:sp>
        <p:nvSpPr>
          <p:cNvPr id="5" name="Text 2"/>
          <p:cNvSpPr txBox="1"/>
          <p:nvPr/>
        </p:nvSpPr>
        <p:spPr>
          <a:xfrm>
            <a:off x="1554480" y="1417320"/>
            <a:ext cx="10088575" cy="32918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中央教育審議会 初等中等教育分科会 教育課程部会「次期学習指導要領等に向けた審議まとめ」（令和８年10月５日）</a:t>
            </a:r>
            <a:endParaRPr lang="en-US" sz="1600" dirty="0"/>
          </a:p>
          <a:p>
            <a:pPr marL="342900" indent="-342900">
              <a:spcAft>
                <a:spcPts val="1000"/>
              </a:spcAft>
              <a:buSzPct val="100000"/>
              <a:buChar char="•"/>
            </a:pPr>
            <a:r>
              <a:rPr lang="en-US" sz="1600" dirty="0">
                <a:solidFill>
                  <a:schemeClr val="tx1"/>
                </a:solidFill>
              </a:rPr>
              <a:t>中央教育審議会 教育課程企画特別部会「論点整理」（令和７年９月）</a:t>
            </a:r>
            <a:endParaRPr lang="en-US" sz="1600" dirty="0"/>
          </a:p>
          <a:p>
            <a:pPr marL="342900" indent="-342900">
              <a:spcAft>
                <a:spcPts val="1000"/>
              </a:spcAft>
              <a:buSzPct val="100000"/>
              <a:buChar char="•"/>
            </a:pPr>
            <a:r>
              <a:rPr lang="en-US" sz="1600" dirty="0">
                <a:solidFill>
                  <a:schemeClr val="tx1"/>
                </a:solidFill>
              </a:rPr>
              <a:t>天童市立天童中部小学校 公開研究会 当日資料・学習指導案（令和８年10月14日）</a:t>
            </a:r>
            <a:endParaRPr lang="en-US" sz="1600" dirty="0"/>
          </a:p>
          <a:p>
            <a:pPr marL="342900" indent="-342900">
              <a:spcAft>
                <a:spcPts val="1000"/>
              </a:spcAft>
              <a:buSzPct val="100000"/>
              <a:buChar char="•"/>
            </a:pPr>
            <a:r>
              <a:rPr lang="en-US" sz="1600" dirty="0">
                <a:solidFill>
                  <a:schemeClr val="tx1"/>
                </a:solidFill>
              </a:rPr>
              <a:t>奈須正裕「次期学習指導要領が目指す学力論とカリキュラム開発」講演資料（同上）</a:t>
            </a:r>
            <a:endParaRPr lang="en-US" sz="1600" dirty="0"/>
          </a:p>
          <a:p>
            <a:pPr marL="342900" indent="-342900">
              <a:spcAft>
                <a:spcPts val="1000"/>
              </a:spcAft>
              <a:buSzPct val="100000"/>
              <a:buChar char="•"/>
            </a:pPr>
            <a:r>
              <a:rPr lang="en-US" sz="1600" dirty="0">
                <a:solidFill>
                  <a:schemeClr val="tx1"/>
                </a:solidFill>
              </a:rPr>
              <a:t>公開研究会 議事録・講演鼎談逐語録・質疑応答逐語録（報告者作成）</a:t>
            </a:r>
            <a:endParaRPr lang="en-US" sz="1600" dirty="0"/>
          </a:p>
        </p:txBody>
      </p:sp>
      <p:sp>
        <p:nvSpPr>
          <p:cNvPr id="6" name="Text 3"/>
          <p:cNvSpPr txBox="1"/>
          <p:nvPr/>
        </p:nvSpPr>
        <p:spPr>
          <a:xfrm>
            <a:off x="1554480" y="5029200"/>
            <a:ext cx="10088575" cy="548640"/>
          </a:xfrm>
          <a:prstGeom prst="rect">
            <a:avLst/>
          </a:prstGeom>
          <a:noFill/>
          <a:ln/>
        </p:spPr>
        <p:txBody>
          <a:bodyPr wrap="square" lIns="0" tIns="0" rIns="0" bIns="0" rtlCol="0" anchor="ctr"/>
          <a:lstStyle/>
          <a:p>
            <a:pPr indent="0" marL="0">
              <a:buNone/>
            </a:pPr>
            <a:r>
              <a:rPr lang="en-US" sz="1400" dirty="0">
                <a:solidFill>
                  <a:schemeClr val="accent5"/>
                </a:solidFill>
              </a:rPr>
              <a:t>審議まとめ・答申は、文部科学省ウェブサイト（中央教育審議会 教育課程部会）で最新版を確認してください。</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Tendo Study">
  <a:themeElements>
    <a:clrScheme name="Tendo Study">
      <a:dk1>
        <a:srgbClr val="1F2A2E"/>
      </a:dk1>
      <a:lt1>
        <a:srgbClr val="FFFFFF"/>
      </a:lt1>
      <a:dk2>
        <a:srgbClr val="1E4D4A"/>
      </a:dk2>
      <a:lt2>
        <a:srgbClr val="EEF4F2"/>
      </a:lt2>
      <a:accent1>
        <a:srgbClr val="2E6B66"/>
      </a:accent1>
      <a:accent2>
        <a:srgbClr val="D9922E"/>
      </a:accent2>
      <a:accent3>
        <a:srgbClr val="8FB8AE"/>
      </a:accent3>
      <a:accent4>
        <a:srgbClr val="B5523B"/>
      </a:accent4>
      <a:accent5>
        <a:srgbClr val="5E7C8A"/>
      </a:accent5>
      <a:accent6>
        <a:srgbClr val="C9D9D4"/>
      </a:accent6>
      <a:hlink>
        <a:srgbClr val="2E6B66"/>
      </a:hlink>
      <a:folHlink>
        <a:srgbClr val="5E7C8A"/>
      </a:folHlink>
    </a:clrScheme>
    <a:fontScheme name="Tendo Study">
      <a:majorFont>
        <a:latin typeface="Meiryo UI"/>
        <a:ea typeface="Meiryo UI"/>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UI"/>
        <a:ea typeface="Meiryo UI"/>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天童中部小学校の実践から考える次期学習指導要領の方向性</dc:title>
  <dc:subject>指導主事研修 視察報告</dc:subject>
  <dc:creator>練馬区教育委員会</dc:creator>
  <cp:lastModifiedBy>練馬区教育委員会</cp:lastModifiedBy>
  <cp:revision>1</cp:revision>
  <dcterms:created xsi:type="dcterms:W3CDTF">2026-10-15T11:13:02Z</dcterms:created>
  <dcterms:modified xsi:type="dcterms:W3CDTF">2026-10-15T11:13:02Z</dcterms:modified>
</cp:coreProperties>
</file>