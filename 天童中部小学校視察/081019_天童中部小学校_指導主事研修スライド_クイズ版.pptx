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73" r:id="rId24"/>
    <p:sldId id="275" r:id="rId26"/>
    <p:sldId id="257" r:id="rId3"/>
    <p:sldId id="258" r:id="rId4"/>
    <p:sldId id="259" r:id="rId5"/>
    <p:sldId id="276" r:id="rId27"/>
    <p:sldId id="260" r:id="rId6"/>
    <p:sldId id="274" r:id="rId25"/>
    <p:sldId id="263" r:id="rId7"/>
    <p:sldId id="264" r:id="rId8"/>
    <p:sldId id="277" r:id="rId28"/>
    <p:sldId id="261" r:id="rId9"/>
    <p:sldId id="262" r:id="rId10"/>
    <p:sldId id="265" r:id="rId11"/>
    <p:sldId id="281" r:id="rId32"/>
    <p:sldId id="266" r:id="rId12"/>
    <p:sldId id="267" r:id="rId13"/>
    <p:sldId id="279" r:id="rId30"/>
    <p:sldId id="278" r:id="rId29"/>
    <p:sldId id="268" r:id="rId14"/>
    <p:sldId id="269" r:id="rId15"/>
    <p:sldId id="280" r:id="rId31"/>
    <p:sldId id="270" r:id="rId16"/>
    <p:sldId id="271" r:id="rId17"/>
    <p:sldId id="282" r:id="rId33"/>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9B63FA11-AB55-80BA-ADB2-B7D8CD28AD1F}">
          <p14:sldIdLst>
            <p14:sldId id="256"/>
            <p14:sldId id="257"/>
          </p14:sldIdLst>
        </p14:section>
        <p14:section name="天童中部小学校の取組" id="{0F383EC2-81EA-4A63-B703-C3383D425AA0}">
          <p14:sldIdLst>
            <p14:sldId id="258"/>
            <p14:sldId id="259"/>
            <p14:sldId id="260"/>
            <p14:sldId id="263"/>
            <p14:sldId id="264"/>
            <p14:sldId id="261"/>
            <p14:sldId id="262"/>
          </p14:sldIdLst>
        </p14:section>
        <p14:section name="講演・鼎談から" id="{CE439190-63FF-3AFE-DB51-E742A3D2D192}">
          <p14:sldIdLst>
            <p14:sldId id="265"/>
            <p14:sldId id="266"/>
          </p14:sldIdLst>
        </p14:section>
        <p14:section name="次期学習指導要領の方向性" id="{F0ABA8AD-25AA-DA44-14F4-717AC17DABFA}">
          <p14:sldIdLst>
            <p14:sldId id="267"/>
            <p14:sldId id="268"/>
            <p14:sldId id="269"/>
          </p14:sldIdLst>
        </p14:section>
        <p14:section name="指導主事として" id="{407ADAF8-EEA4-327D-4884-BBC05BA35827}">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0" d="100"/>
          <a:sy n="110"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6.xml"/><Relationship Id="rId6" Type="http://schemas.openxmlformats.org/officeDocument/2006/relationships/slide" Target="slides/slide8.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4.xml"/><Relationship Id="rId11" Type="http://schemas.openxmlformats.org/officeDocument/2006/relationships/slide" Target="slides/slide15.xml"/><Relationship Id="rId12" Type="http://schemas.openxmlformats.org/officeDocument/2006/relationships/slide" Target="slides/slide17.xml"/><Relationship Id="rId13" Type="http://schemas.openxmlformats.org/officeDocument/2006/relationships/slide" Target="slides/slide18.xml"/><Relationship Id="rId14" Type="http://schemas.openxmlformats.org/officeDocument/2006/relationships/slide" Target="slides/slide21.xml"/><Relationship Id="rId15" Type="http://schemas.openxmlformats.org/officeDocument/2006/relationships/slide" Target="slides/slide22.xml"/><Relationship Id="rId16" Type="http://schemas.openxmlformats.org/officeDocument/2006/relationships/slide" Target="slides/slide24.xml"/><Relationship Id="rId17" Type="http://schemas.openxmlformats.org/officeDocument/2006/relationships/slide" Target="slides/slide25.xml"/><Relationship Id="rId18" Type="http://schemas.openxmlformats.org/officeDocument/2006/relationships/slide" Target="slides/slide2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2.xml"/><Relationship Id="rId25" Type="http://schemas.openxmlformats.org/officeDocument/2006/relationships/slide" Target="slides/slide9.xml"/><Relationship Id="rId26" Type="http://schemas.openxmlformats.org/officeDocument/2006/relationships/slide" Target="slides/slide3.xml"/><Relationship Id="rId27" Type="http://schemas.openxmlformats.org/officeDocument/2006/relationships/slide" Target="slides/slide7.xml"/><Relationship Id="rId28" Type="http://schemas.openxmlformats.org/officeDocument/2006/relationships/slide" Target="slides/slide12.xml"/><Relationship Id="rId29" Type="http://schemas.openxmlformats.org/officeDocument/2006/relationships/slide" Target="slides/slide20.xml"/><Relationship Id="rId30" Type="http://schemas.openxmlformats.org/officeDocument/2006/relationships/slide" Target="slides/slide19.xml"/><Relationship Id="rId31" Type="http://schemas.openxmlformats.org/officeDocument/2006/relationships/slide" Target="slides/slide23.xml"/><Relationship Id="rId32" Type="http://schemas.openxmlformats.org/officeDocument/2006/relationships/slide" Target="slides/slide16.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673051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（20秒）</a:t>
            </a:r>
          </a:p>
          <a:p>
            <a:r>
              <a:t>指導課の紺多です。10月14日に参加した、山形県天童市立天童中部小学校の教育研究発表会について報告します。同校の実践と次期学習指導要領の方向性を、重ねてお伝えします。〔クリック〕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本日のねらいです。天童中部小学校の取組から、子供の学びを中心に据える授業の見方を考え、次期学習指導要領の方向性を共有します。〔クリック〕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期日・内容はご覧のとおりです。同校は「自分で学びをつくる」「自分でくらしをつくる」を掲げています。〔クリック〕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最も印象的だったのは、学習方法よりも、その根底にある子供観です。「すべての子供は有能である」。子供を「指示を待つ存在」ではなく、「自ら学びを創る存在」と捉えています。</a:t>
            </a:r>
          </a:p>
          <a:p>
            <a:r>
              <a:t>だから子供は、学習の内容、方法、場所、発表方法を自分で選び、計画も自分で直します。教師は統制せず、環境を整えて支える「伴走者」でした。〔クリック〕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（45秒）</a:t>
            </a:r>
          </a:p>
          <a:p>
            <a:r>
              <a:t>同校の学びの全体像です。FSP、MP学習、自学・自習、仲間と教師で創る授業。左ほど子供が、右ほど教師が計画します。個別最適な学びと協働的な学びを、一つの授業ではなくカリキュラム全体で実現する。奈須先生はこれを「カラフルなカリキュラム」と呼んで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FSPは、一人一人が興味のあるテーマを探究する個人の総合です。野球、犬、ネイル、ピアノなど。計画・振り返りカードに記録し、教師はコメントで伴走します。発表の方法も子供が選びます。〔クリック〕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（15秒）</a:t>
            </a:r>
          </a:p>
          <a:p>
            <a:r>
              <a:t>廊下や壁面も学びの場です。子供は「どこで、何を使って学ぶか」を選んでいます。〔クリック〕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MP学習は、単に進度を自由にする学習ではありません。学習のゴールに向かって自分で計画し、調整しながら学ぶ学習です。</a:t>
            </a:r>
          </a:p>
          <a:p>
            <a:r>
              <a:t>目指すのは、計画どおりに進める「自己管理」ではなく、計画を直しながら学ぶ「自己調整」。しかも、国語・算数・理科・社会などの単元計画に位置付けられ、学校全体の仕組みとして動いてい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（30秒）</a:t>
            </a:r>
          </a:p>
          <a:p>
            <a:r>
              <a:t>実験する子、教科書で調べる子、仲間と話す子。振り返りの掲示には「計画を修正した」「次に調べたいことが見つかった」。学習の過程そのものを価値付ける文化がありました。〔クリック〕</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（50秒）</a:t>
            </a:r>
          </a:p>
          <a:p>
            <a:r>
              <a:t>奈須先生は、個性を2つの「好き」「得意」で捉えていました。学ぶ領域の「得意」を育てるのが個人総合、つまりFSP。学び方の「得意」を育てるのが単元内自由進度学習、つまりMP学習です。どちらも、やってみないと分からないし、できるようにならない。〔クリック〕</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（20秒）</a:t>
            </a:r>
          </a:p>
          <a:p>
            <a:r>
              <a:t>鼎談で繰り返されたのが、「MP学習やFSPが目的ではない」。手法をまねても、同じことにはならないということです。〔クリック〕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10月5日に中教審の「審議まとめ」が公表され、11月5日まで意見公募中です。今冬に答申、小・中学校は今年度内の告示が見込まれています。全面実施の年度は、答申・告示で確定します。根拠の本文は、配布資料のQRコードから開け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（30秒）</a:t>
            </a:r>
          </a:p>
          <a:p>
            <a:r>
              <a:t>審議まとめは3つの方向性を示しています。「主体的・対話的で深い学び」の実装、多様性の包摂、実現可能性の確保です。</a:t>
            </a:r>
          </a:p>
          <a:p>
            <a:r>
              <a:t>天童中部小の実践は、この3つを先取りした姿として見ることができます。〔クリック〕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（40秒）</a:t>
            </a:r>
          </a:p>
          <a:p>
            <a:r>
              <a:t>主な改善の方向を、同校の実践と結び付けました。特にオレンジの2つ、調整授業時数制度と裁量的な時間は、学校のカリキュラムに直結します。詳しくは最後に補足します。〔クリック〕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指導主事としては、4つです。手法より子供観から対話する。「子供がどう学んだか」を見る。教師を「伴走する人」へ後押しする。単発で終わらせず、教育課程に位置付ける。〔クリック〕</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（40秒）</a:t>
            </a:r>
          </a:p>
          <a:p>
            <a:r>
              <a:t>必要なのは、手法以上に「子供を信頼する教育観」と、それを支える学校文化です。</a:t>
            </a:r>
          </a:p>
          <a:p>
            <a:r>
              <a:t>冒頭の写真を思い出してください。最初と、見え方は変わったでしょうか。そしてその姿を支えているのは、約8割の普段の授業です。最後に、調整授業時数制度を補足します。〔クリック〕</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（質疑応答 5分）</a:t>
            </a:r>
          </a:p>
          <a:p>
            <a:r>
              <a:t>ご質問やご意見をお願いします。</a:t>
            </a:r>
          </a:p>
          <a:p>
            <a:r>
              <a:t>最後に、次の学校訪問に持ち帰ってほしい問いを2つ挙げます。「この授業の中心にあるのは、何か」「普段の授業で、どんな学び方が育っているか」。答えは、学校の先生方と一緒に探していきましょう。ありがとうございました。</a:t>
            </a:r>
          </a:p>
          <a:p>
            <a:r>
              <a:t>《進め方》質問が出なければ、持ち帰りの問いを先に読み、「担当校ではどうですか」と1人に振る。</a:t>
            </a:r>
          </a:p>
          <a:p/>
          <a:p>
            <a:r>
              <a:t>【想定問答】</a:t>
            </a:r>
          </a:p>
          <a:p>
            <a:r>
              <a:t>Q 自由進度学習と同じではないのか。</a:t>
            </a:r>
          </a:p>
          <a:p>
            <a:r>
              <a:t>A 講演では単元内自由進度学習の典型と紹介された。ただし同校は、進度よりも「計画を直しながら学ぶ自己調整」を重視している。</a:t>
            </a:r>
          </a:p>
          <a:p>
            <a:r>
              <a:t>Q 学習が遅れる子や学力差への対応は。</a:t>
            </a:r>
          </a:p>
          <a:p>
            <a:r>
              <a:t>A 教師は一斉指導から離れた分、個別の見取りと支援に回る。学習計画表と振り返りで進み具合を把握している。成果データは今回の資料では未確認のため、必要なら同校に照会する。</a:t>
            </a:r>
          </a:p>
          <a:p>
            <a:r>
              <a:t>Q 練馬区の学校では何から始めるか。</a:t>
            </a:r>
          </a:p>
          <a:p>
            <a:r>
              <a:t>A 手法より先に、子供観の共有から。次に、1教科の1単元で学習計画表を使ってみる。自由度は段階的に高める。</a:t>
            </a:r>
          </a:p>
          <a:p>
            <a:r>
              <a:t>Q 調整授業時数制度はいつから使えるか。</a:t>
            </a:r>
          </a:p>
          <a:p>
            <a:r>
              <a:t>A 現在は審議まとめの段階。名称・詳細・実施時期は答申・告示で確定するので、文部科学省の最新資料で確認する。</a:t>
            </a:r>
          </a:p>
          <a:p>
            <a:r>
              <a:t>Q マイ探究に評価が必要ないとは、通知表はどうするのか。</a:t>
            </a:r>
          </a:p>
          <a:p>
            <a:r>
              <a:t>A 奈須先生の趣旨は「学校の物差しで好き・得意を測らない」こと。制度上の扱いは各校の評価計画によるので、個別に確認する。</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（1分30秒）</a:t>
            </a:r>
          </a:p>
          <a:p>
            <a:r>
              <a:t>まず、一枚の写真を見てください。ある小学校の、学習の時間の一場面です。学校訪問でこの場面に出会ったら、この姿を許容できますか。A、B、Cで手を挙げてください。〔挙手〕</a:t>
            </a:r>
          </a:p>
          <a:p>
            <a:r>
              <a:t>なぜそう思ったか、隣の人と30秒でどうぞ。〔ペア30秒〕</a:t>
            </a:r>
          </a:p>
          <a:p>
            <a:r>
              <a:t>実はこれは、天童中部小学校で子供が学ぶ場所を自分で選んで、学習を進めている姿です。「許容できない」と感じるとき、その基準はどこから来ているのでしょうか。この問いを持ったまま、聞いてください。〔クリック〕</a:t>
            </a:r>
          </a:p>
          <a:p>
            <a:r>
              <a:t>《進め方》Cを選んだ人を否定しない。指名はしない（時間を守る）。「約2割しかない」ことはQUIZ 1で明かすので、ここでは言わない。</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（30秒）</a:t>
            </a:r>
          </a:p>
          <a:p>
            <a:r>
              <a:t>その8割の普段の授業です。画面には「答えだけ言う」ではなく「式の意味、図と結びつける」と、学び方そのものが示されていました。ここで身に付けた学び方が、任せる2割を支えています。土台は普段の授業です。〔クリック〕</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（25秒）</a:t>
            </a:r>
          </a:p>
          <a:p>
            <a:r>
              <a:t>今の問いかけは、校内研修でも使えるアイスブレイクの型です。見せる、選ぶ、語る、知る、問い返す。写真を替えれば、どの研修でも使えます。このあともクイズで考えていただきます。〔クリック〕</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（1分）</a:t>
            </a:r>
          </a:p>
          <a:p>
            <a:r>
              <a:t>ではクイズです。子供が自分で計画して進める学習は、授業のおよそ何割でしょうか。隣の人と30秒。〔ペア30秒〕〔挙手〕</a:t>
            </a:r>
          </a:p>
          <a:p>
            <a:r>
              <a:t>正解は A、約2割です。残りの約8割は、子供と教師が共に創る一斉授業です。〔クリック〕</a:t>
            </a:r>
          </a:p>
          <a:p>
            <a:r>
              <a:t>《進め方》冒頭の写真から「C 約8割」を選ぶ人が多いはず。そのずれを次の2枚で回収する。</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（30秒）</a:t>
            </a:r>
          </a:p>
          <a:p>
            <a:r>
              <a:t>2問目です。計画どおりに進まなかった子供。同校が大切にしているのはどれでしょう。今度は挙手で。〔挙手〕</a:t>
            </a:r>
          </a:p>
          <a:p>
            <a:r>
              <a:t>正解は B、計画を修正して学び直す、です。〔クリック〕</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「3つの方向性」に含まれないものはどれでしょう。今回は挙手だけで。〔挙手〕</a:t>
            </a:r>
          </a:p>
          <a:p>
            <a:r>
              <a:t>正解は C、授業時数の拡充です。むしろ、時数を調整できる仕組みが示されています。〔クリック〕</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《非表示》スライドショーでは表示しない（配布資料用）。時間に余裕があるときの予備原稿：</a:t>
            </a:r>
          </a:p>
          <a:p>
            <a:r>
              <a:t>（15秒）</a:t>
            </a:r>
          </a:p>
          <a:p>
            <a:r>
              <a:t>ここからの根拠は審議まとめです。QRコードから本文を開けます。学校に説明するときは、必ず本文で確かめてください。〔クリック〕</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授業の中心にあるのは、何でしょうか。これまでは教師が中心で、子供がそれに合わせて動きました。これからは、子供の学びが中心です。教師も教材も環境も仲間も、子供の学びを支えて回ります。</a:t>
            </a:r>
          </a:p>
          <a:p>
            <a:r>
              <a:t>ただし、変えるのは授業の形ではなく見方です。約8割の一斉授業の中でも、子供の学びを中心に据える。〔クリック〕</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（45秒）</a:t>
            </a:r>
          </a:p>
          <a:p>
            <a:r>
              <a:t>協議会では、踏み込んだ本音もありました。「マイ探究に、評価は必要ない」。学校的な価値で制限しない。発表会も必須ではない。</a:t>
            </a:r>
          </a:p>
          <a:p>
            <a:r>
              <a:t>では、評価しないと不安になるのは、子供でしょうか、私たち大人でしょうか。（1秒間を置く）〔クリック〕</a:t>
            </a:r>
          </a:p>
          <a:p>
            <a:r>
              <a:t>《進め方》問いかけだけで、答えは求めない。発言の表現は、講義・協議会の記録で最終確認する。</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（50秒）</a:t>
            </a:r>
          </a:p>
          <a:p>
            <a:r>
              <a:t>学校や子供の実態に応じて、標準授業時数を一定の範囲で調整できる仕組みです。生み出した時間は、子供の個性や特性に応じた「裁量的な時間」に充てる構想です。</a:t>
            </a:r>
          </a:p>
          <a:p>
            <a:r>
              <a:t>学校から相談されたら、目的、教育課程、時間の中身、説明と体制の4つを一緒に確かめましょう。制度ありきではなく、目指す子供の姿から考える。講義は以上です。〔クリック〕</a:t>
            </a:r>
          </a:p>
          <a:p>
            <a:r>
              <a:t>《進め方》素案段階の数値（上限15％程度、小学校で年間約138コマ）は、質問が出たら「答申で変わり得る」と添えて紹介する。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a:effectLst/>
      </p:bgPr>
    </p:bg>
    <p:spTree>
      <p:nvGrpSpPr>
        <p:cNvPr id="1" name=""/>
        <p:cNvGrpSpPr/>
        <p:nvPr/>
      </p:nvGrpSpPr>
      <p:grpSpPr>
        <a:xfrm>
          <a:off x="0" y="0"/>
          <a:ext cx="0" cy="0"/>
          <a:chOff x="0" y="0"/>
          <a:chExt cx="0" cy="0"/>
        </a:xfrm>
      </p:grpSpPr>
      <p:sp>
        <p:nvSpPr>
          <p:cNvPr id="2" name="Shape 0"/>
          <p:cNvSpPr/>
          <p:nvPr/>
        </p:nvSpPr>
        <p:spPr>
          <a:xfrm>
            <a:off x="7754112" y="850392"/>
            <a:ext cx="3858768" cy="5157216"/>
          </a:xfrm>
          <a:prstGeom prst="rect">
            <a:avLst/>
          </a:prstGeom>
          <a:solidFill>
            <a:schemeClr val="bg2"/>
          </a:solidFill>
          <a:ln w="15875">
            <a:solidFill>
              <a:schemeClr val="accent3"/>
            </a:solidFill>
            <a:prstDash val="dash"/>
          </a:ln>
        </p:spPr>
        <p:txBody>
          <a:bodyPr/>
          <a:lstStyle/>
          <a:p>
            <a:endParaRPr lang="ja-JP" altLang="en-US"/>
          </a:p>
        </p:txBody>
      </p:sp>
      <p:sp>
        <p:nvSpPr>
          <p:cNvPr id="3" name="Text 1"/>
          <p:cNvSpPr>
            <a:spLocks noGrp="1"/>
          </p:cNvSpPr>
          <p:nvPr>
            <p:ph type="pic" idx="101" hasCustomPrompt="1"/>
          </p:nvPr>
        </p:nvSpPr>
        <p:spPr>
          <a:xfrm>
            <a:off x="7726680" y="822960"/>
            <a:ext cx="3913632" cy="521208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HOTO_R">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451713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457200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HOTO_R2">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2"/>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tx2"/>
                </a:solidFill>
              </a:defRPr>
            </a:lvl1pPr>
          </a:lstStyle>
          <a:p>
            <a:pPr marL="0" indent="0" algn="l">
              <a:buNone/>
            </a:pPr>
            <a:endParaRPr lang="en-US" sz="30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天童中部小学校 教育研究発表会 参加報告｜指導主事研修｜練馬区教育委員会 指導課</a:t>
            </a:r>
            <a:endParaRPr lang="en-US" sz="1000" dirty="0"/>
          </a:p>
        </p:txBody>
      </p:sp>
      <p:sp>
        <p:nvSpPr>
          <p:cNvPr id="5" name="Shape 1"/>
          <p:cNvSpPr/>
          <p:nvPr/>
        </p:nvSpPr>
        <p:spPr>
          <a:xfrm>
            <a:off x="7891272" y="153619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6" name="Text 2"/>
          <p:cNvSpPr>
            <a:spLocks noGrp="1"/>
          </p:cNvSpPr>
          <p:nvPr>
            <p:ph type="pic" idx="104" hasCustomPrompt="1"/>
          </p:nvPr>
        </p:nvSpPr>
        <p:spPr>
          <a:xfrm>
            <a:off x="7863840" y="150876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7" name="Shape 2"/>
          <p:cNvSpPr/>
          <p:nvPr/>
        </p:nvSpPr>
        <p:spPr>
          <a:xfrm>
            <a:off x="7891272" y="3959352"/>
            <a:ext cx="3721608" cy="2093976"/>
          </a:xfrm>
          <a:prstGeom prst="rect">
            <a:avLst/>
          </a:prstGeom>
          <a:solidFill>
            <a:schemeClr val="bg2"/>
          </a:solidFill>
          <a:ln w="15875">
            <a:solidFill>
              <a:schemeClr val="accent3"/>
            </a:solidFill>
            <a:prstDash val="dash"/>
          </a:ln>
        </p:spPr>
        <p:txBody>
          <a:bodyPr/>
          <a:lstStyle/>
          <a:p>
            <a:endParaRPr lang="ja-JP" altLang="en-US"/>
          </a:p>
        </p:txBody>
      </p:sp>
      <p:sp>
        <p:nvSpPr>
          <p:cNvPr id="8" name="Text 3"/>
          <p:cNvSpPr>
            <a:spLocks noGrp="1"/>
          </p:cNvSpPr>
          <p:nvPr>
            <p:ph type="pic" idx="106" hasCustomPrompt="1"/>
          </p:nvPr>
        </p:nvSpPr>
        <p:spPr>
          <a:xfrm>
            <a:off x="7863840" y="3931920"/>
            <a:ext cx="3776472" cy="2148840"/>
          </a:xfrm>
          <a:prstGeom prst="rect">
            <a:avLst/>
          </a:prstGeom>
          <a:noFill/>
          <a:ln/>
        </p:spPr>
        <p:txBody>
          <a:bodyPr wrap="square" rtlCol="0"/>
          <a:lstStyle>
            <a:lvl1pPr marL="0" indent="0" algn="ctr">
              <a:buNone/>
              <a:defRPr lang="en-US" sz="1400" dirty="0">
                <a:solidFill>
                  <a:schemeClr val="accent5"/>
                </a:solidFill>
              </a:defRPr>
            </a:lvl1pPr>
          </a:lstStyle>
          <a:p>
            <a:pPr marL="0" indent="0" algn="ctr">
              <a:buNone/>
            </a:pPr>
            <a:r>
              <a:rPr lang="en-US" sz="1400" dirty="0">
                <a:solidFill>
                  <a:schemeClr val="accent5"/>
                </a:solidFill>
              </a:rPr>
              <a:t>写真を挿入</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rtlCol="0"/>
          <a:lstStyle>
            <a:lvl1pPr marL="0" indent="0">
              <a:buNone/>
              <a:defRPr lang="en-US" sz="1300" b="1" dirty="0">
                <a:solidFill>
                  <a:schemeClr val="accent3"/>
                </a:solidFill>
              </a:defRPr>
            </a:lvl1pPr>
          </a:lstStyle>
          <a:p>
            <a:pPr marL="0" indent="0">
              <a:buNone/>
            </a:pP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JPG"/><Relationship Id="rId3" Type="http://schemas.openxmlformats.org/officeDocument/2006/relationships/notesSlide" Target="../notesSlides/notesSlide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2.jpg"/><Relationship Id="rId8" Type="http://schemas.openxmlformats.org/officeDocument/2006/relationships/image" Target="../media/image4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4.jpg"/><Relationship Id="rId3" Type="http://schemas.openxmlformats.org/officeDocument/2006/relationships/image" Target="../media/image55.jpg"/><Relationship Id="rId4" Type="http://schemas.openxmlformats.org/officeDocument/2006/relationships/image" Target="../media/image56.jpg"/><Relationship Id="rId5" Type="http://schemas.openxmlformats.org/officeDocument/2006/relationships/image" Target="../media/image57.jpg"/><Relationship Id="rId6" Type="http://schemas.openxmlformats.org/officeDocument/2006/relationships/notesSlide" Target="../notesSlides/notesSlide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png"/><Relationship Id="rId6" Type="http://schemas.openxmlformats.org/officeDocument/2006/relationships/image" Target="../media/image44.jpg"/><Relationship Id="rId7" Type="http://schemas.openxmlformats.org/officeDocument/2006/relationships/image" Target="../media/image4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JPG"/><Relationship Id="rId4" Type="http://schemas.openxmlformats.org/officeDocument/2006/relationships/image" Target="../media/image13.JPG"/><Relationship Id="rId5" Type="http://schemas.openxmlformats.org/officeDocument/2006/relationships/image" Target="../media/image14.JPG"/><Relationship Id="rId6" Type="http://schemas.openxmlformats.org/officeDocument/2006/relationships/image" Target="../media/image15.JPG"/><Relationship Id="rId7" Type="http://schemas.openxmlformats.org/officeDocument/2006/relationships/image" Target="../media/image16.JPG"/><Relationship Id="rId8" Type="http://schemas.openxmlformats.org/officeDocument/2006/relationships/image" Target="../media/image17.JPG"/><Relationship Id="rId9" Type="http://schemas.openxmlformats.org/officeDocument/2006/relationships/image" Target="../media/image46.jpg"/><Relationship Id="rId10" Type="http://schemas.openxmlformats.org/officeDocument/2006/relationships/image" Target="../media/image47.jpg"/><Relationship Id="rId11" Type="http://schemas.openxmlformats.org/officeDocument/2006/relationships/image" Target="../media/image48.jpg"/><Relationship Id="rId12" Type="http://schemas.openxmlformats.org/officeDocument/2006/relationships/image" Target="../media/image49.jpg"/><Relationship Id="rId13" Type="http://schemas.openxmlformats.org/officeDocument/2006/relationships/image" Target="../media/image50.jpg"/><Relationship Id="rId14" Type="http://schemas.openxmlformats.org/officeDocument/2006/relationships/image" Target="../media/image58.jpg"/><Relationship Id="rId15" Type="http://schemas.openxmlformats.org/officeDocument/2006/relationships/image" Target="../media/image5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7.png"/><Relationship Id="rId5" Type="http://schemas.openxmlformats.org/officeDocument/2006/relationships/image" Target="../media/image18.JPG"/><Relationship Id="rId6" Type="http://schemas.openxmlformats.org/officeDocument/2006/relationships/image" Target="../media/image19.JPG"/><Relationship Id="rId7" Type="http://schemas.openxmlformats.org/officeDocument/2006/relationships/image" Target="../media/image20.JPG"/><Relationship Id="rId8" Type="http://schemas.openxmlformats.org/officeDocument/2006/relationships/image" Target="../media/image51.jpg"/><Relationship Id="rId9" Type="http://schemas.openxmlformats.org/officeDocument/2006/relationships/image" Target="../media/image5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6.png"/><Relationship Id="rId9" Type="http://schemas.openxmlformats.org/officeDocument/2006/relationships/image" Target="../media/image26.JPG"/><Relationship Id="rId10" Type="http://schemas.openxmlformats.org/officeDocument/2006/relationships/image" Target="../media/image27.JPG"/><Relationship Id="rId11" Type="http://schemas.openxmlformats.org/officeDocument/2006/relationships/image" Target="../media/image53.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1.png"/><Relationship Id="rId3" Type="http://schemas.openxmlformats.org/officeDocument/2006/relationships/image" Target="../media/image6.png"/><Relationship Id="rId4" Type="http://schemas.openxmlformats.org/officeDocument/2006/relationships/notesSlide" Target="../notesSlides/notesSlide2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0.png"/><Relationship Id="rId3" Type="http://schemas.openxmlformats.org/officeDocument/2006/relationships/hyperlink" Target="https://www.mext.go.jp/content/20261005-mxt_kyoiku01-000052367-1.pdf" TargetMode="External"/><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5.png"/><Relationship Id="rId4" Type="http://schemas.openxmlformats.org/officeDocument/2006/relationships/image" Target="../media/image41.png"/><Relationship Id="rId5"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 Id="rId3" Type="http://schemas.openxmlformats.org/officeDocument/2006/relationships/image" Target="../media/image62.jpg"/><Relationship Id="rId4" Type="http://schemas.openxmlformats.org/officeDocument/2006/relationships/image" Target="../media/image63.jpg"/><Relationship Id="rId5" Type="http://schemas.openxmlformats.org/officeDocument/2006/relationships/image" Target="../media/image64.jpg"/><Relationship Id="rId6" Type="http://schemas.openxmlformats.org/officeDocument/2006/relationships/notesSlide" Target="../notesSlides/notes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9" name="図プレースホルダー 8">
            <a:extLst>
              <a:ext uri="{FF2B5EF4-FFF2-40B4-BE49-F238E27FC236}">
                <a16:creationId xmlns:a16="http://schemas.microsoft.com/office/drawing/2014/main" id="{0FB36B96-1D8C-9C22-0849-B30E3E465173}"/>
              </a:ext>
            </a:extLst>
          </p:cNvPr>
          <p:cNvPicPr>
            <a:picLocks noGrp="1" noChangeAspect="1"/>
          </p:cNvPicPr>
          <p:nvPr>
            <p:ph type="pic" idx="101"/>
          </p:nvPr>
        </p:nvPicPr>
        <p:blipFill>
          <a:blip r:embed="rId3"/>
          <a:srcRect l="21852" r="21852"/>
          <a:stretch>
            <a:fillRect/>
          </a:stretch>
        </p:blipFill>
        <p:spPr>
          <a:xfrm>
            <a:off x="6334179" y="822960"/>
            <a:ext cx="5309181" cy="5212080"/>
          </a:xfrm>
          <a:prstGeom prst="rect">
            <a:avLst/>
          </a:prstGeom>
          <a:noFill/>
          <a:ln/>
        </p:spPr>
      </p:pic>
      <p:sp>
        <p:nvSpPr>
          <p:cNvPr id="3" name="Text 1"/>
          <p:cNvSpPr txBox="1"/>
          <p:nvPr/>
        </p:nvSpPr>
        <p:spPr>
          <a:xfrm>
            <a:off x="548640" y="822960"/>
            <a:ext cx="6766560" cy="365760"/>
          </a:xfrm>
          <a:prstGeom prst="rect">
            <a:avLst/>
          </a:prstGeom>
          <a:noFill/>
          <a:ln/>
        </p:spPr>
        <p:txBody>
          <a:bodyPr wrap="square" lIns="0" tIns="0" rIns="0" bIns="0" rtlCol="0" anchor="ctr"/>
          <a:lstStyle/>
          <a:p>
            <a:pPr marL="0" indent="0">
              <a:buNone/>
            </a:pPr>
            <a:r>
              <a:rPr lang="en-US" sz="1500" b="1" dirty="0">
                <a:solidFill>
                  <a:schemeClr val="accent2"/>
                </a:solidFill>
              </a:rPr>
              <a:t>指導主事研修｜視察報告</a:t>
            </a:r>
            <a:endParaRPr lang="en-US" sz="1500" dirty="0"/>
          </a:p>
        </p:txBody>
      </p:sp>
      <p:sp>
        <p:nvSpPr>
          <p:cNvPr id="4" name="Text 2"/>
          <p:cNvSpPr txBox="1"/>
          <p:nvPr/>
        </p:nvSpPr>
        <p:spPr>
          <a:xfrm>
            <a:off x="548640" y="1325880"/>
            <a:ext cx="6858000" cy="1371600"/>
          </a:xfrm>
          <a:prstGeom prst="rect">
            <a:avLst/>
          </a:prstGeom>
          <a:noFill/>
          <a:ln/>
        </p:spPr>
        <p:txBody>
          <a:bodyPr wrap="square" lIns="0" tIns="0" rIns="0" bIns="0" rtlCol="0" anchor="t"/>
          <a:lstStyle/>
          <a:p>
            <a:pPr marL="0" indent="0">
              <a:buNone/>
            </a:pPr>
            <a:r>
              <a:rPr lang="en-US" sz="3000" b="1" dirty="0">
                <a:solidFill>
                  <a:schemeClr val="bg1"/>
                </a:solidFill>
              </a:rPr>
              <a:t>「すべての子供は有能である」</a:t>
            </a:r>
            <a:endParaRPr lang="en-US" sz="3000" dirty="0"/>
          </a:p>
          <a:p>
            <a:pPr marL="0" indent="0">
              <a:buNone/>
            </a:pPr>
            <a:r>
              <a:rPr lang="en-US" sz="3000" b="1" dirty="0">
                <a:solidFill>
                  <a:schemeClr val="bg1"/>
                </a:solidFill>
              </a:rPr>
              <a:t>を具現化する学校づくりに学ぶ</a:t>
            </a:r>
            <a:endParaRPr lang="en-US" sz="3000" dirty="0"/>
          </a:p>
        </p:txBody>
      </p:sp>
      <p:sp>
        <p:nvSpPr>
          <p:cNvPr id="5" name="Text 3"/>
          <p:cNvSpPr txBox="1"/>
          <p:nvPr/>
        </p:nvSpPr>
        <p:spPr>
          <a:xfrm>
            <a:off x="548640" y="2834640"/>
            <a:ext cx="3913632" cy="457200"/>
          </a:xfrm>
          <a:prstGeom prst="rect">
            <a:avLst/>
          </a:prstGeom>
          <a:noFill/>
          <a:ln/>
        </p:spPr>
        <p:txBody>
          <a:bodyPr wrap="square" lIns="0" tIns="0" rIns="0" bIns="0" rtlCol="0" anchor="ctr"/>
          <a:lstStyle/>
          <a:p>
            <a:pPr marL="0" indent="0">
              <a:buNone/>
            </a:pPr>
            <a:r>
              <a:rPr lang="en-US" sz="1800" b="1" dirty="0" err="1">
                <a:solidFill>
                  <a:schemeClr val="accent4"/>
                </a:solidFill>
              </a:rPr>
              <a:t>天童中部小学校の実践から考える</a:t>
            </a:r>
            <a:r>
              <a:rPr lang="en-US" sz="1800" b="1" dirty="0">
                <a:solidFill>
                  <a:schemeClr val="accent4"/>
                </a:solidFill>
              </a:rPr>
              <a:t>　</a:t>
            </a:r>
          </a:p>
          <a:p>
            <a:pPr marL="0" indent="0">
              <a:buNone/>
            </a:pPr>
            <a:r>
              <a:rPr lang="en-US" sz="1800" b="1" dirty="0" err="1">
                <a:solidFill>
                  <a:schemeClr val="accent4"/>
                </a:solidFill>
              </a:rPr>
              <a:t>次期学習指導要領の方向性</a:t>
            </a:r>
            <a:endParaRPr lang="en-US" sz="1800" dirty="0"/>
          </a:p>
        </p:txBody>
      </p:sp>
      <p:sp>
        <p:nvSpPr>
          <p:cNvPr id="6" name="Text 4"/>
          <p:cNvSpPr txBox="1"/>
          <p:nvPr/>
        </p:nvSpPr>
        <p:spPr>
          <a:xfrm>
            <a:off x="594360" y="3520440"/>
            <a:ext cx="6766560" cy="822960"/>
          </a:xfrm>
          <a:prstGeom prst="rect">
            <a:avLst/>
          </a:prstGeom>
          <a:noFill/>
          <a:ln/>
        </p:spPr>
        <p:txBody>
          <a:bodyPr wrap="square" lIns="0" tIns="0" rIns="0" bIns="0" rtlCol="0" anchor="t"/>
          <a:lstStyle/>
          <a:p>
            <a:pPr marL="0" indent="0">
              <a:buNone/>
            </a:pPr>
            <a:r>
              <a:rPr lang="en-US" sz="1600" dirty="0">
                <a:solidFill>
                  <a:schemeClr val="accent6"/>
                </a:solidFill>
              </a:rPr>
              <a:t>山形県天童市立天童中部小学校</a:t>
            </a:r>
            <a:endParaRPr lang="en-US" sz="1600" dirty="0"/>
          </a:p>
          <a:p>
            <a:pPr marL="0" indent="0">
              <a:buNone/>
            </a:pPr>
            <a:r>
              <a:rPr lang="en-US" sz="1600" dirty="0">
                <a:solidFill>
                  <a:schemeClr val="accent6"/>
                </a:solidFill>
              </a:rPr>
              <a:t>教育研究発表会（令和８年10月14日）参加報告</a:t>
            </a:r>
            <a:endParaRPr lang="en-US" sz="1600" dirty="0"/>
          </a:p>
        </p:txBody>
      </p:sp>
      <p:sp>
        <p:nvSpPr>
          <p:cNvPr id="7" name="Text 5"/>
          <p:cNvSpPr txBox="1"/>
          <p:nvPr/>
        </p:nvSpPr>
        <p:spPr>
          <a:xfrm>
            <a:off x="548640" y="5257800"/>
            <a:ext cx="6766560" cy="777240"/>
          </a:xfrm>
          <a:prstGeom prst="rect">
            <a:avLst/>
          </a:prstGeom>
          <a:noFill/>
          <a:ln/>
        </p:spPr>
        <p:txBody>
          <a:bodyPr wrap="square" lIns="0" tIns="0" rIns="0" bIns="0" rtlCol="0" anchor="b"/>
          <a:lstStyle/>
          <a:p>
            <a:pPr marL="0" indent="0">
              <a:buNone/>
            </a:pPr>
            <a:r>
              <a:rPr lang="en-US" sz="1500" dirty="0">
                <a:solidFill>
                  <a:schemeClr val="accent6"/>
                </a:solidFill>
              </a:rPr>
              <a:t>練馬区教育委員会 指導課</a:t>
            </a:r>
            <a:endParaRPr lang="en-US" sz="1500" dirty="0"/>
          </a:p>
          <a:p>
            <a:pPr marL="0" indent="0">
              <a:buNone/>
            </a:pPr>
            <a:r>
              <a:rPr lang="en-US" sz="1500" dirty="0">
                <a:solidFill>
                  <a:schemeClr val="accent6"/>
                </a:solidFill>
              </a:rPr>
              <a:t>指導主事　紺多 章一郎</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はじめに｜問い</a:t>
            </a:r>
          </a:p>
        </p:txBody>
      </p:sp>
      <p:sp>
        <p:nvSpPr>
          <p:cNvPr id="3" name="Title 2"/>
          <p:cNvSpPr>
            <a:spLocks noGrp="1"/>
          </p:cNvSpPr>
          <p:nvPr>
            <p:ph type="title" idx="101"/>
          </p:nvPr>
        </p:nvSpPr>
        <p:spPr/>
        <p:txBody>
          <a:bodyPr/>
          <a:lstStyle/>
          <a:p>
            <a:r>
              <a:t>この子供たちの姿を、あなたは許容できますか？</a:t>
            </a:r>
          </a:p>
        </p:txBody>
      </p:sp>
      <p:pic>
        <p:nvPicPr>
          <p:cNvPr id="4" name="問いの写真" descr="image.JPG"/>
          <p:cNvPicPr>
            <a:picLocks noChangeAspect="1"/>
          </p:cNvPicPr>
          <p:nvPr/>
        </p:nvPicPr>
        <p:blipFill>
          <a:blip r:embed="rId2"/>
          <a:stretch>
            <a:fillRect/>
          </a:stretch>
        </p:blipFill>
        <p:spPr>
          <a:xfrm>
            <a:off x="548640" y="1554480"/>
            <a:ext cx="6099048" cy="4572000"/>
          </a:xfrm>
          <a:prstGeom prst="rect">
            <a:avLst/>
          </a:prstGeom>
        </p:spPr>
      </p:pic>
      <p:sp>
        <p:nvSpPr>
          <p:cNvPr id="5" name="TextBox 4"/>
          <p:cNvSpPr txBox="1"/>
          <p:nvPr/>
        </p:nvSpPr>
        <p:spPr>
          <a:xfrm>
            <a:off x="6995160" y="1554480"/>
            <a:ext cx="4647895" cy="365760"/>
          </a:xfrm>
          <a:prstGeom prst="rect">
            <a:avLst/>
          </a:prstGeom>
          <a:noFill/>
        </p:spPr>
        <p:txBody>
          <a:bodyPr wrap="square" lIns="0" rIns="0" tIns="0" bIns="0" anchor="ctr">
            <a:spAutoFit/>
          </a:bodyPr>
          <a:lstStyle/>
          <a:p>
            <a:pPr algn="l"/>
            <a:r>
              <a:rPr sz="1500" b="0">
                <a:solidFill>
                  <a:srgbClr val="D3E3D9"/>
                </a:solidFill>
              </a:rPr>
              <a:t>ある小学校の、学習の時間の一場面です</a:t>
            </a:r>
          </a:p>
        </p:txBody>
      </p:sp>
      <p:sp>
        <p:nvSpPr>
          <p:cNvPr id="6" name="選択肢A"/>
          <p:cNvSpPr/>
          <p:nvPr/>
        </p:nvSpPr>
        <p:spPr>
          <a:xfrm>
            <a:off x="6995160" y="210312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選択肢A_記号"/>
          <p:cNvSpPr/>
          <p:nvPr/>
        </p:nvSpPr>
        <p:spPr>
          <a:xfrm>
            <a:off x="7159752" y="223113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A</a:t>
            </a:r>
          </a:p>
        </p:txBody>
      </p:sp>
      <p:sp>
        <p:nvSpPr>
          <p:cNvPr id="8" name="TextBox 7"/>
          <p:cNvSpPr txBox="1"/>
          <p:nvPr/>
        </p:nvSpPr>
        <p:spPr>
          <a:xfrm>
            <a:off x="7818120" y="2103120"/>
            <a:ext cx="3687775" cy="713232"/>
          </a:xfrm>
          <a:prstGeom prst="rect">
            <a:avLst/>
          </a:prstGeom>
          <a:noFill/>
        </p:spPr>
        <p:txBody>
          <a:bodyPr wrap="square" lIns="0" rIns="0" tIns="0" bIns="0" anchor="ctr">
            <a:spAutoFit/>
          </a:bodyPr>
          <a:lstStyle/>
          <a:p>
            <a:pPr algn="l"/>
            <a:r>
              <a:rPr sz="1900" b="1">
                <a:solidFill>
                  <a:srgbClr val="FFFFFF"/>
                </a:solidFill>
              </a:rPr>
              <a:t>許容できる</a:t>
            </a:r>
          </a:p>
        </p:txBody>
      </p:sp>
      <p:sp>
        <p:nvSpPr>
          <p:cNvPr id="9" name="選択肢B"/>
          <p:cNvSpPr/>
          <p:nvPr/>
        </p:nvSpPr>
        <p:spPr>
          <a:xfrm>
            <a:off x="6995160" y="2971800"/>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選択肢B_記号"/>
          <p:cNvSpPr/>
          <p:nvPr/>
        </p:nvSpPr>
        <p:spPr>
          <a:xfrm>
            <a:off x="7159752" y="3099816"/>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B</a:t>
            </a:r>
          </a:p>
        </p:txBody>
      </p:sp>
      <p:sp>
        <p:nvSpPr>
          <p:cNvPr id="11" name="TextBox 10"/>
          <p:cNvSpPr txBox="1"/>
          <p:nvPr/>
        </p:nvSpPr>
        <p:spPr>
          <a:xfrm>
            <a:off x="7818120" y="2971800"/>
            <a:ext cx="3687775" cy="713232"/>
          </a:xfrm>
          <a:prstGeom prst="rect">
            <a:avLst/>
          </a:prstGeom>
          <a:noFill/>
        </p:spPr>
        <p:txBody>
          <a:bodyPr wrap="square" lIns="0" rIns="0" tIns="0" bIns="0" anchor="ctr">
            <a:spAutoFit/>
          </a:bodyPr>
          <a:lstStyle/>
          <a:p>
            <a:pPr algn="l"/>
            <a:r>
              <a:rPr sz="1900" b="1">
                <a:solidFill>
                  <a:srgbClr val="FFFFFF"/>
                </a:solidFill>
              </a:rPr>
              <a:t>場面によっては許容できる</a:t>
            </a:r>
          </a:p>
        </p:txBody>
      </p:sp>
      <p:sp>
        <p:nvSpPr>
          <p:cNvPr id="12" name="選択肢C"/>
          <p:cNvSpPr/>
          <p:nvPr/>
        </p:nvSpPr>
        <p:spPr>
          <a:xfrm>
            <a:off x="6995160" y="3840479"/>
            <a:ext cx="4647895" cy="713232"/>
          </a:xfrm>
          <a:prstGeom prst="roundRect">
            <a:avLst>
              <a:gd name="adj" fmla="val 8000"/>
            </a:avLst>
          </a:prstGeom>
          <a:solidFill>
            <a:srgbClr val="FFFFFF">
              <a:alpha val="12000"/>
            </a:srgbClr>
          </a:solidFill>
          <a:ln w="12700">
            <a:solidFill>
              <a:srgbClr val="7FAF8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選択肢C_記号"/>
          <p:cNvSpPr/>
          <p:nvPr/>
        </p:nvSpPr>
        <p:spPr>
          <a:xfrm>
            <a:off x="7159752" y="3968495"/>
            <a:ext cx="457200" cy="45720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C</a:t>
            </a:r>
          </a:p>
        </p:txBody>
      </p:sp>
      <p:sp>
        <p:nvSpPr>
          <p:cNvPr id="14" name="TextBox 13"/>
          <p:cNvSpPr txBox="1"/>
          <p:nvPr/>
        </p:nvSpPr>
        <p:spPr>
          <a:xfrm>
            <a:off x="7818120" y="3840479"/>
            <a:ext cx="3687775" cy="713232"/>
          </a:xfrm>
          <a:prstGeom prst="rect">
            <a:avLst/>
          </a:prstGeom>
          <a:noFill/>
        </p:spPr>
        <p:txBody>
          <a:bodyPr wrap="square" lIns="0" rIns="0" tIns="0" bIns="0" anchor="ctr">
            <a:spAutoFit/>
          </a:bodyPr>
          <a:lstStyle/>
          <a:p>
            <a:pPr algn="l"/>
            <a:r>
              <a:rPr sz="1900" b="1">
                <a:solidFill>
                  <a:srgbClr val="FFFFFF"/>
                </a:solidFill>
              </a:rPr>
              <a:t>許容できない</a:t>
            </a:r>
          </a:p>
        </p:txBody>
      </p:sp>
      <p:sp>
        <p:nvSpPr>
          <p:cNvPr id="15" name="TextBox 14"/>
          <p:cNvSpPr txBox="1"/>
          <p:nvPr/>
        </p:nvSpPr>
        <p:spPr>
          <a:xfrm>
            <a:off x="6995160" y="4846320"/>
            <a:ext cx="4647895" cy="548640"/>
          </a:xfrm>
          <a:prstGeom prst="rect">
            <a:avLst/>
          </a:prstGeom>
          <a:noFill/>
        </p:spPr>
        <p:txBody>
          <a:bodyPr wrap="square" lIns="0" rIns="0" tIns="0" bIns="0" anchor="ctr">
            <a:spAutoFit/>
          </a:bodyPr>
          <a:lstStyle/>
          <a:p>
            <a:pPr algn="l"/>
            <a:r>
              <a:rPr sz="2400" b="1">
                <a:solidFill>
                  <a:srgbClr val="FBEADB"/>
                </a:solidFill>
              </a:rPr>
              <a:t>それは、なぜですか？</a:t>
            </a:r>
          </a:p>
        </p:txBody>
      </p:sp>
      <p:sp>
        <p:nvSpPr>
          <p:cNvPr id="16" name="TextBox 15"/>
          <p:cNvSpPr txBox="1"/>
          <p:nvPr/>
        </p:nvSpPr>
        <p:spPr>
          <a:xfrm>
            <a:off x="6995160" y="5440680"/>
            <a:ext cx="4647895" cy="640080"/>
          </a:xfrm>
          <a:prstGeom prst="rect">
            <a:avLst/>
          </a:prstGeom>
          <a:noFill/>
        </p:spPr>
        <p:txBody>
          <a:bodyPr wrap="square" lIns="0" rIns="0" tIns="0" bIns="0" anchor="t">
            <a:spAutoFit/>
          </a:bodyPr>
          <a:lstStyle/>
          <a:p>
            <a:pPr algn="l"/>
            <a:r>
              <a:rPr sz="1400" b="0">
                <a:solidFill>
                  <a:srgbClr val="D3E3D9"/>
                </a:solidFill>
              </a:rPr>
              <a:t>自分の「当たり前」はどこから？（隣の人と30秒）</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はじめに｜アイスブレイクの手本</a:t>
            </a:r>
          </a:p>
        </p:txBody>
      </p:sp>
      <p:sp>
        <p:nvSpPr>
          <p:cNvPr id="3" name="Title 2"/>
          <p:cNvSpPr>
            <a:spLocks noGrp="1"/>
          </p:cNvSpPr>
          <p:nvPr>
            <p:ph type="title" idx="101"/>
          </p:nvPr>
        </p:nvSpPr>
        <p:spPr/>
        <p:txBody>
          <a:bodyPr/>
          <a:lstStyle/>
          <a:p>
            <a:r>
              <a:t>今の問いを分解すると ― 校内研修でも使える型</a:t>
            </a:r>
          </a:p>
        </p:txBody>
      </p:sp>
      <p:sp>
        <p:nvSpPr>
          <p:cNvPr id="4" name="Rounded Rectangle 3"/>
          <p:cNvSpPr/>
          <p:nvPr/>
        </p:nvSpPr>
        <p:spPr>
          <a:xfrm>
            <a:off x="548640"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45919"/>
            <a:ext cx="1999427" cy="411480"/>
          </a:xfrm>
          <a:prstGeom prst="rect">
            <a:avLst/>
          </a:prstGeom>
          <a:noFill/>
        </p:spPr>
        <p:txBody>
          <a:bodyPr wrap="square" lIns="0" rIns="0" tIns="0" bIns="0" anchor="ctr">
            <a:spAutoFit/>
          </a:bodyPr>
          <a:lstStyle/>
          <a:p>
            <a:pPr algn="ctr"/>
            <a:r>
              <a:rPr sz="1300" b="1">
                <a:solidFill>
                  <a:srgbClr val="FBEADB"/>
                </a:solidFill>
              </a:rPr>
              <a:t>STEP 1</a:t>
            </a:r>
          </a:p>
        </p:txBody>
      </p:sp>
      <p:sp>
        <p:nvSpPr>
          <p:cNvPr id="6" name="TextBox 5"/>
          <p:cNvSpPr txBox="1"/>
          <p:nvPr/>
        </p:nvSpPr>
        <p:spPr>
          <a:xfrm>
            <a:off x="548640" y="2057400"/>
            <a:ext cx="1999427" cy="502920"/>
          </a:xfrm>
          <a:prstGeom prst="rect">
            <a:avLst/>
          </a:prstGeom>
          <a:noFill/>
        </p:spPr>
        <p:txBody>
          <a:bodyPr wrap="square" lIns="0" rIns="0" tIns="0" bIns="0" anchor="ctr">
            <a:spAutoFit/>
          </a:bodyPr>
          <a:lstStyle/>
          <a:p>
            <a:pPr algn="ctr"/>
            <a:r>
              <a:rPr sz="2400" b="1">
                <a:solidFill>
                  <a:srgbClr val="FFFFFF"/>
                </a:solidFill>
              </a:rPr>
              <a:t>見せる</a:t>
            </a:r>
          </a:p>
        </p:txBody>
      </p:sp>
      <p:sp>
        <p:nvSpPr>
          <p:cNvPr id="7" name="TextBox 6"/>
          <p:cNvSpPr txBox="1"/>
          <p:nvPr/>
        </p:nvSpPr>
        <p:spPr>
          <a:xfrm>
            <a:off x="640080" y="2606039"/>
            <a:ext cx="1816547" cy="731520"/>
          </a:xfrm>
          <a:prstGeom prst="rect">
            <a:avLst/>
          </a:prstGeom>
          <a:noFill/>
        </p:spPr>
        <p:txBody>
          <a:bodyPr wrap="square" lIns="0" rIns="0" tIns="0" bIns="0" anchor="ctr">
            <a:spAutoFit/>
          </a:bodyPr>
          <a:lstStyle/>
          <a:p>
            <a:pPr algn="ctr"/>
            <a:r>
              <a:rPr sz="1400" b="0">
                <a:solidFill>
                  <a:srgbClr val="D3E3D9"/>
                </a:solidFill>
              </a:rPr>
              <a:t>写真１枚で</a:t>
            </a:r>
          </a:p>
          <a:p>
            <a:pPr algn="ctr"/>
            <a:r>
              <a:rPr sz="1400" b="0">
                <a:solidFill>
                  <a:srgbClr val="D3E3D9"/>
                </a:solidFill>
              </a:rPr>
              <a:t>具体を示す</a:t>
            </a:r>
          </a:p>
        </p:txBody>
      </p:sp>
      <p:sp>
        <p:nvSpPr>
          <p:cNvPr id="8" name="Rounded Rectangle 7"/>
          <p:cNvSpPr/>
          <p:nvPr/>
        </p:nvSpPr>
        <p:spPr>
          <a:xfrm>
            <a:off x="2822387"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2387" y="1645919"/>
            <a:ext cx="1999427" cy="411480"/>
          </a:xfrm>
          <a:prstGeom prst="rect">
            <a:avLst/>
          </a:prstGeom>
          <a:noFill/>
        </p:spPr>
        <p:txBody>
          <a:bodyPr wrap="square" lIns="0" rIns="0" tIns="0" bIns="0" anchor="ctr">
            <a:spAutoFit/>
          </a:bodyPr>
          <a:lstStyle/>
          <a:p>
            <a:pPr algn="ctr"/>
            <a:r>
              <a:rPr sz="1300" b="1">
                <a:solidFill>
                  <a:srgbClr val="FBEADB"/>
                </a:solidFill>
              </a:rPr>
              <a:t>STEP 2</a:t>
            </a:r>
          </a:p>
        </p:txBody>
      </p:sp>
      <p:sp>
        <p:nvSpPr>
          <p:cNvPr id="10" name="TextBox 9"/>
          <p:cNvSpPr txBox="1"/>
          <p:nvPr/>
        </p:nvSpPr>
        <p:spPr>
          <a:xfrm>
            <a:off x="2822387" y="2057400"/>
            <a:ext cx="1999427" cy="502920"/>
          </a:xfrm>
          <a:prstGeom prst="rect">
            <a:avLst/>
          </a:prstGeom>
          <a:noFill/>
        </p:spPr>
        <p:txBody>
          <a:bodyPr wrap="square" lIns="0" rIns="0" tIns="0" bIns="0" anchor="ctr">
            <a:spAutoFit/>
          </a:bodyPr>
          <a:lstStyle/>
          <a:p>
            <a:pPr algn="ctr"/>
            <a:r>
              <a:rPr sz="2400" b="1">
                <a:solidFill>
                  <a:srgbClr val="FFFFFF"/>
                </a:solidFill>
              </a:rPr>
              <a:t>選ぶ</a:t>
            </a:r>
          </a:p>
        </p:txBody>
      </p:sp>
      <p:sp>
        <p:nvSpPr>
          <p:cNvPr id="11" name="TextBox 10"/>
          <p:cNvSpPr txBox="1"/>
          <p:nvPr/>
        </p:nvSpPr>
        <p:spPr>
          <a:xfrm>
            <a:off x="2913827" y="2606039"/>
            <a:ext cx="1816547" cy="731520"/>
          </a:xfrm>
          <a:prstGeom prst="rect">
            <a:avLst/>
          </a:prstGeom>
          <a:noFill/>
        </p:spPr>
        <p:txBody>
          <a:bodyPr wrap="square" lIns="0" rIns="0" tIns="0" bIns="0" anchor="ctr">
            <a:spAutoFit/>
          </a:bodyPr>
          <a:lstStyle/>
          <a:p>
            <a:pPr algn="ctr"/>
            <a:r>
              <a:rPr sz="1400" b="0">
                <a:solidFill>
                  <a:srgbClr val="D3E3D9"/>
                </a:solidFill>
              </a:rPr>
              <a:t>A・B・Cで</a:t>
            </a:r>
          </a:p>
          <a:p>
            <a:pPr algn="ctr"/>
            <a:r>
              <a:rPr sz="1400" b="0">
                <a:solidFill>
                  <a:srgbClr val="D3E3D9"/>
                </a:solidFill>
              </a:rPr>
              <a:t>立場を決める</a:t>
            </a:r>
          </a:p>
        </p:txBody>
      </p:sp>
      <p:sp>
        <p:nvSpPr>
          <p:cNvPr id="12" name="Rounded Rectangle 11"/>
          <p:cNvSpPr/>
          <p:nvPr/>
        </p:nvSpPr>
        <p:spPr>
          <a:xfrm>
            <a:off x="5096134"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96134" y="1645919"/>
            <a:ext cx="1999427" cy="411480"/>
          </a:xfrm>
          <a:prstGeom prst="rect">
            <a:avLst/>
          </a:prstGeom>
          <a:noFill/>
        </p:spPr>
        <p:txBody>
          <a:bodyPr wrap="square" lIns="0" rIns="0" tIns="0" bIns="0" anchor="ctr">
            <a:spAutoFit/>
          </a:bodyPr>
          <a:lstStyle/>
          <a:p>
            <a:pPr algn="ctr"/>
            <a:r>
              <a:rPr sz="1300" b="1">
                <a:solidFill>
                  <a:srgbClr val="FBEADB"/>
                </a:solidFill>
              </a:rPr>
              <a:t>STEP 3</a:t>
            </a:r>
          </a:p>
        </p:txBody>
      </p:sp>
      <p:sp>
        <p:nvSpPr>
          <p:cNvPr id="14" name="TextBox 13"/>
          <p:cNvSpPr txBox="1"/>
          <p:nvPr/>
        </p:nvSpPr>
        <p:spPr>
          <a:xfrm>
            <a:off x="5096134" y="2057400"/>
            <a:ext cx="1999427" cy="502920"/>
          </a:xfrm>
          <a:prstGeom prst="rect">
            <a:avLst/>
          </a:prstGeom>
          <a:noFill/>
        </p:spPr>
        <p:txBody>
          <a:bodyPr wrap="square" lIns="0" rIns="0" tIns="0" bIns="0" anchor="ctr">
            <a:spAutoFit/>
          </a:bodyPr>
          <a:lstStyle/>
          <a:p>
            <a:pPr algn="ctr"/>
            <a:r>
              <a:rPr sz="2400" b="1">
                <a:solidFill>
                  <a:srgbClr val="FFFFFF"/>
                </a:solidFill>
              </a:rPr>
              <a:t>語る</a:t>
            </a:r>
          </a:p>
        </p:txBody>
      </p:sp>
      <p:sp>
        <p:nvSpPr>
          <p:cNvPr id="15" name="TextBox 14"/>
          <p:cNvSpPr txBox="1"/>
          <p:nvPr/>
        </p:nvSpPr>
        <p:spPr>
          <a:xfrm>
            <a:off x="5187574" y="2606039"/>
            <a:ext cx="1816547" cy="731520"/>
          </a:xfrm>
          <a:prstGeom prst="rect">
            <a:avLst/>
          </a:prstGeom>
          <a:noFill/>
        </p:spPr>
        <p:txBody>
          <a:bodyPr wrap="square" lIns="0" rIns="0" tIns="0" bIns="0" anchor="ctr">
            <a:spAutoFit/>
          </a:bodyPr>
          <a:lstStyle/>
          <a:p>
            <a:pPr algn="ctr"/>
            <a:r>
              <a:rPr sz="1400" b="0">
                <a:solidFill>
                  <a:srgbClr val="D3E3D9"/>
                </a:solidFill>
              </a:rPr>
              <a:t>隣の人と30秒</a:t>
            </a:r>
          </a:p>
          <a:p>
            <a:pPr algn="ctr"/>
            <a:r>
              <a:rPr sz="1400" b="0">
                <a:solidFill>
                  <a:srgbClr val="D3E3D9"/>
                </a:solidFill>
              </a:rPr>
              <a:t>理由を話す</a:t>
            </a:r>
          </a:p>
        </p:txBody>
      </p:sp>
      <p:sp>
        <p:nvSpPr>
          <p:cNvPr id="16" name="Rounded Rectangle 15"/>
          <p:cNvSpPr/>
          <p:nvPr/>
        </p:nvSpPr>
        <p:spPr>
          <a:xfrm>
            <a:off x="7369881" y="1508760"/>
            <a:ext cx="1999427" cy="192024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9881" y="1645919"/>
            <a:ext cx="1999427" cy="411480"/>
          </a:xfrm>
          <a:prstGeom prst="rect">
            <a:avLst/>
          </a:prstGeom>
          <a:noFill/>
        </p:spPr>
        <p:txBody>
          <a:bodyPr wrap="square" lIns="0" rIns="0" tIns="0" bIns="0" anchor="ctr">
            <a:spAutoFit/>
          </a:bodyPr>
          <a:lstStyle/>
          <a:p>
            <a:pPr algn="ctr"/>
            <a:r>
              <a:rPr sz="1300" b="1">
                <a:solidFill>
                  <a:srgbClr val="FBEADB"/>
                </a:solidFill>
              </a:rPr>
              <a:t>STEP 4</a:t>
            </a:r>
          </a:p>
        </p:txBody>
      </p:sp>
      <p:sp>
        <p:nvSpPr>
          <p:cNvPr id="18" name="TextBox 17"/>
          <p:cNvSpPr txBox="1"/>
          <p:nvPr/>
        </p:nvSpPr>
        <p:spPr>
          <a:xfrm>
            <a:off x="7369881" y="2057400"/>
            <a:ext cx="1999427" cy="502920"/>
          </a:xfrm>
          <a:prstGeom prst="rect">
            <a:avLst/>
          </a:prstGeom>
          <a:noFill/>
        </p:spPr>
        <p:txBody>
          <a:bodyPr wrap="square" lIns="0" rIns="0" tIns="0" bIns="0" anchor="ctr">
            <a:spAutoFit/>
          </a:bodyPr>
          <a:lstStyle/>
          <a:p>
            <a:pPr algn="ctr"/>
            <a:r>
              <a:rPr sz="2400" b="1">
                <a:solidFill>
                  <a:srgbClr val="FFFFFF"/>
                </a:solidFill>
              </a:rPr>
              <a:t>知る</a:t>
            </a:r>
          </a:p>
        </p:txBody>
      </p:sp>
      <p:sp>
        <p:nvSpPr>
          <p:cNvPr id="19" name="TextBox 18"/>
          <p:cNvSpPr txBox="1"/>
          <p:nvPr/>
        </p:nvSpPr>
        <p:spPr>
          <a:xfrm>
            <a:off x="7461321" y="2606039"/>
            <a:ext cx="1816547" cy="731520"/>
          </a:xfrm>
          <a:prstGeom prst="rect">
            <a:avLst/>
          </a:prstGeom>
          <a:noFill/>
        </p:spPr>
        <p:txBody>
          <a:bodyPr wrap="square" lIns="0" rIns="0" tIns="0" bIns="0" anchor="ctr">
            <a:spAutoFit/>
          </a:bodyPr>
          <a:lstStyle/>
          <a:p>
            <a:pPr algn="ctr"/>
            <a:r>
              <a:rPr sz="1400" b="0">
                <a:solidFill>
                  <a:srgbClr val="D3E3D9"/>
                </a:solidFill>
              </a:rPr>
              <a:t>種明かしで</a:t>
            </a:r>
          </a:p>
          <a:p>
            <a:pPr algn="ctr"/>
            <a:r>
              <a:rPr sz="1400" b="0">
                <a:solidFill>
                  <a:srgbClr val="D3E3D9"/>
                </a:solidFill>
              </a:rPr>
              <a:t>事実を知る</a:t>
            </a:r>
          </a:p>
        </p:txBody>
      </p:sp>
      <p:sp>
        <p:nvSpPr>
          <p:cNvPr id="20" name="Rounded Rectangle 19"/>
          <p:cNvSpPr/>
          <p:nvPr/>
        </p:nvSpPr>
        <p:spPr>
          <a:xfrm>
            <a:off x="9643628" y="1508760"/>
            <a:ext cx="1999427" cy="1920240"/>
          </a:xfrm>
          <a:prstGeom prst="roundRect">
            <a:avLst>
              <a:gd name="adj" fmla="val 8000"/>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43628" y="1645919"/>
            <a:ext cx="1999427" cy="411480"/>
          </a:xfrm>
          <a:prstGeom prst="rect">
            <a:avLst/>
          </a:prstGeom>
          <a:noFill/>
        </p:spPr>
        <p:txBody>
          <a:bodyPr wrap="square" lIns="0" rIns="0" tIns="0" bIns="0" anchor="ctr">
            <a:spAutoFit/>
          </a:bodyPr>
          <a:lstStyle/>
          <a:p>
            <a:pPr algn="ctr"/>
            <a:r>
              <a:rPr sz="1300" b="1">
                <a:solidFill>
                  <a:srgbClr val="FFFFFF"/>
                </a:solidFill>
              </a:rPr>
              <a:t>STEP 5</a:t>
            </a:r>
          </a:p>
        </p:txBody>
      </p:sp>
      <p:sp>
        <p:nvSpPr>
          <p:cNvPr id="22" name="TextBox 21"/>
          <p:cNvSpPr txBox="1"/>
          <p:nvPr/>
        </p:nvSpPr>
        <p:spPr>
          <a:xfrm>
            <a:off x="9643628" y="2057400"/>
            <a:ext cx="1999427" cy="502920"/>
          </a:xfrm>
          <a:prstGeom prst="rect">
            <a:avLst/>
          </a:prstGeom>
          <a:noFill/>
        </p:spPr>
        <p:txBody>
          <a:bodyPr wrap="square" lIns="0" rIns="0" tIns="0" bIns="0" anchor="ctr">
            <a:spAutoFit/>
          </a:bodyPr>
          <a:lstStyle/>
          <a:p>
            <a:pPr algn="ctr"/>
            <a:r>
              <a:rPr sz="2400" b="1">
                <a:solidFill>
                  <a:srgbClr val="FFFFFF"/>
                </a:solidFill>
              </a:rPr>
              <a:t>問い返す</a:t>
            </a:r>
          </a:p>
        </p:txBody>
      </p:sp>
      <p:sp>
        <p:nvSpPr>
          <p:cNvPr id="23" name="TextBox 22"/>
          <p:cNvSpPr txBox="1"/>
          <p:nvPr/>
        </p:nvSpPr>
        <p:spPr>
          <a:xfrm>
            <a:off x="9735068" y="2606039"/>
            <a:ext cx="1816547" cy="731520"/>
          </a:xfrm>
          <a:prstGeom prst="rect">
            <a:avLst/>
          </a:prstGeom>
          <a:noFill/>
        </p:spPr>
        <p:txBody>
          <a:bodyPr wrap="square" lIns="0" rIns="0" tIns="0" bIns="0" anchor="ctr">
            <a:spAutoFit/>
          </a:bodyPr>
          <a:lstStyle/>
          <a:p>
            <a:pPr algn="ctr"/>
            <a:r>
              <a:rPr sz="1400" b="0">
                <a:solidFill>
                  <a:srgbClr val="FFFFFF"/>
                </a:solidFill>
              </a:rPr>
              <a:t>「その基準は</a:t>
            </a:r>
          </a:p>
          <a:p>
            <a:pPr algn="ctr"/>
            <a:r>
              <a:rPr sz="1400" b="0">
                <a:solidFill>
                  <a:srgbClr val="FFFFFF"/>
                </a:solidFill>
              </a:rPr>
              <a:t>どこから？」</a:t>
            </a:r>
          </a:p>
        </p:txBody>
      </p:sp>
      <p:sp>
        <p:nvSpPr>
          <p:cNvPr id="24" name="Rounded Rectangle 23"/>
          <p:cNvSpPr/>
          <p:nvPr/>
        </p:nvSpPr>
        <p:spPr>
          <a:xfrm>
            <a:off x="548640"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749039"/>
            <a:ext cx="2966618" cy="1234440"/>
          </a:xfrm>
          <a:prstGeom prst="rect">
            <a:avLst/>
          </a:prstGeom>
          <a:noFill/>
        </p:spPr>
        <p:txBody>
          <a:bodyPr wrap="square" lIns="0" rIns="0" tIns="0" bIns="0" anchor="ctr">
            <a:spAutoFit/>
          </a:bodyPr>
          <a:lstStyle/>
          <a:p>
            <a:pPr algn="l"/>
            <a:r>
              <a:rPr sz="1800" b="1">
                <a:solidFill>
                  <a:srgbClr val="1F5A47"/>
                </a:solidFill>
              </a:rPr>
              <a:t>正解を求めない</a:t>
            </a:r>
          </a:p>
          <a:p>
            <a:pPr algn="l"/>
            <a:r>
              <a:rPr sz="1400" b="0">
                <a:solidFill>
                  <a:srgbClr val="1E2B27"/>
                </a:solidFill>
              </a:rPr>
              <a:t>Cの人も否定しない。違和感が入口</a:t>
            </a:r>
          </a:p>
        </p:txBody>
      </p:sp>
      <p:sp>
        <p:nvSpPr>
          <p:cNvPr id="26" name="Rounded Rectangle 25"/>
          <p:cNvSpPr/>
          <p:nvPr/>
        </p:nvSpPr>
        <p:spPr>
          <a:xfrm>
            <a:off x="4338218"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2538" y="3749039"/>
            <a:ext cx="2966618" cy="1234440"/>
          </a:xfrm>
          <a:prstGeom prst="rect">
            <a:avLst/>
          </a:prstGeom>
          <a:noFill/>
        </p:spPr>
        <p:txBody>
          <a:bodyPr wrap="square" lIns="0" rIns="0" tIns="0" bIns="0" anchor="ctr">
            <a:spAutoFit/>
          </a:bodyPr>
          <a:lstStyle/>
          <a:p>
            <a:pPr algn="l"/>
            <a:r>
              <a:rPr sz="1800" b="1">
                <a:solidFill>
                  <a:srgbClr val="1F5A47"/>
                </a:solidFill>
              </a:rPr>
              <a:t>全員が口を開く</a:t>
            </a:r>
          </a:p>
          <a:p>
            <a:pPr algn="l"/>
            <a:r>
              <a:rPr sz="1400" b="0">
                <a:solidFill>
                  <a:srgbClr val="1E2B27"/>
                </a:solidFill>
              </a:rPr>
              <a:t>挙手とペアで、全員が一度は話す</a:t>
            </a:r>
          </a:p>
        </p:txBody>
      </p:sp>
      <p:sp>
        <p:nvSpPr>
          <p:cNvPr id="28" name="Rounded Rectangle 27"/>
          <p:cNvSpPr/>
          <p:nvPr/>
        </p:nvSpPr>
        <p:spPr>
          <a:xfrm>
            <a:off x="8127796" y="3703320"/>
            <a:ext cx="3515258" cy="13258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2116" y="3749039"/>
            <a:ext cx="2966618" cy="1234440"/>
          </a:xfrm>
          <a:prstGeom prst="rect">
            <a:avLst/>
          </a:prstGeom>
          <a:noFill/>
        </p:spPr>
        <p:txBody>
          <a:bodyPr wrap="square" lIns="0" rIns="0" tIns="0" bIns="0" anchor="ctr">
            <a:spAutoFit/>
          </a:bodyPr>
          <a:lstStyle/>
          <a:p>
            <a:pPr algn="l"/>
            <a:r>
              <a:rPr sz="1800" b="1">
                <a:solidFill>
                  <a:srgbClr val="1F5A47"/>
                </a:solidFill>
              </a:rPr>
              <a:t>本題につなげる</a:t>
            </a:r>
          </a:p>
          <a:p>
            <a:pPr algn="l"/>
            <a:r>
              <a:rPr sz="1400" b="0">
                <a:solidFill>
                  <a:srgbClr val="1E2B27"/>
                </a:solidFill>
              </a:rPr>
              <a:t>問い返して、講義の最後に回収する</a:t>
            </a:r>
          </a:p>
        </p:txBody>
      </p:sp>
      <p:sp>
        <p:nvSpPr>
          <p:cNvPr id="30" name="Rounded Rectangle 29"/>
          <p:cNvSpPr/>
          <p:nvPr/>
        </p:nvSpPr>
        <p:spPr>
          <a:xfrm>
            <a:off x="548640" y="5257800"/>
            <a:ext cx="11094415" cy="731520"/>
          </a:xfrm>
          <a:prstGeom prst="roundRect">
            <a:avLst>
              <a:gd name="adj" fmla="val 8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59" y="5257800"/>
            <a:ext cx="10545775" cy="731520"/>
          </a:xfrm>
          <a:prstGeom prst="rect">
            <a:avLst/>
          </a:prstGeom>
          <a:noFill/>
        </p:spPr>
        <p:txBody>
          <a:bodyPr wrap="square" lIns="0" rIns="0" tIns="0" bIns="0" anchor="ctr">
            <a:spAutoFit/>
          </a:bodyPr>
          <a:lstStyle/>
          <a:p>
            <a:pPr algn="l"/>
            <a:r>
              <a:rPr sz="1600" b="1">
                <a:solidFill>
                  <a:srgbClr val="D9702C"/>
                </a:solidFill>
              </a:rPr>
              <a:t>応用　</a:t>
            </a:r>
            <a:r>
              <a:rPr sz="1500" b="0">
                <a:solidFill>
                  <a:srgbClr val="1E2B27"/>
                </a:solidFill>
              </a:rPr>
              <a:t>写真と問いを替えれば、どの校内研修の冒頭でも使える（例：板書、ノート、休み時間の一場面）</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はじめに</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r>
              <a:t>本日のねらい</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26" name="Rounded Rectangle 25"/>
          <p:cNvSpPr/>
          <p:nvPr/>
        </p:nvSpPr>
        <p:spPr>
          <a:xfrm>
            <a:off x="548640" y="1508760"/>
            <a:ext cx="11094415" cy="4480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80160" y="1508760"/>
            <a:ext cx="9631375" cy="4480560"/>
          </a:xfrm>
          <a:prstGeom prst="rect">
            <a:avLst/>
          </a:prstGeom>
          <a:noFill/>
        </p:spPr>
        <p:txBody>
          <a:bodyPr wrap="square" lIns="0" rIns="0" tIns="0" bIns="0" anchor="ctr">
            <a:spAutoFit/>
          </a:bodyPr>
          <a:lstStyle/>
          <a:p>
            <a:pPr algn="l">
              <a:spcAft>
                <a:spcPts val="1400"/>
              </a:spcAft>
            </a:pPr>
            <a:r>
              <a:rPr sz="2000" b="1">
                <a:solidFill>
                  <a:srgbClr val="D9702C"/>
                </a:solidFill>
              </a:rPr>
              <a:t>ねらい</a:t>
            </a:r>
          </a:p>
          <a:p>
            <a:pPr algn="l">
              <a:spcAft>
                <a:spcPts val="800"/>
              </a:spcAft>
            </a:pPr>
            <a:r>
              <a:rPr sz="3000" b="1">
                <a:solidFill>
                  <a:srgbClr val="FFFFFF"/>
                </a:solidFill>
              </a:rPr>
              <a:t>天童中部小学校の取組から、</a:t>
            </a:r>
          </a:p>
          <a:p>
            <a:pPr algn="l">
              <a:spcAft>
                <a:spcPts val="800"/>
              </a:spcAft>
            </a:pPr>
            <a:r>
              <a:rPr sz="3000" b="1">
                <a:solidFill>
                  <a:srgbClr val="FBEADB"/>
                </a:solidFill>
              </a:rPr>
              <a:t>子供の学びを中心に据える授業の見方を考え、</a:t>
            </a:r>
          </a:p>
          <a:p>
            <a:pPr algn="l">
              <a:spcAft>
                <a:spcPts val="800"/>
              </a:spcAft>
            </a:pPr>
            <a:r>
              <a:rPr sz="3000" b="1">
                <a:solidFill>
                  <a:srgbClr val="FFFFFF"/>
                </a:solidFill>
              </a:rPr>
              <a:t>次期学習指導要領の方向性を指導主事間で共有する。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研修概要</a:t>
            </a:r>
            <a:endParaRPr lang="en-US" sz="3000" dirty="0"/>
          </a:p>
        </p:txBody>
      </p:sp>
      <p:sp>
        <p:nvSpPr>
          <p:cNvPr id="5" name="Shape 3"/>
          <p:cNvSpPr/>
          <p:nvPr/>
        </p:nvSpPr>
        <p:spPr>
          <a:xfrm>
            <a:off x="548640" y="1554480"/>
            <a:ext cx="548640" cy="54864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685800" y="1691640"/>
            <a:ext cx="274320" cy="274320"/>
          </a:xfrm>
          <a:prstGeom prst="rect">
            <a:avLst/>
          </a:prstGeom>
        </p:spPr>
      </p:pic>
      <p:sp>
        <p:nvSpPr>
          <p:cNvPr id="7" name="Text 4"/>
          <p:cNvSpPr txBox="1"/>
          <p:nvPr/>
        </p:nvSpPr>
        <p:spPr>
          <a:xfrm>
            <a:off x="1280160" y="150876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期日</a:t>
            </a:r>
            <a:endParaRPr lang="en-US" sz="1600" dirty="0"/>
          </a:p>
        </p:txBody>
      </p:sp>
      <p:sp>
        <p:nvSpPr>
          <p:cNvPr id="8" name="Text 5"/>
          <p:cNvSpPr txBox="1"/>
          <p:nvPr/>
        </p:nvSpPr>
        <p:spPr>
          <a:xfrm>
            <a:off x="2103120" y="1508760"/>
            <a:ext cx="5394960" cy="640080"/>
          </a:xfrm>
          <a:prstGeom prst="rect">
            <a:avLst/>
          </a:prstGeom>
          <a:noFill/>
          <a:ln/>
        </p:spPr>
        <p:txBody>
          <a:bodyPr wrap="square" lIns="0" tIns="0" rIns="0" bIns="0" rtlCol="0" anchor="ctr"/>
          <a:lstStyle/>
          <a:p>
            <a:pPr marL="0" indent="0">
              <a:buNone/>
            </a:pPr>
            <a:r>
              <a:rPr lang="en-US" sz="1600" dirty="0">
                <a:solidFill>
                  <a:schemeClr val="tx1"/>
                </a:solidFill>
              </a:rPr>
              <a:t>令和８年10月14日（水）</a:t>
            </a:r>
            <a:endParaRPr lang="en-US" sz="1600" dirty="0"/>
          </a:p>
        </p:txBody>
      </p:sp>
      <p:sp>
        <p:nvSpPr>
          <p:cNvPr id="9" name="Shape 6"/>
          <p:cNvSpPr/>
          <p:nvPr/>
        </p:nvSpPr>
        <p:spPr>
          <a:xfrm>
            <a:off x="548640" y="2377440"/>
            <a:ext cx="548640" cy="548640"/>
          </a:xfrm>
          <a:prstGeom prst="ellipse">
            <a:avLst/>
          </a:prstGeom>
          <a:solidFill>
            <a:schemeClr val="accent1"/>
          </a:solidFill>
          <a:ln/>
        </p:spPr>
        <p:txBody>
          <a:bodyPr/>
          <a:lstStyle/>
          <a:p>
            <a:endParaRPr lang="ja-JP" altLang="en-US"/>
          </a:p>
        </p:txBody>
      </p:sp>
      <p:pic>
        <p:nvPicPr>
          <p:cNvPr id="10" name="Image 1" descr="preencoded.png"/>
          <p:cNvPicPr>
            <a:picLocks noChangeAspect="1"/>
          </p:cNvPicPr>
          <p:nvPr/>
        </p:nvPicPr>
        <p:blipFill>
          <a:blip r:embed="rId4"/>
          <a:stretch>
            <a:fillRect/>
          </a:stretch>
        </p:blipFill>
        <p:spPr>
          <a:xfrm>
            <a:off x="685800" y="2514600"/>
            <a:ext cx="274320" cy="274320"/>
          </a:xfrm>
          <a:prstGeom prst="rect">
            <a:avLst/>
          </a:prstGeom>
        </p:spPr>
      </p:pic>
      <p:sp>
        <p:nvSpPr>
          <p:cNvPr id="11" name="Text 7"/>
          <p:cNvSpPr txBox="1"/>
          <p:nvPr/>
        </p:nvSpPr>
        <p:spPr>
          <a:xfrm>
            <a:off x="1280160" y="233172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会場</a:t>
            </a:r>
            <a:endParaRPr lang="en-US" sz="1600" dirty="0"/>
          </a:p>
        </p:txBody>
      </p:sp>
      <p:sp>
        <p:nvSpPr>
          <p:cNvPr id="12" name="Text 8"/>
          <p:cNvSpPr txBox="1"/>
          <p:nvPr/>
        </p:nvSpPr>
        <p:spPr>
          <a:xfrm>
            <a:off x="2103120" y="2331720"/>
            <a:ext cx="5394960" cy="640080"/>
          </a:xfrm>
          <a:prstGeom prst="rect">
            <a:avLst/>
          </a:prstGeom>
          <a:noFill/>
          <a:ln/>
        </p:spPr>
        <p:txBody>
          <a:bodyPr wrap="square" lIns="0" tIns="0" rIns="0" bIns="0" rtlCol="0" anchor="ctr"/>
          <a:lstStyle/>
          <a:p>
            <a:pPr marL="0" indent="0">
              <a:buNone/>
            </a:pPr>
            <a:r>
              <a:rPr lang="en-US" sz="1600" dirty="0">
                <a:solidFill>
                  <a:schemeClr val="tx1"/>
                </a:solidFill>
              </a:rPr>
              <a:t>山形県天童市立天童中部小学校</a:t>
            </a:r>
            <a:endParaRPr lang="en-US" sz="1600" dirty="0"/>
          </a:p>
        </p:txBody>
      </p:sp>
      <p:sp>
        <p:nvSpPr>
          <p:cNvPr id="13" name="Shape 9"/>
          <p:cNvSpPr/>
          <p:nvPr/>
        </p:nvSpPr>
        <p:spPr>
          <a:xfrm>
            <a:off x="548640" y="3200400"/>
            <a:ext cx="548640" cy="54864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85800" y="3337560"/>
            <a:ext cx="274320" cy="274320"/>
          </a:xfrm>
          <a:prstGeom prst="rect">
            <a:avLst/>
          </a:prstGeom>
        </p:spPr>
      </p:pic>
      <p:sp>
        <p:nvSpPr>
          <p:cNvPr id="15" name="Text 10"/>
          <p:cNvSpPr txBox="1"/>
          <p:nvPr/>
        </p:nvSpPr>
        <p:spPr>
          <a:xfrm>
            <a:off x="1280160" y="315468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内容</a:t>
            </a:r>
            <a:endParaRPr lang="en-US" sz="1600" dirty="0"/>
          </a:p>
        </p:txBody>
      </p:sp>
      <p:sp>
        <p:nvSpPr>
          <p:cNvPr id="16" name="Text 11"/>
          <p:cNvSpPr txBox="1"/>
          <p:nvPr/>
        </p:nvSpPr>
        <p:spPr>
          <a:xfrm>
            <a:off x="2103120" y="3154680"/>
            <a:ext cx="5394960" cy="640080"/>
          </a:xfrm>
          <a:prstGeom prst="rect">
            <a:avLst/>
          </a:prstGeom>
          <a:noFill/>
          <a:ln/>
        </p:spPr>
        <p:txBody>
          <a:bodyPr wrap="square" lIns="0" tIns="0" rIns="0" bIns="0" rtlCol="0" anchor="ctr"/>
          <a:lstStyle/>
          <a:p>
            <a:pPr marL="0" indent="0">
              <a:buNone/>
            </a:pPr>
            <a:r>
              <a:rPr lang="en-US" sz="1600" dirty="0" err="1">
                <a:solidFill>
                  <a:schemeClr val="tx1"/>
                </a:solidFill>
              </a:rPr>
              <a:t>公開授業</a:t>
            </a:r>
            <a:r>
              <a:rPr lang="ja-JP" altLang="en-US" sz="1600" dirty="0">
                <a:solidFill>
                  <a:schemeClr val="tx1"/>
                </a:solidFill>
                <a:latin typeface="BIZ UDPゴシック" panose="020B0400000000000000" pitchFamily="50" charset="-128"/>
                <a:ea typeface="BIZ UDPゴシック" panose="020B0400000000000000" pitchFamily="50" charset="-128"/>
              </a:rPr>
              <a:t>（１時間目から</a:t>
            </a:r>
            <a:r>
              <a:rPr lang="en-US" altLang="ja-JP" sz="1600" dirty="0">
                <a:solidFill>
                  <a:schemeClr val="tx1"/>
                </a:solidFill>
                <a:latin typeface="BIZ UDPゴシック" panose="020B0400000000000000" pitchFamily="50" charset="-128"/>
                <a:ea typeface="BIZ UDPゴシック" panose="020B0400000000000000" pitchFamily="50" charset="-128"/>
              </a:rPr>
              <a:t>4</a:t>
            </a:r>
            <a:r>
              <a:rPr lang="ja-JP" altLang="en-US" sz="1600" dirty="0">
                <a:solidFill>
                  <a:schemeClr val="tx1"/>
                </a:solidFill>
                <a:latin typeface="BIZ UDPゴシック" panose="020B0400000000000000" pitchFamily="50" charset="-128"/>
                <a:ea typeface="BIZ UDPゴシック" panose="020B0400000000000000" pitchFamily="50" charset="-128"/>
              </a:rPr>
              <a:t>時間目）</a:t>
            </a:r>
            <a:endParaRPr lang="en-US" sz="1600" dirty="0">
              <a:solidFill>
                <a:schemeClr val="tx1"/>
              </a:solidFill>
              <a:latin typeface="BIZ UDPゴシック" panose="020B0400000000000000" pitchFamily="50" charset="-128"/>
              <a:ea typeface="BIZ UDPゴシック" panose="020B0400000000000000" pitchFamily="50" charset="-128"/>
            </a:endParaRPr>
          </a:p>
          <a:p>
            <a:pPr marL="0" indent="0">
              <a:buNone/>
            </a:pPr>
            <a:r>
              <a:rPr lang="en-US" sz="1600" dirty="0" err="1">
                <a:solidFill>
                  <a:schemeClr val="tx1"/>
                </a:solidFill>
              </a:rPr>
              <a:t>講演・鼎談</a:t>
            </a:r>
            <a:r>
              <a:rPr lang="en-US" sz="900" dirty="0" err="1">
                <a:solidFill>
                  <a:schemeClr val="tx1"/>
                </a:solidFill>
              </a:rPr>
              <a:t>（ていだん）</a:t>
            </a:r>
            <a:r>
              <a:rPr lang="en-US" sz="1600" dirty="0" err="1">
                <a:solidFill>
                  <a:schemeClr val="tx1"/>
                </a:solidFill>
              </a:rPr>
              <a:t>・質疑応答</a:t>
            </a:r>
            <a:endParaRPr lang="en-US" sz="1600" dirty="0"/>
          </a:p>
        </p:txBody>
      </p:sp>
      <p:sp>
        <p:nvSpPr>
          <p:cNvPr id="17" name="Shape 12"/>
          <p:cNvSpPr/>
          <p:nvPr/>
        </p:nvSpPr>
        <p:spPr>
          <a:xfrm>
            <a:off x="548640" y="4023360"/>
            <a:ext cx="548640" cy="548640"/>
          </a:xfrm>
          <a:prstGeom prst="ellipse">
            <a:avLst/>
          </a:prstGeom>
          <a:solidFill>
            <a:schemeClr val="accent1"/>
          </a:solidFill>
          <a:ln/>
        </p:spPr>
        <p:txBody>
          <a:bodyPr/>
          <a:lstStyle/>
          <a:p>
            <a:endParaRPr lang="ja-JP" altLang="en-US"/>
          </a:p>
        </p:txBody>
      </p:sp>
      <p:pic>
        <p:nvPicPr>
          <p:cNvPr id="18" name="Image 3" descr="preencoded.png"/>
          <p:cNvPicPr>
            <a:picLocks noChangeAspect="1"/>
          </p:cNvPicPr>
          <p:nvPr/>
        </p:nvPicPr>
        <p:blipFill>
          <a:blip r:embed="rId6"/>
          <a:stretch>
            <a:fillRect/>
          </a:stretch>
        </p:blipFill>
        <p:spPr>
          <a:xfrm>
            <a:off x="685800" y="4160520"/>
            <a:ext cx="274320" cy="274320"/>
          </a:xfrm>
          <a:prstGeom prst="rect">
            <a:avLst/>
          </a:prstGeom>
        </p:spPr>
      </p:pic>
      <p:sp>
        <p:nvSpPr>
          <p:cNvPr id="19" name="Text 13"/>
          <p:cNvSpPr txBox="1"/>
          <p:nvPr/>
        </p:nvSpPr>
        <p:spPr>
          <a:xfrm>
            <a:off x="1280160" y="3977640"/>
            <a:ext cx="822960" cy="640080"/>
          </a:xfrm>
          <a:prstGeom prst="rect">
            <a:avLst/>
          </a:prstGeom>
          <a:noFill/>
          <a:ln/>
        </p:spPr>
        <p:txBody>
          <a:bodyPr wrap="square" lIns="0" tIns="0" rIns="0" bIns="0" rtlCol="0" anchor="ctr"/>
          <a:lstStyle/>
          <a:p>
            <a:pPr marL="0" indent="0">
              <a:buNone/>
            </a:pPr>
            <a:r>
              <a:rPr lang="en-US" sz="1600" b="1" dirty="0">
                <a:solidFill>
                  <a:schemeClr val="accent2"/>
                </a:solidFill>
              </a:rPr>
              <a:t>講演</a:t>
            </a:r>
            <a:endParaRPr lang="en-US" sz="1600" dirty="0"/>
          </a:p>
        </p:txBody>
      </p:sp>
      <p:sp>
        <p:nvSpPr>
          <p:cNvPr id="20" name="Text 14"/>
          <p:cNvSpPr txBox="1"/>
          <p:nvPr/>
        </p:nvSpPr>
        <p:spPr>
          <a:xfrm>
            <a:off x="2103120" y="3977640"/>
            <a:ext cx="5394960" cy="640080"/>
          </a:xfrm>
          <a:prstGeom prst="rect">
            <a:avLst/>
          </a:prstGeom>
          <a:noFill/>
          <a:ln/>
        </p:spPr>
        <p:txBody>
          <a:bodyPr wrap="square" lIns="0" tIns="0" rIns="0" bIns="0" rtlCol="0" anchor="ctr"/>
          <a:lstStyle/>
          <a:p>
            <a:pPr marL="0" indent="0">
              <a:buNone/>
            </a:pPr>
            <a:r>
              <a:rPr lang="en-US" sz="1600" dirty="0">
                <a:solidFill>
                  <a:schemeClr val="tx1"/>
                </a:solidFill>
              </a:rPr>
              <a:t>上智大学　奈須正裕 氏</a:t>
            </a:r>
            <a:endParaRPr lang="en-US" sz="1600" dirty="0"/>
          </a:p>
          <a:p>
            <a:pPr marL="0" indent="0">
              <a:buNone/>
            </a:pPr>
            <a:r>
              <a:rPr lang="en-US" sz="1600" dirty="0">
                <a:solidFill>
                  <a:schemeClr val="tx1"/>
                </a:solidFill>
              </a:rPr>
              <a:t>「次期学習指導要領が目指す学力論とカリキュラム開発」</a:t>
            </a:r>
            <a:endParaRPr lang="en-US" sz="1600" dirty="0"/>
          </a:p>
        </p:txBody>
      </p:sp>
      <p:sp>
        <p:nvSpPr>
          <p:cNvPr id="21" name="Shape 15"/>
          <p:cNvSpPr/>
          <p:nvPr/>
        </p:nvSpPr>
        <p:spPr>
          <a:xfrm>
            <a:off x="548640" y="4937760"/>
            <a:ext cx="6949440" cy="1143000"/>
          </a:xfrm>
          <a:prstGeom prst="roundRect">
            <a:avLst>
              <a:gd name="adj" fmla="val 6400"/>
            </a:avLst>
          </a:prstGeom>
          <a:solidFill>
            <a:schemeClr val="accent4"/>
          </a:solidFill>
          <a:ln/>
        </p:spPr>
        <p:txBody>
          <a:bodyPr/>
          <a:lstStyle/>
          <a:p>
            <a:endParaRPr lang="ja-JP" altLang="en-US"/>
          </a:p>
        </p:txBody>
      </p:sp>
      <p:sp>
        <p:nvSpPr>
          <p:cNvPr id="22" name="Text 16"/>
          <p:cNvSpPr txBox="1"/>
          <p:nvPr/>
        </p:nvSpPr>
        <p:spPr>
          <a:xfrm>
            <a:off x="822960" y="5029200"/>
            <a:ext cx="2743200" cy="320040"/>
          </a:xfrm>
          <a:prstGeom prst="rect">
            <a:avLst/>
          </a:prstGeom>
          <a:noFill/>
          <a:ln/>
        </p:spPr>
        <p:txBody>
          <a:bodyPr wrap="square" lIns="0" tIns="0" rIns="0" bIns="0" rtlCol="0" anchor="ctr"/>
          <a:lstStyle/>
          <a:p>
            <a:pPr marL="0" indent="0">
              <a:buNone/>
            </a:pPr>
            <a:r>
              <a:rPr lang="en-US" sz="1400" b="1" dirty="0">
                <a:solidFill>
                  <a:schemeClr val="accent2"/>
                </a:solidFill>
              </a:rPr>
              <a:t>学校の目指す姿</a:t>
            </a:r>
            <a:endParaRPr lang="en-US" sz="1400" dirty="0"/>
          </a:p>
        </p:txBody>
      </p:sp>
      <p:sp>
        <p:nvSpPr>
          <p:cNvPr id="23" name="Text 17"/>
          <p:cNvSpPr txBox="1"/>
          <p:nvPr/>
        </p:nvSpPr>
        <p:spPr>
          <a:xfrm>
            <a:off x="822960" y="5394960"/>
            <a:ext cx="6400800" cy="548640"/>
          </a:xfrm>
          <a:prstGeom prst="rect">
            <a:avLst/>
          </a:prstGeom>
          <a:noFill/>
          <a:ln/>
        </p:spPr>
        <p:txBody>
          <a:bodyPr wrap="square" lIns="0" tIns="0" rIns="0" bIns="0" rtlCol="0" anchor="ctr"/>
          <a:lstStyle/>
          <a:p>
            <a:pPr marL="0" indent="0">
              <a:buNone/>
            </a:pPr>
            <a:r>
              <a:rPr lang="en-US" sz="2200" b="1" dirty="0">
                <a:solidFill>
                  <a:schemeClr val="tx2"/>
                </a:solidFill>
              </a:rPr>
              <a:t>自分で学びをつくる　　自分でくらしをつくる</a:t>
            </a:r>
            <a:endParaRPr lang="en-US" sz="22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写真 IMG_0003.JPG" descr="IMG_0003.JPG"/>
          <p:cNvPicPr>
            <a:picLocks noChangeAspect="1"/>
          </p:cNvPicPr>
          <p:nvPr/>
        </p:nvPicPr>
        <p:blipFill>
          <a:blip r:embed="rId7"/>
          <a:srcRect t="5856" b="15856"/>
          <a:stretch>
            <a:fillRect/>
          </a:stretch>
        </p:blipFill>
        <p:spPr>
          <a:xfrm>
            <a:off x="7863840" y="1508760"/>
            <a:ext cx="3776472" cy="2217420"/>
          </a:xfrm>
          <a:prstGeom prst="rect">
            <a:avLst/>
          </a:prstGeom>
        </p:spPr>
      </p:pic>
      <p:pic>
        <p:nvPicPr>
          <p:cNvPr id="27" name="写真 IMG_0315.JPG" descr="IMG_0315.JPG"/>
          <p:cNvPicPr>
            <a:picLocks noChangeAspect="1"/>
          </p:cNvPicPr>
          <p:nvPr/>
        </p:nvPicPr>
        <p:blipFill>
          <a:blip r:embed="rId8"/>
          <a:srcRect t="10856" b="10856"/>
          <a:stretch>
            <a:fillRect/>
          </a:stretch>
        </p:blipFill>
        <p:spPr>
          <a:xfrm>
            <a:off x="7863840" y="3863339"/>
            <a:ext cx="3776472" cy="22174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学校づくりの根底にある子供観</a:t>
            </a:r>
            <a:endParaRPr lang="en-US" sz="3000" dirty="0"/>
          </a:p>
        </p:txBody>
      </p:sp>
      <p:pic>
        <p:nvPicPr>
          <p:cNvPr id="4" name="Image 0" descr="preencoded.png"/>
          <p:cNvPicPr>
            <a:picLocks noChangeAspect="1"/>
          </p:cNvPicPr>
          <p:nvPr/>
        </p:nvPicPr>
        <p:blipFill>
          <a:blip r:embed="rId3"/>
          <a:stretch>
            <a:fillRect/>
          </a:stretch>
        </p:blipFill>
        <p:spPr>
          <a:xfrm>
            <a:off x="548640" y="1600200"/>
            <a:ext cx="457200" cy="457200"/>
          </a:xfrm>
          <a:prstGeom prst="rect">
            <a:avLst/>
          </a:prstGeom>
        </p:spPr>
      </p:pic>
      <p:sp>
        <p:nvSpPr>
          <p:cNvPr id="5" name="Text 2"/>
          <p:cNvSpPr txBox="1"/>
          <p:nvPr/>
        </p:nvSpPr>
        <p:spPr>
          <a:xfrm>
            <a:off x="1188720" y="1508760"/>
            <a:ext cx="6858000" cy="685800"/>
          </a:xfrm>
          <a:prstGeom prst="rect">
            <a:avLst/>
          </a:prstGeom>
          <a:noFill/>
          <a:ln/>
        </p:spPr>
        <p:txBody>
          <a:bodyPr wrap="square" lIns="0" tIns="0" rIns="0" bIns="0" rtlCol="0" anchor="ctr"/>
          <a:lstStyle/>
          <a:p>
            <a:pPr marL="0" indent="0">
              <a:buNone/>
            </a:pPr>
            <a:r>
              <a:rPr lang="en-US" sz="3200" b="1" dirty="0">
                <a:solidFill>
                  <a:schemeClr val="accent1"/>
                </a:solidFill>
              </a:rPr>
              <a:t>すべての子供は有能である</a:t>
            </a:r>
            <a:endParaRPr lang="en-US" sz="3200" dirty="0"/>
          </a:p>
        </p:txBody>
      </p:sp>
      <p:sp>
        <p:nvSpPr>
          <p:cNvPr id="6" name="Shape 3"/>
          <p:cNvSpPr/>
          <p:nvPr/>
        </p:nvSpPr>
        <p:spPr>
          <a:xfrm>
            <a:off x="548640" y="2423160"/>
            <a:ext cx="3291840" cy="1234440"/>
          </a:xfrm>
          <a:prstGeom prst="roundRect">
            <a:avLst>
              <a:gd name="adj" fmla="val 5926"/>
            </a:avLst>
          </a:prstGeom>
          <a:solidFill>
            <a:schemeClr val="bg2"/>
          </a:solidFill>
          <a:ln/>
        </p:spPr>
        <p:txBody>
          <a:bodyPr/>
          <a:lstStyle/>
          <a:p>
            <a:endParaRPr lang="ja-JP" altLang="en-US"/>
          </a:p>
        </p:txBody>
      </p:sp>
      <p:sp>
        <p:nvSpPr>
          <p:cNvPr id="7" name="Text 4"/>
          <p:cNvSpPr txBox="1"/>
          <p:nvPr/>
        </p:nvSpPr>
        <p:spPr>
          <a:xfrm>
            <a:off x="54864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5"/>
                </a:solidFill>
              </a:rPr>
              <a:t>子供を</a:t>
            </a:r>
            <a:endParaRPr lang="en-US" sz="1300" dirty="0"/>
          </a:p>
          <a:p>
            <a:pPr marL="0" indent="0" algn="ctr">
              <a:buNone/>
            </a:pPr>
            <a:r>
              <a:rPr lang="en-US" sz="2200" b="1" dirty="0">
                <a:solidFill>
                  <a:schemeClr val="accent5"/>
                </a:solidFill>
              </a:rPr>
              <a:t>指示を待つ存在</a:t>
            </a:r>
            <a:endParaRPr lang="en-US" sz="1300" dirty="0"/>
          </a:p>
          <a:p>
            <a:pPr marL="0" indent="0" algn="ctr">
              <a:buNone/>
            </a:pPr>
            <a:r>
              <a:rPr lang="en-US" sz="1300" dirty="0">
                <a:solidFill>
                  <a:schemeClr val="accent5"/>
                </a:solidFill>
              </a:rPr>
              <a:t>としてではなく</a:t>
            </a:r>
            <a:endParaRPr lang="en-US" sz="1300" dirty="0"/>
          </a:p>
        </p:txBody>
      </p:sp>
      <p:pic>
        <p:nvPicPr>
          <p:cNvPr id="8" name="Image 1" descr="preencoded.png"/>
          <p:cNvPicPr>
            <a:picLocks noChangeAspect="1"/>
          </p:cNvPicPr>
          <p:nvPr/>
        </p:nvPicPr>
        <p:blipFill>
          <a:blip r:embed="rId4"/>
          <a:stretch>
            <a:fillRect/>
          </a:stretch>
        </p:blipFill>
        <p:spPr>
          <a:xfrm>
            <a:off x="4023360" y="2839212"/>
            <a:ext cx="402336" cy="402336"/>
          </a:xfrm>
          <a:prstGeom prst="rect">
            <a:avLst/>
          </a:prstGeom>
        </p:spPr>
      </p:pic>
      <p:sp>
        <p:nvSpPr>
          <p:cNvPr id="9" name="Shape 5"/>
          <p:cNvSpPr/>
          <p:nvPr/>
        </p:nvSpPr>
        <p:spPr>
          <a:xfrm>
            <a:off x="4617720" y="2423160"/>
            <a:ext cx="3291840" cy="1234440"/>
          </a:xfrm>
          <a:prstGeom prst="roundRect">
            <a:avLst>
              <a:gd name="adj" fmla="val 5926"/>
            </a:avLst>
          </a:prstGeom>
          <a:solidFill>
            <a:schemeClr val="tx2"/>
          </a:solidFill>
          <a:ln/>
        </p:spPr>
        <p:txBody>
          <a:bodyPr/>
          <a:lstStyle/>
          <a:p>
            <a:endParaRPr lang="ja-JP" altLang="en-US"/>
          </a:p>
        </p:txBody>
      </p:sp>
      <p:sp>
        <p:nvSpPr>
          <p:cNvPr id="10" name="Text 6"/>
          <p:cNvSpPr txBox="1"/>
          <p:nvPr/>
        </p:nvSpPr>
        <p:spPr>
          <a:xfrm>
            <a:off x="4617720" y="2423160"/>
            <a:ext cx="3291840" cy="1234440"/>
          </a:xfrm>
          <a:prstGeom prst="rect">
            <a:avLst/>
          </a:prstGeom>
          <a:noFill/>
          <a:ln/>
        </p:spPr>
        <p:txBody>
          <a:bodyPr wrap="square" lIns="0" tIns="0" rIns="0" bIns="0" rtlCol="0" anchor="ctr"/>
          <a:lstStyle/>
          <a:p>
            <a:pPr marL="0" indent="0" algn="ctr">
              <a:buNone/>
            </a:pPr>
            <a:r>
              <a:rPr lang="en-US" sz="1300" dirty="0">
                <a:solidFill>
                  <a:schemeClr val="accent6"/>
                </a:solidFill>
              </a:rPr>
              <a:t>子供を</a:t>
            </a:r>
            <a:endParaRPr lang="en-US" sz="1300" dirty="0"/>
          </a:p>
          <a:p>
            <a:pPr marL="0" indent="0" algn="ctr">
              <a:buNone/>
            </a:pPr>
            <a:r>
              <a:rPr lang="en-US" sz="2200" b="1" dirty="0">
                <a:solidFill>
                  <a:schemeClr val="bg1"/>
                </a:solidFill>
              </a:rPr>
              <a:t>自ら学びを創る存在</a:t>
            </a:r>
            <a:endParaRPr lang="en-US" sz="1300" dirty="0"/>
          </a:p>
          <a:p>
            <a:pPr marL="0" indent="0" algn="ctr">
              <a:buNone/>
            </a:pPr>
            <a:r>
              <a:rPr lang="en-US" sz="1300" dirty="0">
                <a:solidFill>
                  <a:schemeClr val="accent6"/>
                </a:solidFill>
              </a:rPr>
              <a:t>として捉える</a:t>
            </a:r>
            <a:endParaRPr lang="en-US" sz="1300" dirty="0"/>
          </a:p>
        </p:txBody>
      </p:sp>
      <p:sp>
        <p:nvSpPr>
          <p:cNvPr id="11" name="Shape 7"/>
          <p:cNvSpPr/>
          <p:nvPr/>
        </p:nvSpPr>
        <p:spPr>
          <a:xfrm>
            <a:off x="8229600" y="2423160"/>
            <a:ext cx="3413455" cy="1234440"/>
          </a:xfrm>
          <a:prstGeom prst="roundRect">
            <a:avLst>
              <a:gd name="adj" fmla="val 5926"/>
            </a:avLst>
          </a:prstGeom>
          <a:solidFill>
            <a:schemeClr val="accent4"/>
          </a:solidFill>
          <a:ln/>
        </p:spPr>
        <p:txBody>
          <a:bodyPr/>
          <a:lstStyle/>
          <a:p>
            <a:endParaRPr lang="ja-JP" altLang="en-US"/>
          </a:p>
        </p:txBody>
      </p:sp>
      <p:sp>
        <p:nvSpPr>
          <p:cNvPr id="12" name="Shape 8"/>
          <p:cNvSpPr/>
          <p:nvPr/>
        </p:nvSpPr>
        <p:spPr>
          <a:xfrm>
            <a:off x="8458200" y="2697480"/>
            <a:ext cx="685800" cy="685800"/>
          </a:xfrm>
          <a:prstGeom prst="ellipse">
            <a:avLst/>
          </a:prstGeom>
          <a:solidFill>
            <a:schemeClr val="accent2"/>
          </a:solidFill>
          <a:ln/>
        </p:spPr>
        <p:txBody>
          <a:bodyPr/>
          <a:lstStyle/>
          <a:p>
            <a:endParaRPr lang="ja-JP" altLang="en-US"/>
          </a:p>
        </p:txBody>
      </p:sp>
      <p:pic>
        <p:nvPicPr>
          <p:cNvPr id="13" name="Image 2" descr="preencoded.png"/>
          <p:cNvPicPr>
            <a:picLocks noChangeAspect="1"/>
          </p:cNvPicPr>
          <p:nvPr/>
        </p:nvPicPr>
        <p:blipFill>
          <a:blip r:embed="rId5"/>
          <a:stretch>
            <a:fillRect/>
          </a:stretch>
        </p:blipFill>
        <p:spPr>
          <a:xfrm>
            <a:off x="8629650" y="2868930"/>
            <a:ext cx="342900" cy="342900"/>
          </a:xfrm>
          <a:prstGeom prst="rect">
            <a:avLst/>
          </a:prstGeom>
        </p:spPr>
      </p:pic>
      <p:sp>
        <p:nvSpPr>
          <p:cNvPr id="14" name="Text 9"/>
          <p:cNvSpPr txBox="1"/>
          <p:nvPr/>
        </p:nvSpPr>
        <p:spPr>
          <a:xfrm>
            <a:off x="9281160" y="2514600"/>
            <a:ext cx="2224735" cy="1051560"/>
          </a:xfrm>
          <a:prstGeom prst="rect">
            <a:avLst/>
          </a:prstGeom>
          <a:noFill/>
          <a:ln/>
        </p:spPr>
        <p:txBody>
          <a:bodyPr wrap="square" lIns="0" tIns="0" rIns="0" bIns="0" rtlCol="0" anchor="ctr"/>
          <a:lstStyle/>
          <a:p>
            <a:pPr marL="0" indent="0">
              <a:buNone/>
            </a:pPr>
            <a:r>
              <a:rPr lang="en-US" sz="1800" b="1" dirty="0">
                <a:solidFill>
                  <a:schemeClr val="tx2"/>
                </a:solidFill>
              </a:rPr>
              <a:t>教師は「伴走者」</a:t>
            </a:r>
            <a:endParaRPr lang="en-US" sz="1800" dirty="0"/>
          </a:p>
          <a:p>
            <a:pPr marL="0" indent="0">
              <a:buNone/>
            </a:pPr>
            <a:r>
              <a:rPr lang="en-US" sz="1300" dirty="0">
                <a:solidFill>
                  <a:schemeClr val="tx1"/>
                </a:solidFill>
              </a:rPr>
              <a:t>統制せず、</a:t>
            </a:r>
            <a:r>
              <a:rPr lang="en-US" sz="1300" dirty="0">
                <a:solidFill>
                  <a:srgbClr val="FF0000"/>
                </a:solidFill>
              </a:rPr>
              <a:t>環境を整え、</a:t>
            </a:r>
            <a:r>
              <a:rPr lang="en-US" sz="1300" dirty="0">
                <a:solidFill>
                  <a:schemeClr val="tx1"/>
                </a:solidFill>
              </a:rPr>
              <a:t>必要に応じて支援</a:t>
            </a:r>
            <a:endParaRPr lang="en-US" sz="1800" dirty="0"/>
          </a:p>
        </p:txBody>
      </p:sp>
      <p:sp>
        <p:nvSpPr>
          <p:cNvPr id="15" name="Text 10"/>
          <p:cNvSpPr txBox="1"/>
          <p:nvPr/>
        </p:nvSpPr>
        <p:spPr>
          <a:xfrm>
            <a:off x="548640" y="397764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子供が「選ぶ」場面が、特別な時間ではなく日常にある</a:t>
            </a:r>
            <a:endParaRPr lang="en-US" sz="1600" dirty="0"/>
          </a:p>
        </p:txBody>
      </p:sp>
      <p:sp>
        <p:nvSpPr>
          <p:cNvPr id="16" name="Shape 11"/>
          <p:cNvSpPr/>
          <p:nvPr/>
        </p:nvSpPr>
        <p:spPr>
          <a:xfrm>
            <a:off x="548640" y="4526280"/>
            <a:ext cx="2036003" cy="914400"/>
          </a:xfrm>
          <a:prstGeom prst="roundRect">
            <a:avLst>
              <a:gd name="adj" fmla="val 8000"/>
            </a:avLst>
          </a:prstGeom>
          <a:solidFill>
            <a:schemeClr val="bg2"/>
          </a:solidFill>
          <a:ln/>
        </p:spPr>
        <p:txBody>
          <a:bodyPr/>
          <a:lstStyle/>
          <a:p>
            <a:endParaRPr lang="ja-JP" altLang="en-US"/>
          </a:p>
        </p:txBody>
      </p:sp>
      <p:sp>
        <p:nvSpPr>
          <p:cNvPr id="17" name="Text 12"/>
          <p:cNvSpPr txBox="1"/>
          <p:nvPr/>
        </p:nvSpPr>
        <p:spPr>
          <a:xfrm>
            <a:off x="548640"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学習内容を選ぶ</a:t>
            </a:r>
            <a:endParaRPr lang="en-US" sz="1700" dirty="0"/>
          </a:p>
        </p:txBody>
      </p:sp>
      <p:sp>
        <p:nvSpPr>
          <p:cNvPr id="18" name="Shape 13"/>
          <p:cNvSpPr/>
          <p:nvPr/>
        </p:nvSpPr>
        <p:spPr>
          <a:xfrm>
            <a:off x="2813243" y="4526280"/>
            <a:ext cx="2036003" cy="914400"/>
          </a:xfrm>
          <a:prstGeom prst="roundRect">
            <a:avLst>
              <a:gd name="adj" fmla="val 8000"/>
            </a:avLst>
          </a:prstGeom>
          <a:solidFill>
            <a:schemeClr val="bg2"/>
          </a:solidFill>
          <a:ln/>
        </p:spPr>
        <p:txBody>
          <a:bodyPr/>
          <a:lstStyle/>
          <a:p>
            <a:endParaRPr lang="ja-JP" altLang="en-US"/>
          </a:p>
        </p:txBody>
      </p:sp>
      <p:sp>
        <p:nvSpPr>
          <p:cNvPr id="19" name="Text 14"/>
          <p:cNvSpPr txBox="1"/>
          <p:nvPr/>
        </p:nvSpPr>
        <p:spPr>
          <a:xfrm>
            <a:off x="2813243"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学習方法を選ぶ</a:t>
            </a:r>
            <a:endParaRPr lang="en-US" sz="1700" dirty="0"/>
          </a:p>
        </p:txBody>
      </p:sp>
      <p:sp>
        <p:nvSpPr>
          <p:cNvPr id="20" name="Shape 15"/>
          <p:cNvSpPr/>
          <p:nvPr/>
        </p:nvSpPr>
        <p:spPr>
          <a:xfrm>
            <a:off x="5077846" y="4526280"/>
            <a:ext cx="2036003" cy="914400"/>
          </a:xfrm>
          <a:prstGeom prst="roundRect">
            <a:avLst>
              <a:gd name="adj" fmla="val 8000"/>
            </a:avLst>
          </a:prstGeom>
          <a:solidFill>
            <a:schemeClr val="bg2"/>
          </a:solidFill>
          <a:ln/>
        </p:spPr>
        <p:txBody>
          <a:bodyPr/>
          <a:lstStyle/>
          <a:p>
            <a:endParaRPr lang="ja-JP" altLang="en-US"/>
          </a:p>
        </p:txBody>
      </p:sp>
      <p:sp>
        <p:nvSpPr>
          <p:cNvPr id="21" name="Text 16"/>
          <p:cNvSpPr txBox="1"/>
          <p:nvPr/>
        </p:nvSpPr>
        <p:spPr>
          <a:xfrm>
            <a:off x="5077846"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学習場所を選ぶ</a:t>
            </a:r>
            <a:endParaRPr lang="en-US" sz="1700" dirty="0"/>
          </a:p>
        </p:txBody>
      </p:sp>
      <p:sp>
        <p:nvSpPr>
          <p:cNvPr id="22" name="Shape 17"/>
          <p:cNvSpPr/>
          <p:nvPr/>
        </p:nvSpPr>
        <p:spPr>
          <a:xfrm>
            <a:off x="7342449" y="4526280"/>
            <a:ext cx="2036003" cy="914400"/>
          </a:xfrm>
          <a:prstGeom prst="roundRect">
            <a:avLst>
              <a:gd name="adj" fmla="val 8000"/>
            </a:avLst>
          </a:prstGeom>
          <a:solidFill>
            <a:schemeClr val="bg2"/>
          </a:solidFill>
          <a:ln/>
        </p:spPr>
        <p:txBody>
          <a:bodyPr/>
          <a:lstStyle/>
          <a:p>
            <a:endParaRPr lang="ja-JP" altLang="en-US"/>
          </a:p>
        </p:txBody>
      </p:sp>
      <p:sp>
        <p:nvSpPr>
          <p:cNvPr id="23" name="Text 18"/>
          <p:cNvSpPr txBox="1"/>
          <p:nvPr/>
        </p:nvSpPr>
        <p:spPr>
          <a:xfrm>
            <a:off x="7342449"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発表方法を選ぶ</a:t>
            </a:r>
            <a:endParaRPr lang="en-US" sz="1700" dirty="0"/>
          </a:p>
        </p:txBody>
      </p:sp>
      <p:sp>
        <p:nvSpPr>
          <p:cNvPr id="24" name="Shape 19"/>
          <p:cNvSpPr/>
          <p:nvPr/>
        </p:nvSpPr>
        <p:spPr>
          <a:xfrm>
            <a:off x="9607052" y="4526280"/>
            <a:ext cx="2036003" cy="914400"/>
          </a:xfrm>
          <a:prstGeom prst="roundRect">
            <a:avLst>
              <a:gd name="adj" fmla="val 8000"/>
            </a:avLst>
          </a:prstGeom>
          <a:solidFill>
            <a:schemeClr val="accent4"/>
          </a:solidFill>
          <a:ln/>
        </p:spPr>
        <p:txBody>
          <a:bodyPr/>
          <a:lstStyle/>
          <a:p>
            <a:endParaRPr lang="ja-JP" altLang="en-US"/>
          </a:p>
        </p:txBody>
      </p:sp>
      <p:sp>
        <p:nvSpPr>
          <p:cNvPr id="25" name="Text 20"/>
          <p:cNvSpPr txBox="1"/>
          <p:nvPr/>
        </p:nvSpPr>
        <p:spPr>
          <a:xfrm>
            <a:off x="9607052" y="4526280"/>
            <a:ext cx="2036003" cy="914400"/>
          </a:xfrm>
          <a:prstGeom prst="rect">
            <a:avLst/>
          </a:prstGeom>
          <a:noFill/>
          <a:ln/>
        </p:spPr>
        <p:txBody>
          <a:bodyPr wrap="square" lIns="0" tIns="0" rIns="0" bIns="0" rtlCol="0" anchor="ctr"/>
          <a:lstStyle/>
          <a:p>
            <a:pPr marL="0" indent="0" algn="ctr">
              <a:buNone/>
            </a:pPr>
            <a:r>
              <a:rPr lang="en-US" sz="1700" b="1" dirty="0">
                <a:solidFill>
                  <a:schemeClr val="tx2"/>
                </a:solidFill>
              </a:rPr>
              <a:t>学習計画を修正する</a:t>
            </a:r>
            <a:endParaRPr lang="en-US" sz="1700" dirty="0"/>
          </a:p>
        </p:txBody>
      </p:sp>
      <p:sp>
        <p:nvSpPr>
          <p:cNvPr id="26" name="Text 21"/>
          <p:cNvSpPr txBox="1"/>
          <p:nvPr/>
        </p:nvSpPr>
        <p:spPr>
          <a:xfrm>
            <a:off x="548640" y="5623560"/>
            <a:ext cx="11094415" cy="365760"/>
          </a:xfrm>
          <a:prstGeom prst="rect">
            <a:avLst/>
          </a:prstGeom>
          <a:noFill/>
          <a:ln/>
        </p:spPr>
        <p:txBody>
          <a:bodyPr wrap="square" lIns="0" tIns="0" rIns="0" bIns="0" rtlCol="0" anchor="ctr"/>
          <a:lstStyle/>
          <a:p>
            <a:pPr marL="0" indent="0">
              <a:buNone/>
            </a:pPr>
            <a:r>
              <a:rPr lang="en-US" sz="1400" dirty="0">
                <a:solidFill>
                  <a:schemeClr val="accent5"/>
                </a:solidFill>
              </a:rPr>
              <a:t>以下の取組は、すべてこの子供観から出発している</a:t>
            </a:r>
            <a:endParaRPr lang="en-US" sz="14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1｜指導主事同士で考えよう</a:t>
            </a:r>
          </a:p>
        </p:txBody>
      </p:sp>
      <p:sp>
        <p:nvSpPr>
          <p:cNvPr id="3" name="Title 2"/>
          <p:cNvSpPr>
            <a:spLocks noGrp="1"/>
          </p:cNvSpPr>
          <p:nvPr>
            <p:ph type="title" idx="101"/>
          </p:nvPr>
        </p:nvSpPr>
        <p:spPr/>
        <p:txBody>
          <a:bodyPr/>
          <a:lstStyle/>
          <a:p>
            <a:r>
              <a:t>子供が自分で計画して進める学習は、授業のおよそ何割？</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天童中部小学校の自学・自習、マイプラン学習（MP）、フリースタイルプロジェクト（FSP）</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約２割</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約５割</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約８割</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話</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隣の人と相談（30秒）</a:t>
            </a:r>
          </a:p>
          <a:p>
            <a:pPr algn="l"/>
            <a:r>
              <a:rPr sz="1500" b="0">
                <a:solidFill>
                  <a:srgbClr val="D3E3D9"/>
                </a:solidFill>
              </a:rPr>
              <a:t>選んだ理由も話してみてください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４つの学びを組み合わせた「カラフルなカリキュラム」</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2560320"/>
        </p:xfrm>
        <a:graphic>
          <a:graphicData uri="http://schemas.openxmlformats.org/drawingml/2006/table">
            <a:tbl>
              <a:tblPr/>
              <a:tblGrid>
                <a:gridCol w="173736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gridCol w="2361895">
                  <a:extLst>
                    <a:ext uri="{9D8B030D-6E8A-4147-A177-3AD203B41FA5}">
                      <a16:colId xmlns:a16="http://schemas.microsoft.com/office/drawing/2014/main" val="20004"/>
                    </a:ext>
                  </a:extLst>
                </a:gridCol>
              </a:tblGrid>
              <a:tr h="777240">
                <a:tc>
                  <a:txBody>
                    <a:bodyPr/>
                    <a:lstStyle/>
                    <a:p>
                      <a:pPr marL="0" indent="0" algn="ctr">
                        <a:buNone/>
                      </a:pP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フリースタイル</a:t>
                      </a:r>
                      <a:endParaRPr lang="en-US" sz="1600" dirty="0"/>
                    </a:p>
                    <a:p>
                      <a:pPr marL="0" indent="0" algn="ctr">
                        <a:buNone/>
                      </a:pPr>
                      <a:r>
                        <a:rPr lang="en-US" sz="1600" b="1" dirty="0">
                          <a:solidFill>
                            <a:schemeClr val="bg1"/>
                          </a:solidFill>
                        </a:rPr>
                        <a:t>プロジェクト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マイプラン学習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自学・自習</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600" b="1" dirty="0">
                          <a:solidFill>
                            <a:schemeClr val="bg1"/>
                          </a:solidFill>
                        </a:rPr>
                        <a:t>仲間と教師で</a:t>
                      </a:r>
                      <a:endParaRPr lang="en-US" sz="1600" dirty="0"/>
                    </a:p>
                    <a:p>
                      <a:pPr marL="0" indent="0" algn="ctr">
                        <a:buNone/>
                      </a:pPr>
                      <a:r>
                        <a:rPr lang="en-US" sz="1600" b="1" dirty="0">
                          <a:solidFill>
                            <a:schemeClr val="bg1"/>
                          </a:solidFill>
                        </a:rPr>
                        <a:t>創る授業</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594360">
                <a:tc>
                  <a:txBody>
                    <a:bodyPr/>
                    <a:lstStyle/>
                    <a:p>
                      <a:pPr marL="0" indent="0" algn="ctr">
                        <a:buNone/>
                      </a:pPr>
                      <a:r>
                        <a:rPr lang="en-US" sz="1600" b="1" dirty="0">
                          <a:solidFill>
                            <a:schemeClr val="tx2"/>
                          </a:solidFill>
                        </a:rPr>
                        <a:t>学習内容</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a:txBody>
                    <a:bodyPr/>
                    <a:lstStyle/>
                    <a:p>
                      <a:pPr marL="0" indent="0" algn="ctr">
                        <a:buNone/>
                      </a:pPr>
                      <a:r>
                        <a:rPr lang="en-US" sz="1600" b="1" dirty="0">
                          <a:solidFill>
                            <a:schemeClr val="tx1"/>
                          </a:solidFill>
                        </a:rPr>
                        <a:t>総合</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gridSpan="3">
                  <a:txBody>
                    <a:bodyPr/>
                    <a:lstStyle/>
                    <a:p>
                      <a:pPr marL="0" indent="0" algn="ctr">
                        <a:buNone/>
                      </a:pPr>
                      <a:r>
                        <a:rPr lang="en-US" sz="1600" b="1" dirty="0">
                          <a:solidFill>
                            <a:schemeClr val="tx1"/>
                          </a:solidFill>
                        </a:rPr>
                        <a:t>教科</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extLst>
                  <a:ext uri="{0D108BD9-81ED-4DB2-BD59-A6C34878D82A}">
                    <a16:rowId xmlns:a16="http://schemas.microsoft.com/office/drawing/2014/main" val="10001"/>
                  </a:ext>
                </a:extLst>
              </a:tr>
              <a:tr h="594360">
                <a:tc>
                  <a:txBody>
                    <a:bodyPr/>
                    <a:lstStyle/>
                    <a:p>
                      <a:pPr marL="0" indent="0" algn="ctr">
                        <a:buNone/>
                      </a:pPr>
                      <a:r>
                        <a:rPr lang="en-US" sz="1600" b="1" dirty="0">
                          <a:solidFill>
                            <a:schemeClr val="tx2"/>
                          </a:solidFill>
                        </a:rPr>
                        <a:t>学習形態</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2">
                  <a:txBody>
                    <a:bodyPr/>
                    <a:lstStyle/>
                    <a:p>
                      <a:pPr marL="0" indent="0" algn="ctr">
                        <a:buNone/>
                      </a:pPr>
                      <a:r>
                        <a:rPr lang="en-US" sz="1600" b="1" dirty="0">
                          <a:solidFill>
                            <a:schemeClr val="tx1"/>
                          </a:solidFill>
                        </a:rPr>
                        <a:t>個別最適な学び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tc hMerge="1">
                  <a:txBody>
                    <a:bodyPr/>
                    <a:lstStyle/>
                    <a:p>
                      <a:endParaRPr lang="ja-JP"/>
                    </a:p>
                  </a:txBody>
                  <a:tcPr/>
                </a:tc>
                <a:tc gridSpan="2">
                  <a:txBody>
                    <a:bodyPr/>
                    <a:lstStyle/>
                    <a:p>
                      <a:pPr marL="0" indent="0" algn="ctr">
                        <a:buNone/>
                      </a:pPr>
                      <a:r>
                        <a:rPr lang="en-US" sz="1600" b="1" dirty="0">
                          <a:solidFill>
                            <a:schemeClr val="tx1"/>
                          </a:solidFill>
                        </a:rPr>
                        <a:t>協働的な学び</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extLst>
                  <a:ext uri="{0D108BD9-81ED-4DB2-BD59-A6C34878D82A}">
                    <a16:rowId xmlns:a16="http://schemas.microsoft.com/office/drawing/2014/main" val="10002"/>
                  </a:ext>
                </a:extLst>
              </a:tr>
              <a:tr h="594360">
                <a:tc>
                  <a:txBody>
                    <a:bodyPr/>
                    <a:lstStyle/>
                    <a:p>
                      <a:pPr marL="0" indent="0" algn="ctr">
                        <a:buNone/>
                      </a:pPr>
                      <a:r>
                        <a:rPr lang="en-US" sz="1600" b="1" dirty="0">
                          <a:solidFill>
                            <a:schemeClr val="tx2"/>
                          </a:solidFill>
                        </a:rPr>
                        <a:t>計画主体</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6"/>
                    </a:solidFill>
                  </a:tcPr>
                </a:tc>
                <a:tc gridSpan="3">
                  <a:txBody>
                    <a:bodyPr/>
                    <a:lstStyle/>
                    <a:p>
                      <a:pPr marL="0" indent="0" algn="ctr">
                        <a:buNone/>
                      </a:pPr>
                      <a:r>
                        <a:rPr lang="en-US" sz="1600" b="1" dirty="0">
                          <a:solidFill>
                            <a:schemeClr val="tx1"/>
                          </a:solidFill>
                        </a:rPr>
                        <a:t>子ども（たち）</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bg2"/>
                    </a:solidFill>
                  </a:tcPr>
                </a:tc>
                <a:tc hMerge="1">
                  <a:txBody>
                    <a:bodyPr/>
                    <a:lstStyle/>
                    <a:p>
                      <a:endParaRPr lang="ja-JP"/>
                    </a:p>
                  </a:txBody>
                  <a:tcPr/>
                </a:tc>
                <a:tc hMerge="1">
                  <a:txBody>
                    <a:bodyPr/>
                    <a:lstStyle/>
                    <a:p>
                      <a:endParaRPr lang="ja-JP"/>
                    </a:p>
                  </a:txBody>
                  <a:tcPr/>
                </a:tc>
                <a:tc>
                  <a:txBody>
                    <a:bodyPr/>
                    <a:lstStyle/>
                    <a:p>
                      <a:pPr marL="0" indent="0" algn="ctr">
                        <a:buNone/>
                      </a:pPr>
                      <a:r>
                        <a:rPr lang="en-US" sz="1600" b="1" dirty="0">
                          <a:solidFill>
                            <a:schemeClr val="tx1"/>
                          </a:solidFill>
                        </a:rPr>
                        <a:t>教師</a:t>
                      </a:r>
                      <a:endParaRPr lang="en-US" sz="1600" dirty="0"/>
                    </a:p>
                  </a:txBody>
                  <a:tcPr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chemeClr val="accent4"/>
                    </a:solidFill>
                  </a:tcPr>
                </a:tc>
                <a:extLst>
                  <a:ext uri="{0D108BD9-81ED-4DB2-BD59-A6C34878D82A}">
                    <a16:rowId xmlns:a16="http://schemas.microsoft.com/office/drawing/2014/main" val="10003"/>
                  </a:ext>
                </a:extLst>
              </a:tr>
            </a:tbl>
          </a:graphicData>
        </a:graphic>
      </p:graphicFrame>
      <p:sp>
        <p:nvSpPr>
          <p:cNvPr id="5" name="Shape 2"/>
          <p:cNvSpPr/>
          <p:nvPr/>
        </p:nvSpPr>
        <p:spPr>
          <a:xfrm>
            <a:off x="548640" y="4937760"/>
            <a:ext cx="5410048" cy="1051560"/>
          </a:xfrm>
          <a:prstGeom prst="roundRect">
            <a:avLst>
              <a:gd name="adj" fmla="val 4444"/>
            </a:avLst>
          </a:prstGeom>
          <a:solidFill>
            <a:schemeClr val="tx2"/>
          </a:solidFill>
          <a:ln/>
        </p:spPr>
        <p:txBody>
          <a:bodyPr/>
          <a:lstStyle/>
          <a:p>
            <a:endParaRPr lang="ja-JP" altLang="en-US"/>
          </a:p>
        </p:txBody>
      </p:sp>
      <p:sp>
        <p:nvSpPr>
          <p:cNvPr id="4" name="Text 3"/>
          <p:cNvSpPr txBox="1"/>
          <p:nvPr/>
        </p:nvSpPr>
        <p:spPr>
          <a:xfrm>
            <a:off x="822960"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ねらい</a:t>
            </a:r>
            <a:endParaRPr lang="en-US" sz="1400" dirty="0"/>
          </a:p>
          <a:p>
            <a:pPr marL="0" indent="0">
              <a:buNone/>
            </a:pPr>
            <a:r>
              <a:rPr lang="en-US" sz="1700" b="1" dirty="0">
                <a:solidFill>
                  <a:schemeClr val="bg1"/>
                </a:solidFill>
              </a:rPr>
              <a:t>個別最適な学びと協働的な学びの一体的な充実を、一つの授業ではなくカリキュラム全体で実現する</a:t>
            </a:r>
            <a:endParaRPr lang="en-US" sz="1400" dirty="0"/>
          </a:p>
        </p:txBody>
      </p:sp>
      <p:sp>
        <p:nvSpPr>
          <p:cNvPr id="7" name="Shape 4"/>
          <p:cNvSpPr/>
          <p:nvPr/>
        </p:nvSpPr>
        <p:spPr>
          <a:xfrm>
            <a:off x="6233008" y="4937760"/>
            <a:ext cx="5410048" cy="1051560"/>
          </a:xfrm>
          <a:prstGeom prst="roundRect">
            <a:avLst>
              <a:gd name="adj" fmla="val 4444"/>
            </a:avLst>
          </a:prstGeom>
          <a:solidFill>
            <a:schemeClr val="bg2"/>
          </a:solidFill>
          <a:ln/>
        </p:spPr>
        <p:txBody>
          <a:bodyPr/>
          <a:lstStyle/>
          <a:p>
            <a:endParaRPr lang="ja-JP" altLang="en-US"/>
          </a:p>
        </p:txBody>
      </p:sp>
      <p:sp>
        <p:nvSpPr>
          <p:cNvPr id="8" name="Text 5"/>
          <p:cNvSpPr txBox="1"/>
          <p:nvPr/>
        </p:nvSpPr>
        <p:spPr>
          <a:xfrm>
            <a:off x="6507328" y="4937760"/>
            <a:ext cx="4861408" cy="1051560"/>
          </a:xfrm>
          <a:prstGeom prst="rect">
            <a:avLst/>
          </a:prstGeom>
          <a:noFill/>
          <a:ln/>
        </p:spPr>
        <p:txBody>
          <a:bodyPr wrap="square" lIns="0" tIns="0" rIns="0" bIns="0" rtlCol="0" anchor="ctr"/>
          <a:lstStyle/>
          <a:p>
            <a:pPr marL="0" indent="0">
              <a:buNone/>
            </a:pPr>
            <a:r>
              <a:rPr lang="en-US" sz="1400" b="1" dirty="0">
                <a:solidFill>
                  <a:schemeClr val="accent2"/>
                </a:solidFill>
              </a:rPr>
              <a:t>例：自学・自習</a:t>
            </a:r>
            <a:endParaRPr lang="en-US" sz="1400" dirty="0"/>
          </a:p>
          <a:p>
            <a:pPr marL="0" indent="0">
              <a:buNone/>
            </a:pPr>
            <a:r>
              <a:rPr lang="en-US" sz="1500" dirty="0">
                <a:solidFill>
                  <a:schemeClr val="tx1"/>
                </a:solidFill>
              </a:rPr>
              <a:t>司会・板書・学習進行を児童が担い、自分たちで授業を成立させる。計画→実践→振り返り→改善のサイクルを子供が回す</a:t>
            </a:r>
            <a:endParaRPr lang="en-US" sz="1400" dirty="0"/>
          </a:p>
        </p:txBody>
      </p:sp>
      <p:sp>
        <p:nvSpPr>
          <p:cNvPr id="9" name="Text 6"/>
          <p:cNvSpPr txBox="1"/>
          <p:nvPr/>
        </p:nvSpPr>
        <p:spPr>
          <a:xfrm>
            <a:off x="7985455" y="6053328"/>
            <a:ext cx="3657600" cy="256032"/>
          </a:xfrm>
          <a:prstGeom prst="rect">
            <a:avLst/>
          </a:prstGeom>
          <a:noFill/>
          <a:ln/>
        </p:spPr>
        <p:txBody>
          <a:bodyPr wrap="square" lIns="0" tIns="0" rIns="0" bIns="0" rtlCol="0" anchor="ctr"/>
          <a:lstStyle/>
          <a:p>
            <a:pPr marL="0" indent="0" algn="r">
              <a:buNone/>
            </a:pPr>
            <a:r>
              <a:rPr lang="en-US" sz="1100" dirty="0">
                <a:solidFill>
                  <a:schemeClr val="accent5"/>
                </a:solidFill>
              </a:rPr>
              <a:t>※講演資料の表を再構成</a:t>
            </a:r>
            <a:endParaRPr lang="en-US" sz="11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26" name="割合_約2割"/>
          <p:cNvSpPr/>
          <p:nvPr/>
        </p:nvSpPr>
        <p:spPr>
          <a:xfrm>
            <a:off x="548640" y="4206240"/>
            <a:ext cx="2182307" cy="59436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割合_約8割"/>
          <p:cNvSpPr/>
          <p:nvPr/>
        </p:nvSpPr>
        <p:spPr>
          <a:xfrm>
            <a:off x="2767523" y="4206240"/>
            <a:ext cx="8875532" cy="59436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206240"/>
            <a:ext cx="2182307" cy="594360"/>
          </a:xfrm>
          <a:prstGeom prst="rect">
            <a:avLst/>
          </a:prstGeom>
          <a:noFill/>
        </p:spPr>
        <p:txBody>
          <a:bodyPr wrap="square" lIns="0" rIns="0" tIns="0" bIns="0" anchor="ctr">
            <a:spAutoFit/>
          </a:bodyPr>
          <a:lstStyle/>
          <a:p>
            <a:pPr algn="ctr"/>
            <a:r>
              <a:rPr sz="1500" b="1">
                <a:solidFill>
                  <a:srgbClr val="FFFFFF"/>
                </a:solidFill>
              </a:rPr>
              <a:t>約２割</a:t>
            </a:r>
          </a:p>
          <a:p>
            <a:pPr algn="ctr"/>
            <a:r>
              <a:rPr sz="1100">
                <a:solidFill>
                  <a:srgbClr val="FFFFFF"/>
                </a:solidFill>
              </a:rPr>
              <a:t>自学自習・MP・FSP</a:t>
            </a:r>
          </a:p>
        </p:txBody>
      </p:sp>
      <p:sp>
        <p:nvSpPr>
          <p:cNvPr id="29" name="TextBox 28"/>
          <p:cNvSpPr txBox="1"/>
          <p:nvPr/>
        </p:nvSpPr>
        <p:spPr>
          <a:xfrm>
            <a:off x="2996123" y="4206240"/>
            <a:ext cx="8418332" cy="594360"/>
          </a:xfrm>
          <a:prstGeom prst="rect">
            <a:avLst/>
          </a:prstGeom>
          <a:noFill/>
        </p:spPr>
        <p:txBody>
          <a:bodyPr wrap="square" lIns="0" rIns="0" tIns="0" bIns="0" anchor="ctr">
            <a:spAutoFit/>
          </a:bodyPr>
          <a:lstStyle/>
          <a:p>
            <a:pPr algn="l"/>
            <a:r>
              <a:rPr sz="1600" b="1">
                <a:solidFill>
                  <a:srgbClr val="FFFFFF"/>
                </a:solidFill>
              </a:rPr>
              <a:t>約８割　一斉授業（子供と教師が共に創る授業）</a:t>
            </a:r>
            <a:r>
              <a:rPr sz="1600" b="1">
                <a:solidFill>
                  <a:srgbClr val="FBEADB"/>
                </a:solidFill>
              </a:rPr>
              <a:t>　＝ 土台は普段の授業</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01　天童中部小学校の取組</a:t>
            </a:r>
          </a:p>
        </p:txBody>
      </p:sp>
      <p:sp>
        <p:nvSpPr>
          <p:cNvPr id="3" name="Title 2"/>
          <p:cNvSpPr>
            <a:spLocks noGrp="1"/>
          </p:cNvSpPr>
          <p:nvPr>
            <p:ph type="title" idx="101"/>
          </p:nvPr>
        </p:nvSpPr>
        <p:spPr/>
        <p:txBody>
          <a:bodyPr/>
          <a:lstStyle/>
          <a:p>
            <a:r>
              <a:t>土台は約８割の普段の授業</a:t>
            </a:r>
          </a:p>
        </p:txBody>
      </p:sp>
      <p:sp>
        <p:nvSpPr>
          <p:cNvPr id="4" name="TextBox 3"/>
          <p:cNvSpPr txBox="1"/>
          <p:nvPr/>
        </p:nvSpPr>
        <p:spPr>
          <a:xfrm>
            <a:off x="548640" y="1508760"/>
            <a:ext cx="4754880" cy="365760"/>
          </a:xfrm>
          <a:prstGeom prst="rect">
            <a:avLst/>
          </a:prstGeom>
          <a:noFill/>
        </p:spPr>
        <p:txBody>
          <a:bodyPr wrap="square" lIns="0" rIns="0" tIns="0" bIns="0" anchor="ctr">
            <a:spAutoFit/>
          </a:bodyPr>
          <a:lstStyle/>
          <a:p>
            <a:pPr algn="l"/>
            <a:r>
              <a:rPr sz="1500" b="1">
                <a:solidFill>
                  <a:srgbClr val="D9702C"/>
                </a:solidFill>
              </a:rPr>
              <a:t>子供と教師が共に創る授業（公開授業から）</a:t>
            </a:r>
          </a:p>
        </p:txBody>
      </p:sp>
      <p:sp>
        <p:nvSpPr>
          <p:cNvPr id="5" name="Rounded Rectangle 4"/>
          <p:cNvSpPr/>
          <p:nvPr/>
        </p:nvSpPr>
        <p:spPr>
          <a:xfrm>
            <a:off x="548640" y="196596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214884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1</a:t>
            </a:r>
          </a:p>
        </p:txBody>
      </p:sp>
      <p:sp>
        <p:nvSpPr>
          <p:cNvPr id="7" name="TextBox 6"/>
          <p:cNvSpPr txBox="1"/>
          <p:nvPr/>
        </p:nvSpPr>
        <p:spPr>
          <a:xfrm>
            <a:off x="1417320" y="2011679"/>
            <a:ext cx="3749039" cy="777240"/>
          </a:xfrm>
          <a:prstGeom prst="rect">
            <a:avLst/>
          </a:prstGeom>
          <a:noFill/>
        </p:spPr>
        <p:txBody>
          <a:bodyPr wrap="square" lIns="0" rIns="0" tIns="0" bIns="0" anchor="ctr">
            <a:spAutoFit/>
          </a:bodyPr>
          <a:lstStyle/>
          <a:p>
            <a:pPr algn="l"/>
            <a:r>
              <a:rPr sz="1600" b="1">
                <a:solidFill>
                  <a:srgbClr val="1F5A47"/>
                </a:solidFill>
              </a:rPr>
              <a:t>学び方を言葉で示す</a:t>
            </a:r>
          </a:p>
          <a:p>
            <a:pPr algn="l"/>
            <a:r>
              <a:rPr sz="1300" b="0">
                <a:solidFill>
                  <a:srgbClr val="1E2B27"/>
                </a:solidFill>
              </a:rPr>
              <a:t>「答えだけ」でなく「式の意味、図と結びつける」</a:t>
            </a:r>
          </a:p>
        </p:txBody>
      </p:sp>
      <p:sp>
        <p:nvSpPr>
          <p:cNvPr id="8" name="Rounded Rectangle 7"/>
          <p:cNvSpPr/>
          <p:nvPr/>
        </p:nvSpPr>
        <p:spPr>
          <a:xfrm>
            <a:off x="548640" y="2971800"/>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3154680"/>
            <a:ext cx="502920" cy="5029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2</a:t>
            </a:r>
          </a:p>
        </p:txBody>
      </p:sp>
      <p:sp>
        <p:nvSpPr>
          <p:cNvPr id="10" name="TextBox 9"/>
          <p:cNvSpPr txBox="1"/>
          <p:nvPr/>
        </p:nvSpPr>
        <p:spPr>
          <a:xfrm>
            <a:off x="1417320" y="3017520"/>
            <a:ext cx="3749039" cy="777240"/>
          </a:xfrm>
          <a:prstGeom prst="rect">
            <a:avLst/>
          </a:prstGeom>
          <a:noFill/>
        </p:spPr>
        <p:txBody>
          <a:bodyPr wrap="square" lIns="0" rIns="0" tIns="0" bIns="0" anchor="ctr">
            <a:spAutoFit/>
          </a:bodyPr>
          <a:lstStyle/>
          <a:p>
            <a:pPr algn="l"/>
            <a:r>
              <a:rPr sz="1600" b="1">
                <a:solidFill>
                  <a:srgbClr val="1F5A47"/>
                </a:solidFill>
              </a:rPr>
              <a:t>考えを出し合い、つなぐ</a:t>
            </a:r>
          </a:p>
          <a:p>
            <a:pPr algn="l"/>
            <a:r>
              <a:rPr sz="1300" b="0">
                <a:solidFill>
                  <a:srgbClr val="1E2B27"/>
                </a:solidFill>
              </a:rPr>
              <a:t>子供が黒板に考えを書き、全体で練り上げる</a:t>
            </a:r>
          </a:p>
        </p:txBody>
      </p:sp>
      <p:sp>
        <p:nvSpPr>
          <p:cNvPr id="11" name="Rounded Rectangle 10"/>
          <p:cNvSpPr/>
          <p:nvPr/>
        </p:nvSpPr>
        <p:spPr>
          <a:xfrm>
            <a:off x="548640" y="3977639"/>
            <a:ext cx="4754880" cy="86868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4160520"/>
            <a:ext cx="502920" cy="5029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rPr>
              <a:t>3</a:t>
            </a:r>
          </a:p>
        </p:txBody>
      </p:sp>
      <p:sp>
        <p:nvSpPr>
          <p:cNvPr id="13" name="TextBox 12"/>
          <p:cNvSpPr txBox="1"/>
          <p:nvPr/>
        </p:nvSpPr>
        <p:spPr>
          <a:xfrm>
            <a:off x="1417320" y="4023359"/>
            <a:ext cx="3749039" cy="777240"/>
          </a:xfrm>
          <a:prstGeom prst="rect">
            <a:avLst/>
          </a:prstGeom>
          <a:noFill/>
        </p:spPr>
        <p:txBody>
          <a:bodyPr wrap="square" lIns="0" rIns="0" tIns="0" bIns="0" anchor="ctr">
            <a:spAutoFit/>
          </a:bodyPr>
          <a:lstStyle/>
          <a:p>
            <a:pPr algn="l"/>
            <a:r>
              <a:rPr sz="1600" b="1">
                <a:solidFill>
                  <a:srgbClr val="1F5A47"/>
                </a:solidFill>
              </a:rPr>
              <a:t>任せる２割を支える</a:t>
            </a:r>
          </a:p>
          <a:p>
            <a:pPr algn="l"/>
            <a:r>
              <a:rPr sz="1300" b="0">
                <a:solidFill>
                  <a:srgbClr val="1E2B27"/>
                </a:solidFill>
              </a:rPr>
              <a:t>身に付けた学び方がMP学習・FSPで生きる</a:t>
            </a:r>
          </a:p>
        </p:txBody>
      </p:sp>
      <p:sp>
        <p:nvSpPr>
          <p:cNvPr id="14" name="Rounded Rectangle 13"/>
          <p:cNvSpPr/>
          <p:nvPr/>
        </p:nvSpPr>
        <p:spPr>
          <a:xfrm>
            <a:off x="548640" y="5029200"/>
            <a:ext cx="4754880" cy="10515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29200"/>
            <a:ext cx="4297680" cy="1051560"/>
          </a:xfrm>
          <a:prstGeom prst="rect">
            <a:avLst/>
          </a:prstGeom>
          <a:noFill/>
        </p:spPr>
        <p:txBody>
          <a:bodyPr wrap="square" lIns="0" rIns="0" tIns="0" bIns="0" anchor="ctr">
            <a:spAutoFit/>
          </a:bodyPr>
          <a:lstStyle/>
          <a:p>
            <a:pPr algn="l"/>
            <a:r>
              <a:rPr sz="1700" b="1">
                <a:solidFill>
                  <a:srgbClr val="FFFFFF"/>
                </a:solidFill>
              </a:rPr>
              <a:t>子供に任せる２割は、</a:t>
            </a:r>
          </a:p>
          <a:p>
            <a:pPr algn="l"/>
            <a:r>
              <a:rPr sz="1700" b="1">
                <a:solidFill>
                  <a:srgbClr val="FBEADB"/>
                </a:solidFill>
              </a:rPr>
              <a:t>８割の普段の授業が支えている</a:t>
            </a:r>
          </a:p>
        </p:txBody>
      </p:sp>
      <p:pic>
        <p:nvPicPr>
          <p:cNvPr id="16" name="写真 IMG_0320.JPG" descr="IMG_0320.JPG"/>
          <p:cNvPicPr>
            <a:picLocks noChangeAspect="1"/>
          </p:cNvPicPr>
          <p:nvPr/>
        </p:nvPicPr>
        <p:blipFill>
          <a:blip r:embed="rId2"/>
          <a:srcRect t="126" b="126"/>
          <a:stretch>
            <a:fillRect/>
          </a:stretch>
        </p:blipFill>
        <p:spPr>
          <a:xfrm>
            <a:off x="5577840" y="1508760"/>
            <a:ext cx="2964027" cy="2217420"/>
          </a:xfrm>
          <a:prstGeom prst="rect">
            <a:avLst/>
          </a:prstGeom>
        </p:spPr>
      </p:pic>
      <p:pic>
        <p:nvPicPr>
          <p:cNvPr id="17" name="写真 IMG_0318.JPG" descr="IMG_0318.JPG"/>
          <p:cNvPicPr>
            <a:picLocks noChangeAspect="1"/>
          </p:cNvPicPr>
          <p:nvPr/>
        </p:nvPicPr>
        <p:blipFill>
          <a:blip r:embed="rId3"/>
          <a:srcRect t="126" b="126"/>
          <a:stretch>
            <a:fillRect/>
          </a:stretch>
        </p:blipFill>
        <p:spPr>
          <a:xfrm>
            <a:off x="8679027" y="1508760"/>
            <a:ext cx="2964027" cy="2217420"/>
          </a:xfrm>
          <a:prstGeom prst="rect">
            <a:avLst/>
          </a:prstGeom>
        </p:spPr>
      </p:pic>
      <p:pic>
        <p:nvPicPr>
          <p:cNvPr id="18" name="写真 IMG_0268.JPG" descr="IMG_0268.JPG"/>
          <p:cNvPicPr>
            <a:picLocks noChangeAspect="1"/>
          </p:cNvPicPr>
          <p:nvPr/>
        </p:nvPicPr>
        <p:blipFill>
          <a:blip r:embed="rId4"/>
          <a:srcRect b="252"/>
          <a:stretch>
            <a:fillRect/>
          </a:stretch>
        </p:blipFill>
        <p:spPr>
          <a:xfrm>
            <a:off x="5577840" y="3863339"/>
            <a:ext cx="2964027" cy="2217420"/>
          </a:xfrm>
          <a:prstGeom prst="rect">
            <a:avLst/>
          </a:prstGeom>
        </p:spPr>
      </p:pic>
      <p:pic>
        <p:nvPicPr>
          <p:cNvPr id="19" name="写真 IMG_0270.JPG" descr="IMG_0270.JPG"/>
          <p:cNvPicPr>
            <a:picLocks noChangeAspect="1"/>
          </p:cNvPicPr>
          <p:nvPr/>
        </p:nvPicPr>
        <p:blipFill>
          <a:blip r:embed="rId5"/>
          <a:srcRect t="126" b="126"/>
          <a:stretch>
            <a:fillRect/>
          </a:stretch>
        </p:blipFill>
        <p:spPr>
          <a:xfrm>
            <a:off x="8679027" y="3863339"/>
            <a:ext cx="2964027" cy="2217420"/>
          </a:xfrm>
          <a:prstGeom prst="rect">
            <a:avLst/>
          </a:prstGeom>
        </p:spPr>
      </p:pic>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フリースタイルプロジェクト（FSP）</a:t>
            </a:r>
            <a:endParaRPr lang="en-US" sz="3000" dirty="0"/>
          </a:p>
        </p:txBody>
      </p:sp>
      <p:sp>
        <p:nvSpPr>
          <p:cNvPr id="6" name="Shape 4"/>
          <p:cNvSpPr/>
          <p:nvPr/>
        </p:nvSpPr>
        <p:spPr>
          <a:xfrm>
            <a:off x="548640" y="1508760"/>
            <a:ext cx="1508760" cy="640080"/>
          </a:xfrm>
          <a:prstGeom prst="roundRect">
            <a:avLst>
              <a:gd name="adj" fmla="val 50000"/>
            </a:avLst>
          </a:prstGeom>
          <a:solidFill>
            <a:schemeClr val="accent2"/>
          </a:solidFill>
          <a:ln/>
        </p:spPr>
        <p:txBody>
          <a:bodyPr/>
          <a:lstStyle/>
          <a:p>
            <a:endParaRPr lang="ja-JP" altLang="en-US"/>
          </a:p>
        </p:txBody>
      </p:sp>
      <p:sp>
        <p:nvSpPr>
          <p:cNvPr id="7" name="Text 5"/>
          <p:cNvSpPr txBox="1"/>
          <p:nvPr/>
        </p:nvSpPr>
        <p:spPr>
          <a:xfrm>
            <a:off x="54864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テーマ設定</a:t>
            </a:r>
            <a:endParaRPr lang="en-US" sz="1700" dirty="0"/>
          </a:p>
        </p:txBody>
      </p:sp>
      <p:pic>
        <p:nvPicPr>
          <p:cNvPr id="8" name="Image 0" descr="preencoded.png"/>
          <p:cNvPicPr>
            <a:picLocks noChangeAspect="1"/>
          </p:cNvPicPr>
          <p:nvPr/>
        </p:nvPicPr>
        <p:blipFill>
          <a:blip r:embed="rId5"/>
          <a:stretch>
            <a:fillRect/>
          </a:stretch>
        </p:blipFill>
        <p:spPr>
          <a:xfrm>
            <a:off x="2090928" y="1709928"/>
            <a:ext cx="237744" cy="237744"/>
          </a:xfrm>
          <a:prstGeom prst="rect">
            <a:avLst/>
          </a:prstGeom>
        </p:spPr>
      </p:pic>
      <p:sp>
        <p:nvSpPr>
          <p:cNvPr id="9" name="Shape 6"/>
          <p:cNvSpPr/>
          <p:nvPr/>
        </p:nvSpPr>
        <p:spPr>
          <a:xfrm>
            <a:off x="2362200" y="1508760"/>
            <a:ext cx="1508760" cy="640080"/>
          </a:xfrm>
          <a:prstGeom prst="roundRect">
            <a:avLst>
              <a:gd name="adj" fmla="val 50000"/>
            </a:avLst>
          </a:prstGeom>
          <a:solidFill>
            <a:schemeClr val="tx2"/>
          </a:solidFill>
          <a:ln/>
        </p:spPr>
        <p:txBody>
          <a:bodyPr/>
          <a:lstStyle/>
          <a:p>
            <a:endParaRPr lang="ja-JP" altLang="en-US"/>
          </a:p>
        </p:txBody>
      </p:sp>
      <p:sp>
        <p:nvSpPr>
          <p:cNvPr id="10" name="Text 7"/>
          <p:cNvSpPr txBox="1"/>
          <p:nvPr/>
        </p:nvSpPr>
        <p:spPr>
          <a:xfrm>
            <a:off x="236220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探究</a:t>
            </a:r>
            <a:endParaRPr lang="en-US" sz="1700" dirty="0"/>
          </a:p>
        </p:txBody>
      </p:sp>
      <p:pic>
        <p:nvPicPr>
          <p:cNvPr id="11" name="Image 1" descr="preencoded.png"/>
          <p:cNvPicPr>
            <a:picLocks noChangeAspect="1"/>
          </p:cNvPicPr>
          <p:nvPr/>
        </p:nvPicPr>
        <p:blipFill>
          <a:blip r:embed="rId5"/>
          <a:stretch>
            <a:fillRect/>
          </a:stretch>
        </p:blipFill>
        <p:spPr>
          <a:xfrm>
            <a:off x="3904488" y="1709928"/>
            <a:ext cx="237744" cy="237744"/>
          </a:xfrm>
          <a:prstGeom prst="rect">
            <a:avLst/>
          </a:prstGeom>
        </p:spPr>
      </p:pic>
      <p:sp>
        <p:nvSpPr>
          <p:cNvPr id="12" name="Shape 8"/>
          <p:cNvSpPr/>
          <p:nvPr/>
        </p:nvSpPr>
        <p:spPr>
          <a:xfrm>
            <a:off x="4175760" y="1508760"/>
            <a:ext cx="1508760" cy="640080"/>
          </a:xfrm>
          <a:prstGeom prst="roundRect">
            <a:avLst>
              <a:gd name="adj" fmla="val 50000"/>
            </a:avLst>
          </a:prstGeom>
          <a:solidFill>
            <a:schemeClr val="tx2"/>
          </a:solidFill>
          <a:ln/>
        </p:spPr>
        <p:txBody>
          <a:bodyPr/>
          <a:lstStyle/>
          <a:p>
            <a:endParaRPr lang="ja-JP" altLang="en-US"/>
          </a:p>
        </p:txBody>
      </p:sp>
      <p:sp>
        <p:nvSpPr>
          <p:cNvPr id="13" name="Text 9"/>
          <p:cNvSpPr txBox="1"/>
          <p:nvPr/>
        </p:nvSpPr>
        <p:spPr>
          <a:xfrm>
            <a:off x="417576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発表</a:t>
            </a:r>
            <a:endParaRPr lang="en-US" sz="1700" dirty="0"/>
          </a:p>
        </p:txBody>
      </p:sp>
      <p:pic>
        <p:nvPicPr>
          <p:cNvPr id="14" name="Image 2" descr="preencoded.png"/>
          <p:cNvPicPr>
            <a:picLocks noChangeAspect="1"/>
          </p:cNvPicPr>
          <p:nvPr/>
        </p:nvPicPr>
        <p:blipFill>
          <a:blip r:embed="rId5"/>
          <a:stretch>
            <a:fillRect/>
          </a:stretch>
        </p:blipFill>
        <p:spPr>
          <a:xfrm>
            <a:off x="5718048" y="1709928"/>
            <a:ext cx="237744" cy="237744"/>
          </a:xfrm>
          <a:prstGeom prst="rect">
            <a:avLst/>
          </a:prstGeom>
        </p:spPr>
      </p:pic>
      <p:sp>
        <p:nvSpPr>
          <p:cNvPr id="15" name="Shape 10"/>
          <p:cNvSpPr/>
          <p:nvPr/>
        </p:nvSpPr>
        <p:spPr>
          <a:xfrm>
            <a:off x="5989320" y="1508760"/>
            <a:ext cx="1508760" cy="640080"/>
          </a:xfrm>
          <a:prstGeom prst="roundRect">
            <a:avLst>
              <a:gd name="adj" fmla="val 50000"/>
            </a:avLst>
          </a:prstGeom>
          <a:solidFill>
            <a:schemeClr val="tx2"/>
          </a:solidFill>
          <a:ln/>
        </p:spPr>
        <p:txBody>
          <a:bodyPr/>
          <a:lstStyle/>
          <a:p>
            <a:endParaRPr lang="ja-JP" altLang="en-US"/>
          </a:p>
        </p:txBody>
      </p:sp>
      <p:sp>
        <p:nvSpPr>
          <p:cNvPr id="16" name="Text 11"/>
          <p:cNvSpPr txBox="1"/>
          <p:nvPr/>
        </p:nvSpPr>
        <p:spPr>
          <a:xfrm>
            <a:off x="5989320" y="1508760"/>
            <a:ext cx="1508760" cy="640080"/>
          </a:xfrm>
          <a:prstGeom prst="rect">
            <a:avLst/>
          </a:prstGeom>
          <a:noFill/>
          <a:ln/>
        </p:spPr>
        <p:txBody>
          <a:bodyPr wrap="square" lIns="0" tIns="0" rIns="0" bIns="0" rtlCol="0" anchor="ctr"/>
          <a:lstStyle/>
          <a:p>
            <a:pPr marL="0" indent="0" algn="ctr">
              <a:buNone/>
            </a:pPr>
            <a:r>
              <a:rPr lang="en-US" sz="1700" b="1" dirty="0">
                <a:solidFill>
                  <a:schemeClr val="bg1"/>
                </a:solidFill>
              </a:rPr>
              <a:t>省察</a:t>
            </a:r>
            <a:endParaRPr lang="en-US" sz="1700" dirty="0"/>
          </a:p>
        </p:txBody>
      </p:sp>
      <p:sp>
        <p:nvSpPr>
          <p:cNvPr id="17" name="Text 12"/>
          <p:cNvSpPr txBox="1"/>
          <p:nvPr/>
        </p:nvSpPr>
        <p:spPr>
          <a:xfrm>
            <a:off x="548640" y="2286000"/>
            <a:ext cx="6949440" cy="411480"/>
          </a:xfrm>
          <a:prstGeom prst="rect">
            <a:avLst/>
          </a:prstGeom>
          <a:noFill/>
          <a:ln/>
        </p:spPr>
        <p:txBody>
          <a:bodyPr wrap="square" lIns="0" tIns="0" rIns="0" bIns="0" rtlCol="0" anchor="ctr"/>
          <a:lstStyle/>
          <a:p>
            <a:pPr marL="0" indent="0">
              <a:buNone/>
            </a:pPr>
            <a:r>
              <a:rPr lang="en-US" sz="1500" b="1" dirty="0">
                <a:solidFill>
                  <a:schemeClr val="accent2"/>
                </a:solidFill>
              </a:rPr>
              <a:t>テーマは興味・関心から　</a:t>
            </a:r>
            <a:r>
              <a:rPr lang="en-US" sz="1500" dirty="0">
                <a:solidFill>
                  <a:schemeClr val="tx1"/>
                </a:solidFill>
              </a:rPr>
              <a:t>野球／犬／ネイル／ピアノ／野菜づくり など</a:t>
            </a:r>
            <a:endParaRPr lang="en-US" sz="1500" dirty="0"/>
          </a:p>
        </p:txBody>
      </p:sp>
      <p:sp>
        <p:nvSpPr>
          <p:cNvPr id="18" name="Shape 13"/>
          <p:cNvSpPr/>
          <p:nvPr/>
        </p:nvSpPr>
        <p:spPr>
          <a:xfrm>
            <a:off x="548640" y="2880360"/>
            <a:ext cx="6949440" cy="1783080"/>
          </a:xfrm>
          <a:prstGeom prst="roundRect">
            <a:avLst>
              <a:gd name="adj" fmla="val 4103"/>
            </a:avLst>
          </a:prstGeom>
          <a:solidFill>
            <a:schemeClr val="bg2"/>
          </a:solidFill>
          <a:ln/>
        </p:spPr>
        <p:txBody>
          <a:bodyPr/>
          <a:lstStyle/>
          <a:p>
            <a:endParaRPr lang="ja-JP" altLang="en-US"/>
          </a:p>
        </p:txBody>
      </p:sp>
      <p:sp>
        <p:nvSpPr>
          <p:cNvPr id="19" name="Text 14"/>
          <p:cNvSpPr txBox="1"/>
          <p:nvPr/>
        </p:nvSpPr>
        <p:spPr>
          <a:xfrm>
            <a:off x="777240" y="2971800"/>
            <a:ext cx="6492240" cy="365760"/>
          </a:xfrm>
          <a:prstGeom prst="rect">
            <a:avLst/>
          </a:prstGeom>
          <a:noFill/>
          <a:ln/>
        </p:spPr>
        <p:txBody>
          <a:bodyPr wrap="square" lIns="0" tIns="0" rIns="0" bIns="0" rtlCol="0" anchor="ctr"/>
          <a:lstStyle/>
          <a:p>
            <a:pPr marL="0" indent="0">
              <a:buNone/>
            </a:pPr>
            <a:r>
              <a:rPr lang="en-US" sz="1600" b="1" dirty="0">
                <a:solidFill>
                  <a:schemeClr val="tx2"/>
                </a:solidFill>
              </a:rPr>
              <a:t>計画・振り返りカードによる伴走</a:t>
            </a:r>
            <a:endParaRPr lang="en-US" sz="1600" dirty="0"/>
          </a:p>
        </p:txBody>
      </p:sp>
      <p:sp>
        <p:nvSpPr>
          <p:cNvPr id="20" name="Shape 15"/>
          <p:cNvSpPr/>
          <p:nvPr/>
        </p:nvSpPr>
        <p:spPr>
          <a:xfrm>
            <a:off x="777240" y="3465576"/>
            <a:ext cx="329184" cy="329184"/>
          </a:xfrm>
          <a:prstGeom prst="ellipse">
            <a:avLst/>
          </a:prstGeom>
          <a:solidFill>
            <a:schemeClr val="accent1"/>
          </a:solidFill>
          <a:ln/>
        </p:spPr>
        <p:txBody>
          <a:bodyPr/>
          <a:lstStyle/>
          <a:p>
            <a:endParaRPr lang="ja-JP" altLang="en-US"/>
          </a:p>
        </p:txBody>
      </p:sp>
      <p:sp>
        <p:nvSpPr>
          <p:cNvPr id="21" name="Text 16"/>
          <p:cNvSpPr txBox="1"/>
          <p:nvPr/>
        </p:nvSpPr>
        <p:spPr>
          <a:xfrm>
            <a:off x="77724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17"/>
          <p:cNvSpPr txBox="1"/>
          <p:nvPr/>
        </p:nvSpPr>
        <p:spPr>
          <a:xfrm>
            <a:off x="123444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テーマ設定の理由</a:t>
            </a:r>
            <a:endParaRPr lang="en-US" sz="1500" dirty="0"/>
          </a:p>
        </p:txBody>
      </p:sp>
      <p:sp>
        <p:nvSpPr>
          <p:cNvPr id="23" name="Shape 18"/>
          <p:cNvSpPr/>
          <p:nvPr/>
        </p:nvSpPr>
        <p:spPr>
          <a:xfrm>
            <a:off x="4069080" y="3465576"/>
            <a:ext cx="329184" cy="329184"/>
          </a:xfrm>
          <a:prstGeom prst="ellipse">
            <a:avLst/>
          </a:prstGeom>
          <a:solidFill>
            <a:schemeClr val="accent1"/>
          </a:solidFill>
          <a:ln/>
        </p:spPr>
        <p:txBody>
          <a:bodyPr/>
          <a:lstStyle/>
          <a:p>
            <a:endParaRPr lang="ja-JP" altLang="en-US"/>
          </a:p>
        </p:txBody>
      </p:sp>
      <p:sp>
        <p:nvSpPr>
          <p:cNvPr id="24" name="Text 19"/>
          <p:cNvSpPr txBox="1"/>
          <p:nvPr/>
        </p:nvSpPr>
        <p:spPr>
          <a:xfrm>
            <a:off x="4069080" y="34655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5" name="Text 20"/>
          <p:cNvSpPr txBox="1"/>
          <p:nvPr/>
        </p:nvSpPr>
        <p:spPr>
          <a:xfrm>
            <a:off x="4526280" y="34290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活動内容</a:t>
            </a:r>
            <a:endParaRPr lang="en-US" sz="1500" dirty="0"/>
          </a:p>
        </p:txBody>
      </p:sp>
      <p:sp>
        <p:nvSpPr>
          <p:cNvPr id="26" name="Shape 21"/>
          <p:cNvSpPr/>
          <p:nvPr/>
        </p:nvSpPr>
        <p:spPr>
          <a:xfrm>
            <a:off x="777240" y="3922776"/>
            <a:ext cx="329184" cy="329184"/>
          </a:xfrm>
          <a:prstGeom prst="ellipse">
            <a:avLst/>
          </a:prstGeom>
          <a:solidFill>
            <a:schemeClr val="accent1"/>
          </a:solidFill>
          <a:ln/>
        </p:spPr>
        <p:txBody>
          <a:bodyPr/>
          <a:lstStyle/>
          <a:p>
            <a:endParaRPr lang="ja-JP" altLang="en-US"/>
          </a:p>
        </p:txBody>
      </p:sp>
      <p:sp>
        <p:nvSpPr>
          <p:cNvPr id="27" name="Text 22"/>
          <p:cNvSpPr txBox="1"/>
          <p:nvPr/>
        </p:nvSpPr>
        <p:spPr>
          <a:xfrm>
            <a:off x="77724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8" name="Text 23"/>
          <p:cNvSpPr txBox="1"/>
          <p:nvPr/>
        </p:nvSpPr>
        <p:spPr>
          <a:xfrm>
            <a:off x="123444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学んだこと</a:t>
            </a:r>
            <a:endParaRPr lang="en-US" sz="1500" dirty="0"/>
          </a:p>
        </p:txBody>
      </p:sp>
      <p:sp>
        <p:nvSpPr>
          <p:cNvPr id="29" name="Shape 24"/>
          <p:cNvSpPr/>
          <p:nvPr/>
        </p:nvSpPr>
        <p:spPr>
          <a:xfrm>
            <a:off x="4069080" y="3922776"/>
            <a:ext cx="329184" cy="329184"/>
          </a:xfrm>
          <a:prstGeom prst="ellipse">
            <a:avLst/>
          </a:prstGeom>
          <a:solidFill>
            <a:schemeClr val="accent1"/>
          </a:solidFill>
          <a:ln/>
        </p:spPr>
        <p:txBody>
          <a:bodyPr/>
          <a:lstStyle/>
          <a:p>
            <a:endParaRPr lang="ja-JP" altLang="en-US"/>
          </a:p>
        </p:txBody>
      </p:sp>
      <p:sp>
        <p:nvSpPr>
          <p:cNvPr id="30" name="Text 25"/>
          <p:cNvSpPr txBox="1"/>
          <p:nvPr/>
        </p:nvSpPr>
        <p:spPr>
          <a:xfrm>
            <a:off x="4069080" y="3922776"/>
            <a:ext cx="329184" cy="329184"/>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31" name="Text 26"/>
          <p:cNvSpPr txBox="1"/>
          <p:nvPr/>
        </p:nvSpPr>
        <p:spPr>
          <a:xfrm>
            <a:off x="4526280" y="3886200"/>
            <a:ext cx="2743200" cy="402336"/>
          </a:xfrm>
          <a:prstGeom prst="rect">
            <a:avLst/>
          </a:prstGeom>
          <a:noFill/>
          <a:ln/>
        </p:spPr>
        <p:txBody>
          <a:bodyPr wrap="square" lIns="0" tIns="0" rIns="0" bIns="0" rtlCol="0" anchor="ctr"/>
          <a:lstStyle/>
          <a:p>
            <a:pPr marL="0" indent="0">
              <a:buNone/>
            </a:pPr>
            <a:r>
              <a:rPr lang="en-US" sz="1500" dirty="0">
                <a:solidFill>
                  <a:schemeClr val="tx1"/>
                </a:solidFill>
              </a:rPr>
              <a:t>次に取り組みたいこと</a:t>
            </a:r>
            <a:endParaRPr lang="en-US" sz="1500" dirty="0"/>
          </a:p>
        </p:txBody>
      </p:sp>
      <p:sp>
        <p:nvSpPr>
          <p:cNvPr id="32" name="Text 27"/>
          <p:cNvSpPr txBox="1"/>
          <p:nvPr/>
        </p:nvSpPr>
        <p:spPr>
          <a:xfrm>
            <a:off x="777240" y="4297680"/>
            <a:ext cx="6492240" cy="320040"/>
          </a:xfrm>
          <a:prstGeom prst="rect">
            <a:avLst/>
          </a:prstGeom>
          <a:noFill/>
          <a:ln/>
        </p:spPr>
        <p:txBody>
          <a:bodyPr wrap="square" lIns="0" tIns="0" rIns="0" bIns="0" rtlCol="0" anchor="ctr"/>
          <a:lstStyle/>
          <a:p>
            <a:pPr marL="0" indent="0">
              <a:buNone/>
            </a:pPr>
            <a:r>
              <a:rPr lang="en-US" sz="1300" dirty="0">
                <a:solidFill>
                  <a:schemeClr val="accent5"/>
                </a:solidFill>
              </a:rPr>
              <a:t>教師はコメントを通して伴走。単発の自由研究ではなく、継続的な探究</a:t>
            </a:r>
            <a:endParaRPr lang="en-US" sz="1300" dirty="0"/>
          </a:p>
        </p:txBody>
      </p:sp>
      <p:sp>
        <p:nvSpPr>
          <p:cNvPr id="33" name="Shape 28"/>
          <p:cNvSpPr/>
          <p:nvPr/>
        </p:nvSpPr>
        <p:spPr>
          <a:xfrm>
            <a:off x="548640" y="4846320"/>
            <a:ext cx="6949440" cy="1143000"/>
          </a:xfrm>
          <a:prstGeom prst="roundRect">
            <a:avLst>
              <a:gd name="adj" fmla="val 6400"/>
            </a:avLst>
          </a:prstGeom>
          <a:solidFill>
            <a:schemeClr val="accent4"/>
          </a:solidFill>
          <a:ln/>
        </p:spPr>
        <p:txBody>
          <a:bodyPr/>
          <a:lstStyle/>
          <a:p>
            <a:endParaRPr lang="ja-JP" altLang="en-US"/>
          </a:p>
        </p:txBody>
      </p:sp>
      <p:sp>
        <p:nvSpPr>
          <p:cNvPr id="34" name="Text 29"/>
          <p:cNvSpPr txBox="1"/>
          <p:nvPr/>
        </p:nvSpPr>
        <p:spPr>
          <a:xfrm>
            <a:off x="777240" y="4846320"/>
            <a:ext cx="6492240" cy="1143000"/>
          </a:xfrm>
          <a:prstGeom prst="rect">
            <a:avLst/>
          </a:prstGeom>
          <a:noFill/>
          <a:ln/>
        </p:spPr>
        <p:txBody>
          <a:bodyPr wrap="square" lIns="0" tIns="0" rIns="0" bIns="0" rtlCol="0" anchor="ctr"/>
          <a:lstStyle/>
          <a:p>
            <a:pPr marL="0" indent="0">
              <a:buNone/>
            </a:pPr>
            <a:r>
              <a:rPr lang="en-US" sz="1500" b="1" dirty="0">
                <a:solidFill>
                  <a:schemeClr val="accent2"/>
                </a:solidFill>
              </a:rPr>
              <a:t>発表会　</a:t>
            </a:r>
            <a:r>
              <a:rPr lang="en-US" sz="1500" dirty="0">
                <a:solidFill>
                  <a:schemeClr val="tx1"/>
                </a:solidFill>
              </a:rPr>
              <a:t>スライド発表・ブース発表・実演発表など、方法も選べる。探究の過程や成長・気付きを整理し、聞き手との対話を重視</a:t>
            </a:r>
            <a:endParaRPr lang="en-US" sz="1500" dirty="0"/>
          </a:p>
        </p:txBody>
      </p:sp>
      <p:sp>
        <p:nvSpPr>
          <p:cNvPr id="3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6" name="写真 IMG_0070.JPG" descr="image.JPG"/>
          <p:cNvPicPr>
            <a:picLocks noChangeAspect="1"/>
          </p:cNvPicPr>
          <p:nvPr/>
        </p:nvPicPr>
        <p:blipFill>
          <a:blip r:embed="rId4"/>
          <a:srcRect l="40" r="40"/>
          <a:stretch>
            <a:fillRect/>
          </a:stretch>
        </p:blipFill>
        <p:spPr>
          <a:xfrm>
            <a:off x="7863840" y="1508760"/>
            <a:ext cx="3776472" cy="2834640"/>
          </a:xfrm>
          <a:prstGeom prst="rect">
            <a:avLst/>
          </a:prstGeom>
        </p:spPr>
      </p:pic>
      <p:pic>
        <p:nvPicPr>
          <p:cNvPr id="37" name="写真 IMG_0107.JPG" descr="IMG_0107.JPG"/>
          <p:cNvPicPr>
            <a:picLocks noChangeAspect="1"/>
          </p:cNvPicPr>
          <p:nvPr/>
        </p:nvPicPr>
        <p:blipFill>
          <a:blip r:embed="rId6"/>
          <a:srcRect l="7357" r="7357"/>
          <a:stretch>
            <a:fillRect/>
          </a:stretch>
        </p:blipFill>
        <p:spPr>
          <a:xfrm>
            <a:off x="7863840" y="4480560"/>
            <a:ext cx="1819656" cy="1600200"/>
          </a:xfrm>
          <a:prstGeom prst="rect">
            <a:avLst/>
          </a:prstGeom>
        </p:spPr>
      </p:pic>
      <p:pic>
        <p:nvPicPr>
          <p:cNvPr id="38" name="写真 IMG_0083.JPG" descr="IMG_0083.JPG"/>
          <p:cNvPicPr>
            <a:picLocks noChangeAspect="1"/>
          </p:cNvPicPr>
          <p:nvPr/>
        </p:nvPicPr>
        <p:blipFill>
          <a:blip r:embed="rId7"/>
          <a:srcRect l="2357" r="12357"/>
          <a:stretch>
            <a:fillRect/>
          </a:stretch>
        </p:blipFill>
        <p:spPr>
          <a:xfrm>
            <a:off x="9820656" y="4480560"/>
            <a:ext cx="1819656" cy="1600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学校全体を学習空間に</a:t>
            </a:r>
            <a:endParaRPr lang="en-US" sz="3000" dirty="0"/>
          </a:p>
        </p:txBody>
      </p:sp>
      <p:sp>
        <p:nvSpPr>
          <p:cNvPr id="6" name="Shape 4"/>
          <p:cNvSpPr/>
          <p:nvPr/>
        </p:nvSpPr>
        <p:spPr>
          <a:xfrm>
            <a:off x="548640" y="1508760"/>
            <a:ext cx="6949440" cy="2148840"/>
          </a:xfrm>
          <a:prstGeom prst="roundRect">
            <a:avLst>
              <a:gd name="adj" fmla="val 3404"/>
            </a:avLst>
          </a:prstGeom>
          <a:solidFill>
            <a:schemeClr val="bg2"/>
          </a:solidFill>
          <a:ln/>
        </p:spPr>
        <p:txBody>
          <a:bodyPr/>
          <a:lstStyle/>
          <a:p>
            <a:endParaRPr lang="ja-JP" altLang="en-US"/>
          </a:p>
        </p:txBody>
      </p:sp>
      <p:sp>
        <p:nvSpPr>
          <p:cNvPr id="7" name="Text 5"/>
          <p:cNvSpPr txBox="1"/>
          <p:nvPr/>
        </p:nvSpPr>
        <p:spPr>
          <a:xfrm>
            <a:off x="777240" y="1600200"/>
            <a:ext cx="6492240" cy="411480"/>
          </a:xfrm>
          <a:prstGeom prst="rect">
            <a:avLst/>
          </a:prstGeom>
          <a:noFill/>
          <a:ln/>
        </p:spPr>
        <p:txBody>
          <a:bodyPr wrap="square" lIns="0" tIns="0" rIns="0" bIns="0" rtlCol="0" anchor="ctr"/>
          <a:lstStyle/>
          <a:p>
            <a:pPr marL="0" indent="0">
              <a:buNone/>
            </a:pPr>
            <a:r>
              <a:rPr lang="en-US" sz="1700" b="1" dirty="0">
                <a:solidFill>
                  <a:schemeClr val="tx2"/>
                </a:solidFill>
              </a:rPr>
              <a:t>学校全体を学習空間に</a:t>
            </a:r>
            <a:endParaRPr lang="en-US" sz="1700" dirty="0"/>
          </a:p>
        </p:txBody>
      </p:sp>
      <p:sp>
        <p:nvSpPr>
          <p:cNvPr id="8" name="Text 6"/>
          <p:cNvSpPr txBox="1"/>
          <p:nvPr/>
        </p:nvSpPr>
        <p:spPr>
          <a:xfrm>
            <a:off x="777240" y="2057400"/>
            <a:ext cx="6492240" cy="105156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整備された環境　</a:t>
            </a:r>
            <a:r>
              <a:rPr lang="en-US" sz="1400" dirty="0">
                <a:solidFill>
                  <a:schemeClr val="tx1"/>
                </a:solidFill>
              </a:rPr>
              <a:t>理科学習ステーション／伝統工芸コーナー／発展課題コーナー／学習資料コーナー／QRコード教材</a:t>
            </a:r>
            <a:endParaRPr lang="en-US" sz="1400" dirty="0"/>
          </a:p>
          <a:p>
            <a:pPr marL="0" indent="0">
              <a:spcAft>
                <a:spcPts val="400"/>
              </a:spcAft>
              <a:buNone/>
            </a:pPr>
            <a:r>
              <a:rPr lang="en-US" sz="1400" b="1" dirty="0">
                <a:solidFill>
                  <a:schemeClr val="accent2"/>
                </a:solidFill>
              </a:rPr>
              <a:t>教室以外も活用　</a:t>
            </a:r>
            <a:r>
              <a:rPr lang="en-US" sz="1400" dirty="0">
                <a:solidFill>
                  <a:schemeClr val="tx1"/>
                </a:solidFill>
              </a:rPr>
              <a:t>廊下／オープンスペース／壁面／図書コーナー</a:t>
            </a:r>
            <a:endParaRPr lang="en-US" sz="1400" dirty="0"/>
          </a:p>
        </p:txBody>
      </p:sp>
      <p:sp>
        <p:nvSpPr>
          <p:cNvPr id="9" name="Text 7"/>
          <p:cNvSpPr txBox="1"/>
          <p:nvPr/>
        </p:nvSpPr>
        <p:spPr>
          <a:xfrm>
            <a:off x="777240" y="3154680"/>
            <a:ext cx="6492240" cy="411480"/>
          </a:xfrm>
          <a:prstGeom prst="rect">
            <a:avLst/>
          </a:prstGeom>
          <a:noFill/>
          <a:ln/>
        </p:spPr>
        <p:txBody>
          <a:bodyPr wrap="square" lIns="0" tIns="0" rIns="0" bIns="0" rtlCol="0" anchor="ctr"/>
          <a:lstStyle/>
          <a:p>
            <a:pPr marL="0" indent="0">
              <a:buNone/>
            </a:pPr>
            <a:r>
              <a:rPr lang="en-US" sz="1500" b="1" dirty="0">
                <a:solidFill>
                  <a:schemeClr val="accent1"/>
                </a:solidFill>
              </a:rPr>
              <a:t>→「どこで学ぶか」「何を使って学ぶか」を子供が選ぶ</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写真 IMG_0030.JPG" descr="IMG_0030.JPG"/>
          <p:cNvPicPr>
            <a:picLocks noChangeAspect="1"/>
          </p:cNvPicPr>
          <p:nvPr/>
        </p:nvPicPr>
        <p:blipFill>
          <a:blip r:embed="rId9"/>
          <a:srcRect t="19711" b="29711"/>
          <a:stretch>
            <a:fillRect/>
          </a:stretch>
        </p:blipFill>
        <p:spPr>
          <a:xfrm>
            <a:off x="7863840" y="1508760"/>
            <a:ext cx="3776472" cy="1432560"/>
          </a:xfrm>
          <a:prstGeom prst="rect">
            <a:avLst/>
          </a:prstGeom>
        </p:spPr>
      </p:pic>
      <p:pic>
        <p:nvPicPr>
          <p:cNvPr id="27" name="写真 IMG_0065.JPG" descr="IMG_0065.JPG"/>
          <p:cNvPicPr>
            <a:picLocks noChangeAspect="1"/>
          </p:cNvPicPr>
          <p:nvPr/>
        </p:nvPicPr>
        <p:blipFill>
          <a:blip r:embed="rId10"/>
          <a:srcRect t="29711" b="19711"/>
          <a:stretch>
            <a:fillRect/>
          </a:stretch>
        </p:blipFill>
        <p:spPr>
          <a:xfrm>
            <a:off x="7863840" y="3078479"/>
            <a:ext cx="3776472" cy="1432560"/>
          </a:xfrm>
          <a:prstGeom prst="rect">
            <a:avLst/>
          </a:prstGeom>
        </p:spPr>
      </p:pic>
      <p:pic>
        <p:nvPicPr>
          <p:cNvPr id="28" name="写真 IMG_0100.JPG" descr="image.JPG"/>
          <p:cNvPicPr>
            <a:picLocks noChangeAspect="1"/>
          </p:cNvPicPr>
          <p:nvPr/>
        </p:nvPicPr>
        <p:blipFill>
          <a:blip r:embed="rId5"/>
          <a:srcRect t="19711" b="29711"/>
          <a:stretch>
            <a:fillRect/>
          </a:stretch>
        </p:blipFill>
        <p:spPr>
          <a:xfrm>
            <a:off x="7863840" y="4648200"/>
            <a:ext cx="3776472" cy="1432560"/>
          </a:xfrm>
          <a:prstGeom prst="rect">
            <a:avLst/>
          </a:prstGeom>
        </p:spPr>
      </p:pic>
      <p:pic>
        <p:nvPicPr>
          <p:cNvPr id="29" name="写真 IMG_0145.JPG" descr="IMG_0145.JPG"/>
          <p:cNvPicPr>
            <a:picLocks noChangeAspect="1"/>
          </p:cNvPicPr>
          <p:nvPr/>
        </p:nvPicPr>
        <p:blipFill>
          <a:blip r:embed="rId14"/>
          <a:srcRect l="11170" r="11170"/>
          <a:stretch>
            <a:fillRect/>
          </a:stretch>
        </p:blipFill>
        <p:spPr>
          <a:xfrm>
            <a:off x="548640" y="3931920"/>
            <a:ext cx="2225040" cy="2148840"/>
          </a:xfrm>
          <a:prstGeom prst="rect">
            <a:avLst/>
          </a:prstGeom>
        </p:spPr>
      </p:pic>
      <p:pic>
        <p:nvPicPr>
          <p:cNvPr id="30" name="写真 IMG_0288.JPG" descr="IMG_0288.JPG"/>
          <p:cNvPicPr>
            <a:picLocks noChangeAspect="1"/>
          </p:cNvPicPr>
          <p:nvPr/>
        </p:nvPicPr>
        <p:blipFill>
          <a:blip r:embed="rId15"/>
          <a:srcRect l="11170" r="11170"/>
          <a:stretch>
            <a:fillRect/>
          </a:stretch>
        </p:blipFill>
        <p:spPr>
          <a:xfrm>
            <a:off x="2910840" y="3931920"/>
            <a:ext cx="2225040" cy="2148840"/>
          </a:xfrm>
          <a:prstGeom prst="rect">
            <a:avLst/>
          </a:prstGeom>
        </p:spPr>
      </p:pic>
      <p:pic>
        <p:nvPicPr>
          <p:cNvPr id="31" name="写真 IMG_0123.JPG" descr="image.JPG"/>
          <p:cNvPicPr>
            <a:picLocks noChangeAspect="1"/>
          </p:cNvPicPr>
          <p:nvPr/>
        </p:nvPicPr>
        <p:blipFill>
          <a:blip r:embed="rId8"/>
          <a:srcRect l="1170" r="21170"/>
          <a:stretch>
            <a:fillRect/>
          </a:stretch>
        </p:blipFill>
        <p:spPr>
          <a:xfrm>
            <a:off x="5273039" y="3931920"/>
            <a:ext cx="2225040" cy="21488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2｜指導主事同士で考えよう</a:t>
            </a:r>
          </a:p>
        </p:txBody>
      </p:sp>
      <p:sp>
        <p:nvSpPr>
          <p:cNvPr id="3" name="Title 2"/>
          <p:cNvSpPr>
            <a:spLocks noGrp="1"/>
          </p:cNvSpPr>
          <p:nvPr>
            <p:ph type="title" idx="101"/>
          </p:nvPr>
        </p:nvSpPr>
        <p:spPr/>
        <p:txBody>
          <a:bodyPr/>
          <a:lstStyle/>
          <a:p>
            <a:r>
              <a:t>計画どおりに進まなかった子供。同校が大切にしているのは？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マイプラン学習（MP学習）で、単元の途中で計画より遅れてしまった場面</a:t>
            </a:r>
          </a:p>
        </p:txBody>
      </p:sp>
      <p:sp>
        <p:nvSpPr>
          <p:cNvPr id="5" name="Rounded Rectangle 4"/>
          <p:cNvSpPr/>
          <p:nvPr/>
        </p:nvSpPr>
        <p:spPr>
          <a:xfrm>
            <a:off x="548640"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0509"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A</a:t>
            </a:r>
          </a:p>
        </p:txBody>
      </p:sp>
      <p:sp>
        <p:nvSpPr>
          <p:cNvPr id="7" name="TextBox 6"/>
          <p:cNvSpPr txBox="1"/>
          <p:nvPr/>
        </p:nvSpPr>
        <p:spPr>
          <a:xfrm>
            <a:off x="777240" y="3246120"/>
            <a:ext cx="3058058" cy="868680"/>
          </a:xfrm>
          <a:prstGeom prst="rect">
            <a:avLst/>
          </a:prstGeom>
          <a:noFill/>
        </p:spPr>
        <p:txBody>
          <a:bodyPr wrap="square" lIns="0" rIns="0" tIns="0" bIns="0" anchor="ctr">
            <a:spAutoFit/>
          </a:bodyPr>
          <a:lstStyle/>
          <a:p>
            <a:pPr algn="ctr"/>
            <a:r>
              <a:rPr sz="2000" b="1">
                <a:solidFill>
                  <a:srgbClr val="1F5A47"/>
                </a:solidFill>
              </a:rPr>
              <a:t>計画に追いつくよう
家庭学習で補わせる</a:t>
            </a:r>
          </a:p>
        </p:txBody>
      </p:sp>
      <p:sp>
        <p:nvSpPr>
          <p:cNvPr id="8" name="Rounded Rectangle 7"/>
          <p:cNvSpPr/>
          <p:nvPr/>
        </p:nvSpPr>
        <p:spPr>
          <a:xfrm>
            <a:off x="4338218"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730087"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B</a:t>
            </a:r>
          </a:p>
        </p:txBody>
      </p:sp>
      <p:sp>
        <p:nvSpPr>
          <p:cNvPr id="10" name="TextBox 9"/>
          <p:cNvSpPr txBox="1"/>
          <p:nvPr/>
        </p:nvSpPr>
        <p:spPr>
          <a:xfrm>
            <a:off x="4566818" y="3246120"/>
            <a:ext cx="3058058" cy="868680"/>
          </a:xfrm>
          <a:prstGeom prst="rect">
            <a:avLst/>
          </a:prstGeom>
          <a:noFill/>
        </p:spPr>
        <p:txBody>
          <a:bodyPr wrap="square" lIns="0" rIns="0" tIns="0" bIns="0" anchor="ctr">
            <a:spAutoFit/>
          </a:bodyPr>
          <a:lstStyle/>
          <a:p>
            <a:pPr algn="ctr"/>
            <a:r>
              <a:rPr sz="2000" b="1">
                <a:solidFill>
                  <a:srgbClr val="1F5A47"/>
                </a:solidFill>
              </a:rPr>
              <a:t>計画を修正して
学び直す</a:t>
            </a:r>
          </a:p>
        </p:txBody>
      </p:sp>
      <p:sp>
        <p:nvSpPr>
          <p:cNvPr id="11" name="Rounded Rectangle 10"/>
          <p:cNvSpPr/>
          <p:nvPr/>
        </p:nvSpPr>
        <p:spPr>
          <a:xfrm>
            <a:off x="8127796" y="2148840"/>
            <a:ext cx="3515258" cy="2103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519665" y="237744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rPr>
              <a:t>C</a:t>
            </a:r>
          </a:p>
        </p:txBody>
      </p:sp>
      <p:sp>
        <p:nvSpPr>
          <p:cNvPr id="13" name="TextBox 12"/>
          <p:cNvSpPr txBox="1"/>
          <p:nvPr/>
        </p:nvSpPr>
        <p:spPr>
          <a:xfrm>
            <a:off x="8356396" y="3246120"/>
            <a:ext cx="3058058" cy="868680"/>
          </a:xfrm>
          <a:prstGeom prst="rect">
            <a:avLst/>
          </a:prstGeom>
          <a:noFill/>
        </p:spPr>
        <p:txBody>
          <a:bodyPr wrap="square" lIns="0" rIns="0" tIns="0" bIns="0" anchor="ctr">
            <a:spAutoFit/>
          </a:bodyPr>
          <a:lstStyle/>
          <a:p>
            <a:pPr algn="ctr"/>
            <a:r>
              <a:rPr sz="2000" b="1">
                <a:solidFill>
                  <a:srgbClr val="1F5A47"/>
                </a:solidFill>
              </a:rPr>
              <a:t>教師が個別に教えて
計画に戻す</a:t>
            </a:r>
          </a:p>
        </p:txBody>
      </p:sp>
      <p:sp>
        <p:nvSpPr>
          <p:cNvPr id="14" name="Rounded Rectangle 13"/>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手</a:t>
            </a:r>
          </a:p>
        </p:txBody>
      </p:sp>
      <p:sp>
        <p:nvSpPr>
          <p:cNvPr id="16" name="TextBox 15"/>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挙手で答えよう</a:t>
            </a:r>
          </a:p>
          <a:p>
            <a:pPr algn="l"/>
            <a:r>
              <a:rPr sz="1500" b="0">
                <a:solidFill>
                  <a:srgbClr val="D3E3D9"/>
                </a:solidFill>
              </a:rPr>
              <a:t>理由も考えながら選んでください</a:t>
            </a:r>
          </a:p>
        </p:txBody>
      </p:sp>
      <p:sp>
        <p:nvSpPr>
          <p:cNvPr id="17" name="TextBox 16"/>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マイプラン学習（MP学習）</a:t>
            </a:r>
            <a:endParaRPr lang="en-US" sz="3000" dirty="0"/>
          </a:p>
        </p:txBody>
      </p:sp>
      <p:sp>
        <p:nvSpPr>
          <p:cNvPr id="5" name="Text 3"/>
          <p:cNvSpPr txBox="1"/>
          <p:nvPr/>
        </p:nvSpPr>
        <p:spPr>
          <a:xfrm>
            <a:off x="548640" y="1508760"/>
            <a:ext cx="6949440" cy="320040"/>
          </a:xfrm>
          <a:prstGeom prst="rect">
            <a:avLst/>
          </a:prstGeom>
          <a:noFill/>
          <a:ln/>
        </p:spPr>
        <p:txBody>
          <a:bodyPr wrap="square" lIns="0" tIns="0" rIns="0" bIns="0" rtlCol="0" anchor="ctr"/>
          <a:lstStyle/>
          <a:p>
            <a:pPr marL="0" indent="0">
              <a:buNone/>
            </a:pPr>
            <a:r>
              <a:rPr lang="en-US" sz="1400" dirty="0">
                <a:solidFill>
                  <a:schemeClr val="accent5"/>
                </a:solidFill>
              </a:rPr>
              <a:t>単に進度を自由にする学習ではなく ――</a:t>
            </a:r>
            <a:endParaRPr lang="en-US" sz="1400" dirty="0"/>
          </a:p>
        </p:txBody>
      </p:sp>
      <p:sp>
        <p:nvSpPr>
          <p:cNvPr id="6" name="Shape 4"/>
          <p:cNvSpPr/>
          <p:nvPr/>
        </p:nvSpPr>
        <p:spPr>
          <a:xfrm>
            <a:off x="548640" y="1874520"/>
            <a:ext cx="6949440" cy="777240"/>
          </a:xfrm>
          <a:prstGeom prst="roundRect">
            <a:avLst>
              <a:gd name="adj" fmla="val 9412"/>
            </a:avLst>
          </a:prstGeom>
          <a:solidFill>
            <a:schemeClr val="tx2"/>
          </a:solidFill>
          <a:ln/>
        </p:spPr>
        <p:txBody>
          <a:bodyPr/>
          <a:lstStyle/>
          <a:p>
            <a:endParaRPr lang="ja-JP" altLang="en-US"/>
          </a:p>
        </p:txBody>
      </p:sp>
      <p:sp>
        <p:nvSpPr>
          <p:cNvPr id="7" name="Text 5"/>
          <p:cNvSpPr txBox="1"/>
          <p:nvPr/>
        </p:nvSpPr>
        <p:spPr>
          <a:xfrm>
            <a:off x="777240" y="1874520"/>
            <a:ext cx="6492240" cy="777240"/>
          </a:xfrm>
          <a:prstGeom prst="rect">
            <a:avLst/>
          </a:prstGeom>
          <a:noFill/>
          <a:ln/>
        </p:spPr>
        <p:txBody>
          <a:bodyPr wrap="square" lIns="0" tIns="0" rIns="0" bIns="0" rtlCol="0" anchor="ctr"/>
          <a:lstStyle/>
          <a:p>
            <a:pPr marL="0" indent="0" algn="ctr">
              <a:buNone/>
            </a:pPr>
            <a:r>
              <a:rPr lang="en-US" sz="1700" b="1" dirty="0">
                <a:solidFill>
                  <a:schemeClr val="bg1"/>
                </a:solidFill>
              </a:rPr>
              <a:t>学習のゴールに向かって、自分で計画を立て、</a:t>
            </a:r>
            <a:endParaRPr lang="en-US" sz="1700" dirty="0"/>
          </a:p>
          <a:p>
            <a:pPr marL="0" indent="0" algn="ctr">
              <a:buNone/>
            </a:pPr>
            <a:r>
              <a:rPr lang="en-US" sz="1700" b="1" dirty="0">
                <a:solidFill>
                  <a:schemeClr val="bg1"/>
                </a:solidFill>
              </a:rPr>
              <a:t>調整しながら学ぶ学習</a:t>
            </a:r>
            <a:endParaRPr lang="en-US" sz="1700" dirty="0"/>
          </a:p>
        </p:txBody>
      </p:sp>
      <p:sp>
        <p:nvSpPr>
          <p:cNvPr id="8" name="Shape 6"/>
          <p:cNvSpPr/>
          <p:nvPr/>
        </p:nvSpPr>
        <p:spPr>
          <a:xfrm>
            <a:off x="548640" y="2834640"/>
            <a:ext cx="1463040" cy="640080"/>
          </a:xfrm>
          <a:prstGeom prst="roundRect">
            <a:avLst>
              <a:gd name="adj" fmla="val 11429"/>
            </a:avLst>
          </a:prstGeom>
          <a:solidFill>
            <a:schemeClr val="bg2"/>
          </a:solidFill>
          <a:ln/>
        </p:spPr>
        <p:txBody>
          <a:bodyPr/>
          <a:lstStyle/>
          <a:p>
            <a:endParaRPr lang="ja-JP" altLang="en-US"/>
          </a:p>
        </p:txBody>
      </p:sp>
      <p:sp>
        <p:nvSpPr>
          <p:cNvPr id="9" name="Text 7"/>
          <p:cNvSpPr txBox="1"/>
          <p:nvPr/>
        </p:nvSpPr>
        <p:spPr>
          <a:xfrm>
            <a:off x="5486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計画する</a:t>
            </a:r>
            <a:endParaRPr lang="en-US" sz="1700" dirty="0"/>
          </a:p>
        </p:txBody>
      </p:sp>
      <p:pic>
        <p:nvPicPr>
          <p:cNvPr id="10" name="Image 0" descr="preencoded.png"/>
          <p:cNvPicPr>
            <a:picLocks noChangeAspect="1"/>
          </p:cNvPicPr>
          <p:nvPr/>
        </p:nvPicPr>
        <p:blipFill>
          <a:blip r:embed="rId3"/>
          <a:stretch>
            <a:fillRect/>
          </a:stretch>
        </p:blipFill>
        <p:spPr>
          <a:xfrm>
            <a:off x="2075688" y="3035808"/>
            <a:ext cx="237744" cy="237744"/>
          </a:xfrm>
          <a:prstGeom prst="rect">
            <a:avLst/>
          </a:prstGeom>
        </p:spPr>
      </p:pic>
      <p:sp>
        <p:nvSpPr>
          <p:cNvPr id="11" name="Shape 8"/>
          <p:cNvSpPr/>
          <p:nvPr/>
        </p:nvSpPr>
        <p:spPr>
          <a:xfrm>
            <a:off x="2377440" y="2834640"/>
            <a:ext cx="1463040" cy="640080"/>
          </a:xfrm>
          <a:prstGeom prst="roundRect">
            <a:avLst>
              <a:gd name="adj" fmla="val 11429"/>
            </a:avLst>
          </a:prstGeom>
          <a:solidFill>
            <a:schemeClr val="bg2"/>
          </a:solidFill>
          <a:ln/>
        </p:spPr>
        <p:txBody>
          <a:bodyPr/>
          <a:lstStyle/>
          <a:p>
            <a:endParaRPr lang="ja-JP" altLang="en-US"/>
          </a:p>
        </p:txBody>
      </p:sp>
      <p:sp>
        <p:nvSpPr>
          <p:cNvPr id="12" name="Text 9"/>
          <p:cNvSpPr txBox="1"/>
          <p:nvPr/>
        </p:nvSpPr>
        <p:spPr>
          <a:xfrm>
            <a:off x="23774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学ぶ</a:t>
            </a:r>
            <a:endParaRPr lang="en-US" sz="1700" dirty="0"/>
          </a:p>
        </p:txBody>
      </p:sp>
      <p:pic>
        <p:nvPicPr>
          <p:cNvPr id="13" name="Image 1" descr="preencoded.png"/>
          <p:cNvPicPr>
            <a:picLocks noChangeAspect="1"/>
          </p:cNvPicPr>
          <p:nvPr/>
        </p:nvPicPr>
        <p:blipFill>
          <a:blip r:embed="rId3"/>
          <a:stretch>
            <a:fillRect/>
          </a:stretch>
        </p:blipFill>
        <p:spPr>
          <a:xfrm>
            <a:off x="3904488" y="3035808"/>
            <a:ext cx="237744" cy="237744"/>
          </a:xfrm>
          <a:prstGeom prst="rect">
            <a:avLst/>
          </a:prstGeom>
        </p:spPr>
      </p:pic>
      <p:sp>
        <p:nvSpPr>
          <p:cNvPr id="14" name="Shape 10"/>
          <p:cNvSpPr/>
          <p:nvPr/>
        </p:nvSpPr>
        <p:spPr>
          <a:xfrm>
            <a:off x="4206240" y="2834640"/>
            <a:ext cx="1463040" cy="640080"/>
          </a:xfrm>
          <a:prstGeom prst="roundRect">
            <a:avLst>
              <a:gd name="adj" fmla="val 11429"/>
            </a:avLst>
          </a:prstGeom>
          <a:solidFill>
            <a:schemeClr val="bg2"/>
          </a:solidFill>
          <a:ln/>
        </p:spPr>
        <p:txBody>
          <a:bodyPr/>
          <a:lstStyle/>
          <a:p>
            <a:endParaRPr lang="ja-JP" altLang="en-US"/>
          </a:p>
        </p:txBody>
      </p:sp>
      <p:sp>
        <p:nvSpPr>
          <p:cNvPr id="15" name="Text 11"/>
          <p:cNvSpPr txBox="1"/>
          <p:nvPr/>
        </p:nvSpPr>
        <p:spPr>
          <a:xfrm>
            <a:off x="42062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振り返る</a:t>
            </a:r>
            <a:endParaRPr lang="en-US" sz="1700" dirty="0"/>
          </a:p>
        </p:txBody>
      </p:sp>
      <p:pic>
        <p:nvPicPr>
          <p:cNvPr id="16" name="Image 2" descr="preencoded.png"/>
          <p:cNvPicPr>
            <a:picLocks noChangeAspect="1"/>
          </p:cNvPicPr>
          <p:nvPr/>
        </p:nvPicPr>
        <p:blipFill>
          <a:blip r:embed="rId3"/>
          <a:stretch>
            <a:fillRect/>
          </a:stretch>
        </p:blipFill>
        <p:spPr>
          <a:xfrm>
            <a:off x="5733288" y="3035808"/>
            <a:ext cx="237744" cy="237744"/>
          </a:xfrm>
          <a:prstGeom prst="rect">
            <a:avLst/>
          </a:prstGeom>
        </p:spPr>
      </p:pic>
      <p:sp>
        <p:nvSpPr>
          <p:cNvPr id="17" name="Shape 12"/>
          <p:cNvSpPr/>
          <p:nvPr/>
        </p:nvSpPr>
        <p:spPr>
          <a:xfrm>
            <a:off x="6035040" y="2834640"/>
            <a:ext cx="1463040" cy="640080"/>
          </a:xfrm>
          <a:prstGeom prst="roundRect">
            <a:avLst>
              <a:gd name="adj" fmla="val 11429"/>
            </a:avLst>
          </a:prstGeom>
          <a:solidFill>
            <a:schemeClr val="accent4"/>
          </a:solidFill>
          <a:ln/>
        </p:spPr>
        <p:txBody>
          <a:bodyPr/>
          <a:lstStyle/>
          <a:p>
            <a:endParaRPr lang="ja-JP" altLang="en-US"/>
          </a:p>
        </p:txBody>
      </p:sp>
      <p:sp>
        <p:nvSpPr>
          <p:cNvPr id="18" name="Text 13"/>
          <p:cNvSpPr txBox="1"/>
          <p:nvPr/>
        </p:nvSpPr>
        <p:spPr>
          <a:xfrm>
            <a:off x="6035040" y="2834640"/>
            <a:ext cx="1463040" cy="640080"/>
          </a:xfrm>
          <a:prstGeom prst="rect">
            <a:avLst/>
          </a:prstGeom>
          <a:noFill/>
          <a:ln/>
        </p:spPr>
        <p:txBody>
          <a:bodyPr wrap="square" lIns="0" tIns="0" rIns="0" bIns="0" rtlCol="0" anchor="ctr"/>
          <a:lstStyle/>
          <a:p>
            <a:pPr marL="0" indent="0" algn="ctr">
              <a:buNone/>
            </a:pPr>
            <a:r>
              <a:rPr lang="en-US" sz="1700" b="1" dirty="0">
                <a:solidFill>
                  <a:schemeClr val="tx2"/>
                </a:solidFill>
              </a:rPr>
              <a:t>調整する</a:t>
            </a:r>
            <a:endParaRPr lang="en-US" sz="1700" dirty="0"/>
          </a:p>
        </p:txBody>
      </p:sp>
      <p:sp>
        <p:nvSpPr>
          <p:cNvPr id="19" name="Shape 14"/>
          <p:cNvSpPr/>
          <p:nvPr/>
        </p:nvSpPr>
        <p:spPr>
          <a:xfrm>
            <a:off x="548640" y="3703320"/>
            <a:ext cx="3017520" cy="1051560"/>
          </a:xfrm>
          <a:prstGeom prst="roundRect">
            <a:avLst>
              <a:gd name="adj" fmla="val 6957"/>
            </a:avLst>
          </a:prstGeom>
          <a:solidFill>
            <a:schemeClr val="bg2"/>
          </a:solidFill>
          <a:ln/>
        </p:spPr>
        <p:txBody>
          <a:bodyPr/>
          <a:lstStyle/>
          <a:p>
            <a:endParaRPr lang="ja-JP" altLang="en-US"/>
          </a:p>
        </p:txBody>
      </p:sp>
      <p:sp>
        <p:nvSpPr>
          <p:cNvPr id="20" name="Text 15"/>
          <p:cNvSpPr txBox="1"/>
          <p:nvPr/>
        </p:nvSpPr>
        <p:spPr>
          <a:xfrm>
            <a:off x="731520" y="3703320"/>
            <a:ext cx="2651760" cy="1051560"/>
          </a:xfrm>
          <a:prstGeom prst="rect">
            <a:avLst/>
          </a:prstGeom>
          <a:noFill/>
          <a:ln/>
        </p:spPr>
        <p:txBody>
          <a:bodyPr wrap="square" lIns="0" tIns="0" rIns="0" bIns="0" rtlCol="0" anchor="ctr"/>
          <a:lstStyle/>
          <a:p>
            <a:pPr marL="0" indent="0">
              <a:buNone/>
            </a:pPr>
            <a:r>
              <a:rPr lang="en-US" sz="1700" b="1" dirty="0">
                <a:solidFill>
                  <a:schemeClr val="accent5"/>
                </a:solidFill>
              </a:rPr>
              <a:t>自己管理</a:t>
            </a:r>
            <a:endParaRPr lang="en-US" sz="1700" dirty="0"/>
          </a:p>
          <a:p>
            <a:pPr marL="0" indent="0">
              <a:buNone/>
            </a:pPr>
            <a:r>
              <a:rPr lang="en-US" sz="1300" dirty="0">
                <a:solidFill>
                  <a:schemeClr val="accent5"/>
                </a:solidFill>
              </a:rPr>
              <a:t>計画どおりに進めることを重視</a:t>
            </a:r>
            <a:endParaRPr lang="en-US" sz="1700" dirty="0"/>
          </a:p>
        </p:txBody>
      </p:sp>
      <p:pic>
        <p:nvPicPr>
          <p:cNvPr id="21" name="Image 3" descr="preencoded.png"/>
          <p:cNvPicPr>
            <a:picLocks noChangeAspect="1"/>
          </p:cNvPicPr>
          <p:nvPr/>
        </p:nvPicPr>
        <p:blipFill>
          <a:blip r:embed="rId4"/>
          <a:stretch>
            <a:fillRect/>
          </a:stretch>
        </p:blipFill>
        <p:spPr>
          <a:xfrm>
            <a:off x="3840480" y="4046220"/>
            <a:ext cx="365760" cy="365760"/>
          </a:xfrm>
          <a:prstGeom prst="rect">
            <a:avLst/>
          </a:prstGeom>
        </p:spPr>
      </p:pic>
      <p:sp>
        <p:nvSpPr>
          <p:cNvPr id="22" name="Shape 16"/>
          <p:cNvSpPr/>
          <p:nvPr/>
        </p:nvSpPr>
        <p:spPr>
          <a:xfrm>
            <a:off x="4480560" y="3703320"/>
            <a:ext cx="3017520" cy="1051560"/>
          </a:xfrm>
          <a:prstGeom prst="roundRect">
            <a:avLst>
              <a:gd name="adj" fmla="val 6957"/>
            </a:avLst>
          </a:prstGeom>
          <a:solidFill>
            <a:schemeClr val="tx2"/>
          </a:solidFill>
          <a:ln/>
        </p:spPr>
        <p:txBody>
          <a:bodyPr/>
          <a:lstStyle/>
          <a:p>
            <a:endParaRPr lang="ja-JP" altLang="en-US"/>
          </a:p>
        </p:txBody>
      </p:sp>
      <p:sp>
        <p:nvSpPr>
          <p:cNvPr id="23" name="Text 17"/>
          <p:cNvSpPr txBox="1"/>
          <p:nvPr/>
        </p:nvSpPr>
        <p:spPr>
          <a:xfrm>
            <a:off x="4663440" y="3703320"/>
            <a:ext cx="2651760" cy="1051560"/>
          </a:xfrm>
          <a:prstGeom prst="rect">
            <a:avLst/>
          </a:prstGeom>
          <a:noFill/>
          <a:ln/>
        </p:spPr>
        <p:txBody>
          <a:bodyPr wrap="square" lIns="0" tIns="0" rIns="0" bIns="0" rtlCol="0" anchor="ctr"/>
          <a:lstStyle/>
          <a:p>
            <a:pPr marL="0" indent="0">
              <a:buNone/>
            </a:pPr>
            <a:r>
              <a:rPr lang="en-US" sz="1700" b="1" dirty="0">
                <a:solidFill>
                  <a:schemeClr val="bg1"/>
                </a:solidFill>
              </a:rPr>
              <a:t>自己調整</a:t>
            </a:r>
            <a:endParaRPr lang="en-US" sz="1700" dirty="0"/>
          </a:p>
          <a:p>
            <a:pPr marL="0" indent="0">
              <a:buNone/>
            </a:pPr>
            <a:r>
              <a:rPr lang="en-US" sz="1300" dirty="0">
                <a:solidFill>
                  <a:schemeClr val="accent6"/>
                </a:solidFill>
              </a:rPr>
              <a:t>計画を修正しながら学ぶ</a:t>
            </a:r>
            <a:endParaRPr lang="en-US" sz="1700" dirty="0"/>
          </a:p>
        </p:txBody>
      </p:sp>
      <p:sp>
        <p:nvSpPr>
          <p:cNvPr id="24" name="Text 18"/>
          <p:cNvSpPr txBox="1"/>
          <p:nvPr/>
        </p:nvSpPr>
        <p:spPr>
          <a:xfrm>
            <a:off x="548640" y="4983480"/>
            <a:ext cx="6949440" cy="1005840"/>
          </a:xfrm>
          <a:prstGeom prst="rect">
            <a:avLst/>
          </a:prstGeom>
          <a:noFill/>
          <a:ln/>
        </p:spPr>
        <p:txBody>
          <a:bodyPr wrap="square" lIns="0" tIns="0" rIns="0" bIns="0" rtlCol="0" anchor="t"/>
          <a:lstStyle/>
          <a:p>
            <a:pPr marL="0" indent="0">
              <a:buNone/>
            </a:pPr>
            <a:r>
              <a:rPr lang="en-US" sz="1500" b="1" dirty="0" err="1">
                <a:solidFill>
                  <a:schemeClr val="accent2"/>
                </a:solidFill>
              </a:rPr>
              <a:t>教育課程に位置付け</a:t>
            </a:r>
            <a:r>
              <a:rPr lang="en-US" sz="1500" b="1" dirty="0">
                <a:solidFill>
                  <a:schemeClr val="accent2"/>
                </a:solidFill>
              </a:rPr>
              <a:t>　</a:t>
            </a:r>
          </a:p>
          <a:p>
            <a:pPr marL="0" indent="0">
              <a:buNone/>
            </a:pPr>
            <a:r>
              <a:rPr lang="en-US" sz="1500" dirty="0" err="1">
                <a:solidFill>
                  <a:schemeClr val="tx1"/>
                </a:solidFill>
              </a:rPr>
              <a:t>国語・算数・理科・社会などの単元計画に位置付け、学校全体のシステムとして計画的に実施</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写真 IMG_0115.JPG" descr="IMG_0115.JPG"/>
          <p:cNvPicPr>
            <a:picLocks noChangeAspect="1"/>
          </p:cNvPicPr>
          <p:nvPr/>
        </p:nvPicPr>
        <p:blipFill>
          <a:blip r:embed="rId8"/>
          <a:srcRect l="40" r="40"/>
          <a:stretch>
            <a:fillRect/>
          </a:stretch>
        </p:blipFill>
        <p:spPr>
          <a:xfrm>
            <a:off x="7863840" y="1508760"/>
            <a:ext cx="3776472" cy="2834640"/>
          </a:xfrm>
          <a:prstGeom prst="rect">
            <a:avLst/>
          </a:prstGeom>
        </p:spPr>
      </p:pic>
      <p:pic>
        <p:nvPicPr>
          <p:cNvPr id="27" name="写真 IMG_0257.JPG" descr="IMG_0257.JPG"/>
          <p:cNvPicPr>
            <a:picLocks noChangeAspect="1"/>
          </p:cNvPicPr>
          <p:nvPr/>
        </p:nvPicPr>
        <p:blipFill>
          <a:blip r:embed="rId9"/>
          <a:srcRect r="14714"/>
          <a:stretch>
            <a:fillRect/>
          </a:stretch>
        </p:blipFill>
        <p:spPr>
          <a:xfrm>
            <a:off x="7863840" y="4480560"/>
            <a:ext cx="1819656" cy="1600200"/>
          </a:xfrm>
          <a:prstGeom prst="rect">
            <a:avLst/>
          </a:prstGeom>
        </p:spPr>
      </p:pic>
      <p:pic>
        <p:nvPicPr>
          <p:cNvPr id="28" name="写真 IMG_0243.JPG" descr="image.JPG"/>
          <p:cNvPicPr>
            <a:picLocks noChangeAspect="1"/>
          </p:cNvPicPr>
          <p:nvPr/>
        </p:nvPicPr>
        <p:blipFill>
          <a:blip r:embed="rId6"/>
          <a:srcRect l="7357" r="7357"/>
          <a:stretch>
            <a:fillRect/>
          </a:stretch>
        </p:blipFill>
        <p:spPr>
          <a:xfrm>
            <a:off x="9820656" y="4480560"/>
            <a:ext cx="1819656" cy="1600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01　天童中部小学校の取組</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MP学習における子供の姿と学習文化</a:t>
            </a:r>
            <a:endParaRPr lang="en-US" sz="3000" dirty="0"/>
          </a:p>
        </p:txBody>
      </p:sp>
      <p:sp>
        <p:nvSpPr>
          <p:cNvPr id="6" name="Text 4"/>
          <p:cNvSpPr txBox="1"/>
          <p:nvPr/>
        </p:nvSpPr>
        <p:spPr>
          <a:xfrm>
            <a:off x="548640" y="15087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多様な学び方を自ら選ぶ</a:t>
            </a:r>
            <a:endParaRPr lang="en-US" sz="1500" dirty="0"/>
          </a:p>
        </p:txBody>
      </p:sp>
      <p:sp>
        <p:nvSpPr>
          <p:cNvPr id="7" name="Shape 5"/>
          <p:cNvSpPr/>
          <p:nvPr/>
        </p:nvSpPr>
        <p:spPr>
          <a:xfrm>
            <a:off x="548640" y="1965960"/>
            <a:ext cx="3337560" cy="640080"/>
          </a:xfrm>
          <a:prstGeom prst="roundRect">
            <a:avLst>
              <a:gd name="adj" fmla="val 11429"/>
            </a:avLst>
          </a:prstGeom>
          <a:solidFill>
            <a:schemeClr val="bg2"/>
          </a:solidFill>
          <a:ln/>
        </p:spPr>
        <p:txBody>
          <a:bodyPr/>
          <a:lstStyle/>
          <a:p>
            <a:endParaRPr lang="ja-JP" altLang="en-US"/>
          </a:p>
        </p:txBody>
      </p:sp>
      <p:sp>
        <p:nvSpPr>
          <p:cNvPr id="8" name="Shape 6"/>
          <p:cNvSpPr/>
          <p:nvPr/>
        </p:nvSpPr>
        <p:spPr>
          <a:xfrm>
            <a:off x="685800" y="2057400"/>
            <a:ext cx="457200" cy="457200"/>
          </a:xfrm>
          <a:prstGeom prst="ellipse">
            <a:avLst/>
          </a:prstGeom>
          <a:solidFill>
            <a:schemeClr val="accent1"/>
          </a:solidFill>
          <a:ln/>
        </p:spPr>
        <p:txBody>
          <a:bodyPr/>
          <a:lstStyle/>
          <a:p>
            <a:endParaRPr lang="ja-JP" altLang="en-US"/>
          </a:p>
        </p:txBody>
      </p:sp>
      <p:pic>
        <p:nvPicPr>
          <p:cNvPr id="9" name="Image 0" descr="preencoded.png"/>
          <p:cNvPicPr>
            <a:picLocks noChangeAspect="1"/>
          </p:cNvPicPr>
          <p:nvPr/>
        </p:nvPicPr>
        <p:blipFill>
          <a:blip r:embed="rId4"/>
          <a:stretch>
            <a:fillRect/>
          </a:stretch>
        </p:blipFill>
        <p:spPr>
          <a:xfrm>
            <a:off x="800100" y="2171700"/>
            <a:ext cx="228600" cy="228600"/>
          </a:xfrm>
          <a:prstGeom prst="rect">
            <a:avLst/>
          </a:prstGeom>
        </p:spPr>
      </p:pic>
      <p:sp>
        <p:nvSpPr>
          <p:cNvPr id="10" name="Text 7"/>
          <p:cNvSpPr txBox="1"/>
          <p:nvPr/>
        </p:nvSpPr>
        <p:spPr>
          <a:xfrm>
            <a:off x="128016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教科書で調べる</a:t>
            </a:r>
            <a:endParaRPr lang="en-US" sz="1600" dirty="0"/>
          </a:p>
        </p:txBody>
      </p:sp>
      <p:sp>
        <p:nvSpPr>
          <p:cNvPr id="11" name="Shape 8"/>
          <p:cNvSpPr/>
          <p:nvPr/>
        </p:nvSpPr>
        <p:spPr>
          <a:xfrm>
            <a:off x="4160520" y="1965960"/>
            <a:ext cx="3337560" cy="640080"/>
          </a:xfrm>
          <a:prstGeom prst="roundRect">
            <a:avLst>
              <a:gd name="adj" fmla="val 11429"/>
            </a:avLst>
          </a:prstGeom>
          <a:solidFill>
            <a:schemeClr val="bg2"/>
          </a:solidFill>
          <a:ln/>
        </p:spPr>
        <p:txBody>
          <a:bodyPr/>
          <a:lstStyle/>
          <a:p>
            <a:endParaRPr lang="ja-JP" altLang="en-US"/>
          </a:p>
        </p:txBody>
      </p:sp>
      <p:sp>
        <p:nvSpPr>
          <p:cNvPr id="12" name="Shape 9"/>
          <p:cNvSpPr/>
          <p:nvPr/>
        </p:nvSpPr>
        <p:spPr>
          <a:xfrm>
            <a:off x="4297680" y="2057400"/>
            <a:ext cx="457200" cy="457200"/>
          </a:xfrm>
          <a:prstGeom prst="ellipse">
            <a:avLst/>
          </a:prstGeom>
          <a:solidFill>
            <a:schemeClr val="accent1"/>
          </a:solidFill>
          <a:ln/>
        </p:spPr>
        <p:txBody>
          <a:bodyPr/>
          <a:lstStyle/>
          <a:p>
            <a:endParaRPr lang="ja-JP" altLang="en-US"/>
          </a:p>
        </p:txBody>
      </p:sp>
      <p:pic>
        <p:nvPicPr>
          <p:cNvPr id="13" name="Image 1" descr="preencoded.png"/>
          <p:cNvPicPr>
            <a:picLocks noChangeAspect="1"/>
          </p:cNvPicPr>
          <p:nvPr/>
        </p:nvPicPr>
        <p:blipFill>
          <a:blip r:embed="rId5"/>
          <a:stretch>
            <a:fillRect/>
          </a:stretch>
        </p:blipFill>
        <p:spPr>
          <a:xfrm>
            <a:off x="4411980" y="2171700"/>
            <a:ext cx="228600" cy="228600"/>
          </a:xfrm>
          <a:prstGeom prst="rect">
            <a:avLst/>
          </a:prstGeom>
        </p:spPr>
      </p:pic>
      <p:sp>
        <p:nvSpPr>
          <p:cNvPr id="14" name="Text 10"/>
          <p:cNvSpPr txBox="1"/>
          <p:nvPr/>
        </p:nvSpPr>
        <p:spPr>
          <a:xfrm>
            <a:off x="4892040" y="196596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実験に取り組む</a:t>
            </a:r>
            <a:endParaRPr lang="en-US" sz="1600" dirty="0"/>
          </a:p>
        </p:txBody>
      </p:sp>
      <p:sp>
        <p:nvSpPr>
          <p:cNvPr id="15" name="Shape 11"/>
          <p:cNvSpPr/>
          <p:nvPr/>
        </p:nvSpPr>
        <p:spPr>
          <a:xfrm>
            <a:off x="548640" y="2743200"/>
            <a:ext cx="3337560" cy="640080"/>
          </a:xfrm>
          <a:prstGeom prst="roundRect">
            <a:avLst>
              <a:gd name="adj" fmla="val 11429"/>
            </a:avLst>
          </a:prstGeom>
          <a:solidFill>
            <a:schemeClr val="bg2"/>
          </a:solidFill>
          <a:ln/>
        </p:spPr>
        <p:txBody>
          <a:bodyPr/>
          <a:lstStyle/>
          <a:p>
            <a:endParaRPr lang="ja-JP" altLang="en-US"/>
          </a:p>
        </p:txBody>
      </p:sp>
      <p:sp>
        <p:nvSpPr>
          <p:cNvPr id="16" name="Shape 12"/>
          <p:cNvSpPr/>
          <p:nvPr/>
        </p:nvSpPr>
        <p:spPr>
          <a:xfrm>
            <a:off x="685800" y="2834640"/>
            <a:ext cx="457200" cy="457200"/>
          </a:xfrm>
          <a:prstGeom prst="ellipse">
            <a:avLst/>
          </a:prstGeom>
          <a:solidFill>
            <a:schemeClr val="accent1"/>
          </a:solidFill>
          <a:ln/>
        </p:spPr>
        <p:txBody>
          <a:bodyPr/>
          <a:lstStyle/>
          <a:p>
            <a:endParaRPr lang="ja-JP" altLang="en-US"/>
          </a:p>
        </p:txBody>
      </p:sp>
      <p:pic>
        <p:nvPicPr>
          <p:cNvPr id="17" name="Image 2" descr="preencoded.png"/>
          <p:cNvPicPr>
            <a:picLocks noChangeAspect="1"/>
          </p:cNvPicPr>
          <p:nvPr/>
        </p:nvPicPr>
        <p:blipFill>
          <a:blip r:embed="rId6"/>
          <a:stretch>
            <a:fillRect/>
          </a:stretch>
        </p:blipFill>
        <p:spPr>
          <a:xfrm>
            <a:off x="800100" y="2948940"/>
            <a:ext cx="228600" cy="228600"/>
          </a:xfrm>
          <a:prstGeom prst="rect">
            <a:avLst/>
          </a:prstGeom>
        </p:spPr>
      </p:pic>
      <p:sp>
        <p:nvSpPr>
          <p:cNvPr id="18" name="Text 13"/>
          <p:cNvSpPr txBox="1"/>
          <p:nvPr/>
        </p:nvSpPr>
        <p:spPr>
          <a:xfrm>
            <a:off x="128016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ワークシートに整理する</a:t>
            </a:r>
            <a:endParaRPr lang="en-US" sz="1600" dirty="0"/>
          </a:p>
        </p:txBody>
      </p:sp>
      <p:sp>
        <p:nvSpPr>
          <p:cNvPr id="19" name="Shape 14"/>
          <p:cNvSpPr/>
          <p:nvPr/>
        </p:nvSpPr>
        <p:spPr>
          <a:xfrm>
            <a:off x="4160520" y="2743200"/>
            <a:ext cx="3337560" cy="640080"/>
          </a:xfrm>
          <a:prstGeom prst="roundRect">
            <a:avLst>
              <a:gd name="adj" fmla="val 11429"/>
            </a:avLst>
          </a:prstGeom>
          <a:solidFill>
            <a:schemeClr val="bg2"/>
          </a:solidFill>
          <a:ln/>
        </p:spPr>
        <p:txBody>
          <a:bodyPr/>
          <a:lstStyle/>
          <a:p>
            <a:endParaRPr lang="ja-JP" altLang="en-US"/>
          </a:p>
        </p:txBody>
      </p:sp>
      <p:sp>
        <p:nvSpPr>
          <p:cNvPr id="20" name="Shape 15"/>
          <p:cNvSpPr/>
          <p:nvPr/>
        </p:nvSpPr>
        <p:spPr>
          <a:xfrm>
            <a:off x="4297680" y="2834640"/>
            <a:ext cx="457200" cy="457200"/>
          </a:xfrm>
          <a:prstGeom prst="ellipse">
            <a:avLst/>
          </a:prstGeom>
          <a:solidFill>
            <a:schemeClr val="accent1"/>
          </a:solidFill>
          <a:ln/>
        </p:spPr>
        <p:txBody>
          <a:bodyPr/>
          <a:lstStyle/>
          <a:p>
            <a:endParaRPr lang="ja-JP" altLang="en-US"/>
          </a:p>
        </p:txBody>
      </p:sp>
      <p:pic>
        <p:nvPicPr>
          <p:cNvPr id="21" name="Image 3" descr="preencoded.png"/>
          <p:cNvPicPr>
            <a:picLocks noChangeAspect="1"/>
          </p:cNvPicPr>
          <p:nvPr/>
        </p:nvPicPr>
        <p:blipFill>
          <a:blip r:embed="rId7"/>
          <a:stretch>
            <a:fillRect/>
          </a:stretch>
        </p:blipFill>
        <p:spPr>
          <a:xfrm>
            <a:off x="4411980" y="2948940"/>
            <a:ext cx="228600" cy="228600"/>
          </a:xfrm>
          <a:prstGeom prst="rect">
            <a:avLst/>
          </a:prstGeom>
        </p:spPr>
      </p:pic>
      <p:sp>
        <p:nvSpPr>
          <p:cNvPr id="22" name="Text 16"/>
          <p:cNvSpPr txBox="1"/>
          <p:nvPr/>
        </p:nvSpPr>
        <p:spPr>
          <a:xfrm>
            <a:off x="4892040" y="2743200"/>
            <a:ext cx="2514600" cy="640080"/>
          </a:xfrm>
          <a:prstGeom prst="rect">
            <a:avLst/>
          </a:prstGeom>
          <a:noFill/>
          <a:ln/>
        </p:spPr>
        <p:txBody>
          <a:bodyPr wrap="square" lIns="0" tIns="0" rIns="0" bIns="0" rtlCol="0" anchor="ctr"/>
          <a:lstStyle/>
          <a:p>
            <a:pPr marL="0" indent="0">
              <a:buNone/>
            </a:pPr>
            <a:r>
              <a:rPr lang="en-US" sz="1600" b="1" dirty="0">
                <a:solidFill>
                  <a:schemeClr val="tx2"/>
                </a:solidFill>
              </a:rPr>
              <a:t>仲間と対話する</a:t>
            </a:r>
            <a:endParaRPr lang="en-US" sz="1600" dirty="0"/>
          </a:p>
        </p:txBody>
      </p:sp>
      <p:sp>
        <p:nvSpPr>
          <p:cNvPr id="23" name="Text 17"/>
          <p:cNvSpPr txBox="1"/>
          <p:nvPr/>
        </p:nvSpPr>
        <p:spPr>
          <a:xfrm>
            <a:off x="548640" y="3520440"/>
            <a:ext cx="6949440" cy="365760"/>
          </a:xfrm>
          <a:prstGeom prst="rect">
            <a:avLst/>
          </a:prstGeom>
          <a:noFill/>
          <a:ln/>
        </p:spPr>
        <p:txBody>
          <a:bodyPr wrap="square" lIns="0" tIns="0" rIns="0" bIns="0" rtlCol="0" anchor="ctr"/>
          <a:lstStyle/>
          <a:p>
            <a:pPr marL="0" indent="0">
              <a:buNone/>
            </a:pPr>
            <a:r>
              <a:rPr lang="en-US" sz="1400" dirty="0">
                <a:solidFill>
                  <a:schemeClr val="accent5"/>
                </a:solidFill>
              </a:rPr>
              <a:t>一人での追究と協働的な学びを行き来しながら、学習を調整している</a:t>
            </a:r>
            <a:endParaRPr lang="en-US" sz="1400" dirty="0"/>
          </a:p>
        </p:txBody>
      </p:sp>
      <p:sp>
        <p:nvSpPr>
          <p:cNvPr id="24" name="Text 18"/>
          <p:cNvSpPr txBox="1"/>
          <p:nvPr/>
        </p:nvSpPr>
        <p:spPr>
          <a:xfrm>
            <a:off x="548640" y="4023360"/>
            <a:ext cx="6949440" cy="365760"/>
          </a:xfrm>
          <a:prstGeom prst="rect">
            <a:avLst/>
          </a:prstGeom>
          <a:noFill/>
          <a:ln/>
        </p:spPr>
        <p:txBody>
          <a:bodyPr wrap="square" lIns="0" tIns="0" rIns="0" bIns="0" rtlCol="0" anchor="ctr"/>
          <a:lstStyle/>
          <a:p>
            <a:pPr marL="0" indent="0">
              <a:buNone/>
            </a:pPr>
            <a:r>
              <a:rPr lang="en-US" sz="1500" b="1" dirty="0">
                <a:solidFill>
                  <a:schemeClr val="accent2"/>
                </a:solidFill>
              </a:rPr>
              <a:t>振り返り掲示に多く見られた記述</a:t>
            </a:r>
            <a:endParaRPr lang="en-US" sz="1500" dirty="0"/>
          </a:p>
        </p:txBody>
      </p:sp>
      <p:pic>
        <p:nvPicPr>
          <p:cNvPr id="25" name="Image 4" descr="preencoded.png"/>
          <p:cNvPicPr>
            <a:picLocks noChangeAspect="1"/>
          </p:cNvPicPr>
          <p:nvPr/>
        </p:nvPicPr>
        <p:blipFill>
          <a:blip r:embed="rId8"/>
          <a:stretch>
            <a:fillRect/>
          </a:stretch>
        </p:blipFill>
        <p:spPr>
          <a:xfrm>
            <a:off x="548640" y="4507992"/>
            <a:ext cx="237744" cy="237744"/>
          </a:xfrm>
          <a:prstGeom prst="rect">
            <a:avLst/>
          </a:prstGeom>
        </p:spPr>
      </p:pic>
      <p:sp>
        <p:nvSpPr>
          <p:cNvPr id="26" name="Text 19"/>
          <p:cNvSpPr txBox="1"/>
          <p:nvPr/>
        </p:nvSpPr>
        <p:spPr>
          <a:xfrm>
            <a:off x="914400" y="4434840"/>
            <a:ext cx="4206240" cy="384048"/>
          </a:xfrm>
          <a:prstGeom prst="rect">
            <a:avLst/>
          </a:prstGeom>
          <a:noFill/>
          <a:ln/>
        </p:spPr>
        <p:txBody>
          <a:bodyPr wrap="square" lIns="0" tIns="0" rIns="0" bIns="0" rtlCol="0" anchor="ctr"/>
          <a:lstStyle/>
          <a:p>
            <a:pPr marL="0" indent="0">
              <a:buNone/>
            </a:pPr>
            <a:r>
              <a:rPr lang="en-US" sz="1600" dirty="0">
                <a:solidFill>
                  <a:schemeClr val="tx1"/>
                </a:solidFill>
              </a:rPr>
              <a:t>「前回の失敗を生かした」</a:t>
            </a:r>
            <a:endParaRPr lang="en-US" sz="1600" dirty="0"/>
          </a:p>
        </p:txBody>
      </p:sp>
      <p:pic>
        <p:nvPicPr>
          <p:cNvPr id="27" name="Image 5" descr="preencoded.png"/>
          <p:cNvPicPr>
            <a:picLocks noChangeAspect="1"/>
          </p:cNvPicPr>
          <p:nvPr/>
        </p:nvPicPr>
        <p:blipFill>
          <a:blip r:embed="rId8"/>
          <a:stretch>
            <a:fillRect/>
          </a:stretch>
        </p:blipFill>
        <p:spPr>
          <a:xfrm>
            <a:off x="548640" y="4937760"/>
            <a:ext cx="237744" cy="237744"/>
          </a:xfrm>
          <a:prstGeom prst="rect">
            <a:avLst/>
          </a:prstGeom>
        </p:spPr>
      </p:pic>
      <p:sp>
        <p:nvSpPr>
          <p:cNvPr id="28" name="Text 20"/>
          <p:cNvSpPr txBox="1"/>
          <p:nvPr/>
        </p:nvSpPr>
        <p:spPr>
          <a:xfrm>
            <a:off x="914400" y="4864608"/>
            <a:ext cx="4206240" cy="384048"/>
          </a:xfrm>
          <a:prstGeom prst="rect">
            <a:avLst/>
          </a:prstGeom>
          <a:noFill/>
          <a:ln/>
        </p:spPr>
        <p:txBody>
          <a:bodyPr wrap="square" lIns="0" tIns="0" rIns="0" bIns="0" rtlCol="0" anchor="ctr"/>
          <a:lstStyle/>
          <a:p>
            <a:pPr marL="0" indent="0">
              <a:buNone/>
            </a:pPr>
            <a:r>
              <a:rPr lang="en-US" sz="1600" dirty="0">
                <a:solidFill>
                  <a:schemeClr val="tx1"/>
                </a:solidFill>
              </a:rPr>
              <a:t>「計画を修正した」</a:t>
            </a:r>
            <a:endParaRPr lang="en-US" sz="1600" dirty="0"/>
          </a:p>
        </p:txBody>
      </p:sp>
      <p:pic>
        <p:nvPicPr>
          <p:cNvPr id="29" name="Image 6" descr="preencoded.png"/>
          <p:cNvPicPr>
            <a:picLocks noChangeAspect="1"/>
          </p:cNvPicPr>
          <p:nvPr/>
        </p:nvPicPr>
        <p:blipFill>
          <a:blip r:embed="rId8"/>
          <a:stretch>
            <a:fillRect/>
          </a:stretch>
        </p:blipFill>
        <p:spPr>
          <a:xfrm>
            <a:off x="548640" y="5367528"/>
            <a:ext cx="237744" cy="237744"/>
          </a:xfrm>
          <a:prstGeom prst="rect">
            <a:avLst/>
          </a:prstGeom>
        </p:spPr>
      </p:pic>
      <p:sp>
        <p:nvSpPr>
          <p:cNvPr id="30" name="Text 21"/>
          <p:cNvSpPr txBox="1"/>
          <p:nvPr/>
        </p:nvSpPr>
        <p:spPr>
          <a:xfrm>
            <a:off x="914400" y="5294376"/>
            <a:ext cx="4206240" cy="384048"/>
          </a:xfrm>
          <a:prstGeom prst="rect">
            <a:avLst/>
          </a:prstGeom>
          <a:noFill/>
          <a:ln/>
        </p:spPr>
        <p:txBody>
          <a:bodyPr wrap="square" lIns="0" tIns="0" rIns="0" bIns="0" rtlCol="0" anchor="ctr"/>
          <a:lstStyle/>
          <a:p>
            <a:pPr marL="0" indent="0">
              <a:buNone/>
            </a:pPr>
            <a:r>
              <a:rPr lang="en-US" sz="1600" dirty="0">
                <a:solidFill>
                  <a:schemeClr val="tx1"/>
                </a:solidFill>
              </a:rPr>
              <a:t>「次に調べたいことが見つかった」</a:t>
            </a:r>
            <a:endParaRPr lang="en-US" sz="1600" dirty="0"/>
          </a:p>
        </p:txBody>
      </p:sp>
      <p:sp>
        <p:nvSpPr>
          <p:cNvPr id="31" name="Shape 22"/>
          <p:cNvSpPr/>
          <p:nvPr/>
        </p:nvSpPr>
        <p:spPr>
          <a:xfrm>
            <a:off x="5120640" y="4434840"/>
            <a:ext cx="2377440" cy="1243584"/>
          </a:xfrm>
          <a:prstGeom prst="roundRect">
            <a:avLst>
              <a:gd name="adj" fmla="val 5882"/>
            </a:avLst>
          </a:prstGeom>
          <a:solidFill>
            <a:schemeClr val="tx2"/>
          </a:solidFill>
          <a:ln/>
        </p:spPr>
        <p:txBody>
          <a:bodyPr/>
          <a:lstStyle/>
          <a:p>
            <a:endParaRPr lang="ja-JP" altLang="en-US"/>
          </a:p>
        </p:txBody>
      </p:sp>
      <p:sp>
        <p:nvSpPr>
          <p:cNvPr id="32" name="Text 23"/>
          <p:cNvSpPr txBox="1"/>
          <p:nvPr/>
        </p:nvSpPr>
        <p:spPr>
          <a:xfrm>
            <a:off x="5257800" y="4434840"/>
            <a:ext cx="2103120" cy="1243584"/>
          </a:xfrm>
          <a:prstGeom prst="rect">
            <a:avLst/>
          </a:prstGeom>
          <a:noFill/>
          <a:ln/>
        </p:spPr>
        <p:txBody>
          <a:bodyPr wrap="square" lIns="0" tIns="0" rIns="0" bIns="0" rtlCol="0" anchor="ctr"/>
          <a:lstStyle/>
          <a:p>
            <a:pPr marL="0" indent="0" algn="ctr">
              <a:buNone/>
            </a:pPr>
            <a:r>
              <a:rPr lang="en-US" sz="1600" b="1" dirty="0">
                <a:solidFill>
                  <a:schemeClr val="bg1"/>
                </a:solidFill>
              </a:rPr>
              <a:t>学習過程そのものを価値付ける文化</a:t>
            </a:r>
            <a:endParaRPr lang="en-US" sz="1600" dirty="0"/>
          </a:p>
        </p:txBody>
      </p:sp>
      <p:sp>
        <p:nvSpPr>
          <p:cNvPr id="33"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34" name="写真 IMG_0250.JPG" descr="image.JPG"/>
          <p:cNvPicPr>
            <a:picLocks noChangeAspect="1"/>
          </p:cNvPicPr>
          <p:nvPr/>
        </p:nvPicPr>
        <p:blipFill>
          <a:blip r:embed="rId9"/>
          <a:srcRect l="40" r="40"/>
          <a:stretch>
            <a:fillRect/>
          </a:stretch>
        </p:blipFill>
        <p:spPr>
          <a:xfrm>
            <a:off x="7863840" y="1508760"/>
            <a:ext cx="3776472" cy="2834640"/>
          </a:xfrm>
          <a:prstGeom prst="rect">
            <a:avLst/>
          </a:prstGeom>
        </p:spPr>
      </p:pic>
      <p:pic>
        <p:nvPicPr>
          <p:cNvPr id="35" name="写真 IMG_0118.JPG" descr="IMG_0118.JPG"/>
          <p:cNvPicPr>
            <a:picLocks noChangeAspect="1"/>
          </p:cNvPicPr>
          <p:nvPr/>
        </p:nvPicPr>
        <p:blipFill>
          <a:blip r:embed="rId11"/>
          <a:srcRect l="7357" r="7357"/>
          <a:stretch>
            <a:fillRect/>
          </a:stretch>
        </p:blipFill>
        <p:spPr>
          <a:xfrm>
            <a:off x="7863840" y="4480560"/>
            <a:ext cx="1819656" cy="1600200"/>
          </a:xfrm>
          <a:prstGeom prst="rect">
            <a:avLst/>
          </a:prstGeom>
        </p:spPr>
      </p:pic>
      <p:pic>
        <p:nvPicPr>
          <p:cNvPr id="36" name="写真 IMG_0291.JPG" descr="image.JPG"/>
          <p:cNvPicPr>
            <a:picLocks noChangeAspect="1"/>
          </p:cNvPicPr>
          <p:nvPr/>
        </p:nvPicPr>
        <p:blipFill>
          <a:blip r:embed="rId10"/>
          <a:srcRect l="7357" r="7357"/>
          <a:stretch>
            <a:fillRect/>
          </a:stretch>
        </p:blipFill>
        <p:spPr>
          <a:xfrm>
            <a:off x="9820656" y="4480560"/>
            <a:ext cx="1819656" cy="1600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から（上智大学 奈須正裕 氏）</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２つの「好き」「得意」＝個性</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600" b="1" dirty="0">
                <a:solidFill>
                  <a:schemeClr val="accent2"/>
                </a:solidFill>
              </a:rPr>
              <a:t>演題　</a:t>
            </a:r>
            <a:r>
              <a:rPr lang="en-US" sz="1600" dirty="0">
                <a:solidFill>
                  <a:schemeClr val="tx1"/>
                </a:solidFill>
              </a:rPr>
              <a:t>次期学習指導要領が目指す学力論とカリキュラム開発</a:t>
            </a:r>
            <a:endParaRPr lang="en-US" sz="1600" dirty="0"/>
          </a:p>
        </p:txBody>
      </p:sp>
      <p:sp>
        <p:nvSpPr>
          <p:cNvPr id="5" name="Shape 3"/>
          <p:cNvSpPr/>
          <p:nvPr/>
        </p:nvSpPr>
        <p:spPr>
          <a:xfrm>
            <a:off x="548640" y="2103120"/>
            <a:ext cx="5364328"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822960" y="2423160"/>
            <a:ext cx="731520" cy="73152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005840" y="2606040"/>
            <a:ext cx="365760" cy="365760"/>
          </a:xfrm>
          <a:prstGeom prst="rect">
            <a:avLst/>
          </a:prstGeom>
        </p:spPr>
      </p:pic>
      <p:sp>
        <p:nvSpPr>
          <p:cNvPr id="8" name="Text 5"/>
          <p:cNvSpPr txBox="1"/>
          <p:nvPr/>
        </p:nvSpPr>
        <p:spPr>
          <a:xfrm>
            <a:off x="1737360"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学ぶ領域の「得意」</a:t>
            </a:r>
            <a:endParaRPr lang="en-US" sz="2200" dirty="0"/>
          </a:p>
          <a:p>
            <a:pPr marL="0" indent="0">
              <a:buNone/>
            </a:pPr>
            <a:r>
              <a:rPr lang="en-US" sz="1400" dirty="0">
                <a:solidFill>
                  <a:schemeClr val="tx1"/>
                </a:solidFill>
              </a:rPr>
              <a:t>自分の好き・得意な領域や活動を知っている</a:t>
            </a:r>
            <a:endParaRPr lang="en-US" sz="2200" dirty="0"/>
          </a:p>
        </p:txBody>
      </p:sp>
      <p:pic>
        <p:nvPicPr>
          <p:cNvPr id="9" name="Image 1" descr="preencoded.png"/>
          <p:cNvPicPr>
            <a:picLocks noChangeAspect="1"/>
          </p:cNvPicPr>
          <p:nvPr/>
        </p:nvPicPr>
        <p:blipFill>
          <a:blip r:embed="rId4"/>
          <a:stretch>
            <a:fillRect/>
          </a:stretch>
        </p:blipFill>
        <p:spPr>
          <a:xfrm>
            <a:off x="3047924" y="3584448"/>
            <a:ext cx="365760" cy="365760"/>
          </a:xfrm>
          <a:prstGeom prst="rect">
            <a:avLst/>
          </a:prstGeom>
        </p:spPr>
      </p:pic>
      <p:sp>
        <p:nvSpPr>
          <p:cNvPr id="10" name="Shape 6"/>
          <p:cNvSpPr/>
          <p:nvPr/>
        </p:nvSpPr>
        <p:spPr>
          <a:xfrm>
            <a:off x="548640" y="4069080"/>
            <a:ext cx="5364328" cy="868680"/>
          </a:xfrm>
          <a:prstGeom prst="roundRect">
            <a:avLst>
              <a:gd name="adj" fmla="val 8421"/>
            </a:avLst>
          </a:prstGeom>
          <a:solidFill>
            <a:schemeClr val="tx2"/>
          </a:solidFill>
          <a:ln/>
        </p:spPr>
        <p:txBody>
          <a:bodyPr/>
          <a:lstStyle/>
          <a:p>
            <a:endParaRPr lang="ja-JP" altLang="en-US"/>
          </a:p>
        </p:txBody>
      </p:sp>
      <p:sp>
        <p:nvSpPr>
          <p:cNvPr id="11" name="Text 7"/>
          <p:cNvSpPr txBox="1"/>
          <p:nvPr/>
        </p:nvSpPr>
        <p:spPr>
          <a:xfrm>
            <a:off x="548640"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個人総合（マイ探究）</a:t>
            </a:r>
            <a:endParaRPr lang="en-US" sz="1700" dirty="0"/>
          </a:p>
          <a:p>
            <a:pPr marL="0" indent="0" algn="ctr">
              <a:buNone/>
            </a:pPr>
            <a:r>
              <a:rPr lang="en-US" sz="1700" dirty="0">
                <a:solidFill>
                  <a:schemeClr val="accent4"/>
                </a:solidFill>
              </a:rPr>
              <a:t>＝ 本校の FSP</a:t>
            </a:r>
            <a:endParaRPr lang="en-US" sz="1700" dirty="0"/>
          </a:p>
        </p:txBody>
      </p:sp>
      <p:sp>
        <p:nvSpPr>
          <p:cNvPr id="12" name="Shape 8"/>
          <p:cNvSpPr/>
          <p:nvPr/>
        </p:nvSpPr>
        <p:spPr>
          <a:xfrm>
            <a:off x="6278728" y="2103120"/>
            <a:ext cx="5364328" cy="1371600"/>
          </a:xfrm>
          <a:prstGeom prst="roundRect">
            <a:avLst>
              <a:gd name="adj" fmla="val 5333"/>
            </a:avLst>
          </a:prstGeom>
          <a:solidFill>
            <a:schemeClr val="bg2"/>
          </a:solidFill>
          <a:ln/>
        </p:spPr>
        <p:txBody>
          <a:bodyPr/>
          <a:lstStyle/>
          <a:p>
            <a:endParaRPr lang="ja-JP" altLang="en-US"/>
          </a:p>
        </p:txBody>
      </p:sp>
      <p:sp>
        <p:nvSpPr>
          <p:cNvPr id="13" name="Shape 9"/>
          <p:cNvSpPr/>
          <p:nvPr/>
        </p:nvSpPr>
        <p:spPr>
          <a:xfrm>
            <a:off x="6553048" y="2423160"/>
            <a:ext cx="731520" cy="731520"/>
          </a:xfrm>
          <a:prstGeom prst="ellipse">
            <a:avLst/>
          </a:prstGeom>
          <a:solidFill>
            <a:schemeClr val="accent1"/>
          </a:solidFill>
          <a:ln/>
        </p:spPr>
        <p:txBody>
          <a:bodyPr/>
          <a:lstStyle/>
          <a:p>
            <a:endParaRPr lang="ja-JP" altLang="en-US"/>
          </a:p>
        </p:txBody>
      </p:sp>
      <p:pic>
        <p:nvPicPr>
          <p:cNvPr id="14" name="Image 2" descr="preencoded.png"/>
          <p:cNvPicPr>
            <a:picLocks noChangeAspect="1"/>
          </p:cNvPicPr>
          <p:nvPr/>
        </p:nvPicPr>
        <p:blipFill>
          <a:blip r:embed="rId5"/>
          <a:stretch>
            <a:fillRect/>
          </a:stretch>
        </p:blipFill>
        <p:spPr>
          <a:xfrm>
            <a:off x="6735928" y="2606040"/>
            <a:ext cx="365760" cy="365760"/>
          </a:xfrm>
          <a:prstGeom prst="rect">
            <a:avLst/>
          </a:prstGeom>
        </p:spPr>
      </p:pic>
      <p:sp>
        <p:nvSpPr>
          <p:cNvPr id="15" name="Text 10"/>
          <p:cNvSpPr txBox="1"/>
          <p:nvPr/>
        </p:nvSpPr>
        <p:spPr>
          <a:xfrm>
            <a:off x="7467448" y="2194560"/>
            <a:ext cx="3992728" cy="1188720"/>
          </a:xfrm>
          <a:prstGeom prst="rect">
            <a:avLst/>
          </a:prstGeom>
          <a:noFill/>
          <a:ln/>
        </p:spPr>
        <p:txBody>
          <a:bodyPr wrap="square" lIns="0" tIns="0" rIns="0" bIns="0" rtlCol="0" anchor="ctr"/>
          <a:lstStyle/>
          <a:p>
            <a:pPr marL="0" indent="0">
              <a:buNone/>
            </a:pPr>
            <a:r>
              <a:rPr lang="en-US" sz="2200" b="1" dirty="0">
                <a:solidFill>
                  <a:schemeClr val="tx2"/>
                </a:solidFill>
              </a:rPr>
              <a:t>学び方の「得意」</a:t>
            </a:r>
            <a:endParaRPr lang="en-US" sz="2200" dirty="0"/>
          </a:p>
          <a:p>
            <a:pPr marL="0" indent="0">
              <a:buNone/>
            </a:pPr>
            <a:r>
              <a:rPr lang="en-US" sz="1400" dirty="0">
                <a:solidFill>
                  <a:schemeClr val="tx1"/>
                </a:solidFill>
              </a:rPr>
              <a:t>自分に合った方法・時間・教材で学習計画を立て、実行できる</a:t>
            </a:r>
            <a:endParaRPr lang="en-US" sz="2200" dirty="0"/>
          </a:p>
        </p:txBody>
      </p:sp>
      <p:pic>
        <p:nvPicPr>
          <p:cNvPr id="16" name="Image 3" descr="preencoded.png"/>
          <p:cNvPicPr>
            <a:picLocks noChangeAspect="1"/>
          </p:cNvPicPr>
          <p:nvPr/>
        </p:nvPicPr>
        <p:blipFill>
          <a:blip r:embed="rId4"/>
          <a:stretch>
            <a:fillRect/>
          </a:stretch>
        </p:blipFill>
        <p:spPr>
          <a:xfrm>
            <a:off x="8778011" y="3584448"/>
            <a:ext cx="365760" cy="365760"/>
          </a:xfrm>
          <a:prstGeom prst="rect">
            <a:avLst/>
          </a:prstGeom>
        </p:spPr>
      </p:pic>
      <p:sp>
        <p:nvSpPr>
          <p:cNvPr id="17" name="Shape 11"/>
          <p:cNvSpPr/>
          <p:nvPr/>
        </p:nvSpPr>
        <p:spPr>
          <a:xfrm>
            <a:off x="6278728" y="4069080"/>
            <a:ext cx="5364328" cy="868680"/>
          </a:xfrm>
          <a:prstGeom prst="roundRect">
            <a:avLst>
              <a:gd name="adj" fmla="val 8421"/>
            </a:avLst>
          </a:prstGeom>
          <a:solidFill>
            <a:schemeClr val="tx2"/>
          </a:solidFill>
          <a:ln/>
        </p:spPr>
        <p:txBody>
          <a:bodyPr/>
          <a:lstStyle/>
          <a:p>
            <a:endParaRPr lang="ja-JP" altLang="en-US"/>
          </a:p>
        </p:txBody>
      </p:sp>
      <p:sp>
        <p:nvSpPr>
          <p:cNvPr id="18" name="Text 12"/>
          <p:cNvSpPr txBox="1"/>
          <p:nvPr/>
        </p:nvSpPr>
        <p:spPr>
          <a:xfrm>
            <a:off x="6278728" y="4069080"/>
            <a:ext cx="5364328" cy="868680"/>
          </a:xfrm>
          <a:prstGeom prst="rect">
            <a:avLst/>
          </a:prstGeom>
          <a:noFill/>
          <a:ln/>
        </p:spPr>
        <p:txBody>
          <a:bodyPr wrap="square" lIns="0" tIns="0" rIns="0" bIns="0" rtlCol="0" anchor="ctr"/>
          <a:lstStyle/>
          <a:p>
            <a:pPr marL="0" indent="0" algn="ctr">
              <a:buNone/>
            </a:pPr>
            <a:r>
              <a:rPr lang="en-US" sz="1700" b="1" dirty="0">
                <a:solidFill>
                  <a:schemeClr val="bg1"/>
                </a:solidFill>
              </a:rPr>
              <a:t>単元内自由進度学習</a:t>
            </a:r>
            <a:endParaRPr lang="en-US" sz="1700" dirty="0"/>
          </a:p>
          <a:p>
            <a:pPr marL="0" indent="0" algn="ctr">
              <a:buNone/>
            </a:pPr>
            <a:r>
              <a:rPr lang="en-US" sz="1700" dirty="0">
                <a:solidFill>
                  <a:schemeClr val="accent4"/>
                </a:solidFill>
              </a:rPr>
              <a:t>＝ 本校の MP学習</a:t>
            </a:r>
            <a:endParaRPr lang="en-US" sz="1700" dirty="0"/>
          </a:p>
        </p:txBody>
      </p:sp>
      <p:sp>
        <p:nvSpPr>
          <p:cNvPr id="19" name="Text 13"/>
          <p:cNvSpPr txBox="1"/>
          <p:nvPr/>
        </p:nvSpPr>
        <p:spPr>
          <a:xfrm>
            <a:off x="548640" y="5029200"/>
            <a:ext cx="11094415" cy="365760"/>
          </a:xfrm>
          <a:prstGeom prst="rect">
            <a:avLst/>
          </a:prstGeom>
          <a:noFill/>
          <a:ln/>
        </p:spPr>
        <p:txBody>
          <a:bodyPr wrap="square" lIns="0" tIns="0" rIns="0" bIns="0" rtlCol="0" anchor="ctr"/>
          <a:lstStyle/>
          <a:p>
            <a:pPr marL="0" indent="0" algn="ctr">
              <a:buNone/>
            </a:pPr>
            <a:r>
              <a:rPr lang="en-US" sz="1500" b="1" dirty="0">
                <a:solidFill>
                  <a:schemeClr val="accent1"/>
                </a:solidFill>
              </a:rPr>
              <a:t>どちらも、実際に試行錯誤してみないと分からないし、できるようにならない</a:t>
            </a:r>
            <a:endParaRPr lang="en-US" sz="1500" dirty="0"/>
          </a:p>
        </p:txBody>
      </p:sp>
      <p:sp>
        <p:nvSpPr>
          <p:cNvPr id="20" name="Shape 14"/>
          <p:cNvSpPr/>
          <p:nvPr/>
        </p:nvSpPr>
        <p:spPr>
          <a:xfrm>
            <a:off x="548640" y="5532120"/>
            <a:ext cx="11094415" cy="640080"/>
          </a:xfrm>
          <a:prstGeom prst="roundRect">
            <a:avLst>
              <a:gd name="adj" fmla="val 11429"/>
            </a:avLst>
          </a:prstGeom>
          <a:solidFill>
            <a:schemeClr val="accent4"/>
          </a:solidFill>
          <a:ln/>
        </p:spPr>
        <p:txBody>
          <a:bodyPr/>
          <a:lstStyle/>
          <a:p>
            <a:endParaRPr lang="ja-JP" altLang="en-US"/>
          </a:p>
        </p:txBody>
      </p:sp>
      <p:sp>
        <p:nvSpPr>
          <p:cNvPr id="21" name="Text 15"/>
          <p:cNvSpPr txBox="1"/>
          <p:nvPr/>
        </p:nvSpPr>
        <p:spPr>
          <a:xfrm>
            <a:off x="822960" y="5532120"/>
            <a:ext cx="10545775" cy="640080"/>
          </a:xfrm>
          <a:prstGeom prst="rect">
            <a:avLst/>
          </a:prstGeom>
          <a:noFill/>
          <a:ln/>
        </p:spPr>
        <p:txBody>
          <a:bodyPr wrap="square" lIns="0" tIns="0" rIns="0" bIns="0" rtlCol="0" anchor="ctr"/>
          <a:lstStyle/>
          <a:p>
            <a:pPr marL="0" indent="0">
              <a:buNone/>
            </a:pPr>
            <a:r>
              <a:rPr lang="en-US" sz="1500" b="1" dirty="0">
                <a:solidFill>
                  <a:schemeClr val="accent2"/>
                </a:solidFill>
              </a:rPr>
              <a:t>次期学習指導要領とのつながり　</a:t>
            </a:r>
            <a:r>
              <a:rPr lang="en-US" sz="1500" dirty="0">
                <a:solidFill>
                  <a:schemeClr val="tx1"/>
                </a:solidFill>
              </a:rPr>
              <a:t>審議まとめでも、子供の「好き」「得意」を育むことが示されている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rPr/>
              <a:t>02　講演・鼎談</a:t>
            </a:r>
            <a:r>
              <a:rPr sz="900"/>
              <a:t>（ていだん）</a:t>
            </a:r>
            <a:r>
              <a:rPr/>
              <a:t>から（上智大学 奈須正裕 氏）</a:t>
            </a:r>
          </a:p>
        </p:txBody>
      </p:sp>
      <p:sp>
        <p:nvSpPr>
          <p:cNvPr id="3" name="Title 2"/>
          <p:cNvSpPr>
            <a:spLocks noGrp="1"/>
          </p:cNvSpPr>
          <p:nvPr>
            <p:ph type="title" idx="101"/>
          </p:nvPr>
        </p:nvSpPr>
        <p:spPr/>
        <p:txBody>
          <a:bodyPr/>
          <a:lstStyle/>
          <a:p>
            <a:r>
              <a:t>講義・協議会で語られた本音</a:t>
            </a:r>
          </a:p>
        </p:txBody>
      </p:sp>
      <p:sp>
        <p:nvSpPr>
          <p:cNvPr id="4" name="Rounded Rectangle 3"/>
          <p:cNvSpPr/>
          <p:nvPr/>
        </p:nvSpPr>
        <p:spPr>
          <a:xfrm>
            <a:off x="548640" y="1508760"/>
            <a:ext cx="4937760" cy="457200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uote_peach.png"/>
          <p:cNvPicPr>
            <a:picLocks noChangeAspect="1"/>
          </p:cNvPicPr>
          <p:nvPr/>
        </p:nvPicPr>
        <p:blipFill>
          <a:blip r:embed="rId2"/>
          <a:stretch>
            <a:fillRect/>
          </a:stretch>
        </p:blipFill>
        <p:spPr>
          <a:xfrm>
            <a:off x="914400" y="1874519"/>
            <a:ext cx="548640" cy="548640"/>
          </a:xfrm>
          <a:prstGeom prst="rect">
            <a:avLst/>
          </a:prstGeom>
        </p:spPr>
      </p:pic>
      <p:sp>
        <p:nvSpPr>
          <p:cNvPr id="6" name="TextBox 5"/>
          <p:cNvSpPr txBox="1"/>
          <p:nvPr/>
        </p:nvSpPr>
        <p:spPr>
          <a:xfrm>
            <a:off x="914400" y="2560320"/>
            <a:ext cx="4206240" cy="1463040"/>
          </a:xfrm>
          <a:prstGeom prst="rect">
            <a:avLst/>
          </a:prstGeom>
          <a:noFill/>
        </p:spPr>
        <p:txBody>
          <a:bodyPr wrap="square" lIns="0" rIns="0" tIns="0" bIns="0" anchor="t">
            <a:spAutoFit/>
          </a:bodyPr>
          <a:lstStyle/>
          <a:p>
            <a:pPr algn="l"/>
            <a:r>
              <a:rPr sz="3200" b="1">
                <a:solidFill>
                  <a:srgbClr val="FFFFFF"/>
                </a:solidFill>
              </a:rPr>
              <a:t>マイ探究に、</a:t>
            </a:r>
          </a:p>
          <a:p>
            <a:pPr algn="l"/>
            <a:r>
              <a:rPr sz="3200" b="1">
                <a:solidFill>
                  <a:srgbClr val="FFFFFF"/>
                </a:solidFill>
              </a:rPr>
              <a:t>評価は必要ない</a:t>
            </a:r>
          </a:p>
        </p:txBody>
      </p:sp>
      <p:sp>
        <p:nvSpPr>
          <p:cNvPr id="7" name="TextBox 6"/>
          <p:cNvSpPr txBox="1"/>
          <p:nvPr/>
        </p:nvSpPr>
        <p:spPr>
          <a:xfrm>
            <a:off x="914400" y="4114800"/>
            <a:ext cx="4206240" cy="822960"/>
          </a:xfrm>
          <a:prstGeom prst="rect">
            <a:avLst/>
          </a:prstGeom>
          <a:noFill/>
        </p:spPr>
        <p:txBody>
          <a:bodyPr wrap="square" lIns="0" rIns="0" tIns="0" bIns="0" anchor="t">
            <a:spAutoFit/>
          </a:bodyPr>
          <a:lstStyle/>
          <a:p>
            <a:pPr algn="l"/>
            <a:r>
              <a:rPr sz="1500" b="0">
                <a:solidFill>
                  <a:srgbClr val="D3E3D9"/>
                </a:solidFill>
              </a:rPr>
              <a:t>「好き」「得意」を、学校の物差しで測らない</a:t>
            </a:r>
          </a:p>
        </p:txBody>
      </p:sp>
      <p:sp>
        <p:nvSpPr>
          <p:cNvPr id="8" name="Rounded Rectangle 7"/>
          <p:cNvSpPr/>
          <p:nvPr/>
        </p:nvSpPr>
        <p:spPr>
          <a:xfrm>
            <a:off x="822959" y="4846320"/>
            <a:ext cx="4389120" cy="9601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846320"/>
            <a:ext cx="3931920" cy="960120"/>
          </a:xfrm>
          <a:prstGeom prst="rect">
            <a:avLst/>
          </a:prstGeom>
          <a:noFill/>
        </p:spPr>
        <p:txBody>
          <a:bodyPr wrap="square" lIns="0" rIns="0" tIns="0" bIns="0" anchor="ctr">
            <a:spAutoFit/>
          </a:bodyPr>
          <a:lstStyle/>
          <a:p>
            <a:pPr algn="l"/>
            <a:r>
              <a:rPr sz="1300" b="1">
                <a:solidFill>
                  <a:srgbClr val="D9702C"/>
                </a:solidFill>
              </a:rPr>
              <a:t>考えたい問い</a:t>
            </a:r>
          </a:p>
          <a:p>
            <a:pPr algn="l"/>
            <a:r>
              <a:rPr sz="1700" b="1">
                <a:solidFill>
                  <a:srgbClr val="1F5A47"/>
                </a:solidFill>
              </a:rPr>
              <a:t>評価しないと不安になるのは、誰か</a:t>
            </a:r>
          </a:p>
        </p:txBody>
      </p:sp>
      <p:sp>
        <p:nvSpPr>
          <p:cNvPr id="10" name="Rounded Rectangle 9"/>
          <p:cNvSpPr/>
          <p:nvPr/>
        </p:nvSpPr>
        <p:spPr>
          <a:xfrm>
            <a:off x="5806440" y="15087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stretch>
            <a:fillRect/>
          </a:stretch>
        </p:blipFill>
        <p:spPr>
          <a:xfrm>
            <a:off x="6080759" y="1783080"/>
            <a:ext cx="384048" cy="384048"/>
          </a:xfrm>
          <a:prstGeom prst="rect">
            <a:avLst/>
          </a:prstGeom>
        </p:spPr>
      </p:pic>
      <p:sp>
        <p:nvSpPr>
          <p:cNvPr id="12" name="TextBox 11"/>
          <p:cNvSpPr txBox="1"/>
          <p:nvPr/>
        </p:nvSpPr>
        <p:spPr>
          <a:xfrm>
            <a:off x="6675120" y="1600200"/>
            <a:ext cx="4739335" cy="1188720"/>
          </a:xfrm>
          <a:prstGeom prst="rect">
            <a:avLst/>
          </a:prstGeom>
          <a:noFill/>
        </p:spPr>
        <p:txBody>
          <a:bodyPr wrap="square" lIns="0" rIns="0" tIns="0" bIns="0" anchor="ctr">
            <a:spAutoFit/>
          </a:bodyPr>
          <a:lstStyle/>
          <a:p>
            <a:pPr algn="l"/>
            <a:r>
              <a:rPr sz="2000" b="1">
                <a:solidFill>
                  <a:srgbClr val="1F5A47"/>
                </a:solidFill>
              </a:rPr>
              <a:t>学校的な価値で過剰に制限しない</a:t>
            </a:r>
          </a:p>
          <a:p>
            <a:pPr algn="l"/>
            <a:r>
              <a:rPr sz="1400" b="0">
                <a:solidFill>
                  <a:srgbClr val="1E2B27"/>
                </a:solidFill>
              </a:rPr>
              <a:t>子供に忖度させない</a:t>
            </a:r>
          </a:p>
        </p:txBody>
      </p:sp>
      <p:sp>
        <p:nvSpPr>
          <p:cNvPr id="13" name="Rounded Rectangle 12"/>
          <p:cNvSpPr/>
          <p:nvPr/>
        </p:nvSpPr>
        <p:spPr>
          <a:xfrm>
            <a:off x="5806440" y="31089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3"/>
          <a:stretch>
            <a:fillRect/>
          </a:stretch>
        </p:blipFill>
        <p:spPr>
          <a:xfrm>
            <a:off x="6080759" y="3383279"/>
            <a:ext cx="384048" cy="384048"/>
          </a:xfrm>
          <a:prstGeom prst="rect">
            <a:avLst/>
          </a:prstGeom>
        </p:spPr>
      </p:pic>
      <p:sp>
        <p:nvSpPr>
          <p:cNvPr id="15" name="TextBox 14"/>
          <p:cNvSpPr txBox="1"/>
          <p:nvPr/>
        </p:nvSpPr>
        <p:spPr>
          <a:xfrm>
            <a:off x="6675120" y="3200400"/>
            <a:ext cx="4739335" cy="1188720"/>
          </a:xfrm>
          <a:prstGeom prst="rect">
            <a:avLst/>
          </a:prstGeom>
          <a:noFill/>
        </p:spPr>
        <p:txBody>
          <a:bodyPr wrap="square" lIns="0" rIns="0" tIns="0" bIns="0" anchor="ctr">
            <a:spAutoFit/>
          </a:bodyPr>
          <a:lstStyle/>
          <a:p>
            <a:pPr algn="l"/>
            <a:r>
              <a:rPr sz="2000" b="1">
                <a:solidFill>
                  <a:srgbClr val="1F5A47"/>
                </a:solidFill>
              </a:rPr>
              <a:t>発表会は必須ではない</a:t>
            </a:r>
          </a:p>
          <a:p>
            <a:pPr algn="l"/>
            <a:r>
              <a:rPr sz="1400" b="0">
                <a:solidFill>
                  <a:srgbClr val="1E2B27"/>
                </a:solidFill>
              </a:rPr>
              <a:t>発表するかどうかを子供が選んでもいい</a:t>
            </a:r>
          </a:p>
        </p:txBody>
      </p:sp>
      <p:sp>
        <p:nvSpPr>
          <p:cNvPr id="16" name="Rounded Rectangle 15"/>
          <p:cNvSpPr/>
          <p:nvPr/>
        </p:nvSpPr>
        <p:spPr>
          <a:xfrm>
            <a:off x="5806440" y="4709160"/>
            <a:ext cx="5836615" cy="137160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mage.png"/>
          <p:cNvPicPr>
            <a:picLocks noChangeAspect="1"/>
          </p:cNvPicPr>
          <p:nvPr/>
        </p:nvPicPr>
        <p:blipFill>
          <a:blip r:embed="rId3"/>
          <a:stretch>
            <a:fillRect/>
          </a:stretch>
        </p:blipFill>
        <p:spPr>
          <a:xfrm>
            <a:off x="6080759" y="4983480"/>
            <a:ext cx="384048" cy="384048"/>
          </a:xfrm>
          <a:prstGeom prst="rect">
            <a:avLst/>
          </a:prstGeom>
        </p:spPr>
      </p:pic>
      <p:sp>
        <p:nvSpPr>
          <p:cNvPr id="18" name="TextBox 17"/>
          <p:cNvSpPr txBox="1"/>
          <p:nvPr/>
        </p:nvSpPr>
        <p:spPr>
          <a:xfrm>
            <a:off x="6675120" y="4800600"/>
            <a:ext cx="4739335" cy="1188720"/>
          </a:xfrm>
          <a:prstGeom prst="rect">
            <a:avLst/>
          </a:prstGeom>
          <a:noFill/>
        </p:spPr>
        <p:txBody>
          <a:bodyPr wrap="square" lIns="0" rIns="0" tIns="0" bIns="0" anchor="ctr">
            <a:spAutoFit/>
          </a:bodyPr>
          <a:lstStyle/>
          <a:p>
            <a:pPr algn="l"/>
            <a:r>
              <a:rPr sz="2000" b="1">
                <a:solidFill>
                  <a:srgbClr val="1F5A47"/>
                </a:solidFill>
              </a:rPr>
              <a:t>「やってみて違う」も発見</a:t>
            </a:r>
          </a:p>
          <a:p>
            <a:pPr algn="l"/>
            <a:r>
              <a:rPr sz="1400" b="0">
                <a:solidFill>
                  <a:srgbClr val="1E2B27"/>
                </a:solidFill>
              </a:rPr>
              <a:t>合わないと分かることも「好き」「得意」の発見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02　講演・鼎談</a:t>
            </a:r>
            <a:r>
              <a:rPr lang="en-US" sz="900" b="1" dirty="0">
                <a:solidFill>
                  <a:schemeClr val="accent2"/>
                </a:solidFill>
              </a:rPr>
              <a:t>（ていだん）</a:t>
            </a:r>
            <a:r>
              <a:rPr lang="en-US" sz="1300" b="1" dirty="0">
                <a:solidFill>
                  <a:schemeClr val="accent2"/>
                </a:solidFill>
              </a:rPr>
              <a:t>から</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鼎談</a:t>
            </a:r>
            <a:r>
              <a:rPr lang="en-US" sz="1600" b="1" dirty="0">
                <a:solidFill>
                  <a:schemeClr val="tx2"/>
                </a:solidFill>
              </a:rPr>
              <a:t>（ていだん）</a:t>
            </a:r>
            <a:r>
              <a:rPr lang="en-US" sz="3000" b="1" dirty="0">
                <a:solidFill>
                  <a:schemeClr val="tx2"/>
                </a:solidFill>
              </a:rPr>
              <a:t>・質疑応答から学んだこと</a:t>
            </a:r>
            <a:endParaRPr lang="en-US" sz="3000" dirty="0"/>
          </a:p>
        </p:txBody>
      </p:sp>
      <p:sp>
        <p:nvSpPr>
          <p:cNvPr id="4" name="Text 2"/>
          <p:cNvSpPr txBox="1"/>
          <p:nvPr/>
        </p:nvSpPr>
        <p:spPr>
          <a:xfrm>
            <a:off x="548640" y="1508760"/>
            <a:ext cx="11094415" cy="365760"/>
          </a:xfrm>
          <a:prstGeom prst="rect">
            <a:avLst/>
          </a:prstGeom>
          <a:noFill/>
          <a:ln/>
        </p:spPr>
        <p:txBody>
          <a:bodyPr wrap="square" lIns="0" tIns="0" rIns="0" bIns="0" rtlCol="0" anchor="ctr"/>
          <a:lstStyle/>
          <a:p>
            <a:pPr marL="0" indent="0">
              <a:buNone/>
            </a:pPr>
            <a:r>
              <a:rPr lang="en-US" sz="1500" b="1" dirty="0">
                <a:solidFill>
                  <a:schemeClr val="accent2"/>
                </a:solidFill>
              </a:rPr>
              <a:t>繰り返し語られたキーワード</a:t>
            </a:r>
            <a:endParaRPr lang="en-US" sz="1500" dirty="0"/>
          </a:p>
        </p:txBody>
      </p:sp>
      <p:sp>
        <p:nvSpPr>
          <p:cNvPr id="5" name="Shape 3"/>
          <p:cNvSpPr/>
          <p:nvPr/>
        </p:nvSpPr>
        <p:spPr>
          <a:xfrm>
            <a:off x="548640" y="1965960"/>
            <a:ext cx="2567864" cy="1371600"/>
          </a:xfrm>
          <a:prstGeom prst="roundRect">
            <a:avLst>
              <a:gd name="adj" fmla="val 5333"/>
            </a:avLst>
          </a:prstGeom>
          <a:solidFill>
            <a:schemeClr val="bg2"/>
          </a:solidFill>
          <a:ln/>
        </p:spPr>
        <p:txBody>
          <a:bodyPr/>
          <a:lstStyle/>
          <a:p>
            <a:endParaRPr lang="ja-JP" altLang="en-US"/>
          </a:p>
        </p:txBody>
      </p:sp>
      <p:sp>
        <p:nvSpPr>
          <p:cNvPr id="6" name="Shape 4"/>
          <p:cNvSpPr/>
          <p:nvPr/>
        </p:nvSpPr>
        <p:spPr>
          <a:xfrm>
            <a:off x="1512532" y="2103120"/>
            <a:ext cx="640080" cy="640080"/>
          </a:xfrm>
          <a:prstGeom prst="ellipse">
            <a:avLst/>
          </a:prstGeom>
          <a:solidFill>
            <a:schemeClr val="accent1"/>
          </a:solidFill>
          <a:ln/>
        </p:spPr>
        <p:txBody>
          <a:bodyPr/>
          <a:lstStyle/>
          <a:p>
            <a:endParaRPr lang="ja-JP" altLang="en-US"/>
          </a:p>
        </p:txBody>
      </p:sp>
      <p:pic>
        <p:nvPicPr>
          <p:cNvPr id="7" name="Image 0" descr="preencoded.png"/>
          <p:cNvPicPr>
            <a:picLocks noChangeAspect="1"/>
          </p:cNvPicPr>
          <p:nvPr/>
        </p:nvPicPr>
        <p:blipFill>
          <a:blip r:embed="rId3"/>
          <a:stretch>
            <a:fillRect/>
          </a:stretch>
        </p:blipFill>
        <p:spPr>
          <a:xfrm>
            <a:off x="1672552" y="2263140"/>
            <a:ext cx="320040" cy="320040"/>
          </a:xfrm>
          <a:prstGeom prst="rect">
            <a:avLst/>
          </a:prstGeom>
        </p:spPr>
      </p:pic>
      <p:sp>
        <p:nvSpPr>
          <p:cNvPr id="8" name="Text 5"/>
          <p:cNvSpPr txBox="1"/>
          <p:nvPr/>
        </p:nvSpPr>
        <p:spPr>
          <a:xfrm>
            <a:off x="640080"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好きや得意を伸ばす教育</a:t>
            </a:r>
            <a:endParaRPr lang="en-US" sz="1600" dirty="0"/>
          </a:p>
        </p:txBody>
      </p:sp>
      <p:sp>
        <p:nvSpPr>
          <p:cNvPr id="9" name="Shape 6"/>
          <p:cNvSpPr/>
          <p:nvPr/>
        </p:nvSpPr>
        <p:spPr>
          <a:xfrm>
            <a:off x="3390824" y="1965960"/>
            <a:ext cx="2567864" cy="1371600"/>
          </a:xfrm>
          <a:prstGeom prst="roundRect">
            <a:avLst>
              <a:gd name="adj" fmla="val 5333"/>
            </a:avLst>
          </a:prstGeom>
          <a:solidFill>
            <a:schemeClr val="bg2"/>
          </a:solidFill>
          <a:ln/>
        </p:spPr>
        <p:txBody>
          <a:bodyPr/>
          <a:lstStyle/>
          <a:p>
            <a:endParaRPr lang="ja-JP" altLang="en-US"/>
          </a:p>
        </p:txBody>
      </p:sp>
      <p:sp>
        <p:nvSpPr>
          <p:cNvPr id="10" name="Shape 7"/>
          <p:cNvSpPr/>
          <p:nvPr/>
        </p:nvSpPr>
        <p:spPr>
          <a:xfrm>
            <a:off x="4354716" y="2103120"/>
            <a:ext cx="640080" cy="640080"/>
          </a:xfrm>
          <a:prstGeom prst="ellipse">
            <a:avLst/>
          </a:prstGeom>
          <a:solidFill>
            <a:schemeClr val="accent1"/>
          </a:solidFill>
          <a:ln/>
        </p:spPr>
        <p:txBody>
          <a:bodyPr/>
          <a:lstStyle/>
          <a:p>
            <a:endParaRPr lang="ja-JP" altLang="en-US"/>
          </a:p>
        </p:txBody>
      </p:sp>
      <p:pic>
        <p:nvPicPr>
          <p:cNvPr id="11" name="Image 1" descr="preencoded.png"/>
          <p:cNvPicPr>
            <a:picLocks noChangeAspect="1"/>
          </p:cNvPicPr>
          <p:nvPr/>
        </p:nvPicPr>
        <p:blipFill>
          <a:blip r:embed="rId4"/>
          <a:stretch>
            <a:fillRect/>
          </a:stretch>
        </p:blipFill>
        <p:spPr>
          <a:xfrm>
            <a:off x="4514736" y="2263140"/>
            <a:ext cx="320040" cy="320040"/>
          </a:xfrm>
          <a:prstGeom prst="rect">
            <a:avLst/>
          </a:prstGeom>
        </p:spPr>
      </p:pic>
      <p:sp>
        <p:nvSpPr>
          <p:cNvPr id="12" name="Text 8"/>
          <p:cNvSpPr txBox="1"/>
          <p:nvPr/>
        </p:nvSpPr>
        <p:spPr>
          <a:xfrm>
            <a:off x="3482264"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自己調整学習</a:t>
            </a:r>
            <a:endParaRPr lang="en-US" sz="1600" dirty="0"/>
          </a:p>
        </p:txBody>
      </p:sp>
      <p:sp>
        <p:nvSpPr>
          <p:cNvPr id="13" name="Shape 9"/>
          <p:cNvSpPr/>
          <p:nvPr/>
        </p:nvSpPr>
        <p:spPr>
          <a:xfrm>
            <a:off x="6233008" y="1965960"/>
            <a:ext cx="2567864" cy="1371600"/>
          </a:xfrm>
          <a:prstGeom prst="roundRect">
            <a:avLst>
              <a:gd name="adj" fmla="val 5333"/>
            </a:avLst>
          </a:prstGeom>
          <a:solidFill>
            <a:schemeClr val="bg2"/>
          </a:solidFill>
          <a:ln/>
        </p:spPr>
        <p:txBody>
          <a:bodyPr/>
          <a:lstStyle/>
          <a:p>
            <a:endParaRPr lang="ja-JP" altLang="en-US"/>
          </a:p>
        </p:txBody>
      </p:sp>
      <p:sp>
        <p:nvSpPr>
          <p:cNvPr id="14" name="Shape 10"/>
          <p:cNvSpPr/>
          <p:nvPr/>
        </p:nvSpPr>
        <p:spPr>
          <a:xfrm>
            <a:off x="7196900" y="2103120"/>
            <a:ext cx="640080" cy="640080"/>
          </a:xfrm>
          <a:prstGeom prst="ellipse">
            <a:avLst/>
          </a:prstGeom>
          <a:solidFill>
            <a:schemeClr val="accent1"/>
          </a:solidFill>
          <a:ln/>
        </p:spPr>
        <p:txBody>
          <a:bodyPr/>
          <a:lstStyle/>
          <a:p>
            <a:endParaRPr lang="ja-JP" altLang="en-US"/>
          </a:p>
        </p:txBody>
      </p:sp>
      <p:pic>
        <p:nvPicPr>
          <p:cNvPr id="15" name="Image 2" descr="preencoded.png"/>
          <p:cNvPicPr>
            <a:picLocks noChangeAspect="1"/>
          </p:cNvPicPr>
          <p:nvPr/>
        </p:nvPicPr>
        <p:blipFill>
          <a:blip r:embed="rId5"/>
          <a:stretch>
            <a:fillRect/>
          </a:stretch>
        </p:blipFill>
        <p:spPr>
          <a:xfrm>
            <a:off x="7356920" y="2263140"/>
            <a:ext cx="320040" cy="320040"/>
          </a:xfrm>
          <a:prstGeom prst="rect">
            <a:avLst/>
          </a:prstGeom>
        </p:spPr>
      </p:pic>
      <p:sp>
        <p:nvSpPr>
          <p:cNvPr id="16" name="Text 11"/>
          <p:cNvSpPr txBox="1"/>
          <p:nvPr/>
        </p:nvSpPr>
        <p:spPr>
          <a:xfrm>
            <a:off x="6324448"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多様性の包摂</a:t>
            </a:r>
            <a:endParaRPr lang="en-US" sz="1600" dirty="0"/>
          </a:p>
        </p:txBody>
      </p:sp>
      <p:sp>
        <p:nvSpPr>
          <p:cNvPr id="17" name="Shape 12"/>
          <p:cNvSpPr/>
          <p:nvPr/>
        </p:nvSpPr>
        <p:spPr>
          <a:xfrm>
            <a:off x="9075191" y="1965960"/>
            <a:ext cx="2567864" cy="1371600"/>
          </a:xfrm>
          <a:prstGeom prst="roundRect">
            <a:avLst>
              <a:gd name="adj" fmla="val 5333"/>
            </a:avLst>
          </a:prstGeom>
          <a:solidFill>
            <a:schemeClr val="bg2"/>
          </a:solidFill>
          <a:ln/>
        </p:spPr>
        <p:txBody>
          <a:bodyPr/>
          <a:lstStyle/>
          <a:p>
            <a:endParaRPr lang="ja-JP" altLang="en-US"/>
          </a:p>
        </p:txBody>
      </p:sp>
      <p:sp>
        <p:nvSpPr>
          <p:cNvPr id="18" name="Shape 13"/>
          <p:cNvSpPr/>
          <p:nvPr/>
        </p:nvSpPr>
        <p:spPr>
          <a:xfrm>
            <a:off x="10039083" y="2103120"/>
            <a:ext cx="640080" cy="640080"/>
          </a:xfrm>
          <a:prstGeom prst="ellipse">
            <a:avLst/>
          </a:prstGeom>
          <a:solidFill>
            <a:schemeClr val="accent1"/>
          </a:solidFill>
          <a:ln/>
        </p:spPr>
        <p:txBody>
          <a:bodyPr/>
          <a:lstStyle/>
          <a:p>
            <a:endParaRPr lang="ja-JP" altLang="en-US"/>
          </a:p>
        </p:txBody>
      </p:sp>
      <p:pic>
        <p:nvPicPr>
          <p:cNvPr id="19" name="Image 3" descr="preencoded.png"/>
          <p:cNvPicPr>
            <a:picLocks noChangeAspect="1"/>
          </p:cNvPicPr>
          <p:nvPr/>
        </p:nvPicPr>
        <p:blipFill>
          <a:blip r:embed="rId6"/>
          <a:stretch>
            <a:fillRect/>
          </a:stretch>
        </p:blipFill>
        <p:spPr>
          <a:xfrm>
            <a:off x="10199103" y="2263140"/>
            <a:ext cx="320040" cy="320040"/>
          </a:xfrm>
          <a:prstGeom prst="rect">
            <a:avLst/>
          </a:prstGeom>
        </p:spPr>
      </p:pic>
      <p:sp>
        <p:nvSpPr>
          <p:cNvPr id="20" name="Text 14"/>
          <p:cNvSpPr txBox="1"/>
          <p:nvPr/>
        </p:nvSpPr>
        <p:spPr>
          <a:xfrm>
            <a:off x="9166631" y="2807208"/>
            <a:ext cx="2384984" cy="457200"/>
          </a:xfrm>
          <a:prstGeom prst="rect">
            <a:avLst/>
          </a:prstGeom>
          <a:noFill/>
          <a:ln/>
        </p:spPr>
        <p:txBody>
          <a:bodyPr wrap="square" lIns="0" tIns="0" rIns="0" bIns="0" rtlCol="0" anchor="ctr"/>
          <a:lstStyle/>
          <a:p>
            <a:pPr marL="0" indent="0" algn="ctr">
              <a:buNone/>
            </a:pPr>
            <a:r>
              <a:rPr lang="en-US" sz="1600" b="1" dirty="0">
                <a:solidFill>
                  <a:schemeClr val="tx2"/>
                </a:solidFill>
              </a:rPr>
              <a:t>教師の理解と覚悟</a:t>
            </a:r>
            <a:endParaRPr lang="en-US" sz="1600" dirty="0"/>
          </a:p>
        </p:txBody>
      </p:sp>
      <p:sp>
        <p:nvSpPr>
          <p:cNvPr id="21" name="Shape 15"/>
          <p:cNvSpPr/>
          <p:nvPr/>
        </p:nvSpPr>
        <p:spPr>
          <a:xfrm>
            <a:off x="548640" y="3611880"/>
            <a:ext cx="11094415" cy="1417320"/>
          </a:xfrm>
          <a:prstGeom prst="roundRect">
            <a:avLst>
              <a:gd name="adj" fmla="val 5161"/>
            </a:avLst>
          </a:prstGeom>
          <a:solidFill>
            <a:schemeClr val="tx2"/>
          </a:solidFill>
          <a:ln/>
        </p:spPr>
        <p:txBody>
          <a:bodyPr/>
          <a:lstStyle/>
          <a:p>
            <a:endParaRPr lang="ja-JP" altLang="en-US"/>
          </a:p>
        </p:txBody>
      </p:sp>
      <p:sp>
        <p:nvSpPr>
          <p:cNvPr id="22" name="Text 16"/>
          <p:cNvSpPr txBox="1"/>
          <p:nvPr/>
        </p:nvSpPr>
        <p:spPr>
          <a:xfrm>
            <a:off x="868680" y="3611880"/>
            <a:ext cx="10454335" cy="1417320"/>
          </a:xfrm>
          <a:prstGeom prst="rect">
            <a:avLst/>
          </a:prstGeom>
          <a:noFill/>
          <a:ln/>
        </p:spPr>
        <p:txBody>
          <a:bodyPr wrap="square" lIns="0" tIns="0" rIns="0" bIns="0" rtlCol="0" anchor="ctr"/>
          <a:lstStyle/>
          <a:p>
            <a:pPr marL="0" indent="0">
              <a:buNone/>
            </a:pPr>
            <a:r>
              <a:rPr lang="en-US" sz="1300" dirty="0">
                <a:solidFill>
                  <a:schemeClr val="accent3"/>
                </a:solidFill>
              </a:rPr>
              <a:t>特に印象的だったこと</a:t>
            </a:r>
            <a:endParaRPr lang="en-US" sz="1300" dirty="0"/>
          </a:p>
          <a:p>
            <a:r>
              <a:rPr lang="en-US" sz="2600" b="1" dirty="0">
                <a:solidFill>
                  <a:schemeClr val="bg1"/>
                </a:solidFill>
              </a:rPr>
              <a:t>「</a:t>
            </a:r>
            <a:r>
              <a:rPr lang="en-US" altLang="ja-JP" sz="2600" b="1" dirty="0">
                <a:solidFill>
                  <a:schemeClr val="bg1"/>
                </a:solidFill>
              </a:rPr>
              <a:t> FSP </a:t>
            </a:r>
            <a:r>
              <a:rPr lang="ja-JP" altLang="en-US" sz="2600" b="1" dirty="0">
                <a:solidFill>
                  <a:schemeClr val="bg1"/>
                </a:solidFill>
              </a:rPr>
              <a:t>や</a:t>
            </a:r>
            <a:r>
              <a:rPr lang="en-US" sz="2600" b="1" dirty="0" err="1">
                <a:solidFill>
                  <a:schemeClr val="bg1"/>
                </a:solidFill>
              </a:rPr>
              <a:t>MP学習が目的ではない</a:t>
            </a:r>
            <a:r>
              <a:rPr lang="en-US" sz="2600" b="1" dirty="0">
                <a:solidFill>
                  <a:schemeClr val="bg1"/>
                </a:solidFill>
              </a:rPr>
              <a:t>」</a:t>
            </a:r>
            <a:endParaRPr lang="en-US" sz="1300" dirty="0"/>
          </a:p>
          <a:p>
            <a:pPr marL="0" indent="0">
              <a:buNone/>
            </a:pPr>
            <a:r>
              <a:rPr lang="en-US" sz="1400" dirty="0">
                <a:solidFill>
                  <a:schemeClr val="accent6"/>
                </a:solidFill>
              </a:rPr>
              <a:t>根底にある子供観を実現するために、学習システムや環境が設計されている</a:t>
            </a:r>
            <a:endParaRPr lang="en-US" sz="1300" dirty="0"/>
          </a:p>
        </p:txBody>
      </p:sp>
      <p:sp>
        <p:nvSpPr>
          <p:cNvPr id="23" name="Text 17"/>
          <p:cNvSpPr txBox="1"/>
          <p:nvPr/>
        </p:nvSpPr>
        <p:spPr>
          <a:xfrm>
            <a:off x="548640" y="5212080"/>
            <a:ext cx="11094415" cy="777240"/>
          </a:xfrm>
          <a:prstGeom prst="rect">
            <a:avLst/>
          </a:prstGeom>
          <a:noFill/>
          <a:ln/>
        </p:spPr>
        <p:txBody>
          <a:bodyPr wrap="square" lIns="0" tIns="0" rIns="0" bIns="0" rtlCol="0" anchor="t"/>
          <a:lstStyle/>
          <a:p>
            <a:pPr marL="0" indent="0">
              <a:buNone/>
            </a:pPr>
            <a:r>
              <a:rPr lang="en-US" sz="1400" b="1" dirty="0">
                <a:solidFill>
                  <a:schemeClr val="accent2"/>
                </a:solidFill>
              </a:rPr>
              <a:t>話題になったこと　</a:t>
            </a:r>
            <a:r>
              <a:rPr lang="en-US" sz="1400" dirty="0" err="1">
                <a:solidFill>
                  <a:schemeClr val="tx1"/>
                </a:solidFill>
              </a:rPr>
              <a:t>緒川小学校（愛知県東浦町）以来の実践の系譜</a:t>
            </a:r>
            <a:r>
              <a:rPr lang="en-US" sz="1400" dirty="0">
                <a:solidFill>
                  <a:schemeClr val="tx1"/>
                </a:solidFill>
              </a:rPr>
              <a:t>／</a:t>
            </a:r>
            <a:r>
              <a:rPr lang="ja-JP" altLang="en-US" sz="1400" dirty="0">
                <a:solidFill>
                  <a:schemeClr val="tx1"/>
                </a:solidFill>
                <a:latin typeface="BIZ UDPゴシック" panose="020B0400000000000000" pitchFamily="50" charset="-128"/>
                <a:ea typeface="BIZ UDPゴシック" panose="020B0400000000000000" pitchFamily="50" charset="-128"/>
              </a:rPr>
              <a:t>奈良女子小</a:t>
            </a:r>
            <a:r>
              <a:rPr lang="en-US" sz="1400" dirty="0">
                <a:solidFill>
                  <a:schemeClr val="tx1"/>
                </a:solidFill>
              </a:rPr>
              <a:t>（奈良県）の取組／不登校の増加（約50万人規模への言及）</a:t>
            </a:r>
          </a:p>
          <a:p>
            <a:pPr marL="0" indent="0">
              <a:buNone/>
            </a:pPr>
            <a:r>
              <a:rPr lang="en-US" sz="1400" dirty="0">
                <a:solidFill>
                  <a:schemeClr val="tx1"/>
                </a:solidFill>
              </a:rPr>
              <a:t>／調整授業時数制度の生かし方</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改訂のスケジュール</a:t>
            </a:r>
            <a:endParaRPr lang="en-US" sz="3000" dirty="0"/>
          </a:p>
        </p:txBody>
      </p:sp>
      <p:sp>
        <p:nvSpPr>
          <p:cNvPr id="4" name="Shape 2"/>
          <p:cNvSpPr/>
          <p:nvPr/>
        </p:nvSpPr>
        <p:spPr>
          <a:xfrm>
            <a:off x="1463040" y="3246120"/>
            <a:ext cx="9265615" cy="0"/>
          </a:xfrm>
          <a:prstGeom prst="line">
            <a:avLst/>
          </a:prstGeom>
          <a:noFill/>
          <a:ln w="38100">
            <a:solidFill>
              <a:schemeClr val="accent3"/>
            </a:solidFill>
            <a:prstDash val="solid"/>
          </a:ln>
        </p:spPr>
        <p:txBody>
          <a:bodyPr/>
          <a:lstStyle/>
          <a:p>
            <a:endParaRPr lang="ja-JP" altLang="en-US"/>
          </a:p>
        </p:txBody>
      </p:sp>
      <p:sp>
        <p:nvSpPr>
          <p:cNvPr id="5" name="Shape 3"/>
          <p:cNvSpPr/>
          <p:nvPr/>
        </p:nvSpPr>
        <p:spPr>
          <a:xfrm>
            <a:off x="1307592"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6" name="Text 4"/>
          <p:cNvSpPr txBox="1"/>
          <p:nvPr/>
        </p:nvSpPr>
        <p:spPr>
          <a:xfrm>
            <a:off x="548640"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令和６年12月</a:t>
            </a:r>
            <a:endParaRPr lang="en-US" sz="1400" dirty="0"/>
          </a:p>
        </p:txBody>
      </p:sp>
      <p:sp>
        <p:nvSpPr>
          <p:cNvPr id="7" name="Text 5"/>
          <p:cNvSpPr txBox="1"/>
          <p:nvPr/>
        </p:nvSpPr>
        <p:spPr>
          <a:xfrm>
            <a:off x="548640"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諮問</a:t>
            </a:r>
            <a:endParaRPr lang="en-US" sz="1700" dirty="0"/>
          </a:p>
        </p:txBody>
      </p:sp>
      <p:sp>
        <p:nvSpPr>
          <p:cNvPr id="8" name="Shape 6"/>
          <p:cNvSpPr/>
          <p:nvPr/>
        </p:nvSpPr>
        <p:spPr>
          <a:xfrm>
            <a:off x="3160715" y="3090672"/>
            <a:ext cx="310896" cy="310896"/>
          </a:xfrm>
          <a:prstGeom prst="ellipse">
            <a:avLst/>
          </a:prstGeom>
          <a:solidFill>
            <a:schemeClr val="accent1"/>
          </a:solidFill>
          <a:ln w="25400">
            <a:solidFill>
              <a:schemeClr val="accent1"/>
            </a:solidFill>
            <a:prstDash val="solid"/>
          </a:ln>
        </p:spPr>
        <p:txBody>
          <a:bodyPr/>
          <a:lstStyle/>
          <a:p>
            <a:endParaRPr lang="ja-JP" altLang="en-US"/>
          </a:p>
        </p:txBody>
      </p:sp>
      <p:sp>
        <p:nvSpPr>
          <p:cNvPr id="9" name="Text 7"/>
          <p:cNvSpPr txBox="1"/>
          <p:nvPr/>
        </p:nvSpPr>
        <p:spPr>
          <a:xfrm>
            <a:off x="2401763"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令和７年９月</a:t>
            </a:r>
            <a:endParaRPr lang="en-US" sz="1400" dirty="0"/>
          </a:p>
        </p:txBody>
      </p:sp>
      <p:sp>
        <p:nvSpPr>
          <p:cNvPr id="10" name="Text 8"/>
          <p:cNvSpPr txBox="1"/>
          <p:nvPr/>
        </p:nvSpPr>
        <p:spPr>
          <a:xfrm>
            <a:off x="2401763"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論点整理</a:t>
            </a:r>
            <a:endParaRPr lang="en-US" sz="1700" dirty="0"/>
          </a:p>
        </p:txBody>
      </p:sp>
      <p:sp>
        <p:nvSpPr>
          <p:cNvPr id="11" name="Shape 9"/>
          <p:cNvSpPr/>
          <p:nvPr/>
        </p:nvSpPr>
        <p:spPr>
          <a:xfrm>
            <a:off x="4940686" y="3017520"/>
            <a:ext cx="457200" cy="457200"/>
          </a:xfrm>
          <a:prstGeom prst="ellipse">
            <a:avLst/>
          </a:prstGeom>
          <a:solidFill>
            <a:schemeClr val="accent2"/>
          </a:solidFill>
          <a:ln w="25400">
            <a:solidFill>
              <a:schemeClr val="accent1"/>
            </a:solidFill>
            <a:prstDash val="solid"/>
          </a:ln>
        </p:spPr>
        <p:txBody>
          <a:bodyPr/>
          <a:lstStyle/>
          <a:p>
            <a:endParaRPr lang="ja-JP" altLang="en-US"/>
          </a:p>
        </p:txBody>
      </p:sp>
      <p:sp>
        <p:nvSpPr>
          <p:cNvPr id="12" name="Text 10"/>
          <p:cNvSpPr txBox="1"/>
          <p:nvPr/>
        </p:nvSpPr>
        <p:spPr>
          <a:xfrm>
            <a:off x="4254886"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令和８年10月５日</a:t>
            </a:r>
            <a:endParaRPr lang="en-US" sz="1400" dirty="0"/>
          </a:p>
        </p:txBody>
      </p:sp>
      <p:sp>
        <p:nvSpPr>
          <p:cNvPr id="13" name="Text 11"/>
          <p:cNvSpPr txBox="1"/>
          <p:nvPr/>
        </p:nvSpPr>
        <p:spPr>
          <a:xfrm>
            <a:off x="4254886" y="3611880"/>
            <a:ext cx="1828800" cy="731520"/>
          </a:xfrm>
          <a:prstGeom prst="rect">
            <a:avLst/>
          </a:prstGeom>
          <a:noFill/>
          <a:ln/>
        </p:spPr>
        <p:txBody>
          <a:bodyPr wrap="square" lIns="0" tIns="0" rIns="0" bIns="0" rtlCol="0" anchor="t"/>
          <a:lstStyle/>
          <a:p>
            <a:pPr marL="0" indent="0" algn="ctr">
              <a:buNone/>
            </a:pPr>
            <a:r>
              <a:rPr lang="en-US" sz="1700" b="1" dirty="0">
                <a:solidFill>
                  <a:schemeClr val="accent2"/>
                </a:solidFill>
              </a:rPr>
              <a:t>審議まとめ公表</a:t>
            </a:r>
            <a:endParaRPr lang="en-US" sz="1700" dirty="0"/>
          </a:p>
        </p:txBody>
      </p:sp>
      <p:sp>
        <p:nvSpPr>
          <p:cNvPr id="14" name="Shape 12"/>
          <p:cNvSpPr/>
          <p:nvPr/>
        </p:nvSpPr>
        <p:spPr>
          <a:xfrm>
            <a:off x="6866961"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5" name="Text 13"/>
          <p:cNvSpPr txBox="1"/>
          <p:nvPr/>
        </p:nvSpPr>
        <p:spPr>
          <a:xfrm>
            <a:off x="6108009"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10月６日〜11月５日</a:t>
            </a:r>
            <a:endParaRPr lang="en-US" sz="1400" dirty="0"/>
          </a:p>
        </p:txBody>
      </p:sp>
      <p:sp>
        <p:nvSpPr>
          <p:cNvPr id="16" name="Text 14"/>
          <p:cNvSpPr txBox="1"/>
          <p:nvPr/>
        </p:nvSpPr>
        <p:spPr>
          <a:xfrm>
            <a:off x="6108009"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意見公募</a:t>
            </a:r>
            <a:endParaRPr lang="en-US" sz="1700" dirty="0"/>
          </a:p>
          <a:p>
            <a:pPr marL="0" indent="0" algn="ctr">
              <a:buNone/>
            </a:pPr>
            <a:r>
              <a:rPr lang="en-US" sz="1700" b="1" dirty="0">
                <a:solidFill>
                  <a:schemeClr val="tx2"/>
                </a:solidFill>
              </a:rPr>
              <a:t>（パブコメ）</a:t>
            </a:r>
            <a:endParaRPr lang="en-US" sz="1700" dirty="0"/>
          </a:p>
        </p:txBody>
      </p:sp>
      <p:sp>
        <p:nvSpPr>
          <p:cNvPr id="17" name="Shape 15"/>
          <p:cNvSpPr/>
          <p:nvPr/>
        </p:nvSpPr>
        <p:spPr>
          <a:xfrm>
            <a:off x="8720084"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18" name="Text 16"/>
          <p:cNvSpPr txBox="1"/>
          <p:nvPr/>
        </p:nvSpPr>
        <p:spPr>
          <a:xfrm>
            <a:off x="7961132"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今冬（予定）</a:t>
            </a:r>
            <a:endParaRPr lang="en-US" sz="1400" dirty="0"/>
          </a:p>
        </p:txBody>
      </p:sp>
      <p:sp>
        <p:nvSpPr>
          <p:cNvPr id="19" name="Text 17"/>
          <p:cNvSpPr txBox="1"/>
          <p:nvPr/>
        </p:nvSpPr>
        <p:spPr>
          <a:xfrm>
            <a:off x="7961132"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中教審答申</a:t>
            </a:r>
            <a:endParaRPr lang="en-US" sz="1700" dirty="0"/>
          </a:p>
        </p:txBody>
      </p:sp>
      <p:sp>
        <p:nvSpPr>
          <p:cNvPr id="20" name="Shape 18"/>
          <p:cNvSpPr/>
          <p:nvPr/>
        </p:nvSpPr>
        <p:spPr>
          <a:xfrm>
            <a:off x="10573207" y="3090672"/>
            <a:ext cx="310896" cy="310896"/>
          </a:xfrm>
          <a:prstGeom prst="ellipse">
            <a:avLst/>
          </a:prstGeom>
          <a:solidFill>
            <a:schemeClr val="bg1"/>
          </a:solidFill>
          <a:ln w="25400">
            <a:solidFill>
              <a:schemeClr val="accent1"/>
            </a:solidFill>
            <a:prstDash val="solid"/>
          </a:ln>
        </p:spPr>
        <p:txBody>
          <a:bodyPr/>
          <a:lstStyle/>
          <a:p>
            <a:endParaRPr lang="ja-JP" altLang="en-US"/>
          </a:p>
        </p:txBody>
      </p:sp>
      <p:sp>
        <p:nvSpPr>
          <p:cNvPr id="21" name="Text 19"/>
          <p:cNvSpPr txBox="1"/>
          <p:nvPr/>
        </p:nvSpPr>
        <p:spPr>
          <a:xfrm>
            <a:off x="9814255" y="2194560"/>
            <a:ext cx="1828800" cy="685800"/>
          </a:xfrm>
          <a:prstGeom prst="rect">
            <a:avLst/>
          </a:prstGeom>
          <a:noFill/>
          <a:ln/>
        </p:spPr>
        <p:txBody>
          <a:bodyPr wrap="square" lIns="0" tIns="0" rIns="0" bIns="0" rtlCol="0" anchor="b"/>
          <a:lstStyle/>
          <a:p>
            <a:pPr marL="0" indent="0" algn="ctr">
              <a:buNone/>
            </a:pPr>
            <a:r>
              <a:rPr lang="en-US" sz="1400" dirty="0">
                <a:solidFill>
                  <a:schemeClr val="accent5"/>
                </a:solidFill>
              </a:rPr>
              <a:t>今年度内（見込み）</a:t>
            </a:r>
            <a:endParaRPr lang="en-US" sz="1400" dirty="0"/>
          </a:p>
        </p:txBody>
      </p:sp>
      <p:sp>
        <p:nvSpPr>
          <p:cNvPr id="22" name="Text 20"/>
          <p:cNvSpPr txBox="1"/>
          <p:nvPr/>
        </p:nvSpPr>
        <p:spPr>
          <a:xfrm>
            <a:off x="9814255" y="3611880"/>
            <a:ext cx="1828800" cy="731520"/>
          </a:xfrm>
          <a:prstGeom prst="rect">
            <a:avLst/>
          </a:prstGeom>
          <a:noFill/>
          <a:ln/>
        </p:spPr>
        <p:txBody>
          <a:bodyPr wrap="square" lIns="0" tIns="0" rIns="0" bIns="0" rtlCol="0" anchor="t"/>
          <a:lstStyle/>
          <a:p>
            <a:pPr marL="0" indent="0" algn="ctr">
              <a:buNone/>
            </a:pPr>
            <a:r>
              <a:rPr lang="en-US" sz="1700" b="1" dirty="0">
                <a:solidFill>
                  <a:schemeClr val="tx2"/>
                </a:solidFill>
              </a:rPr>
              <a:t>小・中学校</a:t>
            </a:r>
            <a:endParaRPr lang="en-US" sz="1700" dirty="0"/>
          </a:p>
          <a:p>
            <a:pPr marL="0" indent="0" algn="ctr">
              <a:buNone/>
            </a:pPr>
            <a:r>
              <a:rPr lang="en-US" sz="1700" b="1" dirty="0">
                <a:solidFill>
                  <a:schemeClr val="tx2"/>
                </a:solidFill>
              </a:rPr>
              <a:t>告示</a:t>
            </a:r>
            <a:endParaRPr lang="en-US" sz="1700" dirty="0"/>
          </a:p>
        </p:txBody>
      </p:sp>
      <p:sp>
        <p:nvSpPr>
          <p:cNvPr id="23" name="Shape 21"/>
          <p:cNvSpPr/>
          <p:nvPr/>
        </p:nvSpPr>
        <p:spPr>
          <a:xfrm>
            <a:off x="4483486" y="1508760"/>
            <a:ext cx="1371600" cy="411480"/>
          </a:xfrm>
          <a:prstGeom prst="roundRect">
            <a:avLst>
              <a:gd name="adj" fmla="val 22222"/>
            </a:avLst>
          </a:prstGeom>
          <a:solidFill>
            <a:schemeClr val="accent2"/>
          </a:solidFill>
          <a:ln/>
        </p:spPr>
        <p:txBody>
          <a:bodyPr/>
          <a:lstStyle/>
          <a:p>
            <a:endParaRPr lang="ja-JP" altLang="en-US"/>
          </a:p>
        </p:txBody>
      </p:sp>
      <p:sp>
        <p:nvSpPr>
          <p:cNvPr id="24" name="Text 22"/>
          <p:cNvSpPr txBox="1"/>
          <p:nvPr/>
        </p:nvSpPr>
        <p:spPr>
          <a:xfrm>
            <a:off x="4483486" y="1508760"/>
            <a:ext cx="1371600" cy="411480"/>
          </a:xfrm>
          <a:prstGeom prst="rect">
            <a:avLst/>
          </a:prstGeom>
          <a:noFill/>
          <a:ln/>
        </p:spPr>
        <p:txBody>
          <a:bodyPr wrap="square" lIns="0" tIns="0" rIns="0" bIns="0" rtlCol="0" anchor="ctr"/>
          <a:lstStyle/>
          <a:p>
            <a:pPr marL="0" indent="0" algn="ctr">
              <a:buNone/>
            </a:pPr>
            <a:r>
              <a:rPr lang="en-US" sz="1400" b="1" dirty="0">
                <a:solidFill>
                  <a:schemeClr val="bg1"/>
                </a:solidFill>
              </a:rPr>
              <a:t>いまここ</a:t>
            </a:r>
            <a:endParaRPr lang="en-US" sz="1400" dirty="0"/>
          </a:p>
        </p:txBody>
      </p:sp>
      <p:sp>
        <p:nvSpPr>
          <p:cNvPr id="25" name="Shape 23"/>
          <p:cNvSpPr/>
          <p:nvPr/>
        </p:nvSpPr>
        <p:spPr>
          <a:xfrm>
            <a:off x="548640" y="4617720"/>
            <a:ext cx="11094415" cy="1371600"/>
          </a:xfrm>
          <a:prstGeom prst="roundRect">
            <a:avLst>
              <a:gd name="adj" fmla="val 5333"/>
            </a:avLst>
          </a:prstGeom>
          <a:solidFill>
            <a:schemeClr val="bg2"/>
          </a:solidFill>
          <a:ln/>
        </p:spPr>
        <p:txBody>
          <a:bodyPr/>
          <a:lstStyle/>
          <a:p>
            <a:endParaRPr lang="ja-JP" altLang="en-US"/>
          </a:p>
        </p:txBody>
      </p:sp>
      <p:sp>
        <p:nvSpPr>
          <p:cNvPr id="26" name="Text 24"/>
          <p:cNvSpPr txBox="1"/>
          <p:nvPr/>
        </p:nvSpPr>
        <p:spPr>
          <a:xfrm>
            <a:off x="868680" y="4617720"/>
            <a:ext cx="10454335" cy="1371600"/>
          </a:xfrm>
          <a:prstGeom prst="rect">
            <a:avLst/>
          </a:prstGeom>
          <a:noFill/>
          <a:ln/>
        </p:spPr>
        <p:txBody>
          <a:bodyPr wrap="square" lIns="0" tIns="0" rIns="0" bIns="0" rtlCol="0" anchor="ctr"/>
          <a:lstStyle/>
          <a:p>
            <a:pPr marL="0" indent="0">
              <a:spcAft>
                <a:spcPts val="600"/>
              </a:spcAft>
              <a:buNone/>
            </a:pPr>
            <a:r>
              <a:rPr lang="en-US" sz="1600" b="1" dirty="0">
                <a:solidFill>
                  <a:schemeClr val="tx2"/>
                </a:solidFill>
              </a:rPr>
              <a:t>告示の後、周知・移行期間を経て全面実施へ。</a:t>
            </a:r>
            <a:endParaRPr lang="en-US" sz="1600" dirty="0"/>
          </a:p>
          <a:p>
            <a:pPr marL="0" indent="0">
              <a:spcAft>
                <a:spcPts val="600"/>
              </a:spcAft>
              <a:buNone/>
            </a:pPr>
            <a:r>
              <a:rPr lang="en-US" sz="1600" dirty="0">
                <a:solidFill>
                  <a:schemeClr val="tx1"/>
                </a:solidFill>
              </a:rPr>
              <a:t>全面実施の年度や各教科等の詳細は、答申・告示で確定する。最新の文部科学省資料で確認する。</a:t>
            </a:r>
            <a:endParaRPr lang="en-US" sz="1600" dirty="0"/>
          </a:p>
        </p:txBody>
      </p:sp>
      <p:sp>
        <p:nvSpPr>
          <p:cNvPr id="27"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28" name="TextBox 27"/>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00"/>
          </p:nvPr>
        </p:nvSpPr>
        <p:spPr/>
        <p:txBody>
          <a:bodyPr/>
          <a:lstStyle/>
          <a:p>
            <a:r>
              <a:t>03　次期学習指導要領の方向性</a:t>
            </a:r>
          </a:p>
        </p:txBody>
      </p:sp>
      <p:sp>
        <p:nvSpPr>
          <p:cNvPr id="3" name="Title 2"/>
          <p:cNvSpPr>
            <a:spLocks noGrp="1"/>
          </p:cNvSpPr>
          <p:nvPr>
            <p:ph type="title" idx="101"/>
          </p:nvPr>
        </p:nvSpPr>
        <p:spPr/>
        <p:txBody>
          <a:bodyPr/>
          <a:lstStyle/>
          <a:p>
            <a:r>
              <a:t>根拠資料 ― 文部科学省「審議まとめ」</a:t>
            </a:r>
          </a:p>
        </p:txBody>
      </p:sp>
      <p:sp>
        <p:nvSpPr>
          <p:cNvPr id="4" name="Rounded Rectangle 3"/>
          <p:cNvSpPr/>
          <p:nvPr/>
        </p:nvSpPr>
        <p:spPr>
          <a:xfrm>
            <a:off x="548640" y="1508760"/>
            <a:ext cx="7680960" cy="274320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19"/>
            <a:ext cx="6949440" cy="2468880"/>
          </a:xfrm>
          <a:prstGeom prst="rect">
            <a:avLst/>
          </a:prstGeom>
          <a:noFill/>
        </p:spPr>
        <p:txBody>
          <a:bodyPr wrap="square" lIns="0" rIns="0" tIns="0" bIns="0" anchor="ctr">
            <a:spAutoFit/>
          </a:bodyPr>
          <a:lstStyle/>
          <a:p>
            <a:pPr algn="l"/>
            <a:r>
              <a:rPr sz="1500" b="0">
                <a:solidFill>
                  <a:srgbClr val="D3E3D9"/>
                </a:solidFill>
              </a:rPr>
              <a:t>中央教育審議会 初等中等教育分科会 教育課程部会</a:t>
            </a:r>
          </a:p>
          <a:p>
            <a:pPr algn="l"/>
            <a:r>
              <a:rPr sz="2600" b="1">
                <a:solidFill>
                  <a:srgbClr val="FFFFFF"/>
                </a:solidFill>
              </a:rPr>
              <a:t>次期学習指導要領等に向けた審議まとめ</a:t>
            </a:r>
          </a:p>
          <a:p>
            <a:pPr algn="l"/>
            <a:r>
              <a:rPr sz="1600" b="1">
                <a:solidFill>
                  <a:srgbClr val="FBEADB"/>
                </a:solidFill>
              </a:rPr>
              <a:t>令和８年10月５日　公表</a:t>
            </a:r>
          </a:p>
          <a:p>
            <a:pPr algn="l"/>
            <a:r>
              <a:rPr sz="1400" b="0">
                <a:solidFill>
                  <a:srgbClr val="D3E3D9"/>
                </a:solidFill>
              </a:rPr>
              <a:t>意見公募（パブリックコメント）：令和８年10月６日〜11月５日</a:t>
            </a:r>
          </a:p>
        </p:txBody>
      </p:sp>
      <p:sp>
        <p:nvSpPr>
          <p:cNvPr id="6" name="Rounded Rectangle 5"/>
          <p:cNvSpPr/>
          <p:nvPr/>
        </p:nvSpPr>
        <p:spPr>
          <a:xfrm>
            <a:off x="8595360" y="1508760"/>
            <a:ext cx="3044952" cy="27432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r_matome.png"/>
          <p:cNvPicPr>
            <a:picLocks noChangeAspect="1"/>
          </p:cNvPicPr>
          <p:nvPr/>
        </p:nvPicPr>
        <p:blipFill>
          <a:blip r:embed="rId2"/>
          <a:stretch>
            <a:fillRect/>
          </a:stretch>
        </p:blipFill>
        <p:spPr>
          <a:xfrm>
            <a:off x="9111996" y="1645919"/>
            <a:ext cx="2011680" cy="2011680"/>
          </a:xfrm>
          <a:prstGeom prst="rect">
            <a:avLst/>
          </a:prstGeom>
        </p:spPr>
      </p:pic>
      <p:sp>
        <p:nvSpPr>
          <p:cNvPr id="8" name="TextBox 7"/>
          <p:cNvSpPr txBox="1"/>
          <p:nvPr/>
        </p:nvSpPr>
        <p:spPr>
          <a:xfrm>
            <a:off x="8595360" y="3703320"/>
            <a:ext cx="3044952" cy="457200"/>
          </a:xfrm>
          <a:prstGeom prst="rect">
            <a:avLst/>
          </a:prstGeom>
          <a:noFill/>
        </p:spPr>
        <p:txBody>
          <a:bodyPr wrap="square" lIns="0" rIns="0" tIns="0" bIns="0" anchor="ctr">
            <a:spAutoFit/>
          </a:bodyPr>
          <a:lstStyle/>
          <a:p>
            <a:pPr algn="ctr"/>
            <a:r>
              <a:rPr sz="1300" b="1">
                <a:solidFill>
                  <a:srgbClr val="1F5A47"/>
                </a:solidFill>
              </a:rPr>
              <a:t>本文PDF（文部科学省）</a:t>
            </a:r>
          </a:p>
        </p:txBody>
      </p:sp>
      <p:sp>
        <p:nvSpPr>
          <p:cNvPr id="9" name="TextBox 8"/>
          <p:cNvSpPr txBox="1"/>
          <p:nvPr/>
        </p:nvSpPr>
        <p:spPr>
          <a:xfrm>
            <a:off x="548640" y="4434840"/>
            <a:ext cx="11094415" cy="365760"/>
          </a:xfrm>
          <a:prstGeom prst="rect">
            <a:avLst/>
          </a:prstGeom>
          <a:noFill/>
        </p:spPr>
        <p:txBody>
          <a:bodyPr wrap="square" lIns="0" rIns="0" tIns="0" bIns="0" anchor="ctr">
            <a:spAutoFit/>
          </a:bodyPr>
          <a:lstStyle/>
          <a:p>
            <a:pPr algn="l"/>
            <a:r>
              <a:rPr sz="1300" b="1">
                <a:solidFill>
                  <a:srgbClr val="D9702C"/>
                </a:solidFill>
              </a:rPr>
              <a:t>本文PDF　</a:t>
            </a:r>
            <a:r>
              <a:rPr sz="1300" b="0">
                <a:solidFill>
                  <a:srgbClr val="1F5A47"/>
                </a:solidFill>
                <a:hlinkClick r:id="rId3"/>
              </a:rPr>
              <a:t>https://www.mext.go.jp/content/20261005-mxt_kyoiku01-000052367-1.pdf</a:t>
            </a:r>
          </a:p>
        </p:txBody>
      </p:sp>
      <p:sp>
        <p:nvSpPr>
          <p:cNvPr id="10" name="Rounded Rectangle 9"/>
          <p:cNvSpPr/>
          <p:nvPr/>
        </p:nvSpPr>
        <p:spPr>
          <a:xfrm>
            <a:off x="548640" y="4937760"/>
            <a:ext cx="11094415" cy="105156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937760"/>
            <a:ext cx="10545775" cy="1051560"/>
          </a:xfrm>
          <a:prstGeom prst="rect">
            <a:avLst/>
          </a:prstGeom>
          <a:noFill/>
        </p:spPr>
        <p:txBody>
          <a:bodyPr wrap="square" lIns="0" rIns="0" tIns="0" bIns="0" anchor="ctr">
            <a:spAutoFit/>
          </a:bodyPr>
          <a:lstStyle/>
          <a:p>
            <a:pPr algn="l"/>
            <a:r>
              <a:rPr sz="1400" b="1">
                <a:solidFill>
                  <a:srgbClr val="D9702C"/>
                </a:solidFill>
              </a:rPr>
              <a:t>本研修で取り上げた内容　</a:t>
            </a:r>
            <a:r>
              <a:rPr sz="1400" b="0">
                <a:solidFill>
                  <a:srgbClr val="1E2B27"/>
                </a:solidFill>
              </a:rPr>
              <a:t>３つの方向性／目標・内容の構造化／調整授業時数制度／裁量的な時間／情報活用能力／学習評価の改善／「好き」「得意」を育む</a:t>
            </a:r>
          </a:p>
          <a:p>
            <a:pPr algn="l"/>
            <a:r>
              <a:rPr sz="1200" b="0">
                <a:solidFill>
                  <a:srgbClr val="5E6E68"/>
                </a:solidFill>
              </a:rPr>
              <a:t>名称・詳細は答申・告示で確定する。学校に説明する際は、最新の公表資料で確認すること</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QUIZ 3｜指導主事同士で考えよう</a:t>
            </a:r>
          </a:p>
        </p:txBody>
      </p:sp>
      <p:sp>
        <p:nvSpPr>
          <p:cNvPr id="3" name="Title 2"/>
          <p:cNvSpPr>
            <a:spLocks noGrp="1"/>
          </p:cNvSpPr>
          <p:nvPr>
            <p:ph type="title" idx="101"/>
          </p:nvPr>
        </p:nvSpPr>
        <p:spPr/>
        <p:txBody>
          <a:bodyPr/>
          <a:lstStyle/>
          <a:p>
            <a:r>
              <a:t>審議まとめが示す「３つの方向性」に含まれないものは？</a:t>
            </a:r>
          </a:p>
        </p:txBody>
      </p:sp>
      <p:sp>
        <p:nvSpPr>
          <p:cNvPr id="4" name="TextBox 3"/>
          <p:cNvSpPr txBox="1"/>
          <p:nvPr/>
        </p:nvSpPr>
        <p:spPr>
          <a:xfrm>
            <a:off x="548640" y="1508760"/>
            <a:ext cx="11094415" cy="411480"/>
          </a:xfrm>
          <a:prstGeom prst="rect">
            <a:avLst/>
          </a:prstGeom>
          <a:noFill/>
        </p:spPr>
        <p:txBody>
          <a:bodyPr wrap="square" lIns="0" rIns="0" tIns="0" bIns="0" anchor="ctr">
            <a:spAutoFit/>
          </a:bodyPr>
          <a:lstStyle/>
          <a:p>
            <a:pPr algn="l"/>
            <a:r>
              <a:rPr sz="1500" b="0">
                <a:solidFill>
                  <a:srgbClr val="5E6E68"/>
                </a:solidFill>
              </a:rPr>
              <a:t>中央教育審議会「次期学習指導要領等に向けた審議まとめ」（令和８年10月５日）</a:t>
            </a:r>
          </a:p>
        </p:txBody>
      </p:sp>
      <p:sp>
        <p:nvSpPr>
          <p:cNvPr id="5" name="Rounded Rectangle 4"/>
          <p:cNvSpPr/>
          <p:nvPr/>
        </p:nvSpPr>
        <p:spPr>
          <a:xfrm>
            <a:off x="548640"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77240"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A</a:t>
            </a:r>
          </a:p>
        </p:txBody>
      </p:sp>
      <p:sp>
        <p:nvSpPr>
          <p:cNvPr id="7" name="TextBox 6"/>
          <p:cNvSpPr txBox="1"/>
          <p:nvPr/>
        </p:nvSpPr>
        <p:spPr>
          <a:xfrm>
            <a:off x="1600200" y="2148840"/>
            <a:ext cx="4175607" cy="960120"/>
          </a:xfrm>
          <a:prstGeom prst="rect">
            <a:avLst/>
          </a:prstGeom>
          <a:noFill/>
        </p:spPr>
        <p:txBody>
          <a:bodyPr wrap="square" lIns="0" rIns="0" tIns="0" bIns="0" anchor="ctr">
            <a:spAutoFit/>
          </a:bodyPr>
          <a:lstStyle/>
          <a:p>
            <a:pPr algn="l"/>
            <a:r>
              <a:rPr sz="1800" b="1">
                <a:solidFill>
                  <a:srgbClr val="1F5A47"/>
                </a:solidFill>
              </a:rPr>
              <a:t>「主体的・対話的で深い学び」の実装</a:t>
            </a:r>
          </a:p>
        </p:txBody>
      </p:sp>
      <p:sp>
        <p:nvSpPr>
          <p:cNvPr id="8" name="Rounded Rectangle 7"/>
          <p:cNvSpPr/>
          <p:nvPr/>
        </p:nvSpPr>
        <p:spPr>
          <a:xfrm>
            <a:off x="6233007" y="2148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2331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B</a:t>
            </a:r>
          </a:p>
        </p:txBody>
      </p:sp>
      <p:sp>
        <p:nvSpPr>
          <p:cNvPr id="10" name="TextBox 9"/>
          <p:cNvSpPr txBox="1"/>
          <p:nvPr/>
        </p:nvSpPr>
        <p:spPr>
          <a:xfrm>
            <a:off x="7284567" y="2148840"/>
            <a:ext cx="4175607" cy="960120"/>
          </a:xfrm>
          <a:prstGeom prst="rect">
            <a:avLst/>
          </a:prstGeom>
          <a:noFill/>
        </p:spPr>
        <p:txBody>
          <a:bodyPr wrap="square" lIns="0" rIns="0" tIns="0" bIns="0" anchor="ctr">
            <a:spAutoFit/>
          </a:bodyPr>
          <a:lstStyle/>
          <a:p>
            <a:pPr algn="l"/>
            <a:r>
              <a:rPr sz="1800" b="1">
                <a:solidFill>
                  <a:srgbClr val="1F5A47"/>
                </a:solidFill>
              </a:rPr>
              <a:t>多様性の包摂</a:t>
            </a:r>
          </a:p>
        </p:txBody>
      </p:sp>
      <p:sp>
        <p:nvSpPr>
          <p:cNvPr id="11" name="Rounded Rectangle 10"/>
          <p:cNvSpPr/>
          <p:nvPr/>
        </p:nvSpPr>
        <p:spPr>
          <a:xfrm>
            <a:off x="548640"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C</a:t>
            </a:r>
          </a:p>
        </p:txBody>
      </p:sp>
      <p:sp>
        <p:nvSpPr>
          <p:cNvPr id="13" name="TextBox 12"/>
          <p:cNvSpPr txBox="1"/>
          <p:nvPr/>
        </p:nvSpPr>
        <p:spPr>
          <a:xfrm>
            <a:off x="1600200" y="3291840"/>
            <a:ext cx="4175607" cy="960120"/>
          </a:xfrm>
          <a:prstGeom prst="rect">
            <a:avLst/>
          </a:prstGeom>
          <a:noFill/>
        </p:spPr>
        <p:txBody>
          <a:bodyPr wrap="square" lIns="0" rIns="0" tIns="0" bIns="0" anchor="ctr">
            <a:spAutoFit/>
          </a:bodyPr>
          <a:lstStyle/>
          <a:p>
            <a:pPr algn="l"/>
            <a:r>
              <a:rPr sz="1800" b="1">
                <a:solidFill>
                  <a:srgbClr val="1F5A47"/>
                </a:solidFill>
              </a:rPr>
              <a:t>授業時数の拡充</a:t>
            </a:r>
          </a:p>
        </p:txBody>
      </p:sp>
      <p:sp>
        <p:nvSpPr>
          <p:cNvPr id="14" name="Rounded Rectangle 13"/>
          <p:cNvSpPr/>
          <p:nvPr/>
        </p:nvSpPr>
        <p:spPr>
          <a:xfrm>
            <a:off x="6233007" y="3291840"/>
            <a:ext cx="5410047" cy="96012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474720"/>
            <a:ext cx="594360" cy="59436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D</a:t>
            </a:r>
          </a:p>
        </p:txBody>
      </p:sp>
      <p:sp>
        <p:nvSpPr>
          <p:cNvPr id="16" name="TextBox 15"/>
          <p:cNvSpPr txBox="1"/>
          <p:nvPr/>
        </p:nvSpPr>
        <p:spPr>
          <a:xfrm>
            <a:off x="7284567" y="3291840"/>
            <a:ext cx="4175607" cy="960120"/>
          </a:xfrm>
          <a:prstGeom prst="rect">
            <a:avLst/>
          </a:prstGeom>
          <a:noFill/>
        </p:spPr>
        <p:txBody>
          <a:bodyPr wrap="square" lIns="0" rIns="0" tIns="0" bIns="0" anchor="ctr">
            <a:spAutoFit/>
          </a:bodyPr>
          <a:lstStyle/>
          <a:p>
            <a:pPr algn="l"/>
            <a:r>
              <a:rPr sz="1800" b="1">
                <a:solidFill>
                  <a:srgbClr val="1F5A47"/>
                </a:solidFill>
              </a:rPr>
              <a:t>実現可能性の確保</a:t>
            </a:r>
          </a:p>
        </p:txBody>
      </p:sp>
      <p:sp>
        <p:nvSpPr>
          <p:cNvPr id="17" name="Rounded Rectangle 16"/>
          <p:cNvSpPr/>
          <p:nvPr/>
        </p:nvSpPr>
        <p:spPr>
          <a:xfrm>
            <a:off x="548640" y="4709160"/>
            <a:ext cx="11094415" cy="1280160"/>
          </a:xfrm>
          <a:prstGeom prst="roundRect">
            <a:avLst>
              <a:gd name="adj" fmla="val 8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68680" y="498348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手</a:t>
            </a:r>
          </a:p>
        </p:txBody>
      </p:sp>
      <p:sp>
        <p:nvSpPr>
          <p:cNvPr id="19" name="TextBox 18"/>
          <p:cNvSpPr txBox="1"/>
          <p:nvPr/>
        </p:nvSpPr>
        <p:spPr>
          <a:xfrm>
            <a:off x="1874519" y="4709160"/>
            <a:ext cx="6400800" cy="1280160"/>
          </a:xfrm>
          <a:prstGeom prst="rect">
            <a:avLst/>
          </a:prstGeom>
          <a:noFill/>
        </p:spPr>
        <p:txBody>
          <a:bodyPr wrap="square" lIns="0" rIns="0" tIns="0" bIns="0" anchor="ctr">
            <a:spAutoFit/>
          </a:bodyPr>
          <a:lstStyle/>
          <a:p>
            <a:pPr algn="l"/>
            <a:r>
              <a:rPr sz="2200" b="1">
                <a:solidFill>
                  <a:srgbClr val="FFFFFF"/>
                </a:solidFill>
              </a:rPr>
              <a:t>挙手で答えよう</a:t>
            </a:r>
          </a:p>
          <a:p>
            <a:pPr algn="l"/>
            <a:r>
              <a:rPr sz="1500" b="0">
                <a:solidFill>
                  <a:srgbClr val="D3E3D9"/>
                </a:solidFill>
              </a:rPr>
              <a:t>理由も考えながら選んでください</a:t>
            </a:r>
          </a:p>
        </p:txBody>
      </p:sp>
      <p:sp>
        <p:nvSpPr>
          <p:cNvPr id="20" name="TextBox 19"/>
          <p:cNvSpPr txBox="1"/>
          <p:nvPr/>
        </p:nvSpPr>
        <p:spPr>
          <a:xfrm>
            <a:off x="8321040" y="4709160"/>
            <a:ext cx="3001975" cy="1280160"/>
          </a:xfrm>
          <a:prstGeom prst="rect">
            <a:avLst/>
          </a:prstGeom>
          <a:noFill/>
        </p:spPr>
        <p:txBody>
          <a:bodyPr wrap="square" lIns="0" rIns="0" tIns="0" bIns="0" anchor="ctr">
            <a:spAutoFit/>
          </a:bodyPr>
          <a:lstStyle/>
          <a:p>
            <a:pPr algn="r"/>
            <a:r>
              <a:rPr sz="1600" b="1">
                <a:solidFill>
                  <a:srgbClr val="FBEADB"/>
                </a:solidFill>
              </a:rPr>
              <a:t>答えは次のスライドで</a:t>
            </a:r>
          </a:p>
        </p:txBody>
      </p:sp>
      <p:sp>
        <p:nvSpPr>
          <p:cNvPr id="21" name="TextBox 20"/>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審議まとめが示す３</a:t>
            </a:r>
            <a:r>
              <a:rPr lang="en-US" sz="3000" b="1" dirty="0">
                <a:solidFill>
                  <a:schemeClr val="tx2"/>
                </a:solidFill>
                <a:latin typeface="BIZ UDPゴシック" panose="020B0400000000000000" pitchFamily="50" charset="-128"/>
                <a:ea typeface="BIZ UDPゴシック" panose="020B0400000000000000" pitchFamily="50" charset="-128"/>
              </a:rPr>
              <a:t>つの方向性と天童中部小</a:t>
            </a:r>
            <a:r>
              <a:rPr lang="ja-JP" altLang="en-US" sz="3000" b="1" dirty="0">
                <a:solidFill>
                  <a:schemeClr val="tx2"/>
                </a:solidFill>
                <a:latin typeface="BIZ UDPゴシック" panose="020B0400000000000000" pitchFamily="50" charset="-128"/>
                <a:ea typeface="BIZ UDPゴシック" panose="020B0400000000000000" pitchFamily="50" charset="-128"/>
              </a:rPr>
              <a:t>学校の取組</a:t>
            </a:r>
            <a:endParaRPr lang="en-US" sz="3000" dirty="0">
              <a:latin typeface="BIZ UDPゴシック" panose="020B0400000000000000" pitchFamily="50" charset="-128"/>
              <a:ea typeface="BIZ UDPゴシック" panose="020B0400000000000000" pitchFamily="50" charset="-128"/>
            </a:endParaRPr>
          </a:p>
        </p:txBody>
      </p:sp>
      <p:sp>
        <p:nvSpPr>
          <p:cNvPr id="4" name="Shape 2"/>
          <p:cNvSpPr/>
          <p:nvPr/>
        </p:nvSpPr>
        <p:spPr>
          <a:xfrm>
            <a:off x="548640" y="1508760"/>
            <a:ext cx="3454298" cy="4526280"/>
          </a:xfrm>
          <a:prstGeom prst="roundRect">
            <a:avLst>
              <a:gd name="adj" fmla="val 2118"/>
            </a:avLst>
          </a:prstGeom>
          <a:solidFill>
            <a:schemeClr val="bg2"/>
          </a:solidFill>
          <a:ln/>
        </p:spPr>
        <p:txBody>
          <a:bodyPr/>
          <a:lstStyle/>
          <a:p>
            <a:endParaRPr lang="ja-JP" altLang="en-US"/>
          </a:p>
        </p:txBody>
      </p:sp>
      <p:sp>
        <p:nvSpPr>
          <p:cNvPr id="5" name="Shape 3"/>
          <p:cNvSpPr/>
          <p:nvPr/>
        </p:nvSpPr>
        <p:spPr>
          <a:xfrm>
            <a:off x="822960" y="1783080"/>
            <a:ext cx="731520" cy="731520"/>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1005840" y="1965960"/>
            <a:ext cx="365760" cy="365760"/>
          </a:xfrm>
          <a:prstGeom prst="rect">
            <a:avLst/>
          </a:prstGeom>
        </p:spPr>
      </p:pic>
      <p:sp>
        <p:nvSpPr>
          <p:cNvPr id="7" name="Text 4"/>
          <p:cNvSpPr txBox="1"/>
          <p:nvPr/>
        </p:nvSpPr>
        <p:spPr>
          <a:xfrm>
            <a:off x="3134258"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1</a:t>
            </a:r>
            <a:endParaRPr lang="en-US" sz="3400" dirty="0"/>
          </a:p>
        </p:txBody>
      </p:sp>
      <p:sp>
        <p:nvSpPr>
          <p:cNvPr id="8" name="Text 5"/>
          <p:cNvSpPr txBox="1"/>
          <p:nvPr/>
        </p:nvSpPr>
        <p:spPr>
          <a:xfrm>
            <a:off x="640080" y="2651760"/>
            <a:ext cx="3088538" cy="868680"/>
          </a:xfrm>
          <a:prstGeom prst="rect">
            <a:avLst/>
          </a:prstGeom>
          <a:noFill/>
          <a:ln/>
        </p:spPr>
        <p:txBody>
          <a:bodyPr wrap="square" lIns="0" tIns="0" rIns="0" bIns="0" rtlCol="0" anchor="t"/>
          <a:lstStyle/>
          <a:p>
            <a:pPr marL="0" indent="0">
              <a:buNone/>
            </a:pPr>
            <a:r>
              <a:rPr lang="en-US" sz="1900" b="1" dirty="0">
                <a:solidFill>
                  <a:schemeClr val="tx2"/>
                </a:solidFill>
              </a:rPr>
              <a:t>「主体的・対話的で深い学び」の実装</a:t>
            </a:r>
            <a:endParaRPr lang="en-US" sz="1900" dirty="0"/>
          </a:p>
        </p:txBody>
      </p:sp>
      <p:sp>
        <p:nvSpPr>
          <p:cNvPr id="9" name="Text 6"/>
          <p:cNvSpPr txBox="1"/>
          <p:nvPr/>
        </p:nvSpPr>
        <p:spPr>
          <a:xfrm>
            <a:off x="822960"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考え方を、日常の授業で実現する段階へ</a:t>
            </a:r>
            <a:endParaRPr lang="en-US" sz="1500" dirty="0"/>
          </a:p>
        </p:txBody>
      </p:sp>
      <p:sp>
        <p:nvSpPr>
          <p:cNvPr id="10" name="Shape 7"/>
          <p:cNvSpPr/>
          <p:nvPr/>
        </p:nvSpPr>
        <p:spPr>
          <a:xfrm>
            <a:off x="731520" y="4617720"/>
            <a:ext cx="3088538" cy="1234440"/>
          </a:xfrm>
          <a:prstGeom prst="roundRect">
            <a:avLst>
              <a:gd name="adj" fmla="val 5926"/>
            </a:avLst>
          </a:prstGeom>
          <a:solidFill>
            <a:schemeClr val="bg1"/>
          </a:solidFill>
          <a:ln/>
        </p:spPr>
        <p:txBody>
          <a:bodyPr/>
          <a:lstStyle/>
          <a:p>
            <a:endParaRPr lang="ja-JP" altLang="en-US"/>
          </a:p>
        </p:txBody>
      </p:sp>
      <p:sp>
        <p:nvSpPr>
          <p:cNvPr id="11" name="Text 8"/>
          <p:cNvSpPr txBox="1"/>
          <p:nvPr/>
        </p:nvSpPr>
        <p:spPr>
          <a:xfrm>
            <a:off x="868680"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MP学習を各教科の単元計画に位置付け、日常化している</a:t>
            </a:r>
            <a:endParaRPr lang="en-US" sz="1400" dirty="0"/>
          </a:p>
        </p:txBody>
      </p:sp>
      <p:sp>
        <p:nvSpPr>
          <p:cNvPr id="12" name="Shape 9"/>
          <p:cNvSpPr/>
          <p:nvPr/>
        </p:nvSpPr>
        <p:spPr>
          <a:xfrm>
            <a:off x="4368698" y="1508760"/>
            <a:ext cx="3454298" cy="4526280"/>
          </a:xfrm>
          <a:prstGeom prst="roundRect">
            <a:avLst>
              <a:gd name="adj" fmla="val 2118"/>
            </a:avLst>
          </a:prstGeom>
          <a:solidFill>
            <a:schemeClr val="bg2"/>
          </a:solidFill>
          <a:ln/>
        </p:spPr>
        <p:txBody>
          <a:bodyPr/>
          <a:lstStyle/>
          <a:p>
            <a:endParaRPr lang="ja-JP" altLang="en-US"/>
          </a:p>
        </p:txBody>
      </p:sp>
      <p:sp>
        <p:nvSpPr>
          <p:cNvPr id="13" name="Shape 10"/>
          <p:cNvSpPr/>
          <p:nvPr/>
        </p:nvSpPr>
        <p:spPr>
          <a:xfrm>
            <a:off x="4643018" y="1783080"/>
            <a:ext cx="731520" cy="731520"/>
          </a:xfrm>
          <a:prstGeom prst="ellipse">
            <a:avLst/>
          </a:prstGeom>
          <a:solidFill>
            <a:schemeClr val="accent2"/>
          </a:solidFill>
          <a:ln/>
        </p:spPr>
        <p:txBody>
          <a:bodyPr/>
          <a:lstStyle/>
          <a:p>
            <a:endParaRPr lang="ja-JP" altLang="en-US"/>
          </a:p>
        </p:txBody>
      </p:sp>
      <p:pic>
        <p:nvPicPr>
          <p:cNvPr id="14" name="Image 1" descr="preencoded.png"/>
          <p:cNvPicPr>
            <a:picLocks noChangeAspect="1"/>
          </p:cNvPicPr>
          <p:nvPr/>
        </p:nvPicPr>
        <p:blipFill>
          <a:blip r:embed="rId4"/>
          <a:stretch>
            <a:fillRect/>
          </a:stretch>
        </p:blipFill>
        <p:spPr>
          <a:xfrm>
            <a:off x="4825898" y="1965960"/>
            <a:ext cx="365760" cy="365760"/>
          </a:xfrm>
          <a:prstGeom prst="rect">
            <a:avLst/>
          </a:prstGeom>
        </p:spPr>
      </p:pic>
      <p:sp>
        <p:nvSpPr>
          <p:cNvPr id="15" name="Text 11"/>
          <p:cNvSpPr txBox="1"/>
          <p:nvPr/>
        </p:nvSpPr>
        <p:spPr>
          <a:xfrm>
            <a:off x="6954317"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2</a:t>
            </a:r>
            <a:endParaRPr lang="en-US" sz="3400" dirty="0"/>
          </a:p>
        </p:txBody>
      </p:sp>
      <p:sp>
        <p:nvSpPr>
          <p:cNvPr id="16" name="Text 12"/>
          <p:cNvSpPr txBox="1"/>
          <p:nvPr/>
        </p:nvSpPr>
        <p:spPr>
          <a:xfrm>
            <a:off x="4643018"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多様性の包摂</a:t>
            </a:r>
            <a:endParaRPr lang="en-US" sz="1900" dirty="0"/>
          </a:p>
        </p:txBody>
      </p:sp>
      <p:sp>
        <p:nvSpPr>
          <p:cNvPr id="17" name="Text 13"/>
          <p:cNvSpPr txBox="1"/>
          <p:nvPr/>
        </p:nvSpPr>
        <p:spPr>
          <a:xfrm>
            <a:off x="4643018"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興味・関心、特性、ペースの違いを前提に、すべての子供の学びを保障</a:t>
            </a:r>
            <a:endParaRPr lang="en-US" sz="1500" dirty="0"/>
          </a:p>
        </p:txBody>
      </p:sp>
      <p:sp>
        <p:nvSpPr>
          <p:cNvPr id="18" name="Shape 14"/>
          <p:cNvSpPr/>
          <p:nvPr/>
        </p:nvSpPr>
        <p:spPr>
          <a:xfrm>
            <a:off x="4551578" y="4617720"/>
            <a:ext cx="3088538" cy="1234440"/>
          </a:xfrm>
          <a:prstGeom prst="roundRect">
            <a:avLst>
              <a:gd name="adj" fmla="val 5926"/>
            </a:avLst>
          </a:prstGeom>
          <a:solidFill>
            <a:schemeClr val="bg1"/>
          </a:solidFill>
          <a:ln/>
        </p:spPr>
        <p:txBody>
          <a:bodyPr/>
          <a:lstStyle/>
          <a:p>
            <a:endParaRPr lang="ja-JP" altLang="en-US"/>
          </a:p>
        </p:txBody>
      </p:sp>
      <p:sp>
        <p:nvSpPr>
          <p:cNvPr id="19" name="Text 15"/>
          <p:cNvSpPr txBox="1"/>
          <p:nvPr/>
        </p:nvSpPr>
        <p:spPr>
          <a:xfrm>
            <a:off x="4688738"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学ぶ内容・方法・場所を選べる。FSPでは一人一人がテーマをもつ</a:t>
            </a:r>
            <a:endParaRPr lang="en-US" sz="1400" dirty="0"/>
          </a:p>
        </p:txBody>
      </p:sp>
      <p:sp>
        <p:nvSpPr>
          <p:cNvPr id="20" name="Shape 16"/>
          <p:cNvSpPr/>
          <p:nvPr/>
        </p:nvSpPr>
        <p:spPr>
          <a:xfrm>
            <a:off x="8188757" y="1508760"/>
            <a:ext cx="3454298" cy="4526280"/>
          </a:xfrm>
          <a:prstGeom prst="roundRect">
            <a:avLst>
              <a:gd name="adj" fmla="val 2118"/>
            </a:avLst>
          </a:prstGeom>
          <a:solidFill>
            <a:schemeClr val="bg2"/>
          </a:solidFill>
          <a:ln/>
        </p:spPr>
        <p:txBody>
          <a:bodyPr/>
          <a:lstStyle/>
          <a:p>
            <a:endParaRPr lang="ja-JP" altLang="en-US"/>
          </a:p>
        </p:txBody>
      </p:sp>
      <p:sp>
        <p:nvSpPr>
          <p:cNvPr id="21" name="Shape 17"/>
          <p:cNvSpPr/>
          <p:nvPr/>
        </p:nvSpPr>
        <p:spPr>
          <a:xfrm>
            <a:off x="8463077" y="1783080"/>
            <a:ext cx="731520" cy="731520"/>
          </a:xfrm>
          <a:prstGeom prst="ellipse">
            <a:avLst/>
          </a:prstGeom>
          <a:solidFill>
            <a:schemeClr val="accent1"/>
          </a:solidFill>
          <a:ln/>
        </p:spPr>
        <p:txBody>
          <a:bodyPr/>
          <a:lstStyle/>
          <a:p>
            <a:endParaRPr lang="ja-JP" altLang="en-US"/>
          </a:p>
        </p:txBody>
      </p:sp>
      <p:pic>
        <p:nvPicPr>
          <p:cNvPr id="22" name="Image 2" descr="preencoded.png"/>
          <p:cNvPicPr>
            <a:picLocks noChangeAspect="1"/>
          </p:cNvPicPr>
          <p:nvPr/>
        </p:nvPicPr>
        <p:blipFill>
          <a:blip r:embed="rId5"/>
          <a:stretch>
            <a:fillRect/>
          </a:stretch>
        </p:blipFill>
        <p:spPr>
          <a:xfrm>
            <a:off x="8645957" y="1965960"/>
            <a:ext cx="365760" cy="365760"/>
          </a:xfrm>
          <a:prstGeom prst="rect">
            <a:avLst/>
          </a:prstGeom>
        </p:spPr>
      </p:pic>
      <p:sp>
        <p:nvSpPr>
          <p:cNvPr id="23" name="Text 18"/>
          <p:cNvSpPr txBox="1"/>
          <p:nvPr/>
        </p:nvSpPr>
        <p:spPr>
          <a:xfrm>
            <a:off x="10774375" y="1783080"/>
            <a:ext cx="594360" cy="731520"/>
          </a:xfrm>
          <a:prstGeom prst="rect">
            <a:avLst/>
          </a:prstGeom>
          <a:noFill/>
          <a:ln/>
        </p:spPr>
        <p:txBody>
          <a:bodyPr wrap="square" lIns="0" tIns="0" rIns="0" bIns="0" rtlCol="0" anchor="ctr"/>
          <a:lstStyle/>
          <a:p>
            <a:pPr marL="0" indent="0" algn="r">
              <a:buNone/>
            </a:pPr>
            <a:r>
              <a:rPr lang="en-US" sz="3400" b="1" dirty="0">
                <a:solidFill>
                  <a:schemeClr val="accent3"/>
                </a:solidFill>
              </a:rPr>
              <a:t>3</a:t>
            </a:r>
            <a:endParaRPr lang="en-US" sz="3400" dirty="0"/>
          </a:p>
        </p:txBody>
      </p:sp>
      <p:sp>
        <p:nvSpPr>
          <p:cNvPr id="24" name="Text 19"/>
          <p:cNvSpPr txBox="1"/>
          <p:nvPr/>
        </p:nvSpPr>
        <p:spPr>
          <a:xfrm>
            <a:off x="8463077" y="2651760"/>
            <a:ext cx="2905658" cy="868680"/>
          </a:xfrm>
          <a:prstGeom prst="rect">
            <a:avLst/>
          </a:prstGeom>
          <a:noFill/>
          <a:ln/>
        </p:spPr>
        <p:txBody>
          <a:bodyPr wrap="square" lIns="0" tIns="0" rIns="0" bIns="0" rtlCol="0" anchor="t"/>
          <a:lstStyle/>
          <a:p>
            <a:pPr marL="0" indent="0">
              <a:buNone/>
            </a:pPr>
            <a:r>
              <a:rPr lang="en-US" sz="1900" b="1" dirty="0">
                <a:solidFill>
                  <a:schemeClr val="tx2"/>
                </a:solidFill>
              </a:rPr>
              <a:t>実現可能性の確保</a:t>
            </a:r>
            <a:endParaRPr lang="en-US" sz="1900" dirty="0"/>
          </a:p>
        </p:txBody>
      </p:sp>
      <p:sp>
        <p:nvSpPr>
          <p:cNvPr id="25" name="Text 20"/>
          <p:cNvSpPr txBox="1"/>
          <p:nvPr/>
        </p:nvSpPr>
        <p:spPr>
          <a:xfrm>
            <a:off x="8463077" y="3520440"/>
            <a:ext cx="2905658" cy="960120"/>
          </a:xfrm>
          <a:prstGeom prst="rect">
            <a:avLst/>
          </a:prstGeom>
          <a:noFill/>
          <a:ln/>
        </p:spPr>
        <p:txBody>
          <a:bodyPr wrap="square" lIns="0" tIns="0" rIns="0" bIns="0" rtlCol="0" anchor="t"/>
          <a:lstStyle/>
          <a:p>
            <a:pPr marL="0" indent="0">
              <a:buNone/>
            </a:pPr>
            <a:r>
              <a:rPr lang="en-US" sz="1500" dirty="0">
                <a:solidFill>
                  <a:schemeClr val="tx1"/>
                </a:solidFill>
              </a:rPr>
              <a:t>内容の精選や柔軟な教育課程で、学校が無理なく実現できるように</a:t>
            </a:r>
            <a:endParaRPr lang="en-US" sz="1500" dirty="0"/>
          </a:p>
        </p:txBody>
      </p:sp>
      <p:sp>
        <p:nvSpPr>
          <p:cNvPr id="26" name="Shape 21"/>
          <p:cNvSpPr/>
          <p:nvPr/>
        </p:nvSpPr>
        <p:spPr>
          <a:xfrm>
            <a:off x="8371637" y="4617720"/>
            <a:ext cx="3088538" cy="1234440"/>
          </a:xfrm>
          <a:prstGeom prst="roundRect">
            <a:avLst>
              <a:gd name="adj" fmla="val 5926"/>
            </a:avLst>
          </a:prstGeom>
          <a:solidFill>
            <a:schemeClr val="bg1"/>
          </a:solidFill>
          <a:ln/>
        </p:spPr>
        <p:txBody>
          <a:bodyPr/>
          <a:lstStyle/>
          <a:p>
            <a:endParaRPr lang="ja-JP" altLang="en-US"/>
          </a:p>
        </p:txBody>
      </p:sp>
      <p:sp>
        <p:nvSpPr>
          <p:cNvPr id="27" name="Text 22"/>
          <p:cNvSpPr txBox="1"/>
          <p:nvPr/>
        </p:nvSpPr>
        <p:spPr>
          <a:xfrm>
            <a:off x="8508797" y="4663440"/>
            <a:ext cx="2814218" cy="1143000"/>
          </a:xfrm>
          <a:prstGeom prst="rect">
            <a:avLst/>
          </a:prstGeom>
          <a:noFill/>
          <a:ln/>
        </p:spPr>
        <p:txBody>
          <a:bodyPr wrap="square" lIns="0" tIns="0" rIns="0" bIns="0" rtlCol="0" anchor="ctr"/>
          <a:lstStyle/>
          <a:p>
            <a:pPr marL="0" indent="0">
              <a:buNone/>
            </a:pPr>
            <a:r>
              <a:rPr lang="en-US" sz="1400" b="1" dirty="0">
                <a:solidFill>
                  <a:schemeClr val="accent2"/>
                </a:solidFill>
              </a:rPr>
              <a:t>天童中部小では</a:t>
            </a:r>
            <a:endParaRPr lang="en-US" sz="1400" dirty="0"/>
          </a:p>
          <a:p>
            <a:pPr marL="0" indent="0">
              <a:buNone/>
            </a:pPr>
            <a:r>
              <a:rPr lang="en-US" sz="1400" dirty="0">
                <a:solidFill>
                  <a:schemeClr val="tx1"/>
                </a:solidFill>
              </a:rPr>
              <a:t>４つの学びを組み合わせ、学校全体のシステムとして運用</a:t>
            </a:r>
            <a:endParaRPr lang="en-US" sz="1400" dirty="0"/>
          </a:p>
        </p:txBody>
      </p:sp>
      <p:sp>
        <p:nvSpPr>
          <p:cNvPr id="28"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29" name="TextBox 28"/>
          <p:cNvSpPr txBox="1"/>
          <p:nvPr/>
        </p:nvSpPr>
        <p:spPr>
          <a:xfrm>
            <a:off x="548640" y="6108192"/>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03　次期学習指導要領の方向性</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主な改善の方向と天童中部小の実践</a:t>
            </a:r>
            <a:endParaRPr lang="en-US" sz="3000" dirty="0"/>
          </a:p>
        </p:txBody>
      </p:sp>
      <p:sp>
        <p:nvSpPr>
          <p:cNvPr id="4" name="Shape 2"/>
          <p:cNvSpPr/>
          <p:nvPr/>
        </p:nvSpPr>
        <p:spPr>
          <a:xfrm>
            <a:off x="548640" y="1508760"/>
            <a:ext cx="351525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777240" y="1737360"/>
            <a:ext cx="566928" cy="566928"/>
          </a:xfrm>
          <a:prstGeom prst="ellipse">
            <a:avLst/>
          </a:prstGeom>
          <a:solidFill>
            <a:schemeClr val="accent1"/>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918972" y="1879092"/>
            <a:ext cx="283464" cy="283464"/>
          </a:xfrm>
          <a:prstGeom prst="rect">
            <a:avLst/>
          </a:prstGeom>
        </p:spPr>
      </p:pic>
      <p:sp>
        <p:nvSpPr>
          <p:cNvPr id="7" name="Text 4"/>
          <p:cNvSpPr txBox="1"/>
          <p:nvPr/>
        </p:nvSpPr>
        <p:spPr>
          <a:xfrm>
            <a:off x="1463040"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目標・内容の構造化</a:t>
            </a:r>
            <a:endParaRPr lang="en-US" sz="1700" dirty="0"/>
          </a:p>
        </p:txBody>
      </p:sp>
      <p:sp>
        <p:nvSpPr>
          <p:cNvPr id="8" name="Text 5"/>
          <p:cNvSpPr txBox="1"/>
          <p:nvPr/>
        </p:nvSpPr>
        <p:spPr>
          <a:xfrm>
            <a:off x="777240"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中核的な概念等を軸に整理し、分かりやすく示す</a:t>
            </a:r>
            <a:endParaRPr lang="en-US" sz="1400" dirty="0"/>
          </a:p>
        </p:txBody>
      </p:sp>
      <p:sp>
        <p:nvSpPr>
          <p:cNvPr id="9" name="Text 6"/>
          <p:cNvSpPr txBox="1"/>
          <p:nvPr/>
        </p:nvSpPr>
        <p:spPr>
          <a:xfrm>
            <a:off x="777240"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学習のゴールを示した単元計画・学習の手引き</a:t>
            </a:r>
            <a:endParaRPr lang="en-US" sz="1200" dirty="0"/>
          </a:p>
        </p:txBody>
      </p:sp>
      <p:sp>
        <p:nvSpPr>
          <p:cNvPr id="10" name="Shape 7"/>
          <p:cNvSpPr/>
          <p:nvPr/>
        </p:nvSpPr>
        <p:spPr>
          <a:xfrm>
            <a:off x="4338218" y="1508760"/>
            <a:ext cx="3515258" cy="2103120"/>
          </a:xfrm>
          <a:prstGeom prst="roundRect">
            <a:avLst>
              <a:gd name="adj" fmla="val 3478"/>
            </a:avLst>
          </a:prstGeom>
          <a:solidFill>
            <a:schemeClr val="bg2"/>
          </a:solidFill>
          <a:ln/>
        </p:spPr>
        <p:txBody>
          <a:bodyPr/>
          <a:lstStyle/>
          <a:p>
            <a:endParaRPr lang="ja-JP" altLang="en-US"/>
          </a:p>
        </p:txBody>
      </p:sp>
      <p:sp>
        <p:nvSpPr>
          <p:cNvPr id="11" name="Shape 8"/>
          <p:cNvSpPr/>
          <p:nvPr/>
        </p:nvSpPr>
        <p:spPr>
          <a:xfrm>
            <a:off x="4566818" y="1737360"/>
            <a:ext cx="566928" cy="566928"/>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708550" y="1879092"/>
            <a:ext cx="283464" cy="283464"/>
          </a:xfrm>
          <a:prstGeom prst="rect">
            <a:avLst/>
          </a:prstGeom>
        </p:spPr>
      </p:pic>
      <p:sp>
        <p:nvSpPr>
          <p:cNvPr id="13" name="Text 9"/>
          <p:cNvSpPr txBox="1"/>
          <p:nvPr/>
        </p:nvSpPr>
        <p:spPr>
          <a:xfrm>
            <a:off x="5252618"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調整授業時数制度</a:t>
            </a:r>
            <a:endParaRPr lang="en-US" sz="1700" dirty="0"/>
          </a:p>
        </p:txBody>
      </p:sp>
      <p:sp>
        <p:nvSpPr>
          <p:cNvPr id="14" name="Text 10"/>
          <p:cNvSpPr txBox="1"/>
          <p:nvPr/>
        </p:nvSpPr>
        <p:spPr>
          <a:xfrm>
            <a:off x="4566818"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学校の実態に応じ、標準授業時数を一定の範囲で調整</a:t>
            </a:r>
            <a:endParaRPr lang="en-US" sz="1400" dirty="0"/>
          </a:p>
        </p:txBody>
      </p:sp>
      <p:sp>
        <p:nvSpPr>
          <p:cNvPr id="15" name="Text 11"/>
          <p:cNvSpPr txBox="1"/>
          <p:nvPr/>
        </p:nvSpPr>
        <p:spPr>
          <a:xfrm>
            <a:off x="4566818"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質疑でも、生かし方が話題に</a:t>
            </a:r>
            <a:endParaRPr lang="en-US" sz="1200" dirty="0"/>
          </a:p>
        </p:txBody>
      </p:sp>
      <p:sp>
        <p:nvSpPr>
          <p:cNvPr id="16" name="Shape 12"/>
          <p:cNvSpPr/>
          <p:nvPr/>
        </p:nvSpPr>
        <p:spPr>
          <a:xfrm>
            <a:off x="8127797" y="1508760"/>
            <a:ext cx="3515258" cy="2103120"/>
          </a:xfrm>
          <a:prstGeom prst="roundRect">
            <a:avLst>
              <a:gd name="adj" fmla="val 3478"/>
            </a:avLst>
          </a:prstGeom>
          <a:solidFill>
            <a:schemeClr val="bg2"/>
          </a:solidFill>
          <a:ln/>
        </p:spPr>
        <p:txBody>
          <a:bodyPr/>
          <a:lstStyle/>
          <a:p>
            <a:endParaRPr lang="ja-JP" altLang="en-US"/>
          </a:p>
        </p:txBody>
      </p:sp>
      <p:sp>
        <p:nvSpPr>
          <p:cNvPr id="17" name="Shape 13"/>
          <p:cNvSpPr/>
          <p:nvPr/>
        </p:nvSpPr>
        <p:spPr>
          <a:xfrm>
            <a:off x="8356397" y="1737360"/>
            <a:ext cx="566928" cy="566928"/>
          </a:xfrm>
          <a:prstGeom prst="ellipse">
            <a:avLst/>
          </a:prstGeom>
          <a:solidFill>
            <a:schemeClr val="accent2"/>
          </a:solidFill>
          <a:ln/>
        </p:spPr>
        <p:txBody>
          <a:bodyPr/>
          <a:lstStyle/>
          <a:p>
            <a:endParaRPr lang="ja-JP" altLang="en-US"/>
          </a:p>
        </p:txBody>
      </p:sp>
      <p:pic>
        <p:nvPicPr>
          <p:cNvPr id="18" name="Image 2" descr="preencoded.png"/>
          <p:cNvPicPr>
            <a:picLocks noChangeAspect="1"/>
          </p:cNvPicPr>
          <p:nvPr/>
        </p:nvPicPr>
        <p:blipFill>
          <a:blip r:embed="rId5"/>
          <a:stretch>
            <a:fillRect/>
          </a:stretch>
        </p:blipFill>
        <p:spPr>
          <a:xfrm>
            <a:off x="8498129" y="1879092"/>
            <a:ext cx="283464" cy="283464"/>
          </a:xfrm>
          <a:prstGeom prst="rect">
            <a:avLst/>
          </a:prstGeom>
        </p:spPr>
      </p:pic>
      <p:sp>
        <p:nvSpPr>
          <p:cNvPr id="19" name="Text 14"/>
          <p:cNvSpPr txBox="1"/>
          <p:nvPr/>
        </p:nvSpPr>
        <p:spPr>
          <a:xfrm>
            <a:off x="9042197" y="169164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裁量的な時間</a:t>
            </a:r>
            <a:endParaRPr lang="en-US" sz="1700" dirty="0"/>
          </a:p>
        </p:txBody>
      </p:sp>
      <p:sp>
        <p:nvSpPr>
          <p:cNvPr id="20" name="Text 15"/>
          <p:cNvSpPr txBox="1"/>
          <p:nvPr/>
        </p:nvSpPr>
        <p:spPr>
          <a:xfrm>
            <a:off x="8356397" y="2423160"/>
            <a:ext cx="3058058" cy="640080"/>
          </a:xfrm>
          <a:prstGeom prst="rect">
            <a:avLst/>
          </a:prstGeom>
          <a:noFill/>
          <a:ln/>
        </p:spPr>
        <p:txBody>
          <a:bodyPr wrap="square" lIns="0" tIns="0" rIns="0" bIns="0" rtlCol="0" anchor="t"/>
          <a:lstStyle/>
          <a:p>
            <a:pPr marL="0" indent="0">
              <a:buNone/>
            </a:pPr>
            <a:r>
              <a:rPr lang="en-US" sz="1400" dirty="0">
                <a:solidFill>
                  <a:schemeClr val="tx1"/>
                </a:solidFill>
              </a:rPr>
              <a:t>生み出した時間を、子供の個性や特性に応じた学びに</a:t>
            </a:r>
            <a:endParaRPr lang="en-US" sz="1400" dirty="0"/>
          </a:p>
        </p:txBody>
      </p:sp>
      <p:sp>
        <p:nvSpPr>
          <p:cNvPr id="21" name="Text 16"/>
          <p:cNvSpPr txBox="1"/>
          <p:nvPr/>
        </p:nvSpPr>
        <p:spPr>
          <a:xfrm>
            <a:off x="8356397" y="306324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FSP（個人総合）</a:t>
            </a:r>
            <a:endParaRPr lang="en-US" sz="1200" dirty="0"/>
          </a:p>
        </p:txBody>
      </p:sp>
      <p:sp>
        <p:nvSpPr>
          <p:cNvPr id="22" name="Shape 17"/>
          <p:cNvSpPr/>
          <p:nvPr/>
        </p:nvSpPr>
        <p:spPr>
          <a:xfrm>
            <a:off x="548640" y="3840480"/>
            <a:ext cx="3515258" cy="2103120"/>
          </a:xfrm>
          <a:prstGeom prst="roundRect">
            <a:avLst>
              <a:gd name="adj" fmla="val 3478"/>
            </a:avLst>
          </a:prstGeom>
          <a:solidFill>
            <a:schemeClr val="bg2"/>
          </a:solidFill>
          <a:ln/>
        </p:spPr>
        <p:txBody>
          <a:bodyPr/>
          <a:lstStyle/>
          <a:p>
            <a:endParaRPr lang="ja-JP" altLang="en-US"/>
          </a:p>
        </p:txBody>
      </p:sp>
      <p:sp>
        <p:nvSpPr>
          <p:cNvPr id="23" name="Shape 18"/>
          <p:cNvSpPr/>
          <p:nvPr/>
        </p:nvSpPr>
        <p:spPr>
          <a:xfrm>
            <a:off x="777240" y="4069080"/>
            <a:ext cx="566928" cy="566928"/>
          </a:xfrm>
          <a:prstGeom prst="ellipse">
            <a:avLst/>
          </a:prstGeom>
          <a:solidFill>
            <a:schemeClr val="accent1"/>
          </a:solidFill>
          <a:ln/>
        </p:spPr>
        <p:txBody>
          <a:bodyPr/>
          <a:lstStyle/>
          <a:p>
            <a:endParaRPr lang="ja-JP" altLang="en-US"/>
          </a:p>
        </p:txBody>
      </p:sp>
      <p:pic>
        <p:nvPicPr>
          <p:cNvPr id="24" name="Image 3" descr="preencoded.png"/>
          <p:cNvPicPr>
            <a:picLocks noChangeAspect="1"/>
          </p:cNvPicPr>
          <p:nvPr/>
        </p:nvPicPr>
        <p:blipFill>
          <a:blip r:embed="rId6"/>
          <a:stretch>
            <a:fillRect/>
          </a:stretch>
        </p:blipFill>
        <p:spPr>
          <a:xfrm>
            <a:off x="918972" y="4210812"/>
            <a:ext cx="283464" cy="283464"/>
          </a:xfrm>
          <a:prstGeom prst="rect">
            <a:avLst/>
          </a:prstGeom>
        </p:spPr>
      </p:pic>
      <p:sp>
        <p:nvSpPr>
          <p:cNvPr id="25" name="Text 19"/>
          <p:cNvSpPr txBox="1"/>
          <p:nvPr/>
        </p:nvSpPr>
        <p:spPr>
          <a:xfrm>
            <a:off x="1463040"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情報活用能力の</a:t>
            </a:r>
            <a:endParaRPr lang="en-US" sz="1700" dirty="0"/>
          </a:p>
          <a:p>
            <a:pPr marL="0" indent="0">
              <a:buNone/>
            </a:pPr>
            <a:r>
              <a:rPr lang="en-US" sz="1700" b="1" dirty="0">
                <a:solidFill>
                  <a:schemeClr val="tx2"/>
                </a:solidFill>
              </a:rPr>
              <a:t>抜本的向上</a:t>
            </a:r>
            <a:endParaRPr lang="en-US" sz="1700" dirty="0"/>
          </a:p>
        </p:txBody>
      </p:sp>
      <p:sp>
        <p:nvSpPr>
          <p:cNvPr id="26" name="Text 20"/>
          <p:cNvSpPr txBox="1"/>
          <p:nvPr/>
        </p:nvSpPr>
        <p:spPr>
          <a:xfrm>
            <a:off x="777240"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学習の基盤となる資質・能力として位置付ける</a:t>
            </a:r>
            <a:endParaRPr lang="en-US" sz="1400" dirty="0"/>
          </a:p>
        </p:txBody>
      </p:sp>
      <p:sp>
        <p:nvSpPr>
          <p:cNvPr id="27" name="Text 21"/>
          <p:cNvSpPr txBox="1"/>
          <p:nvPr/>
        </p:nvSpPr>
        <p:spPr>
          <a:xfrm>
            <a:off x="777240"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QRコード教材、スライド発表</a:t>
            </a:r>
            <a:endParaRPr lang="en-US" sz="1200" dirty="0"/>
          </a:p>
        </p:txBody>
      </p:sp>
      <p:sp>
        <p:nvSpPr>
          <p:cNvPr id="28" name="Shape 22"/>
          <p:cNvSpPr/>
          <p:nvPr/>
        </p:nvSpPr>
        <p:spPr>
          <a:xfrm>
            <a:off x="4338218" y="3840480"/>
            <a:ext cx="3515258" cy="2103120"/>
          </a:xfrm>
          <a:prstGeom prst="roundRect">
            <a:avLst>
              <a:gd name="adj" fmla="val 3478"/>
            </a:avLst>
          </a:prstGeom>
          <a:solidFill>
            <a:schemeClr val="bg2"/>
          </a:solidFill>
          <a:ln/>
        </p:spPr>
        <p:txBody>
          <a:bodyPr/>
          <a:lstStyle/>
          <a:p>
            <a:endParaRPr lang="ja-JP" altLang="en-US"/>
          </a:p>
        </p:txBody>
      </p:sp>
      <p:sp>
        <p:nvSpPr>
          <p:cNvPr id="29" name="Shape 23"/>
          <p:cNvSpPr/>
          <p:nvPr/>
        </p:nvSpPr>
        <p:spPr>
          <a:xfrm>
            <a:off x="4566818" y="4069080"/>
            <a:ext cx="566928" cy="566928"/>
          </a:xfrm>
          <a:prstGeom prst="ellipse">
            <a:avLst/>
          </a:prstGeom>
          <a:solidFill>
            <a:schemeClr val="accent1"/>
          </a:solidFill>
          <a:ln/>
        </p:spPr>
        <p:txBody>
          <a:bodyPr/>
          <a:lstStyle/>
          <a:p>
            <a:endParaRPr lang="ja-JP" altLang="en-US"/>
          </a:p>
        </p:txBody>
      </p:sp>
      <p:pic>
        <p:nvPicPr>
          <p:cNvPr id="30" name="Image 4" descr="preencoded.png"/>
          <p:cNvPicPr>
            <a:picLocks noChangeAspect="1"/>
          </p:cNvPicPr>
          <p:nvPr/>
        </p:nvPicPr>
        <p:blipFill>
          <a:blip r:embed="rId7"/>
          <a:stretch>
            <a:fillRect/>
          </a:stretch>
        </p:blipFill>
        <p:spPr>
          <a:xfrm>
            <a:off x="4708550" y="4210812"/>
            <a:ext cx="283464" cy="283464"/>
          </a:xfrm>
          <a:prstGeom prst="rect">
            <a:avLst/>
          </a:prstGeom>
        </p:spPr>
      </p:pic>
      <p:sp>
        <p:nvSpPr>
          <p:cNvPr id="31" name="Text 24"/>
          <p:cNvSpPr txBox="1"/>
          <p:nvPr/>
        </p:nvSpPr>
        <p:spPr>
          <a:xfrm>
            <a:off x="5252618"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学習評価の改善</a:t>
            </a:r>
            <a:endParaRPr lang="en-US" sz="1700" dirty="0"/>
          </a:p>
        </p:txBody>
      </p:sp>
      <p:sp>
        <p:nvSpPr>
          <p:cNvPr id="32" name="Text 25"/>
          <p:cNvSpPr txBox="1"/>
          <p:nvPr/>
        </p:nvSpPr>
        <p:spPr>
          <a:xfrm>
            <a:off x="4566818"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「主体的に学習に取り組む態度」の評価の在り方などを見直す</a:t>
            </a:r>
            <a:endParaRPr lang="en-US" sz="1400" dirty="0"/>
          </a:p>
        </p:txBody>
      </p:sp>
      <p:sp>
        <p:nvSpPr>
          <p:cNvPr id="33" name="Text 26"/>
          <p:cNvSpPr txBox="1"/>
          <p:nvPr/>
        </p:nvSpPr>
        <p:spPr>
          <a:xfrm>
            <a:off x="4566818"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計画・振り返りカード、振り返り掲示</a:t>
            </a:r>
            <a:endParaRPr lang="en-US" sz="1200" dirty="0"/>
          </a:p>
        </p:txBody>
      </p:sp>
      <p:sp>
        <p:nvSpPr>
          <p:cNvPr id="34" name="Shape 27"/>
          <p:cNvSpPr/>
          <p:nvPr/>
        </p:nvSpPr>
        <p:spPr>
          <a:xfrm>
            <a:off x="8127797" y="3840480"/>
            <a:ext cx="3515258" cy="2103120"/>
          </a:xfrm>
          <a:prstGeom prst="roundRect">
            <a:avLst>
              <a:gd name="adj" fmla="val 3478"/>
            </a:avLst>
          </a:prstGeom>
          <a:solidFill>
            <a:schemeClr val="bg2"/>
          </a:solidFill>
          <a:ln/>
        </p:spPr>
        <p:txBody>
          <a:bodyPr/>
          <a:lstStyle/>
          <a:p>
            <a:endParaRPr lang="ja-JP" altLang="en-US"/>
          </a:p>
        </p:txBody>
      </p:sp>
      <p:sp>
        <p:nvSpPr>
          <p:cNvPr id="35" name="Shape 28"/>
          <p:cNvSpPr/>
          <p:nvPr/>
        </p:nvSpPr>
        <p:spPr>
          <a:xfrm>
            <a:off x="8356397" y="4069080"/>
            <a:ext cx="566928" cy="566928"/>
          </a:xfrm>
          <a:prstGeom prst="ellipse">
            <a:avLst/>
          </a:prstGeom>
          <a:solidFill>
            <a:schemeClr val="accent1"/>
          </a:solidFill>
          <a:ln/>
        </p:spPr>
        <p:txBody>
          <a:bodyPr/>
          <a:lstStyle/>
          <a:p>
            <a:endParaRPr lang="ja-JP" altLang="en-US"/>
          </a:p>
        </p:txBody>
      </p:sp>
      <p:pic>
        <p:nvPicPr>
          <p:cNvPr id="36" name="Image 5" descr="preencoded.png"/>
          <p:cNvPicPr>
            <a:picLocks noChangeAspect="1"/>
          </p:cNvPicPr>
          <p:nvPr/>
        </p:nvPicPr>
        <p:blipFill>
          <a:blip r:embed="rId8"/>
          <a:stretch>
            <a:fillRect/>
          </a:stretch>
        </p:blipFill>
        <p:spPr>
          <a:xfrm>
            <a:off x="8498129" y="4210812"/>
            <a:ext cx="283464" cy="283464"/>
          </a:xfrm>
          <a:prstGeom prst="rect">
            <a:avLst/>
          </a:prstGeom>
        </p:spPr>
      </p:pic>
      <p:sp>
        <p:nvSpPr>
          <p:cNvPr id="37" name="Text 29"/>
          <p:cNvSpPr txBox="1"/>
          <p:nvPr/>
        </p:nvSpPr>
        <p:spPr>
          <a:xfrm>
            <a:off x="9042197" y="4023360"/>
            <a:ext cx="2463698" cy="658368"/>
          </a:xfrm>
          <a:prstGeom prst="rect">
            <a:avLst/>
          </a:prstGeom>
          <a:noFill/>
          <a:ln/>
        </p:spPr>
        <p:txBody>
          <a:bodyPr wrap="square" lIns="0" tIns="0" rIns="0" bIns="0" rtlCol="0" anchor="ctr"/>
          <a:lstStyle/>
          <a:p>
            <a:pPr marL="0" indent="0">
              <a:buNone/>
            </a:pPr>
            <a:r>
              <a:rPr lang="en-US" sz="1700" b="1" dirty="0">
                <a:solidFill>
                  <a:schemeClr val="tx2"/>
                </a:solidFill>
              </a:rPr>
              <a:t>「好き」「得意」を育む</a:t>
            </a:r>
            <a:endParaRPr lang="en-US" sz="1700" dirty="0"/>
          </a:p>
        </p:txBody>
      </p:sp>
      <p:sp>
        <p:nvSpPr>
          <p:cNvPr id="38" name="Text 30"/>
          <p:cNvSpPr txBox="1"/>
          <p:nvPr/>
        </p:nvSpPr>
        <p:spPr>
          <a:xfrm>
            <a:off x="8356397" y="4754880"/>
            <a:ext cx="3058058" cy="640080"/>
          </a:xfrm>
          <a:prstGeom prst="rect">
            <a:avLst/>
          </a:prstGeom>
          <a:noFill/>
          <a:ln/>
        </p:spPr>
        <p:txBody>
          <a:bodyPr wrap="square" lIns="0" tIns="0" rIns="0" bIns="0" rtlCol="0" anchor="t"/>
          <a:lstStyle/>
          <a:p>
            <a:pPr marL="0" indent="0">
              <a:buNone/>
            </a:pPr>
            <a:r>
              <a:rPr lang="en-US" sz="1400" dirty="0">
                <a:solidFill>
                  <a:schemeClr val="tx1"/>
                </a:solidFill>
              </a:rPr>
              <a:t>学習内容を精選し、子供の「好き」「得意」を伸ばす</a:t>
            </a:r>
            <a:endParaRPr lang="en-US" sz="1400" dirty="0"/>
          </a:p>
        </p:txBody>
      </p:sp>
      <p:sp>
        <p:nvSpPr>
          <p:cNvPr id="39" name="Text 31"/>
          <p:cNvSpPr txBox="1"/>
          <p:nvPr/>
        </p:nvSpPr>
        <p:spPr>
          <a:xfrm>
            <a:off x="8356397" y="5394960"/>
            <a:ext cx="3058058" cy="457200"/>
          </a:xfrm>
          <a:prstGeom prst="rect">
            <a:avLst/>
          </a:prstGeom>
          <a:noFill/>
          <a:ln/>
        </p:spPr>
        <p:txBody>
          <a:bodyPr wrap="square" lIns="0" tIns="0" rIns="0" bIns="0" rtlCol="0" anchor="ctr"/>
          <a:lstStyle/>
          <a:p>
            <a:pPr marL="0" indent="0">
              <a:buNone/>
            </a:pPr>
            <a:r>
              <a:rPr lang="en-US" sz="1200" b="1" dirty="0">
                <a:solidFill>
                  <a:schemeClr val="accent2"/>
                </a:solidFill>
              </a:rPr>
              <a:t>天童中部小　</a:t>
            </a:r>
            <a:r>
              <a:rPr lang="en-US" sz="1200" dirty="0">
                <a:solidFill>
                  <a:schemeClr val="accent5"/>
                </a:solidFill>
              </a:rPr>
              <a:t>２つの「好き」「得意」（FSP・MP学習）</a:t>
            </a:r>
            <a:endParaRPr lang="en-US" sz="1200" dirty="0"/>
          </a:p>
        </p:txBody>
      </p:sp>
      <p:sp>
        <p:nvSpPr>
          <p:cNvPr id="40" name="Text 32"/>
          <p:cNvSpPr txBox="1"/>
          <p:nvPr/>
        </p:nvSpPr>
        <p:spPr>
          <a:xfrm>
            <a:off x="548640" y="6080760"/>
            <a:ext cx="5486400" cy="256032"/>
          </a:xfrm>
          <a:prstGeom prst="rect">
            <a:avLst/>
          </a:prstGeom>
          <a:noFill/>
          <a:ln/>
        </p:spPr>
        <p:txBody>
          <a:bodyPr wrap="square" lIns="0" tIns="0" rIns="0" bIns="0" rtlCol="0" anchor="ctr"/>
          <a:lstStyle/>
          <a:p>
            <a:pPr marL="0" indent="0">
              <a:buNone/>
            </a:pPr>
            <a:r>
              <a:rPr lang="en-US" sz="1100" dirty="0">
                <a:solidFill>
                  <a:schemeClr val="accent5"/>
                </a:solidFill>
              </a:rPr>
              <a:t>※制度の名称・詳細は答申・告示で確定する</a:t>
            </a:r>
            <a:endParaRPr lang="en-US" sz="1100" dirty="0"/>
          </a:p>
        </p:txBody>
      </p:sp>
      <p:sp>
        <p:nvSpPr>
          <p:cNvPr id="41"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2" name="TextBox 41"/>
          <p:cNvSpPr txBox="1"/>
          <p:nvPr/>
        </p:nvSpPr>
        <p:spPr>
          <a:xfrm>
            <a:off x="3840480" y="6053328"/>
            <a:ext cx="780257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中心にあるのは、何か</a:t>
            </a:r>
          </a:p>
        </p:txBody>
      </p:sp>
      <p:sp>
        <p:nvSpPr>
          <p:cNvPr id="4" name="Rounded Rectangle 3"/>
          <p:cNvSpPr/>
          <p:nvPr/>
        </p:nvSpPr>
        <p:spPr>
          <a:xfrm>
            <a:off x="548640" y="1508760"/>
            <a:ext cx="4983480" cy="361188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59575" y="1508760"/>
            <a:ext cx="4983480" cy="3611880"/>
          </a:xfrm>
          <a:prstGeom prst="roundRect">
            <a:avLst>
              <a:gd name="adj" fmla="val 6000"/>
            </a:avLst>
          </a:prstGeom>
          <a:solidFill>
            <a:srgbClr val="FBEA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645919"/>
            <a:ext cx="4434840" cy="411480"/>
          </a:xfrm>
          <a:prstGeom prst="rect">
            <a:avLst/>
          </a:prstGeom>
          <a:noFill/>
        </p:spPr>
        <p:txBody>
          <a:bodyPr wrap="square" lIns="0" rIns="0" tIns="0" bIns="0" anchor="ctr">
            <a:spAutoFit/>
          </a:bodyPr>
          <a:lstStyle/>
          <a:p>
            <a:pPr algn="l"/>
            <a:r>
              <a:rPr sz="1800" b="1">
                <a:solidFill>
                  <a:srgbClr val="5E6E68"/>
                </a:solidFill>
              </a:rPr>
              <a:t>これまで</a:t>
            </a:r>
          </a:p>
        </p:txBody>
      </p:sp>
      <p:sp>
        <p:nvSpPr>
          <p:cNvPr id="7" name="TextBox 6"/>
          <p:cNvSpPr txBox="1"/>
          <p:nvPr/>
        </p:nvSpPr>
        <p:spPr>
          <a:xfrm>
            <a:off x="6933895" y="1645919"/>
            <a:ext cx="4434840" cy="411480"/>
          </a:xfrm>
          <a:prstGeom prst="rect">
            <a:avLst/>
          </a:prstGeom>
          <a:noFill/>
        </p:spPr>
        <p:txBody>
          <a:bodyPr wrap="square" lIns="0" rIns="0" tIns="0" bIns="0" anchor="ctr">
            <a:spAutoFit/>
          </a:bodyPr>
          <a:lstStyle/>
          <a:p>
            <a:pPr algn="l"/>
            <a:r>
              <a:rPr sz="1800" b="1">
                <a:solidFill>
                  <a:srgbClr val="D9702C"/>
                </a:solidFill>
              </a:rPr>
              <a:t>これから</a:t>
            </a:r>
          </a:p>
        </p:txBody>
      </p:sp>
      <p:sp>
        <p:nvSpPr>
          <p:cNvPr id="8" name="Oval 7"/>
          <p:cNvSpPr/>
          <p:nvPr/>
        </p:nvSpPr>
        <p:spPr>
          <a:xfrm>
            <a:off x="1943100"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491740" y="2715768"/>
            <a:ext cx="1097280" cy="109728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教師</a:t>
            </a:r>
          </a:p>
        </p:txBody>
      </p:sp>
      <p:sp>
        <p:nvSpPr>
          <p:cNvPr id="10" name="Oval 9"/>
          <p:cNvSpPr/>
          <p:nvPr/>
        </p:nvSpPr>
        <p:spPr>
          <a:xfrm>
            <a:off x="1898725"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1" name="Oval 10"/>
          <p:cNvSpPr/>
          <p:nvPr/>
        </p:nvSpPr>
        <p:spPr>
          <a:xfrm>
            <a:off x="3450514" y="2122753"/>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2" name="Oval 11"/>
          <p:cNvSpPr/>
          <p:nvPr/>
        </p:nvSpPr>
        <p:spPr>
          <a:xfrm>
            <a:off x="3450514"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3" name="Oval 12"/>
          <p:cNvSpPr/>
          <p:nvPr/>
        </p:nvSpPr>
        <p:spPr>
          <a:xfrm>
            <a:off x="1898725" y="3674542"/>
            <a:ext cx="731520" cy="731520"/>
          </a:xfrm>
          <a:prstGeom prst="ellipse">
            <a:avLst/>
          </a:prstGeom>
          <a:solidFill>
            <a:srgbClr val="D3E3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1F5A47"/>
                </a:solidFill>
              </a:rPr>
              <a:t>子供</a:t>
            </a:r>
          </a:p>
        </p:txBody>
      </p:sp>
      <p:sp>
        <p:nvSpPr>
          <p:cNvPr id="14" name="Oval 13"/>
          <p:cNvSpPr/>
          <p:nvPr/>
        </p:nvSpPr>
        <p:spPr>
          <a:xfrm>
            <a:off x="8054035" y="2167128"/>
            <a:ext cx="2194560" cy="2194560"/>
          </a:xfrm>
          <a:prstGeom prst="ellipse">
            <a:avLst/>
          </a:prstGeom>
          <a:noFill/>
          <a:ln w="22225">
            <a:solidFill>
              <a:srgbClr val="7FAF8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602675" y="2715768"/>
            <a:ext cx="1097280" cy="109728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rPr>
              <a:t>子供の</a:t>
            </a:r>
          </a:p>
          <a:p>
            <a:pPr algn="ctr"/>
            <a:r>
              <a:rPr sz="1500" b="1">
                <a:solidFill>
                  <a:srgbClr val="FFFFFF"/>
                </a:solidFill>
              </a:rPr>
              <a:t>学び</a:t>
            </a:r>
          </a:p>
        </p:txBody>
      </p:sp>
      <p:sp>
        <p:nvSpPr>
          <p:cNvPr id="16" name="Oval 15"/>
          <p:cNvSpPr/>
          <p:nvPr/>
        </p:nvSpPr>
        <p:spPr>
          <a:xfrm>
            <a:off x="8009661"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教師</a:t>
            </a:r>
          </a:p>
        </p:txBody>
      </p:sp>
      <p:sp>
        <p:nvSpPr>
          <p:cNvPr id="17" name="Oval 16"/>
          <p:cNvSpPr/>
          <p:nvPr/>
        </p:nvSpPr>
        <p:spPr>
          <a:xfrm>
            <a:off x="9561449" y="2122753"/>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教材</a:t>
            </a:r>
          </a:p>
        </p:txBody>
      </p:sp>
      <p:sp>
        <p:nvSpPr>
          <p:cNvPr id="18" name="Oval 17"/>
          <p:cNvSpPr/>
          <p:nvPr/>
        </p:nvSpPr>
        <p:spPr>
          <a:xfrm>
            <a:off x="9561449"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環境</a:t>
            </a:r>
          </a:p>
        </p:txBody>
      </p:sp>
      <p:sp>
        <p:nvSpPr>
          <p:cNvPr id="19" name="Oval 18"/>
          <p:cNvSpPr/>
          <p:nvPr/>
        </p:nvSpPr>
        <p:spPr>
          <a:xfrm>
            <a:off x="8009661" y="3674542"/>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仲間</a:t>
            </a:r>
          </a:p>
        </p:txBody>
      </p:sp>
      <p:sp>
        <p:nvSpPr>
          <p:cNvPr id="20" name="TextBox 19"/>
          <p:cNvSpPr txBox="1"/>
          <p:nvPr/>
        </p:nvSpPr>
        <p:spPr>
          <a:xfrm>
            <a:off x="822959" y="4526279"/>
            <a:ext cx="4434840" cy="502920"/>
          </a:xfrm>
          <a:prstGeom prst="rect">
            <a:avLst/>
          </a:prstGeom>
          <a:noFill/>
        </p:spPr>
        <p:txBody>
          <a:bodyPr wrap="square" lIns="0" rIns="0" tIns="0" bIns="0" anchor="ctr">
            <a:spAutoFit/>
          </a:bodyPr>
          <a:lstStyle/>
          <a:p>
            <a:pPr algn="ctr"/>
            <a:r>
              <a:rPr sz="1400" b="0">
                <a:solidFill>
                  <a:srgbClr val="1E2B27"/>
                </a:solidFill>
              </a:rPr>
              <a:t>教師の計画・指示が中心。子供が合わせて動く</a:t>
            </a:r>
          </a:p>
        </p:txBody>
      </p:sp>
      <p:sp>
        <p:nvSpPr>
          <p:cNvPr id="21" name="TextBox 20"/>
          <p:cNvSpPr txBox="1"/>
          <p:nvPr/>
        </p:nvSpPr>
        <p:spPr>
          <a:xfrm>
            <a:off x="6933895" y="4526279"/>
            <a:ext cx="4434840" cy="502920"/>
          </a:xfrm>
          <a:prstGeom prst="rect">
            <a:avLst/>
          </a:prstGeom>
          <a:noFill/>
        </p:spPr>
        <p:txBody>
          <a:bodyPr wrap="square" lIns="0" rIns="0" tIns="0" bIns="0" anchor="ctr">
            <a:spAutoFit/>
          </a:bodyPr>
          <a:lstStyle/>
          <a:p>
            <a:pPr algn="ctr"/>
            <a:r>
              <a:rPr sz="1400" b="1">
                <a:solidFill>
                  <a:srgbClr val="1E2B27"/>
                </a:solidFill>
              </a:rPr>
              <a:t>子供の学びが中心。教師・教材・環境・仲間が支える</a:t>
            </a:r>
          </a:p>
        </p:txBody>
      </p:sp>
      <p:sp>
        <p:nvSpPr>
          <p:cNvPr id="22" name="Right Arrow 21"/>
          <p:cNvSpPr/>
          <p:nvPr/>
        </p:nvSpPr>
        <p:spPr>
          <a:xfrm>
            <a:off x="5641848" y="2990088"/>
            <a:ext cx="907999" cy="548640"/>
          </a:xfrm>
          <a:prstGeom prst="rightArrow">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48640" y="5303520"/>
            <a:ext cx="11094415" cy="777240"/>
          </a:xfrm>
          <a:prstGeom prst="roundRect">
            <a:avLst>
              <a:gd name="adj" fmla="val 6000"/>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5303520"/>
            <a:ext cx="10454335" cy="777240"/>
          </a:xfrm>
          <a:prstGeom prst="rect">
            <a:avLst/>
          </a:prstGeom>
          <a:noFill/>
        </p:spPr>
        <p:txBody>
          <a:bodyPr wrap="square" lIns="0" rIns="0" tIns="0" bIns="0" anchor="ctr">
            <a:spAutoFit/>
          </a:bodyPr>
          <a:lstStyle/>
          <a:p>
            <a:pPr algn="l"/>
            <a:r>
              <a:rPr sz="1700" b="1">
                <a:solidFill>
                  <a:srgbClr val="FBEADB"/>
                </a:solidFill>
              </a:rPr>
              <a:t>転換するのは「授業の形」ではなく「見方」　</a:t>
            </a:r>
            <a:r>
              <a:rPr sz="1500" b="0">
                <a:solidFill>
                  <a:srgbClr val="FFFFFF"/>
                </a:solidFill>
              </a:rPr>
              <a:t>約８割の一斉授業の中でも、子供の学びを中心に据える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2"/>
                </a:solidFill>
              </a:rPr>
              <a:t>04　指導主事として</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学校訪問・指導助言で大切にしたい４つの視点</a:t>
            </a:r>
            <a:endParaRPr lang="en-US" sz="3000" dirty="0"/>
          </a:p>
        </p:txBody>
      </p:sp>
      <p:sp>
        <p:nvSpPr>
          <p:cNvPr id="4" name="Shape 2"/>
          <p:cNvSpPr/>
          <p:nvPr/>
        </p:nvSpPr>
        <p:spPr>
          <a:xfrm>
            <a:off x="548640" y="1508760"/>
            <a:ext cx="5387188" cy="2103120"/>
          </a:xfrm>
          <a:prstGeom prst="roundRect">
            <a:avLst>
              <a:gd name="adj" fmla="val 3478"/>
            </a:avLst>
          </a:prstGeom>
          <a:solidFill>
            <a:schemeClr val="bg2"/>
          </a:solidFill>
          <a:ln/>
        </p:spPr>
        <p:txBody>
          <a:bodyPr/>
          <a:lstStyle/>
          <a:p>
            <a:endParaRPr lang="ja-JP" altLang="en-US"/>
          </a:p>
        </p:txBody>
      </p:sp>
      <p:sp>
        <p:nvSpPr>
          <p:cNvPr id="5" name="Shape 3"/>
          <p:cNvSpPr/>
          <p:nvPr/>
        </p:nvSpPr>
        <p:spPr>
          <a:xfrm>
            <a:off x="822960" y="1783080"/>
            <a:ext cx="640080" cy="640080"/>
          </a:xfrm>
          <a:prstGeom prst="ellipse">
            <a:avLst/>
          </a:prstGeom>
          <a:solidFill>
            <a:schemeClr val="accent2"/>
          </a:solidFill>
          <a:ln/>
        </p:spPr>
        <p:txBody>
          <a:bodyPr/>
          <a:lstStyle/>
          <a:p>
            <a:endParaRPr lang="ja-JP" altLang="en-US"/>
          </a:p>
        </p:txBody>
      </p:sp>
      <p:sp>
        <p:nvSpPr>
          <p:cNvPr id="6" name="Text 4"/>
          <p:cNvSpPr txBox="1"/>
          <p:nvPr/>
        </p:nvSpPr>
        <p:spPr>
          <a:xfrm>
            <a:off x="822960"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1</a:t>
            </a:r>
            <a:endParaRPr lang="en-US" sz="1800" dirty="0"/>
          </a:p>
        </p:txBody>
      </p:sp>
      <p:sp>
        <p:nvSpPr>
          <p:cNvPr id="7" name="Text 5"/>
          <p:cNvSpPr txBox="1"/>
          <p:nvPr/>
        </p:nvSpPr>
        <p:spPr>
          <a:xfrm>
            <a:off x="1645920"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手法より子供観から</a:t>
            </a:r>
            <a:endParaRPr lang="en-US" sz="2000" dirty="0"/>
          </a:p>
        </p:txBody>
      </p:sp>
      <p:sp>
        <p:nvSpPr>
          <p:cNvPr id="8" name="Text 6"/>
          <p:cNvSpPr txBox="1"/>
          <p:nvPr/>
        </p:nvSpPr>
        <p:spPr>
          <a:xfrm>
            <a:off x="822960"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「〇〇学習を導入しましょう」ではなく、子供をどう捉えるかから学校と対話する</a:t>
            </a:r>
            <a:endParaRPr lang="en-US" sz="1500" dirty="0"/>
          </a:p>
        </p:txBody>
      </p:sp>
      <p:sp>
        <p:nvSpPr>
          <p:cNvPr id="9" name="Shape 7"/>
          <p:cNvSpPr/>
          <p:nvPr/>
        </p:nvSpPr>
        <p:spPr>
          <a:xfrm>
            <a:off x="6255868" y="1508760"/>
            <a:ext cx="5387188" cy="2103120"/>
          </a:xfrm>
          <a:prstGeom prst="roundRect">
            <a:avLst>
              <a:gd name="adj" fmla="val 3478"/>
            </a:avLst>
          </a:prstGeom>
          <a:solidFill>
            <a:schemeClr val="bg2"/>
          </a:solidFill>
          <a:ln/>
        </p:spPr>
        <p:txBody>
          <a:bodyPr/>
          <a:lstStyle/>
          <a:p>
            <a:endParaRPr lang="ja-JP" altLang="en-US"/>
          </a:p>
        </p:txBody>
      </p:sp>
      <p:sp>
        <p:nvSpPr>
          <p:cNvPr id="10" name="Shape 8"/>
          <p:cNvSpPr/>
          <p:nvPr/>
        </p:nvSpPr>
        <p:spPr>
          <a:xfrm>
            <a:off x="6530188" y="1783080"/>
            <a:ext cx="640080" cy="640080"/>
          </a:xfrm>
          <a:prstGeom prst="ellipse">
            <a:avLst/>
          </a:prstGeom>
          <a:solidFill>
            <a:schemeClr val="accent1"/>
          </a:solidFill>
          <a:ln/>
        </p:spPr>
        <p:txBody>
          <a:bodyPr/>
          <a:lstStyle/>
          <a:p>
            <a:endParaRPr lang="ja-JP" altLang="en-US"/>
          </a:p>
        </p:txBody>
      </p:sp>
      <p:sp>
        <p:nvSpPr>
          <p:cNvPr id="11" name="Text 9"/>
          <p:cNvSpPr txBox="1"/>
          <p:nvPr/>
        </p:nvSpPr>
        <p:spPr>
          <a:xfrm>
            <a:off x="6530188" y="178308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2</a:t>
            </a:r>
            <a:endParaRPr lang="en-US" sz="1800" dirty="0"/>
          </a:p>
        </p:txBody>
      </p:sp>
      <p:sp>
        <p:nvSpPr>
          <p:cNvPr id="12" name="Text 10"/>
          <p:cNvSpPr txBox="1"/>
          <p:nvPr/>
        </p:nvSpPr>
        <p:spPr>
          <a:xfrm>
            <a:off x="7353148" y="173736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「子供がどう学んだか」を見る</a:t>
            </a:r>
            <a:endParaRPr lang="en-US" sz="2000" dirty="0"/>
          </a:p>
        </p:txBody>
      </p:sp>
      <p:sp>
        <p:nvSpPr>
          <p:cNvPr id="13" name="Text 11"/>
          <p:cNvSpPr txBox="1"/>
          <p:nvPr/>
        </p:nvSpPr>
        <p:spPr>
          <a:xfrm>
            <a:off x="6530188" y="2560320"/>
            <a:ext cx="4838548" cy="914400"/>
          </a:xfrm>
          <a:prstGeom prst="rect">
            <a:avLst/>
          </a:prstGeom>
          <a:noFill/>
          <a:ln/>
        </p:spPr>
        <p:txBody>
          <a:bodyPr wrap="square" lIns="0" tIns="0" rIns="0" bIns="0" rtlCol="0" anchor="t"/>
          <a:lstStyle/>
          <a:p>
            <a:pPr marL="0" indent="0">
              <a:buNone/>
            </a:pPr>
            <a:r>
              <a:rPr lang="en-US" sz="1500" dirty="0">
                <a:solidFill>
                  <a:schemeClr val="tx1"/>
                </a:solidFill>
              </a:rPr>
              <a:t>発問・板書・展開に加え、子供の選択と自己調整の姿を見取って助言する</a:t>
            </a:r>
            <a:endParaRPr lang="en-US" sz="1500" dirty="0"/>
          </a:p>
        </p:txBody>
      </p:sp>
      <p:sp>
        <p:nvSpPr>
          <p:cNvPr id="14" name="Shape 12"/>
          <p:cNvSpPr/>
          <p:nvPr/>
        </p:nvSpPr>
        <p:spPr>
          <a:xfrm>
            <a:off x="548640" y="3886200"/>
            <a:ext cx="5387188" cy="2103120"/>
          </a:xfrm>
          <a:prstGeom prst="roundRect">
            <a:avLst>
              <a:gd name="adj" fmla="val 3478"/>
            </a:avLst>
          </a:prstGeom>
          <a:solidFill>
            <a:schemeClr val="bg2"/>
          </a:solidFill>
          <a:ln/>
        </p:spPr>
        <p:txBody>
          <a:bodyPr/>
          <a:lstStyle/>
          <a:p>
            <a:endParaRPr lang="ja-JP" altLang="en-US"/>
          </a:p>
        </p:txBody>
      </p:sp>
      <p:sp>
        <p:nvSpPr>
          <p:cNvPr id="15" name="Shape 13"/>
          <p:cNvSpPr/>
          <p:nvPr/>
        </p:nvSpPr>
        <p:spPr>
          <a:xfrm>
            <a:off x="822960" y="4160520"/>
            <a:ext cx="640080" cy="640080"/>
          </a:xfrm>
          <a:prstGeom prst="ellipse">
            <a:avLst/>
          </a:prstGeom>
          <a:solidFill>
            <a:schemeClr val="accent1"/>
          </a:solidFill>
          <a:ln/>
        </p:spPr>
        <p:txBody>
          <a:bodyPr/>
          <a:lstStyle/>
          <a:p>
            <a:endParaRPr lang="ja-JP" altLang="en-US"/>
          </a:p>
        </p:txBody>
      </p:sp>
      <p:sp>
        <p:nvSpPr>
          <p:cNvPr id="16" name="Text 14"/>
          <p:cNvSpPr txBox="1"/>
          <p:nvPr/>
        </p:nvSpPr>
        <p:spPr>
          <a:xfrm>
            <a:off x="822960"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3</a:t>
            </a:r>
            <a:endParaRPr lang="en-US" sz="1800" dirty="0"/>
          </a:p>
        </p:txBody>
      </p:sp>
      <p:sp>
        <p:nvSpPr>
          <p:cNvPr id="17" name="Text 15"/>
          <p:cNvSpPr txBox="1"/>
          <p:nvPr/>
        </p:nvSpPr>
        <p:spPr>
          <a:xfrm>
            <a:off x="1645920"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教師は「伴走する人」へ</a:t>
            </a:r>
            <a:endParaRPr lang="en-US" sz="2000" dirty="0"/>
          </a:p>
        </p:txBody>
      </p:sp>
      <p:sp>
        <p:nvSpPr>
          <p:cNvPr id="18" name="Text 16"/>
          <p:cNvSpPr txBox="1"/>
          <p:nvPr/>
        </p:nvSpPr>
        <p:spPr>
          <a:xfrm>
            <a:off x="822960"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統制ではなく、環境を整え、一人一人を支える授業づくりを後押しする</a:t>
            </a:r>
            <a:endParaRPr lang="en-US" sz="1500" dirty="0"/>
          </a:p>
        </p:txBody>
      </p:sp>
      <p:sp>
        <p:nvSpPr>
          <p:cNvPr id="19" name="Shape 17"/>
          <p:cNvSpPr/>
          <p:nvPr/>
        </p:nvSpPr>
        <p:spPr>
          <a:xfrm>
            <a:off x="6255868" y="3886200"/>
            <a:ext cx="5387188" cy="2103120"/>
          </a:xfrm>
          <a:prstGeom prst="roundRect">
            <a:avLst>
              <a:gd name="adj" fmla="val 3478"/>
            </a:avLst>
          </a:prstGeom>
          <a:solidFill>
            <a:schemeClr val="bg2"/>
          </a:solidFill>
          <a:ln/>
        </p:spPr>
        <p:txBody>
          <a:bodyPr/>
          <a:lstStyle/>
          <a:p>
            <a:endParaRPr lang="ja-JP" altLang="en-US"/>
          </a:p>
        </p:txBody>
      </p:sp>
      <p:sp>
        <p:nvSpPr>
          <p:cNvPr id="20" name="Shape 18"/>
          <p:cNvSpPr/>
          <p:nvPr/>
        </p:nvSpPr>
        <p:spPr>
          <a:xfrm>
            <a:off x="6530188" y="4160520"/>
            <a:ext cx="640080" cy="640080"/>
          </a:xfrm>
          <a:prstGeom prst="ellipse">
            <a:avLst/>
          </a:prstGeom>
          <a:solidFill>
            <a:schemeClr val="accent2"/>
          </a:solidFill>
          <a:ln/>
        </p:spPr>
        <p:txBody>
          <a:bodyPr/>
          <a:lstStyle/>
          <a:p>
            <a:endParaRPr lang="ja-JP" altLang="en-US"/>
          </a:p>
        </p:txBody>
      </p:sp>
      <p:sp>
        <p:nvSpPr>
          <p:cNvPr id="21" name="Text 19"/>
          <p:cNvSpPr txBox="1"/>
          <p:nvPr/>
        </p:nvSpPr>
        <p:spPr>
          <a:xfrm>
            <a:off x="6530188" y="4160520"/>
            <a:ext cx="640080" cy="640080"/>
          </a:xfrm>
          <a:prstGeom prst="rect">
            <a:avLst/>
          </a:prstGeom>
          <a:noFill/>
          <a:ln/>
        </p:spPr>
        <p:txBody>
          <a:bodyPr wrap="square" lIns="0" tIns="0" rIns="0" bIns="0" rtlCol="0" anchor="ctr"/>
          <a:lstStyle/>
          <a:p>
            <a:pPr marL="0" indent="0" algn="ctr">
              <a:buNone/>
            </a:pPr>
            <a:r>
              <a:rPr lang="en-US" sz="1800" b="1" dirty="0">
                <a:solidFill>
                  <a:schemeClr val="bg1"/>
                </a:solidFill>
              </a:rPr>
              <a:t>4</a:t>
            </a:r>
            <a:endParaRPr lang="en-US" sz="1800" dirty="0"/>
          </a:p>
        </p:txBody>
      </p:sp>
      <p:sp>
        <p:nvSpPr>
          <p:cNvPr id="22" name="Text 20"/>
          <p:cNvSpPr txBox="1"/>
          <p:nvPr/>
        </p:nvSpPr>
        <p:spPr>
          <a:xfrm>
            <a:off x="7353148" y="4114800"/>
            <a:ext cx="4061308" cy="731520"/>
          </a:xfrm>
          <a:prstGeom prst="rect">
            <a:avLst/>
          </a:prstGeom>
          <a:noFill/>
          <a:ln/>
        </p:spPr>
        <p:txBody>
          <a:bodyPr wrap="square" lIns="0" tIns="0" rIns="0" bIns="0" rtlCol="0" anchor="ctr"/>
          <a:lstStyle/>
          <a:p>
            <a:pPr marL="0" indent="0">
              <a:buNone/>
            </a:pPr>
            <a:r>
              <a:rPr lang="en-US" sz="2000" b="1" dirty="0">
                <a:solidFill>
                  <a:schemeClr val="tx2"/>
                </a:solidFill>
              </a:rPr>
              <a:t>教育課程に位置付ける</a:t>
            </a:r>
            <a:endParaRPr lang="en-US" sz="2000" dirty="0"/>
          </a:p>
        </p:txBody>
      </p:sp>
      <p:sp>
        <p:nvSpPr>
          <p:cNvPr id="23" name="Text 21"/>
          <p:cNvSpPr txBox="1"/>
          <p:nvPr/>
        </p:nvSpPr>
        <p:spPr>
          <a:xfrm>
            <a:off x="6530188" y="4937760"/>
            <a:ext cx="4838548" cy="914400"/>
          </a:xfrm>
          <a:prstGeom prst="rect">
            <a:avLst/>
          </a:prstGeom>
          <a:noFill/>
          <a:ln/>
        </p:spPr>
        <p:txBody>
          <a:bodyPr wrap="square" lIns="0" tIns="0" rIns="0" bIns="0" rtlCol="0" anchor="t"/>
          <a:lstStyle/>
          <a:p>
            <a:pPr marL="0" indent="0">
              <a:buNone/>
            </a:pPr>
            <a:r>
              <a:rPr lang="en-US" sz="1500" dirty="0">
                <a:solidFill>
                  <a:schemeClr val="tx1"/>
                </a:solidFill>
              </a:rPr>
              <a:t>単発の取組で終わらせず、単元計画や時数（調整授業時数制度・裁量的な時間）まで一緒に考える</a:t>
            </a:r>
            <a:endParaRPr lang="en-US" sz="15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pPr marL="0" indent="0">
              <a:buNone/>
            </a:pPr>
            <a:r>
              <a:rPr lang="en-US" sz="1300" b="1" dirty="0">
                <a:solidFill>
                  <a:schemeClr val="accent3"/>
                </a:solidFill>
              </a:rPr>
              <a:t>04　まとめ</a:t>
            </a:r>
            <a:endParaRPr lang="en-US" sz="1300" dirty="0"/>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bg1"/>
                </a:solidFill>
              </a:rPr>
              <a:t>総括</a:t>
            </a:r>
            <a:endParaRPr lang="en-US" sz="3000" dirty="0"/>
          </a:p>
        </p:txBody>
      </p:sp>
      <p:sp>
        <p:nvSpPr>
          <p:cNvPr id="4" name="Text 2"/>
          <p:cNvSpPr txBox="1"/>
          <p:nvPr/>
        </p:nvSpPr>
        <p:spPr>
          <a:xfrm>
            <a:off x="548640" y="1508760"/>
            <a:ext cx="11094415" cy="411480"/>
          </a:xfrm>
          <a:prstGeom prst="rect">
            <a:avLst/>
          </a:prstGeom>
          <a:noFill/>
          <a:ln/>
        </p:spPr>
        <p:txBody>
          <a:bodyPr wrap="square" lIns="0" tIns="0" rIns="0" bIns="0" rtlCol="0" anchor="ctr"/>
          <a:lstStyle/>
          <a:p>
            <a:pPr marL="0" indent="0">
              <a:buNone/>
            </a:pPr>
            <a:r>
              <a:rPr lang="en-US" sz="1700" dirty="0">
                <a:solidFill>
                  <a:schemeClr val="accent6"/>
                </a:solidFill>
              </a:rPr>
              <a:t>自己調整学習や探究的な学びの実現に必要なのは、手法以上に</a:t>
            </a:r>
            <a:endParaRPr lang="en-US" sz="1700" dirty="0"/>
          </a:p>
        </p:txBody>
      </p:sp>
      <p:sp>
        <p:nvSpPr>
          <p:cNvPr id="5" name="Text 3"/>
          <p:cNvSpPr txBox="1"/>
          <p:nvPr/>
        </p:nvSpPr>
        <p:spPr>
          <a:xfrm>
            <a:off x="548640" y="1965960"/>
            <a:ext cx="11094415" cy="777240"/>
          </a:xfrm>
          <a:prstGeom prst="rect">
            <a:avLst/>
          </a:prstGeom>
          <a:noFill/>
          <a:ln/>
        </p:spPr>
        <p:txBody>
          <a:bodyPr wrap="square" lIns="0" tIns="0" rIns="0" bIns="0" rtlCol="0" anchor="ctr"/>
          <a:lstStyle/>
          <a:p>
            <a:pPr marL="0" indent="0">
              <a:buNone/>
            </a:pPr>
            <a:r>
              <a:rPr lang="en-US" sz="3000" b="1" dirty="0">
                <a:solidFill>
                  <a:schemeClr val="bg1"/>
                </a:solidFill>
              </a:rPr>
              <a:t>「子供を信頼する教育観」と、それを支える学校文化</a:t>
            </a:r>
            <a:endParaRPr lang="en-US" sz="3000" dirty="0"/>
          </a:p>
        </p:txBody>
      </p:sp>
      <p:sp>
        <p:nvSpPr>
          <p:cNvPr id="6" name="Shape 4"/>
          <p:cNvSpPr/>
          <p:nvPr/>
        </p:nvSpPr>
        <p:spPr>
          <a:xfrm>
            <a:off x="548640"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7" name="Shape 5"/>
          <p:cNvSpPr/>
          <p:nvPr/>
        </p:nvSpPr>
        <p:spPr>
          <a:xfrm>
            <a:off x="822960" y="3429000"/>
            <a:ext cx="731520" cy="731520"/>
          </a:xfrm>
          <a:prstGeom prst="ellipse">
            <a:avLst/>
          </a:prstGeom>
          <a:solidFill>
            <a:schemeClr val="accent2"/>
          </a:solidFill>
          <a:ln/>
        </p:spPr>
        <p:txBody>
          <a:bodyPr/>
          <a:lstStyle/>
          <a:p>
            <a:endParaRPr lang="ja-JP" altLang="en-US"/>
          </a:p>
        </p:txBody>
      </p:sp>
      <p:pic>
        <p:nvPicPr>
          <p:cNvPr id="8" name="Image 0" descr="preencoded.png"/>
          <p:cNvPicPr>
            <a:picLocks noChangeAspect="1"/>
          </p:cNvPicPr>
          <p:nvPr/>
        </p:nvPicPr>
        <p:blipFill>
          <a:blip r:embed="rId3"/>
          <a:stretch>
            <a:fillRect/>
          </a:stretch>
        </p:blipFill>
        <p:spPr>
          <a:xfrm>
            <a:off x="1005840" y="3611880"/>
            <a:ext cx="365760" cy="365760"/>
          </a:xfrm>
          <a:prstGeom prst="rect">
            <a:avLst/>
          </a:prstGeom>
        </p:spPr>
      </p:pic>
      <p:sp>
        <p:nvSpPr>
          <p:cNvPr id="9" name="Text 6"/>
          <p:cNvSpPr txBox="1"/>
          <p:nvPr/>
        </p:nvSpPr>
        <p:spPr>
          <a:xfrm>
            <a:off x="1737360"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４つの学びを</a:t>
            </a:r>
            <a:endParaRPr lang="en-US" sz="1600" dirty="0"/>
          </a:p>
          <a:p>
            <a:pPr marL="0" indent="0">
              <a:buNone/>
            </a:pPr>
            <a:r>
              <a:rPr lang="en-US" sz="1600" b="1" dirty="0">
                <a:solidFill>
                  <a:schemeClr val="bg1"/>
                </a:solidFill>
              </a:rPr>
              <a:t>カリキュラムで一体的に構想</a:t>
            </a:r>
            <a:endParaRPr lang="en-US" sz="1600" dirty="0"/>
          </a:p>
        </p:txBody>
      </p:sp>
      <p:sp>
        <p:nvSpPr>
          <p:cNvPr id="10" name="Shape 7"/>
          <p:cNvSpPr/>
          <p:nvPr/>
        </p:nvSpPr>
        <p:spPr>
          <a:xfrm>
            <a:off x="4353458"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1" name="Shape 8"/>
          <p:cNvSpPr/>
          <p:nvPr/>
        </p:nvSpPr>
        <p:spPr>
          <a:xfrm>
            <a:off x="4627778" y="3429000"/>
            <a:ext cx="731520" cy="731520"/>
          </a:xfrm>
          <a:prstGeom prst="ellipse">
            <a:avLst/>
          </a:prstGeom>
          <a:solidFill>
            <a:schemeClr val="accent2"/>
          </a:solidFill>
          <a:ln/>
        </p:spPr>
        <p:txBody>
          <a:bodyPr/>
          <a:lstStyle/>
          <a:p>
            <a:endParaRPr lang="ja-JP" altLang="en-US"/>
          </a:p>
        </p:txBody>
      </p:sp>
      <p:pic>
        <p:nvPicPr>
          <p:cNvPr id="12" name="Image 1" descr="preencoded.png"/>
          <p:cNvPicPr>
            <a:picLocks noChangeAspect="1"/>
          </p:cNvPicPr>
          <p:nvPr/>
        </p:nvPicPr>
        <p:blipFill>
          <a:blip r:embed="rId4"/>
          <a:stretch>
            <a:fillRect/>
          </a:stretch>
        </p:blipFill>
        <p:spPr>
          <a:xfrm>
            <a:off x="4810658" y="3611880"/>
            <a:ext cx="365760" cy="365760"/>
          </a:xfrm>
          <a:prstGeom prst="rect">
            <a:avLst/>
          </a:prstGeom>
        </p:spPr>
      </p:pic>
      <p:sp>
        <p:nvSpPr>
          <p:cNvPr id="13" name="Text 9"/>
          <p:cNvSpPr txBox="1"/>
          <p:nvPr/>
        </p:nvSpPr>
        <p:spPr>
          <a:xfrm>
            <a:off x="5542178"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子供が学び方を</a:t>
            </a:r>
            <a:endParaRPr lang="en-US" sz="1600" dirty="0"/>
          </a:p>
          <a:p>
            <a:pPr marL="0" indent="0">
              <a:buNone/>
            </a:pPr>
            <a:r>
              <a:rPr lang="en-US" sz="1600" b="1" dirty="0">
                <a:solidFill>
                  <a:schemeClr val="bg1"/>
                </a:solidFill>
              </a:rPr>
              <a:t>主体的に選択・調整</a:t>
            </a:r>
            <a:endParaRPr lang="en-US" sz="1600" dirty="0"/>
          </a:p>
        </p:txBody>
      </p:sp>
      <p:sp>
        <p:nvSpPr>
          <p:cNvPr id="14" name="Shape 10"/>
          <p:cNvSpPr/>
          <p:nvPr/>
        </p:nvSpPr>
        <p:spPr>
          <a:xfrm>
            <a:off x="8158277" y="3063240"/>
            <a:ext cx="3484778" cy="1463040"/>
          </a:xfrm>
          <a:prstGeom prst="roundRect">
            <a:avLst>
              <a:gd name="adj" fmla="val 5000"/>
            </a:avLst>
          </a:prstGeom>
          <a:solidFill>
            <a:schemeClr val="accent1"/>
          </a:solidFill>
          <a:ln w="12700">
            <a:solidFill>
              <a:schemeClr val="accent3"/>
            </a:solidFill>
            <a:prstDash val="solid"/>
          </a:ln>
        </p:spPr>
        <p:txBody>
          <a:bodyPr/>
          <a:lstStyle/>
          <a:p>
            <a:endParaRPr lang="ja-JP" altLang="en-US"/>
          </a:p>
        </p:txBody>
      </p:sp>
      <p:sp>
        <p:nvSpPr>
          <p:cNvPr id="15" name="Shape 11"/>
          <p:cNvSpPr/>
          <p:nvPr/>
        </p:nvSpPr>
        <p:spPr>
          <a:xfrm>
            <a:off x="8432597" y="3429000"/>
            <a:ext cx="731520" cy="731520"/>
          </a:xfrm>
          <a:prstGeom prst="ellipse">
            <a:avLst/>
          </a:prstGeom>
          <a:solidFill>
            <a:schemeClr val="accent2"/>
          </a:solidFill>
          <a:ln/>
        </p:spPr>
        <p:txBody>
          <a:bodyPr/>
          <a:lstStyle/>
          <a:p>
            <a:endParaRPr lang="ja-JP" altLang="en-US"/>
          </a:p>
        </p:txBody>
      </p:sp>
      <p:pic>
        <p:nvPicPr>
          <p:cNvPr id="16" name="Image 2" descr="preencoded.png"/>
          <p:cNvPicPr>
            <a:picLocks noChangeAspect="1"/>
          </p:cNvPicPr>
          <p:nvPr/>
        </p:nvPicPr>
        <p:blipFill>
          <a:blip r:embed="rId5"/>
          <a:stretch>
            <a:fillRect/>
          </a:stretch>
        </p:blipFill>
        <p:spPr>
          <a:xfrm>
            <a:off x="8615477" y="3611880"/>
            <a:ext cx="365760" cy="365760"/>
          </a:xfrm>
          <a:prstGeom prst="rect">
            <a:avLst/>
          </a:prstGeom>
        </p:spPr>
      </p:pic>
      <p:sp>
        <p:nvSpPr>
          <p:cNvPr id="17" name="Text 12"/>
          <p:cNvSpPr txBox="1"/>
          <p:nvPr/>
        </p:nvSpPr>
        <p:spPr>
          <a:xfrm>
            <a:off x="9346997" y="3063240"/>
            <a:ext cx="2158898" cy="1463040"/>
          </a:xfrm>
          <a:prstGeom prst="rect">
            <a:avLst/>
          </a:prstGeom>
          <a:noFill/>
          <a:ln/>
        </p:spPr>
        <p:txBody>
          <a:bodyPr wrap="square" lIns="0" tIns="0" rIns="0" bIns="0" rtlCol="0" anchor="ctr"/>
          <a:lstStyle/>
          <a:p>
            <a:pPr marL="0" indent="0">
              <a:buNone/>
            </a:pPr>
            <a:r>
              <a:rPr lang="en-US" sz="1600" b="1" dirty="0">
                <a:solidFill>
                  <a:schemeClr val="bg1"/>
                </a:solidFill>
              </a:rPr>
              <a:t>次期学習指導要領の</a:t>
            </a:r>
            <a:endParaRPr lang="en-US" sz="1600" dirty="0"/>
          </a:p>
          <a:p>
            <a:pPr marL="0" indent="0">
              <a:buNone/>
            </a:pPr>
            <a:r>
              <a:rPr lang="en-US" sz="1600" b="1" dirty="0">
                <a:solidFill>
                  <a:schemeClr val="bg1"/>
                </a:solidFill>
              </a:rPr>
              <a:t>方向性を先取りした姿</a:t>
            </a:r>
            <a:endParaRPr lang="en-US" sz="1600" dirty="0"/>
          </a:p>
        </p:txBody>
      </p:sp>
      <p:sp>
        <p:nvSpPr>
          <p:cNvPr id="18" name="Shape 13"/>
          <p:cNvSpPr/>
          <p:nvPr/>
        </p:nvSpPr>
        <p:spPr>
          <a:xfrm>
            <a:off x="548640" y="4846320"/>
            <a:ext cx="11094415" cy="1097280"/>
          </a:xfrm>
          <a:prstGeom prst="roundRect">
            <a:avLst>
              <a:gd name="adj" fmla="val 6667"/>
            </a:avLst>
          </a:prstGeom>
          <a:solidFill>
            <a:schemeClr val="bg1"/>
          </a:solidFill>
          <a:ln/>
        </p:spPr>
        <p:txBody>
          <a:bodyPr/>
          <a:lstStyle/>
          <a:p>
            <a:endParaRPr lang="ja-JP" altLang="en-US"/>
          </a:p>
        </p:txBody>
      </p:sp>
      <p:sp>
        <p:nvSpPr>
          <p:cNvPr id="19" name="Text 14"/>
          <p:cNvSpPr txBox="1"/>
          <p:nvPr/>
        </p:nvSpPr>
        <p:spPr>
          <a:xfrm>
            <a:off x="868680" y="4846320"/>
            <a:ext cx="10454335" cy="1097280"/>
          </a:xfrm>
          <a:prstGeom prst="rect">
            <a:avLst/>
          </a:prstGeom>
          <a:noFill/>
          <a:ln/>
        </p:spPr>
        <p:txBody>
          <a:bodyPr wrap="square" lIns="0" tIns="0" rIns="0" bIns="0" rtlCol="0" anchor="ctr"/>
          <a:lstStyle/>
          <a:p>
            <a:pPr marL="0" indent="0">
              <a:buNone/>
            </a:pPr>
            <a:r>
              <a:rPr lang="en-US" sz="1600" b="1" dirty="0">
                <a:solidFill>
                  <a:schemeClr val="accent2"/>
                </a:solidFill>
              </a:rPr>
              <a:t>次の一歩　</a:t>
            </a:r>
            <a:r>
              <a:rPr lang="en-US" sz="1600" dirty="0">
                <a:solidFill>
                  <a:schemeClr val="tx2"/>
                </a:solidFill>
              </a:rPr>
              <a:t>審議まとめ本文を読む（意見公募は11月５日まで）／次の学校訪問で「子供がどう学んだか」を見る</a:t>
            </a:r>
            <a:endParaRPr lang="en-US" sz="16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16</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04　指導主事として</a:t>
            </a:r>
          </a:p>
        </p:txBody>
      </p:sp>
      <p:sp>
        <p:nvSpPr>
          <p:cNvPr id="3" name="Title 2"/>
          <p:cNvSpPr>
            <a:spLocks noGrp="1"/>
          </p:cNvSpPr>
          <p:nvPr>
            <p:ph type="title" idx="101"/>
          </p:nvPr>
        </p:nvSpPr>
        <p:spPr/>
        <p:txBody>
          <a:bodyPr/>
          <a:lstStyle/>
          <a:p>
            <a:r>
              <a:t>調整授業時数制度とは</a:t>
            </a:r>
          </a:p>
        </p:txBody>
      </p:sp>
      <p:sp>
        <p:nvSpPr>
          <p:cNvPr id="4" name="Rounded Rectangle 3"/>
          <p:cNvSpPr/>
          <p:nvPr/>
        </p:nvSpPr>
        <p:spPr>
          <a:xfrm>
            <a:off x="548640" y="1508760"/>
            <a:ext cx="5257800" cy="4572000"/>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645919"/>
            <a:ext cx="4709160" cy="777240"/>
          </a:xfrm>
          <a:prstGeom prst="rect">
            <a:avLst/>
          </a:prstGeom>
          <a:noFill/>
        </p:spPr>
        <p:txBody>
          <a:bodyPr wrap="square" lIns="0" rIns="0" tIns="0" bIns="0" anchor="t">
            <a:spAutoFit/>
          </a:bodyPr>
          <a:lstStyle/>
          <a:p>
            <a:pPr algn="l"/>
            <a:r>
              <a:rPr sz="1500" b="0">
                <a:solidFill>
                  <a:srgbClr val="1E2B27"/>
                </a:solidFill>
              </a:rPr>
              <a:t>学校や子供の実態に応じて、標準授業時数を</a:t>
            </a:r>
          </a:p>
          <a:p>
            <a:pPr algn="l"/>
            <a:r>
              <a:rPr sz="1700" b="1">
                <a:solidFill>
                  <a:srgbClr val="1F5A47"/>
                </a:solidFill>
              </a:rPr>
              <a:t>一定の範囲で調整できる仕組み</a:t>
            </a:r>
          </a:p>
        </p:txBody>
      </p:sp>
      <p:sp>
        <p:nvSpPr>
          <p:cNvPr id="6" name="TextBox 5"/>
          <p:cNvSpPr txBox="1"/>
          <p:nvPr/>
        </p:nvSpPr>
        <p:spPr>
          <a:xfrm>
            <a:off x="822959" y="2606040"/>
            <a:ext cx="1005840" cy="640080"/>
          </a:xfrm>
          <a:prstGeom prst="rect">
            <a:avLst/>
          </a:prstGeom>
          <a:noFill/>
        </p:spPr>
        <p:txBody>
          <a:bodyPr wrap="square" lIns="0" rIns="0" tIns="0" bIns="0" anchor="ctr">
            <a:spAutoFit/>
          </a:bodyPr>
          <a:lstStyle/>
          <a:p>
            <a:pPr algn="l"/>
            <a:r>
              <a:rPr sz="1400" b="1">
                <a:solidFill>
                  <a:srgbClr val="5E6E68"/>
                </a:solidFill>
              </a:rPr>
              <a:t>これまで</a:t>
            </a:r>
          </a:p>
        </p:txBody>
      </p:sp>
      <p:sp>
        <p:nvSpPr>
          <p:cNvPr id="7" name="Rectangle 6"/>
          <p:cNvSpPr/>
          <p:nvPr/>
        </p:nvSpPr>
        <p:spPr>
          <a:xfrm>
            <a:off x="1874519" y="2606040"/>
            <a:ext cx="3657600" cy="640080"/>
          </a:xfrm>
          <a:prstGeom prst="rect">
            <a:avLst/>
          </a:prstGeom>
          <a:solidFill>
            <a:srgbClr val="7FAF8E"/>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1F5A47"/>
                </a:solidFill>
              </a:rPr>
              <a:t>各教科等の標準授業時数</a:t>
            </a:r>
          </a:p>
        </p:txBody>
      </p:sp>
      <p:sp>
        <p:nvSpPr>
          <p:cNvPr id="8" name="TextBox 7"/>
          <p:cNvSpPr txBox="1"/>
          <p:nvPr/>
        </p:nvSpPr>
        <p:spPr>
          <a:xfrm>
            <a:off x="822959" y="3429000"/>
            <a:ext cx="1005840" cy="640080"/>
          </a:xfrm>
          <a:prstGeom prst="rect">
            <a:avLst/>
          </a:prstGeom>
          <a:noFill/>
        </p:spPr>
        <p:txBody>
          <a:bodyPr wrap="square" lIns="0" rIns="0" tIns="0" bIns="0" anchor="ctr">
            <a:spAutoFit/>
          </a:bodyPr>
          <a:lstStyle/>
          <a:p>
            <a:pPr algn="l"/>
            <a:r>
              <a:rPr sz="1400" b="1">
                <a:solidFill>
                  <a:srgbClr val="D9702C"/>
                </a:solidFill>
              </a:rPr>
              <a:t>調整後</a:t>
            </a:r>
          </a:p>
        </p:txBody>
      </p:sp>
      <p:sp>
        <p:nvSpPr>
          <p:cNvPr id="9" name="Rectangle 8"/>
          <p:cNvSpPr/>
          <p:nvPr/>
        </p:nvSpPr>
        <p:spPr>
          <a:xfrm>
            <a:off x="1874519" y="3429000"/>
            <a:ext cx="2962656" cy="640080"/>
          </a:xfrm>
          <a:prstGeom prst="rect">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400" b="1">
                <a:solidFill>
                  <a:srgbClr val="FFFFFF"/>
                </a:solidFill>
              </a:rPr>
              <a:t>各教科等（精選・調整）</a:t>
            </a:r>
          </a:p>
        </p:txBody>
      </p:sp>
      <p:sp>
        <p:nvSpPr>
          <p:cNvPr id="10" name="Rectangle 9"/>
          <p:cNvSpPr/>
          <p:nvPr/>
        </p:nvSpPr>
        <p:spPr>
          <a:xfrm>
            <a:off x="4873752" y="3429000"/>
            <a:ext cx="658368" cy="640080"/>
          </a:xfrm>
          <a:prstGeom prst="rect">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100" b="1">
                <a:solidFill>
                  <a:srgbClr val="FFFFFF"/>
                </a:solidFill>
              </a:rPr>
              <a:t>裁量的</a:t>
            </a:r>
          </a:p>
          <a:p>
            <a:pPr algn="ctr"/>
            <a:r>
              <a:rPr sz="1100" b="1">
                <a:solidFill>
                  <a:srgbClr val="FFFFFF"/>
                </a:solidFill>
              </a:rPr>
              <a:t>な時間</a:t>
            </a:r>
          </a:p>
        </p:txBody>
      </p:sp>
      <p:sp>
        <p:nvSpPr>
          <p:cNvPr id="11" name="TextBox 10"/>
          <p:cNvSpPr txBox="1"/>
          <p:nvPr/>
        </p:nvSpPr>
        <p:spPr>
          <a:xfrm>
            <a:off x="1874519" y="4114800"/>
            <a:ext cx="3657600" cy="320040"/>
          </a:xfrm>
          <a:prstGeom prst="rect">
            <a:avLst/>
          </a:prstGeom>
          <a:noFill/>
        </p:spPr>
        <p:txBody>
          <a:bodyPr wrap="square" lIns="0" rIns="0" tIns="0" bIns="0" anchor="ctr">
            <a:spAutoFit/>
          </a:bodyPr>
          <a:lstStyle/>
          <a:p>
            <a:pPr algn="r"/>
            <a:r>
              <a:rPr sz="1200" b="1">
                <a:solidFill>
                  <a:srgbClr val="D9702C"/>
                </a:solidFill>
              </a:rPr>
              <a:t>↑ 生み出した時間を充てる</a:t>
            </a:r>
          </a:p>
        </p:txBody>
      </p:sp>
      <p:sp>
        <p:nvSpPr>
          <p:cNvPr id="12" name="Rounded Rectangle 11"/>
          <p:cNvSpPr/>
          <p:nvPr/>
        </p:nvSpPr>
        <p:spPr>
          <a:xfrm>
            <a:off x="822959" y="4617720"/>
            <a:ext cx="470916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617720"/>
            <a:ext cx="4343400" cy="1234440"/>
          </a:xfrm>
          <a:prstGeom prst="rect">
            <a:avLst/>
          </a:prstGeom>
          <a:noFill/>
        </p:spPr>
        <p:txBody>
          <a:bodyPr wrap="square" lIns="0" rIns="0" tIns="0" bIns="0" anchor="ctr">
            <a:spAutoFit/>
          </a:bodyPr>
          <a:lstStyle/>
          <a:p>
            <a:pPr algn="l"/>
            <a:r>
              <a:rPr sz="1500" b="1">
                <a:solidFill>
                  <a:srgbClr val="D9702C"/>
                </a:solidFill>
              </a:rPr>
              <a:t>裁量的な時間</a:t>
            </a:r>
          </a:p>
          <a:p>
            <a:pPr algn="l"/>
            <a:r>
              <a:rPr sz="1300" b="0">
                <a:solidFill>
                  <a:srgbClr val="1E2B27"/>
                </a:solidFill>
              </a:rPr>
              <a:t>子供の個性や特性に応じた学びに充てる。質を担保するため、組織的・計画的な取組が求められる</a:t>
            </a:r>
          </a:p>
        </p:txBody>
      </p:sp>
      <p:sp>
        <p:nvSpPr>
          <p:cNvPr id="14" name="TextBox 13"/>
          <p:cNvSpPr txBox="1"/>
          <p:nvPr/>
        </p:nvSpPr>
        <p:spPr>
          <a:xfrm>
            <a:off x="6126479" y="1508760"/>
            <a:ext cx="5516575" cy="411480"/>
          </a:xfrm>
          <a:prstGeom prst="rect">
            <a:avLst/>
          </a:prstGeom>
          <a:noFill/>
        </p:spPr>
        <p:txBody>
          <a:bodyPr wrap="square" lIns="0" rIns="0" tIns="0" bIns="0" anchor="ctr">
            <a:spAutoFit/>
          </a:bodyPr>
          <a:lstStyle/>
          <a:p>
            <a:pPr algn="l"/>
            <a:r>
              <a:rPr sz="1600" b="1">
                <a:solidFill>
                  <a:srgbClr val="D9702C"/>
                </a:solidFill>
              </a:rPr>
              <a:t>学校から相談されたら、一緒に確かめたい４つのこと</a:t>
            </a:r>
          </a:p>
        </p:txBody>
      </p:sp>
      <p:sp>
        <p:nvSpPr>
          <p:cNvPr id="15" name="Rounded Rectangle 14"/>
          <p:cNvSpPr/>
          <p:nvPr/>
        </p:nvSpPr>
        <p:spPr>
          <a:xfrm>
            <a:off x="6126479" y="2057400"/>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09359" y="2227707"/>
            <a:ext cx="548640" cy="54864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1</a:t>
            </a:r>
          </a:p>
        </p:txBody>
      </p:sp>
      <p:sp>
        <p:nvSpPr>
          <p:cNvPr id="17" name="TextBox 16"/>
          <p:cNvSpPr txBox="1"/>
          <p:nvPr/>
        </p:nvSpPr>
        <p:spPr>
          <a:xfrm>
            <a:off x="7040879" y="2057400"/>
            <a:ext cx="1188720" cy="889254"/>
          </a:xfrm>
          <a:prstGeom prst="rect">
            <a:avLst/>
          </a:prstGeom>
          <a:noFill/>
        </p:spPr>
        <p:txBody>
          <a:bodyPr wrap="square" lIns="0" rIns="0" tIns="0" bIns="0" anchor="ctr">
            <a:spAutoFit/>
          </a:bodyPr>
          <a:lstStyle/>
          <a:p>
            <a:pPr algn="l"/>
            <a:r>
              <a:rPr sz="1600" b="1">
                <a:solidFill>
                  <a:srgbClr val="1F5A47"/>
                </a:solidFill>
              </a:rPr>
              <a:t>目的</a:t>
            </a:r>
          </a:p>
        </p:txBody>
      </p:sp>
      <p:sp>
        <p:nvSpPr>
          <p:cNvPr id="18" name="TextBox 17"/>
          <p:cNvSpPr txBox="1"/>
          <p:nvPr/>
        </p:nvSpPr>
        <p:spPr>
          <a:xfrm>
            <a:off x="8275319" y="2057400"/>
            <a:ext cx="3184855" cy="889254"/>
          </a:xfrm>
          <a:prstGeom prst="rect">
            <a:avLst/>
          </a:prstGeom>
          <a:noFill/>
        </p:spPr>
        <p:txBody>
          <a:bodyPr wrap="square" lIns="0" rIns="0" tIns="0" bIns="0" anchor="ctr">
            <a:spAutoFit/>
          </a:bodyPr>
          <a:lstStyle/>
          <a:p>
            <a:pPr algn="l"/>
            <a:r>
              <a:rPr sz="1300" b="0">
                <a:solidFill>
                  <a:srgbClr val="1E2B27"/>
                </a:solidFill>
              </a:rPr>
              <a:t>何のために時間を生み出すのか。目指す子供の姿から考える</a:t>
            </a:r>
          </a:p>
        </p:txBody>
      </p:sp>
      <p:sp>
        <p:nvSpPr>
          <p:cNvPr id="19" name="Rounded Rectangle 18"/>
          <p:cNvSpPr/>
          <p:nvPr/>
        </p:nvSpPr>
        <p:spPr>
          <a:xfrm>
            <a:off x="6126479" y="3102102"/>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309359" y="3272409"/>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2</a:t>
            </a:r>
          </a:p>
        </p:txBody>
      </p:sp>
      <p:sp>
        <p:nvSpPr>
          <p:cNvPr id="21" name="TextBox 20"/>
          <p:cNvSpPr txBox="1"/>
          <p:nvPr/>
        </p:nvSpPr>
        <p:spPr>
          <a:xfrm>
            <a:off x="7040879" y="3102102"/>
            <a:ext cx="1188720" cy="889254"/>
          </a:xfrm>
          <a:prstGeom prst="rect">
            <a:avLst/>
          </a:prstGeom>
          <a:noFill/>
        </p:spPr>
        <p:txBody>
          <a:bodyPr wrap="square" lIns="0" rIns="0" tIns="0" bIns="0" anchor="ctr">
            <a:spAutoFit/>
          </a:bodyPr>
          <a:lstStyle/>
          <a:p>
            <a:pPr algn="l"/>
            <a:r>
              <a:rPr sz="1600" b="1">
                <a:solidFill>
                  <a:srgbClr val="1F5A47"/>
                </a:solidFill>
              </a:rPr>
              <a:t>教育課程</a:t>
            </a:r>
          </a:p>
        </p:txBody>
      </p:sp>
      <p:sp>
        <p:nvSpPr>
          <p:cNvPr id="22" name="TextBox 21"/>
          <p:cNvSpPr txBox="1"/>
          <p:nvPr/>
        </p:nvSpPr>
        <p:spPr>
          <a:xfrm>
            <a:off x="8275319" y="3102102"/>
            <a:ext cx="3184855" cy="889254"/>
          </a:xfrm>
          <a:prstGeom prst="rect">
            <a:avLst/>
          </a:prstGeom>
          <a:noFill/>
        </p:spPr>
        <p:txBody>
          <a:bodyPr wrap="square" lIns="0" rIns="0" tIns="0" bIns="0" anchor="ctr">
            <a:spAutoFit/>
          </a:bodyPr>
          <a:lstStyle/>
          <a:p>
            <a:pPr algn="l"/>
            <a:r>
              <a:rPr sz="1300" b="0">
                <a:solidFill>
                  <a:srgbClr val="1E2B27"/>
                </a:solidFill>
              </a:rPr>
              <a:t>どの教科・単元をどう精選するか。カリキュラム全体で見る</a:t>
            </a:r>
          </a:p>
        </p:txBody>
      </p:sp>
      <p:sp>
        <p:nvSpPr>
          <p:cNvPr id="23" name="Rounded Rectangle 22"/>
          <p:cNvSpPr/>
          <p:nvPr/>
        </p:nvSpPr>
        <p:spPr>
          <a:xfrm>
            <a:off x="6126479" y="4146804"/>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09359" y="4317111"/>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3</a:t>
            </a:r>
          </a:p>
        </p:txBody>
      </p:sp>
      <p:sp>
        <p:nvSpPr>
          <p:cNvPr id="25" name="TextBox 24"/>
          <p:cNvSpPr txBox="1"/>
          <p:nvPr/>
        </p:nvSpPr>
        <p:spPr>
          <a:xfrm>
            <a:off x="7040879" y="4146804"/>
            <a:ext cx="1188720" cy="889254"/>
          </a:xfrm>
          <a:prstGeom prst="rect">
            <a:avLst/>
          </a:prstGeom>
          <a:noFill/>
        </p:spPr>
        <p:txBody>
          <a:bodyPr wrap="square" lIns="0" rIns="0" tIns="0" bIns="0" anchor="ctr">
            <a:spAutoFit/>
          </a:bodyPr>
          <a:lstStyle/>
          <a:p>
            <a:pPr algn="l"/>
            <a:r>
              <a:rPr sz="1600" b="1">
                <a:solidFill>
                  <a:srgbClr val="1F5A47"/>
                </a:solidFill>
              </a:rPr>
              <a:t>時間の中身</a:t>
            </a:r>
          </a:p>
        </p:txBody>
      </p:sp>
      <p:sp>
        <p:nvSpPr>
          <p:cNvPr id="26" name="TextBox 25"/>
          <p:cNvSpPr txBox="1"/>
          <p:nvPr/>
        </p:nvSpPr>
        <p:spPr>
          <a:xfrm>
            <a:off x="8275319" y="4146804"/>
            <a:ext cx="3184855" cy="889254"/>
          </a:xfrm>
          <a:prstGeom prst="rect">
            <a:avLst/>
          </a:prstGeom>
          <a:noFill/>
        </p:spPr>
        <p:txBody>
          <a:bodyPr wrap="square" lIns="0" rIns="0" tIns="0" bIns="0" anchor="ctr">
            <a:spAutoFit/>
          </a:bodyPr>
          <a:lstStyle/>
          <a:p>
            <a:pPr algn="l"/>
            <a:r>
              <a:rPr sz="1300" b="0">
                <a:solidFill>
                  <a:srgbClr val="1E2B27"/>
                </a:solidFill>
              </a:rPr>
              <a:t>生み出した時間で何をするか（例：天童中部小のFSP）</a:t>
            </a:r>
          </a:p>
        </p:txBody>
      </p:sp>
      <p:sp>
        <p:nvSpPr>
          <p:cNvPr id="27" name="Rounded Rectangle 26"/>
          <p:cNvSpPr/>
          <p:nvPr/>
        </p:nvSpPr>
        <p:spPr>
          <a:xfrm>
            <a:off x="6126479" y="5191506"/>
            <a:ext cx="5516575" cy="889254"/>
          </a:xfrm>
          <a:prstGeom prst="roundRect">
            <a:avLst>
              <a:gd name="adj" fmla="val 8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9359" y="5361813"/>
            <a:ext cx="548640" cy="54864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wrap="square"/>
          <a:lstStyle/>
          <a:p>
            <a:pPr algn="ctr"/>
            <a:r>
              <a:rPr sz="1600" b="1">
                <a:solidFill>
                  <a:srgbClr val="FFFFFF"/>
                </a:solidFill>
              </a:rPr>
              <a:t>4</a:t>
            </a:r>
          </a:p>
        </p:txBody>
      </p:sp>
      <p:sp>
        <p:nvSpPr>
          <p:cNvPr id="29" name="TextBox 28"/>
          <p:cNvSpPr txBox="1"/>
          <p:nvPr/>
        </p:nvSpPr>
        <p:spPr>
          <a:xfrm>
            <a:off x="7040879" y="5191506"/>
            <a:ext cx="1188720" cy="889254"/>
          </a:xfrm>
          <a:prstGeom prst="rect">
            <a:avLst/>
          </a:prstGeom>
          <a:noFill/>
        </p:spPr>
        <p:txBody>
          <a:bodyPr wrap="square" lIns="0" rIns="0" tIns="0" bIns="0" anchor="ctr">
            <a:spAutoFit/>
          </a:bodyPr>
          <a:lstStyle/>
          <a:p>
            <a:pPr algn="l"/>
            <a:r>
              <a:rPr sz="1600" b="1">
                <a:solidFill>
                  <a:srgbClr val="1F5A47"/>
                </a:solidFill>
              </a:rPr>
              <a:t>説明と体制</a:t>
            </a:r>
          </a:p>
        </p:txBody>
      </p:sp>
      <p:sp>
        <p:nvSpPr>
          <p:cNvPr id="30" name="TextBox 29"/>
          <p:cNvSpPr txBox="1"/>
          <p:nvPr/>
        </p:nvSpPr>
        <p:spPr>
          <a:xfrm>
            <a:off x="8275319" y="5191506"/>
            <a:ext cx="3184855" cy="889254"/>
          </a:xfrm>
          <a:prstGeom prst="rect">
            <a:avLst/>
          </a:prstGeom>
          <a:noFill/>
        </p:spPr>
        <p:txBody>
          <a:bodyPr wrap="square" lIns="0" rIns="0" tIns="0" bIns="0" anchor="ctr">
            <a:spAutoFit/>
          </a:bodyPr>
          <a:lstStyle/>
          <a:p>
            <a:pPr algn="l"/>
            <a:r>
              <a:rPr sz="1300" b="0">
                <a:solidFill>
                  <a:srgbClr val="1E2B27"/>
                </a:solidFill>
              </a:rPr>
              <a:t>保護者・地域への説明、教師の負担、組織での推進</a:t>
            </a:r>
          </a:p>
        </p:txBody>
      </p:sp>
      <p:sp>
        <p:nvSpPr>
          <p:cNvPr id="31" name="TextBox 30"/>
          <p:cNvSpPr txBox="1"/>
          <p:nvPr/>
        </p:nvSpPr>
        <p:spPr>
          <a:xfrm>
            <a:off x="548640" y="6144768"/>
            <a:ext cx="11094415" cy="237744"/>
          </a:xfrm>
          <a:prstGeom prst="rect">
            <a:avLst/>
          </a:prstGeom>
          <a:noFill/>
        </p:spPr>
        <p:txBody>
          <a:bodyPr wrap="square" lIns="0" rIns="0" tIns="0" bIns="0" anchor="ctr">
            <a:spAutoFit/>
          </a:bodyPr>
          <a:lstStyle/>
          <a:p>
            <a:pPr algn="r"/>
            <a:r>
              <a:rPr sz="1000" b="0">
                <a:solidFill>
                  <a:srgbClr val="5E6E68"/>
                </a:solidFill>
              </a:rPr>
              <a:t>出典：中央教育審議会 初等中等教育分科会 教育課程部会「次期学習指導要領等に向けた審議まとめ」（令和８年10月５日）　※名称・詳細は答申・告示で確定する</a:t>
            </a:r>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20040"/>
            <a:ext cx="11094415" cy="320040"/>
          </a:xfrm>
          <a:prstGeom prst="rect">
            <a:avLst/>
          </a:prstGeom>
          <a:noFill/>
          <a:ln/>
        </p:spPr>
        <p:txBody>
          <a:bodyPr wrap="square" lIns="0" tIns="0" rIns="0" bIns="0" rtlCol="0" anchor="ctr"/>
          <a:lstStyle/>
          <a:p>
            <a:r>
              <a:t>質疑応答（５分）</a:t>
            </a:r>
          </a:p>
        </p:txBody>
      </p:sp>
      <p:sp>
        <p:nvSpPr>
          <p:cNvPr id="3" name="Text 0"/>
          <p:cNvSpPr>
            <a:spLocks noGrp="1"/>
          </p:cNvSpPr>
          <p:nvPr>
            <p:ph type="title" idx="101" hasCustomPrompt="1"/>
          </p:nvPr>
        </p:nvSpPr>
        <p:spPr>
          <a:xfrm>
            <a:off x="548640" y="658368"/>
            <a:ext cx="11094415" cy="685800"/>
          </a:xfrm>
          <a:prstGeom prst="rect">
            <a:avLst/>
          </a:prstGeom>
          <a:noFill/>
          <a:ln/>
        </p:spPr>
        <p:txBody>
          <a:bodyPr wrap="square" lIns="0" tIns="0" rIns="0" bIns="0" rtlCol="0" anchor="ctr"/>
          <a:lstStyle/>
          <a:p>
            <a:pPr marL="0" indent="0" algn="l">
              <a:buNone/>
            </a:pPr>
            <a:r>
              <a:rPr lang="en-US" sz="3000" b="1" dirty="0">
                <a:solidFill>
                  <a:schemeClr val="tx2"/>
                </a:solidFill>
              </a:rPr>
              <a:t>ご質問・ご意見をお聞かせください</a:t>
            </a:r>
            <a:endParaRPr lang="en-US" sz="3000" dirty="0"/>
          </a:p>
        </p:txBody>
      </p:sp>
      <p:sp>
        <p:nvSpPr>
          <p:cNvPr id="4" name="Shape 2"/>
          <p:cNvSpPr/>
          <p:nvPr/>
        </p:nvSpPr>
        <p:spPr>
          <a:xfrm>
            <a:off x="548640" y="1508760"/>
            <a:ext cx="3931920" cy="4480560"/>
          </a:xfrm>
          <a:prstGeom prst="roundRect">
            <a:avLst>
              <a:gd name="adj" fmla="val 1860"/>
            </a:avLst>
          </a:prstGeom>
          <a:solidFill>
            <a:schemeClr val="tx2"/>
          </a:solidFill>
          <a:ln/>
        </p:spPr>
        <p:txBody>
          <a:bodyPr/>
          <a:lstStyle/>
          <a:p>
            <a:endParaRPr lang="ja-JP" altLang="en-US"/>
          </a:p>
        </p:txBody>
      </p:sp>
      <p:sp>
        <p:nvSpPr>
          <p:cNvPr id="5" name="Shape 3"/>
          <p:cNvSpPr/>
          <p:nvPr/>
        </p:nvSpPr>
        <p:spPr>
          <a:xfrm>
            <a:off x="1965960" y="2057400"/>
            <a:ext cx="1097280" cy="1097280"/>
          </a:xfrm>
          <a:prstGeom prst="ellipse">
            <a:avLst/>
          </a:prstGeom>
          <a:solidFill>
            <a:schemeClr val="accent2"/>
          </a:solidFill>
          <a:ln/>
        </p:spPr>
        <p:txBody>
          <a:bodyPr/>
          <a:lstStyle/>
          <a:p>
            <a:endParaRPr lang="ja-JP" altLang="en-US"/>
          </a:p>
        </p:txBody>
      </p:sp>
      <p:pic>
        <p:nvPicPr>
          <p:cNvPr id="6" name="Image 0" descr="preencoded.png"/>
          <p:cNvPicPr>
            <a:picLocks noChangeAspect="1"/>
          </p:cNvPicPr>
          <p:nvPr/>
        </p:nvPicPr>
        <p:blipFill>
          <a:blip r:embed="rId3"/>
          <a:stretch>
            <a:fillRect/>
          </a:stretch>
        </p:blipFill>
        <p:spPr>
          <a:xfrm>
            <a:off x="2240280" y="2331720"/>
            <a:ext cx="548640" cy="548640"/>
          </a:xfrm>
          <a:prstGeom prst="rect">
            <a:avLst/>
          </a:prstGeom>
        </p:spPr>
      </p:pic>
      <p:sp>
        <p:nvSpPr>
          <p:cNvPr id="7" name="Text 4"/>
          <p:cNvSpPr txBox="1"/>
          <p:nvPr/>
        </p:nvSpPr>
        <p:spPr>
          <a:xfrm>
            <a:off x="548640" y="3429000"/>
            <a:ext cx="3931920" cy="1097280"/>
          </a:xfrm>
          <a:prstGeom prst="rect">
            <a:avLst/>
          </a:prstGeom>
          <a:noFill/>
          <a:ln/>
        </p:spPr>
        <p:txBody>
          <a:bodyPr wrap="square" lIns="0" tIns="0" rIns="0" bIns="0" rtlCol="0" anchor="ctr"/>
          <a:lstStyle/>
          <a:p>
            <a:pPr marL="0" indent="0" algn="ctr">
              <a:buNone/>
            </a:pPr>
            <a:r>
              <a:rPr lang="en-US" sz="2600" b="1" dirty="0">
                <a:solidFill>
                  <a:schemeClr val="bg1"/>
                </a:solidFill>
              </a:rPr>
              <a:t>質疑応答</a:t>
            </a:r>
            <a:endParaRPr lang="en-US" sz="2600" dirty="0"/>
          </a:p>
          <a:p>
            <a:pPr marL="0" indent="0" algn="ctr">
              <a:buNone/>
            </a:pPr>
            <a:r>
              <a:rPr lang="en-US" sz="1800" dirty="0">
                <a:solidFill>
                  <a:schemeClr val="accent6"/>
                </a:solidFill>
              </a:rPr>
              <a:t>５分</a:t>
            </a:r>
            <a:endParaRPr lang="en-US" sz="2600" dirty="0"/>
          </a:p>
        </p:txBody>
      </p:sp>
      <p:sp>
        <p:nvSpPr>
          <p:cNvPr id="8" name="Text 5"/>
          <p:cNvSpPr txBox="1"/>
          <p:nvPr/>
        </p:nvSpPr>
        <p:spPr>
          <a:xfrm>
            <a:off x="868680" y="4663440"/>
            <a:ext cx="3291840" cy="1005840"/>
          </a:xfrm>
          <a:prstGeom prst="rect">
            <a:avLst/>
          </a:prstGeom>
          <a:noFill/>
          <a:ln/>
        </p:spPr>
        <p:txBody>
          <a:bodyPr wrap="square" lIns="0" tIns="0" rIns="0" bIns="0" rtlCol="0" anchor="ctr"/>
          <a:lstStyle/>
          <a:p>
            <a:pPr marL="0" indent="0" algn="ctr">
              <a:buNone/>
            </a:pPr>
            <a:r>
              <a:rPr lang="en-US" sz="1400" dirty="0">
                <a:solidFill>
                  <a:schemeClr val="accent6"/>
                </a:solidFill>
              </a:rPr>
              <a:t>天童中部小学校の取組、次期学習指導要領の方向性について</a:t>
            </a:r>
            <a:endParaRPr lang="en-US" sz="1400" dirty="0"/>
          </a:p>
        </p:txBody>
      </p:sp>
      <p:sp>
        <p:nvSpPr>
          <p:cNvPr id="25" name="Slide Number Placeholder 0"/>
          <p:cNvSpPr>
            <a:spLocks noGrp="1"/>
          </p:cNvSpPr>
          <p:nvPr>
            <p:ph type="sldNum" sz="quarter" idx="4294967295"/>
          </p:nvPr>
        </p:nvSpPr>
        <p:spPr>
          <a:xfrm>
            <a:off x="11185855"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26" name="TextBox 25"/>
          <p:cNvSpPr txBox="1"/>
          <p:nvPr/>
        </p:nvSpPr>
        <p:spPr>
          <a:xfrm>
            <a:off x="4846320" y="1508760"/>
            <a:ext cx="6796735" cy="411480"/>
          </a:xfrm>
          <a:prstGeom prst="rect">
            <a:avLst/>
          </a:prstGeom>
          <a:noFill/>
        </p:spPr>
        <p:txBody>
          <a:bodyPr wrap="square" lIns="0" rIns="0" tIns="0" bIns="0" anchor="ctr">
            <a:spAutoFit/>
          </a:bodyPr>
          <a:lstStyle/>
          <a:p>
            <a:pPr algn="l"/>
            <a:r>
              <a:rPr sz="1700" b="1">
                <a:solidFill>
                  <a:srgbClr val="D9702C"/>
                </a:solidFill>
              </a:rPr>
              <a:t>持ち帰ってほしい問い ― 次の学校訪問で</a:t>
            </a:r>
          </a:p>
        </p:txBody>
      </p:sp>
      <p:sp>
        <p:nvSpPr>
          <p:cNvPr id="27" name="Rounded Rectangle 26"/>
          <p:cNvSpPr/>
          <p:nvPr/>
        </p:nvSpPr>
        <p:spPr>
          <a:xfrm>
            <a:off x="4846320" y="20574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120640" y="2514600"/>
            <a:ext cx="731520" cy="731520"/>
          </a:xfrm>
          <a:prstGeom prst="ellipse">
            <a:avLst/>
          </a:prstGeom>
          <a:solidFill>
            <a:srgbClr val="D970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1</a:t>
            </a:r>
          </a:p>
        </p:txBody>
      </p:sp>
      <p:sp>
        <p:nvSpPr>
          <p:cNvPr id="29" name="TextBox 28"/>
          <p:cNvSpPr txBox="1"/>
          <p:nvPr/>
        </p:nvSpPr>
        <p:spPr>
          <a:xfrm>
            <a:off x="6080760" y="2194560"/>
            <a:ext cx="5333695" cy="1371600"/>
          </a:xfrm>
          <a:prstGeom prst="rect">
            <a:avLst/>
          </a:prstGeom>
          <a:noFill/>
        </p:spPr>
        <p:txBody>
          <a:bodyPr wrap="square" lIns="0" rIns="0" tIns="0" bIns="0" anchor="ctr">
            <a:spAutoFit/>
          </a:bodyPr>
          <a:lstStyle/>
          <a:p>
            <a:pPr algn="l"/>
            <a:r>
              <a:rPr sz="2000" b="1">
                <a:solidFill>
                  <a:srgbClr val="1F5A47"/>
                </a:solidFill>
              </a:rPr>
              <a:t>この授業の中心にあるのは、何か</a:t>
            </a:r>
          </a:p>
          <a:p>
            <a:pPr algn="l"/>
            <a:r>
              <a:rPr sz="1500" b="0">
                <a:solidFill>
                  <a:srgbClr val="1E2B27"/>
                </a:solidFill>
              </a:rPr>
              <a:t>教師の計画・指示か、それとも子供の学びか</a:t>
            </a:r>
          </a:p>
        </p:txBody>
      </p:sp>
      <p:sp>
        <p:nvSpPr>
          <p:cNvPr id="30" name="Rounded Rectangle 29"/>
          <p:cNvSpPr/>
          <p:nvPr/>
        </p:nvSpPr>
        <p:spPr>
          <a:xfrm>
            <a:off x="4846320" y="3886200"/>
            <a:ext cx="6796735" cy="1645920"/>
          </a:xfrm>
          <a:prstGeom prst="roundRect">
            <a:avLst>
              <a:gd name="adj" fmla="val 6000"/>
            </a:avLst>
          </a:prstGeom>
          <a:solidFill>
            <a:srgbClr val="EE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120640" y="4343400"/>
            <a:ext cx="731520" cy="731520"/>
          </a:xfrm>
          <a:prstGeom prst="ellipse">
            <a:avLst/>
          </a:prstGeom>
          <a:solidFill>
            <a:srgbClr val="1F5A4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rPr>
              <a:t>2</a:t>
            </a:r>
          </a:p>
        </p:txBody>
      </p:sp>
      <p:sp>
        <p:nvSpPr>
          <p:cNvPr id="32" name="TextBox 31"/>
          <p:cNvSpPr txBox="1"/>
          <p:nvPr/>
        </p:nvSpPr>
        <p:spPr>
          <a:xfrm>
            <a:off x="6080760" y="4023360"/>
            <a:ext cx="5333695" cy="1371600"/>
          </a:xfrm>
          <a:prstGeom prst="rect">
            <a:avLst/>
          </a:prstGeom>
          <a:noFill/>
        </p:spPr>
        <p:txBody>
          <a:bodyPr wrap="square" lIns="0" rIns="0" tIns="0" bIns="0" anchor="ctr">
            <a:spAutoFit/>
          </a:bodyPr>
          <a:lstStyle/>
          <a:p>
            <a:pPr algn="l"/>
            <a:r>
              <a:rPr sz="2000" b="1">
                <a:solidFill>
                  <a:srgbClr val="1F5A47"/>
                </a:solidFill>
              </a:rPr>
              <a:t>普段の授業で、どんな学び方が育っているか</a:t>
            </a:r>
          </a:p>
          <a:p>
            <a:pPr algn="l"/>
            <a:r>
              <a:rPr sz="1500" b="0">
                <a:solidFill>
                  <a:srgbClr val="1E2B27"/>
                </a:solidFill>
              </a:rPr>
              <a:t>子供に任せる学びを支える土台は、約８割の普段の授業</a:t>
            </a:r>
          </a:p>
        </p:txBody>
      </p:sp>
      <p:sp>
        <p:nvSpPr>
          <p:cNvPr id="33" name="TextBox 32"/>
          <p:cNvSpPr txBox="1"/>
          <p:nvPr/>
        </p:nvSpPr>
        <p:spPr>
          <a:xfrm>
            <a:off x="4846320" y="5715000"/>
            <a:ext cx="6796735" cy="365760"/>
          </a:xfrm>
          <a:prstGeom prst="rect">
            <a:avLst/>
          </a:prstGeom>
          <a:noFill/>
        </p:spPr>
        <p:txBody>
          <a:bodyPr wrap="square" lIns="0" rIns="0" tIns="0" bIns="0" anchor="ctr">
            <a:spAutoFit/>
          </a:bodyPr>
          <a:lstStyle/>
          <a:p>
            <a:pPr algn="l"/>
            <a:r>
              <a:rPr sz="1400" b="0">
                <a:solidFill>
                  <a:srgbClr val="5E6E68"/>
                </a:solidFill>
              </a:rPr>
              <a:t>答えは、学校の先生方と一緒に探していく</a:t>
            </a:r>
          </a:p>
        </p:txBody>
      </p:sp>
    </p:spTree>
  </p:cSld>
  <p:clrMapOvr>
    <a:masterClrMapping/>
  </p:clrMapOvr>
</p:sld>
</file>

<file path=ppt/theme/theme1.xml><?xml version="1.0" encoding="utf-8"?>
<a:theme xmlns:a="http://schemas.openxmlformats.org/drawingml/2006/main" name="Tendo Chubu Report">
  <a:themeElements>
    <a:clrScheme name="Tendo Chubu Report">
      <a:dk1>
        <a:srgbClr val="1E2B27"/>
      </a:dk1>
      <a:lt1>
        <a:srgbClr val="FFFFFF"/>
      </a:lt1>
      <a:dk2>
        <a:srgbClr val="1F5A47"/>
      </a:dk2>
      <a:lt2>
        <a:srgbClr val="EEF4F0"/>
      </a:lt2>
      <a:accent1>
        <a:srgbClr val="1F5A47"/>
      </a:accent1>
      <a:accent2>
        <a:srgbClr val="D9702C"/>
      </a:accent2>
      <a:accent3>
        <a:srgbClr val="7FAF8E"/>
      </a:accent3>
      <a:accent4>
        <a:srgbClr val="FBEADB"/>
      </a:accent4>
      <a:accent5>
        <a:srgbClr val="5E6E68"/>
      </a:accent5>
      <a:accent6>
        <a:srgbClr val="D3E3D9"/>
      </a:accent6>
      <a:hlink>
        <a:srgbClr val="1F5A47"/>
      </a:hlink>
      <a:folHlink>
        <a:srgbClr val="5E6E68"/>
      </a:folHlink>
    </a:clrScheme>
    <a:fontScheme name="Tendo Chubu Report">
      <a:majorFont>
        <a:latin typeface="BIZ UDPゴシック"/>
        <a:ea typeface="BIZ UDPゴシック"/>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BIZ UDP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1947</Words>
  <Application>Microsoft Office PowerPoint</Application>
  <PresentationFormat>ワイド画面</PresentationFormat>
  <Paragraphs>301</Paragraphs>
  <Slides>17</Slides>
  <Notes>17</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17</vt:i4>
      </vt:variant>
    </vt:vector>
  </HeadingPairs>
  <TitlesOfParts>
    <vt:vector size="20" baseType="lpstr">
      <vt:lpstr>BIZ UDPゴシック</vt:lpstr>
      <vt:lpstr>Arial</vt:lpstr>
      <vt:lpstr>Tendo Chubu Report</vt:lpstr>
      <vt:lpstr>PowerPoint プレゼンテーション</vt:lpstr>
      <vt:lpstr>本日のねらいと流れ（30分）</vt:lpstr>
      <vt:lpstr>研修概要</vt:lpstr>
      <vt:lpstr>学校づくりの根底にある子供観</vt:lpstr>
      <vt:lpstr>４つの学びを組み合わせた「カラフルなカリキュラム」</vt:lpstr>
      <vt:lpstr>フリースタイルプロジェクト（FSP）</vt:lpstr>
      <vt:lpstr>学校全体を学習空間に／自分でくらしをつくる</vt:lpstr>
      <vt:lpstr>マイプラン学習（MP学習）</vt:lpstr>
      <vt:lpstr>MP学習における子供の姿と学習文化</vt:lpstr>
      <vt:lpstr>２つの「好き」「得意」＝個性</vt:lpstr>
      <vt:lpstr>鼎談・質疑応答から学んだこと</vt:lpstr>
      <vt:lpstr>改訂のスケジュール</vt:lpstr>
      <vt:lpstr>審議まとめが示す３つの方向性と天童中部小学校の取組</vt:lpstr>
      <vt:lpstr>主な改善の方向と天童中部小の実践</vt:lpstr>
      <vt:lpstr>学校訪問・指導助言で大切にしたい４つの視点</vt:lpstr>
      <vt:lpstr>総括</vt:lpstr>
      <vt:lpstr>ご質問・ご意見をお聞かせください</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「すべての子供は有能である」を具現化する学校づくりに学ぶ</dc:title>
  <dc:subject>天童中部小学校の実践から考える次期学習指導要領の方向性（指導主事研修）</dc:subject>
  <dc:creator>練馬区教育委員会 指導課</dc:creator>
  <cp:lastModifiedBy>紺多　章一郎</cp:lastModifiedBy>
  <cp:revision>5</cp:revision>
  <dcterms:created xsi:type="dcterms:W3CDTF">2026-10-15T11:49:03Z</dcterms:created>
  <dcterms:modified xsi:type="dcterms:W3CDTF">2026-10-16T01:47:24Z</dcterms:modified>
</cp:coreProperties>
</file>