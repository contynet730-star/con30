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75" r:id="rId26"/>
    <p:sldId id="257" r:id="rId3"/>
    <p:sldId id="258" r:id="rId4"/>
    <p:sldId id="259" r:id="rId5"/>
    <p:sldId id="276" r:id="rId27"/>
    <p:sldId id="260" r:id="rId6"/>
    <p:sldId id="274" r:id="rId25"/>
    <p:sldId id="263" r:id="rId7"/>
    <p:sldId id="264" r:id="rId8"/>
    <p:sldId id="277" r:id="rId28"/>
    <p:sldId id="261" r:id="rId9"/>
    <p:sldId id="262" r:id="rId10"/>
    <p:sldId id="265" r:id="rId11"/>
    <p:sldId id="281" r:id="rId32"/>
    <p:sldId id="266" r:id="rId12"/>
    <p:sldId id="267" r:id="rId13"/>
    <p:sldId id="279" r:id="rId30"/>
    <p:sldId id="278" r:id="rId29"/>
    <p:sldId id="268" r:id="rId14"/>
    <p:sldId id="269" r:id="rId15"/>
    <p:sldId id="280" r:id="rId31"/>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9B63FA11-AB55-80BA-ADB2-B7D8CD28AD1F}">
          <p14:sldIdLst>
            <p14:sldId id="256"/>
            <p14:sldId id="257"/>
          </p14:sldIdLst>
        </p14:section>
        <p14:section name="天童中部小学校の取組" id="{0F383EC2-81EA-4A63-B703-C3383D425AA0}">
          <p14:sldIdLst>
            <p14:sldId id="258"/>
            <p14:sldId id="259"/>
            <p14:sldId id="260"/>
            <p14:sldId id="263"/>
            <p14:sldId id="264"/>
            <p14:sldId id="261"/>
            <p14:sldId id="262"/>
          </p14:sldIdLst>
        </p14:section>
        <p14:section name="講演・鼎談から" id="{CE439190-63FF-3AFE-DB51-E742A3D2D192}">
          <p14:sldIdLst>
            <p14:sldId id="265"/>
            <p14:sldId id="266"/>
          </p14:sldIdLst>
        </p14:section>
        <p14:section name="次期学習指導要領の方向性" id="{F0ABA8AD-25AA-DA44-14F4-717AC17DABFA}">
          <p14:sldIdLst>
            <p14:sldId id="267"/>
            <p14:sldId id="268"/>
            <p14:sldId id="269"/>
          </p14:sldIdLst>
        </p14:section>
        <p14:section name="指導主事として" id="{407ADAF8-EEA4-327D-4884-BBC05BA358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8.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2.xml"/><Relationship Id="rId25" Type="http://schemas.openxmlformats.org/officeDocument/2006/relationships/slide" Target="slides/slide9.xml"/><Relationship Id="rId26" Type="http://schemas.openxmlformats.org/officeDocument/2006/relationships/slide" Target="slides/slide3.xml"/><Relationship Id="rId27" Type="http://schemas.openxmlformats.org/officeDocument/2006/relationships/slide" Target="slides/slide7.xml"/><Relationship Id="rId28" Type="http://schemas.openxmlformats.org/officeDocument/2006/relationships/slide" Target="slides/slide12.xml"/><Relationship Id="rId29" Type="http://schemas.openxmlformats.org/officeDocument/2006/relationships/slide" Target="slides/slide19.xml"/><Relationship Id="rId30" Type="http://schemas.openxmlformats.org/officeDocument/2006/relationships/slide" Target="slides/slide18.xml"/><Relationship Id="rId31" Type="http://schemas.openxmlformats.org/officeDocument/2006/relationships/slide" Target="slides/slide22.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7305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指導課の紺多です。10月14日に参加した、山形県天童市立天童中部小学校の教育研究発表会について報告します。
同校が掲げる「すべての子供は有能である」という子供観を、どのように学校づくりとして具現化しているのか。そして、それが次期学習指導要領の方向性とどう重なるのか。この２点を、指導主事の皆さんと共有したいと思います。
【写真】枠のアイコンをクリックして挿入（例：校舎外観、発表会の様子）</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本日のねらいは、天童中部小学校の取組から、子供の学びを中心に据える授業の見方について考え、次期学習指導要領の方向性を指導主事の間で共有することです。</a:t>
            </a:r>
          </a:p>
          <a:p>
            <a:r>
              <a:t>時間は30分です。講義25分の中で、今の問いに加えてクイズを３問用意しました。隣の方と話し合いながら進めます。最後の５分を質疑応答とします。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研修の概要です。期日は10月14日、会場は天童中部小学校です。</a:t>
            </a:r>
          </a:p>
          <a:p>
            <a:r>
              <a:t>２年国語や６年算数などの公開授業に加え、自学・自習、マイプラン学習、フリースタイルプロジェクトを中心とした取組が公開されました。また、上智大学の奈須正裕先生の講演、鼎談、質疑応答がありました。</a:t>
            </a:r>
          </a:p>
          <a:p>
            <a:r>
              <a:t>同校は「自分で学びをつくる」「自分でくらしをつくる」ことを、目指す姿として掲げています。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最も印象的だったのは、個々の学習方法よりも、その根底にある子供観でした。
同校は「すべての子供は有能である」という言葉を掲げ、子供を「指示を待つ存在」ではなく、「自ら学びを創る存在」として捉えています。
それが表れているのが、子供が「選ぶ」場面の多さです。学習内容、学習方法、学習場所、発表方法を自分で選び、学習計画も自分で修正します。これが特別な時間ではなく、日常的に行われていました。
教師は学習を統制するのではなく、環境を整え、必要に応じて支援する「伴走者」でした。この後紹介する取組は、すべてこの子供観から出発しています。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同校の学びの全体像です。奈須先生の講演で、この表のように整理されました。</a:t>
            </a:r>
          </a:p>
          <a:p>
            <a:r>
              <a:t>フリースタイルプロジェクト、マイプラン学習、自学・自習、仲間と教師で創る授業。この４つを、学習内容、学習形態、計画主体の観点で組み合わせています。</a:t>
            </a:r>
          </a:p>
          <a:p>
            <a:r>
              <a:t>左に行くほど子供が計画し、右に行くほど教師が計画する。個別最適な学びと協働的な学びの一体的な充実を、一つの授業の中ではなく、カリキュラム全体で実現する「カラフルなカリキュラム」だという説明でした。</a:t>
            </a:r>
          </a:p>
          <a:p>
            <a:r>
              <a:t>例えば自学・自習では、司会、板書、学習進行を児童が担い、自分たちで授業を成立させていました。</a:t>
            </a:r>
          </a:p>
          <a:p>
            <a:r>
              <a:t>なお、同校でもすべての授業がこのスタイルではありません。約８割は子供と教師が共に創る一斉授業で、自学・自習、MP学習（単元内自由進度学習）、FSP（マイ探究）は約２割です。普段の授業で学び方を身に付けているからこそ、子供に任せる２割が成り立つ。土台は普段の授業だということを強調しておきたいと思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フリースタイルプロジェクト、FSPです。テーマ設定、探究、発表、省察を一連のサイクルとして進める、個人の探究活動です。テーマは野球、犬、ネイル、ピアノ、野菜づくりなど、一人一人の興味・関心から設定されていました。</a:t>
            </a:r>
          </a:p>
          <a:p>
            <a:r>
              <a:t>探究の過程は「計画・振り返りカード」に、テーマ設定の理由、活動内容、学んだこと、次に取り組みたいことを継続的に記録し、教師はコメントで伴走していました。単発の自由研究ではなく、継続的な探究です。</a:t>
            </a:r>
          </a:p>
          <a:p>
            <a:r>
              <a:t>発表会では、スライド、ブース、実演など、発表方法も子供が選んでいました。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（約50秒）</a:t>
            </a:r>
          </a:p>
          <a:p>
            <a:r>
              <a:t>学習環境です。理科学習ステーション、伝統工芸コーナー、発展課題コーナー、QRコード教材などが整備され、廊下やオープンスペース、壁面、図書コーナーも学びの場になっていました。子供は「どこで学ぶか」「何を使って学ぶか」を自分で選んでいます。</a:t>
            </a:r>
          </a:p>
          <a:p>
            <a:r>
              <a:t>（情報提供として、必要に応じて）なお、同校には「自分でくらしをつくる」取組として、校内に買い物学習施設「サンピュア」もあります。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（約1分15秒）</a:t>
            </a:r>
          </a:p>
          <a:p>
            <a:r>
              <a:t>マイプラン学習、MP学習です。講演では単元内自由進度学習の典型として紹介されましたが、同校では単に進度を自由にする学習ではなく、「学習のゴールに向かって、自分で計画を立て、調整しながら学ぶ学習」と位置付けています。学習計画表や学習の手引きを使い、計画する、学ぶ、振り返る、調整する、というサイクルで進めます。</a:t>
            </a:r>
          </a:p>
          <a:p>
            <a:r>
              <a:t>特徴的だったのは、計画通りに進まなかったときの捉え方です。同校では「計画を修正することが大切」と考えています。目指しているのは、計画どおりに進める「自己管理」ではなく、計画を修正しながら学ぶ「自己調整」の力です。</a:t>
            </a:r>
          </a:p>
          <a:p>
            <a:r>
              <a:t>また、視察前は自由進度学習中心の実践を想定していましたが、実際には国語、算数、理科、社会などの単元計画に位置付けられ、教育課程全体の中で計画的に実施されていました。</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（約50秒）</a:t>
            </a:r>
          </a:p>
          <a:p>
            <a:r>
              <a:t>授業の中では、教科書で調べる子、実験に取り組む子、ワークシートに整理する子、仲間と対話する子と、様々な学び方が同時に見られました。一人で追究する時間と、協働的に学ぶ時間を行き来しながら、自分で学習を調整していました。</a:t>
            </a:r>
          </a:p>
          <a:p>
            <a:r>
              <a:t>振り返りの掲示には、「前回の失敗を生かした」「計画を修正した」「次に調べたいことが見つかった」といった記述が多く見られました。結果だけでなく、学習の過程そのものを価値付ける文化が学校全体にあると感じました。</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（約1分15秒）</a:t>
            </a:r>
          </a:p>
          <a:p>
            <a:r>
              <a:t>ここから講演の内容です。奈須先生は、個性を２つの「好き」「得意」で捉えていました。</a:t>
            </a:r>
          </a:p>
          <a:p>
            <a:r>
              <a:t>一つは学ぶ領域の「得意」。自分の好きな、得意な領域や活動を知っていることです。これを育む典型が個人総合、同校のFSPです。</a:t>
            </a:r>
          </a:p>
          <a:p>
            <a:r>
              <a:t>もう一つは学び方の「得意」。自分に合った方法、時間、教材で学習計画を立て、実行できることです。これを育む典型が単元内自由進度学習、同校のMP学習です。</a:t>
            </a:r>
          </a:p>
          <a:p>
            <a:r>
              <a:t>どちらも、実際に試行錯誤してみないと分からないし、できるようにならない、という点が強調されていました。</a:t>
            </a:r>
          </a:p>
          <a:p>
            <a:r>
              <a:t>後で触れますが、審議まとめでも、学習内容を精選し、子供の「好き」「得意」を育むことが示されています。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講演、鼎談、質疑応答を通して繰り返し語られたのは、好きや得意を伸ばす教育、自己調整学習、多様性の包摂、そして教師の理解と覚悟でした。
特に印象的だったのは、「MP学習やFSPが目的ではない」という言葉です。根底にある子供観を実現するために、学習システムや環境が設計されている。手法をまねるだけでは同じことにはならない、ということだと受け止めました。
このほか、緒川小学校以来の個別化・個性化教育の系譜、王寺町の取組、不登校が50万人規模にのぼるという現状、そして調整授業時数制度の生かし方なども話題になりました。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ここから次期学習指導要領です。令和６年12月に諮問、令和７年９月に論点整理が出され、今月５日に中教審の教育課程部会から「審議まとめ」が公表されました。11月５日まで意見公募が行われています。今冬に答申、小・中学校は今年度内の告示が見込まれています。
全面実施の年度などは答申・告示で確定します。学校に説明する際は、最新の文部科学省資料で確認してください。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審議まとめは、次期学習指導要領の基盤として３つの方向性を示しています。
１つ目は「主体的・対話的で深い学び」の実装。現行の学習指導要領の考え方を、日常の授業で実現する段階に進めることです。天童中部小は、MP学習を各教科の単元計画に位置付け、日常化していました。
２つ目は多様性の包摂。興味・関心や特性、学ぶペースの違いを前提に、すべての子供の学びを保障することです。同校では、学ぶ内容、方法、場所を子供が選べ、FSPでは一人一人が自分のテーマをもっています。
３つ目は実現可能性の確保。学習内容の精選や柔軟な教育課程で、学校が無理なく実現できるようにすることです。同校は４つの学びをカリキュラム全体で組み合わせ、学校全体のシステムとして動かしていました。
同校の実践は、３つの方向性を先取りした姿として見ることができます。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（約1分30秒）
審議まとめに示された主な改善の方向を６つに整理し、それぞれ天童中部小の実践と結び付けました。
目標・内容は、中核的な概念等を軸に構造化して示す方向です。
オレンジの２つは、学校のカリキュラム・マネジメントに直結する制度です。調整授業時数制度は、学校の実態に応じて標準授業時数を一定の範囲で調整できる仕組みで、生み出した時間を、子供の個性や特性に応じた学びに充てるのが「裁量的な時間」です。同校のFSPは、この時間の使い方の一つのモデルになると考えます。
そのほか、情報活用能力の抜本的向上、「主体的に学習に取り組む態度」の評価の在り方などを見直す学習評価の改善、学習内容を精選して「好き」「得意」を育むことが示されています。
名称や詳細は答申・告示で確定します。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最後に、私たち指導主事としてどう生かすかです。学校訪問・指導助言で大切にしたい視点を４つ挙げます。</a:t>
            </a:r>
          </a:p>
          <a:p>
            <a:r>
              <a:t>１つ目、手法より子供観から。「〇〇学習を導入しましょう」ではなく、子供をどう捉えるかから学校と対話したいと思います。「MP学習やFSPが目的ではない」という言葉のとおりです。</a:t>
            </a:r>
          </a:p>
          <a:p>
            <a:r>
              <a:t>２つ目、「子供がどう学んだか」を見る。発問や板書に加えて、子供の選択と自己調整の姿を見取ることです。</a:t>
            </a:r>
          </a:p>
          <a:p>
            <a:r>
              <a:t>３つ目、教師を「教える人」から「伴走する人」へ。統制ではなく、環境を整え、一人一人を支える授業づくりを後押しします。</a:t>
            </a:r>
          </a:p>
          <a:p>
            <a:r>
              <a:t>４つ目、教育課程に位置付ける。単発の取組で終わらせず、単元計画や時数、次期の調整授業時数制度や裁量的な時間まで、学校と一緒に考えることです。</a:t>
            </a:r>
          </a:p>
          <a:p>
            <a:r>
              <a:t>そして何より、同校でも約８割は普段の一斉授業です。新しい学習形態だけを探すのではなく、普段の授業で子供が学び方を身に付けているか、そこを一緒に見ていくことが、私たち指導主事の役割だと考え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まとめです。自己調整学習や探究的な学びの実現に必要なのは、手法以上に「子供を信頼する教育観」と、それを支える学校文化である。これが今回の視察で最も強く実感したことです。</a:t>
            </a:r>
          </a:p>
          <a:p>
            <a:r>
              <a:t>天童中部小は、４つの学びをカリキュラムで一体的に構想し、子供が学び方を主体的に選び、調整していました。次期学習指導要領の方向性を先取りした姿だと言えます。</a:t>
            </a:r>
          </a:p>
          <a:p>
            <a:r>
              <a:t>次の一歩として、ぜひ審議まとめの本文を読んでみてください。そして次の学校訪問で、「子供がどう学んだか」という視点を一度試してみてください。</a:t>
            </a:r>
          </a:p>
          <a:p>
            <a:r>
              <a:t>冒頭の写真をもう一度思い出してください。廊下のベンチで足を伸ばして学ぶ姿は、子供を信頼する教育観があってこそ「学んでいる姿」に見えます。最初に「許容できない」と感じた方も、その見え方が少し変わっていればうれしく思います。そして、その姿を支えているのは、約８割を占める普段の授業です。</a:t>
            </a:r>
          </a:p>
          <a:p>
            <a:r>
              <a:t>教師中心から、子供の学びを中心へ。見方が変われば、冒頭の写真も違って見えてくるはずです。</a:t>
            </a:r>
          </a:p>
          <a:p>
            <a:r>
              <a:t>講義は以上です。ここから質疑応答に移ります。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（質疑応答 ５分）</a:t>
            </a:r>
          </a:p>
          <a:p>
            <a:r>
              <a:t>ご質問やご意見をお願いします。質問がなければ、右の３つの問いのどれかについて、ご意見を伺えればと思います。</a:t>
            </a:r>
          </a:p>
          <a:p/>
          <a:p>
            <a:r>
              <a:t>【想定質問と回答の例】</a:t>
            </a:r>
          </a:p>
          <a:p>
            <a:r>
              <a:t>Q　自由進度学習と同じではないのか。</a:t>
            </a:r>
          </a:p>
          <a:p>
            <a:r>
              <a:t>A　講演では単元内自由進度学習の典型として紹介された。ただ同校では、進度を自由にすることより、ゴールに向かって計画し、修正しながら学ぶ「自己調整」を重視している。</a:t>
            </a:r>
          </a:p>
          <a:p>
            <a:r>
              <a:t>Q　学習が遅れる子や学力差への対応は。</a:t>
            </a:r>
          </a:p>
          <a:p>
            <a:r>
              <a:t>A　教師が一斉指導から離れる分、個別の見取りと支援に回っている。学習計画表と振り返りで進み具合を把握している。具体的な成果データは今回の資料では確認できていないため、必要なら同校に照会する。</a:t>
            </a:r>
          </a:p>
          <a:p>
            <a:r>
              <a:t>Q　練馬区の学校では、何から始めればよいか。</a:t>
            </a:r>
          </a:p>
          <a:p>
            <a:r>
              <a:t>A　手法の導入より先に、子供観の共有から。そのうえで、一つの教科の一つの単元で、学習計画表を使った学習を試すことが現実的。いきなり自由にせず、自由度を段階的に高めていくのが同校の進め方。</a:t>
            </a:r>
          </a:p>
          <a:p>
            <a:r>
              <a:t>Q　調整授業時数制度はいつから使えるのか。</a:t>
            </a:r>
          </a:p>
          <a:p>
            <a:r>
              <a:t>A　審議まとめの段階で、名称・詳細は答申・告示で確定する。現時点では、文部科学省の資料で最新情報を確認してほしい。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（導入の問い　約２分）</a:t>
            </a:r>
          </a:p>
          <a:p>
            <a:r>
              <a:t>本題に入る前に、一枚の写真を見てください。ある小学校の、学習の時間の一場面です。</a:t>
            </a:r>
          </a:p>
          <a:p>
            <a:r>
              <a:t>タブレットを手に、廊下のベンチに座ったり、足を伸ばしたりして学んでいます。</a:t>
            </a:r>
          </a:p>
          <a:p>
            <a:r>
              <a:t>皆さんが学校訪問でこの場面に出会ったら、この姿を許容できますか。A 許容できる、B 場面によっては許容できる、C 許容できない。手を挙げてください。（挙手）</a:t>
            </a:r>
          </a:p>
          <a:p>
            <a:r>
              <a:t>なぜそう思ったのか、隣の人と30秒話してみてください。（１〜２人に聞く）</a:t>
            </a:r>
          </a:p>
          <a:p>
            <a:r>
              <a:t>「姿勢がよくない」「教室にいない」「先生の目が届かない」と感じた方もいると思います。実はこれは、天童中部小学校で、子供が自分で学ぶ場所を選び、学習を進めている姿です。</a:t>
            </a:r>
          </a:p>
          <a:p>
            <a:r>
              <a:t>ただし、同校でもこうした学び方は授業の約２割です。約８割は、子供と教師が共に創る一斉授業。普段の授業で学び方を身に付けているからこそ、この姿が成り立っています。</a:t>
            </a:r>
          </a:p>
          <a:p>
            <a:r>
              <a:t>私たちが「許容できない」と感じるとき、その基準はどこから来ているのでしょうか。子供を「指示を待つ存在」と見るか、「自ら学びを創る存在」と見るかで、同じ姿の見え方は変わります。</a:t>
            </a:r>
          </a:p>
          <a:p>
            <a:r>
              <a:t>今日は、この問いを持ったまま報告を聞いていただければと思います。最後に、もう一度この写真に戻ります。</a:t>
            </a:r>
          </a:p>
          <a:p/>
          <a:p>
            <a:r>
              <a:t>【進め方のポイント】正解を示す場ではないので、Cを選んだ人を否定しない。「なぜ気になるのか」を言葉にしてもらうことが、指導観を見直す入口になる。</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（約45秒）</a:t>
            </a:r>
          </a:p>
          <a:p>
            <a:r>
              <a:t>ここで、同校の授業の約８割を占める普段の授業を見ておきます。公開授業では、子供と教師が共に授業を創っていました。</a:t>
            </a:r>
          </a:p>
          <a:p>
            <a:r>
              <a:t>例えば、画面には「答えだけ言う」ではなく「式の意味、図と結びつける」と、学び方そのものが示されていました。子供が黒板に考えを書き、全体で練り上げていく場面もありました。</a:t>
            </a:r>
          </a:p>
          <a:p>
            <a:r>
              <a:t>こうした普段の授業で学び方を身に付けているからこそ、MP学習やFSPのように子供に任せる２割が成り立ちます。新しい学習形態に目が向きがちですが、土台は普段の授業です。</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（約１分）</a:t>
            </a:r>
          </a:p>
          <a:p>
            <a:r>
              <a:t>今の問いかけは、アイスブレイクの一つの手本として組み立てました。学校の校内研修の冒頭でもそのまま使える型です。</a:t>
            </a:r>
          </a:p>
          <a:p>
            <a:r>
              <a:t>写真１枚で具体を見せる。A・B・Cで立場を選んでもらう。隣の人と30秒、理由を話す。種明かしで事実を知る。そして「その基準はどこから来ているのか」と問い返し、本題につなげる。</a:t>
            </a:r>
          </a:p>
          <a:p>
            <a:r>
              <a:t>ポイントは３つです。正解を求めず、違和感を出してもらうこと。挙手とペアで、全員が一度は口を開くこと。最後に本題へつなげ、講義の終わりで回収することです。</a:t>
            </a:r>
          </a:p>
          <a:p>
            <a:r>
              <a:t>写真と問いを替えれば、板書やノート、休み時間の一場面など、どの研修テーマにも応用できます。</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（QUIZ 1　約１分30秒）</a:t>
            </a:r>
          </a:p>
          <a:p>
            <a:r>
              <a:t>ここで、指導主事同士で考えていただきます。天童中部小学校で、自学・自習、MP学習、FSPのように、子供が自分で計画して進める学習は、授業のおよそ何割でしょうか。A 約２割、B 約５割、C 約８割。</a:t>
            </a:r>
          </a:p>
          <a:p>
            <a:r>
              <a:t>隣の人と１分、理由も含めて相談してください。（１分後、挙手で確認）</a:t>
            </a:r>
          </a:p>
          <a:p>
            <a:r>
              <a:t>正解は A、約２割です。残りの約８割は、子供と教師が共に創る一斉授業です。次のスライドで、その全体像を見ます。</a:t>
            </a:r>
          </a:p>
          <a:p>
            <a:r>
              <a:t>【進め方】冒頭の写真の印象から「ほとんどが自由な学習」と考える人が多いはず。そのずれが、普段の授業の大切さへの気付きにつながる。</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（QUIZ 2　約１分30秒）</a:t>
            </a:r>
          </a:p>
          <a:p>
            <a:r>
              <a:t>２問目です。MP学習で、計画どおりに進まなかった子供がいます。同校が大切にしているのはどれでしょう。A 家庭学習で補わせる、B 計画を修正して学び直す、C 教師が個別に教えて計画に戻す。隣の人と１分です。</a:t>
            </a:r>
          </a:p>
          <a:p>
            <a:r>
              <a:t>正解は B です。同校では「計画を修正することが大切」と考えています。計画どおりに進める「自己管理」ではなく、修正しながら学ぶ「自己調整」の力を育てようとしている。次のスライドで詳しく見ます。</a:t>
            </a:r>
          </a:p>
          <a:p>
            <a:r>
              <a:t>【進め方】AやCを選んだ人の理由（「遅れを取り戻させたい」）も大切に扱い、「では、遅れたとき子供に何を学ばせたいか」と問い返す。</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（QUIZ 3　約１分）</a:t>
            </a:r>
          </a:p>
          <a:p>
            <a:r>
              <a:t>次期学習指導要領についてもクイズです。審議まとめが示す「３つの方向性」に含まれないものはどれでしょう。隣の人と30秒です。</a:t>
            </a:r>
          </a:p>
          <a:p>
            <a:r>
              <a:t>正解は C、授業時数の拡充です。むしろ、学校の実態に応じて授業時数を調整できる「調整授業時数制度」が示されています。残りの３つが方向性です。次のスライドで、天童中部小の実践と重ねて確認します。</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（約30秒）</a:t>
            </a:r>
          </a:p>
          <a:p>
            <a:r>
              <a:t>ここからの内容の根拠は、10月５日に公表された中央教育審議会教育課程部会の「次期学習指導要領等に向けた審議まとめ」です。QRコードから本文PDFを開けます。11月５日まで意見公募が行われています。</a:t>
            </a:r>
          </a:p>
          <a:p>
            <a:r>
              <a:t>スライドでは要点を整理していますが、名称や詳細は答申・告示で確定します。学校に説明する際は、必ず本文と最新の公表資料で確認してください。</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（約１分15秒）</a:t>
            </a:r>
          </a:p>
          <a:p>
            <a:r>
              <a:t>今日いちばんお伝えしたいことを、一枚にまとめました。授業の中心にあるのは、何でしょうか。</a:t>
            </a:r>
          </a:p>
          <a:p>
            <a:r>
              <a:t>これまでの見方では、中心にいるのは教師です。教師の計画や指示を中心に、子供がそれに合わせて動く。冒頭の写真に「許容できない」と感じたとき、その基準は、この教師中心の見方から来ていたのかもしれません。</a:t>
            </a:r>
          </a:p>
          <a:p>
            <a:r>
              <a:t>これからの見方では、中心にあるのは子供の学びです。教師も、教材も、環境も、仲間も、子供の学びを支えて回る。天童中部小の「すべての子供は有能である」という子供観は、まさにこの見方です。</a:t>
            </a:r>
          </a:p>
          <a:p>
            <a:r>
              <a:t>ただし、転換するのは授業の形ではなく見方です。同校でも約８割は一斉授業でした。一斉授業をやめるのではなく、普段の授業の中でも子供の学びを中心に据える。私たち指導主事が授業を見るときの見方も、ここから変わっていくのだと思います。</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（約１分）</a:t>
            </a:r>
          </a:p>
          <a:p>
            <a:r>
              <a:t>講義や協議会では、奈須先生から、かなり踏み込んだ本音のお話もありました。</a:t>
            </a:r>
          </a:p>
          <a:p>
            <a:r>
              <a:t>印象的だったのは「マイ探究に、評価は必要ない」という言葉です。子供の「好き」「得意」を、学校の物差しで測らない。学校的な価値で過剰に制限して、子供に忖度させない。発表会も必須ではなく、子供が選んでいい。やってみて「違う」と分かることも、自分の「好き」「得意」の発見だ、というお話でした。</a:t>
            </a:r>
          </a:p>
          <a:p>
            <a:r>
              <a:t>ここで一つ考えてみてください。評価しないと不安になるのは、子供でしょうか、それとも私たち大人でしょうか。</a:t>
            </a:r>
          </a:p>
          <a:p>
            <a:r>
              <a:t>（表現は、講義・協議会の記録で最終確認すること）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754112" y="850392"/>
            <a:ext cx="3858768" cy="5157216"/>
          </a:xfrm>
          <a:prstGeom prst="rect">
            <a:avLst/>
          </a:prstGeom>
          <a:solidFill>
            <a:schemeClr val="bg2"/>
          </a:solidFill>
          <a:ln w="15875">
            <a:solidFill>
              <a:schemeClr val="accent3"/>
            </a:solidFill>
            <a:prstDash val="dash"/>
          </a:ln>
        </p:spPr>
        <p:txBody>
          <a:bodyPr/>
          <a:lstStyle/>
          <a:p>
            <a:endParaRPr lang="ja-JP" altLang="en-US"/>
          </a:p>
        </p:txBody>
      </p:sp>
      <p:sp>
        <p:nvSpPr>
          <p:cNvPr id="3" name="Text 1"/>
          <p:cNvSpPr>
            <a:spLocks noGrp="1"/>
          </p:cNvSpPr>
          <p:nvPr>
            <p:ph type="pic" idx="101" hasCustomPrompt="1"/>
          </p:nvPr>
        </p:nvSpPr>
        <p:spPr>
          <a:xfrm>
            <a:off x="7726680" y="822960"/>
            <a:ext cx="3913632" cy="521208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451713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457200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7" name="Shape 2"/>
          <p:cNvSpPr/>
          <p:nvPr/>
        </p:nvSpPr>
        <p:spPr>
          <a:xfrm>
            <a:off x="7891272" y="395935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8" name="Text 3"/>
          <p:cNvSpPr>
            <a:spLocks noGrp="1"/>
          </p:cNvSpPr>
          <p:nvPr>
            <p:ph type="pic" idx="106" hasCustomPrompt="1"/>
          </p:nvPr>
        </p:nvSpPr>
        <p:spPr>
          <a:xfrm>
            <a:off x="7863840" y="393192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3"/>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42.jpg"/><Relationship Id="rId8" Type="http://schemas.openxmlformats.org/officeDocument/2006/relationships/image" Target="../media/image4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notesSlide" Target="../notesSlides/notesSlide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png"/><Relationship Id="rId6" Type="http://schemas.openxmlformats.org/officeDocument/2006/relationships/image" Target="../media/image44.jpg"/><Relationship Id="rId7" Type="http://schemas.openxmlformats.org/officeDocument/2006/relationships/image" Target="../media/image4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 Id="rId9" Type="http://schemas.openxmlformats.org/officeDocument/2006/relationships/image" Target="../media/image46.jpg"/><Relationship Id="rId10" Type="http://schemas.openxmlformats.org/officeDocument/2006/relationships/image" Target="../media/image47.jpg"/><Relationship Id="rId11" Type="http://schemas.openxmlformats.org/officeDocument/2006/relationships/image" Target="../media/image48.jpg"/><Relationship Id="rId12" Type="http://schemas.openxmlformats.org/officeDocument/2006/relationships/image" Target="../media/image49.jpg"/><Relationship Id="rId13" Type="http://schemas.openxmlformats.org/officeDocument/2006/relationships/image" Target="../media/image50.jpg"/><Relationship Id="rId14" Type="http://schemas.openxmlformats.org/officeDocument/2006/relationships/image" Target="../media/image58.jpg"/><Relationship Id="rId15" Type="http://schemas.openxmlformats.org/officeDocument/2006/relationships/image" Target="../media/image5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51.jpg"/><Relationship Id="rId9" Type="http://schemas.openxmlformats.org/officeDocument/2006/relationships/image" Target="../media/image5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6.png"/><Relationship Id="rId9" Type="http://schemas.openxmlformats.org/officeDocument/2006/relationships/image" Target="../media/image26.JPG"/><Relationship Id="rId10" Type="http://schemas.openxmlformats.org/officeDocument/2006/relationships/image" Target="../media/image27.JPG"/><Relationship Id="rId11" Type="http://schemas.openxmlformats.org/officeDocument/2006/relationships/image" Target="../media/image5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0.png"/><Relationship Id="rId3" Type="http://schemas.openxmlformats.org/officeDocument/2006/relationships/hyperlink" Target="https://www.mext.go.jp/content/20261005-mxt_kyoiku01-000052367-1.pdf" TargetMode="External"/><Relationship Id="rId4"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1.png"/><Relationship Id="rId3" Type="http://schemas.openxmlformats.org/officeDocument/2006/relationships/image" Target="../media/image6.png"/><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図プレースホルダー 8">
            <a:extLst>
              <a:ext uri="{FF2B5EF4-FFF2-40B4-BE49-F238E27FC236}">
                <a16:creationId xmlns:a16="http://schemas.microsoft.com/office/drawing/2014/main" id="{0FB36B96-1D8C-9C22-0849-B30E3E465173}"/>
              </a:ext>
            </a:extLst>
          </p:cNvPr>
          <p:cNvPicPr>
            <a:picLocks noGrp="1" noChangeAspect="1"/>
          </p:cNvPicPr>
          <p:nvPr>
            <p:ph type="pic" idx="101"/>
          </p:nvPr>
        </p:nvPicPr>
        <p:blipFill>
          <a:blip r:embed="rId3"/>
          <a:srcRect l="21852" r="21852"/>
          <a:stretch>
            <a:fillRect/>
          </a:stretch>
        </p:blipFill>
        <p:spPr>
          <a:xfrm>
            <a:off x="6334179" y="822960"/>
            <a:ext cx="5309181" cy="5212080"/>
          </a:xfrm>
          <a:prstGeom prst="rect">
            <a:avLst/>
          </a:prstGeom>
          <a:noFill/>
          <a:ln/>
        </p:spPr>
      </p:pic>
      <p:sp>
        <p:nvSpPr>
          <p:cNvPr id="3" name="Text 1"/>
          <p:cNvSpPr txBox="1"/>
          <p:nvPr/>
        </p:nvSpPr>
        <p:spPr>
          <a:xfrm>
            <a:off x="548640" y="822960"/>
            <a:ext cx="6766560" cy="365760"/>
          </a:xfrm>
          <a:prstGeom prst="rect">
            <a:avLst/>
          </a:prstGeom>
          <a:noFill/>
          <a:ln/>
        </p:spPr>
        <p:txBody>
          <a:bodyPr wrap="square" lIns="0" tIns="0" rIns="0" bIns="0" rtlCol="0" anchor="ctr"/>
          <a:lstStyle/>
          <a:p>
            <a:pPr marL="0" indent="0">
              <a:buNone/>
            </a:pPr>
            <a:r>
              <a:rPr lang="en-US" sz="1500" b="1" dirty="0">
                <a:solidFill>
                  <a:schemeClr val="accent2"/>
                </a:solidFill>
              </a:rPr>
              <a:t>指導主事研修｜視察報告</a:t>
            </a:r>
            <a:endParaRPr lang="en-US" sz="1500" dirty="0"/>
          </a:p>
        </p:txBody>
      </p:sp>
      <p:sp>
        <p:nvSpPr>
          <p:cNvPr id="4" name="Text 2"/>
          <p:cNvSpPr txBox="1"/>
          <p:nvPr/>
        </p:nvSpPr>
        <p:spPr>
          <a:xfrm>
            <a:off x="548640" y="1325880"/>
            <a:ext cx="6858000" cy="1371600"/>
          </a:xfrm>
          <a:prstGeom prst="rect">
            <a:avLst/>
          </a:prstGeom>
          <a:noFill/>
          <a:ln/>
        </p:spPr>
        <p:txBody>
          <a:bodyPr wrap="square" lIns="0" tIns="0" rIns="0" bIns="0" rtlCol="0" anchor="t"/>
          <a:lstStyle/>
          <a:p>
            <a:pPr marL="0" indent="0">
              <a:buNone/>
            </a:pPr>
            <a:r>
              <a:rPr lang="en-US" sz="3000" b="1" dirty="0">
                <a:solidFill>
                  <a:schemeClr val="bg1"/>
                </a:solidFill>
              </a:rPr>
              <a:t>「すべての子供は有能である」</a:t>
            </a:r>
            <a:endParaRPr lang="en-US" sz="3000" dirty="0"/>
          </a:p>
          <a:p>
            <a:pPr marL="0" indent="0">
              <a:buNone/>
            </a:pPr>
            <a:r>
              <a:rPr lang="en-US" sz="3000" b="1" dirty="0">
                <a:solidFill>
                  <a:schemeClr val="bg1"/>
                </a:solidFill>
              </a:rPr>
              <a:t>を具現化する学校づくりに学ぶ</a:t>
            </a:r>
            <a:endParaRPr lang="en-US" sz="3000" dirty="0"/>
          </a:p>
        </p:txBody>
      </p:sp>
      <p:sp>
        <p:nvSpPr>
          <p:cNvPr id="5" name="Text 3"/>
          <p:cNvSpPr txBox="1"/>
          <p:nvPr/>
        </p:nvSpPr>
        <p:spPr>
          <a:xfrm>
            <a:off x="548640" y="2834640"/>
            <a:ext cx="3913632" cy="457200"/>
          </a:xfrm>
          <a:prstGeom prst="rect">
            <a:avLst/>
          </a:prstGeom>
          <a:noFill/>
          <a:ln/>
        </p:spPr>
        <p:txBody>
          <a:bodyPr wrap="square" lIns="0" tIns="0" rIns="0" bIns="0" rtlCol="0" anchor="ctr"/>
          <a:lstStyle/>
          <a:p>
            <a:pPr marL="0" indent="0">
              <a:buNone/>
            </a:pPr>
            <a:r>
              <a:rPr lang="en-US" sz="1800" b="1" dirty="0" err="1">
                <a:solidFill>
                  <a:schemeClr val="accent4"/>
                </a:solidFill>
              </a:rPr>
              <a:t>天童中部小学校の実践から考える</a:t>
            </a:r>
            <a:r>
              <a:rPr lang="en-US" sz="1800" b="1" dirty="0">
                <a:solidFill>
                  <a:schemeClr val="accent4"/>
                </a:solidFill>
              </a:rPr>
              <a:t>　</a:t>
            </a:r>
          </a:p>
          <a:p>
            <a:pPr marL="0" indent="0">
              <a:buNone/>
            </a:pPr>
            <a:r>
              <a:rPr lang="en-US" sz="1800" b="1" dirty="0" err="1">
                <a:solidFill>
                  <a:schemeClr val="accent4"/>
                </a:solidFill>
              </a:rPr>
              <a:t>次期学習指導要領の方向性</a:t>
            </a:r>
            <a:endParaRPr lang="en-US" sz="1800" dirty="0"/>
          </a:p>
        </p:txBody>
      </p:sp>
      <p:sp>
        <p:nvSpPr>
          <p:cNvPr id="6" name="Text 4"/>
          <p:cNvSpPr txBox="1"/>
          <p:nvPr/>
        </p:nvSpPr>
        <p:spPr>
          <a:xfrm>
            <a:off x="594360" y="3520440"/>
            <a:ext cx="6766560" cy="822960"/>
          </a:xfrm>
          <a:prstGeom prst="rect">
            <a:avLst/>
          </a:prstGeom>
          <a:noFill/>
          <a:ln/>
        </p:spPr>
        <p:txBody>
          <a:bodyPr wrap="square" lIns="0" tIns="0" rIns="0" bIns="0" rtlCol="0" anchor="t"/>
          <a:lstStyle/>
          <a:p>
            <a:pPr marL="0" indent="0">
              <a:buNone/>
            </a:pPr>
            <a:r>
              <a:rPr lang="en-US" sz="1600" dirty="0">
                <a:solidFill>
                  <a:schemeClr val="accent6"/>
                </a:solidFill>
              </a:rPr>
              <a:t>山形県天童市立天童中部小学校</a:t>
            </a:r>
            <a:endParaRPr lang="en-US" sz="1600" dirty="0"/>
          </a:p>
          <a:p>
            <a:pPr marL="0" indent="0">
              <a:buNone/>
            </a:pPr>
            <a:r>
              <a:rPr lang="en-US" sz="1600" dirty="0">
                <a:solidFill>
                  <a:schemeClr val="accent6"/>
                </a:solidFill>
              </a:rPr>
              <a:t>教育研究発表会（令和８年10月14日）参加報告</a:t>
            </a:r>
            <a:endParaRPr lang="en-US" sz="1600" dirty="0"/>
          </a:p>
        </p:txBody>
      </p:sp>
      <p:sp>
        <p:nvSpPr>
          <p:cNvPr id="7" name="Text 5"/>
          <p:cNvSpPr txBox="1"/>
          <p:nvPr/>
        </p:nvSpPr>
        <p:spPr>
          <a:xfrm>
            <a:off x="548640" y="5257800"/>
            <a:ext cx="6766560" cy="777240"/>
          </a:xfrm>
          <a:prstGeom prst="rect">
            <a:avLst/>
          </a:prstGeom>
          <a:noFill/>
          <a:ln/>
        </p:spPr>
        <p:txBody>
          <a:bodyPr wrap="square" lIns="0" tIns="0" rIns="0" bIns="0" rtlCol="0" anchor="b"/>
          <a:lstStyle/>
          <a:p>
            <a:pPr marL="0" indent="0">
              <a:buNone/>
            </a:pPr>
            <a:r>
              <a:rPr lang="en-US" sz="1500" dirty="0">
                <a:solidFill>
                  <a:schemeClr val="accent6"/>
                </a:solidFill>
              </a:rPr>
              <a:t>練馬区教育委員会 指導課</a:t>
            </a:r>
            <a:endParaRPr lang="en-US" sz="1500" dirty="0"/>
          </a:p>
          <a:p>
            <a:pPr marL="0" indent="0">
              <a:buNone/>
            </a:pPr>
            <a:r>
              <a:rPr lang="en-US" sz="1500" dirty="0">
                <a:solidFill>
                  <a:schemeClr val="accent6"/>
                </a:solidFill>
              </a:rPr>
              <a:t>指導主事　紺多 章一郎</a:t>
            </a:r>
            <a:endParaRPr lang="en-US" sz="15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はじめに｜問い</a:t>
            </a:r>
          </a:p>
        </p:txBody>
      </p:sp>
      <p:sp>
        <p:nvSpPr>
          <p:cNvPr id="3" name="Title 2"/>
          <p:cNvSpPr>
            <a:spLocks noGrp="1"/>
          </p:cNvSpPr>
          <p:nvPr>
            <p:ph type="title" idx="101"/>
          </p:nvPr>
        </p:nvSpPr>
        <p:spPr/>
        <p:txBody>
          <a:bodyPr/>
          <a:lstStyle/>
          <a:p>
            <a:r>
              <a:t>この子供たちの姿を、あなたは許容できますか？</a:t>
            </a:r>
          </a:p>
        </p:txBody>
      </p:sp>
      <p:pic>
        <p:nvPicPr>
          <p:cNvPr id="4" name="問いの写真" descr="image.JPG"/>
          <p:cNvPicPr>
            <a:picLocks noChangeAspect="1"/>
          </p:cNvPicPr>
          <p:nvPr/>
        </p:nvPicPr>
        <p:blipFill>
          <a:blip r:embed="rId2"/>
          <a:stretch>
            <a:fillRect/>
          </a:stretch>
        </p:blipFill>
        <p:spPr>
          <a:xfrm>
            <a:off x="548640" y="1554480"/>
            <a:ext cx="6099048" cy="4572000"/>
          </a:xfrm>
          <a:prstGeom prst="rect">
            <a:avLst/>
          </a:prstGeom>
        </p:spPr>
      </p:pic>
      <p:sp>
        <p:nvSpPr>
          <p:cNvPr id="5" name="TextBox 4"/>
          <p:cNvSpPr txBox="1"/>
          <p:nvPr/>
        </p:nvSpPr>
        <p:spPr>
          <a:xfrm>
            <a:off x="6995160" y="1554480"/>
            <a:ext cx="4647895" cy="365760"/>
          </a:xfrm>
          <a:prstGeom prst="rect">
            <a:avLst/>
          </a:prstGeom>
          <a:noFill/>
        </p:spPr>
        <p:txBody>
          <a:bodyPr wrap="square" lIns="0" rIns="0" tIns="0" bIns="0" anchor="ctr">
            <a:spAutoFit/>
          </a:bodyPr>
          <a:lstStyle/>
          <a:p>
            <a:pPr algn="l"/>
            <a:r>
              <a:rPr sz="1500" b="0">
                <a:solidFill>
                  <a:srgbClr val="D3E3D9"/>
                </a:solidFill>
              </a:rPr>
              <a:t>ある小学校の、学習の時間の一場面です</a:t>
            </a:r>
          </a:p>
        </p:txBody>
      </p:sp>
      <p:sp>
        <p:nvSpPr>
          <p:cNvPr id="6" name="選択肢A"/>
          <p:cNvSpPr/>
          <p:nvPr/>
        </p:nvSpPr>
        <p:spPr>
          <a:xfrm>
            <a:off x="6995160" y="210312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選択肢A_記号"/>
          <p:cNvSpPr/>
          <p:nvPr/>
        </p:nvSpPr>
        <p:spPr>
          <a:xfrm>
            <a:off x="7159752" y="223113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a:t>
            </a:r>
          </a:p>
        </p:txBody>
      </p:sp>
      <p:sp>
        <p:nvSpPr>
          <p:cNvPr id="8" name="TextBox 7"/>
          <p:cNvSpPr txBox="1"/>
          <p:nvPr/>
        </p:nvSpPr>
        <p:spPr>
          <a:xfrm>
            <a:off x="7818120" y="2103120"/>
            <a:ext cx="3687775" cy="713232"/>
          </a:xfrm>
          <a:prstGeom prst="rect">
            <a:avLst/>
          </a:prstGeom>
          <a:noFill/>
        </p:spPr>
        <p:txBody>
          <a:bodyPr wrap="square" lIns="0" rIns="0" tIns="0" bIns="0" anchor="ctr">
            <a:spAutoFit/>
          </a:bodyPr>
          <a:lstStyle/>
          <a:p>
            <a:pPr algn="l"/>
            <a:r>
              <a:rPr sz="1900" b="1">
                <a:solidFill>
                  <a:srgbClr val="FFFFFF"/>
                </a:solidFill>
              </a:rPr>
              <a:t>許容できる</a:t>
            </a:r>
          </a:p>
        </p:txBody>
      </p:sp>
      <p:sp>
        <p:nvSpPr>
          <p:cNvPr id="9" name="選択肢B"/>
          <p:cNvSpPr/>
          <p:nvPr/>
        </p:nvSpPr>
        <p:spPr>
          <a:xfrm>
            <a:off x="6995160" y="297180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選択肢B_記号"/>
          <p:cNvSpPr/>
          <p:nvPr/>
        </p:nvSpPr>
        <p:spPr>
          <a:xfrm>
            <a:off x="7159752" y="309981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11" name="TextBox 10"/>
          <p:cNvSpPr txBox="1"/>
          <p:nvPr/>
        </p:nvSpPr>
        <p:spPr>
          <a:xfrm>
            <a:off x="7818120" y="2971800"/>
            <a:ext cx="3687775" cy="713232"/>
          </a:xfrm>
          <a:prstGeom prst="rect">
            <a:avLst/>
          </a:prstGeom>
          <a:noFill/>
        </p:spPr>
        <p:txBody>
          <a:bodyPr wrap="square" lIns="0" rIns="0" tIns="0" bIns="0" anchor="ctr">
            <a:spAutoFit/>
          </a:bodyPr>
          <a:lstStyle/>
          <a:p>
            <a:pPr algn="l"/>
            <a:r>
              <a:rPr sz="1900" b="1">
                <a:solidFill>
                  <a:srgbClr val="FFFFFF"/>
                </a:solidFill>
              </a:rPr>
              <a:t>場面によっては許容できる</a:t>
            </a:r>
          </a:p>
        </p:txBody>
      </p:sp>
      <p:sp>
        <p:nvSpPr>
          <p:cNvPr id="12" name="選択肢C"/>
          <p:cNvSpPr/>
          <p:nvPr/>
        </p:nvSpPr>
        <p:spPr>
          <a:xfrm>
            <a:off x="6995160" y="3840479"/>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選択肢C_記号"/>
          <p:cNvSpPr/>
          <p:nvPr/>
        </p:nvSpPr>
        <p:spPr>
          <a:xfrm>
            <a:off x="7159752" y="3968495"/>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C</a:t>
            </a:r>
          </a:p>
        </p:txBody>
      </p:sp>
      <p:sp>
        <p:nvSpPr>
          <p:cNvPr id="14" name="TextBox 13"/>
          <p:cNvSpPr txBox="1"/>
          <p:nvPr/>
        </p:nvSpPr>
        <p:spPr>
          <a:xfrm>
            <a:off x="7818120" y="3840479"/>
            <a:ext cx="3687775" cy="713232"/>
          </a:xfrm>
          <a:prstGeom prst="rect">
            <a:avLst/>
          </a:prstGeom>
          <a:noFill/>
        </p:spPr>
        <p:txBody>
          <a:bodyPr wrap="square" lIns="0" rIns="0" tIns="0" bIns="0" anchor="ctr">
            <a:spAutoFit/>
          </a:bodyPr>
          <a:lstStyle/>
          <a:p>
            <a:pPr algn="l"/>
            <a:r>
              <a:rPr sz="1900" b="1">
                <a:solidFill>
                  <a:srgbClr val="FFFFFF"/>
                </a:solidFill>
              </a:rPr>
              <a:t>許容できない</a:t>
            </a:r>
          </a:p>
        </p:txBody>
      </p:sp>
      <p:sp>
        <p:nvSpPr>
          <p:cNvPr id="15" name="TextBox 14"/>
          <p:cNvSpPr txBox="1"/>
          <p:nvPr/>
        </p:nvSpPr>
        <p:spPr>
          <a:xfrm>
            <a:off x="6995160" y="4846320"/>
            <a:ext cx="4647895" cy="548640"/>
          </a:xfrm>
          <a:prstGeom prst="rect">
            <a:avLst/>
          </a:prstGeom>
          <a:noFill/>
        </p:spPr>
        <p:txBody>
          <a:bodyPr wrap="square" lIns="0" rIns="0" tIns="0" bIns="0" anchor="ctr">
            <a:spAutoFit/>
          </a:bodyPr>
          <a:lstStyle/>
          <a:p>
            <a:pPr algn="l"/>
            <a:r>
              <a:rPr sz="2400" b="1">
                <a:solidFill>
                  <a:srgbClr val="FBEADB"/>
                </a:solidFill>
              </a:rPr>
              <a:t>それは、なぜですか？</a:t>
            </a:r>
          </a:p>
        </p:txBody>
      </p:sp>
      <p:sp>
        <p:nvSpPr>
          <p:cNvPr id="16" name="TextBox 15"/>
          <p:cNvSpPr txBox="1"/>
          <p:nvPr/>
        </p:nvSpPr>
        <p:spPr>
          <a:xfrm>
            <a:off x="6995160" y="5440680"/>
            <a:ext cx="4647895" cy="640080"/>
          </a:xfrm>
          <a:prstGeom prst="rect">
            <a:avLst/>
          </a:prstGeom>
          <a:noFill/>
        </p:spPr>
        <p:txBody>
          <a:bodyPr wrap="square" lIns="0" rIns="0" tIns="0" bIns="0" anchor="t">
            <a:spAutoFit/>
          </a:bodyPr>
          <a:lstStyle/>
          <a:p>
            <a:pPr algn="l"/>
            <a:r>
              <a:rPr sz="1400" b="0">
                <a:solidFill>
                  <a:srgbClr val="D3E3D9"/>
                </a:solidFill>
              </a:rPr>
              <a:t>自分の「当たり前」はどこから？（隣の人と30秒）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はじめに｜アイスブレイクの手本</a:t>
            </a:r>
          </a:p>
        </p:txBody>
      </p:sp>
      <p:sp>
        <p:nvSpPr>
          <p:cNvPr id="3" name="Title 2"/>
          <p:cNvSpPr>
            <a:spLocks noGrp="1"/>
          </p:cNvSpPr>
          <p:nvPr>
            <p:ph type="title" idx="101"/>
          </p:nvPr>
        </p:nvSpPr>
        <p:spPr/>
        <p:txBody>
          <a:bodyPr/>
          <a:lstStyle/>
          <a:p>
            <a:r>
              <a:t>今の問いを分解すると ― 校内研修でも使える型</a:t>
            </a:r>
          </a:p>
        </p:txBody>
      </p:sp>
      <p:sp>
        <p:nvSpPr>
          <p:cNvPr id="4" name="Rounded Rectangle 3"/>
          <p:cNvSpPr/>
          <p:nvPr/>
        </p:nvSpPr>
        <p:spPr>
          <a:xfrm>
            <a:off x="548640" y="1508760"/>
            <a:ext cx="1999427" cy="192024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19"/>
            <a:ext cx="1999427" cy="411480"/>
          </a:xfrm>
          <a:prstGeom prst="rect">
            <a:avLst/>
          </a:prstGeom>
          <a:noFill/>
        </p:spPr>
        <p:txBody>
          <a:bodyPr wrap="square" lIns="0" rIns="0" tIns="0" bIns="0" anchor="ctr">
            <a:spAutoFit/>
          </a:bodyPr>
          <a:lstStyle/>
          <a:p>
            <a:pPr algn="ctr"/>
            <a:r>
              <a:rPr sz="1300" b="1">
                <a:solidFill>
                  <a:srgbClr val="FBEADB"/>
                </a:solidFill>
              </a:rPr>
              <a:t>STEP 1</a:t>
            </a:r>
          </a:p>
        </p:txBody>
      </p:sp>
      <p:sp>
        <p:nvSpPr>
          <p:cNvPr id="6" name="TextBox 5"/>
          <p:cNvSpPr txBox="1"/>
          <p:nvPr/>
        </p:nvSpPr>
        <p:spPr>
          <a:xfrm>
            <a:off x="548640" y="2057400"/>
            <a:ext cx="1999427" cy="502920"/>
          </a:xfrm>
          <a:prstGeom prst="rect">
            <a:avLst/>
          </a:prstGeom>
          <a:noFill/>
        </p:spPr>
        <p:txBody>
          <a:bodyPr wrap="square" lIns="0" rIns="0" tIns="0" bIns="0" anchor="ctr">
            <a:spAutoFit/>
          </a:bodyPr>
          <a:lstStyle/>
          <a:p>
            <a:pPr algn="ctr"/>
            <a:r>
              <a:rPr sz="2400" b="1">
                <a:solidFill>
                  <a:srgbClr val="FFFFFF"/>
                </a:solidFill>
              </a:rPr>
              <a:t>見せる</a:t>
            </a:r>
          </a:p>
        </p:txBody>
      </p:sp>
      <p:sp>
        <p:nvSpPr>
          <p:cNvPr id="7" name="TextBox 6"/>
          <p:cNvSpPr txBox="1"/>
          <p:nvPr/>
        </p:nvSpPr>
        <p:spPr>
          <a:xfrm>
            <a:off x="640080" y="2606039"/>
            <a:ext cx="1816547" cy="731520"/>
          </a:xfrm>
          <a:prstGeom prst="rect">
            <a:avLst/>
          </a:prstGeom>
          <a:noFill/>
        </p:spPr>
        <p:txBody>
          <a:bodyPr wrap="square" lIns="0" rIns="0" tIns="0" bIns="0" anchor="ctr">
            <a:spAutoFit/>
          </a:bodyPr>
          <a:lstStyle/>
          <a:p>
            <a:pPr algn="ctr"/>
            <a:r>
              <a:rPr sz="1400" b="0">
                <a:solidFill>
                  <a:srgbClr val="D3E3D9"/>
                </a:solidFill>
              </a:rPr>
              <a:t>写真１枚で</a:t>
            </a:r>
          </a:p>
          <a:p>
            <a:pPr algn="ctr"/>
            <a:r>
              <a:rPr sz="1400" b="0">
                <a:solidFill>
                  <a:srgbClr val="D3E3D9"/>
                </a:solidFill>
              </a:rPr>
              <a:t>具体を示す</a:t>
            </a:r>
          </a:p>
        </p:txBody>
      </p:sp>
      <p:sp>
        <p:nvSpPr>
          <p:cNvPr id="8" name="Rounded Rectangle 7"/>
          <p:cNvSpPr/>
          <p:nvPr/>
        </p:nvSpPr>
        <p:spPr>
          <a:xfrm>
            <a:off x="2822387" y="1508760"/>
            <a:ext cx="1999427" cy="192024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2387" y="1645919"/>
            <a:ext cx="1999427" cy="411480"/>
          </a:xfrm>
          <a:prstGeom prst="rect">
            <a:avLst/>
          </a:prstGeom>
          <a:noFill/>
        </p:spPr>
        <p:txBody>
          <a:bodyPr wrap="square" lIns="0" rIns="0" tIns="0" bIns="0" anchor="ctr">
            <a:spAutoFit/>
          </a:bodyPr>
          <a:lstStyle/>
          <a:p>
            <a:pPr algn="ctr"/>
            <a:r>
              <a:rPr sz="1300" b="1">
                <a:solidFill>
                  <a:srgbClr val="FBEADB"/>
                </a:solidFill>
              </a:rPr>
              <a:t>STEP 2</a:t>
            </a:r>
          </a:p>
        </p:txBody>
      </p:sp>
      <p:sp>
        <p:nvSpPr>
          <p:cNvPr id="10" name="TextBox 9"/>
          <p:cNvSpPr txBox="1"/>
          <p:nvPr/>
        </p:nvSpPr>
        <p:spPr>
          <a:xfrm>
            <a:off x="2822387" y="2057400"/>
            <a:ext cx="1999427" cy="502920"/>
          </a:xfrm>
          <a:prstGeom prst="rect">
            <a:avLst/>
          </a:prstGeom>
          <a:noFill/>
        </p:spPr>
        <p:txBody>
          <a:bodyPr wrap="square" lIns="0" rIns="0" tIns="0" bIns="0" anchor="ctr">
            <a:spAutoFit/>
          </a:bodyPr>
          <a:lstStyle/>
          <a:p>
            <a:pPr algn="ctr"/>
            <a:r>
              <a:rPr sz="2400" b="1">
                <a:solidFill>
                  <a:srgbClr val="FFFFFF"/>
                </a:solidFill>
              </a:rPr>
              <a:t>選ぶ</a:t>
            </a:r>
          </a:p>
        </p:txBody>
      </p:sp>
      <p:sp>
        <p:nvSpPr>
          <p:cNvPr id="11" name="TextBox 10"/>
          <p:cNvSpPr txBox="1"/>
          <p:nvPr/>
        </p:nvSpPr>
        <p:spPr>
          <a:xfrm>
            <a:off x="2913827" y="2606039"/>
            <a:ext cx="1816547" cy="731520"/>
          </a:xfrm>
          <a:prstGeom prst="rect">
            <a:avLst/>
          </a:prstGeom>
          <a:noFill/>
        </p:spPr>
        <p:txBody>
          <a:bodyPr wrap="square" lIns="0" rIns="0" tIns="0" bIns="0" anchor="ctr">
            <a:spAutoFit/>
          </a:bodyPr>
          <a:lstStyle/>
          <a:p>
            <a:pPr algn="ctr"/>
            <a:r>
              <a:rPr sz="1400" b="0">
                <a:solidFill>
                  <a:srgbClr val="D3E3D9"/>
                </a:solidFill>
              </a:rPr>
              <a:t>A・B・Cで</a:t>
            </a:r>
          </a:p>
          <a:p>
            <a:pPr algn="ctr"/>
            <a:r>
              <a:rPr sz="1400" b="0">
                <a:solidFill>
                  <a:srgbClr val="D3E3D9"/>
                </a:solidFill>
              </a:rPr>
              <a:t>立場を決める</a:t>
            </a:r>
          </a:p>
        </p:txBody>
      </p:sp>
      <p:sp>
        <p:nvSpPr>
          <p:cNvPr id="12" name="Rounded Rectangle 11"/>
          <p:cNvSpPr/>
          <p:nvPr/>
        </p:nvSpPr>
        <p:spPr>
          <a:xfrm>
            <a:off x="5096134" y="1508760"/>
            <a:ext cx="1999427" cy="192024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6134" y="1645919"/>
            <a:ext cx="1999427" cy="411480"/>
          </a:xfrm>
          <a:prstGeom prst="rect">
            <a:avLst/>
          </a:prstGeom>
          <a:noFill/>
        </p:spPr>
        <p:txBody>
          <a:bodyPr wrap="square" lIns="0" rIns="0" tIns="0" bIns="0" anchor="ctr">
            <a:spAutoFit/>
          </a:bodyPr>
          <a:lstStyle/>
          <a:p>
            <a:pPr algn="ctr"/>
            <a:r>
              <a:rPr sz="1300" b="1">
                <a:solidFill>
                  <a:srgbClr val="FBEADB"/>
                </a:solidFill>
              </a:rPr>
              <a:t>STEP 3</a:t>
            </a:r>
          </a:p>
        </p:txBody>
      </p:sp>
      <p:sp>
        <p:nvSpPr>
          <p:cNvPr id="14" name="TextBox 13"/>
          <p:cNvSpPr txBox="1"/>
          <p:nvPr/>
        </p:nvSpPr>
        <p:spPr>
          <a:xfrm>
            <a:off x="5096134" y="2057400"/>
            <a:ext cx="1999427" cy="502920"/>
          </a:xfrm>
          <a:prstGeom prst="rect">
            <a:avLst/>
          </a:prstGeom>
          <a:noFill/>
        </p:spPr>
        <p:txBody>
          <a:bodyPr wrap="square" lIns="0" rIns="0" tIns="0" bIns="0" anchor="ctr">
            <a:spAutoFit/>
          </a:bodyPr>
          <a:lstStyle/>
          <a:p>
            <a:pPr algn="ctr"/>
            <a:r>
              <a:rPr sz="2400" b="1">
                <a:solidFill>
                  <a:srgbClr val="FFFFFF"/>
                </a:solidFill>
              </a:rPr>
              <a:t>語る</a:t>
            </a:r>
          </a:p>
        </p:txBody>
      </p:sp>
      <p:sp>
        <p:nvSpPr>
          <p:cNvPr id="15" name="TextBox 14"/>
          <p:cNvSpPr txBox="1"/>
          <p:nvPr/>
        </p:nvSpPr>
        <p:spPr>
          <a:xfrm>
            <a:off x="5187574" y="2606039"/>
            <a:ext cx="1816547" cy="731520"/>
          </a:xfrm>
          <a:prstGeom prst="rect">
            <a:avLst/>
          </a:prstGeom>
          <a:noFill/>
        </p:spPr>
        <p:txBody>
          <a:bodyPr wrap="square" lIns="0" rIns="0" tIns="0" bIns="0" anchor="ctr">
            <a:spAutoFit/>
          </a:bodyPr>
          <a:lstStyle/>
          <a:p>
            <a:pPr algn="ctr"/>
            <a:r>
              <a:rPr sz="1400" b="0">
                <a:solidFill>
                  <a:srgbClr val="D3E3D9"/>
                </a:solidFill>
              </a:rPr>
              <a:t>隣の人と30秒</a:t>
            </a:r>
          </a:p>
          <a:p>
            <a:pPr algn="ctr"/>
            <a:r>
              <a:rPr sz="1400" b="0">
                <a:solidFill>
                  <a:srgbClr val="D3E3D9"/>
                </a:solidFill>
              </a:rPr>
              <a:t>理由を話す</a:t>
            </a:r>
          </a:p>
        </p:txBody>
      </p:sp>
      <p:sp>
        <p:nvSpPr>
          <p:cNvPr id="16" name="Rounded Rectangle 15"/>
          <p:cNvSpPr/>
          <p:nvPr/>
        </p:nvSpPr>
        <p:spPr>
          <a:xfrm>
            <a:off x="7369881" y="1508760"/>
            <a:ext cx="1999427" cy="192024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9881" y="1645919"/>
            <a:ext cx="1999427" cy="411480"/>
          </a:xfrm>
          <a:prstGeom prst="rect">
            <a:avLst/>
          </a:prstGeom>
          <a:noFill/>
        </p:spPr>
        <p:txBody>
          <a:bodyPr wrap="square" lIns="0" rIns="0" tIns="0" bIns="0" anchor="ctr">
            <a:spAutoFit/>
          </a:bodyPr>
          <a:lstStyle/>
          <a:p>
            <a:pPr algn="ctr"/>
            <a:r>
              <a:rPr sz="1300" b="1">
                <a:solidFill>
                  <a:srgbClr val="FBEADB"/>
                </a:solidFill>
              </a:rPr>
              <a:t>STEP 4</a:t>
            </a:r>
          </a:p>
        </p:txBody>
      </p:sp>
      <p:sp>
        <p:nvSpPr>
          <p:cNvPr id="18" name="TextBox 17"/>
          <p:cNvSpPr txBox="1"/>
          <p:nvPr/>
        </p:nvSpPr>
        <p:spPr>
          <a:xfrm>
            <a:off x="7369881" y="2057400"/>
            <a:ext cx="1999427" cy="502920"/>
          </a:xfrm>
          <a:prstGeom prst="rect">
            <a:avLst/>
          </a:prstGeom>
          <a:noFill/>
        </p:spPr>
        <p:txBody>
          <a:bodyPr wrap="square" lIns="0" rIns="0" tIns="0" bIns="0" anchor="ctr">
            <a:spAutoFit/>
          </a:bodyPr>
          <a:lstStyle/>
          <a:p>
            <a:pPr algn="ctr"/>
            <a:r>
              <a:rPr sz="2400" b="1">
                <a:solidFill>
                  <a:srgbClr val="FFFFFF"/>
                </a:solidFill>
              </a:rPr>
              <a:t>知る</a:t>
            </a:r>
          </a:p>
        </p:txBody>
      </p:sp>
      <p:sp>
        <p:nvSpPr>
          <p:cNvPr id="19" name="TextBox 18"/>
          <p:cNvSpPr txBox="1"/>
          <p:nvPr/>
        </p:nvSpPr>
        <p:spPr>
          <a:xfrm>
            <a:off x="7461321" y="2606039"/>
            <a:ext cx="1816547" cy="731520"/>
          </a:xfrm>
          <a:prstGeom prst="rect">
            <a:avLst/>
          </a:prstGeom>
          <a:noFill/>
        </p:spPr>
        <p:txBody>
          <a:bodyPr wrap="square" lIns="0" rIns="0" tIns="0" bIns="0" anchor="ctr">
            <a:spAutoFit/>
          </a:bodyPr>
          <a:lstStyle/>
          <a:p>
            <a:pPr algn="ctr"/>
            <a:r>
              <a:rPr sz="1400" b="0">
                <a:solidFill>
                  <a:srgbClr val="D3E3D9"/>
                </a:solidFill>
              </a:rPr>
              <a:t>種明かしで</a:t>
            </a:r>
          </a:p>
          <a:p>
            <a:pPr algn="ctr"/>
            <a:r>
              <a:rPr sz="1400" b="0">
                <a:solidFill>
                  <a:srgbClr val="D3E3D9"/>
                </a:solidFill>
              </a:rPr>
              <a:t>事実を知る</a:t>
            </a:r>
          </a:p>
        </p:txBody>
      </p:sp>
      <p:sp>
        <p:nvSpPr>
          <p:cNvPr id="20" name="Rounded Rectangle 19"/>
          <p:cNvSpPr/>
          <p:nvPr/>
        </p:nvSpPr>
        <p:spPr>
          <a:xfrm>
            <a:off x="9643628" y="1508760"/>
            <a:ext cx="1999427" cy="1920240"/>
          </a:xfrm>
          <a:prstGeom prst="roundRect">
            <a:avLst>
              <a:gd name="adj" fmla="val 8000"/>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628" y="1645919"/>
            <a:ext cx="1999427" cy="411480"/>
          </a:xfrm>
          <a:prstGeom prst="rect">
            <a:avLst/>
          </a:prstGeom>
          <a:noFill/>
        </p:spPr>
        <p:txBody>
          <a:bodyPr wrap="square" lIns="0" rIns="0" tIns="0" bIns="0" anchor="ctr">
            <a:spAutoFit/>
          </a:bodyPr>
          <a:lstStyle/>
          <a:p>
            <a:pPr algn="ctr"/>
            <a:r>
              <a:rPr sz="1300" b="1">
                <a:solidFill>
                  <a:srgbClr val="FFFFFF"/>
                </a:solidFill>
              </a:rPr>
              <a:t>STEP 5</a:t>
            </a:r>
          </a:p>
        </p:txBody>
      </p:sp>
      <p:sp>
        <p:nvSpPr>
          <p:cNvPr id="22" name="TextBox 21"/>
          <p:cNvSpPr txBox="1"/>
          <p:nvPr/>
        </p:nvSpPr>
        <p:spPr>
          <a:xfrm>
            <a:off x="9643628" y="2057400"/>
            <a:ext cx="1999427" cy="502920"/>
          </a:xfrm>
          <a:prstGeom prst="rect">
            <a:avLst/>
          </a:prstGeom>
          <a:noFill/>
        </p:spPr>
        <p:txBody>
          <a:bodyPr wrap="square" lIns="0" rIns="0" tIns="0" bIns="0" anchor="ctr">
            <a:spAutoFit/>
          </a:bodyPr>
          <a:lstStyle/>
          <a:p>
            <a:pPr algn="ctr"/>
            <a:r>
              <a:rPr sz="2400" b="1">
                <a:solidFill>
                  <a:srgbClr val="FFFFFF"/>
                </a:solidFill>
              </a:rPr>
              <a:t>問い返す</a:t>
            </a:r>
          </a:p>
        </p:txBody>
      </p:sp>
      <p:sp>
        <p:nvSpPr>
          <p:cNvPr id="23" name="TextBox 22"/>
          <p:cNvSpPr txBox="1"/>
          <p:nvPr/>
        </p:nvSpPr>
        <p:spPr>
          <a:xfrm>
            <a:off x="9735068" y="2606039"/>
            <a:ext cx="1816547" cy="731520"/>
          </a:xfrm>
          <a:prstGeom prst="rect">
            <a:avLst/>
          </a:prstGeom>
          <a:noFill/>
        </p:spPr>
        <p:txBody>
          <a:bodyPr wrap="square" lIns="0" rIns="0" tIns="0" bIns="0" anchor="ctr">
            <a:spAutoFit/>
          </a:bodyPr>
          <a:lstStyle/>
          <a:p>
            <a:pPr algn="ctr"/>
            <a:r>
              <a:rPr sz="1400" b="0">
                <a:solidFill>
                  <a:srgbClr val="FFFFFF"/>
                </a:solidFill>
              </a:rPr>
              <a:t>「その基準は</a:t>
            </a:r>
          </a:p>
          <a:p>
            <a:pPr algn="ctr"/>
            <a:r>
              <a:rPr sz="1400" b="0">
                <a:solidFill>
                  <a:srgbClr val="FFFFFF"/>
                </a:solidFill>
              </a:rPr>
              <a:t>どこから？」</a:t>
            </a:r>
          </a:p>
        </p:txBody>
      </p:sp>
      <p:sp>
        <p:nvSpPr>
          <p:cNvPr id="24" name="Rounded Rectangle 23"/>
          <p:cNvSpPr/>
          <p:nvPr/>
        </p:nvSpPr>
        <p:spPr>
          <a:xfrm>
            <a:off x="548640" y="3703320"/>
            <a:ext cx="3515258" cy="13258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749039"/>
            <a:ext cx="2966618" cy="1234440"/>
          </a:xfrm>
          <a:prstGeom prst="rect">
            <a:avLst/>
          </a:prstGeom>
          <a:noFill/>
        </p:spPr>
        <p:txBody>
          <a:bodyPr wrap="square" lIns="0" rIns="0" tIns="0" bIns="0" anchor="ctr">
            <a:spAutoFit/>
          </a:bodyPr>
          <a:lstStyle/>
          <a:p>
            <a:pPr algn="l"/>
            <a:r>
              <a:rPr sz="1800" b="1">
                <a:solidFill>
                  <a:srgbClr val="1F5A47"/>
                </a:solidFill>
              </a:rPr>
              <a:t>正解を求めない</a:t>
            </a:r>
          </a:p>
          <a:p>
            <a:pPr algn="l"/>
            <a:r>
              <a:rPr sz="1400" b="0">
                <a:solidFill>
                  <a:srgbClr val="1E2B27"/>
                </a:solidFill>
              </a:rPr>
              <a:t>Cの人も否定しない。違和感が入口</a:t>
            </a:r>
          </a:p>
        </p:txBody>
      </p:sp>
      <p:sp>
        <p:nvSpPr>
          <p:cNvPr id="26" name="Rounded Rectangle 25"/>
          <p:cNvSpPr/>
          <p:nvPr/>
        </p:nvSpPr>
        <p:spPr>
          <a:xfrm>
            <a:off x="4338218" y="3703320"/>
            <a:ext cx="3515258" cy="13258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2538" y="3749039"/>
            <a:ext cx="2966618" cy="1234440"/>
          </a:xfrm>
          <a:prstGeom prst="rect">
            <a:avLst/>
          </a:prstGeom>
          <a:noFill/>
        </p:spPr>
        <p:txBody>
          <a:bodyPr wrap="square" lIns="0" rIns="0" tIns="0" bIns="0" anchor="ctr">
            <a:spAutoFit/>
          </a:bodyPr>
          <a:lstStyle/>
          <a:p>
            <a:pPr algn="l"/>
            <a:r>
              <a:rPr sz="1800" b="1">
                <a:solidFill>
                  <a:srgbClr val="1F5A47"/>
                </a:solidFill>
              </a:rPr>
              <a:t>全員が口を開く</a:t>
            </a:r>
          </a:p>
          <a:p>
            <a:pPr algn="l"/>
            <a:r>
              <a:rPr sz="1400" b="0">
                <a:solidFill>
                  <a:srgbClr val="1E2B27"/>
                </a:solidFill>
              </a:rPr>
              <a:t>挙手とペアで、全員が一度は話す</a:t>
            </a:r>
          </a:p>
        </p:txBody>
      </p:sp>
      <p:sp>
        <p:nvSpPr>
          <p:cNvPr id="28" name="Rounded Rectangle 27"/>
          <p:cNvSpPr/>
          <p:nvPr/>
        </p:nvSpPr>
        <p:spPr>
          <a:xfrm>
            <a:off x="8127796" y="3703320"/>
            <a:ext cx="3515258" cy="13258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2116" y="3749039"/>
            <a:ext cx="2966618" cy="1234440"/>
          </a:xfrm>
          <a:prstGeom prst="rect">
            <a:avLst/>
          </a:prstGeom>
          <a:noFill/>
        </p:spPr>
        <p:txBody>
          <a:bodyPr wrap="square" lIns="0" rIns="0" tIns="0" bIns="0" anchor="ctr">
            <a:spAutoFit/>
          </a:bodyPr>
          <a:lstStyle/>
          <a:p>
            <a:pPr algn="l"/>
            <a:r>
              <a:rPr sz="1800" b="1">
                <a:solidFill>
                  <a:srgbClr val="1F5A47"/>
                </a:solidFill>
              </a:rPr>
              <a:t>本題につなげる</a:t>
            </a:r>
          </a:p>
          <a:p>
            <a:pPr algn="l"/>
            <a:r>
              <a:rPr sz="1400" b="0">
                <a:solidFill>
                  <a:srgbClr val="1E2B27"/>
                </a:solidFill>
              </a:rPr>
              <a:t>問い返して、講義の最後に回収する</a:t>
            </a:r>
          </a:p>
        </p:txBody>
      </p:sp>
      <p:sp>
        <p:nvSpPr>
          <p:cNvPr id="30" name="Rounded Rectangle 29"/>
          <p:cNvSpPr/>
          <p:nvPr/>
        </p:nvSpPr>
        <p:spPr>
          <a:xfrm>
            <a:off x="548640" y="5257800"/>
            <a:ext cx="11094415" cy="731520"/>
          </a:xfrm>
          <a:prstGeom prst="roundRect">
            <a:avLst>
              <a:gd name="adj" fmla="val 8000"/>
            </a:avLst>
          </a:prstGeom>
          <a:solidFill>
            <a:srgbClr val="FBE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 y="5257800"/>
            <a:ext cx="10545775" cy="731520"/>
          </a:xfrm>
          <a:prstGeom prst="rect">
            <a:avLst/>
          </a:prstGeom>
          <a:noFill/>
        </p:spPr>
        <p:txBody>
          <a:bodyPr wrap="square" lIns="0" rIns="0" tIns="0" bIns="0" anchor="ctr">
            <a:spAutoFit/>
          </a:bodyPr>
          <a:lstStyle/>
          <a:p>
            <a:pPr algn="l"/>
            <a:r>
              <a:rPr sz="1600" b="1">
                <a:solidFill>
                  <a:srgbClr val="D9702C"/>
                </a:solidFill>
              </a:rPr>
              <a:t>応用　</a:t>
            </a:r>
            <a:r>
              <a:rPr sz="1500" b="0">
                <a:solidFill>
                  <a:srgbClr val="1E2B27"/>
                </a:solidFill>
              </a:rPr>
              <a:t>写真と問いを替えれば、どの校内研修の冒頭でも使える（例：板書、ノート、休み時間の一場面）</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はじめに</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r>
              <a:t>本日のねらいと流れ（30分）</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26" name="Rounded Rectangle 25"/>
          <p:cNvSpPr/>
          <p:nvPr/>
        </p:nvSpPr>
        <p:spPr>
          <a:xfrm>
            <a:off x="548640" y="1508760"/>
            <a:ext cx="11094415" cy="10515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1508760"/>
            <a:ext cx="10454335" cy="1051560"/>
          </a:xfrm>
          <a:prstGeom prst="rect">
            <a:avLst/>
          </a:prstGeom>
          <a:noFill/>
        </p:spPr>
        <p:txBody>
          <a:bodyPr wrap="square" lIns="0" rIns="0" tIns="0" bIns="0" anchor="ctr">
            <a:spAutoFit/>
          </a:bodyPr>
          <a:lstStyle/>
          <a:p>
            <a:pPr algn="l"/>
            <a:r>
              <a:rPr sz="1700" b="1">
                <a:solidFill>
                  <a:srgbClr val="D9702C"/>
                </a:solidFill>
              </a:rPr>
              <a:t>ねらい　</a:t>
            </a:r>
            <a:r>
              <a:rPr sz="1700" b="0">
                <a:solidFill>
                  <a:srgbClr val="FFFFFF"/>
                </a:solidFill>
              </a:rPr>
              <a:t>天童中部小学校の取組から、子供の学びを中心に据える授業の見方を考え、次期学習指導要領の方向性を指導主事間で共有する。</a:t>
            </a:r>
          </a:p>
        </p:txBody>
      </p:sp>
      <p:sp>
        <p:nvSpPr>
          <p:cNvPr id="28" name="TextBox 27"/>
          <p:cNvSpPr txBox="1"/>
          <p:nvPr/>
        </p:nvSpPr>
        <p:spPr>
          <a:xfrm>
            <a:off x="548640" y="2834640"/>
            <a:ext cx="9245345" cy="411480"/>
          </a:xfrm>
          <a:prstGeom prst="rect">
            <a:avLst/>
          </a:prstGeom>
          <a:noFill/>
        </p:spPr>
        <p:txBody>
          <a:bodyPr wrap="square" lIns="0" rIns="0" tIns="0" bIns="0" anchor="ctr">
            <a:spAutoFit/>
          </a:bodyPr>
          <a:lstStyle/>
          <a:p>
            <a:pPr algn="ctr"/>
            <a:r>
              <a:rPr sz="1600" b="1">
                <a:solidFill>
                  <a:srgbClr val="1F5A47"/>
                </a:solidFill>
              </a:rPr>
              <a:t>講義　25分（クイズで指導主事同士が話し合う）</a:t>
            </a:r>
          </a:p>
        </p:txBody>
      </p:sp>
      <p:sp>
        <p:nvSpPr>
          <p:cNvPr id="29" name="TextBox 28"/>
          <p:cNvSpPr txBox="1"/>
          <p:nvPr/>
        </p:nvSpPr>
        <p:spPr>
          <a:xfrm>
            <a:off x="9793985" y="2834640"/>
            <a:ext cx="1849069" cy="411480"/>
          </a:xfrm>
          <a:prstGeom prst="rect">
            <a:avLst/>
          </a:prstGeom>
          <a:noFill/>
        </p:spPr>
        <p:txBody>
          <a:bodyPr wrap="square" lIns="0" rIns="0" tIns="0" bIns="0" anchor="ctr">
            <a:spAutoFit/>
          </a:bodyPr>
          <a:lstStyle/>
          <a:p>
            <a:pPr algn="ctr"/>
            <a:r>
              <a:rPr sz="1600" b="1">
                <a:solidFill>
                  <a:srgbClr val="D9702C"/>
                </a:solidFill>
              </a:rPr>
              <a:t>質疑　5分</a:t>
            </a:r>
          </a:p>
        </p:txBody>
      </p:sp>
      <p:sp>
        <p:nvSpPr>
          <p:cNvPr id="30" name="Rectangle 29"/>
          <p:cNvSpPr/>
          <p:nvPr/>
        </p:nvSpPr>
        <p:spPr>
          <a:xfrm>
            <a:off x="548640" y="3611880"/>
            <a:ext cx="1424391" cy="1188720"/>
          </a:xfrm>
          <a:prstGeom prst="rect">
            <a:avLst/>
          </a:prstGeom>
          <a:solidFill>
            <a:srgbClr val="7FA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611880"/>
            <a:ext cx="1204935" cy="1188720"/>
          </a:xfrm>
          <a:prstGeom prst="rect">
            <a:avLst/>
          </a:prstGeom>
          <a:noFill/>
        </p:spPr>
        <p:txBody>
          <a:bodyPr wrap="square" lIns="0" rIns="0" tIns="0" bIns="0" anchor="ctr">
            <a:spAutoFit/>
          </a:bodyPr>
          <a:lstStyle/>
          <a:p>
            <a:pPr algn="l"/>
            <a:r>
              <a:rPr sz="1400" b="1">
                <a:solidFill>
                  <a:srgbClr val="1F5A47"/>
                </a:solidFill>
              </a:rPr>
              <a:t>導入</a:t>
            </a:r>
          </a:p>
          <a:p>
            <a:pPr algn="l"/>
            <a:r>
              <a:rPr sz="1300" b="0">
                <a:solidFill>
                  <a:srgbClr val="1F5A47"/>
                </a:solidFill>
              </a:rPr>
              <a:t>4分</a:t>
            </a:r>
          </a:p>
          <a:p>
            <a:pPr algn="l"/>
            <a:r>
              <a:rPr sz="1200" b="1">
                <a:solidFill>
                  <a:srgbClr val="1F5A47"/>
                </a:solidFill>
              </a:rPr>
              <a:t>問い・手本</a:t>
            </a:r>
          </a:p>
        </p:txBody>
      </p:sp>
      <p:sp>
        <p:nvSpPr>
          <p:cNvPr id="32" name="Rectangle 31"/>
          <p:cNvSpPr/>
          <p:nvPr/>
        </p:nvSpPr>
        <p:spPr>
          <a:xfrm>
            <a:off x="2027895" y="3611880"/>
            <a:ext cx="3643274" cy="1188720"/>
          </a:xfrm>
          <a:prstGeom prst="rect">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37623" y="3611880"/>
            <a:ext cx="3423818" cy="1188720"/>
          </a:xfrm>
          <a:prstGeom prst="rect">
            <a:avLst/>
          </a:prstGeom>
          <a:noFill/>
        </p:spPr>
        <p:txBody>
          <a:bodyPr wrap="square" lIns="0" rIns="0" tIns="0" bIns="0" anchor="ctr">
            <a:spAutoFit/>
          </a:bodyPr>
          <a:lstStyle/>
          <a:p>
            <a:pPr algn="l"/>
            <a:r>
              <a:rPr sz="1600" b="1">
                <a:solidFill>
                  <a:srgbClr val="FFFFFF"/>
                </a:solidFill>
              </a:rPr>
              <a:t>1　天童中部小の取組</a:t>
            </a:r>
          </a:p>
          <a:p>
            <a:pPr algn="l"/>
            <a:r>
              <a:rPr sz="1300" b="0">
                <a:solidFill>
                  <a:srgbClr val="FFFFFF"/>
                </a:solidFill>
              </a:rPr>
              <a:t>10分</a:t>
            </a:r>
          </a:p>
          <a:p>
            <a:pPr algn="l"/>
            <a:r>
              <a:rPr sz="1200" b="1">
                <a:solidFill>
                  <a:srgbClr val="FBEADB"/>
                </a:solidFill>
              </a:rPr>
              <a:t>QUIZ 1・2</a:t>
            </a:r>
          </a:p>
        </p:txBody>
      </p:sp>
      <p:sp>
        <p:nvSpPr>
          <p:cNvPr id="34" name="Rectangle 33"/>
          <p:cNvSpPr/>
          <p:nvPr/>
        </p:nvSpPr>
        <p:spPr>
          <a:xfrm>
            <a:off x="5726033" y="3611880"/>
            <a:ext cx="1054577" cy="1188720"/>
          </a:xfrm>
          <a:prstGeom prst="rect">
            <a:avLst/>
          </a:prstGeom>
          <a:solidFill>
            <a:srgbClr val="7FA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35761" y="3611880"/>
            <a:ext cx="835121" cy="1188720"/>
          </a:xfrm>
          <a:prstGeom prst="rect">
            <a:avLst/>
          </a:prstGeom>
          <a:noFill/>
        </p:spPr>
        <p:txBody>
          <a:bodyPr wrap="square" lIns="0" rIns="0" tIns="0" bIns="0" anchor="ctr">
            <a:spAutoFit/>
          </a:bodyPr>
          <a:lstStyle/>
          <a:p>
            <a:pPr algn="l"/>
            <a:r>
              <a:rPr sz="1400" b="1">
                <a:solidFill>
                  <a:srgbClr val="1F5A47"/>
                </a:solidFill>
              </a:rPr>
              <a:t>2　講演</a:t>
            </a:r>
          </a:p>
          <a:p>
            <a:pPr algn="l"/>
            <a:r>
              <a:rPr sz="1300" b="0">
                <a:solidFill>
                  <a:srgbClr val="1F5A47"/>
                </a:solidFill>
              </a:rPr>
              <a:t>3分</a:t>
            </a:r>
          </a:p>
        </p:txBody>
      </p:sp>
      <p:sp>
        <p:nvSpPr>
          <p:cNvPr id="36" name="Rectangle 35"/>
          <p:cNvSpPr/>
          <p:nvPr/>
        </p:nvSpPr>
        <p:spPr>
          <a:xfrm>
            <a:off x="6835475" y="3611880"/>
            <a:ext cx="1794205" cy="1188720"/>
          </a:xfrm>
          <a:prstGeom prst="rect">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5203" y="3611880"/>
            <a:ext cx="1574749" cy="1188720"/>
          </a:xfrm>
          <a:prstGeom prst="rect">
            <a:avLst/>
          </a:prstGeom>
          <a:noFill/>
        </p:spPr>
        <p:txBody>
          <a:bodyPr wrap="square" lIns="0" rIns="0" tIns="0" bIns="0" anchor="ctr">
            <a:spAutoFit/>
          </a:bodyPr>
          <a:lstStyle/>
          <a:p>
            <a:pPr algn="l"/>
            <a:r>
              <a:rPr sz="1400" b="1">
                <a:solidFill>
                  <a:srgbClr val="FFFFFF"/>
                </a:solidFill>
              </a:rPr>
              <a:t>3　次期の方向性</a:t>
            </a:r>
          </a:p>
          <a:p>
            <a:pPr algn="l"/>
            <a:r>
              <a:rPr sz="1300" b="0">
                <a:solidFill>
                  <a:srgbClr val="FFFFFF"/>
                </a:solidFill>
              </a:rPr>
              <a:t>5分</a:t>
            </a:r>
          </a:p>
          <a:p>
            <a:pPr algn="l"/>
            <a:r>
              <a:rPr sz="1200" b="1">
                <a:solidFill>
                  <a:srgbClr val="FBEADB"/>
                </a:solidFill>
              </a:rPr>
              <a:t>QUIZ 3</a:t>
            </a:r>
          </a:p>
        </p:txBody>
      </p:sp>
      <p:sp>
        <p:nvSpPr>
          <p:cNvPr id="38" name="Rectangle 37"/>
          <p:cNvSpPr/>
          <p:nvPr/>
        </p:nvSpPr>
        <p:spPr>
          <a:xfrm>
            <a:off x="8684544" y="3611880"/>
            <a:ext cx="1054577" cy="1188720"/>
          </a:xfrm>
          <a:prstGeom prst="rect">
            <a:avLst/>
          </a:prstGeom>
          <a:solidFill>
            <a:srgbClr val="7FA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94272" y="3611880"/>
            <a:ext cx="835121" cy="1188720"/>
          </a:xfrm>
          <a:prstGeom prst="rect">
            <a:avLst/>
          </a:prstGeom>
          <a:noFill/>
        </p:spPr>
        <p:txBody>
          <a:bodyPr wrap="square" lIns="0" rIns="0" tIns="0" bIns="0" anchor="ctr">
            <a:spAutoFit/>
          </a:bodyPr>
          <a:lstStyle/>
          <a:p>
            <a:pPr algn="l"/>
            <a:r>
              <a:rPr sz="1400" b="1">
                <a:solidFill>
                  <a:srgbClr val="1F5A47"/>
                </a:solidFill>
              </a:rPr>
              <a:t>4　視点</a:t>
            </a:r>
          </a:p>
          <a:p>
            <a:pPr algn="l"/>
            <a:r>
              <a:rPr sz="1300" b="0">
                <a:solidFill>
                  <a:srgbClr val="1F5A47"/>
                </a:solidFill>
              </a:rPr>
              <a:t>3分</a:t>
            </a:r>
          </a:p>
        </p:txBody>
      </p:sp>
      <p:sp>
        <p:nvSpPr>
          <p:cNvPr id="40" name="Rectangle 39"/>
          <p:cNvSpPr/>
          <p:nvPr/>
        </p:nvSpPr>
        <p:spPr>
          <a:xfrm>
            <a:off x="9793986" y="3611880"/>
            <a:ext cx="1794205" cy="1188720"/>
          </a:xfrm>
          <a:prstGeom prst="rect">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03714" y="3611880"/>
            <a:ext cx="1574749" cy="1188720"/>
          </a:xfrm>
          <a:prstGeom prst="rect">
            <a:avLst/>
          </a:prstGeom>
          <a:noFill/>
        </p:spPr>
        <p:txBody>
          <a:bodyPr wrap="square" lIns="0" rIns="0" tIns="0" bIns="0" anchor="ctr">
            <a:spAutoFit/>
          </a:bodyPr>
          <a:lstStyle/>
          <a:p>
            <a:pPr algn="l"/>
            <a:r>
              <a:rPr sz="1400" b="1">
                <a:solidFill>
                  <a:srgbClr val="FFFFFF"/>
                </a:solidFill>
              </a:rPr>
              <a:t>質疑応答</a:t>
            </a:r>
          </a:p>
          <a:p>
            <a:pPr algn="l"/>
            <a:r>
              <a:rPr sz="1300" b="0">
                <a:solidFill>
                  <a:srgbClr val="FFFFFF"/>
                </a:solidFill>
              </a:rPr>
              <a:t>5分</a:t>
            </a:r>
          </a:p>
        </p:txBody>
      </p:sp>
      <p:sp>
        <p:nvSpPr>
          <p:cNvPr id="42" name="Rounded Rectangle 41"/>
          <p:cNvSpPr/>
          <p:nvPr/>
        </p:nvSpPr>
        <p:spPr>
          <a:xfrm>
            <a:off x="548640" y="5120640"/>
            <a:ext cx="11094415" cy="82296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59" y="5120640"/>
            <a:ext cx="10545775" cy="822960"/>
          </a:xfrm>
          <a:prstGeom prst="rect">
            <a:avLst/>
          </a:prstGeom>
          <a:noFill/>
        </p:spPr>
        <p:txBody>
          <a:bodyPr wrap="square" lIns="0" rIns="0" tIns="0" bIns="0" anchor="ctr">
            <a:spAutoFit/>
          </a:bodyPr>
          <a:lstStyle/>
          <a:p>
            <a:pPr algn="l"/>
            <a:r>
              <a:rPr sz="1500" b="1">
                <a:solidFill>
                  <a:srgbClr val="D9702C"/>
                </a:solidFill>
              </a:rPr>
              <a:t>講義の中で　</a:t>
            </a:r>
            <a:r>
              <a:rPr sz="1500" b="0">
                <a:solidFill>
                  <a:srgbClr val="1E2B27"/>
                </a:solidFill>
              </a:rPr>
              <a:t>冒頭の問いとクイズ３問で、指導主事同士が話し合いながら進めます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研修概要</a:t>
            </a:r>
            <a:endParaRPr lang="en-US" sz="3000" dirty="0"/>
          </a:p>
        </p:txBody>
      </p:sp>
      <p:sp>
        <p:nvSpPr>
          <p:cNvPr id="5" name="Shape 3"/>
          <p:cNvSpPr/>
          <p:nvPr/>
        </p:nvSpPr>
        <p:spPr>
          <a:xfrm>
            <a:off x="548640" y="1554480"/>
            <a:ext cx="548640" cy="54864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85800" y="1691640"/>
            <a:ext cx="274320" cy="274320"/>
          </a:xfrm>
          <a:prstGeom prst="rect">
            <a:avLst/>
          </a:prstGeom>
        </p:spPr>
      </p:pic>
      <p:sp>
        <p:nvSpPr>
          <p:cNvPr id="7" name="Text 4"/>
          <p:cNvSpPr txBox="1"/>
          <p:nvPr/>
        </p:nvSpPr>
        <p:spPr>
          <a:xfrm>
            <a:off x="1280160" y="150876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期日</a:t>
            </a:r>
            <a:endParaRPr lang="en-US" sz="1600" dirty="0"/>
          </a:p>
        </p:txBody>
      </p:sp>
      <p:sp>
        <p:nvSpPr>
          <p:cNvPr id="8" name="Text 5"/>
          <p:cNvSpPr txBox="1"/>
          <p:nvPr/>
        </p:nvSpPr>
        <p:spPr>
          <a:xfrm>
            <a:off x="2103120" y="1508760"/>
            <a:ext cx="5394960" cy="640080"/>
          </a:xfrm>
          <a:prstGeom prst="rect">
            <a:avLst/>
          </a:prstGeom>
          <a:noFill/>
          <a:ln/>
        </p:spPr>
        <p:txBody>
          <a:bodyPr wrap="square" lIns="0" tIns="0" rIns="0" bIns="0" rtlCol="0" anchor="ctr"/>
          <a:lstStyle/>
          <a:p>
            <a:pPr marL="0" indent="0">
              <a:buNone/>
            </a:pPr>
            <a:r>
              <a:rPr lang="en-US" sz="1600" dirty="0">
                <a:solidFill>
                  <a:schemeClr val="tx1"/>
                </a:solidFill>
              </a:rPr>
              <a:t>令和８年10月14日（水）</a:t>
            </a:r>
            <a:endParaRPr lang="en-US" sz="1600" dirty="0"/>
          </a:p>
        </p:txBody>
      </p:sp>
      <p:sp>
        <p:nvSpPr>
          <p:cNvPr id="9" name="Shape 6"/>
          <p:cNvSpPr/>
          <p:nvPr/>
        </p:nvSpPr>
        <p:spPr>
          <a:xfrm>
            <a:off x="548640" y="2377440"/>
            <a:ext cx="548640" cy="548640"/>
          </a:xfrm>
          <a:prstGeom prst="ellipse">
            <a:avLst/>
          </a:prstGeom>
          <a:solidFill>
            <a:schemeClr val="accent1"/>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85800" y="2514600"/>
            <a:ext cx="274320" cy="274320"/>
          </a:xfrm>
          <a:prstGeom prst="rect">
            <a:avLst/>
          </a:prstGeom>
        </p:spPr>
      </p:pic>
      <p:sp>
        <p:nvSpPr>
          <p:cNvPr id="11" name="Text 7"/>
          <p:cNvSpPr txBox="1"/>
          <p:nvPr/>
        </p:nvSpPr>
        <p:spPr>
          <a:xfrm>
            <a:off x="1280160" y="233172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会場</a:t>
            </a:r>
            <a:endParaRPr lang="en-US" sz="1600" dirty="0"/>
          </a:p>
        </p:txBody>
      </p:sp>
      <p:sp>
        <p:nvSpPr>
          <p:cNvPr id="12" name="Text 8"/>
          <p:cNvSpPr txBox="1"/>
          <p:nvPr/>
        </p:nvSpPr>
        <p:spPr>
          <a:xfrm>
            <a:off x="2103120" y="2331720"/>
            <a:ext cx="5394960" cy="640080"/>
          </a:xfrm>
          <a:prstGeom prst="rect">
            <a:avLst/>
          </a:prstGeom>
          <a:noFill/>
          <a:ln/>
        </p:spPr>
        <p:txBody>
          <a:bodyPr wrap="square" lIns="0" tIns="0" rIns="0" bIns="0" rtlCol="0" anchor="ctr"/>
          <a:lstStyle/>
          <a:p>
            <a:pPr marL="0" indent="0">
              <a:buNone/>
            </a:pPr>
            <a:r>
              <a:rPr lang="en-US" sz="1600" dirty="0">
                <a:solidFill>
                  <a:schemeClr val="tx1"/>
                </a:solidFill>
              </a:rPr>
              <a:t>山形県天童市立天童中部小学校</a:t>
            </a:r>
            <a:endParaRPr lang="en-US" sz="1600" dirty="0"/>
          </a:p>
        </p:txBody>
      </p:sp>
      <p:sp>
        <p:nvSpPr>
          <p:cNvPr id="13" name="Shape 9"/>
          <p:cNvSpPr/>
          <p:nvPr/>
        </p:nvSpPr>
        <p:spPr>
          <a:xfrm>
            <a:off x="548640" y="3200400"/>
            <a:ext cx="548640" cy="54864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85800" y="3337560"/>
            <a:ext cx="274320" cy="274320"/>
          </a:xfrm>
          <a:prstGeom prst="rect">
            <a:avLst/>
          </a:prstGeom>
        </p:spPr>
      </p:pic>
      <p:sp>
        <p:nvSpPr>
          <p:cNvPr id="15" name="Text 10"/>
          <p:cNvSpPr txBox="1"/>
          <p:nvPr/>
        </p:nvSpPr>
        <p:spPr>
          <a:xfrm>
            <a:off x="1280160" y="315468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内容</a:t>
            </a:r>
            <a:endParaRPr lang="en-US" sz="1600" dirty="0"/>
          </a:p>
        </p:txBody>
      </p:sp>
      <p:sp>
        <p:nvSpPr>
          <p:cNvPr id="16" name="Text 11"/>
          <p:cNvSpPr txBox="1"/>
          <p:nvPr/>
        </p:nvSpPr>
        <p:spPr>
          <a:xfrm>
            <a:off x="2103120" y="3154680"/>
            <a:ext cx="5394960" cy="640080"/>
          </a:xfrm>
          <a:prstGeom prst="rect">
            <a:avLst/>
          </a:prstGeom>
          <a:noFill/>
          <a:ln/>
        </p:spPr>
        <p:txBody>
          <a:bodyPr wrap="square" lIns="0" tIns="0" rIns="0" bIns="0" rtlCol="0" anchor="ctr"/>
          <a:lstStyle/>
          <a:p>
            <a:pPr marL="0" indent="0">
              <a:buNone/>
            </a:pPr>
            <a:r>
              <a:rPr lang="en-US" sz="1600" dirty="0" err="1">
                <a:solidFill>
                  <a:schemeClr val="tx1"/>
                </a:solidFill>
              </a:rPr>
              <a:t>公開授業</a:t>
            </a:r>
            <a:r>
              <a:rPr lang="ja-JP" altLang="en-US" sz="1600" dirty="0">
                <a:solidFill>
                  <a:schemeClr val="tx1"/>
                </a:solidFill>
                <a:latin typeface="BIZ UDPゴシック" panose="020B0400000000000000" pitchFamily="50" charset="-128"/>
                <a:ea typeface="BIZ UDPゴシック" panose="020B0400000000000000" pitchFamily="50" charset="-128"/>
              </a:rPr>
              <a:t>（１時間目から</a:t>
            </a:r>
            <a:r>
              <a:rPr lang="en-US" altLang="ja-JP" sz="1600" dirty="0">
                <a:solidFill>
                  <a:schemeClr val="tx1"/>
                </a:solidFill>
                <a:latin typeface="BIZ UDPゴシック" panose="020B0400000000000000" pitchFamily="50" charset="-128"/>
                <a:ea typeface="BIZ UDPゴシック" panose="020B0400000000000000" pitchFamily="50" charset="-128"/>
              </a:rPr>
              <a:t>4</a:t>
            </a:r>
            <a:r>
              <a:rPr lang="ja-JP" altLang="en-US" sz="1600" dirty="0">
                <a:solidFill>
                  <a:schemeClr val="tx1"/>
                </a:solidFill>
                <a:latin typeface="BIZ UDPゴシック" panose="020B0400000000000000" pitchFamily="50" charset="-128"/>
                <a:ea typeface="BIZ UDPゴシック" panose="020B0400000000000000" pitchFamily="50" charset="-128"/>
              </a:rPr>
              <a:t>時間目）</a:t>
            </a:r>
            <a:endParaRPr lang="en-US" sz="1600" dirty="0">
              <a:solidFill>
                <a:schemeClr val="tx1"/>
              </a:solidFill>
              <a:latin typeface="BIZ UDPゴシック" panose="020B0400000000000000" pitchFamily="50" charset="-128"/>
              <a:ea typeface="BIZ UDPゴシック" panose="020B0400000000000000" pitchFamily="50" charset="-128"/>
            </a:endParaRPr>
          </a:p>
          <a:p>
            <a:pPr marL="0" indent="0">
              <a:buNone/>
            </a:pPr>
            <a:r>
              <a:rPr lang="en-US" sz="1600" dirty="0" err="1">
                <a:solidFill>
                  <a:schemeClr val="tx1"/>
                </a:solidFill>
              </a:rPr>
              <a:t>講演・鼎談・質疑応答</a:t>
            </a:r>
            <a:endParaRPr lang="en-US" sz="1600" dirty="0"/>
          </a:p>
        </p:txBody>
      </p:sp>
      <p:sp>
        <p:nvSpPr>
          <p:cNvPr id="17" name="Shape 12"/>
          <p:cNvSpPr/>
          <p:nvPr/>
        </p:nvSpPr>
        <p:spPr>
          <a:xfrm>
            <a:off x="548640" y="4023360"/>
            <a:ext cx="548640" cy="548640"/>
          </a:xfrm>
          <a:prstGeom prst="ellipse">
            <a:avLst/>
          </a:prstGeom>
          <a:solidFill>
            <a:schemeClr val="accent1"/>
          </a:solidFill>
          <a:ln/>
        </p:spPr>
        <p:txBody>
          <a:bodyPr/>
          <a:lstStyle/>
          <a:p>
            <a:endParaRPr lang="ja-JP" altLang="en-US"/>
          </a:p>
        </p:txBody>
      </p:sp>
      <p:pic>
        <p:nvPicPr>
          <p:cNvPr id="18" name="Image 3" descr="preencoded.png"/>
          <p:cNvPicPr>
            <a:picLocks noChangeAspect="1"/>
          </p:cNvPicPr>
          <p:nvPr/>
        </p:nvPicPr>
        <p:blipFill>
          <a:blip r:embed="rId6"/>
          <a:stretch>
            <a:fillRect/>
          </a:stretch>
        </p:blipFill>
        <p:spPr>
          <a:xfrm>
            <a:off x="685800" y="4160520"/>
            <a:ext cx="274320" cy="274320"/>
          </a:xfrm>
          <a:prstGeom prst="rect">
            <a:avLst/>
          </a:prstGeom>
        </p:spPr>
      </p:pic>
      <p:sp>
        <p:nvSpPr>
          <p:cNvPr id="19" name="Text 13"/>
          <p:cNvSpPr txBox="1"/>
          <p:nvPr/>
        </p:nvSpPr>
        <p:spPr>
          <a:xfrm>
            <a:off x="1280160" y="397764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講演</a:t>
            </a:r>
            <a:endParaRPr lang="en-US" sz="1600" dirty="0"/>
          </a:p>
        </p:txBody>
      </p:sp>
      <p:sp>
        <p:nvSpPr>
          <p:cNvPr id="20" name="Text 14"/>
          <p:cNvSpPr txBox="1"/>
          <p:nvPr/>
        </p:nvSpPr>
        <p:spPr>
          <a:xfrm>
            <a:off x="2103120" y="3977640"/>
            <a:ext cx="5394960" cy="640080"/>
          </a:xfrm>
          <a:prstGeom prst="rect">
            <a:avLst/>
          </a:prstGeom>
          <a:noFill/>
          <a:ln/>
        </p:spPr>
        <p:txBody>
          <a:bodyPr wrap="square" lIns="0" tIns="0" rIns="0" bIns="0" rtlCol="0" anchor="ctr"/>
          <a:lstStyle/>
          <a:p>
            <a:pPr marL="0" indent="0">
              <a:buNone/>
            </a:pPr>
            <a:r>
              <a:rPr lang="en-US" sz="1600" dirty="0">
                <a:solidFill>
                  <a:schemeClr val="tx1"/>
                </a:solidFill>
              </a:rPr>
              <a:t>上智大学　奈須正裕 氏</a:t>
            </a:r>
            <a:endParaRPr lang="en-US" sz="1600" dirty="0"/>
          </a:p>
          <a:p>
            <a:pPr marL="0" indent="0">
              <a:buNone/>
            </a:pPr>
            <a:r>
              <a:rPr lang="en-US" sz="1600" dirty="0">
                <a:solidFill>
                  <a:schemeClr val="tx1"/>
                </a:solidFill>
              </a:rPr>
              <a:t>「次期学習指導要領が目指す学力論とカリキュラム開発」</a:t>
            </a:r>
            <a:endParaRPr lang="en-US" sz="1600" dirty="0"/>
          </a:p>
        </p:txBody>
      </p:sp>
      <p:sp>
        <p:nvSpPr>
          <p:cNvPr id="21" name="Shape 15"/>
          <p:cNvSpPr/>
          <p:nvPr/>
        </p:nvSpPr>
        <p:spPr>
          <a:xfrm>
            <a:off x="548640" y="4937760"/>
            <a:ext cx="6949440" cy="1143000"/>
          </a:xfrm>
          <a:prstGeom prst="roundRect">
            <a:avLst>
              <a:gd name="adj" fmla="val 6400"/>
            </a:avLst>
          </a:prstGeom>
          <a:solidFill>
            <a:schemeClr val="accent4"/>
          </a:solidFill>
          <a:ln/>
        </p:spPr>
        <p:txBody>
          <a:bodyPr/>
          <a:lstStyle/>
          <a:p>
            <a:endParaRPr lang="ja-JP" altLang="en-US"/>
          </a:p>
        </p:txBody>
      </p:sp>
      <p:sp>
        <p:nvSpPr>
          <p:cNvPr id="22" name="Text 16"/>
          <p:cNvSpPr txBox="1"/>
          <p:nvPr/>
        </p:nvSpPr>
        <p:spPr>
          <a:xfrm>
            <a:off x="822960" y="5029200"/>
            <a:ext cx="2743200" cy="320040"/>
          </a:xfrm>
          <a:prstGeom prst="rect">
            <a:avLst/>
          </a:prstGeom>
          <a:noFill/>
          <a:ln/>
        </p:spPr>
        <p:txBody>
          <a:bodyPr wrap="square" lIns="0" tIns="0" rIns="0" bIns="0" rtlCol="0" anchor="ctr"/>
          <a:lstStyle/>
          <a:p>
            <a:pPr marL="0" indent="0">
              <a:buNone/>
            </a:pPr>
            <a:r>
              <a:rPr lang="en-US" sz="1400" b="1" dirty="0">
                <a:solidFill>
                  <a:schemeClr val="accent2"/>
                </a:solidFill>
              </a:rPr>
              <a:t>学校の目指す姿</a:t>
            </a:r>
            <a:endParaRPr lang="en-US" sz="1400" dirty="0"/>
          </a:p>
        </p:txBody>
      </p:sp>
      <p:sp>
        <p:nvSpPr>
          <p:cNvPr id="23" name="Text 17"/>
          <p:cNvSpPr txBox="1"/>
          <p:nvPr/>
        </p:nvSpPr>
        <p:spPr>
          <a:xfrm>
            <a:off x="822960" y="5394960"/>
            <a:ext cx="6400800" cy="548640"/>
          </a:xfrm>
          <a:prstGeom prst="rect">
            <a:avLst/>
          </a:prstGeom>
          <a:noFill/>
          <a:ln/>
        </p:spPr>
        <p:txBody>
          <a:bodyPr wrap="square" lIns="0" tIns="0" rIns="0" bIns="0" rtlCol="0" anchor="ctr"/>
          <a:lstStyle/>
          <a:p>
            <a:pPr marL="0" indent="0">
              <a:buNone/>
            </a:pPr>
            <a:r>
              <a:rPr lang="en-US" sz="2200" b="1" dirty="0">
                <a:solidFill>
                  <a:schemeClr val="tx2"/>
                </a:solidFill>
              </a:rPr>
              <a:t>自分で学びをつくる　　自分でくらしをつくる</a:t>
            </a:r>
            <a:endParaRPr lang="en-US" sz="2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写真 IMG_0003.JPG" descr="IMG_0003.JPG"/>
          <p:cNvPicPr>
            <a:picLocks noChangeAspect="1"/>
          </p:cNvPicPr>
          <p:nvPr/>
        </p:nvPicPr>
        <p:blipFill>
          <a:blip r:embed="rId7"/>
          <a:srcRect t="5856" b="15856"/>
          <a:stretch>
            <a:fillRect/>
          </a:stretch>
        </p:blipFill>
        <p:spPr>
          <a:xfrm>
            <a:off x="7863840" y="1508760"/>
            <a:ext cx="3776472" cy="2217420"/>
          </a:xfrm>
          <a:prstGeom prst="rect">
            <a:avLst/>
          </a:prstGeom>
        </p:spPr>
      </p:pic>
      <p:pic>
        <p:nvPicPr>
          <p:cNvPr id="27" name="写真 IMG_0315.JPG" descr="IMG_0315.JPG"/>
          <p:cNvPicPr>
            <a:picLocks noChangeAspect="1"/>
          </p:cNvPicPr>
          <p:nvPr/>
        </p:nvPicPr>
        <p:blipFill>
          <a:blip r:embed="rId8"/>
          <a:srcRect t="10856" b="10856"/>
          <a:stretch>
            <a:fillRect/>
          </a:stretch>
        </p:blipFill>
        <p:spPr>
          <a:xfrm>
            <a:off x="7863840" y="3863339"/>
            <a:ext cx="3776472" cy="22174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学校づくりの根底にある子供観</a:t>
            </a:r>
            <a:endParaRPr lang="en-US" sz="3000" dirty="0"/>
          </a:p>
        </p:txBody>
      </p:sp>
      <p:pic>
        <p:nvPicPr>
          <p:cNvPr id="4" name="Image 0" descr="preencoded.png"/>
          <p:cNvPicPr>
            <a:picLocks noChangeAspect="1"/>
          </p:cNvPicPr>
          <p:nvPr/>
        </p:nvPicPr>
        <p:blipFill>
          <a:blip r:embed="rId3"/>
          <a:stretch>
            <a:fillRect/>
          </a:stretch>
        </p:blipFill>
        <p:spPr>
          <a:xfrm>
            <a:off x="548640" y="1600200"/>
            <a:ext cx="457200" cy="457200"/>
          </a:xfrm>
          <a:prstGeom prst="rect">
            <a:avLst/>
          </a:prstGeom>
        </p:spPr>
      </p:pic>
      <p:sp>
        <p:nvSpPr>
          <p:cNvPr id="5" name="Text 2"/>
          <p:cNvSpPr txBox="1"/>
          <p:nvPr/>
        </p:nvSpPr>
        <p:spPr>
          <a:xfrm>
            <a:off x="1188720" y="1508760"/>
            <a:ext cx="6858000" cy="685800"/>
          </a:xfrm>
          <a:prstGeom prst="rect">
            <a:avLst/>
          </a:prstGeom>
          <a:noFill/>
          <a:ln/>
        </p:spPr>
        <p:txBody>
          <a:bodyPr wrap="square" lIns="0" tIns="0" rIns="0" bIns="0" rtlCol="0" anchor="ctr"/>
          <a:lstStyle/>
          <a:p>
            <a:pPr marL="0" indent="0">
              <a:buNone/>
            </a:pPr>
            <a:r>
              <a:rPr lang="en-US" sz="3200" b="1" dirty="0">
                <a:solidFill>
                  <a:schemeClr val="accent1"/>
                </a:solidFill>
              </a:rPr>
              <a:t>すべての子供は有能である</a:t>
            </a:r>
            <a:endParaRPr lang="en-US" sz="3200" dirty="0"/>
          </a:p>
        </p:txBody>
      </p:sp>
      <p:sp>
        <p:nvSpPr>
          <p:cNvPr id="6" name="Shape 3"/>
          <p:cNvSpPr/>
          <p:nvPr/>
        </p:nvSpPr>
        <p:spPr>
          <a:xfrm>
            <a:off x="548640" y="2423160"/>
            <a:ext cx="3291840" cy="1234440"/>
          </a:xfrm>
          <a:prstGeom prst="roundRect">
            <a:avLst>
              <a:gd name="adj" fmla="val 5926"/>
            </a:avLst>
          </a:prstGeom>
          <a:solidFill>
            <a:schemeClr val="bg2"/>
          </a:solidFill>
          <a:ln/>
        </p:spPr>
        <p:txBody>
          <a:bodyPr/>
          <a:lstStyle/>
          <a:p>
            <a:endParaRPr lang="ja-JP" altLang="en-US"/>
          </a:p>
        </p:txBody>
      </p:sp>
      <p:sp>
        <p:nvSpPr>
          <p:cNvPr id="7" name="Text 4"/>
          <p:cNvSpPr txBox="1"/>
          <p:nvPr/>
        </p:nvSpPr>
        <p:spPr>
          <a:xfrm>
            <a:off x="54864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5"/>
                </a:solidFill>
              </a:rPr>
              <a:t>子供を</a:t>
            </a:r>
            <a:endParaRPr lang="en-US" sz="1300" dirty="0"/>
          </a:p>
          <a:p>
            <a:pPr marL="0" indent="0" algn="ctr">
              <a:buNone/>
            </a:pPr>
            <a:r>
              <a:rPr lang="en-US" sz="2200" b="1" dirty="0">
                <a:solidFill>
                  <a:schemeClr val="accent5"/>
                </a:solidFill>
              </a:rPr>
              <a:t>指示を待つ存在</a:t>
            </a:r>
            <a:endParaRPr lang="en-US" sz="1300" dirty="0"/>
          </a:p>
          <a:p>
            <a:pPr marL="0" indent="0" algn="ctr">
              <a:buNone/>
            </a:pPr>
            <a:r>
              <a:rPr lang="en-US" sz="1300" dirty="0">
                <a:solidFill>
                  <a:schemeClr val="accent5"/>
                </a:solidFill>
              </a:rPr>
              <a:t>としてではなく</a:t>
            </a:r>
            <a:endParaRPr lang="en-US" sz="1300" dirty="0"/>
          </a:p>
        </p:txBody>
      </p:sp>
      <p:pic>
        <p:nvPicPr>
          <p:cNvPr id="8" name="Image 1" descr="preencoded.png"/>
          <p:cNvPicPr>
            <a:picLocks noChangeAspect="1"/>
          </p:cNvPicPr>
          <p:nvPr/>
        </p:nvPicPr>
        <p:blipFill>
          <a:blip r:embed="rId4"/>
          <a:stretch>
            <a:fillRect/>
          </a:stretch>
        </p:blipFill>
        <p:spPr>
          <a:xfrm>
            <a:off x="4023360" y="2839212"/>
            <a:ext cx="402336" cy="402336"/>
          </a:xfrm>
          <a:prstGeom prst="rect">
            <a:avLst/>
          </a:prstGeom>
        </p:spPr>
      </p:pic>
      <p:sp>
        <p:nvSpPr>
          <p:cNvPr id="9" name="Shape 5"/>
          <p:cNvSpPr/>
          <p:nvPr/>
        </p:nvSpPr>
        <p:spPr>
          <a:xfrm>
            <a:off x="4617720" y="2423160"/>
            <a:ext cx="3291840" cy="1234440"/>
          </a:xfrm>
          <a:prstGeom prst="roundRect">
            <a:avLst>
              <a:gd name="adj" fmla="val 5926"/>
            </a:avLst>
          </a:prstGeom>
          <a:solidFill>
            <a:schemeClr val="tx2"/>
          </a:solidFill>
          <a:ln/>
        </p:spPr>
        <p:txBody>
          <a:bodyPr/>
          <a:lstStyle/>
          <a:p>
            <a:endParaRPr lang="ja-JP" altLang="en-US"/>
          </a:p>
        </p:txBody>
      </p:sp>
      <p:sp>
        <p:nvSpPr>
          <p:cNvPr id="10" name="Text 6"/>
          <p:cNvSpPr txBox="1"/>
          <p:nvPr/>
        </p:nvSpPr>
        <p:spPr>
          <a:xfrm>
            <a:off x="461772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6"/>
                </a:solidFill>
              </a:rPr>
              <a:t>子供を</a:t>
            </a:r>
            <a:endParaRPr lang="en-US" sz="1300" dirty="0"/>
          </a:p>
          <a:p>
            <a:pPr marL="0" indent="0" algn="ctr">
              <a:buNone/>
            </a:pPr>
            <a:r>
              <a:rPr lang="en-US" sz="2200" b="1" dirty="0">
                <a:solidFill>
                  <a:schemeClr val="bg1"/>
                </a:solidFill>
              </a:rPr>
              <a:t>自ら学びを創る存在</a:t>
            </a:r>
            <a:endParaRPr lang="en-US" sz="1300" dirty="0"/>
          </a:p>
          <a:p>
            <a:pPr marL="0" indent="0" algn="ctr">
              <a:buNone/>
            </a:pPr>
            <a:r>
              <a:rPr lang="en-US" sz="1300" dirty="0">
                <a:solidFill>
                  <a:schemeClr val="accent6"/>
                </a:solidFill>
              </a:rPr>
              <a:t>として捉える</a:t>
            </a:r>
            <a:endParaRPr lang="en-US" sz="1300" dirty="0"/>
          </a:p>
        </p:txBody>
      </p:sp>
      <p:sp>
        <p:nvSpPr>
          <p:cNvPr id="11" name="Shape 7"/>
          <p:cNvSpPr/>
          <p:nvPr/>
        </p:nvSpPr>
        <p:spPr>
          <a:xfrm>
            <a:off x="8229600" y="2423160"/>
            <a:ext cx="3413455" cy="1234440"/>
          </a:xfrm>
          <a:prstGeom prst="roundRect">
            <a:avLst>
              <a:gd name="adj" fmla="val 5926"/>
            </a:avLst>
          </a:prstGeom>
          <a:solidFill>
            <a:schemeClr val="accent4"/>
          </a:solidFill>
          <a:ln/>
        </p:spPr>
        <p:txBody>
          <a:bodyPr/>
          <a:lstStyle/>
          <a:p>
            <a:endParaRPr lang="ja-JP" altLang="en-US"/>
          </a:p>
        </p:txBody>
      </p:sp>
      <p:sp>
        <p:nvSpPr>
          <p:cNvPr id="12" name="Shape 8"/>
          <p:cNvSpPr/>
          <p:nvPr/>
        </p:nvSpPr>
        <p:spPr>
          <a:xfrm>
            <a:off x="8458200" y="2697480"/>
            <a:ext cx="685800" cy="685800"/>
          </a:xfrm>
          <a:prstGeom prst="ellipse">
            <a:avLst/>
          </a:prstGeom>
          <a:solidFill>
            <a:schemeClr val="accent2"/>
          </a:solidFill>
          <a:ln/>
        </p:spPr>
        <p:txBody>
          <a:bodyPr/>
          <a:lstStyle/>
          <a:p>
            <a:endParaRPr lang="ja-JP" altLang="en-US"/>
          </a:p>
        </p:txBody>
      </p:sp>
      <p:pic>
        <p:nvPicPr>
          <p:cNvPr id="13" name="Image 2" descr="preencoded.png"/>
          <p:cNvPicPr>
            <a:picLocks noChangeAspect="1"/>
          </p:cNvPicPr>
          <p:nvPr/>
        </p:nvPicPr>
        <p:blipFill>
          <a:blip r:embed="rId5"/>
          <a:stretch>
            <a:fillRect/>
          </a:stretch>
        </p:blipFill>
        <p:spPr>
          <a:xfrm>
            <a:off x="8629650" y="2868930"/>
            <a:ext cx="342900" cy="342900"/>
          </a:xfrm>
          <a:prstGeom prst="rect">
            <a:avLst/>
          </a:prstGeom>
        </p:spPr>
      </p:pic>
      <p:sp>
        <p:nvSpPr>
          <p:cNvPr id="14" name="Text 9"/>
          <p:cNvSpPr txBox="1"/>
          <p:nvPr/>
        </p:nvSpPr>
        <p:spPr>
          <a:xfrm>
            <a:off x="9281160" y="2514600"/>
            <a:ext cx="2224735" cy="1051560"/>
          </a:xfrm>
          <a:prstGeom prst="rect">
            <a:avLst/>
          </a:prstGeom>
          <a:noFill/>
          <a:ln/>
        </p:spPr>
        <p:txBody>
          <a:bodyPr wrap="square" lIns="0" tIns="0" rIns="0" bIns="0" rtlCol="0" anchor="ctr"/>
          <a:lstStyle/>
          <a:p>
            <a:pPr marL="0" indent="0">
              <a:buNone/>
            </a:pPr>
            <a:r>
              <a:rPr lang="en-US" sz="1800" b="1" dirty="0">
                <a:solidFill>
                  <a:schemeClr val="tx2"/>
                </a:solidFill>
              </a:rPr>
              <a:t>教師は「伴走者」</a:t>
            </a:r>
            <a:endParaRPr lang="en-US" sz="1800" dirty="0"/>
          </a:p>
          <a:p>
            <a:pPr marL="0" indent="0">
              <a:buNone/>
            </a:pPr>
            <a:r>
              <a:rPr lang="en-US" sz="1300" dirty="0">
                <a:solidFill>
                  <a:schemeClr val="tx1"/>
                </a:solidFill>
              </a:rPr>
              <a:t>統制せず、</a:t>
            </a:r>
            <a:r>
              <a:rPr lang="en-US" sz="1300" dirty="0">
                <a:solidFill>
                  <a:srgbClr val="FF0000"/>
                </a:solidFill>
              </a:rPr>
              <a:t>環境を整え、</a:t>
            </a:r>
            <a:r>
              <a:rPr lang="en-US" sz="1300" dirty="0">
                <a:solidFill>
                  <a:schemeClr val="tx1"/>
                </a:solidFill>
              </a:rPr>
              <a:t>必要に応じて支援</a:t>
            </a:r>
            <a:endParaRPr lang="en-US" sz="1800" dirty="0"/>
          </a:p>
        </p:txBody>
      </p:sp>
      <p:sp>
        <p:nvSpPr>
          <p:cNvPr id="15" name="Text 10"/>
          <p:cNvSpPr txBox="1"/>
          <p:nvPr/>
        </p:nvSpPr>
        <p:spPr>
          <a:xfrm>
            <a:off x="548640" y="397764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子供が「選ぶ」場面が、特別な時間ではなく日常にある</a:t>
            </a:r>
            <a:endParaRPr lang="en-US" sz="1600" dirty="0"/>
          </a:p>
        </p:txBody>
      </p:sp>
      <p:sp>
        <p:nvSpPr>
          <p:cNvPr id="16" name="Shape 11"/>
          <p:cNvSpPr/>
          <p:nvPr/>
        </p:nvSpPr>
        <p:spPr>
          <a:xfrm>
            <a:off x="548640" y="4526280"/>
            <a:ext cx="2036003" cy="914400"/>
          </a:xfrm>
          <a:prstGeom prst="roundRect">
            <a:avLst>
              <a:gd name="adj" fmla="val 8000"/>
            </a:avLst>
          </a:prstGeom>
          <a:solidFill>
            <a:schemeClr val="bg2"/>
          </a:solidFill>
          <a:ln/>
        </p:spPr>
        <p:txBody>
          <a:bodyPr/>
          <a:lstStyle/>
          <a:p>
            <a:endParaRPr lang="ja-JP" altLang="en-US"/>
          </a:p>
        </p:txBody>
      </p:sp>
      <p:sp>
        <p:nvSpPr>
          <p:cNvPr id="17" name="Text 12"/>
          <p:cNvSpPr txBox="1"/>
          <p:nvPr/>
        </p:nvSpPr>
        <p:spPr>
          <a:xfrm>
            <a:off x="548640"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学習内容を選ぶ</a:t>
            </a:r>
            <a:endParaRPr lang="en-US" sz="1700" dirty="0"/>
          </a:p>
        </p:txBody>
      </p:sp>
      <p:sp>
        <p:nvSpPr>
          <p:cNvPr id="18" name="Shape 13"/>
          <p:cNvSpPr/>
          <p:nvPr/>
        </p:nvSpPr>
        <p:spPr>
          <a:xfrm>
            <a:off x="2813243" y="4526280"/>
            <a:ext cx="2036003" cy="914400"/>
          </a:xfrm>
          <a:prstGeom prst="roundRect">
            <a:avLst>
              <a:gd name="adj" fmla="val 8000"/>
            </a:avLst>
          </a:prstGeom>
          <a:solidFill>
            <a:schemeClr val="bg2"/>
          </a:solidFill>
          <a:ln/>
        </p:spPr>
        <p:txBody>
          <a:bodyPr/>
          <a:lstStyle/>
          <a:p>
            <a:endParaRPr lang="ja-JP" altLang="en-US"/>
          </a:p>
        </p:txBody>
      </p:sp>
      <p:sp>
        <p:nvSpPr>
          <p:cNvPr id="19" name="Text 14"/>
          <p:cNvSpPr txBox="1"/>
          <p:nvPr/>
        </p:nvSpPr>
        <p:spPr>
          <a:xfrm>
            <a:off x="2813243"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学習方法を選ぶ</a:t>
            </a:r>
            <a:endParaRPr lang="en-US" sz="1700" dirty="0"/>
          </a:p>
        </p:txBody>
      </p:sp>
      <p:sp>
        <p:nvSpPr>
          <p:cNvPr id="20" name="Shape 15"/>
          <p:cNvSpPr/>
          <p:nvPr/>
        </p:nvSpPr>
        <p:spPr>
          <a:xfrm>
            <a:off x="5077846" y="4526280"/>
            <a:ext cx="2036003" cy="914400"/>
          </a:xfrm>
          <a:prstGeom prst="roundRect">
            <a:avLst>
              <a:gd name="adj" fmla="val 8000"/>
            </a:avLst>
          </a:prstGeom>
          <a:solidFill>
            <a:schemeClr val="bg2"/>
          </a:solidFill>
          <a:ln/>
        </p:spPr>
        <p:txBody>
          <a:bodyPr/>
          <a:lstStyle/>
          <a:p>
            <a:endParaRPr lang="ja-JP" altLang="en-US"/>
          </a:p>
        </p:txBody>
      </p:sp>
      <p:sp>
        <p:nvSpPr>
          <p:cNvPr id="21" name="Text 16"/>
          <p:cNvSpPr txBox="1"/>
          <p:nvPr/>
        </p:nvSpPr>
        <p:spPr>
          <a:xfrm>
            <a:off x="5077846"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学習場所を選ぶ</a:t>
            </a:r>
            <a:endParaRPr lang="en-US" sz="1700" dirty="0"/>
          </a:p>
        </p:txBody>
      </p:sp>
      <p:sp>
        <p:nvSpPr>
          <p:cNvPr id="22" name="Shape 17"/>
          <p:cNvSpPr/>
          <p:nvPr/>
        </p:nvSpPr>
        <p:spPr>
          <a:xfrm>
            <a:off x="7342449" y="4526280"/>
            <a:ext cx="2036003" cy="914400"/>
          </a:xfrm>
          <a:prstGeom prst="roundRect">
            <a:avLst>
              <a:gd name="adj" fmla="val 8000"/>
            </a:avLst>
          </a:prstGeom>
          <a:solidFill>
            <a:schemeClr val="bg2"/>
          </a:solidFill>
          <a:ln/>
        </p:spPr>
        <p:txBody>
          <a:bodyPr/>
          <a:lstStyle/>
          <a:p>
            <a:endParaRPr lang="ja-JP" altLang="en-US"/>
          </a:p>
        </p:txBody>
      </p:sp>
      <p:sp>
        <p:nvSpPr>
          <p:cNvPr id="23" name="Text 18"/>
          <p:cNvSpPr txBox="1"/>
          <p:nvPr/>
        </p:nvSpPr>
        <p:spPr>
          <a:xfrm>
            <a:off x="7342449"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発表方法を選ぶ</a:t>
            </a:r>
            <a:endParaRPr lang="en-US" sz="1700" dirty="0"/>
          </a:p>
        </p:txBody>
      </p:sp>
      <p:sp>
        <p:nvSpPr>
          <p:cNvPr id="24" name="Shape 19"/>
          <p:cNvSpPr/>
          <p:nvPr/>
        </p:nvSpPr>
        <p:spPr>
          <a:xfrm>
            <a:off x="9607052" y="4526280"/>
            <a:ext cx="2036003" cy="914400"/>
          </a:xfrm>
          <a:prstGeom prst="roundRect">
            <a:avLst>
              <a:gd name="adj" fmla="val 8000"/>
            </a:avLst>
          </a:prstGeom>
          <a:solidFill>
            <a:schemeClr val="accent4"/>
          </a:solidFill>
          <a:ln/>
        </p:spPr>
        <p:txBody>
          <a:bodyPr/>
          <a:lstStyle/>
          <a:p>
            <a:endParaRPr lang="ja-JP" altLang="en-US"/>
          </a:p>
        </p:txBody>
      </p:sp>
      <p:sp>
        <p:nvSpPr>
          <p:cNvPr id="25" name="Text 20"/>
          <p:cNvSpPr txBox="1"/>
          <p:nvPr/>
        </p:nvSpPr>
        <p:spPr>
          <a:xfrm>
            <a:off x="9607052"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学習計画を修正する</a:t>
            </a:r>
            <a:endParaRPr lang="en-US" sz="1700" dirty="0"/>
          </a:p>
        </p:txBody>
      </p:sp>
      <p:sp>
        <p:nvSpPr>
          <p:cNvPr id="26" name="Text 21"/>
          <p:cNvSpPr txBox="1"/>
          <p:nvPr/>
        </p:nvSpPr>
        <p:spPr>
          <a:xfrm>
            <a:off x="548640" y="5623560"/>
            <a:ext cx="11094415" cy="365760"/>
          </a:xfrm>
          <a:prstGeom prst="rect">
            <a:avLst/>
          </a:prstGeom>
          <a:noFill/>
          <a:ln/>
        </p:spPr>
        <p:txBody>
          <a:bodyPr wrap="square" lIns="0" tIns="0" rIns="0" bIns="0" rtlCol="0" anchor="ctr"/>
          <a:lstStyle/>
          <a:p>
            <a:pPr marL="0" indent="0">
              <a:buNone/>
            </a:pPr>
            <a:r>
              <a:rPr lang="en-US" sz="1400" dirty="0">
                <a:solidFill>
                  <a:schemeClr val="accent5"/>
                </a:solidFill>
              </a:rPr>
              <a:t>以下の取組は、すべてこの子供観から出発している</a:t>
            </a:r>
            <a:endParaRPr lang="en-US" sz="14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QUIZ 1｜指導主事同士で考えよう</a:t>
            </a:r>
          </a:p>
        </p:txBody>
      </p:sp>
      <p:sp>
        <p:nvSpPr>
          <p:cNvPr id="3" name="Title 2"/>
          <p:cNvSpPr>
            <a:spLocks noGrp="1"/>
          </p:cNvSpPr>
          <p:nvPr>
            <p:ph type="title" idx="101"/>
          </p:nvPr>
        </p:nvSpPr>
        <p:spPr/>
        <p:txBody>
          <a:bodyPr/>
          <a:lstStyle/>
          <a:p>
            <a:r>
              <a:t>子供が自分で計画して進める学習は、授業のおよそ何割？</a:t>
            </a:r>
          </a:p>
        </p:txBody>
      </p:sp>
      <p:sp>
        <p:nvSpPr>
          <p:cNvPr id="4" name="TextBox 3"/>
          <p:cNvSpPr txBox="1"/>
          <p:nvPr/>
        </p:nvSpPr>
        <p:spPr>
          <a:xfrm>
            <a:off x="548640" y="1508760"/>
            <a:ext cx="11094415" cy="411480"/>
          </a:xfrm>
          <a:prstGeom prst="rect">
            <a:avLst/>
          </a:prstGeom>
          <a:noFill/>
        </p:spPr>
        <p:txBody>
          <a:bodyPr wrap="square" lIns="0" rIns="0" tIns="0" bIns="0" anchor="ctr">
            <a:spAutoFit/>
          </a:bodyPr>
          <a:lstStyle/>
          <a:p>
            <a:pPr algn="l"/>
            <a:r>
              <a:rPr sz="1500" b="0">
                <a:solidFill>
                  <a:srgbClr val="5E6E68"/>
                </a:solidFill>
              </a:rPr>
              <a:t>天童中部小学校の自学・自習、マイプラン学習（MP）、フリースタイルプロジェクト（FSP）</a:t>
            </a:r>
          </a:p>
        </p:txBody>
      </p:sp>
      <p:sp>
        <p:nvSpPr>
          <p:cNvPr id="5" name="Rounded Rectangle 4"/>
          <p:cNvSpPr/>
          <p:nvPr/>
        </p:nvSpPr>
        <p:spPr>
          <a:xfrm>
            <a:off x="548640"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40509"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A</a:t>
            </a:r>
          </a:p>
        </p:txBody>
      </p:sp>
      <p:sp>
        <p:nvSpPr>
          <p:cNvPr id="7" name="TextBox 6"/>
          <p:cNvSpPr txBox="1"/>
          <p:nvPr/>
        </p:nvSpPr>
        <p:spPr>
          <a:xfrm>
            <a:off x="777240" y="3246120"/>
            <a:ext cx="3058058" cy="868680"/>
          </a:xfrm>
          <a:prstGeom prst="rect">
            <a:avLst/>
          </a:prstGeom>
          <a:noFill/>
        </p:spPr>
        <p:txBody>
          <a:bodyPr wrap="square" lIns="0" rIns="0" tIns="0" bIns="0" anchor="ctr">
            <a:spAutoFit/>
          </a:bodyPr>
          <a:lstStyle/>
          <a:p>
            <a:pPr algn="ctr"/>
            <a:r>
              <a:rPr sz="2000" b="1">
                <a:solidFill>
                  <a:srgbClr val="1F5A47"/>
                </a:solidFill>
              </a:rPr>
              <a:t>約２割</a:t>
            </a:r>
          </a:p>
        </p:txBody>
      </p:sp>
      <p:sp>
        <p:nvSpPr>
          <p:cNvPr id="8" name="Rounded Rectangle 7"/>
          <p:cNvSpPr/>
          <p:nvPr/>
        </p:nvSpPr>
        <p:spPr>
          <a:xfrm>
            <a:off x="4338218"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730087"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B</a:t>
            </a:r>
          </a:p>
        </p:txBody>
      </p:sp>
      <p:sp>
        <p:nvSpPr>
          <p:cNvPr id="10" name="TextBox 9"/>
          <p:cNvSpPr txBox="1"/>
          <p:nvPr/>
        </p:nvSpPr>
        <p:spPr>
          <a:xfrm>
            <a:off x="4566818" y="3246120"/>
            <a:ext cx="3058058" cy="868680"/>
          </a:xfrm>
          <a:prstGeom prst="rect">
            <a:avLst/>
          </a:prstGeom>
          <a:noFill/>
        </p:spPr>
        <p:txBody>
          <a:bodyPr wrap="square" lIns="0" rIns="0" tIns="0" bIns="0" anchor="ctr">
            <a:spAutoFit/>
          </a:bodyPr>
          <a:lstStyle/>
          <a:p>
            <a:pPr algn="ctr"/>
            <a:r>
              <a:rPr sz="2000" b="1">
                <a:solidFill>
                  <a:srgbClr val="1F5A47"/>
                </a:solidFill>
              </a:rPr>
              <a:t>約５割</a:t>
            </a:r>
          </a:p>
        </p:txBody>
      </p:sp>
      <p:sp>
        <p:nvSpPr>
          <p:cNvPr id="11" name="Rounded Rectangle 10"/>
          <p:cNvSpPr/>
          <p:nvPr/>
        </p:nvSpPr>
        <p:spPr>
          <a:xfrm>
            <a:off x="8127796"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19665"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C</a:t>
            </a:r>
          </a:p>
        </p:txBody>
      </p:sp>
      <p:sp>
        <p:nvSpPr>
          <p:cNvPr id="13" name="TextBox 12"/>
          <p:cNvSpPr txBox="1"/>
          <p:nvPr/>
        </p:nvSpPr>
        <p:spPr>
          <a:xfrm>
            <a:off x="8356396" y="3246120"/>
            <a:ext cx="3058058" cy="868680"/>
          </a:xfrm>
          <a:prstGeom prst="rect">
            <a:avLst/>
          </a:prstGeom>
          <a:noFill/>
        </p:spPr>
        <p:txBody>
          <a:bodyPr wrap="square" lIns="0" rIns="0" tIns="0" bIns="0" anchor="ctr">
            <a:spAutoFit/>
          </a:bodyPr>
          <a:lstStyle/>
          <a:p>
            <a:pPr algn="ctr"/>
            <a:r>
              <a:rPr sz="2000" b="1">
                <a:solidFill>
                  <a:srgbClr val="1F5A47"/>
                </a:solidFill>
              </a:rPr>
              <a:t>約８割</a:t>
            </a:r>
          </a:p>
        </p:txBody>
      </p:sp>
      <p:sp>
        <p:nvSpPr>
          <p:cNvPr id="14" name="Rounded Rectangle 13"/>
          <p:cNvSpPr/>
          <p:nvPr/>
        </p:nvSpPr>
        <p:spPr>
          <a:xfrm>
            <a:off x="548640" y="4709160"/>
            <a:ext cx="11094415" cy="12801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498348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rPr>
              <a:t>話</a:t>
            </a:r>
          </a:p>
        </p:txBody>
      </p:sp>
      <p:sp>
        <p:nvSpPr>
          <p:cNvPr id="16" name="TextBox 15"/>
          <p:cNvSpPr txBox="1"/>
          <p:nvPr/>
        </p:nvSpPr>
        <p:spPr>
          <a:xfrm>
            <a:off x="1874519" y="4709160"/>
            <a:ext cx="6400800" cy="1280160"/>
          </a:xfrm>
          <a:prstGeom prst="rect">
            <a:avLst/>
          </a:prstGeom>
          <a:noFill/>
        </p:spPr>
        <p:txBody>
          <a:bodyPr wrap="square" lIns="0" rIns="0" tIns="0" bIns="0" anchor="ctr">
            <a:spAutoFit/>
          </a:bodyPr>
          <a:lstStyle/>
          <a:p>
            <a:pPr algn="l"/>
            <a:r>
              <a:rPr sz="2200" b="1">
                <a:solidFill>
                  <a:srgbClr val="FFFFFF"/>
                </a:solidFill>
              </a:rPr>
              <a:t>隣の人と相談（１分）</a:t>
            </a:r>
          </a:p>
          <a:p>
            <a:pPr algn="l"/>
            <a:r>
              <a:rPr sz="1500" b="0">
                <a:solidFill>
                  <a:srgbClr val="D3E3D9"/>
                </a:solidFill>
              </a:rPr>
              <a:t>選んだ理由も話してみてください</a:t>
            </a:r>
          </a:p>
        </p:txBody>
      </p:sp>
      <p:sp>
        <p:nvSpPr>
          <p:cNvPr id="17" name="TextBox 16"/>
          <p:cNvSpPr txBox="1"/>
          <p:nvPr/>
        </p:nvSpPr>
        <p:spPr>
          <a:xfrm>
            <a:off x="8321040" y="4709160"/>
            <a:ext cx="3001975" cy="1280160"/>
          </a:xfrm>
          <a:prstGeom prst="rect">
            <a:avLst/>
          </a:prstGeom>
          <a:noFill/>
        </p:spPr>
        <p:txBody>
          <a:bodyPr wrap="square" lIns="0" rIns="0" tIns="0" bIns="0" anchor="ctr">
            <a:spAutoFit/>
          </a:bodyPr>
          <a:lstStyle/>
          <a:p>
            <a:pPr algn="r"/>
            <a:r>
              <a:rPr sz="1600" b="1">
                <a:solidFill>
                  <a:srgbClr val="FBEADB"/>
                </a:solidFill>
              </a:rPr>
              <a:t>答えは次のスライドで</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４つの学びを組み合わせた「カラフルなカリキュラム」</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560320"/>
        </p:xfrm>
        <a:graphic>
          <a:graphicData uri="http://schemas.openxmlformats.org/drawingml/2006/table">
            <a:tbl>
              <a:tblPr/>
              <a:tblGrid>
                <a:gridCol w="17373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61895">
                  <a:extLst>
                    <a:ext uri="{9D8B030D-6E8A-4147-A177-3AD203B41FA5}">
                      <a16:colId xmlns:a16="http://schemas.microsoft.com/office/drawing/2014/main" val="20004"/>
                    </a:ext>
                  </a:extLst>
                </a:gridCol>
              </a:tblGrid>
              <a:tr h="777240">
                <a:tc>
                  <a:txBody>
                    <a:bodyPr/>
                    <a:lstStyle/>
                    <a:p>
                      <a:pPr marL="0" indent="0" algn="ctr">
                        <a:buNone/>
                      </a:pP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フリースタイル</a:t>
                      </a:r>
                      <a:endParaRPr lang="en-US" sz="1600" dirty="0"/>
                    </a:p>
                    <a:p>
                      <a:pPr marL="0" indent="0" algn="ctr">
                        <a:buNone/>
                      </a:pPr>
                      <a:r>
                        <a:rPr lang="en-US" sz="1600" b="1" dirty="0">
                          <a:solidFill>
                            <a:schemeClr val="bg1"/>
                          </a:solidFill>
                        </a:rPr>
                        <a:t>プロジェクト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マイプラン学習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自学・自習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仲間と教師で</a:t>
                      </a:r>
                      <a:endParaRPr lang="en-US" sz="1600" dirty="0"/>
                    </a:p>
                    <a:p>
                      <a:pPr marL="0" indent="0" algn="ctr">
                        <a:buNone/>
                      </a:pPr>
                      <a:r>
                        <a:rPr lang="en-US" sz="1600" b="1" dirty="0">
                          <a:solidFill>
                            <a:schemeClr val="bg1"/>
                          </a:solidFill>
                        </a:rPr>
                        <a:t>創る授業</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lgn="ctr">
                        <a:buNone/>
                      </a:pPr>
                      <a:r>
                        <a:rPr lang="en-US" sz="1600" b="1" dirty="0">
                          <a:solidFill>
                            <a:schemeClr val="tx2"/>
                          </a:solidFill>
                        </a:rPr>
                        <a:t>学習内容</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indent="0" algn="ctr">
                        <a:buNone/>
                      </a:pPr>
                      <a:r>
                        <a:rPr lang="en-US" sz="1600" b="1" dirty="0">
                          <a:solidFill>
                            <a:schemeClr val="tx1"/>
                          </a:solidFill>
                        </a:rPr>
                        <a:t>総合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gridSpan="3">
                  <a:txBody>
                    <a:bodyPr/>
                    <a:lstStyle/>
                    <a:p>
                      <a:pPr marL="0" indent="0" algn="ctr">
                        <a:buNone/>
                      </a:pPr>
                      <a:r>
                        <a:rPr lang="en-US" sz="1600" b="1" dirty="0">
                          <a:solidFill>
                            <a:schemeClr val="tx1"/>
                          </a:solidFill>
                        </a:rPr>
                        <a:t>教科</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1"/>
                  </a:ext>
                </a:extLst>
              </a:tr>
              <a:tr h="594360">
                <a:tc>
                  <a:txBody>
                    <a:bodyPr/>
                    <a:lstStyle/>
                    <a:p>
                      <a:pPr marL="0" indent="0" algn="ctr">
                        <a:buNone/>
                      </a:pPr>
                      <a:r>
                        <a:rPr lang="en-US" sz="1600" b="1" dirty="0">
                          <a:solidFill>
                            <a:schemeClr val="tx2"/>
                          </a:solidFill>
                        </a:rPr>
                        <a:t>学習形態</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2">
                  <a:txBody>
                    <a:bodyPr/>
                    <a:lstStyle/>
                    <a:p>
                      <a:pPr marL="0" indent="0" algn="ctr">
                        <a:buNone/>
                      </a:pPr>
                      <a:r>
                        <a:rPr lang="en-US" sz="1600" b="1" dirty="0">
                          <a:solidFill>
                            <a:schemeClr val="tx1"/>
                          </a:solidFill>
                        </a:rPr>
                        <a:t>個別最適な学び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hMerge="1">
                  <a:txBody>
                    <a:bodyPr/>
                    <a:lstStyle/>
                    <a:p>
                      <a:endParaRPr lang="ja-JP"/>
                    </a:p>
                  </a:txBody>
                  <a:tcPr/>
                </a:tc>
                <a:tc gridSpan="2">
                  <a:txBody>
                    <a:bodyPr/>
                    <a:lstStyle/>
                    <a:p>
                      <a:pPr marL="0" indent="0" algn="ctr">
                        <a:buNone/>
                      </a:pPr>
                      <a:r>
                        <a:rPr lang="en-US" sz="1600" b="1" dirty="0">
                          <a:solidFill>
                            <a:schemeClr val="tx1"/>
                          </a:solidFill>
                        </a:rPr>
                        <a:t>協働的な学び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extLst>
                  <a:ext uri="{0D108BD9-81ED-4DB2-BD59-A6C34878D82A}">
                    <a16:rowId xmlns:a16="http://schemas.microsoft.com/office/drawing/2014/main" val="10002"/>
                  </a:ext>
                </a:extLst>
              </a:tr>
              <a:tr h="594360">
                <a:tc>
                  <a:txBody>
                    <a:bodyPr/>
                    <a:lstStyle/>
                    <a:p>
                      <a:pPr marL="0" indent="0" algn="ctr">
                        <a:buNone/>
                      </a:pPr>
                      <a:r>
                        <a:rPr lang="en-US" sz="1600" b="1" dirty="0">
                          <a:solidFill>
                            <a:schemeClr val="tx2"/>
                          </a:solidFill>
                        </a:rPr>
                        <a:t>計画主体</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3">
                  <a:txBody>
                    <a:bodyPr/>
                    <a:lstStyle/>
                    <a:p>
                      <a:pPr marL="0" indent="0" algn="ctr">
                        <a:buNone/>
                      </a:pPr>
                      <a:r>
                        <a:rPr lang="en-US" sz="1600" b="1" dirty="0">
                          <a:solidFill>
                            <a:schemeClr val="tx1"/>
                          </a:solidFill>
                        </a:rPr>
                        <a:t>子ども（たち）</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tc>
                  <a:txBody>
                    <a:bodyPr/>
                    <a:lstStyle/>
                    <a:p>
                      <a:pPr marL="0" indent="0" algn="ctr">
                        <a:buNone/>
                      </a:pPr>
                      <a:r>
                        <a:rPr lang="en-US" sz="1600" b="1" dirty="0">
                          <a:solidFill>
                            <a:schemeClr val="tx1"/>
                          </a:solidFill>
                        </a:rPr>
                        <a:t>教師</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937760"/>
            <a:ext cx="5410048" cy="1051560"/>
          </a:xfrm>
          <a:prstGeom prst="roundRect">
            <a:avLst>
              <a:gd name="adj" fmla="val 4444"/>
            </a:avLst>
          </a:prstGeom>
          <a:solidFill>
            <a:schemeClr val="tx2"/>
          </a:solidFill>
          <a:ln/>
        </p:spPr>
        <p:txBody>
          <a:bodyPr/>
          <a:lstStyle/>
          <a:p>
            <a:endParaRPr lang="ja-JP" altLang="en-US"/>
          </a:p>
        </p:txBody>
      </p:sp>
      <p:sp>
        <p:nvSpPr>
          <p:cNvPr id="4" name="Text 3"/>
          <p:cNvSpPr txBox="1"/>
          <p:nvPr/>
        </p:nvSpPr>
        <p:spPr>
          <a:xfrm>
            <a:off x="822960"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ねらい</a:t>
            </a:r>
            <a:endParaRPr lang="en-US" sz="1400" dirty="0"/>
          </a:p>
          <a:p>
            <a:pPr marL="0" indent="0">
              <a:buNone/>
            </a:pPr>
            <a:r>
              <a:rPr lang="en-US" sz="1700" b="1" dirty="0">
                <a:solidFill>
                  <a:schemeClr val="bg1"/>
                </a:solidFill>
              </a:rPr>
              <a:t>個別最適な学びと協働的な学びの一体的な充実を、一つの授業ではなくカリキュラム全体で実現する</a:t>
            </a:r>
            <a:endParaRPr lang="en-US" sz="1400" dirty="0"/>
          </a:p>
        </p:txBody>
      </p:sp>
      <p:sp>
        <p:nvSpPr>
          <p:cNvPr id="7" name="Shape 4"/>
          <p:cNvSpPr/>
          <p:nvPr/>
        </p:nvSpPr>
        <p:spPr>
          <a:xfrm>
            <a:off x="6233008" y="4937760"/>
            <a:ext cx="5410048" cy="1051560"/>
          </a:xfrm>
          <a:prstGeom prst="roundRect">
            <a:avLst>
              <a:gd name="adj" fmla="val 4444"/>
            </a:avLst>
          </a:prstGeom>
          <a:solidFill>
            <a:schemeClr val="bg2"/>
          </a:solidFill>
          <a:ln/>
        </p:spPr>
        <p:txBody>
          <a:bodyPr/>
          <a:lstStyle/>
          <a:p>
            <a:endParaRPr lang="ja-JP" altLang="en-US"/>
          </a:p>
        </p:txBody>
      </p:sp>
      <p:sp>
        <p:nvSpPr>
          <p:cNvPr id="8" name="Text 5"/>
          <p:cNvSpPr txBox="1"/>
          <p:nvPr/>
        </p:nvSpPr>
        <p:spPr>
          <a:xfrm>
            <a:off x="6507328"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例：自学・自習</a:t>
            </a:r>
            <a:endParaRPr lang="en-US" sz="1400" dirty="0"/>
          </a:p>
          <a:p>
            <a:pPr marL="0" indent="0">
              <a:buNone/>
            </a:pPr>
            <a:r>
              <a:rPr lang="en-US" sz="1500" dirty="0">
                <a:solidFill>
                  <a:schemeClr val="tx1"/>
                </a:solidFill>
              </a:rPr>
              <a:t>司会・板書・学習進行を児童が担い、自分たちで授業を成立させる。計画→実践→振り返り→改善のサイクルを子供が回す</a:t>
            </a:r>
            <a:endParaRPr lang="en-US" sz="1400" dirty="0"/>
          </a:p>
        </p:txBody>
      </p:sp>
      <p:sp>
        <p:nvSpPr>
          <p:cNvPr id="9" name="Text 6"/>
          <p:cNvSpPr txBox="1"/>
          <p:nvPr/>
        </p:nvSpPr>
        <p:spPr>
          <a:xfrm>
            <a:off x="7985455" y="6053328"/>
            <a:ext cx="3657600" cy="256032"/>
          </a:xfrm>
          <a:prstGeom prst="rect">
            <a:avLst/>
          </a:prstGeom>
          <a:noFill/>
          <a:ln/>
        </p:spPr>
        <p:txBody>
          <a:bodyPr wrap="square" lIns="0" tIns="0" rIns="0" bIns="0" rtlCol="0" anchor="ctr"/>
          <a:lstStyle/>
          <a:p>
            <a:pPr marL="0" indent="0" algn="r">
              <a:buNone/>
            </a:pPr>
            <a:r>
              <a:rPr lang="en-US" sz="1100" dirty="0">
                <a:solidFill>
                  <a:schemeClr val="accent5"/>
                </a:solidFill>
              </a:rPr>
              <a:t>※講演資料の表を再構成</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26" name="割合_約2割"/>
          <p:cNvSpPr/>
          <p:nvPr/>
        </p:nvSpPr>
        <p:spPr>
          <a:xfrm>
            <a:off x="548640" y="4206240"/>
            <a:ext cx="2182307" cy="594360"/>
          </a:xfrm>
          <a:prstGeom prst="rect">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割合_約8割"/>
          <p:cNvSpPr/>
          <p:nvPr/>
        </p:nvSpPr>
        <p:spPr>
          <a:xfrm>
            <a:off x="2767523" y="4206240"/>
            <a:ext cx="8875532" cy="594360"/>
          </a:xfrm>
          <a:prstGeom prst="rect">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206240"/>
            <a:ext cx="2182307" cy="594360"/>
          </a:xfrm>
          <a:prstGeom prst="rect">
            <a:avLst/>
          </a:prstGeom>
          <a:noFill/>
        </p:spPr>
        <p:txBody>
          <a:bodyPr wrap="square" lIns="0" rIns="0" tIns="0" bIns="0" anchor="ctr">
            <a:spAutoFit/>
          </a:bodyPr>
          <a:lstStyle/>
          <a:p>
            <a:pPr algn="ctr"/>
            <a:r>
              <a:rPr sz="1500" b="1">
                <a:solidFill>
                  <a:srgbClr val="FFFFFF"/>
                </a:solidFill>
              </a:rPr>
              <a:t>約２割</a:t>
            </a:r>
          </a:p>
          <a:p>
            <a:pPr algn="ctr"/>
            <a:r>
              <a:rPr sz="1100">
                <a:solidFill>
                  <a:srgbClr val="FFFFFF"/>
                </a:solidFill>
              </a:rPr>
              <a:t>自学自習・MP・FSP</a:t>
            </a:r>
          </a:p>
        </p:txBody>
      </p:sp>
      <p:sp>
        <p:nvSpPr>
          <p:cNvPr id="29" name="TextBox 28"/>
          <p:cNvSpPr txBox="1"/>
          <p:nvPr/>
        </p:nvSpPr>
        <p:spPr>
          <a:xfrm>
            <a:off x="2996123" y="4206240"/>
            <a:ext cx="8418332" cy="594360"/>
          </a:xfrm>
          <a:prstGeom prst="rect">
            <a:avLst/>
          </a:prstGeom>
          <a:noFill/>
        </p:spPr>
        <p:txBody>
          <a:bodyPr wrap="square" lIns="0" rIns="0" tIns="0" bIns="0" anchor="ctr">
            <a:spAutoFit/>
          </a:bodyPr>
          <a:lstStyle/>
          <a:p>
            <a:pPr algn="l"/>
            <a:r>
              <a:rPr sz="1600" b="1">
                <a:solidFill>
                  <a:srgbClr val="FFFFFF"/>
                </a:solidFill>
              </a:rPr>
              <a:t>約８割　一斉授業（子供と教師が共に創る授業）</a:t>
            </a:r>
            <a:r>
              <a:rPr sz="1600" b="1">
                <a:solidFill>
                  <a:srgbClr val="FBEADB"/>
                </a:solidFill>
              </a:rPr>
              <a:t>　＝ 土台は普段の授業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01　天童中部小学校の取組</a:t>
            </a:r>
          </a:p>
        </p:txBody>
      </p:sp>
      <p:sp>
        <p:nvSpPr>
          <p:cNvPr id="3" name="Title 2"/>
          <p:cNvSpPr>
            <a:spLocks noGrp="1"/>
          </p:cNvSpPr>
          <p:nvPr>
            <p:ph type="title" idx="101"/>
          </p:nvPr>
        </p:nvSpPr>
        <p:spPr/>
        <p:txBody>
          <a:bodyPr/>
          <a:lstStyle/>
          <a:p>
            <a:r>
              <a:t>土台は約８割の普段の授業</a:t>
            </a:r>
          </a:p>
        </p:txBody>
      </p:sp>
      <p:sp>
        <p:nvSpPr>
          <p:cNvPr id="4" name="TextBox 3"/>
          <p:cNvSpPr txBox="1"/>
          <p:nvPr/>
        </p:nvSpPr>
        <p:spPr>
          <a:xfrm>
            <a:off x="548640" y="1508760"/>
            <a:ext cx="4754880" cy="365760"/>
          </a:xfrm>
          <a:prstGeom prst="rect">
            <a:avLst/>
          </a:prstGeom>
          <a:noFill/>
        </p:spPr>
        <p:txBody>
          <a:bodyPr wrap="square" lIns="0" rIns="0" tIns="0" bIns="0" anchor="ctr">
            <a:spAutoFit/>
          </a:bodyPr>
          <a:lstStyle/>
          <a:p>
            <a:pPr algn="l"/>
            <a:r>
              <a:rPr sz="1500" b="1">
                <a:solidFill>
                  <a:srgbClr val="D9702C"/>
                </a:solidFill>
              </a:rPr>
              <a:t>子供と教師が共に創る授業（公開授業から）</a:t>
            </a:r>
          </a:p>
        </p:txBody>
      </p:sp>
      <p:sp>
        <p:nvSpPr>
          <p:cNvPr id="5" name="Rounded Rectangle 4"/>
          <p:cNvSpPr/>
          <p:nvPr/>
        </p:nvSpPr>
        <p:spPr>
          <a:xfrm>
            <a:off x="548640" y="1965960"/>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148840"/>
            <a:ext cx="502920" cy="5029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7" name="TextBox 6"/>
          <p:cNvSpPr txBox="1"/>
          <p:nvPr/>
        </p:nvSpPr>
        <p:spPr>
          <a:xfrm>
            <a:off x="1417320" y="2011679"/>
            <a:ext cx="3749039" cy="777240"/>
          </a:xfrm>
          <a:prstGeom prst="rect">
            <a:avLst/>
          </a:prstGeom>
          <a:noFill/>
        </p:spPr>
        <p:txBody>
          <a:bodyPr wrap="square" lIns="0" rIns="0" tIns="0" bIns="0" anchor="ctr">
            <a:spAutoFit/>
          </a:bodyPr>
          <a:lstStyle/>
          <a:p>
            <a:pPr algn="l"/>
            <a:r>
              <a:rPr sz="1600" b="1">
                <a:solidFill>
                  <a:srgbClr val="1F5A47"/>
                </a:solidFill>
              </a:rPr>
              <a:t>学び方を言葉で示す</a:t>
            </a:r>
          </a:p>
          <a:p>
            <a:pPr algn="l"/>
            <a:r>
              <a:rPr sz="1300" b="0">
                <a:solidFill>
                  <a:srgbClr val="1E2B27"/>
                </a:solidFill>
              </a:rPr>
              <a:t>「答えだけ」でなく「式の意味、図と結びつける」</a:t>
            </a:r>
          </a:p>
        </p:txBody>
      </p:sp>
      <p:sp>
        <p:nvSpPr>
          <p:cNvPr id="8" name="Rounded Rectangle 7"/>
          <p:cNvSpPr/>
          <p:nvPr/>
        </p:nvSpPr>
        <p:spPr>
          <a:xfrm>
            <a:off x="548640" y="2971800"/>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3154680"/>
            <a:ext cx="502920" cy="5029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10" name="TextBox 9"/>
          <p:cNvSpPr txBox="1"/>
          <p:nvPr/>
        </p:nvSpPr>
        <p:spPr>
          <a:xfrm>
            <a:off x="1417320" y="3017520"/>
            <a:ext cx="3749039" cy="777240"/>
          </a:xfrm>
          <a:prstGeom prst="rect">
            <a:avLst/>
          </a:prstGeom>
          <a:noFill/>
        </p:spPr>
        <p:txBody>
          <a:bodyPr wrap="square" lIns="0" rIns="0" tIns="0" bIns="0" anchor="ctr">
            <a:spAutoFit/>
          </a:bodyPr>
          <a:lstStyle/>
          <a:p>
            <a:pPr algn="l"/>
            <a:r>
              <a:rPr sz="1600" b="1">
                <a:solidFill>
                  <a:srgbClr val="1F5A47"/>
                </a:solidFill>
              </a:rPr>
              <a:t>考えを出し合い、つなぐ</a:t>
            </a:r>
          </a:p>
          <a:p>
            <a:pPr algn="l"/>
            <a:r>
              <a:rPr sz="1300" b="0">
                <a:solidFill>
                  <a:srgbClr val="1E2B27"/>
                </a:solidFill>
              </a:rPr>
              <a:t>子供が黒板に考えを書き、全体で練り上げる</a:t>
            </a:r>
          </a:p>
        </p:txBody>
      </p:sp>
      <p:sp>
        <p:nvSpPr>
          <p:cNvPr id="11" name="Rounded Rectangle 10"/>
          <p:cNvSpPr/>
          <p:nvPr/>
        </p:nvSpPr>
        <p:spPr>
          <a:xfrm>
            <a:off x="548640" y="3977639"/>
            <a:ext cx="4754880" cy="86868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160520"/>
            <a:ext cx="502920" cy="5029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13" name="TextBox 12"/>
          <p:cNvSpPr txBox="1"/>
          <p:nvPr/>
        </p:nvSpPr>
        <p:spPr>
          <a:xfrm>
            <a:off x="1417320" y="4023359"/>
            <a:ext cx="3749039" cy="777240"/>
          </a:xfrm>
          <a:prstGeom prst="rect">
            <a:avLst/>
          </a:prstGeom>
          <a:noFill/>
        </p:spPr>
        <p:txBody>
          <a:bodyPr wrap="square" lIns="0" rIns="0" tIns="0" bIns="0" anchor="ctr">
            <a:spAutoFit/>
          </a:bodyPr>
          <a:lstStyle/>
          <a:p>
            <a:pPr algn="l"/>
            <a:r>
              <a:rPr sz="1600" b="1">
                <a:solidFill>
                  <a:srgbClr val="1F5A47"/>
                </a:solidFill>
              </a:rPr>
              <a:t>任せる２割を支える</a:t>
            </a:r>
          </a:p>
          <a:p>
            <a:pPr algn="l"/>
            <a:r>
              <a:rPr sz="1300" b="0">
                <a:solidFill>
                  <a:srgbClr val="1E2B27"/>
                </a:solidFill>
              </a:rPr>
              <a:t>身に付けた学び方がMP学習・FSPで生きる</a:t>
            </a:r>
          </a:p>
        </p:txBody>
      </p:sp>
      <p:sp>
        <p:nvSpPr>
          <p:cNvPr id="14" name="Rounded Rectangle 13"/>
          <p:cNvSpPr/>
          <p:nvPr/>
        </p:nvSpPr>
        <p:spPr>
          <a:xfrm>
            <a:off x="548640" y="5029200"/>
            <a:ext cx="4754880" cy="10515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029200"/>
            <a:ext cx="4297680" cy="1051560"/>
          </a:xfrm>
          <a:prstGeom prst="rect">
            <a:avLst/>
          </a:prstGeom>
          <a:noFill/>
        </p:spPr>
        <p:txBody>
          <a:bodyPr wrap="square" lIns="0" rIns="0" tIns="0" bIns="0" anchor="ctr">
            <a:spAutoFit/>
          </a:bodyPr>
          <a:lstStyle/>
          <a:p>
            <a:pPr algn="l"/>
            <a:r>
              <a:rPr sz="1700" b="1">
                <a:solidFill>
                  <a:srgbClr val="FFFFFF"/>
                </a:solidFill>
              </a:rPr>
              <a:t>子供に任せる２割は、</a:t>
            </a:r>
          </a:p>
          <a:p>
            <a:pPr algn="l"/>
            <a:r>
              <a:rPr sz="1700" b="1">
                <a:solidFill>
                  <a:srgbClr val="FBEADB"/>
                </a:solidFill>
              </a:rPr>
              <a:t>８割の普段の授業が支えている</a:t>
            </a:r>
          </a:p>
        </p:txBody>
      </p:sp>
      <p:pic>
        <p:nvPicPr>
          <p:cNvPr id="16" name="写真 IMG_0320.JPG" descr="IMG_0320.JPG"/>
          <p:cNvPicPr>
            <a:picLocks noChangeAspect="1"/>
          </p:cNvPicPr>
          <p:nvPr/>
        </p:nvPicPr>
        <p:blipFill>
          <a:blip r:embed="rId2"/>
          <a:srcRect t="126" b="126"/>
          <a:stretch>
            <a:fillRect/>
          </a:stretch>
        </p:blipFill>
        <p:spPr>
          <a:xfrm>
            <a:off x="5577840" y="1508760"/>
            <a:ext cx="2964027" cy="2217420"/>
          </a:xfrm>
          <a:prstGeom prst="rect">
            <a:avLst/>
          </a:prstGeom>
        </p:spPr>
      </p:pic>
      <p:pic>
        <p:nvPicPr>
          <p:cNvPr id="17" name="写真 IMG_0318.JPG" descr="IMG_0318.JPG"/>
          <p:cNvPicPr>
            <a:picLocks noChangeAspect="1"/>
          </p:cNvPicPr>
          <p:nvPr/>
        </p:nvPicPr>
        <p:blipFill>
          <a:blip r:embed="rId3"/>
          <a:srcRect t="126" b="126"/>
          <a:stretch>
            <a:fillRect/>
          </a:stretch>
        </p:blipFill>
        <p:spPr>
          <a:xfrm>
            <a:off x="8679027" y="1508760"/>
            <a:ext cx="2964027" cy="2217420"/>
          </a:xfrm>
          <a:prstGeom prst="rect">
            <a:avLst/>
          </a:prstGeom>
        </p:spPr>
      </p:pic>
      <p:pic>
        <p:nvPicPr>
          <p:cNvPr id="18" name="写真 IMG_0268.JPG" descr="IMG_0268.JPG"/>
          <p:cNvPicPr>
            <a:picLocks noChangeAspect="1"/>
          </p:cNvPicPr>
          <p:nvPr/>
        </p:nvPicPr>
        <p:blipFill>
          <a:blip r:embed="rId4"/>
          <a:srcRect b="252"/>
          <a:stretch>
            <a:fillRect/>
          </a:stretch>
        </p:blipFill>
        <p:spPr>
          <a:xfrm>
            <a:off x="5577840" y="3863339"/>
            <a:ext cx="2964027" cy="2217420"/>
          </a:xfrm>
          <a:prstGeom prst="rect">
            <a:avLst/>
          </a:prstGeom>
        </p:spPr>
      </p:pic>
      <p:pic>
        <p:nvPicPr>
          <p:cNvPr id="19" name="写真 IMG_0270.JPG" descr="IMG_0270.JPG"/>
          <p:cNvPicPr>
            <a:picLocks noChangeAspect="1"/>
          </p:cNvPicPr>
          <p:nvPr/>
        </p:nvPicPr>
        <p:blipFill>
          <a:blip r:embed="rId5"/>
          <a:srcRect t="126" b="126"/>
          <a:stretch>
            <a:fillRect/>
          </a:stretch>
        </p:blipFill>
        <p:spPr>
          <a:xfrm>
            <a:off x="8679027" y="3863339"/>
            <a:ext cx="2964027" cy="2217420"/>
          </a:xfrm>
          <a:prstGeom prst="rect">
            <a:avLst/>
          </a:prstGeom>
        </p:spPr>
      </p:pic>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フリースタイルプロジェクト（FSP）</a:t>
            </a:r>
            <a:endParaRPr lang="en-US" sz="3000" dirty="0"/>
          </a:p>
        </p:txBody>
      </p:sp>
      <p:sp>
        <p:nvSpPr>
          <p:cNvPr id="6" name="Shape 4"/>
          <p:cNvSpPr/>
          <p:nvPr/>
        </p:nvSpPr>
        <p:spPr>
          <a:xfrm>
            <a:off x="548640" y="1508760"/>
            <a:ext cx="1508760" cy="640080"/>
          </a:xfrm>
          <a:prstGeom prst="roundRect">
            <a:avLst>
              <a:gd name="adj" fmla="val 50000"/>
            </a:avLst>
          </a:prstGeom>
          <a:solidFill>
            <a:schemeClr val="accent2"/>
          </a:solidFill>
          <a:ln/>
        </p:spPr>
        <p:txBody>
          <a:bodyPr/>
          <a:lstStyle/>
          <a:p>
            <a:endParaRPr lang="ja-JP" altLang="en-US"/>
          </a:p>
        </p:txBody>
      </p:sp>
      <p:sp>
        <p:nvSpPr>
          <p:cNvPr id="7" name="Text 5"/>
          <p:cNvSpPr txBox="1"/>
          <p:nvPr/>
        </p:nvSpPr>
        <p:spPr>
          <a:xfrm>
            <a:off x="54864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テーマ設定</a:t>
            </a:r>
            <a:endParaRPr lang="en-US" sz="1700" dirty="0"/>
          </a:p>
        </p:txBody>
      </p:sp>
      <p:pic>
        <p:nvPicPr>
          <p:cNvPr id="8" name="Image 0" descr="preencoded.png"/>
          <p:cNvPicPr>
            <a:picLocks noChangeAspect="1"/>
          </p:cNvPicPr>
          <p:nvPr/>
        </p:nvPicPr>
        <p:blipFill>
          <a:blip r:embed="rId5"/>
          <a:stretch>
            <a:fillRect/>
          </a:stretch>
        </p:blipFill>
        <p:spPr>
          <a:xfrm>
            <a:off x="2090928" y="1709928"/>
            <a:ext cx="237744" cy="237744"/>
          </a:xfrm>
          <a:prstGeom prst="rect">
            <a:avLst/>
          </a:prstGeom>
        </p:spPr>
      </p:pic>
      <p:sp>
        <p:nvSpPr>
          <p:cNvPr id="9" name="Shape 6"/>
          <p:cNvSpPr/>
          <p:nvPr/>
        </p:nvSpPr>
        <p:spPr>
          <a:xfrm>
            <a:off x="2362200" y="1508760"/>
            <a:ext cx="1508760" cy="640080"/>
          </a:xfrm>
          <a:prstGeom prst="roundRect">
            <a:avLst>
              <a:gd name="adj" fmla="val 50000"/>
            </a:avLst>
          </a:prstGeom>
          <a:solidFill>
            <a:schemeClr val="tx2"/>
          </a:solidFill>
          <a:ln/>
        </p:spPr>
        <p:txBody>
          <a:bodyPr/>
          <a:lstStyle/>
          <a:p>
            <a:endParaRPr lang="ja-JP" altLang="en-US"/>
          </a:p>
        </p:txBody>
      </p:sp>
      <p:sp>
        <p:nvSpPr>
          <p:cNvPr id="10" name="Text 7"/>
          <p:cNvSpPr txBox="1"/>
          <p:nvPr/>
        </p:nvSpPr>
        <p:spPr>
          <a:xfrm>
            <a:off x="236220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探究</a:t>
            </a:r>
            <a:endParaRPr lang="en-US" sz="1700" dirty="0"/>
          </a:p>
        </p:txBody>
      </p:sp>
      <p:pic>
        <p:nvPicPr>
          <p:cNvPr id="11" name="Image 1" descr="preencoded.png"/>
          <p:cNvPicPr>
            <a:picLocks noChangeAspect="1"/>
          </p:cNvPicPr>
          <p:nvPr/>
        </p:nvPicPr>
        <p:blipFill>
          <a:blip r:embed="rId5"/>
          <a:stretch>
            <a:fillRect/>
          </a:stretch>
        </p:blipFill>
        <p:spPr>
          <a:xfrm>
            <a:off x="3904488" y="1709928"/>
            <a:ext cx="237744" cy="237744"/>
          </a:xfrm>
          <a:prstGeom prst="rect">
            <a:avLst/>
          </a:prstGeom>
        </p:spPr>
      </p:pic>
      <p:sp>
        <p:nvSpPr>
          <p:cNvPr id="12" name="Shape 8"/>
          <p:cNvSpPr/>
          <p:nvPr/>
        </p:nvSpPr>
        <p:spPr>
          <a:xfrm>
            <a:off x="4175760" y="1508760"/>
            <a:ext cx="1508760" cy="640080"/>
          </a:xfrm>
          <a:prstGeom prst="roundRect">
            <a:avLst>
              <a:gd name="adj" fmla="val 50000"/>
            </a:avLst>
          </a:prstGeom>
          <a:solidFill>
            <a:schemeClr val="tx2"/>
          </a:solidFill>
          <a:ln/>
        </p:spPr>
        <p:txBody>
          <a:bodyPr/>
          <a:lstStyle/>
          <a:p>
            <a:endParaRPr lang="ja-JP" altLang="en-US"/>
          </a:p>
        </p:txBody>
      </p:sp>
      <p:sp>
        <p:nvSpPr>
          <p:cNvPr id="13" name="Text 9"/>
          <p:cNvSpPr txBox="1"/>
          <p:nvPr/>
        </p:nvSpPr>
        <p:spPr>
          <a:xfrm>
            <a:off x="417576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発表</a:t>
            </a:r>
            <a:endParaRPr lang="en-US" sz="1700" dirty="0"/>
          </a:p>
        </p:txBody>
      </p:sp>
      <p:pic>
        <p:nvPicPr>
          <p:cNvPr id="14" name="Image 2" descr="preencoded.png"/>
          <p:cNvPicPr>
            <a:picLocks noChangeAspect="1"/>
          </p:cNvPicPr>
          <p:nvPr/>
        </p:nvPicPr>
        <p:blipFill>
          <a:blip r:embed="rId5"/>
          <a:stretch>
            <a:fillRect/>
          </a:stretch>
        </p:blipFill>
        <p:spPr>
          <a:xfrm>
            <a:off x="5718048" y="1709928"/>
            <a:ext cx="237744" cy="237744"/>
          </a:xfrm>
          <a:prstGeom prst="rect">
            <a:avLst/>
          </a:prstGeom>
        </p:spPr>
      </p:pic>
      <p:sp>
        <p:nvSpPr>
          <p:cNvPr id="15" name="Shape 10"/>
          <p:cNvSpPr/>
          <p:nvPr/>
        </p:nvSpPr>
        <p:spPr>
          <a:xfrm>
            <a:off x="5989320" y="1508760"/>
            <a:ext cx="1508760" cy="640080"/>
          </a:xfrm>
          <a:prstGeom prst="roundRect">
            <a:avLst>
              <a:gd name="adj" fmla="val 50000"/>
            </a:avLst>
          </a:prstGeom>
          <a:solidFill>
            <a:schemeClr val="tx2"/>
          </a:solidFill>
          <a:ln/>
        </p:spPr>
        <p:txBody>
          <a:bodyPr/>
          <a:lstStyle/>
          <a:p>
            <a:endParaRPr lang="ja-JP" altLang="en-US"/>
          </a:p>
        </p:txBody>
      </p:sp>
      <p:sp>
        <p:nvSpPr>
          <p:cNvPr id="16" name="Text 11"/>
          <p:cNvSpPr txBox="1"/>
          <p:nvPr/>
        </p:nvSpPr>
        <p:spPr>
          <a:xfrm>
            <a:off x="598932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省察</a:t>
            </a:r>
            <a:endParaRPr lang="en-US" sz="1700" dirty="0"/>
          </a:p>
        </p:txBody>
      </p:sp>
      <p:sp>
        <p:nvSpPr>
          <p:cNvPr id="17" name="Text 12"/>
          <p:cNvSpPr txBox="1"/>
          <p:nvPr/>
        </p:nvSpPr>
        <p:spPr>
          <a:xfrm>
            <a:off x="548640" y="2286000"/>
            <a:ext cx="6949440" cy="411480"/>
          </a:xfrm>
          <a:prstGeom prst="rect">
            <a:avLst/>
          </a:prstGeom>
          <a:noFill/>
          <a:ln/>
        </p:spPr>
        <p:txBody>
          <a:bodyPr wrap="square" lIns="0" tIns="0" rIns="0" bIns="0" rtlCol="0" anchor="ctr"/>
          <a:lstStyle/>
          <a:p>
            <a:pPr marL="0" indent="0">
              <a:buNone/>
            </a:pPr>
            <a:r>
              <a:rPr lang="en-US" sz="1500" b="1" dirty="0">
                <a:solidFill>
                  <a:schemeClr val="accent2"/>
                </a:solidFill>
              </a:rPr>
              <a:t>テーマは興味・関心から　</a:t>
            </a:r>
            <a:r>
              <a:rPr lang="en-US" sz="1500" dirty="0">
                <a:solidFill>
                  <a:schemeClr val="tx1"/>
                </a:solidFill>
              </a:rPr>
              <a:t>野球／犬／ネイル／ピアノ／野菜づくり など</a:t>
            </a:r>
            <a:endParaRPr lang="en-US" sz="1500" dirty="0"/>
          </a:p>
        </p:txBody>
      </p:sp>
      <p:sp>
        <p:nvSpPr>
          <p:cNvPr id="18" name="Shape 13"/>
          <p:cNvSpPr/>
          <p:nvPr/>
        </p:nvSpPr>
        <p:spPr>
          <a:xfrm>
            <a:off x="548640" y="2880360"/>
            <a:ext cx="6949440" cy="1783080"/>
          </a:xfrm>
          <a:prstGeom prst="roundRect">
            <a:avLst>
              <a:gd name="adj" fmla="val 4103"/>
            </a:avLst>
          </a:prstGeom>
          <a:solidFill>
            <a:schemeClr val="bg2"/>
          </a:solidFill>
          <a:ln/>
        </p:spPr>
        <p:txBody>
          <a:bodyPr/>
          <a:lstStyle/>
          <a:p>
            <a:endParaRPr lang="ja-JP" altLang="en-US"/>
          </a:p>
        </p:txBody>
      </p:sp>
      <p:sp>
        <p:nvSpPr>
          <p:cNvPr id="19" name="Text 14"/>
          <p:cNvSpPr txBox="1"/>
          <p:nvPr/>
        </p:nvSpPr>
        <p:spPr>
          <a:xfrm>
            <a:off x="777240" y="2971800"/>
            <a:ext cx="6492240" cy="365760"/>
          </a:xfrm>
          <a:prstGeom prst="rect">
            <a:avLst/>
          </a:prstGeom>
          <a:noFill/>
          <a:ln/>
        </p:spPr>
        <p:txBody>
          <a:bodyPr wrap="square" lIns="0" tIns="0" rIns="0" bIns="0" rtlCol="0" anchor="ctr"/>
          <a:lstStyle/>
          <a:p>
            <a:pPr marL="0" indent="0">
              <a:buNone/>
            </a:pPr>
            <a:r>
              <a:rPr lang="en-US" sz="1600" b="1" dirty="0">
                <a:solidFill>
                  <a:schemeClr val="tx2"/>
                </a:solidFill>
              </a:rPr>
              <a:t>計画・振り返りカードによる伴走</a:t>
            </a:r>
            <a:endParaRPr lang="en-US" sz="1600" dirty="0"/>
          </a:p>
        </p:txBody>
      </p:sp>
      <p:sp>
        <p:nvSpPr>
          <p:cNvPr id="20" name="Shape 15"/>
          <p:cNvSpPr/>
          <p:nvPr/>
        </p:nvSpPr>
        <p:spPr>
          <a:xfrm>
            <a:off x="777240" y="3465576"/>
            <a:ext cx="329184" cy="329184"/>
          </a:xfrm>
          <a:prstGeom prst="ellipse">
            <a:avLst/>
          </a:prstGeom>
          <a:solidFill>
            <a:schemeClr val="accent1"/>
          </a:solidFill>
          <a:ln/>
        </p:spPr>
        <p:txBody>
          <a:bodyPr/>
          <a:lstStyle/>
          <a:p>
            <a:endParaRPr lang="ja-JP" altLang="en-US"/>
          </a:p>
        </p:txBody>
      </p:sp>
      <p:sp>
        <p:nvSpPr>
          <p:cNvPr id="21" name="Text 16"/>
          <p:cNvSpPr txBox="1"/>
          <p:nvPr/>
        </p:nvSpPr>
        <p:spPr>
          <a:xfrm>
            <a:off x="77724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Text 17"/>
          <p:cNvSpPr txBox="1"/>
          <p:nvPr/>
        </p:nvSpPr>
        <p:spPr>
          <a:xfrm>
            <a:off x="123444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テーマ設定の理由</a:t>
            </a:r>
            <a:endParaRPr lang="en-US" sz="1500" dirty="0"/>
          </a:p>
        </p:txBody>
      </p:sp>
      <p:sp>
        <p:nvSpPr>
          <p:cNvPr id="23" name="Shape 18"/>
          <p:cNvSpPr/>
          <p:nvPr/>
        </p:nvSpPr>
        <p:spPr>
          <a:xfrm>
            <a:off x="4069080" y="3465576"/>
            <a:ext cx="329184" cy="329184"/>
          </a:xfrm>
          <a:prstGeom prst="ellipse">
            <a:avLst/>
          </a:prstGeom>
          <a:solidFill>
            <a:schemeClr val="accent1"/>
          </a:solidFill>
          <a:ln/>
        </p:spPr>
        <p:txBody>
          <a:bodyPr/>
          <a:lstStyle/>
          <a:p>
            <a:endParaRPr lang="ja-JP" altLang="en-US"/>
          </a:p>
        </p:txBody>
      </p:sp>
      <p:sp>
        <p:nvSpPr>
          <p:cNvPr id="24" name="Text 19"/>
          <p:cNvSpPr txBox="1"/>
          <p:nvPr/>
        </p:nvSpPr>
        <p:spPr>
          <a:xfrm>
            <a:off x="406908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5" name="Text 20"/>
          <p:cNvSpPr txBox="1"/>
          <p:nvPr/>
        </p:nvSpPr>
        <p:spPr>
          <a:xfrm>
            <a:off x="452628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活動内容</a:t>
            </a:r>
            <a:endParaRPr lang="en-US" sz="1500" dirty="0"/>
          </a:p>
        </p:txBody>
      </p:sp>
      <p:sp>
        <p:nvSpPr>
          <p:cNvPr id="26" name="Shape 21"/>
          <p:cNvSpPr/>
          <p:nvPr/>
        </p:nvSpPr>
        <p:spPr>
          <a:xfrm>
            <a:off x="777240" y="3922776"/>
            <a:ext cx="329184" cy="329184"/>
          </a:xfrm>
          <a:prstGeom prst="ellipse">
            <a:avLst/>
          </a:prstGeom>
          <a:solidFill>
            <a:schemeClr val="accent1"/>
          </a:solidFill>
          <a:ln/>
        </p:spPr>
        <p:txBody>
          <a:bodyPr/>
          <a:lstStyle/>
          <a:p>
            <a:endParaRPr lang="ja-JP" altLang="en-US"/>
          </a:p>
        </p:txBody>
      </p:sp>
      <p:sp>
        <p:nvSpPr>
          <p:cNvPr id="27" name="Text 22"/>
          <p:cNvSpPr txBox="1"/>
          <p:nvPr/>
        </p:nvSpPr>
        <p:spPr>
          <a:xfrm>
            <a:off x="77724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8" name="Text 23"/>
          <p:cNvSpPr txBox="1"/>
          <p:nvPr/>
        </p:nvSpPr>
        <p:spPr>
          <a:xfrm>
            <a:off x="123444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学んだこと</a:t>
            </a:r>
            <a:endParaRPr lang="en-US" sz="1500" dirty="0"/>
          </a:p>
        </p:txBody>
      </p:sp>
      <p:sp>
        <p:nvSpPr>
          <p:cNvPr id="29" name="Shape 24"/>
          <p:cNvSpPr/>
          <p:nvPr/>
        </p:nvSpPr>
        <p:spPr>
          <a:xfrm>
            <a:off x="4069080" y="3922776"/>
            <a:ext cx="329184" cy="329184"/>
          </a:xfrm>
          <a:prstGeom prst="ellipse">
            <a:avLst/>
          </a:prstGeom>
          <a:solidFill>
            <a:schemeClr val="accent1"/>
          </a:solidFill>
          <a:ln/>
        </p:spPr>
        <p:txBody>
          <a:bodyPr/>
          <a:lstStyle/>
          <a:p>
            <a:endParaRPr lang="ja-JP" altLang="en-US"/>
          </a:p>
        </p:txBody>
      </p:sp>
      <p:sp>
        <p:nvSpPr>
          <p:cNvPr id="30" name="Text 25"/>
          <p:cNvSpPr txBox="1"/>
          <p:nvPr/>
        </p:nvSpPr>
        <p:spPr>
          <a:xfrm>
            <a:off x="406908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6"/>
          <p:cNvSpPr txBox="1"/>
          <p:nvPr/>
        </p:nvSpPr>
        <p:spPr>
          <a:xfrm>
            <a:off x="452628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次に取り組みたいこと</a:t>
            </a:r>
            <a:endParaRPr lang="en-US" sz="1500" dirty="0"/>
          </a:p>
        </p:txBody>
      </p:sp>
      <p:sp>
        <p:nvSpPr>
          <p:cNvPr id="32" name="Text 27"/>
          <p:cNvSpPr txBox="1"/>
          <p:nvPr/>
        </p:nvSpPr>
        <p:spPr>
          <a:xfrm>
            <a:off x="777240" y="4297680"/>
            <a:ext cx="6492240" cy="320040"/>
          </a:xfrm>
          <a:prstGeom prst="rect">
            <a:avLst/>
          </a:prstGeom>
          <a:noFill/>
          <a:ln/>
        </p:spPr>
        <p:txBody>
          <a:bodyPr wrap="square" lIns="0" tIns="0" rIns="0" bIns="0" rtlCol="0" anchor="ctr"/>
          <a:lstStyle/>
          <a:p>
            <a:pPr marL="0" indent="0">
              <a:buNone/>
            </a:pPr>
            <a:r>
              <a:rPr lang="en-US" sz="1300" dirty="0">
                <a:solidFill>
                  <a:schemeClr val="accent5"/>
                </a:solidFill>
              </a:rPr>
              <a:t>教師はコメントを通して伴走。単発の自由研究ではなく、継続的な探究</a:t>
            </a:r>
            <a:endParaRPr lang="en-US" sz="1300" dirty="0"/>
          </a:p>
        </p:txBody>
      </p:sp>
      <p:sp>
        <p:nvSpPr>
          <p:cNvPr id="33" name="Shape 28"/>
          <p:cNvSpPr/>
          <p:nvPr/>
        </p:nvSpPr>
        <p:spPr>
          <a:xfrm>
            <a:off x="548640" y="4846320"/>
            <a:ext cx="6949440" cy="1143000"/>
          </a:xfrm>
          <a:prstGeom prst="roundRect">
            <a:avLst>
              <a:gd name="adj" fmla="val 6400"/>
            </a:avLst>
          </a:prstGeom>
          <a:solidFill>
            <a:schemeClr val="accent4"/>
          </a:solidFill>
          <a:ln/>
        </p:spPr>
        <p:txBody>
          <a:bodyPr/>
          <a:lstStyle/>
          <a:p>
            <a:endParaRPr lang="ja-JP" altLang="en-US"/>
          </a:p>
        </p:txBody>
      </p:sp>
      <p:sp>
        <p:nvSpPr>
          <p:cNvPr id="34" name="Text 29"/>
          <p:cNvSpPr txBox="1"/>
          <p:nvPr/>
        </p:nvSpPr>
        <p:spPr>
          <a:xfrm>
            <a:off x="777240" y="4846320"/>
            <a:ext cx="6492240" cy="1143000"/>
          </a:xfrm>
          <a:prstGeom prst="rect">
            <a:avLst/>
          </a:prstGeom>
          <a:noFill/>
          <a:ln/>
        </p:spPr>
        <p:txBody>
          <a:bodyPr wrap="square" lIns="0" tIns="0" rIns="0" bIns="0" rtlCol="0" anchor="ctr"/>
          <a:lstStyle/>
          <a:p>
            <a:pPr marL="0" indent="0">
              <a:buNone/>
            </a:pPr>
            <a:r>
              <a:rPr lang="en-US" sz="1500" b="1" dirty="0">
                <a:solidFill>
                  <a:schemeClr val="accent2"/>
                </a:solidFill>
              </a:rPr>
              <a:t>発表会　</a:t>
            </a:r>
            <a:r>
              <a:rPr lang="en-US" sz="1500" dirty="0">
                <a:solidFill>
                  <a:schemeClr val="tx1"/>
                </a:solidFill>
              </a:rPr>
              <a:t>スライド発表・ブース発表・実演発表など、方法も選べる。探究の過程や成長・気付きを整理し、聞き手との対話を重視</a:t>
            </a:r>
            <a:endParaRPr lang="en-US" sz="1500" dirty="0"/>
          </a:p>
        </p:txBody>
      </p:sp>
      <p:sp>
        <p:nvSpPr>
          <p:cNvPr id="3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6" name="写真 IMG_0070.JPG" descr="image.JPG"/>
          <p:cNvPicPr>
            <a:picLocks noChangeAspect="1"/>
          </p:cNvPicPr>
          <p:nvPr/>
        </p:nvPicPr>
        <p:blipFill>
          <a:blip r:embed="rId4"/>
          <a:srcRect l="40" r="40"/>
          <a:stretch>
            <a:fillRect/>
          </a:stretch>
        </p:blipFill>
        <p:spPr>
          <a:xfrm>
            <a:off x="7863840" y="1508760"/>
            <a:ext cx="3776472" cy="2834640"/>
          </a:xfrm>
          <a:prstGeom prst="rect">
            <a:avLst/>
          </a:prstGeom>
        </p:spPr>
      </p:pic>
      <p:pic>
        <p:nvPicPr>
          <p:cNvPr id="37" name="写真 IMG_0107.JPG" descr="IMG_0107.JPG"/>
          <p:cNvPicPr>
            <a:picLocks noChangeAspect="1"/>
          </p:cNvPicPr>
          <p:nvPr/>
        </p:nvPicPr>
        <p:blipFill>
          <a:blip r:embed="rId6"/>
          <a:srcRect l="7357" r="7357"/>
          <a:stretch>
            <a:fillRect/>
          </a:stretch>
        </p:blipFill>
        <p:spPr>
          <a:xfrm>
            <a:off x="7863840" y="4480560"/>
            <a:ext cx="1819656" cy="1600200"/>
          </a:xfrm>
          <a:prstGeom prst="rect">
            <a:avLst/>
          </a:prstGeom>
        </p:spPr>
      </p:pic>
      <p:pic>
        <p:nvPicPr>
          <p:cNvPr id="38" name="写真 IMG_0083.JPG" descr="IMG_0083.JPG"/>
          <p:cNvPicPr>
            <a:picLocks noChangeAspect="1"/>
          </p:cNvPicPr>
          <p:nvPr/>
        </p:nvPicPr>
        <p:blipFill>
          <a:blip r:embed="rId7"/>
          <a:srcRect l="2357" r="12357"/>
          <a:stretch>
            <a:fillRect/>
          </a:stretch>
        </p:blipFill>
        <p:spPr>
          <a:xfrm>
            <a:off x="9820656" y="4480560"/>
            <a:ext cx="1819656" cy="160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学校全体を学習空間に</a:t>
            </a:r>
            <a:endParaRPr lang="en-US" sz="3000" dirty="0"/>
          </a:p>
        </p:txBody>
      </p:sp>
      <p:sp>
        <p:nvSpPr>
          <p:cNvPr id="6" name="Shape 4"/>
          <p:cNvSpPr/>
          <p:nvPr/>
        </p:nvSpPr>
        <p:spPr>
          <a:xfrm>
            <a:off x="548640" y="1508760"/>
            <a:ext cx="6949440" cy="2148840"/>
          </a:xfrm>
          <a:prstGeom prst="roundRect">
            <a:avLst>
              <a:gd name="adj" fmla="val 3404"/>
            </a:avLst>
          </a:prstGeom>
          <a:solidFill>
            <a:schemeClr val="bg2"/>
          </a:solidFill>
          <a:ln/>
        </p:spPr>
        <p:txBody>
          <a:bodyPr/>
          <a:lstStyle/>
          <a:p>
            <a:endParaRPr lang="ja-JP" altLang="en-US"/>
          </a:p>
        </p:txBody>
      </p:sp>
      <p:sp>
        <p:nvSpPr>
          <p:cNvPr id="7" name="Text 5"/>
          <p:cNvSpPr txBox="1"/>
          <p:nvPr/>
        </p:nvSpPr>
        <p:spPr>
          <a:xfrm>
            <a:off x="777240" y="1600200"/>
            <a:ext cx="6492240" cy="411480"/>
          </a:xfrm>
          <a:prstGeom prst="rect">
            <a:avLst/>
          </a:prstGeom>
          <a:noFill/>
          <a:ln/>
        </p:spPr>
        <p:txBody>
          <a:bodyPr wrap="square" lIns="0" tIns="0" rIns="0" bIns="0" rtlCol="0" anchor="ctr"/>
          <a:lstStyle/>
          <a:p>
            <a:pPr marL="0" indent="0">
              <a:buNone/>
            </a:pPr>
            <a:r>
              <a:rPr lang="en-US" sz="1700" b="1" dirty="0">
                <a:solidFill>
                  <a:schemeClr val="tx2"/>
                </a:solidFill>
              </a:rPr>
              <a:t>学校全体を学習空間に</a:t>
            </a:r>
            <a:endParaRPr lang="en-US" sz="1700" dirty="0"/>
          </a:p>
        </p:txBody>
      </p:sp>
      <p:sp>
        <p:nvSpPr>
          <p:cNvPr id="8" name="Text 6"/>
          <p:cNvSpPr txBox="1"/>
          <p:nvPr/>
        </p:nvSpPr>
        <p:spPr>
          <a:xfrm>
            <a:off x="777240" y="2057400"/>
            <a:ext cx="6492240" cy="105156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整備された環境　</a:t>
            </a:r>
            <a:r>
              <a:rPr lang="en-US" sz="1400" dirty="0">
                <a:solidFill>
                  <a:schemeClr val="tx1"/>
                </a:solidFill>
              </a:rPr>
              <a:t>理科学習ステーション／伝統工芸コーナー／発展課題コーナー／学習資料コーナー／QRコード教材</a:t>
            </a:r>
            <a:endParaRPr lang="en-US" sz="1400" dirty="0"/>
          </a:p>
          <a:p>
            <a:pPr marL="0" indent="0">
              <a:spcAft>
                <a:spcPts val="400"/>
              </a:spcAft>
              <a:buNone/>
            </a:pPr>
            <a:r>
              <a:rPr lang="en-US" sz="1400" b="1" dirty="0">
                <a:solidFill>
                  <a:schemeClr val="accent2"/>
                </a:solidFill>
              </a:rPr>
              <a:t>教室以外も活用　</a:t>
            </a:r>
            <a:r>
              <a:rPr lang="en-US" sz="1400" dirty="0">
                <a:solidFill>
                  <a:schemeClr val="tx1"/>
                </a:solidFill>
              </a:rPr>
              <a:t>廊下／オープンスペース／壁面／図書コーナー</a:t>
            </a:r>
            <a:endParaRPr lang="en-US" sz="1400" dirty="0"/>
          </a:p>
        </p:txBody>
      </p:sp>
      <p:sp>
        <p:nvSpPr>
          <p:cNvPr id="9" name="Text 7"/>
          <p:cNvSpPr txBox="1"/>
          <p:nvPr/>
        </p:nvSpPr>
        <p:spPr>
          <a:xfrm>
            <a:off x="777240" y="3154680"/>
            <a:ext cx="6492240" cy="411480"/>
          </a:xfrm>
          <a:prstGeom prst="rect">
            <a:avLst/>
          </a:prstGeom>
          <a:noFill/>
          <a:ln/>
        </p:spPr>
        <p:txBody>
          <a:bodyPr wrap="square" lIns="0" tIns="0" rIns="0" bIns="0" rtlCol="0" anchor="ctr"/>
          <a:lstStyle/>
          <a:p>
            <a:pPr marL="0" indent="0">
              <a:buNone/>
            </a:pPr>
            <a:r>
              <a:rPr lang="en-US" sz="1500" b="1" dirty="0">
                <a:solidFill>
                  <a:schemeClr val="accent1"/>
                </a:solidFill>
              </a:rPr>
              <a:t>→「どこで学ぶか」「何を使って学ぶか」を子供が選ぶ</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写真 IMG_0030.JPG" descr="IMG_0030.JPG"/>
          <p:cNvPicPr>
            <a:picLocks noChangeAspect="1"/>
          </p:cNvPicPr>
          <p:nvPr/>
        </p:nvPicPr>
        <p:blipFill>
          <a:blip r:embed="rId9"/>
          <a:srcRect t="19711" b="29711"/>
          <a:stretch>
            <a:fillRect/>
          </a:stretch>
        </p:blipFill>
        <p:spPr>
          <a:xfrm>
            <a:off x="7863840" y="1508760"/>
            <a:ext cx="3776472" cy="1432560"/>
          </a:xfrm>
          <a:prstGeom prst="rect">
            <a:avLst/>
          </a:prstGeom>
        </p:spPr>
      </p:pic>
      <p:pic>
        <p:nvPicPr>
          <p:cNvPr id="27" name="写真 IMG_0065.JPG" descr="IMG_0065.JPG"/>
          <p:cNvPicPr>
            <a:picLocks noChangeAspect="1"/>
          </p:cNvPicPr>
          <p:nvPr/>
        </p:nvPicPr>
        <p:blipFill>
          <a:blip r:embed="rId10"/>
          <a:srcRect t="29711" b="19711"/>
          <a:stretch>
            <a:fillRect/>
          </a:stretch>
        </p:blipFill>
        <p:spPr>
          <a:xfrm>
            <a:off x="7863840" y="3078479"/>
            <a:ext cx="3776472" cy="1432560"/>
          </a:xfrm>
          <a:prstGeom prst="rect">
            <a:avLst/>
          </a:prstGeom>
        </p:spPr>
      </p:pic>
      <p:pic>
        <p:nvPicPr>
          <p:cNvPr id="28" name="写真 IMG_0100.JPG" descr="image.JPG"/>
          <p:cNvPicPr>
            <a:picLocks noChangeAspect="1"/>
          </p:cNvPicPr>
          <p:nvPr/>
        </p:nvPicPr>
        <p:blipFill>
          <a:blip r:embed="rId5"/>
          <a:srcRect t="19711" b="29711"/>
          <a:stretch>
            <a:fillRect/>
          </a:stretch>
        </p:blipFill>
        <p:spPr>
          <a:xfrm>
            <a:off x="7863840" y="4648200"/>
            <a:ext cx="3776472" cy="1432560"/>
          </a:xfrm>
          <a:prstGeom prst="rect">
            <a:avLst/>
          </a:prstGeom>
        </p:spPr>
      </p:pic>
      <p:pic>
        <p:nvPicPr>
          <p:cNvPr id="29" name="写真 IMG_0145.JPG" descr="IMG_0145.JPG"/>
          <p:cNvPicPr>
            <a:picLocks noChangeAspect="1"/>
          </p:cNvPicPr>
          <p:nvPr/>
        </p:nvPicPr>
        <p:blipFill>
          <a:blip r:embed="rId14"/>
          <a:srcRect l="11170" r="11170"/>
          <a:stretch>
            <a:fillRect/>
          </a:stretch>
        </p:blipFill>
        <p:spPr>
          <a:xfrm>
            <a:off x="548640" y="3931920"/>
            <a:ext cx="2225040" cy="2148840"/>
          </a:xfrm>
          <a:prstGeom prst="rect">
            <a:avLst/>
          </a:prstGeom>
        </p:spPr>
      </p:pic>
      <p:pic>
        <p:nvPicPr>
          <p:cNvPr id="30" name="写真 IMG_0288.JPG" descr="IMG_0288.JPG"/>
          <p:cNvPicPr>
            <a:picLocks noChangeAspect="1"/>
          </p:cNvPicPr>
          <p:nvPr/>
        </p:nvPicPr>
        <p:blipFill>
          <a:blip r:embed="rId15"/>
          <a:srcRect l="11170" r="11170"/>
          <a:stretch>
            <a:fillRect/>
          </a:stretch>
        </p:blipFill>
        <p:spPr>
          <a:xfrm>
            <a:off x="2910840" y="3931920"/>
            <a:ext cx="2225040" cy="2148840"/>
          </a:xfrm>
          <a:prstGeom prst="rect">
            <a:avLst/>
          </a:prstGeom>
        </p:spPr>
      </p:pic>
      <p:pic>
        <p:nvPicPr>
          <p:cNvPr id="31" name="写真 IMG_0123.JPG" descr="image.JPG"/>
          <p:cNvPicPr>
            <a:picLocks noChangeAspect="1"/>
          </p:cNvPicPr>
          <p:nvPr/>
        </p:nvPicPr>
        <p:blipFill>
          <a:blip r:embed="rId8"/>
          <a:srcRect l="1170" r="21170"/>
          <a:stretch>
            <a:fillRect/>
          </a:stretch>
        </p:blipFill>
        <p:spPr>
          <a:xfrm>
            <a:off x="5273039" y="3931920"/>
            <a:ext cx="2225040" cy="21488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QUIZ 2｜指導主事同士で考えよう</a:t>
            </a:r>
          </a:p>
        </p:txBody>
      </p:sp>
      <p:sp>
        <p:nvSpPr>
          <p:cNvPr id="3" name="Title 2"/>
          <p:cNvSpPr>
            <a:spLocks noGrp="1"/>
          </p:cNvSpPr>
          <p:nvPr>
            <p:ph type="title" idx="101"/>
          </p:nvPr>
        </p:nvSpPr>
        <p:spPr/>
        <p:txBody>
          <a:bodyPr/>
          <a:lstStyle/>
          <a:p>
            <a:r>
              <a:t>計画どおりに進まなかった子供。同校が大切にしているのは？</a:t>
            </a:r>
          </a:p>
        </p:txBody>
      </p:sp>
      <p:sp>
        <p:nvSpPr>
          <p:cNvPr id="4" name="TextBox 3"/>
          <p:cNvSpPr txBox="1"/>
          <p:nvPr/>
        </p:nvSpPr>
        <p:spPr>
          <a:xfrm>
            <a:off x="548640" y="1508760"/>
            <a:ext cx="11094415" cy="411480"/>
          </a:xfrm>
          <a:prstGeom prst="rect">
            <a:avLst/>
          </a:prstGeom>
          <a:noFill/>
        </p:spPr>
        <p:txBody>
          <a:bodyPr wrap="square" lIns="0" rIns="0" tIns="0" bIns="0" anchor="ctr">
            <a:spAutoFit/>
          </a:bodyPr>
          <a:lstStyle/>
          <a:p>
            <a:pPr algn="l"/>
            <a:r>
              <a:rPr sz="1500" b="0">
                <a:solidFill>
                  <a:srgbClr val="5E6E68"/>
                </a:solidFill>
              </a:rPr>
              <a:t>マイプラン学習（MP学習）で、単元の途中で計画より遅れてしまった場面</a:t>
            </a:r>
          </a:p>
        </p:txBody>
      </p:sp>
      <p:sp>
        <p:nvSpPr>
          <p:cNvPr id="5" name="Rounded Rectangle 4"/>
          <p:cNvSpPr/>
          <p:nvPr/>
        </p:nvSpPr>
        <p:spPr>
          <a:xfrm>
            <a:off x="548640"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40509"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A</a:t>
            </a:r>
          </a:p>
        </p:txBody>
      </p:sp>
      <p:sp>
        <p:nvSpPr>
          <p:cNvPr id="7" name="TextBox 6"/>
          <p:cNvSpPr txBox="1"/>
          <p:nvPr/>
        </p:nvSpPr>
        <p:spPr>
          <a:xfrm>
            <a:off x="777240" y="3246120"/>
            <a:ext cx="3058058" cy="868680"/>
          </a:xfrm>
          <a:prstGeom prst="rect">
            <a:avLst/>
          </a:prstGeom>
          <a:noFill/>
        </p:spPr>
        <p:txBody>
          <a:bodyPr wrap="square" lIns="0" rIns="0" tIns="0" bIns="0" anchor="ctr">
            <a:spAutoFit/>
          </a:bodyPr>
          <a:lstStyle/>
          <a:p>
            <a:pPr algn="ctr"/>
            <a:r>
              <a:rPr sz="2000" b="1">
                <a:solidFill>
                  <a:srgbClr val="1F5A47"/>
                </a:solidFill>
              </a:rPr>
              <a:t>計画に追いつくよう
家庭学習で補わせる</a:t>
            </a:r>
          </a:p>
        </p:txBody>
      </p:sp>
      <p:sp>
        <p:nvSpPr>
          <p:cNvPr id="8" name="Rounded Rectangle 7"/>
          <p:cNvSpPr/>
          <p:nvPr/>
        </p:nvSpPr>
        <p:spPr>
          <a:xfrm>
            <a:off x="4338218"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730087"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B</a:t>
            </a:r>
          </a:p>
        </p:txBody>
      </p:sp>
      <p:sp>
        <p:nvSpPr>
          <p:cNvPr id="10" name="TextBox 9"/>
          <p:cNvSpPr txBox="1"/>
          <p:nvPr/>
        </p:nvSpPr>
        <p:spPr>
          <a:xfrm>
            <a:off x="4566818" y="3246120"/>
            <a:ext cx="3058058" cy="868680"/>
          </a:xfrm>
          <a:prstGeom prst="rect">
            <a:avLst/>
          </a:prstGeom>
          <a:noFill/>
        </p:spPr>
        <p:txBody>
          <a:bodyPr wrap="square" lIns="0" rIns="0" tIns="0" bIns="0" anchor="ctr">
            <a:spAutoFit/>
          </a:bodyPr>
          <a:lstStyle/>
          <a:p>
            <a:pPr algn="ctr"/>
            <a:r>
              <a:rPr sz="2000" b="1">
                <a:solidFill>
                  <a:srgbClr val="1F5A47"/>
                </a:solidFill>
              </a:rPr>
              <a:t>計画を修正して
学び直す</a:t>
            </a:r>
          </a:p>
        </p:txBody>
      </p:sp>
      <p:sp>
        <p:nvSpPr>
          <p:cNvPr id="11" name="Rounded Rectangle 10"/>
          <p:cNvSpPr/>
          <p:nvPr/>
        </p:nvSpPr>
        <p:spPr>
          <a:xfrm>
            <a:off x="8127796" y="2148840"/>
            <a:ext cx="3515258" cy="2103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19665" y="237744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rPr>
              <a:t>C</a:t>
            </a:r>
          </a:p>
        </p:txBody>
      </p:sp>
      <p:sp>
        <p:nvSpPr>
          <p:cNvPr id="13" name="TextBox 12"/>
          <p:cNvSpPr txBox="1"/>
          <p:nvPr/>
        </p:nvSpPr>
        <p:spPr>
          <a:xfrm>
            <a:off x="8356396" y="3246120"/>
            <a:ext cx="3058058" cy="868680"/>
          </a:xfrm>
          <a:prstGeom prst="rect">
            <a:avLst/>
          </a:prstGeom>
          <a:noFill/>
        </p:spPr>
        <p:txBody>
          <a:bodyPr wrap="square" lIns="0" rIns="0" tIns="0" bIns="0" anchor="ctr">
            <a:spAutoFit/>
          </a:bodyPr>
          <a:lstStyle/>
          <a:p>
            <a:pPr algn="ctr"/>
            <a:r>
              <a:rPr sz="2000" b="1">
                <a:solidFill>
                  <a:srgbClr val="1F5A47"/>
                </a:solidFill>
              </a:rPr>
              <a:t>教師が個別に教えて
計画に戻す</a:t>
            </a:r>
          </a:p>
        </p:txBody>
      </p:sp>
      <p:sp>
        <p:nvSpPr>
          <p:cNvPr id="14" name="Rounded Rectangle 13"/>
          <p:cNvSpPr/>
          <p:nvPr/>
        </p:nvSpPr>
        <p:spPr>
          <a:xfrm>
            <a:off x="548640" y="4709160"/>
            <a:ext cx="11094415" cy="12801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498348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rPr>
              <a:t>話</a:t>
            </a:r>
          </a:p>
        </p:txBody>
      </p:sp>
      <p:sp>
        <p:nvSpPr>
          <p:cNvPr id="16" name="TextBox 15"/>
          <p:cNvSpPr txBox="1"/>
          <p:nvPr/>
        </p:nvSpPr>
        <p:spPr>
          <a:xfrm>
            <a:off x="1874519" y="4709160"/>
            <a:ext cx="6400800" cy="1280160"/>
          </a:xfrm>
          <a:prstGeom prst="rect">
            <a:avLst/>
          </a:prstGeom>
          <a:noFill/>
        </p:spPr>
        <p:txBody>
          <a:bodyPr wrap="square" lIns="0" rIns="0" tIns="0" bIns="0" anchor="ctr">
            <a:spAutoFit/>
          </a:bodyPr>
          <a:lstStyle/>
          <a:p>
            <a:pPr algn="l"/>
            <a:r>
              <a:rPr sz="2200" b="1">
                <a:solidFill>
                  <a:srgbClr val="FFFFFF"/>
                </a:solidFill>
              </a:rPr>
              <a:t>隣の人と相談（１分）</a:t>
            </a:r>
          </a:p>
          <a:p>
            <a:pPr algn="l"/>
            <a:r>
              <a:rPr sz="1500" b="0">
                <a:solidFill>
                  <a:srgbClr val="D3E3D9"/>
                </a:solidFill>
              </a:rPr>
              <a:t>選んだ理由も話してみてください</a:t>
            </a:r>
          </a:p>
        </p:txBody>
      </p:sp>
      <p:sp>
        <p:nvSpPr>
          <p:cNvPr id="17" name="TextBox 16"/>
          <p:cNvSpPr txBox="1"/>
          <p:nvPr/>
        </p:nvSpPr>
        <p:spPr>
          <a:xfrm>
            <a:off x="8321040" y="4709160"/>
            <a:ext cx="3001975" cy="1280160"/>
          </a:xfrm>
          <a:prstGeom prst="rect">
            <a:avLst/>
          </a:prstGeom>
          <a:noFill/>
        </p:spPr>
        <p:txBody>
          <a:bodyPr wrap="square" lIns="0" rIns="0" tIns="0" bIns="0" anchor="ctr">
            <a:spAutoFit/>
          </a:bodyPr>
          <a:lstStyle/>
          <a:p>
            <a:pPr algn="r"/>
            <a:r>
              <a:rPr sz="1600" b="1">
                <a:solidFill>
                  <a:srgbClr val="FBEADB"/>
                </a:solidFill>
              </a:rPr>
              <a:t>答えは次のスライドで</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マイプラン学習（MP学習）</a:t>
            </a:r>
            <a:endParaRPr lang="en-US" sz="3000" dirty="0"/>
          </a:p>
        </p:txBody>
      </p:sp>
      <p:sp>
        <p:nvSpPr>
          <p:cNvPr id="5" name="Text 3"/>
          <p:cNvSpPr txBox="1"/>
          <p:nvPr/>
        </p:nvSpPr>
        <p:spPr>
          <a:xfrm>
            <a:off x="548640" y="1508760"/>
            <a:ext cx="6949440" cy="320040"/>
          </a:xfrm>
          <a:prstGeom prst="rect">
            <a:avLst/>
          </a:prstGeom>
          <a:noFill/>
          <a:ln/>
        </p:spPr>
        <p:txBody>
          <a:bodyPr wrap="square" lIns="0" tIns="0" rIns="0" bIns="0" rtlCol="0" anchor="ctr"/>
          <a:lstStyle/>
          <a:p>
            <a:pPr marL="0" indent="0">
              <a:buNone/>
            </a:pPr>
            <a:r>
              <a:rPr lang="en-US" sz="1400" dirty="0">
                <a:solidFill>
                  <a:schemeClr val="accent5"/>
                </a:solidFill>
              </a:rPr>
              <a:t>単に進度を自由にする学習ではなく ――</a:t>
            </a:r>
            <a:endParaRPr lang="en-US" sz="1400" dirty="0"/>
          </a:p>
        </p:txBody>
      </p:sp>
      <p:sp>
        <p:nvSpPr>
          <p:cNvPr id="6" name="Shape 4"/>
          <p:cNvSpPr/>
          <p:nvPr/>
        </p:nvSpPr>
        <p:spPr>
          <a:xfrm>
            <a:off x="548640" y="1874520"/>
            <a:ext cx="6949440" cy="777240"/>
          </a:xfrm>
          <a:prstGeom prst="roundRect">
            <a:avLst>
              <a:gd name="adj" fmla="val 9412"/>
            </a:avLst>
          </a:prstGeom>
          <a:solidFill>
            <a:schemeClr val="tx2"/>
          </a:solidFill>
          <a:ln/>
        </p:spPr>
        <p:txBody>
          <a:bodyPr/>
          <a:lstStyle/>
          <a:p>
            <a:endParaRPr lang="ja-JP" altLang="en-US"/>
          </a:p>
        </p:txBody>
      </p:sp>
      <p:sp>
        <p:nvSpPr>
          <p:cNvPr id="7" name="Text 5"/>
          <p:cNvSpPr txBox="1"/>
          <p:nvPr/>
        </p:nvSpPr>
        <p:spPr>
          <a:xfrm>
            <a:off x="777240" y="1874520"/>
            <a:ext cx="6492240" cy="777240"/>
          </a:xfrm>
          <a:prstGeom prst="rect">
            <a:avLst/>
          </a:prstGeom>
          <a:noFill/>
          <a:ln/>
        </p:spPr>
        <p:txBody>
          <a:bodyPr wrap="square" lIns="0" tIns="0" rIns="0" bIns="0" rtlCol="0" anchor="ctr"/>
          <a:lstStyle/>
          <a:p>
            <a:pPr marL="0" indent="0" algn="ctr">
              <a:buNone/>
            </a:pPr>
            <a:r>
              <a:rPr lang="en-US" sz="1700" b="1" dirty="0">
                <a:solidFill>
                  <a:schemeClr val="bg1"/>
                </a:solidFill>
              </a:rPr>
              <a:t>学習のゴールに向かって、自分で計画を立て、</a:t>
            </a:r>
            <a:endParaRPr lang="en-US" sz="1700" dirty="0"/>
          </a:p>
          <a:p>
            <a:pPr marL="0" indent="0" algn="ctr">
              <a:buNone/>
            </a:pPr>
            <a:r>
              <a:rPr lang="en-US" sz="1700" b="1" dirty="0">
                <a:solidFill>
                  <a:schemeClr val="bg1"/>
                </a:solidFill>
              </a:rPr>
              <a:t>調整しながら学ぶ学習</a:t>
            </a:r>
            <a:endParaRPr lang="en-US" sz="1700" dirty="0"/>
          </a:p>
        </p:txBody>
      </p:sp>
      <p:sp>
        <p:nvSpPr>
          <p:cNvPr id="8" name="Shape 6"/>
          <p:cNvSpPr/>
          <p:nvPr/>
        </p:nvSpPr>
        <p:spPr>
          <a:xfrm>
            <a:off x="548640" y="2834640"/>
            <a:ext cx="1463040" cy="640080"/>
          </a:xfrm>
          <a:prstGeom prst="roundRect">
            <a:avLst>
              <a:gd name="adj" fmla="val 11429"/>
            </a:avLst>
          </a:prstGeom>
          <a:solidFill>
            <a:schemeClr val="bg2"/>
          </a:solidFill>
          <a:ln/>
        </p:spPr>
        <p:txBody>
          <a:bodyPr/>
          <a:lstStyle/>
          <a:p>
            <a:endParaRPr lang="ja-JP" altLang="en-US"/>
          </a:p>
        </p:txBody>
      </p:sp>
      <p:sp>
        <p:nvSpPr>
          <p:cNvPr id="9" name="Text 7"/>
          <p:cNvSpPr txBox="1"/>
          <p:nvPr/>
        </p:nvSpPr>
        <p:spPr>
          <a:xfrm>
            <a:off x="5486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計画する</a:t>
            </a:r>
            <a:endParaRPr lang="en-US" sz="1700" dirty="0"/>
          </a:p>
        </p:txBody>
      </p:sp>
      <p:pic>
        <p:nvPicPr>
          <p:cNvPr id="10" name="Image 0" descr="preencoded.png"/>
          <p:cNvPicPr>
            <a:picLocks noChangeAspect="1"/>
          </p:cNvPicPr>
          <p:nvPr/>
        </p:nvPicPr>
        <p:blipFill>
          <a:blip r:embed="rId3"/>
          <a:stretch>
            <a:fillRect/>
          </a:stretch>
        </p:blipFill>
        <p:spPr>
          <a:xfrm>
            <a:off x="2075688" y="3035808"/>
            <a:ext cx="237744" cy="237744"/>
          </a:xfrm>
          <a:prstGeom prst="rect">
            <a:avLst/>
          </a:prstGeom>
        </p:spPr>
      </p:pic>
      <p:sp>
        <p:nvSpPr>
          <p:cNvPr id="11" name="Shape 8"/>
          <p:cNvSpPr/>
          <p:nvPr/>
        </p:nvSpPr>
        <p:spPr>
          <a:xfrm>
            <a:off x="2377440" y="2834640"/>
            <a:ext cx="1463040" cy="640080"/>
          </a:xfrm>
          <a:prstGeom prst="roundRect">
            <a:avLst>
              <a:gd name="adj" fmla="val 11429"/>
            </a:avLst>
          </a:prstGeom>
          <a:solidFill>
            <a:schemeClr val="bg2"/>
          </a:solidFill>
          <a:ln/>
        </p:spPr>
        <p:txBody>
          <a:bodyPr/>
          <a:lstStyle/>
          <a:p>
            <a:endParaRPr lang="ja-JP" altLang="en-US"/>
          </a:p>
        </p:txBody>
      </p:sp>
      <p:sp>
        <p:nvSpPr>
          <p:cNvPr id="12" name="Text 9"/>
          <p:cNvSpPr txBox="1"/>
          <p:nvPr/>
        </p:nvSpPr>
        <p:spPr>
          <a:xfrm>
            <a:off x="23774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学ぶ</a:t>
            </a:r>
            <a:endParaRPr lang="en-US" sz="1700" dirty="0"/>
          </a:p>
        </p:txBody>
      </p:sp>
      <p:pic>
        <p:nvPicPr>
          <p:cNvPr id="13" name="Image 1" descr="preencoded.png"/>
          <p:cNvPicPr>
            <a:picLocks noChangeAspect="1"/>
          </p:cNvPicPr>
          <p:nvPr/>
        </p:nvPicPr>
        <p:blipFill>
          <a:blip r:embed="rId3"/>
          <a:stretch>
            <a:fillRect/>
          </a:stretch>
        </p:blipFill>
        <p:spPr>
          <a:xfrm>
            <a:off x="3904488" y="3035808"/>
            <a:ext cx="237744" cy="237744"/>
          </a:xfrm>
          <a:prstGeom prst="rect">
            <a:avLst/>
          </a:prstGeom>
        </p:spPr>
      </p:pic>
      <p:sp>
        <p:nvSpPr>
          <p:cNvPr id="14" name="Shape 10"/>
          <p:cNvSpPr/>
          <p:nvPr/>
        </p:nvSpPr>
        <p:spPr>
          <a:xfrm>
            <a:off x="4206240" y="2834640"/>
            <a:ext cx="1463040" cy="640080"/>
          </a:xfrm>
          <a:prstGeom prst="roundRect">
            <a:avLst>
              <a:gd name="adj" fmla="val 11429"/>
            </a:avLst>
          </a:prstGeom>
          <a:solidFill>
            <a:schemeClr val="bg2"/>
          </a:solidFill>
          <a:ln/>
        </p:spPr>
        <p:txBody>
          <a:bodyPr/>
          <a:lstStyle/>
          <a:p>
            <a:endParaRPr lang="ja-JP" altLang="en-US"/>
          </a:p>
        </p:txBody>
      </p:sp>
      <p:sp>
        <p:nvSpPr>
          <p:cNvPr id="15" name="Text 11"/>
          <p:cNvSpPr txBox="1"/>
          <p:nvPr/>
        </p:nvSpPr>
        <p:spPr>
          <a:xfrm>
            <a:off x="42062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振り返る</a:t>
            </a:r>
            <a:endParaRPr lang="en-US" sz="1700" dirty="0"/>
          </a:p>
        </p:txBody>
      </p:sp>
      <p:pic>
        <p:nvPicPr>
          <p:cNvPr id="16" name="Image 2" descr="preencoded.png"/>
          <p:cNvPicPr>
            <a:picLocks noChangeAspect="1"/>
          </p:cNvPicPr>
          <p:nvPr/>
        </p:nvPicPr>
        <p:blipFill>
          <a:blip r:embed="rId3"/>
          <a:stretch>
            <a:fillRect/>
          </a:stretch>
        </p:blipFill>
        <p:spPr>
          <a:xfrm>
            <a:off x="5733288" y="3035808"/>
            <a:ext cx="237744" cy="237744"/>
          </a:xfrm>
          <a:prstGeom prst="rect">
            <a:avLst/>
          </a:prstGeom>
        </p:spPr>
      </p:pic>
      <p:sp>
        <p:nvSpPr>
          <p:cNvPr id="17" name="Shape 12"/>
          <p:cNvSpPr/>
          <p:nvPr/>
        </p:nvSpPr>
        <p:spPr>
          <a:xfrm>
            <a:off x="6035040" y="2834640"/>
            <a:ext cx="1463040" cy="640080"/>
          </a:xfrm>
          <a:prstGeom prst="roundRect">
            <a:avLst>
              <a:gd name="adj" fmla="val 11429"/>
            </a:avLst>
          </a:prstGeom>
          <a:solidFill>
            <a:schemeClr val="accent4"/>
          </a:solidFill>
          <a:ln/>
        </p:spPr>
        <p:txBody>
          <a:bodyPr/>
          <a:lstStyle/>
          <a:p>
            <a:endParaRPr lang="ja-JP" altLang="en-US"/>
          </a:p>
        </p:txBody>
      </p:sp>
      <p:sp>
        <p:nvSpPr>
          <p:cNvPr id="18" name="Text 13"/>
          <p:cNvSpPr txBox="1"/>
          <p:nvPr/>
        </p:nvSpPr>
        <p:spPr>
          <a:xfrm>
            <a:off x="60350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調整する</a:t>
            </a:r>
            <a:endParaRPr lang="en-US" sz="1700" dirty="0"/>
          </a:p>
        </p:txBody>
      </p:sp>
      <p:sp>
        <p:nvSpPr>
          <p:cNvPr id="19" name="Shape 14"/>
          <p:cNvSpPr/>
          <p:nvPr/>
        </p:nvSpPr>
        <p:spPr>
          <a:xfrm>
            <a:off x="548640" y="3703320"/>
            <a:ext cx="3017520" cy="1051560"/>
          </a:xfrm>
          <a:prstGeom prst="roundRect">
            <a:avLst>
              <a:gd name="adj" fmla="val 6957"/>
            </a:avLst>
          </a:prstGeom>
          <a:solidFill>
            <a:schemeClr val="bg2"/>
          </a:solidFill>
          <a:ln/>
        </p:spPr>
        <p:txBody>
          <a:bodyPr/>
          <a:lstStyle/>
          <a:p>
            <a:endParaRPr lang="ja-JP" altLang="en-US"/>
          </a:p>
        </p:txBody>
      </p:sp>
      <p:sp>
        <p:nvSpPr>
          <p:cNvPr id="20" name="Text 15"/>
          <p:cNvSpPr txBox="1"/>
          <p:nvPr/>
        </p:nvSpPr>
        <p:spPr>
          <a:xfrm>
            <a:off x="731520" y="3703320"/>
            <a:ext cx="2651760" cy="1051560"/>
          </a:xfrm>
          <a:prstGeom prst="rect">
            <a:avLst/>
          </a:prstGeom>
          <a:noFill/>
          <a:ln/>
        </p:spPr>
        <p:txBody>
          <a:bodyPr wrap="square" lIns="0" tIns="0" rIns="0" bIns="0" rtlCol="0" anchor="ctr"/>
          <a:lstStyle/>
          <a:p>
            <a:pPr marL="0" indent="0">
              <a:buNone/>
            </a:pPr>
            <a:r>
              <a:rPr lang="en-US" sz="1700" b="1" dirty="0">
                <a:solidFill>
                  <a:schemeClr val="accent5"/>
                </a:solidFill>
              </a:rPr>
              <a:t>自己管理</a:t>
            </a:r>
            <a:endParaRPr lang="en-US" sz="1700" dirty="0"/>
          </a:p>
          <a:p>
            <a:pPr marL="0" indent="0">
              <a:buNone/>
            </a:pPr>
            <a:r>
              <a:rPr lang="en-US" sz="1300" dirty="0">
                <a:solidFill>
                  <a:schemeClr val="accent5"/>
                </a:solidFill>
              </a:rPr>
              <a:t>計画どおりに進めることを重視</a:t>
            </a:r>
            <a:endParaRPr lang="en-US" sz="1700" dirty="0"/>
          </a:p>
        </p:txBody>
      </p:sp>
      <p:pic>
        <p:nvPicPr>
          <p:cNvPr id="21" name="Image 3" descr="preencoded.png"/>
          <p:cNvPicPr>
            <a:picLocks noChangeAspect="1"/>
          </p:cNvPicPr>
          <p:nvPr/>
        </p:nvPicPr>
        <p:blipFill>
          <a:blip r:embed="rId4"/>
          <a:stretch>
            <a:fillRect/>
          </a:stretch>
        </p:blipFill>
        <p:spPr>
          <a:xfrm>
            <a:off x="3840480" y="4046220"/>
            <a:ext cx="365760" cy="365760"/>
          </a:xfrm>
          <a:prstGeom prst="rect">
            <a:avLst/>
          </a:prstGeom>
        </p:spPr>
      </p:pic>
      <p:sp>
        <p:nvSpPr>
          <p:cNvPr id="22" name="Shape 16"/>
          <p:cNvSpPr/>
          <p:nvPr/>
        </p:nvSpPr>
        <p:spPr>
          <a:xfrm>
            <a:off x="4480560" y="3703320"/>
            <a:ext cx="3017520" cy="1051560"/>
          </a:xfrm>
          <a:prstGeom prst="roundRect">
            <a:avLst>
              <a:gd name="adj" fmla="val 6957"/>
            </a:avLst>
          </a:prstGeom>
          <a:solidFill>
            <a:schemeClr val="tx2"/>
          </a:solidFill>
          <a:ln/>
        </p:spPr>
        <p:txBody>
          <a:bodyPr/>
          <a:lstStyle/>
          <a:p>
            <a:endParaRPr lang="ja-JP" altLang="en-US"/>
          </a:p>
        </p:txBody>
      </p:sp>
      <p:sp>
        <p:nvSpPr>
          <p:cNvPr id="23" name="Text 17"/>
          <p:cNvSpPr txBox="1"/>
          <p:nvPr/>
        </p:nvSpPr>
        <p:spPr>
          <a:xfrm>
            <a:off x="4663440" y="3703320"/>
            <a:ext cx="2651760" cy="1051560"/>
          </a:xfrm>
          <a:prstGeom prst="rect">
            <a:avLst/>
          </a:prstGeom>
          <a:noFill/>
          <a:ln/>
        </p:spPr>
        <p:txBody>
          <a:bodyPr wrap="square" lIns="0" tIns="0" rIns="0" bIns="0" rtlCol="0" anchor="ctr"/>
          <a:lstStyle/>
          <a:p>
            <a:pPr marL="0" indent="0">
              <a:buNone/>
            </a:pPr>
            <a:r>
              <a:rPr lang="en-US" sz="1700" b="1" dirty="0">
                <a:solidFill>
                  <a:schemeClr val="bg1"/>
                </a:solidFill>
              </a:rPr>
              <a:t>自己調整</a:t>
            </a:r>
            <a:endParaRPr lang="en-US" sz="1700" dirty="0"/>
          </a:p>
          <a:p>
            <a:pPr marL="0" indent="0">
              <a:buNone/>
            </a:pPr>
            <a:r>
              <a:rPr lang="en-US" sz="1300" dirty="0">
                <a:solidFill>
                  <a:schemeClr val="accent6"/>
                </a:solidFill>
              </a:rPr>
              <a:t>計画を修正しながら学ぶ</a:t>
            </a:r>
            <a:endParaRPr lang="en-US" sz="1700" dirty="0"/>
          </a:p>
        </p:txBody>
      </p:sp>
      <p:sp>
        <p:nvSpPr>
          <p:cNvPr id="24" name="Text 18"/>
          <p:cNvSpPr txBox="1"/>
          <p:nvPr/>
        </p:nvSpPr>
        <p:spPr>
          <a:xfrm>
            <a:off x="548640" y="4983480"/>
            <a:ext cx="6949440" cy="1005840"/>
          </a:xfrm>
          <a:prstGeom prst="rect">
            <a:avLst/>
          </a:prstGeom>
          <a:noFill/>
          <a:ln/>
        </p:spPr>
        <p:txBody>
          <a:bodyPr wrap="square" lIns="0" tIns="0" rIns="0" bIns="0" rtlCol="0" anchor="t"/>
          <a:lstStyle/>
          <a:p>
            <a:pPr marL="0" indent="0">
              <a:buNone/>
            </a:pPr>
            <a:r>
              <a:rPr lang="en-US" sz="1500" b="1" dirty="0" err="1">
                <a:solidFill>
                  <a:schemeClr val="accent2"/>
                </a:solidFill>
              </a:rPr>
              <a:t>教育課程に位置付け</a:t>
            </a:r>
            <a:r>
              <a:rPr lang="en-US" sz="1500" b="1" dirty="0">
                <a:solidFill>
                  <a:schemeClr val="accent2"/>
                </a:solidFill>
              </a:rPr>
              <a:t>　</a:t>
            </a:r>
          </a:p>
          <a:p>
            <a:pPr marL="0" indent="0">
              <a:buNone/>
            </a:pPr>
            <a:r>
              <a:rPr lang="en-US" sz="1500" dirty="0" err="1">
                <a:solidFill>
                  <a:schemeClr val="tx1"/>
                </a:solidFill>
              </a:rPr>
              <a:t>国語・算数・理科・社会などの単元計画に位置付け、学校全体のシステムとして計画的に実施</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写真 IMG_0115.JPG" descr="IMG_0115.JPG"/>
          <p:cNvPicPr>
            <a:picLocks noChangeAspect="1"/>
          </p:cNvPicPr>
          <p:nvPr/>
        </p:nvPicPr>
        <p:blipFill>
          <a:blip r:embed="rId8"/>
          <a:srcRect l="40" r="40"/>
          <a:stretch>
            <a:fillRect/>
          </a:stretch>
        </p:blipFill>
        <p:spPr>
          <a:xfrm>
            <a:off x="7863840" y="1508760"/>
            <a:ext cx="3776472" cy="2834640"/>
          </a:xfrm>
          <a:prstGeom prst="rect">
            <a:avLst/>
          </a:prstGeom>
        </p:spPr>
      </p:pic>
      <p:pic>
        <p:nvPicPr>
          <p:cNvPr id="27" name="写真 IMG_0257.JPG" descr="IMG_0257.JPG"/>
          <p:cNvPicPr>
            <a:picLocks noChangeAspect="1"/>
          </p:cNvPicPr>
          <p:nvPr/>
        </p:nvPicPr>
        <p:blipFill>
          <a:blip r:embed="rId9"/>
          <a:srcRect r="14714"/>
          <a:stretch>
            <a:fillRect/>
          </a:stretch>
        </p:blipFill>
        <p:spPr>
          <a:xfrm>
            <a:off x="7863840" y="4480560"/>
            <a:ext cx="1819656" cy="1600200"/>
          </a:xfrm>
          <a:prstGeom prst="rect">
            <a:avLst/>
          </a:prstGeom>
        </p:spPr>
      </p:pic>
      <p:pic>
        <p:nvPicPr>
          <p:cNvPr id="28" name="写真 IMG_0243.JPG" descr="image.JPG"/>
          <p:cNvPicPr>
            <a:picLocks noChangeAspect="1"/>
          </p:cNvPicPr>
          <p:nvPr/>
        </p:nvPicPr>
        <p:blipFill>
          <a:blip r:embed="rId6"/>
          <a:srcRect l="7357" r="7357"/>
          <a:stretch>
            <a:fillRect/>
          </a:stretch>
        </p:blipFill>
        <p:spPr>
          <a:xfrm>
            <a:off x="9820656" y="4480560"/>
            <a:ext cx="1819656" cy="160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MP学習における子供の姿と学習文化</a:t>
            </a:r>
            <a:endParaRPr lang="en-US" sz="3000" dirty="0"/>
          </a:p>
        </p:txBody>
      </p:sp>
      <p:sp>
        <p:nvSpPr>
          <p:cNvPr id="6" name="Text 4"/>
          <p:cNvSpPr txBox="1"/>
          <p:nvPr/>
        </p:nvSpPr>
        <p:spPr>
          <a:xfrm>
            <a:off x="548640" y="15087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多様な学び方を自ら選ぶ</a:t>
            </a:r>
            <a:endParaRPr lang="en-US" sz="1500" dirty="0"/>
          </a:p>
        </p:txBody>
      </p:sp>
      <p:sp>
        <p:nvSpPr>
          <p:cNvPr id="7" name="Shape 5"/>
          <p:cNvSpPr/>
          <p:nvPr/>
        </p:nvSpPr>
        <p:spPr>
          <a:xfrm>
            <a:off x="548640" y="1965960"/>
            <a:ext cx="3337560" cy="640080"/>
          </a:xfrm>
          <a:prstGeom prst="roundRect">
            <a:avLst>
              <a:gd name="adj" fmla="val 11429"/>
            </a:avLst>
          </a:prstGeom>
          <a:solidFill>
            <a:schemeClr val="bg2"/>
          </a:solidFill>
          <a:ln/>
        </p:spPr>
        <p:txBody>
          <a:bodyPr/>
          <a:lstStyle/>
          <a:p>
            <a:endParaRPr lang="ja-JP" altLang="en-US"/>
          </a:p>
        </p:txBody>
      </p:sp>
      <p:sp>
        <p:nvSpPr>
          <p:cNvPr id="8" name="Shape 6"/>
          <p:cNvSpPr/>
          <p:nvPr/>
        </p:nvSpPr>
        <p:spPr>
          <a:xfrm>
            <a:off x="685800" y="2057400"/>
            <a:ext cx="457200" cy="457200"/>
          </a:xfrm>
          <a:prstGeom prst="ellipse">
            <a:avLst/>
          </a:prstGeom>
          <a:solidFill>
            <a:schemeClr val="accent1"/>
          </a:solidFill>
          <a:ln/>
        </p:spPr>
        <p:txBody>
          <a:bodyPr/>
          <a:lstStyle/>
          <a:p>
            <a:endParaRPr lang="ja-JP" altLang="en-US"/>
          </a:p>
        </p:txBody>
      </p:sp>
      <p:pic>
        <p:nvPicPr>
          <p:cNvPr id="9" name="Image 0" descr="preencoded.png"/>
          <p:cNvPicPr>
            <a:picLocks noChangeAspect="1"/>
          </p:cNvPicPr>
          <p:nvPr/>
        </p:nvPicPr>
        <p:blipFill>
          <a:blip r:embed="rId4"/>
          <a:stretch>
            <a:fillRect/>
          </a:stretch>
        </p:blipFill>
        <p:spPr>
          <a:xfrm>
            <a:off x="800100" y="2171700"/>
            <a:ext cx="228600" cy="228600"/>
          </a:xfrm>
          <a:prstGeom prst="rect">
            <a:avLst/>
          </a:prstGeom>
        </p:spPr>
      </p:pic>
      <p:sp>
        <p:nvSpPr>
          <p:cNvPr id="10" name="Text 7"/>
          <p:cNvSpPr txBox="1"/>
          <p:nvPr/>
        </p:nvSpPr>
        <p:spPr>
          <a:xfrm>
            <a:off x="128016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教科書で調べる</a:t>
            </a:r>
            <a:endParaRPr lang="en-US" sz="1600" dirty="0"/>
          </a:p>
        </p:txBody>
      </p:sp>
      <p:sp>
        <p:nvSpPr>
          <p:cNvPr id="11" name="Shape 8"/>
          <p:cNvSpPr/>
          <p:nvPr/>
        </p:nvSpPr>
        <p:spPr>
          <a:xfrm>
            <a:off x="4160520" y="1965960"/>
            <a:ext cx="3337560" cy="640080"/>
          </a:xfrm>
          <a:prstGeom prst="roundRect">
            <a:avLst>
              <a:gd name="adj" fmla="val 11429"/>
            </a:avLst>
          </a:prstGeom>
          <a:solidFill>
            <a:schemeClr val="bg2"/>
          </a:solidFill>
          <a:ln/>
        </p:spPr>
        <p:txBody>
          <a:bodyPr/>
          <a:lstStyle/>
          <a:p>
            <a:endParaRPr lang="ja-JP" altLang="en-US"/>
          </a:p>
        </p:txBody>
      </p:sp>
      <p:sp>
        <p:nvSpPr>
          <p:cNvPr id="12" name="Shape 9"/>
          <p:cNvSpPr/>
          <p:nvPr/>
        </p:nvSpPr>
        <p:spPr>
          <a:xfrm>
            <a:off x="4297680" y="2057400"/>
            <a:ext cx="457200" cy="457200"/>
          </a:xfrm>
          <a:prstGeom prst="ellipse">
            <a:avLst/>
          </a:prstGeom>
          <a:solidFill>
            <a:schemeClr val="accent1"/>
          </a:solidFill>
          <a:ln/>
        </p:spPr>
        <p:txBody>
          <a:bodyPr/>
          <a:lstStyle/>
          <a:p>
            <a:endParaRPr lang="ja-JP" altLang="en-US"/>
          </a:p>
        </p:txBody>
      </p:sp>
      <p:pic>
        <p:nvPicPr>
          <p:cNvPr id="13" name="Image 1" descr="preencoded.png"/>
          <p:cNvPicPr>
            <a:picLocks noChangeAspect="1"/>
          </p:cNvPicPr>
          <p:nvPr/>
        </p:nvPicPr>
        <p:blipFill>
          <a:blip r:embed="rId5"/>
          <a:stretch>
            <a:fillRect/>
          </a:stretch>
        </p:blipFill>
        <p:spPr>
          <a:xfrm>
            <a:off x="4411980" y="2171700"/>
            <a:ext cx="228600" cy="228600"/>
          </a:xfrm>
          <a:prstGeom prst="rect">
            <a:avLst/>
          </a:prstGeom>
        </p:spPr>
      </p:pic>
      <p:sp>
        <p:nvSpPr>
          <p:cNvPr id="14" name="Text 10"/>
          <p:cNvSpPr txBox="1"/>
          <p:nvPr/>
        </p:nvSpPr>
        <p:spPr>
          <a:xfrm>
            <a:off x="489204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実験に取り組む</a:t>
            </a:r>
            <a:endParaRPr lang="en-US" sz="1600" dirty="0"/>
          </a:p>
        </p:txBody>
      </p:sp>
      <p:sp>
        <p:nvSpPr>
          <p:cNvPr id="15" name="Shape 11"/>
          <p:cNvSpPr/>
          <p:nvPr/>
        </p:nvSpPr>
        <p:spPr>
          <a:xfrm>
            <a:off x="548640" y="2743200"/>
            <a:ext cx="3337560" cy="640080"/>
          </a:xfrm>
          <a:prstGeom prst="roundRect">
            <a:avLst>
              <a:gd name="adj" fmla="val 11429"/>
            </a:avLst>
          </a:prstGeom>
          <a:solidFill>
            <a:schemeClr val="bg2"/>
          </a:solidFill>
          <a:ln/>
        </p:spPr>
        <p:txBody>
          <a:bodyPr/>
          <a:lstStyle/>
          <a:p>
            <a:endParaRPr lang="ja-JP" altLang="en-US"/>
          </a:p>
        </p:txBody>
      </p:sp>
      <p:sp>
        <p:nvSpPr>
          <p:cNvPr id="16" name="Shape 12"/>
          <p:cNvSpPr/>
          <p:nvPr/>
        </p:nvSpPr>
        <p:spPr>
          <a:xfrm>
            <a:off x="685800" y="2834640"/>
            <a:ext cx="457200" cy="457200"/>
          </a:xfrm>
          <a:prstGeom prst="ellipse">
            <a:avLst/>
          </a:prstGeom>
          <a:solidFill>
            <a:schemeClr val="accent1"/>
          </a:solidFill>
          <a:ln/>
        </p:spPr>
        <p:txBody>
          <a:bodyPr/>
          <a:lstStyle/>
          <a:p>
            <a:endParaRPr lang="ja-JP" altLang="en-US"/>
          </a:p>
        </p:txBody>
      </p:sp>
      <p:pic>
        <p:nvPicPr>
          <p:cNvPr id="17" name="Image 2" descr="preencoded.png"/>
          <p:cNvPicPr>
            <a:picLocks noChangeAspect="1"/>
          </p:cNvPicPr>
          <p:nvPr/>
        </p:nvPicPr>
        <p:blipFill>
          <a:blip r:embed="rId6"/>
          <a:stretch>
            <a:fillRect/>
          </a:stretch>
        </p:blipFill>
        <p:spPr>
          <a:xfrm>
            <a:off x="800100" y="2948940"/>
            <a:ext cx="228600" cy="228600"/>
          </a:xfrm>
          <a:prstGeom prst="rect">
            <a:avLst/>
          </a:prstGeom>
        </p:spPr>
      </p:pic>
      <p:sp>
        <p:nvSpPr>
          <p:cNvPr id="18" name="Text 13"/>
          <p:cNvSpPr txBox="1"/>
          <p:nvPr/>
        </p:nvSpPr>
        <p:spPr>
          <a:xfrm>
            <a:off x="128016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ワークシートに整理する</a:t>
            </a:r>
            <a:endParaRPr lang="en-US" sz="1600" dirty="0"/>
          </a:p>
        </p:txBody>
      </p:sp>
      <p:sp>
        <p:nvSpPr>
          <p:cNvPr id="19" name="Shape 14"/>
          <p:cNvSpPr/>
          <p:nvPr/>
        </p:nvSpPr>
        <p:spPr>
          <a:xfrm>
            <a:off x="4160520" y="2743200"/>
            <a:ext cx="3337560" cy="640080"/>
          </a:xfrm>
          <a:prstGeom prst="roundRect">
            <a:avLst>
              <a:gd name="adj" fmla="val 11429"/>
            </a:avLst>
          </a:prstGeom>
          <a:solidFill>
            <a:schemeClr val="bg2"/>
          </a:solidFill>
          <a:ln/>
        </p:spPr>
        <p:txBody>
          <a:bodyPr/>
          <a:lstStyle/>
          <a:p>
            <a:endParaRPr lang="ja-JP" altLang="en-US"/>
          </a:p>
        </p:txBody>
      </p:sp>
      <p:sp>
        <p:nvSpPr>
          <p:cNvPr id="20" name="Shape 15"/>
          <p:cNvSpPr/>
          <p:nvPr/>
        </p:nvSpPr>
        <p:spPr>
          <a:xfrm>
            <a:off x="4297680" y="2834640"/>
            <a:ext cx="457200" cy="457200"/>
          </a:xfrm>
          <a:prstGeom prst="ellipse">
            <a:avLst/>
          </a:prstGeom>
          <a:solidFill>
            <a:schemeClr val="accent1"/>
          </a:solidFill>
          <a:ln/>
        </p:spPr>
        <p:txBody>
          <a:bodyPr/>
          <a:lstStyle/>
          <a:p>
            <a:endParaRPr lang="ja-JP" altLang="en-US"/>
          </a:p>
        </p:txBody>
      </p:sp>
      <p:pic>
        <p:nvPicPr>
          <p:cNvPr id="21" name="Image 3" descr="preencoded.png"/>
          <p:cNvPicPr>
            <a:picLocks noChangeAspect="1"/>
          </p:cNvPicPr>
          <p:nvPr/>
        </p:nvPicPr>
        <p:blipFill>
          <a:blip r:embed="rId7"/>
          <a:stretch>
            <a:fillRect/>
          </a:stretch>
        </p:blipFill>
        <p:spPr>
          <a:xfrm>
            <a:off x="4411980" y="2948940"/>
            <a:ext cx="228600" cy="228600"/>
          </a:xfrm>
          <a:prstGeom prst="rect">
            <a:avLst/>
          </a:prstGeom>
        </p:spPr>
      </p:pic>
      <p:sp>
        <p:nvSpPr>
          <p:cNvPr id="22" name="Text 16"/>
          <p:cNvSpPr txBox="1"/>
          <p:nvPr/>
        </p:nvSpPr>
        <p:spPr>
          <a:xfrm>
            <a:off x="489204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仲間と対話する</a:t>
            </a:r>
            <a:endParaRPr lang="en-US" sz="1600" dirty="0"/>
          </a:p>
        </p:txBody>
      </p:sp>
      <p:sp>
        <p:nvSpPr>
          <p:cNvPr id="23" name="Text 17"/>
          <p:cNvSpPr txBox="1"/>
          <p:nvPr/>
        </p:nvSpPr>
        <p:spPr>
          <a:xfrm>
            <a:off x="548640" y="3520440"/>
            <a:ext cx="6949440" cy="365760"/>
          </a:xfrm>
          <a:prstGeom prst="rect">
            <a:avLst/>
          </a:prstGeom>
          <a:noFill/>
          <a:ln/>
        </p:spPr>
        <p:txBody>
          <a:bodyPr wrap="square" lIns="0" tIns="0" rIns="0" bIns="0" rtlCol="0" anchor="ctr"/>
          <a:lstStyle/>
          <a:p>
            <a:pPr marL="0" indent="0">
              <a:buNone/>
            </a:pPr>
            <a:r>
              <a:rPr lang="en-US" sz="1400" dirty="0">
                <a:solidFill>
                  <a:schemeClr val="accent5"/>
                </a:solidFill>
              </a:rPr>
              <a:t>一人での追究と協働的な学びを行き来しながら、学習を調整している</a:t>
            </a:r>
            <a:endParaRPr lang="en-US" sz="1400" dirty="0"/>
          </a:p>
        </p:txBody>
      </p:sp>
      <p:sp>
        <p:nvSpPr>
          <p:cNvPr id="24" name="Text 18"/>
          <p:cNvSpPr txBox="1"/>
          <p:nvPr/>
        </p:nvSpPr>
        <p:spPr>
          <a:xfrm>
            <a:off x="548640" y="40233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振り返り掲示に多く見られた記述</a:t>
            </a:r>
            <a:endParaRPr lang="en-US" sz="1500" dirty="0"/>
          </a:p>
        </p:txBody>
      </p:sp>
      <p:pic>
        <p:nvPicPr>
          <p:cNvPr id="25" name="Image 4" descr="preencoded.png"/>
          <p:cNvPicPr>
            <a:picLocks noChangeAspect="1"/>
          </p:cNvPicPr>
          <p:nvPr/>
        </p:nvPicPr>
        <p:blipFill>
          <a:blip r:embed="rId8"/>
          <a:stretch>
            <a:fillRect/>
          </a:stretch>
        </p:blipFill>
        <p:spPr>
          <a:xfrm>
            <a:off x="548640" y="4507992"/>
            <a:ext cx="237744" cy="237744"/>
          </a:xfrm>
          <a:prstGeom prst="rect">
            <a:avLst/>
          </a:prstGeom>
        </p:spPr>
      </p:pic>
      <p:sp>
        <p:nvSpPr>
          <p:cNvPr id="26" name="Text 19"/>
          <p:cNvSpPr txBox="1"/>
          <p:nvPr/>
        </p:nvSpPr>
        <p:spPr>
          <a:xfrm>
            <a:off x="914400" y="4434840"/>
            <a:ext cx="4206240" cy="384048"/>
          </a:xfrm>
          <a:prstGeom prst="rect">
            <a:avLst/>
          </a:prstGeom>
          <a:noFill/>
          <a:ln/>
        </p:spPr>
        <p:txBody>
          <a:bodyPr wrap="square" lIns="0" tIns="0" rIns="0" bIns="0" rtlCol="0" anchor="ctr"/>
          <a:lstStyle/>
          <a:p>
            <a:pPr marL="0" indent="0">
              <a:buNone/>
            </a:pPr>
            <a:r>
              <a:rPr lang="en-US" sz="1600" dirty="0">
                <a:solidFill>
                  <a:schemeClr val="tx1"/>
                </a:solidFill>
              </a:rPr>
              <a:t>「前回の失敗を生かした」</a:t>
            </a:r>
            <a:endParaRPr lang="en-US" sz="1600" dirty="0"/>
          </a:p>
        </p:txBody>
      </p:sp>
      <p:pic>
        <p:nvPicPr>
          <p:cNvPr id="27" name="Image 5" descr="preencoded.png"/>
          <p:cNvPicPr>
            <a:picLocks noChangeAspect="1"/>
          </p:cNvPicPr>
          <p:nvPr/>
        </p:nvPicPr>
        <p:blipFill>
          <a:blip r:embed="rId8"/>
          <a:stretch>
            <a:fillRect/>
          </a:stretch>
        </p:blipFill>
        <p:spPr>
          <a:xfrm>
            <a:off x="548640" y="4937760"/>
            <a:ext cx="237744" cy="237744"/>
          </a:xfrm>
          <a:prstGeom prst="rect">
            <a:avLst/>
          </a:prstGeom>
        </p:spPr>
      </p:pic>
      <p:sp>
        <p:nvSpPr>
          <p:cNvPr id="28" name="Text 20"/>
          <p:cNvSpPr txBox="1"/>
          <p:nvPr/>
        </p:nvSpPr>
        <p:spPr>
          <a:xfrm>
            <a:off x="914400" y="4864608"/>
            <a:ext cx="4206240" cy="384048"/>
          </a:xfrm>
          <a:prstGeom prst="rect">
            <a:avLst/>
          </a:prstGeom>
          <a:noFill/>
          <a:ln/>
        </p:spPr>
        <p:txBody>
          <a:bodyPr wrap="square" lIns="0" tIns="0" rIns="0" bIns="0" rtlCol="0" anchor="ctr"/>
          <a:lstStyle/>
          <a:p>
            <a:pPr marL="0" indent="0">
              <a:buNone/>
            </a:pPr>
            <a:r>
              <a:rPr lang="en-US" sz="1600" dirty="0">
                <a:solidFill>
                  <a:schemeClr val="tx1"/>
                </a:solidFill>
              </a:rPr>
              <a:t>「計画を修正した」</a:t>
            </a:r>
            <a:endParaRPr lang="en-US" sz="1600" dirty="0"/>
          </a:p>
        </p:txBody>
      </p:sp>
      <p:pic>
        <p:nvPicPr>
          <p:cNvPr id="29" name="Image 6" descr="preencoded.png"/>
          <p:cNvPicPr>
            <a:picLocks noChangeAspect="1"/>
          </p:cNvPicPr>
          <p:nvPr/>
        </p:nvPicPr>
        <p:blipFill>
          <a:blip r:embed="rId8"/>
          <a:stretch>
            <a:fillRect/>
          </a:stretch>
        </p:blipFill>
        <p:spPr>
          <a:xfrm>
            <a:off x="548640" y="5367528"/>
            <a:ext cx="237744" cy="237744"/>
          </a:xfrm>
          <a:prstGeom prst="rect">
            <a:avLst/>
          </a:prstGeom>
        </p:spPr>
      </p:pic>
      <p:sp>
        <p:nvSpPr>
          <p:cNvPr id="30" name="Text 21"/>
          <p:cNvSpPr txBox="1"/>
          <p:nvPr/>
        </p:nvSpPr>
        <p:spPr>
          <a:xfrm>
            <a:off x="914400" y="5294376"/>
            <a:ext cx="4206240" cy="384048"/>
          </a:xfrm>
          <a:prstGeom prst="rect">
            <a:avLst/>
          </a:prstGeom>
          <a:noFill/>
          <a:ln/>
        </p:spPr>
        <p:txBody>
          <a:bodyPr wrap="square" lIns="0" tIns="0" rIns="0" bIns="0" rtlCol="0" anchor="ctr"/>
          <a:lstStyle/>
          <a:p>
            <a:pPr marL="0" indent="0">
              <a:buNone/>
            </a:pPr>
            <a:r>
              <a:rPr lang="en-US" sz="1600" dirty="0">
                <a:solidFill>
                  <a:schemeClr val="tx1"/>
                </a:solidFill>
              </a:rPr>
              <a:t>「次に調べたいことが見つかった」</a:t>
            </a:r>
            <a:endParaRPr lang="en-US" sz="1600" dirty="0"/>
          </a:p>
        </p:txBody>
      </p:sp>
      <p:sp>
        <p:nvSpPr>
          <p:cNvPr id="31" name="Shape 22"/>
          <p:cNvSpPr/>
          <p:nvPr/>
        </p:nvSpPr>
        <p:spPr>
          <a:xfrm>
            <a:off x="5120640" y="4434840"/>
            <a:ext cx="2377440" cy="1243584"/>
          </a:xfrm>
          <a:prstGeom prst="roundRect">
            <a:avLst>
              <a:gd name="adj" fmla="val 5882"/>
            </a:avLst>
          </a:prstGeom>
          <a:solidFill>
            <a:schemeClr val="tx2"/>
          </a:solidFill>
          <a:ln/>
        </p:spPr>
        <p:txBody>
          <a:bodyPr/>
          <a:lstStyle/>
          <a:p>
            <a:endParaRPr lang="ja-JP" altLang="en-US"/>
          </a:p>
        </p:txBody>
      </p:sp>
      <p:sp>
        <p:nvSpPr>
          <p:cNvPr id="32" name="Text 23"/>
          <p:cNvSpPr txBox="1"/>
          <p:nvPr/>
        </p:nvSpPr>
        <p:spPr>
          <a:xfrm>
            <a:off x="5257800" y="4434840"/>
            <a:ext cx="2103120" cy="1243584"/>
          </a:xfrm>
          <a:prstGeom prst="rect">
            <a:avLst/>
          </a:prstGeom>
          <a:noFill/>
          <a:ln/>
        </p:spPr>
        <p:txBody>
          <a:bodyPr wrap="square" lIns="0" tIns="0" rIns="0" bIns="0" rtlCol="0" anchor="ctr"/>
          <a:lstStyle/>
          <a:p>
            <a:pPr marL="0" indent="0" algn="ctr">
              <a:buNone/>
            </a:pPr>
            <a:r>
              <a:rPr lang="en-US" sz="1600" b="1" dirty="0">
                <a:solidFill>
                  <a:schemeClr val="bg1"/>
                </a:solidFill>
              </a:rPr>
              <a:t>学習過程そのものを価値付ける文化</a:t>
            </a:r>
            <a:endParaRPr lang="en-US" sz="1600" dirty="0"/>
          </a:p>
        </p:txBody>
      </p:sp>
      <p:sp>
        <p:nvSpPr>
          <p:cNvPr id="33"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4" name="写真 IMG_0250.JPG" descr="image.JPG"/>
          <p:cNvPicPr>
            <a:picLocks noChangeAspect="1"/>
          </p:cNvPicPr>
          <p:nvPr/>
        </p:nvPicPr>
        <p:blipFill>
          <a:blip r:embed="rId9"/>
          <a:srcRect l="40" r="40"/>
          <a:stretch>
            <a:fillRect/>
          </a:stretch>
        </p:blipFill>
        <p:spPr>
          <a:xfrm>
            <a:off x="7863840" y="1508760"/>
            <a:ext cx="3776472" cy="2834640"/>
          </a:xfrm>
          <a:prstGeom prst="rect">
            <a:avLst/>
          </a:prstGeom>
        </p:spPr>
      </p:pic>
      <p:pic>
        <p:nvPicPr>
          <p:cNvPr id="35" name="写真 IMG_0118.JPG" descr="IMG_0118.JPG"/>
          <p:cNvPicPr>
            <a:picLocks noChangeAspect="1"/>
          </p:cNvPicPr>
          <p:nvPr/>
        </p:nvPicPr>
        <p:blipFill>
          <a:blip r:embed="rId11"/>
          <a:srcRect l="7357" r="7357"/>
          <a:stretch>
            <a:fillRect/>
          </a:stretch>
        </p:blipFill>
        <p:spPr>
          <a:xfrm>
            <a:off x="7863840" y="4480560"/>
            <a:ext cx="1819656" cy="1600200"/>
          </a:xfrm>
          <a:prstGeom prst="rect">
            <a:avLst/>
          </a:prstGeom>
        </p:spPr>
      </p:pic>
      <p:pic>
        <p:nvPicPr>
          <p:cNvPr id="36" name="写真 IMG_0291.JPG" descr="image.JPG"/>
          <p:cNvPicPr>
            <a:picLocks noChangeAspect="1"/>
          </p:cNvPicPr>
          <p:nvPr/>
        </p:nvPicPr>
        <p:blipFill>
          <a:blip r:embed="rId10"/>
          <a:srcRect l="7357" r="7357"/>
          <a:stretch>
            <a:fillRect/>
          </a:stretch>
        </p:blipFill>
        <p:spPr>
          <a:xfrm>
            <a:off x="9820656" y="4480560"/>
            <a:ext cx="1819656" cy="160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講演・鼎談から（上智大学 奈須正裕 氏）</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２つの「好き」「得意」＝個性</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演題　</a:t>
            </a:r>
            <a:r>
              <a:rPr lang="en-US" sz="1600" dirty="0">
                <a:solidFill>
                  <a:schemeClr val="tx1"/>
                </a:solidFill>
              </a:rPr>
              <a:t>次期学習指導要領が目指す学力論とカリキュラム開発</a:t>
            </a:r>
            <a:endParaRPr lang="en-US" sz="1600" dirty="0"/>
          </a:p>
        </p:txBody>
      </p:sp>
      <p:sp>
        <p:nvSpPr>
          <p:cNvPr id="5" name="Shape 3"/>
          <p:cNvSpPr/>
          <p:nvPr/>
        </p:nvSpPr>
        <p:spPr>
          <a:xfrm>
            <a:off x="548640" y="2103120"/>
            <a:ext cx="5364328"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822960" y="2423160"/>
            <a:ext cx="731520" cy="73152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005840" y="2606040"/>
            <a:ext cx="365760" cy="365760"/>
          </a:xfrm>
          <a:prstGeom prst="rect">
            <a:avLst/>
          </a:prstGeom>
        </p:spPr>
      </p:pic>
      <p:sp>
        <p:nvSpPr>
          <p:cNvPr id="8" name="Text 5"/>
          <p:cNvSpPr txBox="1"/>
          <p:nvPr/>
        </p:nvSpPr>
        <p:spPr>
          <a:xfrm>
            <a:off x="1737360"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学ぶ領域の「得意」</a:t>
            </a:r>
            <a:endParaRPr lang="en-US" sz="2200" dirty="0"/>
          </a:p>
          <a:p>
            <a:pPr marL="0" indent="0">
              <a:buNone/>
            </a:pPr>
            <a:r>
              <a:rPr lang="en-US" sz="1400" dirty="0">
                <a:solidFill>
                  <a:schemeClr val="tx1"/>
                </a:solidFill>
              </a:rPr>
              <a:t>自分の好き・得意な領域や活動を知っている</a:t>
            </a:r>
            <a:endParaRPr lang="en-US" sz="2200" dirty="0"/>
          </a:p>
        </p:txBody>
      </p:sp>
      <p:pic>
        <p:nvPicPr>
          <p:cNvPr id="9" name="Image 1" descr="preencoded.png"/>
          <p:cNvPicPr>
            <a:picLocks noChangeAspect="1"/>
          </p:cNvPicPr>
          <p:nvPr/>
        </p:nvPicPr>
        <p:blipFill>
          <a:blip r:embed="rId4"/>
          <a:stretch>
            <a:fillRect/>
          </a:stretch>
        </p:blipFill>
        <p:spPr>
          <a:xfrm>
            <a:off x="3047924" y="3584448"/>
            <a:ext cx="365760" cy="365760"/>
          </a:xfrm>
          <a:prstGeom prst="rect">
            <a:avLst/>
          </a:prstGeom>
        </p:spPr>
      </p:pic>
      <p:sp>
        <p:nvSpPr>
          <p:cNvPr id="10" name="Shape 6"/>
          <p:cNvSpPr/>
          <p:nvPr/>
        </p:nvSpPr>
        <p:spPr>
          <a:xfrm>
            <a:off x="548640" y="4069080"/>
            <a:ext cx="5364328" cy="868680"/>
          </a:xfrm>
          <a:prstGeom prst="roundRect">
            <a:avLst>
              <a:gd name="adj" fmla="val 8421"/>
            </a:avLst>
          </a:prstGeom>
          <a:solidFill>
            <a:schemeClr val="tx2"/>
          </a:solidFill>
          <a:ln/>
        </p:spPr>
        <p:txBody>
          <a:bodyPr/>
          <a:lstStyle/>
          <a:p>
            <a:endParaRPr lang="ja-JP" altLang="en-US"/>
          </a:p>
        </p:txBody>
      </p:sp>
      <p:sp>
        <p:nvSpPr>
          <p:cNvPr id="11" name="Text 7"/>
          <p:cNvSpPr txBox="1"/>
          <p:nvPr/>
        </p:nvSpPr>
        <p:spPr>
          <a:xfrm>
            <a:off x="548640"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個人総合（マイ探究）</a:t>
            </a:r>
            <a:endParaRPr lang="en-US" sz="1700" dirty="0"/>
          </a:p>
          <a:p>
            <a:pPr marL="0" indent="0" algn="ctr">
              <a:buNone/>
            </a:pPr>
            <a:r>
              <a:rPr lang="en-US" sz="1700" dirty="0">
                <a:solidFill>
                  <a:schemeClr val="accent4"/>
                </a:solidFill>
              </a:rPr>
              <a:t>＝ 本校の FSP</a:t>
            </a:r>
            <a:endParaRPr lang="en-US" sz="1700" dirty="0"/>
          </a:p>
        </p:txBody>
      </p:sp>
      <p:sp>
        <p:nvSpPr>
          <p:cNvPr id="12" name="Shape 8"/>
          <p:cNvSpPr/>
          <p:nvPr/>
        </p:nvSpPr>
        <p:spPr>
          <a:xfrm>
            <a:off x="6278728" y="2103120"/>
            <a:ext cx="5364328" cy="1371600"/>
          </a:xfrm>
          <a:prstGeom prst="roundRect">
            <a:avLst>
              <a:gd name="adj" fmla="val 5333"/>
            </a:avLst>
          </a:prstGeom>
          <a:solidFill>
            <a:schemeClr val="bg2"/>
          </a:solidFill>
          <a:ln/>
        </p:spPr>
        <p:txBody>
          <a:bodyPr/>
          <a:lstStyle/>
          <a:p>
            <a:endParaRPr lang="ja-JP" altLang="en-US"/>
          </a:p>
        </p:txBody>
      </p:sp>
      <p:sp>
        <p:nvSpPr>
          <p:cNvPr id="13" name="Shape 9"/>
          <p:cNvSpPr/>
          <p:nvPr/>
        </p:nvSpPr>
        <p:spPr>
          <a:xfrm>
            <a:off x="6553048" y="2423160"/>
            <a:ext cx="731520" cy="73152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735928" y="2606040"/>
            <a:ext cx="365760" cy="365760"/>
          </a:xfrm>
          <a:prstGeom prst="rect">
            <a:avLst/>
          </a:prstGeom>
        </p:spPr>
      </p:pic>
      <p:sp>
        <p:nvSpPr>
          <p:cNvPr id="15" name="Text 10"/>
          <p:cNvSpPr txBox="1"/>
          <p:nvPr/>
        </p:nvSpPr>
        <p:spPr>
          <a:xfrm>
            <a:off x="7467448"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学び方の「得意」</a:t>
            </a:r>
            <a:endParaRPr lang="en-US" sz="2200" dirty="0"/>
          </a:p>
          <a:p>
            <a:pPr marL="0" indent="0">
              <a:buNone/>
            </a:pPr>
            <a:r>
              <a:rPr lang="en-US" sz="1400" dirty="0">
                <a:solidFill>
                  <a:schemeClr val="tx1"/>
                </a:solidFill>
              </a:rPr>
              <a:t>自分に合った方法・時間・教材で学習計画を立て、実行できる</a:t>
            </a:r>
            <a:endParaRPr lang="en-US" sz="2200" dirty="0"/>
          </a:p>
        </p:txBody>
      </p:sp>
      <p:pic>
        <p:nvPicPr>
          <p:cNvPr id="16" name="Image 3" descr="preencoded.png"/>
          <p:cNvPicPr>
            <a:picLocks noChangeAspect="1"/>
          </p:cNvPicPr>
          <p:nvPr/>
        </p:nvPicPr>
        <p:blipFill>
          <a:blip r:embed="rId4"/>
          <a:stretch>
            <a:fillRect/>
          </a:stretch>
        </p:blipFill>
        <p:spPr>
          <a:xfrm>
            <a:off x="8778011" y="3584448"/>
            <a:ext cx="365760" cy="365760"/>
          </a:xfrm>
          <a:prstGeom prst="rect">
            <a:avLst/>
          </a:prstGeom>
        </p:spPr>
      </p:pic>
      <p:sp>
        <p:nvSpPr>
          <p:cNvPr id="17" name="Shape 11"/>
          <p:cNvSpPr/>
          <p:nvPr/>
        </p:nvSpPr>
        <p:spPr>
          <a:xfrm>
            <a:off x="6278728" y="4069080"/>
            <a:ext cx="5364328" cy="868680"/>
          </a:xfrm>
          <a:prstGeom prst="roundRect">
            <a:avLst>
              <a:gd name="adj" fmla="val 8421"/>
            </a:avLst>
          </a:prstGeom>
          <a:solidFill>
            <a:schemeClr val="tx2"/>
          </a:solidFill>
          <a:ln/>
        </p:spPr>
        <p:txBody>
          <a:bodyPr/>
          <a:lstStyle/>
          <a:p>
            <a:endParaRPr lang="ja-JP" altLang="en-US"/>
          </a:p>
        </p:txBody>
      </p:sp>
      <p:sp>
        <p:nvSpPr>
          <p:cNvPr id="18" name="Text 12"/>
          <p:cNvSpPr txBox="1"/>
          <p:nvPr/>
        </p:nvSpPr>
        <p:spPr>
          <a:xfrm>
            <a:off x="6278728"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単元内自由進度学習</a:t>
            </a:r>
            <a:endParaRPr lang="en-US" sz="1700" dirty="0"/>
          </a:p>
          <a:p>
            <a:pPr marL="0" indent="0" algn="ctr">
              <a:buNone/>
            </a:pPr>
            <a:r>
              <a:rPr lang="en-US" sz="1700" dirty="0">
                <a:solidFill>
                  <a:schemeClr val="accent4"/>
                </a:solidFill>
              </a:rPr>
              <a:t>＝ 本校の MP学習</a:t>
            </a:r>
            <a:endParaRPr lang="en-US" sz="1700" dirty="0"/>
          </a:p>
        </p:txBody>
      </p:sp>
      <p:sp>
        <p:nvSpPr>
          <p:cNvPr id="19" name="Text 13"/>
          <p:cNvSpPr txBox="1"/>
          <p:nvPr/>
        </p:nvSpPr>
        <p:spPr>
          <a:xfrm>
            <a:off x="548640" y="5029200"/>
            <a:ext cx="11094415" cy="365760"/>
          </a:xfrm>
          <a:prstGeom prst="rect">
            <a:avLst/>
          </a:prstGeom>
          <a:noFill/>
          <a:ln/>
        </p:spPr>
        <p:txBody>
          <a:bodyPr wrap="square" lIns="0" tIns="0" rIns="0" bIns="0" rtlCol="0" anchor="ctr"/>
          <a:lstStyle/>
          <a:p>
            <a:pPr marL="0" indent="0" algn="ctr">
              <a:buNone/>
            </a:pPr>
            <a:r>
              <a:rPr lang="en-US" sz="1500" b="1" dirty="0">
                <a:solidFill>
                  <a:schemeClr val="accent1"/>
                </a:solidFill>
              </a:rPr>
              <a:t>どちらも、実際に試行錯誤してみないと分からないし、できるようにならない</a:t>
            </a:r>
            <a:endParaRPr lang="en-US" sz="1500" dirty="0"/>
          </a:p>
        </p:txBody>
      </p:sp>
      <p:sp>
        <p:nvSpPr>
          <p:cNvPr id="20" name="Shape 14"/>
          <p:cNvSpPr/>
          <p:nvPr/>
        </p:nvSpPr>
        <p:spPr>
          <a:xfrm>
            <a:off x="548640" y="5532120"/>
            <a:ext cx="11094415" cy="640080"/>
          </a:xfrm>
          <a:prstGeom prst="roundRect">
            <a:avLst>
              <a:gd name="adj" fmla="val 11429"/>
            </a:avLst>
          </a:prstGeom>
          <a:solidFill>
            <a:schemeClr val="accent4"/>
          </a:solidFill>
          <a:ln/>
        </p:spPr>
        <p:txBody>
          <a:bodyPr/>
          <a:lstStyle/>
          <a:p>
            <a:endParaRPr lang="ja-JP" altLang="en-US"/>
          </a:p>
        </p:txBody>
      </p:sp>
      <p:sp>
        <p:nvSpPr>
          <p:cNvPr id="21" name="Text 15"/>
          <p:cNvSpPr txBox="1"/>
          <p:nvPr/>
        </p:nvSpPr>
        <p:spPr>
          <a:xfrm>
            <a:off x="822960" y="5532120"/>
            <a:ext cx="10545775" cy="640080"/>
          </a:xfrm>
          <a:prstGeom prst="rect">
            <a:avLst/>
          </a:prstGeom>
          <a:noFill/>
          <a:ln/>
        </p:spPr>
        <p:txBody>
          <a:bodyPr wrap="square" lIns="0" tIns="0" rIns="0" bIns="0" rtlCol="0" anchor="ctr"/>
          <a:lstStyle/>
          <a:p>
            <a:pPr marL="0" indent="0">
              <a:buNone/>
            </a:pPr>
            <a:r>
              <a:rPr lang="en-US" sz="1500" b="1" dirty="0">
                <a:solidFill>
                  <a:schemeClr val="accent2"/>
                </a:solidFill>
              </a:rPr>
              <a:t>次期学習指導要領とのつながり　</a:t>
            </a:r>
            <a:r>
              <a:rPr lang="en-US" sz="1500" dirty="0">
                <a:solidFill>
                  <a:schemeClr val="tx1"/>
                </a:solidFill>
              </a:rPr>
              <a:t>審議まとめでも、子供の「好き」「得意」を育むことが示されている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鼎談・質疑応答から学んだこと</a:t>
            </a:r>
            <a:endParaRPr lang="en-US" sz="30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marL="0" indent="0">
              <a:buNone/>
            </a:pPr>
            <a:r>
              <a:rPr lang="en-US" sz="1500" b="1" dirty="0">
                <a:solidFill>
                  <a:schemeClr val="accent2"/>
                </a:solidFill>
              </a:rPr>
              <a:t>繰り返し語られたキーワード</a:t>
            </a:r>
            <a:endParaRPr lang="en-US" sz="1500" dirty="0"/>
          </a:p>
        </p:txBody>
      </p:sp>
      <p:sp>
        <p:nvSpPr>
          <p:cNvPr id="5" name="Shape 3"/>
          <p:cNvSpPr/>
          <p:nvPr/>
        </p:nvSpPr>
        <p:spPr>
          <a:xfrm>
            <a:off x="548640" y="1965960"/>
            <a:ext cx="2567864"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1512532" y="2103120"/>
            <a:ext cx="640080" cy="64008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672552" y="2263140"/>
            <a:ext cx="320040" cy="320040"/>
          </a:xfrm>
          <a:prstGeom prst="rect">
            <a:avLst/>
          </a:prstGeom>
        </p:spPr>
      </p:pic>
      <p:sp>
        <p:nvSpPr>
          <p:cNvPr id="8" name="Text 5"/>
          <p:cNvSpPr txBox="1"/>
          <p:nvPr/>
        </p:nvSpPr>
        <p:spPr>
          <a:xfrm>
            <a:off x="640080"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好きや得意を伸ばす教育</a:t>
            </a:r>
            <a:endParaRPr lang="en-US" sz="1600" dirty="0"/>
          </a:p>
        </p:txBody>
      </p:sp>
      <p:sp>
        <p:nvSpPr>
          <p:cNvPr id="9" name="Shape 6"/>
          <p:cNvSpPr/>
          <p:nvPr/>
        </p:nvSpPr>
        <p:spPr>
          <a:xfrm>
            <a:off x="3390824" y="1965960"/>
            <a:ext cx="2567864" cy="1371600"/>
          </a:xfrm>
          <a:prstGeom prst="roundRect">
            <a:avLst>
              <a:gd name="adj" fmla="val 5333"/>
            </a:avLst>
          </a:prstGeom>
          <a:solidFill>
            <a:schemeClr val="bg2"/>
          </a:solidFill>
          <a:ln/>
        </p:spPr>
        <p:txBody>
          <a:bodyPr/>
          <a:lstStyle/>
          <a:p>
            <a:endParaRPr lang="ja-JP" altLang="en-US"/>
          </a:p>
        </p:txBody>
      </p:sp>
      <p:sp>
        <p:nvSpPr>
          <p:cNvPr id="10" name="Shape 7"/>
          <p:cNvSpPr/>
          <p:nvPr/>
        </p:nvSpPr>
        <p:spPr>
          <a:xfrm>
            <a:off x="4354716" y="2103120"/>
            <a:ext cx="640080" cy="640080"/>
          </a:xfrm>
          <a:prstGeom prst="ellipse">
            <a:avLst/>
          </a:prstGeom>
          <a:solidFill>
            <a:schemeClr val="accent1"/>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4514736" y="2263140"/>
            <a:ext cx="320040" cy="320040"/>
          </a:xfrm>
          <a:prstGeom prst="rect">
            <a:avLst/>
          </a:prstGeom>
        </p:spPr>
      </p:pic>
      <p:sp>
        <p:nvSpPr>
          <p:cNvPr id="12" name="Text 8"/>
          <p:cNvSpPr txBox="1"/>
          <p:nvPr/>
        </p:nvSpPr>
        <p:spPr>
          <a:xfrm>
            <a:off x="3482264"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自己調整学習</a:t>
            </a:r>
            <a:endParaRPr lang="en-US" sz="1600" dirty="0"/>
          </a:p>
        </p:txBody>
      </p:sp>
      <p:sp>
        <p:nvSpPr>
          <p:cNvPr id="13" name="Shape 9"/>
          <p:cNvSpPr/>
          <p:nvPr/>
        </p:nvSpPr>
        <p:spPr>
          <a:xfrm>
            <a:off x="6233008" y="1965960"/>
            <a:ext cx="2567864" cy="1371600"/>
          </a:xfrm>
          <a:prstGeom prst="roundRect">
            <a:avLst>
              <a:gd name="adj" fmla="val 5333"/>
            </a:avLst>
          </a:prstGeom>
          <a:solidFill>
            <a:schemeClr val="bg2"/>
          </a:solidFill>
          <a:ln/>
        </p:spPr>
        <p:txBody>
          <a:bodyPr/>
          <a:lstStyle/>
          <a:p>
            <a:endParaRPr lang="ja-JP" altLang="en-US"/>
          </a:p>
        </p:txBody>
      </p:sp>
      <p:sp>
        <p:nvSpPr>
          <p:cNvPr id="14" name="Shape 10"/>
          <p:cNvSpPr/>
          <p:nvPr/>
        </p:nvSpPr>
        <p:spPr>
          <a:xfrm>
            <a:off x="7196900" y="2103120"/>
            <a:ext cx="640080" cy="640080"/>
          </a:xfrm>
          <a:prstGeom prst="ellipse">
            <a:avLst/>
          </a:prstGeom>
          <a:solidFill>
            <a:schemeClr val="accent1"/>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7356920" y="2263140"/>
            <a:ext cx="320040" cy="320040"/>
          </a:xfrm>
          <a:prstGeom prst="rect">
            <a:avLst/>
          </a:prstGeom>
        </p:spPr>
      </p:pic>
      <p:sp>
        <p:nvSpPr>
          <p:cNvPr id="16" name="Text 11"/>
          <p:cNvSpPr txBox="1"/>
          <p:nvPr/>
        </p:nvSpPr>
        <p:spPr>
          <a:xfrm>
            <a:off x="6324448"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多様性の包摂</a:t>
            </a:r>
            <a:endParaRPr lang="en-US" sz="1600" dirty="0"/>
          </a:p>
        </p:txBody>
      </p:sp>
      <p:sp>
        <p:nvSpPr>
          <p:cNvPr id="17" name="Shape 12"/>
          <p:cNvSpPr/>
          <p:nvPr/>
        </p:nvSpPr>
        <p:spPr>
          <a:xfrm>
            <a:off x="9075191" y="1965960"/>
            <a:ext cx="2567864" cy="1371600"/>
          </a:xfrm>
          <a:prstGeom prst="roundRect">
            <a:avLst>
              <a:gd name="adj" fmla="val 5333"/>
            </a:avLst>
          </a:prstGeom>
          <a:solidFill>
            <a:schemeClr val="bg2"/>
          </a:solidFill>
          <a:ln/>
        </p:spPr>
        <p:txBody>
          <a:bodyPr/>
          <a:lstStyle/>
          <a:p>
            <a:endParaRPr lang="ja-JP" altLang="en-US"/>
          </a:p>
        </p:txBody>
      </p:sp>
      <p:sp>
        <p:nvSpPr>
          <p:cNvPr id="18" name="Shape 13"/>
          <p:cNvSpPr/>
          <p:nvPr/>
        </p:nvSpPr>
        <p:spPr>
          <a:xfrm>
            <a:off x="10039083" y="2103120"/>
            <a:ext cx="640080" cy="640080"/>
          </a:xfrm>
          <a:prstGeom prst="ellipse">
            <a:avLst/>
          </a:prstGeom>
          <a:solidFill>
            <a:schemeClr val="accent1"/>
          </a:solidFill>
          <a:ln/>
        </p:spPr>
        <p:txBody>
          <a:bodyPr/>
          <a:lstStyle/>
          <a:p>
            <a:endParaRPr lang="ja-JP" altLang="en-US"/>
          </a:p>
        </p:txBody>
      </p:sp>
      <p:pic>
        <p:nvPicPr>
          <p:cNvPr id="19" name="Image 3" descr="preencoded.png"/>
          <p:cNvPicPr>
            <a:picLocks noChangeAspect="1"/>
          </p:cNvPicPr>
          <p:nvPr/>
        </p:nvPicPr>
        <p:blipFill>
          <a:blip r:embed="rId6"/>
          <a:stretch>
            <a:fillRect/>
          </a:stretch>
        </p:blipFill>
        <p:spPr>
          <a:xfrm>
            <a:off x="10199103" y="2263140"/>
            <a:ext cx="320040" cy="320040"/>
          </a:xfrm>
          <a:prstGeom prst="rect">
            <a:avLst/>
          </a:prstGeom>
        </p:spPr>
      </p:pic>
      <p:sp>
        <p:nvSpPr>
          <p:cNvPr id="20" name="Text 14"/>
          <p:cNvSpPr txBox="1"/>
          <p:nvPr/>
        </p:nvSpPr>
        <p:spPr>
          <a:xfrm>
            <a:off x="9166631"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教師の理解と覚悟</a:t>
            </a:r>
            <a:endParaRPr lang="en-US" sz="1600" dirty="0"/>
          </a:p>
        </p:txBody>
      </p:sp>
      <p:sp>
        <p:nvSpPr>
          <p:cNvPr id="21" name="Shape 15"/>
          <p:cNvSpPr/>
          <p:nvPr/>
        </p:nvSpPr>
        <p:spPr>
          <a:xfrm>
            <a:off x="548640" y="3611880"/>
            <a:ext cx="11094415" cy="1417320"/>
          </a:xfrm>
          <a:prstGeom prst="roundRect">
            <a:avLst>
              <a:gd name="adj" fmla="val 5161"/>
            </a:avLst>
          </a:prstGeom>
          <a:solidFill>
            <a:schemeClr val="tx2"/>
          </a:solidFill>
          <a:ln/>
        </p:spPr>
        <p:txBody>
          <a:bodyPr/>
          <a:lstStyle/>
          <a:p>
            <a:endParaRPr lang="ja-JP" altLang="en-US"/>
          </a:p>
        </p:txBody>
      </p:sp>
      <p:sp>
        <p:nvSpPr>
          <p:cNvPr id="22" name="Text 16"/>
          <p:cNvSpPr txBox="1"/>
          <p:nvPr/>
        </p:nvSpPr>
        <p:spPr>
          <a:xfrm>
            <a:off x="868680" y="3611880"/>
            <a:ext cx="10454335" cy="1417320"/>
          </a:xfrm>
          <a:prstGeom prst="rect">
            <a:avLst/>
          </a:prstGeom>
          <a:noFill/>
          <a:ln/>
        </p:spPr>
        <p:txBody>
          <a:bodyPr wrap="square" lIns="0" tIns="0" rIns="0" bIns="0" rtlCol="0" anchor="ctr"/>
          <a:lstStyle/>
          <a:p>
            <a:pPr marL="0" indent="0">
              <a:buNone/>
            </a:pPr>
            <a:r>
              <a:rPr lang="en-US" sz="1300" dirty="0">
                <a:solidFill>
                  <a:schemeClr val="accent3"/>
                </a:solidFill>
              </a:rPr>
              <a:t>特に印象的だったこと</a:t>
            </a:r>
            <a:endParaRPr lang="en-US" sz="1300" dirty="0"/>
          </a:p>
          <a:p>
            <a:r>
              <a:rPr lang="en-US" sz="2600" b="1" dirty="0">
                <a:solidFill>
                  <a:schemeClr val="bg1"/>
                </a:solidFill>
              </a:rPr>
              <a:t>「</a:t>
            </a:r>
            <a:r>
              <a:rPr lang="en-US" altLang="ja-JP" sz="2600" b="1" dirty="0">
                <a:solidFill>
                  <a:schemeClr val="bg1"/>
                </a:solidFill>
              </a:rPr>
              <a:t> FSP </a:t>
            </a:r>
            <a:r>
              <a:rPr lang="ja-JP" altLang="en-US" sz="2600" b="1" dirty="0">
                <a:solidFill>
                  <a:schemeClr val="bg1"/>
                </a:solidFill>
              </a:rPr>
              <a:t>や</a:t>
            </a:r>
            <a:r>
              <a:rPr lang="en-US" sz="2600" b="1" dirty="0" err="1">
                <a:solidFill>
                  <a:schemeClr val="bg1"/>
                </a:solidFill>
              </a:rPr>
              <a:t>MP学習が目的ではない</a:t>
            </a:r>
            <a:r>
              <a:rPr lang="en-US" sz="2600" b="1" dirty="0">
                <a:solidFill>
                  <a:schemeClr val="bg1"/>
                </a:solidFill>
              </a:rPr>
              <a:t>」</a:t>
            </a:r>
            <a:endParaRPr lang="en-US" sz="1300" dirty="0"/>
          </a:p>
          <a:p>
            <a:pPr marL="0" indent="0">
              <a:buNone/>
            </a:pPr>
            <a:r>
              <a:rPr lang="en-US" sz="1400" dirty="0">
                <a:solidFill>
                  <a:schemeClr val="accent6"/>
                </a:solidFill>
              </a:rPr>
              <a:t>根底にある子供観を実現するために、学習システムや環境が設計されている</a:t>
            </a:r>
            <a:endParaRPr lang="en-US" sz="1300" dirty="0"/>
          </a:p>
        </p:txBody>
      </p:sp>
      <p:sp>
        <p:nvSpPr>
          <p:cNvPr id="23" name="Text 17"/>
          <p:cNvSpPr txBox="1"/>
          <p:nvPr/>
        </p:nvSpPr>
        <p:spPr>
          <a:xfrm>
            <a:off x="548640" y="5212080"/>
            <a:ext cx="11094415" cy="777240"/>
          </a:xfrm>
          <a:prstGeom prst="rect">
            <a:avLst/>
          </a:prstGeom>
          <a:noFill/>
          <a:ln/>
        </p:spPr>
        <p:txBody>
          <a:bodyPr wrap="square" lIns="0" tIns="0" rIns="0" bIns="0" rtlCol="0" anchor="t"/>
          <a:lstStyle/>
          <a:p>
            <a:pPr marL="0" indent="0">
              <a:buNone/>
            </a:pPr>
            <a:r>
              <a:rPr lang="en-US" sz="1400" b="1" dirty="0">
                <a:solidFill>
                  <a:schemeClr val="accent2"/>
                </a:solidFill>
              </a:rPr>
              <a:t>話題になったこと　</a:t>
            </a:r>
            <a:r>
              <a:rPr lang="en-US" sz="1400" dirty="0" err="1">
                <a:solidFill>
                  <a:schemeClr val="tx1"/>
                </a:solidFill>
              </a:rPr>
              <a:t>緒川小学校（愛知県東浦町）以来の実践の系譜</a:t>
            </a:r>
            <a:r>
              <a:rPr lang="en-US" sz="1400" dirty="0">
                <a:solidFill>
                  <a:schemeClr val="tx1"/>
                </a:solidFill>
              </a:rPr>
              <a:t>／</a:t>
            </a:r>
            <a:r>
              <a:rPr lang="ja-JP" altLang="en-US" sz="1400" dirty="0">
                <a:solidFill>
                  <a:schemeClr val="tx1"/>
                </a:solidFill>
                <a:latin typeface="BIZ UDPゴシック" panose="020B0400000000000000" pitchFamily="50" charset="-128"/>
                <a:ea typeface="BIZ UDPゴシック" panose="020B0400000000000000" pitchFamily="50" charset="-128"/>
              </a:rPr>
              <a:t>奈良女子小</a:t>
            </a:r>
            <a:r>
              <a:rPr lang="en-US" sz="1400" dirty="0">
                <a:solidFill>
                  <a:schemeClr val="tx1"/>
                </a:solidFill>
              </a:rPr>
              <a:t>（奈良県）の取組／不登校の増加（約50万人規模への言及）</a:t>
            </a:r>
          </a:p>
          <a:p>
            <a:pPr marL="0" indent="0">
              <a:buNone/>
            </a:pPr>
            <a:r>
              <a:rPr lang="en-US" sz="1400" dirty="0">
                <a:solidFill>
                  <a:schemeClr val="tx1"/>
                </a:solidFill>
              </a:rPr>
              <a:t>／調整授業時数制度の生かし方</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改訂のスケジュール</a:t>
            </a:r>
            <a:endParaRPr lang="en-US" sz="3000" dirty="0"/>
          </a:p>
        </p:txBody>
      </p:sp>
      <p:sp>
        <p:nvSpPr>
          <p:cNvPr id="4" name="Shape 2"/>
          <p:cNvSpPr/>
          <p:nvPr/>
        </p:nvSpPr>
        <p:spPr>
          <a:xfrm>
            <a:off x="1463040" y="3246120"/>
            <a:ext cx="9265615" cy="0"/>
          </a:xfrm>
          <a:prstGeom prst="line">
            <a:avLst/>
          </a:prstGeom>
          <a:noFill/>
          <a:ln w="38100">
            <a:solidFill>
              <a:schemeClr val="accent3"/>
            </a:solidFill>
            <a:prstDash val="solid"/>
          </a:ln>
        </p:spPr>
        <p:txBody>
          <a:bodyPr/>
          <a:lstStyle/>
          <a:p>
            <a:endParaRPr lang="ja-JP" altLang="en-US"/>
          </a:p>
        </p:txBody>
      </p:sp>
      <p:sp>
        <p:nvSpPr>
          <p:cNvPr id="5" name="Shape 3"/>
          <p:cNvSpPr/>
          <p:nvPr/>
        </p:nvSpPr>
        <p:spPr>
          <a:xfrm>
            <a:off x="1307592"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6" name="Text 4"/>
          <p:cNvSpPr txBox="1"/>
          <p:nvPr/>
        </p:nvSpPr>
        <p:spPr>
          <a:xfrm>
            <a:off x="548640"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令和６年12月</a:t>
            </a:r>
            <a:endParaRPr lang="en-US" sz="1400" dirty="0"/>
          </a:p>
        </p:txBody>
      </p:sp>
      <p:sp>
        <p:nvSpPr>
          <p:cNvPr id="7" name="Text 5"/>
          <p:cNvSpPr txBox="1"/>
          <p:nvPr/>
        </p:nvSpPr>
        <p:spPr>
          <a:xfrm>
            <a:off x="548640"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諮問</a:t>
            </a:r>
            <a:endParaRPr lang="en-US" sz="1700" dirty="0"/>
          </a:p>
        </p:txBody>
      </p:sp>
      <p:sp>
        <p:nvSpPr>
          <p:cNvPr id="8" name="Shape 6"/>
          <p:cNvSpPr/>
          <p:nvPr/>
        </p:nvSpPr>
        <p:spPr>
          <a:xfrm>
            <a:off x="3160715"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9" name="Text 7"/>
          <p:cNvSpPr txBox="1"/>
          <p:nvPr/>
        </p:nvSpPr>
        <p:spPr>
          <a:xfrm>
            <a:off x="2401763"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令和７年９月</a:t>
            </a:r>
            <a:endParaRPr lang="en-US" sz="1400" dirty="0"/>
          </a:p>
        </p:txBody>
      </p:sp>
      <p:sp>
        <p:nvSpPr>
          <p:cNvPr id="10" name="Text 8"/>
          <p:cNvSpPr txBox="1"/>
          <p:nvPr/>
        </p:nvSpPr>
        <p:spPr>
          <a:xfrm>
            <a:off x="2401763"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論点整理</a:t>
            </a:r>
            <a:endParaRPr lang="en-US" sz="1700" dirty="0"/>
          </a:p>
        </p:txBody>
      </p:sp>
      <p:sp>
        <p:nvSpPr>
          <p:cNvPr id="11" name="Shape 9"/>
          <p:cNvSpPr/>
          <p:nvPr/>
        </p:nvSpPr>
        <p:spPr>
          <a:xfrm>
            <a:off x="4940686" y="3017520"/>
            <a:ext cx="457200" cy="457200"/>
          </a:xfrm>
          <a:prstGeom prst="ellipse">
            <a:avLst/>
          </a:prstGeom>
          <a:solidFill>
            <a:schemeClr val="accent2"/>
          </a:solidFill>
          <a:ln w="25400">
            <a:solidFill>
              <a:schemeClr val="accent1"/>
            </a:solidFill>
            <a:prstDash val="solid"/>
          </a:ln>
        </p:spPr>
        <p:txBody>
          <a:bodyPr/>
          <a:lstStyle/>
          <a:p>
            <a:endParaRPr lang="ja-JP" altLang="en-US"/>
          </a:p>
        </p:txBody>
      </p:sp>
      <p:sp>
        <p:nvSpPr>
          <p:cNvPr id="12" name="Text 10"/>
          <p:cNvSpPr txBox="1"/>
          <p:nvPr/>
        </p:nvSpPr>
        <p:spPr>
          <a:xfrm>
            <a:off x="4254886"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令和８年10月５日</a:t>
            </a:r>
            <a:endParaRPr lang="en-US" sz="1400" dirty="0"/>
          </a:p>
        </p:txBody>
      </p:sp>
      <p:sp>
        <p:nvSpPr>
          <p:cNvPr id="13" name="Text 11"/>
          <p:cNvSpPr txBox="1"/>
          <p:nvPr/>
        </p:nvSpPr>
        <p:spPr>
          <a:xfrm>
            <a:off x="4254886" y="3611880"/>
            <a:ext cx="1828800" cy="731520"/>
          </a:xfrm>
          <a:prstGeom prst="rect">
            <a:avLst/>
          </a:prstGeom>
          <a:noFill/>
          <a:ln/>
        </p:spPr>
        <p:txBody>
          <a:bodyPr wrap="square" lIns="0" tIns="0" rIns="0" bIns="0" rtlCol="0" anchor="t"/>
          <a:lstStyle/>
          <a:p>
            <a:pPr marL="0" indent="0" algn="ctr">
              <a:buNone/>
            </a:pPr>
            <a:r>
              <a:rPr lang="en-US" sz="1700" b="1" dirty="0">
                <a:solidFill>
                  <a:schemeClr val="accent2"/>
                </a:solidFill>
              </a:rPr>
              <a:t>審議まとめ公表</a:t>
            </a:r>
            <a:endParaRPr lang="en-US" sz="1700" dirty="0"/>
          </a:p>
        </p:txBody>
      </p:sp>
      <p:sp>
        <p:nvSpPr>
          <p:cNvPr id="14" name="Shape 12"/>
          <p:cNvSpPr/>
          <p:nvPr/>
        </p:nvSpPr>
        <p:spPr>
          <a:xfrm>
            <a:off x="6866961"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5" name="Text 13"/>
          <p:cNvSpPr txBox="1"/>
          <p:nvPr/>
        </p:nvSpPr>
        <p:spPr>
          <a:xfrm>
            <a:off x="6108009"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10月６日〜11月５日</a:t>
            </a:r>
            <a:endParaRPr lang="en-US" sz="1400" dirty="0"/>
          </a:p>
        </p:txBody>
      </p:sp>
      <p:sp>
        <p:nvSpPr>
          <p:cNvPr id="16" name="Text 14"/>
          <p:cNvSpPr txBox="1"/>
          <p:nvPr/>
        </p:nvSpPr>
        <p:spPr>
          <a:xfrm>
            <a:off x="6108009"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意見公募</a:t>
            </a:r>
            <a:endParaRPr lang="en-US" sz="1700" dirty="0"/>
          </a:p>
          <a:p>
            <a:pPr marL="0" indent="0" algn="ctr">
              <a:buNone/>
            </a:pPr>
            <a:r>
              <a:rPr lang="en-US" sz="1700" b="1" dirty="0">
                <a:solidFill>
                  <a:schemeClr val="tx2"/>
                </a:solidFill>
              </a:rPr>
              <a:t>（パブコメ）</a:t>
            </a:r>
            <a:endParaRPr lang="en-US" sz="1700" dirty="0"/>
          </a:p>
        </p:txBody>
      </p:sp>
      <p:sp>
        <p:nvSpPr>
          <p:cNvPr id="17" name="Shape 15"/>
          <p:cNvSpPr/>
          <p:nvPr/>
        </p:nvSpPr>
        <p:spPr>
          <a:xfrm>
            <a:off x="8720084"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8" name="Text 16"/>
          <p:cNvSpPr txBox="1"/>
          <p:nvPr/>
        </p:nvSpPr>
        <p:spPr>
          <a:xfrm>
            <a:off x="7961132"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今冬（予定）</a:t>
            </a:r>
            <a:endParaRPr lang="en-US" sz="1400" dirty="0"/>
          </a:p>
        </p:txBody>
      </p:sp>
      <p:sp>
        <p:nvSpPr>
          <p:cNvPr id="19" name="Text 17"/>
          <p:cNvSpPr txBox="1"/>
          <p:nvPr/>
        </p:nvSpPr>
        <p:spPr>
          <a:xfrm>
            <a:off x="7961132"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中教審答申</a:t>
            </a:r>
            <a:endParaRPr lang="en-US" sz="1700" dirty="0"/>
          </a:p>
        </p:txBody>
      </p:sp>
      <p:sp>
        <p:nvSpPr>
          <p:cNvPr id="20" name="Shape 18"/>
          <p:cNvSpPr/>
          <p:nvPr/>
        </p:nvSpPr>
        <p:spPr>
          <a:xfrm>
            <a:off x="10573207"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21" name="Text 19"/>
          <p:cNvSpPr txBox="1"/>
          <p:nvPr/>
        </p:nvSpPr>
        <p:spPr>
          <a:xfrm>
            <a:off x="9814255"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今年度内（見込み）</a:t>
            </a:r>
            <a:endParaRPr lang="en-US" sz="1400" dirty="0"/>
          </a:p>
        </p:txBody>
      </p:sp>
      <p:sp>
        <p:nvSpPr>
          <p:cNvPr id="22" name="Text 20"/>
          <p:cNvSpPr txBox="1"/>
          <p:nvPr/>
        </p:nvSpPr>
        <p:spPr>
          <a:xfrm>
            <a:off x="9814255"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小・中学校</a:t>
            </a:r>
            <a:endParaRPr lang="en-US" sz="1700" dirty="0"/>
          </a:p>
          <a:p>
            <a:pPr marL="0" indent="0" algn="ctr">
              <a:buNone/>
            </a:pPr>
            <a:r>
              <a:rPr lang="en-US" sz="1700" b="1" dirty="0">
                <a:solidFill>
                  <a:schemeClr val="tx2"/>
                </a:solidFill>
              </a:rPr>
              <a:t>告示</a:t>
            </a:r>
            <a:endParaRPr lang="en-US" sz="1700" dirty="0"/>
          </a:p>
        </p:txBody>
      </p:sp>
      <p:sp>
        <p:nvSpPr>
          <p:cNvPr id="23" name="Shape 21"/>
          <p:cNvSpPr/>
          <p:nvPr/>
        </p:nvSpPr>
        <p:spPr>
          <a:xfrm>
            <a:off x="4483486" y="1508760"/>
            <a:ext cx="1371600" cy="411480"/>
          </a:xfrm>
          <a:prstGeom prst="roundRect">
            <a:avLst>
              <a:gd name="adj" fmla="val 22222"/>
            </a:avLst>
          </a:prstGeom>
          <a:solidFill>
            <a:schemeClr val="accent2"/>
          </a:solidFill>
          <a:ln/>
        </p:spPr>
        <p:txBody>
          <a:bodyPr/>
          <a:lstStyle/>
          <a:p>
            <a:endParaRPr lang="ja-JP" altLang="en-US"/>
          </a:p>
        </p:txBody>
      </p:sp>
      <p:sp>
        <p:nvSpPr>
          <p:cNvPr id="24" name="Text 22"/>
          <p:cNvSpPr txBox="1"/>
          <p:nvPr/>
        </p:nvSpPr>
        <p:spPr>
          <a:xfrm>
            <a:off x="4483486" y="1508760"/>
            <a:ext cx="1371600" cy="411480"/>
          </a:xfrm>
          <a:prstGeom prst="rect">
            <a:avLst/>
          </a:prstGeom>
          <a:noFill/>
          <a:ln/>
        </p:spPr>
        <p:txBody>
          <a:bodyPr wrap="square" lIns="0" tIns="0" rIns="0" bIns="0" rtlCol="0" anchor="ctr"/>
          <a:lstStyle/>
          <a:p>
            <a:pPr marL="0" indent="0" algn="ctr">
              <a:buNone/>
            </a:pPr>
            <a:r>
              <a:rPr lang="en-US" sz="1400" b="1" dirty="0">
                <a:solidFill>
                  <a:schemeClr val="bg1"/>
                </a:solidFill>
              </a:rPr>
              <a:t>いまここ</a:t>
            </a:r>
            <a:endParaRPr lang="en-US" sz="1400" dirty="0"/>
          </a:p>
        </p:txBody>
      </p:sp>
      <p:sp>
        <p:nvSpPr>
          <p:cNvPr id="25" name="Shape 23"/>
          <p:cNvSpPr/>
          <p:nvPr/>
        </p:nvSpPr>
        <p:spPr>
          <a:xfrm>
            <a:off x="548640" y="4617720"/>
            <a:ext cx="11094415" cy="1371600"/>
          </a:xfrm>
          <a:prstGeom prst="roundRect">
            <a:avLst>
              <a:gd name="adj" fmla="val 5333"/>
            </a:avLst>
          </a:prstGeom>
          <a:solidFill>
            <a:schemeClr val="bg2"/>
          </a:solidFill>
          <a:ln/>
        </p:spPr>
        <p:txBody>
          <a:bodyPr/>
          <a:lstStyle/>
          <a:p>
            <a:endParaRPr lang="ja-JP" altLang="en-US"/>
          </a:p>
        </p:txBody>
      </p:sp>
      <p:sp>
        <p:nvSpPr>
          <p:cNvPr id="26" name="Text 24"/>
          <p:cNvSpPr txBox="1"/>
          <p:nvPr/>
        </p:nvSpPr>
        <p:spPr>
          <a:xfrm>
            <a:off x="868680" y="4617720"/>
            <a:ext cx="10454335" cy="1371600"/>
          </a:xfrm>
          <a:prstGeom prst="rect">
            <a:avLst/>
          </a:prstGeom>
          <a:noFill/>
          <a:ln/>
        </p:spPr>
        <p:txBody>
          <a:bodyPr wrap="square" lIns="0" tIns="0" rIns="0" bIns="0" rtlCol="0" anchor="ctr"/>
          <a:lstStyle/>
          <a:p>
            <a:pPr marL="0" indent="0">
              <a:spcAft>
                <a:spcPts val="600"/>
              </a:spcAft>
              <a:buNone/>
            </a:pPr>
            <a:r>
              <a:rPr lang="en-US" sz="1600" b="1" dirty="0">
                <a:solidFill>
                  <a:schemeClr val="tx2"/>
                </a:solidFill>
              </a:rPr>
              <a:t>告示の後、周知・移行期間を経て全面実施へ。</a:t>
            </a:r>
            <a:endParaRPr lang="en-US" sz="1600" dirty="0"/>
          </a:p>
          <a:p>
            <a:pPr marL="0" indent="0">
              <a:spcAft>
                <a:spcPts val="600"/>
              </a:spcAft>
              <a:buNone/>
            </a:pPr>
            <a:r>
              <a:rPr lang="en-US" sz="1600" dirty="0">
                <a:solidFill>
                  <a:schemeClr val="tx1"/>
                </a:solidFill>
              </a:rPr>
              <a:t>全面実施の年度や各教科等の詳細は、答申・告示で確定する。最新の文部科学省資料で確認する。</a:t>
            </a:r>
            <a:endParaRPr lang="en-US" sz="16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
        <p:nvSpPr>
          <p:cNvPr id="28" name="TextBox 27"/>
          <p:cNvSpPr txBox="1"/>
          <p:nvPr/>
        </p:nvSpPr>
        <p:spPr>
          <a:xfrm>
            <a:off x="548640" y="6108192"/>
            <a:ext cx="11094415" cy="237744"/>
          </a:xfrm>
          <a:prstGeom prst="rect">
            <a:avLst/>
          </a:prstGeom>
          <a:noFill/>
        </p:spPr>
        <p:txBody>
          <a:bodyPr wrap="square" lIns="0" rIns="0" tIns="0" bIns="0" anchor="ctr">
            <a:spAutoFit/>
          </a:bodyPr>
          <a:lstStyle/>
          <a:p>
            <a:pPr algn="r"/>
            <a:r>
              <a:rPr sz="1000" b="0">
                <a:solidFill>
                  <a:srgbClr val="5E6E68"/>
                </a:solidFill>
              </a:rPr>
              <a:t>出典：中央教育審議会 初等中等教育分科会 教育課程部会「次期学習指導要領等に向けた審議まとめ」（令和８年10月５日）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03　次期学習指導要領の方向性</a:t>
            </a:r>
          </a:p>
        </p:txBody>
      </p:sp>
      <p:sp>
        <p:nvSpPr>
          <p:cNvPr id="3" name="Title 2"/>
          <p:cNvSpPr>
            <a:spLocks noGrp="1"/>
          </p:cNvSpPr>
          <p:nvPr>
            <p:ph type="title" idx="101"/>
          </p:nvPr>
        </p:nvSpPr>
        <p:spPr/>
        <p:txBody>
          <a:bodyPr/>
          <a:lstStyle/>
          <a:p>
            <a:r>
              <a:t>根拠資料 ― 文部科学省「審議まとめ」</a:t>
            </a:r>
          </a:p>
        </p:txBody>
      </p:sp>
      <p:sp>
        <p:nvSpPr>
          <p:cNvPr id="4" name="Rounded Rectangle 3"/>
          <p:cNvSpPr/>
          <p:nvPr/>
        </p:nvSpPr>
        <p:spPr>
          <a:xfrm>
            <a:off x="548640" y="1508760"/>
            <a:ext cx="7680960" cy="274320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19"/>
            <a:ext cx="6949440" cy="2468880"/>
          </a:xfrm>
          <a:prstGeom prst="rect">
            <a:avLst/>
          </a:prstGeom>
          <a:noFill/>
        </p:spPr>
        <p:txBody>
          <a:bodyPr wrap="square" lIns="0" rIns="0" tIns="0" bIns="0" anchor="ctr">
            <a:spAutoFit/>
          </a:bodyPr>
          <a:lstStyle/>
          <a:p>
            <a:pPr algn="l"/>
            <a:r>
              <a:rPr sz="1500" b="0">
                <a:solidFill>
                  <a:srgbClr val="D3E3D9"/>
                </a:solidFill>
              </a:rPr>
              <a:t>中央教育審議会 初等中等教育分科会 教育課程部会</a:t>
            </a:r>
          </a:p>
          <a:p>
            <a:pPr algn="l"/>
            <a:r>
              <a:rPr sz="2600" b="1">
                <a:solidFill>
                  <a:srgbClr val="FFFFFF"/>
                </a:solidFill>
              </a:rPr>
              <a:t>次期学習指導要領等に向けた審議まとめ</a:t>
            </a:r>
          </a:p>
          <a:p>
            <a:pPr algn="l"/>
            <a:r>
              <a:rPr sz="1600" b="1">
                <a:solidFill>
                  <a:srgbClr val="FBEADB"/>
                </a:solidFill>
              </a:rPr>
              <a:t>令和８年10月５日　公表</a:t>
            </a:r>
          </a:p>
          <a:p>
            <a:pPr algn="l"/>
            <a:r>
              <a:rPr sz="1400" b="0">
                <a:solidFill>
                  <a:srgbClr val="D3E3D9"/>
                </a:solidFill>
              </a:rPr>
              <a:t>意見公募（パブリックコメント）：令和８年10月６日〜11月５日</a:t>
            </a:r>
          </a:p>
        </p:txBody>
      </p:sp>
      <p:sp>
        <p:nvSpPr>
          <p:cNvPr id="6" name="Rounded Rectangle 5"/>
          <p:cNvSpPr/>
          <p:nvPr/>
        </p:nvSpPr>
        <p:spPr>
          <a:xfrm>
            <a:off x="8595360" y="1508760"/>
            <a:ext cx="3044952" cy="274320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matome.png"/>
          <p:cNvPicPr>
            <a:picLocks noChangeAspect="1"/>
          </p:cNvPicPr>
          <p:nvPr/>
        </p:nvPicPr>
        <p:blipFill>
          <a:blip r:embed="rId2"/>
          <a:stretch>
            <a:fillRect/>
          </a:stretch>
        </p:blipFill>
        <p:spPr>
          <a:xfrm>
            <a:off x="9111996" y="1645919"/>
            <a:ext cx="2011680" cy="2011680"/>
          </a:xfrm>
          <a:prstGeom prst="rect">
            <a:avLst/>
          </a:prstGeom>
        </p:spPr>
      </p:pic>
      <p:sp>
        <p:nvSpPr>
          <p:cNvPr id="8" name="TextBox 7"/>
          <p:cNvSpPr txBox="1"/>
          <p:nvPr/>
        </p:nvSpPr>
        <p:spPr>
          <a:xfrm>
            <a:off x="8595360" y="3703320"/>
            <a:ext cx="3044952" cy="457200"/>
          </a:xfrm>
          <a:prstGeom prst="rect">
            <a:avLst/>
          </a:prstGeom>
          <a:noFill/>
        </p:spPr>
        <p:txBody>
          <a:bodyPr wrap="square" lIns="0" rIns="0" tIns="0" bIns="0" anchor="ctr">
            <a:spAutoFit/>
          </a:bodyPr>
          <a:lstStyle/>
          <a:p>
            <a:pPr algn="ctr"/>
            <a:r>
              <a:rPr sz="1300" b="1">
                <a:solidFill>
                  <a:srgbClr val="1F5A47"/>
                </a:solidFill>
              </a:rPr>
              <a:t>本文PDF（文部科学省）</a:t>
            </a:r>
          </a:p>
        </p:txBody>
      </p:sp>
      <p:sp>
        <p:nvSpPr>
          <p:cNvPr id="9" name="TextBox 8"/>
          <p:cNvSpPr txBox="1"/>
          <p:nvPr/>
        </p:nvSpPr>
        <p:spPr>
          <a:xfrm>
            <a:off x="548640" y="4434840"/>
            <a:ext cx="11094415" cy="365760"/>
          </a:xfrm>
          <a:prstGeom prst="rect">
            <a:avLst/>
          </a:prstGeom>
          <a:noFill/>
        </p:spPr>
        <p:txBody>
          <a:bodyPr wrap="square" lIns="0" rIns="0" tIns="0" bIns="0" anchor="ctr">
            <a:spAutoFit/>
          </a:bodyPr>
          <a:lstStyle/>
          <a:p>
            <a:pPr algn="l"/>
            <a:r>
              <a:rPr sz="1300" b="1">
                <a:solidFill>
                  <a:srgbClr val="D9702C"/>
                </a:solidFill>
              </a:rPr>
              <a:t>本文PDF　</a:t>
            </a:r>
            <a:r>
              <a:rPr sz="1300" b="0">
                <a:solidFill>
                  <a:srgbClr val="1F5A47"/>
                </a:solidFill>
                <a:hlinkClick r:id="rId3"/>
              </a:rPr>
              <a:t>https://www.mext.go.jp/content/20261005-mxt_kyoiku01-000052367-1.pdf</a:t>
            </a:r>
          </a:p>
        </p:txBody>
      </p:sp>
      <p:sp>
        <p:nvSpPr>
          <p:cNvPr id="10" name="Rounded Rectangle 9"/>
          <p:cNvSpPr/>
          <p:nvPr/>
        </p:nvSpPr>
        <p:spPr>
          <a:xfrm>
            <a:off x="548640" y="4937760"/>
            <a:ext cx="11094415" cy="105156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4937760"/>
            <a:ext cx="10545775" cy="1051560"/>
          </a:xfrm>
          <a:prstGeom prst="rect">
            <a:avLst/>
          </a:prstGeom>
          <a:noFill/>
        </p:spPr>
        <p:txBody>
          <a:bodyPr wrap="square" lIns="0" rIns="0" tIns="0" bIns="0" anchor="ctr">
            <a:spAutoFit/>
          </a:bodyPr>
          <a:lstStyle/>
          <a:p>
            <a:pPr algn="l"/>
            <a:r>
              <a:rPr sz="1400" b="1">
                <a:solidFill>
                  <a:srgbClr val="D9702C"/>
                </a:solidFill>
              </a:rPr>
              <a:t>本研修で取り上げた内容　</a:t>
            </a:r>
            <a:r>
              <a:rPr sz="1400" b="0">
                <a:solidFill>
                  <a:srgbClr val="1E2B27"/>
                </a:solidFill>
              </a:rPr>
              <a:t>３つの方向性／目標・内容の構造化／調整授業時数制度／裁量的な時間／情報活用能力／学習評価の改善／「好き」「得意」を育む</a:t>
            </a:r>
          </a:p>
          <a:p>
            <a:pPr algn="l"/>
            <a:r>
              <a:rPr sz="1200" b="0">
                <a:solidFill>
                  <a:srgbClr val="5E6E68"/>
                </a:solidFill>
              </a:rPr>
              <a:t>名称・詳細は答申・告示で確定する。学校に説明する際は、最新の公表資料で確認すること</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QUIZ 3｜指導主事同士で考えよう</a:t>
            </a:r>
          </a:p>
        </p:txBody>
      </p:sp>
      <p:sp>
        <p:nvSpPr>
          <p:cNvPr id="3" name="Title 2"/>
          <p:cNvSpPr>
            <a:spLocks noGrp="1"/>
          </p:cNvSpPr>
          <p:nvPr>
            <p:ph type="title" idx="101"/>
          </p:nvPr>
        </p:nvSpPr>
        <p:spPr/>
        <p:txBody>
          <a:bodyPr/>
          <a:lstStyle/>
          <a:p>
            <a:r>
              <a:t>審議まとめが示す「３つの方向性」に含まれないものは？</a:t>
            </a:r>
          </a:p>
        </p:txBody>
      </p:sp>
      <p:sp>
        <p:nvSpPr>
          <p:cNvPr id="4" name="TextBox 3"/>
          <p:cNvSpPr txBox="1"/>
          <p:nvPr/>
        </p:nvSpPr>
        <p:spPr>
          <a:xfrm>
            <a:off x="548640" y="1508760"/>
            <a:ext cx="11094415" cy="411480"/>
          </a:xfrm>
          <a:prstGeom prst="rect">
            <a:avLst/>
          </a:prstGeom>
          <a:noFill/>
        </p:spPr>
        <p:txBody>
          <a:bodyPr wrap="square" lIns="0" rIns="0" tIns="0" bIns="0" anchor="ctr">
            <a:spAutoFit/>
          </a:bodyPr>
          <a:lstStyle/>
          <a:p>
            <a:pPr algn="l"/>
            <a:r>
              <a:rPr sz="1500" b="0">
                <a:solidFill>
                  <a:srgbClr val="5E6E68"/>
                </a:solidFill>
              </a:rPr>
              <a:t>中央教育審議会「次期学習指導要領等に向けた審議まとめ」（令和８年10月５日）</a:t>
            </a:r>
          </a:p>
        </p:txBody>
      </p:sp>
      <p:sp>
        <p:nvSpPr>
          <p:cNvPr id="5" name="Rounded Rectangle 4"/>
          <p:cNvSpPr/>
          <p:nvPr/>
        </p:nvSpPr>
        <p:spPr>
          <a:xfrm>
            <a:off x="548640" y="2148840"/>
            <a:ext cx="5410047" cy="960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31720"/>
            <a:ext cx="594360" cy="59436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A</a:t>
            </a:r>
          </a:p>
        </p:txBody>
      </p:sp>
      <p:sp>
        <p:nvSpPr>
          <p:cNvPr id="7" name="TextBox 6"/>
          <p:cNvSpPr txBox="1"/>
          <p:nvPr/>
        </p:nvSpPr>
        <p:spPr>
          <a:xfrm>
            <a:off x="1600200" y="2148840"/>
            <a:ext cx="4175607" cy="960120"/>
          </a:xfrm>
          <a:prstGeom prst="rect">
            <a:avLst/>
          </a:prstGeom>
          <a:noFill/>
        </p:spPr>
        <p:txBody>
          <a:bodyPr wrap="square" lIns="0" rIns="0" tIns="0" bIns="0" anchor="ctr">
            <a:spAutoFit/>
          </a:bodyPr>
          <a:lstStyle/>
          <a:p>
            <a:pPr algn="l"/>
            <a:r>
              <a:rPr sz="1800" b="1">
                <a:solidFill>
                  <a:srgbClr val="1F5A47"/>
                </a:solidFill>
              </a:rPr>
              <a:t>「主体的・対話的で深い学び」の実装</a:t>
            </a:r>
          </a:p>
        </p:txBody>
      </p:sp>
      <p:sp>
        <p:nvSpPr>
          <p:cNvPr id="8" name="Rounded Rectangle 7"/>
          <p:cNvSpPr/>
          <p:nvPr/>
        </p:nvSpPr>
        <p:spPr>
          <a:xfrm>
            <a:off x="6233007" y="2148840"/>
            <a:ext cx="5410047" cy="960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2331720"/>
            <a:ext cx="594360" cy="59436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B</a:t>
            </a:r>
          </a:p>
        </p:txBody>
      </p:sp>
      <p:sp>
        <p:nvSpPr>
          <p:cNvPr id="10" name="TextBox 9"/>
          <p:cNvSpPr txBox="1"/>
          <p:nvPr/>
        </p:nvSpPr>
        <p:spPr>
          <a:xfrm>
            <a:off x="7284567" y="2148840"/>
            <a:ext cx="4175607" cy="960120"/>
          </a:xfrm>
          <a:prstGeom prst="rect">
            <a:avLst/>
          </a:prstGeom>
          <a:noFill/>
        </p:spPr>
        <p:txBody>
          <a:bodyPr wrap="square" lIns="0" rIns="0" tIns="0" bIns="0" anchor="ctr">
            <a:spAutoFit/>
          </a:bodyPr>
          <a:lstStyle/>
          <a:p>
            <a:pPr algn="l"/>
            <a:r>
              <a:rPr sz="1800" b="1">
                <a:solidFill>
                  <a:srgbClr val="1F5A47"/>
                </a:solidFill>
              </a:rPr>
              <a:t>多様性の包摂</a:t>
            </a:r>
          </a:p>
        </p:txBody>
      </p:sp>
      <p:sp>
        <p:nvSpPr>
          <p:cNvPr id="11" name="Rounded Rectangle 10"/>
          <p:cNvSpPr/>
          <p:nvPr/>
        </p:nvSpPr>
        <p:spPr>
          <a:xfrm>
            <a:off x="548640" y="3291840"/>
            <a:ext cx="5410047" cy="960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3474720"/>
            <a:ext cx="594360" cy="59436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C</a:t>
            </a:r>
          </a:p>
        </p:txBody>
      </p:sp>
      <p:sp>
        <p:nvSpPr>
          <p:cNvPr id="13" name="TextBox 12"/>
          <p:cNvSpPr txBox="1"/>
          <p:nvPr/>
        </p:nvSpPr>
        <p:spPr>
          <a:xfrm>
            <a:off x="1600200" y="3291840"/>
            <a:ext cx="4175607" cy="960120"/>
          </a:xfrm>
          <a:prstGeom prst="rect">
            <a:avLst/>
          </a:prstGeom>
          <a:noFill/>
        </p:spPr>
        <p:txBody>
          <a:bodyPr wrap="square" lIns="0" rIns="0" tIns="0" bIns="0" anchor="ctr">
            <a:spAutoFit/>
          </a:bodyPr>
          <a:lstStyle/>
          <a:p>
            <a:pPr algn="l"/>
            <a:r>
              <a:rPr sz="1800" b="1">
                <a:solidFill>
                  <a:srgbClr val="1F5A47"/>
                </a:solidFill>
              </a:rPr>
              <a:t>授業時数の拡充</a:t>
            </a:r>
          </a:p>
        </p:txBody>
      </p:sp>
      <p:sp>
        <p:nvSpPr>
          <p:cNvPr id="14" name="Rounded Rectangle 13"/>
          <p:cNvSpPr/>
          <p:nvPr/>
        </p:nvSpPr>
        <p:spPr>
          <a:xfrm>
            <a:off x="6233007" y="3291840"/>
            <a:ext cx="5410047" cy="960120"/>
          </a:xfrm>
          <a:prstGeom prst="roundRect">
            <a:avLst>
              <a:gd name="adj" fmla="val 8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474720"/>
            <a:ext cx="594360" cy="59436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D</a:t>
            </a:r>
          </a:p>
        </p:txBody>
      </p:sp>
      <p:sp>
        <p:nvSpPr>
          <p:cNvPr id="16" name="TextBox 15"/>
          <p:cNvSpPr txBox="1"/>
          <p:nvPr/>
        </p:nvSpPr>
        <p:spPr>
          <a:xfrm>
            <a:off x="7284567" y="3291840"/>
            <a:ext cx="4175607" cy="960120"/>
          </a:xfrm>
          <a:prstGeom prst="rect">
            <a:avLst/>
          </a:prstGeom>
          <a:noFill/>
        </p:spPr>
        <p:txBody>
          <a:bodyPr wrap="square" lIns="0" rIns="0" tIns="0" bIns="0" anchor="ctr">
            <a:spAutoFit/>
          </a:bodyPr>
          <a:lstStyle/>
          <a:p>
            <a:pPr algn="l"/>
            <a:r>
              <a:rPr sz="1800" b="1">
                <a:solidFill>
                  <a:srgbClr val="1F5A47"/>
                </a:solidFill>
              </a:rPr>
              <a:t>実現可能性の確保</a:t>
            </a:r>
          </a:p>
        </p:txBody>
      </p:sp>
      <p:sp>
        <p:nvSpPr>
          <p:cNvPr id="17" name="Rounded Rectangle 16"/>
          <p:cNvSpPr/>
          <p:nvPr/>
        </p:nvSpPr>
        <p:spPr>
          <a:xfrm>
            <a:off x="548640" y="4709160"/>
            <a:ext cx="11094415" cy="1280160"/>
          </a:xfrm>
          <a:prstGeom prst="roundRect">
            <a:avLst>
              <a:gd name="adj" fmla="val 8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68680" y="4983480"/>
            <a:ext cx="731520" cy="73152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rPr>
              <a:t>話</a:t>
            </a:r>
          </a:p>
        </p:txBody>
      </p:sp>
      <p:sp>
        <p:nvSpPr>
          <p:cNvPr id="19" name="TextBox 18"/>
          <p:cNvSpPr txBox="1"/>
          <p:nvPr/>
        </p:nvSpPr>
        <p:spPr>
          <a:xfrm>
            <a:off x="1874519" y="4709160"/>
            <a:ext cx="6400800" cy="1280160"/>
          </a:xfrm>
          <a:prstGeom prst="rect">
            <a:avLst/>
          </a:prstGeom>
          <a:noFill/>
        </p:spPr>
        <p:txBody>
          <a:bodyPr wrap="square" lIns="0" rIns="0" tIns="0" bIns="0" anchor="ctr">
            <a:spAutoFit/>
          </a:bodyPr>
          <a:lstStyle/>
          <a:p>
            <a:pPr algn="l"/>
            <a:r>
              <a:rPr sz="2200" b="1">
                <a:solidFill>
                  <a:srgbClr val="FFFFFF"/>
                </a:solidFill>
              </a:rPr>
              <a:t>隣の人と相談（30秒）</a:t>
            </a:r>
          </a:p>
          <a:p>
            <a:pPr algn="l"/>
            <a:r>
              <a:rPr sz="1500" b="0">
                <a:solidFill>
                  <a:srgbClr val="D3E3D9"/>
                </a:solidFill>
              </a:rPr>
              <a:t>選んだ理由も話してみてください</a:t>
            </a:r>
          </a:p>
        </p:txBody>
      </p:sp>
      <p:sp>
        <p:nvSpPr>
          <p:cNvPr id="20" name="TextBox 19"/>
          <p:cNvSpPr txBox="1"/>
          <p:nvPr/>
        </p:nvSpPr>
        <p:spPr>
          <a:xfrm>
            <a:off x="8321040" y="4709160"/>
            <a:ext cx="3001975" cy="1280160"/>
          </a:xfrm>
          <a:prstGeom prst="rect">
            <a:avLst/>
          </a:prstGeom>
          <a:noFill/>
        </p:spPr>
        <p:txBody>
          <a:bodyPr wrap="square" lIns="0" rIns="0" tIns="0" bIns="0" anchor="ctr">
            <a:spAutoFit/>
          </a:bodyPr>
          <a:lstStyle/>
          <a:p>
            <a:pPr algn="r"/>
            <a:r>
              <a:rPr sz="1600" b="1">
                <a:solidFill>
                  <a:srgbClr val="FBEADB"/>
                </a:solidFill>
              </a:rPr>
              <a:t>答えは次のスライドで</a:t>
            </a:r>
          </a:p>
        </p:txBody>
      </p:sp>
      <p:sp>
        <p:nvSpPr>
          <p:cNvPr id="21" name="TextBox 20"/>
          <p:cNvSpPr txBox="1"/>
          <p:nvPr/>
        </p:nvSpPr>
        <p:spPr>
          <a:xfrm>
            <a:off x="548640" y="6108192"/>
            <a:ext cx="11094415" cy="237744"/>
          </a:xfrm>
          <a:prstGeom prst="rect">
            <a:avLst/>
          </a:prstGeom>
          <a:noFill/>
        </p:spPr>
        <p:txBody>
          <a:bodyPr wrap="square" lIns="0" rIns="0" tIns="0" bIns="0" anchor="ctr">
            <a:spAutoFit/>
          </a:bodyPr>
          <a:lstStyle/>
          <a:p>
            <a:pPr algn="r"/>
            <a:r>
              <a:rPr sz="1000" b="0">
                <a:solidFill>
                  <a:srgbClr val="5E6E68"/>
                </a:solidFill>
              </a:rPr>
              <a:t>出典：中央教育審議会 初等中等教育分科会 教育課程部会「次期学習指導要領等に向けた審議まとめ」（令和８年10月５日）</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審議まとめが示す３</a:t>
            </a:r>
            <a:r>
              <a:rPr lang="en-US" sz="3000" b="1" dirty="0">
                <a:solidFill>
                  <a:schemeClr val="tx2"/>
                </a:solidFill>
                <a:latin typeface="BIZ UDPゴシック" panose="020B0400000000000000" pitchFamily="50" charset="-128"/>
                <a:ea typeface="BIZ UDPゴシック" panose="020B0400000000000000" pitchFamily="50" charset="-128"/>
              </a:rPr>
              <a:t>つの方向性と天童中部小</a:t>
            </a:r>
            <a:r>
              <a:rPr lang="ja-JP" altLang="en-US" sz="3000" b="1" dirty="0">
                <a:solidFill>
                  <a:schemeClr val="tx2"/>
                </a:solidFill>
                <a:latin typeface="BIZ UDPゴシック" panose="020B0400000000000000" pitchFamily="50" charset="-128"/>
                <a:ea typeface="BIZ UDPゴシック" panose="020B0400000000000000" pitchFamily="50" charset="-128"/>
              </a:rPr>
              <a:t>学校の取組</a:t>
            </a:r>
            <a:endParaRPr lang="en-US" sz="3000" dirty="0">
              <a:latin typeface="BIZ UDPゴシック" panose="020B0400000000000000" pitchFamily="50" charset="-128"/>
              <a:ea typeface="BIZ UDPゴシック" panose="020B0400000000000000" pitchFamily="50" charset="-128"/>
            </a:endParaRPr>
          </a:p>
        </p:txBody>
      </p:sp>
      <p:sp>
        <p:nvSpPr>
          <p:cNvPr id="4" name="Shape 2"/>
          <p:cNvSpPr/>
          <p:nvPr/>
        </p:nvSpPr>
        <p:spPr>
          <a:xfrm>
            <a:off x="548640" y="1508760"/>
            <a:ext cx="3454298" cy="4526280"/>
          </a:xfrm>
          <a:prstGeom prst="roundRect">
            <a:avLst>
              <a:gd name="adj" fmla="val 2118"/>
            </a:avLst>
          </a:prstGeom>
          <a:solidFill>
            <a:schemeClr val="bg2"/>
          </a:solidFill>
          <a:ln/>
        </p:spPr>
        <p:txBody>
          <a:bodyPr/>
          <a:lstStyle/>
          <a:p>
            <a:endParaRPr lang="ja-JP" altLang="en-US"/>
          </a:p>
        </p:txBody>
      </p:sp>
      <p:sp>
        <p:nvSpPr>
          <p:cNvPr id="5" name="Shape 3"/>
          <p:cNvSpPr/>
          <p:nvPr/>
        </p:nvSpPr>
        <p:spPr>
          <a:xfrm>
            <a:off x="822960" y="1783080"/>
            <a:ext cx="731520" cy="73152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1965960"/>
            <a:ext cx="365760" cy="365760"/>
          </a:xfrm>
          <a:prstGeom prst="rect">
            <a:avLst/>
          </a:prstGeom>
        </p:spPr>
      </p:pic>
      <p:sp>
        <p:nvSpPr>
          <p:cNvPr id="7" name="Text 4"/>
          <p:cNvSpPr txBox="1"/>
          <p:nvPr/>
        </p:nvSpPr>
        <p:spPr>
          <a:xfrm>
            <a:off x="3134258"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1</a:t>
            </a:r>
            <a:endParaRPr lang="en-US" sz="3400" dirty="0"/>
          </a:p>
        </p:txBody>
      </p:sp>
      <p:sp>
        <p:nvSpPr>
          <p:cNvPr id="8" name="Text 5"/>
          <p:cNvSpPr txBox="1"/>
          <p:nvPr/>
        </p:nvSpPr>
        <p:spPr>
          <a:xfrm>
            <a:off x="640080" y="2651760"/>
            <a:ext cx="3088538" cy="868680"/>
          </a:xfrm>
          <a:prstGeom prst="rect">
            <a:avLst/>
          </a:prstGeom>
          <a:noFill/>
          <a:ln/>
        </p:spPr>
        <p:txBody>
          <a:bodyPr wrap="square" lIns="0" tIns="0" rIns="0" bIns="0" rtlCol="0" anchor="t"/>
          <a:lstStyle/>
          <a:p>
            <a:pPr marL="0" indent="0">
              <a:buNone/>
            </a:pPr>
            <a:r>
              <a:rPr lang="en-US" sz="1900" b="1" dirty="0">
                <a:solidFill>
                  <a:schemeClr val="tx2"/>
                </a:solidFill>
              </a:rPr>
              <a:t>「主体的・対話的で深い学び」の実装</a:t>
            </a:r>
            <a:endParaRPr lang="en-US" sz="1900" dirty="0"/>
          </a:p>
        </p:txBody>
      </p:sp>
      <p:sp>
        <p:nvSpPr>
          <p:cNvPr id="9" name="Text 6"/>
          <p:cNvSpPr txBox="1"/>
          <p:nvPr/>
        </p:nvSpPr>
        <p:spPr>
          <a:xfrm>
            <a:off x="822960"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考え方を、日常の授業で実現する段階へ</a:t>
            </a:r>
            <a:endParaRPr lang="en-US" sz="1500" dirty="0"/>
          </a:p>
        </p:txBody>
      </p:sp>
      <p:sp>
        <p:nvSpPr>
          <p:cNvPr id="10" name="Shape 7"/>
          <p:cNvSpPr/>
          <p:nvPr/>
        </p:nvSpPr>
        <p:spPr>
          <a:xfrm>
            <a:off x="731520" y="4617720"/>
            <a:ext cx="3088538" cy="1234440"/>
          </a:xfrm>
          <a:prstGeom prst="roundRect">
            <a:avLst>
              <a:gd name="adj" fmla="val 5926"/>
            </a:avLst>
          </a:prstGeom>
          <a:solidFill>
            <a:schemeClr val="bg1"/>
          </a:solidFill>
          <a:ln/>
        </p:spPr>
        <p:txBody>
          <a:bodyPr/>
          <a:lstStyle/>
          <a:p>
            <a:endParaRPr lang="ja-JP" altLang="en-US"/>
          </a:p>
        </p:txBody>
      </p:sp>
      <p:sp>
        <p:nvSpPr>
          <p:cNvPr id="11" name="Text 8"/>
          <p:cNvSpPr txBox="1"/>
          <p:nvPr/>
        </p:nvSpPr>
        <p:spPr>
          <a:xfrm>
            <a:off x="868680"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MP学習を各教科の単元計画に位置付け、日常化している</a:t>
            </a:r>
            <a:endParaRPr lang="en-US" sz="1400" dirty="0"/>
          </a:p>
        </p:txBody>
      </p:sp>
      <p:sp>
        <p:nvSpPr>
          <p:cNvPr id="12" name="Shape 9"/>
          <p:cNvSpPr/>
          <p:nvPr/>
        </p:nvSpPr>
        <p:spPr>
          <a:xfrm>
            <a:off x="4368698" y="1508760"/>
            <a:ext cx="3454298" cy="4526280"/>
          </a:xfrm>
          <a:prstGeom prst="roundRect">
            <a:avLst>
              <a:gd name="adj" fmla="val 2118"/>
            </a:avLst>
          </a:prstGeom>
          <a:solidFill>
            <a:schemeClr val="bg2"/>
          </a:solidFill>
          <a:ln/>
        </p:spPr>
        <p:txBody>
          <a:bodyPr/>
          <a:lstStyle/>
          <a:p>
            <a:endParaRPr lang="ja-JP" altLang="en-US"/>
          </a:p>
        </p:txBody>
      </p:sp>
      <p:sp>
        <p:nvSpPr>
          <p:cNvPr id="13" name="Shape 10"/>
          <p:cNvSpPr/>
          <p:nvPr/>
        </p:nvSpPr>
        <p:spPr>
          <a:xfrm>
            <a:off x="4643018" y="1783080"/>
            <a:ext cx="731520" cy="731520"/>
          </a:xfrm>
          <a:prstGeom prst="ellipse">
            <a:avLst/>
          </a:prstGeom>
          <a:solidFill>
            <a:schemeClr val="accent2"/>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825898" y="1965960"/>
            <a:ext cx="365760" cy="365760"/>
          </a:xfrm>
          <a:prstGeom prst="rect">
            <a:avLst/>
          </a:prstGeom>
        </p:spPr>
      </p:pic>
      <p:sp>
        <p:nvSpPr>
          <p:cNvPr id="15" name="Text 11"/>
          <p:cNvSpPr txBox="1"/>
          <p:nvPr/>
        </p:nvSpPr>
        <p:spPr>
          <a:xfrm>
            <a:off x="6954317"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2</a:t>
            </a:r>
            <a:endParaRPr lang="en-US" sz="3400" dirty="0"/>
          </a:p>
        </p:txBody>
      </p:sp>
      <p:sp>
        <p:nvSpPr>
          <p:cNvPr id="16" name="Text 12"/>
          <p:cNvSpPr txBox="1"/>
          <p:nvPr/>
        </p:nvSpPr>
        <p:spPr>
          <a:xfrm>
            <a:off x="4643018"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多様性の包摂</a:t>
            </a:r>
            <a:endParaRPr lang="en-US" sz="1900" dirty="0"/>
          </a:p>
        </p:txBody>
      </p:sp>
      <p:sp>
        <p:nvSpPr>
          <p:cNvPr id="17" name="Text 13"/>
          <p:cNvSpPr txBox="1"/>
          <p:nvPr/>
        </p:nvSpPr>
        <p:spPr>
          <a:xfrm>
            <a:off x="4643018"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興味・関心、特性、ペースの違いを前提に、すべての子供の学びを保障</a:t>
            </a:r>
            <a:endParaRPr lang="en-US" sz="1500" dirty="0"/>
          </a:p>
        </p:txBody>
      </p:sp>
      <p:sp>
        <p:nvSpPr>
          <p:cNvPr id="18" name="Shape 14"/>
          <p:cNvSpPr/>
          <p:nvPr/>
        </p:nvSpPr>
        <p:spPr>
          <a:xfrm>
            <a:off x="4551578" y="4617720"/>
            <a:ext cx="3088538" cy="1234440"/>
          </a:xfrm>
          <a:prstGeom prst="roundRect">
            <a:avLst>
              <a:gd name="adj" fmla="val 5926"/>
            </a:avLst>
          </a:prstGeom>
          <a:solidFill>
            <a:schemeClr val="bg1"/>
          </a:solidFill>
          <a:ln/>
        </p:spPr>
        <p:txBody>
          <a:bodyPr/>
          <a:lstStyle/>
          <a:p>
            <a:endParaRPr lang="ja-JP" altLang="en-US"/>
          </a:p>
        </p:txBody>
      </p:sp>
      <p:sp>
        <p:nvSpPr>
          <p:cNvPr id="19" name="Text 15"/>
          <p:cNvSpPr txBox="1"/>
          <p:nvPr/>
        </p:nvSpPr>
        <p:spPr>
          <a:xfrm>
            <a:off x="4688738"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学ぶ内容・方法・場所を選べる。FSPでは一人一人がテーマをもつ</a:t>
            </a:r>
            <a:endParaRPr lang="en-US" sz="1400" dirty="0"/>
          </a:p>
        </p:txBody>
      </p:sp>
      <p:sp>
        <p:nvSpPr>
          <p:cNvPr id="20" name="Shape 16"/>
          <p:cNvSpPr/>
          <p:nvPr/>
        </p:nvSpPr>
        <p:spPr>
          <a:xfrm>
            <a:off x="8188757" y="1508760"/>
            <a:ext cx="3454298" cy="4526280"/>
          </a:xfrm>
          <a:prstGeom prst="roundRect">
            <a:avLst>
              <a:gd name="adj" fmla="val 2118"/>
            </a:avLst>
          </a:prstGeom>
          <a:solidFill>
            <a:schemeClr val="bg2"/>
          </a:solidFill>
          <a:ln/>
        </p:spPr>
        <p:txBody>
          <a:bodyPr/>
          <a:lstStyle/>
          <a:p>
            <a:endParaRPr lang="ja-JP" altLang="en-US"/>
          </a:p>
        </p:txBody>
      </p:sp>
      <p:sp>
        <p:nvSpPr>
          <p:cNvPr id="21" name="Shape 17"/>
          <p:cNvSpPr/>
          <p:nvPr/>
        </p:nvSpPr>
        <p:spPr>
          <a:xfrm>
            <a:off x="8463077" y="1783080"/>
            <a:ext cx="731520" cy="731520"/>
          </a:xfrm>
          <a:prstGeom prst="ellipse">
            <a:avLst/>
          </a:prstGeom>
          <a:solidFill>
            <a:schemeClr val="accent1"/>
          </a:solidFill>
          <a:ln/>
        </p:spPr>
        <p:txBody>
          <a:bodyPr/>
          <a:lstStyle/>
          <a:p>
            <a:endParaRPr lang="ja-JP" altLang="en-US"/>
          </a:p>
        </p:txBody>
      </p:sp>
      <p:pic>
        <p:nvPicPr>
          <p:cNvPr id="22" name="Image 2" descr="preencoded.png"/>
          <p:cNvPicPr>
            <a:picLocks noChangeAspect="1"/>
          </p:cNvPicPr>
          <p:nvPr/>
        </p:nvPicPr>
        <p:blipFill>
          <a:blip r:embed="rId5"/>
          <a:stretch>
            <a:fillRect/>
          </a:stretch>
        </p:blipFill>
        <p:spPr>
          <a:xfrm>
            <a:off x="8645957" y="1965960"/>
            <a:ext cx="365760" cy="365760"/>
          </a:xfrm>
          <a:prstGeom prst="rect">
            <a:avLst/>
          </a:prstGeom>
        </p:spPr>
      </p:pic>
      <p:sp>
        <p:nvSpPr>
          <p:cNvPr id="23" name="Text 18"/>
          <p:cNvSpPr txBox="1"/>
          <p:nvPr/>
        </p:nvSpPr>
        <p:spPr>
          <a:xfrm>
            <a:off x="10774375"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3</a:t>
            </a:r>
            <a:endParaRPr lang="en-US" sz="3400" dirty="0"/>
          </a:p>
        </p:txBody>
      </p:sp>
      <p:sp>
        <p:nvSpPr>
          <p:cNvPr id="24" name="Text 19"/>
          <p:cNvSpPr txBox="1"/>
          <p:nvPr/>
        </p:nvSpPr>
        <p:spPr>
          <a:xfrm>
            <a:off x="8463077"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実現可能性の確保</a:t>
            </a:r>
            <a:endParaRPr lang="en-US" sz="1900" dirty="0"/>
          </a:p>
        </p:txBody>
      </p:sp>
      <p:sp>
        <p:nvSpPr>
          <p:cNvPr id="25" name="Text 20"/>
          <p:cNvSpPr txBox="1"/>
          <p:nvPr/>
        </p:nvSpPr>
        <p:spPr>
          <a:xfrm>
            <a:off x="8463077"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内容の精選や柔軟な教育課程で、学校が無理なく実現できるように</a:t>
            </a:r>
            <a:endParaRPr lang="en-US" sz="1500" dirty="0"/>
          </a:p>
        </p:txBody>
      </p:sp>
      <p:sp>
        <p:nvSpPr>
          <p:cNvPr id="26" name="Shape 21"/>
          <p:cNvSpPr/>
          <p:nvPr/>
        </p:nvSpPr>
        <p:spPr>
          <a:xfrm>
            <a:off x="8371637" y="4617720"/>
            <a:ext cx="3088538" cy="1234440"/>
          </a:xfrm>
          <a:prstGeom prst="roundRect">
            <a:avLst>
              <a:gd name="adj" fmla="val 5926"/>
            </a:avLst>
          </a:prstGeom>
          <a:solidFill>
            <a:schemeClr val="bg1"/>
          </a:solidFill>
          <a:ln/>
        </p:spPr>
        <p:txBody>
          <a:bodyPr/>
          <a:lstStyle/>
          <a:p>
            <a:endParaRPr lang="ja-JP" altLang="en-US"/>
          </a:p>
        </p:txBody>
      </p:sp>
      <p:sp>
        <p:nvSpPr>
          <p:cNvPr id="27" name="Text 22"/>
          <p:cNvSpPr txBox="1"/>
          <p:nvPr/>
        </p:nvSpPr>
        <p:spPr>
          <a:xfrm>
            <a:off x="8508797"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４つの学びを組み合わせ、学校全体のシステムとして運用</a:t>
            </a:r>
            <a:endParaRPr lang="en-US" sz="1400" dirty="0"/>
          </a:p>
        </p:txBody>
      </p:sp>
      <p:sp>
        <p:nvSpPr>
          <p:cNvPr id="28"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
        <p:nvSpPr>
          <p:cNvPr id="29" name="TextBox 28"/>
          <p:cNvSpPr txBox="1"/>
          <p:nvPr/>
        </p:nvSpPr>
        <p:spPr>
          <a:xfrm>
            <a:off x="548640" y="6108192"/>
            <a:ext cx="11094415" cy="237744"/>
          </a:xfrm>
          <a:prstGeom prst="rect">
            <a:avLst/>
          </a:prstGeom>
          <a:noFill/>
        </p:spPr>
        <p:txBody>
          <a:bodyPr wrap="square" lIns="0" rIns="0" tIns="0" bIns="0" anchor="ctr">
            <a:spAutoFit/>
          </a:bodyPr>
          <a:lstStyle/>
          <a:p>
            <a:pPr algn="r"/>
            <a:r>
              <a:rPr sz="1000" b="0">
                <a:solidFill>
                  <a:srgbClr val="5E6E68"/>
                </a:solidFill>
              </a:rPr>
              <a:t>出典：中央教育審議会 初等中等教育分科会 教育課程部会「次期学習指導要領等に向けた審議まとめ」（令和８年10月５日）</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主な改善の方向と天童中部小の実践</a:t>
            </a:r>
            <a:endParaRPr lang="en-US" sz="3000" dirty="0"/>
          </a:p>
        </p:txBody>
      </p:sp>
      <p:sp>
        <p:nvSpPr>
          <p:cNvPr id="4" name="Shape 2"/>
          <p:cNvSpPr/>
          <p:nvPr/>
        </p:nvSpPr>
        <p:spPr>
          <a:xfrm>
            <a:off x="548640" y="1508760"/>
            <a:ext cx="351525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777240" y="1737360"/>
            <a:ext cx="566928" cy="566928"/>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918972" y="1879092"/>
            <a:ext cx="283464" cy="283464"/>
          </a:xfrm>
          <a:prstGeom prst="rect">
            <a:avLst/>
          </a:prstGeom>
        </p:spPr>
      </p:pic>
      <p:sp>
        <p:nvSpPr>
          <p:cNvPr id="7" name="Text 4"/>
          <p:cNvSpPr txBox="1"/>
          <p:nvPr/>
        </p:nvSpPr>
        <p:spPr>
          <a:xfrm>
            <a:off x="1463040"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目標・内容の構造化</a:t>
            </a:r>
            <a:endParaRPr lang="en-US" sz="1700" dirty="0"/>
          </a:p>
        </p:txBody>
      </p:sp>
      <p:sp>
        <p:nvSpPr>
          <p:cNvPr id="8" name="Text 5"/>
          <p:cNvSpPr txBox="1"/>
          <p:nvPr/>
        </p:nvSpPr>
        <p:spPr>
          <a:xfrm>
            <a:off x="777240"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中核的な概念等を軸に整理し、分かりやすく示す</a:t>
            </a:r>
            <a:endParaRPr lang="en-US" sz="1400" dirty="0"/>
          </a:p>
        </p:txBody>
      </p:sp>
      <p:sp>
        <p:nvSpPr>
          <p:cNvPr id="9" name="Text 6"/>
          <p:cNvSpPr txBox="1"/>
          <p:nvPr/>
        </p:nvSpPr>
        <p:spPr>
          <a:xfrm>
            <a:off x="777240"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学習のゴールを示した単元計画・学習の手引き</a:t>
            </a:r>
            <a:endParaRPr lang="en-US" sz="1200" dirty="0"/>
          </a:p>
        </p:txBody>
      </p:sp>
      <p:sp>
        <p:nvSpPr>
          <p:cNvPr id="10" name="Shape 7"/>
          <p:cNvSpPr/>
          <p:nvPr/>
        </p:nvSpPr>
        <p:spPr>
          <a:xfrm>
            <a:off x="4338218" y="1508760"/>
            <a:ext cx="3515258" cy="2103120"/>
          </a:xfrm>
          <a:prstGeom prst="roundRect">
            <a:avLst>
              <a:gd name="adj" fmla="val 3478"/>
            </a:avLst>
          </a:prstGeom>
          <a:solidFill>
            <a:schemeClr val="bg2"/>
          </a:solidFill>
          <a:ln/>
        </p:spPr>
        <p:txBody>
          <a:bodyPr/>
          <a:lstStyle/>
          <a:p>
            <a:endParaRPr lang="ja-JP" altLang="en-US"/>
          </a:p>
        </p:txBody>
      </p:sp>
      <p:sp>
        <p:nvSpPr>
          <p:cNvPr id="11" name="Shape 8"/>
          <p:cNvSpPr/>
          <p:nvPr/>
        </p:nvSpPr>
        <p:spPr>
          <a:xfrm>
            <a:off x="4566818" y="1737360"/>
            <a:ext cx="566928" cy="566928"/>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708550" y="1879092"/>
            <a:ext cx="283464" cy="283464"/>
          </a:xfrm>
          <a:prstGeom prst="rect">
            <a:avLst/>
          </a:prstGeom>
        </p:spPr>
      </p:pic>
      <p:sp>
        <p:nvSpPr>
          <p:cNvPr id="13" name="Text 9"/>
          <p:cNvSpPr txBox="1"/>
          <p:nvPr/>
        </p:nvSpPr>
        <p:spPr>
          <a:xfrm>
            <a:off x="5252618"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調整授業時数制度</a:t>
            </a:r>
            <a:endParaRPr lang="en-US" sz="1700" dirty="0"/>
          </a:p>
        </p:txBody>
      </p:sp>
      <p:sp>
        <p:nvSpPr>
          <p:cNvPr id="14" name="Text 10"/>
          <p:cNvSpPr txBox="1"/>
          <p:nvPr/>
        </p:nvSpPr>
        <p:spPr>
          <a:xfrm>
            <a:off x="4566818"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学校の実態に応じ、標準授業時数を一定の範囲で調整</a:t>
            </a:r>
            <a:endParaRPr lang="en-US" sz="1400" dirty="0"/>
          </a:p>
        </p:txBody>
      </p:sp>
      <p:sp>
        <p:nvSpPr>
          <p:cNvPr id="15" name="Text 11"/>
          <p:cNvSpPr txBox="1"/>
          <p:nvPr/>
        </p:nvSpPr>
        <p:spPr>
          <a:xfrm>
            <a:off x="4566818"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質疑でも、生かし方が話題に</a:t>
            </a:r>
            <a:endParaRPr lang="en-US" sz="1200" dirty="0"/>
          </a:p>
        </p:txBody>
      </p:sp>
      <p:sp>
        <p:nvSpPr>
          <p:cNvPr id="16" name="Shape 12"/>
          <p:cNvSpPr/>
          <p:nvPr/>
        </p:nvSpPr>
        <p:spPr>
          <a:xfrm>
            <a:off x="8127797" y="1508760"/>
            <a:ext cx="3515258" cy="2103120"/>
          </a:xfrm>
          <a:prstGeom prst="roundRect">
            <a:avLst>
              <a:gd name="adj" fmla="val 3478"/>
            </a:avLst>
          </a:prstGeom>
          <a:solidFill>
            <a:schemeClr val="bg2"/>
          </a:solidFill>
          <a:ln/>
        </p:spPr>
        <p:txBody>
          <a:bodyPr/>
          <a:lstStyle/>
          <a:p>
            <a:endParaRPr lang="ja-JP" altLang="en-US"/>
          </a:p>
        </p:txBody>
      </p:sp>
      <p:sp>
        <p:nvSpPr>
          <p:cNvPr id="17" name="Shape 13"/>
          <p:cNvSpPr/>
          <p:nvPr/>
        </p:nvSpPr>
        <p:spPr>
          <a:xfrm>
            <a:off x="8356397" y="1737360"/>
            <a:ext cx="566928" cy="566928"/>
          </a:xfrm>
          <a:prstGeom prst="ellipse">
            <a:avLst/>
          </a:prstGeom>
          <a:solidFill>
            <a:schemeClr val="accent2"/>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8498129" y="1879092"/>
            <a:ext cx="283464" cy="283464"/>
          </a:xfrm>
          <a:prstGeom prst="rect">
            <a:avLst/>
          </a:prstGeom>
        </p:spPr>
      </p:pic>
      <p:sp>
        <p:nvSpPr>
          <p:cNvPr id="19" name="Text 14"/>
          <p:cNvSpPr txBox="1"/>
          <p:nvPr/>
        </p:nvSpPr>
        <p:spPr>
          <a:xfrm>
            <a:off x="9042197"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裁量的な時間</a:t>
            </a:r>
            <a:endParaRPr lang="en-US" sz="1700" dirty="0"/>
          </a:p>
        </p:txBody>
      </p:sp>
      <p:sp>
        <p:nvSpPr>
          <p:cNvPr id="20" name="Text 15"/>
          <p:cNvSpPr txBox="1"/>
          <p:nvPr/>
        </p:nvSpPr>
        <p:spPr>
          <a:xfrm>
            <a:off x="8356397"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生み出した時間を、子供の個性や特性に応じた学びに</a:t>
            </a:r>
            <a:endParaRPr lang="en-US" sz="1400" dirty="0"/>
          </a:p>
        </p:txBody>
      </p:sp>
      <p:sp>
        <p:nvSpPr>
          <p:cNvPr id="21" name="Text 16"/>
          <p:cNvSpPr txBox="1"/>
          <p:nvPr/>
        </p:nvSpPr>
        <p:spPr>
          <a:xfrm>
            <a:off x="8356397"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FSP（個人総合）</a:t>
            </a:r>
            <a:endParaRPr lang="en-US" sz="1200" dirty="0"/>
          </a:p>
        </p:txBody>
      </p:sp>
      <p:sp>
        <p:nvSpPr>
          <p:cNvPr id="22" name="Shape 17"/>
          <p:cNvSpPr/>
          <p:nvPr/>
        </p:nvSpPr>
        <p:spPr>
          <a:xfrm>
            <a:off x="548640" y="3840480"/>
            <a:ext cx="3515258" cy="2103120"/>
          </a:xfrm>
          <a:prstGeom prst="roundRect">
            <a:avLst>
              <a:gd name="adj" fmla="val 3478"/>
            </a:avLst>
          </a:prstGeom>
          <a:solidFill>
            <a:schemeClr val="bg2"/>
          </a:solidFill>
          <a:ln/>
        </p:spPr>
        <p:txBody>
          <a:bodyPr/>
          <a:lstStyle/>
          <a:p>
            <a:endParaRPr lang="ja-JP" altLang="en-US"/>
          </a:p>
        </p:txBody>
      </p:sp>
      <p:sp>
        <p:nvSpPr>
          <p:cNvPr id="23" name="Shape 18"/>
          <p:cNvSpPr/>
          <p:nvPr/>
        </p:nvSpPr>
        <p:spPr>
          <a:xfrm>
            <a:off x="777240" y="4069080"/>
            <a:ext cx="566928" cy="566928"/>
          </a:xfrm>
          <a:prstGeom prst="ellipse">
            <a:avLst/>
          </a:prstGeom>
          <a:solidFill>
            <a:schemeClr val="accent1"/>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918972" y="4210812"/>
            <a:ext cx="283464" cy="283464"/>
          </a:xfrm>
          <a:prstGeom prst="rect">
            <a:avLst/>
          </a:prstGeom>
        </p:spPr>
      </p:pic>
      <p:sp>
        <p:nvSpPr>
          <p:cNvPr id="25" name="Text 19"/>
          <p:cNvSpPr txBox="1"/>
          <p:nvPr/>
        </p:nvSpPr>
        <p:spPr>
          <a:xfrm>
            <a:off x="1463040"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情報活用能力の</a:t>
            </a:r>
            <a:endParaRPr lang="en-US" sz="1700" dirty="0"/>
          </a:p>
          <a:p>
            <a:pPr marL="0" indent="0">
              <a:buNone/>
            </a:pPr>
            <a:r>
              <a:rPr lang="en-US" sz="1700" b="1" dirty="0">
                <a:solidFill>
                  <a:schemeClr val="tx2"/>
                </a:solidFill>
              </a:rPr>
              <a:t>抜本的向上</a:t>
            </a:r>
            <a:endParaRPr lang="en-US" sz="1700" dirty="0"/>
          </a:p>
        </p:txBody>
      </p:sp>
      <p:sp>
        <p:nvSpPr>
          <p:cNvPr id="26" name="Text 20"/>
          <p:cNvSpPr txBox="1"/>
          <p:nvPr/>
        </p:nvSpPr>
        <p:spPr>
          <a:xfrm>
            <a:off x="777240"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学習の基盤となる資質・能力として位置付ける</a:t>
            </a:r>
            <a:endParaRPr lang="en-US" sz="1400" dirty="0"/>
          </a:p>
        </p:txBody>
      </p:sp>
      <p:sp>
        <p:nvSpPr>
          <p:cNvPr id="27" name="Text 21"/>
          <p:cNvSpPr txBox="1"/>
          <p:nvPr/>
        </p:nvSpPr>
        <p:spPr>
          <a:xfrm>
            <a:off x="777240"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QRコード教材、スライド発表</a:t>
            </a:r>
            <a:endParaRPr lang="en-US" sz="1200" dirty="0"/>
          </a:p>
        </p:txBody>
      </p:sp>
      <p:sp>
        <p:nvSpPr>
          <p:cNvPr id="28" name="Shape 22"/>
          <p:cNvSpPr/>
          <p:nvPr/>
        </p:nvSpPr>
        <p:spPr>
          <a:xfrm>
            <a:off x="4338218" y="3840480"/>
            <a:ext cx="3515258" cy="2103120"/>
          </a:xfrm>
          <a:prstGeom prst="roundRect">
            <a:avLst>
              <a:gd name="adj" fmla="val 3478"/>
            </a:avLst>
          </a:prstGeom>
          <a:solidFill>
            <a:schemeClr val="bg2"/>
          </a:solidFill>
          <a:ln/>
        </p:spPr>
        <p:txBody>
          <a:bodyPr/>
          <a:lstStyle/>
          <a:p>
            <a:endParaRPr lang="ja-JP" altLang="en-US"/>
          </a:p>
        </p:txBody>
      </p:sp>
      <p:sp>
        <p:nvSpPr>
          <p:cNvPr id="29" name="Shape 23"/>
          <p:cNvSpPr/>
          <p:nvPr/>
        </p:nvSpPr>
        <p:spPr>
          <a:xfrm>
            <a:off x="4566818" y="4069080"/>
            <a:ext cx="566928" cy="566928"/>
          </a:xfrm>
          <a:prstGeom prst="ellipse">
            <a:avLst/>
          </a:prstGeom>
          <a:solidFill>
            <a:schemeClr val="accent1"/>
          </a:solidFill>
          <a:ln/>
        </p:spPr>
        <p:txBody>
          <a:bodyPr/>
          <a:lstStyle/>
          <a:p>
            <a:endParaRPr lang="ja-JP" altLang="en-US"/>
          </a:p>
        </p:txBody>
      </p:sp>
      <p:pic>
        <p:nvPicPr>
          <p:cNvPr id="30" name="Image 4" descr="preencoded.png"/>
          <p:cNvPicPr>
            <a:picLocks noChangeAspect="1"/>
          </p:cNvPicPr>
          <p:nvPr/>
        </p:nvPicPr>
        <p:blipFill>
          <a:blip r:embed="rId7"/>
          <a:stretch>
            <a:fillRect/>
          </a:stretch>
        </p:blipFill>
        <p:spPr>
          <a:xfrm>
            <a:off x="4708550" y="4210812"/>
            <a:ext cx="283464" cy="283464"/>
          </a:xfrm>
          <a:prstGeom prst="rect">
            <a:avLst/>
          </a:prstGeom>
        </p:spPr>
      </p:pic>
      <p:sp>
        <p:nvSpPr>
          <p:cNvPr id="31" name="Text 24"/>
          <p:cNvSpPr txBox="1"/>
          <p:nvPr/>
        </p:nvSpPr>
        <p:spPr>
          <a:xfrm>
            <a:off x="5252618"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学習評価の改善</a:t>
            </a:r>
            <a:endParaRPr lang="en-US" sz="1700" dirty="0"/>
          </a:p>
        </p:txBody>
      </p:sp>
      <p:sp>
        <p:nvSpPr>
          <p:cNvPr id="32" name="Text 25"/>
          <p:cNvSpPr txBox="1"/>
          <p:nvPr/>
        </p:nvSpPr>
        <p:spPr>
          <a:xfrm>
            <a:off x="4566818"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「主体的に学習に取り組む態度」の評価の在り方などを見直す</a:t>
            </a:r>
            <a:endParaRPr lang="en-US" sz="1400" dirty="0"/>
          </a:p>
        </p:txBody>
      </p:sp>
      <p:sp>
        <p:nvSpPr>
          <p:cNvPr id="33" name="Text 26"/>
          <p:cNvSpPr txBox="1"/>
          <p:nvPr/>
        </p:nvSpPr>
        <p:spPr>
          <a:xfrm>
            <a:off x="4566818"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計画・振り返りカード、振り返り掲示</a:t>
            </a:r>
            <a:endParaRPr lang="en-US" sz="1200" dirty="0"/>
          </a:p>
        </p:txBody>
      </p:sp>
      <p:sp>
        <p:nvSpPr>
          <p:cNvPr id="34" name="Shape 27"/>
          <p:cNvSpPr/>
          <p:nvPr/>
        </p:nvSpPr>
        <p:spPr>
          <a:xfrm>
            <a:off x="8127797" y="3840480"/>
            <a:ext cx="3515258" cy="2103120"/>
          </a:xfrm>
          <a:prstGeom prst="roundRect">
            <a:avLst>
              <a:gd name="adj" fmla="val 3478"/>
            </a:avLst>
          </a:prstGeom>
          <a:solidFill>
            <a:schemeClr val="bg2"/>
          </a:solidFill>
          <a:ln/>
        </p:spPr>
        <p:txBody>
          <a:bodyPr/>
          <a:lstStyle/>
          <a:p>
            <a:endParaRPr lang="ja-JP" altLang="en-US"/>
          </a:p>
        </p:txBody>
      </p:sp>
      <p:sp>
        <p:nvSpPr>
          <p:cNvPr id="35" name="Shape 28"/>
          <p:cNvSpPr/>
          <p:nvPr/>
        </p:nvSpPr>
        <p:spPr>
          <a:xfrm>
            <a:off x="8356397" y="4069080"/>
            <a:ext cx="566928" cy="566928"/>
          </a:xfrm>
          <a:prstGeom prst="ellipse">
            <a:avLst/>
          </a:prstGeom>
          <a:solidFill>
            <a:schemeClr val="accent1"/>
          </a:solidFill>
          <a:ln/>
        </p:spPr>
        <p:txBody>
          <a:bodyPr/>
          <a:lstStyle/>
          <a:p>
            <a:endParaRPr lang="ja-JP" altLang="en-US"/>
          </a:p>
        </p:txBody>
      </p:sp>
      <p:pic>
        <p:nvPicPr>
          <p:cNvPr id="36" name="Image 5" descr="preencoded.png"/>
          <p:cNvPicPr>
            <a:picLocks noChangeAspect="1"/>
          </p:cNvPicPr>
          <p:nvPr/>
        </p:nvPicPr>
        <p:blipFill>
          <a:blip r:embed="rId8"/>
          <a:stretch>
            <a:fillRect/>
          </a:stretch>
        </p:blipFill>
        <p:spPr>
          <a:xfrm>
            <a:off x="8498129" y="4210812"/>
            <a:ext cx="283464" cy="283464"/>
          </a:xfrm>
          <a:prstGeom prst="rect">
            <a:avLst/>
          </a:prstGeom>
        </p:spPr>
      </p:pic>
      <p:sp>
        <p:nvSpPr>
          <p:cNvPr id="37" name="Text 29"/>
          <p:cNvSpPr txBox="1"/>
          <p:nvPr/>
        </p:nvSpPr>
        <p:spPr>
          <a:xfrm>
            <a:off x="9042197"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「好き」「得意」を育む</a:t>
            </a:r>
            <a:endParaRPr lang="en-US" sz="1700" dirty="0"/>
          </a:p>
        </p:txBody>
      </p:sp>
      <p:sp>
        <p:nvSpPr>
          <p:cNvPr id="38" name="Text 30"/>
          <p:cNvSpPr txBox="1"/>
          <p:nvPr/>
        </p:nvSpPr>
        <p:spPr>
          <a:xfrm>
            <a:off x="8356397"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学習内容を精選し、子供の「好き」「得意」を伸ばす</a:t>
            </a:r>
            <a:endParaRPr lang="en-US" sz="1400" dirty="0"/>
          </a:p>
        </p:txBody>
      </p:sp>
      <p:sp>
        <p:nvSpPr>
          <p:cNvPr id="39" name="Text 31"/>
          <p:cNvSpPr txBox="1"/>
          <p:nvPr/>
        </p:nvSpPr>
        <p:spPr>
          <a:xfrm>
            <a:off x="8356397"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２つの「好き」「得意」（FSP・MP学習）</a:t>
            </a:r>
            <a:endParaRPr lang="en-US" sz="1200" dirty="0"/>
          </a:p>
        </p:txBody>
      </p:sp>
      <p:sp>
        <p:nvSpPr>
          <p:cNvPr id="40" name="Text 32"/>
          <p:cNvSpPr txBox="1"/>
          <p:nvPr/>
        </p:nvSpPr>
        <p:spPr>
          <a:xfrm>
            <a:off x="548640" y="6080760"/>
            <a:ext cx="5486400" cy="256032"/>
          </a:xfrm>
          <a:prstGeom prst="rect">
            <a:avLst/>
          </a:prstGeom>
          <a:noFill/>
          <a:ln/>
        </p:spPr>
        <p:txBody>
          <a:bodyPr wrap="square" lIns="0" tIns="0" rIns="0" bIns="0" rtlCol="0" anchor="ctr"/>
          <a:lstStyle/>
          <a:p>
            <a:pPr marL="0" indent="0">
              <a:buNone/>
            </a:pPr>
            <a:r>
              <a:rPr lang="en-US" sz="1100" dirty="0">
                <a:solidFill>
                  <a:schemeClr val="accent5"/>
                </a:solidFill>
              </a:rPr>
              <a:t>※制度の名称・詳細は答申・告示で確定する</a:t>
            </a:r>
            <a:endParaRPr lang="en-US" sz="1100" dirty="0"/>
          </a:p>
        </p:txBody>
      </p:sp>
      <p:sp>
        <p:nvSpPr>
          <p:cNvPr id="4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
        <p:nvSpPr>
          <p:cNvPr id="42" name="TextBox 41"/>
          <p:cNvSpPr txBox="1"/>
          <p:nvPr/>
        </p:nvSpPr>
        <p:spPr>
          <a:xfrm>
            <a:off x="3840480" y="6053328"/>
            <a:ext cx="7802575" cy="237744"/>
          </a:xfrm>
          <a:prstGeom prst="rect">
            <a:avLst/>
          </a:prstGeom>
          <a:noFill/>
        </p:spPr>
        <p:txBody>
          <a:bodyPr wrap="square" lIns="0" rIns="0" tIns="0" bIns="0" anchor="ctr">
            <a:spAutoFit/>
          </a:bodyPr>
          <a:lstStyle/>
          <a:p>
            <a:pPr algn="r"/>
            <a:r>
              <a:rPr sz="1000" b="0">
                <a:solidFill>
                  <a:srgbClr val="5E6E68"/>
                </a:solidFill>
              </a:rPr>
              <a:t>出典：中央教育審議会 初等中等教育分科会 教育課程部会「次期学習指導要領等に向けた審議まとめ」（令和８年10月５日）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04　指導主事として</a:t>
            </a:r>
          </a:p>
        </p:txBody>
      </p:sp>
      <p:sp>
        <p:nvSpPr>
          <p:cNvPr id="3" name="Title 2"/>
          <p:cNvSpPr>
            <a:spLocks noGrp="1"/>
          </p:cNvSpPr>
          <p:nvPr>
            <p:ph type="title" idx="101"/>
          </p:nvPr>
        </p:nvSpPr>
        <p:spPr/>
        <p:txBody>
          <a:bodyPr/>
          <a:lstStyle/>
          <a:p>
            <a:r>
              <a:t>中心にあるのは、何か</a:t>
            </a:r>
          </a:p>
        </p:txBody>
      </p:sp>
      <p:sp>
        <p:nvSpPr>
          <p:cNvPr id="4" name="Rounded Rectangle 3"/>
          <p:cNvSpPr/>
          <p:nvPr/>
        </p:nvSpPr>
        <p:spPr>
          <a:xfrm>
            <a:off x="548640" y="1508760"/>
            <a:ext cx="4983480" cy="3611880"/>
          </a:xfrm>
          <a:prstGeom prst="roundRect">
            <a:avLst>
              <a:gd name="adj" fmla="val 6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59575" y="1508760"/>
            <a:ext cx="4983480" cy="3611880"/>
          </a:xfrm>
          <a:prstGeom prst="roundRect">
            <a:avLst>
              <a:gd name="adj" fmla="val 6000"/>
            </a:avLst>
          </a:prstGeom>
          <a:solidFill>
            <a:srgbClr val="FBE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645919"/>
            <a:ext cx="4434840" cy="411480"/>
          </a:xfrm>
          <a:prstGeom prst="rect">
            <a:avLst/>
          </a:prstGeom>
          <a:noFill/>
        </p:spPr>
        <p:txBody>
          <a:bodyPr wrap="square" lIns="0" rIns="0" tIns="0" bIns="0" anchor="ctr">
            <a:spAutoFit/>
          </a:bodyPr>
          <a:lstStyle/>
          <a:p>
            <a:pPr algn="l"/>
            <a:r>
              <a:rPr sz="1800" b="1">
                <a:solidFill>
                  <a:srgbClr val="5E6E68"/>
                </a:solidFill>
              </a:rPr>
              <a:t>これまで</a:t>
            </a:r>
          </a:p>
        </p:txBody>
      </p:sp>
      <p:sp>
        <p:nvSpPr>
          <p:cNvPr id="7" name="TextBox 6"/>
          <p:cNvSpPr txBox="1"/>
          <p:nvPr/>
        </p:nvSpPr>
        <p:spPr>
          <a:xfrm>
            <a:off x="6933895" y="1645919"/>
            <a:ext cx="4434840" cy="411480"/>
          </a:xfrm>
          <a:prstGeom prst="rect">
            <a:avLst/>
          </a:prstGeom>
          <a:noFill/>
        </p:spPr>
        <p:txBody>
          <a:bodyPr wrap="square" lIns="0" rIns="0" tIns="0" bIns="0" anchor="ctr">
            <a:spAutoFit/>
          </a:bodyPr>
          <a:lstStyle/>
          <a:p>
            <a:pPr algn="l"/>
            <a:r>
              <a:rPr sz="1800" b="1">
                <a:solidFill>
                  <a:srgbClr val="D9702C"/>
                </a:solidFill>
              </a:rPr>
              <a:t>これから</a:t>
            </a:r>
          </a:p>
        </p:txBody>
      </p:sp>
      <p:sp>
        <p:nvSpPr>
          <p:cNvPr id="8" name="Oval 7"/>
          <p:cNvSpPr/>
          <p:nvPr/>
        </p:nvSpPr>
        <p:spPr>
          <a:xfrm>
            <a:off x="1943100" y="2167128"/>
            <a:ext cx="2194560" cy="2194560"/>
          </a:xfrm>
          <a:prstGeom prst="ellipse">
            <a:avLst/>
          </a:prstGeom>
          <a:noFill/>
          <a:ln w="22225">
            <a:solidFill>
              <a:srgbClr val="7FAF8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91740" y="2715768"/>
            <a:ext cx="1097280" cy="109728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教師</a:t>
            </a:r>
          </a:p>
        </p:txBody>
      </p:sp>
      <p:sp>
        <p:nvSpPr>
          <p:cNvPr id="10" name="Oval 9"/>
          <p:cNvSpPr/>
          <p:nvPr/>
        </p:nvSpPr>
        <p:spPr>
          <a:xfrm>
            <a:off x="1898725" y="2122753"/>
            <a:ext cx="731520" cy="731520"/>
          </a:xfrm>
          <a:prstGeom prst="ellipse">
            <a:avLst/>
          </a:prstGeom>
          <a:solidFill>
            <a:srgbClr val="D3E3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F5A47"/>
                </a:solidFill>
              </a:rPr>
              <a:t>子供</a:t>
            </a:r>
          </a:p>
        </p:txBody>
      </p:sp>
      <p:sp>
        <p:nvSpPr>
          <p:cNvPr id="11" name="Oval 10"/>
          <p:cNvSpPr/>
          <p:nvPr/>
        </p:nvSpPr>
        <p:spPr>
          <a:xfrm>
            <a:off x="3450514" y="2122753"/>
            <a:ext cx="731520" cy="731520"/>
          </a:xfrm>
          <a:prstGeom prst="ellipse">
            <a:avLst/>
          </a:prstGeom>
          <a:solidFill>
            <a:srgbClr val="D3E3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F5A47"/>
                </a:solidFill>
              </a:rPr>
              <a:t>子供</a:t>
            </a:r>
          </a:p>
        </p:txBody>
      </p:sp>
      <p:sp>
        <p:nvSpPr>
          <p:cNvPr id="12" name="Oval 11"/>
          <p:cNvSpPr/>
          <p:nvPr/>
        </p:nvSpPr>
        <p:spPr>
          <a:xfrm>
            <a:off x="3450514" y="3674542"/>
            <a:ext cx="731520" cy="731520"/>
          </a:xfrm>
          <a:prstGeom prst="ellipse">
            <a:avLst/>
          </a:prstGeom>
          <a:solidFill>
            <a:srgbClr val="D3E3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F5A47"/>
                </a:solidFill>
              </a:rPr>
              <a:t>子供</a:t>
            </a:r>
          </a:p>
        </p:txBody>
      </p:sp>
      <p:sp>
        <p:nvSpPr>
          <p:cNvPr id="13" name="Oval 12"/>
          <p:cNvSpPr/>
          <p:nvPr/>
        </p:nvSpPr>
        <p:spPr>
          <a:xfrm>
            <a:off x="1898725" y="3674542"/>
            <a:ext cx="731520" cy="731520"/>
          </a:xfrm>
          <a:prstGeom prst="ellipse">
            <a:avLst/>
          </a:prstGeom>
          <a:solidFill>
            <a:srgbClr val="D3E3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F5A47"/>
                </a:solidFill>
              </a:rPr>
              <a:t>子供</a:t>
            </a:r>
          </a:p>
        </p:txBody>
      </p:sp>
      <p:sp>
        <p:nvSpPr>
          <p:cNvPr id="14" name="Oval 13"/>
          <p:cNvSpPr/>
          <p:nvPr/>
        </p:nvSpPr>
        <p:spPr>
          <a:xfrm>
            <a:off x="8054035" y="2167128"/>
            <a:ext cx="2194560" cy="2194560"/>
          </a:xfrm>
          <a:prstGeom prst="ellipse">
            <a:avLst/>
          </a:prstGeom>
          <a:noFill/>
          <a:ln w="22225">
            <a:solidFill>
              <a:srgbClr val="7FAF8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02675" y="2715768"/>
            <a:ext cx="1097280" cy="109728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子供の</a:t>
            </a:r>
          </a:p>
          <a:p>
            <a:pPr algn="ctr"/>
            <a:r>
              <a:rPr sz="1500" b="1">
                <a:solidFill>
                  <a:srgbClr val="FFFFFF"/>
                </a:solidFill>
              </a:rPr>
              <a:t>学び</a:t>
            </a:r>
          </a:p>
        </p:txBody>
      </p:sp>
      <p:sp>
        <p:nvSpPr>
          <p:cNvPr id="16" name="Oval 15"/>
          <p:cNvSpPr/>
          <p:nvPr/>
        </p:nvSpPr>
        <p:spPr>
          <a:xfrm>
            <a:off x="8009661" y="2122753"/>
            <a:ext cx="731520" cy="7315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教師</a:t>
            </a:r>
          </a:p>
        </p:txBody>
      </p:sp>
      <p:sp>
        <p:nvSpPr>
          <p:cNvPr id="17" name="Oval 16"/>
          <p:cNvSpPr/>
          <p:nvPr/>
        </p:nvSpPr>
        <p:spPr>
          <a:xfrm>
            <a:off x="9561449" y="2122753"/>
            <a:ext cx="731520" cy="7315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教材</a:t>
            </a:r>
          </a:p>
        </p:txBody>
      </p:sp>
      <p:sp>
        <p:nvSpPr>
          <p:cNvPr id="18" name="Oval 17"/>
          <p:cNvSpPr/>
          <p:nvPr/>
        </p:nvSpPr>
        <p:spPr>
          <a:xfrm>
            <a:off x="9561449" y="3674542"/>
            <a:ext cx="731520" cy="7315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環境</a:t>
            </a:r>
          </a:p>
        </p:txBody>
      </p:sp>
      <p:sp>
        <p:nvSpPr>
          <p:cNvPr id="19" name="Oval 18"/>
          <p:cNvSpPr/>
          <p:nvPr/>
        </p:nvSpPr>
        <p:spPr>
          <a:xfrm>
            <a:off x="8009661" y="3674542"/>
            <a:ext cx="731520" cy="731520"/>
          </a:xfrm>
          <a:prstGeom prst="ellipse">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仲間</a:t>
            </a:r>
          </a:p>
        </p:txBody>
      </p:sp>
      <p:sp>
        <p:nvSpPr>
          <p:cNvPr id="20" name="TextBox 19"/>
          <p:cNvSpPr txBox="1"/>
          <p:nvPr/>
        </p:nvSpPr>
        <p:spPr>
          <a:xfrm>
            <a:off x="822959" y="4526279"/>
            <a:ext cx="4434840" cy="502920"/>
          </a:xfrm>
          <a:prstGeom prst="rect">
            <a:avLst/>
          </a:prstGeom>
          <a:noFill/>
        </p:spPr>
        <p:txBody>
          <a:bodyPr wrap="square" lIns="0" rIns="0" tIns="0" bIns="0" anchor="ctr">
            <a:spAutoFit/>
          </a:bodyPr>
          <a:lstStyle/>
          <a:p>
            <a:pPr algn="ctr"/>
            <a:r>
              <a:rPr sz="1400" b="0">
                <a:solidFill>
                  <a:srgbClr val="1E2B27"/>
                </a:solidFill>
              </a:rPr>
              <a:t>教師の計画・指示が中心。子供が合わせて動く</a:t>
            </a:r>
          </a:p>
        </p:txBody>
      </p:sp>
      <p:sp>
        <p:nvSpPr>
          <p:cNvPr id="21" name="TextBox 20"/>
          <p:cNvSpPr txBox="1"/>
          <p:nvPr/>
        </p:nvSpPr>
        <p:spPr>
          <a:xfrm>
            <a:off x="6933895" y="4526279"/>
            <a:ext cx="4434840" cy="502920"/>
          </a:xfrm>
          <a:prstGeom prst="rect">
            <a:avLst/>
          </a:prstGeom>
          <a:noFill/>
        </p:spPr>
        <p:txBody>
          <a:bodyPr wrap="square" lIns="0" rIns="0" tIns="0" bIns="0" anchor="ctr">
            <a:spAutoFit/>
          </a:bodyPr>
          <a:lstStyle/>
          <a:p>
            <a:pPr algn="ctr"/>
            <a:r>
              <a:rPr sz="1400" b="1">
                <a:solidFill>
                  <a:srgbClr val="1E2B27"/>
                </a:solidFill>
              </a:rPr>
              <a:t>子供の学びが中心。教師・教材・環境・仲間が支える</a:t>
            </a:r>
          </a:p>
        </p:txBody>
      </p:sp>
      <p:sp>
        <p:nvSpPr>
          <p:cNvPr id="22" name="Right Arrow 21"/>
          <p:cNvSpPr/>
          <p:nvPr/>
        </p:nvSpPr>
        <p:spPr>
          <a:xfrm>
            <a:off x="5641848" y="2990088"/>
            <a:ext cx="907999" cy="548640"/>
          </a:xfrm>
          <a:prstGeom prst="rightArrow">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5303520"/>
            <a:ext cx="11094415" cy="777240"/>
          </a:xfrm>
          <a:prstGeom prst="roundRect">
            <a:avLst>
              <a:gd name="adj" fmla="val 6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303520"/>
            <a:ext cx="10454335" cy="777240"/>
          </a:xfrm>
          <a:prstGeom prst="rect">
            <a:avLst/>
          </a:prstGeom>
          <a:noFill/>
        </p:spPr>
        <p:txBody>
          <a:bodyPr wrap="square" lIns="0" rIns="0" tIns="0" bIns="0" anchor="ctr">
            <a:spAutoFit/>
          </a:bodyPr>
          <a:lstStyle/>
          <a:p>
            <a:pPr algn="l"/>
            <a:r>
              <a:rPr sz="1700" b="1">
                <a:solidFill>
                  <a:srgbClr val="FBEADB"/>
                </a:solidFill>
              </a:rPr>
              <a:t>転換するのは「授業の形」ではなく「見方」　</a:t>
            </a:r>
            <a:r>
              <a:rPr sz="1500" b="0">
                <a:solidFill>
                  <a:srgbClr val="FFFFFF"/>
                </a:solidFill>
              </a:rPr>
              <a:t>約８割の一斉授業の中でも、子供の学びを中心に据える</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04　指導主事として</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学校訪問・指導助言で大切にしたい４つの視点</a:t>
            </a:r>
            <a:endParaRPr lang="en-US" sz="3000" dirty="0"/>
          </a:p>
        </p:txBody>
      </p:sp>
      <p:sp>
        <p:nvSpPr>
          <p:cNvPr id="4" name="Shape 2"/>
          <p:cNvSpPr/>
          <p:nvPr/>
        </p:nvSpPr>
        <p:spPr>
          <a:xfrm>
            <a:off x="548640" y="1508760"/>
            <a:ext cx="538718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822960" y="1783080"/>
            <a:ext cx="640080" cy="640080"/>
          </a:xfrm>
          <a:prstGeom prst="ellipse">
            <a:avLst/>
          </a:prstGeom>
          <a:solidFill>
            <a:schemeClr val="accent2"/>
          </a:solidFill>
          <a:ln/>
        </p:spPr>
        <p:txBody>
          <a:bodyPr/>
          <a:lstStyle/>
          <a:p>
            <a:endParaRPr lang="ja-JP" altLang="en-US"/>
          </a:p>
        </p:txBody>
      </p:sp>
      <p:sp>
        <p:nvSpPr>
          <p:cNvPr id="6" name="Text 4"/>
          <p:cNvSpPr txBox="1"/>
          <p:nvPr/>
        </p:nvSpPr>
        <p:spPr>
          <a:xfrm>
            <a:off x="822960"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645920"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手法より子供観から</a:t>
            </a:r>
            <a:endParaRPr lang="en-US" sz="2000" dirty="0"/>
          </a:p>
        </p:txBody>
      </p:sp>
      <p:sp>
        <p:nvSpPr>
          <p:cNvPr id="8" name="Text 6"/>
          <p:cNvSpPr txBox="1"/>
          <p:nvPr/>
        </p:nvSpPr>
        <p:spPr>
          <a:xfrm>
            <a:off x="822960"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「〇〇学習を導入しましょう」ではなく、子供をどう捉えるかから学校と対話する</a:t>
            </a:r>
            <a:endParaRPr lang="en-US" sz="1500" dirty="0"/>
          </a:p>
        </p:txBody>
      </p:sp>
      <p:sp>
        <p:nvSpPr>
          <p:cNvPr id="9" name="Shape 7"/>
          <p:cNvSpPr/>
          <p:nvPr/>
        </p:nvSpPr>
        <p:spPr>
          <a:xfrm>
            <a:off x="6255868" y="1508760"/>
            <a:ext cx="5387188" cy="2103120"/>
          </a:xfrm>
          <a:prstGeom prst="roundRect">
            <a:avLst>
              <a:gd name="adj" fmla="val 3478"/>
            </a:avLst>
          </a:prstGeom>
          <a:solidFill>
            <a:schemeClr val="bg2"/>
          </a:solidFill>
          <a:ln/>
        </p:spPr>
        <p:txBody>
          <a:bodyPr/>
          <a:lstStyle/>
          <a:p>
            <a:endParaRPr lang="ja-JP" altLang="en-US"/>
          </a:p>
        </p:txBody>
      </p:sp>
      <p:sp>
        <p:nvSpPr>
          <p:cNvPr id="10" name="Shape 8"/>
          <p:cNvSpPr/>
          <p:nvPr/>
        </p:nvSpPr>
        <p:spPr>
          <a:xfrm>
            <a:off x="6530188" y="1783080"/>
            <a:ext cx="640080" cy="640080"/>
          </a:xfrm>
          <a:prstGeom prst="ellipse">
            <a:avLst/>
          </a:prstGeom>
          <a:solidFill>
            <a:schemeClr val="accent1"/>
          </a:solidFill>
          <a:ln/>
        </p:spPr>
        <p:txBody>
          <a:bodyPr/>
          <a:lstStyle/>
          <a:p>
            <a:endParaRPr lang="ja-JP" altLang="en-US"/>
          </a:p>
        </p:txBody>
      </p:sp>
      <p:sp>
        <p:nvSpPr>
          <p:cNvPr id="11" name="Text 9"/>
          <p:cNvSpPr txBox="1"/>
          <p:nvPr/>
        </p:nvSpPr>
        <p:spPr>
          <a:xfrm>
            <a:off x="6530188"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353148"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「子供がどう学んだか」を見る</a:t>
            </a:r>
            <a:endParaRPr lang="en-US" sz="2000" dirty="0"/>
          </a:p>
        </p:txBody>
      </p:sp>
      <p:sp>
        <p:nvSpPr>
          <p:cNvPr id="13" name="Text 11"/>
          <p:cNvSpPr txBox="1"/>
          <p:nvPr/>
        </p:nvSpPr>
        <p:spPr>
          <a:xfrm>
            <a:off x="6530188"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発問・板書・展開に加え、子供の選択と自己調整の姿を見取って助言する</a:t>
            </a:r>
            <a:endParaRPr lang="en-US" sz="1500" dirty="0"/>
          </a:p>
        </p:txBody>
      </p:sp>
      <p:sp>
        <p:nvSpPr>
          <p:cNvPr id="14" name="Shape 12"/>
          <p:cNvSpPr/>
          <p:nvPr/>
        </p:nvSpPr>
        <p:spPr>
          <a:xfrm>
            <a:off x="548640" y="3886200"/>
            <a:ext cx="5387188" cy="2103120"/>
          </a:xfrm>
          <a:prstGeom prst="roundRect">
            <a:avLst>
              <a:gd name="adj" fmla="val 3478"/>
            </a:avLst>
          </a:prstGeom>
          <a:solidFill>
            <a:schemeClr val="bg2"/>
          </a:solidFill>
          <a:ln/>
        </p:spPr>
        <p:txBody>
          <a:bodyPr/>
          <a:lstStyle/>
          <a:p>
            <a:endParaRPr lang="ja-JP" altLang="en-US"/>
          </a:p>
        </p:txBody>
      </p:sp>
      <p:sp>
        <p:nvSpPr>
          <p:cNvPr id="15" name="Shape 13"/>
          <p:cNvSpPr/>
          <p:nvPr/>
        </p:nvSpPr>
        <p:spPr>
          <a:xfrm>
            <a:off x="822960" y="4160520"/>
            <a:ext cx="640080" cy="640080"/>
          </a:xfrm>
          <a:prstGeom prst="ellipse">
            <a:avLst/>
          </a:prstGeom>
          <a:solidFill>
            <a:schemeClr val="accent1"/>
          </a:solidFill>
          <a:ln/>
        </p:spPr>
        <p:txBody>
          <a:bodyPr/>
          <a:lstStyle/>
          <a:p>
            <a:endParaRPr lang="ja-JP" altLang="en-US"/>
          </a:p>
        </p:txBody>
      </p:sp>
      <p:sp>
        <p:nvSpPr>
          <p:cNvPr id="16" name="Text 14"/>
          <p:cNvSpPr txBox="1"/>
          <p:nvPr/>
        </p:nvSpPr>
        <p:spPr>
          <a:xfrm>
            <a:off x="822960"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1645920"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教師は「伴走する人」へ</a:t>
            </a:r>
            <a:endParaRPr lang="en-US" sz="2000" dirty="0"/>
          </a:p>
        </p:txBody>
      </p:sp>
      <p:sp>
        <p:nvSpPr>
          <p:cNvPr id="18" name="Text 16"/>
          <p:cNvSpPr txBox="1"/>
          <p:nvPr/>
        </p:nvSpPr>
        <p:spPr>
          <a:xfrm>
            <a:off x="822960"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統制ではなく、環境を整え、一人一人を支える授業づくりを後押しする</a:t>
            </a:r>
            <a:endParaRPr lang="en-US" sz="1500" dirty="0"/>
          </a:p>
        </p:txBody>
      </p:sp>
      <p:sp>
        <p:nvSpPr>
          <p:cNvPr id="19" name="Shape 17"/>
          <p:cNvSpPr/>
          <p:nvPr/>
        </p:nvSpPr>
        <p:spPr>
          <a:xfrm>
            <a:off x="6255868" y="3886200"/>
            <a:ext cx="5387188" cy="2103120"/>
          </a:xfrm>
          <a:prstGeom prst="roundRect">
            <a:avLst>
              <a:gd name="adj" fmla="val 3478"/>
            </a:avLst>
          </a:prstGeom>
          <a:solidFill>
            <a:schemeClr val="bg2"/>
          </a:solidFill>
          <a:ln/>
        </p:spPr>
        <p:txBody>
          <a:bodyPr/>
          <a:lstStyle/>
          <a:p>
            <a:endParaRPr lang="ja-JP" altLang="en-US"/>
          </a:p>
        </p:txBody>
      </p:sp>
      <p:sp>
        <p:nvSpPr>
          <p:cNvPr id="20" name="Shape 18"/>
          <p:cNvSpPr/>
          <p:nvPr/>
        </p:nvSpPr>
        <p:spPr>
          <a:xfrm>
            <a:off x="6530188" y="4160520"/>
            <a:ext cx="640080" cy="640080"/>
          </a:xfrm>
          <a:prstGeom prst="ellipse">
            <a:avLst/>
          </a:prstGeom>
          <a:solidFill>
            <a:schemeClr val="accent2"/>
          </a:solidFill>
          <a:ln/>
        </p:spPr>
        <p:txBody>
          <a:bodyPr/>
          <a:lstStyle/>
          <a:p>
            <a:endParaRPr lang="ja-JP" altLang="en-US"/>
          </a:p>
        </p:txBody>
      </p:sp>
      <p:sp>
        <p:nvSpPr>
          <p:cNvPr id="21" name="Text 19"/>
          <p:cNvSpPr txBox="1"/>
          <p:nvPr/>
        </p:nvSpPr>
        <p:spPr>
          <a:xfrm>
            <a:off x="6530188"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7353148"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教育課程に位置付ける</a:t>
            </a:r>
            <a:endParaRPr lang="en-US" sz="2000" dirty="0"/>
          </a:p>
        </p:txBody>
      </p:sp>
      <p:sp>
        <p:nvSpPr>
          <p:cNvPr id="23" name="Text 21"/>
          <p:cNvSpPr txBox="1"/>
          <p:nvPr/>
        </p:nvSpPr>
        <p:spPr>
          <a:xfrm>
            <a:off x="6530188"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単発の取組で終わらせず、単元計画や時数（調整授業時数制度・裁量的な時間）まで一緒に考える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3"/>
                </a:solidFill>
              </a:rPr>
              <a:t>04　まとめ</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bg1"/>
                </a:solidFill>
              </a:rPr>
              <a:t>総括</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700" dirty="0">
                <a:solidFill>
                  <a:schemeClr val="accent6"/>
                </a:solidFill>
              </a:rPr>
              <a:t>自己調整学習や探究的な学びの実現に必要なのは、手法以上に</a:t>
            </a:r>
            <a:endParaRPr lang="en-US" sz="1700" dirty="0"/>
          </a:p>
        </p:txBody>
      </p:sp>
      <p:sp>
        <p:nvSpPr>
          <p:cNvPr id="5" name="Text 3"/>
          <p:cNvSpPr txBox="1"/>
          <p:nvPr/>
        </p:nvSpPr>
        <p:spPr>
          <a:xfrm>
            <a:off x="548640" y="1965960"/>
            <a:ext cx="11094415" cy="777240"/>
          </a:xfrm>
          <a:prstGeom prst="rect">
            <a:avLst/>
          </a:prstGeom>
          <a:noFill/>
          <a:ln/>
        </p:spPr>
        <p:txBody>
          <a:bodyPr wrap="square" lIns="0" tIns="0" rIns="0" bIns="0" rtlCol="0" anchor="ctr"/>
          <a:lstStyle/>
          <a:p>
            <a:pPr marL="0" indent="0">
              <a:buNone/>
            </a:pPr>
            <a:r>
              <a:rPr lang="en-US" sz="3000" b="1" dirty="0">
                <a:solidFill>
                  <a:schemeClr val="bg1"/>
                </a:solidFill>
              </a:rPr>
              <a:t>「子供を信頼する教育観」と、それを支える学校文化</a:t>
            </a:r>
            <a:endParaRPr lang="en-US" sz="3000" dirty="0"/>
          </a:p>
        </p:txBody>
      </p:sp>
      <p:sp>
        <p:nvSpPr>
          <p:cNvPr id="6" name="Shape 4"/>
          <p:cNvSpPr/>
          <p:nvPr/>
        </p:nvSpPr>
        <p:spPr>
          <a:xfrm>
            <a:off x="548640"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7" name="Shape 5"/>
          <p:cNvSpPr/>
          <p:nvPr/>
        </p:nvSpPr>
        <p:spPr>
          <a:xfrm>
            <a:off x="822960" y="3429000"/>
            <a:ext cx="731520" cy="731520"/>
          </a:xfrm>
          <a:prstGeom prst="ellipse">
            <a:avLst/>
          </a:prstGeom>
          <a:solidFill>
            <a:schemeClr val="accent2"/>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1005840" y="3611880"/>
            <a:ext cx="365760" cy="365760"/>
          </a:xfrm>
          <a:prstGeom prst="rect">
            <a:avLst/>
          </a:prstGeom>
        </p:spPr>
      </p:pic>
      <p:sp>
        <p:nvSpPr>
          <p:cNvPr id="9" name="Text 6"/>
          <p:cNvSpPr txBox="1"/>
          <p:nvPr/>
        </p:nvSpPr>
        <p:spPr>
          <a:xfrm>
            <a:off x="1737360"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４つの学びを</a:t>
            </a:r>
            <a:endParaRPr lang="en-US" sz="1600" dirty="0"/>
          </a:p>
          <a:p>
            <a:pPr marL="0" indent="0">
              <a:buNone/>
            </a:pPr>
            <a:r>
              <a:rPr lang="en-US" sz="1600" b="1" dirty="0">
                <a:solidFill>
                  <a:schemeClr val="bg1"/>
                </a:solidFill>
              </a:rPr>
              <a:t>カリキュラムで一体的に構想</a:t>
            </a:r>
            <a:endParaRPr lang="en-US" sz="1600" dirty="0"/>
          </a:p>
        </p:txBody>
      </p:sp>
      <p:sp>
        <p:nvSpPr>
          <p:cNvPr id="10" name="Shape 7"/>
          <p:cNvSpPr/>
          <p:nvPr/>
        </p:nvSpPr>
        <p:spPr>
          <a:xfrm>
            <a:off x="4353458"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1" name="Shape 8"/>
          <p:cNvSpPr/>
          <p:nvPr/>
        </p:nvSpPr>
        <p:spPr>
          <a:xfrm>
            <a:off x="4627778" y="3429000"/>
            <a:ext cx="731520" cy="731520"/>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810658" y="3611880"/>
            <a:ext cx="365760" cy="365760"/>
          </a:xfrm>
          <a:prstGeom prst="rect">
            <a:avLst/>
          </a:prstGeom>
        </p:spPr>
      </p:pic>
      <p:sp>
        <p:nvSpPr>
          <p:cNvPr id="13" name="Text 9"/>
          <p:cNvSpPr txBox="1"/>
          <p:nvPr/>
        </p:nvSpPr>
        <p:spPr>
          <a:xfrm>
            <a:off x="5542178"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子供が学び方を</a:t>
            </a:r>
            <a:endParaRPr lang="en-US" sz="1600" dirty="0"/>
          </a:p>
          <a:p>
            <a:pPr marL="0" indent="0">
              <a:buNone/>
            </a:pPr>
            <a:r>
              <a:rPr lang="en-US" sz="1600" b="1" dirty="0">
                <a:solidFill>
                  <a:schemeClr val="bg1"/>
                </a:solidFill>
              </a:rPr>
              <a:t>主体的に選択・調整</a:t>
            </a:r>
            <a:endParaRPr lang="en-US" sz="1600" dirty="0"/>
          </a:p>
        </p:txBody>
      </p:sp>
      <p:sp>
        <p:nvSpPr>
          <p:cNvPr id="14" name="Shape 10"/>
          <p:cNvSpPr/>
          <p:nvPr/>
        </p:nvSpPr>
        <p:spPr>
          <a:xfrm>
            <a:off x="8158277"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5" name="Shape 11"/>
          <p:cNvSpPr/>
          <p:nvPr/>
        </p:nvSpPr>
        <p:spPr>
          <a:xfrm>
            <a:off x="8432597" y="3429000"/>
            <a:ext cx="731520" cy="731520"/>
          </a:xfrm>
          <a:prstGeom prst="ellipse">
            <a:avLst/>
          </a:prstGeom>
          <a:solidFill>
            <a:schemeClr val="accent2"/>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8615477" y="3611880"/>
            <a:ext cx="365760" cy="365760"/>
          </a:xfrm>
          <a:prstGeom prst="rect">
            <a:avLst/>
          </a:prstGeom>
        </p:spPr>
      </p:pic>
      <p:sp>
        <p:nvSpPr>
          <p:cNvPr id="17" name="Text 12"/>
          <p:cNvSpPr txBox="1"/>
          <p:nvPr/>
        </p:nvSpPr>
        <p:spPr>
          <a:xfrm>
            <a:off x="9346997"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次期学習指導要領の</a:t>
            </a:r>
            <a:endParaRPr lang="en-US" sz="1600" dirty="0"/>
          </a:p>
          <a:p>
            <a:pPr marL="0" indent="0">
              <a:buNone/>
            </a:pPr>
            <a:r>
              <a:rPr lang="en-US" sz="1600" b="1" dirty="0">
                <a:solidFill>
                  <a:schemeClr val="bg1"/>
                </a:solidFill>
              </a:rPr>
              <a:t>方向性を先取りした姿</a:t>
            </a:r>
            <a:endParaRPr lang="en-US" sz="1600" dirty="0"/>
          </a:p>
        </p:txBody>
      </p:sp>
      <p:sp>
        <p:nvSpPr>
          <p:cNvPr id="18" name="Shape 13"/>
          <p:cNvSpPr/>
          <p:nvPr/>
        </p:nvSpPr>
        <p:spPr>
          <a:xfrm>
            <a:off x="548640" y="4846320"/>
            <a:ext cx="11094415" cy="1097280"/>
          </a:xfrm>
          <a:prstGeom prst="roundRect">
            <a:avLst>
              <a:gd name="adj" fmla="val 6667"/>
            </a:avLst>
          </a:prstGeom>
          <a:solidFill>
            <a:schemeClr val="bg1"/>
          </a:solidFill>
          <a:ln/>
        </p:spPr>
        <p:txBody>
          <a:bodyPr/>
          <a:lstStyle/>
          <a:p>
            <a:endParaRPr lang="ja-JP" altLang="en-US"/>
          </a:p>
        </p:txBody>
      </p:sp>
      <p:sp>
        <p:nvSpPr>
          <p:cNvPr id="19" name="Text 14"/>
          <p:cNvSpPr txBox="1"/>
          <p:nvPr/>
        </p:nvSpPr>
        <p:spPr>
          <a:xfrm>
            <a:off x="868680" y="4846320"/>
            <a:ext cx="10454335" cy="1097280"/>
          </a:xfrm>
          <a:prstGeom prst="rect">
            <a:avLst/>
          </a:prstGeom>
          <a:noFill/>
          <a:ln/>
        </p:spPr>
        <p:txBody>
          <a:bodyPr wrap="square" lIns="0" tIns="0" rIns="0" bIns="0" rtlCol="0" anchor="ctr"/>
          <a:lstStyle/>
          <a:p>
            <a:pPr marL="0" indent="0">
              <a:buNone/>
            </a:pPr>
            <a:r>
              <a:rPr lang="en-US" sz="1600" b="1" dirty="0">
                <a:solidFill>
                  <a:schemeClr val="accent2"/>
                </a:solidFill>
              </a:rPr>
              <a:t>次の一歩　</a:t>
            </a:r>
            <a:r>
              <a:rPr lang="en-US" sz="1600" dirty="0">
                <a:solidFill>
                  <a:schemeClr val="tx2"/>
                </a:solidFill>
              </a:rPr>
              <a:t>審議まとめ本文を読む（意見公募は11月５日まで）／次の学校訪問で「子供がどう学んだか」を見る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質疑応答・意見交換（５分）</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ご質問・ご意見をお聞かせください</a:t>
            </a:r>
            <a:endParaRPr lang="en-US" sz="3000" dirty="0"/>
          </a:p>
        </p:txBody>
      </p:sp>
      <p:sp>
        <p:nvSpPr>
          <p:cNvPr id="4" name="Shape 2"/>
          <p:cNvSpPr/>
          <p:nvPr/>
        </p:nvSpPr>
        <p:spPr>
          <a:xfrm>
            <a:off x="548640" y="1508760"/>
            <a:ext cx="3931920" cy="4480560"/>
          </a:xfrm>
          <a:prstGeom prst="roundRect">
            <a:avLst>
              <a:gd name="adj" fmla="val 1860"/>
            </a:avLst>
          </a:prstGeom>
          <a:solidFill>
            <a:schemeClr val="tx2"/>
          </a:solidFill>
          <a:ln/>
        </p:spPr>
        <p:txBody>
          <a:bodyPr/>
          <a:lstStyle/>
          <a:p>
            <a:endParaRPr lang="ja-JP" altLang="en-US"/>
          </a:p>
        </p:txBody>
      </p:sp>
      <p:sp>
        <p:nvSpPr>
          <p:cNvPr id="5" name="Shape 3"/>
          <p:cNvSpPr/>
          <p:nvPr/>
        </p:nvSpPr>
        <p:spPr>
          <a:xfrm>
            <a:off x="1965960" y="2057400"/>
            <a:ext cx="1097280" cy="1097280"/>
          </a:xfrm>
          <a:prstGeom prst="ellipse">
            <a:avLst/>
          </a:prstGeom>
          <a:solidFill>
            <a:schemeClr val="accent2"/>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2240280" y="2331720"/>
            <a:ext cx="548640" cy="548640"/>
          </a:xfrm>
          <a:prstGeom prst="rect">
            <a:avLst/>
          </a:prstGeom>
        </p:spPr>
      </p:pic>
      <p:sp>
        <p:nvSpPr>
          <p:cNvPr id="7" name="Text 4"/>
          <p:cNvSpPr txBox="1"/>
          <p:nvPr/>
        </p:nvSpPr>
        <p:spPr>
          <a:xfrm>
            <a:off x="548640" y="3429000"/>
            <a:ext cx="3931920" cy="1097280"/>
          </a:xfrm>
          <a:prstGeom prst="rect">
            <a:avLst/>
          </a:prstGeom>
          <a:noFill/>
          <a:ln/>
        </p:spPr>
        <p:txBody>
          <a:bodyPr wrap="square" lIns="0" tIns="0" rIns="0" bIns="0" rtlCol="0" anchor="ctr"/>
          <a:lstStyle/>
          <a:p>
            <a:pPr marL="0" indent="0" algn="ctr">
              <a:buNone/>
            </a:pPr>
            <a:r>
              <a:rPr lang="en-US" sz="2600" b="1" dirty="0">
                <a:solidFill>
                  <a:schemeClr val="bg1"/>
                </a:solidFill>
              </a:rPr>
              <a:t>質疑応答</a:t>
            </a:r>
            <a:endParaRPr lang="en-US" sz="2600" dirty="0"/>
          </a:p>
          <a:p>
            <a:pPr marL="0" indent="0" algn="ctr">
              <a:buNone/>
            </a:pPr>
            <a:r>
              <a:rPr lang="en-US" sz="1800" dirty="0">
                <a:solidFill>
                  <a:schemeClr val="accent6"/>
                </a:solidFill>
              </a:rPr>
              <a:t>５分</a:t>
            </a:r>
            <a:endParaRPr lang="en-US" sz="2600" dirty="0"/>
          </a:p>
        </p:txBody>
      </p:sp>
      <p:sp>
        <p:nvSpPr>
          <p:cNvPr id="8" name="Text 5"/>
          <p:cNvSpPr txBox="1"/>
          <p:nvPr/>
        </p:nvSpPr>
        <p:spPr>
          <a:xfrm>
            <a:off x="868680" y="4663440"/>
            <a:ext cx="3291840" cy="1005840"/>
          </a:xfrm>
          <a:prstGeom prst="rect">
            <a:avLst/>
          </a:prstGeom>
          <a:noFill/>
          <a:ln/>
        </p:spPr>
        <p:txBody>
          <a:bodyPr wrap="square" lIns="0" tIns="0" rIns="0" bIns="0" rtlCol="0" anchor="ctr"/>
          <a:lstStyle/>
          <a:p>
            <a:pPr marL="0" indent="0" algn="ctr">
              <a:buNone/>
            </a:pPr>
            <a:r>
              <a:rPr lang="en-US" sz="1400" dirty="0">
                <a:solidFill>
                  <a:schemeClr val="accent6"/>
                </a:solidFill>
              </a:rPr>
              <a:t>天童中部小学校の取組、次期学習指導要領の方向性について</a:t>
            </a:r>
            <a:endParaRPr lang="en-US" sz="1400" dirty="0"/>
          </a:p>
        </p:txBody>
      </p:sp>
      <p:sp>
        <p:nvSpPr>
          <p:cNvPr id="9" name="Text 6"/>
          <p:cNvSpPr txBox="1"/>
          <p:nvPr/>
        </p:nvSpPr>
        <p:spPr>
          <a:xfrm>
            <a:off x="4846320" y="1508760"/>
            <a:ext cx="6796735" cy="411480"/>
          </a:xfrm>
          <a:prstGeom prst="rect">
            <a:avLst/>
          </a:prstGeom>
          <a:noFill/>
          <a:ln/>
        </p:spPr>
        <p:txBody>
          <a:bodyPr wrap="square" lIns="0" tIns="0" rIns="0" bIns="0" rtlCol="0" anchor="ctr"/>
          <a:lstStyle/>
          <a:p>
            <a:pPr marL="0" indent="0">
              <a:buNone/>
            </a:pPr>
            <a:r>
              <a:rPr lang="en-US" sz="1600" b="1" dirty="0">
                <a:solidFill>
                  <a:schemeClr val="accent2"/>
                </a:solidFill>
              </a:rPr>
              <a:t>意見交換のきっかけに</a:t>
            </a:r>
            <a:endParaRPr lang="en-US" sz="1600" dirty="0"/>
          </a:p>
        </p:txBody>
      </p:sp>
      <p:sp>
        <p:nvSpPr>
          <p:cNvPr id="10" name="Shape 7"/>
          <p:cNvSpPr/>
          <p:nvPr/>
        </p:nvSpPr>
        <p:spPr>
          <a:xfrm>
            <a:off x="4846320" y="2057400"/>
            <a:ext cx="6796735" cy="1143000"/>
          </a:xfrm>
          <a:prstGeom prst="roundRect">
            <a:avLst>
              <a:gd name="adj" fmla="val 6400"/>
            </a:avLst>
          </a:prstGeom>
          <a:solidFill>
            <a:schemeClr val="bg2"/>
          </a:solidFill>
          <a:ln/>
        </p:spPr>
        <p:txBody>
          <a:bodyPr/>
          <a:lstStyle/>
          <a:p>
            <a:endParaRPr lang="ja-JP" altLang="en-US"/>
          </a:p>
        </p:txBody>
      </p:sp>
      <p:sp>
        <p:nvSpPr>
          <p:cNvPr id="11" name="Shape 8"/>
          <p:cNvSpPr/>
          <p:nvPr/>
        </p:nvSpPr>
        <p:spPr>
          <a:xfrm>
            <a:off x="5074920" y="2331720"/>
            <a:ext cx="594360" cy="594360"/>
          </a:xfrm>
          <a:prstGeom prst="ellipse">
            <a:avLst/>
          </a:prstGeom>
          <a:solidFill>
            <a:schemeClr val="accent1"/>
          </a:solidFill>
          <a:ln/>
        </p:spPr>
        <p:txBody>
          <a:bodyPr/>
          <a:lstStyle/>
          <a:p>
            <a:endParaRPr lang="ja-JP" altLang="en-US"/>
          </a:p>
        </p:txBody>
      </p:sp>
      <p:sp>
        <p:nvSpPr>
          <p:cNvPr id="12" name="Text 9"/>
          <p:cNvSpPr txBox="1"/>
          <p:nvPr/>
        </p:nvSpPr>
        <p:spPr>
          <a:xfrm>
            <a:off x="5074920" y="23317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Q1</a:t>
            </a:r>
            <a:endParaRPr lang="en-US" sz="1800" dirty="0"/>
          </a:p>
        </p:txBody>
      </p:sp>
      <p:sp>
        <p:nvSpPr>
          <p:cNvPr id="13" name="Text 10"/>
          <p:cNvSpPr txBox="1"/>
          <p:nvPr/>
        </p:nvSpPr>
        <p:spPr>
          <a:xfrm>
            <a:off x="5897880" y="2057400"/>
            <a:ext cx="5516575" cy="1143000"/>
          </a:xfrm>
          <a:prstGeom prst="rect">
            <a:avLst/>
          </a:prstGeom>
          <a:noFill/>
          <a:ln/>
        </p:spPr>
        <p:txBody>
          <a:bodyPr wrap="square" lIns="0" tIns="0" rIns="0" bIns="0" rtlCol="0" anchor="ctr"/>
          <a:lstStyle/>
          <a:p>
            <a:pPr marL="0" indent="0">
              <a:buNone/>
            </a:pPr>
            <a:r>
              <a:rPr lang="en-US" sz="1700" dirty="0">
                <a:solidFill>
                  <a:schemeClr val="tx1"/>
                </a:solidFill>
              </a:rPr>
              <a:t>担当校で、子供が「自分で決めている」場面はどこにありますか</a:t>
            </a:r>
            <a:endParaRPr lang="en-US" sz="1700" dirty="0"/>
          </a:p>
        </p:txBody>
      </p:sp>
      <p:sp>
        <p:nvSpPr>
          <p:cNvPr id="14" name="Shape 11"/>
          <p:cNvSpPr/>
          <p:nvPr/>
        </p:nvSpPr>
        <p:spPr>
          <a:xfrm>
            <a:off x="4846320" y="3383280"/>
            <a:ext cx="6796735" cy="1143000"/>
          </a:xfrm>
          <a:prstGeom prst="roundRect">
            <a:avLst>
              <a:gd name="adj" fmla="val 6400"/>
            </a:avLst>
          </a:prstGeom>
          <a:solidFill>
            <a:schemeClr val="bg2"/>
          </a:solidFill>
          <a:ln/>
        </p:spPr>
        <p:txBody>
          <a:bodyPr/>
          <a:lstStyle/>
          <a:p>
            <a:endParaRPr lang="ja-JP" altLang="en-US"/>
          </a:p>
        </p:txBody>
      </p:sp>
      <p:sp>
        <p:nvSpPr>
          <p:cNvPr id="15" name="Shape 12"/>
          <p:cNvSpPr/>
          <p:nvPr/>
        </p:nvSpPr>
        <p:spPr>
          <a:xfrm>
            <a:off x="5074920" y="3657600"/>
            <a:ext cx="594360" cy="594360"/>
          </a:xfrm>
          <a:prstGeom prst="ellipse">
            <a:avLst/>
          </a:prstGeom>
          <a:solidFill>
            <a:schemeClr val="accent2"/>
          </a:solidFill>
          <a:ln/>
        </p:spPr>
        <p:txBody>
          <a:bodyPr/>
          <a:lstStyle/>
          <a:p>
            <a:endParaRPr lang="ja-JP" altLang="en-US"/>
          </a:p>
        </p:txBody>
      </p:sp>
      <p:sp>
        <p:nvSpPr>
          <p:cNvPr id="16" name="Text 13"/>
          <p:cNvSpPr txBox="1"/>
          <p:nvPr/>
        </p:nvSpPr>
        <p:spPr>
          <a:xfrm>
            <a:off x="5074920" y="36576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Q2</a:t>
            </a:r>
            <a:endParaRPr lang="en-US" sz="1800" dirty="0"/>
          </a:p>
        </p:txBody>
      </p:sp>
      <p:sp>
        <p:nvSpPr>
          <p:cNvPr id="17" name="Text 14"/>
          <p:cNvSpPr txBox="1"/>
          <p:nvPr/>
        </p:nvSpPr>
        <p:spPr>
          <a:xfrm>
            <a:off x="5897880" y="3383280"/>
            <a:ext cx="5516575" cy="1143000"/>
          </a:xfrm>
          <a:prstGeom prst="rect">
            <a:avLst/>
          </a:prstGeom>
          <a:noFill/>
          <a:ln/>
        </p:spPr>
        <p:txBody>
          <a:bodyPr wrap="square" lIns="0" tIns="0" rIns="0" bIns="0" rtlCol="0" anchor="ctr"/>
          <a:lstStyle/>
          <a:p>
            <a:pPr marL="0" indent="0">
              <a:buNone/>
            </a:pPr>
            <a:r>
              <a:rPr lang="en-US" sz="1700" dirty="0">
                <a:solidFill>
                  <a:schemeClr val="tx1"/>
                </a:solidFill>
              </a:rPr>
              <a:t>学校から「自由進度学習に取り組みたい」と相談されたら、まず何を助言しますか</a:t>
            </a:r>
            <a:endParaRPr lang="en-US" sz="1700" dirty="0"/>
          </a:p>
        </p:txBody>
      </p:sp>
      <p:sp>
        <p:nvSpPr>
          <p:cNvPr id="18" name="Shape 15"/>
          <p:cNvSpPr/>
          <p:nvPr/>
        </p:nvSpPr>
        <p:spPr>
          <a:xfrm>
            <a:off x="4846320" y="4709160"/>
            <a:ext cx="6796735" cy="1143000"/>
          </a:xfrm>
          <a:prstGeom prst="roundRect">
            <a:avLst>
              <a:gd name="adj" fmla="val 6400"/>
            </a:avLst>
          </a:prstGeom>
          <a:solidFill>
            <a:schemeClr val="bg2"/>
          </a:solidFill>
          <a:ln/>
        </p:spPr>
        <p:txBody>
          <a:bodyPr/>
          <a:lstStyle/>
          <a:p>
            <a:endParaRPr lang="ja-JP" altLang="en-US"/>
          </a:p>
        </p:txBody>
      </p:sp>
      <p:sp>
        <p:nvSpPr>
          <p:cNvPr id="19" name="Shape 16"/>
          <p:cNvSpPr/>
          <p:nvPr/>
        </p:nvSpPr>
        <p:spPr>
          <a:xfrm>
            <a:off x="5074920" y="4983480"/>
            <a:ext cx="594360" cy="594360"/>
          </a:xfrm>
          <a:prstGeom prst="ellipse">
            <a:avLst/>
          </a:prstGeom>
          <a:solidFill>
            <a:schemeClr val="accent1"/>
          </a:solidFill>
          <a:ln/>
        </p:spPr>
        <p:txBody>
          <a:bodyPr/>
          <a:lstStyle/>
          <a:p>
            <a:endParaRPr lang="ja-JP" altLang="en-US"/>
          </a:p>
        </p:txBody>
      </p:sp>
      <p:sp>
        <p:nvSpPr>
          <p:cNvPr id="20" name="Text 17"/>
          <p:cNvSpPr txBox="1"/>
          <p:nvPr/>
        </p:nvSpPr>
        <p:spPr>
          <a:xfrm>
            <a:off x="5074920" y="498348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Q3</a:t>
            </a:r>
            <a:endParaRPr lang="en-US" sz="1800" dirty="0"/>
          </a:p>
        </p:txBody>
      </p:sp>
      <p:sp>
        <p:nvSpPr>
          <p:cNvPr id="21" name="Text 18"/>
          <p:cNvSpPr txBox="1"/>
          <p:nvPr/>
        </p:nvSpPr>
        <p:spPr>
          <a:xfrm>
            <a:off x="5897880" y="4709160"/>
            <a:ext cx="5516575" cy="1143000"/>
          </a:xfrm>
          <a:prstGeom prst="rect">
            <a:avLst/>
          </a:prstGeom>
          <a:noFill/>
          <a:ln/>
        </p:spPr>
        <p:txBody>
          <a:bodyPr wrap="square" lIns="0" tIns="0" rIns="0" bIns="0" rtlCol="0" anchor="ctr"/>
          <a:lstStyle/>
          <a:p>
            <a:pPr marL="0" indent="0">
              <a:buNone/>
            </a:pPr>
            <a:r>
              <a:rPr lang="en-US" sz="1700" dirty="0">
                <a:solidFill>
                  <a:schemeClr val="tx1"/>
                </a:solidFill>
              </a:rPr>
              <a:t>調整授業時数制度や裁量的な時間に向けて、学校に今から何を準備してもらいますか</a:t>
            </a:r>
            <a:endParaRPr lang="en-US" sz="17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02　講演・鼎談から（上智大学 奈須正裕 氏）</a:t>
            </a:r>
          </a:p>
        </p:txBody>
      </p:sp>
      <p:sp>
        <p:nvSpPr>
          <p:cNvPr id="3" name="Title 2"/>
          <p:cNvSpPr>
            <a:spLocks noGrp="1"/>
          </p:cNvSpPr>
          <p:nvPr>
            <p:ph type="title" idx="101"/>
          </p:nvPr>
        </p:nvSpPr>
        <p:spPr/>
        <p:txBody>
          <a:bodyPr/>
          <a:lstStyle/>
          <a:p>
            <a:r>
              <a:t>講義・協議会で語られた本音</a:t>
            </a:r>
          </a:p>
        </p:txBody>
      </p:sp>
      <p:sp>
        <p:nvSpPr>
          <p:cNvPr id="4" name="Rounded Rectangle 3"/>
          <p:cNvSpPr/>
          <p:nvPr/>
        </p:nvSpPr>
        <p:spPr>
          <a:xfrm>
            <a:off x="548640" y="1508760"/>
            <a:ext cx="4937760" cy="4572000"/>
          </a:xfrm>
          <a:prstGeom prst="roundRect">
            <a:avLst>
              <a:gd name="adj" fmla="val 6000"/>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uote_peach.png"/>
          <p:cNvPicPr>
            <a:picLocks noChangeAspect="1"/>
          </p:cNvPicPr>
          <p:nvPr/>
        </p:nvPicPr>
        <p:blipFill>
          <a:blip r:embed="rId2"/>
          <a:stretch>
            <a:fillRect/>
          </a:stretch>
        </p:blipFill>
        <p:spPr>
          <a:xfrm>
            <a:off x="914400" y="1874519"/>
            <a:ext cx="548640" cy="548640"/>
          </a:xfrm>
          <a:prstGeom prst="rect">
            <a:avLst/>
          </a:prstGeom>
        </p:spPr>
      </p:pic>
      <p:sp>
        <p:nvSpPr>
          <p:cNvPr id="6" name="TextBox 5"/>
          <p:cNvSpPr txBox="1"/>
          <p:nvPr/>
        </p:nvSpPr>
        <p:spPr>
          <a:xfrm>
            <a:off x="914400" y="2560320"/>
            <a:ext cx="4206240" cy="1463040"/>
          </a:xfrm>
          <a:prstGeom prst="rect">
            <a:avLst/>
          </a:prstGeom>
          <a:noFill/>
        </p:spPr>
        <p:txBody>
          <a:bodyPr wrap="square" lIns="0" rIns="0" tIns="0" bIns="0" anchor="t">
            <a:spAutoFit/>
          </a:bodyPr>
          <a:lstStyle/>
          <a:p>
            <a:pPr algn="l"/>
            <a:r>
              <a:rPr sz="3200" b="1">
                <a:solidFill>
                  <a:srgbClr val="FFFFFF"/>
                </a:solidFill>
              </a:rPr>
              <a:t>マイ探究に、</a:t>
            </a:r>
          </a:p>
          <a:p>
            <a:pPr algn="l"/>
            <a:r>
              <a:rPr sz="3200" b="1">
                <a:solidFill>
                  <a:srgbClr val="FFFFFF"/>
                </a:solidFill>
              </a:rPr>
              <a:t>評価は必要ない</a:t>
            </a:r>
          </a:p>
        </p:txBody>
      </p:sp>
      <p:sp>
        <p:nvSpPr>
          <p:cNvPr id="7" name="TextBox 6"/>
          <p:cNvSpPr txBox="1"/>
          <p:nvPr/>
        </p:nvSpPr>
        <p:spPr>
          <a:xfrm>
            <a:off x="914400" y="4114800"/>
            <a:ext cx="4206240" cy="822960"/>
          </a:xfrm>
          <a:prstGeom prst="rect">
            <a:avLst/>
          </a:prstGeom>
          <a:noFill/>
        </p:spPr>
        <p:txBody>
          <a:bodyPr wrap="square" lIns="0" rIns="0" tIns="0" bIns="0" anchor="t">
            <a:spAutoFit/>
          </a:bodyPr>
          <a:lstStyle/>
          <a:p>
            <a:pPr algn="l"/>
            <a:r>
              <a:rPr sz="1500" b="0">
                <a:solidFill>
                  <a:srgbClr val="D3E3D9"/>
                </a:solidFill>
              </a:rPr>
              <a:t>「好き」「得意」を、学校の物差しで測らない</a:t>
            </a:r>
          </a:p>
        </p:txBody>
      </p:sp>
      <p:sp>
        <p:nvSpPr>
          <p:cNvPr id="8" name="Rounded Rectangle 7"/>
          <p:cNvSpPr/>
          <p:nvPr/>
        </p:nvSpPr>
        <p:spPr>
          <a:xfrm>
            <a:off x="822959" y="4846320"/>
            <a:ext cx="4389120"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846320"/>
            <a:ext cx="3931920" cy="960120"/>
          </a:xfrm>
          <a:prstGeom prst="rect">
            <a:avLst/>
          </a:prstGeom>
          <a:noFill/>
        </p:spPr>
        <p:txBody>
          <a:bodyPr wrap="square" lIns="0" rIns="0" tIns="0" bIns="0" anchor="ctr">
            <a:spAutoFit/>
          </a:bodyPr>
          <a:lstStyle/>
          <a:p>
            <a:pPr algn="l"/>
            <a:r>
              <a:rPr sz="1300" b="1">
                <a:solidFill>
                  <a:srgbClr val="D9702C"/>
                </a:solidFill>
              </a:rPr>
              <a:t>考えたい問い</a:t>
            </a:r>
          </a:p>
          <a:p>
            <a:pPr algn="l"/>
            <a:r>
              <a:rPr sz="1700" b="1">
                <a:solidFill>
                  <a:srgbClr val="1F5A47"/>
                </a:solidFill>
              </a:rPr>
              <a:t>評価しないと不安になるのは、誰か</a:t>
            </a:r>
          </a:p>
        </p:txBody>
      </p:sp>
      <p:sp>
        <p:nvSpPr>
          <p:cNvPr id="10" name="Rounded Rectangle 9"/>
          <p:cNvSpPr/>
          <p:nvPr/>
        </p:nvSpPr>
        <p:spPr>
          <a:xfrm>
            <a:off x="5806440" y="1508760"/>
            <a:ext cx="5836615" cy="1371600"/>
          </a:xfrm>
          <a:prstGeom prst="roundRect">
            <a:avLst>
              <a:gd name="adj" fmla="val 6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6080759" y="1783080"/>
            <a:ext cx="384048" cy="384048"/>
          </a:xfrm>
          <a:prstGeom prst="rect">
            <a:avLst/>
          </a:prstGeom>
        </p:spPr>
      </p:pic>
      <p:sp>
        <p:nvSpPr>
          <p:cNvPr id="12" name="TextBox 11"/>
          <p:cNvSpPr txBox="1"/>
          <p:nvPr/>
        </p:nvSpPr>
        <p:spPr>
          <a:xfrm>
            <a:off x="6675120" y="1600200"/>
            <a:ext cx="4739335" cy="1188720"/>
          </a:xfrm>
          <a:prstGeom prst="rect">
            <a:avLst/>
          </a:prstGeom>
          <a:noFill/>
        </p:spPr>
        <p:txBody>
          <a:bodyPr wrap="square" lIns="0" rIns="0" tIns="0" bIns="0" anchor="ctr">
            <a:spAutoFit/>
          </a:bodyPr>
          <a:lstStyle/>
          <a:p>
            <a:pPr algn="l"/>
            <a:r>
              <a:rPr sz="2000" b="1">
                <a:solidFill>
                  <a:srgbClr val="1F5A47"/>
                </a:solidFill>
              </a:rPr>
              <a:t>学校的な価値で過剰に制限しない</a:t>
            </a:r>
          </a:p>
          <a:p>
            <a:pPr algn="l"/>
            <a:r>
              <a:rPr sz="1400" b="0">
                <a:solidFill>
                  <a:srgbClr val="1E2B27"/>
                </a:solidFill>
              </a:rPr>
              <a:t>子供に忖度させない</a:t>
            </a:r>
          </a:p>
        </p:txBody>
      </p:sp>
      <p:sp>
        <p:nvSpPr>
          <p:cNvPr id="13" name="Rounded Rectangle 12"/>
          <p:cNvSpPr/>
          <p:nvPr/>
        </p:nvSpPr>
        <p:spPr>
          <a:xfrm>
            <a:off x="5806440" y="3108960"/>
            <a:ext cx="5836615" cy="1371600"/>
          </a:xfrm>
          <a:prstGeom prst="roundRect">
            <a:avLst>
              <a:gd name="adj" fmla="val 6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080759" y="3383279"/>
            <a:ext cx="384048" cy="384048"/>
          </a:xfrm>
          <a:prstGeom prst="rect">
            <a:avLst/>
          </a:prstGeom>
        </p:spPr>
      </p:pic>
      <p:sp>
        <p:nvSpPr>
          <p:cNvPr id="15" name="TextBox 14"/>
          <p:cNvSpPr txBox="1"/>
          <p:nvPr/>
        </p:nvSpPr>
        <p:spPr>
          <a:xfrm>
            <a:off x="6675120" y="3200400"/>
            <a:ext cx="4739335" cy="1188720"/>
          </a:xfrm>
          <a:prstGeom prst="rect">
            <a:avLst/>
          </a:prstGeom>
          <a:noFill/>
        </p:spPr>
        <p:txBody>
          <a:bodyPr wrap="square" lIns="0" rIns="0" tIns="0" bIns="0" anchor="ctr">
            <a:spAutoFit/>
          </a:bodyPr>
          <a:lstStyle/>
          <a:p>
            <a:pPr algn="l"/>
            <a:r>
              <a:rPr sz="2000" b="1">
                <a:solidFill>
                  <a:srgbClr val="1F5A47"/>
                </a:solidFill>
              </a:rPr>
              <a:t>発表会は必須ではない</a:t>
            </a:r>
          </a:p>
          <a:p>
            <a:pPr algn="l"/>
            <a:r>
              <a:rPr sz="1400" b="0">
                <a:solidFill>
                  <a:srgbClr val="1E2B27"/>
                </a:solidFill>
              </a:rPr>
              <a:t>発表するかどうかを子供が選んでもいい</a:t>
            </a:r>
          </a:p>
        </p:txBody>
      </p:sp>
      <p:sp>
        <p:nvSpPr>
          <p:cNvPr id="16" name="Rounded Rectangle 15"/>
          <p:cNvSpPr/>
          <p:nvPr/>
        </p:nvSpPr>
        <p:spPr>
          <a:xfrm>
            <a:off x="5806440" y="4709160"/>
            <a:ext cx="5836615" cy="1371600"/>
          </a:xfrm>
          <a:prstGeom prst="roundRect">
            <a:avLst>
              <a:gd name="adj" fmla="val 6000"/>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3"/>
          <a:stretch>
            <a:fillRect/>
          </a:stretch>
        </p:blipFill>
        <p:spPr>
          <a:xfrm>
            <a:off x="6080759" y="4983480"/>
            <a:ext cx="384048" cy="384048"/>
          </a:xfrm>
          <a:prstGeom prst="rect">
            <a:avLst/>
          </a:prstGeom>
        </p:spPr>
      </p:pic>
      <p:sp>
        <p:nvSpPr>
          <p:cNvPr id="18" name="TextBox 17"/>
          <p:cNvSpPr txBox="1"/>
          <p:nvPr/>
        </p:nvSpPr>
        <p:spPr>
          <a:xfrm>
            <a:off x="6675120" y="4800600"/>
            <a:ext cx="4739335" cy="1188720"/>
          </a:xfrm>
          <a:prstGeom prst="rect">
            <a:avLst/>
          </a:prstGeom>
          <a:noFill/>
        </p:spPr>
        <p:txBody>
          <a:bodyPr wrap="square" lIns="0" rIns="0" tIns="0" bIns="0" anchor="ctr">
            <a:spAutoFit/>
          </a:bodyPr>
          <a:lstStyle/>
          <a:p>
            <a:pPr algn="l"/>
            <a:r>
              <a:rPr sz="2000" b="1">
                <a:solidFill>
                  <a:srgbClr val="1F5A47"/>
                </a:solidFill>
              </a:rPr>
              <a:t>「やってみて違う」も発見</a:t>
            </a:r>
          </a:p>
          <a:p>
            <a:pPr algn="l"/>
            <a:r>
              <a:rPr sz="1400" b="0">
                <a:solidFill>
                  <a:srgbClr val="1E2B27"/>
                </a:solidFill>
              </a:rPr>
              <a:t>合わないと分かることも「好き」「得意」の発見</a:t>
            </a:r>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theme/theme1.xml><?xml version="1.0" encoding="utf-8"?>
<a:theme xmlns:a="http://schemas.openxmlformats.org/drawingml/2006/main" name="Tendo Chubu Report">
  <a:themeElements>
    <a:clrScheme name="Tendo Chubu Report">
      <a:dk1>
        <a:srgbClr val="1E2B27"/>
      </a:dk1>
      <a:lt1>
        <a:srgbClr val="FFFFFF"/>
      </a:lt1>
      <a:dk2>
        <a:srgbClr val="1F5A47"/>
      </a:dk2>
      <a:lt2>
        <a:srgbClr val="EEF4F0"/>
      </a:lt2>
      <a:accent1>
        <a:srgbClr val="1F5A47"/>
      </a:accent1>
      <a:accent2>
        <a:srgbClr val="D9702C"/>
      </a:accent2>
      <a:accent3>
        <a:srgbClr val="7FAF8E"/>
      </a:accent3>
      <a:accent4>
        <a:srgbClr val="FBEADB"/>
      </a:accent4>
      <a:accent5>
        <a:srgbClr val="5E6E68"/>
      </a:accent5>
      <a:accent6>
        <a:srgbClr val="D3E3D9"/>
      </a:accent6>
      <a:hlink>
        <a:srgbClr val="1F5A47"/>
      </a:hlink>
      <a:folHlink>
        <a:srgbClr val="5E6E68"/>
      </a:folHlink>
    </a:clrScheme>
    <a:fontScheme name="Tendo Chubu Report">
      <a:majorFont>
        <a:latin typeface="BIZ UDPゴシック"/>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1947</Words>
  <Application>Microsoft Office PowerPoint</Application>
  <PresentationFormat>ワイド画面</PresentationFormat>
  <Paragraphs>301</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BIZ UDPゴシック</vt:lpstr>
      <vt:lpstr>Arial</vt:lpstr>
      <vt:lpstr>Tendo Chubu Report</vt:lpstr>
      <vt:lpstr>PowerPoint プレゼンテーション</vt:lpstr>
      <vt:lpstr>本日のねらいと流れ（30分）</vt:lpstr>
      <vt:lpstr>研修概要</vt:lpstr>
      <vt:lpstr>学校づくりの根底にある子供観</vt:lpstr>
      <vt:lpstr>４つの学びを組み合わせた「カラフルなカリキュラム」</vt:lpstr>
      <vt:lpstr>フリースタイルプロジェクト（FSP）</vt:lpstr>
      <vt:lpstr>学校全体を学習空間に／自分でくらしをつくる</vt:lpstr>
      <vt:lpstr>マイプラン学習（MP学習）</vt:lpstr>
      <vt:lpstr>MP学習における子供の姿と学習文化</vt:lpstr>
      <vt:lpstr>２つの「好き」「得意」＝個性</vt:lpstr>
      <vt:lpstr>鼎談・質疑応答から学んだこと</vt:lpstr>
      <vt:lpstr>改訂のスケジュール</vt:lpstr>
      <vt:lpstr>審議まとめが示す３つの方向性と天童中部小学校の取組</vt:lpstr>
      <vt:lpstr>主な改善の方向と天童中部小の実践</vt:lpstr>
      <vt:lpstr>学校訪問・指導助言で大切にしたい４つの視点</vt:lpstr>
      <vt:lpstr>総括</vt:lpstr>
      <vt:lpstr>ご質問・ご意見をお聞かせください</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「すべての子供は有能である」を具現化する学校づくりに学ぶ</dc:title>
  <dc:subject>天童中部小学校の実践から考える次期学習指導要領の方向性（指導主事研修）</dc:subject>
  <dc:creator>練馬区教育委員会 指導課</dc:creator>
  <cp:lastModifiedBy>紺多　章一郎</cp:lastModifiedBy>
  <cp:revision>5</cp:revision>
  <dcterms:created xsi:type="dcterms:W3CDTF">2026-10-15T11:49:03Z</dcterms:created>
  <dcterms:modified xsi:type="dcterms:W3CDTF">2026-10-16T01:47:24Z</dcterms:modified>
</cp:coreProperties>
</file>