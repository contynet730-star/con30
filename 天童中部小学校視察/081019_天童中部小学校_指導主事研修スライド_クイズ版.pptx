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82" r:id="rId33"/>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（20秒）</a:t>
            </a:r>
          </a:p>
          <a:p>
            <a:r>
              <a:t>指導課の紺多です。10月14日に参加した、山形県天童市立天童中部小学校の教育研究発表会について報告します。同校の実践から、子供の学びを中心に据える授業の見方を考え、次期学習指導要領の方向性を共有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（20秒）</a:t>
            </a:r>
          </a:p>
          <a:p>
            <a:r>
              <a:t>ねらいは、子供の学びを中心に据える授業の見方を考え、次期学習指導要領の方向性を共有することです。講義20分の中でクイズを3問出します。最後の5分で質疑応答です。〔クリック〕</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期日・内容はご覧のとおりです。同校は「自分で学びをつくる」「自分でくらしをつくる」を掲げています。〔クリック〕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最も印象的だったのは、学習方法よりも、その根底にある子供観です。「すべての子供は有能である」。子供を「指示を待つ存在」ではなく、「自ら学びを創る存在」と捉えています。</a:t>
            </a:r>
          </a:p>
          <a:p>
            <a:r>
              <a:t>だから子供は、学習の内容、方法、場所、発表方法を自分で選び、計画も自分で直します。教師は統制せず、環境を整えて支える「伴走者」でした。〔クリック〕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同校の学びの全体像です。FSP、MP学習、自学・自習、仲間と教師で創る授業。左ほど子供が、右ほど教師が計画します。個別最適な学びと協働的な学びを、一つの授業ではなくカリキュラム全体で実現する。奈須先生はこれを「カラフルなカリキュラム」と呼んで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FSPは、一人一人が興味のあるテーマを探究する個人の総合です。野球、犬、ネイル、ピアノなど。計画・振り返りカードに記録し、教師はコメントで伴走します。発表の方法も子供が選びます。〔クリック〕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廊下や壁面も学びの場です。子供は「どこで、何を使って学ぶか」を選んでいます。〔クリック〕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MP学習は、単に進度を自由にする学習ではありません。学習のゴールに向かって自分で計画し、調整しながら学ぶ学習です。</a:t>
            </a:r>
          </a:p>
          <a:p>
            <a:r>
              <a:t>目指すのは、計画どおりに進める「自己管理」ではなく、計画を直しながら学ぶ「自己調整」。しかも、国語・算数・理科・社会などの単元計画に位置付けられ、学校全体の仕組みとして動いて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（30秒）</a:t>
            </a:r>
          </a:p>
          <a:p>
            <a:r>
              <a:t>実験する子、教科書で調べる子、仲間と話す子。振り返りの掲示には「計画を修正した」「次に調べたいことが見つかった」。学習の過程そのものを価値付ける文化がありました。〔クリック〕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奈須先生は、個性を2つの「好き」「得意」で捉えていました。学ぶ領域の「得意」を育てるのが個人総合、つまりFSP。学び方の「得意」を育てるのが単元内自由進度学習、つまりMP学習です。どちらも、やってみないと分からないし、できるようにならない。〔クリック〕</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（20秒）</a:t>
            </a:r>
          </a:p>
          <a:p>
            <a:r>
              <a:t>鼎談で繰り返されたのが、「MP学習やFSPが目的ではない」。手法をまねても、同じことにはならないということです。〔クリック〕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10月5日に中教審の「審議まとめ」が公表され、11月5日まで意見公募中です。今冬に答申、小・中学校は今年度内の告示が見込まれています。全面実施の年度は、答申・告示で確定します。根拠の本文は、配布資料のQRコードから開け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審議まとめは3つの方向性を示しています。「主体的・対話的で深い学び」の実装、多様性の包摂、実現可能性の確保です。</a:t>
            </a:r>
          </a:p>
          <a:p>
            <a:r>
              <a:t>天童中部小の実践は、この3つを先取りした姿として見ることができます。〔クリック〕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（40秒）</a:t>
            </a:r>
          </a:p>
          <a:p>
            <a:r>
              <a:t>主な改善の方向を、同校の実践と結び付けました。特にオレンジの2つ、調整授業時数制度と裁量的な時間は、学校のカリキュラムに直結します。詳しくは最後に補足します。〔クリック〕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指導主事としては、4つです。手法より子供観から対話する。「子供がどう学んだか」を見る。教師を「伴走する人」へ後押しする。単発で終わらせず、教育課程に位置付ける。〔クリック〕</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必要なのは、手法以上に「子供を信頼する教育観」と、それを支える学校文化です。</a:t>
            </a:r>
          </a:p>
          <a:p>
            <a:r>
              <a:t>冒頭の写真を思い出してください。最初と、見え方は変わったでしょうか。そしてその姿を支えているのは、約8割の普段の授業です。最後に、調整授業時数制度を補足します。〔クリック〕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5分）</a:t>
            </a:r>
          </a:p>
          <a:p>
            <a:r>
              <a:t>ご質問やご意見をお願いします。</a:t>
            </a:r>
          </a:p>
          <a:p>
            <a:r>
              <a:t>最後に、次の学校訪問に持ち帰ってほしい問いを2つ挙げます。「この授業の中心にあるのは、何か」「普段の授業で、どんな学び方が育っているか」。答えは、学校の先生方と一緒に探していきましょう。ありがとうございました。</a:t>
            </a:r>
          </a:p>
          <a:p>
            <a:r>
              <a:t>《進め方》質問が出なければ、持ち帰りの問いを先に読み、「担当校ではどうですか」と1人に振る。</a:t>
            </a:r>
          </a:p>
          <a:p/>
          <a:p>
            <a:r>
              <a:t>【想定問答】</a:t>
            </a:r>
          </a:p>
          <a:p>
            <a:r>
              <a:t>Q 自由進度学習と同じではないのか。</a:t>
            </a:r>
          </a:p>
          <a:p>
            <a:r>
              <a:t>A 講演では単元内自由進度学習の典型と紹介された。ただし同校は、進度よりも「計画を直しながら学ぶ自己調整」を重視している。</a:t>
            </a:r>
          </a:p>
          <a:p>
            <a:r>
              <a:t>Q 学習が遅れる子や学力差への対応は。</a:t>
            </a:r>
          </a:p>
          <a:p>
            <a:r>
              <a:t>A 教師は一斉指導から離れた分、個別の見取りと支援に回る。学習計画表と振り返りで進み具合を把握している。成果データは今回の資料では未確認のため、必要なら同校に照会する。</a:t>
            </a:r>
          </a:p>
          <a:p>
            <a:r>
              <a:t>Q 練馬区の学校では何から始めるか。</a:t>
            </a:r>
          </a:p>
          <a:p>
            <a:r>
              <a:t>A 手法より先に、子供観の共有から。次に、1教科の1単元で学習計画表を使ってみる。自由度は段階的に高める。</a:t>
            </a:r>
          </a:p>
          <a:p>
            <a:r>
              <a:t>Q 調整授業時数制度はいつから使えるか。</a:t>
            </a:r>
          </a:p>
          <a:p>
            <a:r>
              <a:t>A 現在は審議まとめの段階。名称・詳細・実施時期は答申・告示で確定するので、文部科学省の最新資料で確認する。</a:t>
            </a:r>
          </a:p>
          <a:p>
            <a:r>
              <a:t>Q マイ探究に評価が必要ないとは、通知表はどうするのか。</a:t>
            </a:r>
          </a:p>
          <a:p>
            <a:r>
              <a:t>A 奈須先生の趣旨は「学校の物差しで好き・得意を測らない」こと。制度上の扱いは各校の評価計画によるので、個別に確認する。</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（1分30秒）</a:t>
            </a:r>
          </a:p>
          <a:p>
            <a:r>
              <a:t>まず、一枚の写真を見てください。ある小学校の、学習の時間の一場面です。学校訪問でこの場面に出会ったら、この姿を許容できますか。A、B、Cで手を挙げてください。〔挙手〕</a:t>
            </a:r>
          </a:p>
          <a:p>
            <a:r>
              <a:t>なぜそう思ったか、隣の人と30秒でどうぞ。〔ペア30秒〕</a:t>
            </a:r>
          </a:p>
          <a:p>
            <a:r>
              <a:t>実はこれは、天童中部小学校で子供が学ぶ場所を自分で選んで、学習を進めている姿です。「許容できない」と感じるとき、その基準はどこから来ているのでしょうか。この問いを持ったまま、聞いてください。〔クリック〕</a:t>
            </a:r>
          </a:p>
          <a:p>
            <a:r>
              <a:t>《進め方》Cを選んだ人を否定しない。指名はしない（時間を守る）。「約2割しかない」ことはQUIZ 1で明かすので、ここでは言わない。</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（30秒）</a:t>
            </a:r>
          </a:p>
          <a:p>
            <a:r>
              <a:t>その8割の普段の授業です。画面には「答えだけ言う」ではなく「式の意味、図と結びつける」と、学び方そのものが示されていました。ここで身に付けた学び方が、任せる2割を支えています。土台は普段の授業です。〔クリック〕</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（25秒）</a:t>
            </a:r>
          </a:p>
          <a:p>
            <a:r>
              <a:t>今の問いかけは、校内研修でも使えるアイスブレイクの型です。見せる、選ぶ、語る、知る、問い返す。写真を替えれば、どの研修でも使えます。このあともクイズで考えていただきます。〔クリック〕</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a:t>
            </a:r>
          </a:p>
          <a:p>
            <a:r>
              <a:t>ではクイズです。子供が自分で計画して進める学習は、授業のおよそ何割でしょうか。隣の人と30秒。〔ペア30秒〕〔挙手〕</a:t>
            </a:r>
          </a:p>
          <a:p>
            <a:r>
              <a:t>正解は A、約2割です。残りの約8割は、子供と教師が共に創る一斉授業です。〔クリック〕</a:t>
            </a:r>
          </a:p>
          <a:p>
            <a:r>
              <a:t>《進め方》冒頭の写真から「C 約8割」を選ぶ人が多いはず。そのずれを次の2枚で回収する。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（30秒）</a:t>
            </a:r>
          </a:p>
          <a:p>
            <a:r>
              <a:t>2問目です。計画どおりに進まなかった子供。同校が大切にしているのはどれでしょう。今度は挙手で。〔挙手〕</a:t>
            </a:r>
          </a:p>
          <a:p>
            <a:r>
              <a:t>正解は B、計画を修正して学び直す、です。〔クリック〕</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「3つの方向性」に含まれないものはどれでしょう。今回は挙手だけで。〔挙手〕</a:t>
            </a:r>
          </a:p>
          <a:p>
            <a:r>
              <a:t>正解は C、授業時数の拡充です。むしろ、時数を調整できる仕組みが示されています。〔クリック〕</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（15秒）</a:t>
            </a:r>
          </a:p>
          <a:p>
            <a:r>
              <a:t>ここからの根拠は審議まとめです。QRコードから本文を開けます。学校に説明するときは、必ず本文で確かめてください。〔クリック〕</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授業の中心にあるのは、何でしょうか。これまでは教師が中心で、子供がそれに合わせて動きました。これからは、子供の学びが中心です。教師も教材も環境も仲間も、子供の学びを支えて回ります。</a:t>
            </a:r>
          </a:p>
          <a:p>
            <a:r>
              <a:t>ただし、変えるのは授業の形ではなく見方です。約8割の一斉授業の中でも、子供の学びを中心に据える。〔クリック〕</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協議会では、踏み込んだ本音もありました。「マイ探究に、評価は必要ない」。学校的な価値で制限しない。発表会も必須ではない。</a:t>
            </a:r>
          </a:p>
          <a:p>
            <a:r>
              <a:t>では、評価しないと不安になるのは、子供でしょうか、私たち大人でしょうか。（1秒間を置く）〔クリック〕</a:t>
            </a:r>
          </a:p>
          <a:p>
            <a:r>
              <a:t>《進め方》問いかけだけで、答えは求めない。発言の表現は、講義・協議会の記録で最終確認する。</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学校や子供の実態に応じて、標準授業時数を一定の範囲で調整できる仕組みです。生み出した時間は、子供の個性や特性に応じた「裁量的な時間」に充てる構想です。</a:t>
            </a:r>
          </a:p>
          <a:p>
            <a:r>
              <a:t>学校から相談されたら、目的、教育課程、時間の中身、説明と体制の4つを一緒に確かめましょう。制度ありきではなく、目指す子供の姿から考える。講義は以上です。〔クリック〕</a:t>
            </a:r>
          </a:p>
          <a:p>
            <a:r>
              <a:t>《進め方》素案段階の数値（上限15％程度、小学校で年間約138コマ）は、質問が出たら「答申で変わり得る」と添えて紹介する。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62.jpg"/><Relationship Id="rId4" Type="http://schemas.openxmlformats.org/officeDocument/2006/relationships/image" Target="../media/image63.jpg"/><Relationship Id="rId5" Type="http://schemas.openxmlformats.org/officeDocument/2006/relationships/image" Target="../media/image64.jpg"/><Relationship Id="rId6"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天童中部小学校の取組から、子供の学びを中心に据える授業の見方を考え、次期学習指導要領の方向性を指導主事間で共有する。</a:t>
            </a:r>
          </a:p>
        </p:txBody>
      </p:sp>
      <p:sp>
        <p:nvSpPr>
          <p:cNvPr id="28" name="TextBox 27"/>
          <p:cNvSpPr txBox="1"/>
          <p:nvPr/>
        </p:nvSpPr>
        <p:spPr>
          <a:xfrm>
            <a:off x="548640" y="2834640"/>
            <a:ext cx="8875532" cy="411480"/>
          </a:xfrm>
          <a:prstGeom prst="rect">
            <a:avLst/>
          </a:prstGeom>
          <a:noFill/>
        </p:spPr>
        <p:txBody>
          <a:bodyPr wrap="square" lIns="0" rIns="0" tIns="0" bIns="0" anchor="ctr">
            <a:spAutoFit/>
          </a:bodyPr>
          <a:lstStyle/>
          <a:p>
            <a:pPr algn="ctr"/>
            <a:r>
              <a:rPr sz="1600" b="1">
                <a:solidFill>
                  <a:srgbClr val="1F5A47"/>
                </a:solidFill>
              </a:rPr>
              <a:t>講義　20分（クイズで指導主事同士が話し合う）</a:t>
            </a:r>
          </a:p>
        </p:txBody>
      </p:sp>
      <p:sp>
        <p:nvSpPr>
          <p:cNvPr id="29" name="TextBox 28"/>
          <p:cNvSpPr txBox="1"/>
          <p:nvPr/>
        </p:nvSpPr>
        <p:spPr>
          <a:xfrm>
            <a:off x="9424172" y="2834640"/>
            <a:ext cx="2218883"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276465"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057009"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3分</a:t>
            </a:r>
          </a:p>
          <a:p>
            <a:pPr algn="l"/>
            <a:r>
              <a:rPr sz="1200" b="1">
                <a:solidFill>
                  <a:srgbClr val="1F5A47"/>
                </a:solidFill>
              </a:rPr>
              <a:t>問い・手本</a:t>
            </a:r>
          </a:p>
        </p:txBody>
      </p:sp>
      <p:sp>
        <p:nvSpPr>
          <p:cNvPr id="32" name="Rectangle 31"/>
          <p:cNvSpPr/>
          <p:nvPr/>
        </p:nvSpPr>
        <p:spPr>
          <a:xfrm>
            <a:off x="1879969" y="3611880"/>
            <a:ext cx="3051572"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89697" y="3611880"/>
            <a:ext cx="2832116"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7分</a:t>
            </a:r>
          </a:p>
          <a:p>
            <a:pPr algn="l"/>
            <a:r>
              <a:rPr sz="1200" b="1">
                <a:solidFill>
                  <a:srgbClr val="FBEADB"/>
                </a:solidFill>
              </a:rPr>
              <a:t>QUIZ 1・2</a:t>
            </a:r>
          </a:p>
        </p:txBody>
      </p:sp>
      <p:sp>
        <p:nvSpPr>
          <p:cNvPr id="34" name="Rectangle 33"/>
          <p:cNvSpPr/>
          <p:nvPr/>
        </p:nvSpPr>
        <p:spPr>
          <a:xfrm>
            <a:off x="4986406" y="3611880"/>
            <a:ext cx="832689"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96134" y="3611880"/>
            <a:ext cx="613233" cy="1188720"/>
          </a:xfrm>
          <a:prstGeom prst="rect">
            <a:avLst/>
          </a:prstGeom>
          <a:noFill/>
        </p:spPr>
        <p:txBody>
          <a:bodyPr wrap="square" lIns="0" rIns="0" tIns="0" bIns="0" anchor="ctr">
            <a:spAutoFit/>
          </a:bodyPr>
          <a:lstStyle/>
          <a:p>
            <a:pPr algn="l"/>
            <a:r>
              <a:rPr sz="1400" b="1">
                <a:solidFill>
                  <a:srgbClr val="1F5A47"/>
                </a:solidFill>
              </a:rPr>
              <a:t>2</a:t>
            </a:r>
          </a:p>
          <a:p>
            <a:pPr algn="l"/>
            <a:r>
              <a:rPr sz="1300" b="0">
                <a:solidFill>
                  <a:srgbClr val="1F5A47"/>
                </a:solidFill>
              </a:rPr>
              <a:t>2分</a:t>
            </a:r>
          </a:p>
          <a:p>
            <a:pPr algn="l"/>
            <a:r>
              <a:rPr sz="1200" b="1">
                <a:solidFill>
                  <a:srgbClr val="1F5A47"/>
                </a:solidFill>
              </a:rPr>
              <a:t>講演</a:t>
            </a:r>
          </a:p>
        </p:txBody>
      </p:sp>
      <p:sp>
        <p:nvSpPr>
          <p:cNvPr id="36" name="Rectangle 35"/>
          <p:cNvSpPr/>
          <p:nvPr/>
        </p:nvSpPr>
        <p:spPr>
          <a:xfrm>
            <a:off x="5873959" y="3611880"/>
            <a:ext cx="1720242"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83687" y="3611880"/>
            <a:ext cx="1500786"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4分</a:t>
            </a:r>
          </a:p>
          <a:p>
            <a:pPr algn="l"/>
            <a:r>
              <a:rPr sz="1200" b="1">
                <a:solidFill>
                  <a:srgbClr val="FBEADB"/>
                </a:solidFill>
              </a:rPr>
              <a:t>QUIZ 3</a:t>
            </a:r>
          </a:p>
        </p:txBody>
      </p:sp>
      <p:sp>
        <p:nvSpPr>
          <p:cNvPr id="38" name="Rectangle 37"/>
          <p:cNvSpPr/>
          <p:nvPr/>
        </p:nvSpPr>
        <p:spPr>
          <a:xfrm>
            <a:off x="7649065" y="3611880"/>
            <a:ext cx="1720242"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8793" y="3611880"/>
            <a:ext cx="1500786"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4分</a:t>
            </a:r>
          </a:p>
        </p:txBody>
      </p:sp>
      <p:sp>
        <p:nvSpPr>
          <p:cNvPr id="40" name="Rectangle 39"/>
          <p:cNvSpPr/>
          <p:nvPr/>
        </p:nvSpPr>
        <p:spPr>
          <a:xfrm>
            <a:off x="9424172" y="3611880"/>
            <a:ext cx="2164019"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33900" y="3611880"/>
            <a:ext cx="1944563"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a:t>
            </a:r>
            <a:r>
              <a:rPr lang="en-US" sz="900" dirty="0" err="1">
                <a:solidFill>
                  <a:schemeClr val="tx1"/>
                </a:solidFill>
              </a:rPr>
              <a:t>（ていだん）</a:t>
            </a:r>
            <a:r>
              <a:rPr lang="en-US" sz="1600" dirty="0" err="1">
                <a:solidFill>
                  <a:schemeClr val="tx1"/>
                </a:solidFill>
              </a:rPr>
              <a:t>・質疑応答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手</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挙手で答えよう</a:t>
            </a:r>
          </a:p>
          <a:p>
            <a:pPr algn="l"/>
            <a:r>
              <a:rPr sz="1500" b="0">
                <a:solidFill>
                  <a:srgbClr val="D3E3D9"/>
                </a:solidFill>
              </a:rPr>
              <a:t>理由も考えながら選んでください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rPr/>
              <a:t>02　講演・鼎談</a:t>
            </a:r>
            <a:r>
              <a:rPr sz="900"/>
              <a:t>（ていだん）</a:t>
            </a:r>
            <a:r>
              <a:rPr/>
              <a:t>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a:t>
            </a:r>
            <a:r>
              <a:rPr lang="en-US" sz="1600" b="1" dirty="0">
                <a:solidFill>
                  <a:schemeClr val="tx2"/>
                </a:solidFill>
              </a:rPr>
              <a:t>（ていだん）</a:t>
            </a:r>
            <a:r>
              <a:rPr lang="en-US" sz="3000" b="1" dirty="0">
                <a:solidFill>
                  <a:schemeClr val="tx2"/>
                </a:solidFill>
              </a:rPr>
              <a:t>・質疑応答から学んだこと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手</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挙手で答えよう</a:t>
            </a:r>
          </a:p>
          <a:p>
            <a:pPr algn="l"/>
            <a:r>
              <a:rPr sz="1500" b="0">
                <a:solidFill>
                  <a:srgbClr val="D3E3D9"/>
                </a:solidFill>
              </a:rPr>
              <a:t>理由も考えながら選んでください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調整授業時数制度とは</a:t>
            </a:r>
          </a:p>
        </p:txBody>
      </p:sp>
      <p:sp>
        <p:nvSpPr>
          <p:cNvPr id="4" name="Rounded Rectangle 3"/>
          <p:cNvSpPr/>
          <p:nvPr/>
        </p:nvSpPr>
        <p:spPr>
          <a:xfrm>
            <a:off x="548640" y="1508760"/>
            <a:ext cx="5257800" cy="45720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645919"/>
            <a:ext cx="4709160" cy="777240"/>
          </a:xfrm>
          <a:prstGeom prst="rect">
            <a:avLst/>
          </a:prstGeom>
          <a:noFill/>
        </p:spPr>
        <p:txBody>
          <a:bodyPr wrap="square" lIns="0" rIns="0" tIns="0" bIns="0" anchor="t">
            <a:spAutoFit/>
          </a:bodyPr>
          <a:lstStyle/>
          <a:p>
            <a:pPr algn="l"/>
            <a:r>
              <a:rPr sz="1500" b="0">
                <a:solidFill>
                  <a:srgbClr val="1E2B27"/>
                </a:solidFill>
              </a:rPr>
              <a:t>学校や子供の実態に応じて、標準授業時数を</a:t>
            </a:r>
          </a:p>
          <a:p>
            <a:pPr algn="l"/>
            <a:r>
              <a:rPr sz="1700" b="1">
                <a:solidFill>
                  <a:srgbClr val="1F5A47"/>
                </a:solidFill>
              </a:rPr>
              <a:t>一定の範囲で調整できる仕組み</a:t>
            </a:r>
          </a:p>
        </p:txBody>
      </p:sp>
      <p:sp>
        <p:nvSpPr>
          <p:cNvPr id="6" name="TextBox 5"/>
          <p:cNvSpPr txBox="1"/>
          <p:nvPr/>
        </p:nvSpPr>
        <p:spPr>
          <a:xfrm>
            <a:off x="822959" y="2606040"/>
            <a:ext cx="1005840" cy="640080"/>
          </a:xfrm>
          <a:prstGeom prst="rect">
            <a:avLst/>
          </a:prstGeom>
          <a:noFill/>
        </p:spPr>
        <p:txBody>
          <a:bodyPr wrap="square" lIns="0" rIns="0" tIns="0" bIns="0" anchor="ctr">
            <a:spAutoFit/>
          </a:bodyPr>
          <a:lstStyle/>
          <a:p>
            <a:pPr algn="l"/>
            <a:r>
              <a:rPr sz="1400" b="1">
                <a:solidFill>
                  <a:srgbClr val="5E6E68"/>
                </a:solidFill>
              </a:rPr>
              <a:t>これまで</a:t>
            </a:r>
          </a:p>
        </p:txBody>
      </p:sp>
      <p:sp>
        <p:nvSpPr>
          <p:cNvPr id="7" name="Rectangle 6"/>
          <p:cNvSpPr/>
          <p:nvPr/>
        </p:nvSpPr>
        <p:spPr>
          <a:xfrm>
            <a:off x="1874519" y="2606040"/>
            <a:ext cx="3657600" cy="64008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1F5A47"/>
                </a:solidFill>
              </a:rPr>
              <a:t>各教科等の標準授業時数</a:t>
            </a:r>
          </a:p>
        </p:txBody>
      </p:sp>
      <p:sp>
        <p:nvSpPr>
          <p:cNvPr id="8" name="TextBox 7"/>
          <p:cNvSpPr txBox="1"/>
          <p:nvPr/>
        </p:nvSpPr>
        <p:spPr>
          <a:xfrm>
            <a:off x="822959" y="3429000"/>
            <a:ext cx="1005840" cy="640080"/>
          </a:xfrm>
          <a:prstGeom prst="rect">
            <a:avLst/>
          </a:prstGeom>
          <a:noFill/>
        </p:spPr>
        <p:txBody>
          <a:bodyPr wrap="square" lIns="0" rIns="0" tIns="0" bIns="0" anchor="ctr">
            <a:spAutoFit/>
          </a:bodyPr>
          <a:lstStyle/>
          <a:p>
            <a:pPr algn="l"/>
            <a:r>
              <a:rPr sz="1400" b="1">
                <a:solidFill>
                  <a:srgbClr val="D9702C"/>
                </a:solidFill>
              </a:rPr>
              <a:t>調整後</a:t>
            </a:r>
          </a:p>
        </p:txBody>
      </p:sp>
      <p:sp>
        <p:nvSpPr>
          <p:cNvPr id="9" name="Rectangle 8"/>
          <p:cNvSpPr/>
          <p:nvPr/>
        </p:nvSpPr>
        <p:spPr>
          <a:xfrm>
            <a:off x="1874519" y="3429000"/>
            <a:ext cx="2962656" cy="64008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FFFFFF"/>
                </a:solidFill>
              </a:rPr>
              <a:t>各教科等（精選・調整）</a:t>
            </a:r>
          </a:p>
        </p:txBody>
      </p:sp>
      <p:sp>
        <p:nvSpPr>
          <p:cNvPr id="10" name="Rectangle 9"/>
          <p:cNvSpPr/>
          <p:nvPr/>
        </p:nvSpPr>
        <p:spPr>
          <a:xfrm>
            <a:off x="4873752" y="3429000"/>
            <a:ext cx="658368" cy="64008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100" b="1">
                <a:solidFill>
                  <a:srgbClr val="FFFFFF"/>
                </a:solidFill>
              </a:rPr>
              <a:t>裁量的</a:t>
            </a:r>
          </a:p>
          <a:p>
            <a:pPr algn="ctr"/>
            <a:r>
              <a:rPr sz="1100" b="1">
                <a:solidFill>
                  <a:srgbClr val="FFFFFF"/>
                </a:solidFill>
              </a:rPr>
              <a:t>な時間</a:t>
            </a:r>
          </a:p>
        </p:txBody>
      </p:sp>
      <p:sp>
        <p:nvSpPr>
          <p:cNvPr id="11" name="TextBox 10"/>
          <p:cNvSpPr txBox="1"/>
          <p:nvPr/>
        </p:nvSpPr>
        <p:spPr>
          <a:xfrm>
            <a:off x="1874519" y="4114800"/>
            <a:ext cx="3657600" cy="320040"/>
          </a:xfrm>
          <a:prstGeom prst="rect">
            <a:avLst/>
          </a:prstGeom>
          <a:noFill/>
        </p:spPr>
        <p:txBody>
          <a:bodyPr wrap="square" lIns="0" rIns="0" tIns="0" bIns="0" anchor="ctr">
            <a:spAutoFit/>
          </a:bodyPr>
          <a:lstStyle/>
          <a:p>
            <a:pPr algn="r"/>
            <a:r>
              <a:rPr sz="1200" b="1">
                <a:solidFill>
                  <a:srgbClr val="D9702C"/>
                </a:solidFill>
              </a:rPr>
              <a:t>↑ 生み出した時間を充てる</a:t>
            </a:r>
          </a:p>
        </p:txBody>
      </p:sp>
      <p:sp>
        <p:nvSpPr>
          <p:cNvPr id="12" name="Rounded Rectangle 11"/>
          <p:cNvSpPr/>
          <p:nvPr/>
        </p:nvSpPr>
        <p:spPr>
          <a:xfrm>
            <a:off x="822959" y="4617720"/>
            <a:ext cx="470916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617720"/>
            <a:ext cx="4343400" cy="1234440"/>
          </a:xfrm>
          <a:prstGeom prst="rect">
            <a:avLst/>
          </a:prstGeom>
          <a:noFill/>
        </p:spPr>
        <p:txBody>
          <a:bodyPr wrap="square" lIns="0" rIns="0" tIns="0" bIns="0" anchor="ctr">
            <a:spAutoFit/>
          </a:bodyPr>
          <a:lstStyle/>
          <a:p>
            <a:pPr algn="l"/>
            <a:r>
              <a:rPr sz="1500" b="1">
                <a:solidFill>
                  <a:srgbClr val="D9702C"/>
                </a:solidFill>
              </a:rPr>
              <a:t>裁量的な時間</a:t>
            </a:r>
          </a:p>
          <a:p>
            <a:pPr algn="l"/>
            <a:r>
              <a:rPr sz="1300" b="0">
                <a:solidFill>
                  <a:srgbClr val="1E2B27"/>
                </a:solidFill>
              </a:rPr>
              <a:t>子供の個性や特性に応じた学びに充てる。質を担保するため、組織的・計画的な取組が求められる</a:t>
            </a:r>
          </a:p>
        </p:txBody>
      </p:sp>
      <p:sp>
        <p:nvSpPr>
          <p:cNvPr id="14" name="TextBox 13"/>
          <p:cNvSpPr txBox="1"/>
          <p:nvPr/>
        </p:nvSpPr>
        <p:spPr>
          <a:xfrm>
            <a:off x="6126479" y="1508760"/>
            <a:ext cx="5516575" cy="411480"/>
          </a:xfrm>
          <a:prstGeom prst="rect">
            <a:avLst/>
          </a:prstGeom>
          <a:noFill/>
        </p:spPr>
        <p:txBody>
          <a:bodyPr wrap="square" lIns="0" rIns="0" tIns="0" bIns="0" anchor="ctr">
            <a:spAutoFit/>
          </a:bodyPr>
          <a:lstStyle/>
          <a:p>
            <a:pPr algn="l"/>
            <a:r>
              <a:rPr sz="1600" b="1">
                <a:solidFill>
                  <a:srgbClr val="D9702C"/>
                </a:solidFill>
              </a:rPr>
              <a:t>学校から相談されたら、一緒に確かめたい４つのこと</a:t>
            </a:r>
          </a:p>
        </p:txBody>
      </p:sp>
      <p:sp>
        <p:nvSpPr>
          <p:cNvPr id="15" name="Rounded Rectangle 14"/>
          <p:cNvSpPr/>
          <p:nvPr/>
        </p:nvSpPr>
        <p:spPr>
          <a:xfrm>
            <a:off x="6126479" y="2057400"/>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09359" y="2227707"/>
            <a:ext cx="548640" cy="54864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1</a:t>
            </a:r>
          </a:p>
        </p:txBody>
      </p:sp>
      <p:sp>
        <p:nvSpPr>
          <p:cNvPr id="17" name="TextBox 16"/>
          <p:cNvSpPr txBox="1"/>
          <p:nvPr/>
        </p:nvSpPr>
        <p:spPr>
          <a:xfrm>
            <a:off x="7040879" y="2057400"/>
            <a:ext cx="1188720" cy="889254"/>
          </a:xfrm>
          <a:prstGeom prst="rect">
            <a:avLst/>
          </a:prstGeom>
          <a:noFill/>
        </p:spPr>
        <p:txBody>
          <a:bodyPr wrap="square" lIns="0" rIns="0" tIns="0" bIns="0" anchor="ctr">
            <a:spAutoFit/>
          </a:bodyPr>
          <a:lstStyle/>
          <a:p>
            <a:pPr algn="l"/>
            <a:r>
              <a:rPr sz="1600" b="1">
                <a:solidFill>
                  <a:srgbClr val="1F5A47"/>
                </a:solidFill>
              </a:rPr>
              <a:t>目的</a:t>
            </a:r>
          </a:p>
        </p:txBody>
      </p:sp>
      <p:sp>
        <p:nvSpPr>
          <p:cNvPr id="18" name="TextBox 17"/>
          <p:cNvSpPr txBox="1"/>
          <p:nvPr/>
        </p:nvSpPr>
        <p:spPr>
          <a:xfrm>
            <a:off x="8275319" y="2057400"/>
            <a:ext cx="3184855" cy="889254"/>
          </a:xfrm>
          <a:prstGeom prst="rect">
            <a:avLst/>
          </a:prstGeom>
          <a:noFill/>
        </p:spPr>
        <p:txBody>
          <a:bodyPr wrap="square" lIns="0" rIns="0" tIns="0" bIns="0" anchor="ctr">
            <a:spAutoFit/>
          </a:bodyPr>
          <a:lstStyle/>
          <a:p>
            <a:pPr algn="l"/>
            <a:r>
              <a:rPr sz="1300" b="0">
                <a:solidFill>
                  <a:srgbClr val="1E2B27"/>
                </a:solidFill>
              </a:rPr>
              <a:t>何のために時間を生み出すのか。目指す子供の姿から考える</a:t>
            </a:r>
          </a:p>
        </p:txBody>
      </p:sp>
      <p:sp>
        <p:nvSpPr>
          <p:cNvPr id="19" name="Rounded Rectangle 18"/>
          <p:cNvSpPr/>
          <p:nvPr/>
        </p:nvSpPr>
        <p:spPr>
          <a:xfrm>
            <a:off x="6126479" y="3102102"/>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9359" y="3272409"/>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2</a:t>
            </a:r>
          </a:p>
        </p:txBody>
      </p:sp>
      <p:sp>
        <p:nvSpPr>
          <p:cNvPr id="21" name="TextBox 20"/>
          <p:cNvSpPr txBox="1"/>
          <p:nvPr/>
        </p:nvSpPr>
        <p:spPr>
          <a:xfrm>
            <a:off x="7040879" y="3102102"/>
            <a:ext cx="1188720" cy="889254"/>
          </a:xfrm>
          <a:prstGeom prst="rect">
            <a:avLst/>
          </a:prstGeom>
          <a:noFill/>
        </p:spPr>
        <p:txBody>
          <a:bodyPr wrap="square" lIns="0" rIns="0" tIns="0" bIns="0" anchor="ctr">
            <a:spAutoFit/>
          </a:bodyPr>
          <a:lstStyle/>
          <a:p>
            <a:pPr algn="l"/>
            <a:r>
              <a:rPr sz="1600" b="1">
                <a:solidFill>
                  <a:srgbClr val="1F5A47"/>
                </a:solidFill>
              </a:rPr>
              <a:t>教育課程</a:t>
            </a:r>
          </a:p>
        </p:txBody>
      </p:sp>
      <p:sp>
        <p:nvSpPr>
          <p:cNvPr id="22" name="TextBox 21"/>
          <p:cNvSpPr txBox="1"/>
          <p:nvPr/>
        </p:nvSpPr>
        <p:spPr>
          <a:xfrm>
            <a:off x="8275319" y="3102102"/>
            <a:ext cx="3184855" cy="889254"/>
          </a:xfrm>
          <a:prstGeom prst="rect">
            <a:avLst/>
          </a:prstGeom>
          <a:noFill/>
        </p:spPr>
        <p:txBody>
          <a:bodyPr wrap="square" lIns="0" rIns="0" tIns="0" bIns="0" anchor="ctr">
            <a:spAutoFit/>
          </a:bodyPr>
          <a:lstStyle/>
          <a:p>
            <a:pPr algn="l"/>
            <a:r>
              <a:rPr sz="1300" b="0">
                <a:solidFill>
                  <a:srgbClr val="1E2B27"/>
                </a:solidFill>
              </a:rPr>
              <a:t>どの教科・単元をどう精選するか。カリキュラム全体で見る</a:t>
            </a:r>
          </a:p>
        </p:txBody>
      </p:sp>
      <p:sp>
        <p:nvSpPr>
          <p:cNvPr id="23" name="Rounded Rectangle 22"/>
          <p:cNvSpPr/>
          <p:nvPr/>
        </p:nvSpPr>
        <p:spPr>
          <a:xfrm>
            <a:off x="6126479" y="4146804"/>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09359" y="4317111"/>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3</a:t>
            </a:r>
          </a:p>
        </p:txBody>
      </p:sp>
      <p:sp>
        <p:nvSpPr>
          <p:cNvPr id="25" name="TextBox 24"/>
          <p:cNvSpPr txBox="1"/>
          <p:nvPr/>
        </p:nvSpPr>
        <p:spPr>
          <a:xfrm>
            <a:off x="7040879" y="4146804"/>
            <a:ext cx="1188720" cy="889254"/>
          </a:xfrm>
          <a:prstGeom prst="rect">
            <a:avLst/>
          </a:prstGeom>
          <a:noFill/>
        </p:spPr>
        <p:txBody>
          <a:bodyPr wrap="square" lIns="0" rIns="0" tIns="0" bIns="0" anchor="ctr">
            <a:spAutoFit/>
          </a:bodyPr>
          <a:lstStyle/>
          <a:p>
            <a:pPr algn="l"/>
            <a:r>
              <a:rPr sz="1600" b="1">
                <a:solidFill>
                  <a:srgbClr val="1F5A47"/>
                </a:solidFill>
              </a:rPr>
              <a:t>時間の中身</a:t>
            </a:r>
          </a:p>
        </p:txBody>
      </p:sp>
      <p:sp>
        <p:nvSpPr>
          <p:cNvPr id="26" name="TextBox 25"/>
          <p:cNvSpPr txBox="1"/>
          <p:nvPr/>
        </p:nvSpPr>
        <p:spPr>
          <a:xfrm>
            <a:off x="8275319" y="4146804"/>
            <a:ext cx="3184855" cy="889254"/>
          </a:xfrm>
          <a:prstGeom prst="rect">
            <a:avLst/>
          </a:prstGeom>
          <a:noFill/>
        </p:spPr>
        <p:txBody>
          <a:bodyPr wrap="square" lIns="0" rIns="0" tIns="0" bIns="0" anchor="ctr">
            <a:spAutoFit/>
          </a:bodyPr>
          <a:lstStyle/>
          <a:p>
            <a:pPr algn="l"/>
            <a:r>
              <a:rPr sz="1300" b="0">
                <a:solidFill>
                  <a:srgbClr val="1E2B27"/>
                </a:solidFill>
              </a:rPr>
              <a:t>生み出した時間で何をするか（例：天童中部小のFSP）</a:t>
            </a:r>
          </a:p>
        </p:txBody>
      </p:sp>
      <p:sp>
        <p:nvSpPr>
          <p:cNvPr id="27" name="Rounded Rectangle 26"/>
          <p:cNvSpPr/>
          <p:nvPr/>
        </p:nvSpPr>
        <p:spPr>
          <a:xfrm>
            <a:off x="6126479" y="5191506"/>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9359" y="5361813"/>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4</a:t>
            </a:r>
          </a:p>
        </p:txBody>
      </p:sp>
      <p:sp>
        <p:nvSpPr>
          <p:cNvPr id="29" name="TextBox 28"/>
          <p:cNvSpPr txBox="1"/>
          <p:nvPr/>
        </p:nvSpPr>
        <p:spPr>
          <a:xfrm>
            <a:off x="7040879" y="5191506"/>
            <a:ext cx="1188720" cy="889254"/>
          </a:xfrm>
          <a:prstGeom prst="rect">
            <a:avLst/>
          </a:prstGeom>
          <a:noFill/>
        </p:spPr>
        <p:txBody>
          <a:bodyPr wrap="square" lIns="0" rIns="0" tIns="0" bIns="0" anchor="ctr">
            <a:spAutoFit/>
          </a:bodyPr>
          <a:lstStyle/>
          <a:p>
            <a:pPr algn="l"/>
            <a:r>
              <a:rPr sz="1600" b="1">
                <a:solidFill>
                  <a:srgbClr val="1F5A47"/>
                </a:solidFill>
              </a:rPr>
              <a:t>説明と体制</a:t>
            </a:r>
          </a:p>
        </p:txBody>
      </p:sp>
      <p:sp>
        <p:nvSpPr>
          <p:cNvPr id="30" name="TextBox 29"/>
          <p:cNvSpPr txBox="1"/>
          <p:nvPr/>
        </p:nvSpPr>
        <p:spPr>
          <a:xfrm>
            <a:off x="8275319" y="5191506"/>
            <a:ext cx="3184855" cy="889254"/>
          </a:xfrm>
          <a:prstGeom prst="rect">
            <a:avLst/>
          </a:prstGeom>
          <a:noFill/>
        </p:spPr>
        <p:txBody>
          <a:bodyPr wrap="square" lIns="0" rIns="0" tIns="0" bIns="0" anchor="ctr">
            <a:spAutoFit/>
          </a:bodyPr>
          <a:lstStyle/>
          <a:p>
            <a:pPr algn="l"/>
            <a:r>
              <a:rPr sz="1300" b="0">
                <a:solidFill>
                  <a:srgbClr val="1E2B27"/>
                </a:solidFill>
              </a:rPr>
              <a:t>保護者・地域への説明、教師の負担、組織での推進</a:t>
            </a:r>
          </a:p>
        </p:txBody>
      </p:sp>
      <p:sp>
        <p:nvSpPr>
          <p:cNvPr id="31" name="TextBox 30"/>
          <p:cNvSpPr txBox="1"/>
          <p:nvPr/>
        </p:nvSpPr>
        <p:spPr>
          <a:xfrm>
            <a:off x="548640" y="6144768"/>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　※名称・詳細は答申・告示で確定する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