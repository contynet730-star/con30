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
  </p:notesMasterIdLst>
  <p:handoutMasterIdLst>
    <p:handoutMasterId r:id="rId9"/>
  </p:handoutMasterIdLst>
  <p:sldIdLst>
    <p:sldId id="256" r:id="rId2"/>
    <p:sldId id="263" r:id="rId3"/>
    <p:sldId id="258" r:id="rId4"/>
    <p:sldId id="265" r:id="rId5"/>
    <p:sldId id="266" r:id="rId6"/>
    <p:sldId id="257" r:id="rId7"/>
  </p:sldIdLst>
  <p:sldSz cx="12192000" cy="6858000"/>
  <p:notesSz cx="6737350" cy="986948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8761" autoAdjust="0"/>
  </p:normalViewPr>
  <p:slideViewPr>
    <p:cSldViewPr snapToGrid="0">
      <p:cViewPr varScale="1">
        <p:scale>
          <a:sx n="76" d="100"/>
          <a:sy n="76" d="100"/>
        </p:scale>
        <p:origin x="1914"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handoutMaster" Target="handoutMasters/handout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19518" cy="495189"/>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sz="quarter" idx="1"/>
          </p:nvPr>
        </p:nvSpPr>
        <p:spPr>
          <a:xfrm>
            <a:off x="3816273" y="0"/>
            <a:ext cx="2919518" cy="495189"/>
          </a:xfrm>
          <a:prstGeom prst="rect">
            <a:avLst/>
          </a:prstGeom>
        </p:spPr>
        <p:txBody>
          <a:bodyPr vert="horz" lIns="91440" tIns="45720" rIns="91440" bIns="45720" rtlCol="0"/>
          <a:lstStyle>
            <a:lvl1pPr algn="r">
              <a:defRPr sz="1200"/>
            </a:lvl1pPr>
          </a:lstStyle>
          <a:p>
            <a:fld id="{7D50F491-2DDE-4D3B-B7DE-F1FE2A3F7A7E}" type="datetimeFigureOut">
              <a:rPr kumimoji="1" lang="ja-JP" altLang="en-US" smtClean="0"/>
              <a:t>2026/9/16</a:t>
            </a:fld>
            <a:endParaRPr kumimoji="1" lang="ja-JP" altLang="en-US"/>
          </a:p>
        </p:txBody>
      </p:sp>
      <p:sp>
        <p:nvSpPr>
          <p:cNvPr id="4" name="フッター プレースホルダー 3"/>
          <p:cNvSpPr>
            <a:spLocks noGrp="1"/>
          </p:cNvSpPr>
          <p:nvPr>
            <p:ph type="ftr" sz="quarter" idx="2"/>
          </p:nvPr>
        </p:nvSpPr>
        <p:spPr>
          <a:xfrm>
            <a:off x="0" y="9374302"/>
            <a:ext cx="2919518" cy="495188"/>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16273" y="9374302"/>
            <a:ext cx="2919518" cy="495188"/>
          </a:xfrm>
          <a:prstGeom prst="rect">
            <a:avLst/>
          </a:prstGeom>
        </p:spPr>
        <p:txBody>
          <a:bodyPr vert="horz" lIns="91440" tIns="45720" rIns="91440" bIns="45720" rtlCol="0" anchor="b"/>
          <a:lstStyle>
            <a:lvl1pPr algn="r">
              <a:defRPr sz="1200"/>
            </a:lvl1pPr>
          </a:lstStyle>
          <a:p>
            <a:fld id="{4687EB70-15A2-4994-B7D3-FB0D61CD958B}" type="slidenum">
              <a:rPr kumimoji="1" lang="ja-JP" altLang="en-US" smtClean="0"/>
              <a:t>‹#›</a:t>
            </a:fld>
            <a:endParaRPr kumimoji="1" lang="ja-JP" altLang="en-US"/>
          </a:p>
        </p:txBody>
      </p:sp>
    </p:spTree>
    <p:extLst>
      <p:ext uri="{BB962C8B-B14F-4D97-AF65-F5344CB8AC3E}">
        <p14:creationId xmlns:p14="http://schemas.microsoft.com/office/powerpoint/2010/main" val="74036485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0"/>
            <a:ext cx="2919413" cy="495300"/>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16350" y="0"/>
            <a:ext cx="2919413" cy="495300"/>
          </a:xfrm>
          <a:prstGeom prst="rect">
            <a:avLst/>
          </a:prstGeom>
        </p:spPr>
        <p:txBody>
          <a:bodyPr vert="horz" lIns="91440" tIns="45720" rIns="91440" bIns="45720" rtlCol="0"/>
          <a:lstStyle>
            <a:lvl1pPr algn="r">
              <a:defRPr sz="1200"/>
            </a:lvl1pPr>
          </a:lstStyle>
          <a:p>
            <a:fld id="{AD3A583D-3F22-4DDF-8247-F1D4DE899A9E}" type="datetimeFigureOut">
              <a:rPr kumimoji="1" lang="ja-JP" altLang="en-US" smtClean="0"/>
              <a:t>2026/9/16</a:t>
            </a:fld>
            <a:endParaRPr kumimoji="1" lang="ja-JP" altLang="en-US"/>
          </a:p>
        </p:txBody>
      </p:sp>
      <p:sp>
        <p:nvSpPr>
          <p:cNvPr id="4" name="スライド イメージ プレースホルダー 3"/>
          <p:cNvSpPr>
            <a:spLocks noGrp="1" noRot="1" noChangeAspect="1"/>
          </p:cNvSpPr>
          <p:nvPr>
            <p:ph type="sldImg" idx="2"/>
          </p:nvPr>
        </p:nvSpPr>
        <p:spPr>
          <a:xfrm>
            <a:off x="406400" y="1231900"/>
            <a:ext cx="5924550" cy="333375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73101" y="4749800"/>
            <a:ext cx="5391150" cy="3886199"/>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374188"/>
            <a:ext cx="2919413" cy="495300"/>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16350" y="9374188"/>
            <a:ext cx="2919413" cy="495300"/>
          </a:xfrm>
          <a:prstGeom prst="rect">
            <a:avLst/>
          </a:prstGeom>
        </p:spPr>
        <p:txBody>
          <a:bodyPr vert="horz" lIns="91440" tIns="45720" rIns="91440" bIns="45720" rtlCol="0" anchor="b"/>
          <a:lstStyle>
            <a:lvl1pPr algn="r">
              <a:defRPr sz="1200"/>
            </a:lvl1pPr>
          </a:lstStyle>
          <a:p>
            <a:fld id="{D677B49A-121A-4192-B702-4BD00D39A90B}" type="slidenum">
              <a:rPr kumimoji="1" lang="ja-JP" altLang="en-US" smtClean="0"/>
              <a:t>‹#›</a:t>
            </a:fld>
            <a:endParaRPr kumimoji="1" lang="ja-JP" altLang="en-US"/>
          </a:p>
        </p:txBody>
      </p:sp>
    </p:spTree>
    <p:extLst>
      <p:ext uri="{BB962C8B-B14F-4D97-AF65-F5344CB8AC3E}">
        <p14:creationId xmlns:p14="http://schemas.microsoft.com/office/powerpoint/2010/main" val="24559906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皆様、こんにちは。教育指導課指導主事の紺多でございます。</a:t>
            </a:r>
          </a:p>
          <a:p>
            <a:r>
              <a:t>本日は、平野校長先生のご講話、そして分科会での協議・情報交換と、長時間にわたりありがとうございました。</a:t>
            </a:r>
          </a:p>
          <a:p>
            <a:r>
              <a:t>私からは、教務関係について３点、情報提供をさせていただきます。お手元に「令和８年度 第３回 教務園務担当者連絡会資料」と、資料１、資料２をご用意ください。あわせて画面共有でスライドもお示しいたします。</a:t>
            </a:r>
          </a:p>
          <a:p>
            <a:r>
              <a:t>なお、本日の内容は主に小・中学校に関するものですが、幼稚園の先生方におかれましても、幼保小連携の視点からご参考にしていただければ幸いです。</a:t>
            </a:r>
          </a:p>
        </p:txBody>
      </p:sp>
      <p:sp>
        <p:nvSpPr>
          <p:cNvPr id="4" name="スライド番号プレースホルダー 3"/>
          <p:cNvSpPr>
            <a:spLocks noGrp="1"/>
          </p:cNvSpPr>
          <p:nvPr>
            <p:ph type="sldNum" sz="quarter" idx="10"/>
          </p:nvPr>
        </p:nvSpPr>
        <p:spPr/>
        <p:txBody>
          <a:bodyPr/>
          <a:lstStyle/>
          <a:p>
            <a:fld id="{D677B49A-121A-4192-B702-4BD00D39A90B}" type="slidenum">
              <a:rPr kumimoji="1" lang="ja-JP" altLang="en-US" smtClean="0"/>
              <a:t>1</a:t>
            </a:fld>
            <a:endParaRPr kumimoji="1" lang="ja-JP" altLang="en-US"/>
          </a:p>
        </p:txBody>
      </p:sp>
    </p:spTree>
    <p:extLst>
      <p:ext uri="{BB962C8B-B14F-4D97-AF65-F5344CB8AC3E}">
        <p14:creationId xmlns:p14="http://schemas.microsoft.com/office/powerpoint/2010/main" val="36059803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はじめに、令和８年度　練馬区立学校における１学期の実施授業時数についてです。連絡会資料の「連絡事項１」の表をご覧ください。</a:t>
            </a:r>
          </a:p>
          <a:p>
            <a:r>
              <a:t>７月には、時数集計表のご提出にご協力いただき、ありがとうございました。集計作業を担ってくださった教務主任の先生方も多かったことと存じます。いただいたデータを集計し、１学期末時点での区立学校の学年ごとの平均・最高・最低の実施授業時数をまとめましたので、共有いたします。</a:t>
            </a:r>
          </a:p>
          <a:p>
            <a:r>
              <a:t>例えば小学校通常学級の第１学年では、平均282時間に対して、最高301時間、最低236時間と、学校によって幅がございます。</a:t>
            </a:r>
          </a:p>
          <a:p>
            <a:r>
              <a:t>この数値をもって、各学校の状況について何かを申し上げるものではございません。ただ、教育課程の管理を担っていただいている教務主任の先生方におかれましては、お時間のある時に、自校の各学年の時数とこの平均値を比較し、極端な増減がないかをご確認ください。極端な増減がある場合には、その理由を検証し、２学期以降の教育活動や、先ほどの分科会でも話題になりました次年度の教育課程の編成に生かしていただければと思います。</a:t>
            </a:r>
          </a:p>
          <a:p>
            <a:r>
              <a:t>あわせて、週ごとの指導計画、いわゆる週案についてです。１学期に教育指導課訪問で伺った学校では、先生方が作成されている週案を確認させていただいております。その際によくご指摘させていただくこととして、各教科等の「累計」欄の未記載がございます。累計は、標準時数の確保状況を把握する上で大切な情報です。教務主任の先生方からも、校内で累計欄の記載について声掛けをしていただきますよう、ご協力をお願いいたします。</a:t>
            </a:r>
          </a:p>
        </p:txBody>
      </p:sp>
      <p:sp>
        <p:nvSpPr>
          <p:cNvPr id="4" name="スライド番号プレースホルダー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677B49A-121A-4192-B702-4BD00D39A90B}" type="slidenum">
              <a:rPr kumimoji="1" lang="ja-JP" altLang="en-US" sz="1200" b="0" i="0" u="none" strike="noStrike" kern="1200" cap="none" spc="0" normalizeH="0" baseline="0" noProof="0" smtClean="0">
                <a:ln>
                  <a:noFill/>
                </a:ln>
                <a:solidFill>
                  <a:prstClr val="black"/>
                </a:solidFill>
                <a:effectLst/>
                <a:uLnTx/>
                <a:uFillTx/>
                <a:latin typeface="游ゴシック" panose="020F0502020204030204"/>
                <a:ea typeface="游ゴシック" panose="020B0400000000000000"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1" lang="ja-JP" altLang="en-US" sz="1200" b="0" i="0" u="none" strike="noStrike" kern="1200" cap="none" spc="0" normalizeH="0" baseline="0" noProof="0">
              <a:ln>
                <a:noFill/>
              </a:ln>
              <a:solidFill>
                <a:prstClr val="black"/>
              </a:solidFill>
              <a:effectLst/>
              <a:uLnTx/>
              <a:uFillTx/>
              <a:latin typeface="游ゴシック" panose="020F0502020204030204"/>
              <a:ea typeface="游ゴシック" panose="020B0400000000000000" pitchFamily="50" charset="-128"/>
              <a:cs typeface="+mn-cs"/>
            </a:endParaRPr>
          </a:p>
        </p:txBody>
      </p:sp>
    </p:spTree>
    <p:extLst>
      <p:ext uri="{BB962C8B-B14F-4D97-AF65-F5344CB8AC3E}">
        <p14:creationId xmlns:p14="http://schemas.microsoft.com/office/powerpoint/2010/main" val="26187635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次に、令和８年度全国学力・学習状況調査の結果および活用についてです。資料１をご覧ください。</a:t>
            </a:r>
          </a:p>
          <a:p>
            <a:r>
              <a:t>本調査は、４月23日に、区立小学校65校の第６学年、中学校33校の第３学年で実施いたしました。本調査の目的は、指導と評価の一体化を図り、各学校が自校の課題を把握した上で、授業改善や学習指導の改善につなげることにあります。</a:t>
            </a:r>
          </a:p>
          <a:p>
            <a:r>
              <a:t>スライド左側の表は、教科に関する調査の平均正答率です。黄色で示しているのが、東京都を上回っている数値です。今年度は、小学校国語が67％、算数が65％、中学校国語が69％、数学が64％と、いずれも東京都・全国を上回りました。</a:t>
            </a:r>
          </a:p>
          <a:p>
            <a:r>
              <a:t>中学校英語は、今年度からＩＲＴスコアで結果が示されており、練馬区は545、東京都は530、全国は499です。スライド右側の表のとおり、上位の段階であるバンド４とバンド５の生徒の割合を合わせると、練馬区は44.4％で、東京都の39.3％、全国の28.6％を上回っています。</a:t>
            </a:r>
          </a:p>
          <a:p>
            <a:r>
              <a:t>一方で、小学校・中学校ともに、算数・数学において、知識・技能を問う問題と比較して、思考力・判断力・表現力を問う問題の正答率が低い傾向が見られます。この傾向は練馬区に限ったものではありませんが、国語や英語と比べても、算数・数学における思考力・判断力・表現力の育成は重要な課題であると捉えております。各学校におかれましても、自校の結果をご確認いただき、校内で共有していただきたいと思います。</a:t>
            </a:r>
          </a:p>
        </p:txBody>
      </p:sp>
      <p:sp>
        <p:nvSpPr>
          <p:cNvPr id="4" name="スライド番号プレースホルダー 3"/>
          <p:cNvSpPr>
            <a:spLocks noGrp="1"/>
          </p:cNvSpPr>
          <p:nvPr>
            <p:ph type="sldNum" sz="quarter" idx="10"/>
          </p:nvPr>
        </p:nvSpPr>
        <p:spPr/>
        <p:txBody>
          <a:bodyPr/>
          <a:lstStyle/>
          <a:p>
            <a:fld id="{D677B49A-121A-4192-B702-4BD00D39A90B}" type="slidenum">
              <a:rPr kumimoji="1" lang="ja-JP" altLang="en-US" smtClean="0"/>
              <a:t>3</a:t>
            </a:fld>
            <a:endParaRPr kumimoji="1" lang="ja-JP" altLang="en-US"/>
          </a:p>
        </p:txBody>
      </p:sp>
    </p:spTree>
    <p:extLst>
      <p:ext uri="{BB962C8B-B14F-4D97-AF65-F5344CB8AC3E}">
        <p14:creationId xmlns:p14="http://schemas.microsoft.com/office/powerpoint/2010/main" val="141282150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続いて、質問調査の結果です。スライドは、「先生は、あなたのよいところを認めてくれていると思いますか」という質問の結果です。</a:t>
            </a:r>
          </a:p>
          <a:p>
            <a:r>
              <a:t>小学校は90.8％で東京都をわずかに上回っているものの全国を下回っており、中学校は89.1％で東京都・全国をともに下回っています。</a:t>
            </a:r>
          </a:p>
          <a:p>
            <a:r>
              <a:t>この結果からは、児童・生徒が「もっと認めてほしい」「もっと褒めてほしい」と感じている状況もうかがえます。自己肯定感や自己有用感を育む関わりや、児童・生徒が安心して相談できる環境づくりについて、改めて考える必要があることを示していると捉えております。</a:t>
            </a:r>
          </a:p>
        </p:txBody>
      </p:sp>
      <p:sp>
        <p:nvSpPr>
          <p:cNvPr id="4" name="スライド番号プレースホルダー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677B49A-121A-4192-B702-4BD00D39A90B}" type="slidenum">
              <a:rPr kumimoji="1" lang="ja-JP" altLang="en-US" sz="1200" b="0" i="0" u="none" strike="noStrike" kern="1200" cap="none" spc="0" normalizeH="0" baseline="0" noProof="0" smtClean="0">
                <a:ln>
                  <a:noFill/>
                </a:ln>
                <a:solidFill>
                  <a:prstClr val="black"/>
                </a:solidFill>
                <a:effectLst/>
                <a:uLnTx/>
                <a:uFillTx/>
                <a:latin typeface="游ゴシック" panose="020F0502020204030204"/>
                <a:ea typeface="游ゴシック" panose="020B0400000000000000"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1" lang="ja-JP" altLang="en-US" sz="1200" b="0" i="0" u="none" strike="noStrike" kern="1200" cap="none" spc="0" normalizeH="0" baseline="0" noProof="0">
              <a:ln>
                <a:noFill/>
              </a:ln>
              <a:solidFill>
                <a:prstClr val="black"/>
              </a:solidFill>
              <a:effectLst/>
              <a:uLnTx/>
              <a:uFillTx/>
              <a:latin typeface="游ゴシック" panose="020F0502020204030204"/>
              <a:ea typeface="游ゴシック" panose="020B0400000000000000" pitchFamily="50" charset="-128"/>
              <a:cs typeface="+mn-cs"/>
            </a:endParaRPr>
          </a:p>
        </p:txBody>
      </p:sp>
    </p:spTree>
    <p:extLst>
      <p:ext uri="{BB962C8B-B14F-4D97-AF65-F5344CB8AC3E}">
        <p14:creationId xmlns:p14="http://schemas.microsoft.com/office/powerpoint/2010/main" val="26829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427F6-6792-0E85-72F1-E415AAE83A8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D28CC28-F24B-C869-64B5-72B3F4A109F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6F821DD-190B-7AA5-D200-08D65232F359}"/>
              </a:ext>
            </a:extLst>
          </p:cNvPr>
          <p:cNvSpPr>
            <a:spLocks noGrp="1"/>
          </p:cNvSpPr>
          <p:nvPr>
            <p:ph type="body" idx="1"/>
          </p:nvPr>
        </p:nvSpPr>
        <p:spPr/>
        <p:txBody>
          <a:bodyPr/>
          <a:lstStyle/>
          <a:p>
            <a:r>
              <a:t>次のスライドです。「学校に行くのは楽しいと思いますか」では、小学校88.9％、中学校87.2％と、いずれも東京都・全国を上回っており、大変望ましい状況です。</a:t>
            </a:r>
          </a:p>
          <a:p>
            <a:r>
              <a:t>しかしその一方で、「困りごとや不安がある時に、先生や学校にいる大人にいつでも相談できますか」に肯定的に回答した児童・生徒の割合は、小学校69.0％、中学校68.1％と７割に達しておらず、東京都・全国も下回っています。区として重要な課題であると認識しております。</a:t>
            </a:r>
          </a:p>
          <a:p>
            <a:r>
              <a:t>さらに、「主体的・対話的で深い学び」の観点では、中学校において、生徒が自ら学びを進める授業への転換を一層進める必要があると考えております。児童・生徒の学習への興味・関心や理解度は概ね良好であることから、授業形態の工夫によって、さらなる学習成果の向上が期待できるものと捉えております。</a:t>
            </a:r>
          </a:p>
          <a:p>
            <a:r>
              <a:t>なお、資料１には児童・生徒質問調査の項目を一部抜粋して掲載しております。各学校においては、掲載項目だけでなく全ての質問項目について、自校の実態と区平均を比較しながら分析を進めていただきたいと考えております。全項目の区平均値は、全教職員が確認できるよう共有フォルダに格納しておりますので、ぜひご活用ください。</a:t>
            </a:r>
          </a:p>
        </p:txBody>
      </p:sp>
      <p:sp>
        <p:nvSpPr>
          <p:cNvPr id="4" name="スライド番号プレースホルダー 3">
            <a:extLst>
              <a:ext uri="{FF2B5EF4-FFF2-40B4-BE49-F238E27FC236}">
                <a16:creationId xmlns:a16="http://schemas.microsoft.com/office/drawing/2014/main" id="{8A2C98A4-BB43-49B6-AE9C-0FB18AB662C8}"/>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677B49A-121A-4192-B702-4BD00D39A90B}" type="slidenum">
              <a:rPr kumimoji="1" lang="ja-JP" altLang="en-US" sz="1200" b="0" i="0" u="none" strike="noStrike" kern="1200" cap="none" spc="0" normalizeH="0" baseline="0" noProof="0" smtClean="0">
                <a:ln>
                  <a:noFill/>
                </a:ln>
                <a:solidFill>
                  <a:prstClr val="black"/>
                </a:solidFill>
                <a:effectLst/>
                <a:uLnTx/>
                <a:uFillTx/>
                <a:latin typeface="游ゴシック" panose="020F0502020204030204"/>
                <a:ea typeface="游ゴシック" panose="020B0400000000000000"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1" lang="ja-JP" altLang="en-US" sz="1200" b="0" i="0" u="none" strike="noStrike" kern="1200" cap="none" spc="0" normalizeH="0" baseline="0" noProof="0">
              <a:ln>
                <a:noFill/>
              </a:ln>
              <a:solidFill>
                <a:prstClr val="black"/>
              </a:solidFill>
              <a:effectLst/>
              <a:uLnTx/>
              <a:uFillTx/>
              <a:latin typeface="游ゴシック" panose="020F0502020204030204"/>
              <a:ea typeface="游ゴシック" panose="020B0400000000000000" pitchFamily="50" charset="-128"/>
              <a:cs typeface="+mn-cs"/>
            </a:endParaRPr>
          </a:p>
        </p:txBody>
      </p:sp>
    </p:spTree>
    <p:extLst>
      <p:ext uri="{BB962C8B-B14F-4D97-AF65-F5344CB8AC3E}">
        <p14:creationId xmlns:p14="http://schemas.microsoft.com/office/powerpoint/2010/main" val="401359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最後に、授業改善推進プランについてです。資料２をご覧ください。</a:t>
            </a:r>
          </a:p>
          <a:p>
            <a:r>
              <a:t>練馬区では、毎年、児童・生徒の学力向上を図るための方策として、各学校に授業改善推進プランの作成を依頼しております。作成に当たっては、各教科等における児童・生徒の学習状況および教員の指導方法に関する課題分析を踏まえ、幼保小連携および小中一貫教育の推進の視点を含めた具体的な改善策と、その効果の検証方法をお示しください。先ほどご説明いたしました全国学力・学習状況調査等の結果を分析し、プランの作成にご活用ください。</a:t>
            </a:r>
          </a:p>
          <a:p>
            <a:r>
              <a:t>提出資料は、（１）に記載のとおり「課題分析と授業改善策」の１点です。各学校で作成した様式を使用していただいても構いません。作成に当たっては、別紙１『令和８年度「授業改善推進プラン」の作成に向けて』をご参照ください。</a:t>
            </a:r>
          </a:p>
          <a:p>
            <a:r>
              <a:t>提出期限は、令和８年９月30日（水）です。Ｃ４ｔｈ個人連絡にて、各学校の担当指導主事あてにご提出をお願いいたします。担当指導主事については、別紙２をご確認ください。</a:t>
            </a:r>
          </a:p>
          <a:p>
            <a:r>
              <a:t>提出後、担当指導主事が内容を確認し、必要に応じて修正のご依頼をいたします。修正を反映した完成版は、10月末までに各学校のホームページに掲載するようお願いいたします。ホームページへの掲載に当たっては、学力向上を図るための全体計画は必ず掲載をお願いいたします。課題分析と授業改善策の掲載については、学校の実情に応じてご判断ください。</a:t>
            </a:r>
          </a:p>
          <a:p>
            <a:r>
              <a:t>提出期限まで残りわずかとなっておりますが、教務主任の先生方を中心に、校内での取りまとめをどうぞよろしくお願いいたします。</a:t>
            </a:r>
          </a:p>
          <a:p>
            <a:r>
              <a:t>以上で、教育指導課からの情報提供を終わります。ご不明な点がございましたら、教育指導課　紺多までお問い合わせください。ありがとうございました。</a:t>
            </a:r>
          </a:p>
        </p:txBody>
      </p:sp>
      <p:sp>
        <p:nvSpPr>
          <p:cNvPr id="4" name="スライド番号プレースホルダー 3"/>
          <p:cNvSpPr>
            <a:spLocks noGrp="1"/>
          </p:cNvSpPr>
          <p:nvPr>
            <p:ph type="sldNum" sz="quarter" idx="10"/>
          </p:nvPr>
        </p:nvSpPr>
        <p:spPr/>
        <p:txBody>
          <a:bodyPr/>
          <a:lstStyle/>
          <a:p>
            <a:fld id="{D677B49A-121A-4192-B702-4BD00D39A90B}" type="slidenum">
              <a:rPr kumimoji="1" lang="ja-JP" altLang="en-US" smtClean="0"/>
              <a:t>6</a:t>
            </a:fld>
            <a:endParaRPr kumimoji="1" lang="ja-JP" altLang="en-US"/>
          </a:p>
        </p:txBody>
      </p:sp>
    </p:spTree>
    <p:extLst>
      <p:ext uri="{BB962C8B-B14F-4D97-AF65-F5344CB8AC3E}">
        <p14:creationId xmlns:p14="http://schemas.microsoft.com/office/powerpoint/2010/main" val="18749827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サブタイトル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p:cNvSpPr>
            <a:spLocks noGrp="1"/>
          </p:cNvSpPr>
          <p:nvPr>
            <p:ph type="dt" sz="half" idx="10"/>
          </p:nvPr>
        </p:nvSpPr>
        <p:spPr/>
        <p:txBody>
          <a:bodyPr/>
          <a:lstStyle/>
          <a:p>
            <a:fld id="{D1313400-A96F-4426-B9DB-243CF1BC5E5B}" type="datetimeFigureOut">
              <a:rPr kumimoji="1" lang="ja-JP" altLang="en-US" smtClean="0"/>
              <a:t>2026/9/16</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01EF25CA-2A39-4D12-B17C-F87BA59000A4}" type="slidenum">
              <a:rPr kumimoji="1" lang="ja-JP" altLang="en-US" smtClean="0"/>
              <a:t>‹#›</a:t>
            </a:fld>
            <a:endParaRPr kumimoji="1" lang="ja-JP" altLang="en-US"/>
          </a:p>
        </p:txBody>
      </p:sp>
    </p:spTree>
    <p:extLst>
      <p:ext uri="{BB962C8B-B14F-4D97-AF65-F5344CB8AC3E}">
        <p14:creationId xmlns:p14="http://schemas.microsoft.com/office/powerpoint/2010/main" val="24026250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D1313400-A96F-4426-B9DB-243CF1BC5E5B}" type="datetimeFigureOut">
              <a:rPr kumimoji="1" lang="ja-JP" altLang="en-US" smtClean="0"/>
              <a:t>2026/9/16</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01EF25CA-2A39-4D12-B17C-F87BA59000A4}" type="slidenum">
              <a:rPr kumimoji="1" lang="ja-JP" altLang="en-US" smtClean="0"/>
              <a:t>‹#›</a:t>
            </a:fld>
            <a:endParaRPr kumimoji="1" lang="ja-JP" altLang="en-US"/>
          </a:p>
        </p:txBody>
      </p:sp>
    </p:spTree>
    <p:extLst>
      <p:ext uri="{BB962C8B-B14F-4D97-AF65-F5344CB8AC3E}">
        <p14:creationId xmlns:p14="http://schemas.microsoft.com/office/powerpoint/2010/main" val="11387692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p:cNvSpPr>
            <a:spLocks noGrp="1"/>
          </p:cNvSpPr>
          <p:nvPr>
            <p:ph type="dt" sz="half" idx="10"/>
          </p:nvPr>
        </p:nvSpPr>
        <p:spPr/>
        <p:txBody>
          <a:bodyPr/>
          <a:lstStyle/>
          <a:p>
            <a:fld id="{D1313400-A96F-4426-B9DB-243CF1BC5E5B}" type="datetimeFigureOut">
              <a:rPr kumimoji="1" lang="ja-JP" altLang="en-US" smtClean="0"/>
              <a:t>2026/9/16</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01EF25CA-2A39-4D12-B17C-F87BA59000A4}" type="slidenum">
              <a:rPr kumimoji="1" lang="ja-JP" altLang="en-US" smtClean="0"/>
              <a:t>‹#›</a:t>
            </a:fld>
            <a:endParaRPr kumimoji="1" lang="ja-JP" altLang="en-US"/>
          </a:p>
        </p:txBody>
      </p:sp>
    </p:spTree>
    <p:extLst>
      <p:ext uri="{BB962C8B-B14F-4D97-AF65-F5344CB8AC3E}">
        <p14:creationId xmlns:p14="http://schemas.microsoft.com/office/powerpoint/2010/main" val="11041928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p:cNvSpPr>
            <a:spLocks noGrp="1"/>
          </p:cNvSpPr>
          <p:nvPr>
            <p:ph type="dt" sz="half" idx="10"/>
          </p:nvPr>
        </p:nvSpPr>
        <p:spPr/>
        <p:txBody>
          <a:bodyPr/>
          <a:lstStyle/>
          <a:p>
            <a:fld id="{D1313400-A96F-4426-B9DB-243CF1BC5E5B}" type="datetimeFigureOut">
              <a:rPr kumimoji="1" lang="ja-JP" altLang="en-US" smtClean="0"/>
              <a:t>2026/9/16</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01EF25CA-2A39-4D12-B17C-F87BA59000A4}" type="slidenum">
              <a:rPr kumimoji="1" lang="ja-JP" altLang="en-US" smtClean="0"/>
              <a:t>‹#›</a:t>
            </a:fld>
            <a:endParaRPr kumimoji="1" lang="ja-JP" altLang="en-US"/>
          </a:p>
        </p:txBody>
      </p:sp>
    </p:spTree>
    <p:extLst>
      <p:ext uri="{BB962C8B-B14F-4D97-AF65-F5344CB8AC3E}">
        <p14:creationId xmlns:p14="http://schemas.microsoft.com/office/powerpoint/2010/main" val="24093429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p:cNvSpPr>
            <a:spLocks noGrp="1"/>
          </p:cNvSpPr>
          <p:nvPr>
            <p:ph type="dt" sz="half" idx="10"/>
          </p:nvPr>
        </p:nvSpPr>
        <p:spPr/>
        <p:txBody>
          <a:bodyPr/>
          <a:lstStyle/>
          <a:p>
            <a:fld id="{D1313400-A96F-4426-B9DB-243CF1BC5E5B}" type="datetimeFigureOut">
              <a:rPr kumimoji="1" lang="ja-JP" altLang="en-US" smtClean="0"/>
              <a:t>2026/9/16</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01EF25CA-2A39-4D12-B17C-F87BA59000A4}" type="slidenum">
              <a:rPr kumimoji="1" lang="ja-JP" altLang="en-US" smtClean="0"/>
              <a:t>‹#›</a:t>
            </a:fld>
            <a:endParaRPr kumimoji="1" lang="ja-JP" altLang="en-US"/>
          </a:p>
        </p:txBody>
      </p:sp>
    </p:spTree>
    <p:extLst>
      <p:ext uri="{BB962C8B-B14F-4D97-AF65-F5344CB8AC3E}">
        <p14:creationId xmlns:p14="http://schemas.microsoft.com/office/powerpoint/2010/main" val="2807978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日付プレースホルダー 2"/>
          <p:cNvSpPr>
            <a:spLocks noGrp="1"/>
          </p:cNvSpPr>
          <p:nvPr>
            <p:ph type="dt" sz="half" idx="10"/>
          </p:nvPr>
        </p:nvSpPr>
        <p:spPr/>
        <p:txBody>
          <a:bodyPr/>
          <a:lstStyle/>
          <a:p>
            <a:fld id="{D1313400-A96F-4426-B9DB-243CF1BC5E5B}" type="datetimeFigureOut">
              <a:rPr kumimoji="1" lang="ja-JP" altLang="en-US" smtClean="0"/>
              <a:t>2026/9/16</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01EF25CA-2A39-4D12-B17C-F87BA59000A4}" type="slidenum">
              <a:rPr kumimoji="1" lang="ja-JP" altLang="en-US" smtClean="0"/>
              <a:t>‹#›</a:t>
            </a:fld>
            <a:endParaRPr kumimoji="1" lang="ja-JP" altLang="en-US"/>
          </a:p>
        </p:txBody>
      </p:sp>
    </p:spTree>
    <p:extLst>
      <p:ext uri="{BB962C8B-B14F-4D97-AF65-F5344CB8AC3E}">
        <p14:creationId xmlns:p14="http://schemas.microsoft.com/office/powerpoint/2010/main" val="31942686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D1313400-A96F-4426-B9DB-243CF1BC5E5B}" type="datetimeFigureOut">
              <a:rPr kumimoji="1" lang="ja-JP" altLang="en-US" smtClean="0"/>
              <a:t>2026/9/16</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01EF25CA-2A39-4D12-B17C-F87BA59000A4}" type="slidenum">
              <a:rPr kumimoji="1" lang="ja-JP" altLang="en-US" smtClean="0"/>
              <a:t>‹#›</a:t>
            </a:fld>
            <a:endParaRPr kumimoji="1" lang="ja-JP" altLang="en-US"/>
          </a:p>
        </p:txBody>
      </p:sp>
    </p:spTree>
    <p:extLst>
      <p:ext uri="{BB962C8B-B14F-4D97-AF65-F5344CB8AC3E}">
        <p14:creationId xmlns:p14="http://schemas.microsoft.com/office/powerpoint/2010/main" val="11391735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D1313400-A96F-4426-B9DB-243CF1BC5E5B}" type="datetimeFigureOut">
              <a:rPr kumimoji="1" lang="ja-JP" altLang="en-US" smtClean="0"/>
              <a:t>2026/9/16</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01EF25CA-2A39-4D12-B17C-F87BA59000A4}" type="slidenum">
              <a:rPr kumimoji="1" lang="ja-JP" altLang="en-US" smtClean="0"/>
              <a:t>‹#›</a:t>
            </a:fld>
            <a:endParaRPr kumimoji="1" lang="ja-JP" altLang="en-US"/>
          </a:p>
        </p:txBody>
      </p:sp>
    </p:spTree>
    <p:extLst>
      <p:ext uri="{BB962C8B-B14F-4D97-AF65-F5344CB8AC3E}">
        <p14:creationId xmlns:p14="http://schemas.microsoft.com/office/powerpoint/2010/main" val="18528327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D1313400-A96F-4426-B9DB-243CF1BC5E5B}" type="datetimeFigureOut">
              <a:rPr kumimoji="1" lang="ja-JP" altLang="en-US" smtClean="0"/>
              <a:t>2026/9/16</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01EF25CA-2A39-4D12-B17C-F87BA59000A4}" type="slidenum">
              <a:rPr kumimoji="1" lang="ja-JP" altLang="en-US" smtClean="0"/>
              <a:t>‹#›</a:t>
            </a:fld>
            <a:endParaRPr kumimoji="1" lang="ja-JP" altLang="en-US"/>
          </a:p>
        </p:txBody>
      </p:sp>
    </p:spTree>
    <p:extLst>
      <p:ext uri="{BB962C8B-B14F-4D97-AF65-F5344CB8AC3E}">
        <p14:creationId xmlns:p14="http://schemas.microsoft.com/office/powerpoint/2010/main" val="37512310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D1313400-A96F-4426-B9DB-243CF1BC5E5B}" type="datetimeFigureOut">
              <a:rPr kumimoji="1" lang="ja-JP" altLang="en-US" smtClean="0"/>
              <a:t>2026/9/16</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01EF25CA-2A39-4D12-B17C-F87BA59000A4}" type="slidenum">
              <a:rPr kumimoji="1" lang="ja-JP" altLang="en-US" smtClean="0"/>
              <a:t>‹#›</a:t>
            </a:fld>
            <a:endParaRPr kumimoji="1" lang="ja-JP" altLang="en-US"/>
          </a:p>
        </p:txBody>
      </p:sp>
    </p:spTree>
    <p:extLst>
      <p:ext uri="{BB962C8B-B14F-4D97-AF65-F5344CB8AC3E}">
        <p14:creationId xmlns:p14="http://schemas.microsoft.com/office/powerpoint/2010/main" val="25799735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D1313400-A96F-4426-B9DB-243CF1BC5E5B}" type="datetimeFigureOut">
              <a:rPr kumimoji="1" lang="ja-JP" altLang="en-US" smtClean="0"/>
              <a:t>2026/9/16</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01EF25CA-2A39-4D12-B17C-F87BA59000A4}" type="slidenum">
              <a:rPr kumimoji="1" lang="ja-JP" altLang="en-US" smtClean="0"/>
              <a:t>‹#›</a:t>
            </a:fld>
            <a:endParaRPr kumimoji="1" lang="ja-JP" altLang="en-US"/>
          </a:p>
        </p:txBody>
      </p:sp>
    </p:spTree>
    <p:extLst>
      <p:ext uri="{BB962C8B-B14F-4D97-AF65-F5344CB8AC3E}">
        <p14:creationId xmlns:p14="http://schemas.microsoft.com/office/powerpoint/2010/main" val="79127761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4">
                <a:lumMod val="40000"/>
                <a:lumOff val="60000"/>
              </a:schemeClr>
            </a:gs>
            <a:gs pos="83000">
              <a:schemeClr val="accent4">
                <a:lumMod val="40000"/>
                <a:lumOff val="60000"/>
              </a:schemeClr>
            </a:gs>
            <a:gs pos="100000">
              <a:schemeClr val="accent4">
                <a:lumMod val="40000"/>
                <a:lumOff val="60000"/>
              </a:schemeClr>
            </a:gs>
          </a:gsLst>
          <a:lin ang="13500000" scaled="1"/>
          <a:tileRect/>
        </a:gradFill>
        <a:effectLst/>
      </p:bgPr>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1313400-A96F-4426-B9DB-243CF1BC5E5B}" type="datetimeFigureOut">
              <a:rPr kumimoji="1" lang="ja-JP" altLang="en-US" smtClean="0"/>
              <a:t>2026/9/16</a:t>
            </a:fld>
            <a:endParaRPr kumimoji="1" lang="ja-JP" altLang="en-US"/>
          </a:p>
        </p:txBody>
      </p:sp>
      <p:sp>
        <p:nvSpPr>
          <p:cNvPr id="5" name="フッター プレースホルダー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1EF25CA-2A39-4D12-B17C-F87BA59000A4}" type="slidenum">
              <a:rPr kumimoji="1" lang="ja-JP" altLang="en-US" smtClean="0"/>
              <a:t>‹#›</a:t>
            </a:fld>
            <a:endParaRPr kumimoji="1" lang="ja-JP" altLang="en-US"/>
          </a:p>
        </p:txBody>
      </p:sp>
    </p:spTree>
    <p:extLst>
      <p:ext uri="{BB962C8B-B14F-4D97-AF65-F5344CB8AC3E}">
        <p14:creationId xmlns:p14="http://schemas.microsoft.com/office/powerpoint/2010/main" val="1197483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233082" y="1470211"/>
            <a:ext cx="11513090" cy="1861261"/>
          </a:xfrm>
          <a:solidFill>
            <a:srgbClr val="002060"/>
          </a:solidFill>
        </p:spPr>
        <p:txBody>
          <a:bodyPr>
            <a:normAutofit/>
          </a:bodyPr>
          <a:lstStyle/>
          <a:p>
            <a:r>
              <a:rPr kumimoji="1" lang="ja-JP" altLang="en-US" dirty="0">
                <a:solidFill>
                  <a:schemeClr val="bg1"/>
                </a:solidFill>
                <a:latin typeface="ＭＳ ゴシック" panose="020B0609070205080204" pitchFamily="49" charset="-128"/>
                <a:ea typeface="ＭＳ ゴシック" panose="020B0609070205080204" pitchFamily="49" charset="-128"/>
              </a:rPr>
              <a:t>令和８年度</a:t>
            </a:r>
            <a:r>
              <a:rPr lang="ja-JP" altLang="en-US" dirty="0">
                <a:solidFill>
                  <a:schemeClr val="bg1"/>
                </a:solidFill>
                <a:latin typeface="ＭＳ ゴシック" panose="020B0609070205080204" pitchFamily="49" charset="-128"/>
                <a:ea typeface="ＭＳ ゴシック" panose="020B0609070205080204" pitchFamily="49" charset="-128"/>
              </a:rPr>
              <a:t>９</a:t>
            </a:r>
            <a:r>
              <a:rPr kumimoji="1" lang="ja-JP" altLang="en-US" dirty="0">
                <a:solidFill>
                  <a:schemeClr val="bg1"/>
                </a:solidFill>
                <a:latin typeface="ＭＳ ゴシック" panose="020B0609070205080204" pitchFamily="49" charset="-128"/>
                <a:ea typeface="ＭＳ ゴシック" panose="020B0609070205080204" pitchFamily="49" charset="-128"/>
              </a:rPr>
              <a:t>月</a:t>
            </a:r>
            <a:br>
              <a:rPr kumimoji="1" lang="en-US" altLang="ja-JP" dirty="0">
                <a:solidFill>
                  <a:schemeClr val="bg1"/>
                </a:solidFill>
                <a:latin typeface="ＭＳ ゴシック" panose="020B0609070205080204" pitchFamily="49" charset="-128"/>
                <a:ea typeface="ＭＳ ゴシック" panose="020B0609070205080204" pitchFamily="49" charset="-128"/>
              </a:rPr>
            </a:br>
            <a:r>
              <a:rPr kumimoji="1" lang="ja-JP" altLang="en-US" dirty="0">
                <a:solidFill>
                  <a:schemeClr val="bg1"/>
                </a:solidFill>
                <a:latin typeface="ＭＳ ゴシック" panose="020B0609070205080204" pitchFamily="49" charset="-128"/>
                <a:ea typeface="ＭＳ ゴシック" panose="020B0609070205080204" pitchFamily="49" charset="-128"/>
              </a:rPr>
              <a:t>教務園務担当者連絡会</a:t>
            </a:r>
          </a:p>
        </p:txBody>
      </p:sp>
      <p:sp>
        <p:nvSpPr>
          <p:cNvPr id="3" name="サブタイトル 2"/>
          <p:cNvSpPr>
            <a:spLocks noGrp="1"/>
          </p:cNvSpPr>
          <p:nvPr>
            <p:ph type="subTitle" idx="1"/>
          </p:nvPr>
        </p:nvSpPr>
        <p:spPr>
          <a:xfrm>
            <a:off x="6123295" y="4954139"/>
            <a:ext cx="5622877" cy="777922"/>
          </a:xfrm>
        </p:spPr>
        <p:txBody>
          <a:bodyPr>
            <a:noAutofit/>
          </a:bodyPr>
          <a:lstStyle/>
          <a:p>
            <a:r>
              <a:rPr kumimoji="1" lang="ja-JP" altLang="en-US" sz="3600" dirty="0">
                <a:latin typeface="ＭＳ ゴシック" panose="020B0609070205080204" pitchFamily="49" charset="-128"/>
                <a:ea typeface="ＭＳ ゴシック" panose="020B0609070205080204" pitchFamily="49" charset="-128"/>
              </a:rPr>
              <a:t>令和８年９月</a:t>
            </a:r>
            <a:r>
              <a:rPr kumimoji="1" lang="en-US" altLang="ja-JP" sz="3600" dirty="0">
                <a:latin typeface="ＭＳ ゴシック" panose="020B0609070205080204" pitchFamily="49" charset="-128"/>
                <a:ea typeface="ＭＳ ゴシック" panose="020B0609070205080204" pitchFamily="49" charset="-128"/>
              </a:rPr>
              <a:t>24</a:t>
            </a:r>
            <a:r>
              <a:rPr kumimoji="1" lang="ja-JP" altLang="en-US" sz="3600" dirty="0">
                <a:latin typeface="ＭＳ ゴシック" panose="020B0609070205080204" pitchFamily="49" charset="-128"/>
                <a:ea typeface="ＭＳ ゴシック" panose="020B0609070205080204" pitchFamily="49" charset="-128"/>
              </a:rPr>
              <a:t>日（</a:t>
            </a:r>
            <a:r>
              <a:rPr lang="ja-JP" altLang="en-US" sz="3600" dirty="0">
                <a:latin typeface="ＭＳ ゴシック" panose="020B0609070205080204" pitchFamily="49" charset="-128"/>
                <a:ea typeface="ＭＳ ゴシック" panose="020B0609070205080204" pitchFamily="49" charset="-128"/>
              </a:rPr>
              <a:t>木</a:t>
            </a:r>
            <a:r>
              <a:rPr kumimoji="1" lang="ja-JP" altLang="en-US" sz="3600" dirty="0">
                <a:latin typeface="ＭＳ ゴシック" panose="020B0609070205080204" pitchFamily="49" charset="-128"/>
                <a:ea typeface="ＭＳ ゴシック" panose="020B0609070205080204" pitchFamily="49" charset="-128"/>
              </a:rPr>
              <a:t>）</a:t>
            </a:r>
          </a:p>
        </p:txBody>
      </p:sp>
    </p:spTree>
    <p:extLst>
      <p:ext uri="{BB962C8B-B14F-4D97-AF65-F5344CB8AC3E}">
        <p14:creationId xmlns:p14="http://schemas.microsoft.com/office/powerpoint/2010/main" val="16135074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0" y="163822"/>
            <a:ext cx="12192000" cy="911944"/>
          </a:xfrm>
          <a:solidFill>
            <a:srgbClr val="002060"/>
          </a:solidFill>
        </p:spPr>
        <p:txBody>
          <a:bodyPr>
            <a:noAutofit/>
          </a:bodyPr>
          <a:lstStyle/>
          <a:p>
            <a:r>
              <a:rPr lang="ja-JP" altLang="ja-JP" sz="5400" kern="100" spc="10" dirty="0">
                <a:solidFill>
                  <a:schemeClr val="bg1"/>
                </a:solidFill>
                <a:ea typeface="ＭＳ ゴシック" panose="020B0609070205080204" pitchFamily="49" charset="-128"/>
                <a:cs typeface="Times New Roman" panose="02020603050405020304" pitchFamily="18" charset="0"/>
              </a:rPr>
              <a:t>１　</a:t>
            </a:r>
            <a:r>
              <a:rPr lang="ja-JP" altLang="ja-JP" sz="4800" kern="100" dirty="0">
                <a:solidFill>
                  <a:schemeClr val="bg1"/>
                </a:solidFill>
                <a:ea typeface="ＭＳ ゴシック" panose="020B0609070205080204" pitchFamily="49" charset="-128"/>
                <a:cs typeface="Times New Roman" panose="02020603050405020304" pitchFamily="18" charset="0"/>
              </a:rPr>
              <a:t>実施授業時数について（１学期）</a:t>
            </a:r>
            <a:endParaRPr kumimoji="1" lang="ja-JP" altLang="en-US" sz="4800" dirty="0">
              <a:solidFill>
                <a:schemeClr val="bg1"/>
              </a:solidFill>
              <a:latin typeface="ＭＳ ゴシック" panose="020B0609070205080204" pitchFamily="49" charset="-128"/>
              <a:ea typeface="ＭＳ ゴシック" panose="020B0609070205080204" pitchFamily="49" charset="-128"/>
            </a:endParaRPr>
          </a:p>
        </p:txBody>
      </p:sp>
      <p:sp>
        <p:nvSpPr>
          <p:cNvPr id="5" name="Rectangle 3"/>
          <p:cNvSpPr>
            <a:spLocks noChangeArrowheads="1"/>
          </p:cNvSpPr>
          <p:nvPr/>
        </p:nvSpPr>
        <p:spPr bwMode="auto">
          <a:xfrm>
            <a:off x="0" y="4572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black"/>
              </a:solidFill>
              <a:effectLst/>
              <a:uLnTx/>
              <a:uFillTx/>
              <a:latin typeface="游ゴシック" panose="020F0502020204030204"/>
              <a:ea typeface="游ゴシック" panose="020B0400000000000000" pitchFamily="50" charset="-128"/>
              <a:cs typeface="+mn-cs"/>
            </a:endParaRPr>
          </a:p>
        </p:txBody>
      </p:sp>
      <p:pic>
        <p:nvPicPr>
          <p:cNvPr id="6" name="図 5">
            <a:extLst>
              <a:ext uri="{FF2B5EF4-FFF2-40B4-BE49-F238E27FC236}">
                <a16:creationId xmlns:a16="http://schemas.microsoft.com/office/drawing/2014/main" id="{65E2EBCC-46F0-7DB3-B871-BDCCDFFE637F}"/>
              </a:ext>
            </a:extLst>
          </p:cNvPr>
          <p:cNvPicPr>
            <a:picLocks noChangeAspect="1"/>
          </p:cNvPicPr>
          <p:nvPr/>
        </p:nvPicPr>
        <p:blipFill>
          <a:blip r:embed="rId3"/>
          <a:stretch>
            <a:fillRect/>
          </a:stretch>
        </p:blipFill>
        <p:spPr>
          <a:xfrm>
            <a:off x="237663" y="1369144"/>
            <a:ext cx="11560637" cy="5325034"/>
          </a:xfrm>
          <a:prstGeom prst="rect">
            <a:avLst/>
          </a:prstGeom>
          <a:ln w="19050">
            <a:solidFill>
              <a:schemeClr val="tx1"/>
            </a:solidFill>
          </a:ln>
        </p:spPr>
      </p:pic>
    </p:spTree>
    <p:extLst>
      <p:ext uri="{BB962C8B-B14F-4D97-AF65-F5344CB8AC3E}">
        <p14:creationId xmlns:p14="http://schemas.microsoft.com/office/powerpoint/2010/main" val="31600686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0" y="163822"/>
            <a:ext cx="12192000" cy="911944"/>
          </a:xfrm>
          <a:solidFill>
            <a:srgbClr val="002060"/>
          </a:solidFill>
        </p:spPr>
        <p:txBody>
          <a:bodyPr>
            <a:noAutofit/>
          </a:bodyPr>
          <a:lstStyle/>
          <a:p>
            <a:r>
              <a:rPr kumimoji="1" lang="ja-JP" altLang="en-US" sz="3600" dirty="0">
                <a:solidFill>
                  <a:schemeClr val="bg1"/>
                </a:solidFill>
                <a:latin typeface="ＭＳ ゴシック" panose="020B0609070205080204" pitchFamily="49" charset="-128"/>
                <a:ea typeface="ＭＳ ゴシック" panose="020B0609070205080204" pitchFamily="49" charset="-128"/>
              </a:rPr>
              <a:t>２　全国学力・学習状況調査の結果および活用について</a:t>
            </a:r>
          </a:p>
        </p:txBody>
      </p:sp>
      <p:sp>
        <p:nvSpPr>
          <p:cNvPr id="4" name="Rectangle 2"/>
          <p:cNvSpPr>
            <a:spLocks noChangeArrowheads="1"/>
          </p:cNvSpPr>
          <p:nvPr/>
        </p:nvSpPr>
        <p:spPr bwMode="auto">
          <a:xfrm>
            <a:off x="197224" y="1172574"/>
            <a:ext cx="3715557" cy="584775"/>
          </a:xfrm>
          <a:prstGeom prst="rect">
            <a:avLst/>
          </a:prstGeom>
          <a:solidFill>
            <a:schemeClr val="bg1"/>
          </a:solidFill>
          <a:ln w="28575">
            <a:solidFill>
              <a:srgbClr val="002060"/>
            </a:solid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ja-JP" altLang="en-US" sz="3200" b="1" dirty="0">
                <a:latin typeface="ＭＳ ゴシック" panose="020B0609070205080204" pitchFamily="49" charset="-128"/>
                <a:ea typeface="ＭＳ ゴシック" panose="020B0609070205080204" pitchFamily="49" charset="-128"/>
                <a:cs typeface="Times New Roman" panose="02020603050405020304" pitchFamily="18" charset="0"/>
              </a:rPr>
              <a:t>教科に関する調査</a:t>
            </a:r>
            <a:endParaRPr kumimoji="0" lang="ja-JP" altLang="ja-JP" sz="4000" b="1" i="0" u="none" strike="noStrike" cap="none" normalizeH="0" baseline="0" dirty="0">
              <a:ln>
                <a:noFill/>
              </a:ln>
              <a:solidFill>
                <a:schemeClr val="tx1"/>
              </a:solidFill>
              <a:effectLst/>
              <a:latin typeface="ＭＳ ゴシック" panose="020B0609070205080204" pitchFamily="49" charset="-128"/>
              <a:ea typeface="ＭＳ ゴシック" panose="020B0609070205080204" pitchFamily="49" charset="-128"/>
            </a:endParaRPr>
          </a:p>
        </p:txBody>
      </p:sp>
      <p:sp>
        <p:nvSpPr>
          <p:cNvPr id="5" name="Rectangle 3"/>
          <p:cNvSpPr>
            <a:spLocks noChangeArrowheads="1"/>
          </p:cNvSpPr>
          <p:nvPr/>
        </p:nvSpPr>
        <p:spPr bwMode="auto">
          <a:xfrm>
            <a:off x="0" y="4572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ja-JP" altLang="en-US"/>
          </a:p>
        </p:txBody>
      </p:sp>
      <p:pic>
        <p:nvPicPr>
          <p:cNvPr id="9" name="図 8">
            <a:extLst>
              <a:ext uri="{FF2B5EF4-FFF2-40B4-BE49-F238E27FC236}">
                <a16:creationId xmlns:a16="http://schemas.microsoft.com/office/drawing/2014/main" id="{32CFCED1-4C92-BEBA-45D3-878A5D96A65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7223" y="1854156"/>
            <a:ext cx="6047805" cy="4635543"/>
          </a:xfrm>
          <a:prstGeom prst="rect">
            <a:avLst/>
          </a:prstGeom>
        </p:spPr>
      </p:pic>
      <p:pic>
        <p:nvPicPr>
          <p:cNvPr id="13" name="図 12">
            <a:extLst>
              <a:ext uri="{FF2B5EF4-FFF2-40B4-BE49-F238E27FC236}">
                <a16:creationId xmlns:a16="http://schemas.microsoft.com/office/drawing/2014/main" id="{5E12E914-F91B-CE8B-FE8F-FD2FD01590E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49776" y="1854155"/>
            <a:ext cx="5727885" cy="3467145"/>
          </a:xfrm>
          <a:prstGeom prst="rect">
            <a:avLst/>
          </a:prstGeom>
        </p:spPr>
      </p:pic>
    </p:spTree>
    <p:extLst>
      <p:ext uri="{BB962C8B-B14F-4D97-AF65-F5344CB8AC3E}">
        <p14:creationId xmlns:p14="http://schemas.microsoft.com/office/powerpoint/2010/main" val="22925797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0" y="163822"/>
            <a:ext cx="12192000" cy="911944"/>
          </a:xfrm>
          <a:solidFill>
            <a:srgbClr val="002060"/>
          </a:solidFill>
        </p:spPr>
        <p:txBody>
          <a:bodyPr>
            <a:noAutofit/>
          </a:bodyPr>
          <a:lstStyle/>
          <a:p>
            <a:r>
              <a:rPr kumimoji="1" lang="ja-JP" altLang="en-US" sz="3600" dirty="0">
                <a:solidFill>
                  <a:schemeClr val="bg1"/>
                </a:solidFill>
                <a:latin typeface="ＭＳ ゴシック" panose="020B0609070205080204" pitchFamily="49" charset="-128"/>
                <a:ea typeface="ＭＳ ゴシック" panose="020B0609070205080204" pitchFamily="49" charset="-128"/>
              </a:rPr>
              <a:t>２　全国学力・学習状況調査の結果および活用について</a:t>
            </a:r>
          </a:p>
        </p:txBody>
      </p:sp>
      <p:sp>
        <p:nvSpPr>
          <p:cNvPr id="4" name="Rectangle 2"/>
          <p:cNvSpPr>
            <a:spLocks noChangeArrowheads="1"/>
          </p:cNvSpPr>
          <p:nvPr/>
        </p:nvSpPr>
        <p:spPr bwMode="auto">
          <a:xfrm>
            <a:off x="197225" y="1172574"/>
            <a:ext cx="2293728" cy="584775"/>
          </a:xfrm>
          <a:prstGeom prst="rect">
            <a:avLst/>
          </a:prstGeom>
          <a:solidFill>
            <a:schemeClr val="bg1"/>
          </a:solidFill>
          <a:ln w="28575">
            <a:solidFill>
              <a:srgbClr val="002060"/>
            </a:solid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ja-JP" altLang="en-US" sz="3200" b="1" dirty="0">
                <a:solidFill>
                  <a:prstClr val="black"/>
                </a:solidFill>
                <a:latin typeface="ＭＳ ゴシック" panose="020B0609070205080204" pitchFamily="49" charset="-128"/>
                <a:ea typeface="ＭＳ ゴシック" panose="020B0609070205080204" pitchFamily="49" charset="-128"/>
                <a:cs typeface="Times New Roman" panose="02020603050405020304" pitchFamily="18" charset="0"/>
              </a:rPr>
              <a:t>質問紙調査</a:t>
            </a:r>
            <a:endParaRPr kumimoji="0" lang="ja-JP" altLang="ja-JP" sz="4000" b="1" i="0" u="none" strike="noStrike" kern="1200" cap="none" spc="0" normalizeH="0" baseline="0" noProof="0" dirty="0">
              <a:ln>
                <a:noFill/>
              </a:ln>
              <a:solidFill>
                <a:prstClr val="black"/>
              </a:solidFill>
              <a:effectLst/>
              <a:uLnTx/>
              <a:uFillTx/>
              <a:latin typeface="ＭＳ ゴシック" panose="020B0609070205080204" pitchFamily="49" charset="-128"/>
              <a:ea typeface="ＭＳ ゴシック" panose="020B0609070205080204" pitchFamily="49" charset="-128"/>
              <a:cs typeface="+mn-cs"/>
            </a:endParaRPr>
          </a:p>
        </p:txBody>
      </p:sp>
      <p:sp>
        <p:nvSpPr>
          <p:cNvPr id="5" name="Rectangle 3"/>
          <p:cNvSpPr>
            <a:spLocks noChangeArrowheads="1"/>
          </p:cNvSpPr>
          <p:nvPr/>
        </p:nvSpPr>
        <p:spPr bwMode="auto">
          <a:xfrm>
            <a:off x="0" y="4572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black"/>
              </a:solidFill>
              <a:effectLst/>
              <a:uLnTx/>
              <a:uFillTx/>
              <a:latin typeface="游ゴシック" panose="020F0502020204030204"/>
              <a:ea typeface="游ゴシック" panose="020B0400000000000000" pitchFamily="50" charset="-128"/>
              <a:cs typeface="+mn-cs"/>
            </a:endParaRPr>
          </a:p>
        </p:txBody>
      </p:sp>
      <p:pic>
        <p:nvPicPr>
          <p:cNvPr id="6" name="図 5">
            <a:extLst>
              <a:ext uri="{FF2B5EF4-FFF2-40B4-BE49-F238E27FC236}">
                <a16:creationId xmlns:a16="http://schemas.microsoft.com/office/drawing/2014/main" id="{C7456CD2-EC25-9B38-8803-D132C1B7BCB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5714" y="1994720"/>
            <a:ext cx="11171643" cy="3453643"/>
          </a:xfrm>
          <a:prstGeom prst="rect">
            <a:avLst/>
          </a:prstGeom>
        </p:spPr>
      </p:pic>
    </p:spTree>
    <p:extLst>
      <p:ext uri="{BB962C8B-B14F-4D97-AF65-F5344CB8AC3E}">
        <p14:creationId xmlns:p14="http://schemas.microsoft.com/office/powerpoint/2010/main" val="25750209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7FDC2-BCA6-9472-1333-06460A2DE07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1DF0CCE-E885-D37F-B872-D14D357667F1}"/>
              </a:ext>
            </a:extLst>
          </p:cNvPr>
          <p:cNvSpPr>
            <a:spLocks noGrp="1"/>
          </p:cNvSpPr>
          <p:nvPr>
            <p:ph type="title"/>
          </p:nvPr>
        </p:nvSpPr>
        <p:spPr>
          <a:xfrm>
            <a:off x="0" y="163822"/>
            <a:ext cx="12192000" cy="911944"/>
          </a:xfrm>
          <a:solidFill>
            <a:srgbClr val="002060"/>
          </a:solidFill>
        </p:spPr>
        <p:txBody>
          <a:bodyPr>
            <a:noAutofit/>
          </a:bodyPr>
          <a:lstStyle/>
          <a:p>
            <a:r>
              <a:rPr kumimoji="1" lang="ja-JP" altLang="en-US" sz="3600" dirty="0">
                <a:solidFill>
                  <a:schemeClr val="bg1"/>
                </a:solidFill>
                <a:latin typeface="ＭＳ ゴシック" panose="020B0609070205080204" pitchFamily="49" charset="-128"/>
                <a:ea typeface="ＭＳ ゴシック" panose="020B0609070205080204" pitchFamily="49" charset="-128"/>
              </a:rPr>
              <a:t>２　全国学力・学習状況調査の結果および活用について</a:t>
            </a:r>
          </a:p>
        </p:txBody>
      </p:sp>
      <p:sp>
        <p:nvSpPr>
          <p:cNvPr id="4" name="Rectangle 2">
            <a:extLst>
              <a:ext uri="{FF2B5EF4-FFF2-40B4-BE49-F238E27FC236}">
                <a16:creationId xmlns:a16="http://schemas.microsoft.com/office/drawing/2014/main" id="{E2A47F40-4B8D-EDFC-74FD-785B37FDAB28}"/>
              </a:ext>
            </a:extLst>
          </p:cNvPr>
          <p:cNvSpPr>
            <a:spLocks noChangeArrowheads="1"/>
          </p:cNvSpPr>
          <p:nvPr/>
        </p:nvSpPr>
        <p:spPr bwMode="auto">
          <a:xfrm>
            <a:off x="197225" y="1172574"/>
            <a:ext cx="2293728" cy="584775"/>
          </a:xfrm>
          <a:prstGeom prst="rect">
            <a:avLst/>
          </a:prstGeom>
          <a:solidFill>
            <a:schemeClr val="bg1"/>
          </a:solidFill>
          <a:ln w="28575">
            <a:solidFill>
              <a:srgbClr val="002060"/>
            </a:solid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ja-JP" altLang="en-US" sz="3200" b="1" dirty="0">
                <a:solidFill>
                  <a:prstClr val="black"/>
                </a:solidFill>
                <a:latin typeface="ＭＳ ゴシック" panose="020B0609070205080204" pitchFamily="49" charset="-128"/>
                <a:ea typeface="ＭＳ ゴシック" panose="020B0609070205080204" pitchFamily="49" charset="-128"/>
                <a:cs typeface="Times New Roman" panose="02020603050405020304" pitchFamily="18" charset="0"/>
              </a:rPr>
              <a:t>質問紙調査</a:t>
            </a:r>
            <a:endParaRPr kumimoji="0" lang="ja-JP" altLang="ja-JP" sz="4000" b="1" i="0" u="none" strike="noStrike" kern="1200" cap="none" spc="0" normalizeH="0" baseline="0" noProof="0" dirty="0">
              <a:ln>
                <a:noFill/>
              </a:ln>
              <a:solidFill>
                <a:prstClr val="black"/>
              </a:solidFill>
              <a:effectLst/>
              <a:uLnTx/>
              <a:uFillTx/>
              <a:latin typeface="ＭＳ ゴシック" panose="020B0609070205080204" pitchFamily="49" charset="-128"/>
              <a:ea typeface="ＭＳ ゴシック" panose="020B0609070205080204" pitchFamily="49" charset="-128"/>
              <a:cs typeface="+mn-cs"/>
            </a:endParaRPr>
          </a:p>
        </p:txBody>
      </p:sp>
      <p:sp>
        <p:nvSpPr>
          <p:cNvPr id="5" name="Rectangle 3">
            <a:extLst>
              <a:ext uri="{FF2B5EF4-FFF2-40B4-BE49-F238E27FC236}">
                <a16:creationId xmlns:a16="http://schemas.microsoft.com/office/drawing/2014/main" id="{986D99E2-DD4F-2C22-EBA8-EA0E4F0DA030}"/>
              </a:ext>
            </a:extLst>
          </p:cNvPr>
          <p:cNvSpPr>
            <a:spLocks noChangeArrowheads="1"/>
          </p:cNvSpPr>
          <p:nvPr/>
        </p:nvSpPr>
        <p:spPr bwMode="auto">
          <a:xfrm>
            <a:off x="0" y="4572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black"/>
              </a:solidFill>
              <a:effectLst/>
              <a:uLnTx/>
              <a:uFillTx/>
              <a:latin typeface="游ゴシック" panose="020F0502020204030204"/>
              <a:ea typeface="游ゴシック" panose="020B0400000000000000" pitchFamily="50" charset="-128"/>
              <a:cs typeface="+mn-cs"/>
            </a:endParaRPr>
          </a:p>
        </p:txBody>
      </p:sp>
      <p:pic>
        <p:nvPicPr>
          <p:cNvPr id="8" name="図 7">
            <a:extLst>
              <a:ext uri="{FF2B5EF4-FFF2-40B4-BE49-F238E27FC236}">
                <a16:creationId xmlns:a16="http://schemas.microsoft.com/office/drawing/2014/main" id="{656BC735-8148-3BE7-D61E-935A272B20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7224" y="1854157"/>
            <a:ext cx="11785226" cy="4920634"/>
          </a:xfrm>
          <a:prstGeom prst="rect">
            <a:avLst/>
          </a:prstGeom>
        </p:spPr>
      </p:pic>
    </p:spTree>
    <p:extLst>
      <p:ext uri="{BB962C8B-B14F-4D97-AF65-F5344CB8AC3E}">
        <p14:creationId xmlns:p14="http://schemas.microsoft.com/office/powerpoint/2010/main" val="7399715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0" y="165232"/>
            <a:ext cx="12192000" cy="1325563"/>
          </a:xfrm>
          <a:solidFill>
            <a:srgbClr val="002060"/>
          </a:solidFill>
        </p:spPr>
        <p:txBody>
          <a:bodyPr>
            <a:noAutofit/>
          </a:bodyPr>
          <a:lstStyle/>
          <a:p>
            <a:r>
              <a:rPr lang="ja-JP" altLang="en-US" sz="3600" dirty="0">
                <a:solidFill>
                  <a:schemeClr val="bg1"/>
                </a:solidFill>
                <a:latin typeface="ＭＳ ゴシック" panose="020B0609070205080204" pitchFamily="49" charset="-128"/>
                <a:ea typeface="ＭＳ ゴシック" panose="020B0609070205080204" pitchFamily="49" charset="-128"/>
              </a:rPr>
              <a:t>３</a:t>
            </a:r>
            <a:r>
              <a:rPr kumimoji="1" lang="ja-JP" altLang="en-US" sz="3600" dirty="0">
                <a:solidFill>
                  <a:schemeClr val="bg1"/>
                </a:solidFill>
                <a:latin typeface="ＭＳ ゴシック" panose="020B0609070205080204" pitchFamily="49" charset="-128"/>
                <a:ea typeface="ＭＳ ゴシック" panose="020B0609070205080204" pitchFamily="49" charset="-128"/>
              </a:rPr>
              <a:t>　令和８年度授業改善推進プランの作成および</a:t>
            </a:r>
            <a:br>
              <a:rPr kumimoji="1" lang="en-US" altLang="ja-JP" sz="3600" dirty="0">
                <a:solidFill>
                  <a:schemeClr val="bg1"/>
                </a:solidFill>
                <a:latin typeface="ＭＳ ゴシック" panose="020B0609070205080204" pitchFamily="49" charset="-128"/>
                <a:ea typeface="ＭＳ ゴシック" panose="020B0609070205080204" pitchFamily="49" charset="-128"/>
              </a:rPr>
            </a:br>
            <a:r>
              <a:rPr lang="ja-JP" altLang="en-US" sz="3600" dirty="0">
                <a:solidFill>
                  <a:schemeClr val="bg1"/>
                </a:solidFill>
                <a:latin typeface="ＭＳ ゴシック" panose="020B0609070205080204" pitchFamily="49" charset="-128"/>
                <a:ea typeface="ＭＳ ゴシック" panose="020B0609070205080204" pitchFamily="49" charset="-128"/>
              </a:rPr>
              <a:t>　　</a:t>
            </a:r>
            <a:r>
              <a:rPr kumimoji="1" lang="ja-JP" altLang="en-US" sz="3600" dirty="0">
                <a:solidFill>
                  <a:schemeClr val="bg1"/>
                </a:solidFill>
                <a:latin typeface="ＭＳ ゴシック" panose="020B0609070205080204" pitchFamily="49" charset="-128"/>
                <a:ea typeface="ＭＳ ゴシック" panose="020B0609070205080204" pitchFamily="49" charset="-128"/>
              </a:rPr>
              <a:t>授業改善推進プランに基づく教育活動の実施について</a:t>
            </a:r>
          </a:p>
        </p:txBody>
      </p:sp>
      <p:sp>
        <p:nvSpPr>
          <p:cNvPr id="3" name="コンテンツ プレースホルダー 2"/>
          <p:cNvSpPr>
            <a:spLocks noGrp="1"/>
          </p:cNvSpPr>
          <p:nvPr>
            <p:ph idx="1"/>
          </p:nvPr>
        </p:nvSpPr>
        <p:spPr>
          <a:xfrm>
            <a:off x="694330" y="1490795"/>
            <a:ext cx="10995646" cy="5107229"/>
          </a:xfrm>
        </p:spPr>
        <p:txBody>
          <a:bodyPr>
            <a:noAutofit/>
          </a:bodyPr>
          <a:lstStyle/>
          <a:p>
            <a:pPr marL="0" indent="0">
              <a:buNone/>
            </a:pPr>
            <a:r>
              <a:rPr kumimoji="1" lang="ja-JP" altLang="en-US" sz="3600" dirty="0">
                <a:latin typeface="ＭＳ ゴシック" panose="020B0609070205080204" pitchFamily="49" charset="-128"/>
                <a:ea typeface="ＭＳ ゴシック" panose="020B0609070205080204" pitchFamily="49" charset="-128"/>
              </a:rPr>
              <a:t>（１）提出資料</a:t>
            </a:r>
            <a:r>
              <a:rPr lang="ja-JP" altLang="en-US" sz="3600" dirty="0">
                <a:latin typeface="ＭＳ ゴシック" panose="020B0609070205080204" pitchFamily="49" charset="-128"/>
                <a:ea typeface="ＭＳ ゴシック" panose="020B0609070205080204" pitchFamily="49" charset="-128"/>
              </a:rPr>
              <a:t>（１点）</a:t>
            </a:r>
            <a:endParaRPr kumimoji="1" lang="en-US" altLang="ja-JP" sz="3600" dirty="0">
              <a:latin typeface="ＭＳ ゴシック" panose="020B0609070205080204" pitchFamily="49" charset="-128"/>
              <a:ea typeface="ＭＳ ゴシック" panose="020B0609070205080204" pitchFamily="49" charset="-128"/>
            </a:endParaRPr>
          </a:p>
          <a:p>
            <a:pPr marL="0" indent="0">
              <a:buNone/>
            </a:pPr>
            <a:r>
              <a:rPr lang="ja-JP" altLang="en-US" sz="3600" dirty="0">
                <a:latin typeface="ＭＳ ゴシック" panose="020B0609070205080204" pitchFamily="49" charset="-128"/>
                <a:ea typeface="ＭＳ ゴシック" panose="020B0609070205080204" pitchFamily="49" charset="-128"/>
              </a:rPr>
              <a:t>　　</a:t>
            </a:r>
            <a:r>
              <a:rPr lang="ja-JP" altLang="en-US" sz="3600" dirty="0">
                <a:solidFill>
                  <a:srgbClr val="FF0000"/>
                </a:solidFill>
                <a:latin typeface="ＭＳ ゴシック" panose="020B0609070205080204" pitchFamily="49" charset="-128"/>
                <a:ea typeface="ＭＳ ゴシック" panose="020B0609070205080204" pitchFamily="49" charset="-128"/>
              </a:rPr>
              <a:t>　</a:t>
            </a:r>
            <a:r>
              <a:rPr lang="ja-JP" altLang="en-US" sz="3600" u="sng" dirty="0">
                <a:solidFill>
                  <a:srgbClr val="FF0000"/>
                </a:solidFill>
                <a:latin typeface="ＭＳ ゴシック" panose="020B0609070205080204" pitchFamily="49" charset="-128"/>
                <a:ea typeface="ＭＳ ゴシック" panose="020B0609070205080204" pitchFamily="49" charset="-128"/>
              </a:rPr>
              <a:t>課題分析と授業改善策</a:t>
            </a:r>
            <a:endParaRPr lang="en-US" altLang="ja-JP" sz="3600" u="sng" dirty="0">
              <a:solidFill>
                <a:srgbClr val="FF0000"/>
              </a:solidFill>
              <a:latin typeface="ＭＳ ゴシック" panose="020B0609070205080204" pitchFamily="49" charset="-128"/>
              <a:ea typeface="ＭＳ ゴシック" panose="020B0609070205080204" pitchFamily="49" charset="-128"/>
            </a:endParaRPr>
          </a:p>
          <a:p>
            <a:pPr marL="0" indent="0">
              <a:buNone/>
            </a:pPr>
            <a:endParaRPr lang="en-US" altLang="ja-JP" sz="1200" dirty="0">
              <a:latin typeface="ＭＳ ゴシック" panose="020B0609070205080204" pitchFamily="49" charset="-128"/>
              <a:ea typeface="ＭＳ ゴシック" panose="020B0609070205080204" pitchFamily="49" charset="-128"/>
            </a:endParaRPr>
          </a:p>
          <a:p>
            <a:pPr marL="0" indent="0">
              <a:buNone/>
            </a:pPr>
            <a:r>
              <a:rPr lang="ja-JP" altLang="en-US" sz="3600" dirty="0">
                <a:latin typeface="ＭＳ ゴシック" panose="020B0609070205080204" pitchFamily="49" charset="-128"/>
                <a:ea typeface="ＭＳ ゴシック" panose="020B0609070205080204" pitchFamily="49" charset="-128"/>
              </a:rPr>
              <a:t>（２）提出期限</a:t>
            </a:r>
            <a:endParaRPr lang="en-US" altLang="ja-JP" sz="3600" dirty="0">
              <a:latin typeface="ＭＳ ゴシック" panose="020B0609070205080204" pitchFamily="49" charset="-128"/>
              <a:ea typeface="ＭＳ ゴシック" panose="020B0609070205080204" pitchFamily="49" charset="-128"/>
            </a:endParaRPr>
          </a:p>
          <a:p>
            <a:pPr marL="0" indent="0">
              <a:buNone/>
            </a:pPr>
            <a:r>
              <a:rPr lang="ja-JP" altLang="en-US" sz="3600" dirty="0">
                <a:latin typeface="ＭＳ ゴシック" panose="020B0609070205080204" pitchFamily="49" charset="-128"/>
                <a:ea typeface="ＭＳ ゴシック" panose="020B0609070205080204" pitchFamily="49" charset="-128"/>
              </a:rPr>
              <a:t>　　　</a:t>
            </a:r>
            <a:r>
              <a:rPr lang="ja-JP" altLang="en-US" sz="3600" u="sng" dirty="0">
                <a:solidFill>
                  <a:srgbClr val="FF0000"/>
                </a:solidFill>
                <a:latin typeface="ＭＳ ゴシック" panose="020B0609070205080204" pitchFamily="49" charset="-128"/>
                <a:ea typeface="ＭＳ ゴシック" panose="020B0609070205080204" pitchFamily="49" charset="-128"/>
              </a:rPr>
              <a:t>令和８年９月</a:t>
            </a:r>
            <a:r>
              <a:rPr lang="en-US" altLang="ja-JP" sz="3600" u="sng" dirty="0">
                <a:solidFill>
                  <a:srgbClr val="FF0000"/>
                </a:solidFill>
                <a:latin typeface="ＭＳ ゴシック" panose="020B0609070205080204" pitchFamily="49" charset="-128"/>
                <a:ea typeface="ＭＳ ゴシック" panose="020B0609070205080204" pitchFamily="49" charset="-128"/>
              </a:rPr>
              <a:t>30</a:t>
            </a:r>
            <a:r>
              <a:rPr lang="ja-JP" altLang="en-US" sz="3600" u="sng" dirty="0">
                <a:solidFill>
                  <a:srgbClr val="FF0000"/>
                </a:solidFill>
                <a:latin typeface="ＭＳ ゴシック" panose="020B0609070205080204" pitchFamily="49" charset="-128"/>
                <a:ea typeface="ＭＳ ゴシック" panose="020B0609070205080204" pitchFamily="49" charset="-128"/>
              </a:rPr>
              <a:t>日（水）</a:t>
            </a:r>
            <a:endParaRPr lang="en-US" altLang="ja-JP" sz="3600" u="sng" dirty="0">
              <a:solidFill>
                <a:srgbClr val="FF0000"/>
              </a:solidFill>
              <a:latin typeface="ＭＳ ゴシック" panose="020B0609070205080204" pitchFamily="49" charset="-128"/>
              <a:ea typeface="ＭＳ ゴシック" panose="020B0609070205080204" pitchFamily="49" charset="-128"/>
            </a:endParaRPr>
          </a:p>
          <a:p>
            <a:pPr marL="0" indent="0">
              <a:buNone/>
            </a:pPr>
            <a:endParaRPr lang="en-US" altLang="ja-JP" sz="1200" dirty="0">
              <a:latin typeface="ＭＳ ゴシック" panose="020B0609070205080204" pitchFamily="49" charset="-128"/>
              <a:ea typeface="ＭＳ ゴシック" panose="020B0609070205080204" pitchFamily="49" charset="-128"/>
            </a:endParaRPr>
          </a:p>
          <a:p>
            <a:pPr marL="0" indent="0">
              <a:buNone/>
            </a:pPr>
            <a:r>
              <a:rPr lang="ja-JP" altLang="en-US" sz="3600" dirty="0">
                <a:latin typeface="ＭＳ ゴシック" panose="020B0609070205080204" pitchFamily="49" charset="-128"/>
                <a:ea typeface="ＭＳ ゴシック" panose="020B0609070205080204" pitchFamily="49" charset="-128"/>
              </a:rPr>
              <a:t>（３）提出方法</a:t>
            </a:r>
            <a:endParaRPr lang="en-US" altLang="ja-JP" sz="3600" dirty="0">
              <a:latin typeface="ＭＳ ゴシック" panose="020B0609070205080204" pitchFamily="49" charset="-128"/>
              <a:ea typeface="ＭＳ ゴシック" panose="020B0609070205080204" pitchFamily="49" charset="-128"/>
            </a:endParaRPr>
          </a:p>
          <a:p>
            <a:pPr marL="0" indent="0">
              <a:buNone/>
            </a:pPr>
            <a:r>
              <a:rPr lang="ja-JP" altLang="en-US" sz="3600" dirty="0">
                <a:latin typeface="ＭＳ ゴシック" panose="020B0609070205080204" pitchFamily="49" charset="-128"/>
                <a:ea typeface="ＭＳ ゴシック" panose="020B0609070205080204" pitchFamily="49" charset="-128"/>
              </a:rPr>
              <a:t>　　　</a:t>
            </a:r>
            <a:r>
              <a:rPr lang="ja-JP" altLang="en-US" sz="3600" u="sng" dirty="0">
                <a:solidFill>
                  <a:srgbClr val="FF0000"/>
                </a:solidFill>
                <a:latin typeface="ＭＳ ゴシック" panose="020B0609070205080204" pitchFamily="49" charset="-128"/>
                <a:ea typeface="ＭＳ ゴシック" panose="020B0609070205080204" pitchFamily="49" charset="-128"/>
              </a:rPr>
              <a:t>Ｃ４ｔｈ個人連絡にて各学校の担当指導主事</a:t>
            </a:r>
            <a:endParaRPr lang="en-US" altLang="ja-JP" sz="3600" u="sng" dirty="0">
              <a:solidFill>
                <a:srgbClr val="FF0000"/>
              </a:solidFill>
              <a:latin typeface="ＭＳ ゴシック" panose="020B0609070205080204" pitchFamily="49" charset="-128"/>
              <a:ea typeface="ＭＳ ゴシック" panose="020B0609070205080204" pitchFamily="49" charset="-128"/>
            </a:endParaRPr>
          </a:p>
        </p:txBody>
      </p:sp>
    </p:spTree>
    <p:extLst>
      <p:ext uri="{BB962C8B-B14F-4D97-AF65-F5344CB8AC3E}">
        <p14:creationId xmlns:p14="http://schemas.microsoft.com/office/powerpoint/2010/main" val="2636778455"/>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1247</TotalTime>
  <Words>1042</Words>
  <Application>Microsoft Office PowerPoint</Application>
  <PresentationFormat>ワイド画面</PresentationFormat>
  <Paragraphs>42</Paragraphs>
  <Slides>6</Slides>
  <Notes>6</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6</vt:i4>
      </vt:variant>
    </vt:vector>
  </HeadingPairs>
  <TitlesOfParts>
    <vt:vector size="11" baseType="lpstr">
      <vt:lpstr>ＭＳ ゴシック</vt:lpstr>
      <vt:lpstr>游ゴシック</vt:lpstr>
      <vt:lpstr>游ゴシック Light</vt:lpstr>
      <vt:lpstr>Arial</vt:lpstr>
      <vt:lpstr>Office テーマ</vt:lpstr>
      <vt:lpstr>令和８年度９月 教務園務担当者連絡会</vt:lpstr>
      <vt:lpstr>１　実施授業時数について（１学期）</vt:lpstr>
      <vt:lpstr>２　全国学力・学習状況調査の結果および活用について</vt:lpstr>
      <vt:lpstr>２　全国学力・学習状況調査の結果および活用について</vt:lpstr>
      <vt:lpstr>２　全国学力・学習状況調査の結果および活用について</vt:lpstr>
      <vt:lpstr>３　令和８年度授業改善推進プランの作成および 　　授業改善推進プランに基づく教育活動の実施について</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令和４年度7月 合同副校園長会 教務関係について</dc:title>
  <dc:creator>市川　朋基</dc:creator>
  <cp:lastModifiedBy>紺多　章一郎</cp:lastModifiedBy>
  <cp:revision>95</cp:revision>
  <cp:lastPrinted>2023-09-13T23:47:35Z</cp:lastPrinted>
  <dcterms:created xsi:type="dcterms:W3CDTF">2022-07-08T23:12:23Z</dcterms:created>
  <dcterms:modified xsi:type="dcterms:W3CDTF">2026-09-16T04:43:31Z</dcterms:modified>
</cp:coreProperties>
</file>