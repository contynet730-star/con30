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
  </p:notesMasterIdLst>
  <p:handoutMasterIdLst>
    <p:handoutMasterId r:id="rId9"/>
  </p:handoutMasterIdLst>
  <p:sldIdLst>
    <p:sldId id="256" r:id="rId2"/>
    <p:sldId id="263" r:id="rId3"/>
    <p:sldId id="258" r:id="rId4"/>
    <p:sldId id="265" r:id="rId5"/>
    <p:sldId id="266" r:id="rId6"/>
    <p:sldId id="257" r:id="rId7"/>
  </p:sldIdLst>
  <p:sldSz cx="12192000" cy="6858000"/>
  <p:notesSz cx="6737350" cy="986948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68761" autoAdjust="0"/>
  </p:normalViewPr>
  <p:slideViewPr>
    <p:cSldViewPr snapToGrid="0">
      <p:cViewPr varScale="1">
        <p:scale>
          <a:sx n="76" d="100"/>
          <a:sy n="76" d="100"/>
        </p:scale>
        <p:origin x="1914" y="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handoutMaster" Target="handoutMasters/handout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19518" cy="495189"/>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sz="quarter" idx="1"/>
          </p:nvPr>
        </p:nvSpPr>
        <p:spPr>
          <a:xfrm>
            <a:off x="3816273" y="0"/>
            <a:ext cx="2919518" cy="495189"/>
          </a:xfrm>
          <a:prstGeom prst="rect">
            <a:avLst/>
          </a:prstGeom>
        </p:spPr>
        <p:txBody>
          <a:bodyPr vert="horz" lIns="91440" tIns="45720" rIns="91440" bIns="45720" rtlCol="0"/>
          <a:lstStyle>
            <a:lvl1pPr algn="r">
              <a:defRPr sz="1200"/>
            </a:lvl1pPr>
          </a:lstStyle>
          <a:p>
            <a:fld id="{7D50F491-2DDE-4D3B-B7DE-F1FE2A3F7A7E}" type="datetimeFigureOut">
              <a:rPr kumimoji="1" lang="ja-JP" altLang="en-US" smtClean="0"/>
              <a:t>2026/9/16</a:t>
            </a:fld>
            <a:endParaRPr kumimoji="1" lang="ja-JP" altLang="en-US"/>
          </a:p>
        </p:txBody>
      </p:sp>
      <p:sp>
        <p:nvSpPr>
          <p:cNvPr id="4" name="フッター プレースホルダー 3"/>
          <p:cNvSpPr>
            <a:spLocks noGrp="1"/>
          </p:cNvSpPr>
          <p:nvPr>
            <p:ph type="ftr" sz="quarter" idx="2"/>
          </p:nvPr>
        </p:nvSpPr>
        <p:spPr>
          <a:xfrm>
            <a:off x="0" y="9374302"/>
            <a:ext cx="2919518" cy="495188"/>
          </a:xfrm>
          <a:prstGeom prst="rect">
            <a:avLst/>
          </a:prstGeom>
        </p:spPr>
        <p:txBody>
          <a:bodyPr vert="horz" lIns="91440" tIns="45720" rIns="91440" bIns="4572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16273" y="9374302"/>
            <a:ext cx="2919518" cy="495188"/>
          </a:xfrm>
          <a:prstGeom prst="rect">
            <a:avLst/>
          </a:prstGeom>
        </p:spPr>
        <p:txBody>
          <a:bodyPr vert="horz" lIns="91440" tIns="45720" rIns="91440" bIns="45720" rtlCol="0" anchor="b"/>
          <a:lstStyle>
            <a:lvl1pPr algn="r">
              <a:defRPr sz="1200"/>
            </a:lvl1pPr>
          </a:lstStyle>
          <a:p>
            <a:fld id="{4687EB70-15A2-4994-B7D3-FB0D61CD958B}" type="slidenum">
              <a:rPr kumimoji="1" lang="ja-JP" altLang="en-US" smtClean="0"/>
              <a:t>‹#›</a:t>
            </a:fld>
            <a:endParaRPr kumimoji="1" lang="ja-JP" altLang="en-US"/>
          </a:p>
        </p:txBody>
      </p:sp>
    </p:spTree>
    <p:extLst>
      <p:ext uri="{BB962C8B-B14F-4D97-AF65-F5344CB8AC3E}">
        <p14:creationId xmlns:p14="http://schemas.microsoft.com/office/powerpoint/2010/main" val="74036485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0"/>
            <a:ext cx="2919413" cy="495300"/>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16350" y="0"/>
            <a:ext cx="2919413" cy="495300"/>
          </a:xfrm>
          <a:prstGeom prst="rect">
            <a:avLst/>
          </a:prstGeom>
        </p:spPr>
        <p:txBody>
          <a:bodyPr vert="horz" lIns="91440" tIns="45720" rIns="91440" bIns="45720" rtlCol="0"/>
          <a:lstStyle>
            <a:lvl1pPr algn="r">
              <a:defRPr sz="1200"/>
            </a:lvl1pPr>
          </a:lstStyle>
          <a:p>
            <a:fld id="{AD3A583D-3F22-4DDF-8247-F1D4DE899A9E}" type="datetimeFigureOut">
              <a:rPr kumimoji="1" lang="ja-JP" altLang="en-US" smtClean="0"/>
              <a:t>2026/9/16</a:t>
            </a:fld>
            <a:endParaRPr kumimoji="1" lang="ja-JP" altLang="en-US"/>
          </a:p>
        </p:txBody>
      </p:sp>
      <p:sp>
        <p:nvSpPr>
          <p:cNvPr id="4" name="スライド イメージ プレースホルダー 3"/>
          <p:cNvSpPr>
            <a:spLocks noGrp="1" noRot="1" noChangeAspect="1"/>
          </p:cNvSpPr>
          <p:nvPr>
            <p:ph type="sldImg" idx="2"/>
          </p:nvPr>
        </p:nvSpPr>
        <p:spPr>
          <a:xfrm>
            <a:off x="406400" y="1231900"/>
            <a:ext cx="5924550" cy="333375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73101" y="4749800"/>
            <a:ext cx="5391150" cy="3886199"/>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374188"/>
            <a:ext cx="2919413" cy="495300"/>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16350" y="9374188"/>
            <a:ext cx="2919413" cy="495300"/>
          </a:xfrm>
          <a:prstGeom prst="rect">
            <a:avLst/>
          </a:prstGeom>
        </p:spPr>
        <p:txBody>
          <a:bodyPr vert="horz" lIns="91440" tIns="45720" rIns="91440" bIns="45720" rtlCol="0" anchor="b"/>
          <a:lstStyle>
            <a:lvl1pPr algn="r">
              <a:defRPr sz="1200"/>
            </a:lvl1pPr>
          </a:lstStyle>
          <a:p>
            <a:fld id="{D677B49A-121A-4192-B702-4BD00D39A90B}" type="slidenum">
              <a:rPr kumimoji="1" lang="ja-JP" altLang="en-US" smtClean="0"/>
              <a:t>‹#›</a:t>
            </a:fld>
            <a:endParaRPr kumimoji="1" lang="ja-JP" altLang="en-US"/>
          </a:p>
        </p:txBody>
      </p:sp>
    </p:spTree>
    <p:extLst>
      <p:ext uri="{BB962C8B-B14F-4D97-AF65-F5344CB8AC3E}">
        <p14:creationId xmlns:p14="http://schemas.microsoft.com/office/powerpoint/2010/main" val="24559906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t>教務主任の先生方、園務担当の先生方、こんにちは。指導主事　紺多でございます。私より、教務関係について３点お伝えいたします。</a:t>
            </a:r>
          </a:p>
        </p:txBody>
      </p:sp>
      <p:sp>
        <p:nvSpPr>
          <p:cNvPr id="4" name="スライド番号プレースホルダー 3"/>
          <p:cNvSpPr>
            <a:spLocks noGrp="1"/>
          </p:cNvSpPr>
          <p:nvPr>
            <p:ph type="sldNum" sz="quarter" idx="10"/>
          </p:nvPr>
        </p:nvSpPr>
        <p:spPr/>
        <p:txBody>
          <a:bodyPr/>
          <a:lstStyle/>
          <a:p>
            <a:fld id="{D677B49A-121A-4192-B702-4BD00D39A90B}" type="slidenum">
              <a:rPr kumimoji="1" lang="ja-JP" altLang="en-US" smtClean="0"/>
              <a:t>1</a:t>
            </a:fld>
            <a:endParaRPr kumimoji="1" lang="ja-JP" altLang="en-US"/>
          </a:p>
        </p:txBody>
      </p:sp>
    </p:spTree>
    <p:extLst>
      <p:ext uri="{BB962C8B-B14F-4D97-AF65-F5344CB8AC3E}">
        <p14:creationId xmlns:p14="http://schemas.microsoft.com/office/powerpoint/2010/main" val="360598036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t>はじめに、令和８年度　練馬区立学校における１学期の実施授業時数についてです。</a:t>
            </a:r>
          </a:p>
          <a:p>
            <a:r>
              <a:t>7月は、時数集計表のご提出ありがとうございました。いただいたデータを集計し、1学期末時点での各学校における平均実施授業時数を算出いたしましたので、共有いたします。</a:t>
            </a:r>
          </a:p>
          <a:p>
            <a:r>
              <a:t>この数値をもって何かを申し上げることはございませんが、標準時数の確保に向けてお時間のある時に各学校各学年の時数と比較し、極端に増減がないか確認し、極端な増減がある場合には、その理由を検証し、今後の教育活動に生かしていただければと思います。ちなみに、１学期に教育指導課訪問で伺った学校において先生方が作成されている週ごとの指導計画いわゆる週案の確認をさせていただいております。その際に、よくご指摘させていただくこととして、各教科等の累計の未記載がございます。教務主任の先生方におかれましても、累計欄の記載についてご確認いただき、未記載の場合には記載を促していただきますよう、よろしくお願いいたします。</a:t>
            </a:r>
          </a:p>
        </p:txBody>
      </p:sp>
      <p:sp>
        <p:nvSpPr>
          <p:cNvPr id="4" name="スライド番号プレースホルダー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677B49A-121A-4192-B702-4BD00D39A90B}" type="slidenum">
              <a:rPr kumimoji="1" lang="ja-JP" altLang="en-US" sz="1200" b="0" i="0" u="none" strike="noStrike" kern="1200" cap="none" spc="0" normalizeH="0" baseline="0" noProof="0" smtClean="0">
                <a:ln>
                  <a:noFill/>
                </a:ln>
                <a:solidFill>
                  <a:prstClr val="black"/>
                </a:solidFill>
                <a:effectLst/>
                <a:uLnTx/>
                <a:uFillTx/>
                <a:latin typeface="游ゴシック" panose="020F0502020204030204"/>
                <a:ea typeface="游ゴシック" panose="020B0400000000000000" pitchFamily="50" charset="-128"/>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1" lang="ja-JP" altLang="en-US" sz="1200" b="0" i="0" u="none" strike="noStrike" kern="1200" cap="none" spc="0" normalizeH="0" baseline="0" noProof="0">
              <a:ln>
                <a:noFill/>
              </a:ln>
              <a:solidFill>
                <a:prstClr val="black"/>
              </a:solidFill>
              <a:effectLst/>
              <a:uLnTx/>
              <a:uFillTx/>
              <a:latin typeface="游ゴシック" panose="020F0502020204030204"/>
              <a:ea typeface="游ゴシック" panose="020B0400000000000000" pitchFamily="50" charset="-128"/>
              <a:cs typeface="+mn-cs"/>
            </a:endParaRPr>
          </a:p>
        </p:txBody>
      </p:sp>
    </p:spTree>
    <p:extLst>
      <p:ext uri="{BB962C8B-B14F-4D97-AF65-F5344CB8AC3E}">
        <p14:creationId xmlns:p14="http://schemas.microsoft.com/office/powerpoint/2010/main" val="261876352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t>次に、令和8年度全国学力・学習状況調査の結果について、資料１に基づき報告いたします。</a:t>
            </a:r>
          </a:p>
          <a:p>
            <a:r>
              <a:t>本調査の目的は、指導と評価の一体化を図り、各学校が自校の課題を把握した上で、授業改善や生活指導の改善につなげることにあります。</a:t>
            </a:r>
          </a:p>
          <a:p>
            <a:r>
              <a:t>調査結果を見ると、小学校・中学校ともに、算数・数学において、知識・技能を問う問題と比較して、思考力・判断力・表現力を問う問題の正答率が低い傾向が見られます。この傾向は練馬区に限ったものではありませんが、国語や英語と比べても、算数・数学における思考力・判断力・表現力の育成は重要な課題であると捉えています。各学校におかれましても、自校の状況をご確認いただきたいと思います。</a:t>
            </a:r>
          </a:p>
          <a:p/>
        </p:txBody>
      </p:sp>
      <p:sp>
        <p:nvSpPr>
          <p:cNvPr id="4" name="スライド番号プレースホルダー 3"/>
          <p:cNvSpPr>
            <a:spLocks noGrp="1"/>
          </p:cNvSpPr>
          <p:nvPr>
            <p:ph type="sldNum" sz="quarter" idx="10"/>
          </p:nvPr>
        </p:nvSpPr>
        <p:spPr/>
        <p:txBody>
          <a:bodyPr/>
          <a:lstStyle/>
          <a:p>
            <a:fld id="{D677B49A-121A-4192-B702-4BD00D39A90B}" type="slidenum">
              <a:rPr kumimoji="1" lang="ja-JP" altLang="en-US" smtClean="0"/>
              <a:t>3</a:t>
            </a:fld>
            <a:endParaRPr kumimoji="1" lang="ja-JP" altLang="en-US"/>
          </a:p>
        </p:txBody>
      </p:sp>
    </p:spTree>
    <p:extLst>
      <p:ext uri="{BB962C8B-B14F-4D97-AF65-F5344CB8AC3E}">
        <p14:creationId xmlns:p14="http://schemas.microsoft.com/office/powerpoint/2010/main" val="141282150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t>質問調査の結果からは、児童・生徒が「もっと認めてほしい」「もっと褒めてほしい」と感じている状況もうかがえます。こうした結果は、自己肯定感や自己有用感を育む関わりや、児童・生徒が安心して相談できる環境づくりについて、改めて考える必要があることを示していると捉えています。</a:t>
            </a:r>
          </a:p>
          <a:p/>
        </p:txBody>
      </p:sp>
      <p:sp>
        <p:nvSpPr>
          <p:cNvPr id="4" name="スライド番号プレースホルダー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677B49A-121A-4192-B702-4BD00D39A90B}" type="slidenum">
              <a:rPr kumimoji="1" lang="ja-JP" altLang="en-US" sz="1200" b="0" i="0" u="none" strike="noStrike" kern="1200" cap="none" spc="0" normalizeH="0" baseline="0" noProof="0" smtClean="0">
                <a:ln>
                  <a:noFill/>
                </a:ln>
                <a:solidFill>
                  <a:prstClr val="black"/>
                </a:solidFill>
                <a:effectLst/>
                <a:uLnTx/>
                <a:uFillTx/>
                <a:latin typeface="游ゴシック" panose="020F0502020204030204"/>
                <a:ea typeface="游ゴシック" panose="020B0400000000000000" pitchFamily="50" charset="-128"/>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1" lang="ja-JP" altLang="en-US" sz="1200" b="0" i="0" u="none" strike="noStrike" kern="1200" cap="none" spc="0" normalizeH="0" baseline="0" noProof="0">
              <a:ln>
                <a:noFill/>
              </a:ln>
              <a:solidFill>
                <a:prstClr val="black"/>
              </a:solidFill>
              <a:effectLst/>
              <a:uLnTx/>
              <a:uFillTx/>
              <a:latin typeface="游ゴシック" panose="020F0502020204030204"/>
              <a:ea typeface="游ゴシック" panose="020B0400000000000000" pitchFamily="50" charset="-128"/>
              <a:cs typeface="+mn-cs"/>
            </a:endParaRPr>
          </a:p>
        </p:txBody>
      </p:sp>
    </p:spTree>
    <p:extLst>
      <p:ext uri="{BB962C8B-B14F-4D97-AF65-F5344CB8AC3E}">
        <p14:creationId xmlns:p14="http://schemas.microsoft.com/office/powerpoint/2010/main" val="268294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1427F6-6792-0E85-72F1-E415AAE83A8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D28CC28-F24B-C869-64B5-72B3F4A109F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6F821DD-190B-7AA5-D200-08D65232F359}"/>
              </a:ext>
            </a:extLst>
          </p:cNvPr>
          <p:cNvSpPr>
            <a:spLocks noGrp="1"/>
          </p:cNvSpPr>
          <p:nvPr>
            <p:ph type="body" idx="1"/>
          </p:nvPr>
        </p:nvSpPr>
        <p:spPr/>
        <p:txBody>
          <a:bodyPr/>
          <a:lstStyle/>
          <a:p>
            <a:r>
              <a:t>また、「学校へ行くのが楽しい」と回答する児童・生徒が多いことは大変望ましい状況です。しかしその一方で、「先生にいつでも相談できる」と回答した児童・生徒の割合は7割に達しておらず、区として重要な課題であると認識しています。</a:t>
            </a:r>
          </a:p>
          <a:p>
            <a:r>
              <a:t>さらに、「主体的・対話的で深い学び」の観点では、中学校において、生徒が自ら学びを進める授業への転換を一層進める必要があると考えています。児童・生徒の学習への興味・関心や理解度は概ね良好であることから、授業形態の工夫によって、さらなる学習成果の向上が期待できるものと捉えています。</a:t>
            </a:r>
          </a:p>
          <a:p/>
          <a:p>
            <a:r>
              <a:t>また、本資料には児童・生徒質問調査の項目を一部抜粋して掲載しております。各学校においては、掲載項目だけでなく全ての質問項目について、学校の実態と区平均を比較しながら分析を進めていただきたいと考えております。なお、全項目における区平均値については、全教職員が確認できるよう共有フォルダに格納しておりますので、活用ください。</a:t>
            </a:r>
          </a:p>
          <a:p/>
        </p:txBody>
      </p:sp>
      <p:sp>
        <p:nvSpPr>
          <p:cNvPr id="4" name="スライド番号プレースホルダー 3">
            <a:extLst>
              <a:ext uri="{FF2B5EF4-FFF2-40B4-BE49-F238E27FC236}">
                <a16:creationId xmlns:a16="http://schemas.microsoft.com/office/drawing/2014/main" id="{8A2C98A4-BB43-49B6-AE9C-0FB18AB662C8}"/>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677B49A-121A-4192-B702-4BD00D39A90B}" type="slidenum">
              <a:rPr kumimoji="1" lang="ja-JP" altLang="en-US" sz="1200" b="0" i="0" u="none" strike="noStrike" kern="1200" cap="none" spc="0" normalizeH="0" baseline="0" noProof="0" smtClean="0">
                <a:ln>
                  <a:noFill/>
                </a:ln>
                <a:solidFill>
                  <a:prstClr val="black"/>
                </a:solidFill>
                <a:effectLst/>
                <a:uLnTx/>
                <a:uFillTx/>
                <a:latin typeface="游ゴシック" panose="020F0502020204030204"/>
                <a:ea typeface="游ゴシック" panose="020B0400000000000000" pitchFamily="50" charset="-128"/>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1" lang="ja-JP" altLang="en-US" sz="1200" b="0" i="0" u="none" strike="noStrike" kern="1200" cap="none" spc="0" normalizeH="0" baseline="0" noProof="0">
              <a:ln>
                <a:noFill/>
              </a:ln>
              <a:solidFill>
                <a:prstClr val="black"/>
              </a:solidFill>
              <a:effectLst/>
              <a:uLnTx/>
              <a:uFillTx/>
              <a:latin typeface="游ゴシック" panose="020F0502020204030204"/>
              <a:ea typeface="游ゴシック" panose="020B0400000000000000" pitchFamily="50" charset="-128"/>
              <a:cs typeface="+mn-cs"/>
            </a:endParaRPr>
          </a:p>
        </p:txBody>
      </p:sp>
    </p:spTree>
    <p:extLst>
      <p:ext uri="{BB962C8B-B14F-4D97-AF65-F5344CB8AC3E}">
        <p14:creationId xmlns:p14="http://schemas.microsoft.com/office/powerpoint/2010/main" val="4013598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t>次に授業改善推進プランについてです。</a:t>
            </a:r>
          </a:p>
          <a:p>
            <a:r>
              <a:t>練馬区では、毎年児童生徒の学力向上を図るための方策として、授業改善推進プランの作成を依頼しております。</a:t>
            </a:r>
          </a:p>
          <a:p>
            <a:r>
              <a:t>先ほど説明いたしました、「全国学力・学習状況調査」等の結果を分析し、授業改善推進プラン作成にご活用ください。</a:t>
            </a:r>
          </a:p>
          <a:p>
            <a:r>
              <a:t>提出物は、（１）に記載されている課題分析と授業改善策の１点です。</a:t>
            </a:r>
          </a:p>
          <a:p>
            <a:r>
              <a:t>９月30日（水）が提出期限となっておりますので、Ｃ４ｔｈ個人連絡にて各学校の担当指導主事までご提出をお願いします。</a:t>
            </a:r>
          </a:p>
          <a:p>
            <a:r>
              <a:t>担当指導主事がその後、内容を確認し修正依頼を行います。修正を反映した完成版を10月末までに各学校のホームページに掲載するようお願いいたします。学力向上を図るための全体計画については、必ずお願いいたします。課題分析と授業改善策については、学校の実情に応じてご判断ください。</a:t>
            </a:r>
          </a:p>
          <a:p/>
          <a:p/>
        </p:txBody>
      </p:sp>
      <p:sp>
        <p:nvSpPr>
          <p:cNvPr id="4" name="スライド番号プレースホルダー 3"/>
          <p:cNvSpPr>
            <a:spLocks noGrp="1"/>
          </p:cNvSpPr>
          <p:nvPr>
            <p:ph type="sldNum" sz="quarter" idx="10"/>
          </p:nvPr>
        </p:nvSpPr>
        <p:spPr/>
        <p:txBody>
          <a:bodyPr/>
          <a:lstStyle/>
          <a:p>
            <a:fld id="{D677B49A-121A-4192-B702-4BD00D39A90B}" type="slidenum">
              <a:rPr kumimoji="1" lang="ja-JP" altLang="en-US" smtClean="0"/>
              <a:t>6</a:t>
            </a:fld>
            <a:endParaRPr kumimoji="1" lang="ja-JP" altLang="en-US"/>
          </a:p>
        </p:txBody>
      </p:sp>
    </p:spTree>
    <p:extLst>
      <p:ext uri="{BB962C8B-B14F-4D97-AF65-F5344CB8AC3E}">
        <p14:creationId xmlns:p14="http://schemas.microsoft.com/office/powerpoint/2010/main" val="187498272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サブタイトル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p:cNvSpPr>
            <a:spLocks noGrp="1"/>
          </p:cNvSpPr>
          <p:nvPr>
            <p:ph type="dt" sz="half" idx="10"/>
          </p:nvPr>
        </p:nvSpPr>
        <p:spPr/>
        <p:txBody>
          <a:bodyPr/>
          <a:lstStyle/>
          <a:p>
            <a:fld id="{D1313400-A96F-4426-B9DB-243CF1BC5E5B}" type="datetimeFigureOut">
              <a:rPr kumimoji="1" lang="ja-JP" altLang="en-US" smtClean="0"/>
              <a:t>2026/9/16</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01EF25CA-2A39-4D12-B17C-F87BA59000A4}" type="slidenum">
              <a:rPr kumimoji="1" lang="ja-JP" altLang="en-US" smtClean="0"/>
              <a:t>‹#›</a:t>
            </a:fld>
            <a:endParaRPr kumimoji="1" lang="ja-JP" altLang="en-US"/>
          </a:p>
        </p:txBody>
      </p:sp>
    </p:spTree>
    <p:extLst>
      <p:ext uri="{BB962C8B-B14F-4D97-AF65-F5344CB8AC3E}">
        <p14:creationId xmlns:p14="http://schemas.microsoft.com/office/powerpoint/2010/main" val="24026250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コンテンツ プレースホルダー 2"/>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D1313400-A96F-4426-B9DB-243CF1BC5E5B}" type="datetimeFigureOut">
              <a:rPr kumimoji="1" lang="ja-JP" altLang="en-US" smtClean="0"/>
              <a:t>2026/9/16</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01EF25CA-2A39-4D12-B17C-F87BA59000A4}" type="slidenum">
              <a:rPr kumimoji="1" lang="ja-JP" altLang="en-US" smtClean="0"/>
              <a:t>‹#›</a:t>
            </a:fld>
            <a:endParaRPr kumimoji="1" lang="ja-JP" altLang="en-US"/>
          </a:p>
        </p:txBody>
      </p:sp>
    </p:spTree>
    <p:extLst>
      <p:ext uri="{BB962C8B-B14F-4D97-AF65-F5344CB8AC3E}">
        <p14:creationId xmlns:p14="http://schemas.microsoft.com/office/powerpoint/2010/main" val="11387692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p:cNvSpPr>
            <a:spLocks noGrp="1"/>
          </p:cNvSpPr>
          <p:nvPr>
            <p:ph type="dt" sz="half" idx="10"/>
          </p:nvPr>
        </p:nvSpPr>
        <p:spPr/>
        <p:txBody>
          <a:bodyPr/>
          <a:lstStyle/>
          <a:p>
            <a:fld id="{D1313400-A96F-4426-B9DB-243CF1BC5E5B}" type="datetimeFigureOut">
              <a:rPr kumimoji="1" lang="ja-JP" altLang="en-US" smtClean="0"/>
              <a:t>2026/9/16</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01EF25CA-2A39-4D12-B17C-F87BA59000A4}" type="slidenum">
              <a:rPr kumimoji="1" lang="ja-JP" altLang="en-US" smtClean="0"/>
              <a:t>‹#›</a:t>
            </a:fld>
            <a:endParaRPr kumimoji="1" lang="ja-JP" altLang="en-US"/>
          </a:p>
        </p:txBody>
      </p:sp>
    </p:spTree>
    <p:extLst>
      <p:ext uri="{BB962C8B-B14F-4D97-AF65-F5344CB8AC3E}">
        <p14:creationId xmlns:p14="http://schemas.microsoft.com/office/powerpoint/2010/main" val="11041928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コンテンツ プレースホルダー 2"/>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p:cNvSpPr>
            <a:spLocks noGrp="1"/>
          </p:cNvSpPr>
          <p:nvPr>
            <p:ph type="dt" sz="half" idx="10"/>
          </p:nvPr>
        </p:nvSpPr>
        <p:spPr/>
        <p:txBody>
          <a:bodyPr/>
          <a:lstStyle/>
          <a:p>
            <a:fld id="{D1313400-A96F-4426-B9DB-243CF1BC5E5B}" type="datetimeFigureOut">
              <a:rPr kumimoji="1" lang="ja-JP" altLang="en-US" smtClean="0"/>
              <a:t>2026/9/16</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01EF25CA-2A39-4D12-B17C-F87BA59000A4}" type="slidenum">
              <a:rPr kumimoji="1" lang="ja-JP" altLang="en-US" smtClean="0"/>
              <a:t>‹#›</a:t>
            </a:fld>
            <a:endParaRPr kumimoji="1" lang="ja-JP" altLang="en-US"/>
          </a:p>
        </p:txBody>
      </p:sp>
    </p:spTree>
    <p:extLst>
      <p:ext uri="{BB962C8B-B14F-4D97-AF65-F5344CB8AC3E}">
        <p14:creationId xmlns:p14="http://schemas.microsoft.com/office/powerpoint/2010/main" val="24093429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p:cNvSpPr>
            <a:spLocks noGrp="1"/>
          </p:cNvSpPr>
          <p:nvPr>
            <p:ph type="dt" sz="half" idx="10"/>
          </p:nvPr>
        </p:nvSpPr>
        <p:spPr/>
        <p:txBody>
          <a:bodyPr/>
          <a:lstStyle/>
          <a:p>
            <a:fld id="{D1313400-A96F-4426-B9DB-243CF1BC5E5B}" type="datetimeFigureOut">
              <a:rPr kumimoji="1" lang="ja-JP" altLang="en-US" smtClean="0"/>
              <a:t>2026/9/16</a:t>
            </a:fld>
            <a:endParaRPr kumimoji="1" lang="ja-JP" altLang="en-US"/>
          </a:p>
        </p:txBody>
      </p:sp>
      <p:sp>
        <p:nvSpPr>
          <p:cNvPr id="8" name="フッター プレースホルダー 7"/>
          <p:cNvSpPr>
            <a:spLocks noGrp="1"/>
          </p:cNvSpPr>
          <p:nvPr>
            <p:ph type="ftr" sz="quarter" idx="11"/>
          </p:nvPr>
        </p:nvSpPr>
        <p:spPr/>
        <p:txBody>
          <a:bodyPr/>
          <a:lstStyle/>
          <a:p>
            <a:endParaRPr kumimoji="1" lang="ja-JP" altLang="en-US"/>
          </a:p>
        </p:txBody>
      </p:sp>
      <p:sp>
        <p:nvSpPr>
          <p:cNvPr id="9" name="スライド番号プレースホルダー 8"/>
          <p:cNvSpPr>
            <a:spLocks noGrp="1"/>
          </p:cNvSpPr>
          <p:nvPr>
            <p:ph type="sldNum" sz="quarter" idx="12"/>
          </p:nvPr>
        </p:nvSpPr>
        <p:spPr/>
        <p:txBody>
          <a:bodyPr/>
          <a:lstStyle/>
          <a:p>
            <a:fld id="{01EF25CA-2A39-4D12-B17C-F87BA59000A4}" type="slidenum">
              <a:rPr kumimoji="1" lang="ja-JP" altLang="en-US" smtClean="0"/>
              <a:t>‹#›</a:t>
            </a:fld>
            <a:endParaRPr kumimoji="1" lang="ja-JP" altLang="en-US"/>
          </a:p>
        </p:txBody>
      </p:sp>
    </p:spTree>
    <p:extLst>
      <p:ext uri="{BB962C8B-B14F-4D97-AF65-F5344CB8AC3E}">
        <p14:creationId xmlns:p14="http://schemas.microsoft.com/office/powerpoint/2010/main" val="28079782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日付プレースホルダー 2"/>
          <p:cNvSpPr>
            <a:spLocks noGrp="1"/>
          </p:cNvSpPr>
          <p:nvPr>
            <p:ph type="dt" sz="half" idx="10"/>
          </p:nvPr>
        </p:nvSpPr>
        <p:spPr/>
        <p:txBody>
          <a:bodyPr/>
          <a:lstStyle/>
          <a:p>
            <a:fld id="{D1313400-A96F-4426-B9DB-243CF1BC5E5B}" type="datetimeFigureOut">
              <a:rPr kumimoji="1" lang="ja-JP" altLang="en-US" smtClean="0"/>
              <a:t>2026/9/16</a:t>
            </a:fld>
            <a:endParaRPr kumimoji="1" lang="ja-JP" altLang="en-US"/>
          </a:p>
        </p:txBody>
      </p:sp>
      <p:sp>
        <p:nvSpPr>
          <p:cNvPr id="4" name="フッター プレースホルダー 3"/>
          <p:cNvSpPr>
            <a:spLocks noGrp="1"/>
          </p:cNvSpPr>
          <p:nvPr>
            <p:ph type="ftr" sz="quarter" idx="11"/>
          </p:nvPr>
        </p:nvSpPr>
        <p:spPr/>
        <p:txBody>
          <a:bodyPr/>
          <a:lstStyle/>
          <a:p>
            <a:endParaRPr kumimoji="1" lang="ja-JP" altLang="en-US"/>
          </a:p>
        </p:txBody>
      </p:sp>
      <p:sp>
        <p:nvSpPr>
          <p:cNvPr id="5" name="スライド番号プレースホルダー 4"/>
          <p:cNvSpPr>
            <a:spLocks noGrp="1"/>
          </p:cNvSpPr>
          <p:nvPr>
            <p:ph type="sldNum" sz="quarter" idx="12"/>
          </p:nvPr>
        </p:nvSpPr>
        <p:spPr/>
        <p:txBody>
          <a:bodyPr/>
          <a:lstStyle/>
          <a:p>
            <a:fld id="{01EF25CA-2A39-4D12-B17C-F87BA59000A4}" type="slidenum">
              <a:rPr kumimoji="1" lang="ja-JP" altLang="en-US" smtClean="0"/>
              <a:t>‹#›</a:t>
            </a:fld>
            <a:endParaRPr kumimoji="1" lang="ja-JP" altLang="en-US"/>
          </a:p>
        </p:txBody>
      </p:sp>
    </p:spTree>
    <p:extLst>
      <p:ext uri="{BB962C8B-B14F-4D97-AF65-F5344CB8AC3E}">
        <p14:creationId xmlns:p14="http://schemas.microsoft.com/office/powerpoint/2010/main" val="319426863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p:cNvSpPr>
            <a:spLocks noGrp="1"/>
          </p:cNvSpPr>
          <p:nvPr>
            <p:ph type="dt" sz="half" idx="10"/>
          </p:nvPr>
        </p:nvSpPr>
        <p:spPr/>
        <p:txBody>
          <a:bodyPr/>
          <a:lstStyle/>
          <a:p>
            <a:fld id="{D1313400-A96F-4426-B9DB-243CF1BC5E5B}" type="datetimeFigureOut">
              <a:rPr kumimoji="1" lang="ja-JP" altLang="en-US" smtClean="0"/>
              <a:t>2026/9/16</a:t>
            </a:fld>
            <a:endParaRPr kumimoji="1" lang="ja-JP" altLang="en-US"/>
          </a:p>
        </p:txBody>
      </p:sp>
      <p:sp>
        <p:nvSpPr>
          <p:cNvPr id="3" name="フッター プレースホルダー 2"/>
          <p:cNvSpPr>
            <a:spLocks noGrp="1"/>
          </p:cNvSpPr>
          <p:nvPr>
            <p:ph type="ftr" sz="quarter" idx="11"/>
          </p:nvPr>
        </p:nvSpPr>
        <p:spPr/>
        <p:txBody>
          <a:bodyPr/>
          <a:lstStyle/>
          <a:p>
            <a:endParaRPr kumimoji="1" lang="ja-JP" altLang="en-US"/>
          </a:p>
        </p:txBody>
      </p:sp>
      <p:sp>
        <p:nvSpPr>
          <p:cNvPr id="4" name="スライド番号プレースホルダー 3"/>
          <p:cNvSpPr>
            <a:spLocks noGrp="1"/>
          </p:cNvSpPr>
          <p:nvPr>
            <p:ph type="sldNum" sz="quarter" idx="12"/>
          </p:nvPr>
        </p:nvSpPr>
        <p:spPr/>
        <p:txBody>
          <a:bodyPr/>
          <a:lstStyle/>
          <a:p>
            <a:fld id="{01EF25CA-2A39-4D12-B17C-F87BA59000A4}" type="slidenum">
              <a:rPr kumimoji="1" lang="ja-JP" altLang="en-US" smtClean="0"/>
              <a:t>‹#›</a:t>
            </a:fld>
            <a:endParaRPr kumimoji="1" lang="ja-JP" altLang="en-US"/>
          </a:p>
        </p:txBody>
      </p:sp>
    </p:spTree>
    <p:extLst>
      <p:ext uri="{BB962C8B-B14F-4D97-AF65-F5344CB8AC3E}">
        <p14:creationId xmlns:p14="http://schemas.microsoft.com/office/powerpoint/2010/main" val="113917358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10;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p:cNvSpPr>
            <a:spLocks noGrp="1"/>
          </p:cNvSpPr>
          <p:nvPr>
            <p:ph type="dt" sz="half" idx="10"/>
          </p:nvPr>
        </p:nvSpPr>
        <p:spPr/>
        <p:txBody>
          <a:bodyPr/>
          <a:lstStyle/>
          <a:p>
            <a:fld id="{D1313400-A96F-4426-B9DB-243CF1BC5E5B}" type="datetimeFigureOut">
              <a:rPr kumimoji="1" lang="ja-JP" altLang="en-US" smtClean="0"/>
              <a:t>2026/9/16</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01EF25CA-2A39-4D12-B17C-F87BA59000A4}" type="slidenum">
              <a:rPr kumimoji="1" lang="ja-JP" altLang="en-US" smtClean="0"/>
              <a:t>‹#›</a:t>
            </a:fld>
            <a:endParaRPr kumimoji="1" lang="ja-JP" altLang="en-US"/>
          </a:p>
        </p:txBody>
      </p:sp>
    </p:spTree>
    <p:extLst>
      <p:ext uri="{BB962C8B-B14F-4D97-AF65-F5344CB8AC3E}">
        <p14:creationId xmlns:p14="http://schemas.microsoft.com/office/powerpoint/2010/main" val="185283278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p:cNvSpPr>
            <a:spLocks noGrp="1"/>
          </p:cNvSpPr>
          <p:nvPr>
            <p:ph type="dt" sz="half" idx="10"/>
          </p:nvPr>
        </p:nvSpPr>
        <p:spPr/>
        <p:txBody>
          <a:bodyPr/>
          <a:lstStyle/>
          <a:p>
            <a:fld id="{D1313400-A96F-4426-B9DB-243CF1BC5E5B}" type="datetimeFigureOut">
              <a:rPr kumimoji="1" lang="ja-JP" altLang="en-US" smtClean="0"/>
              <a:t>2026/9/16</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01EF25CA-2A39-4D12-B17C-F87BA59000A4}" type="slidenum">
              <a:rPr kumimoji="1" lang="ja-JP" altLang="en-US" smtClean="0"/>
              <a:t>‹#›</a:t>
            </a:fld>
            <a:endParaRPr kumimoji="1" lang="ja-JP" altLang="en-US"/>
          </a:p>
        </p:txBody>
      </p:sp>
    </p:spTree>
    <p:extLst>
      <p:ext uri="{BB962C8B-B14F-4D97-AF65-F5344CB8AC3E}">
        <p14:creationId xmlns:p14="http://schemas.microsoft.com/office/powerpoint/2010/main" val="375123100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10;縦書きテキスト">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D1313400-A96F-4426-B9DB-243CF1BC5E5B}" type="datetimeFigureOut">
              <a:rPr kumimoji="1" lang="ja-JP" altLang="en-US" smtClean="0"/>
              <a:t>2026/9/16</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01EF25CA-2A39-4D12-B17C-F87BA59000A4}" type="slidenum">
              <a:rPr kumimoji="1" lang="ja-JP" altLang="en-US" smtClean="0"/>
              <a:t>‹#›</a:t>
            </a:fld>
            <a:endParaRPr kumimoji="1" lang="ja-JP" altLang="en-US"/>
          </a:p>
        </p:txBody>
      </p:sp>
    </p:spTree>
    <p:extLst>
      <p:ext uri="{BB962C8B-B14F-4D97-AF65-F5344CB8AC3E}">
        <p14:creationId xmlns:p14="http://schemas.microsoft.com/office/powerpoint/2010/main" val="25799735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D1313400-A96F-4426-B9DB-243CF1BC5E5B}" type="datetimeFigureOut">
              <a:rPr kumimoji="1" lang="ja-JP" altLang="en-US" smtClean="0"/>
              <a:t>2026/9/16</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01EF25CA-2A39-4D12-B17C-F87BA59000A4}" type="slidenum">
              <a:rPr kumimoji="1" lang="ja-JP" altLang="en-US" smtClean="0"/>
              <a:t>‹#›</a:t>
            </a:fld>
            <a:endParaRPr kumimoji="1" lang="ja-JP" altLang="en-US"/>
          </a:p>
        </p:txBody>
      </p:sp>
    </p:spTree>
    <p:extLst>
      <p:ext uri="{BB962C8B-B14F-4D97-AF65-F5344CB8AC3E}">
        <p14:creationId xmlns:p14="http://schemas.microsoft.com/office/powerpoint/2010/main" val="79127761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4">
                <a:lumMod val="40000"/>
                <a:lumOff val="60000"/>
              </a:schemeClr>
            </a:gs>
            <a:gs pos="83000">
              <a:schemeClr val="accent4">
                <a:lumMod val="40000"/>
                <a:lumOff val="60000"/>
              </a:schemeClr>
            </a:gs>
            <a:gs pos="100000">
              <a:schemeClr val="accent4">
                <a:lumMod val="40000"/>
                <a:lumOff val="60000"/>
              </a:schemeClr>
            </a:gs>
          </a:gsLst>
          <a:lin ang="13500000" scaled="1"/>
          <a:tileRect/>
        </a:gradFill>
        <a:effectLst/>
      </p:bgPr>
    </p:bg>
    <p:spTree>
      <p:nvGrpSpPr>
        <p:cNvPr id="1" name=""/>
        <p:cNvGrpSpPr/>
        <p:nvPr/>
      </p:nvGrpSpPr>
      <p:grpSpPr>
        <a:xfrm>
          <a:off x="0" y="0"/>
          <a:ext cx="0" cy="0"/>
          <a:chOff x="0" y="0"/>
          <a:chExt cx="0" cy="0"/>
        </a:xfrm>
      </p:grpSpPr>
      <p:sp>
        <p:nvSpPr>
          <p:cNvPr id="2" name="タイトル プレースホルダー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1313400-A96F-4426-B9DB-243CF1BC5E5B}" type="datetimeFigureOut">
              <a:rPr kumimoji="1" lang="ja-JP" altLang="en-US" smtClean="0"/>
              <a:t>2026/9/16</a:t>
            </a:fld>
            <a:endParaRPr kumimoji="1" lang="ja-JP" altLang="en-US"/>
          </a:p>
        </p:txBody>
      </p:sp>
      <p:sp>
        <p:nvSpPr>
          <p:cNvPr id="5" name="フッター プレースホルダー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1EF25CA-2A39-4D12-B17C-F87BA59000A4}" type="slidenum">
              <a:rPr kumimoji="1" lang="ja-JP" altLang="en-US" smtClean="0"/>
              <a:t>‹#›</a:t>
            </a:fld>
            <a:endParaRPr kumimoji="1" lang="ja-JP" altLang="en-US"/>
          </a:p>
        </p:txBody>
      </p:sp>
    </p:spTree>
    <p:extLst>
      <p:ext uri="{BB962C8B-B14F-4D97-AF65-F5344CB8AC3E}">
        <p14:creationId xmlns:p14="http://schemas.microsoft.com/office/powerpoint/2010/main" val="119748358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ctrTitle"/>
          </p:nvPr>
        </p:nvSpPr>
        <p:spPr>
          <a:xfrm>
            <a:off x="233082" y="1470211"/>
            <a:ext cx="11513090" cy="1861261"/>
          </a:xfrm>
          <a:solidFill>
            <a:srgbClr val="002060"/>
          </a:solidFill>
        </p:spPr>
        <p:txBody>
          <a:bodyPr>
            <a:normAutofit/>
          </a:bodyPr>
          <a:lstStyle/>
          <a:p>
            <a:r>
              <a:rPr kumimoji="1" lang="ja-JP" altLang="en-US" dirty="0">
                <a:solidFill>
                  <a:schemeClr val="bg1"/>
                </a:solidFill>
                <a:latin typeface="ＭＳ ゴシック" panose="020B0609070205080204" pitchFamily="49" charset="-128"/>
                <a:ea typeface="ＭＳ ゴシック" panose="020B0609070205080204" pitchFamily="49" charset="-128"/>
              </a:rPr>
              <a:t>令和８年度</a:t>
            </a:r>
            <a:r>
              <a:rPr lang="ja-JP" altLang="en-US" dirty="0">
                <a:solidFill>
                  <a:schemeClr val="bg1"/>
                </a:solidFill>
                <a:latin typeface="ＭＳ ゴシック" panose="020B0609070205080204" pitchFamily="49" charset="-128"/>
                <a:ea typeface="ＭＳ ゴシック" panose="020B0609070205080204" pitchFamily="49" charset="-128"/>
              </a:rPr>
              <a:t>９</a:t>
            </a:r>
            <a:r>
              <a:rPr kumimoji="1" lang="ja-JP" altLang="en-US" dirty="0">
                <a:solidFill>
                  <a:schemeClr val="bg1"/>
                </a:solidFill>
                <a:latin typeface="ＭＳ ゴシック" panose="020B0609070205080204" pitchFamily="49" charset="-128"/>
                <a:ea typeface="ＭＳ ゴシック" panose="020B0609070205080204" pitchFamily="49" charset="-128"/>
              </a:rPr>
              <a:t>月</a:t>
            </a:r>
            <a:br>
              <a:rPr kumimoji="1" lang="en-US" altLang="ja-JP" dirty="0">
                <a:solidFill>
                  <a:schemeClr val="bg1"/>
                </a:solidFill>
                <a:latin typeface="ＭＳ ゴシック" panose="020B0609070205080204" pitchFamily="49" charset="-128"/>
                <a:ea typeface="ＭＳ ゴシック" panose="020B0609070205080204" pitchFamily="49" charset="-128"/>
              </a:rPr>
            </a:br>
            <a:r>
              <a:rPr kumimoji="1" lang="ja-JP" altLang="en-US" dirty="0">
                <a:solidFill>
                  <a:schemeClr val="bg1"/>
                </a:solidFill>
                <a:latin typeface="ＭＳ ゴシック" panose="020B0609070205080204" pitchFamily="49" charset="-128"/>
                <a:ea typeface="ＭＳ ゴシック" panose="020B0609070205080204" pitchFamily="49" charset="-128"/>
              </a:rPr>
              <a:t>教務園務担当者連絡会</a:t>
            </a:r>
          </a:p>
        </p:txBody>
      </p:sp>
      <p:sp>
        <p:nvSpPr>
          <p:cNvPr id="3" name="サブタイトル 2"/>
          <p:cNvSpPr>
            <a:spLocks noGrp="1"/>
          </p:cNvSpPr>
          <p:nvPr>
            <p:ph type="subTitle" idx="1"/>
          </p:nvPr>
        </p:nvSpPr>
        <p:spPr>
          <a:xfrm>
            <a:off x="6123295" y="4954139"/>
            <a:ext cx="5622877" cy="777922"/>
          </a:xfrm>
        </p:spPr>
        <p:txBody>
          <a:bodyPr>
            <a:noAutofit/>
          </a:bodyPr>
          <a:lstStyle/>
          <a:p>
            <a:r>
              <a:rPr kumimoji="1" lang="ja-JP" altLang="en-US" sz="3600" dirty="0">
                <a:latin typeface="ＭＳ ゴシック" panose="020B0609070205080204" pitchFamily="49" charset="-128"/>
                <a:ea typeface="ＭＳ ゴシック" panose="020B0609070205080204" pitchFamily="49" charset="-128"/>
              </a:rPr>
              <a:t>令和８年９月</a:t>
            </a:r>
            <a:r>
              <a:rPr kumimoji="1" lang="en-US" altLang="ja-JP" sz="3600" dirty="0">
                <a:latin typeface="ＭＳ ゴシック" panose="020B0609070205080204" pitchFamily="49" charset="-128"/>
                <a:ea typeface="ＭＳ ゴシック" panose="020B0609070205080204" pitchFamily="49" charset="-128"/>
              </a:rPr>
              <a:t>24</a:t>
            </a:r>
            <a:r>
              <a:rPr kumimoji="1" lang="ja-JP" altLang="en-US" sz="3600" dirty="0">
                <a:latin typeface="ＭＳ ゴシック" panose="020B0609070205080204" pitchFamily="49" charset="-128"/>
                <a:ea typeface="ＭＳ ゴシック" panose="020B0609070205080204" pitchFamily="49" charset="-128"/>
              </a:rPr>
              <a:t>日（</a:t>
            </a:r>
            <a:r>
              <a:rPr lang="ja-JP" altLang="en-US" sz="3600" dirty="0">
                <a:latin typeface="ＭＳ ゴシック" panose="020B0609070205080204" pitchFamily="49" charset="-128"/>
                <a:ea typeface="ＭＳ ゴシック" panose="020B0609070205080204" pitchFamily="49" charset="-128"/>
              </a:rPr>
              <a:t>木</a:t>
            </a:r>
            <a:r>
              <a:rPr kumimoji="1" lang="ja-JP" altLang="en-US" sz="3600" dirty="0">
                <a:latin typeface="ＭＳ ゴシック" panose="020B0609070205080204" pitchFamily="49" charset="-128"/>
                <a:ea typeface="ＭＳ ゴシック" panose="020B0609070205080204" pitchFamily="49" charset="-128"/>
              </a:rPr>
              <a:t>）</a:t>
            </a:r>
          </a:p>
        </p:txBody>
      </p:sp>
    </p:spTree>
    <p:extLst>
      <p:ext uri="{BB962C8B-B14F-4D97-AF65-F5344CB8AC3E}">
        <p14:creationId xmlns:p14="http://schemas.microsoft.com/office/powerpoint/2010/main" val="16135074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0" y="163822"/>
            <a:ext cx="12192000" cy="911944"/>
          </a:xfrm>
          <a:solidFill>
            <a:srgbClr val="002060"/>
          </a:solidFill>
        </p:spPr>
        <p:txBody>
          <a:bodyPr>
            <a:noAutofit/>
          </a:bodyPr>
          <a:lstStyle/>
          <a:p>
            <a:r>
              <a:rPr lang="ja-JP" altLang="ja-JP" sz="5400" kern="100" spc="10" dirty="0">
                <a:solidFill>
                  <a:schemeClr val="bg1"/>
                </a:solidFill>
                <a:ea typeface="ＭＳ ゴシック" panose="020B0609070205080204" pitchFamily="49" charset="-128"/>
                <a:cs typeface="Times New Roman" panose="02020603050405020304" pitchFamily="18" charset="0"/>
              </a:rPr>
              <a:t>１　</a:t>
            </a:r>
            <a:r>
              <a:rPr lang="ja-JP" altLang="ja-JP" sz="4800" kern="100" dirty="0">
                <a:solidFill>
                  <a:schemeClr val="bg1"/>
                </a:solidFill>
                <a:ea typeface="ＭＳ ゴシック" panose="020B0609070205080204" pitchFamily="49" charset="-128"/>
                <a:cs typeface="Times New Roman" panose="02020603050405020304" pitchFamily="18" charset="0"/>
              </a:rPr>
              <a:t>実施授業時数について（１学期）</a:t>
            </a:r>
            <a:endParaRPr kumimoji="1" lang="ja-JP" altLang="en-US" sz="4800" dirty="0">
              <a:solidFill>
                <a:schemeClr val="bg1"/>
              </a:solidFill>
              <a:latin typeface="ＭＳ ゴシック" panose="020B0609070205080204" pitchFamily="49" charset="-128"/>
              <a:ea typeface="ＭＳ ゴシック" panose="020B0609070205080204" pitchFamily="49" charset="-128"/>
            </a:endParaRPr>
          </a:p>
        </p:txBody>
      </p:sp>
      <p:sp>
        <p:nvSpPr>
          <p:cNvPr id="5" name="Rectangle 3"/>
          <p:cNvSpPr>
            <a:spLocks noChangeArrowheads="1"/>
          </p:cNvSpPr>
          <p:nvPr/>
        </p:nvSpPr>
        <p:spPr bwMode="auto">
          <a:xfrm>
            <a:off x="0" y="45720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black"/>
              </a:solidFill>
              <a:effectLst/>
              <a:uLnTx/>
              <a:uFillTx/>
              <a:latin typeface="游ゴシック" panose="020F0502020204030204"/>
              <a:ea typeface="游ゴシック" panose="020B0400000000000000" pitchFamily="50" charset="-128"/>
              <a:cs typeface="+mn-cs"/>
            </a:endParaRPr>
          </a:p>
        </p:txBody>
      </p:sp>
      <p:pic>
        <p:nvPicPr>
          <p:cNvPr id="6" name="図 5">
            <a:extLst>
              <a:ext uri="{FF2B5EF4-FFF2-40B4-BE49-F238E27FC236}">
                <a16:creationId xmlns:a16="http://schemas.microsoft.com/office/drawing/2014/main" id="{65E2EBCC-46F0-7DB3-B871-BDCCDFFE637F}"/>
              </a:ext>
            </a:extLst>
          </p:cNvPr>
          <p:cNvPicPr>
            <a:picLocks noChangeAspect="1"/>
          </p:cNvPicPr>
          <p:nvPr/>
        </p:nvPicPr>
        <p:blipFill>
          <a:blip r:embed="rId3"/>
          <a:stretch>
            <a:fillRect/>
          </a:stretch>
        </p:blipFill>
        <p:spPr>
          <a:xfrm>
            <a:off x="237663" y="1369144"/>
            <a:ext cx="11560637" cy="5325034"/>
          </a:xfrm>
          <a:prstGeom prst="rect">
            <a:avLst/>
          </a:prstGeom>
          <a:ln w="19050">
            <a:solidFill>
              <a:schemeClr val="tx1"/>
            </a:solidFill>
          </a:ln>
        </p:spPr>
      </p:pic>
    </p:spTree>
    <p:extLst>
      <p:ext uri="{BB962C8B-B14F-4D97-AF65-F5344CB8AC3E}">
        <p14:creationId xmlns:p14="http://schemas.microsoft.com/office/powerpoint/2010/main" val="316006869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0" y="163822"/>
            <a:ext cx="12192000" cy="911944"/>
          </a:xfrm>
          <a:solidFill>
            <a:srgbClr val="002060"/>
          </a:solidFill>
        </p:spPr>
        <p:txBody>
          <a:bodyPr>
            <a:noAutofit/>
          </a:bodyPr>
          <a:lstStyle/>
          <a:p>
            <a:r>
              <a:rPr kumimoji="1" lang="ja-JP" altLang="en-US" sz="3600" dirty="0">
                <a:solidFill>
                  <a:schemeClr val="bg1"/>
                </a:solidFill>
                <a:latin typeface="ＭＳ ゴシック" panose="020B0609070205080204" pitchFamily="49" charset="-128"/>
                <a:ea typeface="ＭＳ ゴシック" panose="020B0609070205080204" pitchFamily="49" charset="-128"/>
              </a:rPr>
              <a:t>２　全国学力・学習状況調査の結果および活用について</a:t>
            </a:r>
          </a:p>
        </p:txBody>
      </p:sp>
      <p:sp>
        <p:nvSpPr>
          <p:cNvPr id="4" name="Rectangle 2"/>
          <p:cNvSpPr>
            <a:spLocks noChangeArrowheads="1"/>
          </p:cNvSpPr>
          <p:nvPr/>
        </p:nvSpPr>
        <p:spPr bwMode="auto">
          <a:xfrm>
            <a:off x="197224" y="1172574"/>
            <a:ext cx="3715557" cy="584775"/>
          </a:xfrm>
          <a:prstGeom prst="rect">
            <a:avLst/>
          </a:prstGeom>
          <a:solidFill>
            <a:schemeClr val="bg1"/>
          </a:solidFill>
          <a:ln w="28575">
            <a:solidFill>
              <a:srgbClr val="002060"/>
            </a:solidFill>
          </a:ln>
          <a:effec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ja-JP" altLang="en-US" sz="3200" b="1" dirty="0">
                <a:latin typeface="ＭＳ ゴシック" panose="020B0609070205080204" pitchFamily="49" charset="-128"/>
                <a:ea typeface="ＭＳ ゴシック" panose="020B0609070205080204" pitchFamily="49" charset="-128"/>
                <a:cs typeface="Times New Roman" panose="02020603050405020304" pitchFamily="18" charset="0"/>
              </a:rPr>
              <a:t>教科に関する調査</a:t>
            </a:r>
            <a:endParaRPr kumimoji="0" lang="ja-JP" altLang="ja-JP" sz="4000" b="1" i="0" u="none" strike="noStrike" cap="none" normalizeH="0" baseline="0" dirty="0">
              <a:ln>
                <a:noFill/>
              </a:ln>
              <a:solidFill>
                <a:schemeClr val="tx1"/>
              </a:solidFill>
              <a:effectLst/>
              <a:latin typeface="ＭＳ ゴシック" panose="020B0609070205080204" pitchFamily="49" charset="-128"/>
              <a:ea typeface="ＭＳ ゴシック" panose="020B0609070205080204" pitchFamily="49" charset="-128"/>
            </a:endParaRPr>
          </a:p>
        </p:txBody>
      </p:sp>
      <p:sp>
        <p:nvSpPr>
          <p:cNvPr id="5" name="Rectangle 3"/>
          <p:cNvSpPr>
            <a:spLocks noChangeArrowheads="1"/>
          </p:cNvSpPr>
          <p:nvPr/>
        </p:nvSpPr>
        <p:spPr bwMode="auto">
          <a:xfrm>
            <a:off x="0" y="45720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ja-JP" altLang="en-US"/>
          </a:p>
        </p:txBody>
      </p:sp>
      <p:pic>
        <p:nvPicPr>
          <p:cNvPr id="9" name="図 8">
            <a:extLst>
              <a:ext uri="{FF2B5EF4-FFF2-40B4-BE49-F238E27FC236}">
                <a16:creationId xmlns:a16="http://schemas.microsoft.com/office/drawing/2014/main" id="{32CFCED1-4C92-BEBA-45D3-878A5D96A65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97223" y="1854156"/>
            <a:ext cx="6047805" cy="4635543"/>
          </a:xfrm>
          <a:prstGeom prst="rect">
            <a:avLst/>
          </a:prstGeom>
        </p:spPr>
      </p:pic>
      <p:pic>
        <p:nvPicPr>
          <p:cNvPr id="13" name="図 12">
            <a:extLst>
              <a:ext uri="{FF2B5EF4-FFF2-40B4-BE49-F238E27FC236}">
                <a16:creationId xmlns:a16="http://schemas.microsoft.com/office/drawing/2014/main" id="{5E12E914-F91B-CE8B-FE8F-FD2FD01590E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349776" y="1854155"/>
            <a:ext cx="5727885" cy="3467145"/>
          </a:xfrm>
          <a:prstGeom prst="rect">
            <a:avLst/>
          </a:prstGeom>
        </p:spPr>
      </p:pic>
    </p:spTree>
    <p:extLst>
      <p:ext uri="{BB962C8B-B14F-4D97-AF65-F5344CB8AC3E}">
        <p14:creationId xmlns:p14="http://schemas.microsoft.com/office/powerpoint/2010/main" val="22925797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0" y="163822"/>
            <a:ext cx="12192000" cy="911944"/>
          </a:xfrm>
          <a:solidFill>
            <a:srgbClr val="002060"/>
          </a:solidFill>
        </p:spPr>
        <p:txBody>
          <a:bodyPr>
            <a:noAutofit/>
          </a:bodyPr>
          <a:lstStyle/>
          <a:p>
            <a:r>
              <a:rPr kumimoji="1" lang="ja-JP" altLang="en-US" sz="3600" dirty="0">
                <a:solidFill>
                  <a:schemeClr val="bg1"/>
                </a:solidFill>
                <a:latin typeface="ＭＳ ゴシック" panose="020B0609070205080204" pitchFamily="49" charset="-128"/>
                <a:ea typeface="ＭＳ ゴシック" panose="020B0609070205080204" pitchFamily="49" charset="-128"/>
              </a:rPr>
              <a:t>２　全国学力・学習状況調査の結果および活用について</a:t>
            </a:r>
          </a:p>
        </p:txBody>
      </p:sp>
      <p:sp>
        <p:nvSpPr>
          <p:cNvPr id="4" name="Rectangle 2"/>
          <p:cNvSpPr>
            <a:spLocks noChangeArrowheads="1"/>
          </p:cNvSpPr>
          <p:nvPr/>
        </p:nvSpPr>
        <p:spPr bwMode="auto">
          <a:xfrm>
            <a:off x="197225" y="1172574"/>
            <a:ext cx="2293728" cy="584775"/>
          </a:xfrm>
          <a:prstGeom prst="rect">
            <a:avLst/>
          </a:prstGeom>
          <a:solidFill>
            <a:schemeClr val="bg1"/>
          </a:solidFill>
          <a:ln w="28575">
            <a:solidFill>
              <a:srgbClr val="002060"/>
            </a:solidFill>
          </a:ln>
          <a:effec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ja-JP" altLang="en-US" sz="3200" b="1" dirty="0">
                <a:solidFill>
                  <a:prstClr val="black"/>
                </a:solidFill>
                <a:latin typeface="ＭＳ ゴシック" panose="020B0609070205080204" pitchFamily="49" charset="-128"/>
                <a:ea typeface="ＭＳ ゴシック" panose="020B0609070205080204" pitchFamily="49" charset="-128"/>
                <a:cs typeface="Times New Roman" panose="02020603050405020304" pitchFamily="18" charset="0"/>
              </a:rPr>
              <a:t>質問紙調査</a:t>
            </a:r>
            <a:endParaRPr kumimoji="0" lang="ja-JP" altLang="ja-JP" sz="4000" b="1" i="0" u="none" strike="noStrike" kern="1200" cap="none" spc="0" normalizeH="0" baseline="0" noProof="0" dirty="0">
              <a:ln>
                <a:noFill/>
              </a:ln>
              <a:solidFill>
                <a:prstClr val="black"/>
              </a:solidFill>
              <a:effectLst/>
              <a:uLnTx/>
              <a:uFillTx/>
              <a:latin typeface="ＭＳ ゴシック" panose="020B0609070205080204" pitchFamily="49" charset="-128"/>
              <a:ea typeface="ＭＳ ゴシック" panose="020B0609070205080204" pitchFamily="49" charset="-128"/>
              <a:cs typeface="+mn-cs"/>
            </a:endParaRPr>
          </a:p>
        </p:txBody>
      </p:sp>
      <p:sp>
        <p:nvSpPr>
          <p:cNvPr id="5" name="Rectangle 3"/>
          <p:cNvSpPr>
            <a:spLocks noChangeArrowheads="1"/>
          </p:cNvSpPr>
          <p:nvPr/>
        </p:nvSpPr>
        <p:spPr bwMode="auto">
          <a:xfrm>
            <a:off x="0" y="45720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black"/>
              </a:solidFill>
              <a:effectLst/>
              <a:uLnTx/>
              <a:uFillTx/>
              <a:latin typeface="游ゴシック" panose="020F0502020204030204"/>
              <a:ea typeface="游ゴシック" panose="020B0400000000000000" pitchFamily="50" charset="-128"/>
              <a:cs typeface="+mn-cs"/>
            </a:endParaRPr>
          </a:p>
        </p:txBody>
      </p:sp>
      <p:pic>
        <p:nvPicPr>
          <p:cNvPr id="6" name="図 5">
            <a:extLst>
              <a:ext uri="{FF2B5EF4-FFF2-40B4-BE49-F238E27FC236}">
                <a16:creationId xmlns:a16="http://schemas.microsoft.com/office/drawing/2014/main" id="{C7456CD2-EC25-9B38-8803-D132C1B7BCB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75714" y="1994720"/>
            <a:ext cx="11171643" cy="3453643"/>
          </a:xfrm>
          <a:prstGeom prst="rect">
            <a:avLst/>
          </a:prstGeom>
        </p:spPr>
      </p:pic>
    </p:spTree>
    <p:extLst>
      <p:ext uri="{BB962C8B-B14F-4D97-AF65-F5344CB8AC3E}">
        <p14:creationId xmlns:p14="http://schemas.microsoft.com/office/powerpoint/2010/main" val="257502092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37FDC2-BCA6-9472-1333-06460A2DE07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1DF0CCE-E885-D37F-B872-D14D357667F1}"/>
              </a:ext>
            </a:extLst>
          </p:cNvPr>
          <p:cNvSpPr>
            <a:spLocks noGrp="1"/>
          </p:cNvSpPr>
          <p:nvPr>
            <p:ph type="title"/>
          </p:nvPr>
        </p:nvSpPr>
        <p:spPr>
          <a:xfrm>
            <a:off x="0" y="163822"/>
            <a:ext cx="12192000" cy="911944"/>
          </a:xfrm>
          <a:solidFill>
            <a:srgbClr val="002060"/>
          </a:solidFill>
        </p:spPr>
        <p:txBody>
          <a:bodyPr>
            <a:noAutofit/>
          </a:bodyPr>
          <a:lstStyle/>
          <a:p>
            <a:r>
              <a:rPr kumimoji="1" lang="ja-JP" altLang="en-US" sz="3600" dirty="0">
                <a:solidFill>
                  <a:schemeClr val="bg1"/>
                </a:solidFill>
                <a:latin typeface="ＭＳ ゴシック" panose="020B0609070205080204" pitchFamily="49" charset="-128"/>
                <a:ea typeface="ＭＳ ゴシック" panose="020B0609070205080204" pitchFamily="49" charset="-128"/>
              </a:rPr>
              <a:t>２　全国学力・学習状況調査の結果および活用について</a:t>
            </a:r>
          </a:p>
        </p:txBody>
      </p:sp>
      <p:sp>
        <p:nvSpPr>
          <p:cNvPr id="4" name="Rectangle 2">
            <a:extLst>
              <a:ext uri="{FF2B5EF4-FFF2-40B4-BE49-F238E27FC236}">
                <a16:creationId xmlns:a16="http://schemas.microsoft.com/office/drawing/2014/main" id="{E2A47F40-4B8D-EDFC-74FD-785B37FDAB28}"/>
              </a:ext>
            </a:extLst>
          </p:cNvPr>
          <p:cNvSpPr>
            <a:spLocks noChangeArrowheads="1"/>
          </p:cNvSpPr>
          <p:nvPr/>
        </p:nvSpPr>
        <p:spPr bwMode="auto">
          <a:xfrm>
            <a:off x="197225" y="1172574"/>
            <a:ext cx="2293728" cy="584775"/>
          </a:xfrm>
          <a:prstGeom prst="rect">
            <a:avLst/>
          </a:prstGeom>
          <a:solidFill>
            <a:schemeClr val="bg1"/>
          </a:solidFill>
          <a:ln w="28575">
            <a:solidFill>
              <a:srgbClr val="002060"/>
            </a:solidFill>
          </a:ln>
          <a:effec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ja-JP" altLang="en-US" sz="3200" b="1" dirty="0">
                <a:solidFill>
                  <a:prstClr val="black"/>
                </a:solidFill>
                <a:latin typeface="ＭＳ ゴシック" panose="020B0609070205080204" pitchFamily="49" charset="-128"/>
                <a:ea typeface="ＭＳ ゴシック" panose="020B0609070205080204" pitchFamily="49" charset="-128"/>
                <a:cs typeface="Times New Roman" panose="02020603050405020304" pitchFamily="18" charset="0"/>
              </a:rPr>
              <a:t>質問紙調査</a:t>
            </a:r>
            <a:endParaRPr kumimoji="0" lang="ja-JP" altLang="ja-JP" sz="4000" b="1" i="0" u="none" strike="noStrike" kern="1200" cap="none" spc="0" normalizeH="0" baseline="0" noProof="0" dirty="0">
              <a:ln>
                <a:noFill/>
              </a:ln>
              <a:solidFill>
                <a:prstClr val="black"/>
              </a:solidFill>
              <a:effectLst/>
              <a:uLnTx/>
              <a:uFillTx/>
              <a:latin typeface="ＭＳ ゴシック" panose="020B0609070205080204" pitchFamily="49" charset="-128"/>
              <a:ea typeface="ＭＳ ゴシック" panose="020B0609070205080204" pitchFamily="49" charset="-128"/>
              <a:cs typeface="+mn-cs"/>
            </a:endParaRPr>
          </a:p>
        </p:txBody>
      </p:sp>
      <p:sp>
        <p:nvSpPr>
          <p:cNvPr id="5" name="Rectangle 3">
            <a:extLst>
              <a:ext uri="{FF2B5EF4-FFF2-40B4-BE49-F238E27FC236}">
                <a16:creationId xmlns:a16="http://schemas.microsoft.com/office/drawing/2014/main" id="{986D99E2-DD4F-2C22-EBA8-EA0E4F0DA030}"/>
              </a:ext>
            </a:extLst>
          </p:cNvPr>
          <p:cNvSpPr>
            <a:spLocks noChangeArrowheads="1"/>
          </p:cNvSpPr>
          <p:nvPr/>
        </p:nvSpPr>
        <p:spPr bwMode="auto">
          <a:xfrm>
            <a:off x="0" y="45720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black"/>
              </a:solidFill>
              <a:effectLst/>
              <a:uLnTx/>
              <a:uFillTx/>
              <a:latin typeface="游ゴシック" panose="020F0502020204030204"/>
              <a:ea typeface="游ゴシック" panose="020B0400000000000000" pitchFamily="50" charset="-128"/>
              <a:cs typeface="+mn-cs"/>
            </a:endParaRPr>
          </a:p>
        </p:txBody>
      </p:sp>
      <p:pic>
        <p:nvPicPr>
          <p:cNvPr id="8" name="図 7">
            <a:extLst>
              <a:ext uri="{FF2B5EF4-FFF2-40B4-BE49-F238E27FC236}">
                <a16:creationId xmlns:a16="http://schemas.microsoft.com/office/drawing/2014/main" id="{656BC735-8148-3BE7-D61E-935A272B202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97224" y="1854157"/>
            <a:ext cx="11785226" cy="4920634"/>
          </a:xfrm>
          <a:prstGeom prst="rect">
            <a:avLst/>
          </a:prstGeom>
        </p:spPr>
      </p:pic>
    </p:spTree>
    <p:extLst>
      <p:ext uri="{BB962C8B-B14F-4D97-AF65-F5344CB8AC3E}">
        <p14:creationId xmlns:p14="http://schemas.microsoft.com/office/powerpoint/2010/main" val="73997156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0" y="165232"/>
            <a:ext cx="12192000" cy="1325563"/>
          </a:xfrm>
          <a:solidFill>
            <a:srgbClr val="002060"/>
          </a:solidFill>
        </p:spPr>
        <p:txBody>
          <a:bodyPr>
            <a:noAutofit/>
          </a:bodyPr>
          <a:lstStyle/>
          <a:p>
            <a:r>
              <a:rPr lang="ja-JP" altLang="en-US" sz="3600" dirty="0">
                <a:solidFill>
                  <a:schemeClr val="bg1"/>
                </a:solidFill>
                <a:latin typeface="ＭＳ ゴシック" panose="020B0609070205080204" pitchFamily="49" charset="-128"/>
                <a:ea typeface="ＭＳ ゴシック" panose="020B0609070205080204" pitchFamily="49" charset="-128"/>
              </a:rPr>
              <a:t>３</a:t>
            </a:r>
            <a:r>
              <a:rPr kumimoji="1" lang="ja-JP" altLang="en-US" sz="3600" dirty="0">
                <a:solidFill>
                  <a:schemeClr val="bg1"/>
                </a:solidFill>
                <a:latin typeface="ＭＳ ゴシック" panose="020B0609070205080204" pitchFamily="49" charset="-128"/>
                <a:ea typeface="ＭＳ ゴシック" panose="020B0609070205080204" pitchFamily="49" charset="-128"/>
              </a:rPr>
              <a:t>　令和８年度授業改善推進プランの作成および</a:t>
            </a:r>
            <a:br>
              <a:rPr kumimoji="1" lang="en-US" altLang="ja-JP" sz="3600" dirty="0">
                <a:solidFill>
                  <a:schemeClr val="bg1"/>
                </a:solidFill>
                <a:latin typeface="ＭＳ ゴシック" panose="020B0609070205080204" pitchFamily="49" charset="-128"/>
                <a:ea typeface="ＭＳ ゴシック" panose="020B0609070205080204" pitchFamily="49" charset="-128"/>
              </a:rPr>
            </a:br>
            <a:r>
              <a:rPr lang="ja-JP" altLang="en-US" sz="3600" dirty="0">
                <a:solidFill>
                  <a:schemeClr val="bg1"/>
                </a:solidFill>
                <a:latin typeface="ＭＳ ゴシック" panose="020B0609070205080204" pitchFamily="49" charset="-128"/>
                <a:ea typeface="ＭＳ ゴシック" panose="020B0609070205080204" pitchFamily="49" charset="-128"/>
              </a:rPr>
              <a:t>　　</a:t>
            </a:r>
            <a:r>
              <a:rPr kumimoji="1" lang="ja-JP" altLang="en-US" sz="3600" dirty="0">
                <a:solidFill>
                  <a:schemeClr val="bg1"/>
                </a:solidFill>
                <a:latin typeface="ＭＳ ゴシック" panose="020B0609070205080204" pitchFamily="49" charset="-128"/>
                <a:ea typeface="ＭＳ ゴシック" panose="020B0609070205080204" pitchFamily="49" charset="-128"/>
              </a:rPr>
              <a:t>授業改善推進プランに基づく教育活動の実施について</a:t>
            </a:r>
          </a:p>
        </p:txBody>
      </p:sp>
      <p:sp>
        <p:nvSpPr>
          <p:cNvPr id="3" name="コンテンツ プレースホルダー 2"/>
          <p:cNvSpPr>
            <a:spLocks noGrp="1"/>
          </p:cNvSpPr>
          <p:nvPr>
            <p:ph idx="1"/>
          </p:nvPr>
        </p:nvSpPr>
        <p:spPr>
          <a:xfrm>
            <a:off x="694330" y="1490795"/>
            <a:ext cx="10995646" cy="5107229"/>
          </a:xfrm>
        </p:spPr>
        <p:txBody>
          <a:bodyPr>
            <a:noAutofit/>
          </a:bodyPr>
          <a:lstStyle/>
          <a:p>
            <a:pPr marL="0" indent="0">
              <a:buNone/>
            </a:pPr>
            <a:r>
              <a:rPr kumimoji="1" lang="ja-JP" altLang="en-US" sz="3600" dirty="0">
                <a:latin typeface="ＭＳ ゴシック" panose="020B0609070205080204" pitchFamily="49" charset="-128"/>
                <a:ea typeface="ＭＳ ゴシック" panose="020B0609070205080204" pitchFamily="49" charset="-128"/>
              </a:rPr>
              <a:t>（１）提出資料</a:t>
            </a:r>
            <a:r>
              <a:rPr lang="ja-JP" altLang="en-US" sz="3600" dirty="0">
                <a:latin typeface="ＭＳ ゴシック" panose="020B0609070205080204" pitchFamily="49" charset="-128"/>
                <a:ea typeface="ＭＳ ゴシック" panose="020B0609070205080204" pitchFamily="49" charset="-128"/>
              </a:rPr>
              <a:t>（１点）</a:t>
            </a:r>
            <a:endParaRPr kumimoji="1" lang="en-US" altLang="ja-JP" sz="3600" dirty="0">
              <a:latin typeface="ＭＳ ゴシック" panose="020B0609070205080204" pitchFamily="49" charset="-128"/>
              <a:ea typeface="ＭＳ ゴシック" panose="020B0609070205080204" pitchFamily="49" charset="-128"/>
            </a:endParaRPr>
          </a:p>
          <a:p>
            <a:pPr marL="0" indent="0">
              <a:buNone/>
            </a:pPr>
            <a:r>
              <a:rPr lang="ja-JP" altLang="en-US" sz="3600" dirty="0">
                <a:latin typeface="ＭＳ ゴシック" panose="020B0609070205080204" pitchFamily="49" charset="-128"/>
                <a:ea typeface="ＭＳ ゴシック" panose="020B0609070205080204" pitchFamily="49" charset="-128"/>
              </a:rPr>
              <a:t>　　</a:t>
            </a:r>
            <a:r>
              <a:rPr lang="ja-JP" altLang="en-US" sz="3600" dirty="0">
                <a:solidFill>
                  <a:srgbClr val="FF0000"/>
                </a:solidFill>
                <a:latin typeface="ＭＳ ゴシック" panose="020B0609070205080204" pitchFamily="49" charset="-128"/>
                <a:ea typeface="ＭＳ ゴシック" panose="020B0609070205080204" pitchFamily="49" charset="-128"/>
              </a:rPr>
              <a:t>　</a:t>
            </a:r>
            <a:r>
              <a:rPr lang="ja-JP" altLang="en-US" sz="3600" u="sng" dirty="0">
                <a:solidFill>
                  <a:srgbClr val="FF0000"/>
                </a:solidFill>
                <a:latin typeface="ＭＳ ゴシック" panose="020B0609070205080204" pitchFamily="49" charset="-128"/>
                <a:ea typeface="ＭＳ ゴシック" panose="020B0609070205080204" pitchFamily="49" charset="-128"/>
              </a:rPr>
              <a:t>課題分析と授業改善策</a:t>
            </a:r>
            <a:endParaRPr lang="en-US" altLang="ja-JP" sz="3600" u="sng" dirty="0">
              <a:solidFill>
                <a:srgbClr val="FF0000"/>
              </a:solidFill>
              <a:latin typeface="ＭＳ ゴシック" panose="020B0609070205080204" pitchFamily="49" charset="-128"/>
              <a:ea typeface="ＭＳ ゴシック" panose="020B0609070205080204" pitchFamily="49" charset="-128"/>
            </a:endParaRPr>
          </a:p>
          <a:p>
            <a:pPr marL="0" indent="0">
              <a:buNone/>
            </a:pPr>
            <a:endParaRPr lang="en-US" altLang="ja-JP" sz="1200" dirty="0">
              <a:latin typeface="ＭＳ ゴシック" panose="020B0609070205080204" pitchFamily="49" charset="-128"/>
              <a:ea typeface="ＭＳ ゴシック" panose="020B0609070205080204" pitchFamily="49" charset="-128"/>
            </a:endParaRPr>
          </a:p>
          <a:p>
            <a:pPr marL="0" indent="0">
              <a:buNone/>
            </a:pPr>
            <a:r>
              <a:rPr lang="ja-JP" altLang="en-US" sz="3600" dirty="0">
                <a:latin typeface="ＭＳ ゴシック" panose="020B0609070205080204" pitchFamily="49" charset="-128"/>
                <a:ea typeface="ＭＳ ゴシック" panose="020B0609070205080204" pitchFamily="49" charset="-128"/>
              </a:rPr>
              <a:t>（２）提出期限</a:t>
            </a:r>
            <a:endParaRPr lang="en-US" altLang="ja-JP" sz="3600" dirty="0">
              <a:latin typeface="ＭＳ ゴシック" panose="020B0609070205080204" pitchFamily="49" charset="-128"/>
              <a:ea typeface="ＭＳ ゴシック" panose="020B0609070205080204" pitchFamily="49" charset="-128"/>
            </a:endParaRPr>
          </a:p>
          <a:p>
            <a:pPr marL="0" indent="0">
              <a:buNone/>
            </a:pPr>
            <a:r>
              <a:rPr lang="ja-JP" altLang="en-US" sz="3600" dirty="0">
                <a:latin typeface="ＭＳ ゴシック" panose="020B0609070205080204" pitchFamily="49" charset="-128"/>
                <a:ea typeface="ＭＳ ゴシック" panose="020B0609070205080204" pitchFamily="49" charset="-128"/>
              </a:rPr>
              <a:t>　　　</a:t>
            </a:r>
            <a:r>
              <a:rPr lang="ja-JP" altLang="en-US" sz="3600" u="sng" dirty="0">
                <a:solidFill>
                  <a:srgbClr val="FF0000"/>
                </a:solidFill>
                <a:latin typeface="ＭＳ ゴシック" panose="020B0609070205080204" pitchFamily="49" charset="-128"/>
                <a:ea typeface="ＭＳ ゴシック" panose="020B0609070205080204" pitchFamily="49" charset="-128"/>
              </a:rPr>
              <a:t>令和８年９月</a:t>
            </a:r>
            <a:r>
              <a:rPr lang="en-US" altLang="ja-JP" sz="3600" u="sng" dirty="0">
                <a:solidFill>
                  <a:srgbClr val="FF0000"/>
                </a:solidFill>
                <a:latin typeface="ＭＳ ゴシック" panose="020B0609070205080204" pitchFamily="49" charset="-128"/>
                <a:ea typeface="ＭＳ ゴシック" panose="020B0609070205080204" pitchFamily="49" charset="-128"/>
              </a:rPr>
              <a:t>30</a:t>
            </a:r>
            <a:r>
              <a:rPr lang="ja-JP" altLang="en-US" sz="3600" u="sng" dirty="0">
                <a:solidFill>
                  <a:srgbClr val="FF0000"/>
                </a:solidFill>
                <a:latin typeface="ＭＳ ゴシック" panose="020B0609070205080204" pitchFamily="49" charset="-128"/>
                <a:ea typeface="ＭＳ ゴシック" panose="020B0609070205080204" pitchFamily="49" charset="-128"/>
              </a:rPr>
              <a:t>日（水）</a:t>
            </a:r>
            <a:endParaRPr lang="en-US" altLang="ja-JP" sz="3600" u="sng" dirty="0">
              <a:solidFill>
                <a:srgbClr val="FF0000"/>
              </a:solidFill>
              <a:latin typeface="ＭＳ ゴシック" panose="020B0609070205080204" pitchFamily="49" charset="-128"/>
              <a:ea typeface="ＭＳ ゴシック" panose="020B0609070205080204" pitchFamily="49" charset="-128"/>
            </a:endParaRPr>
          </a:p>
          <a:p>
            <a:pPr marL="0" indent="0">
              <a:buNone/>
            </a:pPr>
            <a:endParaRPr lang="en-US" altLang="ja-JP" sz="1200" dirty="0">
              <a:latin typeface="ＭＳ ゴシック" panose="020B0609070205080204" pitchFamily="49" charset="-128"/>
              <a:ea typeface="ＭＳ ゴシック" panose="020B0609070205080204" pitchFamily="49" charset="-128"/>
            </a:endParaRPr>
          </a:p>
          <a:p>
            <a:pPr marL="0" indent="0">
              <a:buNone/>
            </a:pPr>
            <a:r>
              <a:rPr lang="ja-JP" altLang="en-US" sz="3600" dirty="0">
                <a:latin typeface="ＭＳ ゴシック" panose="020B0609070205080204" pitchFamily="49" charset="-128"/>
                <a:ea typeface="ＭＳ ゴシック" panose="020B0609070205080204" pitchFamily="49" charset="-128"/>
              </a:rPr>
              <a:t>（３）提出方法</a:t>
            </a:r>
            <a:endParaRPr lang="en-US" altLang="ja-JP" sz="3600" dirty="0">
              <a:latin typeface="ＭＳ ゴシック" panose="020B0609070205080204" pitchFamily="49" charset="-128"/>
              <a:ea typeface="ＭＳ ゴシック" panose="020B0609070205080204" pitchFamily="49" charset="-128"/>
            </a:endParaRPr>
          </a:p>
          <a:p>
            <a:pPr marL="0" indent="0">
              <a:buNone/>
            </a:pPr>
            <a:r>
              <a:rPr lang="ja-JP" altLang="en-US" sz="3600" dirty="0">
                <a:latin typeface="ＭＳ ゴシック" panose="020B0609070205080204" pitchFamily="49" charset="-128"/>
                <a:ea typeface="ＭＳ ゴシック" panose="020B0609070205080204" pitchFamily="49" charset="-128"/>
              </a:rPr>
              <a:t>　　　</a:t>
            </a:r>
            <a:r>
              <a:rPr lang="ja-JP" altLang="en-US" sz="3600" u="sng" dirty="0">
                <a:solidFill>
                  <a:srgbClr val="FF0000"/>
                </a:solidFill>
                <a:latin typeface="ＭＳ ゴシック" panose="020B0609070205080204" pitchFamily="49" charset="-128"/>
                <a:ea typeface="ＭＳ ゴシック" panose="020B0609070205080204" pitchFamily="49" charset="-128"/>
              </a:rPr>
              <a:t>Ｃ４ｔｈ個人連絡にて各学校の担当指導主事</a:t>
            </a:r>
            <a:endParaRPr lang="en-US" altLang="ja-JP" sz="3600" u="sng" dirty="0">
              <a:solidFill>
                <a:srgbClr val="FF0000"/>
              </a:solidFill>
              <a:latin typeface="ＭＳ ゴシック" panose="020B0609070205080204" pitchFamily="49" charset="-128"/>
              <a:ea typeface="ＭＳ ゴシック" panose="020B0609070205080204" pitchFamily="49" charset="-128"/>
            </a:endParaRPr>
          </a:p>
        </p:txBody>
      </p:sp>
    </p:spTree>
    <p:extLst>
      <p:ext uri="{BB962C8B-B14F-4D97-AF65-F5344CB8AC3E}">
        <p14:creationId xmlns:p14="http://schemas.microsoft.com/office/powerpoint/2010/main" val="2636778455"/>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1247</TotalTime>
  <Words>1042</Words>
  <Application>Microsoft Office PowerPoint</Application>
  <PresentationFormat>ワイド画面</PresentationFormat>
  <Paragraphs>42</Paragraphs>
  <Slides>6</Slides>
  <Notes>6</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6</vt:i4>
      </vt:variant>
    </vt:vector>
  </HeadingPairs>
  <TitlesOfParts>
    <vt:vector size="11" baseType="lpstr">
      <vt:lpstr>ＭＳ ゴシック</vt:lpstr>
      <vt:lpstr>游ゴシック</vt:lpstr>
      <vt:lpstr>游ゴシック Light</vt:lpstr>
      <vt:lpstr>Arial</vt:lpstr>
      <vt:lpstr>Office テーマ</vt:lpstr>
      <vt:lpstr>令和８年度９月 教務園務担当者連絡会</vt:lpstr>
      <vt:lpstr>１　実施授業時数について（１学期）</vt:lpstr>
      <vt:lpstr>２　全国学力・学習状況調査の結果および活用について</vt:lpstr>
      <vt:lpstr>２　全国学力・学習状況調査の結果および活用について</vt:lpstr>
      <vt:lpstr>２　全国学力・学習状況調査の結果および活用について</vt:lpstr>
      <vt:lpstr>３　令和８年度授業改善推進プランの作成および 　　授業改善推進プランに基づく教育活動の実施について</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令和４年度7月 合同副校園長会 教務関係について</dc:title>
  <dc:creator>市川　朋基</dc:creator>
  <cp:lastModifiedBy>紺多　章一郎</cp:lastModifiedBy>
  <cp:revision>95</cp:revision>
  <cp:lastPrinted>2023-09-13T23:47:35Z</cp:lastPrinted>
  <dcterms:created xsi:type="dcterms:W3CDTF">2022-07-08T23:12:23Z</dcterms:created>
  <dcterms:modified xsi:type="dcterms:W3CDTF">2026-09-16T04:43:31Z</dcterms:modified>
</cp:coreProperties>
</file>