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【0:00】皆様、こんにちは。本日はお忙しい中、ありがとうございます。これから45分間、指導講評の時間をいただきます。
テーマは「10年後の学校を、いま描く」です。8月31日に中教審の教育課程企画特別部会で示された、次期学習指導要領の審議まとめ（素案）を手がかりに、自由進度学習、探究、特にマイ探究、そしてキャリア教育について、皆様と一緒に考えたいと思います。
今日は私が一方的に話す時間ではありません。皆様同士で話し合う時間を2回とっています。まずは体と口をほぐすところから始めましょう。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本日の流れです。緑色が皆様に動いていただく時間で、合わせて22分、ほぼ半分です。
講話は短く区切り、その都度、話し合いにつなげます。校長先生、副校長先生、先生方が混ざったグループで、ぜひ立場を越えて本音で語り合ってください。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【0:00〜0:05】まずはアイスブレイクです。
STEP1、10年前の2016年を思い出してください。GIGAスクールはまだ、生成AIもありませんでした。「あの頃なかったもの」を、お隣の方と一言ずつ交わしてください。（1分）
STEP2、グループで1人1分、お名前とご所属、今関わっている子供が2036年に何歳になっているか、そしてその時どんな姿で再会したいかをお話しください。（4分・1分ごとに合図）
……ありがとうございました。今日の小学1年生は16歳、中学3年生は25歳。10年は、今の教え子が社会の担い手になるまでの時間です。その時間軸で、この後のお話を聞いていただければと思います。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【0:05】アイスブレイクで出していただいた通り、この10年で学校は大きく変わりました。
2016年12月の中教審答申で「主体的・対話的で深い学び」が示され、2026年の今、1人1台端末は2巡目、生成AIは日常の道具となりました。そして8月31日、次期学習指導要領の審議まとめ（素案）が示されました。
報道によれば、小学校は2030年度、中学校は2031年度から全面実施の見通しです。つまり2036年は、新しい学習指導要領が学校に根付いて6年ほど経った頃。今日の話は、その姿を先取りして考えるものです。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数字を3つ。1つ目、2024年の出生数は約68.6万人で、初めて70万人を下回りました。この子たちが2036年、小学6年生になります。一人一人が、社会にとってますますかけがえのない存在になります。
2つ目、新学習指導要領は小学校2030年度、中学校2031年度から全面実施の見通しです。
3つ目、彼らは生まれた時から生成AIがある世代です。
少なく、多様で、AIと共に育つ子供たち。「全員が同じことを同じペースで」だけでは、この子たちの可能性を引き出しきれません。ここが今日の出発点です。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素案の基本的な考え方は、3つの柱で整理されています。
1つ目は「主体的・対話的で深い学び」の実装。理念は現行学習指導要領を引き継ぎつつ、それを授業の姿として本当に実装することが求められています。
2つ目は多様性の包摂。報道では「好き・得意を育む」という言葉も紹介されています。
3つ目は実現可能性の確保。学習内容を精選し、教師がやり切れる教育課程にする。働き方改革とセットです。
なお、まだ素案の段階ですので、答申に向けて修正があり得ることは申し添えます。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学校にとっての変化を4つに絞ります。
1つ目、調整授業時数制度。総授業時数は変えずに、教科の時数を学校の裁量で調整できる。報道では週4コマ程度まで、そのうち個に応じた学びや校内研修に使える「裁量的な時間」は週2コマ程度までとされています。これは、自由進度学習やマイ探究の「時間」を学校がデザインできるということです。
2つ目、情報活用能力を学びの基盤に。小学校総合に「情報の領域」、中学校に「情報・技術科」。
3つ目、評価。主体的に学習に取り組む態度は評定に入れず、個人内評価とする方向。
4つ目、AI。全教科で、AIの影響を加味した記述がされています。
この4つはすべて、この後の自由進度・探究・キャリアにつながっていきます。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【0:11】ここからは一つ目のテーマ、自由進度学習です。区内でも実践が広がってきました。だからこそ今、「在り方」を問い直したいと思います。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自由進度学習の本質は、「学びのハンドル」を少しずつ子供に渡していくことだと考えます。
いきなり単元まるごと任せる必要はありません。STEP1は、1時間の中で方法や相手を選ぶこと。STEP2が単元内自由進度学習。STEP3は、教科や時間を越えて、学ぶ内容も子供が選ぶ段階。調整授業時数や裁量的な時間は、このSTEP3を学校が設計できる可能性を開きます。
そしてゴールは「自由」そのものではありません。目標を立て、進め方を選び、困ったら頼り、振り返って次を決める。自己調整できる「自立した学び手」を育てることです。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一方で、実践が広がると見えてくる落とし穴もあります。
1つ目、プリントを早く終えた子が「勝ち」になっていないか。問うべきは速さではなく深さです。
2つ目、一人で黙々と進め、教室が静かすぎないか。自由進度は「個別」ですが「孤立」ではありません。協働を意図的に設計します。
3つ目、教師が丸付けと見回りだけになっていないか。これは放任です。
4つ目、できる子だけが伸びていないか。自由進度学習の最大の価値は、教師の時間を、支援が必要な子に集中できることにあります。
皆様の学校ではいかがでしょうか。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だからこそ、教師の役割が変わります。
デザインする。ゴールと評価を先に決め、学習ガイドや環境を整える。
見取る。端末の学習記録も活用しながら、表情やつぶやきからも子供を見る。
つなぐ。子供同士、今日と次の時間、教科と探究、学校と社会をつなぐ。
管理職の先生方には、時間割、学習空間、学年の協働といった「仕組み」で支えていただきたい。一人の熱心な先生だけの実践で終わらせないことが、10年後につながります。
では、ここで一度話し合いましょう。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【0:18〜0:25】対話タイム①です。問いは「自校の自由進度学習、次の一歩は何か」。
まず1分、お一人で考えてメモしてください。次の5分でグループ、1人1分で話し、共通点や違いを探してください。最後の1分で、2グループほどに一言ずつ伺います。
先生方は、落とし穴に心当たりがあるか、次の単元で試せることは何か。校長先生・副校長先生は、学校として広げるための仕組み。まだ取り組んでいない学校は、STEP1から考えてみてください。
（残り1分で声をかけ、共有へ。「〇〇という声がありました」と価値付けて次へ）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【0:25】二つ目のテーマは探究、特に「マイ探究」です。素案が掲げる「好き・得意を育む」を最も体現できるのが、この学びだと考えています。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探究の過程は、課題の設定、情報の収集、整理・分析、まとめ・表現。これを一周して終わりではなく、新しい問いが生まれてらせん状に深まるのが探究です。
次期学習指導要領に向けては、探究の概念を改めて整理し、類型を示す方向、小学校総合を「探究」と「情報」の二領域にする方向などが議論されています。評価の簡素化や、行事・特別活動との連携の明確化も挙げられています。
そして大切なのは、教科で身に付けた見方・考え方を探究で使い、探究で生まれた問いが教科の学びを深める、という往還です。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マイ探究の在り方を3つの原則でお示しします。
1つ目、問いは子供のもの。ただし教師は「何でもいいよ」と放すのではなく、問いを磨く伴走者です。
2つ目、教科と往還する。マイ探究が教科と切り離された「特別な活動」になると、時間的にも続きません。
3つ目、本物と出会う。地域や専門家、一次情報に触れ、学校の外に発信する。
よくある悩みにも触れます。テーマが決まらない子には「好き」の棚卸しや友達の探究を見る時間を。調べ学習で止まる子には「なぜ」「本当に」を問い返す。AIに丸投げしてしまう子には、AIを壁打ち相手として使い、自分の言葉と一次情報で語ることを求める。
マイ探究は、放っておく探究ではありません。教師の最も高度な伴走が求められる学びです。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学校としては、二層でデザインすることを提案します。
学年や学級の共通テーマで探究の「型」を学ぶ「みんなの探究」。その上に、自分の「好き」から問いを立てる「マイ探究」。そして両者と各教科とを往還させる。
そのために、時間を生み出す。調整授業時数や裁量的な時間の活用を、今から構想しておくことができます。学びを残す。端末のポートフォリオで、学年を越えて問いの履歴をつなぐ。対話で評価する。発表会やカンファレンスで、本人と成長を確かめる。
このポートフォリオは、次のキャリア教育に直結します。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【0:31】三つ目、キャリア教育です。
キャリア教育は、2011年の中教審答申で「一人一人の社会的・職業的自立に向け、必要な基盤となる能力や態度を育てることを通して、キャリア発達を促す教育」と定義されています。育てたいのは4つの基礎的・汎用的能力です。
AIによって仕事の姿が大きく変わる10年後、「何の職業に就くか」を早く決めることより、自分を知り、学び直し、選び直せる力がより大切になります。
そのために、職業調べで終わらせず日々の学びや探究と生き方をつなぐこと。キャリア・パスポートを書かせて終わりにせず、対話の材料にすること。ここを見直していただきたいと思います。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自由進度学習は学び方を、マイ探究は問いを、キャリア教育は生き方を、自分で選ぶ学びです。三つは別々の取組ではなく、真ん中の「自己決定」で一本につながっています。
共通する土台は、自分で決める経験、振り返ってやり方を変える自己調整、他者との協働、そして学びの記録を自分の物語にしていくこと。
小中9年間を通して「自分の人生の舵を取れる子」を育てる。これが、10年後の教育界に向けて私たちが今から準備すべきことだと考えます。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最後に、立場ごとにお願いを申し上げます。
校長先生方には、10年後の子供の姿から学校のビジョンを語り、調整授業時数も見据えたカリキュラム・マネジメントを構想していただきたい。そして、挑戦と失敗を許容する文化を。
副校長先生方には、時間・人・場という条件整備を。先生方の「やってみたい」を実務でつなぎ、保護者・地域への橋渡しをお願いします。
先生方には、小さく始めること。1単元、1時間の「選ぶ」からで構いません。子供を信じて待ち、見取って問い返す。そして実践を同僚と見せ合ってください。
では、最後の話し合いです。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【0:35〜0:42】対話タイム②です。問いは「10年後から逆算して、来年度の教育課程に何を一つ入れるか」。
進め方は先ほどと同じです。1分個人、5分グループ、1分全体共有。
どれか一つのテーマに絞って構いません。ぜひ、立場の違いから見える「できること」と「難しさ」の両方を出し合ってください。そして、それを入れると子供がどう変わるか、子供の姿で語ってください。
（共有では、管理職と先生方の視点が交わった発言を取り上げて価値付ける）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【0:42〜0:45】まとめです。
自由進度学習は、自由そのものではなく、自立した学び手を育てること。
マイ探究は、子供の好きと問いに本気で伴走すること。
キャリア教育は、日々の学びをどう生きるかにつなぐこと。
最後に、お手元の付箋に「明日からの一歩」を一つ書いて、ぜひ職員室に持ち帰ってください。（30秒）
冒頭で思い描いていただいた、2036年に再会したい子供の姿。その姿は、今日の職員室から始まります。本日はありがとうございました。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参考資料の一覧です。配付・共有用としてお使いください。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731520" y="822960"/>
            <a:ext cx="1005840" cy="1005840"/>
          </a:xfrm>
          <a:prstGeom prst="ellipse">
            <a:avLst/>
          </a:prstGeom>
          <a:solidFill>
            <a:srgbClr val="3E8E63"/>
          </a:solidFill>
          <a:ln w="12700">
            <a:solidFill>
              <a:srgbClr val="3E8E63"/>
            </a:solidFill>
            <a:prstDash val="solid"/>
          </a:ln>
        </p:spPr>
      </p:sp>
      <p:pic>
        <p:nvPicPr>
          <p:cNvPr id="3" name="Image 0" descr="preencoded.png">    </p:cNvPr>
          <p:cNvPicPr>
            <a:picLocks noChangeAspect="1"/>
          </p:cNvPicPr>
          <p:nvPr/>
        </p:nvPicPr>
        <p:blipFill>
          <a:blip r:embed="rId1"/>
          <a:stretch>
            <a:fillRect/>
          </a:stretch>
        </p:blipFill>
        <p:spPr>
          <a:xfrm>
            <a:off x="972922" y="1064362"/>
            <a:ext cx="523037" cy="523037"/>
          </a:xfrm>
          <a:prstGeom prst="rect">
            <a:avLst/>
          </a:prstGeom>
        </p:spPr>
      </p:pic>
      <p:sp>
        <p:nvSpPr>
          <p:cNvPr id="4" name="Text 1"/>
          <p:cNvSpPr txBox="1"/>
          <p:nvPr/>
        </p:nvSpPr>
        <p:spPr>
          <a:xfrm>
            <a:off x="1965960" y="1005840"/>
            <a:ext cx="5486400" cy="640080"/>
          </a:xfrm>
          <a:prstGeom prst="rect">
            <a:avLst/>
          </a:prstGeom>
          <a:noFill/>
          <a:ln/>
        </p:spPr>
        <p:txBody>
          <a:bodyPr wrap="square" lIns="0" tIns="0" rIns="0" bIns="0" rtlCol="0" anchor="ctr"/>
          <a:lstStyle/>
          <a:p>
            <a:pPr indent="0" marL="0">
              <a:buNone/>
            </a:pPr>
            <a:r>
              <a:rPr lang="en-US" sz="2000" b="1" dirty="0">
                <a:solidFill>
                  <a:srgbClr val="F2A541"/>
                </a:solidFill>
                <a:latin typeface="BIZ UDPゴシック" pitchFamily="34" charset="0"/>
                <a:ea typeface="BIZ UDPゴシック" pitchFamily="34" charset="-122"/>
                <a:cs typeface="BIZ UDPゴシック" pitchFamily="34" charset="-120"/>
              </a:rPr>
              <a:t>指導講評</a:t>
            </a:r>
            <a:endParaRPr lang="en-US" sz="2000" dirty="0"/>
          </a:p>
        </p:txBody>
      </p:sp>
      <p:sp>
        <p:nvSpPr>
          <p:cNvPr id="5" name="Text 2"/>
          <p:cNvSpPr txBox="1"/>
          <p:nvPr/>
        </p:nvSpPr>
        <p:spPr>
          <a:xfrm>
            <a:off x="731520" y="2103120"/>
            <a:ext cx="10789920" cy="1097280"/>
          </a:xfrm>
          <a:prstGeom prst="rect">
            <a:avLst/>
          </a:prstGeom>
          <a:noFill/>
          <a:ln/>
        </p:spPr>
        <p:txBody>
          <a:bodyPr wrap="square" lIns="0" tIns="0" rIns="0" bIns="0" rtlCol="0" anchor="t"/>
          <a:lstStyle/>
          <a:p>
            <a:pPr indent="0" marL="0">
              <a:buNone/>
            </a:pPr>
            <a:r>
              <a:rPr lang="en-US" sz="4800" b="1" dirty="0">
                <a:solidFill>
                  <a:srgbClr val="FFFFFF"/>
                </a:solidFill>
                <a:latin typeface="BIZ UDPゴシック" pitchFamily="34" charset="0"/>
                <a:ea typeface="BIZ UDPゴシック" pitchFamily="34" charset="-122"/>
                <a:cs typeface="BIZ UDPゴシック" pitchFamily="34" charset="-120"/>
              </a:rPr>
              <a:t>10年後の学校を、いま描く</a:t>
            </a:r>
            <a:endParaRPr lang="en-US" sz="4800" dirty="0"/>
          </a:p>
        </p:txBody>
      </p:sp>
      <p:sp>
        <p:nvSpPr>
          <p:cNvPr id="6" name="Text 3"/>
          <p:cNvSpPr txBox="1"/>
          <p:nvPr/>
        </p:nvSpPr>
        <p:spPr>
          <a:xfrm>
            <a:off x="731520" y="3200400"/>
            <a:ext cx="10789920" cy="548640"/>
          </a:xfrm>
          <a:prstGeom prst="rect">
            <a:avLst/>
          </a:prstGeom>
          <a:noFill/>
          <a:ln/>
        </p:spPr>
        <p:txBody>
          <a:bodyPr wrap="square" lIns="0" tIns="0" rIns="0" bIns="0" rtlCol="0" anchor="t"/>
          <a:lstStyle/>
          <a:p>
            <a:pPr indent="0" marL="0">
              <a:buNone/>
            </a:pPr>
            <a:r>
              <a:rPr lang="en-US" sz="2200" dirty="0">
                <a:solidFill>
                  <a:srgbClr val="CADCFC"/>
                </a:solidFill>
                <a:latin typeface="BIZ UDPゴシック" pitchFamily="34" charset="0"/>
                <a:ea typeface="BIZ UDPゴシック" pitchFamily="34" charset="-122"/>
                <a:cs typeface="BIZ UDPゴシック" pitchFamily="34" charset="-120"/>
              </a:rPr>
              <a:t>― 自由進度学習・マイ探究・キャリア教育から考える2036年の学び ―</a:t>
            </a:r>
            <a:endParaRPr lang="en-US" sz="2200" dirty="0"/>
          </a:p>
        </p:txBody>
      </p:sp>
      <p:sp>
        <p:nvSpPr>
          <p:cNvPr id="7" name="Text 4"/>
          <p:cNvSpPr txBox="1"/>
          <p:nvPr/>
        </p:nvSpPr>
        <p:spPr>
          <a:xfrm>
            <a:off x="731520" y="4206240"/>
            <a:ext cx="10789920" cy="457200"/>
          </a:xfrm>
          <a:prstGeom prst="rect">
            <a:avLst/>
          </a:prstGeom>
          <a:noFill/>
          <a:ln/>
        </p:spPr>
        <p:txBody>
          <a:bodyPr wrap="square" lIns="0" tIns="0" rIns="0" bIns="0" rtlCol="0" anchor="t"/>
          <a:lstStyle/>
          <a:p>
            <a:pPr indent="0" marL="0">
              <a:buNone/>
            </a:pPr>
            <a:r>
              <a:rPr lang="en-US" sz="1400" dirty="0">
                <a:solidFill>
                  <a:srgbClr val="CADCFC"/>
                </a:solidFill>
                <a:latin typeface="BIZ UDPゴシック" pitchFamily="34" charset="0"/>
                <a:ea typeface="BIZ UDPゴシック" pitchFamily="34" charset="-122"/>
                <a:cs typeface="BIZ UDPゴシック" pitchFamily="34" charset="-120"/>
              </a:rPr>
              <a:t>手がかり：中央教育審議会 教育課程企画特別部会「次期学習指導要領等に向けた審議まとめ（素案）」（令和8年8月31日）</a:t>
            </a:r>
            <a:endParaRPr lang="en-US" sz="1400" dirty="0"/>
          </a:p>
        </p:txBody>
      </p:sp>
      <p:sp>
        <p:nvSpPr>
          <p:cNvPr id="8" name="Text 5"/>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区教育委員会　指導主事</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本日の45分</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472"/>
                </a:solidFill>
                <a:latin typeface="BIZ UDPゴシック" pitchFamily="34" charset="0"/>
                <a:ea typeface="BIZ UDPゴシック" pitchFamily="34" charset="-122"/>
                <a:cs typeface="BIZ UDPゴシック" pitchFamily="34" charset="-120"/>
              </a:rPr>
              <a:t>「聞く」と「話し合う」を行き来しながら進めます</a:t>
            </a:r>
            <a:endParaRPr lang="en-US" sz="1600" dirty="0"/>
          </a:p>
        </p:txBody>
      </p:sp>
      <p:sp>
        <p:nvSpPr>
          <p:cNvPr id="4" name="Shape 2"/>
          <p:cNvSpPr/>
          <p:nvPr/>
        </p:nvSpPr>
        <p:spPr>
          <a:xfrm>
            <a:off x="548640" y="1920240"/>
            <a:ext cx="1290447" cy="3291840"/>
          </a:xfrm>
          <a:prstGeom prst="roundRect">
            <a:avLst>
              <a:gd name="adj" fmla="val 8503"/>
            </a:avLst>
          </a:prstGeom>
          <a:solidFill>
            <a:srgbClr val="E3F1E8"/>
          </a:solidFill>
          <a:ln w="12700">
            <a:solidFill>
              <a:srgbClr val="E3F1E8"/>
            </a:solidFill>
            <a:prstDash val="solid"/>
          </a:ln>
        </p:spPr>
      </p:sp>
      <p:sp>
        <p:nvSpPr>
          <p:cNvPr id="5" name="Shape 3"/>
          <p:cNvSpPr/>
          <p:nvPr/>
        </p:nvSpPr>
        <p:spPr>
          <a:xfrm>
            <a:off x="782384" y="2148840"/>
            <a:ext cx="822960" cy="822960"/>
          </a:xfrm>
          <a:prstGeom prst="ellipse">
            <a:avLst/>
          </a:prstGeom>
          <a:solidFill>
            <a:srgbClr val="3E8E63"/>
          </a:solidFill>
          <a:ln w="12700">
            <a:solidFill>
              <a:srgbClr val="3E8E63"/>
            </a:solidFill>
            <a:prstDash val="solid"/>
          </a:ln>
        </p:spPr>
      </p:sp>
      <p:sp>
        <p:nvSpPr>
          <p:cNvPr id="6" name="Text 4"/>
          <p:cNvSpPr txBox="1"/>
          <p:nvPr/>
        </p:nvSpPr>
        <p:spPr>
          <a:xfrm>
            <a:off x="782384"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5分</a:t>
            </a:r>
            <a:endParaRPr lang="en-US" sz="1600" dirty="0"/>
          </a:p>
        </p:txBody>
      </p:sp>
      <p:sp>
        <p:nvSpPr>
          <p:cNvPr id="7" name="Text 5"/>
          <p:cNvSpPr txBox="1"/>
          <p:nvPr/>
        </p:nvSpPr>
        <p:spPr>
          <a:xfrm>
            <a:off x="640080"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0:00</a:t>
            </a:r>
            <a:endParaRPr lang="en-US" sz="1400" dirty="0"/>
          </a:p>
        </p:txBody>
      </p:sp>
      <p:sp>
        <p:nvSpPr>
          <p:cNvPr id="8" name="Text 6"/>
          <p:cNvSpPr txBox="1"/>
          <p:nvPr/>
        </p:nvSpPr>
        <p:spPr>
          <a:xfrm>
            <a:off x="658368"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アイスブレイク</a:t>
            </a:r>
            <a:endParaRPr lang="en-US" sz="1500" dirty="0"/>
          </a:p>
        </p:txBody>
      </p:sp>
      <p:sp>
        <p:nvSpPr>
          <p:cNvPr id="9" name="Shape 7"/>
          <p:cNvSpPr/>
          <p:nvPr/>
        </p:nvSpPr>
        <p:spPr>
          <a:xfrm>
            <a:off x="1948815" y="1920240"/>
            <a:ext cx="1290447" cy="3291840"/>
          </a:xfrm>
          <a:prstGeom prst="roundRect">
            <a:avLst>
              <a:gd name="adj" fmla="val 8503"/>
            </a:avLst>
          </a:prstGeom>
          <a:solidFill>
            <a:srgbClr val="E6EAF2"/>
          </a:solidFill>
          <a:ln w="12700">
            <a:solidFill>
              <a:srgbClr val="E6EAF2"/>
            </a:solidFill>
            <a:prstDash val="solid"/>
          </a:ln>
        </p:spPr>
      </p:sp>
      <p:sp>
        <p:nvSpPr>
          <p:cNvPr id="10" name="Shape 8"/>
          <p:cNvSpPr/>
          <p:nvPr/>
        </p:nvSpPr>
        <p:spPr>
          <a:xfrm>
            <a:off x="2182559" y="2148840"/>
            <a:ext cx="822960" cy="822960"/>
          </a:xfrm>
          <a:prstGeom prst="ellipse">
            <a:avLst/>
          </a:prstGeom>
          <a:solidFill>
            <a:srgbClr val="1F2A44"/>
          </a:solidFill>
          <a:ln w="12700">
            <a:solidFill>
              <a:srgbClr val="1F2A44"/>
            </a:solidFill>
            <a:prstDash val="solid"/>
          </a:ln>
        </p:spPr>
      </p:sp>
      <p:sp>
        <p:nvSpPr>
          <p:cNvPr id="11" name="Text 9"/>
          <p:cNvSpPr txBox="1"/>
          <p:nvPr/>
        </p:nvSpPr>
        <p:spPr>
          <a:xfrm>
            <a:off x="2182559"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6分</a:t>
            </a:r>
            <a:endParaRPr lang="en-US" sz="1600" dirty="0"/>
          </a:p>
        </p:txBody>
      </p:sp>
      <p:sp>
        <p:nvSpPr>
          <p:cNvPr id="12" name="Text 10"/>
          <p:cNvSpPr txBox="1"/>
          <p:nvPr/>
        </p:nvSpPr>
        <p:spPr>
          <a:xfrm>
            <a:off x="2040255"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0:05</a:t>
            </a:r>
            <a:endParaRPr lang="en-US" sz="1400" dirty="0"/>
          </a:p>
        </p:txBody>
      </p:sp>
      <p:sp>
        <p:nvSpPr>
          <p:cNvPr id="13" name="Text 11"/>
          <p:cNvSpPr txBox="1"/>
          <p:nvPr/>
        </p:nvSpPr>
        <p:spPr>
          <a:xfrm>
            <a:off x="2058543"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2036年と審議まとめ（素案）</a:t>
            </a:r>
            <a:endParaRPr lang="en-US" sz="1500" dirty="0"/>
          </a:p>
        </p:txBody>
      </p:sp>
      <p:sp>
        <p:nvSpPr>
          <p:cNvPr id="14" name="Shape 12"/>
          <p:cNvSpPr/>
          <p:nvPr/>
        </p:nvSpPr>
        <p:spPr>
          <a:xfrm>
            <a:off x="3348990" y="1920240"/>
            <a:ext cx="1290447" cy="3291840"/>
          </a:xfrm>
          <a:prstGeom prst="roundRect">
            <a:avLst>
              <a:gd name="adj" fmla="val 8503"/>
            </a:avLst>
          </a:prstGeom>
          <a:solidFill>
            <a:srgbClr val="E6EAF2"/>
          </a:solidFill>
          <a:ln w="12700">
            <a:solidFill>
              <a:srgbClr val="E6EAF2"/>
            </a:solidFill>
            <a:prstDash val="solid"/>
          </a:ln>
        </p:spPr>
      </p:sp>
      <p:sp>
        <p:nvSpPr>
          <p:cNvPr id="15" name="Shape 13"/>
          <p:cNvSpPr/>
          <p:nvPr/>
        </p:nvSpPr>
        <p:spPr>
          <a:xfrm>
            <a:off x="3582734" y="2148840"/>
            <a:ext cx="822960" cy="822960"/>
          </a:xfrm>
          <a:prstGeom prst="ellipse">
            <a:avLst/>
          </a:prstGeom>
          <a:solidFill>
            <a:srgbClr val="1F2A44"/>
          </a:solidFill>
          <a:ln w="12700">
            <a:solidFill>
              <a:srgbClr val="1F2A44"/>
            </a:solidFill>
            <a:prstDash val="solid"/>
          </a:ln>
        </p:spPr>
      </p:sp>
      <p:sp>
        <p:nvSpPr>
          <p:cNvPr id="16" name="Text 14"/>
          <p:cNvSpPr txBox="1"/>
          <p:nvPr/>
        </p:nvSpPr>
        <p:spPr>
          <a:xfrm>
            <a:off x="3582734"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7分</a:t>
            </a:r>
            <a:endParaRPr lang="en-US" sz="1600" dirty="0"/>
          </a:p>
        </p:txBody>
      </p:sp>
      <p:sp>
        <p:nvSpPr>
          <p:cNvPr id="17" name="Text 15"/>
          <p:cNvSpPr txBox="1"/>
          <p:nvPr/>
        </p:nvSpPr>
        <p:spPr>
          <a:xfrm>
            <a:off x="3440430"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0:11</a:t>
            </a:r>
            <a:endParaRPr lang="en-US" sz="1400" dirty="0"/>
          </a:p>
        </p:txBody>
      </p:sp>
      <p:sp>
        <p:nvSpPr>
          <p:cNvPr id="18" name="Text 16"/>
          <p:cNvSpPr txBox="1"/>
          <p:nvPr/>
        </p:nvSpPr>
        <p:spPr>
          <a:xfrm>
            <a:off x="3458718"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Ⅰ 自由進度学習の在り方</a:t>
            </a:r>
            <a:endParaRPr lang="en-US" sz="1500" dirty="0"/>
          </a:p>
        </p:txBody>
      </p:sp>
      <p:sp>
        <p:nvSpPr>
          <p:cNvPr id="19" name="Shape 17"/>
          <p:cNvSpPr/>
          <p:nvPr/>
        </p:nvSpPr>
        <p:spPr>
          <a:xfrm>
            <a:off x="4749165" y="1920240"/>
            <a:ext cx="1290447" cy="3291840"/>
          </a:xfrm>
          <a:prstGeom prst="roundRect">
            <a:avLst>
              <a:gd name="adj" fmla="val 8503"/>
            </a:avLst>
          </a:prstGeom>
          <a:solidFill>
            <a:srgbClr val="E3F1E8"/>
          </a:solidFill>
          <a:ln w="12700">
            <a:solidFill>
              <a:srgbClr val="E3F1E8"/>
            </a:solidFill>
            <a:prstDash val="solid"/>
          </a:ln>
        </p:spPr>
      </p:sp>
      <p:sp>
        <p:nvSpPr>
          <p:cNvPr id="20" name="Shape 18"/>
          <p:cNvSpPr/>
          <p:nvPr/>
        </p:nvSpPr>
        <p:spPr>
          <a:xfrm>
            <a:off x="4982909" y="2148840"/>
            <a:ext cx="822960" cy="822960"/>
          </a:xfrm>
          <a:prstGeom prst="ellipse">
            <a:avLst/>
          </a:prstGeom>
          <a:solidFill>
            <a:srgbClr val="3E8E63"/>
          </a:solidFill>
          <a:ln w="12700">
            <a:solidFill>
              <a:srgbClr val="3E8E63"/>
            </a:solidFill>
            <a:prstDash val="solid"/>
          </a:ln>
        </p:spPr>
      </p:sp>
      <p:sp>
        <p:nvSpPr>
          <p:cNvPr id="21" name="Text 19"/>
          <p:cNvSpPr txBox="1"/>
          <p:nvPr/>
        </p:nvSpPr>
        <p:spPr>
          <a:xfrm>
            <a:off x="4982909"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7分</a:t>
            </a:r>
            <a:endParaRPr lang="en-US" sz="1600" dirty="0"/>
          </a:p>
        </p:txBody>
      </p:sp>
      <p:sp>
        <p:nvSpPr>
          <p:cNvPr id="22" name="Text 20"/>
          <p:cNvSpPr txBox="1"/>
          <p:nvPr/>
        </p:nvSpPr>
        <p:spPr>
          <a:xfrm>
            <a:off x="4840605"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0:18</a:t>
            </a:r>
            <a:endParaRPr lang="en-US" sz="1400" dirty="0"/>
          </a:p>
        </p:txBody>
      </p:sp>
      <p:sp>
        <p:nvSpPr>
          <p:cNvPr id="23" name="Text 21"/>
          <p:cNvSpPr txBox="1"/>
          <p:nvPr/>
        </p:nvSpPr>
        <p:spPr>
          <a:xfrm>
            <a:off x="4858893"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対話タイム①</a:t>
            </a:r>
            <a:endParaRPr lang="en-US" sz="1500" dirty="0"/>
          </a:p>
        </p:txBody>
      </p:sp>
      <p:sp>
        <p:nvSpPr>
          <p:cNvPr id="24" name="Shape 22"/>
          <p:cNvSpPr/>
          <p:nvPr/>
        </p:nvSpPr>
        <p:spPr>
          <a:xfrm>
            <a:off x="6149340" y="1920240"/>
            <a:ext cx="1290447" cy="3291840"/>
          </a:xfrm>
          <a:prstGeom prst="roundRect">
            <a:avLst>
              <a:gd name="adj" fmla="val 8503"/>
            </a:avLst>
          </a:prstGeom>
          <a:solidFill>
            <a:srgbClr val="E6EAF2"/>
          </a:solidFill>
          <a:ln w="12700">
            <a:solidFill>
              <a:srgbClr val="E6EAF2"/>
            </a:solidFill>
            <a:prstDash val="solid"/>
          </a:ln>
        </p:spPr>
      </p:sp>
      <p:sp>
        <p:nvSpPr>
          <p:cNvPr id="25" name="Shape 23"/>
          <p:cNvSpPr/>
          <p:nvPr/>
        </p:nvSpPr>
        <p:spPr>
          <a:xfrm>
            <a:off x="6383084" y="2148840"/>
            <a:ext cx="822960" cy="822960"/>
          </a:xfrm>
          <a:prstGeom prst="ellipse">
            <a:avLst/>
          </a:prstGeom>
          <a:solidFill>
            <a:srgbClr val="1F2A44"/>
          </a:solidFill>
          <a:ln w="12700">
            <a:solidFill>
              <a:srgbClr val="1F2A44"/>
            </a:solidFill>
            <a:prstDash val="solid"/>
          </a:ln>
        </p:spPr>
      </p:sp>
      <p:sp>
        <p:nvSpPr>
          <p:cNvPr id="26" name="Text 24"/>
          <p:cNvSpPr txBox="1"/>
          <p:nvPr/>
        </p:nvSpPr>
        <p:spPr>
          <a:xfrm>
            <a:off x="6383084"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6分</a:t>
            </a:r>
            <a:endParaRPr lang="en-US" sz="1600" dirty="0"/>
          </a:p>
        </p:txBody>
      </p:sp>
      <p:sp>
        <p:nvSpPr>
          <p:cNvPr id="27" name="Text 25"/>
          <p:cNvSpPr txBox="1"/>
          <p:nvPr/>
        </p:nvSpPr>
        <p:spPr>
          <a:xfrm>
            <a:off x="6240780"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0:25</a:t>
            </a:r>
            <a:endParaRPr lang="en-US" sz="1400" dirty="0"/>
          </a:p>
        </p:txBody>
      </p:sp>
      <p:sp>
        <p:nvSpPr>
          <p:cNvPr id="28" name="Text 26"/>
          <p:cNvSpPr txBox="1"/>
          <p:nvPr/>
        </p:nvSpPr>
        <p:spPr>
          <a:xfrm>
            <a:off x="6259068"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Ⅱ 探究 ― マイ探究の在り方</a:t>
            </a:r>
            <a:endParaRPr lang="en-US" sz="1500" dirty="0"/>
          </a:p>
        </p:txBody>
      </p:sp>
      <p:sp>
        <p:nvSpPr>
          <p:cNvPr id="29" name="Shape 27"/>
          <p:cNvSpPr/>
          <p:nvPr/>
        </p:nvSpPr>
        <p:spPr>
          <a:xfrm>
            <a:off x="7549515" y="1920240"/>
            <a:ext cx="1290447" cy="3291840"/>
          </a:xfrm>
          <a:prstGeom prst="roundRect">
            <a:avLst>
              <a:gd name="adj" fmla="val 8503"/>
            </a:avLst>
          </a:prstGeom>
          <a:solidFill>
            <a:srgbClr val="E6EAF2"/>
          </a:solidFill>
          <a:ln w="12700">
            <a:solidFill>
              <a:srgbClr val="E6EAF2"/>
            </a:solidFill>
            <a:prstDash val="solid"/>
          </a:ln>
        </p:spPr>
      </p:sp>
      <p:sp>
        <p:nvSpPr>
          <p:cNvPr id="30" name="Shape 28"/>
          <p:cNvSpPr/>
          <p:nvPr/>
        </p:nvSpPr>
        <p:spPr>
          <a:xfrm>
            <a:off x="7783259" y="2148840"/>
            <a:ext cx="822960" cy="822960"/>
          </a:xfrm>
          <a:prstGeom prst="ellipse">
            <a:avLst/>
          </a:prstGeom>
          <a:solidFill>
            <a:srgbClr val="1F2A44"/>
          </a:solidFill>
          <a:ln w="12700">
            <a:solidFill>
              <a:srgbClr val="1F2A44"/>
            </a:solidFill>
            <a:prstDash val="solid"/>
          </a:ln>
        </p:spPr>
      </p:sp>
      <p:sp>
        <p:nvSpPr>
          <p:cNvPr id="31" name="Text 29"/>
          <p:cNvSpPr txBox="1"/>
          <p:nvPr/>
        </p:nvSpPr>
        <p:spPr>
          <a:xfrm>
            <a:off x="7783259"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4分</a:t>
            </a:r>
            <a:endParaRPr lang="en-US" sz="1600" dirty="0"/>
          </a:p>
        </p:txBody>
      </p:sp>
      <p:sp>
        <p:nvSpPr>
          <p:cNvPr id="32" name="Text 30"/>
          <p:cNvSpPr txBox="1"/>
          <p:nvPr/>
        </p:nvSpPr>
        <p:spPr>
          <a:xfrm>
            <a:off x="7640955"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0:31</a:t>
            </a:r>
            <a:endParaRPr lang="en-US" sz="1400" dirty="0"/>
          </a:p>
        </p:txBody>
      </p:sp>
      <p:sp>
        <p:nvSpPr>
          <p:cNvPr id="33" name="Text 31"/>
          <p:cNvSpPr txBox="1"/>
          <p:nvPr/>
        </p:nvSpPr>
        <p:spPr>
          <a:xfrm>
            <a:off x="7659243"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Ⅲ キャリア教育とつながり</a:t>
            </a:r>
            <a:endParaRPr lang="en-US" sz="1500" dirty="0"/>
          </a:p>
        </p:txBody>
      </p:sp>
      <p:sp>
        <p:nvSpPr>
          <p:cNvPr id="34" name="Shape 32"/>
          <p:cNvSpPr/>
          <p:nvPr/>
        </p:nvSpPr>
        <p:spPr>
          <a:xfrm>
            <a:off x="8949690" y="1920240"/>
            <a:ext cx="1290447" cy="3291840"/>
          </a:xfrm>
          <a:prstGeom prst="roundRect">
            <a:avLst>
              <a:gd name="adj" fmla="val 8503"/>
            </a:avLst>
          </a:prstGeom>
          <a:solidFill>
            <a:srgbClr val="E3F1E8"/>
          </a:solidFill>
          <a:ln w="12700">
            <a:solidFill>
              <a:srgbClr val="E3F1E8"/>
            </a:solidFill>
            <a:prstDash val="solid"/>
          </a:ln>
        </p:spPr>
      </p:sp>
      <p:sp>
        <p:nvSpPr>
          <p:cNvPr id="35" name="Shape 33"/>
          <p:cNvSpPr/>
          <p:nvPr/>
        </p:nvSpPr>
        <p:spPr>
          <a:xfrm>
            <a:off x="9183434" y="2148840"/>
            <a:ext cx="822960" cy="822960"/>
          </a:xfrm>
          <a:prstGeom prst="ellipse">
            <a:avLst/>
          </a:prstGeom>
          <a:solidFill>
            <a:srgbClr val="3E8E63"/>
          </a:solidFill>
          <a:ln w="12700">
            <a:solidFill>
              <a:srgbClr val="3E8E63"/>
            </a:solidFill>
            <a:prstDash val="solid"/>
          </a:ln>
        </p:spPr>
      </p:sp>
      <p:sp>
        <p:nvSpPr>
          <p:cNvPr id="36" name="Text 34"/>
          <p:cNvSpPr txBox="1"/>
          <p:nvPr/>
        </p:nvSpPr>
        <p:spPr>
          <a:xfrm>
            <a:off x="9183434"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7分</a:t>
            </a:r>
            <a:endParaRPr lang="en-US" sz="1600" dirty="0"/>
          </a:p>
        </p:txBody>
      </p:sp>
      <p:sp>
        <p:nvSpPr>
          <p:cNvPr id="37" name="Text 35"/>
          <p:cNvSpPr txBox="1"/>
          <p:nvPr/>
        </p:nvSpPr>
        <p:spPr>
          <a:xfrm>
            <a:off x="9041130"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0:35</a:t>
            </a:r>
            <a:endParaRPr lang="en-US" sz="1400" dirty="0"/>
          </a:p>
        </p:txBody>
      </p:sp>
      <p:sp>
        <p:nvSpPr>
          <p:cNvPr id="38" name="Text 36"/>
          <p:cNvSpPr txBox="1"/>
          <p:nvPr/>
        </p:nvSpPr>
        <p:spPr>
          <a:xfrm>
            <a:off x="9059418"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対話タイム②</a:t>
            </a:r>
            <a:endParaRPr lang="en-US" sz="1500" dirty="0"/>
          </a:p>
        </p:txBody>
      </p:sp>
      <p:sp>
        <p:nvSpPr>
          <p:cNvPr id="39" name="Shape 37"/>
          <p:cNvSpPr/>
          <p:nvPr/>
        </p:nvSpPr>
        <p:spPr>
          <a:xfrm>
            <a:off x="10349865" y="1920240"/>
            <a:ext cx="1290447" cy="3291840"/>
          </a:xfrm>
          <a:prstGeom prst="roundRect">
            <a:avLst>
              <a:gd name="adj" fmla="val 8503"/>
            </a:avLst>
          </a:prstGeom>
          <a:solidFill>
            <a:srgbClr val="E3F1E8"/>
          </a:solidFill>
          <a:ln w="12700">
            <a:solidFill>
              <a:srgbClr val="E3F1E8"/>
            </a:solidFill>
            <a:prstDash val="solid"/>
          </a:ln>
        </p:spPr>
      </p:sp>
      <p:sp>
        <p:nvSpPr>
          <p:cNvPr id="40" name="Shape 38"/>
          <p:cNvSpPr/>
          <p:nvPr/>
        </p:nvSpPr>
        <p:spPr>
          <a:xfrm>
            <a:off x="10583609" y="2148840"/>
            <a:ext cx="822960" cy="822960"/>
          </a:xfrm>
          <a:prstGeom prst="ellipse">
            <a:avLst/>
          </a:prstGeom>
          <a:solidFill>
            <a:srgbClr val="3E8E63"/>
          </a:solidFill>
          <a:ln w="12700">
            <a:solidFill>
              <a:srgbClr val="3E8E63"/>
            </a:solidFill>
            <a:prstDash val="solid"/>
          </a:ln>
        </p:spPr>
      </p:sp>
      <p:sp>
        <p:nvSpPr>
          <p:cNvPr id="41" name="Text 39"/>
          <p:cNvSpPr txBox="1"/>
          <p:nvPr/>
        </p:nvSpPr>
        <p:spPr>
          <a:xfrm>
            <a:off x="10583609" y="2148840"/>
            <a:ext cx="8229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3分</a:t>
            </a:r>
            <a:endParaRPr lang="en-US" sz="1600" dirty="0"/>
          </a:p>
        </p:txBody>
      </p:sp>
      <p:sp>
        <p:nvSpPr>
          <p:cNvPr id="42" name="Text 40"/>
          <p:cNvSpPr txBox="1"/>
          <p:nvPr/>
        </p:nvSpPr>
        <p:spPr>
          <a:xfrm>
            <a:off x="10441305" y="3108960"/>
            <a:ext cx="1107567" cy="365760"/>
          </a:xfrm>
          <a:prstGeom prst="rect">
            <a:avLst/>
          </a:prstGeom>
          <a:noFill/>
          <a:ln/>
        </p:spPr>
        <p:txBody>
          <a:bodyPr wrap="square" lIns="0" tIns="0" rIns="0" bIns="0" rtlCol="0" anchor="t"/>
          <a:lstStyle/>
          <a:p>
            <a:pPr algn="ctr" indent="0" marL="0">
              <a:buNone/>
            </a:pPr>
            <a:r>
              <a:rPr lang="en-US" sz="1400" dirty="0">
                <a:solidFill>
                  <a:srgbClr val="5B6472"/>
                </a:solidFill>
                <a:latin typeface="BIZ UDPゴシック" pitchFamily="34" charset="0"/>
                <a:ea typeface="BIZ UDPゴシック" pitchFamily="34" charset="-122"/>
                <a:cs typeface="BIZ UDPゴシック" pitchFamily="34" charset="-120"/>
              </a:rPr>
              <a:t>0:42</a:t>
            </a:r>
            <a:endParaRPr lang="en-US" sz="1400" dirty="0"/>
          </a:p>
        </p:txBody>
      </p:sp>
      <p:sp>
        <p:nvSpPr>
          <p:cNvPr id="43" name="Text 41"/>
          <p:cNvSpPr txBox="1"/>
          <p:nvPr/>
        </p:nvSpPr>
        <p:spPr>
          <a:xfrm>
            <a:off x="10459593" y="3520440"/>
            <a:ext cx="1070991" cy="1554480"/>
          </a:xfrm>
          <a:prstGeom prst="rect">
            <a:avLst/>
          </a:prstGeom>
          <a:noFill/>
          <a:ln/>
        </p:spPr>
        <p:txBody>
          <a:bodyPr wrap="square" lIns="0" tIns="0" rIns="0" bIns="0" rtlCol="0" anchor="t"/>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まとめ・明日からの一歩</a:t>
            </a:r>
            <a:endParaRPr lang="en-US" sz="1500" dirty="0"/>
          </a:p>
        </p:txBody>
      </p:sp>
      <p:sp>
        <p:nvSpPr>
          <p:cNvPr id="44" name="Shape 42"/>
          <p:cNvSpPr/>
          <p:nvPr/>
        </p:nvSpPr>
        <p:spPr>
          <a:xfrm>
            <a:off x="548640" y="5623560"/>
            <a:ext cx="274320" cy="274320"/>
          </a:xfrm>
          <a:prstGeom prst="ellipse">
            <a:avLst/>
          </a:prstGeom>
          <a:solidFill>
            <a:srgbClr val="1F2A44"/>
          </a:solidFill>
          <a:ln w="12700">
            <a:solidFill>
              <a:srgbClr val="1F2A44"/>
            </a:solidFill>
            <a:prstDash val="solid"/>
          </a:ln>
        </p:spPr>
      </p:sp>
      <p:sp>
        <p:nvSpPr>
          <p:cNvPr id="45" name="Text 43"/>
          <p:cNvSpPr txBox="1"/>
          <p:nvPr/>
        </p:nvSpPr>
        <p:spPr>
          <a:xfrm>
            <a:off x="914400" y="5577840"/>
            <a:ext cx="1097280" cy="365760"/>
          </a:xfrm>
          <a:prstGeom prst="rect">
            <a:avLst/>
          </a:prstGeom>
          <a:noFill/>
          <a:ln/>
        </p:spPr>
        <p:txBody>
          <a:bodyPr wrap="square" lIns="0" tIns="0" rIns="0" bIns="0" rtlCol="0" anchor="ctr"/>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講話</a:t>
            </a:r>
            <a:endParaRPr lang="en-US" sz="1400" dirty="0"/>
          </a:p>
        </p:txBody>
      </p:sp>
      <p:sp>
        <p:nvSpPr>
          <p:cNvPr id="46" name="Shape 44"/>
          <p:cNvSpPr/>
          <p:nvPr/>
        </p:nvSpPr>
        <p:spPr>
          <a:xfrm>
            <a:off x="1920240" y="5623560"/>
            <a:ext cx="274320" cy="274320"/>
          </a:xfrm>
          <a:prstGeom prst="ellipse">
            <a:avLst/>
          </a:prstGeom>
          <a:solidFill>
            <a:srgbClr val="3E8E63"/>
          </a:solidFill>
          <a:ln w="12700">
            <a:solidFill>
              <a:srgbClr val="3E8E63"/>
            </a:solidFill>
            <a:prstDash val="solid"/>
          </a:ln>
        </p:spPr>
      </p:sp>
      <p:sp>
        <p:nvSpPr>
          <p:cNvPr id="47" name="Text 45"/>
          <p:cNvSpPr txBox="1"/>
          <p:nvPr/>
        </p:nvSpPr>
        <p:spPr>
          <a:xfrm>
            <a:off x="2286000" y="5577840"/>
            <a:ext cx="5486400" cy="365760"/>
          </a:xfrm>
          <a:prstGeom prst="rect">
            <a:avLst/>
          </a:prstGeom>
          <a:noFill/>
          <a:ln/>
        </p:spPr>
        <p:txBody>
          <a:bodyPr wrap="square" lIns="0" tIns="0" rIns="0" bIns="0" rtlCol="0" anchor="ctr"/>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参加者どうしの対話・活動（合計22分）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アイスブレイク「タイムマシン自己紹介」</a:t>
            </a:r>
            <a:endParaRPr lang="en-US" sz="3200" dirty="0"/>
          </a:p>
        </p:txBody>
      </p:sp>
      <p:sp>
        <p:nvSpPr>
          <p:cNvPr id="3" name="Shape 1"/>
          <p:cNvSpPr/>
          <p:nvPr/>
        </p:nvSpPr>
        <p:spPr>
          <a:xfrm>
            <a:off x="9966960" y="502920"/>
            <a:ext cx="1691640" cy="457200"/>
          </a:xfrm>
          <a:prstGeom prst="roundRect">
            <a:avLst>
              <a:gd name="adj" fmla="val 50000"/>
            </a:avLst>
          </a:prstGeom>
          <a:solidFill>
            <a:srgbClr val="F2A541"/>
          </a:solidFill>
          <a:ln w="12700">
            <a:solidFill>
              <a:srgbClr val="F2A541"/>
            </a:solidFill>
            <a:prstDash val="solid"/>
          </a:ln>
        </p:spPr>
      </p:sp>
      <p:sp>
        <p:nvSpPr>
          <p:cNvPr id="4" name="Text 2"/>
          <p:cNvSpPr txBox="1"/>
          <p:nvPr/>
        </p:nvSpPr>
        <p:spPr>
          <a:xfrm>
            <a:off x="9966960" y="502920"/>
            <a:ext cx="1691640" cy="457200"/>
          </a:xfrm>
          <a:prstGeom prst="rect">
            <a:avLst/>
          </a:prstGeom>
          <a:noFill/>
          <a:ln/>
        </p:spPr>
        <p:txBody>
          <a:bodyPr wrap="square" lIns="0" tIns="0" rIns="0" bIns="0" rtlCol="0" anchor="ctr"/>
          <a:lstStyle/>
          <a:p>
            <a:pPr algn="ctr" indent="0" marL="0">
              <a:buNone/>
            </a:pPr>
            <a:r>
              <a:rPr lang="en-US" sz="1400" b="1" dirty="0">
                <a:solidFill>
                  <a:srgbClr val="1F2A44"/>
                </a:solidFill>
                <a:latin typeface="BIZ UDPゴシック" pitchFamily="34" charset="0"/>
                <a:ea typeface="BIZ UDPゴシック" pitchFamily="34" charset="-122"/>
                <a:cs typeface="BIZ UDPゴシック" pitchFamily="34" charset="-120"/>
              </a:rPr>
              <a:t>5分</a:t>
            </a:r>
            <a:endParaRPr lang="en-US" sz="1400" dirty="0"/>
          </a:p>
        </p:txBody>
      </p:sp>
      <p:sp>
        <p:nvSpPr>
          <p:cNvPr id="5" name="Shape 3"/>
          <p:cNvSpPr/>
          <p:nvPr/>
        </p:nvSpPr>
        <p:spPr>
          <a:xfrm>
            <a:off x="548640" y="1600200"/>
            <a:ext cx="914400" cy="914400"/>
          </a:xfrm>
          <a:prstGeom prst="ellipse">
            <a:avLst/>
          </a:prstGeom>
          <a:solidFill>
            <a:srgbClr val="3E8E63"/>
          </a:solidFill>
          <a:ln w="12700">
            <a:solidFill>
              <a:srgbClr val="3E8E63"/>
            </a:solidFill>
            <a:prstDash val="solid"/>
          </a:ln>
        </p:spPr>
      </p:sp>
      <p:pic>
        <p:nvPicPr>
          <p:cNvPr id="6" name="Image 0" descr="preencoded.png">    </p:cNvPr>
          <p:cNvPicPr>
            <a:picLocks noChangeAspect="1"/>
          </p:cNvPicPr>
          <p:nvPr/>
        </p:nvPicPr>
        <p:blipFill>
          <a:blip r:embed="rId1"/>
          <a:stretch>
            <a:fillRect/>
          </a:stretch>
        </p:blipFill>
        <p:spPr>
          <a:xfrm>
            <a:off x="768096" y="1819656"/>
            <a:ext cx="475488" cy="475488"/>
          </a:xfrm>
          <a:prstGeom prst="rect">
            <a:avLst/>
          </a:prstGeom>
        </p:spPr>
      </p:pic>
      <p:sp>
        <p:nvSpPr>
          <p:cNvPr id="7" name="Text 4"/>
          <p:cNvSpPr txBox="1"/>
          <p:nvPr/>
        </p:nvSpPr>
        <p:spPr>
          <a:xfrm>
            <a:off x="1691640" y="1645920"/>
            <a:ext cx="4572000" cy="411480"/>
          </a:xfrm>
          <a:prstGeom prst="rect">
            <a:avLst/>
          </a:prstGeom>
          <a:noFill/>
          <a:ln/>
        </p:spPr>
        <p:txBody>
          <a:bodyPr wrap="square" lIns="0" tIns="0" rIns="0" bIns="0" rtlCol="0" anchor="t"/>
          <a:lstStyle/>
          <a:p>
            <a:pPr indent="0" marL="0">
              <a:buNone/>
            </a:pPr>
            <a:r>
              <a:rPr lang="en-US" sz="2000" b="1" dirty="0">
                <a:solidFill>
                  <a:srgbClr val="3E8E63"/>
                </a:solidFill>
                <a:latin typeface="BIZ UDPゴシック" pitchFamily="34" charset="0"/>
                <a:ea typeface="BIZ UDPゴシック" pitchFamily="34" charset="-122"/>
                <a:cs typeface="BIZ UDPゴシック" pitchFamily="34" charset="-120"/>
              </a:rPr>
              <a:t>STEP 1　全員で（1分）</a:t>
            </a:r>
            <a:endParaRPr lang="en-US" sz="2000" dirty="0"/>
          </a:p>
        </p:txBody>
      </p:sp>
      <p:sp>
        <p:nvSpPr>
          <p:cNvPr id="8" name="Text 5"/>
          <p:cNvSpPr txBox="1"/>
          <p:nvPr/>
        </p:nvSpPr>
        <p:spPr>
          <a:xfrm>
            <a:off x="1691640" y="2103120"/>
            <a:ext cx="4480560" cy="1280160"/>
          </a:xfrm>
          <a:prstGeom prst="rect">
            <a:avLst/>
          </a:prstGeom>
          <a:noFill/>
          <a:ln/>
        </p:spPr>
        <p:txBody>
          <a:bodyPr wrap="square" lIns="0" tIns="0" rIns="0" bIns="0" rtlCol="0" anchor="t"/>
          <a:lstStyle/>
          <a:p>
            <a:pPr indent="0" marL="0">
              <a:buNone/>
            </a:pPr>
            <a:r>
              <a:rPr lang="en-US" sz="1600" dirty="0">
                <a:solidFill>
                  <a:srgbClr val="2B2B2B"/>
                </a:solidFill>
                <a:latin typeface="BIZ UDPゴシック" pitchFamily="34" charset="0"/>
                <a:ea typeface="BIZ UDPゴシック" pitchFamily="34" charset="-122"/>
                <a:cs typeface="BIZ UDPゴシック" pitchFamily="34" charset="-120"/>
              </a:rPr>
              <a:t>10年前、2016年の学校を思い出してください。</a:t>
            </a:r>
            <a:endParaRPr lang="en-US" sz="1600" dirty="0"/>
          </a:p>
          <a:p>
            <a:pPr indent="0" marL="0">
              <a:buNone/>
            </a:pPr>
            <a:r>
              <a:rPr lang="en-US" sz="1600" dirty="0">
                <a:solidFill>
                  <a:srgbClr val="2B2B2B"/>
                </a:solidFill>
                <a:latin typeface="BIZ UDPゴシック" pitchFamily="34" charset="0"/>
                <a:ea typeface="BIZ UDPゴシック" pitchFamily="34" charset="-122"/>
                <a:cs typeface="BIZ UDPゴシック" pitchFamily="34" charset="-120"/>
              </a:rPr>
              <a:t>「あの頃はなかったもの」を思い浮かべて、近くの人と一言ずつ。</a:t>
            </a:r>
            <a:endParaRPr lang="en-US" sz="1600" dirty="0"/>
          </a:p>
        </p:txBody>
      </p:sp>
      <p:sp>
        <p:nvSpPr>
          <p:cNvPr id="9" name="Text 6"/>
          <p:cNvSpPr txBox="1"/>
          <p:nvPr/>
        </p:nvSpPr>
        <p:spPr>
          <a:xfrm>
            <a:off x="1691640" y="3383280"/>
            <a:ext cx="4480560" cy="365760"/>
          </a:xfrm>
          <a:prstGeom prst="rect">
            <a:avLst/>
          </a:prstGeom>
          <a:noFill/>
          <a:ln/>
        </p:spPr>
        <p:txBody>
          <a:bodyPr wrap="square" lIns="0" tIns="0" rIns="0" bIns="0" rtlCol="0" anchor="t"/>
          <a:lstStyle/>
          <a:p>
            <a:pPr indent="0" marL="0">
              <a:buNone/>
            </a:pPr>
            <a:r>
              <a:rPr lang="en-US" sz="1400" i="1" dirty="0">
                <a:solidFill>
                  <a:srgbClr val="5B6472"/>
                </a:solidFill>
                <a:latin typeface="BIZ UDPゴシック" pitchFamily="34" charset="0"/>
                <a:ea typeface="BIZ UDPゴシック" pitchFamily="34" charset="-122"/>
                <a:cs typeface="BIZ UDPゴシック" pitchFamily="34" charset="-120"/>
              </a:rPr>
              <a:t>例：1人1台端末　生成AI　オンライン授業　…</a:t>
            </a:r>
            <a:endParaRPr lang="en-US" sz="1400" dirty="0"/>
          </a:p>
        </p:txBody>
      </p:sp>
      <p:sp>
        <p:nvSpPr>
          <p:cNvPr id="10" name="Shape 7"/>
          <p:cNvSpPr/>
          <p:nvPr/>
        </p:nvSpPr>
        <p:spPr>
          <a:xfrm>
            <a:off x="6400800" y="1600200"/>
            <a:ext cx="914400" cy="914400"/>
          </a:xfrm>
          <a:prstGeom prst="ellipse">
            <a:avLst/>
          </a:prstGeom>
          <a:solidFill>
            <a:srgbClr val="1F2A44"/>
          </a:solidFill>
          <a:ln w="12700">
            <a:solidFill>
              <a:srgbClr val="1F2A44"/>
            </a:solidFill>
            <a:prstDash val="solid"/>
          </a:ln>
        </p:spPr>
      </p:sp>
      <p:pic>
        <p:nvPicPr>
          <p:cNvPr id="11" name="Image 1" descr="preencoded.png">    </p:cNvPr>
          <p:cNvPicPr>
            <a:picLocks noChangeAspect="1"/>
          </p:cNvPicPr>
          <p:nvPr/>
        </p:nvPicPr>
        <p:blipFill>
          <a:blip r:embed="rId2"/>
          <a:stretch>
            <a:fillRect/>
          </a:stretch>
        </p:blipFill>
        <p:spPr>
          <a:xfrm>
            <a:off x="6620256" y="1819656"/>
            <a:ext cx="475488" cy="475488"/>
          </a:xfrm>
          <a:prstGeom prst="rect">
            <a:avLst/>
          </a:prstGeom>
        </p:spPr>
      </p:pic>
      <p:sp>
        <p:nvSpPr>
          <p:cNvPr id="12" name="Text 8"/>
          <p:cNvSpPr txBox="1"/>
          <p:nvPr/>
        </p:nvSpPr>
        <p:spPr>
          <a:xfrm>
            <a:off x="7543800" y="1645920"/>
            <a:ext cx="4114800" cy="411480"/>
          </a:xfrm>
          <a:prstGeom prst="rect">
            <a:avLst/>
          </a:prstGeom>
          <a:noFill/>
          <a:ln/>
        </p:spPr>
        <p:txBody>
          <a:bodyPr wrap="square" lIns="0" tIns="0" rIns="0" bIns="0" rtlCol="0" anchor="t"/>
          <a:lstStyle/>
          <a:p>
            <a:pPr indent="0" marL="0">
              <a:buNone/>
            </a:pPr>
            <a:r>
              <a:rPr lang="en-US" sz="2000" b="1" dirty="0">
                <a:solidFill>
                  <a:srgbClr val="1F2A44"/>
                </a:solidFill>
                <a:latin typeface="BIZ UDPゴシック" pitchFamily="34" charset="0"/>
                <a:ea typeface="BIZ UDPゴシック" pitchFamily="34" charset="-122"/>
                <a:cs typeface="BIZ UDPゴシック" pitchFamily="34" charset="-120"/>
              </a:rPr>
              <a:t>STEP 2　グループで（4分）</a:t>
            </a:r>
            <a:endParaRPr lang="en-US" sz="2000" dirty="0"/>
          </a:p>
        </p:txBody>
      </p:sp>
      <p:sp>
        <p:nvSpPr>
          <p:cNvPr id="13" name="Text 9"/>
          <p:cNvSpPr txBox="1"/>
          <p:nvPr/>
        </p:nvSpPr>
        <p:spPr>
          <a:xfrm>
            <a:off x="7543800" y="2103120"/>
            <a:ext cx="4114800" cy="411480"/>
          </a:xfrm>
          <a:prstGeom prst="rect">
            <a:avLst/>
          </a:prstGeom>
          <a:noFill/>
          <a:ln/>
        </p:spPr>
        <p:txBody>
          <a:bodyPr wrap="square" lIns="0" tIns="0" rIns="0" bIns="0" rtlCol="0" anchor="t"/>
          <a:lstStyle/>
          <a:p>
            <a:pPr indent="0" marL="0">
              <a:buNone/>
            </a:pPr>
            <a:r>
              <a:rPr lang="en-US" sz="1600" dirty="0">
                <a:solidFill>
                  <a:srgbClr val="2B2B2B"/>
                </a:solidFill>
                <a:latin typeface="BIZ UDPゴシック" pitchFamily="34" charset="0"/>
                <a:ea typeface="BIZ UDPゴシック" pitchFamily="34" charset="-122"/>
                <a:cs typeface="BIZ UDPゴシック" pitchFamily="34" charset="-120"/>
              </a:rPr>
              <a:t>1人1分ずつ、次の3つを話します。</a:t>
            </a:r>
            <a:endParaRPr lang="en-US" sz="1600" dirty="0"/>
          </a:p>
        </p:txBody>
      </p:sp>
      <p:sp>
        <p:nvSpPr>
          <p:cNvPr id="14" name="Text 10"/>
          <p:cNvSpPr txBox="1"/>
          <p:nvPr/>
        </p:nvSpPr>
        <p:spPr>
          <a:xfrm>
            <a:off x="7543800" y="2560320"/>
            <a:ext cx="4114800" cy="13716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2B2B2B"/>
                </a:solidFill>
                <a:latin typeface="BIZ UDPゴシック" pitchFamily="34" charset="0"/>
                <a:ea typeface="BIZ UDPゴシック" pitchFamily="34" charset="-122"/>
                <a:cs typeface="BIZ UDPゴシック" pitchFamily="34" charset="-120"/>
              </a:rPr>
              <a:t>お名前・ご所属</a:t>
            </a:r>
            <a:endParaRPr lang="en-US" sz="1600" dirty="0"/>
          </a:p>
          <a:p>
            <a:pPr marL="342900" indent="-342900">
              <a:spcAft>
                <a:spcPts val="600"/>
              </a:spcAft>
              <a:buSzPct val="100000"/>
              <a:buFont typeface="+mj-lt"/>
              <a:buAutoNum type="arabicPeriod" startAt="1"/>
            </a:pPr>
            <a:r>
              <a:rPr lang="en-US" sz="1600" dirty="0">
                <a:solidFill>
                  <a:srgbClr val="2B2B2B"/>
                </a:solidFill>
                <a:latin typeface="BIZ UDPゴシック" pitchFamily="34" charset="0"/>
                <a:ea typeface="BIZ UDPゴシック" pitchFamily="34" charset="-122"/>
                <a:cs typeface="BIZ UDPゴシック" pitchFamily="34" charset="-120"/>
              </a:rPr>
              <a:t>いま関わっている子供は、2036年に何歳？</a:t>
            </a:r>
            <a:endParaRPr lang="en-US" sz="1600" dirty="0"/>
          </a:p>
          <a:p>
            <a:pPr marL="342900" indent="-342900">
              <a:spcAft>
                <a:spcPts val="600"/>
              </a:spcAft>
              <a:buSzPct val="100000"/>
              <a:buFont typeface="+mj-lt"/>
              <a:buAutoNum type="arabicPeriod" startAt="1"/>
            </a:pPr>
            <a:r>
              <a:rPr lang="en-US" sz="1600" dirty="0">
                <a:solidFill>
                  <a:srgbClr val="2B2B2B"/>
                </a:solidFill>
                <a:latin typeface="BIZ UDPゴシック" pitchFamily="34" charset="0"/>
                <a:ea typeface="BIZ UDPゴシック" pitchFamily="34" charset="-122"/>
                <a:cs typeface="BIZ UDPゴシック" pitchFamily="34" charset="-120"/>
              </a:rPr>
              <a:t>そのとき、どんな姿で再会したい？</a:t>
            </a:r>
            <a:endParaRPr lang="en-US" sz="1600" dirty="0"/>
          </a:p>
        </p:txBody>
      </p:sp>
      <p:sp>
        <p:nvSpPr>
          <p:cNvPr id="15" name="Shape 11"/>
          <p:cNvSpPr/>
          <p:nvPr/>
        </p:nvSpPr>
        <p:spPr>
          <a:xfrm>
            <a:off x="548640" y="4343400"/>
            <a:ext cx="11091672" cy="1554480"/>
          </a:xfrm>
          <a:prstGeom prst="roundRect">
            <a:avLst>
              <a:gd name="adj" fmla="val 7059"/>
            </a:avLst>
          </a:prstGeom>
          <a:solidFill>
            <a:srgbClr val="FDF3E3"/>
          </a:solidFill>
          <a:ln w="12700">
            <a:solidFill>
              <a:srgbClr val="FDF3E3"/>
            </a:solidFill>
            <a:prstDash val="solid"/>
          </a:ln>
        </p:spPr>
      </p:sp>
      <p:sp>
        <p:nvSpPr>
          <p:cNvPr id="16" name="Shape 12"/>
          <p:cNvSpPr/>
          <p:nvPr/>
        </p:nvSpPr>
        <p:spPr>
          <a:xfrm>
            <a:off x="822960" y="4617720"/>
            <a:ext cx="960120" cy="96012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1053389" y="4848149"/>
            <a:ext cx="499262" cy="499262"/>
          </a:xfrm>
          <a:prstGeom prst="rect">
            <a:avLst/>
          </a:prstGeom>
        </p:spPr>
      </p:pic>
      <p:sp>
        <p:nvSpPr>
          <p:cNvPr id="18" name="Text 13"/>
          <p:cNvSpPr txBox="1"/>
          <p:nvPr/>
        </p:nvSpPr>
        <p:spPr>
          <a:xfrm>
            <a:off x="2057400" y="4526280"/>
            <a:ext cx="2743200" cy="365760"/>
          </a:xfrm>
          <a:prstGeom prst="rect">
            <a:avLst/>
          </a:prstGeom>
          <a:noFill/>
          <a:ln/>
        </p:spPr>
        <p:txBody>
          <a:bodyPr wrap="square" lIns="0" tIns="0" rIns="0" bIns="0" rtlCol="0" anchor="t"/>
          <a:lstStyle/>
          <a:p>
            <a:pPr indent="0" marL="0">
              <a:buNone/>
            </a:pPr>
            <a:r>
              <a:rPr lang="en-US" sz="1600" b="1" dirty="0">
                <a:solidFill>
                  <a:srgbClr val="D9644A"/>
                </a:solidFill>
                <a:latin typeface="BIZ UDPゴシック" pitchFamily="34" charset="0"/>
                <a:ea typeface="BIZ UDPゴシック" pitchFamily="34" charset="-122"/>
                <a:cs typeface="BIZ UDPゴシック" pitchFamily="34" charset="-120"/>
              </a:rPr>
              <a:t>ねらい</a:t>
            </a:r>
            <a:endParaRPr lang="en-US" sz="1600" dirty="0"/>
          </a:p>
        </p:txBody>
      </p:sp>
      <p:sp>
        <p:nvSpPr>
          <p:cNvPr id="19" name="Text 14"/>
          <p:cNvSpPr txBox="1"/>
          <p:nvPr/>
        </p:nvSpPr>
        <p:spPr>
          <a:xfrm>
            <a:off x="2057400" y="4892040"/>
            <a:ext cx="9326880" cy="914400"/>
          </a:xfrm>
          <a:prstGeom prst="rect">
            <a:avLst/>
          </a:prstGeom>
          <a:noFill/>
          <a:ln/>
        </p:spPr>
        <p:txBody>
          <a:bodyPr wrap="square" lIns="0" tIns="0" rIns="0" bIns="0" rtlCol="0" anchor="t"/>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10年の変化の大きさを実感し、「目の前の子供の10年後」から今日の話を聞いていただくための準備です。</a:t>
            </a:r>
            <a:endParaRPr lang="en-US" sz="1500" dirty="0"/>
          </a:p>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聞き手は「うなずき・拍手」で応援をお願いします。</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10年で、学校はここまで変わった</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472"/>
                </a:solidFill>
                <a:latin typeface="BIZ UDPゴシック" pitchFamily="34" charset="0"/>
                <a:ea typeface="BIZ UDPゴシック" pitchFamily="34" charset="-122"/>
                <a:cs typeface="BIZ UDPゴシック" pitchFamily="34" charset="-120"/>
              </a:rPr>
              <a:t>次の10年は、さらに速く変わる</a:t>
            </a:r>
            <a:endParaRPr lang="en-US" sz="1600" dirty="0"/>
          </a:p>
        </p:txBody>
      </p:sp>
      <p:sp>
        <p:nvSpPr>
          <p:cNvPr id="4" name="Shape 2"/>
          <p:cNvSpPr/>
          <p:nvPr/>
        </p:nvSpPr>
        <p:spPr>
          <a:xfrm>
            <a:off x="548640" y="1783080"/>
            <a:ext cx="3520440" cy="4206240"/>
          </a:xfrm>
          <a:prstGeom prst="roundRect">
            <a:avLst>
              <a:gd name="adj" fmla="val 3117"/>
            </a:avLst>
          </a:prstGeom>
          <a:solidFill>
            <a:srgbClr val="EEF4F1"/>
          </a:solidFill>
          <a:ln w="12700">
            <a:solidFill>
              <a:srgbClr val="EEF4F1"/>
            </a:solidFill>
            <a:prstDash val="solid"/>
          </a:ln>
        </p:spPr>
      </p:sp>
      <p:sp>
        <p:nvSpPr>
          <p:cNvPr id="5" name="Shape 3"/>
          <p:cNvSpPr/>
          <p:nvPr/>
        </p:nvSpPr>
        <p:spPr>
          <a:xfrm>
            <a:off x="822960" y="2011680"/>
            <a:ext cx="822960" cy="822960"/>
          </a:xfrm>
          <a:prstGeom prst="ellipse">
            <a:avLst/>
          </a:prstGeom>
          <a:solidFill>
            <a:srgbClr val="5B6472"/>
          </a:solidFill>
          <a:ln w="12700">
            <a:solidFill>
              <a:srgbClr val="5B6472"/>
            </a:solidFill>
            <a:prstDash val="solid"/>
          </a:ln>
        </p:spPr>
      </p:sp>
      <p:pic>
        <p:nvPicPr>
          <p:cNvPr id="6" name="Image 0" descr="preencoded.png">    </p:cNvPr>
          <p:cNvPicPr>
            <a:picLocks noChangeAspect="1"/>
          </p:cNvPicPr>
          <p:nvPr/>
        </p:nvPicPr>
        <p:blipFill>
          <a:blip r:embed="rId1"/>
          <a:stretch>
            <a:fillRect/>
          </a:stretch>
        </p:blipFill>
        <p:spPr>
          <a:xfrm>
            <a:off x="1020470" y="2209190"/>
            <a:ext cx="427939" cy="427939"/>
          </a:xfrm>
          <a:prstGeom prst="rect">
            <a:avLst/>
          </a:prstGeom>
        </p:spPr>
      </p:pic>
      <p:sp>
        <p:nvSpPr>
          <p:cNvPr id="7" name="Text 4"/>
          <p:cNvSpPr txBox="1"/>
          <p:nvPr/>
        </p:nvSpPr>
        <p:spPr>
          <a:xfrm>
            <a:off x="1828800" y="2011680"/>
            <a:ext cx="2103120" cy="822960"/>
          </a:xfrm>
          <a:prstGeom prst="rect">
            <a:avLst/>
          </a:prstGeom>
          <a:noFill/>
          <a:ln/>
        </p:spPr>
        <p:txBody>
          <a:bodyPr wrap="square" lIns="0" tIns="0" rIns="0" bIns="0" rtlCol="0" anchor="ctr"/>
          <a:lstStyle/>
          <a:p>
            <a:pPr indent="0" marL="0">
              <a:buNone/>
            </a:pPr>
            <a:r>
              <a:rPr lang="en-US" sz="3600" b="1" dirty="0">
                <a:solidFill>
                  <a:srgbClr val="1F2A44"/>
                </a:solidFill>
                <a:latin typeface="BIZ UDPゴシック" pitchFamily="34" charset="0"/>
                <a:ea typeface="BIZ UDPゴシック" pitchFamily="34" charset="-122"/>
                <a:cs typeface="BIZ UDPゴシック" pitchFamily="34" charset="-120"/>
              </a:rPr>
              <a:t>2016</a:t>
            </a:r>
            <a:endParaRPr lang="en-US" sz="3600" dirty="0"/>
          </a:p>
        </p:txBody>
      </p:sp>
      <p:sp>
        <p:nvSpPr>
          <p:cNvPr id="8" name="Text 5"/>
          <p:cNvSpPr txBox="1"/>
          <p:nvPr/>
        </p:nvSpPr>
        <p:spPr>
          <a:xfrm>
            <a:off x="822960" y="310896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中教審答申（12月）</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「主体的・対話的で深い学び」の提起</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端末は「コンピュータ室」に</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生成AIは身近になかった</a:t>
            </a:r>
            <a:endParaRPr lang="en-US" sz="1600" dirty="0"/>
          </a:p>
        </p:txBody>
      </p:sp>
      <p:sp>
        <p:nvSpPr>
          <p:cNvPr id="9" name="Shape 6"/>
          <p:cNvSpPr/>
          <p:nvPr/>
        </p:nvSpPr>
        <p:spPr>
          <a:xfrm>
            <a:off x="4114800" y="3657600"/>
            <a:ext cx="228600" cy="457200"/>
          </a:xfrm>
          <a:prstGeom prst="chevron">
            <a:avLst/>
          </a:prstGeom>
          <a:solidFill>
            <a:srgbClr val="D5DDE5"/>
          </a:solidFill>
          <a:ln w="12700">
            <a:solidFill>
              <a:srgbClr val="D5DDE5"/>
            </a:solidFill>
            <a:prstDash val="solid"/>
          </a:ln>
        </p:spPr>
      </p:sp>
      <p:sp>
        <p:nvSpPr>
          <p:cNvPr id="10" name="Shape 7"/>
          <p:cNvSpPr/>
          <p:nvPr/>
        </p:nvSpPr>
        <p:spPr>
          <a:xfrm>
            <a:off x="4389120" y="1783080"/>
            <a:ext cx="3520440" cy="4206240"/>
          </a:xfrm>
          <a:prstGeom prst="roundRect">
            <a:avLst>
              <a:gd name="adj" fmla="val 3117"/>
            </a:avLst>
          </a:prstGeom>
          <a:solidFill>
            <a:srgbClr val="EEF4F1"/>
          </a:solidFill>
          <a:ln w="12700">
            <a:solidFill>
              <a:srgbClr val="EEF4F1"/>
            </a:solidFill>
            <a:prstDash val="solid"/>
          </a:ln>
        </p:spPr>
      </p:sp>
      <p:sp>
        <p:nvSpPr>
          <p:cNvPr id="11" name="Shape 8"/>
          <p:cNvSpPr/>
          <p:nvPr/>
        </p:nvSpPr>
        <p:spPr>
          <a:xfrm>
            <a:off x="4663440" y="2011680"/>
            <a:ext cx="822960" cy="822960"/>
          </a:xfrm>
          <a:prstGeom prst="ellipse">
            <a:avLst/>
          </a:prstGeom>
          <a:solidFill>
            <a:srgbClr val="3E8E63"/>
          </a:solidFill>
          <a:ln w="12700">
            <a:solidFill>
              <a:srgbClr val="3E8E63"/>
            </a:solidFill>
            <a:prstDash val="solid"/>
          </a:ln>
        </p:spPr>
      </p:sp>
      <p:pic>
        <p:nvPicPr>
          <p:cNvPr id="12" name="Image 1" descr="preencoded.png">    </p:cNvPr>
          <p:cNvPicPr>
            <a:picLocks noChangeAspect="1"/>
          </p:cNvPicPr>
          <p:nvPr/>
        </p:nvPicPr>
        <p:blipFill>
          <a:blip r:embed="rId2"/>
          <a:stretch>
            <a:fillRect/>
          </a:stretch>
        </p:blipFill>
        <p:spPr>
          <a:xfrm>
            <a:off x="4860950" y="2209190"/>
            <a:ext cx="427939" cy="427939"/>
          </a:xfrm>
          <a:prstGeom prst="rect">
            <a:avLst/>
          </a:prstGeom>
        </p:spPr>
      </p:pic>
      <p:sp>
        <p:nvSpPr>
          <p:cNvPr id="13" name="Text 9"/>
          <p:cNvSpPr txBox="1"/>
          <p:nvPr/>
        </p:nvSpPr>
        <p:spPr>
          <a:xfrm>
            <a:off x="5669280" y="2011680"/>
            <a:ext cx="2103120" cy="822960"/>
          </a:xfrm>
          <a:prstGeom prst="rect">
            <a:avLst/>
          </a:prstGeom>
          <a:noFill/>
          <a:ln/>
        </p:spPr>
        <p:txBody>
          <a:bodyPr wrap="square" lIns="0" tIns="0" rIns="0" bIns="0" rtlCol="0" anchor="ctr"/>
          <a:lstStyle/>
          <a:p>
            <a:pPr indent="0" marL="0">
              <a:buNone/>
            </a:pPr>
            <a:r>
              <a:rPr lang="en-US" sz="3600" b="1" dirty="0">
                <a:solidFill>
                  <a:srgbClr val="1F2A44"/>
                </a:solidFill>
                <a:latin typeface="BIZ UDPゴシック" pitchFamily="34" charset="0"/>
                <a:ea typeface="BIZ UDPゴシック" pitchFamily="34" charset="-122"/>
                <a:cs typeface="BIZ UDPゴシック" pitchFamily="34" charset="-120"/>
              </a:rPr>
              <a:t>2026</a:t>
            </a:r>
            <a:endParaRPr lang="en-US" sz="3600" dirty="0"/>
          </a:p>
        </p:txBody>
      </p:sp>
      <p:sp>
        <p:nvSpPr>
          <p:cNvPr id="14" name="Text 10"/>
          <p:cNvSpPr txBox="1"/>
          <p:nvPr/>
        </p:nvSpPr>
        <p:spPr>
          <a:xfrm>
            <a:off x="4663440" y="310896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1人1台端末は2巡目へ</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生成AIが日常の道具に</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8/31 次期学習指導要領</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審議まとめ（素案）公表</a:t>
            </a:r>
            <a:endParaRPr lang="en-US" sz="1600" dirty="0"/>
          </a:p>
        </p:txBody>
      </p:sp>
      <p:sp>
        <p:nvSpPr>
          <p:cNvPr id="15" name="Shape 11"/>
          <p:cNvSpPr/>
          <p:nvPr/>
        </p:nvSpPr>
        <p:spPr>
          <a:xfrm>
            <a:off x="7955280" y="3657600"/>
            <a:ext cx="228600" cy="457200"/>
          </a:xfrm>
          <a:prstGeom prst="chevron">
            <a:avLst/>
          </a:prstGeom>
          <a:solidFill>
            <a:srgbClr val="D5DDE5"/>
          </a:solidFill>
          <a:ln w="12700">
            <a:solidFill>
              <a:srgbClr val="D5DDE5"/>
            </a:solidFill>
            <a:prstDash val="solid"/>
          </a:ln>
        </p:spPr>
      </p:sp>
      <p:sp>
        <p:nvSpPr>
          <p:cNvPr id="16" name="Shape 12"/>
          <p:cNvSpPr/>
          <p:nvPr/>
        </p:nvSpPr>
        <p:spPr>
          <a:xfrm>
            <a:off x="8229600" y="1783080"/>
            <a:ext cx="3520440" cy="4206240"/>
          </a:xfrm>
          <a:prstGeom prst="roundRect">
            <a:avLst>
              <a:gd name="adj" fmla="val 3117"/>
            </a:avLst>
          </a:prstGeom>
          <a:solidFill>
            <a:srgbClr val="FDF3E3"/>
          </a:solidFill>
          <a:ln w="12700">
            <a:solidFill>
              <a:srgbClr val="FDF3E3"/>
            </a:solidFill>
            <a:prstDash val="solid"/>
          </a:ln>
        </p:spPr>
      </p:sp>
      <p:sp>
        <p:nvSpPr>
          <p:cNvPr id="17" name="Shape 13"/>
          <p:cNvSpPr/>
          <p:nvPr/>
        </p:nvSpPr>
        <p:spPr>
          <a:xfrm>
            <a:off x="8503920" y="2011680"/>
            <a:ext cx="822960" cy="822960"/>
          </a:xfrm>
          <a:prstGeom prst="ellipse">
            <a:avLst/>
          </a:prstGeom>
          <a:solidFill>
            <a:srgbClr val="F2A541"/>
          </a:solidFill>
          <a:ln w="12700">
            <a:solidFill>
              <a:srgbClr val="F2A541"/>
            </a:solidFill>
            <a:prstDash val="solid"/>
          </a:ln>
        </p:spPr>
      </p:sp>
      <p:pic>
        <p:nvPicPr>
          <p:cNvPr id="18" name="Image 2" descr="preencoded.png">    </p:cNvPr>
          <p:cNvPicPr>
            <a:picLocks noChangeAspect="1"/>
          </p:cNvPicPr>
          <p:nvPr/>
        </p:nvPicPr>
        <p:blipFill>
          <a:blip r:embed="rId3"/>
          <a:stretch>
            <a:fillRect/>
          </a:stretch>
        </p:blipFill>
        <p:spPr>
          <a:xfrm>
            <a:off x="8701430" y="2209190"/>
            <a:ext cx="427939" cy="427939"/>
          </a:xfrm>
          <a:prstGeom prst="rect">
            <a:avLst/>
          </a:prstGeom>
        </p:spPr>
      </p:pic>
      <p:sp>
        <p:nvSpPr>
          <p:cNvPr id="19" name="Text 14"/>
          <p:cNvSpPr txBox="1"/>
          <p:nvPr/>
        </p:nvSpPr>
        <p:spPr>
          <a:xfrm>
            <a:off x="9509760" y="2011680"/>
            <a:ext cx="2103120" cy="822960"/>
          </a:xfrm>
          <a:prstGeom prst="rect">
            <a:avLst/>
          </a:prstGeom>
          <a:noFill/>
          <a:ln/>
        </p:spPr>
        <p:txBody>
          <a:bodyPr wrap="square" lIns="0" tIns="0" rIns="0" bIns="0" rtlCol="0" anchor="ctr"/>
          <a:lstStyle/>
          <a:p>
            <a:pPr indent="0" marL="0">
              <a:buNone/>
            </a:pPr>
            <a:r>
              <a:rPr lang="en-US" sz="3600" b="1" dirty="0">
                <a:solidFill>
                  <a:srgbClr val="1F2A44"/>
                </a:solidFill>
                <a:latin typeface="BIZ UDPゴシック" pitchFamily="34" charset="0"/>
                <a:ea typeface="BIZ UDPゴシック" pitchFamily="34" charset="-122"/>
                <a:cs typeface="BIZ UDPゴシック" pitchFamily="34" charset="-120"/>
              </a:rPr>
              <a:t>2036</a:t>
            </a:r>
            <a:endParaRPr lang="en-US" sz="3600" dirty="0"/>
          </a:p>
        </p:txBody>
      </p:sp>
      <p:sp>
        <p:nvSpPr>
          <p:cNvPr id="20" name="Text 15"/>
          <p:cNvSpPr txBox="1"/>
          <p:nvPr/>
        </p:nvSpPr>
        <p:spPr>
          <a:xfrm>
            <a:off x="8503920" y="3108960"/>
            <a:ext cx="30175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新学習指導要領</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全面実施から約6年</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AIと共に学ぶのが当たり前</a:t>
            </a:r>
            <a:endParaRPr lang="en-US" sz="1600" dirty="0"/>
          </a:p>
          <a:p>
            <a:pPr marL="342900" indent="-342900">
              <a:spcAft>
                <a:spcPts val="8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学校は何を担う？</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2036年、教室にいるのはこんな子供たち</a:t>
            </a:r>
            <a:endParaRPr lang="en-US" sz="3200" dirty="0"/>
          </a:p>
        </p:txBody>
      </p:sp>
      <p:sp>
        <p:nvSpPr>
          <p:cNvPr id="3" name="Shape 1"/>
          <p:cNvSpPr/>
          <p:nvPr/>
        </p:nvSpPr>
        <p:spPr>
          <a:xfrm>
            <a:off x="548640" y="1554480"/>
            <a:ext cx="3520440" cy="3017520"/>
          </a:xfrm>
          <a:prstGeom prst="roundRect">
            <a:avLst>
              <a:gd name="adj" fmla="val 3636"/>
            </a:avLst>
          </a:prstGeom>
          <a:solidFill>
            <a:srgbClr val="EEF4F1"/>
          </a:solidFill>
          <a:ln w="12700">
            <a:solidFill>
              <a:srgbClr val="EEF4F1"/>
            </a:solidFill>
            <a:prstDash val="solid"/>
          </a:ln>
        </p:spPr>
      </p:sp>
      <p:sp>
        <p:nvSpPr>
          <p:cNvPr id="4" name="Text 2"/>
          <p:cNvSpPr txBox="1"/>
          <p:nvPr/>
        </p:nvSpPr>
        <p:spPr>
          <a:xfrm>
            <a:off x="731520" y="1783080"/>
            <a:ext cx="3154680" cy="1097280"/>
          </a:xfrm>
          <a:prstGeom prst="rect">
            <a:avLst/>
          </a:prstGeom>
          <a:noFill/>
          <a:ln/>
        </p:spPr>
        <p:txBody>
          <a:bodyPr wrap="square" lIns="0" tIns="0" rIns="0" bIns="0" rtlCol="0" anchor="ctr"/>
          <a:lstStyle/>
          <a:p>
            <a:pPr algn="ctr" indent="0" marL="0">
              <a:buNone/>
            </a:pPr>
            <a:r>
              <a:rPr lang="en-US" sz="3400" b="1" dirty="0">
                <a:solidFill>
                  <a:srgbClr val="1F2A44"/>
                </a:solidFill>
                <a:latin typeface="BIZ UDPゴシック" pitchFamily="34" charset="0"/>
                <a:ea typeface="BIZ UDPゴシック" pitchFamily="34" charset="-122"/>
                <a:cs typeface="BIZ UDPゴシック" pitchFamily="34" charset="-120"/>
              </a:rPr>
              <a:t>約68.6万人</a:t>
            </a:r>
            <a:endParaRPr lang="en-US" sz="3400" dirty="0"/>
          </a:p>
        </p:txBody>
      </p:sp>
      <p:sp>
        <p:nvSpPr>
          <p:cNvPr id="5" name="Text 3"/>
          <p:cNvSpPr txBox="1"/>
          <p:nvPr/>
        </p:nvSpPr>
        <p:spPr>
          <a:xfrm>
            <a:off x="731520" y="3017520"/>
            <a:ext cx="3154680" cy="1371600"/>
          </a:xfrm>
          <a:prstGeom prst="rect">
            <a:avLst/>
          </a:prstGeom>
          <a:noFill/>
          <a:ln/>
        </p:spPr>
        <p:txBody>
          <a:bodyPr wrap="square" lIns="0" tIns="0" rIns="0" bIns="0" rtlCol="0" anchor="t"/>
          <a:lstStyle/>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2024年の出生数</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（初の70万人割れ）</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この子たちが2036年に小学6年生</a:t>
            </a:r>
            <a:endParaRPr lang="en-US" sz="1400" dirty="0"/>
          </a:p>
        </p:txBody>
      </p:sp>
      <p:sp>
        <p:nvSpPr>
          <p:cNvPr id="6" name="Shape 4"/>
          <p:cNvSpPr/>
          <p:nvPr/>
        </p:nvSpPr>
        <p:spPr>
          <a:xfrm>
            <a:off x="4389120" y="1554480"/>
            <a:ext cx="3520440" cy="3017520"/>
          </a:xfrm>
          <a:prstGeom prst="roundRect">
            <a:avLst>
              <a:gd name="adj" fmla="val 3636"/>
            </a:avLst>
          </a:prstGeom>
          <a:solidFill>
            <a:srgbClr val="EEF4F1"/>
          </a:solidFill>
          <a:ln w="12700">
            <a:solidFill>
              <a:srgbClr val="EEF4F1"/>
            </a:solidFill>
            <a:prstDash val="solid"/>
          </a:ln>
        </p:spPr>
      </p:sp>
      <p:sp>
        <p:nvSpPr>
          <p:cNvPr id="7" name="Text 5"/>
          <p:cNvSpPr txBox="1"/>
          <p:nvPr/>
        </p:nvSpPr>
        <p:spPr>
          <a:xfrm>
            <a:off x="4572000" y="1783080"/>
            <a:ext cx="3154680" cy="1097280"/>
          </a:xfrm>
          <a:prstGeom prst="rect">
            <a:avLst/>
          </a:prstGeom>
          <a:noFill/>
          <a:ln/>
        </p:spPr>
        <p:txBody>
          <a:bodyPr wrap="square" lIns="0" tIns="0" rIns="0" bIns="0" rtlCol="0" anchor="ctr"/>
          <a:lstStyle/>
          <a:p>
            <a:pPr algn="ctr" indent="0" marL="0">
              <a:buNone/>
            </a:pPr>
            <a:r>
              <a:rPr lang="en-US" sz="3400" b="1" dirty="0">
                <a:solidFill>
                  <a:srgbClr val="3E8E63"/>
                </a:solidFill>
                <a:latin typeface="BIZ UDPゴシック" pitchFamily="34" charset="0"/>
                <a:ea typeface="BIZ UDPゴシック" pitchFamily="34" charset="-122"/>
                <a:cs typeface="BIZ UDPゴシック" pitchFamily="34" charset="-120"/>
              </a:rPr>
              <a:t>2030／2031</a:t>
            </a:r>
            <a:endParaRPr lang="en-US" sz="3400" dirty="0"/>
          </a:p>
        </p:txBody>
      </p:sp>
      <p:sp>
        <p:nvSpPr>
          <p:cNvPr id="8" name="Text 6"/>
          <p:cNvSpPr txBox="1"/>
          <p:nvPr/>
        </p:nvSpPr>
        <p:spPr>
          <a:xfrm>
            <a:off x="4572000" y="3017520"/>
            <a:ext cx="3154680" cy="1371600"/>
          </a:xfrm>
          <a:prstGeom prst="rect">
            <a:avLst/>
          </a:prstGeom>
          <a:noFill/>
          <a:ln/>
        </p:spPr>
        <p:txBody>
          <a:bodyPr wrap="square" lIns="0" tIns="0" rIns="0" bIns="0" rtlCol="0" anchor="t"/>
          <a:lstStyle/>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新学習指導要領の全面実施</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（見通し）</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小学校2030年度・中学校2031年度</a:t>
            </a:r>
            <a:endParaRPr lang="en-US" sz="1400" dirty="0"/>
          </a:p>
        </p:txBody>
      </p:sp>
      <p:sp>
        <p:nvSpPr>
          <p:cNvPr id="9" name="Shape 7"/>
          <p:cNvSpPr/>
          <p:nvPr/>
        </p:nvSpPr>
        <p:spPr>
          <a:xfrm>
            <a:off x="8229600" y="1554480"/>
            <a:ext cx="3520440" cy="3017520"/>
          </a:xfrm>
          <a:prstGeom prst="roundRect">
            <a:avLst>
              <a:gd name="adj" fmla="val 3636"/>
            </a:avLst>
          </a:prstGeom>
          <a:solidFill>
            <a:srgbClr val="EEF4F1"/>
          </a:solidFill>
          <a:ln w="12700">
            <a:solidFill>
              <a:srgbClr val="EEF4F1"/>
            </a:solidFill>
            <a:prstDash val="solid"/>
          </a:ln>
        </p:spPr>
      </p:sp>
      <p:sp>
        <p:nvSpPr>
          <p:cNvPr id="10" name="Text 8"/>
          <p:cNvSpPr txBox="1"/>
          <p:nvPr/>
        </p:nvSpPr>
        <p:spPr>
          <a:xfrm>
            <a:off x="8412480" y="1783080"/>
            <a:ext cx="3154680" cy="1097280"/>
          </a:xfrm>
          <a:prstGeom prst="rect">
            <a:avLst/>
          </a:prstGeom>
          <a:noFill/>
          <a:ln/>
        </p:spPr>
        <p:txBody>
          <a:bodyPr wrap="square" lIns="0" tIns="0" rIns="0" bIns="0" rtlCol="0" anchor="ctr"/>
          <a:lstStyle/>
          <a:p>
            <a:pPr algn="ctr" indent="0" marL="0">
              <a:buNone/>
            </a:pPr>
            <a:r>
              <a:rPr lang="en-US" sz="3400" b="1" dirty="0">
                <a:solidFill>
                  <a:srgbClr val="D9644A"/>
                </a:solidFill>
                <a:latin typeface="BIZ UDPゴシック" pitchFamily="34" charset="0"/>
                <a:ea typeface="BIZ UDPゴシック" pitchFamily="34" charset="-122"/>
                <a:cs typeface="BIZ UDPゴシック" pitchFamily="34" charset="-120"/>
              </a:rPr>
              <a:t>AIネイティブ</a:t>
            </a:r>
            <a:endParaRPr lang="en-US" sz="3400" dirty="0"/>
          </a:p>
        </p:txBody>
      </p:sp>
      <p:sp>
        <p:nvSpPr>
          <p:cNvPr id="11" name="Text 9"/>
          <p:cNvSpPr txBox="1"/>
          <p:nvPr/>
        </p:nvSpPr>
        <p:spPr>
          <a:xfrm>
            <a:off x="8412480" y="3017520"/>
            <a:ext cx="3154680" cy="1371600"/>
          </a:xfrm>
          <a:prstGeom prst="rect">
            <a:avLst/>
          </a:prstGeom>
          <a:noFill/>
          <a:ln/>
        </p:spPr>
        <p:txBody>
          <a:bodyPr wrap="square" lIns="0" tIns="0" rIns="0" bIns="0" rtlCol="0" anchor="t"/>
          <a:lstStyle/>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生まれた時から</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生成AIがある世代</a:t>
            </a:r>
            <a:endParaRPr lang="en-US" sz="1400" dirty="0"/>
          </a:p>
          <a:p>
            <a:pPr algn="ct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「調べる」「書く」の意味が変わる</a:t>
            </a:r>
            <a:endParaRPr lang="en-US" sz="1400" dirty="0"/>
          </a:p>
        </p:txBody>
      </p:sp>
      <p:sp>
        <p:nvSpPr>
          <p:cNvPr id="12" name="Shape 10"/>
          <p:cNvSpPr/>
          <p:nvPr/>
        </p:nvSpPr>
        <p:spPr>
          <a:xfrm>
            <a:off x="548640" y="4892040"/>
            <a:ext cx="11091672" cy="1188720"/>
          </a:xfrm>
          <a:prstGeom prst="roundRect">
            <a:avLst>
              <a:gd name="adj" fmla="val 9231"/>
            </a:avLst>
          </a:prstGeom>
          <a:solidFill>
            <a:srgbClr val="1F2A44"/>
          </a:solidFill>
          <a:ln w="12700">
            <a:solidFill>
              <a:srgbClr val="1F2A44"/>
            </a:solidFill>
            <a:prstDash val="solid"/>
          </a:ln>
        </p:spPr>
      </p:sp>
      <p:sp>
        <p:nvSpPr>
          <p:cNvPr id="13" name="Text 11"/>
          <p:cNvSpPr txBox="1"/>
          <p:nvPr/>
        </p:nvSpPr>
        <p:spPr>
          <a:xfrm>
            <a:off x="868680" y="4983480"/>
            <a:ext cx="10515600" cy="100584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一人一人がかけがえのない存在になる時代。「全員が同じことを、同じペースで」の授業だけでは、</a:t>
            </a:r>
            <a:endParaRPr lang="en-US" sz="1800" dirty="0"/>
          </a:p>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多様な子供の可能性を引き出しきれない。</a:t>
            </a:r>
            <a:endParaRPr lang="en-US" sz="1800" dirty="0"/>
          </a:p>
        </p:txBody>
      </p:sp>
      <p:sp>
        <p:nvSpPr>
          <p:cNvPr id="14" name="Text 12"/>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1000" dirty="0">
                <a:solidFill>
                  <a:srgbClr val="5B6472"/>
                </a:solidFill>
                <a:latin typeface="BIZ UDPゴシック" pitchFamily="34" charset="0"/>
                <a:ea typeface="BIZ UDPゴシック" pitchFamily="34" charset="-122"/>
                <a:cs typeface="BIZ UDPゴシック" pitchFamily="34" charset="-120"/>
              </a:rPr>
              <a:t>出典：厚生労働省 人口動態統計（2024年 686,061人）、報道各社による審議まとめ（素案）の実施スケジュール</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審議まとめ（素案）の3つの柱</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5B6472"/>
                </a:solidFill>
                <a:latin typeface="BIZ UDPゴシック" pitchFamily="34" charset="0"/>
                <a:ea typeface="BIZ UDPゴシック" pitchFamily="34" charset="-122"/>
                <a:cs typeface="BIZ UDPゴシック" pitchFamily="34" charset="-120"/>
              </a:rPr>
              <a:t>令和7年9月「論点整理」の方向性を引き継ぎ、約1年の審議を統合</a:t>
            </a:r>
            <a:endParaRPr lang="en-US" sz="1600" dirty="0"/>
          </a:p>
        </p:txBody>
      </p:sp>
      <p:sp>
        <p:nvSpPr>
          <p:cNvPr id="4" name="Shape 2"/>
          <p:cNvSpPr/>
          <p:nvPr/>
        </p:nvSpPr>
        <p:spPr>
          <a:xfrm>
            <a:off x="548640" y="1783080"/>
            <a:ext cx="3520440" cy="4114800"/>
          </a:xfrm>
          <a:prstGeom prst="roundRect">
            <a:avLst>
              <a:gd name="adj" fmla="val 3117"/>
            </a:avLst>
          </a:prstGeom>
          <a:solidFill>
            <a:srgbClr val="EEF4F1"/>
          </a:solidFill>
          <a:ln w="12700">
            <a:solidFill>
              <a:srgbClr val="EEF4F1"/>
            </a:solidFill>
            <a:prstDash val="solid"/>
          </a:ln>
        </p:spPr>
      </p:sp>
      <p:sp>
        <p:nvSpPr>
          <p:cNvPr id="5" name="Shape 3"/>
          <p:cNvSpPr/>
          <p:nvPr/>
        </p:nvSpPr>
        <p:spPr>
          <a:xfrm>
            <a:off x="1892808" y="2011680"/>
            <a:ext cx="822960" cy="822960"/>
          </a:xfrm>
          <a:prstGeom prst="ellipse">
            <a:avLst/>
          </a:prstGeom>
          <a:solidFill>
            <a:srgbClr val="1F2A44"/>
          </a:solidFill>
          <a:ln w="12700">
            <a:solidFill>
              <a:srgbClr val="1F2A44"/>
            </a:solidFill>
            <a:prstDash val="solid"/>
          </a:ln>
        </p:spPr>
      </p:sp>
      <p:pic>
        <p:nvPicPr>
          <p:cNvPr id="6" name="Image 0" descr="preencoded.png">    </p:cNvPr>
          <p:cNvPicPr>
            <a:picLocks noChangeAspect="1"/>
          </p:cNvPicPr>
          <p:nvPr/>
        </p:nvPicPr>
        <p:blipFill>
          <a:blip r:embed="rId1"/>
          <a:stretch>
            <a:fillRect/>
          </a:stretch>
        </p:blipFill>
        <p:spPr>
          <a:xfrm>
            <a:off x="2090318" y="2209190"/>
            <a:ext cx="427939" cy="427939"/>
          </a:xfrm>
          <a:prstGeom prst="rect">
            <a:avLst/>
          </a:prstGeom>
        </p:spPr>
      </p:pic>
      <p:sp>
        <p:nvSpPr>
          <p:cNvPr id="7" name="Text 4"/>
          <p:cNvSpPr txBox="1"/>
          <p:nvPr/>
        </p:nvSpPr>
        <p:spPr>
          <a:xfrm>
            <a:off x="731520" y="2971800"/>
            <a:ext cx="3154680" cy="822960"/>
          </a:xfrm>
          <a:prstGeom prst="rect">
            <a:avLst/>
          </a:prstGeom>
          <a:noFill/>
          <a:ln/>
        </p:spPr>
        <p:txBody>
          <a:bodyPr wrap="square" lIns="0" tIns="0" rIns="0" bIns="0" rtlCol="0" anchor="ctr"/>
          <a:lstStyle/>
          <a:p>
            <a:pPr algn="ct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①「主体的・対話的で深い学び」の実装</a:t>
            </a:r>
            <a:endParaRPr lang="en-US" sz="1800" dirty="0"/>
          </a:p>
        </p:txBody>
      </p:sp>
      <p:sp>
        <p:nvSpPr>
          <p:cNvPr id="8" name="Text 5"/>
          <p:cNvSpPr txBox="1"/>
          <p:nvPr/>
        </p:nvSpPr>
        <p:spPr>
          <a:xfrm>
            <a:off x="822960" y="3886200"/>
            <a:ext cx="2971800" cy="182880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理念は現行を継承。</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「分かっている」から</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「できている」へ。</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授業の姿で実装する。</a:t>
            </a:r>
            <a:endParaRPr lang="en-US" sz="1500" dirty="0"/>
          </a:p>
        </p:txBody>
      </p:sp>
      <p:sp>
        <p:nvSpPr>
          <p:cNvPr id="9" name="Shape 6"/>
          <p:cNvSpPr/>
          <p:nvPr/>
        </p:nvSpPr>
        <p:spPr>
          <a:xfrm>
            <a:off x="4389120" y="1783080"/>
            <a:ext cx="3520440" cy="4114800"/>
          </a:xfrm>
          <a:prstGeom prst="roundRect">
            <a:avLst>
              <a:gd name="adj" fmla="val 3117"/>
            </a:avLst>
          </a:prstGeom>
          <a:solidFill>
            <a:srgbClr val="EEF4F1"/>
          </a:solidFill>
          <a:ln w="12700">
            <a:solidFill>
              <a:srgbClr val="EEF4F1"/>
            </a:solidFill>
            <a:prstDash val="solid"/>
          </a:ln>
        </p:spPr>
      </p:sp>
      <p:sp>
        <p:nvSpPr>
          <p:cNvPr id="10" name="Shape 7"/>
          <p:cNvSpPr/>
          <p:nvPr/>
        </p:nvSpPr>
        <p:spPr>
          <a:xfrm>
            <a:off x="5733288" y="2011680"/>
            <a:ext cx="822960" cy="822960"/>
          </a:xfrm>
          <a:prstGeom prst="ellipse">
            <a:avLst/>
          </a:prstGeom>
          <a:solidFill>
            <a:srgbClr val="3E8E63"/>
          </a:solidFill>
          <a:ln w="12700">
            <a:solidFill>
              <a:srgbClr val="3E8E63"/>
            </a:solidFill>
            <a:prstDash val="solid"/>
          </a:ln>
        </p:spPr>
      </p:sp>
      <p:pic>
        <p:nvPicPr>
          <p:cNvPr id="11" name="Image 1" descr="preencoded.png">    </p:cNvPr>
          <p:cNvPicPr>
            <a:picLocks noChangeAspect="1"/>
          </p:cNvPicPr>
          <p:nvPr/>
        </p:nvPicPr>
        <p:blipFill>
          <a:blip r:embed="rId2"/>
          <a:stretch>
            <a:fillRect/>
          </a:stretch>
        </p:blipFill>
        <p:spPr>
          <a:xfrm>
            <a:off x="5930798" y="2209190"/>
            <a:ext cx="427939" cy="427939"/>
          </a:xfrm>
          <a:prstGeom prst="rect">
            <a:avLst/>
          </a:prstGeom>
        </p:spPr>
      </p:pic>
      <p:sp>
        <p:nvSpPr>
          <p:cNvPr id="12" name="Text 8"/>
          <p:cNvSpPr txBox="1"/>
          <p:nvPr/>
        </p:nvSpPr>
        <p:spPr>
          <a:xfrm>
            <a:off x="4572000" y="2971800"/>
            <a:ext cx="3154680" cy="822960"/>
          </a:xfrm>
          <a:prstGeom prst="rect">
            <a:avLst/>
          </a:prstGeom>
          <a:noFill/>
          <a:ln/>
        </p:spPr>
        <p:txBody>
          <a:bodyPr wrap="square" lIns="0" tIns="0" rIns="0" bIns="0" rtlCol="0" anchor="ctr"/>
          <a:lstStyle/>
          <a:p>
            <a:pPr algn="ctr" indent="0" marL="0">
              <a:buNone/>
            </a:pPr>
            <a:r>
              <a:rPr lang="en-US" sz="1800" b="1" dirty="0">
                <a:solidFill>
                  <a:srgbClr val="3E8E63"/>
                </a:solidFill>
                <a:latin typeface="BIZ UDPゴシック" pitchFamily="34" charset="0"/>
                <a:ea typeface="BIZ UDPゴシック" pitchFamily="34" charset="-122"/>
                <a:cs typeface="BIZ UDPゴシック" pitchFamily="34" charset="-120"/>
              </a:rPr>
              <a:t>② 多様性の包摂</a:t>
            </a:r>
            <a:endParaRPr lang="en-US" sz="1800" dirty="0"/>
          </a:p>
        </p:txBody>
      </p:sp>
      <p:sp>
        <p:nvSpPr>
          <p:cNvPr id="13" name="Text 9"/>
          <p:cNvSpPr txBox="1"/>
          <p:nvPr/>
        </p:nvSpPr>
        <p:spPr>
          <a:xfrm>
            <a:off x="4663440" y="3886200"/>
            <a:ext cx="2971800" cy="182880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一人一人の「好き・得意」</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を育む。</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困難のある子も、</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突き抜けた子も包み込む。</a:t>
            </a:r>
            <a:endParaRPr lang="en-US" sz="1500" dirty="0"/>
          </a:p>
        </p:txBody>
      </p:sp>
      <p:sp>
        <p:nvSpPr>
          <p:cNvPr id="14" name="Shape 10"/>
          <p:cNvSpPr/>
          <p:nvPr/>
        </p:nvSpPr>
        <p:spPr>
          <a:xfrm>
            <a:off x="8229600" y="1783080"/>
            <a:ext cx="3520440" cy="4114800"/>
          </a:xfrm>
          <a:prstGeom prst="roundRect">
            <a:avLst>
              <a:gd name="adj" fmla="val 3117"/>
            </a:avLst>
          </a:prstGeom>
          <a:solidFill>
            <a:srgbClr val="EEF4F1"/>
          </a:solidFill>
          <a:ln w="12700">
            <a:solidFill>
              <a:srgbClr val="EEF4F1"/>
            </a:solidFill>
            <a:prstDash val="solid"/>
          </a:ln>
        </p:spPr>
      </p:sp>
      <p:sp>
        <p:nvSpPr>
          <p:cNvPr id="15" name="Shape 11"/>
          <p:cNvSpPr/>
          <p:nvPr/>
        </p:nvSpPr>
        <p:spPr>
          <a:xfrm>
            <a:off x="9573768" y="2011680"/>
            <a:ext cx="822960" cy="822960"/>
          </a:xfrm>
          <a:prstGeom prst="ellipse">
            <a:avLst/>
          </a:prstGeom>
          <a:solidFill>
            <a:srgbClr val="D9644A"/>
          </a:solidFill>
          <a:ln w="12700">
            <a:solidFill>
              <a:srgbClr val="D9644A"/>
            </a:solidFill>
            <a:prstDash val="solid"/>
          </a:ln>
        </p:spPr>
      </p:sp>
      <p:pic>
        <p:nvPicPr>
          <p:cNvPr id="16" name="Image 2" descr="preencoded.png">    </p:cNvPr>
          <p:cNvPicPr>
            <a:picLocks noChangeAspect="1"/>
          </p:cNvPicPr>
          <p:nvPr/>
        </p:nvPicPr>
        <p:blipFill>
          <a:blip r:embed="rId3"/>
          <a:stretch>
            <a:fillRect/>
          </a:stretch>
        </p:blipFill>
        <p:spPr>
          <a:xfrm>
            <a:off x="9771278" y="2209190"/>
            <a:ext cx="427939" cy="427939"/>
          </a:xfrm>
          <a:prstGeom prst="rect">
            <a:avLst/>
          </a:prstGeom>
        </p:spPr>
      </p:pic>
      <p:sp>
        <p:nvSpPr>
          <p:cNvPr id="17" name="Text 12"/>
          <p:cNvSpPr txBox="1"/>
          <p:nvPr/>
        </p:nvSpPr>
        <p:spPr>
          <a:xfrm>
            <a:off x="8412480" y="2971800"/>
            <a:ext cx="3154680" cy="822960"/>
          </a:xfrm>
          <a:prstGeom prst="rect">
            <a:avLst/>
          </a:prstGeom>
          <a:noFill/>
          <a:ln/>
        </p:spPr>
        <p:txBody>
          <a:bodyPr wrap="square" lIns="0" tIns="0" rIns="0" bIns="0" rtlCol="0" anchor="ctr"/>
          <a:lstStyle/>
          <a:p>
            <a:pPr algn="ctr" indent="0" marL="0">
              <a:buNone/>
            </a:pPr>
            <a:r>
              <a:rPr lang="en-US" sz="1800" b="1" dirty="0">
                <a:solidFill>
                  <a:srgbClr val="D9644A"/>
                </a:solidFill>
                <a:latin typeface="BIZ UDPゴシック" pitchFamily="34" charset="0"/>
                <a:ea typeface="BIZ UDPゴシック" pitchFamily="34" charset="-122"/>
                <a:cs typeface="BIZ UDPゴシック" pitchFamily="34" charset="-120"/>
              </a:rPr>
              <a:t>③ 実現可能性の確保</a:t>
            </a:r>
            <a:endParaRPr lang="en-US" sz="1800" dirty="0"/>
          </a:p>
        </p:txBody>
      </p:sp>
      <p:sp>
        <p:nvSpPr>
          <p:cNvPr id="18" name="Text 13"/>
          <p:cNvSpPr txBox="1"/>
          <p:nvPr/>
        </p:nvSpPr>
        <p:spPr>
          <a:xfrm>
            <a:off x="8503920" y="3886200"/>
            <a:ext cx="2971800" cy="182880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学習内容の精選・構造化。</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教師が「やり切れる」</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教育課程へ。</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働き方とセットで考える。</a:t>
            </a:r>
            <a:endParaRPr lang="en-US" sz="1500" dirty="0"/>
          </a:p>
        </p:txBody>
      </p:sp>
      <p:sp>
        <p:nvSpPr>
          <p:cNvPr id="19" name="Text 14"/>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1000" dirty="0">
                <a:solidFill>
                  <a:srgbClr val="5B6472"/>
                </a:solidFill>
                <a:latin typeface="BIZ UDPゴシック" pitchFamily="34" charset="0"/>
                <a:ea typeface="BIZ UDPゴシック" pitchFamily="34" charset="-122"/>
                <a:cs typeface="BIZ UDPゴシック" pitchFamily="34" charset="-120"/>
              </a:rPr>
              <a:t>※ 素案は答申前の段階であり、今後の審議で修正される可能性があります（答申は2026年冬の見通し）。</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学校にとっての主な変化（素案のポイント）</a:t>
            </a:r>
            <a:endParaRPr lang="en-US" sz="3200" dirty="0"/>
          </a:p>
        </p:txBody>
      </p:sp>
      <p:sp>
        <p:nvSpPr>
          <p:cNvPr id="3" name="Shape 1"/>
          <p:cNvSpPr/>
          <p:nvPr/>
        </p:nvSpPr>
        <p:spPr>
          <a:xfrm>
            <a:off x="548640" y="1417320"/>
            <a:ext cx="5468112" cy="2194560"/>
          </a:xfrm>
          <a:prstGeom prst="roundRect">
            <a:avLst>
              <a:gd name="adj" fmla="val 5000"/>
            </a:avLst>
          </a:prstGeom>
          <a:solidFill>
            <a:srgbClr val="EEF4F1"/>
          </a:solidFill>
          <a:ln w="12700">
            <a:solidFill>
              <a:srgbClr val="EEF4F1"/>
            </a:solidFill>
            <a:prstDash val="solid"/>
          </a:ln>
        </p:spPr>
      </p:sp>
      <p:sp>
        <p:nvSpPr>
          <p:cNvPr id="4" name="Shape 2"/>
          <p:cNvSpPr/>
          <p:nvPr/>
        </p:nvSpPr>
        <p:spPr>
          <a:xfrm>
            <a:off x="822960" y="1691640"/>
            <a:ext cx="777240" cy="777240"/>
          </a:xfrm>
          <a:prstGeom prst="ellipse">
            <a:avLst/>
          </a:prstGeom>
          <a:solidFill>
            <a:srgbClr val="1F2A44"/>
          </a:solidFill>
          <a:ln w="12700">
            <a:solidFill>
              <a:srgbClr val="1F2A44"/>
            </a:solidFill>
            <a:prstDash val="solid"/>
          </a:ln>
        </p:spPr>
      </p:sp>
      <p:pic>
        <p:nvPicPr>
          <p:cNvPr id="5" name="Image 0" descr="preencoded.png">    </p:cNvPr>
          <p:cNvPicPr>
            <a:picLocks noChangeAspect="1"/>
          </p:cNvPicPr>
          <p:nvPr/>
        </p:nvPicPr>
        <p:blipFill>
          <a:blip r:embed="rId1"/>
          <a:stretch>
            <a:fillRect/>
          </a:stretch>
        </p:blipFill>
        <p:spPr>
          <a:xfrm>
            <a:off x="1009498" y="1878178"/>
            <a:ext cx="404165" cy="404165"/>
          </a:xfrm>
          <a:prstGeom prst="rect">
            <a:avLst/>
          </a:prstGeom>
        </p:spPr>
      </p:pic>
      <p:sp>
        <p:nvSpPr>
          <p:cNvPr id="6" name="Text 3"/>
          <p:cNvSpPr txBox="1"/>
          <p:nvPr/>
        </p:nvSpPr>
        <p:spPr>
          <a:xfrm>
            <a:off x="1783080" y="1691640"/>
            <a:ext cx="402336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調整授業時数制度の創設</a:t>
            </a:r>
            <a:endParaRPr lang="en-US" sz="1800" dirty="0"/>
          </a:p>
        </p:txBody>
      </p:sp>
      <p:sp>
        <p:nvSpPr>
          <p:cNvPr id="7" name="Text 4"/>
          <p:cNvSpPr txBox="1"/>
          <p:nvPr/>
        </p:nvSpPr>
        <p:spPr>
          <a:xfrm>
            <a:off x="1783080" y="2286000"/>
            <a:ext cx="4069080" cy="123444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年間の総授業時数は維持しつつ、教科等の時数を学校の裁量で調整（週4コマ程度まで）。個に応じた学びや研修に充てる「裁量的な時間」（週2コマ程度まで）も。</a:t>
            </a:r>
            <a:endParaRPr lang="en-US" sz="1400" dirty="0"/>
          </a:p>
        </p:txBody>
      </p:sp>
      <p:sp>
        <p:nvSpPr>
          <p:cNvPr id="8" name="Shape 5"/>
          <p:cNvSpPr/>
          <p:nvPr/>
        </p:nvSpPr>
        <p:spPr>
          <a:xfrm>
            <a:off x="6172200" y="1417320"/>
            <a:ext cx="5468112" cy="2194560"/>
          </a:xfrm>
          <a:prstGeom prst="roundRect">
            <a:avLst>
              <a:gd name="adj" fmla="val 5000"/>
            </a:avLst>
          </a:prstGeom>
          <a:solidFill>
            <a:srgbClr val="EEF4F1"/>
          </a:solidFill>
          <a:ln w="12700">
            <a:solidFill>
              <a:srgbClr val="EEF4F1"/>
            </a:solidFill>
            <a:prstDash val="solid"/>
          </a:ln>
        </p:spPr>
      </p:sp>
      <p:sp>
        <p:nvSpPr>
          <p:cNvPr id="9" name="Shape 6"/>
          <p:cNvSpPr/>
          <p:nvPr/>
        </p:nvSpPr>
        <p:spPr>
          <a:xfrm>
            <a:off x="6446520" y="1691640"/>
            <a:ext cx="777240" cy="777240"/>
          </a:xfrm>
          <a:prstGeom prst="ellipse">
            <a:avLst/>
          </a:prstGeom>
          <a:solidFill>
            <a:srgbClr val="3E8E63"/>
          </a:solidFill>
          <a:ln w="12700">
            <a:solidFill>
              <a:srgbClr val="3E8E63"/>
            </a:solidFill>
            <a:prstDash val="solid"/>
          </a:ln>
        </p:spPr>
      </p:sp>
      <p:pic>
        <p:nvPicPr>
          <p:cNvPr id="10" name="Image 1" descr="preencoded.png">    </p:cNvPr>
          <p:cNvPicPr>
            <a:picLocks noChangeAspect="1"/>
          </p:cNvPicPr>
          <p:nvPr/>
        </p:nvPicPr>
        <p:blipFill>
          <a:blip r:embed="rId2"/>
          <a:stretch>
            <a:fillRect/>
          </a:stretch>
        </p:blipFill>
        <p:spPr>
          <a:xfrm>
            <a:off x="6633058" y="1878178"/>
            <a:ext cx="404165" cy="404165"/>
          </a:xfrm>
          <a:prstGeom prst="rect">
            <a:avLst/>
          </a:prstGeom>
        </p:spPr>
      </p:pic>
      <p:sp>
        <p:nvSpPr>
          <p:cNvPr id="11" name="Text 7"/>
          <p:cNvSpPr txBox="1"/>
          <p:nvPr/>
        </p:nvSpPr>
        <p:spPr>
          <a:xfrm>
            <a:off x="7406640" y="1691640"/>
            <a:ext cx="402336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情報活用能力を「学びの基盤」に</a:t>
            </a:r>
            <a:endParaRPr lang="en-US" sz="1800" dirty="0"/>
          </a:p>
        </p:txBody>
      </p:sp>
      <p:sp>
        <p:nvSpPr>
          <p:cNvPr id="12" name="Text 8"/>
          <p:cNvSpPr txBox="1"/>
          <p:nvPr/>
        </p:nvSpPr>
        <p:spPr>
          <a:xfrm>
            <a:off x="7406640" y="2286000"/>
            <a:ext cx="4069080" cy="123444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小学校の総合的な学習の時間に「情報の領域」を新設。中学校では「情報・技術科」を新設する方向。</a:t>
            </a:r>
            <a:endParaRPr lang="en-US" sz="1400" dirty="0"/>
          </a:p>
        </p:txBody>
      </p:sp>
      <p:sp>
        <p:nvSpPr>
          <p:cNvPr id="13" name="Shape 9"/>
          <p:cNvSpPr/>
          <p:nvPr/>
        </p:nvSpPr>
        <p:spPr>
          <a:xfrm>
            <a:off x="548640" y="3794760"/>
            <a:ext cx="5468112" cy="2194560"/>
          </a:xfrm>
          <a:prstGeom prst="roundRect">
            <a:avLst>
              <a:gd name="adj" fmla="val 5000"/>
            </a:avLst>
          </a:prstGeom>
          <a:solidFill>
            <a:srgbClr val="EEF4F1"/>
          </a:solidFill>
          <a:ln w="12700">
            <a:solidFill>
              <a:srgbClr val="EEF4F1"/>
            </a:solidFill>
            <a:prstDash val="solid"/>
          </a:ln>
        </p:spPr>
      </p:sp>
      <p:sp>
        <p:nvSpPr>
          <p:cNvPr id="14" name="Shape 10"/>
          <p:cNvSpPr/>
          <p:nvPr/>
        </p:nvSpPr>
        <p:spPr>
          <a:xfrm>
            <a:off x="822960" y="4069080"/>
            <a:ext cx="777240" cy="777240"/>
          </a:xfrm>
          <a:prstGeom prst="ellipse">
            <a:avLst/>
          </a:prstGeom>
          <a:solidFill>
            <a:srgbClr val="1F2A44"/>
          </a:solidFill>
          <a:ln w="12700">
            <a:solidFill>
              <a:srgbClr val="1F2A44"/>
            </a:solidFill>
            <a:prstDash val="solid"/>
          </a:ln>
        </p:spPr>
      </p:sp>
      <p:pic>
        <p:nvPicPr>
          <p:cNvPr id="15" name="Image 2" descr="preencoded.png">    </p:cNvPr>
          <p:cNvPicPr>
            <a:picLocks noChangeAspect="1"/>
          </p:cNvPicPr>
          <p:nvPr/>
        </p:nvPicPr>
        <p:blipFill>
          <a:blip r:embed="rId3"/>
          <a:stretch>
            <a:fillRect/>
          </a:stretch>
        </p:blipFill>
        <p:spPr>
          <a:xfrm>
            <a:off x="1009498" y="4255618"/>
            <a:ext cx="404165" cy="404165"/>
          </a:xfrm>
          <a:prstGeom prst="rect">
            <a:avLst/>
          </a:prstGeom>
        </p:spPr>
      </p:pic>
      <p:sp>
        <p:nvSpPr>
          <p:cNvPr id="16" name="Text 11"/>
          <p:cNvSpPr txBox="1"/>
          <p:nvPr/>
        </p:nvSpPr>
        <p:spPr>
          <a:xfrm>
            <a:off x="1783080" y="4069080"/>
            <a:ext cx="402336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学習評価の改善</a:t>
            </a:r>
            <a:endParaRPr lang="en-US" sz="1800" dirty="0"/>
          </a:p>
        </p:txBody>
      </p:sp>
      <p:sp>
        <p:nvSpPr>
          <p:cNvPr id="17" name="Text 12"/>
          <p:cNvSpPr txBox="1"/>
          <p:nvPr/>
        </p:nvSpPr>
        <p:spPr>
          <a:xfrm>
            <a:off x="1783080" y="4663440"/>
            <a:ext cx="4069080" cy="123444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「主体的に学習に取り組む態度」は評定に含めず、個人内評価とする方向。評価の頻度・タイミングも見直し。</a:t>
            </a:r>
            <a:endParaRPr lang="en-US" sz="1400" dirty="0"/>
          </a:p>
        </p:txBody>
      </p:sp>
      <p:sp>
        <p:nvSpPr>
          <p:cNvPr id="18" name="Shape 13"/>
          <p:cNvSpPr/>
          <p:nvPr/>
        </p:nvSpPr>
        <p:spPr>
          <a:xfrm>
            <a:off x="6172200" y="3794760"/>
            <a:ext cx="5468112" cy="2194560"/>
          </a:xfrm>
          <a:prstGeom prst="roundRect">
            <a:avLst>
              <a:gd name="adj" fmla="val 5000"/>
            </a:avLst>
          </a:prstGeom>
          <a:solidFill>
            <a:srgbClr val="EEF4F1"/>
          </a:solidFill>
          <a:ln w="12700">
            <a:solidFill>
              <a:srgbClr val="EEF4F1"/>
            </a:solidFill>
            <a:prstDash val="solid"/>
          </a:ln>
        </p:spPr>
      </p:sp>
      <p:sp>
        <p:nvSpPr>
          <p:cNvPr id="19" name="Shape 14"/>
          <p:cNvSpPr/>
          <p:nvPr/>
        </p:nvSpPr>
        <p:spPr>
          <a:xfrm>
            <a:off x="6446520" y="4069080"/>
            <a:ext cx="777240" cy="777240"/>
          </a:xfrm>
          <a:prstGeom prst="ellipse">
            <a:avLst/>
          </a:prstGeom>
          <a:solidFill>
            <a:srgbClr val="3E8E63"/>
          </a:solidFill>
          <a:ln w="12700">
            <a:solidFill>
              <a:srgbClr val="3E8E63"/>
            </a:solidFill>
            <a:prstDash val="solid"/>
          </a:ln>
        </p:spPr>
      </p:sp>
      <p:pic>
        <p:nvPicPr>
          <p:cNvPr id="20" name="Image 3" descr="preencoded.png">    </p:cNvPr>
          <p:cNvPicPr>
            <a:picLocks noChangeAspect="1"/>
          </p:cNvPicPr>
          <p:nvPr/>
        </p:nvPicPr>
        <p:blipFill>
          <a:blip r:embed="rId4"/>
          <a:stretch>
            <a:fillRect/>
          </a:stretch>
        </p:blipFill>
        <p:spPr>
          <a:xfrm>
            <a:off x="6633058" y="4255618"/>
            <a:ext cx="404165" cy="404165"/>
          </a:xfrm>
          <a:prstGeom prst="rect">
            <a:avLst/>
          </a:prstGeom>
        </p:spPr>
      </p:pic>
      <p:sp>
        <p:nvSpPr>
          <p:cNvPr id="21" name="Text 15"/>
          <p:cNvSpPr txBox="1"/>
          <p:nvPr/>
        </p:nvSpPr>
        <p:spPr>
          <a:xfrm>
            <a:off x="7406640" y="4069080"/>
            <a:ext cx="402336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AIの影響を全教科等で考慮</a:t>
            </a:r>
            <a:endParaRPr lang="en-US" sz="1800" dirty="0"/>
          </a:p>
        </p:txBody>
      </p:sp>
      <p:sp>
        <p:nvSpPr>
          <p:cNvPr id="22" name="Text 16"/>
          <p:cNvSpPr txBox="1"/>
          <p:nvPr/>
        </p:nvSpPr>
        <p:spPr>
          <a:xfrm>
            <a:off x="7406640" y="4663440"/>
            <a:ext cx="4069080" cy="123444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生成AI等の進展が各教科の学びに与える影響を踏まえた記述。「AIがあっても学ぶ意味」が問われる。</a:t>
            </a:r>
            <a:endParaRPr lang="en-US" sz="1400" dirty="0"/>
          </a:p>
        </p:txBody>
      </p:sp>
      <p:sp>
        <p:nvSpPr>
          <p:cNvPr id="23" name="Text 17"/>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1000" dirty="0">
                <a:solidFill>
                  <a:srgbClr val="5B6472"/>
                </a:solidFill>
                <a:latin typeface="BIZ UDPゴシック" pitchFamily="34" charset="0"/>
                <a:ea typeface="BIZ UDPゴシック" pitchFamily="34" charset="-122"/>
                <a:cs typeface="BIZ UDPゴシック" pitchFamily="34" charset="-120"/>
              </a:rPr>
              <a:t>出典：審議まとめ（素案）令和8年8月31日に関する時事通信・リシード・教育新聞等の報道より整理。数値は「程度」の目安。</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822960" y="2103120"/>
            <a:ext cx="1463040" cy="1463040"/>
          </a:xfrm>
          <a:prstGeom prst="ellipse">
            <a:avLst/>
          </a:prstGeom>
          <a:solidFill>
            <a:srgbClr val="3E8E63"/>
          </a:solidFill>
          <a:ln w="12700">
            <a:solidFill>
              <a:srgbClr val="3E8E63"/>
            </a:solidFill>
            <a:prstDash val="solid"/>
          </a:ln>
        </p:spPr>
      </p:sp>
      <p:pic>
        <p:nvPicPr>
          <p:cNvPr id="3" name="Image 0" descr="preencoded.png">    </p:cNvPr>
          <p:cNvPicPr>
            <a:picLocks noChangeAspect="1"/>
          </p:cNvPicPr>
          <p:nvPr/>
        </p:nvPicPr>
        <p:blipFill>
          <a:blip r:embed="rId1"/>
          <a:stretch>
            <a:fillRect/>
          </a:stretch>
        </p:blipFill>
        <p:spPr>
          <a:xfrm>
            <a:off x="1174090" y="2454250"/>
            <a:ext cx="760781" cy="760781"/>
          </a:xfrm>
          <a:prstGeom prst="rect">
            <a:avLst/>
          </a:prstGeom>
        </p:spPr>
      </p:pic>
      <p:sp>
        <p:nvSpPr>
          <p:cNvPr id="4" name="Text 1"/>
          <p:cNvSpPr txBox="1"/>
          <p:nvPr/>
        </p:nvSpPr>
        <p:spPr>
          <a:xfrm>
            <a:off x="2651760" y="1920240"/>
            <a:ext cx="8229600" cy="640080"/>
          </a:xfrm>
          <a:prstGeom prst="rect">
            <a:avLst/>
          </a:prstGeom>
          <a:noFill/>
          <a:ln/>
        </p:spPr>
        <p:txBody>
          <a:bodyPr wrap="square" lIns="0" tIns="0" rIns="0" bIns="0" rtlCol="0" anchor="t"/>
          <a:lstStyle/>
          <a:p>
            <a:pPr indent="0" marL="0">
              <a:buNone/>
            </a:pPr>
            <a:r>
              <a:rPr lang="en-US" sz="2400" b="1" dirty="0">
                <a:solidFill>
                  <a:srgbClr val="F2A541"/>
                </a:solidFill>
                <a:latin typeface="BIZ UDPゴシック" pitchFamily="34" charset="0"/>
                <a:ea typeface="BIZ UDPゴシック" pitchFamily="34" charset="-122"/>
                <a:cs typeface="BIZ UDPゴシック" pitchFamily="34" charset="-120"/>
              </a:rPr>
              <a:t>PART 1</a:t>
            </a:r>
            <a:endParaRPr lang="en-US" sz="2400" dirty="0"/>
          </a:p>
        </p:txBody>
      </p:sp>
      <p:sp>
        <p:nvSpPr>
          <p:cNvPr id="5" name="Text 2"/>
          <p:cNvSpPr txBox="1"/>
          <p:nvPr/>
        </p:nvSpPr>
        <p:spPr>
          <a:xfrm>
            <a:off x="2651760" y="2560320"/>
            <a:ext cx="8961120" cy="914400"/>
          </a:xfrm>
          <a:prstGeom prst="rect">
            <a:avLst/>
          </a:prstGeom>
          <a:noFill/>
          <a:ln/>
        </p:spPr>
        <p:txBody>
          <a:bodyPr wrap="square" lIns="0" tIns="0" rIns="0" bIns="0" rtlCol="0" anchor="t"/>
          <a:lstStyle/>
          <a:p>
            <a:pPr indent="0" marL="0">
              <a:buNone/>
            </a:pPr>
            <a:r>
              <a:rPr lang="en-US" sz="4000" b="1" dirty="0">
                <a:solidFill>
                  <a:srgbClr val="FFFFFF"/>
                </a:solidFill>
                <a:latin typeface="BIZ UDPゴシック" pitchFamily="34" charset="0"/>
                <a:ea typeface="BIZ UDPゴシック" pitchFamily="34" charset="-122"/>
                <a:cs typeface="BIZ UDPゴシック" pitchFamily="34" charset="-120"/>
              </a:rPr>
              <a:t>自由進度学習の在り方</a:t>
            </a:r>
            <a:endParaRPr lang="en-US" sz="4000" dirty="0"/>
          </a:p>
        </p:txBody>
      </p:sp>
      <p:sp>
        <p:nvSpPr>
          <p:cNvPr id="6" name="Text 3"/>
          <p:cNvSpPr txBox="1"/>
          <p:nvPr/>
        </p:nvSpPr>
        <p:spPr>
          <a:xfrm>
            <a:off x="2651760" y="3566160"/>
            <a:ext cx="8961120" cy="731520"/>
          </a:xfrm>
          <a:prstGeom prst="rect">
            <a:avLst/>
          </a:prstGeom>
          <a:noFill/>
          <a:ln/>
        </p:spPr>
        <p:txBody>
          <a:bodyPr wrap="square" lIns="0" tIns="0" rIns="0" bIns="0" rtlCol="0" anchor="t"/>
          <a:lstStyle/>
          <a:p>
            <a:pPr indent="0" marL="0">
              <a:buNone/>
            </a:pPr>
            <a:r>
              <a:rPr lang="en-US" sz="2000" dirty="0">
                <a:solidFill>
                  <a:srgbClr val="CADCFC"/>
                </a:solidFill>
                <a:latin typeface="BIZ UDPゴシック" pitchFamily="34" charset="0"/>
                <a:ea typeface="BIZ UDPゴシック" pitchFamily="34" charset="-122"/>
                <a:cs typeface="BIZ UDPゴシック" pitchFamily="34" charset="-120"/>
              </a:rPr>
              <a:t>「自由」は目的ではなく、自立した学び手を育てる手段</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本質は「学びのハンドル」を少しずつ子供へ</a:t>
            </a:r>
            <a:endParaRPr lang="en-US" sz="3200" dirty="0"/>
          </a:p>
        </p:txBody>
      </p:sp>
      <p:sp>
        <p:nvSpPr>
          <p:cNvPr id="3" name="Shape 1"/>
          <p:cNvSpPr/>
          <p:nvPr/>
        </p:nvSpPr>
        <p:spPr>
          <a:xfrm>
            <a:off x="548640" y="4023360"/>
            <a:ext cx="2194560" cy="1783080"/>
          </a:xfrm>
          <a:prstGeom prst="roundRect">
            <a:avLst>
              <a:gd name="adj" fmla="val 6154"/>
            </a:avLst>
          </a:prstGeom>
          <a:solidFill>
            <a:srgbClr val="EEF4F1"/>
          </a:solidFill>
          <a:ln w="12700">
            <a:solidFill>
              <a:srgbClr val="EEF4F1"/>
            </a:solidFill>
            <a:prstDash val="solid"/>
          </a:ln>
        </p:spPr>
      </p:sp>
      <p:sp>
        <p:nvSpPr>
          <p:cNvPr id="4" name="Text 2"/>
          <p:cNvSpPr txBox="1"/>
          <p:nvPr/>
        </p:nvSpPr>
        <p:spPr>
          <a:xfrm>
            <a:off x="685800" y="4160520"/>
            <a:ext cx="1920240" cy="320040"/>
          </a:xfrm>
          <a:prstGeom prst="rect">
            <a:avLst/>
          </a:prstGeom>
          <a:noFill/>
          <a:ln/>
        </p:spPr>
        <p:txBody>
          <a:bodyPr wrap="square" lIns="0" tIns="0" rIns="0" bIns="0" rtlCol="0" anchor="t"/>
          <a:lstStyle/>
          <a:p>
            <a:pPr indent="0" marL="0">
              <a:buNone/>
            </a:pPr>
            <a:r>
              <a:rPr lang="en-US" sz="1300" b="1" dirty="0">
                <a:solidFill>
                  <a:srgbClr val="3E8E63"/>
                </a:solidFill>
                <a:latin typeface="BIZ UDPゴシック" pitchFamily="34" charset="0"/>
                <a:ea typeface="BIZ UDPゴシック" pitchFamily="34" charset="-122"/>
                <a:cs typeface="BIZ UDPゴシック" pitchFamily="34" charset="-120"/>
              </a:rPr>
              <a:t>STEP 1</a:t>
            </a:r>
            <a:endParaRPr lang="en-US" sz="1300" dirty="0"/>
          </a:p>
        </p:txBody>
      </p:sp>
      <p:sp>
        <p:nvSpPr>
          <p:cNvPr id="5" name="Text 3"/>
          <p:cNvSpPr txBox="1"/>
          <p:nvPr/>
        </p:nvSpPr>
        <p:spPr>
          <a:xfrm>
            <a:off x="685800" y="4480560"/>
            <a:ext cx="192024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授業の中で「選ぶ」</a:t>
            </a:r>
            <a:endParaRPr lang="en-US" sz="1600" dirty="0"/>
          </a:p>
        </p:txBody>
      </p:sp>
      <p:sp>
        <p:nvSpPr>
          <p:cNvPr id="6" name="Text 4"/>
          <p:cNvSpPr txBox="1"/>
          <p:nvPr/>
        </p:nvSpPr>
        <p:spPr>
          <a:xfrm>
            <a:off x="685800" y="5166360"/>
            <a:ext cx="1965960" cy="548640"/>
          </a:xfrm>
          <a:prstGeom prst="rect">
            <a:avLst/>
          </a:prstGeom>
          <a:noFill/>
          <a:ln/>
        </p:spPr>
        <p:txBody>
          <a:bodyPr wrap="square" lIns="0" tIns="0" rIns="0" bIns="0" rtlCol="0" anchor="t"/>
          <a:lstStyle/>
          <a:p>
            <a:pPr indent="0" marL="0">
              <a:buNone/>
            </a:pPr>
            <a:r>
              <a:rPr lang="en-US" sz="1300" dirty="0">
                <a:solidFill>
                  <a:srgbClr val="2B2B2B"/>
                </a:solidFill>
                <a:latin typeface="BIZ UDPゴシック" pitchFamily="34" charset="0"/>
                <a:ea typeface="BIZ UDPゴシック" pitchFamily="34" charset="-122"/>
                <a:cs typeface="BIZ UDPゴシック" pitchFamily="34" charset="-120"/>
              </a:rPr>
              <a:t>方法・相手・場所・道具を子供が選ぶ。1時間の中の一部からでよい。</a:t>
            </a:r>
            <a:endParaRPr lang="en-US" sz="1300" dirty="0"/>
          </a:p>
        </p:txBody>
      </p:sp>
      <p:sp>
        <p:nvSpPr>
          <p:cNvPr id="7" name="Shape 5"/>
          <p:cNvSpPr/>
          <p:nvPr/>
        </p:nvSpPr>
        <p:spPr>
          <a:xfrm>
            <a:off x="2880360" y="2926080"/>
            <a:ext cx="2194560" cy="2880360"/>
          </a:xfrm>
          <a:prstGeom prst="roundRect">
            <a:avLst>
              <a:gd name="adj" fmla="val 5000"/>
            </a:avLst>
          </a:prstGeom>
          <a:solidFill>
            <a:srgbClr val="EEF4F1"/>
          </a:solidFill>
          <a:ln w="12700">
            <a:solidFill>
              <a:srgbClr val="EEF4F1"/>
            </a:solidFill>
            <a:prstDash val="solid"/>
          </a:ln>
        </p:spPr>
      </p:sp>
      <p:sp>
        <p:nvSpPr>
          <p:cNvPr id="8" name="Text 6"/>
          <p:cNvSpPr txBox="1"/>
          <p:nvPr/>
        </p:nvSpPr>
        <p:spPr>
          <a:xfrm>
            <a:off x="3017520" y="3063240"/>
            <a:ext cx="1920240" cy="320040"/>
          </a:xfrm>
          <a:prstGeom prst="rect">
            <a:avLst/>
          </a:prstGeom>
          <a:noFill/>
          <a:ln/>
        </p:spPr>
        <p:txBody>
          <a:bodyPr wrap="square" lIns="0" tIns="0" rIns="0" bIns="0" rtlCol="0" anchor="t"/>
          <a:lstStyle/>
          <a:p>
            <a:pPr indent="0" marL="0">
              <a:buNone/>
            </a:pPr>
            <a:r>
              <a:rPr lang="en-US" sz="1300" b="1" dirty="0">
                <a:solidFill>
                  <a:srgbClr val="3E8E63"/>
                </a:solidFill>
                <a:latin typeface="BIZ UDPゴシック" pitchFamily="34" charset="0"/>
                <a:ea typeface="BIZ UDPゴシック" pitchFamily="34" charset="-122"/>
                <a:cs typeface="BIZ UDPゴシック" pitchFamily="34" charset="-120"/>
              </a:rPr>
              <a:t>STEP 2</a:t>
            </a:r>
            <a:endParaRPr lang="en-US" sz="1300" dirty="0"/>
          </a:p>
        </p:txBody>
      </p:sp>
      <p:sp>
        <p:nvSpPr>
          <p:cNvPr id="9" name="Text 7"/>
          <p:cNvSpPr txBox="1"/>
          <p:nvPr/>
        </p:nvSpPr>
        <p:spPr>
          <a:xfrm>
            <a:off x="3017520" y="3383280"/>
            <a:ext cx="192024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単元内自由進度学習</a:t>
            </a:r>
            <a:endParaRPr lang="en-US" sz="1600" dirty="0"/>
          </a:p>
        </p:txBody>
      </p:sp>
      <p:sp>
        <p:nvSpPr>
          <p:cNvPr id="10" name="Text 8"/>
          <p:cNvSpPr txBox="1"/>
          <p:nvPr/>
        </p:nvSpPr>
        <p:spPr>
          <a:xfrm>
            <a:off x="3017520" y="4069080"/>
            <a:ext cx="1965960" cy="1645920"/>
          </a:xfrm>
          <a:prstGeom prst="rect">
            <a:avLst/>
          </a:prstGeom>
          <a:noFill/>
          <a:ln/>
        </p:spPr>
        <p:txBody>
          <a:bodyPr wrap="square" lIns="0" tIns="0" rIns="0" bIns="0" rtlCol="0" anchor="t"/>
          <a:lstStyle/>
          <a:p>
            <a:pPr indent="0" marL="0">
              <a:buNone/>
            </a:pPr>
            <a:r>
              <a:rPr lang="en-US" sz="1300" dirty="0">
                <a:solidFill>
                  <a:srgbClr val="2B2B2B"/>
                </a:solidFill>
                <a:latin typeface="BIZ UDPゴシック" pitchFamily="34" charset="0"/>
                <a:ea typeface="BIZ UDPゴシック" pitchFamily="34" charset="-122"/>
                <a:cs typeface="BIZ UDPゴシック" pitchFamily="34" charset="-120"/>
              </a:rPr>
              <a:t>学習計画表・学習ガイドを手がかりに、進め方とペースを子供が決める。</a:t>
            </a:r>
            <a:endParaRPr lang="en-US" sz="1300" dirty="0"/>
          </a:p>
        </p:txBody>
      </p:sp>
      <p:sp>
        <p:nvSpPr>
          <p:cNvPr id="11" name="Shape 9"/>
          <p:cNvSpPr/>
          <p:nvPr/>
        </p:nvSpPr>
        <p:spPr>
          <a:xfrm>
            <a:off x="5212080" y="1828800"/>
            <a:ext cx="2194560" cy="3977640"/>
          </a:xfrm>
          <a:prstGeom prst="roundRect">
            <a:avLst>
              <a:gd name="adj" fmla="val 5000"/>
            </a:avLst>
          </a:prstGeom>
          <a:solidFill>
            <a:srgbClr val="D7EBDF"/>
          </a:solidFill>
          <a:ln w="12700">
            <a:solidFill>
              <a:srgbClr val="D7EBDF"/>
            </a:solidFill>
            <a:prstDash val="solid"/>
          </a:ln>
        </p:spPr>
      </p:sp>
      <p:sp>
        <p:nvSpPr>
          <p:cNvPr id="12" name="Text 10"/>
          <p:cNvSpPr txBox="1"/>
          <p:nvPr/>
        </p:nvSpPr>
        <p:spPr>
          <a:xfrm>
            <a:off x="5349240" y="1965960"/>
            <a:ext cx="1920240" cy="320040"/>
          </a:xfrm>
          <a:prstGeom prst="rect">
            <a:avLst/>
          </a:prstGeom>
          <a:noFill/>
          <a:ln/>
        </p:spPr>
        <p:txBody>
          <a:bodyPr wrap="square" lIns="0" tIns="0" rIns="0" bIns="0" rtlCol="0" anchor="t"/>
          <a:lstStyle/>
          <a:p>
            <a:pPr indent="0" marL="0">
              <a:buNone/>
            </a:pPr>
            <a:r>
              <a:rPr lang="en-US" sz="1300" b="1" dirty="0">
                <a:solidFill>
                  <a:srgbClr val="3E8E63"/>
                </a:solidFill>
                <a:latin typeface="BIZ UDPゴシック" pitchFamily="34" charset="0"/>
                <a:ea typeface="BIZ UDPゴシック" pitchFamily="34" charset="-122"/>
                <a:cs typeface="BIZ UDPゴシック" pitchFamily="34" charset="-120"/>
              </a:rPr>
              <a:t>STEP 3</a:t>
            </a:r>
            <a:endParaRPr lang="en-US" sz="1300" dirty="0"/>
          </a:p>
        </p:txBody>
      </p:sp>
      <p:sp>
        <p:nvSpPr>
          <p:cNvPr id="13" name="Text 11"/>
          <p:cNvSpPr txBox="1"/>
          <p:nvPr/>
        </p:nvSpPr>
        <p:spPr>
          <a:xfrm>
            <a:off x="5349240" y="2286000"/>
            <a:ext cx="192024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教科・時間を越えて</a:t>
            </a:r>
            <a:endParaRPr lang="en-US" sz="1600" dirty="0"/>
          </a:p>
        </p:txBody>
      </p:sp>
      <p:sp>
        <p:nvSpPr>
          <p:cNvPr id="14" name="Text 12"/>
          <p:cNvSpPr txBox="1"/>
          <p:nvPr/>
        </p:nvSpPr>
        <p:spPr>
          <a:xfrm>
            <a:off x="5349240" y="2971800"/>
            <a:ext cx="1965960" cy="2743200"/>
          </a:xfrm>
          <a:prstGeom prst="rect">
            <a:avLst/>
          </a:prstGeom>
          <a:noFill/>
          <a:ln/>
        </p:spPr>
        <p:txBody>
          <a:bodyPr wrap="square" lIns="0" tIns="0" rIns="0" bIns="0" rtlCol="0" anchor="t"/>
          <a:lstStyle/>
          <a:p>
            <a:pPr indent="0" marL="0">
              <a:buNone/>
            </a:pPr>
            <a:r>
              <a:rPr lang="en-US" sz="1300" dirty="0">
                <a:solidFill>
                  <a:srgbClr val="2B2B2B"/>
                </a:solidFill>
                <a:latin typeface="BIZ UDPゴシック" pitchFamily="34" charset="0"/>
                <a:ea typeface="BIZ UDPゴシック" pitchFamily="34" charset="-122"/>
                <a:cs typeface="BIZ UDPゴシック" pitchFamily="34" charset="-120"/>
              </a:rPr>
              <a:t>複数教科の同時進行や「裁量的な時間」の活用。学ぶ内容も子供が選ぶ。</a:t>
            </a:r>
            <a:endParaRPr lang="en-US" sz="1300" dirty="0"/>
          </a:p>
        </p:txBody>
      </p:sp>
      <p:sp>
        <p:nvSpPr>
          <p:cNvPr id="15" name="Shape 13"/>
          <p:cNvSpPr/>
          <p:nvPr/>
        </p:nvSpPr>
        <p:spPr>
          <a:xfrm>
            <a:off x="7772400" y="1417320"/>
            <a:ext cx="3867912" cy="4389120"/>
          </a:xfrm>
          <a:prstGeom prst="roundRect">
            <a:avLst>
              <a:gd name="adj" fmla="val 2837"/>
            </a:avLst>
          </a:prstGeom>
          <a:solidFill>
            <a:srgbClr val="1F2A44"/>
          </a:solidFill>
          <a:ln w="12700">
            <a:solidFill>
              <a:srgbClr val="1F2A44"/>
            </a:solidFill>
            <a:prstDash val="solid"/>
          </a:ln>
        </p:spPr>
      </p:sp>
      <p:sp>
        <p:nvSpPr>
          <p:cNvPr id="16" name="Text 14"/>
          <p:cNvSpPr txBox="1"/>
          <p:nvPr/>
        </p:nvSpPr>
        <p:spPr>
          <a:xfrm>
            <a:off x="8046720" y="1645920"/>
            <a:ext cx="3383280" cy="365760"/>
          </a:xfrm>
          <a:prstGeom prst="rect">
            <a:avLst/>
          </a:prstGeom>
          <a:noFill/>
          <a:ln/>
        </p:spPr>
        <p:txBody>
          <a:bodyPr wrap="square" lIns="0" tIns="0" rIns="0" bIns="0" rtlCol="0" anchor="t"/>
          <a:lstStyle/>
          <a:p>
            <a:pPr indent="0" marL="0">
              <a:buNone/>
            </a:pPr>
            <a:r>
              <a:rPr lang="en-US" sz="1600" dirty="0">
                <a:solidFill>
                  <a:srgbClr val="CADCFC"/>
                </a:solidFill>
                <a:latin typeface="BIZ UDPゴシック" pitchFamily="34" charset="0"/>
                <a:ea typeface="BIZ UDPゴシック" pitchFamily="34" charset="-122"/>
                <a:cs typeface="BIZ UDPゴシック" pitchFamily="34" charset="-120"/>
              </a:rPr>
              <a:t>ゴールは</a:t>
            </a:r>
            <a:endParaRPr lang="en-US" sz="1600" dirty="0"/>
          </a:p>
        </p:txBody>
      </p:sp>
      <p:sp>
        <p:nvSpPr>
          <p:cNvPr id="17" name="Text 15"/>
          <p:cNvSpPr txBox="1"/>
          <p:nvPr/>
        </p:nvSpPr>
        <p:spPr>
          <a:xfrm>
            <a:off x="8046720" y="2011680"/>
            <a:ext cx="3474720" cy="1097280"/>
          </a:xfrm>
          <a:prstGeom prst="rect">
            <a:avLst/>
          </a:prstGeom>
          <a:noFill/>
          <a:ln/>
        </p:spPr>
        <p:txBody>
          <a:bodyPr wrap="square" lIns="0" tIns="0" rIns="0" bIns="0" rtlCol="0" anchor="t"/>
          <a:lstStyle/>
          <a:p>
            <a:pPr indent="0" marL="0">
              <a:buNone/>
            </a:pPr>
            <a:r>
              <a:rPr lang="en-US" sz="2200" b="1" dirty="0">
                <a:solidFill>
                  <a:srgbClr val="F2A541"/>
                </a:solidFill>
                <a:latin typeface="BIZ UDPゴシック" pitchFamily="34" charset="0"/>
                <a:ea typeface="BIZ UDPゴシック" pitchFamily="34" charset="-122"/>
                <a:cs typeface="BIZ UDPゴシック" pitchFamily="34" charset="-120"/>
              </a:rPr>
              <a:t>「自由」ではなく</a:t>
            </a:r>
            <a:endParaRPr lang="en-US" sz="2200" dirty="0"/>
          </a:p>
          <a:p>
            <a:pPr indent="0" marL="0">
              <a:buNone/>
            </a:pPr>
            <a:r>
              <a:rPr lang="en-US" sz="2200" b="1" dirty="0">
                <a:solidFill>
                  <a:srgbClr val="F2A541"/>
                </a:solidFill>
                <a:latin typeface="BIZ UDPゴシック" pitchFamily="34" charset="0"/>
                <a:ea typeface="BIZ UDPゴシック" pitchFamily="34" charset="-122"/>
                <a:cs typeface="BIZ UDPゴシック" pitchFamily="34" charset="-120"/>
              </a:rPr>
              <a:t>「自立した学び手」</a:t>
            </a:r>
            <a:endParaRPr lang="en-US" sz="2200" dirty="0"/>
          </a:p>
        </p:txBody>
      </p:sp>
      <p:sp>
        <p:nvSpPr>
          <p:cNvPr id="18" name="Text 16"/>
          <p:cNvSpPr txBox="1"/>
          <p:nvPr/>
        </p:nvSpPr>
        <p:spPr>
          <a:xfrm>
            <a:off x="8046720" y="3291840"/>
            <a:ext cx="338328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BIZ UDPゴシック" pitchFamily="34" charset="0"/>
                <a:ea typeface="BIZ UDPゴシック" pitchFamily="34" charset="-122"/>
                <a:cs typeface="BIZ UDPゴシック" pitchFamily="34" charset="-120"/>
              </a:rPr>
              <a:t>自分で目標を立て</a:t>
            </a:r>
            <a:endParaRPr lang="en-US" sz="1600" dirty="0"/>
          </a:p>
          <a:p>
            <a:pPr marL="342900" indent="-342900">
              <a:spcAft>
                <a:spcPts val="600"/>
              </a:spcAft>
              <a:buSzPct val="100000"/>
              <a:buChar char="•"/>
            </a:pPr>
            <a:r>
              <a:rPr lang="en-US" sz="1600" dirty="0">
                <a:solidFill>
                  <a:srgbClr val="FFFFFF"/>
                </a:solidFill>
                <a:latin typeface="BIZ UDPゴシック" pitchFamily="34" charset="0"/>
                <a:ea typeface="BIZ UDPゴシック" pitchFamily="34" charset="-122"/>
                <a:cs typeface="BIZ UDPゴシック" pitchFamily="34" charset="-120"/>
              </a:rPr>
              <a:t>進め方を選び</a:t>
            </a:r>
            <a:endParaRPr lang="en-US" sz="1600" dirty="0"/>
          </a:p>
          <a:p>
            <a:pPr marL="342900" indent="-342900">
              <a:spcAft>
                <a:spcPts val="600"/>
              </a:spcAft>
              <a:buSzPct val="100000"/>
              <a:buChar char="•"/>
            </a:pPr>
            <a:r>
              <a:rPr lang="en-US" sz="1600" dirty="0">
                <a:solidFill>
                  <a:srgbClr val="FFFFFF"/>
                </a:solidFill>
                <a:latin typeface="BIZ UDPゴシック" pitchFamily="34" charset="0"/>
                <a:ea typeface="BIZ UDPゴシック" pitchFamily="34" charset="-122"/>
                <a:cs typeface="BIZ UDPゴシック" pitchFamily="34" charset="-120"/>
              </a:rPr>
              <a:t>困ったら人や道具に頼り</a:t>
            </a:r>
            <a:endParaRPr lang="en-US" sz="1600" dirty="0"/>
          </a:p>
          <a:p>
            <a:pPr marL="342900" indent="-342900">
              <a:spcAft>
                <a:spcPts val="600"/>
              </a:spcAft>
              <a:buSzPct val="100000"/>
              <a:buChar char="•"/>
            </a:pPr>
            <a:r>
              <a:rPr lang="en-US" sz="1600" dirty="0">
                <a:solidFill>
                  <a:srgbClr val="FFFFFF"/>
                </a:solidFill>
                <a:latin typeface="BIZ UDPゴシック" pitchFamily="34" charset="0"/>
                <a:ea typeface="BIZ UDPゴシック" pitchFamily="34" charset="-122"/>
                <a:cs typeface="BIZ UDPゴシック" pitchFamily="34" charset="-120"/>
              </a:rPr>
              <a:t>振り返って次を決める</a:t>
            </a:r>
            <a:endParaRPr lang="en-US" sz="1600" dirty="0"/>
          </a:p>
        </p:txBody>
      </p:sp>
      <p:sp>
        <p:nvSpPr>
          <p:cNvPr id="19" name="Text 17"/>
          <p:cNvSpPr txBox="1"/>
          <p:nvPr/>
        </p:nvSpPr>
        <p:spPr>
          <a:xfrm>
            <a:off x="8046720" y="5074920"/>
            <a:ext cx="3383280" cy="457200"/>
          </a:xfrm>
          <a:prstGeom prst="rect">
            <a:avLst/>
          </a:prstGeom>
          <a:noFill/>
          <a:ln/>
        </p:spPr>
        <p:txBody>
          <a:bodyPr wrap="square" lIns="0" tIns="0" rIns="0" bIns="0" rtlCol="0" anchor="t"/>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 自己調整する力</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陥りやすい落とし穴と、大切にしたい視点</a:t>
            </a:r>
            <a:endParaRPr lang="en-US" sz="3200" dirty="0"/>
          </a:p>
        </p:txBody>
      </p:sp>
      <p:sp>
        <p:nvSpPr>
          <p:cNvPr id="3" name="Text 1"/>
          <p:cNvSpPr txBox="1"/>
          <p:nvPr/>
        </p:nvSpPr>
        <p:spPr>
          <a:xfrm>
            <a:off x="548640" y="1371600"/>
            <a:ext cx="4846320" cy="411480"/>
          </a:xfrm>
          <a:prstGeom prst="rect">
            <a:avLst/>
          </a:prstGeom>
          <a:noFill/>
          <a:ln/>
        </p:spPr>
        <p:txBody>
          <a:bodyPr wrap="square" lIns="0" tIns="0" rIns="0" bIns="0" rtlCol="0" anchor="t"/>
          <a:lstStyle/>
          <a:p>
            <a:pPr indent="0" marL="0">
              <a:buNone/>
            </a:pPr>
            <a:r>
              <a:rPr lang="en-US" sz="1800" b="1" dirty="0">
                <a:solidFill>
                  <a:srgbClr val="D9644A"/>
                </a:solidFill>
                <a:latin typeface="BIZ UDPゴシック" pitchFamily="34" charset="0"/>
                <a:ea typeface="BIZ UDPゴシック" pitchFamily="34" charset="-122"/>
                <a:cs typeface="BIZ UDPゴシック" pitchFamily="34" charset="-120"/>
              </a:rPr>
              <a:t>落とし穴</a:t>
            </a:r>
            <a:endParaRPr lang="en-US" sz="1800" dirty="0"/>
          </a:p>
        </p:txBody>
      </p:sp>
      <p:sp>
        <p:nvSpPr>
          <p:cNvPr id="4" name="Text 2"/>
          <p:cNvSpPr txBox="1"/>
          <p:nvPr/>
        </p:nvSpPr>
        <p:spPr>
          <a:xfrm>
            <a:off x="6309360" y="1371600"/>
            <a:ext cx="5303520" cy="411480"/>
          </a:xfrm>
          <a:prstGeom prst="rect">
            <a:avLst/>
          </a:prstGeom>
          <a:noFill/>
          <a:ln/>
        </p:spPr>
        <p:txBody>
          <a:bodyPr wrap="square" lIns="0" tIns="0" rIns="0" bIns="0" rtlCol="0" anchor="t"/>
          <a:lstStyle/>
          <a:p>
            <a:pPr indent="0" marL="0">
              <a:buNone/>
            </a:pPr>
            <a:r>
              <a:rPr lang="en-US" sz="1800" b="1" dirty="0">
                <a:solidFill>
                  <a:srgbClr val="3E8E63"/>
                </a:solidFill>
                <a:latin typeface="BIZ UDPゴシック" pitchFamily="34" charset="0"/>
                <a:ea typeface="BIZ UDPゴシック" pitchFamily="34" charset="-122"/>
                <a:cs typeface="BIZ UDPゴシック" pitchFamily="34" charset="-120"/>
              </a:rPr>
              <a:t>大切にしたい視点</a:t>
            </a:r>
            <a:endParaRPr lang="en-US" sz="1800" dirty="0"/>
          </a:p>
        </p:txBody>
      </p:sp>
      <p:sp>
        <p:nvSpPr>
          <p:cNvPr id="5" name="Shape 3"/>
          <p:cNvSpPr/>
          <p:nvPr/>
        </p:nvSpPr>
        <p:spPr>
          <a:xfrm>
            <a:off x="548640" y="1874520"/>
            <a:ext cx="5029200" cy="914400"/>
          </a:xfrm>
          <a:prstGeom prst="roundRect">
            <a:avLst>
              <a:gd name="adj" fmla="val 12000"/>
            </a:avLst>
          </a:prstGeom>
          <a:solidFill>
            <a:srgbClr val="FBE9E4"/>
          </a:solidFill>
          <a:ln w="12700">
            <a:solidFill>
              <a:srgbClr val="FBE9E4"/>
            </a:solidFill>
            <a:prstDash val="solid"/>
          </a:ln>
        </p:spPr>
      </p:sp>
      <p:pic>
        <p:nvPicPr>
          <p:cNvPr id="6" name="Image 0" descr="preencoded.png">    </p:cNvPr>
          <p:cNvPicPr>
            <a:picLocks noChangeAspect="1"/>
          </p:cNvPicPr>
          <p:nvPr/>
        </p:nvPicPr>
        <p:blipFill>
          <a:blip r:embed="rId1"/>
          <a:stretch>
            <a:fillRect/>
          </a:stretch>
        </p:blipFill>
        <p:spPr>
          <a:xfrm>
            <a:off x="777240" y="2148840"/>
            <a:ext cx="365760" cy="365760"/>
          </a:xfrm>
          <a:prstGeom prst="rect">
            <a:avLst/>
          </a:prstGeom>
        </p:spPr>
      </p:pic>
      <p:sp>
        <p:nvSpPr>
          <p:cNvPr id="7" name="Text 4"/>
          <p:cNvSpPr txBox="1"/>
          <p:nvPr/>
        </p:nvSpPr>
        <p:spPr>
          <a:xfrm>
            <a:off x="1325880" y="1874520"/>
            <a:ext cx="411480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プリントを早く終えた子が「勝ち」</a:t>
            </a:r>
            <a:endParaRPr lang="en-US" sz="1500" dirty="0"/>
          </a:p>
        </p:txBody>
      </p:sp>
      <p:sp>
        <p:nvSpPr>
          <p:cNvPr id="8" name="Shape 5"/>
          <p:cNvSpPr/>
          <p:nvPr/>
        </p:nvSpPr>
        <p:spPr>
          <a:xfrm>
            <a:off x="5715000" y="2148840"/>
            <a:ext cx="365760" cy="365760"/>
          </a:xfrm>
          <a:prstGeom prst="chevron">
            <a:avLst/>
          </a:prstGeom>
          <a:solidFill>
            <a:srgbClr val="D5DDE5"/>
          </a:solidFill>
          <a:ln w="12700">
            <a:solidFill>
              <a:srgbClr val="D5DDE5"/>
            </a:solidFill>
            <a:prstDash val="solid"/>
          </a:ln>
        </p:spPr>
      </p:sp>
      <p:sp>
        <p:nvSpPr>
          <p:cNvPr id="9" name="Shape 6"/>
          <p:cNvSpPr/>
          <p:nvPr/>
        </p:nvSpPr>
        <p:spPr>
          <a:xfrm>
            <a:off x="6217920" y="1874520"/>
            <a:ext cx="5422392" cy="914400"/>
          </a:xfrm>
          <a:prstGeom prst="roundRect">
            <a:avLst>
              <a:gd name="adj" fmla="val 12000"/>
            </a:avLst>
          </a:prstGeom>
          <a:solidFill>
            <a:srgbClr val="E3F1E8"/>
          </a:solidFill>
          <a:ln w="12700">
            <a:solidFill>
              <a:srgbClr val="E3F1E8"/>
            </a:solidFill>
            <a:prstDash val="solid"/>
          </a:ln>
        </p:spPr>
      </p:sp>
      <p:pic>
        <p:nvPicPr>
          <p:cNvPr id="10" name="Image 1" descr="preencoded.png">    </p:cNvPr>
          <p:cNvPicPr>
            <a:picLocks noChangeAspect="1"/>
          </p:cNvPicPr>
          <p:nvPr/>
        </p:nvPicPr>
        <p:blipFill>
          <a:blip r:embed="rId2"/>
          <a:stretch>
            <a:fillRect/>
          </a:stretch>
        </p:blipFill>
        <p:spPr>
          <a:xfrm>
            <a:off x="6446520" y="2148840"/>
            <a:ext cx="365760" cy="365760"/>
          </a:xfrm>
          <a:prstGeom prst="rect">
            <a:avLst/>
          </a:prstGeom>
        </p:spPr>
      </p:pic>
      <p:sp>
        <p:nvSpPr>
          <p:cNvPr id="11" name="Text 7"/>
          <p:cNvSpPr txBox="1"/>
          <p:nvPr/>
        </p:nvSpPr>
        <p:spPr>
          <a:xfrm>
            <a:off x="6995160" y="1874520"/>
            <a:ext cx="452628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「速さ」でなく「深さ」を問う。問いの質・説明する力で見る</a:t>
            </a:r>
            <a:endParaRPr lang="en-US" sz="1500" dirty="0"/>
          </a:p>
        </p:txBody>
      </p:sp>
      <p:sp>
        <p:nvSpPr>
          <p:cNvPr id="12" name="Shape 8"/>
          <p:cNvSpPr/>
          <p:nvPr/>
        </p:nvSpPr>
        <p:spPr>
          <a:xfrm>
            <a:off x="548640" y="2953512"/>
            <a:ext cx="5029200" cy="914400"/>
          </a:xfrm>
          <a:prstGeom prst="roundRect">
            <a:avLst>
              <a:gd name="adj" fmla="val 12000"/>
            </a:avLst>
          </a:prstGeom>
          <a:solidFill>
            <a:srgbClr val="FBE9E4"/>
          </a:solidFill>
          <a:ln w="12700">
            <a:solidFill>
              <a:srgbClr val="FBE9E4"/>
            </a:solidFill>
            <a:prstDash val="solid"/>
          </a:ln>
        </p:spPr>
      </p:sp>
      <p:pic>
        <p:nvPicPr>
          <p:cNvPr id="13" name="Image 2" descr="preencoded.png">    </p:cNvPr>
          <p:cNvPicPr>
            <a:picLocks noChangeAspect="1"/>
          </p:cNvPicPr>
          <p:nvPr/>
        </p:nvPicPr>
        <p:blipFill>
          <a:blip r:embed="rId3"/>
          <a:stretch>
            <a:fillRect/>
          </a:stretch>
        </p:blipFill>
        <p:spPr>
          <a:xfrm>
            <a:off x="777240" y="3227832"/>
            <a:ext cx="365760" cy="365760"/>
          </a:xfrm>
          <a:prstGeom prst="rect">
            <a:avLst/>
          </a:prstGeom>
        </p:spPr>
      </p:pic>
      <p:sp>
        <p:nvSpPr>
          <p:cNvPr id="14" name="Text 9"/>
          <p:cNvSpPr txBox="1"/>
          <p:nvPr/>
        </p:nvSpPr>
        <p:spPr>
          <a:xfrm>
            <a:off x="1325880" y="2953512"/>
            <a:ext cx="411480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一人で黙々、教室が静かすぎる</a:t>
            </a:r>
            <a:endParaRPr lang="en-US" sz="1500" dirty="0"/>
          </a:p>
        </p:txBody>
      </p:sp>
      <p:sp>
        <p:nvSpPr>
          <p:cNvPr id="15" name="Shape 10"/>
          <p:cNvSpPr/>
          <p:nvPr/>
        </p:nvSpPr>
        <p:spPr>
          <a:xfrm>
            <a:off x="5715000" y="3227832"/>
            <a:ext cx="365760" cy="365760"/>
          </a:xfrm>
          <a:prstGeom prst="chevron">
            <a:avLst/>
          </a:prstGeom>
          <a:solidFill>
            <a:srgbClr val="D5DDE5"/>
          </a:solidFill>
          <a:ln w="12700">
            <a:solidFill>
              <a:srgbClr val="D5DDE5"/>
            </a:solidFill>
            <a:prstDash val="solid"/>
          </a:ln>
        </p:spPr>
      </p:sp>
      <p:sp>
        <p:nvSpPr>
          <p:cNvPr id="16" name="Shape 11"/>
          <p:cNvSpPr/>
          <p:nvPr/>
        </p:nvSpPr>
        <p:spPr>
          <a:xfrm>
            <a:off x="6217920" y="2953512"/>
            <a:ext cx="5422392" cy="914400"/>
          </a:xfrm>
          <a:prstGeom prst="roundRect">
            <a:avLst>
              <a:gd name="adj" fmla="val 12000"/>
            </a:avLst>
          </a:prstGeom>
          <a:solidFill>
            <a:srgbClr val="E3F1E8"/>
          </a:solidFill>
          <a:ln w="12700">
            <a:solidFill>
              <a:srgbClr val="E3F1E8"/>
            </a:solidFill>
            <a:prstDash val="solid"/>
          </a:ln>
        </p:spPr>
      </p:sp>
      <p:pic>
        <p:nvPicPr>
          <p:cNvPr id="17" name="Image 3" descr="preencoded.png">    </p:cNvPr>
          <p:cNvPicPr>
            <a:picLocks noChangeAspect="1"/>
          </p:cNvPicPr>
          <p:nvPr/>
        </p:nvPicPr>
        <p:blipFill>
          <a:blip r:embed="rId4"/>
          <a:stretch>
            <a:fillRect/>
          </a:stretch>
        </p:blipFill>
        <p:spPr>
          <a:xfrm>
            <a:off x="6446520" y="3227832"/>
            <a:ext cx="365760" cy="365760"/>
          </a:xfrm>
          <a:prstGeom prst="rect">
            <a:avLst/>
          </a:prstGeom>
        </p:spPr>
      </p:pic>
      <p:sp>
        <p:nvSpPr>
          <p:cNvPr id="18" name="Text 12"/>
          <p:cNvSpPr txBox="1"/>
          <p:nvPr/>
        </p:nvSpPr>
        <p:spPr>
          <a:xfrm>
            <a:off x="6995160" y="2953512"/>
            <a:ext cx="452628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協働の場面を意図的に設計。「聞きに行ける」関係と場をつくる</a:t>
            </a:r>
            <a:endParaRPr lang="en-US" sz="1500" dirty="0"/>
          </a:p>
        </p:txBody>
      </p:sp>
      <p:sp>
        <p:nvSpPr>
          <p:cNvPr id="19" name="Shape 13"/>
          <p:cNvSpPr/>
          <p:nvPr/>
        </p:nvSpPr>
        <p:spPr>
          <a:xfrm>
            <a:off x="548640" y="4032504"/>
            <a:ext cx="5029200" cy="914400"/>
          </a:xfrm>
          <a:prstGeom prst="roundRect">
            <a:avLst>
              <a:gd name="adj" fmla="val 12000"/>
            </a:avLst>
          </a:prstGeom>
          <a:solidFill>
            <a:srgbClr val="FBE9E4"/>
          </a:solidFill>
          <a:ln w="12700">
            <a:solidFill>
              <a:srgbClr val="FBE9E4"/>
            </a:solidFill>
            <a:prstDash val="solid"/>
          </a:ln>
        </p:spPr>
      </p:sp>
      <p:pic>
        <p:nvPicPr>
          <p:cNvPr id="20" name="Image 4" descr="preencoded.png">    </p:cNvPr>
          <p:cNvPicPr>
            <a:picLocks noChangeAspect="1"/>
          </p:cNvPicPr>
          <p:nvPr/>
        </p:nvPicPr>
        <p:blipFill>
          <a:blip r:embed="rId5"/>
          <a:stretch>
            <a:fillRect/>
          </a:stretch>
        </p:blipFill>
        <p:spPr>
          <a:xfrm>
            <a:off x="777240" y="4306824"/>
            <a:ext cx="365760" cy="365760"/>
          </a:xfrm>
          <a:prstGeom prst="rect">
            <a:avLst/>
          </a:prstGeom>
        </p:spPr>
      </p:pic>
      <p:sp>
        <p:nvSpPr>
          <p:cNvPr id="21" name="Text 14"/>
          <p:cNvSpPr txBox="1"/>
          <p:nvPr/>
        </p:nvSpPr>
        <p:spPr>
          <a:xfrm>
            <a:off x="1325880" y="4032504"/>
            <a:ext cx="411480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教師は丸付けと見回りだけ（放任）</a:t>
            </a:r>
            <a:endParaRPr lang="en-US" sz="1500" dirty="0"/>
          </a:p>
        </p:txBody>
      </p:sp>
      <p:sp>
        <p:nvSpPr>
          <p:cNvPr id="22" name="Shape 15"/>
          <p:cNvSpPr/>
          <p:nvPr/>
        </p:nvSpPr>
        <p:spPr>
          <a:xfrm>
            <a:off x="5715000" y="4306824"/>
            <a:ext cx="365760" cy="365760"/>
          </a:xfrm>
          <a:prstGeom prst="chevron">
            <a:avLst/>
          </a:prstGeom>
          <a:solidFill>
            <a:srgbClr val="D5DDE5"/>
          </a:solidFill>
          <a:ln w="12700">
            <a:solidFill>
              <a:srgbClr val="D5DDE5"/>
            </a:solidFill>
            <a:prstDash val="solid"/>
          </a:ln>
        </p:spPr>
      </p:sp>
      <p:sp>
        <p:nvSpPr>
          <p:cNvPr id="23" name="Shape 16"/>
          <p:cNvSpPr/>
          <p:nvPr/>
        </p:nvSpPr>
        <p:spPr>
          <a:xfrm>
            <a:off x="6217920" y="4032504"/>
            <a:ext cx="5422392" cy="914400"/>
          </a:xfrm>
          <a:prstGeom prst="roundRect">
            <a:avLst>
              <a:gd name="adj" fmla="val 12000"/>
            </a:avLst>
          </a:prstGeom>
          <a:solidFill>
            <a:srgbClr val="E3F1E8"/>
          </a:solidFill>
          <a:ln w="12700">
            <a:solidFill>
              <a:srgbClr val="E3F1E8"/>
            </a:solidFill>
            <a:prstDash val="solid"/>
          </a:ln>
        </p:spPr>
      </p:sp>
      <p:pic>
        <p:nvPicPr>
          <p:cNvPr id="24" name="Image 5" descr="preencoded.png">    </p:cNvPr>
          <p:cNvPicPr>
            <a:picLocks noChangeAspect="1"/>
          </p:cNvPicPr>
          <p:nvPr/>
        </p:nvPicPr>
        <p:blipFill>
          <a:blip r:embed="rId6"/>
          <a:stretch>
            <a:fillRect/>
          </a:stretch>
        </p:blipFill>
        <p:spPr>
          <a:xfrm>
            <a:off x="6446520" y="4306824"/>
            <a:ext cx="365760" cy="365760"/>
          </a:xfrm>
          <a:prstGeom prst="rect">
            <a:avLst/>
          </a:prstGeom>
        </p:spPr>
      </p:pic>
      <p:sp>
        <p:nvSpPr>
          <p:cNvPr id="25" name="Text 17"/>
          <p:cNvSpPr txBox="1"/>
          <p:nvPr/>
        </p:nvSpPr>
        <p:spPr>
          <a:xfrm>
            <a:off x="6995160" y="4032504"/>
            <a:ext cx="452628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見取りと即時のフィードバック。小集団への指導を差し込む</a:t>
            </a:r>
            <a:endParaRPr lang="en-US" sz="1500" dirty="0"/>
          </a:p>
        </p:txBody>
      </p:sp>
      <p:sp>
        <p:nvSpPr>
          <p:cNvPr id="26" name="Shape 18"/>
          <p:cNvSpPr/>
          <p:nvPr/>
        </p:nvSpPr>
        <p:spPr>
          <a:xfrm>
            <a:off x="548640" y="5111496"/>
            <a:ext cx="5029200" cy="914400"/>
          </a:xfrm>
          <a:prstGeom prst="roundRect">
            <a:avLst>
              <a:gd name="adj" fmla="val 12000"/>
            </a:avLst>
          </a:prstGeom>
          <a:solidFill>
            <a:srgbClr val="FBE9E4"/>
          </a:solidFill>
          <a:ln w="12700">
            <a:solidFill>
              <a:srgbClr val="FBE9E4"/>
            </a:solidFill>
            <a:prstDash val="solid"/>
          </a:ln>
        </p:spPr>
      </p:sp>
      <p:pic>
        <p:nvPicPr>
          <p:cNvPr id="27" name="Image 6" descr="preencoded.png">    </p:cNvPr>
          <p:cNvPicPr>
            <a:picLocks noChangeAspect="1"/>
          </p:cNvPicPr>
          <p:nvPr/>
        </p:nvPicPr>
        <p:blipFill>
          <a:blip r:embed="rId7"/>
          <a:stretch>
            <a:fillRect/>
          </a:stretch>
        </p:blipFill>
        <p:spPr>
          <a:xfrm>
            <a:off x="777240" y="5385816"/>
            <a:ext cx="365760" cy="365760"/>
          </a:xfrm>
          <a:prstGeom prst="rect">
            <a:avLst/>
          </a:prstGeom>
        </p:spPr>
      </p:pic>
      <p:sp>
        <p:nvSpPr>
          <p:cNvPr id="28" name="Text 19"/>
          <p:cNvSpPr txBox="1"/>
          <p:nvPr/>
        </p:nvSpPr>
        <p:spPr>
          <a:xfrm>
            <a:off x="1325880" y="5111496"/>
            <a:ext cx="411480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できる子だけが伸びていく</a:t>
            </a:r>
            <a:endParaRPr lang="en-US" sz="1500" dirty="0"/>
          </a:p>
        </p:txBody>
      </p:sp>
      <p:sp>
        <p:nvSpPr>
          <p:cNvPr id="29" name="Shape 20"/>
          <p:cNvSpPr/>
          <p:nvPr/>
        </p:nvSpPr>
        <p:spPr>
          <a:xfrm>
            <a:off x="5715000" y="5385816"/>
            <a:ext cx="365760" cy="365760"/>
          </a:xfrm>
          <a:prstGeom prst="chevron">
            <a:avLst/>
          </a:prstGeom>
          <a:solidFill>
            <a:srgbClr val="D5DDE5"/>
          </a:solidFill>
          <a:ln w="12700">
            <a:solidFill>
              <a:srgbClr val="D5DDE5"/>
            </a:solidFill>
            <a:prstDash val="solid"/>
          </a:ln>
        </p:spPr>
      </p:sp>
      <p:sp>
        <p:nvSpPr>
          <p:cNvPr id="30" name="Shape 21"/>
          <p:cNvSpPr/>
          <p:nvPr/>
        </p:nvSpPr>
        <p:spPr>
          <a:xfrm>
            <a:off x="6217920" y="5111496"/>
            <a:ext cx="5422392" cy="914400"/>
          </a:xfrm>
          <a:prstGeom prst="roundRect">
            <a:avLst>
              <a:gd name="adj" fmla="val 12000"/>
            </a:avLst>
          </a:prstGeom>
          <a:solidFill>
            <a:srgbClr val="E3F1E8"/>
          </a:solidFill>
          <a:ln w="12700">
            <a:solidFill>
              <a:srgbClr val="E3F1E8"/>
            </a:solidFill>
            <a:prstDash val="solid"/>
          </a:ln>
        </p:spPr>
      </p:sp>
      <p:pic>
        <p:nvPicPr>
          <p:cNvPr id="31" name="Image 7" descr="preencoded.png">    </p:cNvPr>
          <p:cNvPicPr>
            <a:picLocks noChangeAspect="1"/>
          </p:cNvPicPr>
          <p:nvPr/>
        </p:nvPicPr>
        <p:blipFill>
          <a:blip r:embed="rId8"/>
          <a:stretch>
            <a:fillRect/>
          </a:stretch>
        </p:blipFill>
        <p:spPr>
          <a:xfrm>
            <a:off x="6446520" y="5385816"/>
            <a:ext cx="365760" cy="365760"/>
          </a:xfrm>
          <a:prstGeom prst="rect">
            <a:avLst/>
          </a:prstGeom>
        </p:spPr>
      </p:pic>
      <p:sp>
        <p:nvSpPr>
          <p:cNvPr id="32" name="Text 22"/>
          <p:cNvSpPr txBox="1"/>
          <p:nvPr/>
        </p:nvSpPr>
        <p:spPr>
          <a:xfrm>
            <a:off x="6995160" y="5111496"/>
            <a:ext cx="4526280" cy="914400"/>
          </a:xfrm>
          <a:prstGeom prst="rect">
            <a:avLst/>
          </a:prstGeom>
          <a:noFill/>
          <a:ln/>
        </p:spPr>
        <p:txBody>
          <a:bodyPr wrap="square" lIns="0" tIns="0" rIns="0" bIns="0" rtlCol="0" anchor="ctr"/>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支援が必要な子にこそ、教師の時間を集中させる</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教師の役割は「学びをデザインし、伴走する人」へ</a:t>
            </a:r>
            <a:endParaRPr lang="en-US" sz="3200" dirty="0"/>
          </a:p>
        </p:txBody>
      </p:sp>
      <p:sp>
        <p:nvSpPr>
          <p:cNvPr id="3" name="Shape 1"/>
          <p:cNvSpPr/>
          <p:nvPr/>
        </p:nvSpPr>
        <p:spPr>
          <a:xfrm>
            <a:off x="1783080" y="1645920"/>
            <a:ext cx="1051560" cy="1051560"/>
          </a:xfrm>
          <a:prstGeom prst="ellipse">
            <a:avLst/>
          </a:prstGeom>
          <a:solidFill>
            <a:srgbClr val="1F2A44"/>
          </a:solidFill>
          <a:ln w="12700">
            <a:solidFill>
              <a:srgbClr val="1F2A44"/>
            </a:solidFill>
            <a:prstDash val="solid"/>
          </a:ln>
        </p:spPr>
      </p:sp>
      <p:pic>
        <p:nvPicPr>
          <p:cNvPr id="4" name="Image 0" descr="preencoded.png">    </p:cNvPr>
          <p:cNvPicPr>
            <a:picLocks noChangeAspect="1"/>
          </p:cNvPicPr>
          <p:nvPr/>
        </p:nvPicPr>
        <p:blipFill>
          <a:blip r:embed="rId1"/>
          <a:stretch>
            <a:fillRect/>
          </a:stretch>
        </p:blipFill>
        <p:spPr>
          <a:xfrm>
            <a:off x="2035454" y="1898294"/>
            <a:ext cx="546811" cy="546811"/>
          </a:xfrm>
          <a:prstGeom prst="rect">
            <a:avLst/>
          </a:prstGeom>
        </p:spPr>
      </p:pic>
      <p:sp>
        <p:nvSpPr>
          <p:cNvPr id="5" name="Text 2"/>
          <p:cNvSpPr txBox="1"/>
          <p:nvPr/>
        </p:nvSpPr>
        <p:spPr>
          <a:xfrm>
            <a:off x="548640" y="2834640"/>
            <a:ext cx="3520440" cy="502920"/>
          </a:xfrm>
          <a:prstGeom prst="rect">
            <a:avLst/>
          </a:prstGeom>
          <a:noFill/>
          <a:ln/>
        </p:spPr>
        <p:txBody>
          <a:bodyPr wrap="square" lIns="0" tIns="0" rIns="0" bIns="0" rtlCol="0" anchor="t"/>
          <a:lstStyle/>
          <a:p>
            <a:pPr algn="ctr" indent="0" marL="0">
              <a:buNone/>
            </a:pPr>
            <a:r>
              <a:rPr lang="en-US" sz="2200" b="1" dirty="0">
                <a:solidFill>
                  <a:srgbClr val="1F2A44"/>
                </a:solidFill>
                <a:latin typeface="BIZ UDPゴシック" pitchFamily="34" charset="0"/>
                <a:ea typeface="BIZ UDPゴシック" pitchFamily="34" charset="-122"/>
                <a:cs typeface="BIZ UDPゴシック" pitchFamily="34" charset="-120"/>
              </a:rPr>
              <a:t>デザインする</a:t>
            </a:r>
            <a:endParaRPr lang="en-US" sz="2200" dirty="0"/>
          </a:p>
        </p:txBody>
      </p:sp>
      <p:sp>
        <p:nvSpPr>
          <p:cNvPr id="6" name="Text 3"/>
          <p:cNvSpPr txBox="1"/>
          <p:nvPr/>
        </p:nvSpPr>
        <p:spPr>
          <a:xfrm>
            <a:off x="731520" y="3383280"/>
            <a:ext cx="3154680" cy="10972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単元のゴールと評価を先に決め、学習ガイド・教材・環境を整える</a:t>
            </a:r>
            <a:endParaRPr lang="en-US" sz="1500" dirty="0"/>
          </a:p>
        </p:txBody>
      </p:sp>
      <p:sp>
        <p:nvSpPr>
          <p:cNvPr id="7" name="Shape 4"/>
          <p:cNvSpPr/>
          <p:nvPr/>
        </p:nvSpPr>
        <p:spPr>
          <a:xfrm>
            <a:off x="5623560" y="1645920"/>
            <a:ext cx="1051560" cy="1051560"/>
          </a:xfrm>
          <a:prstGeom prst="ellipse">
            <a:avLst/>
          </a:prstGeom>
          <a:solidFill>
            <a:srgbClr val="3E8E63"/>
          </a:solidFill>
          <a:ln w="12700">
            <a:solidFill>
              <a:srgbClr val="3E8E63"/>
            </a:solidFill>
            <a:prstDash val="solid"/>
          </a:ln>
        </p:spPr>
      </p:sp>
      <p:pic>
        <p:nvPicPr>
          <p:cNvPr id="8" name="Image 1" descr="preencoded.png">    </p:cNvPr>
          <p:cNvPicPr>
            <a:picLocks noChangeAspect="1"/>
          </p:cNvPicPr>
          <p:nvPr/>
        </p:nvPicPr>
        <p:blipFill>
          <a:blip r:embed="rId2"/>
          <a:stretch>
            <a:fillRect/>
          </a:stretch>
        </p:blipFill>
        <p:spPr>
          <a:xfrm>
            <a:off x="5875934" y="1898294"/>
            <a:ext cx="546811" cy="546811"/>
          </a:xfrm>
          <a:prstGeom prst="rect">
            <a:avLst/>
          </a:prstGeom>
        </p:spPr>
      </p:pic>
      <p:sp>
        <p:nvSpPr>
          <p:cNvPr id="9" name="Text 5"/>
          <p:cNvSpPr txBox="1"/>
          <p:nvPr/>
        </p:nvSpPr>
        <p:spPr>
          <a:xfrm>
            <a:off x="4389120" y="2834640"/>
            <a:ext cx="3520440" cy="502920"/>
          </a:xfrm>
          <a:prstGeom prst="rect">
            <a:avLst/>
          </a:prstGeom>
          <a:noFill/>
          <a:ln/>
        </p:spPr>
        <p:txBody>
          <a:bodyPr wrap="square" lIns="0" tIns="0" rIns="0" bIns="0" rtlCol="0" anchor="t"/>
          <a:lstStyle/>
          <a:p>
            <a:pPr algn="ctr" indent="0" marL="0">
              <a:buNone/>
            </a:pPr>
            <a:r>
              <a:rPr lang="en-US" sz="2200" b="1" dirty="0">
                <a:solidFill>
                  <a:srgbClr val="1F2A44"/>
                </a:solidFill>
                <a:latin typeface="BIZ UDPゴシック" pitchFamily="34" charset="0"/>
                <a:ea typeface="BIZ UDPゴシック" pitchFamily="34" charset="-122"/>
                <a:cs typeface="BIZ UDPゴシック" pitchFamily="34" charset="-120"/>
              </a:rPr>
              <a:t>見取る</a:t>
            </a:r>
            <a:endParaRPr lang="en-US" sz="2200" dirty="0"/>
          </a:p>
        </p:txBody>
      </p:sp>
      <p:sp>
        <p:nvSpPr>
          <p:cNvPr id="10" name="Text 6"/>
          <p:cNvSpPr txBox="1"/>
          <p:nvPr/>
        </p:nvSpPr>
        <p:spPr>
          <a:xfrm>
            <a:off x="4572000" y="3383280"/>
            <a:ext cx="3154680" cy="10972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端末の学習記録と、表情・つぶやき・手の止まりの両方から子供を見る</a:t>
            </a:r>
            <a:endParaRPr lang="en-US" sz="1500" dirty="0"/>
          </a:p>
        </p:txBody>
      </p:sp>
      <p:sp>
        <p:nvSpPr>
          <p:cNvPr id="11" name="Shape 7"/>
          <p:cNvSpPr/>
          <p:nvPr/>
        </p:nvSpPr>
        <p:spPr>
          <a:xfrm>
            <a:off x="9464040" y="1645920"/>
            <a:ext cx="1051560" cy="1051560"/>
          </a:xfrm>
          <a:prstGeom prst="ellipse">
            <a:avLst/>
          </a:prstGeom>
          <a:solidFill>
            <a:srgbClr val="D9644A"/>
          </a:solidFill>
          <a:ln w="12700">
            <a:solidFill>
              <a:srgbClr val="D9644A"/>
            </a:solidFill>
            <a:prstDash val="solid"/>
          </a:ln>
        </p:spPr>
      </p:sp>
      <p:pic>
        <p:nvPicPr>
          <p:cNvPr id="12" name="Image 2" descr="preencoded.png">    </p:cNvPr>
          <p:cNvPicPr>
            <a:picLocks noChangeAspect="1"/>
          </p:cNvPicPr>
          <p:nvPr/>
        </p:nvPicPr>
        <p:blipFill>
          <a:blip r:embed="rId3"/>
          <a:stretch>
            <a:fillRect/>
          </a:stretch>
        </p:blipFill>
        <p:spPr>
          <a:xfrm>
            <a:off x="9716414" y="1898294"/>
            <a:ext cx="546811" cy="546811"/>
          </a:xfrm>
          <a:prstGeom prst="rect">
            <a:avLst/>
          </a:prstGeom>
        </p:spPr>
      </p:pic>
      <p:sp>
        <p:nvSpPr>
          <p:cNvPr id="13" name="Text 8"/>
          <p:cNvSpPr txBox="1"/>
          <p:nvPr/>
        </p:nvSpPr>
        <p:spPr>
          <a:xfrm>
            <a:off x="8229600" y="2834640"/>
            <a:ext cx="3520440" cy="502920"/>
          </a:xfrm>
          <a:prstGeom prst="rect">
            <a:avLst/>
          </a:prstGeom>
          <a:noFill/>
          <a:ln/>
        </p:spPr>
        <p:txBody>
          <a:bodyPr wrap="square" lIns="0" tIns="0" rIns="0" bIns="0" rtlCol="0" anchor="t"/>
          <a:lstStyle/>
          <a:p>
            <a:pPr algn="ctr" indent="0" marL="0">
              <a:buNone/>
            </a:pPr>
            <a:r>
              <a:rPr lang="en-US" sz="2200" b="1" dirty="0">
                <a:solidFill>
                  <a:srgbClr val="1F2A44"/>
                </a:solidFill>
                <a:latin typeface="BIZ UDPゴシック" pitchFamily="34" charset="0"/>
                <a:ea typeface="BIZ UDPゴシック" pitchFamily="34" charset="-122"/>
                <a:cs typeface="BIZ UDPゴシック" pitchFamily="34" charset="-120"/>
              </a:rPr>
              <a:t>つなぐ</a:t>
            </a:r>
            <a:endParaRPr lang="en-US" sz="2200" dirty="0"/>
          </a:p>
        </p:txBody>
      </p:sp>
      <p:sp>
        <p:nvSpPr>
          <p:cNvPr id="14" name="Text 9"/>
          <p:cNvSpPr txBox="1"/>
          <p:nvPr/>
        </p:nvSpPr>
        <p:spPr>
          <a:xfrm>
            <a:off x="8412480" y="3383280"/>
            <a:ext cx="3154680" cy="10972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子供どうし、今日と次時、教科と探究、学校と社会をつなぐ</a:t>
            </a:r>
            <a:endParaRPr lang="en-US" sz="1500" dirty="0"/>
          </a:p>
        </p:txBody>
      </p:sp>
      <p:sp>
        <p:nvSpPr>
          <p:cNvPr id="15" name="Shape 10"/>
          <p:cNvSpPr/>
          <p:nvPr/>
        </p:nvSpPr>
        <p:spPr>
          <a:xfrm>
            <a:off x="548640" y="4754880"/>
            <a:ext cx="11091672" cy="1280160"/>
          </a:xfrm>
          <a:prstGeom prst="roundRect">
            <a:avLst>
              <a:gd name="adj" fmla="val 8571"/>
            </a:avLst>
          </a:prstGeom>
          <a:solidFill>
            <a:srgbClr val="FDF3E3"/>
          </a:solidFill>
          <a:ln w="12700">
            <a:solidFill>
              <a:srgbClr val="FDF3E3"/>
            </a:solidFill>
            <a:prstDash val="solid"/>
          </a:ln>
        </p:spPr>
      </p:sp>
      <p:sp>
        <p:nvSpPr>
          <p:cNvPr id="16" name="Text 11"/>
          <p:cNvSpPr txBox="1"/>
          <p:nvPr/>
        </p:nvSpPr>
        <p:spPr>
          <a:xfrm>
            <a:off x="868680" y="4846320"/>
            <a:ext cx="2743200" cy="365760"/>
          </a:xfrm>
          <a:prstGeom prst="rect">
            <a:avLst/>
          </a:prstGeom>
          <a:noFill/>
          <a:ln/>
        </p:spPr>
        <p:txBody>
          <a:bodyPr wrap="square" lIns="0" tIns="0" rIns="0" bIns="0" rtlCol="0" anchor="t"/>
          <a:lstStyle/>
          <a:p>
            <a:pPr indent="0" marL="0">
              <a:buNone/>
            </a:pPr>
            <a:r>
              <a:rPr lang="en-US" sz="1600" b="1" dirty="0">
                <a:solidFill>
                  <a:srgbClr val="D9644A"/>
                </a:solidFill>
                <a:latin typeface="BIZ UDPゴシック" pitchFamily="34" charset="0"/>
                <a:ea typeface="BIZ UDPゴシック" pitchFamily="34" charset="-122"/>
                <a:cs typeface="BIZ UDPゴシック" pitchFamily="34" charset="-120"/>
              </a:rPr>
              <a:t>管理職の皆様へ</a:t>
            </a:r>
            <a:endParaRPr lang="en-US" sz="1600" dirty="0"/>
          </a:p>
        </p:txBody>
      </p:sp>
      <p:sp>
        <p:nvSpPr>
          <p:cNvPr id="17" name="Text 12"/>
          <p:cNvSpPr txBox="1"/>
          <p:nvPr/>
        </p:nvSpPr>
        <p:spPr>
          <a:xfrm>
            <a:off x="868680" y="5212080"/>
            <a:ext cx="10515600" cy="777240"/>
          </a:xfrm>
          <a:prstGeom prst="rect">
            <a:avLst/>
          </a:prstGeom>
          <a:noFill/>
          <a:ln/>
        </p:spPr>
        <p:txBody>
          <a:bodyPr wrap="square" lIns="0" tIns="0" rIns="0" bIns="0" rtlCol="0" anchor="t"/>
          <a:lstStyle/>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時間割の工夫（2時間続き・学年同一時間帯）、オープンスペースや図書館の活用、学年での教材の共同作成など、</a:t>
            </a:r>
            <a:endParaRPr lang="en-US" sz="1500" dirty="0"/>
          </a:p>
          <a:p>
            <a:pP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「一人の先生の頑張り」に頼らない仕組みづくりをお願いします。</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E8E6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t"/>
          <a:lstStyle/>
          <a:p>
            <a:pPr indent="0" marL="0">
              <a:buNone/>
            </a:pPr>
            <a:r>
              <a:rPr lang="en-US" sz="2200" b="1" dirty="0">
                <a:solidFill>
                  <a:srgbClr val="FFFFFF"/>
                </a:solidFill>
                <a:latin typeface="BIZ UDPゴシック" pitchFamily="34" charset="0"/>
                <a:ea typeface="BIZ UDPゴシック" pitchFamily="34" charset="-122"/>
                <a:cs typeface="BIZ UDPゴシック" pitchFamily="34" charset="-120"/>
              </a:rPr>
              <a:t>対話タイム①</a:t>
            </a:r>
            <a:endParaRPr lang="en-US" sz="2200" dirty="0"/>
          </a:p>
        </p:txBody>
      </p:sp>
      <p:sp>
        <p:nvSpPr>
          <p:cNvPr id="3" name="Shape 1"/>
          <p:cNvSpPr/>
          <p:nvPr/>
        </p:nvSpPr>
        <p:spPr>
          <a:xfrm>
            <a:off x="9966960" y="320040"/>
            <a:ext cx="1600200" cy="1600200"/>
          </a:xfrm>
          <a:prstGeom prst="ellipse">
            <a:avLst/>
          </a:prstGeom>
          <a:solidFill>
            <a:srgbClr val="F2A541"/>
          </a:solidFill>
          <a:ln w="12700">
            <a:solidFill>
              <a:srgbClr val="F2A541"/>
            </a:solidFill>
            <a:prstDash val="solid"/>
          </a:ln>
        </p:spPr>
      </p:sp>
      <p:sp>
        <p:nvSpPr>
          <p:cNvPr id="4" name="Text 2"/>
          <p:cNvSpPr txBox="1"/>
          <p:nvPr/>
        </p:nvSpPr>
        <p:spPr>
          <a:xfrm>
            <a:off x="9966960" y="320040"/>
            <a:ext cx="1600200" cy="1600200"/>
          </a:xfrm>
          <a:prstGeom prst="rect">
            <a:avLst/>
          </a:prstGeom>
          <a:noFill/>
          <a:ln/>
        </p:spPr>
        <p:txBody>
          <a:bodyPr wrap="square" lIns="0" tIns="0" rIns="0" bIns="0" rtlCol="0" anchor="ctr"/>
          <a:lstStyle/>
          <a:p>
            <a:pPr algn="ctr" indent="0" marL="0">
              <a:buNone/>
            </a:pPr>
            <a:r>
              <a:rPr lang="en-US" sz="3600" b="1" dirty="0">
                <a:solidFill>
                  <a:srgbClr val="1F2A44"/>
                </a:solidFill>
                <a:latin typeface="BIZ UDPゴシック" pitchFamily="34" charset="0"/>
                <a:ea typeface="BIZ UDPゴシック" pitchFamily="34" charset="-122"/>
                <a:cs typeface="BIZ UDPゴシック" pitchFamily="34" charset="-120"/>
              </a:rPr>
              <a:t>7分</a:t>
            </a:r>
            <a:endParaRPr lang="en-US" sz="3600" dirty="0"/>
          </a:p>
        </p:txBody>
      </p:sp>
      <p:sp>
        <p:nvSpPr>
          <p:cNvPr id="5" name="Text 3"/>
          <p:cNvSpPr txBox="1"/>
          <p:nvPr/>
        </p:nvSpPr>
        <p:spPr>
          <a:xfrm>
            <a:off x="548640" y="1188720"/>
            <a:ext cx="9144000" cy="1463040"/>
          </a:xfrm>
          <a:prstGeom prst="rect">
            <a:avLst/>
          </a:prstGeom>
          <a:noFill/>
          <a:ln/>
        </p:spPr>
        <p:txBody>
          <a:bodyPr wrap="square" lIns="0" tIns="0" rIns="0" bIns="0" rtlCol="0" anchor="ctr"/>
          <a:lstStyle/>
          <a:p>
            <a:pPr indent="0" marL="0">
              <a:buNone/>
            </a:pPr>
            <a:r>
              <a:rPr lang="en-US" sz="3000" b="1" dirty="0">
                <a:solidFill>
                  <a:srgbClr val="FFFFFF"/>
                </a:solidFill>
                <a:latin typeface="BIZ UDPゴシック" pitchFamily="34" charset="0"/>
                <a:ea typeface="BIZ UDPゴシック" pitchFamily="34" charset="-122"/>
                <a:cs typeface="BIZ UDPゴシック" pitchFamily="34" charset="-120"/>
              </a:rPr>
              <a:t>自校の自由進度学習、</a:t>
            </a:r>
            <a:endParaRPr lang="en-US" sz="3000" dirty="0"/>
          </a:p>
          <a:p>
            <a:pPr indent="0" marL="0">
              <a:buNone/>
            </a:pPr>
            <a:r>
              <a:rPr lang="en-US" sz="3000" b="1" dirty="0">
                <a:solidFill>
                  <a:srgbClr val="FFFFFF"/>
                </a:solidFill>
                <a:latin typeface="BIZ UDPゴシック" pitchFamily="34" charset="0"/>
                <a:ea typeface="BIZ UDPゴシック" pitchFamily="34" charset="-122"/>
                <a:cs typeface="BIZ UDPゴシック" pitchFamily="34" charset="-120"/>
              </a:rPr>
              <a:t>「次の一歩」は何ですか？</a:t>
            </a:r>
            <a:endParaRPr lang="en-US" sz="3000" dirty="0"/>
          </a:p>
        </p:txBody>
      </p:sp>
      <p:sp>
        <p:nvSpPr>
          <p:cNvPr id="6" name="Shape 4"/>
          <p:cNvSpPr/>
          <p:nvPr/>
        </p:nvSpPr>
        <p:spPr>
          <a:xfrm>
            <a:off x="548640" y="2926080"/>
            <a:ext cx="3520440" cy="1463040"/>
          </a:xfrm>
          <a:prstGeom prst="roundRect">
            <a:avLst>
              <a:gd name="adj" fmla="val 7500"/>
            </a:avLst>
          </a:prstGeom>
          <a:solidFill>
            <a:srgbClr val="FFFFFF"/>
          </a:solidFill>
          <a:ln w="12700">
            <a:solidFill>
              <a:srgbClr val="FFFFFF"/>
            </a:solidFill>
            <a:prstDash val="solid"/>
          </a:ln>
        </p:spPr>
      </p:sp>
      <p:sp>
        <p:nvSpPr>
          <p:cNvPr id="7" name="Text 5"/>
          <p:cNvSpPr txBox="1"/>
          <p:nvPr/>
        </p:nvSpPr>
        <p:spPr>
          <a:xfrm>
            <a:off x="77724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1分</a:t>
            </a:r>
            <a:endParaRPr lang="en-US" sz="2400" dirty="0"/>
          </a:p>
        </p:txBody>
      </p:sp>
      <p:sp>
        <p:nvSpPr>
          <p:cNvPr id="8" name="Text 6"/>
          <p:cNvSpPr txBox="1"/>
          <p:nvPr/>
        </p:nvSpPr>
        <p:spPr>
          <a:xfrm>
            <a:off x="182880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ひとりで考える</a:t>
            </a:r>
            <a:endParaRPr lang="en-US" sz="1800" dirty="0"/>
          </a:p>
        </p:txBody>
      </p:sp>
      <p:sp>
        <p:nvSpPr>
          <p:cNvPr id="9" name="Text 7"/>
          <p:cNvSpPr txBox="1"/>
          <p:nvPr/>
        </p:nvSpPr>
        <p:spPr>
          <a:xfrm>
            <a:off x="77724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メモや付箋に書く</a:t>
            </a:r>
            <a:endParaRPr lang="en-US" sz="1400" dirty="0"/>
          </a:p>
        </p:txBody>
      </p:sp>
      <p:sp>
        <p:nvSpPr>
          <p:cNvPr id="10" name="Shape 8"/>
          <p:cNvSpPr/>
          <p:nvPr/>
        </p:nvSpPr>
        <p:spPr>
          <a:xfrm>
            <a:off x="4389120" y="2926080"/>
            <a:ext cx="3520440" cy="1463040"/>
          </a:xfrm>
          <a:prstGeom prst="roundRect">
            <a:avLst>
              <a:gd name="adj" fmla="val 7500"/>
            </a:avLst>
          </a:prstGeom>
          <a:solidFill>
            <a:srgbClr val="FFFFFF"/>
          </a:solidFill>
          <a:ln w="12700">
            <a:solidFill>
              <a:srgbClr val="FFFFFF"/>
            </a:solidFill>
            <a:prstDash val="solid"/>
          </a:ln>
        </p:spPr>
      </p:sp>
      <p:sp>
        <p:nvSpPr>
          <p:cNvPr id="11" name="Text 9"/>
          <p:cNvSpPr txBox="1"/>
          <p:nvPr/>
        </p:nvSpPr>
        <p:spPr>
          <a:xfrm>
            <a:off x="461772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5分</a:t>
            </a:r>
            <a:endParaRPr lang="en-US" sz="2400" dirty="0"/>
          </a:p>
        </p:txBody>
      </p:sp>
      <p:sp>
        <p:nvSpPr>
          <p:cNvPr id="12" name="Text 10"/>
          <p:cNvSpPr txBox="1"/>
          <p:nvPr/>
        </p:nvSpPr>
        <p:spPr>
          <a:xfrm>
            <a:off x="566928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グループで対話</a:t>
            </a:r>
            <a:endParaRPr lang="en-US" sz="1800" dirty="0"/>
          </a:p>
        </p:txBody>
      </p:sp>
      <p:sp>
        <p:nvSpPr>
          <p:cNvPr id="13" name="Text 11"/>
          <p:cNvSpPr txBox="1"/>
          <p:nvPr/>
        </p:nvSpPr>
        <p:spPr>
          <a:xfrm>
            <a:off x="461772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1人1分で話し、共通点・違いを探す</a:t>
            </a:r>
            <a:endParaRPr lang="en-US" sz="1400" dirty="0"/>
          </a:p>
        </p:txBody>
      </p:sp>
      <p:sp>
        <p:nvSpPr>
          <p:cNvPr id="14" name="Shape 12"/>
          <p:cNvSpPr/>
          <p:nvPr/>
        </p:nvSpPr>
        <p:spPr>
          <a:xfrm>
            <a:off x="8229600" y="2926080"/>
            <a:ext cx="3520440" cy="1463040"/>
          </a:xfrm>
          <a:prstGeom prst="roundRect">
            <a:avLst>
              <a:gd name="adj" fmla="val 7500"/>
            </a:avLst>
          </a:prstGeom>
          <a:solidFill>
            <a:srgbClr val="FFFFFF"/>
          </a:solidFill>
          <a:ln w="12700">
            <a:solidFill>
              <a:srgbClr val="FFFFFF"/>
            </a:solidFill>
            <a:prstDash val="solid"/>
          </a:ln>
        </p:spPr>
      </p:sp>
      <p:sp>
        <p:nvSpPr>
          <p:cNvPr id="15" name="Text 13"/>
          <p:cNvSpPr txBox="1"/>
          <p:nvPr/>
        </p:nvSpPr>
        <p:spPr>
          <a:xfrm>
            <a:off x="845820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1分</a:t>
            </a:r>
            <a:endParaRPr lang="en-US" sz="2400" dirty="0"/>
          </a:p>
        </p:txBody>
      </p:sp>
      <p:sp>
        <p:nvSpPr>
          <p:cNvPr id="16" name="Text 14"/>
          <p:cNvSpPr txBox="1"/>
          <p:nvPr/>
        </p:nvSpPr>
        <p:spPr>
          <a:xfrm>
            <a:off x="950976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全体で共有</a:t>
            </a:r>
            <a:endParaRPr lang="en-US" sz="1800" dirty="0"/>
          </a:p>
        </p:txBody>
      </p:sp>
      <p:sp>
        <p:nvSpPr>
          <p:cNvPr id="17" name="Text 15"/>
          <p:cNvSpPr txBox="1"/>
          <p:nvPr/>
        </p:nvSpPr>
        <p:spPr>
          <a:xfrm>
            <a:off x="845820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2グループほどに一言ずつ</a:t>
            </a:r>
            <a:endParaRPr lang="en-US" sz="1400" dirty="0"/>
          </a:p>
        </p:txBody>
      </p:sp>
      <p:sp>
        <p:nvSpPr>
          <p:cNvPr id="18" name="Text 16"/>
          <p:cNvSpPr txBox="1"/>
          <p:nvPr/>
        </p:nvSpPr>
        <p:spPr>
          <a:xfrm>
            <a:off x="548640" y="4663440"/>
            <a:ext cx="3657600" cy="365760"/>
          </a:xfrm>
          <a:prstGeom prst="rect">
            <a:avLst/>
          </a:prstGeom>
          <a:noFill/>
          <a:ln/>
        </p:spPr>
        <p:txBody>
          <a:bodyPr wrap="square" lIns="0" tIns="0" rIns="0" bIns="0" rtlCol="0" anchor="t"/>
          <a:lstStyle/>
          <a:p>
            <a:pPr indent="0" marL="0">
              <a:buNone/>
            </a:pPr>
            <a:r>
              <a:rPr lang="en-US" sz="1600" b="1" dirty="0">
                <a:solidFill>
                  <a:srgbClr val="F2A541"/>
                </a:solidFill>
                <a:latin typeface="BIZ UDPゴシック" pitchFamily="34" charset="0"/>
                <a:ea typeface="BIZ UDPゴシック" pitchFamily="34" charset="-122"/>
                <a:cs typeface="BIZ UDPゴシック" pitchFamily="34" charset="-120"/>
              </a:rPr>
              <a:t>考える手がかり</a:t>
            </a:r>
            <a:endParaRPr lang="en-US" sz="1600" dirty="0"/>
          </a:p>
        </p:txBody>
      </p:sp>
      <p:sp>
        <p:nvSpPr>
          <p:cNvPr id="19" name="Text 17"/>
          <p:cNvSpPr txBox="1"/>
          <p:nvPr/>
        </p:nvSpPr>
        <p:spPr>
          <a:xfrm>
            <a:off x="548640" y="5029200"/>
            <a:ext cx="1106424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先生方：落とし穴に心当たりは？ 次の単元で試せる「選ぶ」場面は？</a:t>
            </a:r>
            <a:endParaRPr lang="en-US" sz="1500" dirty="0"/>
          </a:p>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校長・副校長：学校として広げるために、時間割・環境・研修で何ができる？</a:t>
            </a:r>
            <a:endParaRPr lang="en-US" sz="1500" dirty="0"/>
          </a:p>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まだ取り組んでいない学校：STEP1の「1時間の中で選ぶ」から始めるなら？</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822960" y="2103120"/>
            <a:ext cx="1463040" cy="1463040"/>
          </a:xfrm>
          <a:prstGeom prst="ellipse">
            <a:avLst/>
          </a:prstGeom>
          <a:solidFill>
            <a:srgbClr val="3E8E63"/>
          </a:solidFill>
          <a:ln w="12700">
            <a:solidFill>
              <a:srgbClr val="3E8E63"/>
            </a:solidFill>
            <a:prstDash val="solid"/>
          </a:ln>
        </p:spPr>
      </p:sp>
      <p:pic>
        <p:nvPicPr>
          <p:cNvPr id="3" name="Image 0" descr="preencoded.png">    </p:cNvPr>
          <p:cNvPicPr>
            <a:picLocks noChangeAspect="1"/>
          </p:cNvPicPr>
          <p:nvPr/>
        </p:nvPicPr>
        <p:blipFill>
          <a:blip r:embed="rId1"/>
          <a:stretch>
            <a:fillRect/>
          </a:stretch>
        </p:blipFill>
        <p:spPr>
          <a:xfrm>
            <a:off x="1174090" y="2454250"/>
            <a:ext cx="760781" cy="760781"/>
          </a:xfrm>
          <a:prstGeom prst="rect">
            <a:avLst/>
          </a:prstGeom>
        </p:spPr>
      </p:pic>
      <p:sp>
        <p:nvSpPr>
          <p:cNvPr id="4" name="Text 1"/>
          <p:cNvSpPr txBox="1"/>
          <p:nvPr/>
        </p:nvSpPr>
        <p:spPr>
          <a:xfrm>
            <a:off x="2651760" y="1920240"/>
            <a:ext cx="8229600" cy="640080"/>
          </a:xfrm>
          <a:prstGeom prst="rect">
            <a:avLst/>
          </a:prstGeom>
          <a:noFill/>
          <a:ln/>
        </p:spPr>
        <p:txBody>
          <a:bodyPr wrap="square" lIns="0" tIns="0" rIns="0" bIns="0" rtlCol="0" anchor="t"/>
          <a:lstStyle/>
          <a:p>
            <a:pPr indent="0" marL="0">
              <a:buNone/>
            </a:pPr>
            <a:r>
              <a:rPr lang="en-US" sz="2400" b="1" dirty="0">
                <a:solidFill>
                  <a:srgbClr val="F2A541"/>
                </a:solidFill>
                <a:latin typeface="BIZ UDPゴシック" pitchFamily="34" charset="0"/>
                <a:ea typeface="BIZ UDPゴシック" pitchFamily="34" charset="-122"/>
                <a:cs typeface="BIZ UDPゴシック" pitchFamily="34" charset="-120"/>
              </a:rPr>
              <a:t>PART 2</a:t>
            </a:r>
            <a:endParaRPr lang="en-US" sz="2400" dirty="0"/>
          </a:p>
        </p:txBody>
      </p:sp>
      <p:sp>
        <p:nvSpPr>
          <p:cNvPr id="5" name="Text 2"/>
          <p:cNvSpPr txBox="1"/>
          <p:nvPr/>
        </p:nvSpPr>
        <p:spPr>
          <a:xfrm>
            <a:off x="2651760" y="2560320"/>
            <a:ext cx="8961120" cy="914400"/>
          </a:xfrm>
          <a:prstGeom prst="rect">
            <a:avLst/>
          </a:prstGeom>
          <a:noFill/>
          <a:ln/>
        </p:spPr>
        <p:txBody>
          <a:bodyPr wrap="square" lIns="0" tIns="0" rIns="0" bIns="0" rtlCol="0" anchor="t"/>
          <a:lstStyle/>
          <a:p>
            <a:pPr indent="0" marL="0">
              <a:buNone/>
            </a:pPr>
            <a:r>
              <a:rPr lang="en-US" sz="4000" b="1" dirty="0">
                <a:solidFill>
                  <a:srgbClr val="FFFFFF"/>
                </a:solidFill>
                <a:latin typeface="BIZ UDPゴシック" pitchFamily="34" charset="0"/>
                <a:ea typeface="BIZ UDPゴシック" pitchFamily="34" charset="-122"/>
                <a:cs typeface="BIZ UDPゴシック" pitchFamily="34" charset="-120"/>
              </a:rPr>
              <a:t>探究 ― マイ探究の在り方</a:t>
            </a:r>
            <a:endParaRPr lang="en-US" sz="4000" dirty="0"/>
          </a:p>
        </p:txBody>
      </p:sp>
      <p:sp>
        <p:nvSpPr>
          <p:cNvPr id="6" name="Text 3"/>
          <p:cNvSpPr txBox="1"/>
          <p:nvPr/>
        </p:nvSpPr>
        <p:spPr>
          <a:xfrm>
            <a:off x="2651760" y="3566160"/>
            <a:ext cx="8961120" cy="731520"/>
          </a:xfrm>
          <a:prstGeom prst="rect">
            <a:avLst/>
          </a:prstGeom>
          <a:noFill/>
          <a:ln/>
        </p:spPr>
        <p:txBody>
          <a:bodyPr wrap="square" lIns="0" tIns="0" rIns="0" bIns="0" rtlCol="0" anchor="t"/>
          <a:lstStyle/>
          <a:p>
            <a:pPr indent="0" marL="0">
              <a:buNone/>
            </a:pPr>
            <a:r>
              <a:rPr lang="en-US" sz="2000" dirty="0">
                <a:solidFill>
                  <a:srgbClr val="CADCFC"/>
                </a:solidFill>
                <a:latin typeface="BIZ UDPゴシック" pitchFamily="34" charset="0"/>
                <a:ea typeface="BIZ UDPゴシック" pitchFamily="34" charset="-122"/>
                <a:cs typeface="BIZ UDPゴシック" pitchFamily="34" charset="-120"/>
              </a:rPr>
              <a:t>一人一人の「好き」と「問い」から始まる学び</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探究の過程は「らせん」で深まる</a:t>
            </a:r>
            <a:endParaRPr lang="en-US" sz="3200" dirty="0"/>
          </a:p>
        </p:txBody>
      </p:sp>
      <p:sp>
        <p:nvSpPr>
          <p:cNvPr id="3" name="Shape 1"/>
          <p:cNvSpPr/>
          <p:nvPr/>
        </p:nvSpPr>
        <p:spPr>
          <a:xfrm>
            <a:off x="1691640" y="2194560"/>
            <a:ext cx="3200400" cy="3200400"/>
          </a:xfrm>
          <a:prstGeom prst="ellipse">
            <a:avLst/>
          </a:prstGeom>
          <a:solidFill>
            <a:srgbClr val="FFFFFF"/>
          </a:solidFill>
          <a:ln w="38100">
            <a:solidFill>
              <a:srgbClr val="D5DDE5"/>
            </a:solidFill>
            <a:prstDash val="dash"/>
          </a:ln>
        </p:spPr>
      </p:sp>
      <p:sp>
        <p:nvSpPr>
          <p:cNvPr id="4" name="Text 2"/>
          <p:cNvSpPr txBox="1"/>
          <p:nvPr/>
        </p:nvSpPr>
        <p:spPr>
          <a:xfrm>
            <a:off x="2377440" y="3383280"/>
            <a:ext cx="1828800" cy="822960"/>
          </a:xfrm>
          <a:prstGeom prst="rect">
            <a:avLst/>
          </a:prstGeom>
          <a:noFill/>
          <a:ln/>
        </p:spPr>
        <p:txBody>
          <a:bodyPr wrap="square" lIns="0" tIns="0" rIns="0" bIns="0" rtlCol="0" anchor="ctr"/>
          <a:lstStyle/>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問いが</a:t>
            </a:r>
            <a:endParaRPr lang="en-US" sz="1500" dirty="0"/>
          </a:p>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更新される</a:t>
            </a:r>
            <a:endParaRPr lang="en-US" sz="1500" dirty="0"/>
          </a:p>
        </p:txBody>
      </p:sp>
      <p:sp>
        <p:nvSpPr>
          <p:cNvPr id="5" name="Shape 3"/>
          <p:cNvSpPr/>
          <p:nvPr/>
        </p:nvSpPr>
        <p:spPr>
          <a:xfrm>
            <a:off x="2423160" y="1847088"/>
            <a:ext cx="1737360" cy="694944"/>
          </a:xfrm>
          <a:prstGeom prst="roundRect">
            <a:avLst>
              <a:gd name="adj" fmla="val 26316"/>
            </a:avLst>
          </a:prstGeom>
          <a:solidFill>
            <a:srgbClr val="1F2A44"/>
          </a:solidFill>
          <a:ln w="25400">
            <a:solidFill>
              <a:srgbClr val="FFFFFF"/>
            </a:solidFill>
            <a:prstDash val="solid"/>
          </a:ln>
        </p:spPr>
      </p:sp>
      <p:sp>
        <p:nvSpPr>
          <p:cNvPr id="6" name="Text 4"/>
          <p:cNvSpPr txBox="1"/>
          <p:nvPr/>
        </p:nvSpPr>
        <p:spPr>
          <a:xfrm>
            <a:off x="2423160" y="1847088"/>
            <a:ext cx="1737360"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課題の設定</a:t>
            </a:r>
            <a:endParaRPr lang="en-US" sz="1500" dirty="0"/>
          </a:p>
        </p:txBody>
      </p:sp>
      <p:sp>
        <p:nvSpPr>
          <p:cNvPr id="7" name="Shape 5"/>
          <p:cNvSpPr/>
          <p:nvPr/>
        </p:nvSpPr>
        <p:spPr>
          <a:xfrm>
            <a:off x="4023360" y="3447288"/>
            <a:ext cx="1737360" cy="694944"/>
          </a:xfrm>
          <a:prstGeom prst="roundRect">
            <a:avLst>
              <a:gd name="adj" fmla="val 26316"/>
            </a:avLst>
          </a:prstGeom>
          <a:solidFill>
            <a:srgbClr val="3E8E63"/>
          </a:solidFill>
          <a:ln w="25400">
            <a:solidFill>
              <a:srgbClr val="FFFFFF"/>
            </a:solidFill>
            <a:prstDash val="solid"/>
          </a:ln>
        </p:spPr>
      </p:sp>
      <p:sp>
        <p:nvSpPr>
          <p:cNvPr id="8" name="Text 6"/>
          <p:cNvSpPr txBox="1"/>
          <p:nvPr/>
        </p:nvSpPr>
        <p:spPr>
          <a:xfrm>
            <a:off x="4023360" y="3447288"/>
            <a:ext cx="1737360"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情報の収集</a:t>
            </a:r>
            <a:endParaRPr lang="en-US" sz="1500" dirty="0"/>
          </a:p>
        </p:txBody>
      </p:sp>
      <p:sp>
        <p:nvSpPr>
          <p:cNvPr id="9" name="Shape 7"/>
          <p:cNvSpPr/>
          <p:nvPr/>
        </p:nvSpPr>
        <p:spPr>
          <a:xfrm>
            <a:off x="2423160" y="5047488"/>
            <a:ext cx="1737360" cy="694944"/>
          </a:xfrm>
          <a:prstGeom prst="roundRect">
            <a:avLst>
              <a:gd name="adj" fmla="val 26316"/>
            </a:avLst>
          </a:prstGeom>
          <a:solidFill>
            <a:srgbClr val="D9644A"/>
          </a:solidFill>
          <a:ln w="25400">
            <a:solidFill>
              <a:srgbClr val="FFFFFF"/>
            </a:solidFill>
            <a:prstDash val="solid"/>
          </a:ln>
        </p:spPr>
      </p:sp>
      <p:sp>
        <p:nvSpPr>
          <p:cNvPr id="10" name="Text 8"/>
          <p:cNvSpPr txBox="1"/>
          <p:nvPr/>
        </p:nvSpPr>
        <p:spPr>
          <a:xfrm>
            <a:off x="2423160" y="5047488"/>
            <a:ext cx="1737360" cy="694944"/>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ゴシック" pitchFamily="34" charset="0"/>
                <a:ea typeface="BIZ UDPゴシック" pitchFamily="34" charset="-122"/>
                <a:cs typeface="BIZ UDPゴシック" pitchFamily="34" charset="-120"/>
              </a:rPr>
              <a:t>整理・分析</a:t>
            </a:r>
            <a:endParaRPr lang="en-US" sz="1500" dirty="0"/>
          </a:p>
        </p:txBody>
      </p:sp>
      <p:sp>
        <p:nvSpPr>
          <p:cNvPr id="11" name="Shape 9"/>
          <p:cNvSpPr/>
          <p:nvPr/>
        </p:nvSpPr>
        <p:spPr>
          <a:xfrm>
            <a:off x="822960" y="3447288"/>
            <a:ext cx="1737360" cy="694944"/>
          </a:xfrm>
          <a:prstGeom prst="roundRect">
            <a:avLst>
              <a:gd name="adj" fmla="val 26316"/>
            </a:avLst>
          </a:prstGeom>
          <a:solidFill>
            <a:srgbClr val="F2A541"/>
          </a:solidFill>
          <a:ln w="25400">
            <a:solidFill>
              <a:srgbClr val="FFFFFF"/>
            </a:solidFill>
            <a:prstDash val="solid"/>
          </a:ln>
        </p:spPr>
      </p:sp>
      <p:sp>
        <p:nvSpPr>
          <p:cNvPr id="12" name="Text 10"/>
          <p:cNvSpPr txBox="1"/>
          <p:nvPr/>
        </p:nvSpPr>
        <p:spPr>
          <a:xfrm>
            <a:off x="822960" y="3447288"/>
            <a:ext cx="1737360" cy="694944"/>
          </a:xfrm>
          <a:prstGeom prst="rect">
            <a:avLst/>
          </a:prstGeom>
          <a:noFill/>
          <a:ln/>
        </p:spPr>
        <p:txBody>
          <a:bodyPr wrap="square" lIns="0" tIns="0" rIns="0" bIns="0" rtlCol="0" anchor="ctr"/>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まとめ・表現</a:t>
            </a:r>
            <a:endParaRPr lang="en-US" sz="1500" dirty="0"/>
          </a:p>
        </p:txBody>
      </p:sp>
      <p:sp>
        <p:nvSpPr>
          <p:cNvPr id="13" name="Shape 11"/>
          <p:cNvSpPr/>
          <p:nvPr/>
        </p:nvSpPr>
        <p:spPr>
          <a:xfrm>
            <a:off x="6172200" y="1417320"/>
            <a:ext cx="5468112" cy="4663440"/>
          </a:xfrm>
          <a:prstGeom prst="roundRect">
            <a:avLst>
              <a:gd name="adj" fmla="val 2353"/>
            </a:avLst>
          </a:prstGeom>
          <a:solidFill>
            <a:srgbClr val="EEF4F1"/>
          </a:solidFill>
          <a:ln w="12700">
            <a:solidFill>
              <a:srgbClr val="EEF4F1"/>
            </a:solidFill>
            <a:prstDash val="solid"/>
          </a:ln>
        </p:spPr>
      </p:sp>
      <p:sp>
        <p:nvSpPr>
          <p:cNvPr id="14" name="Text 12"/>
          <p:cNvSpPr txBox="1"/>
          <p:nvPr/>
        </p:nvSpPr>
        <p:spPr>
          <a:xfrm>
            <a:off x="6446520" y="1600200"/>
            <a:ext cx="5029200" cy="41148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次期学習指導要領に向けた検討の方向</a:t>
            </a:r>
            <a:endParaRPr lang="en-US" sz="1800" dirty="0"/>
          </a:p>
        </p:txBody>
      </p:sp>
      <p:sp>
        <p:nvSpPr>
          <p:cNvPr id="15" name="Text 13"/>
          <p:cNvSpPr txBox="1"/>
          <p:nvPr/>
        </p:nvSpPr>
        <p:spPr>
          <a:xfrm>
            <a:off x="6446520" y="2103120"/>
            <a:ext cx="498348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「探究」の概念を改めて整理し、探究の類型を示す方向</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小学校の総合的な学習の時間は「探究の領域」と「情報の領域」の二領域構成へ</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評価の簡素化、学校行事・特別活動との連携の明確化</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教科等の「見方・考え方」を働かせ、教科と探究を往還する</a:t>
            </a:r>
            <a:endParaRPr lang="en-US" sz="1500" dirty="0"/>
          </a:p>
        </p:txBody>
      </p:sp>
      <p:sp>
        <p:nvSpPr>
          <p:cNvPr id="16" name="Text 14"/>
          <p:cNvSpPr txBox="1"/>
          <p:nvPr/>
        </p:nvSpPr>
        <p:spPr>
          <a:xfrm>
            <a:off x="6446520" y="5349240"/>
            <a:ext cx="5029200" cy="548640"/>
          </a:xfrm>
          <a:prstGeom prst="rect">
            <a:avLst/>
          </a:prstGeom>
          <a:noFill/>
          <a:ln/>
        </p:spPr>
        <p:txBody>
          <a:bodyPr wrap="square" lIns="0" tIns="0" rIns="0" bIns="0" rtlCol="0" anchor="t"/>
          <a:lstStyle/>
          <a:p>
            <a:pPr indent="0" marL="0">
              <a:buNone/>
            </a:pPr>
            <a:r>
              <a:rPr lang="en-US" sz="1100" dirty="0">
                <a:solidFill>
                  <a:srgbClr val="5B6472"/>
                </a:solidFill>
                <a:latin typeface="BIZ UDPゴシック" pitchFamily="34" charset="0"/>
                <a:ea typeface="BIZ UDPゴシック" pitchFamily="34" charset="-122"/>
                <a:cs typeface="BIZ UDPゴシック" pitchFamily="34" charset="-120"/>
              </a:rPr>
              <a:t>※ 生活、総合的な学習・探究の時間WG等の審議資料・報道より整理</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マイ探究の在り方 ― 3つの原則</a:t>
            </a:r>
            <a:endParaRPr lang="en-US" sz="3200" dirty="0"/>
          </a:p>
        </p:txBody>
      </p:sp>
      <p:sp>
        <p:nvSpPr>
          <p:cNvPr id="3" name="Shape 1"/>
          <p:cNvSpPr/>
          <p:nvPr/>
        </p:nvSpPr>
        <p:spPr>
          <a:xfrm>
            <a:off x="548640" y="1417320"/>
            <a:ext cx="5669280" cy="1005840"/>
          </a:xfrm>
          <a:prstGeom prst="roundRect">
            <a:avLst>
              <a:gd name="adj" fmla="val 10909"/>
            </a:avLst>
          </a:prstGeom>
          <a:solidFill>
            <a:srgbClr val="EEF4F1"/>
          </a:solidFill>
          <a:ln w="12700">
            <a:solidFill>
              <a:srgbClr val="EEF4F1"/>
            </a:solidFill>
            <a:prstDash val="solid"/>
          </a:ln>
        </p:spPr>
      </p:sp>
      <p:sp>
        <p:nvSpPr>
          <p:cNvPr id="4" name="Shape 2"/>
          <p:cNvSpPr/>
          <p:nvPr/>
        </p:nvSpPr>
        <p:spPr>
          <a:xfrm>
            <a:off x="731520" y="1554480"/>
            <a:ext cx="731520" cy="731520"/>
          </a:xfrm>
          <a:prstGeom prst="ellipse">
            <a:avLst/>
          </a:prstGeom>
          <a:solidFill>
            <a:srgbClr val="1F2A44"/>
          </a:solidFill>
          <a:ln w="12700">
            <a:solidFill>
              <a:srgbClr val="1F2A44"/>
            </a:solidFill>
            <a:prstDash val="solid"/>
          </a:ln>
        </p:spPr>
      </p:sp>
      <p:pic>
        <p:nvPicPr>
          <p:cNvPr id="5" name="Image 0" descr="preencoded.png">    </p:cNvPr>
          <p:cNvPicPr>
            <a:picLocks noChangeAspect="1"/>
          </p:cNvPicPr>
          <p:nvPr/>
        </p:nvPicPr>
        <p:blipFill>
          <a:blip r:embed="rId1"/>
          <a:stretch>
            <a:fillRect/>
          </a:stretch>
        </p:blipFill>
        <p:spPr>
          <a:xfrm>
            <a:off x="907085" y="1730045"/>
            <a:ext cx="380390" cy="380390"/>
          </a:xfrm>
          <a:prstGeom prst="rect">
            <a:avLst/>
          </a:prstGeom>
        </p:spPr>
      </p:pic>
      <p:sp>
        <p:nvSpPr>
          <p:cNvPr id="6" name="Text 3"/>
          <p:cNvSpPr txBox="1"/>
          <p:nvPr/>
        </p:nvSpPr>
        <p:spPr>
          <a:xfrm>
            <a:off x="1645920" y="1527048"/>
            <a:ext cx="4480560" cy="36576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問いは子供のもの</a:t>
            </a:r>
            <a:endParaRPr lang="en-US" sz="1800" dirty="0"/>
          </a:p>
        </p:txBody>
      </p:sp>
      <p:sp>
        <p:nvSpPr>
          <p:cNvPr id="7" name="Text 4"/>
          <p:cNvSpPr txBox="1"/>
          <p:nvPr/>
        </p:nvSpPr>
        <p:spPr>
          <a:xfrm>
            <a:off x="1645920" y="1892808"/>
            <a:ext cx="4480560" cy="50292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テーマ・問いは子供が自己決定。教師は問いを「磨く」伴走者。</a:t>
            </a:r>
            <a:endParaRPr lang="en-US" sz="1400" dirty="0"/>
          </a:p>
        </p:txBody>
      </p:sp>
      <p:sp>
        <p:nvSpPr>
          <p:cNvPr id="8" name="Shape 5"/>
          <p:cNvSpPr/>
          <p:nvPr/>
        </p:nvSpPr>
        <p:spPr>
          <a:xfrm>
            <a:off x="548640" y="2560320"/>
            <a:ext cx="5669280" cy="1005840"/>
          </a:xfrm>
          <a:prstGeom prst="roundRect">
            <a:avLst>
              <a:gd name="adj" fmla="val 10909"/>
            </a:avLst>
          </a:prstGeom>
          <a:solidFill>
            <a:srgbClr val="EEF4F1"/>
          </a:solidFill>
          <a:ln w="12700">
            <a:solidFill>
              <a:srgbClr val="EEF4F1"/>
            </a:solidFill>
            <a:prstDash val="solid"/>
          </a:ln>
        </p:spPr>
      </p:sp>
      <p:sp>
        <p:nvSpPr>
          <p:cNvPr id="9" name="Shape 6"/>
          <p:cNvSpPr/>
          <p:nvPr/>
        </p:nvSpPr>
        <p:spPr>
          <a:xfrm>
            <a:off x="731520" y="2697480"/>
            <a:ext cx="731520" cy="731520"/>
          </a:xfrm>
          <a:prstGeom prst="ellipse">
            <a:avLst/>
          </a:prstGeom>
          <a:solidFill>
            <a:srgbClr val="3E8E63"/>
          </a:solidFill>
          <a:ln w="12700">
            <a:solidFill>
              <a:srgbClr val="3E8E63"/>
            </a:solidFill>
            <a:prstDash val="solid"/>
          </a:ln>
        </p:spPr>
      </p:sp>
      <p:pic>
        <p:nvPicPr>
          <p:cNvPr id="10" name="Image 1" descr="preencoded.png">    </p:cNvPr>
          <p:cNvPicPr>
            <a:picLocks noChangeAspect="1"/>
          </p:cNvPicPr>
          <p:nvPr/>
        </p:nvPicPr>
        <p:blipFill>
          <a:blip r:embed="rId2"/>
          <a:stretch>
            <a:fillRect/>
          </a:stretch>
        </p:blipFill>
        <p:spPr>
          <a:xfrm>
            <a:off x="907085" y="2873045"/>
            <a:ext cx="380390" cy="380390"/>
          </a:xfrm>
          <a:prstGeom prst="rect">
            <a:avLst/>
          </a:prstGeom>
        </p:spPr>
      </p:pic>
      <p:sp>
        <p:nvSpPr>
          <p:cNvPr id="11" name="Text 7"/>
          <p:cNvSpPr txBox="1"/>
          <p:nvPr/>
        </p:nvSpPr>
        <p:spPr>
          <a:xfrm>
            <a:off x="1645920" y="2670048"/>
            <a:ext cx="4480560" cy="36576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教科と往還する</a:t>
            </a:r>
            <a:endParaRPr lang="en-US" sz="1800" dirty="0"/>
          </a:p>
        </p:txBody>
      </p:sp>
      <p:sp>
        <p:nvSpPr>
          <p:cNvPr id="12" name="Text 8"/>
          <p:cNvSpPr txBox="1"/>
          <p:nvPr/>
        </p:nvSpPr>
        <p:spPr>
          <a:xfrm>
            <a:off x="1645920" y="3035808"/>
            <a:ext cx="4480560" cy="50292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教科で得た見方・考え方を使い、探究の問いを教科の学びに戻す。</a:t>
            </a:r>
            <a:endParaRPr lang="en-US" sz="1400" dirty="0"/>
          </a:p>
        </p:txBody>
      </p:sp>
      <p:sp>
        <p:nvSpPr>
          <p:cNvPr id="13" name="Shape 9"/>
          <p:cNvSpPr/>
          <p:nvPr/>
        </p:nvSpPr>
        <p:spPr>
          <a:xfrm>
            <a:off x="548640" y="3703320"/>
            <a:ext cx="5669280" cy="1005840"/>
          </a:xfrm>
          <a:prstGeom prst="roundRect">
            <a:avLst>
              <a:gd name="adj" fmla="val 10909"/>
            </a:avLst>
          </a:prstGeom>
          <a:solidFill>
            <a:srgbClr val="EEF4F1"/>
          </a:solidFill>
          <a:ln w="12700">
            <a:solidFill>
              <a:srgbClr val="EEF4F1"/>
            </a:solidFill>
            <a:prstDash val="solid"/>
          </a:ln>
        </p:spPr>
      </p:sp>
      <p:sp>
        <p:nvSpPr>
          <p:cNvPr id="14" name="Shape 10"/>
          <p:cNvSpPr/>
          <p:nvPr/>
        </p:nvSpPr>
        <p:spPr>
          <a:xfrm>
            <a:off x="731520" y="3840480"/>
            <a:ext cx="731520" cy="731520"/>
          </a:xfrm>
          <a:prstGeom prst="ellipse">
            <a:avLst/>
          </a:prstGeom>
          <a:solidFill>
            <a:srgbClr val="D9644A"/>
          </a:solidFill>
          <a:ln w="12700">
            <a:solidFill>
              <a:srgbClr val="D9644A"/>
            </a:solidFill>
            <a:prstDash val="solid"/>
          </a:ln>
        </p:spPr>
      </p:sp>
      <p:pic>
        <p:nvPicPr>
          <p:cNvPr id="15" name="Image 2" descr="preencoded.png">    </p:cNvPr>
          <p:cNvPicPr>
            <a:picLocks noChangeAspect="1"/>
          </p:cNvPicPr>
          <p:nvPr/>
        </p:nvPicPr>
        <p:blipFill>
          <a:blip r:embed="rId3"/>
          <a:stretch>
            <a:fillRect/>
          </a:stretch>
        </p:blipFill>
        <p:spPr>
          <a:xfrm>
            <a:off x="907085" y="4016045"/>
            <a:ext cx="380390" cy="380390"/>
          </a:xfrm>
          <a:prstGeom prst="rect">
            <a:avLst/>
          </a:prstGeom>
        </p:spPr>
      </p:pic>
      <p:sp>
        <p:nvSpPr>
          <p:cNvPr id="16" name="Text 11"/>
          <p:cNvSpPr txBox="1"/>
          <p:nvPr/>
        </p:nvSpPr>
        <p:spPr>
          <a:xfrm>
            <a:off x="1645920" y="3813048"/>
            <a:ext cx="4480560" cy="36576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本物と出会う</a:t>
            </a:r>
            <a:endParaRPr lang="en-US" sz="1800" dirty="0"/>
          </a:p>
        </p:txBody>
      </p:sp>
      <p:sp>
        <p:nvSpPr>
          <p:cNvPr id="17" name="Text 12"/>
          <p:cNvSpPr txBox="1"/>
          <p:nvPr/>
        </p:nvSpPr>
        <p:spPr>
          <a:xfrm>
            <a:off x="1645920" y="4178808"/>
            <a:ext cx="4480560" cy="50292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地域・専門家・一次情報に触れ、学校の外へ発信する。</a:t>
            </a:r>
            <a:endParaRPr lang="en-US" sz="1400" dirty="0"/>
          </a:p>
        </p:txBody>
      </p:sp>
      <p:sp>
        <p:nvSpPr>
          <p:cNvPr id="18" name="Shape 13"/>
          <p:cNvSpPr/>
          <p:nvPr/>
        </p:nvSpPr>
        <p:spPr>
          <a:xfrm>
            <a:off x="6492240" y="1417320"/>
            <a:ext cx="5148072" cy="3291840"/>
          </a:xfrm>
          <a:prstGeom prst="roundRect">
            <a:avLst>
              <a:gd name="adj" fmla="val 3333"/>
            </a:avLst>
          </a:prstGeom>
          <a:solidFill>
            <a:srgbClr val="FDF3E3"/>
          </a:solidFill>
          <a:ln w="12700">
            <a:solidFill>
              <a:srgbClr val="FDF3E3"/>
            </a:solidFill>
            <a:prstDash val="solid"/>
          </a:ln>
        </p:spPr>
      </p:sp>
      <p:sp>
        <p:nvSpPr>
          <p:cNvPr id="19" name="Text 14"/>
          <p:cNvSpPr txBox="1"/>
          <p:nvPr/>
        </p:nvSpPr>
        <p:spPr>
          <a:xfrm>
            <a:off x="6766560" y="1554480"/>
            <a:ext cx="4572000" cy="411480"/>
          </a:xfrm>
          <a:prstGeom prst="rect">
            <a:avLst/>
          </a:prstGeom>
          <a:noFill/>
          <a:ln/>
        </p:spPr>
        <p:txBody>
          <a:bodyPr wrap="square" lIns="0" tIns="0" rIns="0" bIns="0" rtlCol="0" anchor="t"/>
          <a:lstStyle/>
          <a:p>
            <a:pPr indent="0" marL="0">
              <a:buNone/>
            </a:pPr>
            <a:r>
              <a:rPr lang="en-US" sz="1800" b="1" dirty="0">
                <a:solidFill>
                  <a:srgbClr val="D9644A"/>
                </a:solidFill>
                <a:latin typeface="BIZ UDPゴシック" pitchFamily="34" charset="0"/>
                <a:ea typeface="BIZ UDPゴシック" pitchFamily="34" charset="-122"/>
                <a:cs typeface="BIZ UDPゴシック" pitchFamily="34" charset="-120"/>
              </a:rPr>
              <a:t>よくある悩みと処方箋</a:t>
            </a:r>
            <a:endParaRPr lang="en-US" sz="1800" dirty="0"/>
          </a:p>
        </p:txBody>
      </p:sp>
      <p:sp>
        <p:nvSpPr>
          <p:cNvPr id="20" name="Text 15"/>
          <p:cNvSpPr txBox="1"/>
          <p:nvPr/>
        </p:nvSpPr>
        <p:spPr>
          <a:xfrm>
            <a:off x="6766560" y="2103120"/>
            <a:ext cx="4663440" cy="365760"/>
          </a:xfrm>
          <a:prstGeom prst="rect">
            <a:avLst/>
          </a:prstGeom>
          <a:noFill/>
          <a:ln/>
        </p:spPr>
        <p:txBody>
          <a:bodyPr wrap="square" lIns="0" tIns="0" rIns="0" bIns="0" rtlCol="0" anchor="t"/>
          <a:lstStyle/>
          <a:p>
            <a:pP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テーマが決まらない</a:t>
            </a:r>
            <a:endParaRPr lang="en-US" sz="1500" dirty="0"/>
          </a:p>
        </p:txBody>
      </p:sp>
      <p:sp>
        <p:nvSpPr>
          <p:cNvPr id="21" name="Text 16"/>
          <p:cNvSpPr txBox="1"/>
          <p:nvPr/>
        </p:nvSpPr>
        <p:spPr>
          <a:xfrm>
            <a:off x="6766560" y="2450592"/>
            <a:ext cx="4754880" cy="4114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 「好き」の棚卸し、友達の探究を見る時間</a:t>
            </a:r>
            <a:endParaRPr lang="en-US" sz="1400" dirty="0"/>
          </a:p>
        </p:txBody>
      </p:sp>
      <p:sp>
        <p:nvSpPr>
          <p:cNvPr id="22" name="Text 17"/>
          <p:cNvSpPr txBox="1"/>
          <p:nvPr/>
        </p:nvSpPr>
        <p:spPr>
          <a:xfrm>
            <a:off x="6766560" y="2953512"/>
            <a:ext cx="4663440" cy="365760"/>
          </a:xfrm>
          <a:prstGeom prst="rect">
            <a:avLst/>
          </a:prstGeom>
          <a:noFill/>
          <a:ln/>
        </p:spPr>
        <p:txBody>
          <a:bodyPr wrap="square" lIns="0" tIns="0" rIns="0" bIns="0" rtlCol="0" anchor="t"/>
          <a:lstStyle/>
          <a:p>
            <a:pP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調べ学習で止まる</a:t>
            </a:r>
            <a:endParaRPr lang="en-US" sz="1500" dirty="0"/>
          </a:p>
        </p:txBody>
      </p:sp>
      <p:sp>
        <p:nvSpPr>
          <p:cNvPr id="23" name="Text 18"/>
          <p:cNvSpPr txBox="1"/>
          <p:nvPr/>
        </p:nvSpPr>
        <p:spPr>
          <a:xfrm>
            <a:off x="6766560" y="3300984"/>
            <a:ext cx="4754880" cy="4114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 「なぜ？」「本当に？」を3回問い返す</a:t>
            </a:r>
            <a:endParaRPr lang="en-US" sz="1400" dirty="0"/>
          </a:p>
        </p:txBody>
      </p:sp>
      <p:sp>
        <p:nvSpPr>
          <p:cNvPr id="24" name="Text 19"/>
          <p:cNvSpPr txBox="1"/>
          <p:nvPr/>
        </p:nvSpPr>
        <p:spPr>
          <a:xfrm>
            <a:off x="6766560" y="3803904"/>
            <a:ext cx="4663440" cy="365760"/>
          </a:xfrm>
          <a:prstGeom prst="rect">
            <a:avLst/>
          </a:prstGeom>
          <a:noFill/>
          <a:ln/>
        </p:spPr>
        <p:txBody>
          <a:bodyPr wrap="square" lIns="0" tIns="0" rIns="0" bIns="0" rtlCol="0" anchor="t"/>
          <a:lstStyle/>
          <a:p>
            <a:pP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AIに丸投げ</a:t>
            </a:r>
            <a:endParaRPr lang="en-US" sz="1500" dirty="0"/>
          </a:p>
        </p:txBody>
      </p:sp>
      <p:sp>
        <p:nvSpPr>
          <p:cNvPr id="25" name="Text 20"/>
          <p:cNvSpPr txBox="1"/>
          <p:nvPr/>
        </p:nvSpPr>
        <p:spPr>
          <a:xfrm>
            <a:off x="6766560" y="4151376"/>
            <a:ext cx="4754880" cy="4114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 AIは「壁打ち相手」。自分の言葉と一次情報で</a:t>
            </a:r>
            <a:endParaRPr lang="en-US" sz="1400" dirty="0"/>
          </a:p>
        </p:txBody>
      </p:sp>
      <p:sp>
        <p:nvSpPr>
          <p:cNvPr id="26" name="Shape 21"/>
          <p:cNvSpPr/>
          <p:nvPr/>
        </p:nvSpPr>
        <p:spPr>
          <a:xfrm>
            <a:off x="548640" y="4983480"/>
            <a:ext cx="11091672" cy="1097280"/>
          </a:xfrm>
          <a:prstGeom prst="roundRect">
            <a:avLst>
              <a:gd name="adj" fmla="val 10000"/>
            </a:avLst>
          </a:prstGeom>
          <a:solidFill>
            <a:srgbClr val="1F2A44"/>
          </a:solidFill>
          <a:ln w="12700">
            <a:solidFill>
              <a:srgbClr val="1F2A44"/>
            </a:solidFill>
            <a:prstDash val="solid"/>
          </a:ln>
        </p:spPr>
      </p:sp>
      <p:sp>
        <p:nvSpPr>
          <p:cNvPr id="27" name="Text 22"/>
          <p:cNvSpPr txBox="1"/>
          <p:nvPr/>
        </p:nvSpPr>
        <p:spPr>
          <a:xfrm>
            <a:off x="868680" y="4983480"/>
            <a:ext cx="10515600" cy="1097280"/>
          </a:xfrm>
          <a:prstGeom prst="rect">
            <a:avLst/>
          </a:prstGeom>
          <a:noFill/>
          <a:ln/>
        </p:spPr>
        <p:txBody>
          <a:bodyPr wrap="square" lIns="0" tIns="0" rIns="0" bIns="0" rtlCol="0" anchor="ctr"/>
          <a:lstStyle/>
          <a:p>
            <a:pP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マイ探究は「放っておく探究」ではない。問いの自己決定を支える、教師の最も高度な伴走である。</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「みんなの探究」と「マイ探究」の二層で設計する</a:t>
            </a:r>
            <a:endParaRPr lang="en-US" sz="3200" dirty="0"/>
          </a:p>
        </p:txBody>
      </p:sp>
      <p:sp>
        <p:nvSpPr>
          <p:cNvPr id="3" name="Shape 1"/>
          <p:cNvSpPr/>
          <p:nvPr/>
        </p:nvSpPr>
        <p:spPr>
          <a:xfrm>
            <a:off x="548640" y="1508760"/>
            <a:ext cx="3502152" cy="2651760"/>
          </a:xfrm>
          <a:prstGeom prst="roundRect">
            <a:avLst>
              <a:gd name="adj" fmla="val 4138"/>
            </a:avLst>
          </a:prstGeom>
          <a:solidFill>
            <a:srgbClr val="EEF4F1"/>
          </a:solidFill>
          <a:ln w="12700">
            <a:solidFill>
              <a:srgbClr val="EEF4F1"/>
            </a:solidFill>
            <a:prstDash val="solid"/>
          </a:ln>
        </p:spPr>
      </p:sp>
      <p:sp>
        <p:nvSpPr>
          <p:cNvPr id="4" name="Shape 2"/>
          <p:cNvSpPr/>
          <p:nvPr/>
        </p:nvSpPr>
        <p:spPr>
          <a:xfrm>
            <a:off x="822960" y="1691640"/>
            <a:ext cx="2953512" cy="594360"/>
          </a:xfrm>
          <a:prstGeom prst="roundRect">
            <a:avLst>
              <a:gd name="adj" fmla="val 23077"/>
            </a:avLst>
          </a:prstGeom>
          <a:solidFill>
            <a:srgbClr val="1F2A44"/>
          </a:solidFill>
          <a:ln w="12700">
            <a:solidFill>
              <a:srgbClr val="1F2A44"/>
            </a:solidFill>
            <a:prstDash val="solid"/>
          </a:ln>
        </p:spPr>
      </p:sp>
      <p:sp>
        <p:nvSpPr>
          <p:cNvPr id="5" name="Text 3"/>
          <p:cNvSpPr txBox="1"/>
          <p:nvPr/>
        </p:nvSpPr>
        <p:spPr>
          <a:xfrm>
            <a:off x="822960" y="1691640"/>
            <a:ext cx="2953512"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各教科等</a:t>
            </a:r>
            <a:endParaRPr lang="en-US" sz="1800" dirty="0"/>
          </a:p>
        </p:txBody>
      </p:sp>
      <p:sp>
        <p:nvSpPr>
          <p:cNvPr id="6" name="Text 4"/>
          <p:cNvSpPr txBox="1"/>
          <p:nvPr/>
        </p:nvSpPr>
        <p:spPr>
          <a:xfrm>
            <a:off x="822960" y="2468880"/>
            <a:ext cx="2953512" cy="15544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見方・考え方</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知識・技能</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情報活用能力</a:t>
            </a:r>
            <a:endParaRPr lang="en-US" sz="1500" dirty="0"/>
          </a:p>
        </p:txBody>
      </p:sp>
      <p:sp>
        <p:nvSpPr>
          <p:cNvPr id="7" name="Text 5"/>
          <p:cNvSpPr txBox="1"/>
          <p:nvPr/>
        </p:nvSpPr>
        <p:spPr>
          <a:xfrm>
            <a:off x="4050792" y="2468880"/>
            <a:ext cx="292608" cy="548640"/>
          </a:xfrm>
          <a:prstGeom prst="rect">
            <a:avLst/>
          </a:prstGeom>
          <a:noFill/>
          <a:ln/>
        </p:spPr>
        <p:txBody>
          <a:bodyPr wrap="square" lIns="0" tIns="0" rIns="0" bIns="0" rtlCol="0" anchor="ctr"/>
          <a:lstStyle/>
          <a:p>
            <a:pPr algn="ctr" indent="0" marL="0">
              <a:buNone/>
            </a:pPr>
            <a:r>
              <a:rPr lang="en-US" sz="2400" b="1" dirty="0">
                <a:solidFill>
                  <a:srgbClr val="5B6472"/>
                </a:solidFill>
                <a:latin typeface="BIZ UDPゴシック" pitchFamily="34" charset="0"/>
                <a:ea typeface="BIZ UDPゴシック" pitchFamily="34" charset="-122"/>
                <a:cs typeface="BIZ UDPゴシック" pitchFamily="34" charset="-120"/>
              </a:rPr>
              <a:t>⇄</a:t>
            </a:r>
            <a:endParaRPr lang="en-US" sz="2400" dirty="0"/>
          </a:p>
        </p:txBody>
      </p:sp>
      <p:sp>
        <p:nvSpPr>
          <p:cNvPr id="8" name="Shape 6"/>
          <p:cNvSpPr/>
          <p:nvPr/>
        </p:nvSpPr>
        <p:spPr>
          <a:xfrm>
            <a:off x="4343400" y="1508760"/>
            <a:ext cx="3502152" cy="2651760"/>
          </a:xfrm>
          <a:prstGeom prst="roundRect">
            <a:avLst>
              <a:gd name="adj" fmla="val 4138"/>
            </a:avLst>
          </a:prstGeom>
          <a:solidFill>
            <a:srgbClr val="EEF4F1"/>
          </a:solidFill>
          <a:ln w="12700">
            <a:solidFill>
              <a:srgbClr val="EEF4F1"/>
            </a:solidFill>
            <a:prstDash val="solid"/>
          </a:ln>
        </p:spPr>
      </p:sp>
      <p:sp>
        <p:nvSpPr>
          <p:cNvPr id="9" name="Shape 7"/>
          <p:cNvSpPr/>
          <p:nvPr/>
        </p:nvSpPr>
        <p:spPr>
          <a:xfrm>
            <a:off x="4617720" y="1691640"/>
            <a:ext cx="2953512" cy="594360"/>
          </a:xfrm>
          <a:prstGeom prst="roundRect">
            <a:avLst>
              <a:gd name="adj" fmla="val 23077"/>
            </a:avLst>
          </a:prstGeom>
          <a:solidFill>
            <a:srgbClr val="3E8E63"/>
          </a:solidFill>
          <a:ln w="12700">
            <a:solidFill>
              <a:srgbClr val="3E8E63"/>
            </a:solidFill>
            <a:prstDash val="solid"/>
          </a:ln>
        </p:spPr>
      </p:sp>
      <p:sp>
        <p:nvSpPr>
          <p:cNvPr id="10" name="Text 8"/>
          <p:cNvSpPr txBox="1"/>
          <p:nvPr/>
        </p:nvSpPr>
        <p:spPr>
          <a:xfrm>
            <a:off x="4617720" y="1691640"/>
            <a:ext cx="2953512"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みんなの探究</a:t>
            </a:r>
            <a:endParaRPr lang="en-US" sz="1800" dirty="0"/>
          </a:p>
        </p:txBody>
      </p:sp>
      <p:sp>
        <p:nvSpPr>
          <p:cNvPr id="11" name="Text 9"/>
          <p:cNvSpPr txBox="1"/>
          <p:nvPr/>
        </p:nvSpPr>
        <p:spPr>
          <a:xfrm>
            <a:off x="4617720" y="2468880"/>
            <a:ext cx="2953512" cy="15544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学年・学級の共通テーマ</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（地域・環境・福祉など）</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探究の「型」を学ぶ</a:t>
            </a:r>
            <a:endParaRPr lang="en-US" sz="1500" dirty="0"/>
          </a:p>
        </p:txBody>
      </p:sp>
      <p:sp>
        <p:nvSpPr>
          <p:cNvPr id="12" name="Text 10"/>
          <p:cNvSpPr txBox="1"/>
          <p:nvPr/>
        </p:nvSpPr>
        <p:spPr>
          <a:xfrm>
            <a:off x="7845552" y="2468880"/>
            <a:ext cx="292608" cy="548640"/>
          </a:xfrm>
          <a:prstGeom prst="rect">
            <a:avLst/>
          </a:prstGeom>
          <a:noFill/>
          <a:ln/>
        </p:spPr>
        <p:txBody>
          <a:bodyPr wrap="square" lIns="0" tIns="0" rIns="0" bIns="0" rtlCol="0" anchor="ctr"/>
          <a:lstStyle/>
          <a:p>
            <a:pPr algn="ctr" indent="0" marL="0">
              <a:buNone/>
            </a:pPr>
            <a:r>
              <a:rPr lang="en-US" sz="2400" b="1" dirty="0">
                <a:solidFill>
                  <a:srgbClr val="5B6472"/>
                </a:solidFill>
                <a:latin typeface="BIZ UDPゴシック" pitchFamily="34" charset="0"/>
                <a:ea typeface="BIZ UDPゴシック" pitchFamily="34" charset="-122"/>
                <a:cs typeface="BIZ UDPゴシック" pitchFamily="34" charset="-120"/>
              </a:rPr>
              <a:t>⇄</a:t>
            </a:r>
            <a:endParaRPr lang="en-US" sz="2400" dirty="0"/>
          </a:p>
        </p:txBody>
      </p:sp>
      <p:sp>
        <p:nvSpPr>
          <p:cNvPr id="13" name="Shape 11"/>
          <p:cNvSpPr/>
          <p:nvPr/>
        </p:nvSpPr>
        <p:spPr>
          <a:xfrm>
            <a:off x="8138160" y="1508760"/>
            <a:ext cx="3502152" cy="2651760"/>
          </a:xfrm>
          <a:prstGeom prst="roundRect">
            <a:avLst>
              <a:gd name="adj" fmla="val 4138"/>
            </a:avLst>
          </a:prstGeom>
          <a:solidFill>
            <a:srgbClr val="EEF4F1"/>
          </a:solidFill>
          <a:ln w="12700">
            <a:solidFill>
              <a:srgbClr val="EEF4F1"/>
            </a:solidFill>
            <a:prstDash val="solid"/>
          </a:ln>
        </p:spPr>
      </p:sp>
      <p:sp>
        <p:nvSpPr>
          <p:cNvPr id="14" name="Shape 12"/>
          <p:cNvSpPr/>
          <p:nvPr/>
        </p:nvSpPr>
        <p:spPr>
          <a:xfrm>
            <a:off x="8412480" y="1691640"/>
            <a:ext cx="2953512" cy="594360"/>
          </a:xfrm>
          <a:prstGeom prst="roundRect">
            <a:avLst>
              <a:gd name="adj" fmla="val 23077"/>
            </a:avLst>
          </a:prstGeom>
          <a:solidFill>
            <a:srgbClr val="D9644A"/>
          </a:solidFill>
          <a:ln w="12700">
            <a:solidFill>
              <a:srgbClr val="D9644A"/>
            </a:solidFill>
            <a:prstDash val="solid"/>
          </a:ln>
        </p:spPr>
      </p:sp>
      <p:sp>
        <p:nvSpPr>
          <p:cNvPr id="15" name="Text 13"/>
          <p:cNvSpPr txBox="1"/>
          <p:nvPr/>
        </p:nvSpPr>
        <p:spPr>
          <a:xfrm>
            <a:off x="8412480" y="1691640"/>
            <a:ext cx="2953512"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ゴシック" pitchFamily="34" charset="0"/>
                <a:ea typeface="BIZ UDPゴシック" pitchFamily="34" charset="-122"/>
                <a:cs typeface="BIZ UDPゴシック" pitchFamily="34" charset="-120"/>
              </a:rPr>
              <a:t>マイ探究</a:t>
            </a:r>
            <a:endParaRPr lang="en-US" sz="1800" dirty="0"/>
          </a:p>
        </p:txBody>
      </p:sp>
      <p:sp>
        <p:nvSpPr>
          <p:cNvPr id="16" name="Text 14"/>
          <p:cNvSpPr txBox="1"/>
          <p:nvPr/>
        </p:nvSpPr>
        <p:spPr>
          <a:xfrm>
            <a:off x="8412480" y="2468880"/>
            <a:ext cx="2953512" cy="1554480"/>
          </a:xfrm>
          <a:prstGeom prst="rect">
            <a:avLst/>
          </a:prstGeom>
          <a:noFill/>
          <a:ln/>
        </p:spPr>
        <p:txBody>
          <a:bodyPr wrap="square" lIns="0" tIns="0" rIns="0" bIns="0" rtlCol="0" anchor="t"/>
          <a:lstStyle/>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自分の「好き」から問い</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自分のペースで深める</a:t>
            </a:r>
            <a:endParaRPr lang="en-US" sz="1500" dirty="0"/>
          </a:p>
          <a:p>
            <a:pPr algn="ctr" indent="0" marL="0">
              <a:buNone/>
            </a:pPr>
            <a:r>
              <a:rPr lang="en-US" sz="1500" dirty="0">
                <a:solidFill>
                  <a:srgbClr val="2B2B2B"/>
                </a:solidFill>
                <a:latin typeface="BIZ UDPゴシック" pitchFamily="34" charset="0"/>
                <a:ea typeface="BIZ UDPゴシック" pitchFamily="34" charset="-122"/>
                <a:cs typeface="BIZ UDPゴシック" pitchFamily="34" charset="-120"/>
              </a:rPr>
              <a:t>発信・対話で磨く</a:t>
            </a:r>
            <a:endParaRPr lang="en-US" sz="1500" dirty="0"/>
          </a:p>
        </p:txBody>
      </p:sp>
      <p:sp>
        <p:nvSpPr>
          <p:cNvPr id="17" name="Shape 15"/>
          <p:cNvSpPr/>
          <p:nvPr/>
        </p:nvSpPr>
        <p:spPr>
          <a:xfrm>
            <a:off x="548640" y="4526280"/>
            <a:ext cx="685800" cy="685800"/>
          </a:xfrm>
          <a:prstGeom prst="ellipse">
            <a:avLst/>
          </a:prstGeom>
          <a:solidFill>
            <a:srgbClr val="F2A541"/>
          </a:solidFill>
          <a:ln w="12700">
            <a:solidFill>
              <a:srgbClr val="F2A541"/>
            </a:solidFill>
            <a:prstDash val="solid"/>
          </a:ln>
        </p:spPr>
      </p:sp>
      <p:pic>
        <p:nvPicPr>
          <p:cNvPr id="18" name="Image 0" descr="preencoded.png">    </p:cNvPr>
          <p:cNvPicPr>
            <a:picLocks noChangeAspect="1"/>
          </p:cNvPicPr>
          <p:nvPr/>
        </p:nvPicPr>
        <p:blipFill>
          <a:blip r:embed="rId1"/>
          <a:stretch>
            <a:fillRect/>
          </a:stretch>
        </p:blipFill>
        <p:spPr>
          <a:xfrm>
            <a:off x="713232" y="4690872"/>
            <a:ext cx="356616" cy="356616"/>
          </a:xfrm>
          <a:prstGeom prst="rect">
            <a:avLst/>
          </a:prstGeom>
        </p:spPr>
      </p:pic>
      <p:sp>
        <p:nvSpPr>
          <p:cNvPr id="19" name="Text 16"/>
          <p:cNvSpPr txBox="1"/>
          <p:nvPr/>
        </p:nvSpPr>
        <p:spPr>
          <a:xfrm>
            <a:off x="1371600" y="4480560"/>
            <a:ext cx="2834640" cy="36576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時間を生み出す</a:t>
            </a:r>
            <a:endParaRPr lang="en-US" sz="1600" dirty="0"/>
          </a:p>
        </p:txBody>
      </p:sp>
      <p:sp>
        <p:nvSpPr>
          <p:cNvPr id="20" name="Text 17"/>
          <p:cNvSpPr txBox="1"/>
          <p:nvPr/>
        </p:nvSpPr>
        <p:spPr>
          <a:xfrm>
            <a:off x="1371600" y="4846320"/>
            <a:ext cx="2834640" cy="10972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調整授業時数・裁量的な時間の活用を、今から学校で構想</a:t>
            </a:r>
            <a:endParaRPr lang="en-US" sz="1400" dirty="0"/>
          </a:p>
        </p:txBody>
      </p:sp>
      <p:sp>
        <p:nvSpPr>
          <p:cNvPr id="21" name="Shape 18"/>
          <p:cNvSpPr/>
          <p:nvPr/>
        </p:nvSpPr>
        <p:spPr>
          <a:xfrm>
            <a:off x="4343400" y="4526280"/>
            <a:ext cx="685800" cy="685800"/>
          </a:xfrm>
          <a:prstGeom prst="ellipse">
            <a:avLst/>
          </a:prstGeom>
          <a:solidFill>
            <a:srgbClr val="F2A541"/>
          </a:solidFill>
          <a:ln w="12700">
            <a:solidFill>
              <a:srgbClr val="F2A541"/>
            </a:solidFill>
            <a:prstDash val="solid"/>
          </a:ln>
        </p:spPr>
      </p:sp>
      <p:pic>
        <p:nvPicPr>
          <p:cNvPr id="22" name="Image 1" descr="preencoded.png">    </p:cNvPr>
          <p:cNvPicPr>
            <a:picLocks noChangeAspect="1"/>
          </p:cNvPicPr>
          <p:nvPr/>
        </p:nvPicPr>
        <p:blipFill>
          <a:blip r:embed="rId2"/>
          <a:stretch>
            <a:fillRect/>
          </a:stretch>
        </p:blipFill>
        <p:spPr>
          <a:xfrm>
            <a:off x="4507992" y="4690872"/>
            <a:ext cx="356616" cy="356616"/>
          </a:xfrm>
          <a:prstGeom prst="rect">
            <a:avLst/>
          </a:prstGeom>
        </p:spPr>
      </p:pic>
      <p:sp>
        <p:nvSpPr>
          <p:cNvPr id="23" name="Text 19"/>
          <p:cNvSpPr txBox="1"/>
          <p:nvPr/>
        </p:nvSpPr>
        <p:spPr>
          <a:xfrm>
            <a:off x="5166360" y="4480560"/>
            <a:ext cx="2834640" cy="36576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学びを残す</a:t>
            </a:r>
            <a:endParaRPr lang="en-US" sz="1600" dirty="0"/>
          </a:p>
        </p:txBody>
      </p:sp>
      <p:sp>
        <p:nvSpPr>
          <p:cNvPr id="24" name="Text 20"/>
          <p:cNvSpPr txBox="1"/>
          <p:nvPr/>
        </p:nvSpPr>
        <p:spPr>
          <a:xfrm>
            <a:off x="5166360" y="4846320"/>
            <a:ext cx="2834640" cy="10972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端末のポートフォリオで、学年を越えて問いの履歴をつなぐ</a:t>
            </a:r>
            <a:endParaRPr lang="en-US" sz="1400" dirty="0"/>
          </a:p>
        </p:txBody>
      </p:sp>
      <p:sp>
        <p:nvSpPr>
          <p:cNvPr id="25" name="Shape 21"/>
          <p:cNvSpPr/>
          <p:nvPr/>
        </p:nvSpPr>
        <p:spPr>
          <a:xfrm>
            <a:off x="8138160" y="4526280"/>
            <a:ext cx="685800" cy="685800"/>
          </a:xfrm>
          <a:prstGeom prst="ellipse">
            <a:avLst/>
          </a:prstGeom>
          <a:solidFill>
            <a:srgbClr val="F2A541"/>
          </a:solidFill>
          <a:ln w="12700">
            <a:solidFill>
              <a:srgbClr val="F2A541"/>
            </a:solidFill>
            <a:prstDash val="solid"/>
          </a:ln>
        </p:spPr>
      </p:sp>
      <p:pic>
        <p:nvPicPr>
          <p:cNvPr id="26" name="Image 2" descr="preencoded.png">    </p:cNvPr>
          <p:cNvPicPr>
            <a:picLocks noChangeAspect="1"/>
          </p:cNvPicPr>
          <p:nvPr/>
        </p:nvPicPr>
        <p:blipFill>
          <a:blip r:embed="rId3"/>
          <a:stretch>
            <a:fillRect/>
          </a:stretch>
        </p:blipFill>
        <p:spPr>
          <a:xfrm>
            <a:off x="8302752" y="4690872"/>
            <a:ext cx="356616" cy="356616"/>
          </a:xfrm>
          <a:prstGeom prst="rect">
            <a:avLst/>
          </a:prstGeom>
        </p:spPr>
      </p:pic>
      <p:sp>
        <p:nvSpPr>
          <p:cNvPr id="27" name="Text 22"/>
          <p:cNvSpPr txBox="1"/>
          <p:nvPr/>
        </p:nvSpPr>
        <p:spPr>
          <a:xfrm>
            <a:off x="8961120" y="4480560"/>
            <a:ext cx="2834640" cy="36576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対話で評価する</a:t>
            </a:r>
            <a:endParaRPr lang="en-US" sz="1600" dirty="0"/>
          </a:p>
        </p:txBody>
      </p:sp>
      <p:sp>
        <p:nvSpPr>
          <p:cNvPr id="28" name="Text 23"/>
          <p:cNvSpPr txBox="1"/>
          <p:nvPr/>
        </p:nvSpPr>
        <p:spPr>
          <a:xfrm>
            <a:off x="8961120" y="4846320"/>
            <a:ext cx="2834640" cy="109728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発表会・カンファレンスで、成長を本人と確かめる</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キャリア教育 ―「何になるか」から「どう生きるか」へ</a:t>
            </a:r>
            <a:endParaRPr lang="en-US" sz="3200" dirty="0"/>
          </a:p>
        </p:txBody>
      </p:sp>
      <p:sp>
        <p:nvSpPr>
          <p:cNvPr id="3" name="Shape 1"/>
          <p:cNvSpPr/>
          <p:nvPr/>
        </p:nvSpPr>
        <p:spPr>
          <a:xfrm>
            <a:off x="548640" y="1417320"/>
            <a:ext cx="5486400" cy="1234440"/>
          </a:xfrm>
          <a:prstGeom prst="roundRect">
            <a:avLst>
              <a:gd name="adj" fmla="val 8889"/>
            </a:avLst>
          </a:prstGeom>
          <a:solidFill>
            <a:srgbClr val="1F2A44"/>
          </a:solidFill>
          <a:ln w="12700">
            <a:solidFill>
              <a:srgbClr val="1F2A44"/>
            </a:solidFill>
            <a:prstDash val="solid"/>
          </a:ln>
        </p:spPr>
      </p:sp>
      <p:sp>
        <p:nvSpPr>
          <p:cNvPr id="4" name="Text 2"/>
          <p:cNvSpPr txBox="1"/>
          <p:nvPr/>
        </p:nvSpPr>
        <p:spPr>
          <a:xfrm>
            <a:off x="822960" y="1463040"/>
            <a:ext cx="5029200" cy="1143000"/>
          </a:xfrm>
          <a:prstGeom prst="rect">
            <a:avLst/>
          </a:prstGeom>
          <a:noFill/>
          <a:ln/>
        </p:spPr>
        <p:txBody>
          <a:bodyPr wrap="square" lIns="0" tIns="0" rIns="0" bIns="0" rtlCol="0" anchor="ctr"/>
          <a:lstStyle/>
          <a:p>
            <a:pPr indent="0" marL="0">
              <a:buNone/>
            </a:pPr>
            <a:r>
              <a:rPr lang="en-US" sz="1500" dirty="0">
                <a:solidFill>
                  <a:srgbClr val="FFFFFF"/>
                </a:solidFill>
                <a:latin typeface="BIZ UDPゴシック" pitchFamily="34" charset="0"/>
                <a:ea typeface="BIZ UDPゴシック" pitchFamily="34" charset="-122"/>
                <a:cs typeface="BIZ UDPゴシック" pitchFamily="34" charset="-120"/>
              </a:rPr>
              <a:t>一人一人の社会的・職業的自立に向け、必要な基盤となる能力や態度を育てることを通して、キャリア発達を促す教育</a:t>
            </a:r>
            <a:endParaRPr lang="en-US" sz="1500" dirty="0"/>
          </a:p>
        </p:txBody>
      </p:sp>
      <p:sp>
        <p:nvSpPr>
          <p:cNvPr id="5" name="Text 3"/>
          <p:cNvSpPr txBox="1"/>
          <p:nvPr/>
        </p:nvSpPr>
        <p:spPr>
          <a:xfrm>
            <a:off x="548640" y="2697480"/>
            <a:ext cx="5486400" cy="274320"/>
          </a:xfrm>
          <a:prstGeom prst="rect">
            <a:avLst/>
          </a:prstGeom>
          <a:noFill/>
          <a:ln/>
        </p:spPr>
        <p:txBody>
          <a:bodyPr wrap="square" lIns="0" tIns="0" rIns="0" bIns="0" rtlCol="0" anchor="t"/>
          <a:lstStyle/>
          <a:p>
            <a:pPr indent="0" marL="0">
              <a:buNone/>
            </a:pPr>
            <a:r>
              <a:rPr lang="en-US" sz="1100" dirty="0">
                <a:solidFill>
                  <a:srgbClr val="5B6472"/>
                </a:solidFill>
                <a:latin typeface="BIZ UDPゴシック" pitchFamily="34" charset="0"/>
                <a:ea typeface="BIZ UDPゴシック" pitchFamily="34" charset="-122"/>
                <a:cs typeface="BIZ UDPゴシック" pitchFamily="34" charset="-120"/>
              </a:rPr>
              <a:t>（中央教育審議会答申 2011年）</a:t>
            </a:r>
            <a:endParaRPr lang="en-US" sz="1100" dirty="0"/>
          </a:p>
        </p:txBody>
      </p:sp>
      <p:sp>
        <p:nvSpPr>
          <p:cNvPr id="6" name="Text 4"/>
          <p:cNvSpPr txBox="1"/>
          <p:nvPr/>
        </p:nvSpPr>
        <p:spPr>
          <a:xfrm>
            <a:off x="548640" y="3063240"/>
            <a:ext cx="5486400" cy="41148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基礎的・汎用的能力</a:t>
            </a:r>
            <a:endParaRPr lang="en-US" sz="1800" dirty="0"/>
          </a:p>
        </p:txBody>
      </p:sp>
      <p:sp>
        <p:nvSpPr>
          <p:cNvPr id="7" name="Shape 5"/>
          <p:cNvSpPr/>
          <p:nvPr/>
        </p:nvSpPr>
        <p:spPr>
          <a:xfrm>
            <a:off x="548640" y="3566160"/>
            <a:ext cx="2651760" cy="1097280"/>
          </a:xfrm>
          <a:prstGeom prst="roundRect">
            <a:avLst>
              <a:gd name="adj" fmla="val 10000"/>
            </a:avLst>
          </a:prstGeom>
          <a:solidFill>
            <a:srgbClr val="EEF4F1"/>
          </a:solidFill>
          <a:ln w="12700">
            <a:solidFill>
              <a:srgbClr val="EEF4F1"/>
            </a:solidFill>
            <a:prstDash val="solid"/>
          </a:ln>
        </p:spPr>
      </p:sp>
      <p:sp>
        <p:nvSpPr>
          <p:cNvPr id="8" name="Text 6"/>
          <p:cNvSpPr txBox="1"/>
          <p:nvPr/>
        </p:nvSpPr>
        <p:spPr>
          <a:xfrm>
            <a:off x="640080" y="3566160"/>
            <a:ext cx="2468880" cy="1097280"/>
          </a:xfrm>
          <a:prstGeom prst="rect">
            <a:avLst/>
          </a:prstGeom>
          <a:noFill/>
          <a:ln/>
        </p:spPr>
        <p:txBody>
          <a:bodyPr wrap="square" lIns="0" tIns="0" rIns="0" bIns="0" rtlCol="0" anchor="ctr"/>
          <a:lstStyle/>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人間関係形成・</a:t>
            </a:r>
            <a:endParaRPr lang="en-US" sz="1500" dirty="0"/>
          </a:p>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社会形成能力</a:t>
            </a:r>
            <a:endParaRPr lang="en-US" sz="1500" dirty="0"/>
          </a:p>
        </p:txBody>
      </p:sp>
      <p:sp>
        <p:nvSpPr>
          <p:cNvPr id="9" name="Shape 7"/>
          <p:cNvSpPr/>
          <p:nvPr/>
        </p:nvSpPr>
        <p:spPr>
          <a:xfrm>
            <a:off x="3337560" y="3566160"/>
            <a:ext cx="2651760" cy="1097280"/>
          </a:xfrm>
          <a:prstGeom prst="roundRect">
            <a:avLst>
              <a:gd name="adj" fmla="val 10000"/>
            </a:avLst>
          </a:prstGeom>
          <a:solidFill>
            <a:srgbClr val="EEF4F1"/>
          </a:solidFill>
          <a:ln w="12700">
            <a:solidFill>
              <a:srgbClr val="EEF4F1"/>
            </a:solidFill>
            <a:prstDash val="solid"/>
          </a:ln>
        </p:spPr>
      </p:sp>
      <p:sp>
        <p:nvSpPr>
          <p:cNvPr id="10" name="Text 8"/>
          <p:cNvSpPr txBox="1"/>
          <p:nvPr/>
        </p:nvSpPr>
        <p:spPr>
          <a:xfrm>
            <a:off x="3429000" y="3566160"/>
            <a:ext cx="2468880" cy="1097280"/>
          </a:xfrm>
          <a:prstGeom prst="rect">
            <a:avLst/>
          </a:prstGeom>
          <a:noFill/>
          <a:ln/>
        </p:spPr>
        <p:txBody>
          <a:bodyPr wrap="square" lIns="0" tIns="0" rIns="0" bIns="0" rtlCol="0" anchor="ctr"/>
          <a:lstStyle/>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自己理解・</a:t>
            </a:r>
            <a:endParaRPr lang="en-US" sz="1500" dirty="0"/>
          </a:p>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自己管理能力</a:t>
            </a:r>
            <a:endParaRPr lang="en-US" sz="1500" dirty="0"/>
          </a:p>
        </p:txBody>
      </p:sp>
      <p:sp>
        <p:nvSpPr>
          <p:cNvPr id="11" name="Shape 9"/>
          <p:cNvSpPr/>
          <p:nvPr/>
        </p:nvSpPr>
        <p:spPr>
          <a:xfrm>
            <a:off x="548640" y="4800600"/>
            <a:ext cx="2651760" cy="1097280"/>
          </a:xfrm>
          <a:prstGeom prst="roundRect">
            <a:avLst>
              <a:gd name="adj" fmla="val 10000"/>
            </a:avLst>
          </a:prstGeom>
          <a:solidFill>
            <a:srgbClr val="EEF4F1"/>
          </a:solidFill>
          <a:ln w="12700">
            <a:solidFill>
              <a:srgbClr val="EEF4F1"/>
            </a:solidFill>
            <a:prstDash val="solid"/>
          </a:ln>
        </p:spPr>
      </p:sp>
      <p:sp>
        <p:nvSpPr>
          <p:cNvPr id="12" name="Text 10"/>
          <p:cNvSpPr txBox="1"/>
          <p:nvPr/>
        </p:nvSpPr>
        <p:spPr>
          <a:xfrm>
            <a:off x="640080" y="4800600"/>
            <a:ext cx="2468880" cy="1097280"/>
          </a:xfrm>
          <a:prstGeom prst="rect">
            <a:avLst/>
          </a:prstGeom>
          <a:noFill/>
          <a:ln/>
        </p:spPr>
        <p:txBody>
          <a:bodyPr wrap="square" lIns="0" tIns="0" rIns="0" bIns="0" rtlCol="0" anchor="ctr"/>
          <a:lstStyle/>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課題対応能力</a:t>
            </a:r>
            <a:endParaRPr lang="en-US" sz="1500" dirty="0"/>
          </a:p>
        </p:txBody>
      </p:sp>
      <p:sp>
        <p:nvSpPr>
          <p:cNvPr id="13" name="Shape 11"/>
          <p:cNvSpPr/>
          <p:nvPr/>
        </p:nvSpPr>
        <p:spPr>
          <a:xfrm>
            <a:off x="3337560" y="4800600"/>
            <a:ext cx="2651760" cy="1097280"/>
          </a:xfrm>
          <a:prstGeom prst="roundRect">
            <a:avLst>
              <a:gd name="adj" fmla="val 10000"/>
            </a:avLst>
          </a:prstGeom>
          <a:solidFill>
            <a:srgbClr val="EEF4F1"/>
          </a:solidFill>
          <a:ln w="12700">
            <a:solidFill>
              <a:srgbClr val="EEF4F1"/>
            </a:solidFill>
            <a:prstDash val="solid"/>
          </a:ln>
        </p:spPr>
      </p:sp>
      <p:sp>
        <p:nvSpPr>
          <p:cNvPr id="14" name="Text 12"/>
          <p:cNvSpPr txBox="1"/>
          <p:nvPr/>
        </p:nvSpPr>
        <p:spPr>
          <a:xfrm>
            <a:off x="3429000" y="4800600"/>
            <a:ext cx="2468880" cy="1097280"/>
          </a:xfrm>
          <a:prstGeom prst="rect">
            <a:avLst/>
          </a:prstGeom>
          <a:noFill/>
          <a:ln/>
        </p:spPr>
        <p:txBody>
          <a:bodyPr wrap="square" lIns="0" tIns="0" rIns="0" bIns="0" rtlCol="0" anchor="ctr"/>
          <a:lstStyle/>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キャリア</a:t>
            </a:r>
            <a:endParaRPr lang="en-US" sz="1500" dirty="0"/>
          </a:p>
          <a:p>
            <a:pPr algn="ctr" indent="0" marL="0">
              <a:buNone/>
            </a:pPr>
            <a:r>
              <a:rPr lang="en-US" sz="1500" b="1" dirty="0">
                <a:solidFill>
                  <a:srgbClr val="3E8E63"/>
                </a:solidFill>
                <a:latin typeface="BIZ UDPゴシック" pitchFamily="34" charset="0"/>
                <a:ea typeface="BIZ UDPゴシック" pitchFamily="34" charset="-122"/>
                <a:cs typeface="BIZ UDPゴシック" pitchFamily="34" charset="-120"/>
              </a:rPr>
              <a:t>プランニング能力</a:t>
            </a:r>
            <a:endParaRPr lang="en-US" sz="1500" dirty="0"/>
          </a:p>
        </p:txBody>
      </p:sp>
      <p:sp>
        <p:nvSpPr>
          <p:cNvPr id="15" name="Shape 13"/>
          <p:cNvSpPr/>
          <p:nvPr/>
        </p:nvSpPr>
        <p:spPr>
          <a:xfrm>
            <a:off x="6355080" y="1417320"/>
            <a:ext cx="5285232" cy="4663440"/>
          </a:xfrm>
          <a:prstGeom prst="roundRect">
            <a:avLst>
              <a:gd name="adj" fmla="val 2353"/>
            </a:avLst>
          </a:prstGeom>
          <a:solidFill>
            <a:srgbClr val="FDF3E3"/>
          </a:solidFill>
          <a:ln w="12700">
            <a:solidFill>
              <a:srgbClr val="FDF3E3"/>
            </a:solidFill>
            <a:prstDash val="solid"/>
          </a:ln>
        </p:spPr>
      </p:sp>
      <p:sp>
        <p:nvSpPr>
          <p:cNvPr id="16" name="Text 14"/>
          <p:cNvSpPr txBox="1"/>
          <p:nvPr/>
        </p:nvSpPr>
        <p:spPr>
          <a:xfrm>
            <a:off x="6629400" y="1600200"/>
            <a:ext cx="4754880" cy="411480"/>
          </a:xfrm>
          <a:prstGeom prst="rect">
            <a:avLst/>
          </a:prstGeom>
          <a:noFill/>
          <a:ln/>
        </p:spPr>
        <p:txBody>
          <a:bodyPr wrap="square" lIns="0" tIns="0" rIns="0" bIns="0" rtlCol="0" anchor="t"/>
          <a:lstStyle/>
          <a:p>
            <a:pPr indent="0" marL="0">
              <a:buNone/>
            </a:pPr>
            <a:r>
              <a:rPr lang="en-US" sz="1800" b="1" dirty="0">
                <a:solidFill>
                  <a:srgbClr val="D9644A"/>
                </a:solidFill>
                <a:latin typeface="BIZ UDPゴシック" pitchFamily="34" charset="0"/>
                <a:ea typeface="BIZ UDPゴシック" pitchFamily="34" charset="-122"/>
                <a:cs typeface="BIZ UDPゴシック" pitchFamily="34" charset="-120"/>
              </a:rPr>
              <a:t>10年後を見据えた転換</a:t>
            </a:r>
            <a:endParaRPr lang="en-US" sz="1800" dirty="0"/>
          </a:p>
        </p:txBody>
      </p:sp>
      <p:sp>
        <p:nvSpPr>
          <p:cNvPr id="17" name="Text 15"/>
          <p:cNvSpPr txBox="1"/>
          <p:nvPr/>
        </p:nvSpPr>
        <p:spPr>
          <a:xfrm>
            <a:off x="6629400" y="2148840"/>
            <a:ext cx="4800600" cy="411480"/>
          </a:xfrm>
          <a:prstGeom prst="rect">
            <a:avLst/>
          </a:prstGeom>
          <a:noFill/>
          <a:ln/>
        </p:spPr>
        <p:txBody>
          <a:bodyPr wrap="square" lIns="0" tIns="0" rIns="0" bIns="0" rtlCol="0" anchor="t"/>
          <a:lstStyle/>
          <a:p>
            <a:pPr indent="0" marL="0">
              <a:buNone/>
            </a:pPr>
            <a:r>
              <a:rPr lang="en-US" sz="1500" dirty="0">
                <a:solidFill>
                  <a:srgbClr val="5B6472"/>
                </a:solidFill>
                <a:latin typeface="BIZ UDPゴシック" pitchFamily="34" charset="0"/>
                <a:ea typeface="BIZ UDPゴシック" pitchFamily="34" charset="-122"/>
                <a:cs typeface="BIZ UDPゴシック" pitchFamily="34" charset="-120"/>
              </a:rPr>
              <a:t>職業調べ・職場体験で終わる</a:t>
            </a:r>
            <a:endParaRPr lang="en-US" sz="1500" dirty="0"/>
          </a:p>
        </p:txBody>
      </p:sp>
      <p:sp>
        <p:nvSpPr>
          <p:cNvPr id="18" name="Text 16"/>
          <p:cNvSpPr txBox="1"/>
          <p:nvPr/>
        </p:nvSpPr>
        <p:spPr>
          <a:xfrm>
            <a:off x="6629400" y="2560320"/>
            <a:ext cx="484632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 探究・日々の学びと自分の生き方をつなぐ</a:t>
            </a:r>
            <a:endParaRPr lang="en-US" sz="1600" dirty="0"/>
          </a:p>
        </p:txBody>
      </p:sp>
      <p:sp>
        <p:nvSpPr>
          <p:cNvPr id="19" name="Text 17"/>
          <p:cNvSpPr txBox="1"/>
          <p:nvPr/>
        </p:nvSpPr>
        <p:spPr>
          <a:xfrm>
            <a:off x="6629400" y="3383280"/>
            <a:ext cx="4800600" cy="411480"/>
          </a:xfrm>
          <a:prstGeom prst="rect">
            <a:avLst/>
          </a:prstGeom>
          <a:noFill/>
          <a:ln/>
        </p:spPr>
        <p:txBody>
          <a:bodyPr wrap="square" lIns="0" tIns="0" rIns="0" bIns="0" rtlCol="0" anchor="t"/>
          <a:lstStyle/>
          <a:p>
            <a:pPr indent="0" marL="0">
              <a:buNone/>
            </a:pPr>
            <a:r>
              <a:rPr lang="en-US" sz="1500" dirty="0">
                <a:solidFill>
                  <a:srgbClr val="5B6472"/>
                </a:solidFill>
                <a:latin typeface="BIZ UDPゴシック" pitchFamily="34" charset="0"/>
                <a:ea typeface="BIZ UDPゴシック" pitchFamily="34" charset="-122"/>
                <a:cs typeface="BIZ UDPゴシック" pitchFamily="34" charset="-120"/>
              </a:rPr>
              <a:t>キャリア・パスポートを「書かせて終わり」</a:t>
            </a:r>
            <a:endParaRPr lang="en-US" sz="1500" dirty="0"/>
          </a:p>
        </p:txBody>
      </p:sp>
      <p:sp>
        <p:nvSpPr>
          <p:cNvPr id="20" name="Text 18"/>
          <p:cNvSpPr txBox="1"/>
          <p:nvPr/>
        </p:nvSpPr>
        <p:spPr>
          <a:xfrm>
            <a:off x="6629400" y="3794760"/>
            <a:ext cx="484632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 教師・保護者・仲間との対話の材料に</a:t>
            </a:r>
            <a:endParaRPr lang="en-US" sz="1600" dirty="0"/>
          </a:p>
        </p:txBody>
      </p:sp>
      <p:sp>
        <p:nvSpPr>
          <p:cNvPr id="21" name="Text 19"/>
          <p:cNvSpPr txBox="1"/>
          <p:nvPr/>
        </p:nvSpPr>
        <p:spPr>
          <a:xfrm>
            <a:off x="6629400" y="4617720"/>
            <a:ext cx="4800600" cy="411480"/>
          </a:xfrm>
          <a:prstGeom prst="rect">
            <a:avLst/>
          </a:prstGeom>
          <a:noFill/>
          <a:ln/>
        </p:spPr>
        <p:txBody>
          <a:bodyPr wrap="square" lIns="0" tIns="0" rIns="0" bIns="0" rtlCol="0" anchor="t"/>
          <a:lstStyle/>
          <a:p>
            <a:pPr indent="0" marL="0">
              <a:buNone/>
            </a:pPr>
            <a:r>
              <a:rPr lang="en-US" sz="1500" dirty="0">
                <a:solidFill>
                  <a:srgbClr val="5B6472"/>
                </a:solidFill>
                <a:latin typeface="BIZ UDPゴシック" pitchFamily="34" charset="0"/>
                <a:ea typeface="BIZ UDPゴシック" pitchFamily="34" charset="-122"/>
                <a:cs typeface="BIZ UDPゴシック" pitchFamily="34" charset="-120"/>
              </a:rPr>
              <a:t>「将来の夢」を一つ決める</a:t>
            </a:r>
            <a:endParaRPr lang="en-US" sz="1500" dirty="0"/>
          </a:p>
        </p:txBody>
      </p:sp>
      <p:sp>
        <p:nvSpPr>
          <p:cNvPr id="22" name="Text 20"/>
          <p:cNvSpPr txBox="1"/>
          <p:nvPr/>
        </p:nvSpPr>
        <p:spPr>
          <a:xfrm>
            <a:off x="6629400" y="5029200"/>
            <a:ext cx="4846320" cy="685800"/>
          </a:xfrm>
          <a:prstGeom prst="rect">
            <a:avLst/>
          </a:prstGeom>
          <a:noFill/>
          <a:ln/>
        </p:spPr>
        <p:txBody>
          <a:bodyPr wrap="square" lIns="0" tIns="0" rIns="0" bIns="0" rtlCol="0" anchor="t"/>
          <a:lstStyle/>
          <a:p>
            <a:pPr indent="0" marL="0">
              <a:buNone/>
            </a:pPr>
            <a:r>
              <a:rPr lang="en-US" sz="1600" b="1" dirty="0">
                <a:solidFill>
                  <a:srgbClr val="1F2A44"/>
                </a:solidFill>
                <a:latin typeface="BIZ UDPゴシック" pitchFamily="34" charset="0"/>
                <a:ea typeface="BIZ UDPゴシック" pitchFamily="34" charset="-122"/>
                <a:cs typeface="BIZ UDPゴシック" pitchFamily="34" charset="-120"/>
              </a:rPr>
              <a:t>→ 変化の中で学び直し、選び直す力を育む</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3つは一本の線でつながっている</a:t>
            </a:r>
            <a:endParaRPr lang="en-US" sz="3200" dirty="0"/>
          </a:p>
        </p:txBody>
      </p:sp>
      <p:sp>
        <p:nvSpPr>
          <p:cNvPr id="3" name="Shape 1"/>
          <p:cNvSpPr/>
          <p:nvPr/>
        </p:nvSpPr>
        <p:spPr>
          <a:xfrm>
            <a:off x="1920240" y="1600200"/>
            <a:ext cx="2651760" cy="2651760"/>
          </a:xfrm>
          <a:prstGeom prst="ellipse">
            <a:avLst/>
          </a:prstGeom>
          <a:solidFill>
            <a:srgbClr val="1F2A44">
              <a:alpha val="85000"/>
            </a:srgbClr>
          </a:solidFill>
          <a:ln w="25400">
            <a:solidFill>
              <a:srgbClr val="FFFFFF"/>
            </a:solidFill>
            <a:prstDash val="solid"/>
          </a:ln>
        </p:spPr>
      </p:sp>
      <p:sp>
        <p:nvSpPr>
          <p:cNvPr id="4" name="Shape 2"/>
          <p:cNvSpPr/>
          <p:nvPr/>
        </p:nvSpPr>
        <p:spPr>
          <a:xfrm>
            <a:off x="4572000" y="1600200"/>
            <a:ext cx="2651760" cy="2651760"/>
          </a:xfrm>
          <a:prstGeom prst="ellipse">
            <a:avLst/>
          </a:prstGeom>
          <a:solidFill>
            <a:srgbClr val="3E8E63">
              <a:alpha val="85000"/>
            </a:srgbClr>
          </a:solidFill>
          <a:ln w="25400">
            <a:solidFill>
              <a:srgbClr val="FFFFFF"/>
            </a:solidFill>
            <a:prstDash val="solid"/>
          </a:ln>
        </p:spPr>
      </p:sp>
      <p:sp>
        <p:nvSpPr>
          <p:cNvPr id="5" name="Shape 3"/>
          <p:cNvSpPr/>
          <p:nvPr/>
        </p:nvSpPr>
        <p:spPr>
          <a:xfrm>
            <a:off x="3246120" y="3611880"/>
            <a:ext cx="2651760" cy="2651760"/>
          </a:xfrm>
          <a:prstGeom prst="ellipse">
            <a:avLst/>
          </a:prstGeom>
          <a:solidFill>
            <a:srgbClr val="D9644A">
              <a:alpha val="85000"/>
            </a:srgbClr>
          </a:solidFill>
          <a:ln w="25400">
            <a:solidFill>
              <a:srgbClr val="FFFFFF"/>
            </a:solidFill>
            <a:prstDash val="solid"/>
          </a:ln>
        </p:spPr>
      </p:sp>
      <p:sp>
        <p:nvSpPr>
          <p:cNvPr id="6" name="Text 4"/>
          <p:cNvSpPr txBox="1"/>
          <p:nvPr/>
        </p:nvSpPr>
        <p:spPr>
          <a:xfrm>
            <a:off x="2011680" y="2148840"/>
            <a:ext cx="19202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自由進度学習</a:t>
            </a:r>
            <a:endParaRPr lang="en-US" sz="1600" dirty="0"/>
          </a:p>
        </p:txBody>
      </p:sp>
      <p:sp>
        <p:nvSpPr>
          <p:cNvPr id="7" name="Text 5"/>
          <p:cNvSpPr txBox="1"/>
          <p:nvPr/>
        </p:nvSpPr>
        <p:spPr>
          <a:xfrm>
            <a:off x="2011680" y="2560320"/>
            <a:ext cx="1920240" cy="731520"/>
          </a:xfrm>
          <a:prstGeom prst="rect">
            <a:avLst/>
          </a:prstGeom>
          <a:noFill/>
          <a:ln/>
        </p:spPr>
        <p:txBody>
          <a:bodyPr wrap="square" lIns="0" tIns="0" rIns="0" bIns="0" rtlCol="0" anchor="t"/>
          <a:lstStyle/>
          <a:p>
            <a:pPr algn="ctr" indent="0" marL="0">
              <a:buNone/>
            </a:pPr>
            <a:r>
              <a:rPr lang="en-US" sz="1400" dirty="0">
                <a:solidFill>
                  <a:srgbClr val="FFFFFF"/>
                </a:solidFill>
                <a:latin typeface="BIZ UDPゴシック" pitchFamily="34" charset="0"/>
                <a:ea typeface="BIZ UDPゴシック" pitchFamily="34" charset="-122"/>
                <a:cs typeface="BIZ UDPゴシック" pitchFamily="34" charset="-120"/>
              </a:rPr>
              <a:t>学び方を</a:t>
            </a:r>
            <a:endParaRPr lang="en-US" sz="1400" dirty="0"/>
          </a:p>
          <a:p>
            <a:pPr algn="ctr" indent="0" marL="0">
              <a:buNone/>
            </a:pPr>
            <a:r>
              <a:rPr lang="en-US" sz="1400" dirty="0">
                <a:solidFill>
                  <a:srgbClr val="FFFFFF"/>
                </a:solidFill>
                <a:latin typeface="BIZ UDPゴシック" pitchFamily="34" charset="0"/>
                <a:ea typeface="BIZ UDPゴシック" pitchFamily="34" charset="-122"/>
                <a:cs typeface="BIZ UDPゴシック" pitchFamily="34" charset="-120"/>
              </a:rPr>
              <a:t>自分で選ぶ</a:t>
            </a:r>
            <a:endParaRPr lang="en-US" sz="1400" dirty="0"/>
          </a:p>
        </p:txBody>
      </p:sp>
      <p:sp>
        <p:nvSpPr>
          <p:cNvPr id="8" name="Text 6"/>
          <p:cNvSpPr txBox="1"/>
          <p:nvPr/>
        </p:nvSpPr>
        <p:spPr>
          <a:xfrm>
            <a:off x="5303520" y="2148840"/>
            <a:ext cx="182880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マイ探究</a:t>
            </a:r>
            <a:endParaRPr lang="en-US" sz="1600" dirty="0"/>
          </a:p>
        </p:txBody>
      </p:sp>
      <p:sp>
        <p:nvSpPr>
          <p:cNvPr id="9" name="Text 7"/>
          <p:cNvSpPr txBox="1"/>
          <p:nvPr/>
        </p:nvSpPr>
        <p:spPr>
          <a:xfrm>
            <a:off x="5303520" y="2560320"/>
            <a:ext cx="1828800" cy="731520"/>
          </a:xfrm>
          <a:prstGeom prst="rect">
            <a:avLst/>
          </a:prstGeom>
          <a:noFill/>
          <a:ln/>
        </p:spPr>
        <p:txBody>
          <a:bodyPr wrap="square" lIns="0" tIns="0" rIns="0" bIns="0" rtlCol="0" anchor="t"/>
          <a:lstStyle/>
          <a:p>
            <a:pPr algn="ctr" indent="0" marL="0">
              <a:buNone/>
            </a:pPr>
            <a:r>
              <a:rPr lang="en-US" sz="1400" dirty="0">
                <a:solidFill>
                  <a:srgbClr val="FFFFFF"/>
                </a:solidFill>
                <a:latin typeface="BIZ UDPゴシック" pitchFamily="34" charset="0"/>
                <a:ea typeface="BIZ UDPゴシック" pitchFamily="34" charset="-122"/>
                <a:cs typeface="BIZ UDPゴシック" pitchFamily="34" charset="-120"/>
              </a:rPr>
              <a:t>問いを</a:t>
            </a:r>
            <a:endParaRPr lang="en-US" sz="1400" dirty="0"/>
          </a:p>
          <a:p>
            <a:pPr algn="ctr" indent="0" marL="0">
              <a:buNone/>
            </a:pPr>
            <a:r>
              <a:rPr lang="en-US" sz="1400" dirty="0">
                <a:solidFill>
                  <a:srgbClr val="FFFFFF"/>
                </a:solidFill>
                <a:latin typeface="BIZ UDPゴシック" pitchFamily="34" charset="0"/>
                <a:ea typeface="BIZ UDPゴシック" pitchFamily="34" charset="-122"/>
                <a:cs typeface="BIZ UDPゴシック" pitchFamily="34" charset="-120"/>
              </a:rPr>
              <a:t>自分で選ぶ</a:t>
            </a:r>
            <a:endParaRPr lang="en-US" sz="1400" dirty="0"/>
          </a:p>
        </p:txBody>
      </p:sp>
      <p:sp>
        <p:nvSpPr>
          <p:cNvPr id="10" name="Text 8"/>
          <p:cNvSpPr txBox="1"/>
          <p:nvPr/>
        </p:nvSpPr>
        <p:spPr>
          <a:xfrm>
            <a:off x="3611880" y="5074920"/>
            <a:ext cx="19202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BIZ UDPゴシック" pitchFamily="34" charset="0"/>
                <a:ea typeface="BIZ UDPゴシック" pitchFamily="34" charset="-122"/>
                <a:cs typeface="BIZ UDPゴシック" pitchFamily="34" charset="-120"/>
              </a:rPr>
              <a:t>キャリア教育</a:t>
            </a:r>
            <a:endParaRPr lang="en-US" sz="1600" dirty="0"/>
          </a:p>
        </p:txBody>
      </p:sp>
      <p:sp>
        <p:nvSpPr>
          <p:cNvPr id="11" name="Text 9"/>
          <p:cNvSpPr txBox="1"/>
          <p:nvPr/>
        </p:nvSpPr>
        <p:spPr>
          <a:xfrm>
            <a:off x="3291840" y="5440680"/>
            <a:ext cx="2560320" cy="365760"/>
          </a:xfrm>
          <a:prstGeom prst="rect">
            <a:avLst/>
          </a:prstGeom>
          <a:noFill/>
          <a:ln/>
        </p:spPr>
        <p:txBody>
          <a:bodyPr wrap="square" lIns="0" tIns="0" rIns="0" bIns="0" rtlCol="0" anchor="t"/>
          <a:lstStyle/>
          <a:p>
            <a:pPr algn="ctr" indent="0" marL="0">
              <a:buNone/>
            </a:pPr>
            <a:r>
              <a:rPr lang="en-US" sz="1400" dirty="0">
                <a:solidFill>
                  <a:srgbClr val="FFFFFF"/>
                </a:solidFill>
                <a:latin typeface="BIZ UDPゴシック" pitchFamily="34" charset="0"/>
                <a:ea typeface="BIZ UDPゴシック" pitchFamily="34" charset="-122"/>
                <a:cs typeface="BIZ UDPゴシック" pitchFamily="34" charset="-120"/>
              </a:rPr>
              <a:t>生き方を自分で選ぶ</a:t>
            </a:r>
            <a:endParaRPr lang="en-US" sz="1400" dirty="0"/>
          </a:p>
        </p:txBody>
      </p:sp>
      <p:sp>
        <p:nvSpPr>
          <p:cNvPr id="12" name="Shape 10"/>
          <p:cNvSpPr/>
          <p:nvPr/>
        </p:nvSpPr>
        <p:spPr>
          <a:xfrm>
            <a:off x="3977640" y="3017520"/>
            <a:ext cx="1188720" cy="1188720"/>
          </a:xfrm>
          <a:prstGeom prst="ellipse">
            <a:avLst/>
          </a:prstGeom>
          <a:solidFill>
            <a:srgbClr val="F2A541"/>
          </a:solidFill>
          <a:ln w="25400">
            <a:solidFill>
              <a:srgbClr val="FFFFFF"/>
            </a:solidFill>
            <a:prstDash val="solid"/>
          </a:ln>
        </p:spPr>
      </p:sp>
      <p:sp>
        <p:nvSpPr>
          <p:cNvPr id="13" name="Text 11"/>
          <p:cNvSpPr txBox="1"/>
          <p:nvPr/>
        </p:nvSpPr>
        <p:spPr>
          <a:xfrm>
            <a:off x="3977640" y="3017520"/>
            <a:ext cx="1188720" cy="1188720"/>
          </a:xfrm>
          <a:prstGeom prst="rect">
            <a:avLst/>
          </a:prstGeom>
          <a:noFill/>
          <a:ln/>
        </p:spPr>
        <p:txBody>
          <a:bodyPr wrap="square" lIns="0" tIns="0" rIns="0" bIns="0" rtlCol="0" anchor="ctr"/>
          <a:lstStyle/>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自己</a:t>
            </a:r>
            <a:endParaRPr lang="en-US" sz="1500" dirty="0"/>
          </a:p>
          <a:p>
            <a:pPr algn="ctr" indent="0" marL="0">
              <a:buNone/>
            </a:pPr>
            <a:r>
              <a:rPr lang="en-US" sz="1500" b="1" dirty="0">
                <a:solidFill>
                  <a:srgbClr val="1F2A44"/>
                </a:solidFill>
                <a:latin typeface="BIZ UDPゴシック" pitchFamily="34" charset="0"/>
                <a:ea typeface="BIZ UDPゴシック" pitchFamily="34" charset="-122"/>
                <a:cs typeface="BIZ UDPゴシック" pitchFamily="34" charset="-120"/>
              </a:rPr>
              <a:t>決定</a:t>
            </a:r>
            <a:endParaRPr lang="en-US" sz="1500" dirty="0"/>
          </a:p>
        </p:txBody>
      </p:sp>
      <p:sp>
        <p:nvSpPr>
          <p:cNvPr id="14" name="Shape 12"/>
          <p:cNvSpPr/>
          <p:nvPr/>
        </p:nvSpPr>
        <p:spPr>
          <a:xfrm>
            <a:off x="7772400" y="1600200"/>
            <a:ext cx="3867912" cy="4480560"/>
          </a:xfrm>
          <a:prstGeom prst="roundRect">
            <a:avLst>
              <a:gd name="adj" fmla="val 2837"/>
            </a:avLst>
          </a:prstGeom>
          <a:solidFill>
            <a:srgbClr val="EEF4F1"/>
          </a:solidFill>
          <a:ln w="12700">
            <a:solidFill>
              <a:srgbClr val="EEF4F1"/>
            </a:solidFill>
            <a:prstDash val="solid"/>
          </a:ln>
        </p:spPr>
      </p:sp>
      <p:sp>
        <p:nvSpPr>
          <p:cNvPr id="15" name="Text 13"/>
          <p:cNvSpPr txBox="1"/>
          <p:nvPr/>
        </p:nvSpPr>
        <p:spPr>
          <a:xfrm>
            <a:off x="8046720" y="1783080"/>
            <a:ext cx="3383280" cy="411480"/>
          </a:xfrm>
          <a:prstGeom prst="rect">
            <a:avLst/>
          </a:prstGeom>
          <a:noFill/>
          <a:ln/>
        </p:spPr>
        <p:txBody>
          <a:bodyPr wrap="square" lIns="0" tIns="0" rIns="0" bIns="0" rtlCol="0" anchor="t"/>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共通する土台</a:t>
            </a:r>
            <a:endParaRPr lang="en-US" sz="1800" dirty="0"/>
          </a:p>
        </p:txBody>
      </p:sp>
      <p:sp>
        <p:nvSpPr>
          <p:cNvPr id="16" name="Text 14"/>
          <p:cNvSpPr txBox="1"/>
          <p:nvPr/>
        </p:nvSpPr>
        <p:spPr>
          <a:xfrm>
            <a:off x="8046720" y="2286000"/>
            <a:ext cx="342900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自己決定：自分で選び、決める経験</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自己調整：振り返り、やり方を変える</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協働：他者と学び合い、頼り合う</a:t>
            </a:r>
            <a:endParaRPr lang="en-US" sz="1500" dirty="0"/>
          </a:p>
          <a:p>
            <a:pPr marL="342900" indent="-342900">
              <a:spcAft>
                <a:spcPts val="10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記録：学びの履歴を自分の物語に</a:t>
            </a:r>
            <a:endParaRPr lang="en-US" sz="1500" dirty="0"/>
          </a:p>
        </p:txBody>
      </p:sp>
      <p:sp>
        <p:nvSpPr>
          <p:cNvPr id="17" name="Text 15"/>
          <p:cNvSpPr txBox="1"/>
          <p:nvPr/>
        </p:nvSpPr>
        <p:spPr>
          <a:xfrm>
            <a:off x="8046720" y="4846320"/>
            <a:ext cx="3474720" cy="1005840"/>
          </a:xfrm>
          <a:prstGeom prst="rect">
            <a:avLst/>
          </a:prstGeom>
          <a:noFill/>
          <a:ln/>
        </p:spPr>
        <p:txBody>
          <a:bodyPr wrap="square" lIns="0" tIns="0" rIns="0" bIns="0" rtlCol="0" anchor="t"/>
          <a:lstStyle/>
          <a:p>
            <a:pPr indent="0" marL="0">
              <a:buNone/>
            </a:pPr>
            <a:r>
              <a:rPr lang="en-US" sz="1700" b="1" dirty="0">
                <a:solidFill>
                  <a:srgbClr val="3E8E63"/>
                </a:solidFill>
                <a:latin typeface="BIZ UDPゴシック" pitchFamily="34" charset="0"/>
                <a:ea typeface="BIZ UDPゴシック" pitchFamily="34" charset="-122"/>
                <a:cs typeface="BIZ UDPゴシック" pitchFamily="34" charset="-120"/>
              </a:rPr>
              <a:t>「自分の人生の舵を取れる子」を</a:t>
            </a:r>
            <a:endParaRPr lang="en-US" sz="1700" dirty="0"/>
          </a:p>
          <a:p>
            <a:pPr indent="0" marL="0">
              <a:buNone/>
            </a:pPr>
            <a:r>
              <a:rPr lang="en-US" sz="1700" b="1" dirty="0">
                <a:solidFill>
                  <a:srgbClr val="3E8E63"/>
                </a:solidFill>
                <a:latin typeface="BIZ UDPゴシック" pitchFamily="34" charset="0"/>
                <a:ea typeface="BIZ UDPゴシック" pitchFamily="34" charset="-122"/>
                <a:cs typeface="BIZ UDPゴシック" pitchFamily="34" charset="-120"/>
              </a:rPr>
              <a:t>9年間で育てる</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それぞれの立場で、いま始められること</a:t>
            </a:r>
            <a:endParaRPr lang="en-US" sz="3200" dirty="0"/>
          </a:p>
        </p:txBody>
      </p:sp>
      <p:sp>
        <p:nvSpPr>
          <p:cNvPr id="3" name="Shape 1"/>
          <p:cNvSpPr/>
          <p:nvPr/>
        </p:nvSpPr>
        <p:spPr>
          <a:xfrm>
            <a:off x="548640" y="1417320"/>
            <a:ext cx="3520440" cy="4663440"/>
          </a:xfrm>
          <a:prstGeom prst="roundRect">
            <a:avLst>
              <a:gd name="adj" fmla="val 3117"/>
            </a:avLst>
          </a:prstGeom>
          <a:solidFill>
            <a:srgbClr val="EEF4F1"/>
          </a:solidFill>
          <a:ln w="12700">
            <a:solidFill>
              <a:srgbClr val="EEF4F1"/>
            </a:solidFill>
            <a:prstDash val="solid"/>
          </a:ln>
        </p:spPr>
      </p:sp>
      <p:sp>
        <p:nvSpPr>
          <p:cNvPr id="4" name="Shape 2"/>
          <p:cNvSpPr/>
          <p:nvPr/>
        </p:nvSpPr>
        <p:spPr>
          <a:xfrm>
            <a:off x="822960" y="1645920"/>
            <a:ext cx="777240" cy="777240"/>
          </a:xfrm>
          <a:prstGeom prst="ellipse">
            <a:avLst/>
          </a:prstGeom>
          <a:solidFill>
            <a:srgbClr val="1F2A44"/>
          </a:solidFill>
          <a:ln w="12700">
            <a:solidFill>
              <a:srgbClr val="1F2A44"/>
            </a:solidFill>
            <a:prstDash val="solid"/>
          </a:ln>
        </p:spPr>
      </p:sp>
      <p:pic>
        <p:nvPicPr>
          <p:cNvPr id="5" name="Image 0" descr="preencoded.png">    </p:cNvPr>
          <p:cNvPicPr>
            <a:picLocks noChangeAspect="1"/>
          </p:cNvPicPr>
          <p:nvPr/>
        </p:nvPicPr>
        <p:blipFill>
          <a:blip r:embed="rId1"/>
          <a:stretch>
            <a:fillRect/>
          </a:stretch>
        </p:blipFill>
        <p:spPr>
          <a:xfrm>
            <a:off x="1009498" y="1832458"/>
            <a:ext cx="404165" cy="404165"/>
          </a:xfrm>
          <a:prstGeom prst="rect">
            <a:avLst/>
          </a:prstGeom>
        </p:spPr>
      </p:pic>
      <p:sp>
        <p:nvSpPr>
          <p:cNvPr id="6" name="Text 3"/>
          <p:cNvSpPr txBox="1"/>
          <p:nvPr/>
        </p:nvSpPr>
        <p:spPr>
          <a:xfrm>
            <a:off x="1737360" y="1645920"/>
            <a:ext cx="2240280" cy="777240"/>
          </a:xfrm>
          <a:prstGeom prst="rect">
            <a:avLst/>
          </a:prstGeom>
          <a:noFill/>
          <a:ln/>
        </p:spPr>
        <p:txBody>
          <a:bodyPr wrap="square" lIns="0" tIns="0" rIns="0" bIns="0" rtlCol="0" anchor="ctr"/>
          <a:lstStyle/>
          <a:p>
            <a:pPr indent="0" marL="0">
              <a:buNone/>
            </a:pPr>
            <a:r>
              <a:rPr lang="en-US" sz="2000" b="1" dirty="0">
                <a:solidFill>
                  <a:srgbClr val="1F2A44"/>
                </a:solidFill>
                <a:latin typeface="BIZ UDPゴシック" pitchFamily="34" charset="0"/>
                <a:ea typeface="BIZ UDPゴシック" pitchFamily="34" charset="-122"/>
                <a:cs typeface="BIZ UDPゴシック" pitchFamily="34" charset="-120"/>
              </a:rPr>
              <a:t>校長先生方へ</a:t>
            </a:r>
            <a:endParaRPr lang="en-US" sz="2000" dirty="0"/>
          </a:p>
        </p:txBody>
      </p:sp>
      <p:sp>
        <p:nvSpPr>
          <p:cNvPr id="7" name="Text 4"/>
          <p:cNvSpPr txBox="1"/>
          <p:nvPr/>
        </p:nvSpPr>
        <p:spPr>
          <a:xfrm>
            <a:off x="822960" y="2697480"/>
            <a:ext cx="3017520" cy="32004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10年後の子供の姿から学校のビジョンを語る</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調整授業時数を見据えたカリキュラム・マネジメントの構想</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挑戦と失敗を許容する学校文化をつくる</a:t>
            </a:r>
            <a:endParaRPr lang="en-US" sz="1500" dirty="0"/>
          </a:p>
        </p:txBody>
      </p:sp>
      <p:sp>
        <p:nvSpPr>
          <p:cNvPr id="8" name="Shape 5"/>
          <p:cNvSpPr/>
          <p:nvPr/>
        </p:nvSpPr>
        <p:spPr>
          <a:xfrm>
            <a:off x="4389120" y="1417320"/>
            <a:ext cx="3520440" cy="4663440"/>
          </a:xfrm>
          <a:prstGeom prst="roundRect">
            <a:avLst>
              <a:gd name="adj" fmla="val 3117"/>
            </a:avLst>
          </a:prstGeom>
          <a:solidFill>
            <a:srgbClr val="EEF4F1"/>
          </a:solidFill>
          <a:ln w="12700">
            <a:solidFill>
              <a:srgbClr val="EEF4F1"/>
            </a:solidFill>
            <a:prstDash val="solid"/>
          </a:ln>
        </p:spPr>
      </p:sp>
      <p:sp>
        <p:nvSpPr>
          <p:cNvPr id="9" name="Shape 6"/>
          <p:cNvSpPr/>
          <p:nvPr/>
        </p:nvSpPr>
        <p:spPr>
          <a:xfrm>
            <a:off x="4663440" y="1645920"/>
            <a:ext cx="777240" cy="777240"/>
          </a:xfrm>
          <a:prstGeom prst="ellipse">
            <a:avLst/>
          </a:prstGeom>
          <a:solidFill>
            <a:srgbClr val="3E8E63"/>
          </a:solidFill>
          <a:ln w="12700">
            <a:solidFill>
              <a:srgbClr val="3E8E63"/>
            </a:solidFill>
            <a:prstDash val="solid"/>
          </a:ln>
        </p:spPr>
      </p:sp>
      <p:pic>
        <p:nvPicPr>
          <p:cNvPr id="10" name="Image 1" descr="preencoded.png">    </p:cNvPr>
          <p:cNvPicPr>
            <a:picLocks noChangeAspect="1"/>
          </p:cNvPicPr>
          <p:nvPr/>
        </p:nvPicPr>
        <p:blipFill>
          <a:blip r:embed="rId2"/>
          <a:stretch>
            <a:fillRect/>
          </a:stretch>
        </p:blipFill>
        <p:spPr>
          <a:xfrm>
            <a:off x="4849978" y="1832458"/>
            <a:ext cx="404165" cy="404165"/>
          </a:xfrm>
          <a:prstGeom prst="rect">
            <a:avLst/>
          </a:prstGeom>
        </p:spPr>
      </p:pic>
      <p:sp>
        <p:nvSpPr>
          <p:cNvPr id="11" name="Text 7"/>
          <p:cNvSpPr txBox="1"/>
          <p:nvPr/>
        </p:nvSpPr>
        <p:spPr>
          <a:xfrm>
            <a:off x="5577840" y="1645920"/>
            <a:ext cx="2240280" cy="777240"/>
          </a:xfrm>
          <a:prstGeom prst="rect">
            <a:avLst/>
          </a:prstGeom>
          <a:noFill/>
          <a:ln/>
        </p:spPr>
        <p:txBody>
          <a:bodyPr wrap="square" lIns="0" tIns="0" rIns="0" bIns="0" rtlCol="0" anchor="ctr"/>
          <a:lstStyle/>
          <a:p>
            <a:pPr indent="0" marL="0">
              <a:buNone/>
            </a:pPr>
            <a:r>
              <a:rPr lang="en-US" sz="2000" b="1" dirty="0">
                <a:solidFill>
                  <a:srgbClr val="3E8E63"/>
                </a:solidFill>
                <a:latin typeface="BIZ UDPゴシック" pitchFamily="34" charset="0"/>
                <a:ea typeface="BIZ UDPゴシック" pitchFamily="34" charset="-122"/>
                <a:cs typeface="BIZ UDPゴシック" pitchFamily="34" charset="-120"/>
              </a:rPr>
              <a:t>副校長先生方へ</a:t>
            </a:r>
            <a:endParaRPr lang="en-US" sz="2000" dirty="0"/>
          </a:p>
        </p:txBody>
      </p:sp>
      <p:sp>
        <p:nvSpPr>
          <p:cNvPr id="12" name="Text 8"/>
          <p:cNvSpPr txBox="1"/>
          <p:nvPr/>
        </p:nvSpPr>
        <p:spPr>
          <a:xfrm>
            <a:off x="4663440" y="2697480"/>
            <a:ext cx="3017520" cy="32004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時間・人・場の条件を整える（時間割・空間・校内研修の枠）</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先生方の「やってみたい」を実務でつなぐ</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保護者・地域への発信と橋渡し</a:t>
            </a:r>
            <a:endParaRPr lang="en-US" sz="1500" dirty="0"/>
          </a:p>
        </p:txBody>
      </p:sp>
      <p:sp>
        <p:nvSpPr>
          <p:cNvPr id="13" name="Shape 9"/>
          <p:cNvSpPr/>
          <p:nvPr/>
        </p:nvSpPr>
        <p:spPr>
          <a:xfrm>
            <a:off x="8229600" y="1417320"/>
            <a:ext cx="3520440" cy="4663440"/>
          </a:xfrm>
          <a:prstGeom prst="roundRect">
            <a:avLst>
              <a:gd name="adj" fmla="val 3117"/>
            </a:avLst>
          </a:prstGeom>
          <a:solidFill>
            <a:srgbClr val="EEF4F1"/>
          </a:solidFill>
          <a:ln w="12700">
            <a:solidFill>
              <a:srgbClr val="EEF4F1"/>
            </a:solidFill>
            <a:prstDash val="solid"/>
          </a:ln>
        </p:spPr>
      </p:sp>
      <p:sp>
        <p:nvSpPr>
          <p:cNvPr id="14" name="Shape 10"/>
          <p:cNvSpPr/>
          <p:nvPr/>
        </p:nvSpPr>
        <p:spPr>
          <a:xfrm>
            <a:off x="8503920" y="1645920"/>
            <a:ext cx="777240" cy="777240"/>
          </a:xfrm>
          <a:prstGeom prst="ellipse">
            <a:avLst/>
          </a:prstGeom>
          <a:solidFill>
            <a:srgbClr val="D9644A"/>
          </a:solidFill>
          <a:ln w="12700">
            <a:solidFill>
              <a:srgbClr val="D9644A"/>
            </a:solidFill>
            <a:prstDash val="solid"/>
          </a:ln>
        </p:spPr>
      </p:sp>
      <p:pic>
        <p:nvPicPr>
          <p:cNvPr id="15" name="Image 2" descr="preencoded.png">    </p:cNvPr>
          <p:cNvPicPr>
            <a:picLocks noChangeAspect="1"/>
          </p:cNvPicPr>
          <p:nvPr/>
        </p:nvPicPr>
        <p:blipFill>
          <a:blip r:embed="rId3"/>
          <a:stretch>
            <a:fillRect/>
          </a:stretch>
        </p:blipFill>
        <p:spPr>
          <a:xfrm>
            <a:off x="8690458" y="1832458"/>
            <a:ext cx="404165" cy="404165"/>
          </a:xfrm>
          <a:prstGeom prst="rect">
            <a:avLst/>
          </a:prstGeom>
        </p:spPr>
      </p:pic>
      <p:sp>
        <p:nvSpPr>
          <p:cNvPr id="16" name="Text 11"/>
          <p:cNvSpPr txBox="1"/>
          <p:nvPr/>
        </p:nvSpPr>
        <p:spPr>
          <a:xfrm>
            <a:off x="9418320" y="1645920"/>
            <a:ext cx="2240280" cy="777240"/>
          </a:xfrm>
          <a:prstGeom prst="rect">
            <a:avLst/>
          </a:prstGeom>
          <a:noFill/>
          <a:ln/>
        </p:spPr>
        <p:txBody>
          <a:bodyPr wrap="square" lIns="0" tIns="0" rIns="0" bIns="0" rtlCol="0" anchor="ctr"/>
          <a:lstStyle/>
          <a:p>
            <a:pPr indent="0" marL="0">
              <a:buNone/>
            </a:pPr>
            <a:r>
              <a:rPr lang="en-US" sz="2000" b="1" dirty="0">
                <a:solidFill>
                  <a:srgbClr val="D9644A"/>
                </a:solidFill>
                <a:latin typeface="BIZ UDPゴシック" pitchFamily="34" charset="0"/>
                <a:ea typeface="BIZ UDPゴシック" pitchFamily="34" charset="-122"/>
                <a:cs typeface="BIZ UDPゴシック" pitchFamily="34" charset="-120"/>
              </a:rPr>
              <a:t>先生方へ</a:t>
            </a:r>
            <a:endParaRPr lang="en-US" sz="2000" dirty="0"/>
          </a:p>
        </p:txBody>
      </p:sp>
      <p:sp>
        <p:nvSpPr>
          <p:cNvPr id="17" name="Text 12"/>
          <p:cNvSpPr txBox="1"/>
          <p:nvPr/>
        </p:nvSpPr>
        <p:spPr>
          <a:xfrm>
            <a:off x="8503920" y="2697480"/>
            <a:ext cx="3017520" cy="32004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小さく始める：1単元・1時間の「選ぶ」から</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子供を信じて待つ。見取って、問い返す</a:t>
            </a:r>
            <a:endParaRPr lang="en-US" sz="1500" dirty="0"/>
          </a:p>
          <a:p>
            <a:pPr marL="342900" indent="-342900">
              <a:spcAft>
                <a:spcPts val="1200"/>
              </a:spcAft>
              <a:buSzPct val="100000"/>
              <a:buChar char="•"/>
            </a:pPr>
            <a:r>
              <a:rPr lang="en-US" sz="1500" dirty="0">
                <a:solidFill>
                  <a:srgbClr val="2B2B2B"/>
                </a:solidFill>
                <a:latin typeface="BIZ UDPゴシック" pitchFamily="34" charset="0"/>
                <a:ea typeface="BIZ UDPゴシック" pitchFamily="34" charset="-122"/>
                <a:cs typeface="BIZ UDPゴシック" pitchFamily="34" charset="-120"/>
              </a:rPr>
              <a:t>実践を同僚と見せ合い、学年で育てる</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8E6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t"/>
          <a:lstStyle/>
          <a:p>
            <a:pPr indent="0" marL="0">
              <a:buNone/>
            </a:pPr>
            <a:r>
              <a:rPr lang="en-US" sz="2200" b="1" dirty="0">
                <a:solidFill>
                  <a:srgbClr val="FFFFFF"/>
                </a:solidFill>
                <a:latin typeface="BIZ UDPゴシック" pitchFamily="34" charset="0"/>
                <a:ea typeface="BIZ UDPゴシック" pitchFamily="34" charset="-122"/>
                <a:cs typeface="BIZ UDPゴシック" pitchFamily="34" charset="-120"/>
              </a:rPr>
              <a:t>対話タイム②</a:t>
            </a:r>
            <a:endParaRPr lang="en-US" sz="2200" dirty="0"/>
          </a:p>
        </p:txBody>
      </p:sp>
      <p:sp>
        <p:nvSpPr>
          <p:cNvPr id="3" name="Shape 1"/>
          <p:cNvSpPr/>
          <p:nvPr/>
        </p:nvSpPr>
        <p:spPr>
          <a:xfrm>
            <a:off x="9966960" y="320040"/>
            <a:ext cx="1600200" cy="1600200"/>
          </a:xfrm>
          <a:prstGeom prst="ellipse">
            <a:avLst/>
          </a:prstGeom>
          <a:solidFill>
            <a:srgbClr val="F2A541"/>
          </a:solidFill>
          <a:ln w="12700">
            <a:solidFill>
              <a:srgbClr val="F2A541"/>
            </a:solidFill>
            <a:prstDash val="solid"/>
          </a:ln>
        </p:spPr>
      </p:sp>
      <p:sp>
        <p:nvSpPr>
          <p:cNvPr id="4" name="Text 2"/>
          <p:cNvSpPr txBox="1"/>
          <p:nvPr/>
        </p:nvSpPr>
        <p:spPr>
          <a:xfrm>
            <a:off x="9966960" y="320040"/>
            <a:ext cx="1600200" cy="1600200"/>
          </a:xfrm>
          <a:prstGeom prst="rect">
            <a:avLst/>
          </a:prstGeom>
          <a:noFill/>
          <a:ln/>
        </p:spPr>
        <p:txBody>
          <a:bodyPr wrap="square" lIns="0" tIns="0" rIns="0" bIns="0" rtlCol="0" anchor="ctr"/>
          <a:lstStyle/>
          <a:p>
            <a:pPr algn="ctr" indent="0" marL="0">
              <a:buNone/>
            </a:pPr>
            <a:r>
              <a:rPr lang="en-US" sz="3600" b="1" dirty="0">
                <a:solidFill>
                  <a:srgbClr val="1F2A44"/>
                </a:solidFill>
                <a:latin typeface="BIZ UDPゴシック" pitchFamily="34" charset="0"/>
                <a:ea typeface="BIZ UDPゴシック" pitchFamily="34" charset="-122"/>
                <a:cs typeface="BIZ UDPゴシック" pitchFamily="34" charset="-120"/>
              </a:rPr>
              <a:t>7分</a:t>
            </a:r>
            <a:endParaRPr lang="en-US" sz="3600" dirty="0"/>
          </a:p>
        </p:txBody>
      </p:sp>
      <p:sp>
        <p:nvSpPr>
          <p:cNvPr id="5" name="Text 3"/>
          <p:cNvSpPr txBox="1"/>
          <p:nvPr/>
        </p:nvSpPr>
        <p:spPr>
          <a:xfrm>
            <a:off x="548640" y="1188720"/>
            <a:ext cx="9144000" cy="1463040"/>
          </a:xfrm>
          <a:prstGeom prst="rect">
            <a:avLst/>
          </a:prstGeom>
          <a:noFill/>
          <a:ln/>
        </p:spPr>
        <p:txBody>
          <a:bodyPr wrap="square" lIns="0" tIns="0" rIns="0" bIns="0" rtlCol="0" anchor="ctr"/>
          <a:lstStyle/>
          <a:p>
            <a:pPr indent="0" marL="0">
              <a:buNone/>
            </a:pPr>
            <a:r>
              <a:rPr lang="en-US" sz="3000" b="1" dirty="0">
                <a:solidFill>
                  <a:srgbClr val="FFFFFF"/>
                </a:solidFill>
                <a:latin typeface="BIZ UDPゴシック" pitchFamily="34" charset="0"/>
                <a:ea typeface="BIZ UDPゴシック" pitchFamily="34" charset="-122"/>
                <a:cs typeface="BIZ UDPゴシック" pitchFamily="34" charset="-120"/>
              </a:rPr>
              <a:t>10年後から逆算して、来年度の教育課程に</a:t>
            </a:r>
            <a:endParaRPr lang="en-US" sz="3000" dirty="0"/>
          </a:p>
          <a:p>
            <a:pPr indent="0" marL="0">
              <a:buNone/>
            </a:pPr>
            <a:r>
              <a:rPr lang="en-US" sz="3000" b="1" dirty="0">
                <a:solidFill>
                  <a:srgbClr val="FFFFFF"/>
                </a:solidFill>
                <a:latin typeface="BIZ UDPゴシック" pitchFamily="34" charset="0"/>
                <a:ea typeface="BIZ UDPゴシック" pitchFamily="34" charset="-122"/>
                <a:cs typeface="BIZ UDPゴシック" pitchFamily="34" charset="-120"/>
              </a:rPr>
              <a:t>何を「一つ」入れますか？</a:t>
            </a:r>
            <a:endParaRPr lang="en-US" sz="3000" dirty="0"/>
          </a:p>
        </p:txBody>
      </p:sp>
      <p:sp>
        <p:nvSpPr>
          <p:cNvPr id="6" name="Shape 4"/>
          <p:cNvSpPr/>
          <p:nvPr/>
        </p:nvSpPr>
        <p:spPr>
          <a:xfrm>
            <a:off x="548640" y="2926080"/>
            <a:ext cx="3520440" cy="1463040"/>
          </a:xfrm>
          <a:prstGeom prst="roundRect">
            <a:avLst>
              <a:gd name="adj" fmla="val 7500"/>
            </a:avLst>
          </a:prstGeom>
          <a:solidFill>
            <a:srgbClr val="FFFFFF"/>
          </a:solidFill>
          <a:ln w="12700">
            <a:solidFill>
              <a:srgbClr val="FFFFFF"/>
            </a:solidFill>
            <a:prstDash val="solid"/>
          </a:ln>
        </p:spPr>
      </p:sp>
      <p:sp>
        <p:nvSpPr>
          <p:cNvPr id="7" name="Text 5"/>
          <p:cNvSpPr txBox="1"/>
          <p:nvPr/>
        </p:nvSpPr>
        <p:spPr>
          <a:xfrm>
            <a:off x="77724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1分</a:t>
            </a:r>
            <a:endParaRPr lang="en-US" sz="2400" dirty="0"/>
          </a:p>
        </p:txBody>
      </p:sp>
      <p:sp>
        <p:nvSpPr>
          <p:cNvPr id="8" name="Text 6"/>
          <p:cNvSpPr txBox="1"/>
          <p:nvPr/>
        </p:nvSpPr>
        <p:spPr>
          <a:xfrm>
            <a:off x="182880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ひとりで考える</a:t>
            </a:r>
            <a:endParaRPr lang="en-US" sz="1800" dirty="0"/>
          </a:p>
        </p:txBody>
      </p:sp>
      <p:sp>
        <p:nvSpPr>
          <p:cNvPr id="9" name="Text 7"/>
          <p:cNvSpPr txBox="1"/>
          <p:nvPr/>
        </p:nvSpPr>
        <p:spPr>
          <a:xfrm>
            <a:off x="77724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メモや付箋に書く</a:t>
            </a:r>
            <a:endParaRPr lang="en-US" sz="1400" dirty="0"/>
          </a:p>
        </p:txBody>
      </p:sp>
      <p:sp>
        <p:nvSpPr>
          <p:cNvPr id="10" name="Shape 8"/>
          <p:cNvSpPr/>
          <p:nvPr/>
        </p:nvSpPr>
        <p:spPr>
          <a:xfrm>
            <a:off x="4389120" y="2926080"/>
            <a:ext cx="3520440" cy="1463040"/>
          </a:xfrm>
          <a:prstGeom prst="roundRect">
            <a:avLst>
              <a:gd name="adj" fmla="val 7500"/>
            </a:avLst>
          </a:prstGeom>
          <a:solidFill>
            <a:srgbClr val="FFFFFF"/>
          </a:solidFill>
          <a:ln w="12700">
            <a:solidFill>
              <a:srgbClr val="FFFFFF"/>
            </a:solidFill>
            <a:prstDash val="solid"/>
          </a:ln>
        </p:spPr>
      </p:sp>
      <p:sp>
        <p:nvSpPr>
          <p:cNvPr id="11" name="Text 9"/>
          <p:cNvSpPr txBox="1"/>
          <p:nvPr/>
        </p:nvSpPr>
        <p:spPr>
          <a:xfrm>
            <a:off x="461772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5分</a:t>
            </a:r>
            <a:endParaRPr lang="en-US" sz="2400" dirty="0"/>
          </a:p>
        </p:txBody>
      </p:sp>
      <p:sp>
        <p:nvSpPr>
          <p:cNvPr id="12" name="Text 10"/>
          <p:cNvSpPr txBox="1"/>
          <p:nvPr/>
        </p:nvSpPr>
        <p:spPr>
          <a:xfrm>
            <a:off x="566928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グループで対話</a:t>
            </a:r>
            <a:endParaRPr lang="en-US" sz="1800" dirty="0"/>
          </a:p>
        </p:txBody>
      </p:sp>
      <p:sp>
        <p:nvSpPr>
          <p:cNvPr id="13" name="Text 11"/>
          <p:cNvSpPr txBox="1"/>
          <p:nvPr/>
        </p:nvSpPr>
        <p:spPr>
          <a:xfrm>
            <a:off x="461772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1人1分で話し、共通点・違いを探す</a:t>
            </a:r>
            <a:endParaRPr lang="en-US" sz="1400" dirty="0"/>
          </a:p>
        </p:txBody>
      </p:sp>
      <p:sp>
        <p:nvSpPr>
          <p:cNvPr id="14" name="Shape 12"/>
          <p:cNvSpPr/>
          <p:nvPr/>
        </p:nvSpPr>
        <p:spPr>
          <a:xfrm>
            <a:off x="8229600" y="2926080"/>
            <a:ext cx="3520440" cy="1463040"/>
          </a:xfrm>
          <a:prstGeom prst="roundRect">
            <a:avLst>
              <a:gd name="adj" fmla="val 7500"/>
            </a:avLst>
          </a:prstGeom>
          <a:solidFill>
            <a:srgbClr val="FFFFFF"/>
          </a:solidFill>
          <a:ln w="12700">
            <a:solidFill>
              <a:srgbClr val="FFFFFF"/>
            </a:solidFill>
            <a:prstDash val="solid"/>
          </a:ln>
        </p:spPr>
      </p:sp>
      <p:sp>
        <p:nvSpPr>
          <p:cNvPr id="15" name="Text 13"/>
          <p:cNvSpPr txBox="1"/>
          <p:nvPr/>
        </p:nvSpPr>
        <p:spPr>
          <a:xfrm>
            <a:off x="8458200" y="3063240"/>
            <a:ext cx="1097280" cy="548640"/>
          </a:xfrm>
          <a:prstGeom prst="rect">
            <a:avLst/>
          </a:prstGeom>
          <a:noFill/>
          <a:ln/>
        </p:spPr>
        <p:txBody>
          <a:bodyPr wrap="square" lIns="0" tIns="0" rIns="0" bIns="0" rtlCol="0" anchor="t"/>
          <a:lstStyle/>
          <a:p>
            <a:pPr indent="0" marL="0">
              <a:buNone/>
            </a:pPr>
            <a:r>
              <a:rPr lang="en-US" sz="2400" b="1" dirty="0">
                <a:solidFill>
                  <a:srgbClr val="3E8E63"/>
                </a:solidFill>
                <a:latin typeface="BIZ UDPゴシック" pitchFamily="34" charset="0"/>
                <a:ea typeface="BIZ UDPゴシック" pitchFamily="34" charset="-122"/>
                <a:cs typeface="BIZ UDPゴシック" pitchFamily="34" charset="-120"/>
              </a:rPr>
              <a:t>1分</a:t>
            </a:r>
            <a:endParaRPr lang="en-US" sz="2400" dirty="0"/>
          </a:p>
        </p:txBody>
      </p:sp>
      <p:sp>
        <p:nvSpPr>
          <p:cNvPr id="16" name="Text 14"/>
          <p:cNvSpPr txBox="1"/>
          <p:nvPr/>
        </p:nvSpPr>
        <p:spPr>
          <a:xfrm>
            <a:off x="9509760" y="3063240"/>
            <a:ext cx="210312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全体で共有</a:t>
            </a:r>
            <a:endParaRPr lang="en-US" sz="1800" dirty="0"/>
          </a:p>
        </p:txBody>
      </p:sp>
      <p:sp>
        <p:nvSpPr>
          <p:cNvPr id="17" name="Text 15"/>
          <p:cNvSpPr txBox="1"/>
          <p:nvPr/>
        </p:nvSpPr>
        <p:spPr>
          <a:xfrm>
            <a:off x="8458200" y="3703320"/>
            <a:ext cx="3108960" cy="594360"/>
          </a:xfrm>
          <a:prstGeom prst="rect">
            <a:avLst/>
          </a:prstGeom>
          <a:noFill/>
          <a:ln/>
        </p:spPr>
        <p:txBody>
          <a:bodyPr wrap="square" lIns="0" tIns="0" rIns="0" bIns="0" rtlCol="0" anchor="t"/>
          <a:lstStyle/>
          <a:p>
            <a:pPr indent="0" marL="0">
              <a:buNone/>
            </a:pPr>
            <a:r>
              <a:rPr lang="en-US" sz="1400" dirty="0">
                <a:solidFill>
                  <a:srgbClr val="2B2B2B"/>
                </a:solidFill>
                <a:latin typeface="BIZ UDPゴシック" pitchFamily="34" charset="0"/>
                <a:ea typeface="BIZ UDPゴシック" pitchFamily="34" charset="-122"/>
                <a:cs typeface="BIZ UDPゴシック" pitchFamily="34" charset="-120"/>
              </a:rPr>
              <a:t>2グループほどに一言ずつ</a:t>
            </a:r>
            <a:endParaRPr lang="en-US" sz="1400" dirty="0"/>
          </a:p>
        </p:txBody>
      </p:sp>
      <p:sp>
        <p:nvSpPr>
          <p:cNvPr id="18" name="Text 16"/>
          <p:cNvSpPr txBox="1"/>
          <p:nvPr/>
        </p:nvSpPr>
        <p:spPr>
          <a:xfrm>
            <a:off x="548640" y="4663440"/>
            <a:ext cx="3657600" cy="365760"/>
          </a:xfrm>
          <a:prstGeom prst="rect">
            <a:avLst/>
          </a:prstGeom>
          <a:noFill/>
          <a:ln/>
        </p:spPr>
        <p:txBody>
          <a:bodyPr wrap="square" lIns="0" tIns="0" rIns="0" bIns="0" rtlCol="0" anchor="t"/>
          <a:lstStyle/>
          <a:p>
            <a:pPr indent="0" marL="0">
              <a:buNone/>
            </a:pPr>
            <a:r>
              <a:rPr lang="en-US" sz="1600" b="1" dirty="0">
                <a:solidFill>
                  <a:srgbClr val="F2A541"/>
                </a:solidFill>
                <a:latin typeface="BIZ UDPゴシック" pitchFamily="34" charset="0"/>
                <a:ea typeface="BIZ UDPゴシック" pitchFamily="34" charset="-122"/>
                <a:cs typeface="BIZ UDPゴシック" pitchFamily="34" charset="-120"/>
              </a:rPr>
              <a:t>考える手がかり</a:t>
            </a:r>
            <a:endParaRPr lang="en-US" sz="1600" dirty="0"/>
          </a:p>
        </p:txBody>
      </p:sp>
      <p:sp>
        <p:nvSpPr>
          <p:cNvPr id="19" name="Text 17"/>
          <p:cNvSpPr txBox="1"/>
          <p:nvPr/>
        </p:nvSpPr>
        <p:spPr>
          <a:xfrm>
            <a:off x="548640" y="5029200"/>
            <a:ext cx="1106424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自由進度学習・マイ探究・キャリア教育のどれか一つに焦点を当ててもよい</a:t>
            </a:r>
            <a:endParaRPr lang="en-US" sz="1500" dirty="0"/>
          </a:p>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校長・副校長・先生方、それぞれの立場から見える「できること」「難しさ」を出し合う</a:t>
            </a:r>
            <a:endParaRPr lang="en-US" sz="1500" dirty="0"/>
          </a:p>
          <a:p>
            <a:pPr marL="342900" indent="-342900">
              <a:spcAft>
                <a:spcPts val="400"/>
              </a:spcAft>
              <a:buSzPct val="100000"/>
              <a:buChar char="•"/>
            </a:pPr>
            <a:r>
              <a:rPr lang="en-US" sz="1500" dirty="0">
                <a:solidFill>
                  <a:srgbClr val="FFFFFF"/>
                </a:solidFill>
                <a:latin typeface="BIZ UDPゴシック" pitchFamily="34" charset="0"/>
                <a:ea typeface="BIZ UDPゴシック" pitchFamily="34" charset="-122"/>
                <a:cs typeface="BIZ UDPゴシック" pitchFamily="34" charset="-120"/>
              </a:rPr>
              <a:t>「子供の姿」で語る：それを入れると、子供はどう変わる？</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A44"/>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731520"/>
          </a:xfrm>
          <a:prstGeom prst="rect">
            <a:avLst/>
          </a:prstGeom>
          <a:noFill/>
          <a:ln/>
        </p:spPr>
        <p:txBody>
          <a:bodyPr wrap="square" lIns="0" tIns="0" rIns="0" bIns="0" rtlCol="0" anchor="t"/>
          <a:lstStyle/>
          <a:p>
            <a:pPr indent="0" marL="0">
              <a:buNone/>
            </a:pPr>
            <a:r>
              <a:rPr lang="en-US" sz="3200" b="1" dirty="0">
                <a:solidFill>
                  <a:srgbClr val="FFFFFF"/>
                </a:solidFill>
                <a:latin typeface="BIZ UDPゴシック" pitchFamily="34" charset="0"/>
                <a:ea typeface="BIZ UDPゴシック" pitchFamily="34" charset="-122"/>
                <a:cs typeface="BIZ UDPゴシック" pitchFamily="34" charset="-120"/>
              </a:rPr>
              <a:t>まとめ ― 明日からの一歩</a:t>
            </a:r>
            <a:endParaRPr lang="en-US" sz="3200" dirty="0"/>
          </a:p>
        </p:txBody>
      </p:sp>
      <p:sp>
        <p:nvSpPr>
          <p:cNvPr id="3" name="Shape 1"/>
          <p:cNvSpPr/>
          <p:nvPr/>
        </p:nvSpPr>
        <p:spPr>
          <a:xfrm>
            <a:off x="548640" y="1463040"/>
            <a:ext cx="822960" cy="822960"/>
          </a:xfrm>
          <a:prstGeom prst="ellipse">
            <a:avLst/>
          </a:prstGeom>
          <a:solidFill>
            <a:srgbClr val="3E8E63"/>
          </a:solidFill>
          <a:ln w="12700">
            <a:solidFill>
              <a:srgbClr val="3E8E63"/>
            </a:solidFill>
            <a:prstDash val="solid"/>
          </a:ln>
        </p:spPr>
      </p:sp>
      <p:pic>
        <p:nvPicPr>
          <p:cNvPr id="4" name="Image 0" descr="preencoded.png">    </p:cNvPr>
          <p:cNvPicPr>
            <a:picLocks noChangeAspect="1"/>
          </p:cNvPicPr>
          <p:nvPr/>
        </p:nvPicPr>
        <p:blipFill>
          <a:blip r:embed="rId1"/>
          <a:stretch>
            <a:fillRect/>
          </a:stretch>
        </p:blipFill>
        <p:spPr>
          <a:xfrm>
            <a:off x="746150" y="1660550"/>
            <a:ext cx="427939" cy="427939"/>
          </a:xfrm>
          <a:prstGeom prst="rect">
            <a:avLst/>
          </a:prstGeom>
        </p:spPr>
      </p:pic>
      <p:sp>
        <p:nvSpPr>
          <p:cNvPr id="5" name="Text 2"/>
          <p:cNvSpPr txBox="1"/>
          <p:nvPr/>
        </p:nvSpPr>
        <p:spPr>
          <a:xfrm>
            <a:off x="1600200" y="1463040"/>
            <a:ext cx="2743200" cy="822960"/>
          </a:xfrm>
          <a:prstGeom prst="rect">
            <a:avLst/>
          </a:prstGeom>
          <a:noFill/>
          <a:ln/>
        </p:spPr>
        <p:txBody>
          <a:bodyPr wrap="square" lIns="0" tIns="0" rIns="0" bIns="0" rtlCol="0" anchor="ctr"/>
          <a:lstStyle/>
          <a:p>
            <a:pPr indent="0" marL="0">
              <a:buNone/>
            </a:pPr>
            <a:r>
              <a:rPr lang="en-US" sz="2000" b="1" dirty="0">
                <a:solidFill>
                  <a:srgbClr val="F2A541"/>
                </a:solidFill>
                <a:latin typeface="BIZ UDPゴシック" pitchFamily="34" charset="0"/>
                <a:ea typeface="BIZ UDPゴシック" pitchFamily="34" charset="-122"/>
                <a:cs typeface="BIZ UDPゴシック" pitchFamily="34" charset="-120"/>
              </a:rPr>
              <a:t>自由進度学習</a:t>
            </a:r>
            <a:endParaRPr lang="en-US" sz="2000" dirty="0"/>
          </a:p>
        </p:txBody>
      </p:sp>
      <p:sp>
        <p:nvSpPr>
          <p:cNvPr id="6" name="Text 3"/>
          <p:cNvSpPr txBox="1"/>
          <p:nvPr/>
        </p:nvSpPr>
        <p:spPr>
          <a:xfrm>
            <a:off x="4297680" y="1463040"/>
            <a:ext cx="7315200" cy="822960"/>
          </a:xfrm>
          <a:prstGeom prst="rect">
            <a:avLst/>
          </a:prstGeom>
          <a:noFill/>
          <a:ln/>
        </p:spPr>
        <p:txBody>
          <a:bodyPr wrap="square" lIns="0" tIns="0" rIns="0" bIns="0" rtlCol="0" anchor="ctr"/>
          <a:lstStyle/>
          <a:p>
            <a:pPr indent="0" marL="0">
              <a:buNone/>
            </a:pPr>
            <a:r>
              <a:rPr lang="en-US" sz="2000" dirty="0">
                <a:solidFill>
                  <a:srgbClr val="FFFFFF"/>
                </a:solidFill>
                <a:latin typeface="BIZ UDPゴシック" pitchFamily="34" charset="0"/>
                <a:ea typeface="BIZ UDPゴシック" pitchFamily="34" charset="-122"/>
                <a:cs typeface="BIZ UDPゴシック" pitchFamily="34" charset="-120"/>
              </a:rPr>
              <a:t>ゴールは「自由」ではなく自立した学び手</a:t>
            </a:r>
            <a:endParaRPr lang="en-US" sz="2000" dirty="0"/>
          </a:p>
        </p:txBody>
      </p:sp>
      <p:sp>
        <p:nvSpPr>
          <p:cNvPr id="7" name="Shape 4"/>
          <p:cNvSpPr/>
          <p:nvPr/>
        </p:nvSpPr>
        <p:spPr>
          <a:xfrm>
            <a:off x="548640" y="2560320"/>
            <a:ext cx="822960" cy="822960"/>
          </a:xfrm>
          <a:prstGeom prst="ellipse">
            <a:avLst/>
          </a:prstGeom>
          <a:solidFill>
            <a:srgbClr val="3E8E63"/>
          </a:solidFill>
          <a:ln w="12700">
            <a:solidFill>
              <a:srgbClr val="3E8E63"/>
            </a:solidFill>
            <a:prstDash val="solid"/>
          </a:ln>
        </p:spPr>
      </p:sp>
      <p:pic>
        <p:nvPicPr>
          <p:cNvPr id="8" name="Image 1" descr="preencoded.png">    </p:cNvPr>
          <p:cNvPicPr>
            <a:picLocks noChangeAspect="1"/>
          </p:cNvPicPr>
          <p:nvPr/>
        </p:nvPicPr>
        <p:blipFill>
          <a:blip r:embed="rId2"/>
          <a:stretch>
            <a:fillRect/>
          </a:stretch>
        </p:blipFill>
        <p:spPr>
          <a:xfrm>
            <a:off x="746150" y="2757830"/>
            <a:ext cx="427939" cy="427939"/>
          </a:xfrm>
          <a:prstGeom prst="rect">
            <a:avLst/>
          </a:prstGeom>
        </p:spPr>
      </p:pic>
      <p:sp>
        <p:nvSpPr>
          <p:cNvPr id="9" name="Text 5"/>
          <p:cNvSpPr txBox="1"/>
          <p:nvPr/>
        </p:nvSpPr>
        <p:spPr>
          <a:xfrm>
            <a:off x="1600200" y="2560320"/>
            <a:ext cx="2743200" cy="822960"/>
          </a:xfrm>
          <a:prstGeom prst="rect">
            <a:avLst/>
          </a:prstGeom>
          <a:noFill/>
          <a:ln/>
        </p:spPr>
        <p:txBody>
          <a:bodyPr wrap="square" lIns="0" tIns="0" rIns="0" bIns="0" rtlCol="0" anchor="ctr"/>
          <a:lstStyle/>
          <a:p>
            <a:pPr indent="0" marL="0">
              <a:buNone/>
            </a:pPr>
            <a:r>
              <a:rPr lang="en-US" sz="2000" b="1" dirty="0">
                <a:solidFill>
                  <a:srgbClr val="F2A541"/>
                </a:solidFill>
                <a:latin typeface="BIZ UDPゴシック" pitchFamily="34" charset="0"/>
                <a:ea typeface="BIZ UDPゴシック" pitchFamily="34" charset="-122"/>
                <a:cs typeface="BIZ UDPゴシック" pitchFamily="34" charset="-120"/>
              </a:rPr>
              <a:t>マイ探究</a:t>
            </a:r>
            <a:endParaRPr lang="en-US" sz="2000" dirty="0"/>
          </a:p>
        </p:txBody>
      </p:sp>
      <p:sp>
        <p:nvSpPr>
          <p:cNvPr id="10" name="Text 6"/>
          <p:cNvSpPr txBox="1"/>
          <p:nvPr/>
        </p:nvSpPr>
        <p:spPr>
          <a:xfrm>
            <a:off x="4297680" y="2560320"/>
            <a:ext cx="7315200" cy="822960"/>
          </a:xfrm>
          <a:prstGeom prst="rect">
            <a:avLst/>
          </a:prstGeom>
          <a:noFill/>
          <a:ln/>
        </p:spPr>
        <p:txBody>
          <a:bodyPr wrap="square" lIns="0" tIns="0" rIns="0" bIns="0" rtlCol="0" anchor="ctr"/>
          <a:lstStyle/>
          <a:p>
            <a:pPr indent="0" marL="0">
              <a:buNone/>
            </a:pPr>
            <a:r>
              <a:rPr lang="en-US" sz="2000" dirty="0">
                <a:solidFill>
                  <a:srgbClr val="FFFFFF"/>
                </a:solidFill>
                <a:latin typeface="BIZ UDPゴシック" pitchFamily="34" charset="0"/>
                <a:ea typeface="BIZ UDPゴシック" pitchFamily="34" charset="-122"/>
                <a:cs typeface="BIZ UDPゴシック" pitchFamily="34" charset="-120"/>
              </a:rPr>
              <a:t>子供の「好き」と「問い」に、本気で伴走する</a:t>
            </a:r>
            <a:endParaRPr lang="en-US" sz="2000" dirty="0"/>
          </a:p>
        </p:txBody>
      </p:sp>
      <p:sp>
        <p:nvSpPr>
          <p:cNvPr id="11" name="Shape 7"/>
          <p:cNvSpPr/>
          <p:nvPr/>
        </p:nvSpPr>
        <p:spPr>
          <a:xfrm>
            <a:off x="548640" y="3657600"/>
            <a:ext cx="822960" cy="822960"/>
          </a:xfrm>
          <a:prstGeom prst="ellipse">
            <a:avLst/>
          </a:prstGeom>
          <a:solidFill>
            <a:srgbClr val="3E8E63"/>
          </a:solidFill>
          <a:ln w="12700">
            <a:solidFill>
              <a:srgbClr val="3E8E63"/>
            </a:solidFill>
            <a:prstDash val="solid"/>
          </a:ln>
        </p:spPr>
      </p:sp>
      <p:pic>
        <p:nvPicPr>
          <p:cNvPr id="12" name="Image 2" descr="preencoded.png">    </p:cNvPr>
          <p:cNvPicPr>
            <a:picLocks noChangeAspect="1"/>
          </p:cNvPicPr>
          <p:nvPr/>
        </p:nvPicPr>
        <p:blipFill>
          <a:blip r:embed="rId3"/>
          <a:stretch>
            <a:fillRect/>
          </a:stretch>
        </p:blipFill>
        <p:spPr>
          <a:xfrm>
            <a:off x="746150" y="3855110"/>
            <a:ext cx="427939" cy="427939"/>
          </a:xfrm>
          <a:prstGeom prst="rect">
            <a:avLst/>
          </a:prstGeom>
        </p:spPr>
      </p:pic>
      <p:sp>
        <p:nvSpPr>
          <p:cNvPr id="13" name="Text 8"/>
          <p:cNvSpPr txBox="1"/>
          <p:nvPr/>
        </p:nvSpPr>
        <p:spPr>
          <a:xfrm>
            <a:off x="1600200" y="3657600"/>
            <a:ext cx="2743200" cy="822960"/>
          </a:xfrm>
          <a:prstGeom prst="rect">
            <a:avLst/>
          </a:prstGeom>
          <a:noFill/>
          <a:ln/>
        </p:spPr>
        <p:txBody>
          <a:bodyPr wrap="square" lIns="0" tIns="0" rIns="0" bIns="0" rtlCol="0" anchor="ctr"/>
          <a:lstStyle/>
          <a:p>
            <a:pPr indent="0" marL="0">
              <a:buNone/>
            </a:pPr>
            <a:r>
              <a:rPr lang="en-US" sz="2000" b="1" dirty="0">
                <a:solidFill>
                  <a:srgbClr val="F2A541"/>
                </a:solidFill>
                <a:latin typeface="BIZ UDPゴシック" pitchFamily="34" charset="0"/>
                <a:ea typeface="BIZ UDPゴシック" pitchFamily="34" charset="-122"/>
                <a:cs typeface="BIZ UDPゴシック" pitchFamily="34" charset="-120"/>
              </a:rPr>
              <a:t>キャリア教育</a:t>
            </a:r>
            <a:endParaRPr lang="en-US" sz="2000" dirty="0"/>
          </a:p>
        </p:txBody>
      </p:sp>
      <p:sp>
        <p:nvSpPr>
          <p:cNvPr id="14" name="Text 9"/>
          <p:cNvSpPr txBox="1"/>
          <p:nvPr/>
        </p:nvSpPr>
        <p:spPr>
          <a:xfrm>
            <a:off x="4297680" y="3657600"/>
            <a:ext cx="7315200" cy="822960"/>
          </a:xfrm>
          <a:prstGeom prst="rect">
            <a:avLst/>
          </a:prstGeom>
          <a:noFill/>
          <a:ln/>
        </p:spPr>
        <p:txBody>
          <a:bodyPr wrap="square" lIns="0" tIns="0" rIns="0" bIns="0" rtlCol="0" anchor="ctr"/>
          <a:lstStyle/>
          <a:p>
            <a:pPr indent="0" marL="0">
              <a:buNone/>
            </a:pPr>
            <a:r>
              <a:rPr lang="en-US" sz="2000" dirty="0">
                <a:solidFill>
                  <a:srgbClr val="FFFFFF"/>
                </a:solidFill>
                <a:latin typeface="BIZ UDPゴシック" pitchFamily="34" charset="0"/>
                <a:ea typeface="BIZ UDPゴシック" pitchFamily="34" charset="-122"/>
                <a:cs typeface="BIZ UDPゴシック" pitchFamily="34" charset="-120"/>
              </a:rPr>
              <a:t>日々の学びを「どう生きるか」につなぐ</a:t>
            </a:r>
            <a:endParaRPr lang="en-US" sz="2000" dirty="0"/>
          </a:p>
        </p:txBody>
      </p:sp>
      <p:sp>
        <p:nvSpPr>
          <p:cNvPr id="15" name="Shape 10"/>
          <p:cNvSpPr/>
          <p:nvPr/>
        </p:nvSpPr>
        <p:spPr>
          <a:xfrm>
            <a:off x="548640" y="4846320"/>
            <a:ext cx="11091672" cy="1280160"/>
          </a:xfrm>
          <a:prstGeom prst="roundRect">
            <a:avLst>
              <a:gd name="adj" fmla="val 8571"/>
            </a:avLst>
          </a:prstGeom>
          <a:solidFill>
            <a:srgbClr val="FFFFFF"/>
          </a:solidFill>
          <a:ln w="12700">
            <a:solidFill>
              <a:srgbClr val="FFFFFF"/>
            </a:solidFill>
            <a:prstDash val="solid"/>
          </a:ln>
        </p:spPr>
      </p:sp>
      <p:sp>
        <p:nvSpPr>
          <p:cNvPr id="16" name="Text 11"/>
          <p:cNvSpPr txBox="1"/>
          <p:nvPr/>
        </p:nvSpPr>
        <p:spPr>
          <a:xfrm>
            <a:off x="868680" y="4892040"/>
            <a:ext cx="10515600" cy="548640"/>
          </a:xfrm>
          <a:prstGeom prst="rect">
            <a:avLst/>
          </a:prstGeom>
          <a:noFill/>
          <a:ln/>
        </p:spPr>
        <p:txBody>
          <a:bodyPr wrap="square" lIns="0" tIns="0" rIns="0" bIns="0" rtlCol="0" anchor="ctr"/>
          <a:lstStyle/>
          <a:p>
            <a:pPr indent="0" marL="0">
              <a:buNone/>
            </a:pPr>
            <a:r>
              <a:rPr lang="en-US" sz="1800" b="1" dirty="0">
                <a:solidFill>
                  <a:srgbClr val="1F2A44"/>
                </a:solidFill>
                <a:latin typeface="BIZ UDPゴシック" pitchFamily="34" charset="0"/>
                <a:ea typeface="BIZ UDPゴシック" pitchFamily="34" charset="-122"/>
                <a:cs typeface="BIZ UDPゴシック" pitchFamily="34" charset="-120"/>
              </a:rPr>
              <a:t>付箋に「明日からの一歩」を一つ書き、職員室に持ち帰ってください。</a:t>
            </a:r>
            <a:endParaRPr lang="en-US" sz="1800" dirty="0"/>
          </a:p>
        </p:txBody>
      </p:sp>
      <p:sp>
        <p:nvSpPr>
          <p:cNvPr id="17" name="Text 12"/>
          <p:cNvSpPr txBox="1"/>
          <p:nvPr/>
        </p:nvSpPr>
        <p:spPr>
          <a:xfrm>
            <a:off x="868680" y="5440680"/>
            <a:ext cx="10515600" cy="594360"/>
          </a:xfrm>
          <a:prstGeom prst="rect">
            <a:avLst/>
          </a:prstGeom>
          <a:noFill/>
          <a:ln/>
        </p:spPr>
        <p:txBody>
          <a:bodyPr wrap="square" lIns="0" tIns="0" rIns="0" bIns="0" rtlCol="0" anchor="ctr"/>
          <a:lstStyle/>
          <a:p>
            <a:pPr indent="0" marL="0">
              <a:buNone/>
            </a:pPr>
            <a:r>
              <a:rPr lang="en-US" sz="2200" b="1" dirty="0">
                <a:solidFill>
                  <a:srgbClr val="3E8E63"/>
                </a:solidFill>
                <a:latin typeface="BIZ UDPゴシック" pitchFamily="34" charset="0"/>
                <a:ea typeface="BIZ UDPゴシック" pitchFamily="34" charset="-122"/>
                <a:cs typeface="BIZ UDPゴシック" pitchFamily="34" charset="-120"/>
              </a:rPr>
              <a:t>10年後の学校は、今日の職員室から始まります。</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1F2A44"/>
                </a:solidFill>
                <a:latin typeface="BIZ UDPゴシック" pitchFamily="34" charset="0"/>
                <a:ea typeface="BIZ UDPゴシック" pitchFamily="34" charset="-122"/>
                <a:cs typeface="BIZ UDPゴシック" pitchFamily="34" charset="-120"/>
              </a:rPr>
              <a:t>参考資料</a:t>
            </a:r>
            <a:endParaRPr lang="en-US" sz="3200" dirty="0"/>
          </a:p>
        </p:txBody>
      </p:sp>
      <p:sp>
        <p:nvSpPr>
          <p:cNvPr id="3" name="Text 1"/>
          <p:cNvSpPr txBox="1"/>
          <p:nvPr/>
        </p:nvSpPr>
        <p:spPr>
          <a:xfrm>
            <a:off x="548640" y="1371600"/>
            <a:ext cx="1106424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中央教育審議会 教育課程企画特別部会「次期学習指導要領等に向けた審議まとめ（素案）」令和8年8月31日（第17回 資料1）</a:t>
            </a:r>
            <a:endParaRPr lang="en-US" sz="1600" dirty="0"/>
          </a:p>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同「論点整理について（報告）」令和7年9月25日</a:t>
            </a:r>
            <a:endParaRPr lang="en-US" sz="1600" dirty="0"/>
          </a:p>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教育課程部会 生活、総合的な学習・探究の時間ワーキンググループ 審議資料</a:t>
            </a:r>
            <a:endParaRPr lang="en-US" sz="1600" dirty="0"/>
          </a:p>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中央教育審議会答申「今後の学校におけるキャリア教育・職業教育の在り方について」平成23年1月</a:t>
            </a:r>
            <a:endParaRPr lang="en-US" sz="1600" dirty="0"/>
          </a:p>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中央教育審議会答申「『令和の日本型学校教育』の構築を目指して」令和3年1月</a:t>
            </a:r>
            <a:endParaRPr lang="en-US" sz="1600" dirty="0"/>
          </a:p>
          <a:p>
            <a:pPr marL="342900" indent="-342900">
              <a:spcAft>
                <a:spcPts val="1200"/>
              </a:spcAft>
              <a:buSzPct val="100000"/>
              <a:buChar char="•"/>
            </a:pPr>
            <a:r>
              <a:rPr lang="en-US" sz="1600" dirty="0">
                <a:solidFill>
                  <a:srgbClr val="2B2B2B"/>
                </a:solidFill>
                <a:latin typeface="BIZ UDPゴシック" pitchFamily="34" charset="0"/>
                <a:ea typeface="BIZ UDPゴシック" pitchFamily="34" charset="-122"/>
                <a:cs typeface="BIZ UDPゴシック" pitchFamily="34" charset="-120"/>
              </a:rPr>
              <a:t>厚生労働省「人口動態統計」（2024年）</a:t>
            </a:r>
            <a:endParaRPr lang="en-US" sz="1600" dirty="0"/>
          </a:p>
        </p:txBody>
      </p:sp>
      <p:sp>
        <p:nvSpPr>
          <p:cNvPr id="4" name="Shape 2"/>
          <p:cNvSpPr/>
          <p:nvPr/>
        </p:nvSpPr>
        <p:spPr>
          <a:xfrm>
            <a:off x="548640" y="5394960"/>
            <a:ext cx="11091672" cy="731520"/>
          </a:xfrm>
          <a:prstGeom prst="roundRect">
            <a:avLst>
              <a:gd name="adj" fmla="val 15000"/>
            </a:avLst>
          </a:prstGeom>
          <a:solidFill>
            <a:srgbClr val="FDF3E3"/>
          </a:solidFill>
          <a:ln w="12700">
            <a:solidFill>
              <a:srgbClr val="FDF3E3"/>
            </a:solidFill>
            <a:prstDash val="solid"/>
          </a:ln>
        </p:spPr>
      </p:sp>
      <p:sp>
        <p:nvSpPr>
          <p:cNvPr id="5" name="Text 3"/>
          <p:cNvSpPr txBox="1"/>
          <p:nvPr/>
        </p:nvSpPr>
        <p:spPr>
          <a:xfrm>
            <a:off x="822960" y="5394960"/>
            <a:ext cx="10607040" cy="731520"/>
          </a:xfrm>
          <a:prstGeom prst="rect">
            <a:avLst/>
          </a:prstGeom>
          <a:noFill/>
          <a:ln/>
        </p:spPr>
        <p:txBody>
          <a:bodyPr wrap="square" lIns="0" tIns="0" rIns="0" bIns="0" rtlCol="0" anchor="ctr"/>
          <a:lstStyle/>
          <a:p>
            <a:pPr indent="0" marL="0">
              <a:buNone/>
            </a:pPr>
            <a:r>
              <a:rPr lang="en-US" sz="1300" dirty="0">
                <a:solidFill>
                  <a:srgbClr val="2B2B2B"/>
                </a:solidFill>
                <a:latin typeface="BIZ UDPゴシック" pitchFamily="34" charset="0"/>
                <a:ea typeface="BIZ UDPゴシック" pitchFamily="34" charset="-122"/>
                <a:cs typeface="BIZ UDPゴシック" pitchFamily="34" charset="-120"/>
              </a:rPr>
              <a:t>※ 審議まとめ（素案）は答申前の資料です。本資料の数値・方向性は素案および報道に基づくもので、今後変更される可能性があります。</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10年後の学校を、いま描く</dc:title>
  <dc:subject>PptxGenJS Presentation</dc:subject>
  <dc:creator>PptxGenJS</dc:creator>
  <cp:lastModifiedBy>PptxGenJS</cp:lastModifiedBy>
  <cp:revision>1</cp:revision>
  <dcterms:created xsi:type="dcterms:W3CDTF">2026-09-23T11:50:33Z</dcterms:created>
  <dcterms:modified xsi:type="dcterms:W3CDTF">2026-09-23T11:50:33Z</dcterms:modified>
</cp:coreProperties>
</file>